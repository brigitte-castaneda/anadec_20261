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70"/>
  </p:notesMasterIdLst>
  <p:handoutMasterIdLst>
    <p:handoutMasterId r:id="rId71"/>
  </p:handoutMasterIdLst>
  <p:sldIdLst>
    <p:sldId id="398" r:id="rId2"/>
    <p:sldId id="354" r:id="rId3"/>
    <p:sldId id="405" r:id="rId4"/>
    <p:sldId id="259" r:id="rId5"/>
    <p:sldId id="260" r:id="rId6"/>
    <p:sldId id="261" r:id="rId7"/>
    <p:sldId id="263" r:id="rId8"/>
    <p:sldId id="264" r:id="rId9"/>
    <p:sldId id="266" r:id="rId10"/>
    <p:sldId id="404" r:id="rId11"/>
    <p:sldId id="269" r:id="rId12"/>
    <p:sldId id="270" r:id="rId13"/>
    <p:sldId id="271" r:id="rId14"/>
    <p:sldId id="506" r:id="rId15"/>
    <p:sldId id="505" r:id="rId16"/>
    <p:sldId id="408" r:id="rId17"/>
    <p:sldId id="325" r:id="rId18"/>
    <p:sldId id="280" r:id="rId19"/>
    <p:sldId id="281" r:id="rId20"/>
    <p:sldId id="282" r:id="rId21"/>
    <p:sldId id="283" r:id="rId22"/>
    <p:sldId id="422" r:id="rId23"/>
    <p:sldId id="423" r:id="rId24"/>
    <p:sldId id="485" r:id="rId25"/>
    <p:sldId id="486" r:id="rId26"/>
    <p:sldId id="426" r:id="rId27"/>
    <p:sldId id="427" r:id="rId28"/>
    <p:sldId id="284" r:id="rId29"/>
    <p:sldId id="328" r:id="rId30"/>
    <p:sldId id="286" r:id="rId31"/>
    <p:sldId id="406" r:id="rId32"/>
    <p:sldId id="297" r:id="rId33"/>
    <p:sldId id="298" r:id="rId34"/>
    <p:sldId id="299" r:id="rId35"/>
    <p:sldId id="300" r:id="rId36"/>
    <p:sldId id="463" r:id="rId37"/>
    <p:sldId id="501" r:id="rId38"/>
    <p:sldId id="504" r:id="rId39"/>
    <p:sldId id="499" r:id="rId40"/>
    <p:sldId id="503" r:id="rId41"/>
    <p:sldId id="301" r:id="rId42"/>
    <p:sldId id="331" r:id="rId43"/>
    <p:sldId id="332" r:id="rId44"/>
    <p:sldId id="333" r:id="rId45"/>
    <p:sldId id="407" r:id="rId46"/>
    <p:sldId id="412" r:id="rId47"/>
    <p:sldId id="507" r:id="rId48"/>
    <p:sldId id="508" r:id="rId49"/>
    <p:sldId id="303" r:id="rId50"/>
    <p:sldId id="304" r:id="rId51"/>
    <p:sldId id="509" r:id="rId52"/>
    <p:sldId id="510" r:id="rId53"/>
    <p:sldId id="511" r:id="rId54"/>
    <p:sldId id="512" r:id="rId55"/>
    <p:sldId id="326" r:id="rId56"/>
    <p:sldId id="352" r:id="rId57"/>
    <p:sldId id="327" r:id="rId58"/>
    <p:sldId id="513" r:id="rId59"/>
    <p:sldId id="514" r:id="rId60"/>
    <p:sldId id="515" r:id="rId61"/>
    <p:sldId id="329" r:id="rId62"/>
    <p:sldId id="516" r:id="rId63"/>
    <p:sldId id="409" r:id="rId64"/>
    <p:sldId id="410" r:id="rId65"/>
    <p:sldId id="411" r:id="rId66"/>
    <p:sldId id="337" r:id="rId67"/>
    <p:sldId id="351" r:id="rId68"/>
    <p:sldId id="413" r:id="rId6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002F90"/>
    <a:srgbClr val="D7A700"/>
    <a:srgbClr val="FFF4E6"/>
    <a:srgbClr val="E8F8FA"/>
    <a:srgbClr val="DFFFFF"/>
    <a:srgbClr val="33CC33"/>
    <a:srgbClr val="6666FF"/>
    <a:srgbClr val="FF505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444458-6129-4087-98EC-974C4F44068D}" v="113" dt="2026-05-07T15:17:29.11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668"/>
    <p:restoredTop sz="94690"/>
  </p:normalViewPr>
  <p:slideViewPr>
    <p:cSldViewPr snapToGrid="0">
      <p:cViewPr varScale="1">
        <p:scale>
          <a:sx n="73" d="100"/>
          <a:sy n="73" d="100"/>
        </p:scale>
        <p:origin x="64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handoutMaster" Target="handoutMasters/handoutMaster1.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7/05/2026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‹Nº›</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7/05/2026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‹Nº›</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951C1A9-1144-2445-928B-B7F7DD5CE331}" type="slidenum">
              <a:rPr lang="es-ES" sz="1200">
                <a:latin typeface="Calibri" charset="0"/>
                <a:cs typeface="Arial" charset="0"/>
              </a:rPr>
              <a:pPr eaLnBrk="1" hangingPunct="1"/>
              <a:t>22</a:t>
            </a:fld>
            <a:endParaRPr lang="es-ES" sz="1200">
              <a:latin typeface="Calibri" charset="0"/>
              <a:cs typeface="Arial" charset="0"/>
            </a:endParaRPr>
          </a:p>
        </p:txBody>
      </p:sp>
      <p:sp>
        <p:nvSpPr>
          <p:cNvPr id="4710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7107"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_tradnl">
              <a:latin typeface="Calibri"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7D1835E-0CCF-4744-9F4E-BCDE4A7C3928}" type="slidenum">
              <a:rPr lang="es-ES" sz="1200">
                <a:latin typeface="Calibri" charset="0"/>
                <a:cs typeface="Arial" charset="0"/>
              </a:rPr>
              <a:pPr eaLnBrk="1" hangingPunct="1"/>
              <a:t>23</a:t>
            </a:fld>
            <a:endParaRPr lang="es-ES" sz="1200">
              <a:latin typeface="Calibri" charset="0"/>
              <a:cs typeface="Arial" charset="0"/>
            </a:endParaRPr>
          </a:p>
        </p:txBody>
      </p:sp>
      <p:sp>
        <p:nvSpPr>
          <p:cNvPr id="4915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9155"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_tradnl">
              <a:latin typeface="Calibri"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7D1835E-0CCF-4744-9F4E-BCDE4A7C3928}" type="slidenum">
              <a:rPr lang="es-ES" sz="1200">
                <a:latin typeface="Calibri" charset="0"/>
                <a:cs typeface="Arial" charset="0"/>
              </a:rPr>
              <a:pPr eaLnBrk="1" hangingPunct="1"/>
              <a:t>24</a:t>
            </a:fld>
            <a:endParaRPr lang="es-ES" sz="1200">
              <a:latin typeface="Calibri" charset="0"/>
              <a:cs typeface="Arial" charset="0"/>
            </a:endParaRPr>
          </a:p>
        </p:txBody>
      </p:sp>
      <p:sp>
        <p:nvSpPr>
          <p:cNvPr id="4915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9155"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_tradnl">
              <a:latin typeface="Calibri"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7D1835E-0CCF-4744-9F4E-BCDE4A7C3928}" type="slidenum">
              <a:rPr lang="es-ES" sz="1200">
                <a:latin typeface="Calibri" charset="0"/>
                <a:cs typeface="Arial" charset="0"/>
              </a:rPr>
              <a:pPr eaLnBrk="1" hangingPunct="1"/>
              <a:t>25</a:t>
            </a:fld>
            <a:endParaRPr lang="es-ES" sz="1200">
              <a:latin typeface="Calibri" charset="0"/>
              <a:cs typeface="Arial" charset="0"/>
            </a:endParaRPr>
          </a:p>
        </p:txBody>
      </p:sp>
      <p:sp>
        <p:nvSpPr>
          <p:cNvPr id="4915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9155"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_tradnl">
              <a:latin typeface="Calibri"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136190EB-362F-EE43-B22C-B3E7B821AFEB}" type="slidenum">
              <a:rPr lang="es-ES" sz="1200">
                <a:latin typeface="Calibri" charset="0"/>
                <a:cs typeface="Arial" charset="0"/>
              </a:rPr>
              <a:pPr eaLnBrk="1" hangingPunct="1"/>
              <a:t>26</a:t>
            </a:fld>
            <a:endParaRPr lang="es-ES" sz="1200">
              <a:latin typeface="Calibri" charset="0"/>
              <a:cs typeface="Arial" charset="0"/>
            </a:endParaRPr>
          </a:p>
        </p:txBody>
      </p:sp>
      <p:sp>
        <p:nvSpPr>
          <p:cNvPr id="5529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5299"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_tradnl">
              <a:latin typeface="Calibri"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DFC4091-385C-1C43-837C-B6FA44C1EEC8}" type="slidenum">
              <a:rPr lang="es-ES" sz="1200">
                <a:latin typeface="Calibri" charset="0"/>
                <a:cs typeface="Arial" charset="0"/>
              </a:rPr>
              <a:pPr eaLnBrk="1" hangingPunct="1"/>
              <a:t>27</a:t>
            </a:fld>
            <a:endParaRPr lang="es-ES" sz="1200">
              <a:latin typeface="Calibri" charset="0"/>
              <a:cs typeface="Arial" charset="0"/>
            </a:endParaRPr>
          </a:p>
        </p:txBody>
      </p:sp>
      <p:sp>
        <p:nvSpPr>
          <p:cNvPr id="5734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7347"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_tradnl">
              <a:latin typeface="Calibri"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AE351539-1C40-2A40-91C8-5AF19FD415E3}" type="slidenum">
              <a:rPr lang="es-ES" sz="1200">
                <a:latin typeface="Calibri" charset="0"/>
                <a:cs typeface="Arial" charset="0"/>
              </a:rPr>
              <a:pPr eaLnBrk="1" hangingPunct="1"/>
              <a:t>36</a:t>
            </a:fld>
            <a:endParaRPr lang="es-ES" sz="1200">
              <a:latin typeface="Calibri" charset="0"/>
              <a:cs typeface="Arial" charset="0"/>
            </a:endParaRPr>
          </a:p>
        </p:txBody>
      </p:sp>
      <p:sp>
        <p:nvSpPr>
          <p:cNvPr id="13005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30051"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_tradnl">
              <a:latin typeface="Calibri"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AE351539-1C40-2A40-91C8-5AF19FD415E3}" type="slidenum">
              <a:rPr lang="es-ES" sz="1200">
                <a:latin typeface="Calibri" charset="0"/>
                <a:cs typeface="Arial" charset="0"/>
              </a:rPr>
              <a:pPr eaLnBrk="1" hangingPunct="1"/>
              <a:t>37</a:t>
            </a:fld>
            <a:endParaRPr lang="es-ES" sz="1200">
              <a:latin typeface="Calibri" charset="0"/>
              <a:cs typeface="Arial" charset="0"/>
            </a:endParaRPr>
          </a:p>
        </p:txBody>
      </p:sp>
      <p:sp>
        <p:nvSpPr>
          <p:cNvPr id="13005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30051"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_tradnl">
              <a:latin typeface="Calibri" charset="0"/>
            </a:endParaRPr>
          </a:p>
        </p:txBody>
      </p:sp>
    </p:spTree>
    <p:extLst>
      <p:ext uri="{BB962C8B-B14F-4D97-AF65-F5344CB8AC3E}">
        <p14:creationId xmlns:p14="http://schemas.microsoft.com/office/powerpoint/2010/main" val="42283689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AE351539-1C40-2A40-91C8-5AF19FD415E3}" type="slidenum">
              <a:rPr lang="es-ES" sz="1200">
                <a:latin typeface="Calibri" charset="0"/>
                <a:cs typeface="Arial" charset="0"/>
              </a:rPr>
              <a:pPr eaLnBrk="1" hangingPunct="1"/>
              <a:t>38</a:t>
            </a:fld>
            <a:endParaRPr lang="es-ES" sz="1200">
              <a:latin typeface="Calibri" charset="0"/>
              <a:cs typeface="Arial" charset="0"/>
            </a:endParaRPr>
          </a:p>
        </p:txBody>
      </p:sp>
      <p:sp>
        <p:nvSpPr>
          <p:cNvPr id="13005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30051"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_tradnl">
              <a:latin typeface="Calibri" charset="0"/>
            </a:endParaRPr>
          </a:p>
        </p:txBody>
      </p:sp>
    </p:spTree>
    <p:extLst>
      <p:ext uri="{BB962C8B-B14F-4D97-AF65-F5344CB8AC3E}">
        <p14:creationId xmlns:p14="http://schemas.microsoft.com/office/powerpoint/2010/main" val="30603700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4EA4A520-4C01-6B43-93C0-A44861CCC162}" type="slidenum">
              <a:rPr lang="es-ES" sz="1200">
                <a:latin typeface="Calibri" charset="0"/>
                <a:cs typeface="Arial" charset="0"/>
              </a:rPr>
              <a:pPr eaLnBrk="1" hangingPunct="1"/>
              <a:t>39</a:t>
            </a:fld>
            <a:endParaRPr lang="es-ES" sz="1200">
              <a:latin typeface="Calibri" charset="0"/>
              <a:cs typeface="Arial" charset="0"/>
            </a:endParaRPr>
          </a:p>
        </p:txBody>
      </p:sp>
      <p:sp>
        <p:nvSpPr>
          <p:cNvPr id="12800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28003"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_tradnl">
              <a:latin typeface="Calibri"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4EA4A520-4C01-6B43-93C0-A44861CCC162}" type="slidenum">
              <a:rPr lang="es-ES" sz="1200">
                <a:latin typeface="Calibri" charset="0"/>
                <a:cs typeface="Arial" charset="0"/>
              </a:rPr>
              <a:pPr eaLnBrk="1" hangingPunct="1"/>
              <a:t>40</a:t>
            </a:fld>
            <a:endParaRPr lang="es-ES" sz="1200">
              <a:latin typeface="Calibri" charset="0"/>
              <a:cs typeface="Arial" charset="0"/>
            </a:endParaRPr>
          </a:p>
        </p:txBody>
      </p:sp>
      <p:sp>
        <p:nvSpPr>
          <p:cNvPr id="12800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28003"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s-ES_tradnl">
              <a:latin typeface="Calibri" charset="0"/>
            </a:endParaRPr>
          </a:p>
        </p:txBody>
      </p:sp>
    </p:spTree>
    <p:extLst>
      <p:ext uri="{BB962C8B-B14F-4D97-AF65-F5344CB8AC3E}">
        <p14:creationId xmlns:p14="http://schemas.microsoft.com/office/powerpoint/2010/main" val="38938140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56</a:t>
            </a:fld>
            <a:endParaRPr lang="en-US"/>
          </a:p>
        </p:txBody>
      </p:sp>
    </p:spTree>
    <p:extLst>
      <p:ext uri="{BB962C8B-B14F-4D97-AF65-F5344CB8AC3E}">
        <p14:creationId xmlns:p14="http://schemas.microsoft.com/office/powerpoint/2010/main" val="22839229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58</a:t>
            </a:fld>
            <a:endParaRPr lang="en-US"/>
          </a:p>
        </p:txBody>
      </p:sp>
    </p:spTree>
    <p:extLst>
      <p:ext uri="{BB962C8B-B14F-4D97-AF65-F5344CB8AC3E}">
        <p14:creationId xmlns:p14="http://schemas.microsoft.com/office/powerpoint/2010/main" val="38742602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60</a:t>
            </a:fld>
            <a:endParaRPr lang="en-US"/>
          </a:p>
        </p:txBody>
      </p:sp>
    </p:spTree>
    <p:extLst>
      <p:ext uri="{BB962C8B-B14F-4D97-AF65-F5344CB8AC3E}">
        <p14:creationId xmlns:p14="http://schemas.microsoft.com/office/powerpoint/2010/main" val="13242654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62</a:t>
            </a:fld>
            <a:endParaRPr lang="en-US"/>
          </a:p>
        </p:txBody>
      </p:sp>
    </p:spTree>
    <p:extLst>
      <p:ext uri="{BB962C8B-B14F-4D97-AF65-F5344CB8AC3E}">
        <p14:creationId xmlns:p14="http://schemas.microsoft.com/office/powerpoint/2010/main" val="16480708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63</a:t>
            </a:fld>
            <a:endParaRPr lang="en-US"/>
          </a:p>
        </p:txBody>
      </p:sp>
    </p:spTree>
    <p:extLst>
      <p:ext uri="{BB962C8B-B14F-4D97-AF65-F5344CB8AC3E}">
        <p14:creationId xmlns:p14="http://schemas.microsoft.com/office/powerpoint/2010/main" val="13406676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64</a:t>
            </a:fld>
            <a:endParaRPr lang="en-US"/>
          </a:p>
        </p:txBody>
      </p:sp>
    </p:spTree>
    <p:extLst>
      <p:ext uri="{BB962C8B-B14F-4D97-AF65-F5344CB8AC3E}">
        <p14:creationId xmlns:p14="http://schemas.microsoft.com/office/powerpoint/2010/main" val="20500466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65</a:t>
            </a:fld>
            <a:endParaRPr lang="en-US"/>
          </a:p>
        </p:txBody>
      </p:sp>
    </p:spTree>
    <p:extLst>
      <p:ext uri="{BB962C8B-B14F-4D97-AF65-F5344CB8AC3E}">
        <p14:creationId xmlns:p14="http://schemas.microsoft.com/office/powerpoint/2010/main" val="14840648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67</a:t>
            </a:fld>
            <a:endParaRPr lang="en-US"/>
          </a:p>
        </p:txBody>
      </p:sp>
    </p:spTree>
    <p:extLst>
      <p:ext uri="{BB962C8B-B14F-4D97-AF65-F5344CB8AC3E}">
        <p14:creationId xmlns:p14="http://schemas.microsoft.com/office/powerpoint/2010/main" val="16211067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5/7/2026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a:p>
        </p:txBody>
      </p:sp>
    </p:spTree>
    <p:extLst>
      <p:ext uri="{BB962C8B-B14F-4D97-AF65-F5344CB8AC3E}">
        <p14:creationId xmlns:p14="http://schemas.microsoft.com/office/powerpoint/2010/main" val="1176570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A523018D-1CC0-468E-BE3B-579A148A0691}" type="datetime1">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1012093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5/7/2026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a:p>
        </p:txBody>
      </p:sp>
    </p:spTree>
    <p:extLst>
      <p:ext uri="{BB962C8B-B14F-4D97-AF65-F5344CB8AC3E}">
        <p14:creationId xmlns:p14="http://schemas.microsoft.com/office/powerpoint/2010/main" val="356289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C51F0D08-E4F7-43DB-810A-34BADF6468F7}" type="datetime1">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1107634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ADFE1DAC-EC09-4DEA-BBB4-788DDBA09515}" type="datetime1">
              <a:rPr lang="en-US" smtClean="0"/>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35244372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A9BFF582-E74C-4A8A-87B2-214B0CF47F99}" type="datetime1">
              <a:rPr lang="en-US" smtClean="0"/>
              <a:t>5/7/2026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175886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5/7/2026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2248643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5/7/2026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a:p>
        </p:txBody>
      </p:sp>
    </p:spTree>
    <p:extLst>
      <p:ext uri="{BB962C8B-B14F-4D97-AF65-F5344CB8AC3E}">
        <p14:creationId xmlns:p14="http://schemas.microsoft.com/office/powerpoint/2010/main" val="207977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1644541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5326DF8C-FC0D-41BB-BB53-20BBB44E4230}" type="datetime1">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3262770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5/7/2026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a:p>
        </p:txBody>
      </p:sp>
    </p:spTree>
    <p:extLst>
      <p:ext uri="{BB962C8B-B14F-4D97-AF65-F5344CB8AC3E}">
        <p14:creationId xmlns:p14="http://schemas.microsoft.com/office/powerpoint/2010/main" val="4091342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5/7/2026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‹Nº›</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Tree>
    <p:extLst>
      <p:ext uri="{BB962C8B-B14F-4D97-AF65-F5344CB8AC3E}">
        <p14:creationId xmlns:p14="http://schemas.microsoft.com/office/powerpoint/2010/main" val="2017868899"/>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emf"/><Relationship Id="rId7" Type="http://schemas.openxmlformats.org/officeDocument/2006/relationships/image" Target="../media/image29.svg"/><Relationship Id="rId2" Type="http://schemas.openxmlformats.org/officeDocument/2006/relationships/image" Target="../media/image25.emf"/><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28.emf"/><Relationship Id="rId4" Type="http://schemas.openxmlformats.org/officeDocument/2006/relationships/image" Target="../media/image27.emf"/></Relationships>
</file>

<file path=ppt/slides/_rels/slide34.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5.emf"/><Relationship Id="rId1" Type="http://schemas.openxmlformats.org/officeDocument/2006/relationships/slideLayout" Target="../slideLayouts/slideLayout2.xml"/><Relationship Id="rId6" Type="http://schemas.openxmlformats.org/officeDocument/2006/relationships/image" Target="../media/image32.svg"/><Relationship Id="rId5" Type="http://schemas.openxmlformats.org/officeDocument/2006/relationships/image" Target="../media/image1.png"/><Relationship Id="rId4" Type="http://schemas.openxmlformats.org/officeDocument/2006/relationships/image" Target="../media/image31.emf"/></Relationships>
</file>

<file path=ppt/slides/_rels/slide35.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25.emf"/><Relationship Id="rId1" Type="http://schemas.openxmlformats.org/officeDocument/2006/relationships/slideLayout" Target="../slideLayouts/slideLayout2.xml"/><Relationship Id="rId6" Type="http://schemas.openxmlformats.org/officeDocument/2006/relationships/image" Target="../media/image35.svg"/><Relationship Id="rId5" Type="http://schemas.openxmlformats.org/officeDocument/2006/relationships/image" Target="../media/image1.png"/><Relationship Id="rId4" Type="http://schemas.openxmlformats.org/officeDocument/2006/relationships/image" Target="../media/image34.e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8.e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60.png"/><Relationship Id="rId4" Type="http://schemas.openxmlformats.org/officeDocument/2006/relationships/image" Target="../media/image38.emf"/></Relationships>
</file>

<file path=ppt/slides/_rels/slide4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pPr algn="just"/>
            <a:r>
              <a:rPr lang="es-CO" sz="3200" dirty="0">
                <a:latin typeface="Century Gothic"/>
              </a:rPr>
              <a:t>CONCEPTOS BÁSICOS DE RIESGO Y SU APLICACIÓN (</a:t>
            </a:r>
            <a:r>
              <a:rPr lang="es-CO" sz="3200" dirty="0">
                <a:solidFill>
                  <a:srgbClr val="D7A700"/>
                </a:solidFill>
                <a:latin typeface="Century Gothic"/>
              </a:rPr>
              <a:t>PARTE I</a:t>
            </a:r>
            <a:r>
              <a:rPr lang="es-CO" sz="3200" dirty="0">
                <a:latin typeface="Century Gothic"/>
              </a:rPr>
              <a:t>)</a:t>
            </a:r>
            <a:endParaRPr lang="es-CO" sz="3200" dirty="0">
              <a:latin typeface="Century Gothic" panose="020B0502020202020204" pitchFamily="34" charset="0"/>
            </a:endParaRPr>
          </a:p>
        </p:txBody>
      </p:sp>
      <p:sp>
        <p:nvSpPr>
          <p:cNvPr id="6" name="CuadroTexto 5"/>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dirty="0">
                <a:solidFill>
                  <a:schemeClr val="bg1"/>
                </a:solidFill>
                <a:latin typeface="Century Gothic"/>
              </a:rPr>
              <a:t>													</a:t>
            </a:r>
            <a:endParaRPr lang="es-CO" sz="2000" b="1" u="sng" dirty="0">
              <a:solidFill>
                <a:schemeClr val="bg1"/>
              </a:solidFill>
              <a:latin typeface="Century Gothic"/>
            </a:endParaRPr>
          </a:p>
          <a:p>
            <a:endParaRPr lang="es-CO" sz="1000" b="1" dirty="0">
              <a:solidFill>
                <a:schemeClr val="bg1"/>
              </a:solidFill>
              <a:latin typeface="Century Gothic" panose="020B0502020202020204" pitchFamily="34" charset="0"/>
            </a:endParaRPr>
          </a:p>
          <a:p>
            <a:r>
              <a:rPr lang="es-CO" sz="2000" b="1" dirty="0">
                <a:solidFill>
                  <a:schemeClr val="bg1"/>
                </a:solidFill>
                <a:latin typeface="Century Gothic"/>
              </a:rPr>
              <a:t>DEPARTAMENTO DE INGENIERÍA INDUSTRIAL</a:t>
            </a:r>
          </a:p>
          <a:p>
            <a:r>
              <a:rPr lang="es-CO" sz="2000" b="1" dirty="0">
                <a:solidFill>
                  <a:schemeClr val="bg1"/>
                </a:solidFill>
                <a:latin typeface="Century Gothic"/>
              </a:rPr>
              <a:t>FACULTAD DE INGENIERÍA</a:t>
            </a:r>
          </a:p>
          <a:p>
            <a:r>
              <a:rPr lang="es-CO" sz="1000" b="1" u="sng" dirty="0">
                <a:solidFill>
                  <a:schemeClr val="bg1"/>
                </a:solidFill>
                <a:latin typeface="Century Gothic"/>
              </a:rPr>
              <a:t>													</a:t>
            </a:r>
          </a:p>
          <a:p>
            <a:endParaRPr lang="es-CO" sz="2000" b="1" dirty="0">
              <a:solidFill>
                <a:schemeClr val="bg1"/>
              </a:solidFill>
              <a:latin typeface="Century Gothic" panose="020B0502020202020204" pitchFamily="34" charset="0"/>
            </a:endParaRPr>
          </a:p>
          <a:p>
            <a:r>
              <a:rPr lang="es-CO" sz="2000" b="1" dirty="0">
                <a:solidFill>
                  <a:schemeClr val="bg1"/>
                </a:solidFill>
                <a:latin typeface="Century Gothic"/>
              </a:rPr>
              <a:t>Curso	    </a:t>
            </a:r>
            <a:r>
              <a:rPr lang="es-CO" sz="2000" dirty="0">
                <a:solidFill>
                  <a:schemeClr val="bg1"/>
                </a:solidFill>
                <a:latin typeface="Century Gothic"/>
              </a:rPr>
              <a:t>ANÁLISIS DE DECISIONES DE INVERSIÓN</a:t>
            </a:r>
          </a:p>
          <a:p>
            <a:r>
              <a:rPr lang="es-CO" sz="2000" b="1" dirty="0">
                <a:solidFill>
                  <a:schemeClr val="bg1"/>
                </a:solidFill>
                <a:latin typeface="Century Gothic"/>
              </a:rPr>
              <a:t>Correo     </a:t>
            </a:r>
            <a:r>
              <a:rPr lang="es-CO" sz="2000" dirty="0">
                <a:solidFill>
                  <a:schemeClr val="bg1"/>
                </a:solidFill>
                <a:latin typeface="Century Gothic"/>
              </a:rPr>
              <a:t>cursoanadec@uniandes.edu.co</a:t>
            </a:r>
          </a:p>
          <a:p>
            <a:endParaRPr lang="es-CO" sz="2000" b="1" dirty="0">
              <a:solidFill>
                <a:schemeClr val="bg1"/>
              </a:solidFill>
              <a:latin typeface="Century Gothic" panose="020B0502020202020204" pitchFamily="34" charset="0"/>
            </a:endParaRPr>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D2B39683-E445-868B-259B-35AF4CE56B1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1400" b="1" smtClean="0"/>
              <a:pPr/>
              <a:t>2</a:t>
            </a:fld>
            <a:endParaRPr lang="en-US" sz="1400" b="1"/>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1815882"/>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dirty="0">
                <a:solidFill>
                  <a:schemeClr val="accent1"/>
                </a:solidFill>
                <a:latin typeface="Century Gothic"/>
                <a:cs typeface="Arial"/>
              </a:rPr>
              <a:t>¿Qué es el riesgo?</a:t>
            </a:r>
            <a:endParaRPr lang="es-ES" sz="1600" dirty="0">
              <a:solidFill>
                <a:schemeClr val="accent1"/>
              </a:solidFill>
              <a:latin typeface="Century Gothic"/>
              <a:cs typeface="Arial"/>
            </a:endParaRPr>
          </a:p>
          <a:p>
            <a:pPr marL="342900" indent="-342900">
              <a:buClr>
                <a:srgbClr val="2C7C9F"/>
              </a:buClr>
              <a:buFontTx/>
              <a:buAutoNum type="arabicPeriod"/>
            </a:pPr>
            <a:endParaRPr lang="es-CO" sz="1600" dirty="0">
              <a:solidFill>
                <a:schemeClr val="accent1"/>
              </a:solidFill>
              <a:latin typeface="Century Gothic"/>
              <a:cs typeface="Arial"/>
            </a:endParaRPr>
          </a:p>
          <a:p>
            <a:pPr marL="342900" indent="-342900">
              <a:buClr>
                <a:srgbClr val="48BE7A"/>
              </a:buClr>
              <a:buFontTx/>
              <a:buAutoNum type="arabicPeriod"/>
            </a:pPr>
            <a:r>
              <a:rPr lang="es-CO" sz="1600" dirty="0">
                <a:solidFill>
                  <a:schemeClr val="accent1"/>
                </a:solidFill>
                <a:latin typeface="Century Gothic"/>
                <a:cs typeface="Arial"/>
              </a:rPr>
              <a:t>Tolerancia al riesgo.</a:t>
            </a:r>
          </a:p>
          <a:p>
            <a:pPr marL="342900" indent="-342900">
              <a:buClr>
                <a:srgbClr val="48BE7A"/>
              </a:buClr>
              <a:buFontTx/>
              <a:buAutoNum type="arabicPeriod"/>
            </a:pPr>
            <a:endParaRPr lang="es-CO" sz="1600" dirty="0">
              <a:solidFill>
                <a:schemeClr val="accent1"/>
              </a:solidFill>
              <a:latin typeface="Century Gothic"/>
              <a:cs typeface="Arial"/>
            </a:endParaRPr>
          </a:p>
          <a:p>
            <a:pPr marL="342900" indent="-342900" algn="just">
              <a:buClr>
                <a:srgbClr val="48BE7A"/>
              </a:buClr>
              <a:buFontTx/>
              <a:buAutoNum type="arabicPeriod"/>
            </a:pPr>
            <a:r>
              <a:rPr lang="es-CO" sz="1600" dirty="0">
                <a:solidFill>
                  <a:schemeClr val="accent1"/>
                </a:solidFill>
                <a:latin typeface="Century Gothic" panose="020B0502020202020204" pitchFamily="34" charset="0"/>
                <a:cs typeface="Arial"/>
              </a:rPr>
              <a:t>Valor esperado y varianza en la evaluación de proyectos.</a:t>
            </a:r>
          </a:p>
          <a:p>
            <a:pPr marL="342900" indent="-342900">
              <a:buClr>
                <a:srgbClr val="48BE7A"/>
              </a:buClr>
              <a:buAutoNum type="arabicPeriod"/>
            </a:pPr>
            <a:endParaRPr lang="es-CO" sz="1600" dirty="0">
              <a:solidFill>
                <a:schemeClr val="accent1"/>
              </a:solidFill>
              <a:latin typeface="Century Gothic" panose="020B0502020202020204" pitchFamily="34" charset="0"/>
              <a:cs typeface="Arial"/>
            </a:endParaRPr>
          </a:p>
          <a:p>
            <a:pPr>
              <a:buClr>
                <a:schemeClr val="accent3">
                  <a:lumMod val="75000"/>
                </a:schemeClr>
              </a:buClr>
            </a:pPr>
            <a:endParaRPr lang="es-CO" sz="1600" dirty="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D379998B-8ACD-A583-91F0-226759D1B59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1400" b="1" smtClean="0"/>
              <a:pPr/>
              <a:t>3</a:t>
            </a:fld>
            <a:endParaRPr lang="en-US" sz="1400" b="1"/>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1815882"/>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dirty="0">
                <a:solidFill>
                  <a:schemeClr val="accent1"/>
                </a:solidFill>
                <a:latin typeface="Century Gothic"/>
                <a:cs typeface="Arial"/>
              </a:rPr>
              <a:t>¿Qué es el riesgo?</a:t>
            </a:r>
            <a:endParaRPr lang="es-ES" sz="1600" dirty="0">
              <a:solidFill>
                <a:schemeClr val="accent1"/>
              </a:solidFill>
              <a:latin typeface="Century Gothic"/>
              <a:cs typeface="Arial"/>
            </a:endParaRPr>
          </a:p>
          <a:p>
            <a:pPr marL="342900" indent="-342900">
              <a:buClr>
                <a:srgbClr val="2C7C9F"/>
              </a:buClr>
              <a:buFontTx/>
              <a:buAutoNum type="arabicPeriod"/>
            </a:pPr>
            <a:endParaRPr lang="es-CO" sz="1600" dirty="0">
              <a:solidFill>
                <a:schemeClr val="accent1"/>
              </a:solidFill>
              <a:latin typeface="Century Gothic"/>
              <a:cs typeface="Arial"/>
            </a:endParaRPr>
          </a:p>
          <a:p>
            <a:pPr marL="342900" indent="-342900">
              <a:buClr>
                <a:srgbClr val="48BE7A"/>
              </a:buClr>
              <a:buFontTx/>
              <a:buAutoNum type="arabicPeriod"/>
            </a:pPr>
            <a:r>
              <a:rPr lang="es-CO" sz="1600" dirty="0">
                <a:solidFill>
                  <a:schemeClr val="bg2">
                    <a:lumMod val="90000"/>
                  </a:schemeClr>
                </a:solidFill>
                <a:latin typeface="Century Gothic"/>
                <a:cs typeface="Arial"/>
              </a:rPr>
              <a:t>Tolerancia al riesgo.</a:t>
            </a:r>
          </a:p>
          <a:p>
            <a:pPr marL="342900" indent="-342900">
              <a:buClr>
                <a:srgbClr val="48BE7A"/>
              </a:buClr>
              <a:buFontTx/>
              <a:buAutoNum type="arabicPeriod"/>
            </a:pPr>
            <a:endParaRPr lang="es-CO" sz="1600" dirty="0">
              <a:solidFill>
                <a:schemeClr val="bg2">
                  <a:lumMod val="90000"/>
                </a:schemeClr>
              </a:solidFill>
              <a:latin typeface="Century Gothic"/>
              <a:cs typeface="Arial"/>
            </a:endParaRPr>
          </a:p>
          <a:p>
            <a:pPr marL="342900" indent="-342900" algn="just">
              <a:buClr>
                <a:srgbClr val="48BE7A"/>
              </a:buClr>
              <a:buFontTx/>
              <a:buAutoNum type="arabicPeriod"/>
            </a:pPr>
            <a:r>
              <a:rPr lang="es-CO" sz="1600" dirty="0">
                <a:solidFill>
                  <a:schemeClr val="bg2">
                    <a:lumMod val="90000"/>
                  </a:schemeClr>
                </a:solidFill>
                <a:latin typeface="Century Gothic" panose="020B0502020202020204" pitchFamily="34" charset="0"/>
                <a:cs typeface="Arial"/>
              </a:rPr>
              <a:t>Valor esperado y varianza en la evaluación de proyectos.</a:t>
            </a:r>
          </a:p>
          <a:p>
            <a:pPr marL="342900" indent="-342900">
              <a:buClr>
                <a:srgbClr val="48BE7A"/>
              </a:buClr>
              <a:buAutoNum type="arabicPeriod"/>
            </a:pPr>
            <a:endParaRPr lang="es-CO" sz="1600" dirty="0">
              <a:solidFill>
                <a:schemeClr val="accent1"/>
              </a:solidFill>
              <a:latin typeface="Century Gothic" panose="020B0502020202020204" pitchFamily="34" charset="0"/>
              <a:cs typeface="Arial"/>
            </a:endParaRPr>
          </a:p>
          <a:p>
            <a:pPr>
              <a:buClr>
                <a:schemeClr val="accent3">
                  <a:lumMod val="75000"/>
                </a:schemeClr>
              </a:buClr>
            </a:pPr>
            <a:endParaRPr lang="es-CO" sz="1600" dirty="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FD3F9F0A-E881-519D-4AF9-5E4B46F4D68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130898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dirty="0">
                <a:latin typeface="Century Gothic" panose="020B0502020202020204" pitchFamily="34" charset="0"/>
              </a:rPr>
              <a:t>¿Qué es el riesgo?</a:t>
            </a:r>
          </a:p>
        </p:txBody>
      </p:sp>
      <p:sp>
        <p:nvSpPr>
          <p:cNvPr id="3" name="Content Placeholder 2"/>
          <p:cNvSpPr>
            <a:spLocks noGrp="1"/>
          </p:cNvSpPr>
          <p:nvPr>
            <p:ph idx="1"/>
          </p:nvPr>
        </p:nvSpPr>
        <p:spPr>
          <a:xfrm>
            <a:off x="917614" y="2277834"/>
            <a:ext cx="7333252" cy="3678303"/>
          </a:xfrm>
        </p:spPr>
        <p:txBody>
          <a:bodyPr>
            <a:normAutofit/>
          </a:bodyPr>
          <a:lstStyle/>
          <a:p>
            <a:pPr marL="0" indent="0" algn="ctr">
              <a:buNone/>
            </a:pPr>
            <a:r>
              <a:rPr lang="es-ES_tradnl" dirty="0">
                <a:solidFill>
                  <a:schemeClr val="accent1"/>
                </a:solidFill>
                <a:latin typeface="Century Gothic" panose="020B0502020202020204" pitchFamily="34" charset="0"/>
              </a:rPr>
              <a:t>Hasta este momento, todos los temas abordados en el curso han estado enmarcados en un escenario de </a:t>
            </a:r>
            <a:r>
              <a:rPr lang="es-ES_tradnl" b="1" dirty="0">
                <a:solidFill>
                  <a:srgbClr val="D7A700"/>
                </a:solidFill>
                <a:latin typeface="Century Gothic" panose="020B0502020202020204" pitchFamily="34" charset="0"/>
              </a:rPr>
              <a:t>certeza total</a:t>
            </a:r>
            <a:r>
              <a:rPr lang="es-ES_tradnl" dirty="0">
                <a:solidFill>
                  <a:schemeClr val="accent1"/>
                </a:solidFill>
                <a:latin typeface="Century Gothic" panose="020B0502020202020204" pitchFamily="34" charset="0"/>
              </a:rPr>
              <a:t>.</a:t>
            </a:r>
          </a:p>
          <a:p>
            <a:pPr marL="0" indent="0" algn="ctr">
              <a:buNone/>
            </a:pPr>
            <a:endParaRPr lang="es-ES_tradnl" dirty="0">
              <a:solidFill>
                <a:schemeClr val="tx1"/>
              </a:solidFill>
              <a:latin typeface="Century Gothic" panose="020B0502020202020204" pitchFamily="34" charset="0"/>
            </a:endParaRPr>
          </a:p>
          <a:p>
            <a:pPr marL="0" indent="0" algn="ctr">
              <a:buNone/>
            </a:pPr>
            <a:r>
              <a:rPr lang="es-ES_tradnl" dirty="0">
                <a:solidFill>
                  <a:schemeClr val="accent1"/>
                </a:solidFill>
                <a:latin typeface="Century Gothic" panose="020B0502020202020204" pitchFamily="34" charset="0"/>
              </a:rPr>
              <a:t>Es decir, todas las variables que hemos analizado (flujos de caja y tasa de descuento) han sido de naturaleza </a:t>
            </a:r>
            <a:r>
              <a:rPr lang="es-ES_tradnl" b="1" dirty="0">
                <a:solidFill>
                  <a:srgbClr val="C00000"/>
                </a:solidFill>
                <a:latin typeface="Century Gothic" panose="020B0502020202020204" pitchFamily="34" charset="0"/>
              </a:rPr>
              <a:t>determinística</a:t>
            </a:r>
            <a:r>
              <a:rPr lang="es-ES_tradnl" dirty="0">
                <a:solidFill>
                  <a:schemeClr val="tx1"/>
                </a:solidFill>
                <a:latin typeface="Century Gothic" panose="020B0502020202020204" pitchFamily="34" charset="0"/>
              </a:rPr>
              <a:t> </a:t>
            </a:r>
            <a:r>
              <a:rPr lang="es-ES_tradnl" dirty="0">
                <a:solidFill>
                  <a:schemeClr val="accent1"/>
                </a:solidFill>
                <a:latin typeface="Century Gothic" panose="020B0502020202020204" pitchFamily="34" charset="0"/>
              </a:rPr>
              <a:t>razón por la cual su probabilidad de ocurrencia es del 100%.</a:t>
            </a:r>
          </a:p>
        </p:txBody>
      </p:sp>
      <p:sp>
        <p:nvSpPr>
          <p:cNvPr id="4" name="Slide Number Placeholder 3"/>
          <p:cNvSpPr>
            <a:spLocks noGrp="1"/>
          </p:cNvSpPr>
          <p:nvPr>
            <p:ph type="sldNum" sz="quarter" idx="12"/>
          </p:nvPr>
        </p:nvSpPr>
        <p:spPr/>
        <p:txBody>
          <a:bodyPr/>
          <a:lstStyle/>
          <a:p>
            <a:fld id="{5E3E23BA-6E79-2442-BA73-D218A5E297C3}" type="slidenum">
              <a:rPr lang="en-US" sz="1800" smtClean="0"/>
              <a:t>4</a:t>
            </a:fld>
            <a:endParaRPr lang="en-US" sz="1800"/>
          </a:p>
        </p:txBody>
      </p:sp>
      <p:sp>
        <p:nvSpPr>
          <p:cNvPr id="9" name="Rectángulo 8">
            <a:extLst>
              <a:ext uri="{FF2B5EF4-FFF2-40B4-BE49-F238E27FC236}">
                <a16:creationId xmlns:a16="http://schemas.microsoft.com/office/drawing/2014/main" id="{CB31E7B7-9A06-6394-482D-F58F5E8D7F6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E77E34C7-00E4-DFAA-79B6-68A9C32891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71327536-8184-6704-DF6B-4BFB68F646F5}"/>
              </a:ext>
            </a:extLst>
          </p:cNvPr>
          <p:cNvPicPr>
            <a:picLocks noChangeAspect="1"/>
          </p:cNvPicPr>
          <p:nvPr/>
        </p:nvPicPr>
        <p:blipFill rotWithShape="1">
          <a:blip r:embed="rId3"/>
          <a:srcRect l="1315" t="1993" r="2925" b="10655"/>
          <a:stretch/>
        </p:blipFill>
        <p:spPr>
          <a:xfrm>
            <a:off x="8403265" y="3021978"/>
            <a:ext cx="3048000" cy="2120067"/>
          </a:xfrm>
          <a:prstGeom prst="rect">
            <a:avLst/>
          </a:prstGeom>
        </p:spPr>
      </p:pic>
      <p:sp>
        <p:nvSpPr>
          <p:cNvPr id="5" name="Rectángulo 4">
            <a:extLst>
              <a:ext uri="{FF2B5EF4-FFF2-40B4-BE49-F238E27FC236}">
                <a16:creationId xmlns:a16="http://schemas.microsoft.com/office/drawing/2014/main" id="{24A614C4-A3A3-F2A7-E5FC-F61942E50CC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26298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D08F470-2960-1334-82F4-8D1AF046CECA}"/>
              </a:ext>
            </a:extLst>
          </p:cNvPr>
          <p:cNvSpPr>
            <a:spLocks noGrp="1"/>
          </p:cNvSpPr>
          <p:nvPr>
            <p:ph type="title"/>
          </p:nvPr>
        </p:nvSpPr>
        <p:spPr/>
        <p:txBody>
          <a:bodyPr/>
          <a:lstStyle/>
          <a:p>
            <a:r>
              <a:rPr lang="es-ES_tradnl" dirty="0">
                <a:latin typeface="Century Gothic" panose="020B0502020202020204" pitchFamily="34" charset="0"/>
              </a:rPr>
              <a:t>¿Qué es el riesgo?</a:t>
            </a:r>
          </a:p>
        </p:txBody>
      </p:sp>
      <p:sp>
        <p:nvSpPr>
          <p:cNvPr id="3" name="Content Placeholder 2"/>
          <p:cNvSpPr>
            <a:spLocks noGrp="1"/>
          </p:cNvSpPr>
          <p:nvPr>
            <p:ph idx="1"/>
          </p:nvPr>
        </p:nvSpPr>
        <p:spPr>
          <a:xfrm>
            <a:off x="861008" y="2180496"/>
            <a:ext cx="7411122" cy="3678303"/>
          </a:xfrm>
        </p:spPr>
        <p:txBody>
          <a:bodyPr>
            <a:normAutofit/>
          </a:bodyPr>
          <a:lstStyle/>
          <a:p>
            <a:pPr algn="just">
              <a:buClr>
                <a:schemeClr val="accent3">
                  <a:lumMod val="75000"/>
                </a:schemeClr>
              </a:buClr>
            </a:pPr>
            <a:r>
              <a:rPr lang="es-ES_tradnl" dirty="0">
                <a:solidFill>
                  <a:schemeClr val="accent1"/>
                </a:solidFill>
                <a:latin typeface="Century Gothic" panose="020B0502020202020204" pitchFamily="34" charset="0"/>
              </a:rPr>
              <a:t>No obstante, esta situación de “total certeza” no está en línea con lo que realmente ocurre en los mercados (tanto en mercados perfectos como imperfectos).</a:t>
            </a:r>
          </a:p>
          <a:p>
            <a:pPr algn="just">
              <a:buClr>
                <a:schemeClr val="accent3">
                  <a:lumMod val="75000"/>
                </a:schemeClr>
              </a:buClr>
            </a:pPr>
            <a:endParaRPr lang="es-ES_tradnl" dirty="0">
              <a:solidFill>
                <a:schemeClr val="accent1"/>
              </a:solidFill>
              <a:latin typeface="Century Gothic" panose="020B0502020202020204" pitchFamily="34" charset="0"/>
            </a:endParaRPr>
          </a:p>
          <a:p>
            <a:pPr algn="just">
              <a:buClr>
                <a:schemeClr val="accent3">
                  <a:lumMod val="75000"/>
                </a:schemeClr>
              </a:buClr>
            </a:pPr>
            <a:r>
              <a:rPr lang="es-ES_tradnl" b="1" dirty="0">
                <a:solidFill>
                  <a:schemeClr val="accent3">
                    <a:lumMod val="75000"/>
                  </a:schemeClr>
                </a:solidFill>
                <a:latin typeface="Century Gothic" panose="020B0502020202020204" pitchFamily="34" charset="0"/>
              </a:rPr>
              <a:t>Toda situación en la vida práctica</a:t>
            </a:r>
            <a:r>
              <a:rPr lang="es-ES_tradnl" dirty="0">
                <a:solidFill>
                  <a:schemeClr val="accent1"/>
                </a:solidFill>
                <a:latin typeface="Century Gothic" panose="020B0502020202020204" pitchFamily="34" charset="0"/>
              </a:rPr>
              <a:t>; financieras, económicas, sociales e incluso personales </a:t>
            </a:r>
            <a:r>
              <a:rPr lang="es-ES_tradnl" b="1" dirty="0">
                <a:solidFill>
                  <a:srgbClr val="C00000"/>
                </a:solidFill>
                <a:latin typeface="Century Gothic" panose="020B0502020202020204" pitchFamily="34" charset="0"/>
              </a:rPr>
              <a:t>tiene un componente de variabilidad</a:t>
            </a:r>
            <a:r>
              <a:rPr lang="es-ES_tradnl" dirty="0">
                <a:solidFill>
                  <a:schemeClr val="accent3">
                    <a:lumMod val="75000"/>
                  </a:schemeClr>
                </a:solidFill>
                <a:latin typeface="Century Gothic" panose="020B0502020202020204" pitchFamily="34" charset="0"/>
              </a:rPr>
              <a:t> </a:t>
            </a:r>
            <a:r>
              <a:rPr lang="es-ES_tradnl" dirty="0">
                <a:solidFill>
                  <a:schemeClr val="accent1"/>
                </a:solidFill>
                <a:latin typeface="Century Gothic" panose="020B0502020202020204" pitchFamily="34" charset="0"/>
              </a:rPr>
              <a:t>que hacen que los modelos que asumen “certeza total” no sean los más apropiados para modelar la realidad.</a:t>
            </a:r>
          </a:p>
        </p:txBody>
      </p:sp>
      <p:sp>
        <p:nvSpPr>
          <p:cNvPr id="4" name="Slide Number Placeholder 3"/>
          <p:cNvSpPr>
            <a:spLocks noGrp="1"/>
          </p:cNvSpPr>
          <p:nvPr>
            <p:ph type="sldNum" sz="quarter" idx="12"/>
          </p:nvPr>
        </p:nvSpPr>
        <p:spPr/>
        <p:txBody>
          <a:bodyPr/>
          <a:lstStyle/>
          <a:p>
            <a:fld id="{5E3E23BA-6E79-2442-BA73-D218A5E297C3}" type="slidenum">
              <a:rPr lang="en-US" smtClean="0"/>
              <a:t>5</a:t>
            </a:fld>
            <a:endParaRPr lang="en-US"/>
          </a:p>
        </p:txBody>
      </p:sp>
      <p:sp>
        <p:nvSpPr>
          <p:cNvPr id="9" name="Rectángulo 8">
            <a:extLst>
              <a:ext uri="{FF2B5EF4-FFF2-40B4-BE49-F238E27FC236}">
                <a16:creationId xmlns:a16="http://schemas.microsoft.com/office/drawing/2014/main" id="{22E6A58A-53DC-6497-70D4-E19C8BB433E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345CD440-7B62-5ABA-BBC4-064EB4C748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BA257ED8-3C5D-E963-93D0-185BF9E58AC1}"/>
              </a:ext>
            </a:extLst>
          </p:cNvPr>
          <p:cNvPicPr>
            <a:picLocks noChangeAspect="1"/>
          </p:cNvPicPr>
          <p:nvPr/>
        </p:nvPicPr>
        <p:blipFill>
          <a:blip r:embed="rId3"/>
          <a:stretch>
            <a:fillRect/>
          </a:stretch>
        </p:blipFill>
        <p:spPr>
          <a:xfrm>
            <a:off x="8460030" y="2733274"/>
            <a:ext cx="3150778" cy="2205545"/>
          </a:xfrm>
          <a:prstGeom prst="rect">
            <a:avLst/>
          </a:prstGeom>
        </p:spPr>
      </p:pic>
      <p:sp>
        <p:nvSpPr>
          <p:cNvPr id="2" name="Rectángulo 1">
            <a:extLst>
              <a:ext uri="{FF2B5EF4-FFF2-40B4-BE49-F238E27FC236}">
                <a16:creationId xmlns:a16="http://schemas.microsoft.com/office/drawing/2014/main" id="{C74B3492-B7C7-B619-01B0-EA626F3A6B3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491532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10110FDA-2001-5E51-64EF-888F12139A85}"/>
              </a:ext>
            </a:extLst>
          </p:cNvPr>
          <p:cNvSpPr>
            <a:spLocks noGrp="1"/>
          </p:cNvSpPr>
          <p:nvPr>
            <p:ph type="title"/>
          </p:nvPr>
        </p:nvSpPr>
        <p:spPr/>
        <p:txBody>
          <a:bodyPr/>
          <a:lstStyle/>
          <a:p>
            <a:r>
              <a:rPr lang="es-ES_tradnl" dirty="0">
                <a:latin typeface="Century Gothic" panose="020B0502020202020204" pitchFamily="34" charset="0"/>
              </a:rPr>
              <a:t>¿Qué es el riesgo?</a:t>
            </a:r>
          </a:p>
        </p:txBody>
      </p:sp>
      <p:sp>
        <p:nvSpPr>
          <p:cNvPr id="3" name="Content Placeholder 2"/>
          <p:cNvSpPr>
            <a:spLocks noGrp="1"/>
          </p:cNvSpPr>
          <p:nvPr>
            <p:ph idx="1"/>
          </p:nvPr>
        </p:nvSpPr>
        <p:spPr>
          <a:xfrm>
            <a:off x="967603" y="2198082"/>
            <a:ext cx="10256793" cy="2245332"/>
          </a:xfrm>
        </p:spPr>
        <p:txBody>
          <a:bodyPr>
            <a:normAutofit/>
          </a:bodyPr>
          <a:lstStyle/>
          <a:p>
            <a:pPr marL="0" indent="0" algn="ctr">
              <a:buNone/>
            </a:pPr>
            <a:r>
              <a:rPr lang="es-ES_tradnl" b="1" dirty="0">
                <a:solidFill>
                  <a:srgbClr val="C00000"/>
                </a:solidFill>
                <a:latin typeface="Century Gothic" panose="020B0502020202020204" pitchFamily="34" charset="0"/>
              </a:rPr>
              <a:t>¿Cuál es la diferencia entre riesgo e incertidumbre?</a:t>
            </a:r>
          </a:p>
        </p:txBody>
      </p:sp>
      <p:sp>
        <p:nvSpPr>
          <p:cNvPr id="4" name="Slide Number Placeholder 3"/>
          <p:cNvSpPr>
            <a:spLocks noGrp="1"/>
          </p:cNvSpPr>
          <p:nvPr>
            <p:ph type="sldNum" sz="quarter" idx="12"/>
          </p:nvPr>
        </p:nvSpPr>
        <p:spPr/>
        <p:txBody>
          <a:bodyPr/>
          <a:lstStyle/>
          <a:p>
            <a:fld id="{5E3E23BA-6E79-2442-BA73-D218A5E297C3}" type="slidenum">
              <a:rPr lang="en-US" smtClean="0"/>
              <a:t>6</a:t>
            </a:fld>
            <a:endParaRPr lang="en-US"/>
          </a:p>
        </p:txBody>
      </p:sp>
      <p:sp>
        <p:nvSpPr>
          <p:cNvPr id="9" name="Rectángulo 8">
            <a:extLst>
              <a:ext uri="{FF2B5EF4-FFF2-40B4-BE49-F238E27FC236}">
                <a16:creationId xmlns:a16="http://schemas.microsoft.com/office/drawing/2014/main" id="{7FD73EE5-3DC8-ACEF-6151-AF43437D86A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71700A18-EE0F-C2D1-D3A0-C3217F5106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5" name="Gráfico 4" descr="Left Brain con relleno sólido">
            <a:extLst>
              <a:ext uri="{FF2B5EF4-FFF2-40B4-BE49-F238E27FC236}">
                <a16:creationId xmlns:a16="http://schemas.microsoft.com/office/drawing/2014/main" id="{0C0FD559-BB97-6809-9348-AB26B934C4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93517" y="3842796"/>
            <a:ext cx="1604963" cy="1604963"/>
          </a:xfrm>
          <a:prstGeom prst="rect">
            <a:avLst/>
          </a:prstGeom>
        </p:spPr>
      </p:pic>
      <p:sp>
        <p:nvSpPr>
          <p:cNvPr id="2" name="Rectángulo 1">
            <a:extLst>
              <a:ext uri="{FF2B5EF4-FFF2-40B4-BE49-F238E27FC236}">
                <a16:creationId xmlns:a16="http://schemas.microsoft.com/office/drawing/2014/main" id="{5C80BDE7-851B-6980-3AD0-8D81BCB6DC4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385857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0C7E9657-61B8-F9E4-CC51-CC735050C2D2}"/>
              </a:ext>
            </a:extLst>
          </p:cNvPr>
          <p:cNvSpPr>
            <a:spLocks noGrp="1"/>
          </p:cNvSpPr>
          <p:nvPr>
            <p:ph type="title"/>
          </p:nvPr>
        </p:nvSpPr>
        <p:spPr/>
        <p:txBody>
          <a:bodyPr/>
          <a:lstStyle/>
          <a:p>
            <a:r>
              <a:rPr lang="es-ES_tradnl" dirty="0">
                <a:latin typeface="Century Gothic" panose="020B0502020202020204" pitchFamily="34" charset="0"/>
              </a:rPr>
              <a:t>¿Qué es el riesgo?</a:t>
            </a:r>
          </a:p>
        </p:txBody>
      </p:sp>
      <p:sp>
        <p:nvSpPr>
          <p:cNvPr id="3" name="Content Placeholder 2"/>
          <p:cNvSpPr>
            <a:spLocks noGrp="1"/>
          </p:cNvSpPr>
          <p:nvPr>
            <p:ph idx="1"/>
          </p:nvPr>
        </p:nvSpPr>
        <p:spPr>
          <a:xfrm>
            <a:off x="941227" y="2165759"/>
            <a:ext cx="8117713" cy="3678303"/>
          </a:xfrm>
        </p:spPr>
        <p:txBody>
          <a:bodyPr>
            <a:normAutofit/>
          </a:bodyPr>
          <a:lstStyle/>
          <a:p>
            <a:pPr algn="just">
              <a:buClr>
                <a:schemeClr val="accent3">
                  <a:lumMod val="75000"/>
                </a:schemeClr>
              </a:buClr>
            </a:pPr>
            <a:r>
              <a:rPr lang="es-ES_tradnl" dirty="0">
                <a:solidFill>
                  <a:schemeClr val="accent1"/>
                </a:solidFill>
                <a:latin typeface="Century Gothic" panose="020B0502020202020204" pitchFamily="34" charset="0"/>
              </a:rPr>
              <a:t>En el contexto del curso, la </a:t>
            </a:r>
            <a:r>
              <a:rPr lang="es-ES_tradnl" b="1" dirty="0">
                <a:solidFill>
                  <a:schemeClr val="accent1"/>
                </a:solidFill>
                <a:latin typeface="Century Gothic" panose="020B0502020202020204" pitchFamily="34" charset="0"/>
              </a:rPr>
              <a:t>incertidumbre</a:t>
            </a:r>
            <a:r>
              <a:rPr lang="es-ES_tradnl" dirty="0">
                <a:solidFill>
                  <a:schemeClr val="accent1"/>
                </a:solidFill>
                <a:latin typeface="Century Gothic" panose="020B0502020202020204" pitchFamily="34" charset="0"/>
              </a:rPr>
              <a:t> se verá reflejada en la imposibilidad de  predecir de manera certera el comportamiento de los flujos de caja libre futuros con probabilidad de uno.</a:t>
            </a:r>
          </a:p>
          <a:p>
            <a:pPr algn="just">
              <a:buClr>
                <a:schemeClr val="accent3">
                  <a:lumMod val="75000"/>
                </a:schemeClr>
              </a:buClr>
            </a:pPr>
            <a:endParaRPr lang="es-ES_tradnl" dirty="0">
              <a:solidFill>
                <a:schemeClr val="accent1"/>
              </a:solidFill>
              <a:latin typeface="Century Gothic" panose="020B0502020202020204" pitchFamily="34" charset="0"/>
            </a:endParaRPr>
          </a:p>
          <a:p>
            <a:pPr algn="just">
              <a:buClr>
                <a:schemeClr val="accent3">
                  <a:lumMod val="75000"/>
                </a:schemeClr>
              </a:buClr>
            </a:pPr>
            <a:r>
              <a:rPr lang="es-ES_tradnl" dirty="0">
                <a:solidFill>
                  <a:schemeClr val="accent1"/>
                </a:solidFill>
                <a:latin typeface="Century Gothic" panose="020B0502020202020204" pitchFamily="34" charset="0"/>
              </a:rPr>
              <a:t>Es decir, los flujos de caja no se comportan como variables determinísticas; se comportarán como variables aleatorias.</a:t>
            </a:r>
          </a:p>
          <a:p>
            <a:pPr marL="0" indent="0" algn="just">
              <a:buNone/>
            </a:pPr>
            <a:endParaRPr lang="es-ES_tradnl" dirty="0">
              <a:solidFill>
                <a:schemeClr val="accent1"/>
              </a:solidFill>
            </a:endParaRPr>
          </a:p>
          <a:p>
            <a:pPr marL="0" indent="0" algn="ctr">
              <a:buNone/>
            </a:pPr>
            <a:r>
              <a:rPr lang="es-ES_tradnl" b="1" dirty="0">
                <a:solidFill>
                  <a:srgbClr val="C00000"/>
                </a:solidFill>
                <a:latin typeface="Century Gothic" panose="020B0502020202020204" pitchFamily="34" charset="0"/>
              </a:rPr>
              <a:t>En últimas, la incertidumbre está asociada a la </a:t>
            </a:r>
            <a:r>
              <a:rPr lang="es-ES_tradnl" b="1" u="sng" dirty="0">
                <a:solidFill>
                  <a:schemeClr val="accent3">
                    <a:lumMod val="75000"/>
                  </a:schemeClr>
                </a:solidFill>
                <a:latin typeface="Century Gothic" panose="020B0502020202020204" pitchFamily="34" charset="0"/>
              </a:rPr>
              <a:t>volatilidad</a:t>
            </a:r>
            <a:r>
              <a:rPr lang="es-ES_tradnl" dirty="0">
                <a:solidFill>
                  <a:srgbClr val="C00000"/>
                </a:solidFill>
                <a:latin typeface="Century Gothic" panose="020B0502020202020204" pitchFamily="34" charset="0"/>
              </a:rPr>
              <a:t> </a:t>
            </a:r>
            <a:r>
              <a:rPr lang="es-ES_tradnl" b="1" dirty="0">
                <a:solidFill>
                  <a:srgbClr val="C00000"/>
                </a:solidFill>
                <a:latin typeface="Century Gothic" panose="020B0502020202020204" pitchFamily="34" charset="0"/>
              </a:rPr>
              <a:t>de los posibles resultados futuros</a:t>
            </a:r>
            <a:r>
              <a:rPr lang="es-ES_tradnl" dirty="0">
                <a:solidFill>
                  <a:srgbClr val="C00000"/>
                </a:solidFill>
                <a:latin typeface="Century Gothic" panose="020B0502020202020204" pitchFamily="34" charset="0"/>
              </a:rPr>
              <a:t>.</a:t>
            </a:r>
          </a:p>
        </p:txBody>
      </p:sp>
      <p:sp>
        <p:nvSpPr>
          <p:cNvPr id="4" name="Slide Number Placeholder 3"/>
          <p:cNvSpPr>
            <a:spLocks noGrp="1"/>
          </p:cNvSpPr>
          <p:nvPr>
            <p:ph type="sldNum" sz="quarter" idx="12"/>
          </p:nvPr>
        </p:nvSpPr>
        <p:spPr/>
        <p:txBody>
          <a:bodyPr/>
          <a:lstStyle/>
          <a:p>
            <a:fld id="{5E3E23BA-6E79-2442-BA73-D218A5E297C3}" type="slidenum">
              <a:rPr lang="en-US" smtClean="0"/>
              <a:t>7</a:t>
            </a:fld>
            <a:endParaRPr lang="en-US" dirty="0"/>
          </a:p>
        </p:txBody>
      </p:sp>
      <p:sp>
        <p:nvSpPr>
          <p:cNvPr id="11" name="Rectángulo 10">
            <a:extLst>
              <a:ext uri="{FF2B5EF4-FFF2-40B4-BE49-F238E27FC236}">
                <a16:creationId xmlns:a16="http://schemas.microsoft.com/office/drawing/2014/main" id="{A7CFA825-83EC-AB28-0677-A3DFDD777DE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9DAE65F8-419D-584F-3834-793157E756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5B5D82EB-B8DE-67E1-A9BE-D2522792786A}"/>
              </a:ext>
            </a:extLst>
          </p:cNvPr>
          <p:cNvPicPr>
            <a:picLocks noChangeAspect="1"/>
          </p:cNvPicPr>
          <p:nvPr/>
        </p:nvPicPr>
        <p:blipFill>
          <a:blip r:embed="rId3"/>
          <a:stretch>
            <a:fillRect/>
          </a:stretch>
        </p:blipFill>
        <p:spPr>
          <a:xfrm>
            <a:off x="9070808" y="2896246"/>
            <a:ext cx="2540000" cy="1879600"/>
          </a:xfrm>
          <a:prstGeom prst="rect">
            <a:avLst/>
          </a:prstGeom>
        </p:spPr>
      </p:pic>
      <p:sp>
        <p:nvSpPr>
          <p:cNvPr id="2" name="Rectángulo 1">
            <a:extLst>
              <a:ext uri="{FF2B5EF4-FFF2-40B4-BE49-F238E27FC236}">
                <a16:creationId xmlns:a16="http://schemas.microsoft.com/office/drawing/2014/main" id="{A1893FEC-6A82-6A3C-0B67-114A0E6E8D7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037900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289BD42-C790-5A6C-14E0-E54E727A28B7}"/>
              </a:ext>
            </a:extLst>
          </p:cNvPr>
          <p:cNvSpPr>
            <a:spLocks noGrp="1"/>
          </p:cNvSpPr>
          <p:nvPr>
            <p:ph type="title"/>
          </p:nvPr>
        </p:nvSpPr>
        <p:spPr/>
        <p:txBody>
          <a:bodyPr/>
          <a:lstStyle/>
          <a:p>
            <a:r>
              <a:rPr lang="es-ES_tradnl" dirty="0">
                <a:latin typeface="Century Gothic" panose="020B0502020202020204" pitchFamily="34" charset="0"/>
              </a:rPr>
              <a:t>¿Qué es el riesgo?</a:t>
            </a:r>
          </a:p>
        </p:txBody>
      </p:sp>
      <p:sp>
        <p:nvSpPr>
          <p:cNvPr id="3" name="Content Placeholder 2"/>
          <p:cNvSpPr>
            <a:spLocks noGrp="1"/>
          </p:cNvSpPr>
          <p:nvPr>
            <p:ph idx="1"/>
          </p:nvPr>
        </p:nvSpPr>
        <p:spPr>
          <a:xfrm>
            <a:off x="1045026" y="2460396"/>
            <a:ext cx="9928545" cy="3678303"/>
          </a:xfrm>
        </p:spPr>
        <p:txBody>
          <a:bodyPr>
            <a:normAutofit/>
          </a:bodyPr>
          <a:lstStyle/>
          <a:p>
            <a:pPr marL="0" indent="0" algn="ctr">
              <a:buNone/>
            </a:pPr>
            <a:r>
              <a:rPr lang="es-ES_tradnl" b="1" dirty="0">
                <a:solidFill>
                  <a:srgbClr val="C00000"/>
                </a:solidFill>
                <a:latin typeface="Century Gothic" panose="020B0502020202020204" pitchFamily="34" charset="0"/>
              </a:rPr>
              <a:t>Entonces, ¿Cuál es la diferencia entre incertidumbre y riesgo?</a:t>
            </a:r>
          </a:p>
          <a:p>
            <a:pPr marL="0" indent="0" algn="ctr">
              <a:buNone/>
            </a:pPr>
            <a:endParaRPr lang="es-ES_tradnl" dirty="0">
              <a:solidFill>
                <a:srgbClr val="800000"/>
              </a:solidFill>
              <a:latin typeface="Century Gothic" panose="020B0502020202020204" pitchFamily="34" charset="0"/>
            </a:endParaRPr>
          </a:p>
          <a:p>
            <a:pPr algn="just"/>
            <a:r>
              <a:rPr lang="es-ES_tradnl" dirty="0">
                <a:solidFill>
                  <a:schemeClr val="accent1"/>
                </a:solidFill>
                <a:latin typeface="Century Gothic" panose="020B0502020202020204" pitchFamily="34" charset="0"/>
              </a:rPr>
              <a:t>Tanto en situaciones de incertidumbre como de riesgo, hay asociada una variable aleatoria. En otras palabras, no se conoce con certeza el resultado futuro de un evento.</a:t>
            </a:r>
          </a:p>
          <a:p>
            <a:pPr algn="just"/>
            <a:endParaRPr lang="es-ES_tradnl" dirty="0">
              <a:solidFill>
                <a:schemeClr val="accent1"/>
              </a:solidFill>
              <a:latin typeface="Century Gothic" panose="020B0502020202020204" pitchFamily="34" charset="0"/>
            </a:endParaRPr>
          </a:p>
          <a:p>
            <a:pPr algn="just"/>
            <a:r>
              <a:rPr lang="es-ES_tradnl" dirty="0">
                <a:solidFill>
                  <a:schemeClr val="accent1"/>
                </a:solidFill>
                <a:latin typeface="Century Gothic" panose="020B0502020202020204" pitchFamily="34" charset="0"/>
              </a:rPr>
              <a:t>No obstante, bajo incertidumbre </a:t>
            </a:r>
            <a:r>
              <a:rPr lang="es-ES_tradnl" u="sng" dirty="0">
                <a:solidFill>
                  <a:schemeClr val="accent3">
                    <a:lumMod val="75000"/>
                  </a:schemeClr>
                </a:solidFill>
                <a:latin typeface="Century Gothic" panose="020B0502020202020204" pitchFamily="34" charset="0"/>
              </a:rPr>
              <a:t>no será posible asignar a dicha variable aleatoria una distribución de probabilidad</a:t>
            </a:r>
            <a:r>
              <a:rPr lang="es-ES_tradnl" dirty="0">
                <a:solidFill>
                  <a:schemeClr val="accent1"/>
                </a:solidFill>
                <a:latin typeface="Century Gothic" panose="020B0502020202020204" pitchFamily="34" charset="0"/>
              </a:rPr>
              <a:t>. En cambio, en un escenario de riesgo, es </a:t>
            </a:r>
            <a:r>
              <a:rPr lang="es-ES_tradnl" b="1" dirty="0">
                <a:solidFill>
                  <a:schemeClr val="accent1"/>
                </a:solidFill>
                <a:latin typeface="Century Gothic" panose="020B0502020202020204" pitchFamily="34" charset="0"/>
              </a:rPr>
              <a:t>“estrictamente necesario” conocer la distribución de probabilidad de una variable aleatoria</a:t>
            </a:r>
            <a:r>
              <a:rPr lang="es-ES_tradnl" dirty="0">
                <a:solidFill>
                  <a:schemeClr val="tx1"/>
                </a:solidFill>
                <a:latin typeface="Century Gothic" panose="020B0502020202020204" pitchFamily="34" charset="0"/>
              </a:rPr>
              <a:t>.</a:t>
            </a:r>
          </a:p>
        </p:txBody>
      </p:sp>
      <p:sp>
        <p:nvSpPr>
          <p:cNvPr id="4" name="Slide Number Placeholder 3"/>
          <p:cNvSpPr>
            <a:spLocks noGrp="1"/>
          </p:cNvSpPr>
          <p:nvPr>
            <p:ph type="sldNum" sz="quarter" idx="12"/>
          </p:nvPr>
        </p:nvSpPr>
        <p:spPr/>
        <p:txBody>
          <a:bodyPr/>
          <a:lstStyle/>
          <a:p>
            <a:fld id="{5E3E23BA-6E79-2442-BA73-D218A5E297C3}" type="slidenum">
              <a:rPr lang="en-US" smtClean="0"/>
              <a:t>8</a:t>
            </a:fld>
            <a:endParaRPr lang="en-US"/>
          </a:p>
        </p:txBody>
      </p:sp>
      <p:sp>
        <p:nvSpPr>
          <p:cNvPr id="9" name="Rectángulo 8">
            <a:extLst>
              <a:ext uri="{FF2B5EF4-FFF2-40B4-BE49-F238E27FC236}">
                <a16:creationId xmlns:a16="http://schemas.microsoft.com/office/drawing/2014/main" id="{634B5DE4-EFBC-0A81-0C4A-FDA563C56DE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BF9B39E6-D78B-67F0-647D-B2807EE392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5" name="Gráfico 4" descr="Lightbulb and gear con relleno sólido">
            <a:extLst>
              <a:ext uri="{FF2B5EF4-FFF2-40B4-BE49-F238E27FC236}">
                <a16:creationId xmlns:a16="http://schemas.microsoft.com/office/drawing/2014/main" id="{D99ECF2E-37F7-D527-2727-EB1E7F20D6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10562" y="2253528"/>
            <a:ext cx="914400" cy="914400"/>
          </a:xfrm>
          <a:prstGeom prst="rect">
            <a:avLst/>
          </a:prstGeom>
        </p:spPr>
      </p:pic>
      <p:sp>
        <p:nvSpPr>
          <p:cNvPr id="2" name="Rectángulo 1">
            <a:extLst>
              <a:ext uri="{FF2B5EF4-FFF2-40B4-BE49-F238E27FC236}">
                <a16:creationId xmlns:a16="http://schemas.microsoft.com/office/drawing/2014/main" id="{F56B4176-F9F7-AC86-1BC5-0E6C1A37452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4117469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5BC0E0A1-1718-BE74-9CA5-270402F8A615}"/>
              </a:ext>
            </a:extLst>
          </p:cNvPr>
          <p:cNvSpPr>
            <a:spLocks noGrp="1"/>
          </p:cNvSpPr>
          <p:nvPr>
            <p:ph type="title"/>
          </p:nvPr>
        </p:nvSpPr>
        <p:spPr/>
        <p:txBody>
          <a:bodyPr/>
          <a:lstStyle/>
          <a:p>
            <a:r>
              <a:rPr lang="es-ES_tradnl" dirty="0">
                <a:latin typeface="Century Gothic" panose="020B0502020202020204" pitchFamily="34" charset="0"/>
              </a:rPr>
              <a:t>¿Qué es el riesgo?</a:t>
            </a:r>
          </a:p>
        </p:txBody>
      </p:sp>
      <p:sp>
        <p:nvSpPr>
          <p:cNvPr id="3" name="Content Placeholder 2"/>
          <p:cNvSpPr>
            <a:spLocks noGrp="1"/>
          </p:cNvSpPr>
          <p:nvPr>
            <p:ph idx="1"/>
          </p:nvPr>
        </p:nvSpPr>
        <p:spPr>
          <a:xfrm>
            <a:off x="750249" y="2282667"/>
            <a:ext cx="9201825" cy="3678303"/>
          </a:xfrm>
        </p:spPr>
        <p:txBody>
          <a:bodyPr>
            <a:normAutofit/>
          </a:bodyPr>
          <a:lstStyle/>
          <a:p>
            <a:pPr algn="just"/>
            <a:r>
              <a:rPr lang="es-ES_tradnl" dirty="0">
                <a:solidFill>
                  <a:schemeClr val="accent1"/>
                </a:solidFill>
                <a:latin typeface="Century Gothic" panose="020B0502020202020204" pitchFamily="34" charset="0"/>
              </a:rPr>
              <a:t>Suponga que se está enfrentando a un escenario en el cuál usted conoce la distribución probabilística de las variables aleatorias pertinentes. </a:t>
            </a:r>
          </a:p>
          <a:p>
            <a:pPr marL="0" indent="0" algn="ctr">
              <a:buNone/>
            </a:pPr>
            <a:r>
              <a:rPr lang="es-ES_tradnl" b="1" dirty="0">
                <a:solidFill>
                  <a:srgbClr val="C00000"/>
                </a:solidFill>
                <a:latin typeface="Century Gothic" panose="020B0502020202020204" pitchFamily="34" charset="0"/>
              </a:rPr>
              <a:t>¿Sólo con dicha información es posible tomar una decisión respecto a un proyecto de inversión?</a:t>
            </a:r>
          </a:p>
          <a:p>
            <a:pPr marL="0" indent="0" algn="ctr">
              <a:buNone/>
            </a:pPr>
            <a:endParaRPr lang="es-ES_tradnl" dirty="0">
              <a:solidFill>
                <a:srgbClr val="C00000"/>
              </a:solidFill>
              <a:latin typeface="Century Gothic" panose="020B0502020202020204" pitchFamily="34" charset="0"/>
            </a:endParaRPr>
          </a:p>
          <a:p>
            <a:pPr algn="just"/>
            <a:r>
              <a:rPr lang="es-ES_tradnl" dirty="0">
                <a:solidFill>
                  <a:schemeClr val="accent1"/>
                </a:solidFill>
                <a:latin typeface="Century Gothic" panose="020B0502020202020204" pitchFamily="34" charset="0"/>
              </a:rPr>
              <a:t>Note que conocer la distribución de probabilidad de las variables aleatorias es una condición necesaria, m</a:t>
            </a:r>
            <a:r>
              <a:rPr lang="en-US" dirty="0">
                <a:solidFill>
                  <a:schemeClr val="accent1"/>
                </a:solidFill>
                <a:latin typeface="Century Gothic" panose="020B0502020202020204" pitchFamily="34" charset="0"/>
              </a:rPr>
              <a:t>as </a:t>
            </a:r>
            <a:r>
              <a:rPr lang="es-ES_tradnl" dirty="0">
                <a:solidFill>
                  <a:schemeClr val="accent1"/>
                </a:solidFill>
                <a:latin typeface="Century Gothic" panose="020B0502020202020204" pitchFamily="34" charset="0"/>
              </a:rPr>
              <a:t>no suficiente para tomar la decisión.</a:t>
            </a:r>
          </a:p>
          <a:p>
            <a:pPr marL="0" indent="0" algn="ctr">
              <a:buNone/>
            </a:pPr>
            <a:r>
              <a:rPr lang="es-ES_tradnl" b="1" dirty="0">
                <a:solidFill>
                  <a:schemeClr val="accent1"/>
                </a:solidFill>
                <a:latin typeface="Century Gothic" panose="020B0502020202020204" pitchFamily="34" charset="0"/>
              </a:rPr>
              <a:t>También se debe conocer la </a:t>
            </a:r>
            <a:r>
              <a:rPr lang="es-ES_tradnl" b="1" dirty="0">
                <a:solidFill>
                  <a:schemeClr val="accent3">
                    <a:lumMod val="75000"/>
                  </a:schemeClr>
                </a:solidFill>
                <a:latin typeface="Century Gothic" panose="020B0502020202020204" pitchFamily="34" charset="0"/>
              </a:rPr>
              <a:t>disposición o aversión </a:t>
            </a:r>
            <a:r>
              <a:rPr lang="es-ES_tradnl" dirty="0">
                <a:solidFill>
                  <a:schemeClr val="accent3">
                    <a:lumMod val="75000"/>
                  </a:schemeClr>
                </a:solidFill>
                <a:latin typeface="Century Gothic" panose="020B0502020202020204" pitchFamily="34" charset="0"/>
              </a:rPr>
              <a:t>(</a:t>
            </a:r>
            <a:r>
              <a:rPr lang="es-ES_tradnl" b="1" u="sng" dirty="0">
                <a:solidFill>
                  <a:schemeClr val="accent3">
                    <a:lumMod val="75000"/>
                  </a:schemeClr>
                </a:solidFill>
                <a:latin typeface="Century Gothic" panose="020B0502020202020204" pitchFamily="34" charset="0"/>
              </a:rPr>
              <a:t>tolerancia</a:t>
            </a:r>
            <a:r>
              <a:rPr lang="es-ES_tradnl" dirty="0">
                <a:solidFill>
                  <a:schemeClr val="accent3">
                    <a:lumMod val="75000"/>
                  </a:schemeClr>
                </a:solidFill>
                <a:latin typeface="Century Gothic" panose="020B0502020202020204" pitchFamily="34" charset="0"/>
              </a:rPr>
              <a:t>) </a:t>
            </a:r>
            <a:r>
              <a:rPr lang="es-ES_tradnl" b="1" dirty="0">
                <a:solidFill>
                  <a:schemeClr val="accent1"/>
                </a:solidFill>
                <a:latin typeface="Century Gothic" panose="020B0502020202020204" pitchFamily="34" charset="0"/>
              </a:rPr>
              <a:t>que tiene un individuo (inversionista o proveedor de recursos) hacia el riesgo</a:t>
            </a:r>
            <a:r>
              <a:rPr lang="es-ES_tradnl" dirty="0">
                <a:solidFill>
                  <a:schemeClr val="tx1"/>
                </a:solidFill>
                <a:latin typeface="Century Gothic" panose="020B0502020202020204" pitchFamily="34" charset="0"/>
              </a:rPr>
              <a:t>.</a:t>
            </a:r>
          </a:p>
        </p:txBody>
      </p:sp>
      <p:sp>
        <p:nvSpPr>
          <p:cNvPr id="4" name="Slide Number Placeholder 3"/>
          <p:cNvSpPr>
            <a:spLocks noGrp="1"/>
          </p:cNvSpPr>
          <p:nvPr>
            <p:ph type="sldNum" sz="quarter" idx="12"/>
          </p:nvPr>
        </p:nvSpPr>
        <p:spPr/>
        <p:txBody>
          <a:bodyPr/>
          <a:lstStyle/>
          <a:p>
            <a:fld id="{5E3E23BA-6E79-2442-BA73-D218A5E297C3}" type="slidenum">
              <a:rPr lang="en-US" smtClean="0"/>
              <a:t>9</a:t>
            </a:fld>
            <a:endParaRPr lang="en-US"/>
          </a:p>
        </p:txBody>
      </p:sp>
      <p:sp>
        <p:nvSpPr>
          <p:cNvPr id="9" name="Rectángulo 8">
            <a:extLst>
              <a:ext uri="{FF2B5EF4-FFF2-40B4-BE49-F238E27FC236}">
                <a16:creationId xmlns:a16="http://schemas.microsoft.com/office/drawing/2014/main" id="{15AA8212-208E-79BB-F6BD-D6C026611F1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2F76D953-FB17-2732-050B-A46F3EC23B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08FAE6D4-1F50-A043-DA39-D93E5E85F810}"/>
              </a:ext>
            </a:extLst>
          </p:cNvPr>
          <p:cNvPicPr>
            <a:picLocks noChangeAspect="1"/>
          </p:cNvPicPr>
          <p:nvPr/>
        </p:nvPicPr>
        <p:blipFill rotWithShape="1">
          <a:blip r:embed="rId3"/>
          <a:srcRect t="11408" b="16185"/>
          <a:stretch/>
        </p:blipFill>
        <p:spPr>
          <a:xfrm>
            <a:off x="10246558" y="3305769"/>
            <a:ext cx="1700462" cy="1314132"/>
          </a:xfrm>
          <a:prstGeom prst="rect">
            <a:avLst/>
          </a:prstGeom>
        </p:spPr>
      </p:pic>
      <p:sp>
        <p:nvSpPr>
          <p:cNvPr id="2" name="Rectángulo 1">
            <a:extLst>
              <a:ext uri="{FF2B5EF4-FFF2-40B4-BE49-F238E27FC236}">
                <a16:creationId xmlns:a16="http://schemas.microsoft.com/office/drawing/2014/main" id="{D6D04CA5-446D-F9FB-ACE8-1CA55F96736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224950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1400" b="1" smtClean="0"/>
              <a:pPr/>
              <a:t>10</a:t>
            </a:fld>
            <a:endParaRPr lang="en-US" sz="1400" b="1"/>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1815882"/>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dirty="0">
                <a:solidFill>
                  <a:schemeClr val="bg2">
                    <a:lumMod val="90000"/>
                  </a:schemeClr>
                </a:solidFill>
                <a:latin typeface="Century Gothic"/>
                <a:cs typeface="Arial"/>
              </a:rPr>
              <a:t>¿Qué es el riesgo?</a:t>
            </a:r>
            <a:endParaRPr lang="es-ES" sz="1600" dirty="0">
              <a:solidFill>
                <a:schemeClr val="bg2">
                  <a:lumMod val="90000"/>
                </a:schemeClr>
              </a:solidFill>
              <a:latin typeface="Century Gothic"/>
              <a:cs typeface="Arial"/>
            </a:endParaRPr>
          </a:p>
          <a:p>
            <a:pPr marL="342900" indent="-342900">
              <a:buClr>
                <a:srgbClr val="2C7C9F"/>
              </a:buClr>
              <a:buFontTx/>
              <a:buAutoNum type="arabicPeriod"/>
            </a:pPr>
            <a:endParaRPr lang="es-CO" sz="1600" dirty="0">
              <a:solidFill>
                <a:schemeClr val="accent1"/>
              </a:solidFill>
              <a:latin typeface="Century Gothic"/>
              <a:cs typeface="Arial"/>
            </a:endParaRPr>
          </a:p>
          <a:p>
            <a:pPr marL="342900" indent="-342900">
              <a:buClr>
                <a:srgbClr val="48BE7A"/>
              </a:buClr>
              <a:buFontTx/>
              <a:buAutoNum type="arabicPeriod"/>
            </a:pPr>
            <a:r>
              <a:rPr lang="es-CO" sz="1600" dirty="0">
                <a:solidFill>
                  <a:schemeClr val="accent1"/>
                </a:solidFill>
                <a:latin typeface="Century Gothic"/>
                <a:cs typeface="Arial"/>
              </a:rPr>
              <a:t>Tolerancia al riesgo.</a:t>
            </a:r>
          </a:p>
          <a:p>
            <a:pPr marL="342900" indent="-342900">
              <a:buClr>
                <a:srgbClr val="48BE7A"/>
              </a:buClr>
              <a:buFontTx/>
              <a:buAutoNum type="arabicPeriod"/>
            </a:pPr>
            <a:endParaRPr lang="es-CO" sz="1600" dirty="0">
              <a:solidFill>
                <a:schemeClr val="accent1"/>
              </a:solidFill>
              <a:latin typeface="Century Gothic"/>
              <a:cs typeface="Arial"/>
            </a:endParaRPr>
          </a:p>
          <a:p>
            <a:pPr marL="342900" indent="-342900" algn="just">
              <a:buClr>
                <a:srgbClr val="48BE7A"/>
              </a:buClr>
              <a:buFontTx/>
              <a:buAutoNum type="arabicPeriod"/>
            </a:pPr>
            <a:r>
              <a:rPr lang="es-CO" sz="1600" dirty="0">
                <a:solidFill>
                  <a:schemeClr val="bg2">
                    <a:lumMod val="90000"/>
                  </a:schemeClr>
                </a:solidFill>
                <a:latin typeface="Century Gothic" panose="020B0502020202020204" pitchFamily="34" charset="0"/>
                <a:cs typeface="Arial"/>
              </a:rPr>
              <a:t>Valor esperado y varianza en la evaluación de proyectos.</a:t>
            </a:r>
          </a:p>
          <a:p>
            <a:pPr marL="342900" indent="-342900">
              <a:buClr>
                <a:srgbClr val="48BE7A"/>
              </a:buClr>
              <a:buAutoNum type="arabicPeriod"/>
            </a:pPr>
            <a:endParaRPr lang="es-CO" sz="1600" dirty="0">
              <a:solidFill>
                <a:schemeClr val="bg2">
                  <a:lumMod val="90000"/>
                </a:schemeClr>
              </a:solidFill>
              <a:latin typeface="Century Gothic" panose="020B0502020202020204" pitchFamily="34" charset="0"/>
              <a:cs typeface="Arial"/>
            </a:endParaRPr>
          </a:p>
          <a:p>
            <a:pPr>
              <a:buClr>
                <a:schemeClr val="accent3">
                  <a:lumMod val="75000"/>
                </a:schemeClr>
              </a:buClr>
            </a:pPr>
            <a:endParaRPr lang="es-CO" sz="1600" dirty="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00BB7903-BD4F-0A05-29FD-A7787457EB0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478539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dirty="0">
                <a:latin typeface="Century Gothic" panose="020B0502020202020204" pitchFamily="34" charset="0"/>
              </a:rPr>
              <a:t>Tolerancia al riesgo</a:t>
            </a:r>
          </a:p>
        </p:txBody>
      </p:sp>
      <p:sp>
        <p:nvSpPr>
          <p:cNvPr id="3" name="Content Placeholder 2"/>
          <p:cNvSpPr>
            <a:spLocks noGrp="1"/>
          </p:cNvSpPr>
          <p:nvPr>
            <p:ph idx="1"/>
          </p:nvPr>
        </p:nvSpPr>
        <p:spPr>
          <a:xfrm>
            <a:off x="832788" y="1812133"/>
            <a:ext cx="10526423" cy="3678303"/>
          </a:xfrm>
        </p:spPr>
        <p:txBody>
          <a:bodyPr>
            <a:normAutofit/>
          </a:bodyPr>
          <a:lstStyle/>
          <a:p>
            <a:pPr algn="just"/>
            <a:r>
              <a:rPr lang="es-ES_tradnl" dirty="0">
                <a:solidFill>
                  <a:schemeClr val="accent1"/>
                </a:solidFill>
                <a:latin typeface="Century Gothic" panose="020B0502020202020204" pitchFamily="34" charset="0"/>
              </a:rPr>
              <a:t>La primera pregunta que debemos responder es: ¿Son todos los individuos igual de tolerantes al riesgo?</a:t>
            </a:r>
          </a:p>
          <a:p>
            <a:pPr algn="just"/>
            <a:endParaRPr lang="es-ES_tradnl" dirty="0">
              <a:solidFill>
                <a:schemeClr val="accent1"/>
              </a:solidFill>
              <a:latin typeface="Century Gothic" panose="020B0502020202020204" pitchFamily="34" charset="0"/>
            </a:endParaRPr>
          </a:p>
          <a:p>
            <a:pPr algn="just"/>
            <a:r>
              <a:rPr lang="es-ES_tradnl" dirty="0">
                <a:solidFill>
                  <a:schemeClr val="accent1"/>
                </a:solidFill>
                <a:latin typeface="Century Gothic" panose="020B0502020202020204" pitchFamily="34" charset="0"/>
              </a:rPr>
              <a:t>Los estudios de tolerancia al riesgo que se expondrán a continuación están fundamentados en los trabajos académicos de </a:t>
            </a:r>
            <a:r>
              <a:rPr lang="es-ES_tradnl" b="1" dirty="0">
                <a:solidFill>
                  <a:srgbClr val="D7A700"/>
                </a:solidFill>
                <a:latin typeface="Century Gothic" panose="020B0502020202020204" pitchFamily="34" charset="0"/>
              </a:rPr>
              <a:t>Von Neumann</a:t>
            </a:r>
            <a:r>
              <a:rPr lang="es-ES_tradnl" dirty="0">
                <a:solidFill>
                  <a:schemeClr val="accent1"/>
                </a:solidFill>
                <a:latin typeface="Century Gothic" panose="020B0502020202020204" pitchFamily="34" charset="0"/>
              </a:rPr>
              <a:t>, quien basa su teoría de tolerancia al riesgo en </a:t>
            </a:r>
            <a:r>
              <a:rPr lang="es-ES_tradnl" b="1" dirty="0">
                <a:solidFill>
                  <a:schemeClr val="accent3">
                    <a:lumMod val="75000"/>
                  </a:schemeClr>
                </a:solidFill>
                <a:latin typeface="Century Gothic" panose="020B0502020202020204" pitchFamily="34" charset="0"/>
              </a:rPr>
              <a:t>la utilidad </a:t>
            </a:r>
            <a:r>
              <a:rPr lang="es-ES_tradnl" dirty="0">
                <a:solidFill>
                  <a:schemeClr val="accent1"/>
                </a:solidFill>
                <a:latin typeface="Century Gothic" panose="020B0502020202020204" pitchFamily="34" charset="0"/>
              </a:rPr>
              <a:t>(satisfacción o bienestar) </a:t>
            </a:r>
            <a:r>
              <a:rPr lang="es-ES_tradnl" b="1" dirty="0">
                <a:solidFill>
                  <a:schemeClr val="accent3">
                    <a:lumMod val="75000"/>
                  </a:schemeClr>
                </a:solidFill>
                <a:latin typeface="Century Gothic" panose="020B0502020202020204" pitchFamily="34" charset="0"/>
              </a:rPr>
              <a:t>que percibe un individuo en función de ciertas sumas de dinero</a:t>
            </a:r>
            <a:r>
              <a:rPr lang="es-ES_tradnl" b="1" dirty="0">
                <a:solidFill>
                  <a:schemeClr val="accent1"/>
                </a:solidFill>
                <a:latin typeface="Century Gothic" panose="020B0502020202020204" pitchFamily="34" charset="0"/>
              </a:rPr>
              <a:t>. </a:t>
            </a:r>
          </a:p>
          <a:p>
            <a:pPr algn="just"/>
            <a:endParaRPr lang="es-ES_tradnl" b="1" dirty="0">
              <a:solidFill>
                <a:schemeClr val="accent1"/>
              </a:solidFill>
              <a:latin typeface="Century Gothic" panose="020B0502020202020204" pitchFamily="34" charset="0"/>
            </a:endParaRPr>
          </a:p>
          <a:p>
            <a:pPr marL="0" indent="0" algn="ctr">
              <a:buNone/>
            </a:pPr>
            <a:r>
              <a:rPr lang="es-ES_tradnl" b="1" dirty="0">
                <a:solidFill>
                  <a:srgbClr val="C00000"/>
                </a:solidFill>
                <a:latin typeface="Century Gothic" panose="020B0502020202020204" pitchFamily="34" charset="0"/>
              </a:rPr>
              <a:t>A dicha teoría se le conoce como Teoría Cardinal de la Utilidad.</a:t>
            </a:r>
          </a:p>
        </p:txBody>
      </p:sp>
      <p:sp>
        <p:nvSpPr>
          <p:cNvPr id="4" name="Slide Number Placeholder 3"/>
          <p:cNvSpPr>
            <a:spLocks noGrp="1"/>
          </p:cNvSpPr>
          <p:nvPr>
            <p:ph type="sldNum" sz="quarter" idx="12"/>
          </p:nvPr>
        </p:nvSpPr>
        <p:spPr/>
        <p:txBody>
          <a:bodyPr/>
          <a:lstStyle/>
          <a:p>
            <a:fld id="{5E3E23BA-6E79-2442-BA73-D218A5E297C3}" type="slidenum">
              <a:rPr lang="en-US" smtClean="0"/>
              <a:t>11</a:t>
            </a:fld>
            <a:endParaRPr lang="en-US"/>
          </a:p>
        </p:txBody>
      </p:sp>
      <p:sp>
        <p:nvSpPr>
          <p:cNvPr id="9" name="Rectángulo 8">
            <a:extLst>
              <a:ext uri="{FF2B5EF4-FFF2-40B4-BE49-F238E27FC236}">
                <a16:creationId xmlns:a16="http://schemas.microsoft.com/office/drawing/2014/main" id="{1EDE8C70-EECC-76C9-3CB3-FD02A83733B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94EE0F56-4613-0329-C255-8909ED127F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DBD62AF2-D7FB-9B2E-4AC5-A834606AF011}"/>
              </a:ext>
            </a:extLst>
          </p:cNvPr>
          <p:cNvPicPr>
            <a:picLocks noChangeAspect="1"/>
          </p:cNvPicPr>
          <p:nvPr/>
        </p:nvPicPr>
        <p:blipFill>
          <a:blip r:embed="rId3"/>
          <a:stretch>
            <a:fillRect/>
          </a:stretch>
        </p:blipFill>
        <p:spPr>
          <a:xfrm>
            <a:off x="4325678" y="5397158"/>
            <a:ext cx="3540642" cy="1397816"/>
          </a:xfrm>
          <a:prstGeom prst="rect">
            <a:avLst/>
          </a:prstGeom>
        </p:spPr>
      </p:pic>
      <p:sp>
        <p:nvSpPr>
          <p:cNvPr id="5" name="Rectángulo 4">
            <a:extLst>
              <a:ext uri="{FF2B5EF4-FFF2-40B4-BE49-F238E27FC236}">
                <a16:creationId xmlns:a16="http://schemas.microsoft.com/office/drawing/2014/main" id="{368D10E8-0D98-2AC8-F465-3D8B8227654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580646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2860A7F5-0DE8-F22F-8B13-982EDD1F8406}"/>
              </a:ext>
            </a:extLst>
          </p:cNvPr>
          <p:cNvSpPr>
            <a:spLocks noGrp="1"/>
          </p:cNvSpPr>
          <p:nvPr>
            <p:ph type="title"/>
          </p:nvPr>
        </p:nvSpPr>
        <p:spPr/>
        <p:txBody>
          <a:bodyPr/>
          <a:lstStyle/>
          <a:p>
            <a:r>
              <a:rPr lang="es-ES_tradnl" dirty="0">
                <a:latin typeface="Century Gothic" panose="020B0502020202020204" pitchFamily="34" charset="0"/>
              </a:rPr>
              <a:t>Tolerancia al riesgo</a:t>
            </a:r>
          </a:p>
        </p:txBody>
      </p:sp>
      <p:sp>
        <p:nvSpPr>
          <p:cNvPr id="3" name="Content Placeholder 2"/>
          <p:cNvSpPr>
            <a:spLocks noGrp="1"/>
          </p:cNvSpPr>
          <p:nvPr>
            <p:ph idx="1"/>
          </p:nvPr>
        </p:nvSpPr>
        <p:spPr>
          <a:xfrm>
            <a:off x="641965" y="2277834"/>
            <a:ext cx="8672429" cy="3678303"/>
          </a:xfrm>
        </p:spPr>
        <p:txBody>
          <a:bodyPr>
            <a:noAutofit/>
          </a:bodyPr>
          <a:lstStyle/>
          <a:p>
            <a:pPr algn="just"/>
            <a:r>
              <a:rPr lang="es-ES_tradnl" dirty="0">
                <a:solidFill>
                  <a:schemeClr val="accent1"/>
                </a:solidFill>
                <a:latin typeface="Century Gothic" panose="020B0502020202020204" pitchFamily="34" charset="0"/>
              </a:rPr>
              <a:t>Von Neumann determinó que todo individuo tiene una función de utilidad individual [U(x)] que buscará maximizar.</a:t>
            </a:r>
          </a:p>
          <a:p>
            <a:pPr algn="just"/>
            <a:endParaRPr lang="es-ES_tradnl" dirty="0">
              <a:solidFill>
                <a:schemeClr val="accent1"/>
              </a:solidFill>
              <a:latin typeface="Century Gothic" panose="020B0502020202020204" pitchFamily="34" charset="0"/>
            </a:endParaRPr>
          </a:p>
          <a:p>
            <a:pPr algn="just"/>
            <a:r>
              <a:rPr lang="es-ES_tradnl" dirty="0">
                <a:solidFill>
                  <a:schemeClr val="accent1"/>
                </a:solidFill>
                <a:latin typeface="Century Gothic" panose="020B0502020202020204" pitchFamily="34" charset="0"/>
              </a:rPr>
              <a:t>Así las cosas, si un individuo tiene la opción A y la opción B y prefiere la primera, es porque U(A)&gt;U(B).</a:t>
            </a:r>
          </a:p>
          <a:p>
            <a:pPr algn="just"/>
            <a:endParaRPr lang="es-ES_tradnl" dirty="0">
              <a:solidFill>
                <a:schemeClr val="accent1"/>
              </a:solidFill>
              <a:latin typeface="Century Gothic" panose="020B0502020202020204" pitchFamily="34" charset="0"/>
            </a:endParaRPr>
          </a:p>
          <a:p>
            <a:pPr algn="just"/>
            <a:r>
              <a:rPr lang="es-ES_tradnl" dirty="0">
                <a:solidFill>
                  <a:schemeClr val="accent1"/>
                </a:solidFill>
                <a:latin typeface="Century Gothic" panose="020B0502020202020204" pitchFamily="34" charset="0"/>
              </a:rPr>
              <a:t>Lo anterior resulta bastante intuitivo y permite concluir que los individuos toman decisiones con base a su función de utilidad. </a:t>
            </a:r>
          </a:p>
          <a:p>
            <a:pPr marL="0" indent="0" algn="ctr">
              <a:spcBef>
                <a:spcPts val="0"/>
              </a:spcBef>
              <a:spcAft>
                <a:spcPts val="0"/>
              </a:spcAft>
              <a:buNone/>
            </a:pPr>
            <a:endParaRPr lang="es-ES_tradnl" dirty="0">
              <a:solidFill>
                <a:srgbClr val="800000"/>
              </a:solidFill>
              <a:latin typeface="Century Gothic" panose="020B0502020202020204" pitchFamily="34" charset="0"/>
            </a:endParaRPr>
          </a:p>
          <a:p>
            <a:pPr marL="0" indent="0" algn="ctr">
              <a:spcBef>
                <a:spcPts val="0"/>
              </a:spcBef>
              <a:spcAft>
                <a:spcPts val="0"/>
              </a:spcAft>
              <a:buNone/>
            </a:pPr>
            <a:r>
              <a:rPr lang="es-ES_tradnl" b="1" dirty="0">
                <a:solidFill>
                  <a:srgbClr val="C00000"/>
                </a:solidFill>
                <a:latin typeface="Century Gothic" panose="020B0502020202020204" pitchFamily="34" charset="0"/>
              </a:rPr>
              <a:t>Dicha función de utilidad será la que determine, en gran medida, </a:t>
            </a:r>
          </a:p>
          <a:p>
            <a:pPr marL="0" indent="0" algn="ctr">
              <a:spcBef>
                <a:spcPts val="0"/>
              </a:spcBef>
              <a:spcAft>
                <a:spcPts val="0"/>
              </a:spcAft>
              <a:buNone/>
            </a:pPr>
            <a:r>
              <a:rPr lang="es-ES_tradnl" b="1" dirty="0">
                <a:solidFill>
                  <a:srgbClr val="C00000"/>
                </a:solidFill>
                <a:latin typeface="Century Gothic" panose="020B0502020202020204" pitchFamily="34" charset="0"/>
              </a:rPr>
              <a:t>el nivel de tolerancia al riesgo.</a:t>
            </a:r>
          </a:p>
        </p:txBody>
      </p:sp>
      <p:sp>
        <p:nvSpPr>
          <p:cNvPr id="4" name="Slide Number Placeholder 3"/>
          <p:cNvSpPr>
            <a:spLocks noGrp="1"/>
          </p:cNvSpPr>
          <p:nvPr>
            <p:ph type="sldNum" sz="quarter" idx="12"/>
          </p:nvPr>
        </p:nvSpPr>
        <p:spPr/>
        <p:txBody>
          <a:bodyPr/>
          <a:lstStyle/>
          <a:p>
            <a:fld id="{5E3E23BA-6E79-2442-BA73-D218A5E297C3}" type="slidenum">
              <a:rPr lang="en-US" smtClean="0"/>
              <a:t>12</a:t>
            </a:fld>
            <a:endParaRPr lang="en-US"/>
          </a:p>
        </p:txBody>
      </p:sp>
      <p:sp>
        <p:nvSpPr>
          <p:cNvPr id="9" name="Rectángulo 8">
            <a:extLst>
              <a:ext uri="{FF2B5EF4-FFF2-40B4-BE49-F238E27FC236}">
                <a16:creationId xmlns:a16="http://schemas.microsoft.com/office/drawing/2014/main" id="{F7BA62A1-3E01-1E41-4975-E366AAB463B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860F44DA-3F6A-23D3-9647-F2769C252A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1. Caraterización |">
            <a:extLst>
              <a:ext uri="{FF2B5EF4-FFF2-40B4-BE49-F238E27FC236}">
                <a16:creationId xmlns:a16="http://schemas.microsoft.com/office/drawing/2014/main" id="{23EB6DE5-F75B-A722-AD7A-36DD47580CC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332" r="3687"/>
          <a:stretch/>
        </p:blipFill>
        <p:spPr bwMode="auto">
          <a:xfrm>
            <a:off x="9515707" y="3319543"/>
            <a:ext cx="2269625" cy="1594884"/>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607A001D-2D7A-D16A-EF0D-1CF2D9F69F0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447508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BF86C33-7B74-B7B9-BE4D-93D261E5B29B}"/>
              </a:ext>
            </a:extLst>
          </p:cNvPr>
          <p:cNvSpPr>
            <a:spLocks noGrp="1"/>
          </p:cNvSpPr>
          <p:nvPr>
            <p:ph type="title"/>
          </p:nvPr>
        </p:nvSpPr>
        <p:spPr/>
        <p:txBody>
          <a:bodyPr/>
          <a:lstStyle/>
          <a:p>
            <a:r>
              <a:rPr lang="es-ES_tradnl" dirty="0">
                <a:latin typeface="Century Gothic" panose="020B0502020202020204" pitchFamily="34" charset="0"/>
              </a:rPr>
              <a:t>Tolerancia al riesgo</a:t>
            </a:r>
          </a:p>
        </p:txBody>
      </p:sp>
      <p:sp>
        <p:nvSpPr>
          <p:cNvPr id="3" name="Content Placeholder 2"/>
          <p:cNvSpPr>
            <a:spLocks noGrp="1"/>
          </p:cNvSpPr>
          <p:nvPr>
            <p:ph idx="1"/>
          </p:nvPr>
        </p:nvSpPr>
        <p:spPr>
          <a:xfrm>
            <a:off x="886019" y="2277834"/>
            <a:ext cx="9172381" cy="3678303"/>
          </a:xfrm>
        </p:spPr>
        <p:txBody>
          <a:bodyPr>
            <a:normAutofit/>
          </a:bodyPr>
          <a:lstStyle/>
          <a:p>
            <a:pPr marL="0" indent="0" algn="just">
              <a:buNone/>
            </a:pPr>
            <a:r>
              <a:rPr lang="es-ES_tradnl" dirty="0">
                <a:solidFill>
                  <a:schemeClr val="accent1"/>
                </a:solidFill>
                <a:latin typeface="Century Gothic" panose="020B0502020202020204" pitchFamily="34" charset="0"/>
              </a:rPr>
              <a:t>Suponga que usted tiene que seleccionar una de las siguientes alternativas mutuamente excluyentes:</a:t>
            </a:r>
          </a:p>
          <a:p>
            <a:pPr marL="0" indent="0" algn="just">
              <a:buNone/>
            </a:pPr>
            <a:endParaRPr lang="es-ES_tradnl" dirty="0">
              <a:solidFill>
                <a:schemeClr val="accent1"/>
              </a:solidFill>
              <a:latin typeface="Century Gothic" panose="020B0502020202020204" pitchFamily="34" charset="0"/>
            </a:endParaRPr>
          </a:p>
          <a:p>
            <a:pPr marL="0" indent="0" algn="just">
              <a:buNone/>
            </a:pPr>
            <a:r>
              <a:rPr lang="es-ES_tradnl" b="1" dirty="0">
                <a:solidFill>
                  <a:schemeClr val="accent3">
                    <a:lumMod val="75000"/>
                  </a:schemeClr>
                </a:solidFill>
                <a:latin typeface="Century Gothic" panose="020B0502020202020204" pitchFamily="34" charset="0"/>
              </a:rPr>
              <a:t>Opción A:</a:t>
            </a:r>
            <a:r>
              <a:rPr lang="es-ES_tradnl" dirty="0">
                <a:solidFill>
                  <a:schemeClr val="accent3">
                    <a:lumMod val="75000"/>
                  </a:schemeClr>
                </a:solidFill>
                <a:latin typeface="Century Gothic" panose="020B0502020202020204" pitchFamily="34" charset="0"/>
              </a:rPr>
              <a:t> </a:t>
            </a:r>
            <a:r>
              <a:rPr lang="es-ES_tradnl" dirty="0">
                <a:solidFill>
                  <a:schemeClr val="accent1"/>
                </a:solidFill>
                <a:latin typeface="Century Gothic" panose="020B0502020202020204" pitchFamily="34" charset="0"/>
              </a:rPr>
              <a:t>Juego de azar en el cual se lanza una moneda. Si el resultado es cara, usted obtiene un premio de un millón de pesos ($1’000.000). Si el resultado es sello, usted obtiene cero ($0) pesos.</a:t>
            </a:r>
          </a:p>
          <a:p>
            <a:pPr marL="0" indent="0" algn="just">
              <a:buNone/>
            </a:pPr>
            <a:endParaRPr lang="es-ES_tradnl" dirty="0">
              <a:solidFill>
                <a:schemeClr val="accent1"/>
              </a:solidFill>
              <a:latin typeface="Century Gothic" panose="020B0502020202020204" pitchFamily="34" charset="0"/>
            </a:endParaRPr>
          </a:p>
          <a:p>
            <a:pPr marL="0" indent="0" algn="just">
              <a:buNone/>
            </a:pPr>
            <a:r>
              <a:rPr lang="es-ES_tradnl" b="1" dirty="0">
                <a:solidFill>
                  <a:schemeClr val="accent3">
                    <a:lumMod val="75000"/>
                  </a:schemeClr>
                </a:solidFill>
                <a:latin typeface="Century Gothic" panose="020B0502020202020204" pitchFamily="34" charset="0"/>
              </a:rPr>
              <a:t>Opción B: </a:t>
            </a:r>
            <a:r>
              <a:rPr lang="es-ES_tradnl" dirty="0">
                <a:solidFill>
                  <a:schemeClr val="accent1"/>
                </a:solidFill>
                <a:latin typeface="Century Gothic" panose="020B0502020202020204" pitchFamily="34" charset="0"/>
              </a:rPr>
              <a:t>Usted recibirá 300 mil pesos con probabilidad del 100%.</a:t>
            </a:r>
          </a:p>
          <a:p>
            <a:pPr marL="0" indent="0" algn="ctr">
              <a:buNone/>
            </a:pPr>
            <a:endParaRPr lang="es-ES_tradnl" dirty="0">
              <a:solidFill>
                <a:srgbClr val="800000"/>
              </a:solidFill>
              <a:latin typeface="Century Gothic" panose="020B0502020202020204" pitchFamily="34" charset="0"/>
            </a:endParaRPr>
          </a:p>
          <a:p>
            <a:pPr marL="0" indent="0" algn="ctr">
              <a:buNone/>
            </a:pPr>
            <a:r>
              <a:rPr lang="es-ES_tradnl" b="1" dirty="0">
                <a:solidFill>
                  <a:srgbClr val="C00000"/>
                </a:solidFill>
                <a:latin typeface="Century Gothic" panose="020B0502020202020204" pitchFamily="34" charset="0"/>
              </a:rPr>
              <a:t>¿Cuál alternativa escogería?</a:t>
            </a:r>
          </a:p>
        </p:txBody>
      </p:sp>
      <p:sp>
        <p:nvSpPr>
          <p:cNvPr id="4" name="Slide Number Placeholder 3"/>
          <p:cNvSpPr>
            <a:spLocks noGrp="1"/>
          </p:cNvSpPr>
          <p:nvPr>
            <p:ph type="sldNum" sz="quarter" idx="12"/>
          </p:nvPr>
        </p:nvSpPr>
        <p:spPr/>
        <p:txBody>
          <a:bodyPr/>
          <a:lstStyle/>
          <a:p>
            <a:fld id="{5E3E23BA-6E79-2442-BA73-D218A5E297C3}" type="slidenum">
              <a:rPr lang="en-US" smtClean="0"/>
              <a:t>13</a:t>
            </a:fld>
            <a:endParaRPr lang="en-US"/>
          </a:p>
        </p:txBody>
      </p:sp>
      <p:sp>
        <p:nvSpPr>
          <p:cNvPr id="9" name="Rectángulo 8">
            <a:extLst>
              <a:ext uri="{FF2B5EF4-FFF2-40B4-BE49-F238E27FC236}">
                <a16:creationId xmlns:a16="http://schemas.microsoft.com/office/drawing/2014/main" id="{D1204016-F6E7-BC85-6F71-1EA791556B6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607262AA-D1C1-6401-0467-3C68159F75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Métodos Estadísticos de Probabilidad | Mind Map">
            <a:extLst>
              <a:ext uri="{FF2B5EF4-FFF2-40B4-BE49-F238E27FC236}">
                <a16:creationId xmlns:a16="http://schemas.microsoft.com/office/drawing/2014/main" id="{EE46BF8F-C4B4-0625-21D2-1263DF642C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87332" y="4599931"/>
            <a:ext cx="2142135" cy="1356206"/>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42840966-65E7-C631-5E17-AB78E9B9E17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442676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 calcmode="lin" valueType="num">
                                      <p:cBhvr additive="base">
                                        <p:cTn id="1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87F10D-C277-DFA9-5D76-4D788A9DE585}"/>
              </a:ext>
            </a:extLst>
          </p:cNvPr>
          <p:cNvSpPr>
            <a:spLocks noGrp="1"/>
          </p:cNvSpPr>
          <p:nvPr>
            <p:ph type="title"/>
          </p:nvPr>
        </p:nvSpPr>
        <p:spPr/>
        <p:txBody>
          <a:bodyPr/>
          <a:lstStyle/>
          <a:p>
            <a:r>
              <a:rPr lang="es-MX" dirty="0" err="1"/>
              <a:t>Forms</a:t>
            </a:r>
            <a:endParaRPr lang="es-CO" dirty="0"/>
          </a:p>
        </p:txBody>
      </p:sp>
      <p:sp>
        <p:nvSpPr>
          <p:cNvPr id="4" name="Marcador de número de diapositiva 3">
            <a:extLst>
              <a:ext uri="{FF2B5EF4-FFF2-40B4-BE49-F238E27FC236}">
                <a16:creationId xmlns:a16="http://schemas.microsoft.com/office/drawing/2014/main" id="{0AFEB8EF-2A07-E673-B6CF-340D9C5FA57E}"/>
              </a:ext>
            </a:extLst>
          </p:cNvPr>
          <p:cNvSpPr>
            <a:spLocks noGrp="1"/>
          </p:cNvSpPr>
          <p:nvPr>
            <p:ph type="sldNum" sz="quarter" idx="12"/>
          </p:nvPr>
        </p:nvSpPr>
        <p:spPr/>
        <p:txBody>
          <a:bodyPr/>
          <a:lstStyle/>
          <a:p>
            <a:fld id="{D57F1E4F-1CFF-5643-939E-217C01CDF565}" type="slidenum">
              <a:rPr lang="en-US" smtClean="0"/>
              <a:pPr/>
              <a:t>14</a:t>
            </a:fld>
            <a:endParaRPr lang="en-US"/>
          </a:p>
        </p:txBody>
      </p:sp>
      <p:pic>
        <p:nvPicPr>
          <p:cNvPr id="6" name="Imagen 5">
            <a:extLst>
              <a:ext uri="{FF2B5EF4-FFF2-40B4-BE49-F238E27FC236}">
                <a16:creationId xmlns:a16="http://schemas.microsoft.com/office/drawing/2014/main" id="{B04E3C77-0007-A205-BFD0-04692E1F735A}"/>
              </a:ext>
            </a:extLst>
          </p:cNvPr>
          <p:cNvPicPr>
            <a:picLocks noChangeAspect="1"/>
          </p:cNvPicPr>
          <p:nvPr/>
        </p:nvPicPr>
        <p:blipFill>
          <a:blip r:embed="rId2"/>
          <a:stretch>
            <a:fillRect/>
          </a:stretch>
        </p:blipFill>
        <p:spPr>
          <a:xfrm>
            <a:off x="3932214" y="2165303"/>
            <a:ext cx="4327571" cy="4327571"/>
          </a:xfrm>
          <a:prstGeom prst="rect">
            <a:avLst/>
          </a:prstGeom>
        </p:spPr>
      </p:pic>
    </p:spTree>
    <p:extLst>
      <p:ext uri="{BB962C8B-B14F-4D97-AF65-F5344CB8AC3E}">
        <p14:creationId xmlns:p14="http://schemas.microsoft.com/office/powerpoint/2010/main" val="774161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DD14B-4FDC-B6B7-6D21-A9870EF6E362}"/>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92667F0A-B03A-4479-EAB0-57D623970BD8}"/>
              </a:ext>
            </a:extLst>
          </p:cNvPr>
          <p:cNvSpPr>
            <a:spLocks noGrp="1"/>
          </p:cNvSpPr>
          <p:nvPr>
            <p:ph type="title"/>
          </p:nvPr>
        </p:nvSpPr>
        <p:spPr/>
        <p:txBody>
          <a:bodyPr/>
          <a:lstStyle/>
          <a:p>
            <a:r>
              <a:rPr lang="es-ES_tradnl" dirty="0">
                <a:latin typeface="Century Gothic" panose="020B0502020202020204" pitchFamily="34" charset="0"/>
              </a:rPr>
              <a:t>Tolerancia al riesgo</a:t>
            </a:r>
          </a:p>
        </p:txBody>
      </p:sp>
      <p:sp>
        <p:nvSpPr>
          <p:cNvPr id="3" name="Content Placeholder 2">
            <a:extLst>
              <a:ext uri="{FF2B5EF4-FFF2-40B4-BE49-F238E27FC236}">
                <a16:creationId xmlns:a16="http://schemas.microsoft.com/office/drawing/2014/main" id="{4A27A2BD-6DEC-0D96-DFAB-8416E044DBC6}"/>
              </a:ext>
            </a:extLst>
          </p:cNvPr>
          <p:cNvSpPr>
            <a:spLocks noGrp="1"/>
          </p:cNvSpPr>
          <p:nvPr>
            <p:ph idx="1"/>
          </p:nvPr>
        </p:nvSpPr>
        <p:spPr>
          <a:xfrm>
            <a:off x="886019" y="2277834"/>
            <a:ext cx="9172381" cy="3678303"/>
          </a:xfrm>
        </p:spPr>
        <p:txBody>
          <a:bodyPr>
            <a:normAutofit/>
          </a:bodyPr>
          <a:lstStyle/>
          <a:p>
            <a:pPr marL="0" indent="0" algn="just">
              <a:buNone/>
            </a:pPr>
            <a:r>
              <a:rPr lang="es-ES_tradnl" dirty="0">
                <a:solidFill>
                  <a:schemeClr val="accent1"/>
                </a:solidFill>
                <a:latin typeface="Century Gothic" panose="020B0502020202020204" pitchFamily="34" charset="0"/>
              </a:rPr>
              <a:t>Suponga que usted tiene que seleccionar una de las siguientes alternativas mutuamente excluyentes:</a:t>
            </a:r>
          </a:p>
          <a:p>
            <a:pPr marL="0" indent="0" algn="just">
              <a:buNone/>
            </a:pPr>
            <a:endParaRPr lang="es-ES_tradnl" dirty="0">
              <a:solidFill>
                <a:schemeClr val="accent1"/>
              </a:solidFill>
              <a:latin typeface="Century Gothic" panose="020B0502020202020204" pitchFamily="34" charset="0"/>
            </a:endParaRPr>
          </a:p>
          <a:p>
            <a:pPr marL="0" indent="0" algn="just">
              <a:buNone/>
            </a:pPr>
            <a:r>
              <a:rPr lang="es-ES_tradnl" b="1" dirty="0">
                <a:solidFill>
                  <a:schemeClr val="accent3">
                    <a:lumMod val="75000"/>
                  </a:schemeClr>
                </a:solidFill>
                <a:latin typeface="Century Gothic" panose="020B0502020202020204" pitchFamily="34" charset="0"/>
              </a:rPr>
              <a:t>Opción A:</a:t>
            </a:r>
            <a:r>
              <a:rPr lang="es-ES_tradnl" dirty="0">
                <a:solidFill>
                  <a:schemeClr val="accent3">
                    <a:lumMod val="75000"/>
                  </a:schemeClr>
                </a:solidFill>
                <a:latin typeface="Century Gothic" panose="020B0502020202020204" pitchFamily="34" charset="0"/>
              </a:rPr>
              <a:t> </a:t>
            </a:r>
            <a:r>
              <a:rPr lang="es-ES_tradnl" dirty="0">
                <a:solidFill>
                  <a:schemeClr val="accent1"/>
                </a:solidFill>
                <a:latin typeface="Century Gothic" panose="020B0502020202020204" pitchFamily="34" charset="0"/>
              </a:rPr>
              <a:t>Juego de azar en el cual se lanza una moneda. Si el resultado es cara, usted obtiene un </a:t>
            </a:r>
            <a:r>
              <a:rPr lang="es-ES_tradnl" b="1" dirty="0">
                <a:solidFill>
                  <a:srgbClr val="002F90"/>
                </a:solidFill>
                <a:latin typeface="Century Gothic" panose="020B0502020202020204" pitchFamily="34" charset="0"/>
              </a:rPr>
              <a:t>Bono Azul</a:t>
            </a:r>
            <a:r>
              <a:rPr lang="es-ES_tradnl" dirty="0">
                <a:solidFill>
                  <a:schemeClr val="accent1"/>
                </a:solidFill>
                <a:latin typeface="Century Gothic" panose="020B0502020202020204" pitchFamily="34" charset="0"/>
              </a:rPr>
              <a:t>. Si el resultado es sello, usted no obtiene nada.</a:t>
            </a:r>
          </a:p>
          <a:p>
            <a:pPr marL="0" indent="0" algn="just">
              <a:buNone/>
            </a:pPr>
            <a:endParaRPr lang="es-ES_tradnl" dirty="0">
              <a:solidFill>
                <a:schemeClr val="accent1"/>
              </a:solidFill>
              <a:latin typeface="Century Gothic" panose="020B0502020202020204" pitchFamily="34" charset="0"/>
            </a:endParaRPr>
          </a:p>
          <a:p>
            <a:pPr marL="0" indent="0" algn="just">
              <a:buNone/>
            </a:pPr>
            <a:r>
              <a:rPr lang="es-ES_tradnl" b="1" dirty="0">
                <a:solidFill>
                  <a:schemeClr val="accent3">
                    <a:lumMod val="75000"/>
                  </a:schemeClr>
                </a:solidFill>
                <a:latin typeface="Century Gothic" panose="020B0502020202020204" pitchFamily="34" charset="0"/>
              </a:rPr>
              <a:t>Opción B: </a:t>
            </a:r>
            <a:r>
              <a:rPr lang="es-ES_tradnl" dirty="0">
                <a:solidFill>
                  <a:schemeClr val="accent1"/>
                </a:solidFill>
                <a:latin typeface="Century Gothic" panose="020B0502020202020204" pitchFamily="34" charset="0"/>
              </a:rPr>
              <a:t>Usted recibirá </a:t>
            </a:r>
            <a:r>
              <a:rPr lang="es-ES_tradnl" b="1" dirty="0">
                <a:solidFill>
                  <a:srgbClr val="FF6600"/>
                </a:solidFill>
                <a:latin typeface="Century Gothic" panose="020B0502020202020204" pitchFamily="34" charset="0"/>
              </a:rPr>
              <a:t>Bono Naranja </a:t>
            </a:r>
            <a:r>
              <a:rPr lang="es-ES_tradnl" dirty="0">
                <a:solidFill>
                  <a:schemeClr val="accent1"/>
                </a:solidFill>
                <a:latin typeface="Century Gothic" panose="020B0502020202020204" pitchFamily="34" charset="0"/>
              </a:rPr>
              <a:t>con probabilidad del 100%.</a:t>
            </a:r>
          </a:p>
          <a:p>
            <a:pPr marL="0" indent="0" algn="ctr">
              <a:buNone/>
            </a:pPr>
            <a:endParaRPr lang="es-ES_tradnl" dirty="0">
              <a:solidFill>
                <a:srgbClr val="800000"/>
              </a:solidFill>
              <a:latin typeface="Century Gothic" panose="020B0502020202020204" pitchFamily="34" charset="0"/>
            </a:endParaRPr>
          </a:p>
          <a:p>
            <a:pPr marL="0" indent="0" algn="ctr">
              <a:buNone/>
            </a:pPr>
            <a:r>
              <a:rPr lang="es-ES_tradnl" b="1" dirty="0">
                <a:solidFill>
                  <a:srgbClr val="C00000"/>
                </a:solidFill>
                <a:latin typeface="Century Gothic" panose="020B0502020202020204" pitchFamily="34" charset="0"/>
              </a:rPr>
              <a:t>¿Cuál alternativa escogería?</a:t>
            </a:r>
          </a:p>
        </p:txBody>
      </p:sp>
      <p:sp>
        <p:nvSpPr>
          <p:cNvPr id="4" name="Slide Number Placeholder 3">
            <a:extLst>
              <a:ext uri="{FF2B5EF4-FFF2-40B4-BE49-F238E27FC236}">
                <a16:creationId xmlns:a16="http://schemas.microsoft.com/office/drawing/2014/main" id="{7211472B-7061-619A-559B-7743CF316CA1}"/>
              </a:ext>
            </a:extLst>
          </p:cNvPr>
          <p:cNvSpPr>
            <a:spLocks noGrp="1"/>
          </p:cNvSpPr>
          <p:nvPr>
            <p:ph type="sldNum" sz="quarter" idx="12"/>
          </p:nvPr>
        </p:nvSpPr>
        <p:spPr/>
        <p:txBody>
          <a:bodyPr/>
          <a:lstStyle/>
          <a:p>
            <a:fld id="{5E3E23BA-6E79-2442-BA73-D218A5E297C3}" type="slidenum">
              <a:rPr lang="en-US" smtClean="0"/>
              <a:t>15</a:t>
            </a:fld>
            <a:endParaRPr lang="en-US"/>
          </a:p>
        </p:txBody>
      </p:sp>
      <p:sp>
        <p:nvSpPr>
          <p:cNvPr id="9" name="Rectángulo 8">
            <a:extLst>
              <a:ext uri="{FF2B5EF4-FFF2-40B4-BE49-F238E27FC236}">
                <a16:creationId xmlns:a16="http://schemas.microsoft.com/office/drawing/2014/main" id="{B72D285A-6D05-F731-2ABB-BFB53800894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D3724F65-1BA0-0CA2-A32F-B6A27A9200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Métodos Estadísticos de Probabilidad | Mind Map">
            <a:extLst>
              <a:ext uri="{FF2B5EF4-FFF2-40B4-BE49-F238E27FC236}">
                <a16:creationId xmlns:a16="http://schemas.microsoft.com/office/drawing/2014/main" id="{300B4CED-3E10-583C-1854-333A50D0CF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87332" y="4599931"/>
            <a:ext cx="2142135" cy="1356206"/>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3EDCFB1D-7D6C-7A51-CBCA-FF970F1540D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239094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 calcmode="lin" valueType="num">
                                      <p:cBhvr additive="base">
                                        <p:cTn id="1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E53EC-C3F4-8150-75ED-44C3401C8C49}"/>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F4F3770B-5AE1-2B38-54D5-341D0A25BE66}"/>
              </a:ext>
            </a:extLst>
          </p:cNvPr>
          <p:cNvSpPr>
            <a:spLocks noGrp="1"/>
          </p:cNvSpPr>
          <p:nvPr>
            <p:ph type="title"/>
          </p:nvPr>
        </p:nvSpPr>
        <p:spPr/>
        <p:txBody>
          <a:bodyPr/>
          <a:lstStyle/>
          <a:p>
            <a:r>
              <a:rPr lang="es-ES_tradnl" dirty="0">
                <a:latin typeface="Century Gothic" panose="020B0502020202020204" pitchFamily="34" charset="0"/>
              </a:rPr>
              <a:t>Tolerancia al riesgo</a:t>
            </a:r>
          </a:p>
        </p:txBody>
      </p:sp>
      <p:sp>
        <p:nvSpPr>
          <p:cNvPr id="3" name="Content Placeholder 2">
            <a:extLst>
              <a:ext uri="{FF2B5EF4-FFF2-40B4-BE49-F238E27FC236}">
                <a16:creationId xmlns:a16="http://schemas.microsoft.com/office/drawing/2014/main" id="{099E43B1-A05F-AC01-E2E5-2BCB1B9F689C}"/>
              </a:ext>
            </a:extLst>
          </p:cNvPr>
          <p:cNvSpPr>
            <a:spLocks noGrp="1"/>
          </p:cNvSpPr>
          <p:nvPr>
            <p:ph idx="1"/>
          </p:nvPr>
        </p:nvSpPr>
        <p:spPr>
          <a:xfrm>
            <a:off x="892188" y="2502424"/>
            <a:ext cx="10568044" cy="3818837"/>
          </a:xfrm>
        </p:spPr>
        <p:txBody>
          <a:bodyPr>
            <a:normAutofit fontScale="92500" lnSpcReduction="10000"/>
          </a:bodyPr>
          <a:lstStyle/>
          <a:p>
            <a:pPr algn="just">
              <a:buFont typeface="Wingdings" pitchFamily="2" charset="2"/>
              <a:buChar char="ü"/>
            </a:pPr>
            <a:r>
              <a:rPr lang="es-ES_tradnl" dirty="0">
                <a:solidFill>
                  <a:schemeClr val="accent1"/>
                </a:solidFill>
                <a:latin typeface="Century Gothic" panose="020B0502020202020204" pitchFamily="34" charset="0"/>
              </a:rPr>
              <a:t>Algunos escogerían A, otros preferirían la suma segura.</a:t>
            </a:r>
          </a:p>
          <a:p>
            <a:pPr algn="just">
              <a:buFont typeface="Wingdings" pitchFamily="2" charset="2"/>
              <a:buChar char="ü"/>
            </a:pPr>
            <a:r>
              <a:rPr lang="es-ES_tradnl" dirty="0">
                <a:solidFill>
                  <a:schemeClr val="accent1"/>
                </a:solidFill>
                <a:latin typeface="Century Gothic" panose="020B0502020202020204" pitchFamily="34" charset="0"/>
              </a:rPr>
              <a:t>No hay una única respuesta, pues cada individuo tiene preferencias diferentes.</a:t>
            </a:r>
          </a:p>
          <a:p>
            <a:pPr marL="0" indent="0" algn="just">
              <a:buNone/>
            </a:pPr>
            <a:endParaRPr lang="es-ES_tradnl" dirty="0">
              <a:solidFill>
                <a:schemeClr val="accent1"/>
              </a:solidFill>
              <a:latin typeface="Century Gothic" panose="020B0502020202020204" pitchFamily="34" charset="0"/>
            </a:endParaRPr>
          </a:p>
          <a:p>
            <a:pPr marL="0" indent="0" algn="just">
              <a:buNone/>
            </a:pPr>
            <a:r>
              <a:rPr lang="es-ES_tradnl" dirty="0">
                <a:solidFill>
                  <a:schemeClr val="accent1"/>
                </a:solidFill>
                <a:latin typeface="Century Gothic" panose="020B0502020202020204" pitchFamily="34" charset="0"/>
              </a:rPr>
              <a:t>Pero si ahora suponemos que usted tiene que pagar por entrar al juego explicado en la alternativa A</a:t>
            </a:r>
          </a:p>
          <a:p>
            <a:pPr marL="0" indent="0" algn="just">
              <a:buNone/>
            </a:pPr>
            <a:endParaRPr lang="es-ES_tradnl" dirty="0">
              <a:solidFill>
                <a:schemeClr val="accent1"/>
              </a:solidFill>
              <a:latin typeface="Century Gothic" panose="020B0502020202020204" pitchFamily="34" charset="0"/>
            </a:endParaRPr>
          </a:p>
          <a:p>
            <a:pPr marL="0" indent="0" algn="ctr">
              <a:buNone/>
            </a:pPr>
            <a:r>
              <a:rPr lang="es-ES_tradnl" b="1" dirty="0">
                <a:solidFill>
                  <a:srgbClr val="C00000"/>
                </a:solidFill>
                <a:latin typeface="Century Gothic" panose="020B0502020202020204" pitchFamily="34" charset="0"/>
              </a:rPr>
              <a:t>¿Cuánto pagaría por jugar este juego?</a:t>
            </a:r>
          </a:p>
          <a:p>
            <a:pPr marL="0" indent="0" algn="ctr">
              <a:buNone/>
            </a:pPr>
            <a:endParaRPr lang="es-ES_tradnl" b="1" dirty="0">
              <a:solidFill>
                <a:srgbClr val="C00000"/>
              </a:solidFill>
              <a:latin typeface="Century Gothic" panose="020B0502020202020204" pitchFamily="34" charset="0"/>
            </a:endParaRPr>
          </a:p>
          <a:p>
            <a:pPr marL="0" indent="0" algn="ctr">
              <a:buNone/>
            </a:pPr>
            <a:endParaRPr lang="es-ES_tradnl" b="1" dirty="0">
              <a:solidFill>
                <a:srgbClr val="C00000"/>
              </a:solidFill>
              <a:latin typeface="Century Gothic" panose="020B0502020202020204" pitchFamily="34" charset="0"/>
            </a:endParaRPr>
          </a:p>
          <a:p>
            <a:pPr marL="0" indent="0" algn="ctr">
              <a:buNone/>
            </a:pPr>
            <a:r>
              <a:rPr lang="es-ES_tradnl" dirty="0">
                <a:solidFill>
                  <a:schemeClr val="accent1"/>
                </a:solidFill>
                <a:latin typeface="Century Gothic" panose="020B0502020202020204" pitchFamily="34" charset="0"/>
              </a:rPr>
              <a:t>Dependiendo de la actitud (tolerancia) que tenga un individuo frente al riesgo la respuesta será diferente.</a:t>
            </a:r>
          </a:p>
          <a:p>
            <a:pPr marL="0" indent="0" algn="ctr">
              <a:buNone/>
            </a:pPr>
            <a:endParaRPr lang="es-ES_tradnl" b="1" dirty="0">
              <a:solidFill>
                <a:srgbClr val="C00000"/>
              </a:solidFill>
              <a:latin typeface="Century Gothic" panose="020B0502020202020204" pitchFamily="34" charset="0"/>
            </a:endParaRPr>
          </a:p>
          <a:p>
            <a:pPr marL="0" indent="0" algn="ctr">
              <a:buNone/>
            </a:pPr>
            <a:endParaRPr lang="es-ES_tradnl" dirty="0">
              <a:solidFill>
                <a:srgbClr val="800000"/>
              </a:solidFill>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0F7CD2E7-4342-2157-F4D7-256C4FDAEBCE}"/>
              </a:ext>
            </a:extLst>
          </p:cNvPr>
          <p:cNvSpPr>
            <a:spLocks noGrp="1"/>
          </p:cNvSpPr>
          <p:nvPr>
            <p:ph type="sldNum" sz="quarter" idx="12"/>
          </p:nvPr>
        </p:nvSpPr>
        <p:spPr/>
        <p:txBody>
          <a:bodyPr/>
          <a:lstStyle/>
          <a:p>
            <a:fld id="{5E3E23BA-6E79-2442-BA73-D218A5E297C3}" type="slidenum">
              <a:rPr lang="en-US" smtClean="0"/>
              <a:t>16</a:t>
            </a:fld>
            <a:endParaRPr lang="en-US"/>
          </a:p>
        </p:txBody>
      </p:sp>
      <p:sp>
        <p:nvSpPr>
          <p:cNvPr id="9" name="Rectángulo 8">
            <a:extLst>
              <a:ext uri="{FF2B5EF4-FFF2-40B4-BE49-F238E27FC236}">
                <a16:creationId xmlns:a16="http://schemas.microsoft.com/office/drawing/2014/main" id="{C68FDD12-74FB-DB08-4E45-4DC769DF236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69DC16B5-4D6B-BADF-35C8-F20815DC20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Métodos Estadísticos de Probabilidad | Mind Map">
            <a:extLst>
              <a:ext uri="{FF2B5EF4-FFF2-40B4-BE49-F238E27FC236}">
                <a16:creationId xmlns:a16="http://schemas.microsoft.com/office/drawing/2014/main" id="{164A5CBB-56D0-B833-A338-1F0ED1DEA1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72869" y="3833433"/>
            <a:ext cx="2142135" cy="1356206"/>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0B27BB9E-194C-ECCF-D294-70E6530D5B81}"/>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700237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9D03AB7F-5EBA-AEF2-1368-CC467D7A8B44}"/>
              </a:ext>
            </a:extLst>
          </p:cNvPr>
          <p:cNvSpPr>
            <a:spLocks noGrp="1"/>
          </p:cNvSpPr>
          <p:nvPr>
            <p:ph type="title"/>
          </p:nvPr>
        </p:nvSpPr>
        <p:spPr/>
        <p:txBody>
          <a:bodyPr/>
          <a:lstStyle/>
          <a:p>
            <a:r>
              <a:rPr lang="es-ES_tradnl" dirty="0">
                <a:latin typeface="Century Gothic" panose="020B0502020202020204" pitchFamily="34" charset="0"/>
              </a:rPr>
              <a:t>Tolerancia al riesgo</a:t>
            </a:r>
          </a:p>
        </p:txBody>
      </p:sp>
      <p:sp>
        <p:nvSpPr>
          <p:cNvPr id="3" name="Content Placeholder 2"/>
          <p:cNvSpPr>
            <a:spLocks noGrp="1"/>
          </p:cNvSpPr>
          <p:nvPr>
            <p:ph idx="1"/>
          </p:nvPr>
        </p:nvSpPr>
        <p:spPr>
          <a:xfrm>
            <a:off x="802176" y="2072194"/>
            <a:ext cx="8925708" cy="3678303"/>
          </a:xfrm>
        </p:spPr>
        <p:txBody>
          <a:bodyPr>
            <a:normAutofit/>
          </a:bodyPr>
          <a:lstStyle/>
          <a:p>
            <a:pPr algn="just"/>
            <a:r>
              <a:rPr lang="es-ES_tradnl" dirty="0">
                <a:solidFill>
                  <a:schemeClr val="accent1"/>
                </a:solidFill>
                <a:latin typeface="Century Gothic" panose="020B0502020202020204" pitchFamily="34" charset="0"/>
              </a:rPr>
              <a:t>En resumen, según Von Neumann, existen tres comportamientos teóricos de los individuos ante el riesgo:</a:t>
            </a:r>
          </a:p>
          <a:p>
            <a:pPr algn="just"/>
            <a:endParaRPr lang="es-ES_tradnl" dirty="0">
              <a:solidFill>
                <a:schemeClr val="accent1"/>
              </a:solidFill>
              <a:latin typeface="Century Gothic" panose="020B0502020202020204" pitchFamily="34" charset="0"/>
            </a:endParaRPr>
          </a:p>
          <a:p>
            <a:pPr marL="457200" indent="-457200" algn="ctr">
              <a:buFont typeface="+mj-lt"/>
              <a:buAutoNum type="arabicPeriod"/>
            </a:pPr>
            <a:r>
              <a:rPr lang="es-ES_tradnl" dirty="0">
                <a:solidFill>
                  <a:schemeClr val="accent1"/>
                </a:solidFill>
                <a:latin typeface="Century Gothic" panose="020B0502020202020204" pitchFamily="34" charset="0"/>
              </a:rPr>
              <a:t>Individuos</a:t>
            </a:r>
            <a:r>
              <a:rPr lang="es-ES_tradnl" dirty="0">
                <a:solidFill>
                  <a:schemeClr val="tx1"/>
                </a:solidFill>
                <a:latin typeface="Century Gothic" panose="020B0502020202020204" pitchFamily="34" charset="0"/>
              </a:rPr>
              <a:t> </a:t>
            </a:r>
            <a:r>
              <a:rPr lang="es-ES_tradnl" b="1" dirty="0">
                <a:solidFill>
                  <a:srgbClr val="C00000"/>
                </a:solidFill>
                <a:latin typeface="Century Gothic" panose="020B0502020202020204" pitchFamily="34" charset="0"/>
              </a:rPr>
              <a:t>propensos</a:t>
            </a:r>
            <a:r>
              <a:rPr lang="es-ES_tradnl" dirty="0">
                <a:solidFill>
                  <a:schemeClr val="tx1"/>
                </a:solidFill>
                <a:latin typeface="Century Gothic" panose="020B0502020202020204" pitchFamily="34" charset="0"/>
              </a:rPr>
              <a:t> </a:t>
            </a:r>
            <a:r>
              <a:rPr lang="es-ES_tradnl" dirty="0">
                <a:solidFill>
                  <a:schemeClr val="accent1"/>
                </a:solidFill>
                <a:latin typeface="Century Gothic" panose="020B0502020202020204" pitchFamily="34" charset="0"/>
              </a:rPr>
              <a:t>al riesgo.</a:t>
            </a:r>
          </a:p>
          <a:p>
            <a:pPr marL="457200" indent="-457200" algn="ctr">
              <a:buFont typeface="+mj-lt"/>
              <a:buAutoNum type="arabicPeriod"/>
            </a:pPr>
            <a:r>
              <a:rPr lang="es-ES_tradnl" dirty="0">
                <a:solidFill>
                  <a:schemeClr val="accent1"/>
                </a:solidFill>
                <a:latin typeface="Century Gothic" panose="020B0502020202020204" pitchFamily="34" charset="0"/>
              </a:rPr>
              <a:t>Individuos</a:t>
            </a:r>
            <a:r>
              <a:rPr lang="es-ES_tradnl" dirty="0">
                <a:solidFill>
                  <a:schemeClr val="tx1"/>
                </a:solidFill>
                <a:latin typeface="Century Gothic" panose="020B0502020202020204" pitchFamily="34" charset="0"/>
              </a:rPr>
              <a:t> </a:t>
            </a:r>
            <a:r>
              <a:rPr lang="es-ES_tradnl" b="1" dirty="0">
                <a:solidFill>
                  <a:srgbClr val="C00000"/>
                </a:solidFill>
                <a:latin typeface="Century Gothic" panose="020B0502020202020204" pitchFamily="34" charset="0"/>
              </a:rPr>
              <a:t>neutrales</a:t>
            </a:r>
            <a:r>
              <a:rPr lang="es-ES_tradnl" dirty="0">
                <a:solidFill>
                  <a:schemeClr val="tx1"/>
                </a:solidFill>
                <a:latin typeface="Century Gothic" panose="020B0502020202020204" pitchFamily="34" charset="0"/>
              </a:rPr>
              <a:t> </a:t>
            </a:r>
            <a:r>
              <a:rPr lang="es-ES_tradnl" dirty="0">
                <a:solidFill>
                  <a:schemeClr val="accent1"/>
                </a:solidFill>
                <a:latin typeface="Century Gothic" panose="020B0502020202020204" pitchFamily="34" charset="0"/>
              </a:rPr>
              <a:t>al riesgo.</a:t>
            </a:r>
          </a:p>
          <a:p>
            <a:pPr marL="457200" indent="-457200" algn="ctr">
              <a:buFont typeface="+mj-lt"/>
              <a:buAutoNum type="arabicPeriod"/>
            </a:pPr>
            <a:r>
              <a:rPr lang="es-ES_tradnl" dirty="0">
                <a:solidFill>
                  <a:schemeClr val="accent1"/>
                </a:solidFill>
                <a:latin typeface="Century Gothic" panose="020B0502020202020204" pitchFamily="34" charset="0"/>
              </a:rPr>
              <a:t>Individuos</a:t>
            </a:r>
            <a:r>
              <a:rPr lang="es-ES_tradnl" dirty="0">
                <a:solidFill>
                  <a:schemeClr val="tx1"/>
                </a:solidFill>
                <a:latin typeface="Century Gothic" panose="020B0502020202020204" pitchFamily="34" charset="0"/>
              </a:rPr>
              <a:t> </a:t>
            </a:r>
            <a:r>
              <a:rPr lang="es-ES_tradnl" b="1" dirty="0">
                <a:solidFill>
                  <a:srgbClr val="C00000"/>
                </a:solidFill>
                <a:latin typeface="Century Gothic" panose="020B0502020202020204" pitchFamily="34" charset="0"/>
              </a:rPr>
              <a:t>aversos</a:t>
            </a:r>
            <a:r>
              <a:rPr lang="es-ES_tradnl" dirty="0">
                <a:solidFill>
                  <a:srgbClr val="800000"/>
                </a:solidFill>
                <a:latin typeface="Century Gothic" panose="020B0502020202020204" pitchFamily="34" charset="0"/>
              </a:rPr>
              <a:t> </a:t>
            </a:r>
            <a:r>
              <a:rPr lang="es-ES_tradnl" dirty="0">
                <a:solidFill>
                  <a:schemeClr val="accent1"/>
                </a:solidFill>
                <a:latin typeface="Century Gothic" panose="020B0502020202020204" pitchFamily="34" charset="0"/>
              </a:rPr>
              <a:t>al riesgo.</a:t>
            </a:r>
          </a:p>
        </p:txBody>
      </p:sp>
      <p:sp>
        <p:nvSpPr>
          <p:cNvPr id="4" name="Slide Number Placeholder 3"/>
          <p:cNvSpPr>
            <a:spLocks noGrp="1"/>
          </p:cNvSpPr>
          <p:nvPr>
            <p:ph type="sldNum" sz="quarter" idx="12"/>
          </p:nvPr>
        </p:nvSpPr>
        <p:spPr/>
        <p:txBody>
          <a:bodyPr/>
          <a:lstStyle/>
          <a:p>
            <a:fld id="{5E3E23BA-6E79-2442-BA73-D218A5E297C3}" type="slidenum">
              <a:rPr lang="en-US" smtClean="0"/>
              <a:t>17</a:t>
            </a:fld>
            <a:endParaRPr lang="en-US"/>
          </a:p>
        </p:txBody>
      </p:sp>
      <p:sp>
        <p:nvSpPr>
          <p:cNvPr id="9" name="Rectángulo 8">
            <a:extLst>
              <a:ext uri="{FF2B5EF4-FFF2-40B4-BE49-F238E27FC236}">
                <a16:creationId xmlns:a16="http://schemas.microsoft.com/office/drawing/2014/main" id="{9B78103B-9242-6A14-6CE0-086C1EAE384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5A61A573-F62E-5E69-D80E-3369A1C0D7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John von Neumann - Wikipedia, la enciclopedia libre">
            <a:extLst>
              <a:ext uri="{FF2B5EF4-FFF2-40B4-BE49-F238E27FC236}">
                <a16:creationId xmlns:a16="http://schemas.microsoft.com/office/drawing/2014/main" id="{72711142-571D-8EB4-FF04-0272BD53E7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5293" y="3317358"/>
            <a:ext cx="2441058" cy="3183028"/>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5D9F1743-2DA4-1583-E0B8-B2CE93FC23F0}"/>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099387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DFD705DF-F7B1-5BCF-2163-6F51D4E2CE69}"/>
              </a:ext>
            </a:extLst>
          </p:cNvPr>
          <p:cNvSpPr>
            <a:spLocks noGrp="1"/>
          </p:cNvSpPr>
          <p:nvPr>
            <p:ph type="title"/>
          </p:nvPr>
        </p:nvSpPr>
        <p:spPr/>
        <p:txBody>
          <a:bodyPr/>
          <a:lstStyle/>
          <a:p>
            <a:r>
              <a:rPr lang="es-ES_tradnl" dirty="0">
                <a:latin typeface="Century Gothic" panose="020B0502020202020204" pitchFamily="34" charset="0"/>
              </a:rPr>
              <a:t>Tolerancia al riesgo</a:t>
            </a:r>
          </a:p>
        </p:txBody>
      </p:sp>
      <p:sp>
        <p:nvSpPr>
          <p:cNvPr id="3" name="Content Placeholder 2"/>
          <p:cNvSpPr>
            <a:spLocks noGrp="1"/>
          </p:cNvSpPr>
          <p:nvPr>
            <p:ph idx="1"/>
          </p:nvPr>
        </p:nvSpPr>
        <p:spPr>
          <a:xfrm>
            <a:off x="581193" y="556314"/>
            <a:ext cx="11029615" cy="3678303"/>
          </a:xfrm>
        </p:spPr>
        <p:txBody>
          <a:bodyPr>
            <a:normAutofit/>
          </a:bodyPr>
          <a:lstStyle/>
          <a:p>
            <a:pPr algn="just"/>
            <a:r>
              <a:rPr lang="es-ES_tradnl" dirty="0">
                <a:solidFill>
                  <a:schemeClr val="accent1"/>
                </a:solidFill>
                <a:latin typeface="Century Gothic" panose="020B0502020202020204" pitchFamily="34" charset="0"/>
              </a:rPr>
              <a:t>Gráficamente, la función de utilidad de los anteriores agentes sería así:</a:t>
            </a:r>
          </a:p>
        </p:txBody>
      </p:sp>
      <p:sp>
        <p:nvSpPr>
          <p:cNvPr id="4" name="Slide Number Placeholder 3"/>
          <p:cNvSpPr>
            <a:spLocks noGrp="1"/>
          </p:cNvSpPr>
          <p:nvPr>
            <p:ph type="sldNum" sz="quarter" idx="12"/>
          </p:nvPr>
        </p:nvSpPr>
        <p:spPr/>
        <p:txBody>
          <a:bodyPr/>
          <a:lstStyle/>
          <a:p>
            <a:fld id="{5E3E23BA-6E79-2442-BA73-D218A5E297C3}" type="slidenum">
              <a:rPr lang="en-US" smtClean="0"/>
              <a:t>18</a:t>
            </a:fld>
            <a:endParaRPr lang="en-US"/>
          </a:p>
        </p:txBody>
      </p:sp>
      <p:pic>
        <p:nvPicPr>
          <p:cNvPr id="5" name="Picture 4"/>
          <p:cNvPicPr>
            <a:picLocks noChangeAspect="1"/>
          </p:cNvPicPr>
          <p:nvPr/>
        </p:nvPicPr>
        <p:blipFill>
          <a:blip r:embed="rId2">
            <a:clrChange>
              <a:clrFrom>
                <a:srgbClr val="FFFFFF"/>
              </a:clrFrom>
              <a:clrTo>
                <a:srgbClr val="FFFFFF">
                  <a:alpha val="0"/>
                </a:srgbClr>
              </a:clrTo>
            </a:clrChange>
          </a:blip>
          <a:stretch>
            <a:fillRect/>
          </a:stretch>
        </p:blipFill>
        <p:spPr>
          <a:xfrm>
            <a:off x="4072237" y="2805349"/>
            <a:ext cx="3985207" cy="3331633"/>
          </a:xfrm>
          <a:prstGeom prst="rect">
            <a:avLst/>
          </a:prstGeom>
        </p:spPr>
      </p:pic>
      <p:sp>
        <p:nvSpPr>
          <p:cNvPr id="6" name="Left Brace 5"/>
          <p:cNvSpPr/>
          <p:nvPr/>
        </p:nvSpPr>
        <p:spPr>
          <a:xfrm>
            <a:off x="3666772" y="3115793"/>
            <a:ext cx="227895" cy="134055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TextBox 6"/>
          <p:cNvSpPr txBox="1"/>
          <p:nvPr/>
        </p:nvSpPr>
        <p:spPr>
          <a:xfrm>
            <a:off x="2189921" y="3147726"/>
            <a:ext cx="1590798" cy="1323439"/>
          </a:xfrm>
          <a:prstGeom prst="rect">
            <a:avLst/>
          </a:prstGeom>
          <a:noFill/>
        </p:spPr>
        <p:txBody>
          <a:bodyPr wrap="square" rtlCol="0">
            <a:spAutoFit/>
          </a:bodyPr>
          <a:lstStyle/>
          <a:p>
            <a:pPr algn="ctr"/>
            <a:r>
              <a:rPr lang="es-ES_tradnl" sz="1600" dirty="0">
                <a:solidFill>
                  <a:schemeClr val="accent1"/>
                </a:solidFill>
                <a:latin typeface="Century Gothic" panose="020B0502020202020204" pitchFamily="34" charset="0"/>
              </a:rPr>
              <a:t>Alta utilidad marginal por cada peso adicional invertido</a:t>
            </a:r>
          </a:p>
        </p:txBody>
      </p:sp>
      <p:sp>
        <p:nvSpPr>
          <p:cNvPr id="8" name="TextBox 7"/>
          <p:cNvSpPr txBox="1"/>
          <p:nvPr/>
        </p:nvSpPr>
        <p:spPr>
          <a:xfrm>
            <a:off x="7241175" y="3920127"/>
            <a:ext cx="3028393" cy="338554"/>
          </a:xfrm>
          <a:prstGeom prst="rect">
            <a:avLst/>
          </a:prstGeom>
          <a:noFill/>
        </p:spPr>
        <p:txBody>
          <a:bodyPr wrap="none" rtlCol="0">
            <a:spAutoFit/>
          </a:bodyPr>
          <a:lstStyle/>
          <a:p>
            <a:r>
              <a:rPr lang="en-US" sz="1600" b="1" dirty="0" err="1">
                <a:solidFill>
                  <a:srgbClr val="C00000"/>
                </a:solidFill>
                <a:latin typeface="Century Gothic" panose="020B0502020202020204" pitchFamily="34" charset="0"/>
              </a:rPr>
              <a:t>Agentes</a:t>
            </a:r>
            <a:r>
              <a:rPr lang="en-US" sz="1600" b="1" dirty="0">
                <a:solidFill>
                  <a:srgbClr val="C00000"/>
                </a:solidFill>
                <a:latin typeface="Century Gothic" panose="020B0502020202020204" pitchFamily="34" charset="0"/>
              </a:rPr>
              <a:t> </a:t>
            </a:r>
            <a:r>
              <a:rPr lang="en-US" sz="1600" b="1" dirty="0" err="1">
                <a:solidFill>
                  <a:srgbClr val="C00000"/>
                </a:solidFill>
                <a:latin typeface="Century Gothic" panose="020B0502020202020204" pitchFamily="34" charset="0"/>
              </a:rPr>
              <a:t>Propensos</a:t>
            </a:r>
            <a:r>
              <a:rPr lang="en-US" sz="1600" b="1" dirty="0">
                <a:solidFill>
                  <a:srgbClr val="C00000"/>
                </a:solidFill>
                <a:latin typeface="Century Gothic" panose="020B0502020202020204" pitchFamily="34" charset="0"/>
              </a:rPr>
              <a:t> al </a:t>
            </a:r>
            <a:r>
              <a:rPr lang="en-US" sz="1600" b="1" dirty="0" err="1">
                <a:solidFill>
                  <a:srgbClr val="C00000"/>
                </a:solidFill>
                <a:latin typeface="Century Gothic" panose="020B0502020202020204" pitchFamily="34" charset="0"/>
              </a:rPr>
              <a:t>Riesgo</a:t>
            </a:r>
            <a:endParaRPr lang="en-US" sz="1600" b="1" dirty="0">
              <a:solidFill>
                <a:srgbClr val="C00000"/>
              </a:solidFill>
              <a:latin typeface="Century Gothic" panose="020B0502020202020204" pitchFamily="34" charset="0"/>
            </a:endParaRPr>
          </a:p>
        </p:txBody>
      </p:sp>
      <p:sp>
        <p:nvSpPr>
          <p:cNvPr id="13" name="Rectángulo 12">
            <a:extLst>
              <a:ext uri="{FF2B5EF4-FFF2-40B4-BE49-F238E27FC236}">
                <a16:creationId xmlns:a16="http://schemas.microsoft.com/office/drawing/2014/main" id="{6E41A3E0-0182-B697-ED73-8958D063D1A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5" name="Picture 2" descr="Clientes y aliados | Centro de Evaluación | Uniandes">
            <a:extLst>
              <a:ext uri="{FF2B5EF4-FFF2-40B4-BE49-F238E27FC236}">
                <a16:creationId xmlns:a16="http://schemas.microsoft.com/office/drawing/2014/main" id="{486E82A2-0C1A-785F-9804-FA0BF8D83B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73CE0478-40E7-E2CB-4086-66BC2FB384B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446011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clrChange>
              <a:clrFrom>
                <a:srgbClr val="FFFFFF"/>
              </a:clrFrom>
              <a:clrTo>
                <a:srgbClr val="FFFFFF">
                  <a:alpha val="0"/>
                </a:srgbClr>
              </a:clrTo>
            </a:clrChange>
          </a:blip>
          <a:stretch>
            <a:fillRect/>
          </a:stretch>
        </p:blipFill>
        <p:spPr>
          <a:xfrm>
            <a:off x="3894667" y="2877594"/>
            <a:ext cx="3862211" cy="3433958"/>
          </a:xfrm>
          <a:prstGeom prst="rect">
            <a:avLst/>
          </a:prstGeom>
        </p:spPr>
      </p:pic>
      <p:sp>
        <p:nvSpPr>
          <p:cNvPr id="19" name="Title 1">
            <a:extLst>
              <a:ext uri="{FF2B5EF4-FFF2-40B4-BE49-F238E27FC236}">
                <a16:creationId xmlns:a16="http://schemas.microsoft.com/office/drawing/2014/main" id="{3BFF3AF3-AA08-2E2A-737F-A9BB8527A311}"/>
              </a:ext>
            </a:extLst>
          </p:cNvPr>
          <p:cNvSpPr>
            <a:spLocks noGrp="1"/>
          </p:cNvSpPr>
          <p:nvPr>
            <p:ph type="title"/>
          </p:nvPr>
        </p:nvSpPr>
        <p:spPr/>
        <p:txBody>
          <a:bodyPr/>
          <a:lstStyle/>
          <a:p>
            <a:r>
              <a:rPr lang="es-ES_tradnl" dirty="0">
                <a:latin typeface="Century Gothic" panose="020B0502020202020204" pitchFamily="34" charset="0"/>
              </a:rPr>
              <a:t>Tolerancia al riesgo</a:t>
            </a:r>
          </a:p>
        </p:txBody>
      </p:sp>
      <p:sp>
        <p:nvSpPr>
          <p:cNvPr id="14" name="Content Placeholder 2"/>
          <p:cNvSpPr>
            <a:spLocks noGrp="1"/>
          </p:cNvSpPr>
          <p:nvPr>
            <p:ph idx="1"/>
          </p:nvPr>
        </p:nvSpPr>
        <p:spPr>
          <a:xfrm>
            <a:off x="581193" y="556314"/>
            <a:ext cx="11029615" cy="3678303"/>
          </a:xfrm>
        </p:spPr>
        <p:txBody>
          <a:bodyPr>
            <a:normAutofit/>
          </a:bodyPr>
          <a:lstStyle/>
          <a:p>
            <a:pPr algn="just"/>
            <a:r>
              <a:rPr lang="es-ES_tradnl" dirty="0">
                <a:solidFill>
                  <a:schemeClr val="accent1"/>
                </a:solidFill>
                <a:latin typeface="Century Gothic" panose="020B0502020202020204" pitchFamily="34" charset="0"/>
              </a:rPr>
              <a:t>Gráficamente, la función de utilidad de los anteriores agentes sería así:</a:t>
            </a:r>
          </a:p>
        </p:txBody>
      </p:sp>
      <p:sp>
        <p:nvSpPr>
          <p:cNvPr id="4" name="Slide Number Placeholder 3"/>
          <p:cNvSpPr>
            <a:spLocks noGrp="1"/>
          </p:cNvSpPr>
          <p:nvPr>
            <p:ph type="sldNum" sz="quarter" idx="12"/>
          </p:nvPr>
        </p:nvSpPr>
        <p:spPr/>
        <p:txBody>
          <a:bodyPr/>
          <a:lstStyle/>
          <a:p>
            <a:fld id="{5E3E23BA-6E79-2442-BA73-D218A5E297C3}" type="slidenum">
              <a:rPr lang="en-US" smtClean="0"/>
              <a:t>19</a:t>
            </a:fld>
            <a:endParaRPr lang="en-US"/>
          </a:p>
        </p:txBody>
      </p:sp>
      <p:sp>
        <p:nvSpPr>
          <p:cNvPr id="6" name="Left Brace 5"/>
          <p:cNvSpPr/>
          <p:nvPr/>
        </p:nvSpPr>
        <p:spPr>
          <a:xfrm>
            <a:off x="3666772" y="3437461"/>
            <a:ext cx="227895" cy="64911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TextBox 6"/>
          <p:cNvSpPr txBox="1"/>
          <p:nvPr/>
        </p:nvSpPr>
        <p:spPr>
          <a:xfrm>
            <a:off x="2125634" y="3250940"/>
            <a:ext cx="1590798" cy="1077218"/>
          </a:xfrm>
          <a:prstGeom prst="rect">
            <a:avLst/>
          </a:prstGeom>
          <a:noFill/>
        </p:spPr>
        <p:txBody>
          <a:bodyPr wrap="square" rtlCol="0">
            <a:spAutoFit/>
          </a:bodyPr>
          <a:lstStyle/>
          <a:p>
            <a:pPr algn="ctr"/>
            <a:r>
              <a:rPr lang="es-ES_tradnl" sz="1600" dirty="0">
                <a:solidFill>
                  <a:schemeClr val="accent1"/>
                </a:solidFill>
                <a:latin typeface="Century Gothic" panose="020B0502020202020204" pitchFamily="34" charset="0"/>
              </a:rPr>
              <a:t>Indiferente ante un peso marginal invertido</a:t>
            </a:r>
          </a:p>
        </p:txBody>
      </p:sp>
      <p:sp>
        <p:nvSpPr>
          <p:cNvPr id="8" name="TextBox 7"/>
          <p:cNvSpPr txBox="1"/>
          <p:nvPr/>
        </p:nvSpPr>
        <p:spPr>
          <a:xfrm>
            <a:off x="7241175" y="4058351"/>
            <a:ext cx="2953053" cy="338554"/>
          </a:xfrm>
          <a:prstGeom prst="rect">
            <a:avLst/>
          </a:prstGeom>
          <a:noFill/>
        </p:spPr>
        <p:txBody>
          <a:bodyPr wrap="none" rtlCol="0">
            <a:spAutoFit/>
          </a:bodyPr>
          <a:lstStyle/>
          <a:p>
            <a:r>
              <a:rPr lang="es-ES_tradnl" sz="1600" b="1" dirty="0">
                <a:solidFill>
                  <a:srgbClr val="C00000"/>
                </a:solidFill>
                <a:latin typeface="Century Gothic" panose="020B0502020202020204" pitchFamily="34" charset="0"/>
              </a:rPr>
              <a:t>Agentes Neutrales al Riesgo</a:t>
            </a:r>
          </a:p>
        </p:txBody>
      </p:sp>
      <p:sp>
        <p:nvSpPr>
          <p:cNvPr id="3" name="Rectángulo 2">
            <a:extLst>
              <a:ext uri="{FF2B5EF4-FFF2-40B4-BE49-F238E27FC236}">
                <a16:creationId xmlns:a16="http://schemas.microsoft.com/office/drawing/2014/main" id="{71FACA59-CCFB-DCE7-9703-DCC9976E24B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5" name="Picture 2" descr="Clientes y aliados | Centro de Evaluación | Uniandes">
            <a:extLst>
              <a:ext uri="{FF2B5EF4-FFF2-40B4-BE49-F238E27FC236}">
                <a16:creationId xmlns:a16="http://schemas.microsoft.com/office/drawing/2014/main" id="{5B24D1EE-F9A8-7F45-E2EF-FA1190A8EE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9ACD04DC-8DCA-17C9-9AB8-932F6D3D7E3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033610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clrChange>
              <a:clrFrom>
                <a:srgbClr val="FFFFFF"/>
              </a:clrFrom>
              <a:clrTo>
                <a:srgbClr val="FFFFFF">
                  <a:alpha val="0"/>
                </a:srgbClr>
              </a:clrTo>
            </a:clrChange>
          </a:blip>
          <a:stretch>
            <a:fillRect/>
          </a:stretch>
        </p:blipFill>
        <p:spPr>
          <a:xfrm>
            <a:off x="3997841" y="2801399"/>
            <a:ext cx="4044082" cy="3599401"/>
          </a:xfrm>
          <a:prstGeom prst="rect">
            <a:avLst/>
          </a:prstGeom>
        </p:spPr>
      </p:pic>
      <p:sp>
        <p:nvSpPr>
          <p:cNvPr id="19" name="Title 1">
            <a:extLst>
              <a:ext uri="{FF2B5EF4-FFF2-40B4-BE49-F238E27FC236}">
                <a16:creationId xmlns:a16="http://schemas.microsoft.com/office/drawing/2014/main" id="{A0BA347C-0191-AD25-ED3C-1EE76322CD15}"/>
              </a:ext>
            </a:extLst>
          </p:cNvPr>
          <p:cNvSpPr>
            <a:spLocks noGrp="1"/>
          </p:cNvSpPr>
          <p:nvPr>
            <p:ph type="title"/>
          </p:nvPr>
        </p:nvSpPr>
        <p:spPr/>
        <p:txBody>
          <a:bodyPr/>
          <a:lstStyle/>
          <a:p>
            <a:r>
              <a:rPr lang="es-ES_tradnl" dirty="0">
                <a:latin typeface="Century Gothic" panose="020B0502020202020204" pitchFamily="34" charset="0"/>
              </a:rPr>
              <a:t>Tolerancia al riesgo</a:t>
            </a:r>
          </a:p>
        </p:txBody>
      </p:sp>
      <p:sp>
        <p:nvSpPr>
          <p:cNvPr id="4" name="Slide Number Placeholder 3"/>
          <p:cNvSpPr>
            <a:spLocks noGrp="1"/>
          </p:cNvSpPr>
          <p:nvPr>
            <p:ph type="sldNum" sz="quarter" idx="12"/>
          </p:nvPr>
        </p:nvSpPr>
        <p:spPr/>
        <p:txBody>
          <a:bodyPr/>
          <a:lstStyle/>
          <a:p>
            <a:fld id="{5E3E23BA-6E79-2442-BA73-D218A5E297C3}" type="slidenum">
              <a:rPr lang="en-US" smtClean="0"/>
              <a:t>20</a:t>
            </a:fld>
            <a:endParaRPr lang="en-US"/>
          </a:p>
        </p:txBody>
      </p:sp>
      <p:sp>
        <p:nvSpPr>
          <p:cNvPr id="6" name="Left Brace 5"/>
          <p:cNvSpPr/>
          <p:nvPr/>
        </p:nvSpPr>
        <p:spPr>
          <a:xfrm>
            <a:off x="3723216" y="3437465"/>
            <a:ext cx="227895" cy="451557"/>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TextBox 6"/>
          <p:cNvSpPr txBox="1"/>
          <p:nvPr/>
        </p:nvSpPr>
        <p:spPr>
          <a:xfrm>
            <a:off x="1417114" y="3230686"/>
            <a:ext cx="2307782" cy="1077218"/>
          </a:xfrm>
          <a:prstGeom prst="rect">
            <a:avLst/>
          </a:prstGeom>
          <a:noFill/>
        </p:spPr>
        <p:txBody>
          <a:bodyPr wrap="square" rtlCol="0">
            <a:spAutoFit/>
          </a:bodyPr>
          <a:lstStyle/>
          <a:p>
            <a:pPr algn="ctr"/>
            <a:r>
              <a:rPr lang="es-ES_tradnl" sz="1600" dirty="0">
                <a:solidFill>
                  <a:schemeClr val="accent1"/>
                </a:solidFill>
                <a:latin typeface="Century Gothic" panose="020B0502020202020204" pitchFamily="34" charset="0"/>
              </a:rPr>
              <a:t>Poca utilidad marginal por un peso adicionalmente invertido</a:t>
            </a:r>
          </a:p>
        </p:txBody>
      </p:sp>
      <p:sp>
        <p:nvSpPr>
          <p:cNvPr id="8" name="TextBox 7"/>
          <p:cNvSpPr txBox="1"/>
          <p:nvPr/>
        </p:nvSpPr>
        <p:spPr>
          <a:xfrm>
            <a:off x="7241176" y="4058355"/>
            <a:ext cx="2802370" cy="338554"/>
          </a:xfrm>
          <a:prstGeom prst="rect">
            <a:avLst/>
          </a:prstGeom>
          <a:noFill/>
        </p:spPr>
        <p:txBody>
          <a:bodyPr wrap="none" rtlCol="0">
            <a:spAutoFit/>
          </a:bodyPr>
          <a:lstStyle/>
          <a:p>
            <a:r>
              <a:rPr lang="es-ES_tradnl" sz="1600" b="1" dirty="0">
                <a:solidFill>
                  <a:srgbClr val="C00000"/>
                </a:solidFill>
                <a:latin typeface="Century Gothic" panose="020B0502020202020204" pitchFamily="34" charset="0"/>
              </a:rPr>
              <a:t>Agentes </a:t>
            </a:r>
            <a:r>
              <a:rPr lang="es-ES_tradnl" sz="1600" b="1" dirty="0" err="1">
                <a:solidFill>
                  <a:srgbClr val="C00000"/>
                </a:solidFill>
                <a:latin typeface="Century Gothic" panose="020B0502020202020204" pitchFamily="34" charset="0"/>
              </a:rPr>
              <a:t>Aversos</a:t>
            </a:r>
            <a:r>
              <a:rPr lang="es-ES_tradnl" sz="1600" b="1" dirty="0">
                <a:solidFill>
                  <a:srgbClr val="C00000"/>
                </a:solidFill>
                <a:latin typeface="Century Gothic" panose="020B0502020202020204" pitchFamily="34" charset="0"/>
              </a:rPr>
              <a:t> al Riesgo</a:t>
            </a:r>
          </a:p>
        </p:txBody>
      </p:sp>
      <p:sp>
        <p:nvSpPr>
          <p:cNvPr id="14" name="Content Placeholder 2"/>
          <p:cNvSpPr txBox="1">
            <a:spLocks/>
          </p:cNvSpPr>
          <p:nvPr/>
        </p:nvSpPr>
        <p:spPr>
          <a:xfrm>
            <a:off x="581193" y="556314"/>
            <a:ext cx="11029615" cy="3678303"/>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just"/>
            <a:r>
              <a:rPr lang="es-ES_tradnl" dirty="0">
                <a:solidFill>
                  <a:schemeClr val="accent1"/>
                </a:solidFill>
                <a:latin typeface="Century Gothic" panose="020B0502020202020204" pitchFamily="34" charset="0"/>
              </a:rPr>
              <a:t>Gráficamente, la función de utilidad de los anteriores agentes sería así:</a:t>
            </a:r>
          </a:p>
        </p:txBody>
      </p:sp>
      <p:sp>
        <p:nvSpPr>
          <p:cNvPr id="3" name="Rectángulo 2">
            <a:extLst>
              <a:ext uri="{FF2B5EF4-FFF2-40B4-BE49-F238E27FC236}">
                <a16:creationId xmlns:a16="http://schemas.microsoft.com/office/drawing/2014/main" id="{5F1DCA34-4FC5-18E1-6494-B2FEA33050C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5" name="Picture 2" descr="Clientes y aliados | Centro de Evaluación | Uniandes">
            <a:extLst>
              <a:ext uri="{FF2B5EF4-FFF2-40B4-BE49-F238E27FC236}">
                <a16:creationId xmlns:a16="http://schemas.microsoft.com/office/drawing/2014/main" id="{0263311D-4E5E-13E8-DDC6-EE9DC91DFF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5F6636B3-0A3A-B15C-A0AB-EB6C6E122A2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1364352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20D346C4-FE84-BAD4-1ECB-FDD2AC0AF43F}"/>
              </a:ext>
            </a:extLst>
          </p:cNvPr>
          <p:cNvSpPr>
            <a:spLocks noGrp="1"/>
          </p:cNvSpPr>
          <p:nvPr>
            <p:ph type="title"/>
          </p:nvPr>
        </p:nvSpPr>
        <p:spPr/>
        <p:txBody>
          <a:bodyPr/>
          <a:lstStyle/>
          <a:p>
            <a:r>
              <a:rPr lang="es-ES_tradnl" dirty="0">
                <a:latin typeface="Century Gothic" panose="020B0502020202020204" pitchFamily="34" charset="0"/>
              </a:rPr>
              <a:t>Tolerancia al riesgo</a:t>
            </a:r>
          </a:p>
        </p:txBody>
      </p:sp>
      <p:sp>
        <p:nvSpPr>
          <p:cNvPr id="3" name="Content Placeholder 2"/>
          <p:cNvSpPr>
            <a:spLocks noGrp="1"/>
          </p:cNvSpPr>
          <p:nvPr>
            <p:ph idx="1"/>
          </p:nvPr>
        </p:nvSpPr>
        <p:spPr>
          <a:xfrm>
            <a:off x="824951" y="2277834"/>
            <a:ext cx="8648659" cy="3678303"/>
          </a:xfrm>
        </p:spPr>
        <p:txBody>
          <a:bodyPr>
            <a:normAutofit/>
          </a:bodyPr>
          <a:lstStyle/>
          <a:p>
            <a:pPr algn="just"/>
            <a:r>
              <a:rPr lang="es-ES_tradnl" dirty="0">
                <a:solidFill>
                  <a:schemeClr val="accent1"/>
                </a:solidFill>
                <a:latin typeface="Century Gothic" panose="020B0502020202020204" pitchFamily="34" charset="0"/>
              </a:rPr>
              <a:t>En la vida real, ningún individuo es totalmente </a:t>
            </a:r>
            <a:r>
              <a:rPr lang="es-ES_tradnl" dirty="0" err="1">
                <a:solidFill>
                  <a:schemeClr val="accent1"/>
                </a:solidFill>
                <a:latin typeface="Century Gothic" panose="020B0502020202020204" pitchFamily="34" charset="0"/>
              </a:rPr>
              <a:t>averso</a:t>
            </a:r>
            <a:r>
              <a:rPr lang="es-ES_tradnl" dirty="0">
                <a:solidFill>
                  <a:schemeClr val="accent1"/>
                </a:solidFill>
                <a:latin typeface="Century Gothic" panose="020B0502020202020204" pitchFamily="34" charset="0"/>
              </a:rPr>
              <a:t>, neutro o propenso al riesgo.</a:t>
            </a:r>
          </a:p>
          <a:p>
            <a:pPr algn="just"/>
            <a:endParaRPr lang="es-ES_tradnl" dirty="0">
              <a:solidFill>
                <a:schemeClr val="accent1"/>
              </a:solidFill>
              <a:latin typeface="Century Gothic" panose="020B0502020202020204" pitchFamily="34" charset="0"/>
            </a:endParaRPr>
          </a:p>
          <a:p>
            <a:pPr algn="just"/>
            <a:r>
              <a:rPr lang="es-ES_tradnl" dirty="0">
                <a:solidFill>
                  <a:schemeClr val="accent1"/>
                </a:solidFill>
                <a:latin typeface="Century Gothic" panose="020B0502020202020204" pitchFamily="34" charset="0"/>
              </a:rPr>
              <a:t>Las anteriores gráficas son comportamientos netamente teóricos. </a:t>
            </a:r>
          </a:p>
          <a:p>
            <a:pPr algn="just"/>
            <a:endParaRPr lang="es-ES_tradnl" dirty="0">
              <a:solidFill>
                <a:schemeClr val="accent1"/>
              </a:solidFill>
              <a:latin typeface="Century Gothic" panose="020B0502020202020204" pitchFamily="34" charset="0"/>
            </a:endParaRPr>
          </a:p>
          <a:p>
            <a:pPr algn="just"/>
            <a:r>
              <a:rPr lang="es-ES_tradnl" dirty="0">
                <a:solidFill>
                  <a:schemeClr val="accent1"/>
                </a:solidFill>
                <a:latin typeface="Century Gothic" panose="020B0502020202020204" pitchFamily="34" charset="0"/>
              </a:rPr>
              <a:t>Esto se debe a que factores como </a:t>
            </a:r>
            <a:r>
              <a:rPr lang="es-ES_tradnl" b="1" dirty="0">
                <a:solidFill>
                  <a:srgbClr val="C00000"/>
                </a:solidFill>
                <a:latin typeface="Century Gothic" panose="020B0502020202020204" pitchFamily="34" charset="0"/>
              </a:rPr>
              <a:t>la riqueza, las magnitudes de dinero involucradas, la cultura, la edad, etc</a:t>
            </a:r>
            <a:r>
              <a:rPr lang="es-ES_tradnl" dirty="0">
                <a:solidFill>
                  <a:srgbClr val="800000"/>
                </a:solidFill>
                <a:latin typeface="Century Gothic" panose="020B0502020202020204" pitchFamily="34" charset="0"/>
              </a:rPr>
              <a:t>.</a:t>
            </a:r>
            <a:r>
              <a:rPr lang="es-ES_tradnl" dirty="0">
                <a:solidFill>
                  <a:schemeClr val="tx1"/>
                </a:solidFill>
                <a:latin typeface="Century Gothic" panose="020B0502020202020204" pitchFamily="34" charset="0"/>
              </a:rPr>
              <a:t> </a:t>
            </a:r>
            <a:r>
              <a:rPr lang="es-ES_tradnl" dirty="0">
                <a:solidFill>
                  <a:schemeClr val="accent1"/>
                </a:solidFill>
                <a:latin typeface="Century Gothic" panose="020B0502020202020204" pitchFamily="34" charset="0"/>
              </a:rPr>
              <a:t>son determinantes del comportamiento de los agentes a la hora de evaluar la tolerancia frente al riesgo.</a:t>
            </a:r>
          </a:p>
        </p:txBody>
      </p:sp>
      <p:sp>
        <p:nvSpPr>
          <p:cNvPr id="4" name="Slide Number Placeholder 3"/>
          <p:cNvSpPr>
            <a:spLocks noGrp="1"/>
          </p:cNvSpPr>
          <p:nvPr>
            <p:ph type="sldNum" sz="quarter" idx="12"/>
          </p:nvPr>
        </p:nvSpPr>
        <p:spPr/>
        <p:txBody>
          <a:bodyPr/>
          <a:lstStyle/>
          <a:p>
            <a:fld id="{5E3E23BA-6E79-2442-BA73-D218A5E297C3}" type="slidenum">
              <a:rPr lang="en-US" smtClean="0"/>
              <a:t>21</a:t>
            </a:fld>
            <a:endParaRPr lang="en-US"/>
          </a:p>
        </p:txBody>
      </p:sp>
      <p:sp>
        <p:nvSpPr>
          <p:cNvPr id="9" name="Rectángulo 8">
            <a:extLst>
              <a:ext uri="{FF2B5EF4-FFF2-40B4-BE49-F238E27FC236}">
                <a16:creationId xmlns:a16="http://schemas.microsoft.com/office/drawing/2014/main" id="{E1951C2B-DD0F-8E24-C385-6FADC497D12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8D20FF55-8C44-338D-2FBA-C5FFA5308D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Cómo saber nuestra Tolerancia al Riesgo?✍✓ - Trading Profile">
            <a:extLst>
              <a:ext uri="{FF2B5EF4-FFF2-40B4-BE49-F238E27FC236}">
                <a16:creationId xmlns:a16="http://schemas.microsoft.com/office/drawing/2014/main" id="{3B79DDF0-47FD-F707-FBC3-B1252FC326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70489" y="2915887"/>
            <a:ext cx="1840319" cy="1840319"/>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092606B9-CA57-CB69-BAB8-64672208193D}"/>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827426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31" name="Rectangle 7"/>
          <p:cNvSpPr>
            <a:spLocks/>
          </p:cNvSpPr>
          <p:nvPr/>
        </p:nvSpPr>
        <p:spPr bwMode="auto">
          <a:xfrm>
            <a:off x="729869" y="2139003"/>
            <a:ext cx="10732262" cy="31393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marL="457200" indent="-457200" algn="just">
              <a:spcBef>
                <a:spcPct val="20000"/>
              </a:spcBef>
              <a:buFont typeface="Arial"/>
              <a:buChar char="•"/>
            </a:pPr>
            <a:r>
              <a:rPr lang="es-ES" dirty="0">
                <a:solidFill>
                  <a:schemeClr val="accent1"/>
                </a:solidFill>
                <a:latin typeface="Century Gothic" panose="020B0502020202020204" pitchFamily="34" charset="0"/>
              </a:rPr>
              <a:t>Siguiendo la línea de nuestro ejemplo, un individuo no necesariamente paga (o cobra) por entrar (o vender) al juego una cifra igual al valor esperado de la ganancia del juego que en este caso es 500 mil pesos.</a:t>
            </a:r>
          </a:p>
          <a:p>
            <a:pPr algn="just">
              <a:spcBef>
                <a:spcPct val="20000"/>
              </a:spcBef>
            </a:pPr>
            <a:endParaRPr lang="es-ES" dirty="0">
              <a:solidFill>
                <a:schemeClr val="accent1"/>
              </a:solidFill>
              <a:latin typeface="Century Gothic" panose="020B0502020202020204" pitchFamily="34" charset="0"/>
            </a:endParaRPr>
          </a:p>
          <a:p>
            <a:pPr marL="457200" indent="-457200" algn="just">
              <a:spcBef>
                <a:spcPct val="20000"/>
              </a:spcBef>
              <a:buFont typeface="Arial"/>
              <a:buChar char="•"/>
            </a:pPr>
            <a:r>
              <a:rPr lang="es-ES" dirty="0">
                <a:solidFill>
                  <a:schemeClr val="accent1"/>
                </a:solidFill>
                <a:latin typeface="Century Gothic" panose="020B0502020202020204" pitchFamily="34" charset="0"/>
              </a:rPr>
              <a:t>Es por lo que, ante situaciones de riesgo o dispersión de resultados futuros, un individuo toma decisiones NO bajo el criterio de Valor Esperado Monetario, sino bajo el criterio de Equivalente Monetario Cierto.</a:t>
            </a:r>
          </a:p>
          <a:p>
            <a:pPr marL="457200" indent="-457200" algn="just">
              <a:spcBef>
                <a:spcPct val="20000"/>
              </a:spcBef>
              <a:buFont typeface="Arial"/>
              <a:buChar char="•"/>
            </a:pPr>
            <a:endParaRPr lang="es-ES" dirty="0">
              <a:solidFill>
                <a:schemeClr val="accent1"/>
              </a:solidFill>
              <a:latin typeface="Century Gothic" panose="020B0502020202020204" pitchFamily="34" charset="0"/>
            </a:endParaRPr>
          </a:p>
          <a:p>
            <a:pPr algn="just">
              <a:spcBef>
                <a:spcPct val="20000"/>
              </a:spcBef>
            </a:pPr>
            <a:endParaRPr lang="es-ES" dirty="0">
              <a:solidFill>
                <a:schemeClr val="accent1"/>
              </a:solidFill>
              <a:latin typeface="Century Gothic" panose="020B0502020202020204" pitchFamily="34" charset="0"/>
            </a:endParaRPr>
          </a:p>
          <a:p>
            <a:pPr algn="ctr">
              <a:spcBef>
                <a:spcPct val="20000"/>
              </a:spcBef>
            </a:pPr>
            <a:r>
              <a:rPr lang="es-ES" dirty="0">
                <a:solidFill>
                  <a:srgbClr val="FF0000"/>
                </a:solidFill>
                <a:latin typeface="Century Gothic" panose="020B0502020202020204" pitchFamily="34" charset="0"/>
              </a:rPr>
              <a:t>¿Qué es el equivalente monetario cierto (EMC)?</a:t>
            </a:r>
          </a:p>
        </p:txBody>
      </p:sp>
      <p:sp>
        <p:nvSpPr>
          <p:cNvPr id="2" name="Rectángulo 1">
            <a:extLst>
              <a:ext uri="{FF2B5EF4-FFF2-40B4-BE49-F238E27FC236}">
                <a16:creationId xmlns:a16="http://schemas.microsoft.com/office/drawing/2014/main" id="{0CC33D94-D3CA-9344-6CA4-3F197A0E623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3" name="Picture 2" descr="Clientes y aliados | Centro de Evaluación | Uniandes">
            <a:extLst>
              <a:ext uri="{FF2B5EF4-FFF2-40B4-BE49-F238E27FC236}">
                <a16:creationId xmlns:a16="http://schemas.microsoft.com/office/drawing/2014/main" id="{CFB598D1-3B40-75A7-CC52-50568FE6A1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A8FB5C4A-68C0-F069-7784-C8CF8AC712C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itle 1">
            <a:extLst>
              <a:ext uri="{FF2B5EF4-FFF2-40B4-BE49-F238E27FC236}">
                <a16:creationId xmlns:a16="http://schemas.microsoft.com/office/drawing/2014/main" id="{7A26860F-7AAD-89A7-FF64-38DAD31C211A}"/>
              </a:ext>
            </a:extLst>
          </p:cNvPr>
          <p:cNvSpPr>
            <a:spLocks noGrp="1"/>
          </p:cNvSpPr>
          <p:nvPr>
            <p:ph type="title"/>
          </p:nvPr>
        </p:nvSpPr>
        <p:spPr>
          <a:xfrm>
            <a:off x="581192" y="702156"/>
            <a:ext cx="11029616" cy="1013800"/>
          </a:xfrm>
        </p:spPr>
        <p:txBody>
          <a:bodyPr/>
          <a:lstStyle/>
          <a:p>
            <a:r>
              <a:rPr lang="es-ES_tradnl" dirty="0">
                <a:latin typeface="Century Gothic" panose="020B0502020202020204" pitchFamily="34" charset="0"/>
              </a:rPr>
              <a:t>Tolerancia al riesgo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3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23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8130" name="Rectangle 10"/>
          <p:cNvSpPr>
            <a:spLocks/>
          </p:cNvSpPr>
          <p:nvPr/>
        </p:nvSpPr>
        <p:spPr bwMode="auto">
          <a:xfrm>
            <a:off x="609740" y="2776718"/>
            <a:ext cx="10972519" cy="28623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marL="342900" indent="-342900" algn="just">
              <a:spcBef>
                <a:spcPct val="20000"/>
              </a:spcBef>
              <a:buFont typeface="Arial"/>
              <a:buChar char="•"/>
            </a:pPr>
            <a:r>
              <a:rPr lang="es-ES" dirty="0">
                <a:solidFill>
                  <a:schemeClr val="accent1"/>
                </a:solidFill>
                <a:latin typeface="Century Gothic" panose="020B0502020202020204" pitchFamily="34" charset="0"/>
              </a:rPr>
              <a:t>El concepto de Equivalente Monetario Cierto es muy útil en finanzas y se puede interpretar como el valor máximo que un individuo estaría dispuesto a pagar por evitar un riesgo.</a:t>
            </a:r>
          </a:p>
          <a:p>
            <a:pPr algn="just">
              <a:spcBef>
                <a:spcPct val="20000"/>
              </a:spcBef>
            </a:pPr>
            <a:endParaRPr lang="es-ES" dirty="0">
              <a:solidFill>
                <a:schemeClr val="accent1"/>
              </a:solidFill>
              <a:latin typeface="Century Gothic" panose="020B0502020202020204" pitchFamily="34" charset="0"/>
            </a:endParaRPr>
          </a:p>
          <a:p>
            <a:pPr marL="342900" indent="-342900" algn="just">
              <a:spcBef>
                <a:spcPct val="20000"/>
              </a:spcBef>
              <a:buFont typeface="Arial"/>
              <a:buChar char="•"/>
            </a:pPr>
            <a:r>
              <a:rPr lang="es-ES" dirty="0">
                <a:solidFill>
                  <a:schemeClr val="accent1"/>
                </a:solidFill>
                <a:latin typeface="Century Gothic" panose="020B0502020202020204" pitchFamily="34" charset="0"/>
              </a:rPr>
              <a:t>Equivalentemente, el valor mínimo por el que un individuo estaría dispuesto a “vender” una decisión que involucra riesgo. </a:t>
            </a:r>
          </a:p>
          <a:p>
            <a:pPr marL="342900" indent="-342900" algn="just">
              <a:spcBef>
                <a:spcPct val="20000"/>
              </a:spcBef>
              <a:buFont typeface="Arial"/>
              <a:buChar char="•"/>
            </a:pPr>
            <a:endParaRPr lang="es-ES" dirty="0">
              <a:solidFill>
                <a:schemeClr val="accent1"/>
              </a:solidFill>
              <a:latin typeface="Century Gothic" panose="020B0502020202020204" pitchFamily="34" charset="0"/>
            </a:endParaRPr>
          </a:p>
          <a:p>
            <a:pPr marL="342900" indent="-342900" algn="just">
              <a:spcBef>
                <a:spcPct val="20000"/>
              </a:spcBef>
              <a:buFont typeface="Arial"/>
              <a:buChar char="•"/>
            </a:pPr>
            <a:r>
              <a:rPr lang="es-CO" b="1" dirty="0">
                <a:solidFill>
                  <a:schemeClr val="accent1"/>
                </a:solidFill>
                <a:latin typeface="Century Gothic" panose="020B0502020202020204" pitchFamily="34" charset="0"/>
              </a:rPr>
              <a:t>¿Cuánta plata fija y segura me tienes que dar para que yo renuncie a jugar un juego riesgoso?</a:t>
            </a:r>
            <a:endParaRPr lang="es-CO" dirty="0">
              <a:solidFill>
                <a:schemeClr val="accent1"/>
              </a:solidFill>
              <a:latin typeface="Century Gothic" panose="020B0502020202020204" pitchFamily="34" charset="0"/>
            </a:endParaRPr>
          </a:p>
          <a:p>
            <a:pPr marL="342900" indent="-342900" algn="just">
              <a:spcBef>
                <a:spcPct val="20000"/>
              </a:spcBef>
              <a:buFont typeface="Arial"/>
              <a:buChar char="•"/>
            </a:pPr>
            <a:endParaRPr lang="es-ES" dirty="0">
              <a:solidFill>
                <a:schemeClr val="accent1"/>
              </a:solidFill>
              <a:latin typeface="Century Gothic" panose="020B0502020202020204" pitchFamily="34" charset="0"/>
            </a:endParaRPr>
          </a:p>
        </p:txBody>
      </p:sp>
      <p:sp>
        <p:nvSpPr>
          <p:cNvPr id="2" name="Rectángulo 1">
            <a:extLst>
              <a:ext uri="{FF2B5EF4-FFF2-40B4-BE49-F238E27FC236}">
                <a16:creationId xmlns:a16="http://schemas.microsoft.com/office/drawing/2014/main" id="{BEEDF1A8-A6C5-4DB5-7BA6-3D1A06871C6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3" name="Picture 2" descr="Clientes y aliados | Centro de Evaluación | Uniandes">
            <a:extLst>
              <a:ext uri="{FF2B5EF4-FFF2-40B4-BE49-F238E27FC236}">
                <a16:creationId xmlns:a16="http://schemas.microsoft.com/office/drawing/2014/main" id="{C839771C-F948-D1F0-0068-5A930D95B0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F0A76B7A-058A-A5EE-F47B-9FFA012E146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8" name="Title 1">
            <a:extLst>
              <a:ext uri="{FF2B5EF4-FFF2-40B4-BE49-F238E27FC236}">
                <a16:creationId xmlns:a16="http://schemas.microsoft.com/office/drawing/2014/main" id="{DDE9EADE-AF92-69E7-EED7-EDB93B09FBBF}"/>
              </a:ext>
            </a:extLst>
          </p:cNvPr>
          <p:cNvSpPr>
            <a:spLocks noGrp="1"/>
          </p:cNvSpPr>
          <p:nvPr>
            <p:ph type="title"/>
          </p:nvPr>
        </p:nvSpPr>
        <p:spPr>
          <a:xfrm>
            <a:off x="581192" y="702156"/>
            <a:ext cx="11029616" cy="1013800"/>
          </a:xfrm>
        </p:spPr>
        <p:txBody>
          <a:bodyPr/>
          <a:lstStyle/>
          <a:p>
            <a:r>
              <a:rPr lang="es-ES_tradnl" dirty="0">
                <a:latin typeface="Century Gothic" panose="020B0502020202020204" pitchFamily="34" charset="0"/>
              </a:rPr>
              <a:t>Tolerancia al riesgo</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13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13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
          <p:cNvSpPr>
            <a:spLocks/>
          </p:cNvSpPr>
          <p:nvPr/>
        </p:nvSpPr>
        <p:spPr bwMode="auto">
          <a:xfrm>
            <a:off x="641965" y="1989939"/>
            <a:ext cx="10968843" cy="40318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es-CO" b="1" dirty="0">
                <a:solidFill>
                  <a:schemeClr val="accent1"/>
                </a:solidFill>
                <a:latin typeface="Century Gothic" panose="020B0502020202020204" pitchFamily="34" charset="0"/>
              </a:rPr>
              <a:t>Ejemplo 1: </a:t>
            </a:r>
            <a:r>
              <a:rPr lang="es-CO" dirty="0">
                <a:solidFill>
                  <a:schemeClr val="accent1"/>
                </a:solidFill>
                <a:latin typeface="Century Gothic" panose="020B0502020202020204" pitchFamily="34" charset="0"/>
              </a:rPr>
              <a:t>Imaginen que están en su última semana en la Universidad de los Andes y tienen dos ofertas de trabajo sobre la mesa:</a:t>
            </a:r>
          </a:p>
          <a:p>
            <a:endParaRPr lang="es-CO" dirty="0">
              <a:solidFill>
                <a:schemeClr val="accent1"/>
              </a:solidFill>
              <a:latin typeface="Century Gothic" panose="020B0502020202020204" pitchFamily="34" charset="0"/>
            </a:endParaRPr>
          </a:p>
          <a:p>
            <a:pPr marL="285750" indent="-285750">
              <a:buFont typeface="Arial" panose="020B0604020202020204" pitchFamily="34" charset="0"/>
              <a:buChar char="•"/>
            </a:pPr>
            <a:r>
              <a:rPr lang="es-CO" b="1" dirty="0">
                <a:solidFill>
                  <a:schemeClr val="accent1"/>
                </a:solidFill>
                <a:latin typeface="Century Gothic" panose="020B0502020202020204" pitchFamily="34" charset="0"/>
              </a:rPr>
              <a:t>Opción A La Startup:</a:t>
            </a:r>
            <a:br>
              <a:rPr lang="es-CO" dirty="0">
                <a:solidFill>
                  <a:schemeClr val="accent1"/>
                </a:solidFill>
                <a:latin typeface="Century Gothic" panose="020B0502020202020204" pitchFamily="34" charset="0"/>
              </a:rPr>
            </a:br>
            <a:r>
              <a:rPr lang="es-CO" dirty="0">
                <a:solidFill>
                  <a:schemeClr val="accent1"/>
                </a:solidFill>
                <a:latin typeface="Century Gothic" panose="020B0502020202020204" pitchFamily="34" charset="0"/>
              </a:rPr>
              <a:t>Un amigo les propone ser </a:t>
            </a:r>
            <a:r>
              <a:rPr lang="es-CO" dirty="0" err="1">
                <a:solidFill>
                  <a:schemeClr val="accent1"/>
                </a:solidFill>
                <a:latin typeface="Century Gothic" panose="020B0502020202020204" pitchFamily="34" charset="0"/>
              </a:rPr>
              <a:t>co-fundadores</a:t>
            </a:r>
            <a:r>
              <a:rPr lang="es-CO" dirty="0">
                <a:solidFill>
                  <a:schemeClr val="accent1"/>
                </a:solidFill>
                <a:latin typeface="Century Gothic" panose="020B0502020202020204" pitchFamily="34" charset="0"/>
              </a:rPr>
              <a:t> de una </a:t>
            </a:r>
            <a:r>
              <a:rPr lang="es-CO" i="1" dirty="0">
                <a:solidFill>
                  <a:schemeClr val="accent1"/>
                </a:solidFill>
                <a:latin typeface="Century Gothic" panose="020B0502020202020204" pitchFamily="34" charset="0"/>
              </a:rPr>
              <a:t>startup</a:t>
            </a:r>
            <a:r>
              <a:rPr lang="es-CO" dirty="0">
                <a:solidFill>
                  <a:schemeClr val="accent1"/>
                </a:solidFill>
                <a:latin typeface="Century Gothic" panose="020B0502020202020204" pitchFamily="34" charset="0"/>
              </a:rPr>
              <a:t> de Inteligencia Artificial. No hay salario fijo, pero si logran vender la app a Google en un año, ustedes se ganan </a:t>
            </a:r>
            <a:r>
              <a:rPr lang="es-CO" b="1" dirty="0">
                <a:solidFill>
                  <a:schemeClr val="accent1"/>
                </a:solidFill>
                <a:latin typeface="Century Gothic" panose="020B0502020202020204" pitchFamily="34" charset="0"/>
              </a:rPr>
              <a:t>$100 millones de pesos</a:t>
            </a:r>
            <a:r>
              <a:rPr lang="es-CO" dirty="0">
                <a:solidFill>
                  <a:schemeClr val="accent1"/>
                </a:solidFill>
                <a:latin typeface="Century Gothic" panose="020B0502020202020204" pitchFamily="34" charset="0"/>
              </a:rPr>
              <a:t>. Si quiebran (lo cual es muy probable), se ganan </a:t>
            </a:r>
            <a:r>
              <a:rPr lang="es-CO" b="1" dirty="0">
                <a:solidFill>
                  <a:schemeClr val="accent1"/>
                </a:solidFill>
                <a:latin typeface="Century Gothic" panose="020B0502020202020204" pitchFamily="34" charset="0"/>
              </a:rPr>
              <a:t>$0</a:t>
            </a:r>
            <a:r>
              <a:rPr lang="es-CO" dirty="0">
                <a:solidFill>
                  <a:schemeClr val="accent1"/>
                </a:solidFill>
                <a:latin typeface="Century Gothic" panose="020B0502020202020204" pitchFamily="34" charset="0"/>
              </a:rPr>
              <a:t>.</a:t>
            </a:r>
          </a:p>
          <a:p>
            <a:pPr marL="285750" indent="-285750">
              <a:buFont typeface="Arial" panose="020B0604020202020204" pitchFamily="34" charset="0"/>
              <a:buChar char="•"/>
            </a:pPr>
            <a:endParaRPr lang="es-CO" dirty="0">
              <a:solidFill>
                <a:schemeClr val="accent1"/>
              </a:solidFill>
              <a:latin typeface="Century Gothic" panose="020B0502020202020204" pitchFamily="34" charset="0"/>
            </a:endParaRPr>
          </a:p>
          <a:p>
            <a:pPr marL="285750" indent="-285750">
              <a:buFont typeface="Arial" panose="020B0604020202020204" pitchFamily="34" charset="0"/>
              <a:buChar char="•"/>
            </a:pPr>
            <a:r>
              <a:rPr lang="es-CO" b="1" dirty="0">
                <a:solidFill>
                  <a:schemeClr val="accent1"/>
                </a:solidFill>
                <a:latin typeface="Century Gothic" panose="020B0502020202020204" pitchFamily="34" charset="0"/>
              </a:rPr>
              <a:t>Opción B El Banco:</a:t>
            </a:r>
            <a:br>
              <a:rPr lang="es-CO" dirty="0">
                <a:solidFill>
                  <a:schemeClr val="accent1"/>
                </a:solidFill>
                <a:latin typeface="Century Gothic" panose="020B0502020202020204" pitchFamily="34" charset="0"/>
              </a:rPr>
            </a:br>
            <a:r>
              <a:rPr lang="es-CO" dirty="0">
                <a:solidFill>
                  <a:schemeClr val="accent1"/>
                </a:solidFill>
                <a:latin typeface="Century Gothic" panose="020B0502020202020204" pitchFamily="34" charset="0"/>
              </a:rPr>
              <a:t>Un banco tradicional les ofrece un contrato a término indefinido. Es aburrido, pero seguro.</a:t>
            </a:r>
          </a:p>
          <a:p>
            <a:endParaRPr lang="es-CO" b="1" dirty="0">
              <a:solidFill>
                <a:schemeClr val="accent1"/>
              </a:solidFill>
              <a:latin typeface="Century Gothic" panose="020B0502020202020204" pitchFamily="34" charset="0"/>
            </a:endParaRPr>
          </a:p>
          <a:p>
            <a:endParaRPr lang="es-CO" b="1" dirty="0">
              <a:solidFill>
                <a:schemeClr val="accent1"/>
              </a:solidFill>
              <a:latin typeface="Century Gothic" panose="020B0502020202020204" pitchFamily="34" charset="0"/>
            </a:endParaRPr>
          </a:p>
          <a:p>
            <a:r>
              <a:rPr lang="es-CO" sz="2000" b="1" dirty="0">
                <a:solidFill>
                  <a:srgbClr val="FF0000"/>
                </a:solidFill>
                <a:latin typeface="Century Gothic" panose="020B0502020202020204" pitchFamily="34" charset="0"/>
              </a:rPr>
              <a:t>¿Cuál es el salario anual </a:t>
            </a:r>
            <a:r>
              <a:rPr lang="es-CO" sz="2000" b="1" i="1" dirty="0">
                <a:solidFill>
                  <a:srgbClr val="FF0000"/>
                </a:solidFill>
                <a:latin typeface="Century Gothic" panose="020B0502020202020204" pitchFamily="34" charset="0"/>
              </a:rPr>
              <a:t>mínimo</a:t>
            </a:r>
            <a:r>
              <a:rPr lang="es-CO" sz="2000" b="1" dirty="0">
                <a:solidFill>
                  <a:srgbClr val="FF0000"/>
                </a:solidFill>
                <a:latin typeface="Century Gothic" panose="020B0502020202020204" pitchFamily="34" charset="0"/>
              </a:rPr>
              <a:t>, fijo y garantizado, que ustedes aceptarían del banco para decirle "NO" a la startup de su amigo?</a:t>
            </a:r>
            <a:endParaRPr lang="es-CO" sz="2000" dirty="0">
              <a:solidFill>
                <a:srgbClr val="FF0000"/>
              </a:solidFill>
              <a:latin typeface="Century Gothic" panose="020B0502020202020204" pitchFamily="34" charset="0"/>
            </a:endParaRPr>
          </a:p>
        </p:txBody>
      </p:sp>
      <p:sp>
        <p:nvSpPr>
          <p:cNvPr id="2" name="Rectángulo 1">
            <a:extLst>
              <a:ext uri="{FF2B5EF4-FFF2-40B4-BE49-F238E27FC236}">
                <a16:creationId xmlns:a16="http://schemas.microsoft.com/office/drawing/2014/main" id="{D1759FE3-6992-962D-BB25-2789BDC522E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3" name="Picture 2" descr="Clientes y aliados | Centro de Evaluación | Uniandes">
            <a:extLst>
              <a:ext uri="{FF2B5EF4-FFF2-40B4-BE49-F238E27FC236}">
                <a16:creationId xmlns:a16="http://schemas.microsoft.com/office/drawing/2014/main" id="{E766CC1E-5ED8-7C66-5FDB-49ABEF74B2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8DC3F498-C58B-5AF6-FF0B-DC0CEEE602E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itle 1">
            <a:extLst>
              <a:ext uri="{FF2B5EF4-FFF2-40B4-BE49-F238E27FC236}">
                <a16:creationId xmlns:a16="http://schemas.microsoft.com/office/drawing/2014/main" id="{D6396969-72D6-0A07-B1F0-78F559B458A0}"/>
              </a:ext>
            </a:extLst>
          </p:cNvPr>
          <p:cNvSpPr>
            <a:spLocks noGrp="1"/>
          </p:cNvSpPr>
          <p:nvPr>
            <p:ph type="title"/>
          </p:nvPr>
        </p:nvSpPr>
        <p:spPr>
          <a:xfrm>
            <a:off x="581192" y="702156"/>
            <a:ext cx="11029616" cy="1013800"/>
          </a:xfrm>
        </p:spPr>
        <p:txBody>
          <a:bodyPr/>
          <a:lstStyle/>
          <a:p>
            <a:r>
              <a:rPr lang="es-ES_tradnl" dirty="0">
                <a:latin typeface="Century Gothic" panose="020B0502020202020204" pitchFamily="34" charset="0"/>
              </a:rPr>
              <a:t>Tolerancia al riesgo</a:t>
            </a:r>
          </a:p>
        </p:txBody>
      </p:sp>
    </p:spTree>
    <p:extLst>
      <p:ext uri="{BB962C8B-B14F-4D97-AF65-F5344CB8AC3E}">
        <p14:creationId xmlns:p14="http://schemas.microsoft.com/office/powerpoint/2010/main" val="1391050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13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13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813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
          <p:cNvSpPr>
            <a:spLocks/>
          </p:cNvSpPr>
          <p:nvPr/>
        </p:nvSpPr>
        <p:spPr bwMode="auto">
          <a:xfrm>
            <a:off x="743507" y="2038392"/>
            <a:ext cx="10704985" cy="452431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es-CO" b="1" dirty="0">
                <a:solidFill>
                  <a:schemeClr val="accent1"/>
                </a:solidFill>
                <a:latin typeface="Century Gothic" panose="020B0502020202020204" pitchFamily="34" charset="0"/>
              </a:rPr>
              <a:t>Ejemplo 2: El Ingeniero en la Transición Energética</a:t>
            </a:r>
            <a:endParaRPr lang="es-CO" dirty="0">
              <a:solidFill>
                <a:schemeClr val="accent1"/>
              </a:solidFill>
              <a:latin typeface="Century Gothic" panose="020B0502020202020204" pitchFamily="34" charset="0"/>
            </a:endParaRPr>
          </a:p>
          <a:p>
            <a:r>
              <a:rPr lang="es-CO" dirty="0">
                <a:solidFill>
                  <a:schemeClr val="accent1"/>
                </a:solidFill>
                <a:latin typeface="Century Gothic" panose="020B0502020202020204" pitchFamily="34" charset="0"/>
              </a:rPr>
              <a:t>Ustedes son los gerentes financieros de un nuevo </a:t>
            </a:r>
            <a:r>
              <a:rPr lang="es-CO" b="1" dirty="0">
                <a:solidFill>
                  <a:schemeClr val="accent1"/>
                </a:solidFill>
                <a:latin typeface="Century Gothic" panose="020B0502020202020204" pitchFamily="34" charset="0"/>
              </a:rPr>
              <a:t>Parque Solar</a:t>
            </a:r>
            <a:r>
              <a:rPr lang="es-CO" dirty="0">
                <a:solidFill>
                  <a:schemeClr val="accent1"/>
                </a:solidFill>
                <a:latin typeface="Century Gothic" panose="020B0502020202020204" pitchFamily="34" charset="0"/>
              </a:rPr>
              <a:t> en la Guajira. Ya construyeron los paneles (ya hicieron el CAPEX) y ahora van a vender la energía por los próximos 10 años. Tienen dos opciones:</a:t>
            </a:r>
          </a:p>
          <a:p>
            <a:pPr marL="285750" indent="-285750">
              <a:buFont typeface="Arial" panose="020B0604020202020204" pitchFamily="34" charset="0"/>
              <a:buChar char="•"/>
            </a:pPr>
            <a:r>
              <a:rPr lang="es-CO" b="1" dirty="0">
                <a:solidFill>
                  <a:schemeClr val="accent1"/>
                </a:solidFill>
                <a:latin typeface="Century Gothic" panose="020B0502020202020204" pitchFamily="34" charset="0"/>
              </a:rPr>
              <a:t>Opción A (El Mercado Spot - Bolsa de Energía):</a:t>
            </a:r>
            <a:br>
              <a:rPr lang="es-CO" dirty="0">
                <a:solidFill>
                  <a:schemeClr val="accent1"/>
                </a:solidFill>
                <a:latin typeface="Century Gothic" panose="020B0502020202020204" pitchFamily="34" charset="0"/>
              </a:rPr>
            </a:br>
            <a:r>
              <a:rPr lang="es-CO" dirty="0">
                <a:solidFill>
                  <a:schemeClr val="accent1"/>
                </a:solidFill>
                <a:latin typeface="Century Gothic" panose="020B0502020202020204" pitchFamily="34" charset="0"/>
              </a:rPr>
              <a:t>Vender la energía en la bolsa puede súper volátil. Su modelo estocástico (Simulación de Montecarlo) les dice que el </a:t>
            </a:r>
            <a:r>
              <a:rPr lang="es-CO" b="1" dirty="0">
                <a:solidFill>
                  <a:schemeClr val="accent1"/>
                </a:solidFill>
                <a:latin typeface="Century Gothic" panose="020B0502020202020204" pitchFamily="34" charset="0"/>
              </a:rPr>
              <a:t>Valor Esperado (VEM)</a:t>
            </a:r>
            <a:r>
              <a:rPr lang="es-CO" dirty="0">
                <a:solidFill>
                  <a:schemeClr val="accent1"/>
                </a:solidFill>
                <a:latin typeface="Century Gothic" panose="020B0502020202020204" pitchFamily="34" charset="0"/>
              </a:rPr>
              <a:t> del precio de la energía será de </a:t>
            </a:r>
            <a:r>
              <a:rPr lang="es-CO" b="1" dirty="0">
                <a:solidFill>
                  <a:schemeClr val="accent1"/>
                </a:solidFill>
                <a:latin typeface="Century Gothic" panose="020B0502020202020204" pitchFamily="34" charset="0"/>
              </a:rPr>
              <a:t>$450 COP/kWh</a:t>
            </a:r>
            <a:r>
              <a:rPr lang="es-CO" dirty="0">
                <a:solidFill>
                  <a:schemeClr val="accent1"/>
                </a:solidFill>
                <a:latin typeface="Century Gothic" panose="020B0502020202020204" pitchFamily="34" charset="0"/>
              </a:rPr>
              <a:t>.</a:t>
            </a:r>
          </a:p>
          <a:p>
            <a:endParaRPr lang="es-CO" dirty="0">
              <a:solidFill>
                <a:schemeClr val="accent1"/>
              </a:solidFill>
              <a:latin typeface="Century Gothic" panose="020B0502020202020204" pitchFamily="34" charset="0"/>
            </a:endParaRPr>
          </a:p>
          <a:p>
            <a:pPr marL="285750" indent="-285750">
              <a:buFont typeface="Arial" panose="020B0604020202020204" pitchFamily="34" charset="0"/>
              <a:buChar char="•"/>
            </a:pPr>
            <a:r>
              <a:rPr lang="es-CO" b="1" dirty="0">
                <a:solidFill>
                  <a:schemeClr val="accent1"/>
                </a:solidFill>
                <a:latin typeface="Century Gothic" panose="020B0502020202020204" pitchFamily="34" charset="0"/>
              </a:rPr>
              <a:t>Opción B (El PPA - Contrato a Largo Plazo):</a:t>
            </a:r>
            <a:br>
              <a:rPr lang="es-CO" dirty="0">
                <a:solidFill>
                  <a:schemeClr val="accent1"/>
                </a:solidFill>
                <a:latin typeface="Century Gothic" panose="020B0502020202020204" pitchFamily="34" charset="0"/>
              </a:rPr>
            </a:br>
            <a:r>
              <a:rPr lang="es-CO" dirty="0">
                <a:solidFill>
                  <a:schemeClr val="accent1"/>
                </a:solidFill>
                <a:latin typeface="Century Gothic" panose="020B0502020202020204" pitchFamily="34" charset="0"/>
              </a:rPr>
              <a:t>Viene una empresa grande (ej. Bavaria) y les dice: </a:t>
            </a:r>
            <a:r>
              <a:rPr lang="es-CO" i="1" dirty="0">
                <a:solidFill>
                  <a:schemeClr val="accent1"/>
                </a:solidFill>
                <a:latin typeface="Century Gothic" panose="020B0502020202020204" pitchFamily="34" charset="0"/>
              </a:rPr>
              <a:t>"Les compro toda la energía del parque por 10 años, pero a un precio fijo. Cero volatilidad. Ustedes me dicen a cómo"</a:t>
            </a:r>
            <a:r>
              <a:rPr lang="es-CO" dirty="0">
                <a:solidFill>
                  <a:schemeClr val="accent1"/>
                </a:solidFill>
                <a:latin typeface="Century Gothic" panose="020B0502020202020204" pitchFamily="34" charset="0"/>
              </a:rPr>
              <a:t>.</a:t>
            </a:r>
          </a:p>
          <a:p>
            <a:endParaRPr lang="es-CO" dirty="0">
              <a:solidFill>
                <a:schemeClr val="accent1"/>
              </a:solidFill>
              <a:latin typeface="Century Gothic" panose="020B0502020202020204" pitchFamily="34" charset="0"/>
            </a:endParaRPr>
          </a:p>
          <a:p>
            <a:r>
              <a:rPr lang="es-CO" dirty="0">
                <a:solidFill>
                  <a:schemeClr val="accent1"/>
                </a:solidFill>
                <a:latin typeface="Century Gothic" panose="020B0502020202020204" pitchFamily="34" charset="0"/>
              </a:rPr>
              <a:t>Ustedes se reúnen con la Junta Directiva. Los dueños del parque tienen que pagarle deudas a los bancos y no quieren sorpresas. La Junta decide: </a:t>
            </a:r>
            <a:r>
              <a:rPr lang="es-CO" i="1" dirty="0">
                <a:solidFill>
                  <a:schemeClr val="accent1"/>
                </a:solidFill>
                <a:latin typeface="Century Gothic" panose="020B0502020202020204" pitchFamily="34" charset="0"/>
              </a:rPr>
              <a:t>"Firmemos el contrato con Bavaria a </a:t>
            </a:r>
            <a:r>
              <a:rPr lang="es-CO" b="1" i="1" dirty="0">
                <a:solidFill>
                  <a:schemeClr val="accent1"/>
                </a:solidFill>
                <a:latin typeface="Century Gothic" panose="020B0502020202020204" pitchFamily="34" charset="0"/>
              </a:rPr>
              <a:t>$380 COP/kWh</a:t>
            </a:r>
            <a:r>
              <a:rPr lang="es-CO" i="1" dirty="0">
                <a:solidFill>
                  <a:schemeClr val="accent1"/>
                </a:solidFill>
                <a:latin typeface="Century Gothic" panose="020B0502020202020204" pitchFamily="34" charset="0"/>
              </a:rPr>
              <a:t> fijos"</a:t>
            </a:r>
            <a:r>
              <a:rPr lang="es-CO" dirty="0">
                <a:solidFill>
                  <a:schemeClr val="accent1"/>
                </a:solidFill>
                <a:latin typeface="Century Gothic" panose="020B0502020202020204" pitchFamily="34" charset="0"/>
              </a:rPr>
              <a:t>.</a:t>
            </a:r>
          </a:p>
        </p:txBody>
      </p:sp>
      <p:sp>
        <p:nvSpPr>
          <p:cNvPr id="2" name="Rectángulo 1">
            <a:extLst>
              <a:ext uri="{FF2B5EF4-FFF2-40B4-BE49-F238E27FC236}">
                <a16:creationId xmlns:a16="http://schemas.microsoft.com/office/drawing/2014/main" id="{CC0A3CD0-4639-8897-EA9C-8A80A7CDD57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3" name="Picture 2" descr="Clientes y aliados | Centro de Evaluación | Uniandes">
            <a:extLst>
              <a:ext uri="{FF2B5EF4-FFF2-40B4-BE49-F238E27FC236}">
                <a16:creationId xmlns:a16="http://schemas.microsoft.com/office/drawing/2014/main" id="{2D32F424-8BC9-E5BA-EA55-751EE005B0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C6FFAC2C-8301-8138-7704-91C2336DAD5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itle 1">
            <a:extLst>
              <a:ext uri="{FF2B5EF4-FFF2-40B4-BE49-F238E27FC236}">
                <a16:creationId xmlns:a16="http://schemas.microsoft.com/office/drawing/2014/main" id="{10AB99C9-DE5A-8613-2900-B495AAFEC52A}"/>
              </a:ext>
            </a:extLst>
          </p:cNvPr>
          <p:cNvSpPr>
            <a:spLocks noGrp="1"/>
          </p:cNvSpPr>
          <p:nvPr>
            <p:ph type="title"/>
          </p:nvPr>
        </p:nvSpPr>
        <p:spPr>
          <a:xfrm>
            <a:off x="581192" y="702156"/>
            <a:ext cx="11029616" cy="1013800"/>
          </a:xfrm>
        </p:spPr>
        <p:txBody>
          <a:bodyPr/>
          <a:lstStyle/>
          <a:p>
            <a:r>
              <a:rPr lang="es-ES_tradnl" dirty="0">
                <a:latin typeface="Century Gothic" panose="020B0502020202020204" pitchFamily="34" charset="0"/>
              </a:rPr>
              <a:t>Tolerancia al riesgo</a:t>
            </a:r>
          </a:p>
        </p:txBody>
      </p:sp>
    </p:spTree>
    <p:extLst>
      <p:ext uri="{BB962C8B-B14F-4D97-AF65-F5344CB8AC3E}">
        <p14:creationId xmlns:p14="http://schemas.microsoft.com/office/powerpoint/2010/main" val="1629490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13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13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813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813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p:cNvSpPr>
            <a:spLocks/>
          </p:cNvSpPr>
          <p:nvPr/>
        </p:nvSpPr>
        <p:spPr bwMode="auto">
          <a:xfrm>
            <a:off x="641965" y="2775811"/>
            <a:ext cx="11029615" cy="29546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es-CO" dirty="0">
                <a:solidFill>
                  <a:schemeClr val="accent1"/>
                </a:solidFill>
                <a:latin typeface="Century Gothic" panose="020B0502020202020204" pitchFamily="34" charset="0"/>
              </a:rPr>
              <a:t>En este momento, la Junta Directiva acaba de revelar su </a:t>
            </a:r>
            <a:r>
              <a:rPr lang="es-CO" b="1" dirty="0">
                <a:solidFill>
                  <a:schemeClr val="accent1"/>
                </a:solidFill>
                <a:latin typeface="Century Gothic" panose="020B0502020202020204" pitchFamily="34" charset="0"/>
              </a:rPr>
              <a:t>Equivalente Monetario Cierto (EMC)</a:t>
            </a:r>
            <a:r>
              <a:rPr lang="es-CO" dirty="0">
                <a:solidFill>
                  <a:schemeClr val="accent1"/>
                </a:solidFill>
                <a:latin typeface="Century Gothic" panose="020B0502020202020204" pitchFamily="34" charset="0"/>
              </a:rPr>
              <a:t>.</a:t>
            </a:r>
            <a:br>
              <a:rPr lang="es-CO" dirty="0">
                <a:solidFill>
                  <a:schemeClr val="accent1"/>
                </a:solidFill>
                <a:latin typeface="Century Gothic" panose="020B0502020202020204" pitchFamily="34" charset="0"/>
              </a:rPr>
            </a:br>
            <a:r>
              <a:rPr lang="es-CO" dirty="0">
                <a:solidFill>
                  <a:schemeClr val="accent1"/>
                </a:solidFill>
                <a:latin typeface="Century Gothic" panose="020B0502020202020204" pitchFamily="34" charset="0"/>
              </a:rPr>
              <a:t>Para ellos, la promesa estocástica de ganarse $450 COP en la bolsa vale exactamente lo mismo que ganarse </a:t>
            </a:r>
            <a:r>
              <a:rPr lang="es-CO" b="1" dirty="0">
                <a:solidFill>
                  <a:schemeClr val="accent1"/>
                </a:solidFill>
                <a:latin typeface="Century Gothic" panose="020B0502020202020204" pitchFamily="34" charset="0"/>
              </a:rPr>
              <a:t>$380 COP</a:t>
            </a:r>
            <a:r>
              <a:rPr lang="es-CO" dirty="0">
                <a:solidFill>
                  <a:schemeClr val="accent1"/>
                </a:solidFill>
                <a:latin typeface="Century Gothic" panose="020B0502020202020204" pitchFamily="34" charset="0"/>
              </a:rPr>
              <a:t> firmados en un contrato blindado.</a:t>
            </a:r>
          </a:p>
          <a:p>
            <a:endParaRPr lang="es-CO" dirty="0">
              <a:solidFill>
                <a:schemeClr val="accent1"/>
              </a:solidFill>
              <a:latin typeface="Century Gothic" panose="020B0502020202020204" pitchFamily="34" charset="0"/>
            </a:endParaRPr>
          </a:p>
          <a:p>
            <a:pPr marL="285750" lvl="0" indent="-285750">
              <a:buFont typeface="Arial" panose="020B0604020202020204" pitchFamily="34" charset="0"/>
              <a:buChar char="•"/>
            </a:pPr>
            <a:r>
              <a:rPr lang="es-CO" b="1" dirty="0">
                <a:solidFill>
                  <a:schemeClr val="accent1"/>
                </a:solidFill>
                <a:latin typeface="Century Gothic" panose="020B0502020202020204" pitchFamily="34" charset="0"/>
              </a:rPr>
              <a:t>VEM:</a:t>
            </a:r>
            <a:r>
              <a:rPr lang="es-CO" dirty="0">
                <a:solidFill>
                  <a:schemeClr val="accent1"/>
                </a:solidFill>
                <a:latin typeface="Century Gothic" panose="020B0502020202020204" pitchFamily="34" charset="0"/>
              </a:rPr>
              <a:t> $450</a:t>
            </a:r>
          </a:p>
          <a:p>
            <a:pPr marL="285750" lvl="0" indent="-285750">
              <a:buFont typeface="Arial" panose="020B0604020202020204" pitchFamily="34" charset="0"/>
              <a:buChar char="•"/>
            </a:pPr>
            <a:endParaRPr lang="es-CO" b="1" dirty="0">
              <a:solidFill>
                <a:schemeClr val="accent1"/>
              </a:solidFill>
              <a:latin typeface="Century Gothic" panose="020B0502020202020204" pitchFamily="34" charset="0"/>
            </a:endParaRPr>
          </a:p>
          <a:p>
            <a:pPr marL="285750" lvl="0" indent="-285750">
              <a:buFont typeface="Arial" panose="020B0604020202020204" pitchFamily="34" charset="0"/>
              <a:buChar char="•"/>
            </a:pPr>
            <a:r>
              <a:rPr lang="es-CO" b="1" dirty="0">
                <a:solidFill>
                  <a:schemeClr val="accent1"/>
                </a:solidFill>
                <a:latin typeface="Century Gothic" panose="020B0502020202020204" pitchFamily="34" charset="0"/>
              </a:rPr>
              <a:t>EMC:</a:t>
            </a:r>
            <a:r>
              <a:rPr lang="es-CO" dirty="0">
                <a:solidFill>
                  <a:schemeClr val="accent1"/>
                </a:solidFill>
                <a:latin typeface="Century Gothic" panose="020B0502020202020204" pitchFamily="34" charset="0"/>
              </a:rPr>
              <a:t> $380</a:t>
            </a:r>
          </a:p>
          <a:p>
            <a:pPr marL="285750" lvl="0" indent="-285750">
              <a:buFont typeface="Arial" panose="020B0604020202020204" pitchFamily="34" charset="0"/>
              <a:buChar char="•"/>
            </a:pPr>
            <a:endParaRPr lang="es-CO" b="1" dirty="0">
              <a:solidFill>
                <a:schemeClr val="accent1"/>
              </a:solidFill>
              <a:latin typeface="Century Gothic" panose="020B0502020202020204" pitchFamily="34" charset="0"/>
            </a:endParaRPr>
          </a:p>
          <a:p>
            <a:pPr marL="285750" lvl="0" indent="-285750">
              <a:buFont typeface="Arial" panose="020B0604020202020204" pitchFamily="34" charset="0"/>
              <a:buChar char="•"/>
            </a:pPr>
            <a:r>
              <a:rPr lang="es-CO" b="1" dirty="0">
                <a:solidFill>
                  <a:schemeClr val="accent1"/>
                </a:solidFill>
                <a:latin typeface="Century Gothic" panose="020B0502020202020204" pitchFamily="34" charset="0"/>
              </a:rPr>
              <a:t>Prima por Riesgo:</a:t>
            </a:r>
            <a:r>
              <a:rPr lang="es-CO" dirty="0">
                <a:solidFill>
                  <a:schemeClr val="accent1"/>
                </a:solidFill>
                <a:latin typeface="Century Gothic" panose="020B0502020202020204" pitchFamily="34" charset="0"/>
              </a:rPr>
              <a:t> $70 COP/kWh. (Ese es el costo de trasladarle el riesgo a Bavaria).</a:t>
            </a:r>
          </a:p>
          <a:p>
            <a:pPr algn="just">
              <a:spcBef>
                <a:spcPct val="20000"/>
              </a:spcBef>
            </a:pPr>
            <a:endParaRPr lang="es-ES" sz="2000" dirty="0">
              <a:cs typeface="Avenir Book"/>
            </a:endParaRPr>
          </a:p>
        </p:txBody>
      </p:sp>
      <p:sp>
        <p:nvSpPr>
          <p:cNvPr id="2" name="Rectángulo 1">
            <a:extLst>
              <a:ext uri="{FF2B5EF4-FFF2-40B4-BE49-F238E27FC236}">
                <a16:creationId xmlns:a16="http://schemas.microsoft.com/office/drawing/2014/main" id="{4D1E282C-996E-14DE-BA96-058036C1A22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3" name="Picture 2" descr="Clientes y aliados | Centro de Evaluación | Uniandes">
            <a:extLst>
              <a:ext uri="{FF2B5EF4-FFF2-40B4-BE49-F238E27FC236}">
                <a16:creationId xmlns:a16="http://schemas.microsoft.com/office/drawing/2014/main" id="{1C6A9A4A-66D7-2F31-57C7-F11807A93C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285CE109-2194-6195-095F-518F3DCC6A5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9" name="Title 1">
            <a:extLst>
              <a:ext uri="{FF2B5EF4-FFF2-40B4-BE49-F238E27FC236}">
                <a16:creationId xmlns:a16="http://schemas.microsoft.com/office/drawing/2014/main" id="{FDADC403-271B-E571-3A21-2D047F7B8B92}"/>
              </a:ext>
            </a:extLst>
          </p:cNvPr>
          <p:cNvSpPr>
            <a:spLocks noGrp="1"/>
          </p:cNvSpPr>
          <p:nvPr>
            <p:ph type="title"/>
          </p:nvPr>
        </p:nvSpPr>
        <p:spPr>
          <a:xfrm>
            <a:off x="581192" y="702156"/>
            <a:ext cx="11029616" cy="1013800"/>
          </a:xfrm>
        </p:spPr>
        <p:txBody>
          <a:bodyPr/>
          <a:lstStyle/>
          <a:p>
            <a:r>
              <a:rPr lang="es-ES_tradnl" dirty="0">
                <a:latin typeface="Century Gothic" panose="020B0502020202020204" pitchFamily="34" charset="0"/>
              </a:rPr>
              <a:t>Tolerancia al riesgo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27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27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427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upo 2">
            <a:extLst>
              <a:ext uri="{FF2B5EF4-FFF2-40B4-BE49-F238E27FC236}">
                <a16:creationId xmlns:a16="http://schemas.microsoft.com/office/drawing/2014/main" id="{02BE63DE-3415-254C-A517-93A1488048ED}"/>
              </a:ext>
            </a:extLst>
          </p:cNvPr>
          <p:cNvGrpSpPr/>
          <p:nvPr/>
        </p:nvGrpSpPr>
        <p:grpSpPr>
          <a:xfrm>
            <a:off x="1415433" y="2002175"/>
            <a:ext cx="9364861" cy="4470268"/>
            <a:chOff x="107950" y="1700213"/>
            <a:chExt cx="8856663" cy="5554455"/>
          </a:xfrm>
        </p:grpSpPr>
        <p:sp>
          <p:nvSpPr>
            <p:cNvPr id="56322" name="Rectangle 3"/>
            <p:cNvSpPr>
              <a:spLocks/>
            </p:cNvSpPr>
            <p:nvPr/>
          </p:nvSpPr>
          <p:spPr bwMode="auto">
            <a:xfrm>
              <a:off x="107950" y="1711325"/>
              <a:ext cx="1906588" cy="810735"/>
            </a:xfrm>
            <a:prstGeom prst="rect">
              <a:avLst/>
            </a:prstGeom>
            <a:solidFill>
              <a:srgbClr val="4C9DA8"/>
            </a:solidFill>
            <a:ln>
              <a:headEnd/>
              <a:tailEnd/>
            </a:ln>
          </p:spPr>
          <p:style>
            <a:lnRef idx="0">
              <a:schemeClr val="accent3"/>
            </a:lnRef>
            <a:fillRef idx="3">
              <a:schemeClr val="accent3"/>
            </a:fillRef>
            <a:effectRef idx="3">
              <a:schemeClr val="accent3"/>
            </a:effectRef>
            <a:fontRef idx="minor">
              <a:schemeClr val="lt1"/>
            </a:fontRef>
          </p:style>
          <p:txBody>
            <a:bodyPr>
              <a:spAutoFit/>
            </a:bodyPr>
            <a:lstStyle/>
            <a:p>
              <a:pPr algn="ctr" defTabSz="832104">
                <a:spcBef>
                  <a:spcPct val="20000"/>
                </a:spcBef>
              </a:pPr>
              <a:r>
                <a:rPr lang="es-ES" sz="1820" b="1">
                  <a:latin typeface="Century Gothic" panose="020B0502020202020204" pitchFamily="34" charset="0"/>
                </a:rPr>
                <a:t>Propenso al Riesgo</a:t>
              </a:r>
              <a:r>
                <a:rPr lang="es-ES" sz="1820">
                  <a:latin typeface="Century Gothic" panose="020B0502020202020204" pitchFamily="34" charset="0"/>
                </a:rPr>
                <a:t> </a:t>
              </a:r>
              <a:endParaRPr lang="es-ES" sz="2000">
                <a:latin typeface="Century Gothic" panose="020B0502020202020204" pitchFamily="34" charset="0"/>
                <a:cs typeface="Avenir Book"/>
              </a:endParaRPr>
            </a:p>
          </p:txBody>
        </p:sp>
        <p:sp>
          <p:nvSpPr>
            <p:cNvPr id="56323" name="AutoShape 5"/>
            <p:cNvSpPr>
              <a:spLocks noChangeArrowheads="1"/>
            </p:cNvSpPr>
            <p:nvPr/>
          </p:nvSpPr>
          <p:spPr bwMode="auto">
            <a:xfrm>
              <a:off x="2247900" y="1770063"/>
              <a:ext cx="1079500" cy="771525"/>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ln>
              <a:headEnd/>
              <a:tailEnd/>
            </a:ln>
          </p:spPr>
          <p:style>
            <a:lnRef idx="2">
              <a:schemeClr val="accent2"/>
            </a:lnRef>
            <a:fillRef idx="1">
              <a:schemeClr val="lt1"/>
            </a:fillRef>
            <a:effectRef idx="0">
              <a:schemeClr val="accent2"/>
            </a:effectRef>
            <a:fontRef idx="minor">
              <a:schemeClr val="dk1"/>
            </a:fontRef>
          </p:style>
          <p:txBody>
            <a:bodyPr wrap="none" anchor="ctr"/>
            <a:lstStyle/>
            <a:p>
              <a:endParaRPr lang="en-US" sz="1600">
                <a:latin typeface="Century Gothic" panose="020B0502020202020204" pitchFamily="34" charset="0"/>
                <a:cs typeface="Avenir Book"/>
              </a:endParaRPr>
            </a:p>
          </p:txBody>
        </p:sp>
        <p:sp>
          <p:nvSpPr>
            <p:cNvPr id="56324" name="Rectangle 7"/>
            <p:cNvSpPr>
              <a:spLocks/>
            </p:cNvSpPr>
            <p:nvPr/>
          </p:nvSpPr>
          <p:spPr bwMode="auto">
            <a:xfrm>
              <a:off x="3455988" y="1700213"/>
              <a:ext cx="2016125" cy="880368"/>
            </a:xfrm>
            <a:prstGeom prst="rect">
              <a:avLst/>
            </a:prstGeom>
            <a:solidFill>
              <a:srgbClr val="4C9DA8"/>
            </a:solidFill>
            <a:ln>
              <a:headEnd/>
              <a:tailEnd/>
            </a:ln>
          </p:spPr>
          <p:style>
            <a:lnRef idx="0">
              <a:schemeClr val="accent3"/>
            </a:lnRef>
            <a:fillRef idx="3">
              <a:schemeClr val="accent3"/>
            </a:fillRef>
            <a:effectRef idx="3">
              <a:schemeClr val="accent3"/>
            </a:effectRef>
            <a:fontRef idx="minor">
              <a:schemeClr val="lt1"/>
            </a:fontRef>
          </p:style>
          <p:txBody>
            <a:bodyPr>
              <a:spAutoFit/>
            </a:bodyPr>
            <a:lstStyle/>
            <a:p>
              <a:pPr algn="ctr" defTabSz="832104">
                <a:spcBef>
                  <a:spcPct val="20000"/>
                </a:spcBef>
              </a:pPr>
              <a:r>
                <a:rPr lang="es-ES" sz="1820" b="1">
                  <a:latin typeface="Century Gothic" panose="020B0502020202020204" pitchFamily="34" charset="0"/>
                </a:rPr>
                <a:t>EMC &gt; VEM</a:t>
              </a:r>
            </a:p>
            <a:p>
              <a:pPr algn="ctr" defTabSz="832104">
                <a:spcBef>
                  <a:spcPct val="20000"/>
                </a:spcBef>
              </a:pPr>
              <a:r>
                <a:rPr lang="es-ES" sz="1820" b="1">
                  <a:latin typeface="Century Gothic" panose="020B0502020202020204" pitchFamily="34" charset="0"/>
                </a:rPr>
                <a:t>PPR &lt; 0</a:t>
              </a:r>
              <a:endParaRPr lang="es-ES" sz="2000">
                <a:latin typeface="Century Gothic" panose="020B0502020202020204" pitchFamily="34" charset="0"/>
                <a:cs typeface="Avenir Book"/>
              </a:endParaRPr>
            </a:p>
          </p:txBody>
        </p:sp>
        <p:sp>
          <p:nvSpPr>
            <p:cNvPr id="60426" name="Rectangle 10"/>
            <p:cNvSpPr>
              <a:spLocks/>
            </p:cNvSpPr>
            <p:nvPr/>
          </p:nvSpPr>
          <p:spPr bwMode="auto">
            <a:xfrm>
              <a:off x="107950" y="3395662"/>
              <a:ext cx="1906588" cy="810735"/>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a:spAutoFit/>
            </a:bodyPr>
            <a:lstStyle/>
            <a:p>
              <a:pPr algn="ctr" defTabSz="832104">
                <a:spcBef>
                  <a:spcPct val="20000"/>
                </a:spcBef>
              </a:pPr>
              <a:r>
                <a:rPr lang="es-ES" sz="1820">
                  <a:ln w="0"/>
                  <a:solidFill>
                    <a:schemeClr val="bg1"/>
                  </a:solidFill>
                  <a:effectLst>
                    <a:outerShdw blurRad="38100" dist="19050" dir="2700000" algn="tl" rotWithShape="0">
                      <a:schemeClr val="dk1">
                        <a:alpha val="40000"/>
                      </a:schemeClr>
                    </a:outerShdw>
                  </a:effectLst>
                  <a:latin typeface="Century Gothic" panose="020B0502020202020204" pitchFamily="34" charset="0"/>
                </a:rPr>
                <a:t>Neutral al Riesgo </a:t>
              </a:r>
              <a:endParaRPr lang="es-ES" sz="2000">
                <a:ln w="0"/>
                <a:solidFill>
                  <a:schemeClr val="bg1"/>
                </a:solidFill>
                <a:effectLst>
                  <a:outerShdw blurRad="38100" dist="19050" dir="2700000" algn="tl" rotWithShape="0">
                    <a:schemeClr val="dk1">
                      <a:alpha val="40000"/>
                    </a:schemeClr>
                  </a:outerShdw>
                </a:effectLst>
                <a:latin typeface="Century Gothic" panose="020B0502020202020204" pitchFamily="34" charset="0"/>
                <a:cs typeface="Avenir Book"/>
              </a:endParaRPr>
            </a:p>
          </p:txBody>
        </p:sp>
        <p:sp>
          <p:nvSpPr>
            <p:cNvPr id="60427" name="AutoShape 11"/>
            <p:cNvSpPr>
              <a:spLocks noChangeArrowheads="1"/>
            </p:cNvSpPr>
            <p:nvPr/>
          </p:nvSpPr>
          <p:spPr bwMode="auto">
            <a:xfrm>
              <a:off x="2247900" y="3454400"/>
              <a:ext cx="1079500" cy="771525"/>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ln>
              <a:headEnd/>
              <a:tailEnd/>
            </a:ln>
          </p:spPr>
          <p:style>
            <a:lnRef idx="2">
              <a:schemeClr val="accent2"/>
            </a:lnRef>
            <a:fillRef idx="1">
              <a:schemeClr val="lt1"/>
            </a:fillRef>
            <a:effectRef idx="0">
              <a:schemeClr val="accent2"/>
            </a:effectRef>
            <a:fontRef idx="minor">
              <a:schemeClr val="dk1"/>
            </a:fontRef>
          </p:style>
          <p:txBody>
            <a:bodyPr wrap="none" anchor="ctr"/>
            <a:lstStyle/>
            <a:p>
              <a:endParaRPr lang="en-US" sz="1600">
                <a:latin typeface="Century Gothic" panose="020B0502020202020204" pitchFamily="34" charset="0"/>
                <a:cs typeface="Avenir Book"/>
              </a:endParaRPr>
            </a:p>
          </p:txBody>
        </p:sp>
        <p:sp>
          <p:nvSpPr>
            <p:cNvPr id="60429" name="Rectangle 13"/>
            <p:cNvSpPr>
              <a:spLocks/>
            </p:cNvSpPr>
            <p:nvPr/>
          </p:nvSpPr>
          <p:spPr bwMode="auto">
            <a:xfrm>
              <a:off x="3455988" y="3355975"/>
              <a:ext cx="2016125" cy="880368"/>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a:spAutoFit/>
            </a:bodyPr>
            <a:lstStyle/>
            <a:p>
              <a:pPr algn="ctr" defTabSz="832104">
                <a:spcBef>
                  <a:spcPct val="20000"/>
                </a:spcBef>
              </a:pPr>
              <a:r>
                <a:rPr lang="es-ES" sz="1820">
                  <a:ln w="0"/>
                  <a:solidFill>
                    <a:schemeClr val="bg1"/>
                  </a:solidFill>
                  <a:effectLst>
                    <a:outerShdw blurRad="38100" dist="19050" dir="2700000" algn="tl" rotWithShape="0">
                      <a:schemeClr val="dk1">
                        <a:alpha val="40000"/>
                      </a:schemeClr>
                    </a:outerShdw>
                  </a:effectLst>
                  <a:latin typeface="Century Gothic" panose="020B0502020202020204" pitchFamily="34" charset="0"/>
                </a:rPr>
                <a:t>EMC = VEM</a:t>
              </a:r>
            </a:p>
            <a:p>
              <a:pPr algn="ctr" defTabSz="832104">
                <a:spcBef>
                  <a:spcPct val="20000"/>
                </a:spcBef>
              </a:pPr>
              <a:r>
                <a:rPr lang="es-ES" sz="1820">
                  <a:ln w="0"/>
                  <a:solidFill>
                    <a:schemeClr val="bg1"/>
                  </a:solidFill>
                  <a:effectLst>
                    <a:outerShdw blurRad="38100" dist="19050" dir="2700000" algn="tl" rotWithShape="0">
                      <a:schemeClr val="dk1">
                        <a:alpha val="40000"/>
                      </a:schemeClr>
                    </a:outerShdw>
                  </a:effectLst>
                  <a:latin typeface="Century Gothic" panose="020B0502020202020204" pitchFamily="34" charset="0"/>
                </a:rPr>
                <a:t>PPR = 0</a:t>
              </a:r>
              <a:endParaRPr lang="es-ES" sz="2000">
                <a:ln w="0"/>
                <a:solidFill>
                  <a:schemeClr val="bg1"/>
                </a:solidFill>
                <a:effectLst>
                  <a:outerShdw blurRad="38100" dist="19050" dir="2700000" algn="tl" rotWithShape="0">
                    <a:schemeClr val="dk1">
                      <a:alpha val="40000"/>
                    </a:schemeClr>
                  </a:outerShdw>
                </a:effectLst>
                <a:latin typeface="Century Gothic" panose="020B0502020202020204" pitchFamily="34" charset="0"/>
                <a:cs typeface="Avenir Book"/>
              </a:endParaRPr>
            </a:p>
          </p:txBody>
        </p:sp>
        <p:sp>
          <p:nvSpPr>
            <p:cNvPr id="60431" name="Rectangle 15"/>
            <p:cNvSpPr>
              <a:spLocks/>
            </p:cNvSpPr>
            <p:nvPr/>
          </p:nvSpPr>
          <p:spPr bwMode="auto">
            <a:xfrm>
              <a:off x="107950" y="5010149"/>
              <a:ext cx="1906588" cy="810735"/>
            </a:xfrm>
            <a:prstGeom prst="rect">
              <a:avLst/>
            </a:prstGeom>
            <a:solidFill>
              <a:schemeClr val="bg2">
                <a:lumMod val="50000"/>
              </a:schemeClr>
            </a:solidFill>
            <a:ln>
              <a:headEnd/>
              <a:tailEnd/>
            </a:ln>
          </p:spPr>
          <p:style>
            <a:lnRef idx="1">
              <a:schemeClr val="accent5"/>
            </a:lnRef>
            <a:fillRef idx="3">
              <a:schemeClr val="accent5"/>
            </a:fillRef>
            <a:effectRef idx="2">
              <a:schemeClr val="accent5"/>
            </a:effectRef>
            <a:fontRef idx="minor">
              <a:schemeClr val="lt1"/>
            </a:fontRef>
          </p:style>
          <p:txBody>
            <a:bodyPr>
              <a:spAutoFit/>
            </a:bodyPr>
            <a:lstStyle/>
            <a:p>
              <a:pPr algn="ctr" defTabSz="832104">
                <a:spcBef>
                  <a:spcPct val="20000"/>
                </a:spcBef>
              </a:pPr>
              <a:r>
                <a:rPr lang="es-ES" sz="1820" b="1" err="1">
                  <a:latin typeface="Century Gothic" panose="020B0502020202020204" pitchFamily="34" charset="0"/>
                </a:rPr>
                <a:t>Averso</a:t>
              </a:r>
              <a:r>
                <a:rPr lang="es-ES" sz="1820" b="1">
                  <a:latin typeface="Century Gothic" panose="020B0502020202020204" pitchFamily="34" charset="0"/>
                </a:rPr>
                <a:t> al Riesgo</a:t>
              </a:r>
              <a:r>
                <a:rPr lang="es-ES" sz="1820">
                  <a:latin typeface="Century Gothic" panose="020B0502020202020204" pitchFamily="34" charset="0"/>
                </a:rPr>
                <a:t> </a:t>
              </a:r>
              <a:endParaRPr lang="es-ES" sz="2000">
                <a:latin typeface="Century Gothic" panose="020B0502020202020204" pitchFamily="34" charset="0"/>
                <a:cs typeface="Avenir Book"/>
              </a:endParaRPr>
            </a:p>
          </p:txBody>
        </p:sp>
        <p:sp>
          <p:nvSpPr>
            <p:cNvPr id="60432" name="AutoShape 16"/>
            <p:cNvSpPr>
              <a:spLocks noChangeArrowheads="1"/>
            </p:cNvSpPr>
            <p:nvPr/>
          </p:nvSpPr>
          <p:spPr bwMode="auto">
            <a:xfrm>
              <a:off x="2247900" y="5068888"/>
              <a:ext cx="1079500" cy="771525"/>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ln>
              <a:headEnd/>
              <a:tailEnd/>
            </a:ln>
          </p:spPr>
          <p:style>
            <a:lnRef idx="2">
              <a:schemeClr val="accent2"/>
            </a:lnRef>
            <a:fillRef idx="1">
              <a:schemeClr val="lt1"/>
            </a:fillRef>
            <a:effectRef idx="0">
              <a:schemeClr val="accent2"/>
            </a:effectRef>
            <a:fontRef idx="minor">
              <a:schemeClr val="dk1"/>
            </a:fontRef>
          </p:style>
          <p:txBody>
            <a:bodyPr wrap="none" anchor="ctr"/>
            <a:lstStyle/>
            <a:p>
              <a:endParaRPr lang="en-US" sz="1600">
                <a:latin typeface="Century Gothic" panose="020B0502020202020204" pitchFamily="34" charset="0"/>
                <a:cs typeface="Avenir Book"/>
              </a:endParaRPr>
            </a:p>
          </p:txBody>
        </p:sp>
        <p:sp>
          <p:nvSpPr>
            <p:cNvPr id="60434" name="Rectangle 18"/>
            <p:cNvSpPr>
              <a:spLocks/>
            </p:cNvSpPr>
            <p:nvPr/>
          </p:nvSpPr>
          <p:spPr bwMode="auto">
            <a:xfrm>
              <a:off x="3455988" y="5011737"/>
              <a:ext cx="2016125" cy="880368"/>
            </a:xfrm>
            <a:prstGeom prst="rect">
              <a:avLst/>
            </a:prstGeom>
            <a:solidFill>
              <a:schemeClr val="bg2">
                <a:lumMod val="50000"/>
              </a:schemeClr>
            </a:solidFill>
            <a:ln>
              <a:headEnd/>
              <a:tailEnd/>
            </a:ln>
          </p:spPr>
          <p:style>
            <a:lnRef idx="1">
              <a:schemeClr val="accent5"/>
            </a:lnRef>
            <a:fillRef idx="3">
              <a:schemeClr val="accent5"/>
            </a:fillRef>
            <a:effectRef idx="2">
              <a:schemeClr val="accent5"/>
            </a:effectRef>
            <a:fontRef idx="minor">
              <a:schemeClr val="lt1"/>
            </a:fontRef>
          </p:style>
          <p:txBody>
            <a:bodyPr>
              <a:spAutoFit/>
            </a:bodyPr>
            <a:lstStyle/>
            <a:p>
              <a:pPr algn="ctr" defTabSz="832104">
                <a:spcBef>
                  <a:spcPct val="20000"/>
                </a:spcBef>
              </a:pPr>
              <a:r>
                <a:rPr lang="es-ES" sz="1820" b="1">
                  <a:latin typeface="Century Gothic" panose="020B0502020202020204" pitchFamily="34" charset="0"/>
                </a:rPr>
                <a:t>EMC &lt; VEM</a:t>
              </a:r>
            </a:p>
            <a:p>
              <a:pPr algn="ctr" defTabSz="832104">
                <a:spcBef>
                  <a:spcPct val="20000"/>
                </a:spcBef>
              </a:pPr>
              <a:r>
                <a:rPr lang="es-ES" sz="1820" b="1">
                  <a:latin typeface="Century Gothic" panose="020B0502020202020204" pitchFamily="34" charset="0"/>
                </a:rPr>
                <a:t>PPR &gt; 0</a:t>
              </a:r>
              <a:endParaRPr lang="es-ES" sz="2000">
                <a:latin typeface="Century Gothic" panose="020B0502020202020204" pitchFamily="34" charset="0"/>
                <a:cs typeface="Avenir Book"/>
              </a:endParaRPr>
            </a:p>
          </p:txBody>
        </p:sp>
        <p:sp>
          <p:nvSpPr>
            <p:cNvPr id="56331" name="Rectangle 20"/>
            <p:cNvSpPr>
              <a:spLocks noChangeArrowheads="1"/>
            </p:cNvSpPr>
            <p:nvPr/>
          </p:nvSpPr>
          <p:spPr bwMode="auto">
            <a:xfrm>
              <a:off x="159544" y="6322274"/>
              <a:ext cx="4176713" cy="9323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defTabSz="832104">
                <a:spcAft>
                  <a:spcPts val="600"/>
                </a:spcAft>
              </a:pPr>
              <a:r>
                <a:rPr lang="es-ES" sz="1092" b="1">
                  <a:latin typeface="Century Gothic" panose="020B0502020202020204" pitchFamily="34" charset="0"/>
                </a:rPr>
                <a:t>EMC: Equivalente Monetario Cierto</a:t>
              </a:r>
            </a:p>
            <a:p>
              <a:pPr defTabSz="832104">
                <a:spcAft>
                  <a:spcPts val="600"/>
                </a:spcAft>
              </a:pPr>
              <a:r>
                <a:rPr lang="es-ES" sz="1092" b="1">
                  <a:latin typeface="Century Gothic" panose="020B0502020202020204" pitchFamily="34" charset="0"/>
                </a:rPr>
                <a:t>VEM: Valor Esperado Monetario</a:t>
              </a:r>
            </a:p>
            <a:p>
              <a:pPr defTabSz="832104">
                <a:spcAft>
                  <a:spcPts val="600"/>
                </a:spcAft>
              </a:pPr>
              <a:r>
                <a:rPr lang="es-ES" sz="1092" b="1">
                  <a:latin typeface="Century Gothic" panose="020B0502020202020204" pitchFamily="34" charset="0"/>
                </a:rPr>
                <a:t>PPR: Prima por riesgo</a:t>
              </a:r>
              <a:endParaRPr lang="es-ES" sz="1200" b="1">
                <a:latin typeface="Century Gothic" panose="020B0502020202020204" pitchFamily="34" charset="0"/>
                <a:cs typeface="Avenir Book"/>
              </a:endParaRPr>
            </a:p>
          </p:txBody>
        </p:sp>
        <p:sp>
          <p:nvSpPr>
            <p:cNvPr id="56332" name="AutoShape 23"/>
            <p:cNvSpPr>
              <a:spLocks noChangeArrowheads="1"/>
            </p:cNvSpPr>
            <p:nvPr/>
          </p:nvSpPr>
          <p:spPr bwMode="auto">
            <a:xfrm>
              <a:off x="5724525" y="1770063"/>
              <a:ext cx="1079500" cy="771525"/>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ln>
              <a:headEnd/>
              <a:tailEnd/>
            </a:ln>
          </p:spPr>
          <p:style>
            <a:lnRef idx="2">
              <a:schemeClr val="accent2"/>
            </a:lnRef>
            <a:fillRef idx="1">
              <a:schemeClr val="lt1"/>
            </a:fillRef>
            <a:effectRef idx="0">
              <a:schemeClr val="accent2"/>
            </a:effectRef>
            <a:fontRef idx="minor">
              <a:schemeClr val="dk1"/>
            </a:fontRef>
          </p:style>
          <p:txBody>
            <a:bodyPr wrap="none" anchor="ctr"/>
            <a:lstStyle/>
            <a:p>
              <a:endParaRPr lang="en-US" sz="1600">
                <a:latin typeface="Century Gothic" panose="020B0502020202020204" pitchFamily="34" charset="0"/>
                <a:cs typeface="Avenir Book"/>
              </a:endParaRPr>
            </a:p>
          </p:txBody>
        </p:sp>
        <p:sp>
          <p:nvSpPr>
            <p:cNvPr id="56333" name="Rectangle 24"/>
            <p:cNvSpPr>
              <a:spLocks/>
            </p:cNvSpPr>
            <p:nvPr/>
          </p:nvSpPr>
          <p:spPr bwMode="auto">
            <a:xfrm>
              <a:off x="6948488" y="1770063"/>
              <a:ext cx="2016125" cy="671470"/>
            </a:xfrm>
            <a:prstGeom prst="rect">
              <a:avLst/>
            </a:prstGeom>
            <a:solidFill>
              <a:srgbClr val="4C9DA8"/>
            </a:solidFill>
            <a:ln>
              <a:headEnd/>
              <a:tailEnd/>
            </a:ln>
          </p:spPr>
          <p:style>
            <a:lnRef idx="0">
              <a:schemeClr val="accent3"/>
            </a:lnRef>
            <a:fillRef idx="3">
              <a:schemeClr val="accent3"/>
            </a:fillRef>
            <a:effectRef idx="3">
              <a:schemeClr val="accent3"/>
            </a:effectRef>
            <a:fontRef idx="minor">
              <a:schemeClr val="lt1"/>
            </a:fontRef>
          </p:style>
          <p:txBody>
            <a:bodyPr>
              <a:spAutoFit/>
            </a:bodyPr>
            <a:lstStyle/>
            <a:p>
              <a:pPr algn="ctr" defTabSz="832104">
                <a:spcBef>
                  <a:spcPct val="20000"/>
                </a:spcBef>
              </a:pPr>
              <a:r>
                <a:rPr lang="es-ES" sz="1456" b="1">
                  <a:latin typeface="Century Gothic" panose="020B0502020202020204" pitchFamily="34" charset="0"/>
                </a:rPr>
                <a:t>Pagan por tomar riesgo</a:t>
              </a:r>
              <a:endParaRPr lang="es-ES" sz="1600">
                <a:latin typeface="Century Gothic" panose="020B0502020202020204" pitchFamily="34" charset="0"/>
                <a:cs typeface="Avenir Book"/>
              </a:endParaRPr>
            </a:p>
          </p:txBody>
        </p:sp>
        <p:sp>
          <p:nvSpPr>
            <p:cNvPr id="60441" name="AutoShape 25"/>
            <p:cNvSpPr>
              <a:spLocks noChangeArrowheads="1"/>
            </p:cNvSpPr>
            <p:nvPr/>
          </p:nvSpPr>
          <p:spPr bwMode="auto">
            <a:xfrm>
              <a:off x="5724525" y="3454400"/>
              <a:ext cx="1079500" cy="771525"/>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ln>
              <a:headEnd/>
              <a:tailEnd/>
            </a:ln>
          </p:spPr>
          <p:style>
            <a:lnRef idx="2">
              <a:schemeClr val="accent2"/>
            </a:lnRef>
            <a:fillRef idx="1">
              <a:schemeClr val="lt1"/>
            </a:fillRef>
            <a:effectRef idx="0">
              <a:schemeClr val="accent2"/>
            </a:effectRef>
            <a:fontRef idx="minor">
              <a:schemeClr val="dk1"/>
            </a:fontRef>
          </p:style>
          <p:txBody>
            <a:bodyPr wrap="none" anchor="ctr"/>
            <a:lstStyle/>
            <a:p>
              <a:endParaRPr lang="en-US" sz="1600">
                <a:latin typeface="Century Gothic" panose="020B0502020202020204" pitchFamily="34" charset="0"/>
                <a:cs typeface="Avenir Book"/>
              </a:endParaRPr>
            </a:p>
          </p:txBody>
        </p:sp>
        <p:sp>
          <p:nvSpPr>
            <p:cNvPr id="60442" name="Rectangle 26"/>
            <p:cNvSpPr>
              <a:spLocks/>
            </p:cNvSpPr>
            <p:nvPr/>
          </p:nvSpPr>
          <p:spPr bwMode="auto">
            <a:xfrm>
              <a:off x="6932613" y="3570287"/>
              <a:ext cx="2016125" cy="671470"/>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a:spAutoFit/>
            </a:bodyPr>
            <a:lstStyle/>
            <a:p>
              <a:pPr algn="ctr" defTabSz="832104">
                <a:spcBef>
                  <a:spcPct val="20000"/>
                </a:spcBef>
              </a:pPr>
              <a:r>
                <a:rPr lang="es-ES" sz="1456">
                  <a:ln w="0"/>
                  <a:solidFill>
                    <a:schemeClr val="bg1"/>
                  </a:solidFill>
                  <a:effectLst>
                    <a:outerShdw blurRad="38100" dist="19050" dir="2700000" algn="tl" rotWithShape="0">
                      <a:schemeClr val="dk1">
                        <a:alpha val="40000"/>
                      </a:schemeClr>
                    </a:outerShdw>
                  </a:effectLst>
                  <a:latin typeface="Century Gothic" panose="020B0502020202020204" pitchFamily="34" charset="0"/>
                </a:rPr>
                <a:t>Indiferentes ante el riesgo</a:t>
              </a:r>
              <a:endParaRPr lang="es-ES" sz="1600">
                <a:ln w="0"/>
                <a:solidFill>
                  <a:schemeClr val="bg1"/>
                </a:solidFill>
                <a:effectLst>
                  <a:outerShdw blurRad="38100" dist="19050" dir="2700000" algn="tl" rotWithShape="0">
                    <a:schemeClr val="dk1">
                      <a:alpha val="40000"/>
                    </a:schemeClr>
                  </a:outerShdw>
                </a:effectLst>
                <a:latin typeface="Century Gothic" panose="020B0502020202020204" pitchFamily="34" charset="0"/>
                <a:cs typeface="Avenir Book"/>
              </a:endParaRPr>
            </a:p>
          </p:txBody>
        </p:sp>
        <p:sp>
          <p:nvSpPr>
            <p:cNvPr id="60443" name="AutoShape 27"/>
            <p:cNvSpPr>
              <a:spLocks noChangeArrowheads="1"/>
            </p:cNvSpPr>
            <p:nvPr/>
          </p:nvSpPr>
          <p:spPr bwMode="auto">
            <a:xfrm>
              <a:off x="5724525" y="5068888"/>
              <a:ext cx="1079500" cy="771525"/>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ln>
              <a:headEnd/>
              <a:tailEnd/>
            </a:ln>
          </p:spPr>
          <p:style>
            <a:lnRef idx="2">
              <a:schemeClr val="accent2"/>
            </a:lnRef>
            <a:fillRef idx="1">
              <a:schemeClr val="lt1"/>
            </a:fillRef>
            <a:effectRef idx="0">
              <a:schemeClr val="accent2"/>
            </a:effectRef>
            <a:fontRef idx="minor">
              <a:schemeClr val="dk1"/>
            </a:fontRef>
          </p:style>
          <p:txBody>
            <a:bodyPr wrap="none" anchor="ctr"/>
            <a:lstStyle/>
            <a:p>
              <a:endParaRPr lang="en-US" sz="1600">
                <a:latin typeface="Century Gothic" panose="020B0502020202020204" pitchFamily="34" charset="0"/>
                <a:cs typeface="Avenir Book"/>
              </a:endParaRPr>
            </a:p>
          </p:txBody>
        </p:sp>
        <p:sp>
          <p:nvSpPr>
            <p:cNvPr id="60444" name="Rectangle 28"/>
            <p:cNvSpPr>
              <a:spLocks/>
            </p:cNvSpPr>
            <p:nvPr/>
          </p:nvSpPr>
          <p:spPr bwMode="auto">
            <a:xfrm>
              <a:off x="6932613" y="5057775"/>
              <a:ext cx="2016125" cy="949842"/>
            </a:xfrm>
            <a:prstGeom prst="rect">
              <a:avLst/>
            </a:prstGeom>
            <a:solidFill>
              <a:schemeClr val="bg2">
                <a:lumMod val="50000"/>
              </a:schemeClr>
            </a:solidFill>
            <a:ln>
              <a:headEnd/>
              <a:tailEnd/>
            </a:ln>
          </p:spPr>
          <p:style>
            <a:lnRef idx="1">
              <a:schemeClr val="accent5"/>
            </a:lnRef>
            <a:fillRef idx="3">
              <a:schemeClr val="accent5"/>
            </a:fillRef>
            <a:effectRef idx="2">
              <a:schemeClr val="accent5"/>
            </a:effectRef>
            <a:fontRef idx="minor">
              <a:schemeClr val="lt1"/>
            </a:fontRef>
          </p:style>
          <p:txBody>
            <a:bodyPr>
              <a:spAutoFit/>
            </a:bodyPr>
            <a:lstStyle/>
            <a:p>
              <a:pPr algn="ctr" defTabSz="832104">
                <a:spcBef>
                  <a:spcPct val="20000"/>
                </a:spcBef>
              </a:pPr>
              <a:r>
                <a:rPr lang="es-ES" sz="1456" b="1">
                  <a:latin typeface="Century Gothic" panose="020B0502020202020204" pitchFamily="34" charset="0"/>
                </a:rPr>
                <a:t>Exigen compensación por tomar riesgo</a:t>
              </a:r>
              <a:endParaRPr lang="es-ES" sz="1600">
                <a:latin typeface="Century Gothic" panose="020B0502020202020204" pitchFamily="34" charset="0"/>
                <a:cs typeface="Avenir Book"/>
              </a:endParaRPr>
            </a:p>
          </p:txBody>
        </p:sp>
      </p:grpSp>
      <p:sp>
        <p:nvSpPr>
          <p:cNvPr id="2" name="Rectángulo 1">
            <a:extLst>
              <a:ext uri="{FF2B5EF4-FFF2-40B4-BE49-F238E27FC236}">
                <a16:creationId xmlns:a16="http://schemas.microsoft.com/office/drawing/2014/main" id="{D0EFCCEB-3C4B-A399-C2AF-A1C88769124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299ADA7B-424E-9F85-8D27-2455EF5898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FFEAE08B-A1B3-F374-0D3E-A140E1D5D62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8" name="Title 1">
            <a:extLst>
              <a:ext uri="{FF2B5EF4-FFF2-40B4-BE49-F238E27FC236}">
                <a16:creationId xmlns:a16="http://schemas.microsoft.com/office/drawing/2014/main" id="{BA6B4905-D8AC-05F1-7562-31CF8E484441}"/>
              </a:ext>
            </a:extLst>
          </p:cNvPr>
          <p:cNvSpPr>
            <a:spLocks noGrp="1"/>
          </p:cNvSpPr>
          <p:nvPr>
            <p:ph type="title"/>
          </p:nvPr>
        </p:nvSpPr>
        <p:spPr>
          <a:xfrm>
            <a:off x="581192" y="702156"/>
            <a:ext cx="11029616" cy="1013800"/>
          </a:xfrm>
        </p:spPr>
        <p:txBody>
          <a:bodyPr/>
          <a:lstStyle/>
          <a:p>
            <a:r>
              <a:rPr lang="es-ES_tradnl" dirty="0">
                <a:latin typeface="Century Gothic" panose="020B0502020202020204" pitchFamily="34" charset="0"/>
              </a:rPr>
              <a:t>Tolerancia al riesgo</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AC6B578-A406-069D-E566-87D539F8CFBF}"/>
              </a:ext>
            </a:extLst>
          </p:cNvPr>
          <p:cNvSpPr>
            <a:spLocks noGrp="1"/>
          </p:cNvSpPr>
          <p:nvPr>
            <p:ph type="title"/>
          </p:nvPr>
        </p:nvSpPr>
        <p:spPr/>
        <p:txBody>
          <a:bodyPr/>
          <a:lstStyle/>
          <a:p>
            <a:r>
              <a:rPr lang="es-ES_tradnl" dirty="0">
                <a:latin typeface="Century Gothic" panose="020B0502020202020204" pitchFamily="34" charset="0"/>
              </a:rPr>
              <a:t>Tolerancia al riesgo</a:t>
            </a:r>
          </a:p>
        </p:txBody>
      </p:sp>
      <p:sp>
        <p:nvSpPr>
          <p:cNvPr id="3" name="Content Placeholder 2"/>
          <p:cNvSpPr>
            <a:spLocks noGrp="1"/>
          </p:cNvSpPr>
          <p:nvPr>
            <p:ph idx="1"/>
          </p:nvPr>
        </p:nvSpPr>
        <p:spPr>
          <a:xfrm>
            <a:off x="581192" y="2277834"/>
            <a:ext cx="11029615" cy="3678303"/>
          </a:xfrm>
        </p:spPr>
        <p:txBody>
          <a:bodyPr>
            <a:noAutofit/>
          </a:bodyPr>
          <a:lstStyle/>
          <a:p>
            <a:pPr marL="0" indent="0" algn="just">
              <a:buNone/>
            </a:pPr>
            <a:r>
              <a:rPr lang="es-ES_tradnl" b="1" dirty="0">
                <a:solidFill>
                  <a:srgbClr val="D7A700"/>
                </a:solidFill>
                <a:latin typeface="Century Gothic" panose="020B0502020202020204" pitchFamily="34" charset="0"/>
              </a:rPr>
              <a:t>Ejemplo: </a:t>
            </a:r>
            <a:r>
              <a:rPr lang="es-ES_tradnl" dirty="0">
                <a:solidFill>
                  <a:schemeClr val="accent1"/>
                </a:solidFill>
                <a:latin typeface="Century Gothic" panose="020B0502020202020204" pitchFamily="34" charset="0"/>
              </a:rPr>
              <a:t>Suponga que en un juego de dos (2) personas donde se lanza un dado. </a:t>
            </a:r>
          </a:p>
          <a:p>
            <a:pPr marL="0" indent="0" algn="just">
              <a:buNone/>
            </a:pPr>
            <a:endParaRPr lang="es-ES_tradnl" dirty="0">
              <a:solidFill>
                <a:schemeClr val="accent1"/>
              </a:solidFill>
              <a:latin typeface="Century Gothic" panose="020B0502020202020204" pitchFamily="34" charset="0"/>
            </a:endParaRPr>
          </a:p>
          <a:p>
            <a:pPr lvl="1" algn="just"/>
            <a:r>
              <a:rPr lang="es-ES_tradnl" sz="1800" dirty="0">
                <a:solidFill>
                  <a:schemeClr val="accent1"/>
                </a:solidFill>
                <a:latin typeface="Century Gothic" panose="020B0502020202020204" pitchFamily="34" charset="0"/>
              </a:rPr>
              <a:t>Si cae 1, usted pierde el monto invertido</a:t>
            </a:r>
          </a:p>
          <a:p>
            <a:pPr lvl="1" algn="just"/>
            <a:r>
              <a:rPr lang="es-ES_tradnl" sz="1800" dirty="0">
                <a:solidFill>
                  <a:schemeClr val="accent1"/>
                </a:solidFill>
                <a:latin typeface="Century Gothic" panose="020B0502020202020204" pitchFamily="34" charset="0"/>
              </a:rPr>
              <a:t>Si cae 2 a 6, usted gana lo que invirtió su oponente.</a:t>
            </a:r>
          </a:p>
          <a:p>
            <a:pPr algn="just"/>
            <a:endParaRPr lang="es-ES_tradnl" dirty="0">
              <a:solidFill>
                <a:schemeClr val="accent1"/>
              </a:solidFill>
              <a:latin typeface="Century Gothic" panose="020B0502020202020204" pitchFamily="34" charset="0"/>
            </a:endParaRPr>
          </a:p>
          <a:p>
            <a:pPr marL="0" indent="0" algn="ctr">
              <a:buNone/>
            </a:pPr>
            <a:r>
              <a:rPr lang="es-ES_tradnl" b="1" dirty="0">
                <a:solidFill>
                  <a:srgbClr val="C00000"/>
                </a:solidFill>
                <a:latin typeface="Century Gothic" panose="020B0502020202020204" pitchFamily="34" charset="0"/>
              </a:rPr>
              <a:t>¿Cuál es la probabilidad de ganar el juego?</a:t>
            </a:r>
          </a:p>
          <a:p>
            <a:pPr marL="0" indent="0" algn="ctr">
              <a:buNone/>
            </a:pPr>
            <a:r>
              <a:rPr lang="es-ES_tradnl" dirty="0">
                <a:solidFill>
                  <a:schemeClr val="accent1"/>
                </a:solidFill>
                <a:latin typeface="Century Gothic" panose="020B0502020202020204" pitchFamily="34" charset="0"/>
              </a:rPr>
              <a:t>5/6 = 83,33%</a:t>
            </a:r>
          </a:p>
          <a:p>
            <a:pPr marL="0" indent="0" algn="ctr">
              <a:buNone/>
            </a:pPr>
            <a:r>
              <a:rPr lang="es-ES_tradnl" b="1" dirty="0">
                <a:solidFill>
                  <a:srgbClr val="C00000"/>
                </a:solidFill>
                <a:latin typeface="Century Gothic" panose="020B0502020202020204" pitchFamily="34" charset="0"/>
              </a:rPr>
              <a:t>¿Cuál es la probabilidad de perder el juego?</a:t>
            </a:r>
          </a:p>
          <a:p>
            <a:pPr marL="0" indent="0" algn="ctr">
              <a:buNone/>
            </a:pPr>
            <a:r>
              <a:rPr lang="es-ES_tradnl" dirty="0">
                <a:solidFill>
                  <a:schemeClr val="accent1"/>
                </a:solidFill>
                <a:latin typeface="Century Gothic" panose="020B0502020202020204" pitchFamily="34" charset="0"/>
              </a:rPr>
              <a:t>1/6 = 16,67%</a:t>
            </a:r>
          </a:p>
        </p:txBody>
      </p:sp>
      <p:sp>
        <p:nvSpPr>
          <p:cNvPr id="4" name="Slide Number Placeholder 3"/>
          <p:cNvSpPr>
            <a:spLocks noGrp="1"/>
          </p:cNvSpPr>
          <p:nvPr>
            <p:ph type="sldNum" sz="quarter" idx="12"/>
          </p:nvPr>
        </p:nvSpPr>
        <p:spPr/>
        <p:txBody>
          <a:bodyPr/>
          <a:lstStyle/>
          <a:p>
            <a:fld id="{5E3E23BA-6E79-2442-BA73-D218A5E297C3}" type="slidenum">
              <a:rPr lang="en-US" smtClean="0"/>
              <a:t>28</a:t>
            </a:fld>
            <a:endParaRPr lang="en-US"/>
          </a:p>
        </p:txBody>
      </p:sp>
      <p:sp>
        <p:nvSpPr>
          <p:cNvPr id="9" name="Rectángulo 8">
            <a:extLst>
              <a:ext uri="{FF2B5EF4-FFF2-40B4-BE49-F238E27FC236}">
                <a16:creationId xmlns:a16="http://schemas.microsoft.com/office/drawing/2014/main" id="{A93E47F2-E8CD-6C49-416B-AE3AD90BB50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F6432427-52DB-0C3C-B938-393A4132A0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Dados Silueta Negra Conjunto Iconos Dados Tradicionales Con Seis Caras  Vector de stock #448713362 de ©janista">
            <a:extLst>
              <a:ext uri="{FF2B5EF4-FFF2-40B4-BE49-F238E27FC236}">
                <a16:creationId xmlns:a16="http://schemas.microsoft.com/office/drawing/2014/main" id="{AF183669-A4EA-B226-A65A-04FC9F3AEA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21321" y="2906340"/>
            <a:ext cx="2144125" cy="2144125"/>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3C227E2D-1974-F331-13CD-BD4448E508D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570852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additive="base">
                                        <p:cTn id="1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checkerboard(across)">
                                      <p:cBhvr>
                                        <p:cTn id="23" dur="500"/>
                                        <p:tgtEl>
                                          <p:spTgt spid="3">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 calcmode="lin" valueType="num">
                                      <p:cBhvr additive="base">
                                        <p:cTn id="28"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5" presetClass="entr" presetSubtype="10" fill="hold" nodeType="click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checkerboard(across)">
                                      <p:cBhvr>
                                        <p:cTn id="34"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1403013F-964B-AA1E-A535-D6E55178F83F}"/>
              </a:ext>
            </a:extLst>
          </p:cNvPr>
          <p:cNvSpPr>
            <a:spLocks noGrp="1"/>
          </p:cNvSpPr>
          <p:nvPr>
            <p:ph type="title"/>
          </p:nvPr>
        </p:nvSpPr>
        <p:spPr/>
        <p:txBody>
          <a:bodyPr/>
          <a:lstStyle/>
          <a:p>
            <a:r>
              <a:rPr lang="es-ES_tradnl" dirty="0">
                <a:latin typeface="Century Gothic" panose="020B0502020202020204" pitchFamily="34" charset="0"/>
              </a:rPr>
              <a:t>Tolerancia al riesgo</a:t>
            </a:r>
          </a:p>
        </p:txBody>
      </p:sp>
      <p:sp>
        <p:nvSpPr>
          <p:cNvPr id="3" name="Content Placeholder 2"/>
          <p:cNvSpPr>
            <a:spLocks noGrp="1"/>
          </p:cNvSpPr>
          <p:nvPr>
            <p:ph idx="1"/>
          </p:nvPr>
        </p:nvSpPr>
        <p:spPr>
          <a:xfrm>
            <a:off x="838581" y="2460396"/>
            <a:ext cx="10344716" cy="3678303"/>
          </a:xfrm>
        </p:spPr>
        <p:txBody>
          <a:bodyPr>
            <a:normAutofit/>
          </a:bodyPr>
          <a:lstStyle/>
          <a:p>
            <a:pPr algn="just"/>
            <a:r>
              <a:rPr lang="es-ES_tradnl" dirty="0">
                <a:solidFill>
                  <a:schemeClr val="accent1"/>
                </a:solidFill>
                <a:latin typeface="Century Gothic" panose="020B0502020202020204" pitchFamily="34" charset="0"/>
              </a:rPr>
              <a:t>Le proponen jugar el juego con una apuesta de </a:t>
            </a:r>
            <a:r>
              <a:rPr lang="es-ES_tradnl" b="1" dirty="0">
                <a:solidFill>
                  <a:srgbClr val="C00000"/>
                </a:solidFill>
                <a:latin typeface="Century Gothic" panose="020B0502020202020204" pitchFamily="34" charset="0"/>
              </a:rPr>
              <a:t>10.000</a:t>
            </a:r>
            <a:r>
              <a:rPr lang="es-ES_tradnl" dirty="0">
                <a:solidFill>
                  <a:schemeClr val="tx1"/>
                </a:solidFill>
                <a:latin typeface="Century Gothic" panose="020B0502020202020204" pitchFamily="34" charset="0"/>
              </a:rPr>
              <a:t> </a:t>
            </a:r>
            <a:r>
              <a:rPr lang="es-ES_tradnl" dirty="0">
                <a:solidFill>
                  <a:schemeClr val="accent1"/>
                </a:solidFill>
                <a:latin typeface="Century Gothic" panose="020B0502020202020204" pitchFamily="34" charset="0"/>
              </a:rPr>
              <a:t>COP. ¿Jugaría?</a:t>
            </a:r>
          </a:p>
          <a:p>
            <a:pPr algn="just"/>
            <a:endParaRPr lang="es-ES_tradnl" dirty="0">
              <a:solidFill>
                <a:schemeClr val="accent1"/>
              </a:solidFill>
              <a:latin typeface="Century Gothic" panose="020B0502020202020204" pitchFamily="34" charset="0"/>
            </a:endParaRPr>
          </a:p>
          <a:p>
            <a:pPr algn="just"/>
            <a:r>
              <a:rPr lang="es-ES_tradnl" dirty="0">
                <a:solidFill>
                  <a:schemeClr val="accent1"/>
                </a:solidFill>
                <a:latin typeface="Century Gothic" panose="020B0502020202020204" pitchFamily="34" charset="0"/>
              </a:rPr>
              <a:t>Le proponen jugar el juego con una apuesta de </a:t>
            </a:r>
            <a:r>
              <a:rPr lang="es-ES_tradnl" b="1" dirty="0">
                <a:solidFill>
                  <a:srgbClr val="C00000"/>
                </a:solidFill>
                <a:latin typeface="Century Gothic" panose="020B0502020202020204" pitchFamily="34" charset="0"/>
              </a:rPr>
              <a:t>100.000</a:t>
            </a:r>
            <a:r>
              <a:rPr lang="es-ES_tradnl" dirty="0">
                <a:solidFill>
                  <a:schemeClr val="tx1"/>
                </a:solidFill>
                <a:latin typeface="Century Gothic" panose="020B0502020202020204" pitchFamily="34" charset="0"/>
              </a:rPr>
              <a:t> </a:t>
            </a:r>
            <a:r>
              <a:rPr lang="es-ES_tradnl" dirty="0">
                <a:solidFill>
                  <a:schemeClr val="accent1"/>
                </a:solidFill>
                <a:latin typeface="Century Gothic" panose="020B0502020202020204" pitchFamily="34" charset="0"/>
              </a:rPr>
              <a:t>COP. ¿Jugaría?</a:t>
            </a:r>
          </a:p>
          <a:p>
            <a:pPr algn="just"/>
            <a:endParaRPr lang="es-ES_tradnl" dirty="0">
              <a:solidFill>
                <a:schemeClr val="accent1"/>
              </a:solidFill>
              <a:latin typeface="Century Gothic" panose="020B0502020202020204" pitchFamily="34" charset="0"/>
            </a:endParaRPr>
          </a:p>
          <a:p>
            <a:pPr algn="just"/>
            <a:r>
              <a:rPr lang="es-ES_tradnl" dirty="0">
                <a:solidFill>
                  <a:schemeClr val="accent1"/>
                </a:solidFill>
                <a:latin typeface="Century Gothic" panose="020B0502020202020204" pitchFamily="34" charset="0"/>
              </a:rPr>
              <a:t>Le proponen jugar el juego con una apuesta de </a:t>
            </a:r>
            <a:r>
              <a:rPr lang="es-ES_tradnl" b="1" dirty="0">
                <a:solidFill>
                  <a:srgbClr val="C00000"/>
                </a:solidFill>
                <a:latin typeface="Century Gothic" panose="020B0502020202020204" pitchFamily="34" charset="0"/>
              </a:rPr>
              <a:t>1.000.000</a:t>
            </a:r>
            <a:r>
              <a:rPr lang="es-ES_tradnl" dirty="0">
                <a:solidFill>
                  <a:schemeClr val="tx1"/>
                </a:solidFill>
                <a:latin typeface="Century Gothic" panose="020B0502020202020204" pitchFamily="34" charset="0"/>
              </a:rPr>
              <a:t> </a:t>
            </a:r>
            <a:r>
              <a:rPr lang="es-ES_tradnl" dirty="0">
                <a:solidFill>
                  <a:schemeClr val="accent1"/>
                </a:solidFill>
                <a:latin typeface="Century Gothic" panose="020B0502020202020204" pitchFamily="34" charset="0"/>
              </a:rPr>
              <a:t>COP. ¿Jugaría?</a:t>
            </a:r>
          </a:p>
          <a:p>
            <a:pPr algn="just"/>
            <a:endParaRPr lang="es-ES_tradnl" dirty="0">
              <a:solidFill>
                <a:schemeClr val="accent1"/>
              </a:solidFill>
              <a:latin typeface="Century Gothic" panose="020B0502020202020204" pitchFamily="34" charset="0"/>
            </a:endParaRPr>
          </a:p>
          <a:p>
            <a:pPr algn="just"/>
            <a:r>
              <a:rPr lang="es-ES_tradnl" dirty="0">
                <a:solidFill>
                  <a:schemeClr val="accent1"/>
                </a:solidFill>
                <a:latin typeface="Century Gothic" panose="020B0502020202020204" pitchFamily="34" charset="0"/>
              </a:rPr>
              <a:t>Le proponen jugar el juego con una apuesta de </a:t>
            </a:r>
            <a:r>
              <a:rPr lang="es-ES_tradnl" b="1" dirty="0">
                <a:solidFill>
                  <a:srgbClr val="C00000"/>
                </a:solidFill>
                <a:latin typeface="Century Gothic" panose="020B0502020202020204" pitchFamily="34" charset="0"/>
              </a:rPr>
              <a:t>50.000.000</a:t>
            </a:r>
            <a:r>
              <a:rPr lang="es-ES_tradnl" dirty="0">
                <a:solidFill>
                  <a:schemeClr val="tx1"/>
                </a:solidFill>
                <a:latin typeface="Century Gothic" panose="020B0502020202020204" pitchFamily="34" charset="0"/>
              </a:rPr>
              <a:t> </a:t>
            </a:r>
            <a:r>
              <a:rPr lang="es-ES_tradnl" dirty="0">
                <a:solidFill>
                  <a:schemeClr val="accent1"/>
                </a:solidFill>
                <a:latin typeface="Century Gothic" panose="020B0502020202020204" pitchFamily="34" charset="0"/>
              </a:rPr>
              <a:t>COP. ¿Jugaría?</a:t>
            </a:r>
          </a:p>
          <a:p>
            <a:pPr algn="just"/>
            <a:endParaRPr lang="es-ES_tradnl" dirty="0">
              <a:solidFill>
                <a:schemeClr val="tx1"/>
              </a:solidFill>
              <a:latin typeface="Century Gothic" panose="020B0502020202020204" pitchFamily="34" charset="0"/>
            </a:endParaRPr>
          </a:p>
        </p:txBody>
      </p:sp>
      <p:sp>
        <p:nvSpPr>
          <p:cNvPr id="4" name="Slide Number Placeholder 3"/>
          <p:cNvSpPr>
            <a:spLocks noGrp="1"/>
          </p:cNvSpPr>
          <p:nvPr>
            <p:ph type="sldNum" sz="quarter" idx="12"/>
          </p:nvPr>
        </p:nvSpPr>
        <p:spPr/>
        <p:txBody>
          <a:bodyPr/>
          <a:lstStyle/>
          <a:p>
            <a:fld id="{5E3E23BA-6E79-2442-BA73-D218A5E297C3}" type="slidenum">
              <a:rPr lang="en-US" smtClean="0"/>
              <a:t>29</a:t>
            </a:fld>
            <a:endParaRPr lang="en-US"/>
          </a:p>
        </p:txBody>
      </p:sp>
      <p:sp>
        <p:nvSpPr>
          <p:cNvPr id="9" name="Rectángulo 8">
            <a:extLst>
              <a:ext uri="{FF2B5EF4-FFF2-40B4-BE49-F238E27FC236}">
                <a16:creationId xmlns:a16="http://schemas.microsoft.com/office/drawing/2014/main" id="{F264EA6E-1ABC-79A8-E0EB-9B08F85D321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80180DF5-0A8C-270A-1368-BD87452D8C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C7564083-0D09-1C63-2889-12FFF9762CEE}"/>
              </a:ext>
            </a:extLst>
          </p:cNvPr>
          <p:cNvPicPr>
            <a:picLocks noChangeAspect="1"/>
          </p:cNvPicPr>
          <p:nvPr/>
        </p:nvPicPr>
        <p:blipFill rotWithShape="1">
          <a:blip r:embed="rId3"/>
          <a:srcRect b="6631"/>
          <a:stretch/>
        </p:blipFill>
        <p:spPr>
          <a:xfrm>
            <a:off x="9808972" y="2785979"/>
            <a:ext cx="1801836" cy="2296001"/>
          </a:xfrm>
          <a:prstGeom prst="rect">
            <a:avLst/>
          </a:prstGeom>
        </p:spPr>
      </p:pic>
      <p:sp>
        <p:nvSpPr>
          <p:cNvPr id="2" name="Rectángulo 1">
            <a:extLst>
              <a:ext uri="{FF2B5EF4-FFF2-40B4-BE49-F238E27FC236}">
                <a16:creationId xmlns:a16="http://schemas.microsoft.com/office/drawing/2014/main" id="{945BC408-15F1-6EB9-42B4-ED51CB984D7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855653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228F17A3-7C90-3A01-E317-D56FCE3F7C88}"/>
              </a:ext>
            </a:extLst>
          </p:cNvPr>
          <p:cNvSpPr>
            <a:spLocks noGrp="1"/>
          </p:cNvSpPr>
          <p:nvPr>
            <p:ph type="title"/>
          </p:nvPr>
        </p:nvSpPr>
        <p:spPr/>
        <p:txBody>
          <a:bodyPr/>
          <a:lstStyle/>
          <a:p>
            <a:r>
              <a:rPr lang="es-ES_tradnl" dirty="0">
                <a:latin typeface="Century Gothic" panose="020B0502020202020204" pitchFamily="34" charset="0"/>
              </a:rPr>
              <a:t>Tolerancia al riesgo</a:t>
            </a:r>
          </a:p>
        </p:txBody>
      </p:sp>
      <p:sp>
        <p:nvSpPr>
          <p:cNvPr id="3" name="Content Placeholder 2"/>
          <p:cNvSpPr>
            <a:spLocks noGrp="1"/>
          </p:cNvSpPr>
          <p:nvPr>
            <p:ph idx="1"/>
          </p:nvPr>
        </p:nvSpPr>
        <p:spPr>
          <a:xfrm>
            <a:off x="1841988" y="2043830"/>
            <a:ext cx="8508023" cy="739237"/>
          </a:xfrm>
        </p:spPr>
        <p:txBody>
          <a:bodyPr>
            <a:noAutofit/>
          </a:bodyPr>
          <a:lstStyle/>
          <a:p>
            <a:pPr marL="0" indent="0" algn="just">
              <a:buNone/>
            </a:pPr>
            <a:r>
              <a:rPr lang="es-ES_tradnl" dirty="0">
                <a:solidFill>
                  <a:schemeClr val="accent1"/>
                </a:solidFill>
                <a:latin typeface="Century Gothic" panose="020B0502020202020204" pitchFamily="34" charset="0"/>
              </a:rPr>
              <a:t>Si graficáramos el comportamiento del anterior juego, se tendría algo así:</a:t>
            </a:r>
          </a:p>
        </p:txBody>
      </p:sp>
      <p:sp>
        <p:nvSpPr>
          <p:cNvPr id="4" name="Slide Number Placeholder 3"/>
          <p:cNvSpPr>
            <a:spLocks noGrp="1"/>
          </p:cNvSpPr>
          <p:nvPr>
            <p:ph type="sldNum" sz="quarter" idx="12"/>
          </p:nvPr>
        </p:nvSpPr>
        <p:spPr/>
        <p:txBody>
          <a:bodyPr/>
          <a:lstStyle/>
          <a:p>
            <a:fld id="{5E3E23BA-6E79-2442-BA73-D218A5E297C3}" type="slidenum">
              <a:rPr lang="en-US" smtClean="0"/>
              <a:t>30</a:t>
            </a:fld>
            <a:endParaRPr lang="en-US"/>
          </a:p>
        </p:txBody>
      </p:sp>
      <p:pic>
        <p:nvPicPr>
          <p:cNvPr id="5" name="Picture 4"/>
          <p:cNvPicPr>
            <a:picLocks noChangeAspect="1"/>
          </p:cNvPicPr>
          <p:nvPr/>
        </p:nvPicPr>
        <p:blipFill>
          <a:blip r:embed="rId2">
            <a:clrChange>
              <a:clrFrom>
                <a:srgbClr val="FFFFFF"/>
              </a:clrFrom>
              <a:clrTo>
                <a:srgbClr val="FFFFFF">
                  <a:alpha val="0"/>
                </a:srgbClr>
              </a:clrTo>
            </a:clrChange>
          </a:blip>
          <a:stretch>
            <a:fillRect/>
          </a:stretch>
        </p:blipFill>
        <p:spPr>
          <a:xfrm>
            <a:off x="4545200" y="2877093"/>
            <a:ext cx="3777064" cy="3079044"/>
          </a:xfrm>
          <a:prstGeom prst="rect">
            <a:avLst/>
          </a:prstGeom>
        </p:spPr>
      </p:pic>
      <p:sp>
        <p:nvSpPr>
          <p:cNvPr id="10" name="Rectángulo 9">
            <a:extLst>
              <a:ext uri="{FF2B5EF4-FFF2-40B4-BE49-F238E27FC236}">
                <a16:creationId xmlns:a16="http://schemas.microsoft.com/office/drawing/2014/main" id="{B59D3006-A95C-12FA-719E-2506A80E72B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A2EB3FA2-A7B8-77E9-988F-C1694D25B9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7C0A86CA-E574-76EA-F3F2-8D473B18788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3667500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1400" b="1" smtClean="0"/>
              <a:pPr/>
              <a:t>31</a:t>
            </a:fld>
            <a:endParaRPr lang="en-US" sz="1400" b="1"/>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1815882"/>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dirty="0">
                <a:solidFill>
                  <a:schemeClr val="bg2">
                    <a:lumMod val="90000"/>
                  </a:schemeClr>
                </a:solidFill>
                <a:latin typeface="Century Gothic"/>
                <a:cs typeface="Arial"/>
              </a:rPr>
              <a:t>¿Qué es el riesgo?</a:t>
            </a:r>
            <a:endParaRPr lang="es-ES" sz="1600" dirty="0">
              <a:solidFill>
                <a:schemeClr val="bg2">
                  <a:lumMod val="90000"/>
                </a:schemeClr>
              </a:solidFill>
              <a:latin typeface="Century Gothic"/>
              <a:cs typeface="Arial"/>
            </a:endParaRPr>
          </a:p>
          <a:p>
            <a:pPr marL="342900" indent="-342900">
              <a:buClr>
                <a:srgbClr val="2C7C9F"/>
              </a:buClr>
              <a:buFontTx/>
              <a:buAutoNum type="arabicPeriod"/>
            </a:pPr>
            <a:endParaRPr lang="es-CO" sz="1600" dirty="0">
              <a:solidFill>
                <a:schemeClr val="bg2">
                  <a:lumMod val="90000"/>
                </a:schemeClr>
              </a:solidFill>
              <a:latin typeface="Century Gothic"/>
              <a:cs typeface="Arial"/>
            </a:endParaRPr>
          </a:p>
          <a:p>
            <a:pPr marL="342900" indent="-342900">
              <a:buClr>
                <a:srgbClr val="48BE7A"/>
              </a:buClr>
              <a:buFontTx/>
              <a:buAutoNum type="arabicPeriod"/>
            </a:pPr>
            <a:r>
              <a:rPr lang="es-CO" sz="1600" dirty="0">
                <a:solidFill>
                  <a:schemeClr val="bg2">
                    <a:lumMod val="90000"/>
                  </a:schemeClr>
                </a:solidFill>
                <a:latin typeface="Century Gothic"/>
                <a:cs typeface="Arial"/>
              </a:rPr>
              <a:t>Tolerancia al riesgo.</a:t>
            </a:r>
          </a:p>
          <a:p>
            <a:pPr marL="342900" indent="-342900">
              <a:buClr>
                <a:srgbClr val="48BE7A"/>
              </a:buClr>
              <a:buFontTx/>
              <a:buAutoNum type="arabicPeriod"/>
            </a:pPr>
            <a:endParaRPr lang="es-CO" sz="1600" dirty="0">
              <a:solidFill>
                <a:schemeClr val="accent1"/>
              </a:solidFill>
              <a:latin typeface="Century Gothic"/>
              <a:cs typeface="Arial"/>
            </a:endParaRPr>
          </a:p>
          <a:p>
            <a:pPr marL="342900" indent="-342900" algn="just">
              <a:buClr>
                <a:srgbClr val="48BE7A"/>
              </a:buClr>
              <a:buFontTx/>
              <a:buAutoNum type="arabicPeriod"/>
            </a:pPr>
            <a:r>
              <a:rPr lang="es-CO" sz="1600" dirty="0">
                <a:solidFill>
                  <a:schemeClr val="accent1"/>
                </a:solidFill>
                <a:latin typeface="Century Gothic" panose="020B0502020202020204" pitchFamily="34" charset="0"/>
                <a:cs typeface="Arial"/>
              </a:rPr>
              <a:t>Valor esperado y varianza en la evaluación de proyectos.</a:t>
            </a:r>
          </a:p>
          <a:p>
            <a:pPr marL="342900" indent="-342900">
              <a:buClr>
                <a:srgbClr val="48BE7A"/>
              </a:buClr>
              <a:buAutoNum type="arabicPeriod"/>
            </a:pPr>
            <a:endParaRPr lang="es-CO" sz="1600" dirty="0">
              <a:solidFill>
                <a:schemeClr val="accent1"/>
              </a:solidFill>
              <a:latin typeface="Century Gothic" panose="020B0502020202020204" pitchFamily="34" charset="0"/>
              <a:cs typeface="Arial"/>
            </a:endParaRPr>
          </a:p>
          <a:p>
            <a:pPr>
              <a:buClr>
                <a:schemeClr val="accent3">
                  <a:lumMod val="75000"/>
                </a:schemeClr>
              </a:buClr>
            </a:pPr>
            <a:endParaRPr lang="es-CO" sz="1600" dirty="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2BC8C00B-27C2-A7B3-9D7D-132E9088EC7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977174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dirty="0">
                <a:latin typeface="Century Gothic" panose="020B0502020202020204" pitchFamily="34" charset="0"/>
              </a:rPr>
              <a:t>Valor Esperado Y Varianza</a:t>
            </a:r>
          </a:p>
        </p:txBody>
      </p:sp>
      <p:sp>
        <p:nvSpPr>
          <p:cNvPr id="3" name="Content Placeholder 2"/>
          <p:cNvSpPr>
            <a:spLocks noGrp="1"/>
          </p:cNvSpPr>
          <p:nvPr>
            <p:ph idx="1"/>
          </p:nvPr>
        </p:nvSpPr>
        <p:spPr>
          <a:xfrm>
            <a:off x="1111212" y="2432459"/>
            <a:ext cx="9969576" cy="3678303"/>
          </a:xfrm>
        </p:spPr>
        <p:txBody>
          <a:bodyPr>
            <a:normAutofit/>
          </a:bodyPr>
          <a:lstStyle/>
          <a:p>
            <a:pPr marL="0" indent="0" algn="just">
              <a:buNone/>
            </a:pPr>
            <a:r>
              <a:rPr lang="es-ES_tradnl" dirty="0">
                <a:solidFill>
                  <a:schemeClr val="accent1"/>
                </a:solidFill>
                <a:latin typeface="Century Gothic" panose="020B0502020202020204" pitchFamily="34" charset="0"/>
              </a:rPr>
              <a:t>Al evaluar proyectos ahora utilizaremos:</a:t>
            </a:r>
          </a:p>
          <a:p>
            <a:pPr marL="0" indent="0" algn="just">
              <a:buNone/>
            </a:pPr>
            <a:endParaRPr lang="es-ES_tradnl" dirty="0">
              <a:solidFill>
                <a:schemeClr val="accent1"/>
              </a:solidFill>
              <a:latin typeface="Century Gothic" panose="020B0502020202020204" pitchFamily="34" charset="0"/>
            </a:endParaRPr>
          </a:p>
          <a:p>
            <a:pPr algn="just">
              <a:buFont typeface="Wingdings" charset="2"/>
              <a:buChar char="§"/>
            </a:pPr>
            <a:r>
              <a:rPr lang="es-ES_tradnl" dirty="0">
                <a:solidFill>
                  <a:schemeClr val="accent1"/>
                </a:solidFill>
                <a:latin typeface="Century Gothic" panose="020B0502020202020204" pitchFamily="34" charset="0"/>
              </a:rPr>
              <a:t>E(VPN)</a:t>
            </a:r>
          </a:p>
          <a:p>
            <a:pPr algn="just">
              <a:buFont typeface="Wingdings" charset="2"/>
              <a:buChar char="§"/>
            </a:pPr>
            <a:r>
              <a:rPr lang="es-ES_tradnl" dirty="0">
                <a:solidFill>
                  <a:schemeClr val="accent1"/>
                </a:solidFill>
                <a:latin typeface="Century Gothic" panose="020B0502020202020204" pitchFamily="34" charset="0"/>
              </a:rPr>
              <a:t>Var(VPN)</a:t>
            </a:r>
          </a:p>
          <a:p>
            <a:pPr algn="just">
              <a:buFont typeface="Wingdings" charset="2"/>
              <a:buChar char="§"/>
            </a:pPr>
            <a:r>
              <a:rPr lang="es-ES_tradnl" dirty="0">
                <a:solidFill>
                  <a:schemeClr val="accent1"/>
                </a:solidFill>
                <a:latin typeface="Century Gothic" panose="020B0502020202020204" pitchFamily="34" charset="0"/>
              </a:rPr>
              <a:t>Desviación Estándar (VPN)</a:t>
            </a:r>
          </a:p>
          <a:p>
            <a:pPr marL="0" indent="0" algn="just">
              <a:buNone/>
            </a:pPr>
            <a:endParaRPr lang="es-ES_tradnl" dirty="0">
              <a:solidFill>
                <a:schemeClr val="accent1"/>
              </a:solidFill>
              <a:latin typeface="Century Gothic" panose="020B0502020202020204" pitchFamily="34" charset="0"/>
            </a:endParaRPr>
          </a:p>
          <a:p>
            <a:pPr marL="0" indent="0" algn="just">
              <a:buNone/>
            </a:pPr>
            <a:r>
              <a:rPr lang="es-ES_tradnl" dirty="0">
                <a:solidFill>
                  <a:schemeClr val="accent1"/>
                </a:solidFill>
                <a:latin typeface="Century Gothic" panose="020B0502020202020204" pitchFamily="34" charset="0"/>
              </a:rPr>
              <a:t>Antes de proseguir, recordemos los conceptos de valor esperado y varianza para un operador lineal.</a:t>
            </a:r>
          </a:p>
          <a:p>
            <a:pPr marL="0" indent="0" algn="just">
              <a:buNone/>
            </a:pPr>
            <a:endParaRPr lang="es-ES_tradnl" dirty="0">
              <a:solidFill>
                <a:schemeClr val="accent1"/>
              </a:solidFill>
              <a:latin typeface="Century Gothic" panose="020B0502020202020204" pitchFamily="34" charset="0"/>
            </a:endParaRPr>
          </a:p>
        </p:txBody>
      </p:sp>
      <p:sp>
        <p:nvSpPr>
          <p:cNvPr id="4" name="Slide Number Placeholder 3"/>
          <p:cNvSpPr>
            <a:spLocks noGrp="1"/>
          </p:cNvSpPr>
          <p:nvPr>
            <p:ph type="sldNum" sz="quarter" idx="12"/>
          </p:nvPr>
        </p:nvSpPr>
        <p:spPr/>
        <p:txBody>
          <a:bodyPr/>
          <a:lstStyle/>
          <a:p>
            <a:fld id="{5E3E23BA-6E79-2442-BA73-D218A5E297C3}" type="slidenum">
              <a:rPr lang="en-US" smtClean="0"/>
              <a:t>32</a:t>
            </a:fld>
            <a:endParaRPr lang="en-US"/>
          </a:p>
        </p:txBody>
      </p:sp>
      <p:sp>
        <p:nvSpPr>
          <p:cNvPr id="9" name="Rectángulo 8">
            <a:extLst>
              <a:ext uri="{FF2B5EF4-FFF2-40B4-BE49-F238E27FC236}">
                <a16:creationId xmlns:a16="http://schemas.microsoft.com/office/drawing/2014/main" id="{EE470E43-AA3B-5312-5652-E1804A53954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47F245AC-9032-A29A-F986-3C1EA7AEA6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mage result for business risks | Business liability insurance, Business  risk, Business insurance">
            <a:extLst>
              <a:ext uri="{FF2B5EF4-FFF2-40B4-BE49-F238E27FC236}">
                <a16:creationId xmlns:a16="http://schemas.microsoft.com/office/drawing/2014/main" id="{41937BF1-002A-903C-909F-422A7A772E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60513" y="2342435"/>
            <a:ext cx="2328760" cy="2277466"/>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1D0D18B7-E04E-38B3-29AA-C8034A633A2B}"/>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86144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blinds(horizontal)">
                                      <p:cBhvr>
                                        <p:cTn id="2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0C7073BE-C4EB-993D-6DEB-2EF8696C9329}"/>
              </a:ext>
            </a:extLst>
          </p:cNvPr>
          <p:cNvSpPr>
            <a:spLocks noGrp="1"/>
          </p:cNvSpPr>
          <p:nvPr>
            <p:ph type="title"/>
          </p:nvPr>
        </p:nvSpPr>
        <p:spPr/>
        <p:txBody>
          <a:bodyPr/>
          <a:lstStyle/>
          <a:p>
            <a:r>
              <a:rPr lang="es-ES_tradnl" dirty="0">
                <a:latin typeface="Century Gothic" panose="020B0502020202020204" pitchFamily="34" charset="0"/>
              </a:rPr>
              <a:t>Valor Esperado Y Varianza</a:t>
            </a:r>
          </a:p>
        </p:txBody>
      </p:sp>
      <p:sp>
        <p:nvSpPr>
          <p:cNvPr id="4" name="Slide Number Placeholder 3"/>
          <p:cNvSpPr>
            <a:spLocks noGrp="1"/>
          </p:cNvSpPr>
          <p:nvPr>
            <p:ph type="sldNum" sz="quarter" idx="12"/>
          </p:nvPr>
        </p:nvSpPr>
        <p:spPr/>
        <p:txBody>
          <a:bodyPr/>
          <a:lstStyle/>
          <a:p>
            <a:fld id="{5E3E23BA-6E79-2442-BA73-D218A5E297C3}" type="slidenum">
              <a:rPr lang="en-US" smtClean="0"/>
              <a:t>33</a:t>
            </a:fld>
            <a:endParaRPr lang="en-US"/>
          </a:p>
        </p:txBody>
      </p:sp>
      <p:pic>
        <p:nvPicPr>
          <p:cNvPr id="7" name="Picture 6"/>
          <p:cNvPicPr>
            <a:picLocks noChangeAspect="1"/>
          </p:cNvPicPr>
          <p:nvPr/>
        </p:nvPicPr>
        <p:blipFill>
          <a:blip r:embed="rId2"/>
          <a:stretch>
            <a:fillRect/>
          </a:stretch>
        </p:blipFill>
        <p:spPr>
          <a:xfrm>
            <a:off x="3815051" y="2256931"/>
            <a:ext cx="4561897" cy="513591"/>
          </a:xfrm>
          <a:prstGeom prst="rect">
            <a:avLst/>
          </a:prstGeom>
        </p:spPr>
      </p:pic>
      <p:sp>
        <p:nvSpPr>
          <p:cNvPr id="8" name="TextBox 7"/>
          <p:cNvSpPr txBox="1"/>
          <p:nvPr/>
        </p:nvSpPr>
        <p:spPr>
          <a:xfrm>
            <a:off x="4099298" y="3004909"/>
            <a:ext cx="3993401" cy="338554"/>
          </a:xfrm>
          <a:prstGeom prst="rect">
            <a:avLst/>
          </a:prstGeom>
          <a:noFill/>
        </p:spPr>
        <p:txBody>
          <a:bodyPr wrap="none" rtlCol="0">
            <a:spAutoFit/>
          </a:bodyPr>
          <a:lstStyle/>
          <a:p>
            <a:r>
              <a:rPr lang="es-ES_tradnl" sz="1600" b="1" dirty="0">
                <a:solidFill>
                  <a:srgbClr val="C00000"/>
                </a:solidFill>
                <a:latin typeface="Century Gothic" panose="020B0502020202020204" pitchFamily="34" charset="0"/>
              </a:rPr>
              <a:t>x, y, z son V.A. y A,B,C son constantes.</a:t>
            </a:r>
          </a:p>
        </p:txBody>
      </p:sp>
      <p:pic>
        <p:nvPicPr>
          <p:cNvPr id="10" name="Picture 9"/>
          <p:cNvPicPr>
            <a:picLocks noChangeAspect="1"/>
          </p:cNvPicPr>
          <p:nvPr/>
        </p:nvPicPr>
        <p:blipFill>
          <a:blip r:embed="rId3"/>
          <a:stretch>
            <a:fillRect/>
          </a:stretch>
        </p:blipFill>
        <p:spPr>
          <a:xfrm>
            <a:off x="3581399" y="3776647"/>
            <a:ext cx="5029200" cy="469900"/>
          </a:xfrm>
          <a:prstGeom prst="rect">
            <a:avLst/>
          </a:prstGeom>
        </p:spPr>
      </p:pic>
      <p:pic>
        <p:nvPicPr>
          <p:cNvPr id="11" name="Picture 10"/>
          <p:cNvPicPr>
            <a:picLocks noChangeAspect="1"/>
          </p:cNvPicPr>
          <p:nvPr/>
        </p:nvPicPr>
        <p:blipFill>
          <a:blip r:embed="rId4"/>
          <a:stretch>
            <a:fillRect/>
          </a:stretch>
        </p:blipFill>
        <p:spPr>
          <a:xfrm>
            <a:off x="2806700" y="4596263"/>
            <a:ext cx="6578600" cy="469900"/>
          </a:xfrm>
          <a:prstGeom prst="rect">
            <a:avLst/>
          </a:prstGeom>
        </p:spPr>
      </p:pic>
      <p:pic>
        <p:nvPicPr>
          <p:cNvPr id="12" name="Picture 11"/>
          <p:cNvPicPr>
            <a:picLocks noChangeAspect="1"/>
          </p:cNvPicPr>
          <p:nvPr/>
        </p:nvPicPr>
        <p:blipFill>
          <a:blip r:embed="rId5"/>
          <a:stretch>
            <a:fillRect/>
          </a:stretch>
        </p:blipFill>
        <p:spPr>
          <a:xfrm>
            <a:off x="2806700" y="5445475"/>
            <a:ext cx="6578600" cy="469900"/>
          </a:xfrm>
          <a:prstGeom prst="rect">
            <a:avLst/>
          </a:prstGeom>
        </p:spPr>
      </p:pic>
      <p:sp>
        <p:nvSpPr>
          <p:cNvPr id="3" name="Rectángulo 2">
            <a:extLst>
              <a:ext uri="{FF2B5EF4-FFF2-40B4-BE49-F238E27FC236}">
                <a16:creationId xmlns:a16="http://schemas.microsoft.com/office/drawing/2014/main" id="{8ECEA033-4EB0-EE5F-3D3A-AE5AD6C1FA8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7883EB99-E3EC-43CF-1D82-18DD4B0CFB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4" name="Gráfico 13" descr="Teacher con relleno sólido">
            <a:extLst>
              <a:ext uri="{FF2B5EF4-FFF2-40B4-BE49-F238E27FC236}">
                <a16:creationId xmlns:a16="http://schemas.microsoft.com/office/drawing/2014/main" id="{EBE56D5D-DEEF-B42B-FFF6-97833432BBD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920125" y="2351345"/>
            <a:ext cx="1276350" cy="1276350"/>
          </a:xfrm>
          <a:prstGeom prst="rect">
            <a:avLst/>
          </a:prstGeom>
        </p:spPr>
      </p:pic>
      <p:sp>
        <p:nvSpPr>
          <p:cNvPr id="2" name="Rectángulo 1">
            <a:extLst>
              <a:ext uri="{FF2B5EF4-FFF2-40B4-BE49-F238E27FC236}">
                <a16:creationId xmlns:a16="http://schemas.microsoft.com/office/drawing/2014/main" id="{4B2FC22A-A933-E263-3FD3-055FCABDD72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624964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2A252449-A047-079B-5440-7DF0246AA13A}"/>
              </a:ext>
            </a:extLst>
          </p:cNvPr>
          <p:cNvSpPr>
            <a:spLocks noGrp="1"/>
          </p:cNvSpPr>
          <p:nvPr>
            <p:ph type="title"/>
          </p:nvPr>
        </p:nvSpPr>
        <p:spPr/>
        <p:txBody>
          <a:bodyPr/>
          <a:lstStyle/>
          <a:p>
            <a:r>
              <a:rPr lang="es-ES_tradnl" dirty="0">
                <a:latin typeface="Century Gothic" panose="020B0502020202020204" pitchFamily="34" charset="0"/>
              </a:rPr>
              <a:t>Valor Esperado Y Varianza</a:t>
            </a:r>
          </a:p>
        </p:txBody>
      </p:sp>
      <p:sp>
        <p:nvSpPr>
          <p:cNvPr id="4" name="Slide Number Placeholder 3"/>
          <p:cNvSpPr>
            <a:spLocks noGrp="1"/>
          </p:cNvSpPr>
          <p:nvPr>
            <p:ph type="sldNum" sz="quarter" idx="12"/>
          </p:nvPr>
        </p:nvSpPr>
        <p:spPr/>
        <p:txBody>
          <a:bodyPr/>
          <a:lstStyle/>
          <a:p>
            <a:fld id="{5E3E23BA-6E79-2442-BA73-D218A5E297C3}" type="slidenum">
              <a:rPr lang="en-US" smtClean="0"/>
              <a:t>34</a:t>
            </a:fld>
            <a:endParaRPr lang="en-US"/>
          </a:p>
        </p:txBody>
      </p:sp>
      <p:pic>
        <p:nvPicPr>
          <p:cNvPr id="7" name="Picture 6"/>
          <p:cNvPicPr>
            <a:picLocks noChangeAspect="1"/>
          </p:cNvPicPr>
          <p:nvPr/>
        </p:nvPicPr>
        <p:blipFill>
          <a:blip r:embed="rId2"/>
          <a:stretch>
            <a:fillRect/>
          </a:stretch>
        </p:blipFill>
        <p:spPr>
          <a:xfrm>
            <a:off x="3815051" y="2218536"/>
            <a:ext cx="4561897" cy="513591"/>
          </a:xfrm>
          <a:prstGeom prst="rect">
            <a:avLst/>
          </a:prstGeom>
        </p:spPr>
      </p:pic>
      <p:sp>
        <p:nvSpPr>
          <p:cNvPr id="8" name="TextBox 7"/>
          <p:cNvSpPr txBox="1"/>
          <p:nvPr/>
        </p:nvSpPr>
        <p:spPr>
          <a:xfrm>
            <a:off x="4142566" y="3028626"/>
            <a:ext cx="3993401" cy="338554"/>
          </a:xfrm>
          <a:prstGeom prst="rect">
            <a:avLst/>
          </a:prstGeom>
          <a:noFill/>
        </p:spPr>
        <p:txBody>
          <a:bodyPr wrap="none" rtlCol="0">
            <a:spAutoFit/>
          </a:bodyPr>
          <a:lstStyle/>
          <a:p>
            <a:r>
              <a:rPr lang="es-ES_tradnl" sz="1600" b="1" dirty="0">
                <a:solidFill>
                  <a:srgbClr val="C00000"/>
                </a:solidFill>
                <a:latin typeface="Century Gothic" panose="020B0502020202020204" pitchFamily="34" charset="0"/>
              </a:rPr>
              <a:t>x, y, z son V.A. y A,B,C son constantes.</a:t>
            </a:r>
          </a:p>
        </p:txBody>
      </p:sp>
      <p:pic>
        <p:nvPicPr>
          <p:cNvPr id="5" name="Picture 4"/>
          <p:cNvPicPr>
            <a:picLocks noChangeAspect="1"/>
          </p:cNvPicPr>
          <p:nvPr/>
        </p:nvPicPr>
        <p:blipFill>
          <a:blip r:embed="rId3"/>
          <a:stretch>
            <a:fillRect/>
          </a:stretch>
        </p:blipFill>
        <p:spPr>
          <a:xfrm>
            <a:off x="3138868" y="3743487"/>
            <a:ext cx="5943600" cy="469900"/>
          </a:xfrm>
          <a:prstGeom prst="rect">
            <a:avLst/>
          </a:prstGeom>
        </p:spPr>
      </p:pic>
      <p:pic>
        <p:nvPicPr>
          <p:cNvPr id="6" name="Picture 5"/>
          <p:cNvPicPr>
            <a:picLocks noChangeAspect="1"/>
          </p:cNvPicPr>
          <p:nvPr/>
        </p:nvPicPr>
        <p:blipFill>
          <a:blip r:embed="rId4"/>
          <a:stretch>
            <a:fillRect/>
          </a:stretch>
        </p:blipFill>
        <p:spPr>
          <a:xfrm>
            <a:off x="913228" y="4759658"/>
            <a:ext cx="10452078" cy="284930"/>
          </a:xfrm>
          <a:prstGeom prst="rect">
            <a:avLst/>
          </a:prstGeom>
        </p:spPr>
      </p:pic>
      <p:sp>
        <p:nvSpPr>
          <p:cNvPr id="3" name="Rectángulo 2">
            <a:extLst>
              <a:ext uri="{FF2B5EF4-FFF2-40B4-BE49-F238E27FC236}">
                <a16:creationId xmlns:a16="http://schemas.microsoft.com/office/drawing/2014/main" id="{66AE0792-73F2-C5A8-D266-35864625EDD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CF937E93-AD5A-F435-AFAB-EEF33AD7E5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9" name="Gráfico 8" descr="Ui Ux con relleno sólido">
            <a:extLst>
              <a:ext uri="{FF2B5EF4-FFF2-40B4-BE49-F238E27FC236}">
                <a16:creationId xmlns:a16="http://schemas.microsoft.com/office/drawing/2014/main" id="{5B0660D5-7872-2E63-FDF7-F3DDDDA14F4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82175" y="2262227"/>
            <a:ext cx="1176338" cy="1176338"/>
          </a:xfrm>
          <a:prstGeom prst="rect">
            <a:avLst/>
          </a:prstGeom>
        </p:spPr>
      </p:pic>
      <p:sp>
        <p:nvSpPr>
          <p:cNvPr id="2" name="Rectángulo 1">
            <a:extLst>
              <a:ext uri="{FF2B5EF4-FFF2-40B4-BE49-F238E27FC236}">
                <a16:creationId xmlns:a16="http://schemas.microsoft.com/office/drawing/2014/main" id="{37BF17F0-E19B-B85B-52A4-5F8EC9A4D7B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558900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34664925-16EF-F4DC-E712-967D606E8A59}"/>
              </a:ext>
            </a:extLst>
          </p:cNvPr>
          <p:cNvSpPr>
            <a:spLocks noGrp="1"/>
          </p:cNvSpPr>
          <p:nvPr>
            <p:ph type="title"/>
          </p:nvPr>
        </p:nvSpPr>
        <p:spPr/>
        <p:txBody>
          <a:bodyPr/>
          <a:lstStyle/>
          <a:p>
            <a:r>
              <a:rPr lang="es-ES_tradnl" dirty="0">
                <a:latin typeface="Century Gothic" panose="020B0502020202020204" pitchFamily="34" charset="0"/>
              </a:rPr>
              <a:t>Valor Esperado Y Varianza</a:t>
            </a:r>
          </a:p>
        </p:txBody>
      </p:sp>
      <p:sp>
        <p:nvSpPr>
          <p:cNvPr id="4" name="Slide Number Placeholder 3"/>
          <p:cNvSpPr>
            <a:spLocks noGrp="1"/>
          </p:cNvSpPr>
          <p:nvPr>
            <p:ph type="sldNum" sz="quarter" idx="12"/>
          </p:nvPr>
        </p:nvSpPr>
        <p:spPr/>
        <p:txBody>
          <a:bodyPr/>
          <a:lstStyle/>
          <a:p>
            <a:fld id="{5E3E23BA-6E79-2442-BA73-D218A5E297C3}" type="slidenum">
              <a:rPr lang="en-US" smtClean="0"/>
              <a:t>35</a:t>
            </a:fld>
            <a:endParaRPr lang="en-US"/>
          </a:p>
        </p:txBody>
      </p:sp>
      <p:pic>
        <p:nvPicPr>
          <p:cNvPr id="7" name="Picture 6"/>
          <p:cNvPicPr>
            <a:picLocks noChangeAspect="1"/>
          </p:cNvPicPr>
          <p:nvPr/>
        </p:nvPicPr>
        <p:blipFill>
          <a:blip r:embed="rId2"/>
          <a:stretch>
            <a:fillRect/>
          </a:stretch>
        </p:blipFill>
        <p:spPr>
          <a:xfrm>
            <a:off x="3815051" y="2272574"/>
            <a:ext cx="4561897" cy="513591"/>
          </a:xfrm>
          <a:prstGeom prst="rect">
            <a:avLst/>
          </a:prstGeom>
        </p:spPr>
      </p:pic>
      <p:sp>
        <p:nvSpPr>
          <p:cNvPr id="8" name="TextBox 7"/>
          <p:cNvSpPr txBox="1"/>
          <p:nvPr/>
        </p:nvSpPr>
        <p:spPr>
          <a:xfrm>
            <a:off x="4565803" y="2973451"/>
            <a:ext cx="3270447" cy="369332"/>
          </a:xfrm>
          <a:prstGeom prst="rect">
            <a:avLst/>
          </a:prstGeom>
          <a:noFill/>
        </p:spPr>
        <p:txBody>
          <a:bodyPr wrap="none" rtlCol="0">
            <a:spAutoFit/>
          </a:bodyPr>
          <a:lstStyle/>
          <a:p>
            <a:r>
              <a:rPr lang="es-ES_tradnl" dirty="0">
                <a:solidFill>
                  <a:srgbClr val="C00000"/>
                </a:solidFill>
                <a:latin typeface="Century Gothic" panose="020B0502020202020204" pitchFamily="34" charset="0"/>
              </a:rPr>
              <a:t>Si x, y, z son independientes</a:t>
            </a:r>
          </a:p>
        </p:txBody>
      </p:sp>
      <p:pic>
        <p:nvPicPr>
          <p:cNvPr id="3" name="Picture 2"/>
          <p:cNvPicPr>
            <a:picLocks noChangeAspect="1"/>
          </p:cNvPicPr>
          <p:nvPr/>
        </p:nvPicPr>
        <p:blipFill>
          <a:blip r:embed="rId3"/>
          <a:stretch>
            <a:fillRect/>
          </a:stretch>
        </p:blipFill>
        <p:spPr>
          <a:xfrm>
            <a:off x="4808691" y="3680282"/>
            <a:ext cx="2552700" cy="469900"/>
          </a:xfrm>
          <a:prstGeom prst="rect">
            <a:avLst/>
          </a:prstGeom>
        </p:spPr>
      </p:pic>
      <p:sp>
        <p:nvSpPr>
          <p:cNvPr id="9" name="TextBox 8"/>
          <p:cNvSpPr txBox="1"/>
          <p:nvPr/>
        </p:nvSpPr>
        <p:spPr>
          <a:xfrm>
            <a:off x="5479387" y="4500142"/>
            <a:ext cx="1385316" cy="338554"/>
          </a:xfrm>
          <a:prstGeom prst="rect">
            <a:avLst/>
          </a:prstGeom>
          <a:noFill/>
        </p:spPr>
        <p:txBody>
          <a:bodyPr wrap="none" rtlCol="0">
            <a:spAutoFit/>
          </a:bodyPr>
          <a:lstStyle/>
          <a:p>
            <a:r>
              <a:rPr lang="es-ES_tradnl" sz="1600" dirty="0">
                <a:solidFill>
                  <a:schemeClr val="accent1"/>
                </a:solidFill>
                <a:latin typeface="Century Gothic" panose="020B0502020202020204" pitchFamily="34" charset="0"/>
              </a:rPr>
              <a:t>Por lo tanto:</a:t>
            </a:r>
          </a:p>
        </p:txBody>
      </p:sp>
      <p:pic>
        <p:nvPicPr>
          <p:cNvPr id="10" name="Picture 9"/>
          <p:cNvPicPr>
            <a:picLocks noChangeAspect="1"/>
          </p:cNvPicPr>
          <p:nvPr/>
        </p:nvPicPr>
        <p:blipFill>
          <a:blip r:embed="rId4"/>
          <a:stretch>
            <a:fillRect/>
          </a:stretch>
        </p:blipFill>
        <p:spPr>
          <a:xfrm>
            <a:off x="1581149" y="5211233"/>
            <a:ext cx="9029700" cy="520700"/>
          </a:xfrm>
          <a:prstGeom prst="rect">
            <a:avLst/>
          </a:prstGeom>
        </p:spPr>
      </p:pic>
      <p:sp>
        <p:nvSpPr>
          <p:cNvPr id="5" name="Rectángulo 4">
            <a:extLst>
              <a:ext uri="{FF2B5EF4-FFF2-40B4-BE49-F238E27FC236}">
                <a16:creationId xmlns:a16="http://schemas.microsoft.com/office/drawing/2014/main" id="{2678DE19-89F8-2EB3-E9ED-AAFF7D7FB82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5" name="Picture 2" descr="Clientes y aliados | Centro de Evaluación | Uniandes">
            <a:extLst>
              <a:ext uri="{FF2B5EF4-FFF2-40B4-BE49-F238E27FC236}">
                <a16:creationId xmlns:a16="http://schemas.microsoft.com/office/drawing/2014/main" id="{23AC79EB-09A5-7B28-DFE4-5078538E8E4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Gráfico 10" descr="Warehouse con relleno sólido">
            <a:extLst>
              <a:ext uri="{FF2B5EF4-FFF2-40B4-BE49-F238E27FC236}">
                <a16:creationId xmlns:a16="http://schemas.microsoft.com/office/drawing/2014/main" id="{D6F4954F-D29D-D985-DC2E-D86057CBF78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96699" y="1990697"/>
            <a:ext cx="1252257" cy="1252257"/>
          </a:xfrm>
          <a:prstGeom prst="rect">
            <a:avLst/>
          </a:prstGeom>
        </p:spPr>
      </p:pic>
      <p:sp>
        <p:nvSpPr>
          <p:cNvPr id="2" name="Rectángulo 1">
            <a:extLst>
              <a:ext uri="{FF2B5EF4-FFF2-40B4-BE49-F238E27FC236}">
                <a16:creationId xmlns:a16="http://schemas.microsoft.com/office/drawing/2014/main" id="{8AC4F9D7-AA71-C39B-C3D1-D836946FFD5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332747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3"/>
          <p:cNvSpPr>
            <a:spLocks/>
          </p:cNvSpPr>
          <p:nvPr/>
        </p:nvSpPr>
        <p:spPr bwMode="auto">
          <a:xfrm>
            <a:off x="920913" y="1907748"/>
            <a:ext cx="10805866" cy="445044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1440" tIns="45720" rIns="91440" bIns="45720" anchor="t">
            <a:spAutoFit/>
          </a:bodyPr>
          <a:lstStyle/>
          <a:p>
            <a:pPr algn="just">
              <a:spcBef>
                <a:spcPct val="20000"/>
              </a:spcBef>
            </a:pPr>
            <a:r>
              <a:rPr lang="es-ES" sz="2400" dirty="0">
                <a:latin typeface="Century Gothic" panose="020B0502020202020204" pitchFamily="34" charset="0"/>
              </a:rPr>
              <a:t>Ejercicio en clase:</a:t>
            </a:r>
          </a:p>
          <a:p>
            <a:pPr algn="just">
              <a:spcBef>
                <a:spcPct val="20000"/>
              </a:spcBef>
            </a:pPr>
            <a:r>
              <a:rPr lang="es-ES" sz="2400" dirty="0">
                <a:latin typeface="Century Gothic" panose="020B0502020202020204" pitchFamily="34" charset="0"/>
              </a:rPr>
              <a:t>TIO:  25%</a:t>
            </a:r>
          </a:p>
          <a:p>
            <a:pPr algn="just">
              <a:spcBef>
                <a:spcPct val="20000"/>
              </a:spcBef>
            </a:pPr>
            <a:r>
              <a:rPr lang="es-ES" sz="2400" dirty="0" err="1">
                <a:latin typeface="Century Gothic"/>
              </a:rPr>
              <a:t>I</a:t>
            </a:r>
            <a:r>
              <a:rPr lang="es-ES" sz="2400" baseline="-25000" dirty="0" err="1">
                <a:latin typeface="Century Gothic"/>
              </a:rPr>
              <a:t>o</a:t>
            </a:r>
            <a:r>
              <a:rPr lang="es-ES" sz="2400" dirty="0">
                <a:latin typeface="Century Gothic"/>
              </a:rPr>
              <a:t>:  10.000</a:t>
            </a:r>
            <a:endParaRPr lang="es-ES" sz="2400" dirty="0">
              <a:latin typeface="Century Gothic" panose="020B0502020202020204" pitchFamily="34" charset="0"/>
            </a:endParaRPr>
          </a:p>
          <a:p>
            <a:pPr algn="just">
              <a:spcBef>
                <a:spcPct val="20000"/>
              </a:spcBef>
            </a:pPr>
            <a:endParaRPr lang="es-ES" sz="2400" dirty="0">
              <a:latin typeface="Century Gothic" panose="020B0502020202020204" pitchFamily="34" charset="0"/>
            </a:endParaRPr>
          </a:p>
          <a:p>
            <a:pPr algn="just">
              <a:spcBef>
                <a:spcPct val="20000"/>
              </a:spcBef>
            </a:pPr>
            <a:endParaRPr lang="es-ES" sz="2400" dirty="0">
              <a:latin typeface="Century Gothic" panose="020B0502020202020204" pitchFamily="34" charset="0"/>
            </a:endParaRPr>
          </a:p>
          <a:p>
            <a:pPr algn="just">
              <a:spcBef>
                <a:spcPct val="20000"/>
              </a:spcBef>
            </a:pPr>
            <a:endParaRPr lang="es-ES" sz="2400" dirty="0">
              <a:latin typeface="Century Gothic" panose="020B0502020202020204" pitchFamily="34" charset="0"/>
            </a:endParaRPr>
          </a:p>
          <a:p>
            <a:pPr algn="just">
              <a:spcBef>
                <a:spcPct val="20000"/>
              </a:spcBef>
            </a:pPr>
            <a:endParaRPr lang="es-ES" sz="2400" dirty="0">
              <a:latin typeface="Century Gothic" panose="020B0502020202020204" pitchFamily="34" charset="0"/>
            </a:endParaRPr>
          </a:p>
          <a:p>
            <a:pPr algn="just">
              <a:spcBef>
                <a:spcPct val="20000"/>
              </a:spcBef>
            </a:pPr>
            <a:endParaRPr lang="es-ES" sz="2400" dirty="0">
              <a:latin typeface="Century Gothic" panose="020B0502020202020204" pitchFamily="34" charset="0"/>
            </a:endParaRPr>
          </a:p>
          <a:p>
            <a:pPr algn="just">
              <a:spcBef>
                <a:spcPct val="20000"/>
              </a:spcBef>
            </a:pPr>
            <a:endParaRPr lang="es-ES" sz="2400" dirty="0">
              <a:latin typeface="Century Gothic" panose="020B0502020202020204" pitchFamily="34" charset="0"/>
            </a:endParaRPr>
          </a:p>
          <a:p>
            <a:pPr algn="ctr">
              <a:spcBef>
                <a:spcPct val="20000"/>
              </a:spcBef>
            </a:pPr>
            <a:r>
              <a:rPr lang="es-ES" sz="2400" dirty="0">
                <a:latin typeface="Century Gothic"/>
              </a:rPr>
              <a:t>Z sigue una distribución uniforme: m(5.000,15.000)</a:t>
            </a:r>
          </a:p>
        </p:txBody>
      </p:sp>
      <p:graphicFrame>
        <p:nvGraphicFramePr>
          <p:cNvPr id="2" name="Table 1"/>
          <p:cNvGraphicFramePr>
            <a:graphicFrameLocks noGrp="1"/>
          </p:cNvGraphicFramePr>
          <p:nvPr>
            <p:extLst>
              <p:ext uri="{D42A27DB-BD31-4B8C-83A1-F6EECF244321}">
                <p14:modId xmlns:p14="http://schemas.microsoft.com/office/powerpoint/2010/main" val="514812122"/>
              </p:ext>
            </p:extLst>
          </p:nvPr>
        </p:nvGraphicFramePr>
        <p:xfrm>
          <a:off x="2385056" y="3797258"/>
          <a:ext cx="2520282" cy="1554162"/>
        </p:xfrm>
        <a:graphic>
          <a:graphicData uri="http://schemas.openxmlformats.org/drawingml/2006/table">
            <a:tbl>
              <a:tblPr firstRow="1" bandRow="1">
                <a:tableStyleId>{5C22544A-7EE6-4342-B048-85BDC9FD1C3A}</a:tableStyleId>
              </a:tblPr>
              <a:tblGrid>
                <a:gridCol w="1260141">
                  <a:extLst>
                    <a:ext uri="{9D8B030D-6E8A-4147-A177-3AD203B41FA5}">
                      <a16:colId xmlns:a16="http://schemas.microsoft.com/office/drawing/2014/main" val="20000"/>
                    </a:ext>
                  </a:extLst>
                </a:gridCol>
                <a:gridCol w="1260141">
                  <a:extLst>
                    <a:ext uri="{9D8B030D-6E8A-4147-A177-3AD203B41FA5}">
                      <a16:colId xmlns:a16="http://schemas.microsoft.com/office/drawing/2014/main" val="20001"/>
                    </a:ext>
                  </a:extLst>
                </a:gridCol>
              </a:tblGrid>
              <a:tr h="518054">
                <a:tc>
                  <a:txBody>
                    <a:bodyPr/>
                    <a:lstStyle/>
                    <a:p>
                      <a:pPr algn="ctr"/>
                      <a:r>
                        <a:rPr lang="en-US" sz="2400" dirty="0">
                          <a:latin typeface="Century Gothic" panose="020B0502020202020204" pitchFamily="34" charset="0"/>
                          <a:cs typeface="Book Antiqua"/>
                        </a:rPr>
                        <a:t>X</a:t>
                      </a:r>
                    </a:p>
                  </a:txBody>
                  <a:tcPr marL="91462" marR="91462" marT="45703" marB="45703"/>
                </a:tc>
                <a:tc>
                  <a:txBody>
                    <a:bodyPr/>
                    <a:lstStyle/>
                    <a:p>
                      <a:pPr algn="ctr"/>
                      <a:r>
                        <a:rPr lang="en-US" sz="2400" dirty="0">
                          <a:latin typeface="Century Gothic" panose="020B0502020202020204" pitchFamily="34" charset="0"/>
                          <a:cs typeface="Book Antiqua"/>
                        </a:rPr>
                        <a:t>P(X)</a:t>
                      </a:r>
                    </a:p>
                  </a:txBody>
                  <a:tcPr marL="91462" marR="91462" marT="45703" marB="45703"/>
                </a:tc>
                <a:extLst>
                  <a:ext uri="{0D108BD9-81ED-4DB2-BD59-A6C34878D82A}">
                    <a16:rowId xmlns:a16="http://schemas.microsoft.com/office/drawing/2014/main" val="10000"/>
                  </a:ext>
                </a:extLst>
              </a:tr>
              <a:tr h="518054">
                <a:tc>
                  <a:txBody>
                    <a:bodyPr/>
                    <a:lstStyle/>
                    <a:p>
                      <a:pPr algn="ctr"/>
                      <a:r>
                        <a:rPr lang="en-US" sz="2400">
                          <a:latin typeface="Century Gothic"/>
                          <a:cs typeface="Book Antiqua"/>
                        </a:rPr>
                        <a:t>10.000</a:t>
                      </a:r>
                      <a:endParaRPr lang="en-US" sz="2400" dirty="0">
                        <a:latin typeface="Century Gothic" panose="020B0502020202020204" pitchFamily="34" charset="0"/>
                        <a:cs typeface="Book Antiqua"/>
                      </a:endParaRPr>
                    </a:p>
                  </a:txBody>
                  <a:tcPr marL="91462" marR="91462" marT="45703" marB="45703"/>
                </a:tc>
                <a:tc>
                  <a:txBody>
                    <a:bodyPr/>
                    <a:lstStyle/>
                    <a:p>
                      <a:pPr algn="ctr"/>
                      <a:r>
                        <a:rPr lang="en-US" sz="2400">
                          <a:latin typeface="Century Gothic"/>
                          <a:cs typeface="Book Antiqua"/>
                        </a:rPr>
                        <a:t>0,5</a:t>
                      </a:r>
                      <a:endParaRPr lang="en-US" sz="2400" dirty="0">
                        <a:latin typeface="Century Gothic" panose="020B0502020202020204" pitchFamily="34" charset="0"/>
                        <a:cs typeface="Book Antiqua"/>
                      </a:endParaRPr>
                    </a:p>
                  </a:txBody>
                  <a:tcPr marL="91462" marR="91462" marT="45703" marB="45703"/>
                </a:tc>
                <a:extLst>
                  <a:ext uri="{0D108BD9-81ED-4DB2-BD59-A6C34878D82A}">
                    <a16:rowId xmlns:a16="http://schemas.microsoft.com/office/drawing/2014/main" val="10001"/>
                  </a:ext>
                </a:extLst>
              </a:tr>
              <a:tr h="518054">
                <a:tc>
                  <a:txBody>
                    <a:bodyPr/>
                    <a:lstStyle/>
                    <a:p>
                      <a:pPr algn="ctr"/>
                      <a:r>
                        <a:rPr lang="en-US" sz="2400">
                          <a:latin typeface="Century Gothic"/>
                          <a:cs typeface="Book Antiqua"/>
                        </a:rPr>
                        <a:t>2.000</a:t>
                      </a:r>
                      <a:endParaRPr lang="en-US" sz="2400" dirty="0">
                        <a:latin typeface="Century Gothic" panose="020B0502020202020204" pitchFamily="34" charset="0"/>
                        <a:cs typeface="Book Antiqua"/>
                      </a:endParaRPr>
                    </a:p>
                  </a:txBody>
                  <a:tcPr marL="91462" marR="91462" marT="45703" marB="45703"/>
                </a:tc>
                <a:tc>
                  <a:txBody>
                    <a:bodyPr/>
                    <a:lstStyle/>
                    <a:p>
                      <a:pPr algn="ctr"/>
                      <a:r>
                        <a:rPr lang="en-US" sz="2400">
                          <a:latin typeface="Century Gothic"/>
                          <a:cs typeface="Book Antiqua"/>
                        </a:rPr>
                        <a:t>0,5</a:t>
                      </a:r>
                      <a:endParaRPr lang="en-US" sz="2400" dirty="0">
                        <a:latin typeface="Century Gothic" panose="020B0502020202020204" pitchFamily="34" charset="0"/>
                        <a:cs typeface="Book Antiqua"/>
                      </a:endParaRPr>
                    </a:p>
                  </a:txBody>
                  <a:tcPr marL="91462" marR="91462" marT="45703" marB="45703"/>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4231823518"/>
              </p:ext>
            </p:extLst>
          </p:nvPr>
        </p:nvGraphicFramePr>
        <p:xfrm>
          <a:off x="7852861" y="3596227"/>
          <a:ext cx="2663976" cy="2057213"/>
        </p:xfrm>
        <a:graphic>
          <a:graphicData uri="http://schemas.openxmlformats.org/drawingml/2006/table">
            <a:tbl>
              <a:tblPr firstRow="1" bandRow="1">
                <a:tableStyleId>{5C22544A-7EE6-4342-B048-85BDC9FD1C3A}</a:tableStyleId>
              </a:tblPr>
              <a:tblGrid>
                <a:gridCol w="1331988">
                  <a:extLst>
                    <a:ext uri="{9D8B030D-6E8A-4147-A177-3AD203B41FA5}">
                      <a16:colId xmlns:a16="http://schemas.microsoft.com/office/drawing/2014/main" val="20000"/>
                    </a:ext>
                  </a:extLst>
                </a:gridCol>
                <a:gridCol w="1331988">
                  <a:extLst>
                    <a:ext uri="{9D8B030D-6E8A-4147-A177-3AD203B41FA5}">
                      <a16:colId xmlns:a16="http://schemas.microsoft.com/office/drawing/2014/main" val="20001"/>
                    </a:ext>
                  </a:extLst>
                </a:gridCol>
              </a:tblGrid>
              <a:tr h="503447">
                <a:tc>
                  <a:txBody>
                    <a:bodyPr/>
                    <a:lstStyle/>
                    <a:p>
                      <a:pPr algn="ctr"/>
                      <a:r>
                        <a:rPr lang="en-US" sz="2400" dirty="0">
                          <a:latin typeface="Century Gothic" panose="020B0502020202020204" pitchFamily="34" charset="0"/>
                          <a:cs typeface="Book Antiqua"/>
                        </a:rPr>
                        <a:t>Y</a:t>
                      </a:r>
                    </a:p>
                  </a:txBody>
                  <a:tcPr marL="91462" marR="91462" marT="45682" marB="45682"/>
                </a:tc>
                <a:tc>
                  <a:txBody>
                    <a:bodyPr/>
                    <a:lstStyle/>
                    <a:p>
                      <a:pPr algn="ctr"/>
                      <a:r>
                        <a:rPr lang="en-US" sz="2400" dirty="0">
                          <a:latin typeface="Century Gothic" panose="020B0502020202020204" pitchFamily="34" charset="0"/>
                          <a:cs typeface="Book Antiqua"/>
                        </a:rPr>
                        <a:t>P(Y)</a:t>
                      </a:r>
                    </a:p>
                  </a:txBody>
                  <a:tcPr marL="91462" marR="91462" marT="45682" marB="45682"/>
                </a:tc>
                <a:extLst>
                  <a:ext uri="{0D108BD9-81ED-4DB2-BD59-A6C34878D82A}">
                    <a16:rowId xmlns:a16="http://schemas.microsoft.com/office/drawing/2014/main" val="10000"/>
                  </a:ext>
                </a:extLst>
              </a:tr>
              <a:tr h="517922">
                <a:tc>
                  <a:txBody>
                    <a:bodyPr/>
                    <a:lstStyle/>
                    <a:p>
                      <a:pPr algn="ctr"/>
                      <a:r>
                        <a:rPr lang="en-US" sz="2400">
                          <a:latin typeface="Century Gothic"/>
                          <a:cs typeface="Book Antiqua"/>
                        </a:rPr>
                        <a:t>10.000</a:t>
                      </a:r>
                      <a:endParaRPr lang="en-US" sz="2400" dirty="0">
                        <a:latin typeface="Century Gothic" panose="020B0502020202020204" pitchFamily="34" charset="0"/>
                        <a:cs typeface="Book Antiqua"/>
                      </a:endParaRPr>
                    </a:p>
                  </a:txBody>
                  <a:tcPr marL="91462" marR="91462" marT="45682" marB="45682"/>
                </a:tc>
                <a:tc>
                  <a:txBody>
                    <a:bodyPr/>
                    <a:lstStyle/>
                    <a:p>
                      <a:pPr algn="ctr"/>
                      <a:r>
                        <a:rPr lang="en-US" sz="2400" dirty="0">
                          <a:latin typeface="Century Gothic" panose="020B0502020202020204" pitchFamily="34" charset="0"/>
                          <a:cs typeface="Book Antiqua"/>
                        </a:rPr>
                        <a:t>2/3</a:t>
                      </a:r>
                    </a:p>
                  </a:txBody>
                  <a:tcPr marL="91462" marR="91462" marT="45682" marB="45682"/>
                </a:tc>
                <a:extLst>
                  <a:ext uri="{0D108BD9-81ED-4DB2-BD59-A6C34878D82A}">
                    <a16:rowId xmlns:a16="http://schemas.microsoft.com/office/drawing/2014/main" val="10001"/>
                  </a:ext>
                </a:extLst>
              </a:tr>
              <a:tr h="517922">
                <a:tc>
                  <a:txBody>
                    <a:bodyPr/>
                    <a:lstStyle/>
                    <a:p>
                      <a:pPr algn="ctr"/>
                      <a:r>
                        <a:rPr lang="en-US" sz="2400">
                          <a:latin typeface="Century Gothic"/>
                          <a:cs typeface="Book Antiqua"/>
                        </a:rPr>
                        <a:t>5.000</a:t>
                      </a:r>
                      <a:endParaRPr lang="en-US" sz="2400" dirty="0">
                        <a:latin typeface="Century Gothic" panose="020B0502020202020204" pitchFamily="34" charset="0"/>
                        <a:cs typeface="Book Antiqua"/>
                      </a:endParaRPr>
                    </a:p>
                  </a:txBody>
                  <a:tcPr marL="91462" marR="91462" marT="45682" marB="45682"/>
                </a:tc>
                <a:tc>
                  <a:txBody>
                    <a:bodyPr/>
                    <a:lstStyle/>
                    <a:p>
                      <a:pPr algn="ctr"/>
                      <a:r>
                        <a:rPr lang="en-US" sz="2400" dirty="0">
                          <a:latin typeface="Century Gothic" panose="020B0502020202020204" pitchFamily="34" charset="0"/>
                          <a:cs typeface="Book Antiqua"/>
                        </a:rPr>
                        <a:t>1/6</a:t>
                      </a:r>
                    </a:p>
                  </a:txBody>
                  <a:tcPr marL="91462" marR="91462" marT="45682" marB="45682"/>
                </a:tc>
                <a:extLst>
                  <a:ext uri="{0D108BD9-81ED-4DB2-BD59-A6C34878D82A}">
                    <a16:rowId xmlns:a16="http://schemas.microsoft.com/office/drawing/2014/main" val="10002"/>
                  </a:ext>
                </a:extLst>
              </a:tr>
              <a:tr h="517922">
                <a:tc>
                  <a:txBody>
                    <a:bodyPr/>
                    <a:lstStyle/>
                    <a:p>
                      <a:pPr algn="ctr"/>
                      <a:r>
                        <a:rPr lang="en-US" sz="2400">
                          <a:latin typeface="Century Gothic"/>
                          <a:cs typeface="Book Antiqua"/>
                        </a:rPr>
                        <a:t>1.000</a:t>
                      </a:r>
                      <a:endParaRPr lang="en-US" sz="2400" dirty="0">
                        <a:latin typeface="Century Gothic" panose="020B0502020202020204" pitchFamily="34" charset="0"/>
                        <a:cs typeface="Book Antiqua"/>
                      </a:endParaRPr>
                    </a:p>
                  </a:txBody>
                  <a:tcPr marL="91462" marR="91462" marT="45682" marB="45682"/>
                </a:tc>
                <a:tc>
                  <a:txBody>
                    <a:bodyPr/>
                    <a:lstStyle/>
                    <a:p>
                      <a:pPr algn="ctr"/>
                      <a:r>
                        <a:rPr lang="en-US" sz="2400" dirty="0">
                          <a:latin typeface="Century Gothic" panose="020B0502020202020204" pitchFamily="34" charset="0"/>
                          <a:cs typeface="Book Antiqua"/>
                        </a:rPr>
                        <a:t>1/6</a:t>
                      </a:r>
                    </a:p>
                  </a:txBody>
                  <a:tcPr marL="91462" marR="91462" marT="45682" marB="45682"/>
                </a:tc>
                <a:extLst>
                  <a:ext uri="{0D108BD9-81ED-4DB2-BD59-A6C34878D82A}">
                    <a16:rowId xmlns:a16="http://schemas.microsoft.com/office/drawing/2014/main" val="10003"/>
                  </a:ext>
                </a:extLst>
              </a:tr>
            </a:tbl>
          </a:graphicData>
        </a:graphic>
      </p:graphicFrame>
      <p:grpSp>
        <p:nvGrpSpPr>
          <p:cNvPr id="129058" name="Group 13"/>
          <p:cNvGrpSpPr>
            <a:grpSpLocks/>
          </p:cNvGrpSpPr>
          <p:nvPr/>
        </p:nvGrpSpPr>
        <p:grpSpPr bwMode="auto">
          <a:xfrm>
            <a:off x="7205161" y="2077327"/>
            <a:ext cx="2808288" cy="1223962"/>
            <a:chOff x="3491880" y="2492896"/>
            <a:chExt cx="2808312" cy="1224136"/>
          </a:xfrm>
        </p:grpSpPr>
        <p:cxnSp>
          <p:nvCxnSpPr>
            <p:cNvPr id="9" name="Straight Connector 8"/>
            <p:cNvCxnSpPr/>
            <p:nvPr/>
          </p:nvCxnSpPr>
          <p:spPr>
            <a:xfrm>
              <a:off x="3491880" y="3140688"/>
              <a:ext cx="280831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3491880" y="3140688"/>
              <a:ext cx="0" cy="576344"/>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flipV="1">
              <a:off x="4139586" y="2492896"/>
              <a:ext cx="0" cy="647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flipV="1">
              <a:off x="5220683" y="2492896"/>
              <a:ext cx="0" cy="647792"/>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flipV="1">
              <a:off x="6300192" y="2492896"/>
              <a:ext cx="0" cy="647792"/>
            </a:xfrm>
            <a:prstGeom prst="line">
              <a:avLst/>
            </a:prstGeom>
          </p:spPr>
          <p:style>
            <a:lnRef idx="2">
              <a:schemeClr val="accent1"/>
            </a:lnRef>
            <a:fillRef idx="0">
              <a:schemeClr val="accent1"/>
            </a:fillRef>
            <a:effectRef idx="1">
              <a:schemeClr val="accent1"/>
            </a:effectRef>
            <a:fontRef idx="minor">
              <a:schemeClr val="tx1"/>
            </a:fontRef>
          </p:style>
        </p:cxnSp>
      </p:grpSp>
      <p:sp>
        <p:nvSpPr>
          <p:cNvPr id="17" name="TextBox 16"/>
          <p:cNvSpPr txBox="1"/>
          <p:nvPr/>
        </p:nvSpPr>
        <p:spPr>
          <a:xfrm>
            <a:off x="6989262" y="3372727"/>
            <a:ext cx="576263" cy="338554"/>
          </a:xfrm>
          <a:prstGeom prst="rect">
            <a:avLst/>
          </a:prstGeom>
        </p:spPr>
        <p:txBody>
          <a:bodyPr>
            <a:spAutoFit/>
          </a:bodyPr>
          <a:lstStyle/>
          <a:p>
            <a:pPr algn="ctr">
              <a:spcBef>
                <a:spcPct val="20000"/>
              </a:spcBef>
              <a:defRPr/>
            </a:pPr>
            <a:r>
              <a:rPr lang="en-US" sz="1600" dirty="0">
                <a:cs typeface="Arial" pitchFamily="34" charset="0"/>
              </a:rPr>
              <a:t>I</a:t>
            </a:r>
            <a:r>
              <a:rPr lang="en-US" sz="1600" baseline="-25000" dirty="0">
                <a:cs typeface="Arial" pitchFamily="34" charset="0"/>
              </a:rPr>
              <a:t>o</a:t>
            </a:r>
          </a:p>
        </p:txBody>
      </p:sp>
      <p:sp>
        <p:nvSpPr>
          <p:cNvPr id="19" name="TextBox 18"/>
          <p:cNvSpPr txBox="1"/>
          <p:nvPr/>
        </p:nvSpPr>
        <p:spPr>
          <a:xfrm>
            <a:off x="7925887" y="2077327"/>
            <a:ext cx="576263" cy="338554"/>
          </a:xfrm>
          <a:prstGeom prst="rect">
            <a:avLst/>
          </a:prstGeom>
        </p:spPr>
        <p:txBody>
          <a:bodyPr>
            <a:spAutoFit/>
          </a:bodyPr>
          <a:lstStyle/>
          <a:p>
            <a:pPr algn="ctr">
              <a:spcBef>
                <a:spcPct val="20000"/>
              </a:spcBef>
              <a:defRPr/>
            </a:pPr>
            <a:r>
              <a:rPr lang="en-US" sz="1600" dirty="0">
                <a:cs typeface="Arial" pitchFamily="34" charset="0"/>
              </a:rPr>
              <a:t>X</a:t>
            </a:r>
          </a:p>
        </p:txBody>
      </p:sp>
      <p:sp>
        <p:nvSpPr>
          <p:cNvPr id="20" name="TextBox 19"/>
          <p:cNvSpPr txBox="1"/>
          <p:nvPr/>
        </p:nvSpPr>
        <p:spPr>
          <a:xfrm>
            <a:off x="8933949" y="2077327"/>
            <a:ext cx="576262" cy="338554"/>
          </a:xfrm>
          <a:prstGeom prst="rect">
            <a:avLst/>
          </a:prstGeom>
        </p:spPr>
        <p:txBody>
          <a:bodyPr>
            <a:spAutoFit/>
          </a:bodyPr>
          <a:lstStyle/>
          <a:p>
            <a:pPr algn="ctr">
              <a:spcBef>
                <a:spcPct val="20000"/>
              </a:spcBef>
              <a:defRPr/>
            </a:pPr>
            <a:r>
              <a:rPr lang="en-US" sz="1600" dirty="0">
                <a:cs typeface="Arial" pitchFamily="34" charset="0"/>
              </a:rPr>
              <a:t>Y</a:t>
            </a:r>
          </a:p>
        </p:txBody>
      </p:sp>
      <p:sp>
        <p:nvSpPr>
          <p:cNvPr id="21" name="TextBox 20"/>
          <p:cNvSpPr txBox="1"/>
          <p:nvPr/>
        </p:nvSpPr>
        <p:spPr>
          <a:xfrm>
            <a:off x="10013449" y="2067802"/>
            <a:ext cx="576262" cy="338554"/>
          </a:xfrm>
          <a:prstGeom prst="rect">
            <a:avLst/>
          </a:prstGeom>
        </p:spPr>
        <p:txBody>
          <a:bodyPr>
            <a:spAutoFit/>
          </a:bodyPr>
          <a:lstStyle/>
          <a:p>
            <a:pPr algn="ctr">
              <a:spcBef>
                <a:spcPct val="20000"/>
              </a:spcBef>
              <a:defRPr/>
            </a:pPr>
            <a:r>
              <a:rPr lang="en-US" sz="1600" dirty="0">
                <a:cs typeface="Arial" pitchFamily="34" charset="0"/>
              </a:rPr>
              <a:t>Z</a:t>
            </a:r>
          </a:p>
        </p:txBody>
      </p:sp>
      <p:sp>
        <p:nvSpPr>
          <p:cNvPr id="6" name="Título 1">
            <a:extLst>
              <a:ext uri="{FF2B5EF4-FFF2-40B4-BE49-F238E27FC236}">
                <a16:creationId xmlns:a16="http://schemas.microsoft.com/office/drawing/2014/main" id="{84CD8C9F-4B09-8EFC-C9F2-3145C33FA066}"/>
              </a:ext>
            </a:extLst>
          </p:cNvPr>
          <p:cNvSpPr>
            <a:spLocks noGrp="1"/>
          </p:cNvSpPr>
          <p:nvPr>
            <p:ph type="title"/>
          </p:nvPr>
        </p:nvSpPr>
        <p:spPr>
          <a:xfrm>
            <a:off x="581192" y="702156"/>
            <a:ext cx="11527950" cy="1013800"/>
          </a:xfrm>
        </p:spPr>
        <p:txBody>
          <a:bodyPr vert="horz" lIns="91440" tIns="45720" rIns="91440" bIns="45720" rtlCol="0" anchor="b">
            <a:normAutofit/>
          </a:bodyPr>
          <a:lstStyle/>
          <a:p>
            <a:r>
              <a:rPr lang="es-CO" dirty="0">
                <a:latin typeface="Century Gothic" panose="020B0502020202020204" pitchFamily="34" charset="0"/>
              </a:rPr>
              <a:t>Valor esperado y varianza</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370F7C13-1EE6-8C4F-83C5-A8A7CB186947}"/>
              </a:ext>
            </a:extLst>
          </p:cNvPr>
          <p:cNvSpPr txBox="1"/>
          <p:nvPr/>
        </p:nvSpPr>
        <p:spPr>
          <a:xfrm>
            <a:off x="3081393" y="3316553"/>
            <a:ext cx="6029215" cy="1477328"/>
          </a:xfrm>
          <a:prstGeom prst="rect">
            <a:avLst/>
          </a:prstGeom>
          <a:noFill/>
        </p:spPr>
        <p:txBody>
          <a:bodyPr wrap="none" lIns="91440" tIns="45720" rIns="91440" bIns="45720" rtlCol="0" anchor="t">
            <a:spAutoFit/>
          </a:bodyPr>
          <a:lstStyle/>
          <a:p>
            <a:pPr algn="ctr"/>
            <a:r>
              <a:rPr lang="es-CO">
                <a:latin typeface="Century Gothic"/>
              </a:rPr>
              <a:t>E (x) = (10.000*50% + 2.000*50%) = 6.000</a:t>
            </a:r>
          </a:p>
          <a:p>
            <a:pPr algn="ctr"/>
            <a:endParaRPr lang="es-CO" dirty="0">
              <a:latin typeface="Century Gothic" panose="020B0502020202020204" pitchFamily="34" charset="0"/>
            </a:endParaRPr>
          </a:p>
          <a:p>
            <a:pPr algn="ctr"/>
            <a:r>
              <a:rPr lang="es-CO">
                <a:latin typeface="Century Gothic"/>
              </a:rPr>
              <a:t>E (y) = (10.000*2/3 + 5.000*1/6 + 1.000*1/6) = 7.666,67</a:t>
            </a:r>
          </a:p>
          <a:p>
            <a:pPr algn="ctr"/>
            <a:endParaRPr lang="es-CO" dirty="0">
              <a:latin typeface="Century Gothic" panose="020B0502020202020204" pitchFamily="34" charset="0"/>
            </a:endParaRPr>
          </a:p>
          <a:p>
            <a:pPr algn="ctr"/>
            <a:r>
              <a:rPr lang="es-CO" dirty="0">
                <a:latin typeface="Century Gothic"/>
              </a:rPr>
              <a:t>E (z) = (</a:t>
            </a:r>
            <a:r>
              <a:rPr lang="es-CO" dirty="0" err="1">
                <a:latin typeface="Century Gothic"/>
              </a:rPr>
              <a:t>b+a</a:t>
            </a:r>
            <a:r>
              <a:rPr lang="es-CO" dirty="0">
                <a:latin typeface="Century Gothic"/>
              </a:rPr>
              <a:t>)/2 = (15.000 + 5.000)/2 = 10.000</a:t>
            </a:r>
          </a:p>
        </p:txBody>
      </p:sp>
      <p:sp>
        <p:nvSpPr>
          <p:cNvPr id="6" name="CuadroTexto 5">
            <a:extLst>
              <a:ext uri="{FF2B5EF4-FFF2-40B4-BE49-F238E27FC236}">
                <a16:creationId xmlns:a16="http://schemas.microsoft.com/office/drawing/2014/main" id="{3698E194-6D72-044E-B2FD-EBB8D2683D3D}"/>
              </a:ext>
            </a:extLst>
          </p:cNvPr>
          <p:cNvSpPr txBox="1"/>
          <p:nvPr/>
        </p:nvSpPr>
        <p:spPr>
          <a:xfrm>
            <a:off x="2998821" y="5307650"/>
            <a:ext cx="6264696" cy="1200329"/>
          </a:xfrm>
          <a:prstGeom prst="rect">
            <a:avLst/>
          </a:prstGeom>
          <a:noFill/>
        </p:spPr>
        <p:txBody>
          <a:bodyPr wrap="square" lIns="91440" tIns="45720" rIns="91440" bIns="45720" rtlCol="0" anchor="t">
            <a:spAutoFit/>
          </a:bodyPr>
          <a:lstStyle/>
          <a:p>
            <a:pPr algn="ctr"/>
            <a:r>
              <a:rPr lang="es-CO">
                <a:latin typeface="Century Gothic"/>
              </a:rPr>
              <a:t>E(VPN) = - 10.000 + 6.000/(1+25%) + 7.666,67/(1+25%)</a:t>
            </a:r>
            <a:r>
              <a:rPr lang="es-CO" baseline="30000" dirty="0">
                <a:latin typeface="Century Gothic"/>
              </a:rPr>
              <a:t>2</a:t>
            </a:r>
            <a:r>
              <a:rPr lang="es-CO" dirty="0">
                <a:latin typeface="Century Gothic"/>
              </a:rPr>
              <a:t> + </a:t>
            </a:r>
            <a:r>
              <a:rPr lang="es-CO">
                <a:latin typeface="Century Gothic"/>
              </a:rPr>
              <a:t>10.000/(1+25%)</a:t>
            </a:r>
            <a:r>
              <a:rPr lang="es-CO" baseline="30000" dirty="0">
                <a:latin typeface="Century Gothic"/>
              </a:rPr>
              <a:t>3</a:t>
            </a:r>
            <a:r>
              <a:rPr lang="es-CO" dirty="0">
                <a:latin typeface="Century Gothic"/>
              </a:rPr>
              <a:t> </a:t>
            </a:r>
          </a:p>
          <a:p>
            <a:pPr algn="ctr"/>
            <a:endParaRPr lang="es-CO" dirty="0">
              <a:latin typeface="Century Gothic" panose="020B0502020202020204" pitchFamily="34" charset="0"/>
            </a:endParaRPr>
          </a:p>
          <a:p>
            <a:pPr algn="ctr"/>
            <a:r>
              <a:rPr lang="es-CO">
                <a:latin typeface="Century Gothic"/>
              </a:rPr>
              <a:t>E(VPN) = 4.827</a:t>
            </a:r>
            <a:endParaRPr lang="es-CO">
              <a:latin typeface="Century Gothic" panose="020B0502020202020204" pitchFamily="34" charset="0"/>
            </a:endParaRPr>
          </a:p>
        </p:txBody>
      </p:sp>
      <p:pic>
        <p:nvPicPr>
          <p:cNvPr id="5" name="Imagen 4">
            <a:extLst>
              <a:ext uri="{FF2B5EF4-FFF2-40B4-BE49-F238E27FC236}">
                <a16:creationId xmlns:a16="http://schemas.microsoft.com/office/drawing/2014/main" id="{CDFF72AF-6C3B-B761-8AA7-7C19DD9AE5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2897" y="1910445"/>
            <a:ext cx="4896544" cy="892339"/>
          </a:xfrm>
          <a:prstGeom prst="rect">
            <a:avLst/>
          </a:prstGeom>
        </p:spPr>
      </p:pic>
      <p:sp>
        <p:nvSpPr>
          <p:cNvPr id="8" name="Título 1">
            <a:extLst>
              <a:ext uri="{FF2B5EF4-FFF2-40B4-BE49-F238E27FC236}">
                <a16:creationId xmlns:a16="http://schemas.microsoft.com/office/drawing/2014/main" id="{079AEFE6-A0EA-24F5-CB58-E43AF6B9B324}"/>
              </a:ext>
            </a:extLst>
          </p:cNvPr>
          <p:cNvSpPr>
            <a:spLocks noGrp="1"/>
          </p:cNvSpPr>
          <p:nvPr>
            <p:ph type="title"/>
          </p:nvPr>
        </p:nvSpPr>
        <p:spPr>
          <a:xfrm>
            <a:off x="581192" y="702156"/>
            <a:ext cx="11527950" cy="1013800"/>
          </a:xfrm>
        </p:spPr>
        <p:txBody>
          <a:bodyPr vert="horz" lIns="91440" tIns="45720" rIns="91440" bIns="45720" rtlCol="0" anchor="b">
            <a:normAutofit/>
          </a:bodyPr>
          <a:lstStyle/>
          <a:p>
            <a:r>
              <a:rPr lang="es-CO" dirty="0">
                <a:latin typeface="Century Gothic" panose="020B0502020202020204" pitchFamily="34" charset="0"/>
              </a:rPr>
              <a:t>Valor esperado y varianza</a:t>
            </a:r>
          </a:p>
        </p:txBody>
      </p:sp>
    </p:spTree>
    <p:extLst>
      <p:ext uri="{BB962C8B-B14F-4D97-AF65-F5344CB8AC3E}">
        <p14:creationId xmlns:p14="http://schemas.microsoft.com/office/powerpoint/2010/main" val="2711095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AD093901-2E28-1348-879F-306B2EB229F7}"/>
              </a:ext>
            </a:extLst>
          </p:cNvPr>
          <p:cNvSpPr txBox="1"/>
          <p:nvPr/>
        </p:nvSpPr>
        <p:spPr>
          <a:xfrm>
            <a:off x="425445" y="3135107"/>
            <a:ext cx="11186545" cy="1384995"/>
          </a:xfrm>
          <a:prstGeom prst="rect">
            <a:avLst/>
          </a:prstGeom>
          <a:noFill/>
        </p:spPr>
        <p:txBody>
          <a:bodyPr wrap="square" lIns="91440" tIns="45720" rIns="91440" bIns="45720" rtlCol="0" anchor="t">
            <a:spAutoFit/>
          </a:bodyPr>
          <a:lstStyle/>
          <a:p>
            <a:pPr algn="ctr"/>
            <a:r>
              <a:rPr lang="es-CO" sz="1400">
                <a:latin typeface="Century Gothic"/>
              </a:rPr>
              <a:t>Var (x) = (50%*(10.000-6.000)</a:t>
            </a:r>
            <a:r>
              <a:rPr lang="es-CO" sz="1400" baseline="30000" dirty="0">
                <a:latin typeface="Century Gothic"/>
              </a:rPr>
              <a:t>2</a:t>
            </a:r>
            <a:r>
              <a:rPr lang="es-CO" sz="1400">
                <a:latin typeface="Century Gothic"/>
              </a:rPr>
              <a:t> + 50%*(2.000-6.000)</a:t>
            </a:r>
            <a:r>
              <a:rPr lang="es-CO" sz="1400" baseline="30000" dirty="0">
                <a:latin typeface="Century Gothic"/>
              </a:rPr>
              <a:t>2</a:t>
            </a:r>
            <a:r>
              <a:rPr lang="es-CO" sz="1400">
                <a:latin typeface="Century Gothic"/>
              </a:rPr>
              <a:t>) = 16.000.000</a:t>
            </a:r>
            <a:endParaRPr lang="es-CO" sz="1400" dirty="0">
              <a:latin typeface="Century Gothic"/>
            </a:endParaRPr>
          </a:p>
          <a:p>
            <a:pPr algn="ctr"/>
            <a:endParaRPr lang="es-CO" sz="1400" dirty="0">
              <a:latin typeface="Century Gothic" panose="020B0502020202020204" pitchFamily="34" charset="0"/>
            </a:endParaRPr>
          </a:p>
          <a:p>
            <a:pPr algn="ctr"/>
            <a:r>
              <a:rPr lang="es-CO" sz="1400">
                <a:latin typeface="Century Gothic"/>
              </a:rPr>
              <a:t>Var (y) = (2/3*(10.000-7.666,67)</a:t>
            </a:r>
            <a:r>
              <a:rPr lang="es-CO" sz="1400" baseline="30000" dirty="0">
                <a:latin typeface="Century Gothic"/>
              </a:rPr>
              <a:t>2</a:t>
            </a:r>
            <a:r>
              <a:rPr lang="es-CO" sz="1400">
                <a:latin typeface="Century Gothic"/>
              </a:rPr>
              <a:t> + 1/6*(5.000-7.666,67)</a:t>
            </a:r>
            <a:r>
              <a:rPr lang="es-CO" sz="1400" baseline="30000" dirty="0">
                <a:latin typeface="Century Gothic"/>
              </a:rPr>
              <a:t>2</a:t>
            </a:r>
            <a:r>
              <a:rPr lang="es-CO" sz="1400">
                <a:latin typeface="Century Gothic"/>
              </a:rPr>
              <a:t> + (1/6*(10.00-7.666,67)</a:t>
            </a:r>
            <a:r>
              <a:rPr lang="es-CO" sz="1400" baseline="30000" dirty="0">
                <a:latin typeface="Century Gothic"/>
              </a:rPr>
              <a:t>2</a:t>
            </a:r>
            <a:r>
              <a:rPr lang="es-CO" sz="1400" dirty="0">
                <a:latin typeface="Century Gothic"/>
              </a:rPr>
              <a:t>) </a:t>
            </a:r>
          </a:p>
          <a:p>
            <a:pPr algn="ctr"/>
            <a:r>
              <a:rPr lang="es-CO" sz="1400">
                <a:latin typeface="Century Gothic"/>
              </a:rPr>
              <a:t>Var (y) = 12.222.222</a:t>
            </a:r>
            <a:endParaRPr lang="es-CO" sz="1400">
              <a:latin typeface="Century Gothic" panose="020B0502020202020204" pitchFamily="34" charset="0"/>
            </a:endParaRPr>
          </a:p>
          <a:p>
            <a:pPr algn="ctr"/>
            <a:endParaRPr lang="es-CO" sz="1400" dirty="0">
              <a:latin typeface="Century Gothic" panose="020B0502020202020204" pitchFamily="34" charset="0"/>
            </a:endParaRPr>
          </a:p>
          <a:p>
            <a:pPr algn="ctr"/>
            <a:r>
              <a:rPr lang="es-CO" sz="1400" dirty="0">
                <a:latin typeface="Century Gothic"/>
              </a:rPr>
              <a:t>Var (z) = (b-a)</a:t>
            </a:r>
            <a:r>
              <a:rPr lang="es-CO" sz="1400" baseline="30000" dirty="0">
                <a:latin typeface="Century Gothic"/>
              </a:rPr>
              <a:t>2</a:t>
            </a:r>
            <a:r>
              <a:rPr lang="es-CO" sz="1400">
                <a:latin typeface="Century Gothic"/>
              </a:rPr>
              <a:t>/12 = (15.000-5.000)</a:t>
            </a:r>
            <a:r>
              <a:rPr lang="es-CO" sz="1400" baseline="30000" dirty="0">
                <a:latin typeface="Century Gothic"/>
              </a:rPr>
              <a:t>2</a:t>
            </a:r>
            <a:r>
              <a:rPr lang="es-CO" sz="1400">
                <a:latin typeface="Century Gothic"/>
              </a:rPr>
              <a:t>/12 = 8.333.333</a:t>
            </a:r>
          </a:p>
        </p:txBody>
      </p:sp>
      <p:sp>
        <p:nvSpPr>
          <p:cNvPr id="7" name="CuadroTexto 6">
            <a:extLst>
              <a:ext uri="{FF2B5EF4-FFF2-40B4-BE49-F238E27FC236}">
                <a16:creationId xmlns:a16="http://schemas.microsoft.com/office/drawing/2014/main" id="{94098093-D664-0648-A2CF-8E1AA91695B5}"/>
              </a:ext>
            </a:extLst>
          </p:cNvPr>
          <p:cNvSpPr txBox="1"/>
          <p:nvPr/>
        </p:nvSpPr>
        <p:spPr>
          <a:xfrm>
            <a:off x="425446" y="4658018"/>
            <a:ext cx="11186546" cy="1169551"/>
          </a:xfrm>
          <a:prstGeom prst="rect">
            <a:avLst/>
          </a:prstGeom>
          <a:noFill/>
        </p:spPr>
        <p:txBody>
          <a:bodyPr wrap="square" lIns="91440" tIns="45720" rIns="91440" bIns="45720" rtlCol="0" anchor="t">
            <a:spAutoFit/>
          </a:bodyPr>
          <a:lstStyle/>
          <a:p>
            <a:pPr algn="ctr"/>
            <a:r>
              <a:rPr lang="es-CO" sz="1400" dirty="0">
                <a:latin typeface="Century Gothic"/>
              </a:rPr>
              <a:t>Var (VPN) =  Var </a:t>
            </a:r>
            <a:r>
              <a:rPr lang="es-CO" sz="1400" dirty="0" err="1">
                <a:latin typeface="Century Gothic"/>
              </a:rPr>
              <a:t>I</a:t>
            </a:r>
            <a:r>
              <a:rPr lang="es-CO" sz="1400" baseline="-25000" dirty="0" err="1">
                <a:latin typeface="Century Gothic"/>
              </a:rPr>
              <a:t>o</a:t>
            </a:r>
            <a:r>
              <a:rPr lang="es-CO" sz="1400" baseline="-25000" dirty="0">
                <a:latin typeface="Century Gothic"/>
              </a:rPr>
              <a:t> </a:t>
            </a:r>
            <a:r>
              <a:rPr lang="es-CO" sz="1400" dirty="0">
                <a:latin typeface="Century Gothic"/>
              </a:rPr>
              <a:t>+ Var ((x)/(1+25%)) + Var((y)/(1+25%)</a:t>
            </a:r>
            <a:r>
              <a:rPr lang="es-CO" sz="1400" baseline="30000" dirty="0">
                <a:latin typeface="Century Gothic"/>
              </a:rPr>
              <a:t>2</a:t>
            </a:r>
            <a:r>
              <a:rPr lang="es-CO" sz="1400" dirty="0">
                <a:latin typeface="Century Gothic"/>
              </a:rPr>
              <a:t>) + Var ((z)/(1+25%)</a:t>
            </a:r>
            <a:r>
              <a:rPr lang="es-CO" sz="1400" baseline="30000" dirty="0">
                <a:latin typeface="Century Gothic"/>
              </a:rPr>
              <a:t>3</a:t>
            </a:r>
            <a:r>
              <a:rPr lang="es-CO" sz="1400" dirty="0">
                <a:latin typeface="Century Gothic"/>
              </a:rPr>
              <a:t>)</a:t>
            </a:r>
          </a:p>
          <a:p>
            <a:pPr algn="ctr"/>
            <a:endParaRPr lang="es-CO" sz="1400" dirty="0">
              <a:latin typeface="Century Gothic" panose="020B0502020202020204" pitchFamily="34" charset="0"/>
            </a:endParaRPr>
          </a:p>
          <a:p>
            <a:pPr algn="ctr"/>
            <a:r>
              <a:rPr lang="es-CO" sz="1400">
                <a:latin typeface="Century Gothic"/>
              </a:rPr>
              <a:t>Var (VPN) =   0 + 16.000.000/(1+25%)</a:t>
            </a:r>
            <a:r>
              <a:rPr lang="es-CO" sz="1400" baseline="30000" dirty="0">
                <a:latin typeface="Century Gothic"/>
              </a:rPr>
              <a:t>2</a:t>
            </a:r>
            <a:r>
              <a:rPr lang="es-CO" sz="1400">
                <a:latin typeface="Century Gothic"/>
              </a:rPr>
              <a:t> + 12.222.222/(1+25%)</a:t>
            </a:r>
            <a:r>
              <a:rPr lang="es-CO" sz="1400" baseline="30000" dirty="0">
                <a:latin typeface="Century Gothic"/>
              </a:rPr>
              <a:t>4</a:t>
            </a:r>
            <a:r>
              <a:rPr lang="es-CO" sz="1400">
                <a:latin typeface="Century Gothic"/>
              </a:rPr>
              <a:t> + 8.333.333/(1+25%)</a:t>
            </a:r>
            <a:r>
              <a:rPr lang="es-CO" sz="1400" baseline="30000" dirty="0">
                <a:latin typeface="Century Gothic"/>
              </a:rPr>
              <a:t>6</a:t>
            </a:r>
            <a:r>
              <a:rPr lang="es-CO" sz="1400" dirty="0">
                <a:latin typeface="Century Gothic"/>
              </a:rPr>
              <a:t> </a:t>
            </a:r>
          </a:p>
          <a:p>
            <a:pPr algn="ctr"/>
            <a:endParaRPr lang="es-CO" sz="1400" dirty="0">
              <a:latin typeface="Century Gothic" panose="020B0502020202020204" pitchFamily="34" charset="0"/>
            </a:endParaRPr>
          </a:p>
          <a:p>
            <a:pPr algn="ctr"/>
            <a:r>
              <a:rPr lang="es-CO" sz="1400">
                <a:latin typeface="Century Gothic"/>
              </a:rPr>
              <a:t>Var (VPN) =   17.430.755</a:t>
            </a:r>
            <a:endParaRPr lang="es-CO" sz="1400">
              <a:latin typeface="Century Gothic" panose="020B0502020202020204" pitchFamily="34" charset="0"/>
            </a:endParaRPr>
          </a:p>
        </p:txBody>
      </p:sp>
      <p:sp>
        <p:nvSpPr>
          <p:cNvPr id="8" name="CuadroTexto 7">
            <a:extLst>
              <a:ext uri="{FF2B5EF4-FFF2-40B4-BE49-F238E27FC236}">
                <a16:creationId xmlns:a16="http://schemas.microsoft.com/office/drawing/2014/main" id="{272F1F4A-B5B4-E147-8A62-EB44CEB40C40}"/>
              </a:ext>
            </a:extLst>
          </p:cNvPr>
          <p:cNvSpPr txBox="1"/>
          <p:nvPr/>
        </p:nvSpPr>
        <p:spPr>
          <a:xfrm>
            <a:off x="425444" y="6030961"/>
            <a:ext cx="11186546" cy="369332"/>
          </a:xfrm>
          <a:prstGeom prst="rect">
            <a:avLst/>
          </a:prstGeom>
          <a:noFill/>
        </p:spPr>
        <p:txBody>
          <a:bodyPr wrap="square" lIns="91440" tIns="45720" rIns="91440" bIns="45720" rtlCol="0" anchor="t">
            <a:spAutoFit/>
          </a:bodyPr>
          <a:lstStyle/>
          <a:p>
            <a:pPr algn="ctr"/>
            <a:r>
              <a:rPr lang="es-CO" dirty="0" err="1">
                <a:latin typeface="Century Gothic"/>
              </a:rPr>
              <a:t>Desvstand</a:t>
            </a:r>
            <a:r>
              <a:rPr lang="es-CO" dirty="0">
                <a:latin typeface="Century Gothic"/>
              </a:rPr>
              <a:t> (VPN) = (Var(VPN)</a:t>
            </a:r>
            <a:r>
              <a:rPr lang="es-CO" baseline="30000" dirty="0">
                <a:latin typeface="Century Gothic"/>
              </a:rPr>
              <a:t>(1/2)</a:t>
            </a:r>
            <a:r>
              <a:rPr lang="es-CO" dirty="0">
                <a:latin typeface="Century Gothic"/>
              </a:rPr>
              <a:t>) = 4.175</a:t>
            </a:r>
            <a:endParaRPr lang="es-CO" dirty="0">
              <a:latin typeface="Century Gothic" panose="020B0502020202020204" pitchFamily="34" charset="0"/>
            </a:endParaRPr>
          </a:p>
        </p:txBody>
      </p:sp>
      <p:pic>
        <p:nvPicPr>
          <p:cNvPr id="2" name="Imagen 1">
            <a:extLst>
              <a:ext uri="{FF2B5EF4-FFF2-40B4-BE49-F238E27FC236}">
                <a16:creationId xmlns:a16="http://schemas.microsoft.com/office/drawing/2014/main" id="{CC78445A-5F9D-F5CE-A567-AA12025AD4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42453" y="1934896"/>
            <a:ext cx="4752528" cy="1106154"/>
          </a:xfrm>
          <a:prstGeom prst="rect">
            <a:avLst/>
          </a:prstGeom>
        </p:spPr>
      </p:pic>
      <p:sp>
        <p:nvSpPr>
          <p:cNvPr id="9" name="Título 1">
            <a:extLst>
              <a:ext uri="{FF2B5EF4-FFF2-40B4-BE49-F238E27FC236}">
                <a16:creationId xmlns:a16="http://schemas.microsoft.com/office/drawing/2014/main" id="{98A0DF08-81A4-10E7-564D-2B80BD1A4C92}"/>
              </a:ext>
            </a:extLst>
          </p:cNvPr>
          <p:cNvSpPr>
            <a:spLocks noGrp="1"/>
          </p:cNvSpPr>
          <p:nvPr>
            <p:ph type="title"/>
          </p:nvPr>
        </p:nvSpPr>
        <p:spPr>
          <a:xfrm>
            <a:off x="581192" y="702156"/>
            <a:ext cx="11527950" cy="1013800"/>
          </a:xfrm>
        </p:spPr>
        <p:txBody>
          <a:bodyPr vert="horz" lIns="91440" tIns="45720" rIns="91440" bIns="45720" rtlCol="0" anchor="b">
            <a:normAutofit/>
          </a:bodyPr>
          <a:lstStyle/>
          <a:p>
            <a:r>
              <a:rPr lang="es-CO" dirty="0">
                <a:latin typeface="Century Gothic" panose="020B0502020202020204" pitchFamily="34" charset="0"/>
              </a:rPr>
              <a:t>Valor esperado y varianza</a:t>
            </a:r>
          </a:p>
        </p:txBody>
      </p:sp>
    </p:spTree>
    <p:extLst>
      <p:ext uri="{BB962C8B-B14F-4D97-AF65-F5344CB8AC3E}">
        <p14:creationId xmlns:p14="http://schemas.microsoft.com/office/powerpoint/2010/main" val="3413329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p:cNvSpPr>
          <p:nvPr/>
        </p:nvSpPr>
        <p:spPr bwMode="auto">
          <a:xfrm>
            <a:off x="488272" y="1877750"/>
            <a:ext cx="11230252" cy="39703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gn="just">
              <a:spcBef>
                <a:spcPct val="20000"/>
              </a:spcBef>
            </a:pPr>
            <a:r>
              <a:rPr lang="es-ES" sz="2000" dirty="0">
                <a:latin typeface="Century Gothic" panose="020B0502020202020204" pitchFamily="34" charset="0"/>
                <a:cs typeface="Avenir Book"/>
              </a:rPr>
              <a:t>Para mostrar la fluctuación relativa o </a:t>
            </a:r>
            <a:r>
              <a:rPr lang="es-ES" sz="2000" dirty="0">
                <a:solidFill>
                  <a:schemeClr val="accent2">
                    <a:lumMod val="50000"/>
                  </a:schemeClr>
                </a:solidFill>
                <a:latin typeface="Century Gothic" panose="020B0502020202020204" pitchFamily="34" charset="0"/>
                <a:cs typeface="Avenir Book"/>
              </a:rPr>
              <a:t>riesgo relativo</a:t>
            </a:r>
            <a:r>
              <a:rPr lang="es-ES" sz="2000" dirty="0">
                <a:solidFill>
                  <a:srgbClr val="006666"/>
                </a:solidFill>
                <a:latin typeface="Century Gothic" panose="020B0502020202020204" pitchFamily="34" charset="0"/>
                <a:cs typeface="Avenir Book"/>
              </a:rPr>
              <a:t> </a:t>
            </a:r>
            <a:r>
              <a:rPr lang="es-ES" sz="2000" dirty="0">
                <a:latin typeface="Century Gothic" panose="020B0502020202020204" pitchFamily="34" charset="0"/>
                <a:cs typeface="Avenir Book"/>
              </a:rPr>
              <a:t>se utiliza el </a:t>
            </a:r>
            <a:r>
              <a:rPr lang="es-ES" sz="2000" b="1" dirty="0">
                <a:solidFill>
                  <a:schemeClr val="accent2">
                    <a:lumMod val="50000"/>
                  </a:schemeClr>
                </a:solidFill>
                <a:latin typeface="Century Gothic" panose="020B0502020202020204" pitchFamily="34" charset="0"/>
                <a:cs typeface="Avenir Book"/>
              </a:rPr>
              <a:t>coeficiente de variación</a:t>
            </a:r>
            <a:r>
              <a:rPr lang="es-ES" sz="2000" b="1" dirty="0">
                <a:solidFill>
                  <a:srgbClr val="006666"/>
                </a:solidFill>
                <a:latin typeface="Century Gothic" panose="020B0502020202020204" pitchFamily="34" charset="0"/>
                <a:cs typeface="Avenir Book"/>
              </a:rPr>
              <a:t> </a:t>
            </a:r>
            <a:r>
              <a:rPr lang="es-ES" sz="2000" dirty="0">
                <a:latin typeface="Century Gothic" panose="020B0502020202020204" pitchFamily="34" charset="0"/>
                <a:cs typeface="Avenir Book"/>
              </a:rPr>
              <a:t>que se define como:</a:t>
            </a:r>
          </a:p>
          <a:p>
            <a:pPr algn="just">
              <a:spcBef>
                <a:spcPct val="20000"/>
              </a:spcBef>
            </a:pPr>
            <a:r>
              <a:rPr lang="es-ES" sz="2000" b="1" dirty="0">
                <a:latin typeface="Century Gothic" panose="020B0502020202020204" pitchFamily="34" charset="0"/>
                <a:cs typeface="Avenir Book"/>
              </a:rPr>
              <a:t>   </a:t>
            </a:r>
          </a:p>
          <a:p>
            <a:pPr algn="ctr">
              <a:spcBef>
                <a:spcPct val="20000"/>
              </a:spcBef>
            </a:pPr>
            <a:endParaRPr lang="es-ES" sz="2000" b="1" dirty="0">
              <a:latin typeface="Century Gothic" panose="020B0502020202020204" pitchFamily="34" charset="0"/>
              <a:cs typeface="Avenir Book"/>
            </a:endParaRPr>
          </a:p>
          <a:p>
            <a:pPr algn="just">
              <a:spcBef>
                <a:spcPct val="20000"/>
              </a:spcBef>
            </a:pPr>
            <a:endParaRPr lang="es-ES" sz="2000" dirty="0">
              <a:latin typeface="Century Gothic" panose="020B0502020202020204" pitchFamily="34" charset="0"/>
              <a:ea typeface="Lucida Grande"/>
              <a:cs typeface="Avenir Book"/>
            </a:endParaRPr>
          </a:p>
          <a:p>
            <a:pPr algn="just">
              <a:spcBef>
                <a:spcPct val="20000"/>
              </a:spcBef>
            </a:pPr>
            <a:r>
              <a:rPr lang="es-ES" sz="2000" dirty="0">
                <a:latin typeface="Century Gothic" panose="020B0502020202020204" pitchFamily="34" charset="0"/>
                <a:ea typeface="Lucida Grande"/>
                <a:cs typeface="Avenir Book"/>
              </a:rPr>
              <a:t>Donde:</a:t>
            </a:r>
          </a:p>
          <a:p>
            <a:pPr algn="just">
              <a:spcBef>
                <a:spcPct val="20000"/>
              </a:spcBef>
            </a:pPr>
            <a:r>
              <a:rPr lang="es-ES" sz="2000" dirty="0" err="1">
                <a:latin typeface="Century Gothic" panose="020B0502020202020204" pitchFamily="34" charset="0"/>
                <a:ea typeface="Lucida Grande"/>
                <a:cs typeface="Avenir Book"/>
              </a:rPr>
              <a:t>δ</a:t>
            </a:r>
            <a:r>
              <a:rPr lang="es-ES" sz="2000" dirty="0">
                <a:latin typeface="Century Gothic" panose="020B0502020202020204" pitchFamily="34" charset="0"/>
                <a:cs typeface="Avenir Book"/>
              </a:rPr>
              <a:t> :  	Desviación estándar</a:t>
            </a:r>
          </a:p>
          <a:p>
            <a:pPr algn="just">
              <a:spcBef>
                <a:spcPct val="20000"/>
              </a:spcBef>
            </a:pPr>
            <a:r>
              <a:rPr lang="es-ES" sz="2000" dirty="0">
                <a:latin typeface="Century Gothic" panose="020B0502020202020204" pitchFamily="34" charset="0"/>
                <a:cs typeface="Avenir Book"/>
              </a:rPr>
              <a:t>E(X):	Valor esperado </a:t>
            </a:r>
          </a:p>
          <a:p>
            <a:pPr algn="just">
              <a:spcBef>
                <a:spcPct val="20000"/>
              </a:spcBef>
            </a:pPr>
            <a:endParaRPr lang="es-ES" sz="2000" dirty="0">
              <a:latin typeface="Century Gothic" panose="020B0502020202020204" pitchFamily="34" charset="0"/>
              <a:cs typeface="Avenir Book"/>
            </a:endParaRPr>
          </a:p>
          <a:p>
            <a:pPr algn="just">
              <a:spcBef>
                <a:spcPct val="20000"/>
              </a:spcBef>
            </a:pPr>
            <a:r>
              <a:rPr lang="es-ES" sz="2000" dirty="0">
                <a:latin typeface="Century Gothic" panose="020B0502020202020204" pitchFamily="34" charset="0"/>
                <a:cs typeface="Avenir Book"/>
              </a:rPr>
              <a:t>Este coeficiente permite relativizar la fluctuación como un porcentaje del valor esperado.</a:t>
            </a:r>
          </a:p>
        </p:txBody>
      </p:sp>
      <p:graphicFrame>
        <p:nvGraphicFramePr>
          <p:cNvPr id="5" name="Object 12"/>
          <p:cNvGraphicFramePr>
            <a:graphicFrameLocks noChangeAspect="1"/>
          </p:cNvGraphicFramePr>
          <p:nvPr/>
        </p:nvGraphicFramePr>
        <p:xfrm>
          <a:off x="4032012" y="2672916"/>
          <a:ext cx="3679609" cy="756084"/>
        </p:xfrm>
        <a:graphic>
          <a:graphicData uri="http://schemas.openxmlformats.org/presentationml/2006/ole">
            <mc:AlternateContent xmlns:mc="http://schemas.openxmlformats.org/markup-compatibility/2006">
              <mc:Choice xmlns:v="urn:schemas-microsoft-com:vml" Requires="v">
                <p:oleObj name="Equation" r:id="rId3" imgW="2057400" imgH="469900" progId="Equation.3">
                  <p:embed/>
                </p:oleObj>
              </mc:Choice>
              <mc:Fallback>
                <p:oleObj name="Equation" r:id="rId3" imgW="2057400" imgH="469900" progId="Equation.3">
                  <p:embed/>
                  <p:pic>
                    <p:nvPicPr>
                      <p:cNvPr id="5" name="Object 12"/>
                      <p:cNvPicPr>
                        <a:picLocks noChangeAspect="1" noChangeArrowheads="1"/>
                      </p:cNvPicPr>
                      <p:nvPr/>
                    </p:nvPicPr>
                    <p:blipFill>
                      <a:blip r:embed="rId4"/>
                      <a:srcRect/>
                      <a:stretch>
                        <a:fillRect/>
                      </a:stretch>
                    </p:blipFill>
                    <p:spPr bwMode="auto">
                      <a:xfrm>
                        <a:off x="4032012" y="2672916"/>
                        <a:ext cx="3679609" cy="756084"/>
                      </a:xfrm>
                      <a:prstGeom prst="rect">
                        <a:avLst/>
                      </a:prstGeom>
                      <a:solidFill>
                        <a:schemeClr val="accent1">
                          <a:lumMod val="40000"/>
                          <a:lumOff val="60000"/>
                        </a:schemeClr>
                      </a:solidFill>
                      <a:ln>
                        <a:solidFill>
                          <a:schemeClr val="accent1"/>
                        </a:solidFill>
                      </a:ln>
                    </p:spPr>
                  </p:pic>
                </p:oleObj>
              </mc:Fallback>
            </mc:AlternateContent>
          </a:graphicData>
        </a:graphic>
      </p:graphicFrame>
      <p:sp>
        <p:nvSpPr>
          <p:cNvPr id="7" name="Título 1">
            <a:extLst>
              <a:ext uri="{FF2B5EF4-FFF2-40B4-BE49-F238E27FC236}">
                <a16:creationId xmlns:a16="http://schemas.microsoft.com/office/drawing/2014/main" id="{D0459CA3-C0BC-2E95-7942-14A4CE448A0E}"/>
              </a:ext>
            </a:extLst>
          </p:cNvPr>
          <p:cNvSpPr>
            <a:spLocks noGrp="1"/>
          </p:cNvSpPr>
          <p:nvPr>
            <p:ph type="title"/>
          </p:nvPr>
        </p:nvSpPr>
        <p:spPr/>
        <p:txBody>
          <a:bodyPr vert="horz" lIns="91440" tIns="45720" rIns="91440" bIns="45720" rtlCol="0" anchor="b">
            <a:normAutofit/>
          </a:bodyPr>
          <a:lstStyle/>
          <a:p>
            <a:r>
              <a:rPr lang="es-CO" dirty="0">
                <a:latin typeface="Century Gothic" panose="020B0502020202020204" pitchFamily="34" charset="0"/>
              </a:rPr>
              <a:t>Valoración del riesgo</a:t>
            </a:r>
          </a:p>
        </p:txBody>
      </p:sp>
    </p:spTree>
    <p:extLst>
      <p:ext uri="{BB962C8B-B14F-4D97-AF65-F5344CB8AC3E}">
        <p14:creationId xmlns:p14="http://schemas.microsoft.com/office/powerpoint/2010/main" val="1857894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p:cNvSpPr>
          <p:nvPr/>
        </p:nvSpPr>
        <p:spPr bwMode="auto">
          <a:xfrm>
            <a:off x="581189" y="1515051"/>
            <a:ext cx="9555589" cy="261610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gn="just">
              <a:spcBef>
                <a:spcPct val="20000"/>
              </a:spcBef>
            </a:pPr>
            <a:r>
              <a:rPr lang="es-ES" sz="2000" b="1" dirty="0">
                <a:latin typeface="Century Gothic" panose="020B0502020202020204" pitchFamily="34" charset="0"/>
                <a:cs typeface="Avenir Book"/>
              </a:rPr>
              <a:t>   </a:t>
            </a:r>
          </a:p>
          <a:p>
            <a:pPr algn="ctr">
              <a:spcBef>
                <a:spcPct val="20000"/>
              </a:spcBef>
            </a:pPr>
            <a:endParaRPr lang="es-ES" sz="2000" b="1" dirty="0">
              <a:latin typeface="Century Gothic" panose="020B0502020202020204" pitchFamily="34" charset="0"/>
              <a:cs typeface="Avenir Book"/>
            </a:endParaRPr>
          </a:p>
          <a:p>
            <a:pPr algn="just">
              <a:spcBef>
                <a:spcPct val="20000"/>
              </a:spcBef>
            </a:pPr>
            <a:endParaRPr lang="es-ES" sz="2000" dirty="0">
              <a:latin typeface="Century Gothic" panose="020B0502020202020204" pitchFamily="34" charset="0"/>
              <a:ea typeface="Lucida Grande"/>
              <a:cs typeface="Avenir Book"/>
            </a:endParaRPr>
          </a:p>
          <a:p>
            <a:pPr algn="just">
              <a:spcBef>
                <a:spcPct val="20000"/>
              </a:spcBef>
            </a:pPr>
            <a:r>
              <a:rPr lang="es-ES" sz="2000" dirty="0">
                <a:latin typeface="Century Gothic" panose="020B0502020202020204" pitchFamily="34" charset="0"/>
                <a:ea typeface="Lucida Grande"/>
                <a:cs typeface="Avenir Book"/>
              </a:rPr>
              <a:t>Donde:</a:t>
            </a:r>
          </a:p>
          <a:p>
            <a:pPr algn="just">
              <a:spcBef>
                <a:spcPct val="20000"/>
              </a:spcBef>
            </a:pPr>
            <a:r>
              <a:rPr lang="es-ES" sz="2000" dirty="0" err="1">
                <a:latin typeface="Century Gothic" panose="020B0502020202020204" pitchFamily="34" charset="0"/>
                <a:ea typeface="Lucida Grande"/>
                <a:cs typeface="Avenir Book"/>
              </a:rPr>
              <a:t>δ</a:t>
            </a:r>
            <a:r>
              <a:rPr lang="es-ES" sz="2000" dirty="0">
                <a:latin typeface="Century Gothic" panose="020B0502020202020204" pitchFamily="34" charset="0"/>
                <a:cs typeface="Avenir Book"/>
              </a:rPr>
              <a:t> :  	Desviación estándar</a:t>
            </a:r>
          </a:p>
          <a:p>
            <a:pPr algn="just">
              <a:spcBef>
                <a:spcPct val="20000"/>
              </a:spcBef>
            </a:pPr>
            <a:r>
              <a:rPr lang="es-ES" sz="2000" dirty="0">
                <a:latin typeface="Century Gothic" panose="020B0502020202020204" pitchFamily="34" charset="0"/>
                <a:cs typeface="Avenir Book"/>
              </a:rPr>
              <a:t>E(X):	Valor esperado </a:t>
            </a:r>
          </a:p>
          <a:p>
            <a:pPr algn="just">
              <a:spcBef>
                <a:spcPct val="20000"/>
              </a:spcBef>
            </a:pPr>
            <a:endParaRPr lang="es-ES" sz="2000" dirty="0">
              <a:latin typeface="Century Gothic" panose="020B0502020202020204" pitchFamily="34" charset="0"/>
              <a:cs typeface="Avenir Book"/>
            </a:endParaRPr>
          </a:p>
        </p:txBody>
      </p:sp>
      <p:graphicFrame>
        <p:nvGraphicFramePr>
          <p:cNvPr id="5" name="Object 12"/>
          <p:cNvGraphicFramePr>
            <a:graphicFrameLocks noChangeAspect="1"/>
          </p:cNvGraphicFramePr>
          <p:nvPr>
            <p:extLst>
              <p:ext uri="{D42A27DB-BD31-4B8C-83A1-F6EECF244321}">
                <p14:modId xmlns:p14="http://schemas.microsoft.com/office/powerpoint/2010/main" val="799580539"/>
              </p:ext>
            </p:extLst>
          </p:nvPr>
        </p:nvGraphicFramePr>
        <p:xfrm>
          <a:off x="1191706" y="1841961"/>
          <a:ext cx="3712583" cy="756084"/>
        </p:xfrm>
        <a:graphic>
          <a:graphicData uri="http://schemas.openxmlformats.org/presentationml/2006/ole">
            <mc:AlternateContent xmlns:mc="http://schemas.openxmlformats.org/markup-compatibility/2006">
              <mc:Choice xmlns:v="urn:schemas-microsoft-com:vml" Requires="v">
                <p:oleObj name="Equation" r:id="rId3" imgW="2057400" imgH="469900" progId="Equation.3">
                  <p:embed/>
                </p:oleObj>
              </mc:Choice>
              <mc:Fallback>
                <p:oleObj name="Equation" r:id="rId3" imgW="2057400" imgH="469900" progId="Equation.3">
                  <p:embed/>
                  <p:pic>
                    <p:nvPicPr>
                      <p:cNvPr id="5" name="Object 12"/>
                      <p:cNvPicPr>
                        <a:picLocks noChangeAspect="1" noChangeArrowheads="1"/>
                      </p:cNvPicPr>
                      <p:nvPr/>
                    </p:nvPicPr>
                    <p:blipFill>
                      <a:blip r:embed="rId4"/>
                      <a:srcRect/>
                      <a:stretch>
                        <a:fillRect/>
                      </a:stretch>
                    </p:blipFill>
                    <p:spPr bwMode="auto">
                      <a:xfrm>
                        <a:off x="1191706" y="1841961"/>
                        <a:ext cx="3712583" cy="756084"/>
                      </a:xfrm>
                      <a:prstGeom prst="rect">
                        <a:avLst/>
                      </a:prstGeom>
                      <a:noFill/>
                      <a:ln>
                        <a:noFill/>
                      </a:ln>
                    </p:spPr>
                  </p:pic>
                </p:oleObj>
              </mc:Fallback>
            </mc:AlternateContent>
          </a:graphicData>
        </a:graphic>
      </p:graphicFrame>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9A00D3AE-BCD4-DA78-86DF-B44A1369B126}"/>
                  </a:ext>
                </a:extLst>
              </p:cNvPr>
              <p:cNvSpPr txBox="1"/>
              <p:nvPr/>
            </p:nvSpPr>
            <p:spPr>
              <a:xfrm>
                <a:off x="826861" y="3693718"/>
                <a:ext cx="4933622" cy="1264705"/>
              </a:xfrm>
              <a:prstGeom prst="rect">
                <a:avLst/>
              </a:prstGeom>
              <a:noFill/>
            </p:spPr>
            <p:txBody>
              <a:bodyPr wrap="square" rtlCol="0">
                <a:spAutoFit/>
              </a:bodyPr>
              <a:lstStyle/>
              <a:p>
                <a:pPr algn="ctr"/>
                <a:r>
                  <a:rPr lang="es-CO" dirty="0">
                    <a:latin typeface="Century Gothic" panose="020B0502020202020204" pitchFamily="34" charset="0"/>
                  </a:rPr>
                  <a:t>Coeficiente de  variación = </a:t>
                </a:r>
                <a14:m>
                  <m:oMath xmlns:m="http://schemas.openxmlformats.org/officeDocument/2006/math">
                    <m:f>
                      <m:fPr>
                        <m:ctrlPr>
                          <a:rPr lang="es-CO" sz="2800" i="1">
                            <a:latin typeface="Cambria Math" panose="02040503050406030204" pitchFamily="18" charset="0"/>
                          </a:rPr>
                        </m:ctrlPr>
                      </m:fPr>
                      <m:num>
                        <m:r>
                          <a:rPr lang="es-ES" sz="2800" i="1">
                            <a:latin typeface="Cambria Math" panose="02040503050406030204" pitchFamily="18" charset="0"/>
                          </a:rPr>
                          <m:t>4175</m:t>
                        </m:r>
                      </m:num>
                      <m:den>
                        <m:r>
                          <a:rPr lang="es-ES" sz="2800" i="1">
                            <a:latin typeface="Cambria Math" panose="02040503050406030204" pitchFamily="18" charset="0"/>
                          </a:rPr>
                          <m:t>4827</m:t>
                        </m:r>
                      </m:den>
                    </m:f>
                  </m:oMath>
                </a14:m>
                <a:endParaRPr lang="es-CO" dirty="0">
                  <a:latin typeface="Century Gothic" panose="020B0502020202020204" pitchFamily="34" charset="0"/>
                  <a:ea typeface="Verdana" panose="020B0604030504040204" pitchFamily="34" charset="0"/>
                  <a:cs typeface="Verdana" panose="020B0604030504040204" pitchFamily="34" charset="0"/>
                </a:endParaRPr>
              </a:p>
              <a:p>
                <a:pPr algn="ctr"/>
                <a:endParaRPr lang="es-CO" dirty="0">
                  <a:latin typeface="Century Gothic" panose="020B0502020202020204" pitchFamily="34" charset="0"/>
                </a:endParaRPr>
              </a:p>
              <a:p>
                <a:pPr algn="ctr"/>
                <a:r>
                  <a:rPr lang="es-CO" dirty="0">
                    <a:latin typeface="Century Gothic" panose="020B0502020202020204" pitchFamily="34" charset="0"/>
                  </a:rPr>
                  <a:t>Coeficiente de variación = 86,5%</a:t>
                </a:r>
              </a:p>
            </p:txBody>
          </p:sp>
        </mc:Choice>
        <mc:Fallback xmlns="">
          <p:sp>
            <p:nvSpPr>
              <p:cNvPr id="2" name="CuadroTexto 1">
                <a:extLst>
                  <a:ext uri="{FF2B5EF4-FFF2-40B4-BE49-F238E27FC236}">
                    <a16:creationId xmlns:a16="http://schemas.microsoft.com/office/drawing/2014/main" id="{9A00D3AE-BCD4-DA78-86DF-B44A1369B126}"/>
                  </a:ext>
                </a:extLst>
              </p:cNvPr>
              <p:cNvSpPr txBox="1">
                <a:spLocks noRot="1" noChangeAspect="1" noMove="1" noResize="1" noEditPoints="1" noAdjustHandles="1" noChangeArrowheads="1" noChangeShapeType="1" noTextEdit="1"/>
              </p:cNvSpPr>
              <p:nvPr/>
            </p:nvSpPr>
            <p:spPr>
              <a:xfrm>
                <a:off x="826861" y="3693718"/>
                <a:ext cx="4933622" cy="1264705"/>
              </a:xfrm>
              <a:prstGeom prst="rect">
                <a:avLst/>
              </a:prstGeom>
              <a:blipFill>
                <a:blip r:embed="rId5"/>
                <a:stretch>
                  <a:fillRect b="-6763"/>
                </a:stretch>
              </a:blipFill>
            </p:spPr>
            <p:txBody>
              <a:bodyPr/>
              <a:lstStyle/>
              <a:p>
                <a:r>
                  <a:rPr lang="es-ES">
                    <a:noFill/>
                  </a:rPr>
                  <a:t> </a:t>
                </a:r>
              </a:p>
            </p:txBody>
          </p:sp>
        </mc:Fallback>
      </mc:AlternateContent>
      <p:sp>
        <p:nvSpPr>
          <p:cNvPr id="8" name="Título 1">
            <a:extLst>
              <a:ext uri="{FF2B5EF4-FFF2-40B4-BE49-F238E27FC236}">
                <a16:creationId xmlns:a16="http://schemas.microsoft.com/office/drawing/2014/main" id="{C7581C38-A4CD-E161-FA63-CE482318F5AE}"/>
              </a:ext>
            </a:extLst>
          </p:cNvPr>
          <p:cNvSpPr>
            <a:spLocks noGrp="1"/>
          </p:cNvSpPr>
          <p:nvPr>
            <p:ph type="title"/>
          </p:nvPr>
        </p:nvSpPr>
        <p:spPr>
          <a:xfrm>
            <a:off x="581192" y="702156"/>
            <a:ext cx="11029616" cy="1013800"/>
          </a:xfrm>
        </p:spPr>
        <p:txBody>
          <a:bodyPr vert="horz" lIns="91440" tIns="45720" rIns="91440" bIns="45720" rtlCol="0" anchor="b">
            <a:normAutofit/>
          </a:bodyPr>
          <a:lstStyle/>
          <a:p>
            <a:r>
              <a:rPr lang="es-CO" dirty="0">
                <a:latin typeface="Century Gothic" panose="020B0502020202020204" pitchFamily="34" charset="0"/>
              </a:rPr>
              <a:t>Valoración del riesgo</a:t>
            </a:r>
          </a:p>
        </p:txBody>
      </p:sp>
      <p:sp>
        <p:nvSpPr>
          <p:cNvPr id="3" name="CuadroTexto 2">
            <a:extLst>
              <a:ext uri="{FF2B5EF4-FFF2-40B4-BE49-F238E27FC236}">
                <a16:creationId xmlns:a16="http://schemas.microsoft.com/office/drawing/2014/main" id="{606F2CDE-C653-E5C0-8071-CBC2019F89B9}"/>
              </a:ext>
            </a:extLst>
          </p:cNvPr>
          <p:cNvSpPr txBox="1"/>
          <p:nvPr/>
        </p:nvSpPr>
        <p:spPr>
          <a:xfrm>
            <a:off x="5983575" y="1842542"/>
            <a:ext cx="5754555" cy="52322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spcBef>
                <a:spcPts val="20"/>
              </a:spcBef>
            </a:pPr>
            <a:r>
              <a:rPr lang="es-ES" sz="1400" dirty="0">
                <a:latin typeface="Century Gothic"/>
              </a:rPr>
              <a:t>Aunque todo dependerá de la tolerancia al riesgo del decisor, un coeficiente de </a:t>
            </a:r>
            <a:r>
              <a:rPr lang="es-ES" sz="1400">
                <a:latin typeface="Century Gothic"/>
              </a:rPr>
              <a:t>variación</a:t>
            </a:r>
            <a:r>
              <a:rPr lang="es-ES" sz="1400" dirty="0">
                <a:latin typeface="Century Gothic"/>
              </a:rPr>
              <a:t> alto</a:t>
            </a:r>
            <a:r>
              <a:rPr lang="es-ES" sz="1400" dirty="0">
                <a:latin typeface="Century Gothic"/>
                <a:ea typeface="+mn-lt"/>
                <a:cs typeface="+mn-lt"/>
              </a:rPr>
              <a:t> implica que la variabilidad del VPN es grande en relación con su valor esperado, lo cual tiene varias implicaciones importantes:</a:t>
            </a:r>
            <a:endParaRPr lang="es-ES" sz="1200" dirty="0">
              <a:latin typeface="Gill Sans MT" panose="020B0502020104020203"/>
            </a:endParaRPr>
          </a:p>
          <a:p>
            <a:pPr algn="just">
              <a:spcBef>
                <a:spcPts val="20"/>
              </a:spcBef>
            </a:pPr>
            <a:endParaRPr lang="es-ES" sz="1400" dirty="0">
              <a:latin typeface="Century Gothic"/>
              <a:ea typeface="+mn-lt"/>
              <a:cs typeface="+mn-lt"/>
            </a:endParaRPr>
          </a:p>
          <a:p>
            <a:pPr marL="285750" indent="-285750" algn="just">
              <a:spcBef>
                <a:spcPts val="20"/>
              </a:spcBef>
              <a:buFont typeface="Wingdings"/>
              <a:buChar char="ü"/>
            </a:pPr>
            <a:r>
              <a:rPr lang="es-ES" sz="1400">
                <a:latin typeface="Century Gothic"/>
                <a:ea typeface="+mn-lt"/>
                <a:cs typeface="+mn-lt"/>
              </a:rPr>
              <a:t>Alto nivel de incertidumbre relativa:</a:t>
            </a:r>
            <a:br>
              <a:rPr lang="es-ES" sz="1400" dirty="0">
                <a:latin typeface="Century Gothic"/>
                <a:ea typeface="+mn-lt"/>
                <a:cs typeface="+mn-lt"/>
              </a:rPr>
            </a:br>
            <a:r>
              <a:rPr lang="es-ES" sz="1400">
                <a:latin typeface="Century Gothic"/>
                <a:ea typeface="+mn-lt"/>
                <a:cs typeface="+mn-lt"/>
              </a:rPr>
              <a:t>El proyecto presenta una dispersión muy </a:t>
            </a:r>
            <a:r>
              <a:rPr lang="es-ES" sz="1400" dirty="0">
                <a:latin typeface="Century Gothic"/>
                <a:ea typeface="+mn-lt"/>
                <a:cs typeface="+mn-lt"/>
              </a:rPr>
              <a:t>significativa en los posibles resultados del VPN. En términos prácticos, esto quiere decir que el resultado esperado (4175) no es representativo de manera robusta del </a:t>
            </a:r>
            <a:r>
              <a:rPr lang="es-ES" sz="1400">
                <a:latin typeface="Century Gothic"/>
                <a:ea typeface="+mn-lt"/>
                <a:cs typeface="+mn-lt"/>
              </a:rPr>
              <a:t>comportamiento del proyecto.</a:t>
            </a:r>
            <a:endParaRPr lang="es-ES" sz="1200" dirty="0">
              <a:latin typeface="Gill Sans MT" panose="020B0502020104020203"/>
              <a:ea typeface="+mn-lt"/>
              <a:cs typeface="+mn-lt"/>
            </a:endParaRPr>
          </a:p>
          <a:p>
            <a:pPr marL="285750" indent="-285750" algn="just">
              <a:spcBef>
                <a:spcPts val="20"/>
              </a:spcBef>
              <a:buFont typeface="Wingdings"/>
              <a:buChar char="ü"/>
            </a:pPr>
            <a:endParaRPr lang="es-ES" sz="1400" dirty="0">
              <a:latin typeface="Century Gothic"/>
              <a:ea typeface="+mn-lt"/>
              <a:cs typeface="+mn-lt"/>
            </a:endParaRPr>
          </a:p>
          <a:p>
            <a:pPr marL="342900" indent="-342900" algn="just">
              <a:spcBef>
                <a:spcPts val="20"/>
              </a:spcBef>
              <a:buFont typeface="Wingdings"/>
              <a:buChar char="ü"/>
            </a:pPr>
            <a:r>
              <a:rPr lang="es-ES" sz="1400">
                <a:latin typeface="Century Gothic"/>
                <a:ea typeface="+mn-lt"/>
                <a:cs typeface="+mn-lt"/>
              </a:rPr>
              <a:t>Riesgo de destrucción de valor:  Cuando la desviación estándar es del </a:t>
            </a:r>
            <a:r>
              <a:rPr lang="es-ES" sz="1400" dirty="0">
                <a:latin typeface="Century Gothic"/>
                <a:ea typeface="+mn-lt"/>
                <a:cs typeface="+mn-lt"/>
              </a:rPr>
              <a:t>mismo orden (o mayor) que el VPN esperado, existe una probabilidad relevante de que el VPN real sea cercano a cero o incluso negativo. Es decir, el proyecto puede no generar valor </a:t>
            </a:r>
            <a:r>
              <a:rPr lang="es-ES" sz="1400">
                <a:latin typeface="Century Gothic"/>
                <a:ea typeface="+mn-lt"/>
                <a:cs typeface="+mn-lt"/>
              </a:rPr>
              <a:t>en escenarios adversos.</a:t>
            </a:r>
            <a:endParaRPr lang="es-ES" sz="1200"/>
          </a:p>
          <a:p>
            <a:pPr marL="342900" indent="-342900" algn="just">
              <a:spcBef>
                <a:spcPts val="20"/>
              </a:spcBef>
              <a:buFont typeface="Wingdings"/>
              <a:buChar char="ü"/>
            </a:pPr>
            <a:endParaRPr lang="es-ES" sz="1400" dirty="0">
              <a:latin typeface="Century Gothic"/>
              <a:ea typeface="+mn-lt"/>
              <a:cs typeface="+mn-lt"/>
            </a:endParaRPr>
          </a:p>
          <a:p>
            <a:pPr marL="342900" indent="-342900" algn="just">
              <a:spcBef>
                <a:spcPts val="20"/>
              </a:spcBef>
              <a:buFont typeface="Wingdings"/>
              <a:buChar char="ü"/>
            </a:pPr>
            <a:r>
              <a:rPr lang="es-ES" sz="1400">
                <a:latin typeface="Century Gothic"/>
                <a:ea typeface="+mn-lt"/>
                <a:cs typeface="+mn-lt"/>
              </a:rPr>
              <a:t>Desde una perspectiva de decisión, no basta con que el VPN esperado sea positivo. Un CV elevado indica que ese retorno está asociado a alta volatilidad, por lo que el proyecto es riesgoso en términos relativos frente a otras alternativas.</a:t>
            </a:r>
            <a:endParaRPr lang="es-ES" sz="1400" dirty="0">
              <a:latin typeface="Century Gothic"/>
              <a:ea typeface="+mn-lt"/>
              <a:cs typeface="+mn-lt"/>
            </a:endParaRPr>
          </a:p>
          <a:p>
            <a:pPr algn="ctr"/>
            <a:endParaRPr lang="es-ES" sz="1200">
              <a:latin typeface="Gill Sans MT" panose="020B0502020104020203"/>
            </a:endParaRPr>
          </a:p>
        </p:txBody>
      </p:sp>
      <p:sp>
        <p:nvSpPr>
          <p:cNvPr id="6" name="CuadroTexto 5">
            <a:extLst>
              <a:ext uri="{FF2B5EF4-FFF2-40B4-BE49-F238E27FC236}">
                <a16:creationId xmlns:a16="http://schemas.microsoft.com/office/drawing/2014/main" id="{3DB44BB1-17AE-C088-E042-A95D7A1CEA35}"/>
              </a:ext>
            </a:extLst>
          </p:cNvPr>
          <p:cNvSpPr txBox="1"/>
          <p:nvPr/>
        </p:nvSpPr>
        <p:spPr>
          <a:xfrm>
            <a:off x="-1" y="5090409"/>
            <a:ext cx="6096000"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latin typeface="Century Gothic"/>
                <a:ea typeface="+mn-lt"/>
                <a:cs typeface="+mn-lt"/>
              </a:rPr>
              <a:t>Un </a:t>
            </a:r>
            <a:r>
              <a:rPr lang="en-US" sz="1400" dirty="0" err="1">
                <a:latin typeface="Century Gothic"/>
                <a:ea typeface="+mn-lt"/>
                <a:cs typeface="+mn-lt"/>
              </a:rPr>
              <a:t>coeficiente</a:t>
            </a:r>
            <a:r>
              <a:rPr lang="en-US" sz="1400" dirty="0">
                <a:latin typeface="Century Gothic"/>
                <a:ea typeface="+mn-lt"/>
                <a:cs typeface="+mn-lt"/>
              </a:rPr>
              <a:t> de </a:t>
            </a:r>
            <a:r>
              <a:rPr lang="en-US" sz="1400" dirty="0" err="1">
                <a:latin typeface="Century Gothic"/>
                <a:ea typeface="+mn-lt"/>
                <a:cs typeface="+mn-lt"/>
              </a:rPr>
              <a:t>variación</a:t>
            </a:r>
            <a:r>
              <a:rPr lang="en-US" sz="1400" dirty="0">
                <a:latin typeface="Century Gothic"/>
                <a:ea typeface="+mn-lt"/>
                <a:cs typeface="+mn-lt"/>
              </a:rPr>
              <a:t> del </a:t>
            </a:r>
            <a:r>
              <a:rPr lang="en-US" sz="1400" dirty="0" err="1">
                <a:latin typeface="Century Gothic"/>
                <a:ea typeface="+mn-lt"/>
                <a:cs typeface="+mn-lt"/>
              </a:rPr>
              <a:t>orden</a:t>
            </a:r>
            <a:r>
              <a:rPr lang="en-US" sz="1400" dirty="0">
                <a:latin typeface="Century Gothic"/>
                <a:ea typeface="+mn-lt"/>
                <a:cs typeface="+mn-lt"/>
              </a:rPr>
              <a:t> de 0.86 indica </a:t>
            </a:r>
            <a:r>
              <a:rPr lang="en-US" sz="1400" dirty="0" err="1">
                <a:latin typeface="Century Gothic"/>
                <a:ea typeface="+mn-lt"/>
                <a:cs typeface="+mn-lt"/>
              </a:rPr>
              <a:t>que</a:t>
            </a:r>
            <a:r>
              <a:rPr lang="en-US" sz="1400" dirty="0">
                <a:latin typeface="Century Gothic"/>
                <a:ea typeface="+mn-lt"/>
                <a:cs typeface="+mn-lt"/>
              </a:rPr>
              <a:t> </a:t>
            </a:r>
            <a:r>
              <a:rPr lang="en-US" sz="1400" dirty="0" err="1">
                <a:latin typeface="Century Gothic"/>
                <a:ea typeface="+mn-lt"/>
                <a:cs typeface="+mn-lt"/>
              </a:rPr>
              <a:t>el</a:t>
            </a:r>
            <a:r>
              <a:rPr lang="en-US" sz="1400" dirty="0">
                <a:latin typeface="Century Gothic"/>
                <a:ea typeface="+mn-lt"/>
                <a:cs typeface="+mn-lt"/>
              </a:rPr>
              <a:t> </a:t>
            </a:r>
            <a:r>
              <a:rPr lang="en-US" sz="1400" dirty="0" err="1">
                <a:latin typeface="Century Gothic"/>
                <a:ea typeface="+mn-lt"/>
                <a:cs typeface="+mn-lt"/>
              </a:rPr>
              <a:t>proyecto</a:t>
            </a:r>
            <a:r>
              <a:rPr lang="en-US" sz="1400" dirty="0">
                <a:latin typeface="Century Gothic"/>
                <a:ea typeface="+mn-lt"/>
                <a:cs typeface="+mn-lt"/>
              </a:rPr>
              <a:t> </a:t>
            </a:r>
            <a:r>
              <a:rPr lang="en-US" sz="1400" dirty="0" err="1">
                <a:latin typeface="Century Gothic"/>
                <a:ea typeface="+mn-lt"/>
                <a:cs typeface="+mn-lt"/>
              </a:rPr>
              <a:t>tiene</a:t>
            </a:r>
            <a:r>
              <a:rPr lang="en-US" sz="1400" dirty="0">
                <a:latin typeface="Century Gothic"/>
                <a:ea typeface="+mn-lt"/>
                <a:cs typeface="+mn-lt"/>
              </a:rPr>
              <a:t> un </a:t>
            </a:r>
            <a:r>
              <a:rPr lang="en-US" sz="1400" dirty="0" err="1">
                <a:latin typeface="Century Gothic"/>
                <a:ea typeface="+mn-lt"/>
                <a:cs typeface="+mn-lt"/>
              </a:rPr>
              <a:t>perfil</a:t>
            </a:r>
            <a:r>
              <a:rPr lang="en-US" sz="1400" dirty="0">
                <a:latin typeface="Century Gothic"/>
                <a:ea typeface="+mn-lt"/>
                <a:cs typeface="+mn-lt"/>
              </a:rPr>
              <a:t> de </a:t>
            </a:r>
            <a:r>
              <a:rPr lang="en-US" sz="1400" dirty="0" err="1">
                <a:latin typeface="Century Gothic"/>
                <a:ea typeface="+mn-lt"/>
                <a:cs typeface="+mn-lt"/>
              </a:rPr>
              <a:t>riesgo</a:t>
            </a:r>
            <a:r>
              <a:rPr lang="en-US" sz="1400" dirty="0">
                <a:latin typeface="Century Gothic"/>
                <a:ea typeface="+mn-lt"/>
                <a:cs typeface="+mn-lt"/>
              </a:rPr>
              <a:t> alto, </a:t>
            </a:r>
            <a:r>
              <a:rPr lang="en-US" sz="1400" dirty="0" err="1">
                <a:latin typeface="Century Gothic"/>
                <a:ea typeface="+mn-lt"/>
                <a:cs typeface="+mn-lt"/>
              </a:rPr>
              <a:t>donde</a:t>
            </a:r>
            <a:r>
              <a:rPr lang="en-US" sz="1400" dirty="0">
                <a:latin typeface="Century Gothic"/>
                <a:ea typeface="+mn-lt"/>
                <a:cs typeface="+mn-lt"/>
              </a:rPr>
              <a:t> la </a:t>
            </a:r>
            <a:r>
              <a:rPr lang="en-US" sz="1400" dirty="0" err="1">
                <a:latin typeface="Century Gothic"/>
                <a:ea typeface="+mn-lt"/>
                <a:cs typeface="+mn-lt"/>
              </a:rPr>
              <a:t>incertidumbre</a:t>
            </a:r>
            <a:r>
              <a:rPr lang="en-US" sz="1400" dirty="0">
                <a:latin typeface="Century Gothic"/>
                <a:ea typeface="+mn-lt"/>
                <a:cs typeface="+mn-lt"/>
              </a:rPr>
              <a:t> es comparable o superior al valor </a:t>
            </a:r>
            <a:r>
              <a:rPr lang="en-US" sz="1400" dirty="0" err="1">
                <a:latin typeface="Century Gothic"/>
                <a:ea typeface="+mn-lt"/>
                <a:cs typeface="+mn-lt"/>
              </a:rPr>
              <a:t>esperado</a:t>
            </a:r>
            <a:r>
              <a:rPr lang="en-US" sz="1400" dirty="0">
                <a:latin typeface="Century Gothic"/>
                <a:ea typeface="+mn-lt"/>
                <a:cs typeface="+mn-lt"/>
              </a:rPr>
              <a:t>. En </a:t>
            </a:r>
            <a:r>
              <a:rPr lang="en-US" sz="1400" dirty="0" err="1">
                <a:latin typeface="Century Gothic"/>
                <a:ea typeface="+mn-lt"/>
                <a:cs typeface="+mn-lt"/>
              </a:rPr>
              <a:t>términos</a:t>
            </a:r>
            <a:r>
              <a:rPr lang="en-US" sz="1400" dirty="0">
                <a:latin typeface="Century Gothic"/>
                <a:ea typeface="+mn-lt"/>
                <a:cs typeface="+mn-lt"/>
              </a:rPr>
              <a:t> </a:t>
            </a:r>
            <a:r>
              <a:rPr lang="en-US" sz="1400" dirty="0" err="1">
                <a:latin typeface="Century Gothic"/>
                <a:ea typeface="+mn-lt"/>
                <a:cs typeface="+mn-lt"/>
              </a:rPr>
              <a:t>prácticos</a:t>
            </a:r>
            <a:r>
              <a:rPr lang="en-US" sz="1400" dirty="0">
                <a:latin typeface="Century Gothic"/>
                <a:ea typeface="+mn-lt"/>
                <a:cs typeface="+mn-lt"/>
              </a:rPr>
              <a:t>, es un </a:t>
            </a:r>
            <a:r>
              <a:rPr lang="en-US" sz="1400" dirty="0" err="1">
                <a:latin typeface="Century Gothic"/>
                <a:ea typeface="+mn-lt"/>
                <a:cs typeface="+mn-lt"/>
              </a:rPr>
              <a:t>proyecto</a:t>
            </a:r>
            <a:r>
              <a:rPr lang="en-US" sz="1400" dirty="0">
                <a:latin typeface="Century Gothic"/>
                <a:ea typeface="+mn-lt"/>
                <a:cs typeface="+mn-lt"/>
              </a:rPr>
              <a:t> con </a:t>
            </a:r>
            <a:r>
              <a:rPr lang="en-US" sz="1400" dirty="0" err="1">
                <a:latin typeface="Century Gothic"/>
                <a:ea typeface="+mn-lt"/>
                <a:cs typeface="+mn-lt"/>
              </a:rPr>
              <a:t>potencial</a:t>
            </a:r>
            <a:r>
              <a:rPr lang="en-US" sz="1400" dirty="0">
                <a:latin typeface="Century Gothic"/>
                <a:ea typeface="+mn-lt"/>
                <a:cs typeface="+mn-lt"/>
              </a:rPr>
              <a:t> de valor, </a:t>
            </a:r>
            <a:r>
              <a:rPr lang="en-US" sz="1400" dirty="0" err="1">
                <a:latin typeface="Century Gothic"/>
                <a:ea typeface="+mn-lt"/>
                <a:cs typeface="+mn-lt"/>
              </a:rPr>
              <a:t>pero</a:t>
            </a:r>
            <a:r>
              <a:rPr lang="en-US" sz="1400" dirty="0">
                <a:latin typeface="Century Gothic"/>
                <a:ea typeface="+mn-lt"/>
                <a:cs typeface="+mn-lt"/>
              </a:rPr>
              <a:t> con </a:t>
            </a:r>
            <a:r>
              <a:rPr lang="en-US" sz="1400" dirty="0" err="1">
                <a:latin typeface="Century Gothic"/>
                <a:ea typeface="+mn-lt"/>
                <a:cs typeface="+mn-lt"/>
              </a:rPr>
              <a:t>alta</a:t>
            </a:r>
            <a:r>
              <a:rPr lang="en-US" sz="1400" dirty="0">
                <a:latin typeface="Century Gothic"/>
                <a:ea typeface="+mn-lt"/>
                <a:cs typeface="+mn-lt"/>
              </a:rPr>
              <a:t> </a:t>
            </a:r>
            <a:r>
              <a:rPr lang="en-US" sz="1400" dirty="0" err="1">
                <a:latin typeface="Century Gothic"/>
                <a:ea typeface="+mn-lt"/>
                <a:cs typeface="+mn-lt"/>
              </a:rPr>
              <a:t>probabilidad</a:t>
            </a:r>
            <a:r>
              <a:rPr lang="en-US" sz="1400" dirty="0">
                <a:latin typeface="Century Gothic"/>
                <a:ea typeface="+mn-lt"/>
                <a:cs typeface="+mn-lt"/>
              </a:rPr>
              <a:t> de </a:t>
            </a:r>
            <a:r>
              <a:rPr lang="en-US" sz="1400" dirty="0" err="1">
                <a:latin typeface="Century Gothic"/>
                <a:ea typeface="+mn-lt"/>
                <a:cs typeface="+mn-lt"/>
              </a:rPr>
              <a:t>desviaciones</a:t>
            </a:r>
            <a:r>
              <a:rPr lang="en-US" sz="1400" dirty="0">
                <a:latin typeface="Century Gothic"/>
                <a:ea typeface="+mn-lt"/>
                <a:cs typeface="+mn-lt"/>
              </a:rPr>
              <a:t> </a:t>
            </a:r>
            <a:r>
              <a:rPr lang="en-US" sz="1400" dirty="0" err="1">
                <a:latin typeface="Century Gothic"/>
                <a:ea typeface="+mn-lt"/>
                <a:cs typeface="+mn-lt"/>
              </a:rPr>
              <a:t>significativas</a:t>
            </a:r>
            <a:r>
              <a:rPr lang="en-US" sz="1400" dirty="0">
                <a:latin typeface="Century Gothic"/>
                <a:ea typeface="+mn-lt"/>
                <a:cs typeface="+mn-lt"/>
              </a:rPr>
              <a:t>, lo </a:t>
            </a:r>
            <a:r>
              <a:rPr lang="en-US" sz="1400" dirty="0" err="1">
                <a:latin typeface="Century Gothic"/>
                <a:ea typeface="+mn-lt"/>
                <a:cs typeface="+mn-lt"/>
              </a:rPr>
              <a:t>que</a:t>
            </a:r>
            <a:r>
              <a:rPr lang="en-US" sz="1400" dirty="0">
                <a:latin typeface="Century Gothic"/>
                <a:ea typeface="+mn-lt"/>
                <a:cs typeface="+mn-lt"/>
              </a:rPr>
              <a:t> </a:t>
            </a:r>
            <a:r>
              <a:rPr lang="en-US" sz="1400" dirty="0" err="1">
                <a:latin typeface="Century Gothic"/>
                <a:ea typeface="+mn-lt"/>
                <a:cs typeface="+mn-lt"/>
              </a:rPr>
              <a:t>exige</a:t>
            </a:r>
            <a:r>
              <a:rPr lang="en-US" sz="1400" dirty="0">
                <a:latin typeface="Century Gothic"/>
                <a:ea typeface="+mn-lt"/>
                <a:cs typeface="+mn-lt"/>
              </a:rPr>
              <a:t> un </a:t>
            </a:r>
            <a:r>
              <a:rPr lang="en-US" sz="1400" dirty="0" err="1">
                <a:latin typeface="Century Gothic"/>
                <a:ea typeface="+mn-lt"/>
                <a:cs typeface="+mn-lt"/>
              </a:rPr>
              <a:t>análisis</a:t>
            </a:r>
            <a:r>
              <a:rPr lang="en-US" sz="1400" dirty="0">
                <a:latin typeface="Century Gothic"/>
                <a:ea typeface="+mn-lt"/>
                <a:cs typeface="+mn-lt"/>
              </a:rPr>
              <a:t> </a:t>
            </a:r>
            <a:r>
              <a:rPr lang="en-US" sz="1400" dirty="0" err="1">
                <a:latin typeface="Century Gothic"/>
                <a:ea typeface="+mn-lt"/>
                <a:cs typeface="+mn-lt"/>
              </a:rPr>
              <a:t>más</a:t>
            </a:r>
            <a:r>
              <a:rPr lang="en-US" sz="1400" dirty="0">
                <a:latin typeface="Century Gothic"/>
                <a:ea typeface="+mn-lt"/>
                <a:cs typeface="+mn-lt"/>
              </a:rPr>
              <a:t> profundo y, </a:t>
            </a:r>
            <a:r>
              <a:rPr lang="en-US" sz="1400" dirty="0" err="1">
                <a:latin typeface="Century Gothic"/>
                <a:ea typeface="+mn-lt"/>
                <a:cs typeface="+mn-lt"/>
              </a:rPr>
              <a:t>probablemente</a:t>
            </a:r>
            <a:r>
              <a:rPr lang="en-US" sz="1400" dirty="0">
                <a:latin typeface="Century Gothic"/>
                <a:ea typeface="+mn-lt"/>
                <a:cs typeface="+mn-lt"/>
              </a:rPr>
              <a:t>, </a:t>
            </a:r>
            <a:r>
              <a:rPr lang="en-US" sz="1400" dirty="0" err="1">
                <a:latin typeface="Century Gothic"/>
                <a:ea typeface="+mn-lt"/>
                <a:cs typeface="+mn-lt"/>
              </a:rPr>
              <a:t>mecanismos</a:t>
            </a:r>
            <a:r>
              <a:rPr lang="en-US" sz="1400" dirty="0">
                <a:latin typeface="Century Gothic"/>
                <a:ea typeface="+mn-lt"/>
                <a:cs typeface="+mn-lt"/>
              </a:rPr>
              <a:t> de </a:t>
            </a:r>
            <a:r>
              <a:rPr lang="en-US" sz="1400" dirty="0" err="1">
                <a:latin typeface="Century Gothic"/>
                <a:ea typeface="+mn-lt"/>
                <a:cs typeface="+mn-lt"/>
              </a:rPr>
              <a:t>mitigación</a:t>
            </a:r>
            <a:r>
              <a:rPr lang="en-US" sz="1400" dirty="0">
                <a:latin typeface="Century Gothic"/>
                <a:ea typeface="+mn-lt"/>
                <a:cs typeface="+mn-lt"/>
              </a:rPr>
              <a:t> de </a:t>
            </a:r>
            <a:r>
              <a:rPr lang="en-US" sz="1400" dirty="0" err="1">
                <a:latin typeface="Century Gothic"/>
                <a:ea typeface="+mn-lt"/>
                <a:cs typeface="+mn-lt"/>
              </a:rPr>
              <a:t>riesgo</a:t>
            </a:r>
            <a:r>
              <a:rPr lang="en-US" sz="1400" dirty="0">
                <a:latin typeface="Century Gothic"/>
                <a:ea typeface="+mn-lt"/>
                <a:cs typeface="+mn-lt"/>
              </a:rPr>
              <a:t> antes de </a:t>
            </a:r>
            <a:r>
              <a:rPr lang="en-US" sz="1400" dirty="0" err="1">
                <a:latin typeface="Century Gothic"/>
                <a:ea typeface="+mn-lt"/>
                <a:cs typeface="+mn-lt"/>
              </a:rPr>
              <a:t>tomar</a:t>
            </a:r>
            <a:r>
              <a:rPr lang="en-US" sz="1400" dirty="0">
                <a:latin typeface="Century Gothic"/>
                <a:ea typeface="+mn-lt"/>
                <a:cs typeface="+mn-lt"/>
              </a:rPr>
              <a:t> la </a:t>
            </a:r>
            <a:r>
              <a:rPr lang="en-US" sz="1400" dirty="0" err="1">
                <a:latin typeface="Century Gothic"/>
                <a:ea typeface="+mn-lt"/>
                <a:cs typeface="+mn-lt"/>
              </a:rPr>
              <a:t>decisión</a:t>
            </a:r>
            <a:r>
              <a:rPr lang="en-US" sz="1400" dirty="0">
                <a:latin typeface="Century Gothic"/>
                <a:ea typeface="+mn-lt"/>
                <a:cs typeface="+mn-lt"/>
              </a:rPr>
              <a:t> de </a:t>
            </a:r>
            <a:r>
              <a:rPr lang="en-US" sz="1400" dirty="0" err="1">
                <a:latin typeface="Century Gothic"/>
                <a:ea typeface="+mn-lt"/>
                <a:cs typeface="+mn-lt"/>
              </a:rPr>
              <a:t>inversión</a:t>
            </a:r>
            <a:r>
              <a:rPr lang="en-US" sz="1400" dirty="0">
                <a:latin typeface="Century Gothic"/>
                <a:ea typeface="+mn-lt"/>
                <a:cs typeface="+mn-lt"/>
              </a:rPr>
              <a:t>.</a:t>
            </a:r>
          </a:p>
        </p:txBody>
      </p:sp>
    </p:spTree>
    <p:extLst>
      <p:ext uri="{BB962C8B-B14F-4D97-AF65-F5344CB8AC3E}">
        <p14:creationId xmlns:p14="http://schemas.microsoft.com/office/powerpoint/2010/main" val="176371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4D99A704-4EB4-B756-1D81-BDCEA33930DD}"/>
              </a:ext>
            </a:extLst>
          </p:cNvPr>
          <p:cNvSpPr>
            <a:spLocks noGrp="1"/>
          </p:cNvSpPr>
          <p:nvPr>
            <p:ph type="title"/>
          </p:nvPr>
        </p:nvSpPr>
        <p:spPr/>
        <p:txBody>
          <a:bodyPr/>
          <a:lstStyle/>
          <a:p>
            <a:r>
              <a:rPr lang="es-ES_tradnl" dirty="0">
                <a:latin typeface="Century Gothic" panose="020B0502020202020204" pitchFamily="34" charset="0"/>
              </a:rPr>
              <a:t>Valor Esperado Y Varianza</a:t>
            </a:r>
          </a:p>
        </p:txBody>
      </p:sp>
      <p:sp>
        <p:nvSpPr>
          <p:cNvPr id="3" name="Content Placeholder 2"/>
          <p:cNvSpPr>
            <a:spLocks noGrp="1"/>
          </p:cNvSpPr>
          <p:nvPr>
            <p:ph idx="1"/>
          </p:nvPr>
        </p:nvSpPr>
        <p:spPr>
          <a:xfrm>
            <a:off x="885176" y="2360828"/>
            <a:ext cx="8024908" cy="3678303"/>
          </a:xfrm>
        </p:spPr>
        <p:txBody>
          <a:bodyPr>
            <a:normAutofit/>
          </a:bodyPr>
          <a:lstStyle/>
          <a:p>
            <a:pPr algn="just"/>
            <a:r>
              <a:rPr lang="es-ES_tradnl" dirty="0">
                <a:solidFill>
                  <a:schemeClr val="accent1"/>
                </a:solidFill>
                <a:latin typeface="Century Gothic" panose="020B0502020202020204" pitchFamily="34" charset="0"/>
              </a:rPr>
              <a:t>Claramente, en el caso donde existe riesgo las decisiones no son del todo evidentes, pues están estrechamente ligadas con la </a:t>
            </a:r>
            <a:r>
              <a:rPr lang="es-ES_tradnl" b="1" dirty="0">
                <a:solidFill>
                  <a:schemeClr val="accent3">
                    <a:lumMod val="75000"/>
                  </a:schemeClr>
                </a:solidFill>
                <a:latin typeface="Century Gothic" panose="020B0502020202020204" pitchFamily="34" charset="0"/>
              </a:rPr>
              <a:t>tolerancia al riesgo</a:t>
            </a:r>
            <a:r>
              <a:rPr lang="es-ES_tradnl" dirty="0">
                <a:solidFill>
                  <a:schemeClr val="accent1"/>
                </a:solidFill>
                <a:latin typeface="Century Gothic" panose="020B0502020202020204" pitchFamily="34" charset="0"/>
              </a:rPr>
              <a:t>.</a:t>
            </a:r>
          </a:p>
          <a:p>
            <a:pPr algn="just"/>
            <a:endParaRPr lang="es-ES_tradnl" dirty="0">
              <a:solidFill>
                <a:schemeClr val="accent1"/>
              </a:solidFill>
              <a:latin typeface="Century Gothic" panose="020B0502020202020204" pitchFamily="34" charset="0"/>
            </a:endParaRPr>
          </a:p>
          <a:p>
            <a:pPr algn="just"/>
            <a:r>
              <a:rPr lang="es-ES_tradnl" dirty="0">
                <a:solidFill>
                  <a:schemeClr val="accent1"/>
                </a:solidFill>
                <a:latin typeface="Century Gothic" panose="020B0502020202020204" pitchFamily="34" charset="0"/>
              </a:rPr>
              <a:t>Así, </a:t>
            </a:r>
            <a:r>
              <a:rPr lang="es-ES_tradnl" b="1" dirty="0">
                <a:solidFill>
                  <a:srgbClr val="D7A700"/>
                </a:solidFill>
                <a:latin typeface="Century Gothic" panose="020B0502020202020204" pitchFamily="34" charset="0"/>
              </a:rPr>
              <a:t>un mismo proyecto puede ser aceptado por unos inversionistas mientras que por otros no</a:t>
            </a:r>
            <a:r>
              <a:rPr lang="es-ES_tradnl" dirty="0">
                <a:solidFill>
                  <a:schemeClr val="accent1"/>
                </a:solidFill>
                <a:latin typeface="Century Gothic" panose="020B0502020202020204" pitchFamily="34" charset="0"/>
              </a:rPr>
              <a:t>.</a:t>
            </a:r>
          </a:p>
          <a:p>
            <a:pPr algn="just"/>
            <a:endParaRPr lang="es-ES_tradnl" dirty="0">
              <a:solidFill>
                <a:schemeClr val="accent1"/>
              </a:solidFill>
              <a:latin typeface="Century Gothic" panose="020B0502020202020204" pitchFamily="34" charset="0"/>
            </a:endParaRPr>
          </a:p>
          <a:p>
            <a:pPr algn="just"/>
            <a:r>
              <a:rPr lang="es-ES_tradnl" dirty="0">
                <a:solidFill>
                  <a:schemeClr val="accent1"/>
                </a:solidFill>
                <a:latin typeface="Century Gothic" panose="020B0502020202020204" pitchFamily="34" charset="0"/>
              </a:rPr>
              <a:t>En general, proyectos con mayor volatilidad de flujos de caja futuros serán </a:t>
            </a:r>
            <a:r>
              <a:rPr lang="es-ES_tradnl" b="1" dirty="0">
                <a:solidFill>
                  <a:srgbClr val="C00000"/>
                </a:solidFill>
                <a:latin typeface="Century Gothic" panose="020B0502020202020204" pitchFamily="34" charset="0"/>
              </a:rPr>
              <a:t>proyectos más riesgosos </a:t>
            </a:r>
            <a:r>
              <a:rPr lang="es-ES_tradnl" dirty="0">
                <a:solidFill>
                  <a:schemeClr val="accent1"/>
                </a:solidFill>
                <a:latin typeface="Century Gothic" panose="020B0502020202020204" pitchFamily="34" charset="0"/>
              </a:rPr>
              <a:t>y sólo serán aceptados por agentes con mayor tolerancia al riesgo.</a:t>
            </a:r>
          </a:p>
        </p:txBody>
      </p:sp>
      <p:sp>
        <p:nvSpPr>
          <p:cNvPr id="4" name="Slide Number Placeholder 3"/>
          <p:cNvSpPr>
            <a:spLocks noGrp="1"/>
          </p:cNvSpPr>
          <p:nvPr>
            <p:ph type="sldNum" sz="quarter" idx="12"/>
          </p:nvPr>
        </p:nvSpPr>
        <p:spPr/>
        <p:txBody>
          <a:bodyPr/>
          <a:lstStyle/>
          <a:p>
            <a:fld id="{5E3E23BA-6E79-2442-BA73-D218A5E297C3}" type="slidenum">
              <a:rPr lang="en-US" smtClean="0"/>
              <a:t>41</a:t>
            </a:fld>
            <a:endParaRPr lang="en-US"/>
          </a:p>
        </p:txBody>
      </p:sp>
      <p:sp>
        <p:nvSpPr>
          <p:cNvPr id="9" name="Rectángulo 8">
            <a:extLst>
              <a:ext uri="{FF2B5EF4-FFF2-40B4-BE49-F238E27FC236}">
                <a16:creationId xmlns:a16="http://schemas.microsoft.com/office/drawing/2014/main" id="{FECF5725-12AC-314F-A8C6-12EEDE8598E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6C2AF37B-0F5E-1416-1998-352ED93F38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Inversiones permanentes - Qué es, definición y concepto">
            <a:extLst>
              <a:ext uri="{FF2B5EF4-FFF2-40B4-BE49-F238E27FC236}">
                <a16:creationId xmlns:a16="http://schemas.microsoft.com/office/drawing/2014/main" id="{254A17AD-4AFE-7174-3624-989B93D286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2337" y="3245050"/>
            <a:ext cx="2595036" cy="1724099"/>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F61FF66C-DD37-FDAB-30E5-143DF7C05D2D}"/>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603772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latin typeface="Century Gothic" panose="020B0502020202020204" pitchFamily="34" charset="0"/>
              </a:rPr>
              <a:t>Ejercicio 1</a:t>
            </a:r>
          </a:p>
        </p:txBody>
      </p:sp>
      <p:sp>
        <p:nvSpPr>
          <p:cNvPr id="3" name="Marcador de contenido 2"/>
          <p:cNvSpPr>
            <a:spLocks noGrp="1"/>
          </p:cNvSpPr>
          <p:nvPr>
            <p:ph idx="1"/>
          </p:nvPr>
        </p:nvSpPr>
        <p:spPr>
          <a:xfrm>
            <a:off x="1302161" y="2460396"/>
            <a:ext cx="9664777" cy="3678303"/>
          </a:xfrm>
        </p:spPr>
        <p:txBody>
          <a:bodyPr>
            <a:noAutofit/>
          </a:bodyPr>
          <a:lstStyle/>
          <a:p>
            <a:pPr marL="0" indent="0">
              <a:buNone/>
            </a:pPr>
            <a:r>
              <a:rPr lang="es-ES" dirty="0">
                <a:latin typeface="Century Gothic" panose="020B0502020202020204" pitchFamily="34" charset="0"/>
              </a:rPr>
              <a:t>Se tienen dos alternativas:</a:t>
            </a:r>
          </a:p>
          <a:p>
            <a:pPr marL="324000" lvl="1" indent="0">
              <a:buNone/>
            </a:pPr>
            <a:r>
              <a:rPr lang="es-ES" sz="1800" b="1" dirty="0">
                <a:solidFill>
                  <a:schemeClr val="accent3">
                    <a:lumMod val="75000"/>
                  </a:schemeClr>
                </a:solidFill>
                <a:latin typeface="Century Gothic" panose="020B0502020202020204" pitchFamily="34" charset="0"/>
              </a:rPr>
              <a:t>Proyecto A</a:t>
            </a:r>
          </a:p>
          <a:p>
            <a:pPr lvl="2"/>
            <a:r>
              <a:rPr lang="es-ES" sz="1800" dirty="0">
                <a:latin typeface="Century Gothic" panose="020B0502020202020204" pitchFamily="34" charset="0"/>
              </a:rPr>
              <a:t>E(VPN) = 200</a:t>
            </a:r>
          </a:p>
          <a:p>
            <a:pPr lvl="2"/>
            <a:r>
              <a:rPr lang="es-ES" sz="1800" dirty="0">
                <a:latin typeface="Century Gothic" panose="020B0502020202020204" pitchFamily="34" charset="0"/>
              </a:rPr>
              <a:t>S(VPN) = 50</a:t>
            </a:r>
          </a:p>
          <a:p>
            <a:pPr lvl="2"/>
            <a:endParaRPr lang="es-ES" sz="1800" dirty="0">
              <a:latin typeface="Century Gothic" panose="020B0502020202020204" pitchFamily="34" charset="0"/>
            </a:endParaRPr>
          </a:p>
          <a:p>
            <a:pPr marL="324000" lvl="1" indent="0">
              <a:buNone/>
            </a:pPr>
            <a:r>
              <a:rPr lang="es-ES" sz="1800" b="1" dirty="0">
                <a:solidFill>
                  <a:schemeClr val="accent3">
                    <a:lumMod val="75000"/>
                  </a:schemeClr>
                </a:solidFill>
                <a:latin typeface="Century Gothic" panose="020B0502020202020204" pitchFamily="34" charset="0"/>
              </a:rPr>
              <a:t>Proyecto B</a:t>
            </a:r>
          </a:p>
          <a:p>
            <a:pPr lvl="2">
              <a:buFont typeface="Wingdings" pitchFamily="2" charset="2"/>
              <a:buChar char="§"/>
            </a:pPr>
            <a:r>
              <a:rPr lang="es-ES" sz="1800" dirty="0">
                <a:latin typeface="Century Gothic" panose="020B0502020202020204" pitchFamily="34" charset="0"/>
              </a:rPr>
              <a:t>E(VPN) = 300</a:t>
            </a:r>
          </a:p>
          <a:p>
            <a:pPr marL="899795" lvl="2" indent="-269875">
              <a:buFont typeface="Wingdings" pitchFamily="2" charset="2"/>
              <a:buChar char="§"/>
            </a:pPr>
            <a:r>
              <a:rPr lang="es-ES" sz="1800">
                <a:latin typeface="Century Gothic"/>
              </a:rPr>
              <a:t>S(VPN) = 180</a:t>
            </a:r>
            <a:endParaRPr lang="es-ES" sz="1800">
              <a:latin typeface="Century Gothic" panose="020B0502020202020204" pitchFamily="34" charset="0"/>
            </a:endParaRPr>
          </a:p>
          <a:p>
            <a:pPr marL="349250" lvl="1" indent="0" algn="ctr">
              <a:buNone/>
            </a:pPr>
            <a:r>
              <a:rPr lang="es-ES" sz="1800" b="1" dirty="0">
                <a:solidFill>
                  <a:srgbClr val="C00000"/>
                </a:solidFill>
                <a:latin typeface="Century Gothic" panose="020B0502020202020204" pitchFamily="34" charset="0"/>
              </a:rPr>
              <a:t>¿Cuál escogería un inversionista?</a:t>
            </a:r>
          </a:p>
          <a:p>
            <a:pPr marL="630000" lvl="2" indent="0">
              <a:buNone/>
            </a:pPr>
            <a:endParaRPr lang="es-ES" sz="1800" dirty="0"/>
          </a:p>
        </p:txBody>
      </p:sp>
      <p:sp>
        <p:nvSpPr>
          <p:cNvPr id="4" name="Marcador de número de diapositiva 3"/>
          <p:cNvSpPr>
            <a:spLocks noGrp="1"/>
          </p:cNvSpPr>
          <p:nvPr>
            <p:ph type="sldNum" sz="quarter" idx="12"/>
          </p:nvPr>
        </p:nvSpPr>
        <p:spPr/>
        <p:txBody>
          <a:bodyPr/>
          <a:lstStyle/>
          <a:p>
            <a:fld id="{5E3E23BA-6E79-2442-BA73-D218A5E297C3}" type="slidenum">
              <a:rPr lang="en-US" smtClean="0"/>
              <a:t>42</a:t>
            </a:fld>
            <a:endParaRPr lang="en-US"/>
          </a:p>
        </p:txBody>
      </p:sp>
      <p:sp>
        <p:nvSpPr>
          <p:cNvPr id="10" name="CuadroTexto 9"/>
          <p:cNvSpPr txBox="1"/>
          <p:nvPr/>
        </p:nvSpPr>
        <p:spPr>
          <a:xfrm rot="20361021">
            <a:off x="4430651" y="3038786"/>
            <a:ext cx="6237605" cy="954107"/>
          </a:xfrm>
          <a:prstGeom prst="rect">
            <a:avLst/>
          </a:prstGeom>
          <a:noFill/>
        </p:spPr>
        <p:txBody>
          <a:bodyPr wrap="none" rtlCol="0">
            <a:spAutoFit/>
          </a:bodyPr>
          <a:lstStyle/>
          <a:p>
            <a:pPr algn="ctr"/>
            <a:r>
              <a:rPr lang="es-ES" sz="2800" b="1" dirty="0">
                <a:solidFill>
                  <a:srgbClr val="FF0000"/>
                </a:solidFill>
                <a:latin typeface="Century Gothic" panose="020B0502020202020204" pitchFamily="34" charset="0"/>
              </a:rPr>
              <a:t>NO PUEDO DECIDIR</a:t>
            </a:r>
          </a:p>
          <a:p>
            <a:pPr algn="ctr"/>
            <a:r>
              <a:rPr lang="es-ES" sz="2800" b="1" dirty="0">
                <a:solidFill>
                  <a:srgbClr val="FF0000"/>
                </a:solidFill>
                <a:latin typeface="Century Gothic" panose="020B0502020202020204" pitchFamily="34" charset="0"/>
              </a:rPr>
              <a:t>No conozco su tolerancia al riesgo</a:t>
            </a:r>
          </a:p>
        </p:txBody>
      </p:sp>
      <p:sp>
        <p:nvSpPr>
          <p:cNvPr id="9" name="Rectángulo 8">
            <a:extLst>
              <a:ext uri="{FF2B5EF4-FFF2-40B4-BE49-F238E27FC236}">
                <a16:creationId xmlns:a16="http://schemas.microsoft.com/office/drawing/2014/main" id="{7E471B0E-9A47-12B8-20C1-74D4641A5B6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1859F706-F8C1-B31D-AD4C-B77FC64F6D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8A9E03C5-BA11-DD10-5110-B316DFC30D1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193804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linds(horizontal)">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blinds(horizontal)">
                                      <p:cBhvr>
                                        <p:cTn id="18" dur="500"/>
                                        <p:tgtEl>
                                          <p:spTgt spid="3">
                                            <p:txEl>
                                              <p:pRg st="5" end="5"/>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blinds(horizontal)">
                                      <p:cBhvr>
                                        <p:cTn id="21" dur="500"/>
                                        <p:tgtEl>
                                          <p:spTgt spid="3">
                                            <p:txEl>
                                              <p:pRg st="6" end="6"/>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blinds(horizontal)">
                                      <p:cBhvr>
                                        <p:cTn id="24" dur="500"/>
                                        <p:tgtEl>
                                          <p:spTgt spid="3">
                                            <p:txEl>
                                              <p:pRg st="7" end="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checkerboard(across)">
                                      <p:cBhvr>
                                        <p:cTn id="29" dur="500"/>
                                        <p:tgtEl>
                                          <p:spTgt spid="3">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43"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100"/>
                                        <p:tgtEl>
                                          <p:spTgt spid="10"/>
                                        </p:tgtEl>
                                      </p:cBhvr>
                                    </p:animEffect>
                                    <p:anim calcmode="lin" valueType="num">
                                      <p:cBhvr>
                                        <p:cTn id="35" dur="400" fill="hold"/>
                                        <p:tgtEl>
                                          <p:spTgt spid="10"/>
                                        </p:tgtEl>
                                        <p:attrNameLst>
                                          <p:attrName>ppt_x</p:attrName>
                                        </p:attrNameLst>
                                      </p:cBhvr>
                                      <p:tavLst>
                                        <p:tav tm="0">
                                          <p:val>
                                            <p:strVal val="#ppt_x"/>
                                          </p:val>
                                        </p:tav>
                                        <p:tav tm="100000">
                                          <p:val>
                                            <p:strVal val="#ppt_x"/>
                                          </p:val>
                                        </p:tav>
                                      </p:tavLst>
                                    </p:anim>
                                    <p:anim calcmode="lin" valueType="num">
                                      <p:cBhvr>
                                        <p:cTn id="36" dur="400" fill="hold"/>
                                        <p:tgtEl>
                                          <p:spTgt spid="10"/>
                                        </p:tgtEl>
                                        <p:attrNameLst>
                                          <p:attrName>ppt_y</p:attrName>
                                        </p:attrNameLst>
                                      </p:cBhvr>
                                      <p:tavLst>
                                        <p:tav tm="0">
                                          <p:val>
                                            <p:strVal val="#ppt_y+0.31"/>
                                          </p:val>
                                        </p:tav>
                                        <p:tav tm="100000">
                                          <p:val>
                                            <p:strVal val="#ppt_y+0.31"/>
                                          </p:val>
                                        </p:tav>
                                      </p:tavLst>
                                    </p:anim>
                                    <p:anim calcmode="lin" valueType="num">
                                      <p:cBhvr>
                                        <p:cTn id="37" dur="600" decel="50000" fill="hold">
                                          <p:stCondLst>
                                            <p:cond delay="400"/>
                                          </p:stCondLst>
                                        </p:cTn>
                                        <p:tgtEl>
                                          <p:spTgt spid="10"/>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38" dur="600" decel="50000" fill="hold">
                                          <p:stCondLst>
                                            <p:cond delay="400"/>
                                          </p:stCondLst>
                                        </p:cTn>
                                        <p:tgtEl>
                                          <p:spTgt spid="10"/>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latin typeface="Century Gothic" panose="020B0502020202020204" pitchFamily="34" charset="0"/>
              </a:rPr>
              <a:t>Ejercicio 2</a:t>
            </a:r>
          </a:p>
        </p:txBody>
      </p:sp>
      <p:sp>
        <p:nvSpPr>
          <p:cNvPr id="3" name="Marcador de contenido 2"/>
          <p:cNvSpPr>
            <a:spLocks noGrp="1"/>
          </p:cNvSpPr>
          <p:nvPr>
            <p:ph idx="1"/>
          </p:nvPr>
        </p:nvSpPr>
        <p:spPr>
          <a:xfrm>
            <a:off x="1670166" y="2655477"/>
            <a:ext cx="8851667" cy="3678303"/>
          </a:xfrm>
        </p:spPr>
        <p:txBody>
          <a:bodyPr>
            <a:noAutofit/>
          </a:bodyPr>
          <a:lstStyle/>
          <a:p>
            <a:pPr marL="0" indent="0">
              <a:buNone/>
            </a:pPr>
            <a:r>
              <a:rPr lang="es-ES" dirty="0">
                <a:latin typeface="Century Gothic" panose="020B0502020202020204" pitchFamily="34" charset="0"/>
              </a:rPr>
              <a:t>Se tienen dos alternativas:</a:t>
            </a:r>
          </a:p>
          <a:p>
            <a:pPr marL="0" indent="0">
              <a:buNone/>
            </a:pPr>
            <a:endParaRPr lang="es-ES" dirty="0">
              <a:latin typeface="Century Gothic" panose="020B0502020202020204" pitchFamily="34" charset="0"/>
            </a:endParaRPr>
          </a:p>
          <a:p>
            <a:pPr marL="324000" lvl="1" indent="0">
              <a:buNone/>
            </a:pPr>
            <a:r>
              <a:rPr lang="es-ES" sz="1800" b="1" dirty="0">
                <a:solidFill>
                  <a:schemeClr val="accent3">
                    <a:lumMod val="75000"/>
                  </a:schemeClr>
                </a:solidFill>
                <a:latin typeface="Century Gothic" panose="020B0502020202020204" pitchFamily="34" charset="0"/>
              </a:rPr>
              <a:t>Proyecto A</a:t>
            </a:r>
          </a:p>
          <a:p>
            <a:pPr lvl="2">
              <a:buClr>
                <a:schemeClr val="accent3">
                  <a:lumMod val="75000"/>
                </a:schemeClr>
              </a:buClr>
            </a:pPr>
            <a:r>
              <a:rPr lang="es-ES" sz="1800" dirty="0">
                <a:latin typeface="Century Gothic" panose="020B0502020202020204" pitchFamily="34" charset="0"/>
              </a:rPr>
              <a:t>E(VPN) = 200</a:t>
            </a:r>
          </a:p>
          <a:p>
            <a:pPr lvl="2">
              <a:buClr>
                <a:schemeClr val="accent3">
                  <a:lumMod val="75000"/>
                </a:schemeClr>
              </a:buClr>
            </a:pPr>
            <a:r>
              <a:rPr lang="es-ES" sz="1800" dirty="0">
                <a:latin typeface="Century Gothic" panose="020B0502020202020204" pitchFamily="34" charset="0"/>
              </a:rPr>
              <a:t>S(VPN) = 50</a:t>
            </a:r>
          </a:p>
          <a:p>
            <a:pPr lvl="2">
              <a:buClr>
                <a:schemeClr val="accent3">
                  <a:lumMod val="75000"/>
                </a:schemeClr>
              </a:buClr>
            </a:pPr>
            <a:r>
              <a:rPr lang="es-ES" sz="1800" dirty="0">
                <a:latin typeface="Century Gothic" panose="020B0502020202020204" pitchFamily="34" charset="0"/>
              </a:rPr>
              <a:t>U(EMC) = 50</a:t>
            </a:r>
          </a:p>
          <a:p>
            <a:pPr lvl="1"/>
            <a:endParaRPr lang="es-ES" sz="1800" dirty="0">
              <a:latin typeface="Century Gothic" panose="020B0502020202020204" pitchFamily="34" charset="0"/>
            </a:endParaRPr>
          </a:p>
          <a:p>
            <a:pPr marL="324000" lvl="1" indent="0">
              <a:buNone/>
            </a:pPr>
            <a:r>
              <a:rPr lang="es-ES" sz="1800" b="1" dirty="0">
                <a:solidFill>
                  <a:schemeClr val="accent3">
                    <a:lumMod val="75000"/>
                  </a:schemeClr>
                </a:solidFill>
                <a:latin typeface="Century Gothic" panose="020B0502020202020204" pitchFamily="34" charset="0"/>
              </a:rPr>
              <a:t>Proyecto B</a:t>
            </a:r>
          </a:p>
          <a:p>
            <a:pPr lvl="2">
              <a:buClr>
                <a:schemeClr val="accent3">
                  <a:lumMod val="75000"/>
                </a:schemeClr>
              </a:buClr>
            </a:pPr>
            <a:r>
              <a:rPr lang="es-ES" sz="1800" dirty="0">
                <a:latin typeface="Century Gothic" panose="020B0502020202020204" pitchFamily="34" charset="0"/>
              </a:rPr>
              <a:t>E(VPN) = 300</a:t>
            </a:r>
          </a:p>
          <a:p>
            <a:pPr lvl="2">
              <a:buClr>
                <a:schemeClr val="accent3">
                  <a:lumMod val="75000"/>
                </a:schemeClr>
              </a:buClr>
            </a:pPr>
            <a:r>
              <a:rPr lang="es-ES" sz="1800" dirty="0">
                <a:latin typeface="Century Gothic" panose="020B0502020202020204" pitchFamily="34" charset="0"/>
              </a:rPr>
              <a:t>S(VPN) = 150</a:t>
            </a:r>
          </a:p>
          <a:p>
            <a:pPr lvl="2">
              <a:buClr>
                <a:schemeClr val="accent3">
                  <a:lumMod val="75000"/>
                </a:schemeClr>
              </a:buClr>
            </a:pPr>
            <a:r>
              <a:rPr lang="es-ES" sz="1800" dirty="0">
                <a:latin typeface="Century Gothic" panose="020B0502020202020204" pitchFamily="34" charset="0"/>
              </a:rPr>
              <a:t>U(EMC) = 48</a:t>
            </a:r>
          </a:p>
          <a:p>
            <a:pPr marL="349250" lvl="1" indent="0" algn="ctr">
              <a:buNone/>
            </a:pPr>
            <a:r>
              <a:rPr lang="es-ES" sz="1800" b="1" dirty="0">
                <a:solidFill>
                  <a:srgbClr val="C00000"/>
                </a:solidFill>
                <a:latin typeface="Century Gothic" panose="020B0502020202020204" pitchFamily="34" charset="0"/>
              </a:rPr>
              <a:t>¿Cuál escogería un inversionista?</a:t>
            </a:r>
          </a:p>
          <a:p>
            <a:pPr lvl="2"/>
            <a:endParaRPr lang="es-ES" sz="1800" dirty="0">
              <a:latin typeface="Century Gothic" panose="020B0502020202020204" pitchFamily="34" charset="0"/>
            </a:endParaRP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43</a:t>
            </a:fld>
            <a:endParaRPr lang="en-US"/>
          </a:p>
        </p:txBody>
      </p:sp>
      <p:sp>
        <p:nvSpPr>
          <p:cNvPr id="9" name="Rectángulo 8"/>
          <p:cNvSpPr/>
          <p:nvPr/>
        </p:nvSpPr>
        <p:spPr>
          <a:xfrm>
            <a:off x="1766619" y="2655477"/>
            <a:ext cx="2679051" cy="1633080"/>
          </a:xfrm>
          <a:prstGeom prst="rect">
            <a:avLst/>
          </a:prstGeom>
          <a:noFill/>
          <a:ln w="28575" cmpd="sng">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10" name="Rectángulo 9">
            <a:extLst>
              <a:ext uri="{FF2B5EF4-FFF2-40B4-BE49-F238E27FC236}">
                <a16:creationId xmlns:a16="http://schemas.microsoft.com/office/drawing/2014/main" id="{6D950EA3-EC38-4D7A-DCCF-92759C11FD3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59451E01-3752-6B89-FBE0-C6BC1CC3AC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9218" name="Picture 2" descr="Ilustración vectorial bombilla con rayos de luz en estilo pop art dibujos  animados con contorno | Vector Premium">
            <a:extLst>
              <a:ext uri="{FF2B5EF4-FFF2-40B4-BE49-F238E27FC236}">
                <a16:creationId xmlns:a16="http://schemas.microsoft.com/office/drawing/2014/main" id="{8ABE69FC-B553-5997-2621-F3AC739302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03658" y="2110617"/>
            <a:ext cx="2509284" cy="2509284"/>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40448761-955B-ED40-B675-B611EC6FDF1D}"/>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28145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1" end="11"/>
                                            </p:txEl>
                                          </p:spTgt>
                                        </p:tgtEl>
                                        <p:attrNameLst>
                                          <p:attrName>style.visibility</p:attrName>
                                        </p:attrNameLst>
                                      </p:cBhvr>
                                      <p:to>
                                        <p:strVal val="visible"/>
                                      </p:to>
                                    </p:set>
                                    <p:anim calcmode="lin" valueType="num">
                                      <p:cBhvr additive="base">
                                        <p:cTn id="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latin typeface="Century Gothic" panose="020B0502020202020204" pitchFamily="34" charset="0"/>
              </a:rPr>
              <a:t>Ejercicio 3</a:t>
            </a:r>
          </a:p>
        </p:txBody>
      </p:sp>
      <p:sp>
        <p:nvSpPr>
          <p:cNvPr id="3" name="Marcador de contenido 2"/>
          <p:cNvSpPr>
            <a:spLocks noGrp="1"/>
          </p:cNvSpPr>
          <p:nvPr>
            <p:ph idx="1"/>
          </p:nvPr>
        </p:nvSpPr>
        <p:spPr>
          <a:xfrm>
            <a:off x="1014496" y="2460396"/>
            <a:ext cx="10163008" cy="3678303"/>
          </a:xfrm>
        </p:spPr>
        <p:txBody>
          <a:bodyPr>
            <a:noAutofit/>
          </a:bodyPr>
          <a:lstStyle/>
          <a:p>
            <a:pPr marL="0" indent="0">
              <a:buNone/>
            </a:pPr>
            <a:r>
              <a:rPr lang="es-ES" dirty="0">
                <a:latin typeface="Century Gothic" panose="020B0502020202020204" pitchFamily="34" charset="0"/>
              </a:rPr>
              <a:t>Se tienen dos alternativas:</a:t>
            </a:r>
          </a:p>
          <a:p>
            <a:pPr marL="0" indent="0">
              <a:buNone/>
            </a:pPr>
            <a:endParaRPr lang="es-ES" dirty="0">
              <a:latin typeface="Century Gothic" panose="020B0502020202020204" pitchFamily="34" charset="0"/>
            </a:endParaRPr>
          </a:p>
          <a:p>
            <a:pPr marL="324000" lvl="1" indent="0">
              <a:buNone/>
            </a:pPr>
            <a:r>
              <a:rPr lang="es-ES" sz="1800" b="1" dirty="0">
                <a:solidFill>
                  <a:schemeClr val="accent3">
                    <a:lumMod val="75000"/>
                  </a:schemeClr>
                </a:solidFill>
                <a:latin typeface="Century Gothic" panose="020B0502020202020204" pitchFamily="34" charset="0"/>
              </a:rPr>
              <a:t>Proyecto A</a:t>
            </a:r>
          </a:p>
          <a:p>
            <a:pPr lvl="2">
              <a:buClr>
                <a:schemeClr val="accent3">
                  <a:lumMod val="75000"/>
                </a:schemeClr>
              </a:buClr>
            </a:pPr>
            <a:r>
              <a:rPr lang="es-ES" sz="1800" dirty="0">
                <a:latin typeface="Century Gothic" panose="020B0502020202020204" pitchFamily="34" charset="0"/>
              </a:rPr>
              <a:t>E(VPN)=1000</a:t>
            </a:r>
          </a:p>
          <a:p>
            <a:pPr lvl="2">
              <a:buClr>
                <a:schemeClr val="accent3">
                  <a:lumMod val="75000"/>
                </a:schemeClr>
              </a:buClr>
            </a:pPr>
            <a:r>
              <a:rPr lang="es-ES" sz="1800" dirty="0">
                <a:latin typeface="Century Gothic" panose="020B0502020202020204" pitchFamily="34" charset="0"/>
              </a:rPr>
              <a:t>S(VPN)=500</a:t>
            </a:r>
          </a:p>
          <a:p>
            <a:pPr lvl="1"/>
            <a:endParaRPr lang="es-ES" sz="1800" dirty="0">
              <a:latin typeface="Century Gothic" panose="020B0502020202020204" pitchFamily="34" charset="0"/>
            </a:endParaRPr>
          </a:p>
          <a:p>
            <a:pPr marL="324000" lvl="1" indent="0">
              <a:buNone/>
            </a:pPr>
            <a:r>
              <a:rPr lang="es-ES" sz="1800" b="1" dirty="0">
                <a:solidFill>
                  <a:schemeClr val="accent3">
                    <a:lumMod val="75000"/>
                  </a:schemeClr>
                </a:solidFill>
                <a:latin typeface="Century Gothic" panose="020B0502020202020204" pitchFamily="34" charset="0"/>
              </a:rPr>
              <a:t>Proyecto B</a:t>
            </a:r>
          </a:p>
          <a:p>
            <a:pPr lvl="2">
              <a:buClr>
                <a:schemeClr val="accent3">
                  <a:lumMod val="75000"/>
                </a:schemeClr>
              </a:buClr>
            </a:pPr>
            <a:r>
              <a:rPr lang="es-ES" sz="1800" dirty="0">
                <a:latin typeface="Century Gothic" panose="020B0502020202020204" pitchFamily="34" charset="0"/>
              </a:rPr>
              <a:t>E(VPN)=3000</a:t>
            </a:r>
          </a:p>
          <a:p>
            <a:pPr lvl="2">
              <a:buClr>
                <a:schemeClr val="accent3">
                  <a:lumMod val="75000"/>
                </a:schemeClr>
              </a:buClr>
            </a:pPr>
            <a:r>
              <a:rPr lang="es-ES" sz="1800" dirty="0">
                <a:latin typeface="Century Gothic" panose="020B0502020202020204" pitchFamily="34" charset="0"/>
              </a:rPr>
              <a:t>S(VPN)=500</a:t>
            </a:r>
          </a:p>
          <a:p>
            <a:pPr marL="349250" lvl="1" indent="0" algn="ctr">
              <a:buNone/>
            </a:pPr>
            <a:r>
              <a:rPr lang="es-ES" sz="1800" b="1" dirty="0">
                <a:solidFill>
                  <a:srgbClr val="C00000"/>
                </a:solidFill>
                <a:latin typeface="Century Gothic" panose="020B0502020202020204" pitchFamily="34" charset="0"/>
              </a:rPr>
              <a:t>¿Cuál escogería un inversionista?</a:t>
            </a:r>
          </a:p>
          <a:p>
            <a:pPr lvl="2"/>
            <a:endParaRPr lang="es-ES" sz="1800" dirty="0">
              <a:latin typeface="Century Gothic" panose="020B0502020202020204" pitchFamily="34" charset="0"/>
            </a:endParaRPr>
          </a:p>
        </p:txBody>
      </p:sp>
      <p:sp>
        <p:nvSpPr>
          <p:cNvPr id="4" name="Marcador de número de diapositiva 3"/>
          <p:cNvSpPr>
            <a:spLocks noGrp="1"/>
          </p:cNvSpPr>
          <p:nvPr>
            <p:ph type="sldNum" sz="quarter" idx="12"/>
          </p:nvPr>
        </p:nvSpPr>
        <p:spPr/>
        <p:txBody>
          <a:bodyPr/>
          <a:lstStyle/>
          <a:p>
            <a:fld id="{5E3E23BA-6E79-2442-BA73-D218A5E297C3}" type="slidenum">
              <a:rPr lang="en-US" smtClean="0"/>
              <a:t>44</a:t>
            </a:fld>
            <a:endParaRPr lang="en-US"/>
          </a:p>
        </p:txBody>
      </p:sp>
      <p:sp>
        <p:nvSpPr>
          <p:cNvPr id="9" name="Rectángulo 8"/>
          <p:cNvSpPr/>
          <p:nvPr/>
        </p:nvSpPr>
        <p:spPr>
          <a:xfrm>
            <a:off x="1138039" y="4371975"/>
            <a:ext cx="2679051" cy="1360610"/>
          </a:xfrm>
          <a:prstGeom prst="rect">
            <a:avLst/>
          </a:prstGeom>
          <a:noFill/>
          <a:ln w="28575" cmpd="sng">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10" name="Rectángulo 9">
            <a:extLst>
              <a:ext uri="{FF2B5EF4-FFF2-40B4-BE49-F238E27FC236}">
                <a16:creationId xmlns:a16="http://schemas.microsoft.com/office/drawing/2014/main" id="{CEA19C57-D6DE-914F-8716-EF629C1974F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F364585A-4674-5024-A306-6E4548D3F7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242" name="Picture 2" descr="ilustración vector gráfico personaje de dibujos animados de solución  6349083 Vector en Vecteezy">
            <a:extLst>
              <a:ext uri="{FF2B5EF4-FFF2-40B4-BE49-F238E27FC236}">
                <a16:creationId xmlns:a16="http://schemas.microsoft.com/office/drawing/2014/main" id="{B5AF3822-1EF8-BD5F-671D-01DF098F2F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1818" y="2120090"/>
            <a:ext cx="2402338" cy="1715956"/>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9F393B78-EB00-B657-61AD-5FB0BB0EA58D}"/>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455329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anim calcmode="lin" valueType="num">
                                      <p:cBhvr additive="base">
                                        <p:cTn id="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812F4-624F-1590-66D8-A1A63533579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63658BA-5876-2ACB-8CD6-8612C1B73B8F}"/>
              </a:ext>
            </a:extLst>
          </p:cNvPr>
          <p:cNvSpPr>
            <a:spLocks noGrp="1"/>
          </p:cNvSpPr>
          <p:nvPr>
            <p:ph type="ctrTitle"/>
          </p:nvPr>
        </p:nvSpPr>
        <p:spPr>
          <a:xfrm>
            <a:off x="470868" y="1814732"/>
            <a:ext cx="10359896" cy="826833"/>
          </a:xfrm>
        </p:spPr>
        <p:txBody>
          <a:bodyPr>
            <a:noAutofit/>
          </a:bodyPr>
          <a:lstStyle/>
          <a:p>
            <a:pPr algn="just"/>
            <a:r>
              <a:rPr lang="es-CO" sz="3200" dirty="0">
                <a:latin typeface="Century Gothic"/>
              </a:rPr>
              <a:t>CONCEPTOS BÁSICOS DE RIESGO Y SU APLICACIÓN (</a:t>
            </a:r>
            <a:r>
              <a:rPr lang="es-CO" sz="3200" dirty="0">
                <a:solidFill>
                  <a:srgbClr val="D7A700"/>
                </a:solidFill>
                <a:latin typeface="Century Gothic"/>
              </a:rPr>
              <a:t>PARTE I</a:t>
            </a:r>
            <a:r>
              <a:rPr lang="es-CO" sz="3200" dirty="0">
                <a:latin typeface="Century Gothic"/>
              </a:rPr>
              <a:t>)</a:t>
            </a:r>
            <a:endParaRPr lang="es-CO" sz="3200" dirty="0">
              <a:latin typeface="Century Gothic" panose="020B0502020202020204" pitchFamily="34" charset="0"/>
            </a:endParaRPr>
          </a:p>
        </p:txBody>
      </p:sp>
      <p:sp>
        <p:nvSpPr>
          <p:cNvPr id="6" name="CuadroTexto 5">
            <a:extLst>
              <a:ext uri="{FF2B5EF4-FFF2-40B4-BE49-F238E27FC236}">
                <a16:creationId xmlns:a16="http://schemas.microsoft.com/office/drawing/2014/main" id="{F22CB67B-F9C7-EFBB-2984-BD752C278048}"/>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dirty="0">
                <a:solidFill>
                  <a:schemeClr val="bg1"/>
                </a:solidFill>
                <a:latin typeface="Century Gothic"/>
              </a:rPr>
              <a:t>													</a:t>
            </a:r>
            <a:endParaRPr lang="es-CO" sz="2000" b="1" u="sng" dirty="0">
              <a:solidFill>
                <a:schemeClr val="bg1"/>
              </a:solidFill>
              <a:latin typeface="Century Gothic"/>
            </a:endParaRPr>
          </a:p>
          <a:p>
            <a:endParaRPr lang="es-CO" sz="1000" b="1" dirty="0">
              <a:solidFill>
                <a:schemeClr val="bg1"/>
              </a:solidFill>
              <a:latin typeface="Century Gothic" panose="020B0502020202020204" pitchFamily="34" charset="0"/>
            </a:endParaRPr>
          </a:p>
          <a:p>
            <a:r>
              <a:rPr lang="es-CO" sz="2000" b="1" dirty="0">
                <a:solidFill>
                  <a:schemeClr val="bg1"/>
                </a:solidFill>
                <a:latin typeface="Century Gothic"/>
              </a:rPr>
              <a:t>DEPARTAMENTO DE INGENIERÍA INDUSTRIAL</a:t>
            </a:r>
          </a:p>
          <a:p>
            <a:r>
              <a:rPr lang="es-CO" sz="2000" b="1" dirty="0">
                <a:solidFill>
                  <a:schemeClr val="bg1"/>
                </a:solidFill>
                <a:latin typeface="Century Gothic"/>
              </a:rPr>
              <a:t>FACULTAD DE INGENIERÍA</a:t>
            </a:r>
          </a:p>
          <a:p>
            <a:r>
              <a:rPr lang="es-CO" sz="1000" b="1" u="sng" dirty="0">
                <a:solidFill>
                  <a:schemeClr val="bg1"/>
                </a:solidFill>
                <a:latin typeface="Century Gothic"/>
              </a:rPr>
              <a:t>													</a:t>
            </a:r>
          </a:p>
          <a:p>
            <a:endParaRPr lang="es-CO" sz="2000" b="1" dirty="0">
              <a:solidFill>
                <a:schemeClr val="bg1"/>
              </a:solidFill>
              <a:latin typeface="Century Gothic" panose="020B0502020202020204" pitchFamily="34" charset="0"/>
            </a:endParaRPr>
          </a:p>
          <a:p>
            <a:r>
              <a:rPr lang="es-CO" sz="2000" b="1" dirty="0">
                <a:solidFill>
                  <a:schemeClr val="bg1"/>
                </a:solidFill>
                <a:latin typeface="Century Gothic"/>
              </a:rPr>
              <a:t>Curso	    </a:t>
            </a:r>
            <a:r>
              <a:rPr lang="es-CO" sz="2000" dirty="0">
                <a:solidFill>
                  <a:schemeClr val="bg1"/>
                </a:solidFill>
                <a:latin typeface="Century Gothic"/>
              </a:rPr>
              <a:t>ANÁLISIS DE DECISIONES DE INVERSIÓN</a:t>
            </a:r>
          </a:p>
          <a:p>
            <a:r>
              <a:rPr lang="es-CO" sz="2000" b="1" dirty="0">
                <a:solidFill>
                  <a:schemeClr val="bg1"/>
                </a:solidFill>
                <a:latin typeface="Century Gothic"/>
              </a:rPr>
              <a:t>Correo     </a:t>
            </a:r>
            <a:r>
              <a:rPr lang="es-CO" sz="2000" dirty="0">
                <a:solidFill>
                  <a:schemeClr val="bg1"/>
                </a:solidFill>
                <a:latin typeface="Century Gothic"/>
              </a:rPr>
              <a:t>cursoanadec@uniandes.edu.co</a:t>
            </a:r>
          </a:p>
          <a:p>
            <a:endParaRPr lang="es-CO" sz="2000" b="1" dirty="0">
              <a:solidFill>
                <a:schemeClr val="bg1"/>
              </a:solidFill>
              <a:latin typeface="Century Gothic" panose="020B0502020202020204" pitchFamily="34" charset="0"/>
            </a:endParaRPr>
          </a:p>
        </p:txBody>
      </p:sp>
      <p:sp>
        <p:nvSpPr>
          <p:cNvPr id="8" name="Rectángulo 7">
            <a:extLst>
              <a:ext uri="{FF2B5EF4-FFF2-40B4-BE49-F238E27FC236}">
                <a16:creationId xmlns:a16="http://schemas.microsoft.com/office/drawing/2014/main" id="{FC6C112F-97B1-ED96-7DBE-B15A65E3336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6EEABF66-D2E3-1E68-BD82-C034CFB69A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98B58FB-B4F6-F63C-8C19-6368924721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59F83002-C670-873D-144D-5BA9BF6EAD1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5280763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pPr algn="just"/>
            <a:r>
              <a:rPr lang="es-CO" sz="3200" dirty="0">
                <a:latin typeface="Century Gothic"/>
              </a:rPr>
              <a:t>CONCEPTOS BÁSICOS DE RIESGO Y SU APLICACIÓN (</a:t>
            </a:r>
            <a:r>
              <a:rPr lang="es-CO" sz="3200" dirty="0">
                <a:solidFill>
                  <a:srgbClr val="D7A700"/>
                </a:solidFill>
                <a:latin typeface="Century Gothic"/>
              </a:rPr>
              <a:t>PARTE II</a:t>
            </a:r>
            <a:r>
              <a:rPr lang="es-CO" sz="3200" dirty="0">
                <a:latin typeface="Century Gothic"/>
              </a:rPr>
              <a:t>)</a:t>
            </a:r>
            <a:endParaRPr lang="es-CO" sz="3200" dirty="0">
              <a:latin typeface="Century Gothic" panose="020B0502020202020204" pitchFamily="34" charset="0"/>
            </a:endParaRPr>
          </a:p>
        </p:txBody>
      </p:sp>
      <p:sp>
        <p:nvSpPr>
          <p:cNvPr id="6" name="CuadroTexto 5"/>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dirty="0">
                <a:solidFill>
                  <a:schemeClr val="bg1"/>
                </a:solidFill>
                <a:latin typeface="Century Gothic"/>
              </a:rPr>
              <a:t>													</a:t>
            </a:r>
            <a:endParaRPr lang="es-CO" sz="2000" b="1" u="sng" dirty="0">
              <a:solidFill>
                <a:schemeClr val="bg1"/>
              </a:solidFill>
              <a:latin typeface="Century Gothic"/>
            </a:endParaRPr>
          </a:p>
          <a:p>
            <a:endParaRPr lang="es-CO" sz="1000" b="1" dirty="0">
              <a:solidFill>
                <a:schemeClr val="bg1"/>
              </a:solidFill>
              <a:latin typeface="Century Gothic" panose="020B0502020202020204" pitchFamily="34" charset="0"/>
            </a:endParaRPr>
          </a:p>
          <a:p>
            <a:r>
              <a:rPr lang="es-CO" sz="2000" b="1" dirty="0">
                <a:solidFill>
                  <a:schemeClr val="bg1"/>
                </a:solidFill>
                <a:latin typeface="Century Gothic"/>
              </a:rPr>
              <a:t>DEPARTAMENTO DE INGENIERÍA INDUSTRIAL</a:t>
            </a:r>
          </a:p>
          <a:p>
            <a:r>
              <a:rPr lang="es-CO" sz="2000" b="1" dirty="0">
                <a:solidFill>
                  <a:schemeClr val="bg1"/>
                </a:solidFill>
                <a:latin typeface="Century Gothic"/>
              </a:rPr>
              <a:t>FACULTAD DE INGENIERÍA</a:t>
            </a:r>
          </a:p>
          <a:p>
            <a:r>
              <a:rPr lang="es-CO" sz="1000" b="1" u="sng" dirty="0">
                <a:solidFill>
                  <a:schemeClr val="bg1"/>
                </a:solidFill>
                <a:latin typeface="Century Gothic"/>
              </a:rPr>
              <a:t>													</a:t>
            </a:r>
          </a:p>
          <a:p>
            <a:endParaRPr lang="es-CO" sz="2000" b="1" dirty="0">
              <a:solidFill>
                <a:schemeClr val="bg1"/>
              </a:solidFill>
              <a:latin typeface="Century Gothic" panose="020B0502020202020204" pitchFamily="34" charset="0"/>
            </a:endParaRPr>
          </a:p>
          <a:p>
            <a:r>
              <a:rPr lang="es-CO" sz="2000" b="1" dirty="0">
                <a:solidFill>
                  <a:schemeClr val="bg1"/>
                </a:solidFill>
                <a:latin typeface="Century Gothic"/>
              </a:rPr>
              <a:t>Curso	    </a:t>
            </a:r>
            <a:r>
              <a:rPr lang="es-CO" sz="2000" dirty="0">
                <a:solidFill>
                  <a:schemeClr val="bg1"/>
                </a:solidFill>
                <a:latin typeface="Century Gothic"/>
              </a:rPr>
              <a:t>ANÁLISIS DE DECISIONES DE INVERSIÓN</a:t>
            </a:r>
          </a:p>
          <a:p>
            <a:r>
              <a:rPr lang="es-CO" sz="2000" b="1" dirty="0">
                <a:solidFill>
                  <a:schemeClr val="bg1"/>
                </a:solidFill>
                <a:latin typeface="Century Gothic"/>
              </a:rPr>
              <a:t>Correo     </a:t>
            </a:r>
            <a:r>
              <a:rPr lang="es-CO" sz="2000" dirty="0">
                <a:solidFill>
                  <a:schemeClr val="bg1"/>
                </a:solidFill>
                <a:latin typeface="Century Gothic"/>
              </a:rPr>
              <a:t>cursoanadec@uniandes.edu.co</a:t>
            </a:r>
          </a:p>
          <a:p>
            <a:endParaRPr lang="es-CO" sz="2000" b="1" dirty="0">
              <a:solidFill>
                <a:schemeClr val="bg1"/>
              </a:solidFill>
              <a:latin typeface="Century Gothic" panose="020B0502020202020204" pitchFamily="34" charset="0"/>
            </a:endParaRPr>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D2B39683-E445-868B-259B-35AF4CE56B1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6017155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1400" b="1" smtClean="0"/>
              <a:pPr/>
              <a:t>47</a:t>
            </a:fld>
            <a:endParaRPr lang="en-US" sz="1400" b="1"/>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1323439"/>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dirty="0">
                <a:solidFill>
                  <a:schemeClr val="accent1"/>
                </a:solidFill>
                <a:latin typeface="Century Gothic"/>
                <a:cs typeface="Arial"/>
              </a:rPr>
              <a:t>Análisis de escenarios y de sensibilidad.</a:t>
            </a:r>
            <a:endParaRPr lang="es-ES" sz="1600" dirty="0">
              <a:solidFill>
                <a:schemeClr val="accent1"/>
              </a:solidFill>
              <a:latin typeface="Century Gothic"/>
              <a:cs typeface="Arial"/>
            </a:endParaRPr>
          </a:p>
          <a:p>
            <a:pPr marL="342900" indent="-342900">
              <a:buClr>
                <a:srgbClr val="2C7C9F"/>
              </a:buClr>
              <a:buFontTx/>
              <a:buAutoNum type="arabicPeriod"/>
            </a:pPr>
            <a:endParaRPr lang="es-CO" sz="1600" dirty="0">
              <a:solidFill>
                <a:schemeClr val="accent1"/>
              </a:solidFill>
              <a:latin typeface="Century Gothic"/>
              <a:cs typeface="Arial"/>
            </a:endParaRPr>
          </a:p>
          <a:p>
            <a:pPr marL="342900" indent="-342900">
              <a:buClr>
                <a:srgbClr val="48BE7A"/>
              </a:buClr>
              <a:buFontTx/>
              <a:buAutoNum type="arabicPeriod"/>
            </a:pPr>
            <a:r>
              <a:rPr lang="es-CO" sz="1600" dirty="0">
                <a:solidFill>
                  <a:schemeClr val="accent1"/>
                </a:solidFill>
                <a:latin typeface="Century Gothic"/>
                <a:cs typeface="Arial"/>
              </a:rPr>
              <a:t>Árboles de Decisión.</a:t>
            </a:r>
            <a:endParaRPr lang="es-CO" sz="1600"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sz="1600" dirty="0">
              <a:solidFill>
                <a:schemeClr val="accent1"/>
              </a:solidFill>
              <a:latin typeface="Century Gothic" panose="020B0502020202020204" pitchFamily="34" charset="0"/>
              <a:cs typeface="Arial"/>
            </a:endParaRPr>
          </a:p>
          <a:p>
            <a:pPr>
              <a:buClr>
                <a:schemeClr val="accent3">
                  <a:lumMod val="75000"/>
                </a:schemeClr>
              </a:buClr>
            </a:pPr>
            <a:endParaRPr lang="es-CO" sz="1600" dirty="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92EF620B-8390-9BE4-FF5A-8C4B45F55FD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336489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1400" b="1" smtClean="0"/>
              <a:pPr/>
              <a:t>48</a:t>
            </a:fld>
            <a:endParaRPr lang="en-US" sz="1400" b="1"/>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1323439"/>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dirty="0">
                <a:solidFill>
                  <a:schemeClr val="accent1"/>
                </a:solidFill>
                <a:latin typeface="Century Gothic"/>
                <a:cs typeface="Arial"/>
              </a:rPr>
              <a:t>Análisis de escenarios y de sensibilidad.</a:t>
            </a:r>
            <a:endParaRPr lang="es-ES" sz="1600" dirty="0">
              <a:solidFill>
                <a:schemeClr val="accent1"/>
              </a:solidFill>
              <a:latin typeface="Century Gothic"/>
              <a:cs typeface="Arial"/>
            </a:endParaRPr>
          </a:p>
          <a:p>
            <a:pPr marL="342900" indent="-342900">
              <a:buClr>
                <a:srgbClr val="2C7C9F"/>
              </a:buClr>
              <a:buFontTx/>
              <a:buAutoNum type="arabicPeriod"/>
            </a:pPr>
            <a:endParaRPr lang="es-CO" sz="1600" dirty="0">
              <a:solidFill>
                <a:schemeClr val="accent1"/>
              </a:solidFill>
              <a:latin typeface="Century Gothic"/>
              <a:cs typeface="Arial"/>
            </a:endParaRPr>
          </a:p>
          <a:p>
            <a:pPr marL="342900" indent="-342900">
              <a:buClr>
                <a:srgbClr val="48BE7A"/>
              </a:buClr>
              <a:buFontTx/>
              <a:buAutoNum type="arabicPeriod"/>
            </a:pPr>
            <a:r>
              <a:rPr lang="es-CO" sz="1600" dirty="0">
                <a:solidFill>
                  <a:schemeClr val="bg2">
                    <a:lumMod val="90000"/>
                  </a:schemeClr>
                </a:solidFill>
                <a:latin typeface="Century Gothic"/>
                <a:cs typeface="Arial"/>
              </a:rPr>
              <a:t>Árboles de Decisión.</a:t>
            </a:r>
            <a:endParaRPr lang="es-CO" sz="16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sz="1600" dirty="0">
              <a:solidFill>
                <a:schemeClr val="accent1"/>
              </a:solidFill>
              <a:latin typeface="Century Gothic" panose="020B0502020202020204" pitchFamily="34" charset="0"/>
              <a:cs typeface="Arial"/>
            </a:endParaRPr>
          </a:p>
          <a:p>
            <a:pPr>
              <a:buClr>
                <a:schemeClr val="accent3">
                  <a:lumMod val="75000"/>
                </a:schemeClr>
              </a:buClr>
            </a:pPr>
            <a:endParaRPr lang="es-CO" sz="1600" dirty="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BBB95F51-14AC-C5BF-164D-BD5AC5036A3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426604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dirty="0">
                <a:latin typeface="Century Gothic" panose="020B0502020202020204" pitchFamily="34" charset="0"/>
              </a:rPr>
              <a:t>Análisis de escenarios y de Sensibilidad</a:t>
            </a:r>
          </a:p>
        </p:txBody>
      </p:sp>
      <p:sp>
        <p:nvSpPr>
          <p:cNvPr id="3" name="Content Placeholder 2"/>
          <p:cNvSpPr>
            <a:spLocks noGrp="1"/>
          </p:cNvSpPr>
          <p:nvPr>
            <p:ph idx="1"/>
          </p:nvPr>
        </p:nvSpPr>
        <p:spPr>
          <a:xfrm>
            <a:off x="641965" y="2277834"/>
            <a:ext cx="8590492" cy="3678303"/>
          </a:xfrm>
        </p:spPr>
        <p:txBody>
          <a:bodyPr>
            <a:normAutofit/>
          </a:bodyPr>
          <a:lstStyle/>
          <a:p>
            <a:pPr algn="just">
              <a:buClr>
                <a:schemeClr val="accent3">
                  <a:lumMod val="75000"/>
                </a:schemeClr>
              </a:buClr>
            </a:pPr>
            <a:r>
              <a:rPr lang="es-ES_tradnl" dirty="0">
                <a:solidFill>
                  <a:schemeClr val="accent1"/>
                </a:solidFill>
                <a:latin typeface="Century Gothic" panose="020B0502020202020204" pitchFamily="34" charset="0"/>
              </a:rPr>
              <a:t>Ahora es pertinente definir una serie de herramientas estándar que permiten analizar situaciones bajo riesgo.</a:t>
            </a:r>
          </a:p>
          <a:p>
            <a:pPr algn="just">
              <a:buClr>
                <a:schemeClr val="accent3">
                  <a:lumMod val="75000"/>
                </a:schemeClr>
              </a:buClr>
            </a:pPr>
            <a:endParaRPr lang="es-ES_tradnl" dirty="0">
              <a:solidFill>
                <a:schemeClr val="accent1"/>
              </a:solidFill>
              <a:latin typeface="Century Gothic" panose="020B0502020202020204" pitchFamily="34" charset="0"/>
            </a:endParaRPr>
          </a:p>
          <a:p>
            <a:pPr algn="just">
              <a:buClr>
                <a:schemeClr val="accent3">
                  <a:lumMod val="75000"/>
                </a:schemeClr>
              </a:buClr>
            </a:pPr>
            <a:r>
              <a:rPr lang="es-ES_tradnl" dirty="0">
                <a:solidFill>
                  <a:schemeClr val="accent1"/>
                </a:solidFill>
                <a:latin typeface="Century Gothic" panose="020B0502020202020204" pitchFamily="34" charset="0"/>
              </a:rPr>
              <a:t>Por un lado, está el </a:t>
            </a:r>
            <a:r>
              <a:rPr lang="es-ES_tradnl" b="1" dirty="0">
                <a:solidFill>
                  <a:srgbClr val="C00000"/>
                </a:solidFill>
                <a:latin typeface="Century Gothic" panose="020B0502020202020204" pitchFamily="34" charset="0"/>
              </a:rPr>
              <a:t>análisis por escenarios</a:t>
            </a:r>
            <a:r>
              <a:rPr lang="es-ES_tradnl" dirty="0">
                <a:solidFill>
                  <a:schemeClr val="accent1"/>
                </a:solidFill>
                <a:latin typeface="Century Gothic" panose="020B0502020202020204" pitchFamily="34" charset="0"/>
              </a:rPr>
              <a:t>: técnica que permite reconocer que puede haber eventos futuros que difieren de las estimaciones inicialmente realizadas.</a:t>
            </a:r>
          </a:p>
          <a:p>
            <a:pPr algn="just">
              <a:buClr>
                <a:schemeClr val="accent3">
                  <a:lumMod val="75000"/>
                </a:schemeClr>
              </a:buClr>
            </a:pPr>
            <a:endParaRPr lang="es-ES_tradnl" dirty="0">
              <a:solidFill>
                <a:schemeClr val="accent1"/>
              </a:solidFill>
              <a:latin typeface="Century Gothic" panose="020B0502020202020204" pitchFamily="34" charset="0"/>
            </a:endParaRPr>
          </a:p>
          <a:p>
            <a:pPr algn="just">
              <a:buClr>
                <a:schemeClr val="accent3">
                  <a:lumMod val="75000"/>
                </a:schemeClr>
              </a:buClr>
            </a:pPr>
            <a:r>
              <a:rPr lang="es-ES_tradnl" dirty="0">
                <a:solidFill>
                  <a:schemeClr val="accent1"/>
                </a:solidFill>
                <a:latin typeface="Century Gothic" panose="020B0502020202020204" pitchFamily="34" charset="0"/>
              </a:rPr>
              <a:t>Por otro lado, existe el </a:t>
            </a:r>
            <a:r>
              <a:rPr lang="es-ES_tradnl" b="1" dirty="0">
                <a:solidFill>
                  <a:srgbClr val="C00000"/>
                </a:solidFill>
                <a:latin typeface="Century Gothic" panose="020B0502020202020204" pitchFamily="34" charset="0"/>
              </a:rPr>
              <a:t>análisis de sensibilidad</a:t>
            </a:r>
            <a:r>
              <a:rPr lang="es-ES_tradnl" dirty="0">
                <a:solidFill>
                  <a:schemeClr val="accent1"/>
                </a:solidFill>
                <a:latin typeface="Century Gothic" panose="020B0502020202020204" pitchFamily="34" charset="0"/>
              </a:rPr>
              <a:t>: metodología que cuantifica el efecto resultante en una variable de interés (VPN, TIR, etc.) a raíz de un cambio en variables aleatorias (Precios, Cantidades, TRM, etc.).</a:t>
            </a:r>
          </a:p>
        </p:txBody>
      </p:sp>
      <p:sp>
        <p:nvSpPr>
          <p:cNvPr id="4" name="Slide Number Placeholder 3"/>
          <p:cNvSpPr>
            <a:spLocks noGrp="1"/>
          </p:cNvSpPr>
          <p:nvPr>
            <p:ph type="sldNum" sz="quarter" idx="12"/>
          </p:nvPr>
        </p:nvSpPr>
        <p:spPr/>
        <p:txBody>
          <a:bodyPr/>
          <a:lstStyle/>
          <a:p>
            <a:fld id="{5E3E23BA-6E79-2442-BA73-D218A5E297C3}" type="slidenum">
              <a:rPr lang="en-US" sz="1800" smtClean="0"/>
              <a:t>49</a:t>
            </a:fld>
            <a:endParaRPr lang="en-US" sz="1800"/>
          </a:p>
        </p:txBody>
      </p:sp>
      <p:sp>
        <p:nvSpPr>
          <p:cNvPr id="9" name="Rectángulo 8">
            <a:extLst>
              <a:ext uri="{FF2B5EF4-FFF2-40B4-BE49-F238E27FC236}">
                <a16:creationId xmlns:a16="http://schemas.microsoft.com/office/drawing/2014/main" id="{A2C9E4BA-142D-873B-636F-55B0276D0CA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3F13F87E-5A2B-DF77-0962-50C010BCAD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68AD125A-1189-B471-1D7A-664E34B817B0}"/>
              </a:ext>
            </a:extLst>
          </p:cNvPr>
          <p:cNvPicPr>
            <a:picLocks noChangeAspect="1"/>
          </p:cNvPicPr>
          <p:nvPr/>
        </p:nvPicPr>
        <p:blipFill rotWithShape="1">
          <a:blip r:embed="rId3"/>
          <a:srcRect l="917" t="1993" r="3710" b="9482"/>
          <a:stretch/>
        </p:blipFill>
        <p:spPr>
          <a:xfrm>
            <a:off x="9345931" y="3181864"/>
            <a:ext cx="2204104" cy="1559957"/>
          </a:xfrm>
          <a:prstGeom prst="rect">
            <a:avLst/>
          </a:prstGeom>
        </p:spPr>
      </p:pic>
      <p:sp>
        <p:nvSpPr>
          <p:cNvPr id="5" name="Rectángulo 4">
            <a:extLst>
              <a:ext uri="{FF2B5EF4-FFF2-40B4-BE49-F238E27FC236}">
                <a16:creationId xmlns:a16="http://schemas.microsoft.com/office/drawing/2014/main" id="{F2707759-DB89-4DEC-80DA-1A39CA46F6CD}"/>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997457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dirty="0">
                <a:latin typeface="Century Gothic" panose="020B0502020202020204" pitchFamily="34" charset="0"/>
              </a:rPr>
              <a:t>Análisis de escenarios y de Sensibilidad</a:t>
            </a:r>
          </a:p>
        </p:txBody>
      </p:sp>
      <p:sp>
        <p:nvSpPr>
          <p:cNvPr id="3" name="Content Placeholder 2"/>
          <p:cNvSpPr>
            <a:spLocks noGrp="1"/>
          </p:cNvSpPr>
          <p:nvPr>
            <p:ph idx="1"/>
          </p:nvPr>
        </p:nvSpPr>
        <p:spPr>
          <a:xfrm>
            <a:off x="983117" y="2191647"/>
            <a:ext cx="10235491" cy="3678303"/>
          </a:xfrm>
        </p:spPr>
        <p:txBody>
          <a:bodyPr>
            <a:normAutofit/>
          </a:bodyPr>
          <a:lstStyle/>
          <a:p>
            <a:pPr marL="0" indent="0" algn="ctr">
              <a:buNone/>
            </a:pPr>
            <a:r>
              <a:rPr lang="es-ES_tradnl" b="1" dirty="0">
                <a:solidFill>
                  <a:srgbClr val="C00000"/>
                </a:solidFill>
                <a:latin typeface="Century Gothic" panose="020B0502020202020204" pitchFamily="34" charset="0"/>
              </a:rPr>
              <a:t>¿Cómo se hace un análisis por escenarios?</a:t>
            </a:r>
          </a:p>
          <a:p>
            <a:pPr marL="0" indent="0" algn="ctr">
              <a:buNone/>
            </a:pPr>
            <a:endParaRPr lang="es-ES_tradnl" dirty="0">
              <a:solidFill>
                <a:schemeClr val="accent1"/>
              </a:solidFill>
              <a:latin typeface="Century Gothic" panose="020B0502020202020204" pitchFamily="34" charset="0"/>
            </a:endParaRPr>
          </a:p>
          <a:p>
            <a:pPr marL="457200" indent="-457200" algn="just">
              <a:buClr>
                <a:schemeClr val="accent3">
                  <a:lumMod val="75000"/>
                </a:schemeClr>
              </a:buClr>
              <a:buFont typeface="+mj-lt"/>
              <a:buAutoNum type="arabicPeriod"/>
            </a:pPr>
            <a:r>
              <a:rPr lang="es-ES_tradnl" dirty="0">
                <a:solidFill>
                  <a:schemeClr val="accent1"/>
                </a:solidFill>
                <a:latin typeface="Century Gothic" panose="020B0502020202020204" pitchFamily="34" charset="0"/>
              </a:rPr>
              <a:t>Identificar las variables que generan volatilidad y sus posibles valores esperados.</a:t>
            </a:r>
          </a:p>
          <a:p>
            <a:pPr marL="457200" indent="-457200" algn="just">
              <a:buClr>
                <a:schemeClr val="accent3">
                  <a:lumMod val="75000"/>
                </a:schemeClr>
              </a:buClr>
              <a:buFont typeface="+mj-lt"/>
              <a:buAutoNum type="arabicPeriod"/>
            </a:pPr>
            <a:r>
              <a:rPr lang="es-ES_tradnl" dirty="0">
                <a:solidFill>
                  <a:schemeClr val="accent1"/>
                </a:solidFill>
                <a:latin typeface="Century Gothic" panose="020B0502020202020204" pitchFamily="34" charset="0"/>
              </a:rPr>
              <a:t>Construir los FCL para cada escenario según las variables anteriores.</a:t>
            </a:r>
          </a:p>
          <a:p>
            <a:pPr marL="457200" indent="-457200" algn="just">
              <a:buClr>
                <a:schemeClr val="accent3">
                  <a:lumMod val="75000"/>
                </a:schemeClr>
              </a:buClr>
              <a:buFont typeface="+mj-lt"/>
              <a:buAutoNum type="arabicPeriod"/>
            </a:pPr>
            <a:r>
              <a:rPr lang="es-ES_tradnl" dirty="0">
                <a:solidFill>
                  <a:schemeClr val="accent1"/>
                </a:solidFill>
                <a:latin typeface="Century Gothic" panose="020B0502020202020204" pitchFamily="34" charset="0"/>
              </a:rPr>
              <a:t>Obtener los IBF para los escenarios.</a:t>
            </a:r>
          </a:p>
          <a:p>
            <a:pPr marL="457200" indent="-457200" algn="just">
              <a:buClr>
                <a:schemeClr val="accent3">
                  <a:lumMod val="75000"/>
                </a:schemeClr>
              </a:buClr>
              <a:buFont typeface="+mj-lt"/>
              <a:buAutoNum type="arabicPeriod"/>
            </a:pPr>
            <a:r>
              <a:rPr lang="es-ES_tradnl" dirty="0">
                <a:solidFill>
                  <a:schemeClr val="accent1"/>
                </a:solidFill>
                <a:latin typeface="Century Gothic" panose="020B0502020202020204" pitchFamily="34" charset="0"/>
              </a:rPr>
              <a:t>Asignar una probabilidad de ocurrencia a los escenarios.</a:t>
            </a:r>
          </a:p>
          <a:p>
            <a:pPr marL="457200" indent="-457200" algn="just">
              <a:buClr>
                <a:schemeClr val="accent3">
                  <a:lumMod val="75000"/>
                </a:schemeClr>
              </a:buClr>
              <a:buFont typeface="+mj-lt"/>
              <a:buAutoNum type="arabicPeriod"/>
            </a:pPr>
            <a:r>
              <a:rPr lang="es-ES_tradnl" dirty="0">
                <a:solidFill>
                  <a:schemeClr val="accent1"/>
                </a:solidFill>
                <a:latin typeface="Century Gothic" panose="020B0502020202020204" pitchFamily="34" charset="0"/>
              </a:rPr>
              <a:t>Calcular las medidas de tendencia central y dispersión.</a:t>
            </a:r>
          </a:p>
        </p:txBody>
      </p:sp>
      <p:sp>
        <p:nvSpPr>
          <p:cNvPr id="4" name="Slide Number Placeholder 3"/>
          <p:cNvSpPr>
            <a:spLocks noGrp="1"/>
          </p:cNvSpPr>
          <p:nvPr>
            <p:ph type="sldNum" sz="quarter" idx="12"/>
          </p:nvPr>
        </p:nvSpPr>
        <p:spPr/>
        <p:txBody>
          <a:bodyPr/>
          <a:lstStyle/>
          <a:p>
            <a:fld id="{5E3E23BA-6E79-2442-BA73-D218A5E297C3}" type="slidenum">
              <a:rPr lang="en-US" sz="1800" smtClean="0"/>
              <a:t>50</a:t>
            </a:fld>
            <a:endParaRPr lang="en-US" sz="1800"/>
          </a:p>
        </p:txBody>
      </p:sp>
      <p:sp>
        <p:nvSpPr>
          <p:cNvPr id="9" name="Rectángulo 8">
            <a:extLst>
              <a:ext uri="{FF2B5EF4-FFF2-40B4-BE49-F238E27FC236}">
                <a16:creationId xmlns:a16="http://schemas.microsoft.com/office/drawing/2014/main" id="{633A5708-F5DC-79A8-20BC-074150B64C9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4ED6F9C5-5C67-BEF2-0C4D-4C811774C1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ersonaje de dibujos animados gráfico de vector de ilustración de idea de  negocio | Vector Premium">
            <a:extLst>
              <a:ext uri="{FF2B5EF4-FFF2-40B4-BE49-F238E27FC236}">
                <a16:creationId xmlns:a16="http://schemas.microsoft.com/office/drawing/2014/main" id="{8D62F5FB-E913-1E0A-D7CB-55CFF0278A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6464" y="4283172"/>
            <a:ext cx="2038090" cy="2038090"/>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A0FCD9F8-3BB6-E9E4-0FB4-9E5A276183A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666355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1400" b="1" smtClean="0"/>
              <a:pPr/>
              <a:t>51</a:t>
            </a:fld>
            <a:endParaRPr lang="en-US" sz="1400" b="1"/>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1323439"/>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dirty="0">
                <a:solidFill>
                  <a:schemeClr val="bg2">
                    <a:lumMod val="90000"/>
                  </a:schemeClr>
                </a:solidFill>
                <a:latin typeface="Century Gothic"/>
                <a:cs typeface="Arial"/>
              </a:rPr>
              <a:t>Análisis de escenarios y de sensibilidad.</a:t>
            </a:r>
            <a:endParaRPr lang="es-ES" sz="1600" dirty="0">
              <a:solidFill>
                <a:schemeClr val="bg2">
                  <a:lumMod val="90000"/>
                </a:schemeClr>
              </a:solidFill>
              <a:latin typeface="Century Gothic"/>
              <a:cs typeface="Arial"/>
            </a:endParaRPr>
          </a:p>
          <a:p>
            <a:pPr marL="342900" indent="-342900">
              <a:buClr>
                <a:srgbClr val="2C7C9F"/>
              </a:buClr>
              <a:buFontTx/>
              <a:buAutoNum type="arabicPeriod"/>
            </a:pPr>
            <a:endParaRPr lang="es-CO" sz="1600" dirty="0">
              <a:solidFill>
                <a:schemeClr val="accent1"/>
              </a:solidFill>
              <a:latin typeface="Century Gothic"/>
              <a:cs typeface="Arial"/>
            </a:endParaRPr>
          </a:p>
          <a:p>
            <a:pPr marL="342900" indent="-342900">
              <a:buClr>
                <a:srgbClr val="48BE7A"/>
              </a:buClr>
              <a:buFontTx/>
              <a:buAutoNum type="arabicPeriod"/>
            </a:pPr>
            <a:r>
              <a:rPr lang="es-CO" sz="1600" dirty="0">
                <a:solidFill>
                  <a:schemeClr val="accent1"/>
                </a:solidFill>
                <a:latin typeface="Century Gothic"/>
                <a:cs typeface="Arial"/>
              </a:rPr>
              <a:t>Árboles de Decisión.</a:t>
            </a:r>
            <a:endParaRPr lang="es-CO" sz="1600"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sz="1600" dirty="0">
              <a:solidFill>
                <a:schemeClr val="accent1"/>
              </a:solidFill>
              <a:latin typeface="Century Gothic" panose="020B0502020202020204" pitchFamily="34" charset="0"/>
              <a:cs typeface="Arial"/>
            </a:endParaRPr>
          </a:p>
          <a:p>
            <a:pPr>
              <a:buClr>
                <a:schemeClr val="accent3">
                  <a:lumMod val="75000"/>
                </a:schemeClr>
              </a:buClr>
            </a:pPr>
            <a:endParaRPr lang="es-CO" sz="1600" dirty="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F96E2764-6BE4-B60F-5D5D-B0FE4A7875D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458592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dirty="0">
                <a:latin typeface="Century Gothic" panose="020B0502020202020204" pitchFamily="34" charset="0"/>
              </a:rPr>
              <a:t>Árboles de Decisión</a:t>
            </a:r>
          </a:p>
        </p:txBody>
      </p:sp>
      <p:sp>
        <p:nvSpPr>
          <p:cNvPr id="3" name="Content Placeholder 2"/>
          <p:cNvSpPr>
            <a:spLocks noGrp="1"/>
          </p:cNvSpPr>
          <p:nvPr>
            <p:ph idx="1"/>
          </p:nvPr>
        </p:nvSpPr>
        <p:spPr>
          <a:xfrm>
            <a:off x="1596161" y="2375569"/>
            <a:ext cx="9388548" cy="2439402"/>
          </a:xfrm>
        </p:spPr>
        <p:txBody>
          <a:bodyPr anchor="ctr">
            <a:normAutofit/>
          </a:bodyPr>
          <a:lstStyle/>
          <a:p>
            <a:pPr marL="0" indent="0" algn="ctr">
              <a:buNone/>
            </a:pPr>
            <a:r>
              <a:rPr lang="es-ES_tradnl" dirty="0">
                <a:solidFill>
                  <a:schemeClr val="accent1"/>
                </a:solidFill>
                <a:latin typeface="Century Gothic" panose="020B0502020202020204" pitchFamily="34" charset="0"/>
              </a:rPr>
              <a:t>Son una herramienta que permite estructurar un proceso de decisión </a:t>
            </a:r>
            <a:r>
              <a:rPr lang="es-ES_tradnl" b="1" dirty="0">
                <a:solidFill>
                  <a:schemeClr val="accent3">
                    <a:lumMod val="75000"/>
                  </a:schemeClr>
                </a:solidFill>
                <a:latin typeface="Century Gothic" panose="020B0502020202020204" pitchFamily="34" charset="0"/>
              </a:rPr>
              <a:t>considerando las posibles alternativas</a:t>
            </a:r>
            <a:r>
              <a:rPr lang="es-ES_tradnl" dirty="0">
                <a:solidFill>
                  <a:schemeClr val="accent1"/>
                </a:solidFill>
                <a:latin typeface="Century Gothic" panose="020B0502020202020204" pitchFamily="34" charset="0"/>
              </a:rPr>
              <a:t>, la </a:t>
            </a:r>
            <a:r>
              <a:rPr lang="es-ES_tradnl" b="1" dirty="0">
                <a:solidFill>
                  <a:schemeClr val="accent3">
                    <a:lumMod val="75000"/>
                  </a:schemeClr>
                </a:solidFill>
                <a:latin typeface="Century Gothic" panose="020B0502020202020204" pitchFamily="34" charset="0"/>
              </a:rPr>
              <a:t>secuencia del proceso</a:t>
            </a:r>
            <a:r>
              <a:rPr lang="es-ES_tradnl" dirty="0">
                <a:solidFill>
                  <a:schemeClr val="accent1"/>
                </a:solidFill>
                <a:latin typeface="Century Gothic" panose="020B0502020202020204" pitchFamily="34" charset="0"/>
              </a:rPr>
              <a:t>, las </a:t>
            </a:r>
            <a:r>
              <a:rPr lang="es-ES_tradnl" b="1" dirty="0">
                <a:solidFill>
                  <a:schemeClr val="accent3">
                    <a:lumMod val="75000"/>
                  </a:schemeClr>
                </a:solidFill>
                <a:latin typeface="Century Gothic" panose="020B0502020202020204" pitchFamily="34" charset="0"/>
              </a:rPr>
              <a:t>variables aleatorias</a:t>
            </a:r>
            <a:r>
              <a:rPr lang="es-ES_tradnl" b="1" dirty="0">
                <a:solidFill>
                  <a:schemeClr val="accent1"/>
                </a:solidFill>
                <a:latin typeface="Century Gothic" panose="020B0502020202020204" pitchFamily="34" charset="0"/>
              </a:rPr>
              <a:t> </a:t>
            </a:r>
            <a:r>
              <a:rPr lang="es-ES_tradnl" dirty="0">
                <a:solidFill>
                  <a:schemeClr val="accent1"/>
                </a:solidFill>
                <a:latin typeface="Century Gothic" panose="020B0502020202020204" pitchFamily="34" charset="0"/>
              </a:rPr>
              <a:t>asociadas y los </a:t>
            </a:r>
            <a:r>
              <a:rPr lang="es-ES_tradnl" b="1" dirty="0">
                <a:solidFill>
                  <a:schemeClr val="accent3">
                    <a:lumMod val="75000"/>
                  </a:schemeClr>
                </a:solidFill>
                <a:latin typeface="Century Gothic" panose="020B0502020202020204" pitchFamily="34" charset="0"/>
              </a:rPr>
              <a:t>resultados de las decisiones tomadas</a:t>
            </a:r>
            <a:r>
              <a:rPr lang="es-ES_tradnl" dirty="0">
                <a:solidFill>
                  <a:schemeClr val="accent1"/>
                </a:solidFill>
                <a:latin typeface="Century Gothic" panose="020B0502020202020204" pitchFamily="34" charset="0"/>
              </a:rPr>
              <a:t>.</a:t>
            </a:r>
          </a:p>
        </p:txBody>
      </p:sp>
      <p:sp>
        <p:nvSpPr>
          <p:cNvPr id="4" name="Slide Number Placeholder 3"/>
          <p:cNvSpPr>
            <a:spLocks noGrp="1"/>
          </p:cNvSpPr>
          <p:nvPr>
            <p:ph type="sldNum" sz="quarter" idx="12"/>
          </p:nvPr>
        </p:nvSpPr>
        <p:spPr/>
        <p:txBody>
          <a:bodyPr/>
          <a:lstStyle/>
          <a:p>
            <a:fld id="{5E3E23BA-6E79-2442-BA73-D218A5E297C3}" type="slidenum">
              <a:rPr lang="en-US" sz="1800" smtClean="0"/>
              <a:t>52</a:t>
            </a:fld>
            <a:endParaRPr lang="en-US" sz="1800"/>
          </a:p>
        </p:txBody>
      </p:sp>
      <p:sp>
        <p:nvSpPr>
          <p:cNvPr id="9" name="Rectángulo 8">
            <a:extLst>
              <a:ext uri="{FF2B5EF4-FFF2-40B4-BE49-F238E27FC236}">
                <a16:creationId xmlns:a16="http://schemas.microsoft.com/office/drawing/2014/main" id="{45CC2065-02A9-A2E3-DACD-D1B07948489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4DADC278-8A10-2758-C8BD-74550706BE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AD236ABF-8446-8904-E09B-723A1E9679D4}"/>
              </a:ext>
            </a:extLst>
          </p:cNvPr>
          <p:cNvPicPr>
            <a:picLocks noChangeAspect="1"/>
          </p:cNvPicPr>
          <p:nvPr/>
        </p:nvPicPr>
        <p:blipFill>
          <a:blip r:embed="rId3"/>
          <a:stretch>
            <a:fillRect/>
          </a:stretch>
        </p:blipFill>
        <p:spPr>
          <a:xfrm>
            <a:off x="3255689" y="4075900"/>
            <a:ext cx="6069491" cy="2396184"/>
          </a:xfrm>
          <a:prstGeom prst="rect">
            <a:avLst/>
          </a:prstGeom>
        </p:spPr>
      </p:pic>
      <p:sp>
        <p:nvSpPr>
          <p:cNvPr id="5" name="Rectángulo 4">
            <a:extLst>
              <a:ext uri="{FF2B5EF4-FFF2-40B4-BE49-F238E27FC236}">
                <a16:creationId xmlns:a16="http://schemas.microsoft.com/office/drawing/2014/main" id="{8EF5D713-A284-BBE4-EDCE-3B8DF8F2CD8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6073572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0A6F11C7-DB82-E532-53ED-35A945F51D73}"/>
              </a:ext>
            </a:extLst>
          </p:cNvPr>
          <p:cNvSpPr>
            <a:spLocks noGrp="1"/>
          </p:cNvSpPr>
          <p:nvPr>
            <p:ph type="title"/>
          </p:nvPr>
        </p:nvSpPr>
        <p:spPr/>
        <p:txBody>
          <a:bodyPr>
            <a:normAutofit/>
          </a:bodyPr>
          <a:lstStyle/>
          <a:p>
            <a:r>
              <a:rPr lang="es-ES_tradnl" dirty="0">
                <a:latin typeface="Century Gothic" panose="020B0502020202020204" pitchFamily="34" charset="0"/>
              </a:rPr>
              <a:t>Árboles de Decisión</a:t>
            </a:r>
          </a:p>
        </p:txBody>
      </p:sp>
      <p:sp>
        <p:nvSpPr>
          <p:cNvPr id="3" name="Content Placeholder 2"/>
          <p:cNvSpPr>
            <a:spLocks noGrp="1"/>
          </p:cNvSpPr>
          <p:nvPr>
            <p:ph idx="1"/>
          </p:nvPr>
        </p:nvSpPr>
        <p:spPr>
          <a:xfrm>
            <a:off x="410505" y="2460396"/>
            <a:ext cx="8782263" cy="3678303"/>
          </a:xfrm>
        </p:spPr>
        <p:txBody>
          <a:bodyPr>
            <a:normAutofit/>
          </a:bodyPr>
          <a:lstStyle/>
          <a:p>
            <a:pPr lvl="1" algn="just">
              <a:spcBef>
                <a:spcPts val="1200"/>
              </a:spcBef>
            </a:pPr>
            <a:r>
              <a:rPr lang="es-ES_tradnl" sz="1800" b="1" dirty="0">
                <a:solidFill>
                  <a:srgbClr val="C00000"/>
                </a:solidFill>
                <a:latin typeface="Century Gothic" panose="020B0502020202020204" pitchFamily="34" charset="0"/>
              </a:rPr>
              <a:t>Las ALTERNATIVAS: </a:t>
            </a:r>
            <a:r>
              <a:rPr lang="es-ES_tradnl" sz="1800" dirty="0">
                <a:solidFill>
                  <a:schemeClr val="accent1"/>
                </a:solidFill>
                <a:latin typeface="Century Gothic" panose="020B0502020202020204" pitchFamily="34" charset="0"/>
              </a:rPr>
              <a:t>Los cursos de acción que puede tomar el Decisor/Inversionista, quien realizará el proyecto de inversión.</a:t>
            </a:r>
          </a:p>
          <a:p>
            <a:pPr lvl="1" algn="just">
              <a:spcBef>
                <a:spcPts val="1200"/>
              </a:spcBef>
            </a:pPr>
            <a:r>
              <a:rPr lang="es-ES_tradnl" sz="1800" b="1" dirty="0">
                <a:solidFill>
                  <a:srgbClr val="C00000"/>
                </a:solidFill>
                <a:latin typeface="Century Gothic" panose="020B0502020202020204" pitchFamily="34" charset="0"/>
              </a:rPr>
              <a:t>Eventos PROBABILÍSTICOS: </a:t>
            </a:r>
            <a:r>
              <a:rPr lang="es-ES_tradnl" sz="1800" dirty="0">
                <a:solidFill>
                  <a:schemeClr val="accent1"/>
                </a:solidFill>
                <a:latin typeface="Century Gothic" panose="020B0502020202020204" pitchFamily="34" charset="0"/>
              </a:rPr>
              <a:t>Situaciones o variables que el Decisor/Inversionista no controla, no tiene certeza sobre ellas.</a:t>
            </a:r>
          </a:p>
          <a:p>
            <a:pPr lvl="1" algn="just">
              <a:spcBef>
                <a:spcPts val="1200"/>
              </a:spcBef>
            </a:pPr>
            <a:r>
              <a:rPr lang="es-ES_tradnl" sz="1800" b="1" dirty="0">
                <a:solidFill>
                  <a:srgbClr val="C00000"/>
                </a:solidFill>
                <a:latin typeface="Century Gothic" panose="020B0502020202020204" pitchFamily="34" charset="0"/>
              </a:rPr>
              <a:t>Los RESULTADOS: </a:t>
            </a:r>
            <a:r>
              <a:rPr lang="es-ES_tradnl" sz="1800" dirty="0">
                <a:solidFill>
                  <a:schemeClr val="accent1"/>
                </a:solidFill>
                <a:latin typeface="Century Gothic" panose="020B0502020202020204" pitchFamily="34" charset="0"/>
              </a:rPr>
              <a:t>Las consecuencias de las decisiones que toma el Decisor/Inversionista.</a:t>
            </a:r>
          </a:p>
          <a:p>
            <a:pPr lvl="1" algn="just">
              <a:spcBef>
                <a:spcPts val="1200"/>
              </a:spcBef>
            </a:pPr>
            <a:r>
              <a:rPr lang="es-ES_tradnl" sz="1800" b="1" dirty="0">
                <a:solidFill>
                  <a:srgbClr val="C00000"/>
                </a:solidFill>
                <a:latin typeface="Century Gothic" panose="020B0502020202020204" pitchFamily="34" charset="0"/>
              </a:rPr>
              <a:t>La SECUENCIA del proceso de decisión: </a:t>
            </a:r>
            <a:r>
              <a:rPr lang="es-ES_tradnl" sz="1800" dirty="0">
                <a:solidFill>
                  <a:schemeClr val="accent1"/>
                </a:solidFill>
                <a:latin typeface="Century Gothic" panose="020B0502020202020204" pitchFamily="34" charset="0"/>
              </a:rPr>
              <a:t>El orden en que se realizan y cómo están relacionadas las decisiones (Nodos de Decisión) y los eventos probabilísticos (Nodos de Estado).</a:t>
            </a:r>
            <a:endParaRPr lang="es-CO" sz="1800" dirty="0">
              <a:solidFill>
                <a:schemeClr val="accent1"/>
              </a:solidFill>
              <a:latin typeface="Century Gothic" panose="020B0502020202020204" pitchFamily="34" charset="0"/>
            </a:endParaRPr>
          </a:p>
        </p:txBody>
      </p:sp>
      <p:sp>
        <p:nvSpPr>
          <p:cNvPr id="4" name="Slide Number Placeholder 3"/>
          <p:cNvSpPr>
            <a:spLocks noGrp="1"/>
          </p:cNvSpPr>
          <p:nvPr>
            <p:ph type="sldNum" sz="quarter" idx="12"/>
          </p:nvPr>
        </p:nvSpPr>
        <p:spPr>
          <a:xfrm>
            <a:off x="10573048" y="5970885"/>
            <a:ext cx="1052508" cy="365125"/>
          </a:xfrm>
        </p:spPr>
        <p:txBody>
          <a:bodyPr/>
          <a:lstStyle/>
          <a:p>
            <a:fld id="{5E3E23BA-6E79-2442-BA73-D218A5E297C3}" type="slidenum">
              <a:rPr lang="en-US" sz="1800" smtClean="0"/>
              <a:t>53</a:t>
            </a:fld>
            <a:endParaRPr lang="en-US" sz="1800"/>
          </a:p>
        </p:txBody>
      </p:sp>
      <p:sp>
        <p:nvSpPr>
          <p:cNvPr id="9" name="Rectángulo 8">
            <a:extLst>
              <a:ext uri="{FF2B5EF4-FFF2-40B4-BE49-F238E27FC236}">
                <a16:creationId xmlns:a16="http://schemas.microsoft.com/office/drawing/2014/main" id="{4419CDB9-9F7C-078B-02B6-98FA9DAF362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1C8E93BF-4FDD-8470-E5D2-4973B2A9F5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Imágenes de Probabilidad Y Estadistica - Descarga gratuita en Freepik">
            <a:extLst>
              <a:ext uri="{FF2B5EF4-FFF2-40B4-BE49-F238E27FC236}">
                <a16:creationId xmlns:a16="http://schemas.microsoft.com/office/drawing/2014/main" id="{1718983A-A873-8062-2177-242FC99FE1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5452" y="3421707"/>
            <a:ext cx="2368436" cy="1577696"/>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6A214A62-5439-9972-4609-90B376B73DED}"/>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508825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61934F01-2B03-A809-87B4-C721B077DC43}"/>
              </a:ext>
            </a:extLst>
          </p:cNvPr>
          <p:cNvSpPr>
            <a:spLocks noGrp="1"/>
          </p:cNvSpPr>
          <p:nvPr>
            <p:ph type="title"/>
          </p:nvPr>
        </p:nvSpPr>
        <p:spPr/>
        <p:txBody>
          <a:bodyPr>
            <a:normAutofit/>
          </a:bodyPr>
          <a:lstStyle/>
          <a:p>
            <a:r>
              <a:rPr lang="es-ES_tradnl" dirty="0">
                <a:latin typeface="Century Gothic" panose="020B0502020202020204" pitchFamily="34" charset="0"/>
              </a:rPr>
              <a:t>Árboles de Decisión</a:t>
            </a:r>
          </a:p>
        </p:txBody>
      </p:sp>
      <p:sp>
        <p:nvSpPr>
          <p:cNvPr id="3" name="Content Placeholder 2"/>
          <p:cNvSpPr>
            <a:spLocks noGrp="1"/>
          </p:cNvSpPr>
          <p:nvPr>
            <p:ph idx="1"/>
          </p:nvPr>
        </p:nvSpPr>
        <p:spPr/>
        <p:txBody>
          <a:bodyPr>
            <a:noAutofit/>
          </a:bodyPr>
          <a:lstStyle/>
          <a:p>
            <a:pPr marL="349250" lvl="1" indent="0" algn="ctr">
              <a:spcBef>
                <a:spcPts val="1200"/>
              </a:spcBef>
              <a:buNone/>
            </a:pPr>
            <a:r>
              <a:rPr lang="es-ES_tradnl" sz="1800" b="1" dirty="0">
                <a:solidFill>
                  <a:srgbClr val="C00000"/>
                </a:solidFill>
                <a:latin typeface="Century Gothic" panose="020B0502020202020204" pitchFamily="34" charset="0"/>
              </a:rPr>
              <a:t>¿Cuáles son los elementos de un árbol de decisión?</a:t>
            </a:r>
          </a:p>
          <a:p>
            <a:pPr marL="349250" lvl="1" indent="0" algn="ctr">
              <a:spcBef>
                <a:spcPts val="1200"/>
              </a:spcBef>
              <a:buNone/>
            </a:pPr>
            <a:endParaRPr lang="es-ES_tradnl" sz="1800" dirty="0">
              <a:solidFill>
                <a:srgbClr val="800000"/>
              </a:solidFill>
              <a:latin typeface="Century Gothic" panose="020B0502020202020204" pitchFamily="34" charset="0"/>
            </a:endParaRPr>
          </a:p>
          <a:p>
            <a:pPr>
              <a:spcBef>
                <a:spcPts val="1600"/>
              </a:spcBef>
            </a:pPr>
            <a:r>
              <a:rPr lang="es-ES_tradnl" b="1" dirty="0">
                <a:solidFill>
                  <a:schemeClr val="accent3">
                    <a:lumMod val="75000"/>
                  </a:schemeClr>
                </a:solidFill>
                <a:latin typeface="Century Gothic" panose="020B0502020202020204" pitchFamily="34" charset="0"/>
              </a:rPr>
              <a:t>Nodos de Decisión:</a:t>
            </a:r>
            <a:endParaRPr lang="es-ES_tradnl" dirty="0">
              <a:solidFill>
                <a:schemeClr val="accent3">
                  <a:lumMod val="75000"/>
                </a:schemeClr>
              </a:solidFill>
              <a:latin typeface="Century Gothic" panose="020B0502020202020204" pitchFamily="34" charset="0"/>
            </a:endParaRPr>
          </a:p>
          <a:p>
            <a:pPr>
              <a:spcBef>
                <a:spcPts val="1600"/>
              </a:spcBef>
            </a:pPr>
            <a:r>
              <a:rPr lang="es-ES_tradnl" b="1" dirty="0">
                <a:solidFill>
                  <a:schemeClr val="accent3">
                    <a:lumMod val="75000"/>
                  </a:schemeClr>
                </a:solidFill>
                <a:latin typeface="Century Gothic" panose="020B0502020202020204" pitchFamily="34" charset="0"/>
              </a:rPr>
              <a:t>Nodos de Estado o </a:t>
            </a:r>
            <a:r>
              <a:rPr lang="en-US" b="1" dirty="0">
                <a:solidFill>
                  <a:schemeClr val="accent3">
                    <a:lumMod val="75000"/>
                  </a:schemeClr>
                </a:solidFill>
                <a:latin typeface="Century Gothic" panose="020B0502020202020204" pitchFamily="34" charset="0"/>
              </a:rPr>
              <a:t>Pro</a:t>
            </a:r>
            <a:r>
              <a:rPr lang="es-ES_tradnl" b="1" dirty="0" err="1">
                <a:solidFill>
                  <a:schemeClr val="accent3">
                    <a:lumMod val="75000"/>
                  </a:schemeClr>
                </a:solidFill>
                <a:latin typeface="Century Gothic" panose="020B0502020202020204" pitchFamily="34" charset="0"/>
              </a:rPr>
              <a:t>babilísticos</a:t>
            </a:r>
            <a:r>
              <a:rPr lang="es-ES_tradnl" b="1" dirty="0">
                <a:solidFill>
                  <a:schemeClr val="accent3">
                    <a:lumMod val="75000"/>
                  </a:schemeClr>
                </a:solidFill>
                <a:latin typeface="Century Gothic" panose="020B0502020202020204" pitchFamily="34" charset="0"/>
              </a:rPr>
              <a:t>:</a:t>
            </a:r>
          </a:p>
          <a:p>
            <a:pPr>
              <a:spcBef>
                <a:spcPts val="1600"/>
              </a:spcBef>
            </a:pPr>
            <a:r>
              <a:rPr lang="es-ES_tradnl" b="1" dirty="0">
                <a:solidFill>
                  <a:schemeClr val="accent3">
                    <a:lumMod val="75000"/>
                  </a:schemeClr>
                </a:solidFill>
                <a:latin typeface="Century Gothic" panose="020B0502020202020204" pitchFamily="34" charset="0"/>
              </a:rPr>
              <a:t>Ramas del Árbol:</a:t>
            </a:r>
          </a:p>
          <a:p>
            <a:pPr algn="just">
              <a:spcBef>
                <a:spcPts val="1600"/>
              </a:spcBef>
            </a:pPr>
            <a:r>
              <a:rPr lang="es-ES_tradnl" b="1" dirty="0">
                <a:solidFill>
                  <a:schemeClr val="accent3">
                    <a:lumMod val="75000"/>
                  </a:schemeClr>
                </a:solidFill>
                <a:latin typeface="Century Gothic" panose="020B0502020202020204" pitchFamily="34" charset="0"/>
              </a:rPr>
              <a:t>Probabilidades:</a:t>
            </a:r>
            <a:r>
              <a:rPr lang="es-ES_tradnl" dirty="0">
                <a:solidFill>
                  <a:schemeClr val="accent3">
                    <a:lumMod val="75000"/>
                  </a:schemeClr>
                </a:solidFill>
                <a:latin typeface="Century Gothic" panose="020B0502020202020204" pitchFamily="34" charset="0"/>
              </a:rPr>
              <a:t> </a:t>
            </a:r>
            <a:r>
              <a:rPr lang="es-ES_tradnl" dirty="0">
                <a:solidFill>
                  <a:schemeClr val="accent1"/>
                </a:solidFill>
                <a:latin typeface="Century Gothic" panose="020B0502020202020204" pitchFamily="34" charset="0"/>
              </a:rPr>
              <a:t>La suma de probabilidades de las ramas que parten de un nodo debe ser igual a 1. Si un nodo de Estado está precedido por otros nodos de Estado, las probabilidades sobre sus ramas corresponden a probabilidades condicionales (condicionadas a la intersección de todos los eventos previos). </a:t>
            </a:r>
            <a:endParaRPr lang="es-CO" dirty="0">
              <a:solidFill>
                <a:schemeClr val="accent1"/>
              </a:solidFill>
              <a:latin typeface="Century Gothic" panose="020B0502020202020204" pitchFamily="34" charset="0"/>
            </a:endParaRPr>
          </a:p>
        </p:txBody>
      </p:sp>
      <p:sp>
        <p:nvSpPr>
          <p:cNvPr id="4" name="Slide Number Placeholder 3"/>
          <p:cNvSpPr>
            <a:spLocks noGrp="1"/>
          </p:cNvSpPr>
          <p:nvPr>
            <p:ph type="sldNum" sz="quarter" idx="12"/>
          </p:nvPr>
        </p:nvSpPr>
        <p:spPr/>
        <p:txBody>
          <a:bodyPr/>
          <a:lstStyle/>
          <a:p>
            <a:fld id="{5E3E23BA-6E79-2442-BA73-D218A5E297C3}" type="slidenum">
              <a:rPr lang="en-US" sz="1800" smtClean="0"/>
              <a:t>54</a:t>
            </a:fld>
            <a:endParaRPr lang="en-US" sz="1800"/>
          </a:p>
        </p:txBody>
      </p:sp>
      <p:sp>
        <p:nvSpPr>
          <p:cNvPr id="5" name="Rectangle 4"/>
          <p:cNvSpPr/>
          <p:nvPr/>
        </p:nvSpPr>
        <p:spPr>
          <a:xfrm>
            <a:off x="3180246" y="3132538"/>
            <a:ext cx="345143" cy="34514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4858343" y="3660720"/>
            <a:ext cx="358927" cy="3589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p:nvCxnSpPr>
        <p:spPr>
          <a:xfrm>
            <a:off x="2911062" y="4429723"/>
            <a:ext cx="883512" cy="0"/>
          </a:xfrm>
          <a:prstGeom prst="line">
            <a:avLst/>
          </a:prstGeom>
        </p:spPr>
        <p:style>
          <a:lnRef idx="2">
            <a:schemeClr val="accent1"/>
          </a:lnRef>
          <a:fillRef idx="0">
            <a:schemeClr val="accent1"/>
          </a:fillRef>
          <a:effectRef idx="1">
            <a:schemeClr val="accent1"/>
          </a:effectRef>
          <a:fontRef idx="minor">
            <a:schemeClr val="tx1"/>
          </a:fontRef>
        </p:style>
      </p:cxnSp>
      <p:sp>
        <p:nvSpPr>
          <p:cNvPr id="7" name="Rectángulo 6">
            <a:extLst>
              <a:ext uri="{FF2B5EF4-FFF2-40B4-BE49-F238E27FC236}">
                <a16:creationId xmlns:a16="http://schemas.microsoft.com/office/drawing/2014/main" id="{FFC44032-4417-31A0-2D15-0A5854097BB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E81F2D93-3C8B-F6C4-6433-3A876B0A29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470254A4-AA0E-4A28-E492-19D9E3E69B8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184876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422B09D9-8EA6-9599-4B54-5C0ABEFEDAB2}"/>
              </a:ext>
            </a:extLst>
          </p:cNvPr>
          <p:cNvSpPr>
            <a:spLocks noGrp="1"/>
          </p:cNvSpPr>
          <p:nvPr>
            <p:ph type="title"/>
          </p:nvPr>
        </p:nvSpPr>
        <p:spPr/>
        <p:txBody>
          <a:bodyPr>
            <a:normAutofit/>
          </a:bodyPr>
          <a:lstStyle/>
          <a:p>
            <a:r>
              <a:rPr lang="es-ES_tradnl" dirty="0">
                <a:latin typeface="Century Gothic" panose="020B0502020202020204" pitchFamily="34" charset="0"/>
              </a:rPr>
              <a:t>Árboles de Decisión</a:t>
            </a:r>
          </a:p>
        </p:txBody>
      </p:sp>
      <p:sp>
        <p:nvSpPr>
          <p:cNvPr id="3" name="Content Placeholder 2"/>
          <p:cNvSpPr>
            <a:spLocks noGrp="1"/>
          </p:cNvSpPr>
          <p:nvPr>
            <p:ph idx="1"/>
          </p:nvPr>
        </p:nvSpPr>
        <p:spPr>
          <a:xfrm>
            <a:off x="581192" y="1837877"/>
            <a:ext cx="8791408" cy="4762902"/>
          </a:xfrm>
        </p:spPr>
        <p:txBody>
          <a:bodyPr>
            <a:noAutofit/>
          </a:bodyPr>
          <a:lstStyle/>
          <a:p>
            <a:pPr marL="0" indent="0" algn="just">
              <a:buNone/>
            </a:pPr>
            <a:r>
              <a:rPr lang="es-ES_tradnl" b="1" dirty="0">
                <a:solidFill>
                  <a:srgbClr val="C00000"/>
                </a:solidFill>
                <a:latin typeface="Century Gothic" panose="020B0502020202020204" pitchFamily="34" charset="0"/>
              </a:rPr>
              <a:t>Ejemplo:</a:t>
            </a:r>
            <a:r>
              <a:rPr lang="es-ES_tradnl" dirty="0">
                <a:solidFill>
                  <a:srgbClr val="C00000"/>
                </a:solidFill>
                <a:latin typeface="Century Gothic" panose="020B0502020202020204" pitchFamily="34" charset="0"/>
              </a:rPr>
              <a:t> </a:t>
            </a:r>
          </a:p>
          <a:p>
            <a:pPr marL="0" indent="0" algn="just">
              <a:buNone/>
            </a:pPr>
            <a:endParaRPr lang="es-ES_tradnl" dirty="0">
              <a:solidFill>
                <a:srgbClr val="C00000"/>
              </a:solidFill>
              <a:latin typeface="Century Gothic" panose="020B0502020202020204" pitchFamily="34" charset="0"/>
            </a:endParaRPr>
          </a:p>
          <a:p>
            <a:pPr marL="0" indent="0" algn="just">
              <a:buNone/>
            </a:pPr>
            <a:r>
              <a:rPr lang="es-ES_tradnl" dirty="0">
                <a:solidFill>
                  <a:schemeClr val="accent1"/>
                </a:solidFill>
                <a:latin typeface="Century Gothic" panose="020B0502020202020204" pitchFamily="34" charset="0"/>
              </a:rPr>
              <a:t>La constructora Tequendama </a:t>
            </a:r>
            <a:r>
              <a:rPr lang="es-MX" dirty="0">
                <a:solidFill>
                  <a:schemeClr val="accent1"/>
                </a:solidFill>
                <a:latin typeface="Century Gothic" panose="020B0502020202020204" pitchFamily="34" charset="0"/>
              </a:rPr>
              <a:t>piensa participar en una licitación de una concesión para la construcción, mantenimiento y operación de varias vías en la Sabana de Bogotá. Los ingresos estarán dados por los recaudos por peajes que se realicen en estas vías. Los estimativos efectuados suponen un tránsito promedio mensual de 350.000 vehículos. Cada uno de ellos pagará un peaje de $ 4.000. El gobierno garantiza que se dará  ese nivel de ingresos, durante los 20 años que es el plazo de la concesión. Esto se traduce en un VP(Ingresos) de 125.486 millones de pesos.</a:t>
            </a:r>
          </a:p>
          <a:p>
            <a:pPr marL="0" indent="0" algn="just">
              <a:buNone/>
            </a:pPr>
            <a:r>
              <a:rPr lang="es-MX" dirty="0">
                <a:solidFill>
                  <a:schemeClr val="accent1"/>
                </a:solidFill>
                <a:latin typeface="Century Gothic"/>
              </a:rPr>
              <a:t>Tenga en cuenta que se deben tener algunas garantías para participar en la licitación, que tienen un valor presente total de $1.000 millones. Además, sabe que hay otros 4 contratistas con la misma capacidad que su firma para hacer el proyecto, y que van a participar.  </a:t>
            </a:r>
            <a:endParaRPr lang="es-MX" dirty="0">
              <a:solidFill>
                <a:schemeClr val="accent1"/>
              </a:solidFill>
              <a:latin typeface="Century Gothic" panose="020B0502020202020204" pitchFamily="34" charset="0"/>
            </a:endParaRPr>
          </a:p>
          <a:p>
            <a:pPr marL="0" indent="0" algn="just">
              <a:buNone/>
            </a:pPr>
            <a:r>
              <a:rPr lang="es-MX">
                <a:solidFill>
                  <a:schemeClr val="accent1"/>
                </a:solidFill>
                <a:latin typeface="Century Gothic"/>
              </a:rPr>
              <a:t>Constructora Tequendama debe determinar el valor presente del proyecto con el cuál participará en la licitación.</a:t>
            </a:r>
            <a:endParaRPr lang="es-MX">
              <a:solidFill>
                <a:schemeClr val="accent1"/>
              </a:solidFill>
              <a:latin typeface="Century Gothic" panose="020B0502020202020204" pitchFamily="34" charset="0"/>
            </a:endParaRPr>
          </a:p>
        </p:txBody>
      </p:sp>
      <p:sp>
        <p:nvSpPr>
          <p:cNvPr id="4" name="Slide Number Placeholder 3"/>
          <p:cNvSpPr>
            <a:spLocks noGrp="1"/>
          </p:cNvSpPr>
          <p:nvPr>
            <p:ph type="sldNum" sz="quarter" idx="12"/>
          </p:nvPr>
        </p:nvSpPr>
        <p:spPr/>
        <p:txBody>
          <a:bodyPr/>
          <a:lstStyle/>
          <a:p>
            <a:fld id="{5E3E23BA-6E79-2442-BA73-D218A5E297C3}" type="slidenum">
              <a:rPr lang="en-US" sz="1800" smtClean="0"/>
              <a:t>55</a:t>
            </a:fld>
            <a:endParaRPr lang="en-US" sz="1800"/>
          </a:p>
        </p:txBody>
      </p:sp>
      <p:sp>
        <p:nvSpPr>
          <p:cNvPr id="9" name="Rectángulo 8">
            <a:extLst>
              <a:ext uri="{FF2B5EF4-FFF2-40B4-BE49-F238E27FC236}">
                <a16:creationId xmlns:a16="http://schemas.microsoft.com/office/drawing/2014/main" id="{2E2431A3-A12C-3312-9848-46CC21AE929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8E291713-BD75-6CE2-254A-92538E7CFA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F378339D-A8EE-F185-6EC4-234DE92A1344}"/>
              </a:ext>
            </a:extLst>
          </p:cNvPr>
          <p:cNvPicPr>
            <a:picLocks noChangeAspect="1"/>
          </p:cNvPicPr>
          <p:nvPr/>
        </p:nvPicPr>
        <p:blipFill>
          <a:blip r:embed="rId3"/>
          <a:stretch>
            <a:fillRect/>
          </a:stretch>
        </p:blipFill>
        <p:spPr>
          <a:xfrm>
            <a:off x="9472316" y="3859712"/>
            <a:ext cx="2171967" cy="1520377"/>
          </a:xfrm>
          <a:prstGeom prst="rect">
            <a:avLst/>
          </a:prstGeom>
        </p:spPr>
      </p:pic>
      <p:sp>
        <p:nvSpPr>
          <p:cNvPr id="2" name="Rectángulo 1">
            <a:extLst>
              <a:ext uri="{FF2B5EF4-FFF2-40B4-BE49-F238E27FC236}">
                <a16:creationId xmlns:a16="http://schemas.microsoft.com/office/drawing/2014/main" id="{5E859861-6C5D-B277-BF54-1ACE2ECF8A5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671575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87D5997-28F3-EC8A-213B-5E89C41FD075}"/>
              </a:ext>
            </a:extLst>
          </p:cNvPr>
          <p:cNvSpPr>
            <a:spLocks noGrp="1"/>
          </p:cNvSpPr>
          <p:nvPr>
            <p:ph type="title"/>
          </p:nvPr>
        </p:nvSpPr>
        <p:spPr/>
        <p:txBody>
          <a:bodyPr>
            <a:normAutofit/>
          </a:bodyPr>
          <a:lstStyle/>
          <a:p>
            <a:r>
              <a:rPr lang="es-ES_tradnl" dirty="0">
                <a:latin typeface="Century Gothic" panose="020B0502020202020204" pitchFamily="34" charset="0"/>
              </a:rPr>
              <a:t>Árboles de Decisión</a:t>
            </a:r>
          </a:p>
        </p:txBody>
      </p:sp>
      <p:sp>
        <p:nvSpPr>
          <p:cNvPr id="4" name="Slide Number Placeholder 3"/>
          <p:cNvSpPr>
            <a:spLocks noGrp="1"/>
          </p:cNvSpPr>
          <p:nvPr>
            <p:ph type="sldNum" sz="quarter" idx="12"/>
          </p:nvPr>
        </p:nvSpPr>
        <p:spPr/>
        <p:txBody>
          <a:bodyPr/>
          <a:lstStyle/>
          <a:p>
            <a:fld id="{5E3E23BA-6E79-2442-BA73-D218A5E297C3}" type="slidenum">
              <a:rPr lang="en-US" sz="1800" smtClean="0"/>
              <a:t>56</a:t>
            </a:fld>
            <a:endParaRPr lang="en-US" sz="1800"/>
          </a:p>
        </p:txBody>
      </p:sp>
      <p:sp>
        <p:nvSpPr>
          <p:cNvPr id="9" name="Rectangle 8"/>
          <p:cNvSpPr/>
          <p:nvPr/>
        </p:nvSpPr>
        <p:spPr>
          <a:xfrm>
            <a:off x="1853893" y="4856891"/>
            <a:ext cx="345143" cy="34514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524001" y="4539335"/>
            <a:ext cx="990977"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¿Licitamos?</a:t>
            </a:r>
          </a:p>
        </p:txBody>
      </p:sp>
      <p:sp>
        <p:nvSpPr>
          <p:cNvPr id="13" name="Oval 12"/>
          <p:cNvSpPr/>
          <p:nvPr/>
        </p:nvSpPr>
        <p:spPr>
          <a:xfrm>
            <a:off x="3240122" y="4539335"/>
            <a:ext cx="358927" cy="3589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9" idx="3"/>
            <a:endCxn id="13" idx="2"/>
          </p:cNvCxnSpPr>
          <p:nvPr/>
        </p:nvCxnSpPr>
        <p:spPr>
          <a:xfrm flipV="1">
            <a:off x="2199035" y="4718798"/>
            <a:ext cx="1041086" cy="310664"/>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9" idx="3"/>
          </p:cNvCxnSpPr>
          <p:nvPr/>
        </p:nvCxnSpPr>
        <p:spPr>
          <a:xfrm>
            <a:off x="2199035" y="5029463"/>
            <a:ext cx="1041086" cy="669577"/>
          </a:xfrm>
          <a:prstGeom prst="line">
            <a:avLst/>
          </a:prstGeom>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656297" y="4829736"/>
            <a:ext cx="284052"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Sí</a:t>
            </a:r>
          </a:p>
        </p:txBody>
      </p:sp>
      <p:sp>
        <p:nvSpPr>
          <p:cNvPr id="23" name="TextBox 22"/>
          <p:cNvSpPr txBox="1"/>
          <p:nvPr/>
        </p:nvSpPr>
        <p:spPr>
          <a:xfrm>
            <a:off x="2549146" y="5436708"/>
            <a:ext cx="38183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No</a:t>
            </a:r>
          </a:p>
        </p:txBody>
      </p:sp>
      <p:sp>
        <p:nvSpPr>
          <p:cNvPr id="24" name="TextBox 23"/>
          <p:cNvSpPr txBox="1"/>
          <p:nvPr/>
        </p:nvSpPr>
        <p:spPr>
          <a:xfrm>
            <a:off x="2805901" y="4022066"/>
            <a:ext cx="1152880" cy="430887"/>
          </a:xfrm>
          <a:prstGeom prst="rect">
            <a:avLst/>
          </a:prstGeom>
          <a:noFill/>
        </p:spPr>
        <p:txBody>
          <a:bodyPr wrap="none" rtlCol="0">
            <a:spAutoFit/>
          </a:bodyPr>
          <a:lstStyle/>
          <a:p>
            <a:pPr algn="ctr"/>
            <a:r>
              <a:rPr lang="es-ES_tradnl" sz="1100" i="1" dirty="0">
                <a:solidFill>
                  <a:schemeClr val="accent1"/>
                </a:solidFill>
                <a:latin typeface="Century Gothic" panose="020B0502020202020204" pitchFamily="34" charset="0"/>
              </a:rPr>
              <a:t>¿Ganamos la </a:t>
            </a:r>
          </a:p>
          <a:p>
            <a:pPr algn="ctr"/>
            <a:r>
              <a:rPr lang="es-ES_tradnl" sz="1100" i="1" dirty="0">
                <a:solidFill>
                  <a:schemeClr val="accent1"/>
                </a:solidFill>
                <a:latin typeface="Century Gothic" panose="020B0502020202020204" pitchFamily="34" charset="0"/>
              </a:rPr>
              <a:t>licitación?</a:t>
            </a:r>
          </a:p>
        </p:txBody>
      </p:sp>
      <p:cxnSp>
        <p:nvCxnSpPr>
          <p:cNvPr id="25" name="Straight Connector 24"/>
          <p:cNvCxnSpPr>
            <a:stCxn id="13" idx="6"/>
          </p:cNvCxnSpPr>
          <p:nvPr/>
        </p:nvCxnSpPr>
        <p:spPr>
          <a:xfrm flipV="1">
            <a:off x="3599048" y="3862876"/>
            <a:ext cx="948218" cy="855922"/>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p:cNvCxnSpPr>
            <a:stCxn id="13" idx="6"/>
          </p:cNvCxnSpPr>
          <p:nvPr/>
        </p:nvCxnSpPr>
        <p:spPr>
          <a:xfrm>
            <a:off x="3599048" y="4718799"/>
            <a:ext cx="948218" cy="980241"/>
          </a:xfrm>
          <a:prstGeom prst="line">
            <a:avLst/>
          </a:prstGeom>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229467" y="4166656"/>
            <a:ext cx="284052"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Sí</a:t>
            </a:r>
          </a:p>
        </p:txBody>
      </p:sp>
      <p:sp>
        <p:nvSpPr>
          <p:cNvPr id="34" name="TextBox 33"/>
          <p:cNvSpPr txBox="1"/>
          <p:nvPr/>
        </p:nvSpPr>
        <p:spPr>
          <a:xfrm>
            <a:off x="4122316" y="5699040"/>
            <a:ext cx="38183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No</a:t>
            </a:r>
          </a:p>
        </p:txBody>
      </p:sp>
      <p:sp>
        <p:nvSpPr>
          <p:cNvPr id="36" name="TextBox 35"/>
          <p:cNvSpPr txBox="1"/>
          <p:nvPr/>
        </p:nvSpPr>
        <p:spPr>
          <a:xfrm>
            <a:off x="3290853" y="5673151"/>
            <a:ext cx="341760" cy="261610"/>
          </a:xfrm>
          <a:prstGeom prst="rect">
            <a:avLst/>
          </a:prstGeom>
          <a:noFill/>
        </p:spPr>
        <p:txBody>
          <a:bodyPr wrap="none" rtlCol="0">
            <a:spAutoFit/>
          </a:bodyPr>
          <a:lstStyle/>
          <a:p>
            <a:r>
              <a:rPr lang="es-ES_tradnl" sz="1100" b="1" i="1" dirty="0">
                <a:solidFill>
                  <a:srgbClr val="C00000"/>
                </a:solidFill>
                <a:latin typeface="Century Gothic" panose="020B0502020202020204" pitchFamily="34" charset="0"/>
              </a:rPr>
              <a:t>$0</a:t>
            </a:r>
          </a:p>
        </p:txBody>
      </p:sp>
      <p:sp>
        <p:nvSpPr>
          <p:cNvPr id="37" name="TextBox 36"/>
          <p:cNvSpPr txBox="1"/>
          <p:nvPr/>
        </p:nvSpPr>
        <p:spPr>
          <a:xfrm>
            <a:off x="4547266" y="5575207"/>
            <a:ext cx="676788" cy="261610"/>
          </a:xfrm>
          <a:prstGeom prst="rect">
            <a:avLst/>
          </a:prstGeom>
          <a:noFill/>
        </p:spPr>
        <p:txBody>
          <a:bodyPr wrap="none" rtlCol="0">
            <a:spAutoFit/>
          </a:bodyPr>
          <a:lstStyle/>
          <a:p>
            <a:r>
              <a:rPr lang="es-ES_tradnl" sz="1100" b="1" i="1" dirty="0">
                <a:solidFill>
                  <a:srgbClr val="C00000"/>
                </a:solidFill>
                <a:latin typeface="Century Gothic" panose="020B0502020202020204" pitchFamily="34" charset="0"/>
              </a:rPr>
              <a:t>-$1.000</a:t>
            </a:r>
          </a:p>
        </p:txBody>
      </p:sp>
      <p:sp>
        <p:nvSpPr>
          <p:cNvPr id="38" name="TextBox 37"/>
          <p:cNvSpPr txBox="1"/>
          <p:nvPr/>
        </p:nvSpPr>
        <p:spPr>
          <a:xfrm>
            <a:off x="3857112" y="5298208"/>
            <a:ext cx="405880"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4/5</a:t>
            </a:r>
          </a:p>
        </p:txBody>
      </p:sp>
      <p:sp>
        <p:nvSpPr>
          <p:cNvPr id="39" name="TextBox 38"/>
          <p:cNvSpPr txBox="1"/>
          <p:nvPr/>
        </p:nvSpPr>
        <p:spPr>
          <a:xfrm>
            <a:off x="3850356" y="3862877"/>
            <a:ext cx="405880"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1/5</a:t>
            </a:r>
          </a:p>
        </p:txBody>
      </p:sp>
      <p:sp>
        <p:nvSpPr>
          <p:cNvPr id="41" name="TextBox 40"/>
          <p:cNvSpPr txBox="1"/>
          <p:nvPr/>
        </p:nvSpPr>
        <p:spPr>
          <a:xfrm>
            <a:off x="3891274" y="3176587"/>
            <a:ext cx="1308371" cy="430887"/>
          </a:xfrm>
          <a:prstGeom prst="rect">
            <a:avLst/>
          </a:prstGeom>
          <a:noFill/>
        </p:spPr>
        <p:txBody>
          <a:bodyPr wrap="none" rtlCol="0">
            <a:spAutoFit/>
          </a:bodyPr>
          <a:lstStyle/>
          <a:p>
            <a:pPr algn="ctr"/>
            <a:r>
              <a:rPr lang="es-ES_tradnl" sz="1100" i="1" dirty="0">
                <a:solidFill>
                  <a:schemeClr val="accent1"/>
                </a:solidFill>
                <a:latin typeface="Century Gothic" panose="020B0502020202020204" pitchFamily="34" charset="0"/>
              </a:rPr>
              <a:t>¿Cómo manejo </a:t>
            </a:r>
          </a:p>
          <a:p>
            <a:pPr algn="ctr"/>
            <a:r>
              <a:rPr lang="es-ES_tradnl" sz="1100" i="1" dirty="0">
                <a:solidFill>
                  <a:schemeClr val="accent1"/>
                </a:solidFill>
                <a:latin typeface="Century Gothic" panose="020B0502020202020204" pitchFamily="34" charset="0"/>
              </a:rPr>
              <a:t>la concesión?</a:t>
            </a:r>
          </a:p>
        </p:txBody>
      </p:sp>
      <p:sp>
        <p:nvSpPr>
          <p:cNvPr id="3" name="Rectángulo 2">
            <a:extLst>
              <a:ext uri="{FF2B5EF4-FFF2-40B4-BE49-F238E27FC236}">
                <a16:creationId xmlns:a16="http://schemas.microsoft.com/office/drawing/2014/main" id="{32B05DB8-BBD1-61AF-F897-E82857768F8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987D329D-CD5B-343D-56CF-31306D5D98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038AD9D2-53C6-63BF-0F50-398F1DAA9C8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4286064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2" grpId="0"/>
      <p:bldP spid="23" grpId="0"/>
      <p:bldP spid="24" grpId="0"/>
      <p:bldP spid="33" grpId="0"/>
      <p:bldP spid="34" grpId="0"/>
      <p:bldP spid="36" grpId="0"/>
      <p:bldP spid="37" grpId="0"/>
      <p:bldP spid="38" grpId="0"/>
      <p:bldP spid="39" grpId="0"/>
      <p:bldP spid="41"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D097F57D-3D5A-C97B-36F9-9665AE7BCDF4}"/>
              </a:ext>
            </a:extLst>
          </p:cNvPr>
          <p:cNvSpPr>
            <a:spLocks noGrp="1"/>
          </p:cNvSpPr>
          <p:nvPr>
            <p:ph type="title"/>
          </p:nvPr>
        </p:nvSpPr>
        <p:spPr/>
        <p:txBody>
          <a:bodyPr>
            <a:normAutofit/>
          </a:bodyPr>
          <a:lstStyle/>
          <a:p>
            <a:r>
              <a:rPr lang="es-ES_tradnl" dirty="0">
                <a:latin typeface="Century Gothic" panose="020B0502020202020204" pitchFamily="34" charset="0"/>
              </a:rPr>
              <a:t>Árboles de Decisión</a:t>
            </a:r>
          </a:p>
        </p:txBody>
      </p:sp>
      <p:sp>
        <p:nvSpPr>
          <p:cNvPr id="3" name="Content Placeholder 2"/>
          <p:cNvSpPr>
            <a:spLocks noGrp="1"/>
          </p:cNvSpPr>
          <p:nvPr>
            <p:ph idx="1"/>
          </p:nvPr>
        </p:nvSpPr>
        <p:spPr>
          <a:xfrm>
            <a:off x="581192" y="2357427"/>
            <a:ext cx="8848558" cy="3678303"/>
          </a:xfrm>
        </p:spPr>
        <p:txBody>
          <a:bodyPr>
            <a:normAutofit/>
          </a:bodyPr>
          <a:lstStyle/>
          <a:p>
            <a:pPr algn="just"/>
            <a:r>
              <a:rPr lang="es-ES_tradnl" dirty="0">
                <a:solidFill>
                  <a:schemeClr val="accent1"/>
                </a:solidFill>
                <a:latin typeface="Century Gothic" panose="020B0502020202020204" pitchFamily="34" charset="0"/>
              </a:rPr>
              <a:t>Para el manejo de la concesión, se tienen tres alternativas:</a:t>
            </a:r>
          </a:p>
          <a:p>
            <a:pPr marL="457200" indent="-457200" algn="just">
              <a:buFont typeface="+mj-lt"/>
              <a:buAutoNum type="arabicPeriod"/>
            </a:pPr>
            <a:r>
              <a:rPr lang="es-MX" dirty="0">
                <a:solidFill>
                  <a:schemeClr val="accent1"/>
                </a:solidFill>
                <a:latin typeface="Century Gothic" panose="020B0502020202020204" pitchFamily="34" charset="0"/>
              </a:rPr>
              <a:t>Hacer una obra que significa una gran excavación. Retira todo el material que contiene arcillas expansivas, y lo reemplaza por un material más adecuado traído de una cantera de Soacha. Esa solución es más costosa que las demás, pero una vez construida usted tiene certeza de no tener ningún problema ni costo adicional. En términos de valor presente esa solución cuesta $118.000 millones.</a:t>
            </a:r>
          </a:p>
          <a:p>
            <a:pPr marL="457200" indent="-457200" algn="just">
              <a:buFont typeface="+mj-lt"/>
              <a:buAutoNum type="arabicPeriod"/>
            </a:pPr>
            <a:endParaRPr lang="es-ES_tradnl" dirty="0">
              <a:solidFill>
                <a:schemeClr val="accent1"/>
              </a:solidFill>
              <a:latin typeface="Century Gothic" panose="020B0502020202020204" pitchFamily="34" charset="0"/>
            </a:endParaRPr>
          </a:p>
        </p:txBody>
      </p:sp>
      <p:sp>
        <p:nvSpPr>
          <p:cNvPr id="4" name="Slide Number Placeholder 3"/>
          <p:cNvSpPr>
            <a:spLocks noGrp="1"/>
          </p:cNvSpPr>
          <p:nvPr>
            <p:ph type="sldNum" sz="quarter" idx="12"/>
          </p:nvPr>
        </p:nvSpPr>
        <p:spPr/>
        <p:txBody>
          <a:bodyPr/>
          <a:lstStyle/>
          <a:p>
            <a:fld id="{5E3E23BA-6E79-2442-BA73-D218A5E297C3}" type="slidenum">
              <a:rPr lang="en-US" sz="1800" smtClean="0"/>
              <a:t>57</a:t>
            </a:fld>
            <a:endParaRPr lang="en-US" sz="1800" dirty="0"/>
          </a:p>
        </p:txBody>
      </p:sp>
      <p:sp>
        <p:nvSpPr>
          <p:cNvPr id="9" name="Rectángulo 8">
            <a:extLst>
              <a:ext uri="{FF2B5EF4-FFF2-40B4-BE49-F238E27FC236}">
                <a16:creationId xmlns:a16="http://schemas.microsoft.com/office/drawing/2014/main" id="{2A96C77D-AA1B-9B7A-8B6F-08A2C7B8622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8D77EB94-F118-CEAF-1875-AE344A10A6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9E311BF0-C6EF-960D-3471-38FE4EAC4B2D}"/>
              </a:ext>
            </a:extLst>
          </p:cNvPr>
          <p:cNvPicPr>
            <a:picLocks noChangeAspect="1"/>
          </p:cNvPicPr>
          <p:nvPr/>
        </p:nvPicPr>
        <p:blipFill rotWithShape="1">
          <a:blip r:embed="rId3"/>
          <a:srcRect l="8423" t="14933" r="10191" b="10238"/>
          <a:stretch/>
        </p:blipFill>
        <p:spPr>
          <a:xfrm>
            <a:off x="9514071" y="2987150"/>
            <a:ext cx="2218944" cy="2154895"/>
          </a:xfrm>
          <a:prstGeom prst="rect">
            <a:avLst/>
          </a:prstGeom>
        </p:spPr>
      </p:pic>
      <p:sp>
        <p:nvSpPr>
          <p:cNvPr id="2" name="Rectángulo 1">
            <a:extLst>
              <a:ext uri="{FF2B5EF4-FFF2-40B4-BE49-F238E27FC236}">
                <a16:creationId xmlns:a16="http://schemas.microsoft.com/office/drawing/2014/main" id="{D7EFE6F0-7EE4-056E-60F5-C47F89B7464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6459006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87D5997-28F3-EC8A-213B-5E89C41FD075}"/>
              </a:ext>
            </a:extLst>
          </p:cNvPr>
          <p:cNvSpPr>
            <a:spLocks noGrp="1"/>
          </p:cNvSpPr>
          <p:nvPr>
            <p:ph type="title"/>
          </p:nvPr>
        </p:nvSpPr>
        <p:spPr/>
        <p:txBody>
          <a:bodyPr>
            <a:normAutofit/>
          </a:bodyPr>
          <a:lstStyle/>
          <a:p>
            <a:r>
              <a:rPr lang="es-ES_tradnl" dirty="0">
                <a:latin typeface="Century Gothic" panose="020B0502020202020204" pitchFamily="34" charset="0"/>
              </a:rPr>
              <a:t>Árboles de Decisión</a:t>
            </a:r>
          </a:p>
        </p:txBody>
      </p:sp>
      <p:sp>
        <p:nvSpPr>
          <p:cNvPr id="4" name="Slide Number Placeholder 3"/>
          <p:cNvSpPr>
            <a:spLocks noGrp="1"/>
          </p:cNvSpPr>
          <p:nvPr>
            <p:ph type="sldNum" sz="quarter" idx="12"/>
          </p:nvPr>
        </p:nvSpPr>
        <p:spPr/>
        <p:txBody>
          <a:bodyPr/>
          <a:lstStyle/>
          <a:p>
            <a:fld id="{5E3E23BA-6E79-2442-BA73-D218A5E297C3}" type="slidenum">
              <a:rPr lang="en-US" sz="1800" smtClean="0"/>
              <a:t>58</a:t>
            </a:fld>
            <a:endParaRPr lang="en-US" sz="1800"/>
          </a:p>
        </p:txBody>
      </p:sp>
      <p:sp>
        <p:nvSpPr>
          <p:cNvPr id="9" name="Rectangle 8"/>
          <p:cNvSpPr/>
          <p:nvPr/>
        </p:nvSpPr>
        <p:spPr>
          <a:xfrm>
            <a:off x="1853893" y="4856891"/>
            <a:ext cx="345143" cy="34514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524001" y="4539335"/>
            <a:ext cx="990977"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¿Licitamos?</a:t>
            </a:r>
          </a:p>
        </p:txBody>
      </p:sp>
      <p:sp>
        <p:nvSpPr>
          <p:cNvPr id="13" name="Oval 12"/>
          <p:cNvSpPr/>
          <p:nvPr/>
        </p:nvSpPr>
        <p:spPr>
          <a:xfrm>
            <a:off x="3240122" y="4539335"/>
            <a:ext cx="358927" cy="3589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9" idx="3"/>
            <a:endCxn id="13" idx="2"/>
          </p:cNvCxnSpPr>
          <p:nvPr/>
        </p:nvCxnSpPr>
        <p:spPr>
          <a:xfrm flipV="1">
            <a:off x="2199035" y="4718798"/>
            <a:ext cx="1041086" cy="310664"/>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9" idx="3"/>
          </p:cNvCxnSpPr>
          <p:nvPr/>
        </p:nvCxnSpPr>
        <p:spPr>
          <a:xfrm>
            <a:off x="2199035" y="5029463"/>
            <a:ext cx="1041086" cy="669577"/>
          </a:xfrm>
          <a:prstGeom prst="line">
            <a:avLst/>
          </a:prstGeom>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656297" y="4829736"/>
            <a:ext cx="284052"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Sí</a:t>
            </a:r>
          </a:p>
        </p:txBody>
      </p:sp>
      <p:sp>
        <p:nvSpPr>
          <p:cNvPr id="23" name="TextBox 22"/>
          <p:cNvSpPr txBox="1"/>
          <p:nvPr/>
        </p:nvSpPr>
        <p:spPr>
          <a:xfrm>
            <a:off x="2549146" y="5436708"/>
            <a:ext cx="38183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No</a:t>
            </a:r>
          </a:p>
        </p:txBody>
      </p:sp>
      <p:sp>
        <p:nvSpPr>
          <p:cNvPr id="24" name="TextBox 23"/>
          <p:cNvSpPr txBox="1"/>
          <p:nvPr/>
        </p:nvSpPr>
        <p:spPr>
          <a:xfrm>
            <a:off x="2805901" y="4022066"/>
            <a:ext cx="1152880" cy="430887"/>
          </a:xfrm>
          <a:prstGeom prst="rect">
            <a:avLst/>
          </a:prstGeom>
          <a:noFill/>
        </p:spPr>
        <p:txBody>
          <a:bodyPr wrap="none" rtlCol="0">
            <a:spAutoFit/>
          </a:bodyPr>
          <a:lstStyle/>
          <a:p>
            <a:pPr algn="ctr"/>
            <a:r>
              <a:rPr lang="es-ES_tradnl" sz="1100" i="1" dirty="0">
                <a:solidFill>
                  <a:schemeClr val="accent1"/>
                </a:solidFill>
                <a:latin typeface="Century Gothic" panose="020B0502020202020204" pitchFamily="34" charset="0"/>
              </a:rPr>
              <a:t>¿Ganamos la </a:t>
            </a:r>
          </a:p>
          <a:p>
            <a:pPr algn="ctr"/>
            <a:r>
              <a:rPr lang="es-ES_tradnl" sz="1100" i="1" dirty="0">
                <a:solidFill>
                  <a:schemeClr val="accent1"/>
                </a:solidFill>
                <a:latin typeface="Century Gothic" panose="020B0502020202020204" pitchFamily="34" charset="0"/>
              </a:rPr>
              <a:t>licitación?</a:t>
            </a:r>
          </a:p>
        </p:txBody>
      </p:sp>
      <p:cxnSp>
        <p:nvCxnSpPr>
          <p:cNvPr id="25" name="Straight Connector 24"/>
          <p:cNvCxnSpPr>
            <a:stCxn id="13" idx="6"/>
          </p:cNvCxnSpPr>
          <p:nvPr/>
        </p:nvCxnSpPr>
        <p:spPr>
          <a:xfrm flipV="1">
            <a:off x="3599048" y="3862876"/>
            <a:ext cx="948218" cy="855922"/>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p:cNvCxnSpPr>
            <a:stCxn id="13" idx="6"/>
          </p:cNvCxnSpPr>
          <p:nvPr/>
        </p:nvCxnSpPr>
        <p:spPr>
          <a:xfrm>
            <a:off x="3599048" y="4718799"/>
            <a:ext cx="948218" cy="980241"/>
          </a:xfrm>
          <a:prstGeom prst="line">
            <a:avLst/>
          </a:prstGeom>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229467" y="4166656"/>
            <a:ext cx="284052"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Sí</a:t>
            </a:r>
          </a:p>
        </p:txBody>
      </p:sp>
      <p:sp>
        <p:nvSpPr>
          <p:cNvPr id="34" name="TextBox 33"/>
          <p:cNvSpPr txBox="1"/>
          <p:nvPr/>
        </p:nvSpPr>
        <p:spPr>
          <a:xfrm>
            <a:off x="4122316" y="5699040"/>
            <a:ext cx="38183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No</a:t>
            </a:r>
          </a:p>
        </p:txBody>
      </p:sp>
      <p:sp>
        <p:nvSpPr>
          <p:cNvPr id="36" name="TextBox 35"/>
          <p:cNvSpPr txBox="1"/>
          <p:nvPr/>
        </p:nvSpPr>
        <p:spPr>
          <a:xfrm>
            <a:off x="3290853" y="5673151"/>
            <a:ext cx="341760" cy="261610"/>
          </a:xfrm>
          <a:prstGeom prst="rect">
            <a:avLst/>
          </a:prstGeom>
          <a:noFill/>
        </p:spPr>
        <p:txBody>
          <a:bodyPr wrap="none" rtlCol="0">
            <a:spAutoFit/>
          </a:bodyPr>
          <a:lstStyle/>
          <a:p>
            <a:r>
              <a:rPr lang="es-ES_tradnl" sz="1100" b="1" i="1" dirty="0">
                <a:solidFill>
                  <a:srgbClr val="C00000"/>
                </a:solidFill>
                <a:latin typeface="Century Gothic" panose="020B0502020202020204" pitchFamily="34" charset="0"/>
              </a:rPr>
              <a:t>$0</a:t>
            </a:r>
          </a:p>
        </p:txBody>
      </p:sp>
      <p:sp>
        <p:nvSpPr>
          <p:cNvPr id="37" name="TextBox 36"/>
          <p:cNvSpPr txBox="1"/>
          <p:nvPr/>
        </p:nvSpPr>
        <p:spPr>
          <a:xfrm>
            <a:off x="4547266" y="5575207"/>
            <a:ext cx="676788" cy="261610"/>
          </a:xfrm>
          <a:prstGeom prst="rect">
            <a:avLst/>
          </a:prstGeom>
          <a:noFill/>
        </p:spPr>
        <p:txBody>
          <a:bodyPr wrap="none" rtlCol="0">
            <a:spAutoFit/>
          </a:bodyPr>
          <a:lstStyle/>
          <a:p>
            <a:r>
              <a:rPr lang="es-ES_tradnl" sz="1100" b="1" i="1" dirty="0">
                <a:solidFill>
                  <a:srgbClr val="C00000"/>
                </a:solidFill>
                <a:latin typeface="Century Gothic" panose="020B0502020202020204" pitchFamily="34" charset="0"/>
              </a:rPr>
              <a:t>-$1.000</a:t>
            </a:r>
          </a:p>
        </p:txBody>
      </p:sp>
      <p:sp>
        <p:nvSpPr>
          <p:cNvPr id="38" name="TextBox 37"/>
          <p:cNvSpPr txBox="1"/>
          <p:nvPr/>
        </p:nvSpPr>
        <p:spPr>
          <a:xfrm>
            <a:off x="3857112" y="5298208"/>
            <a:ext cx="405880"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4/5</a:t>
            </a:r>
          </a:p>
        </p:txBody>
      </p:sp>
      <p:sp>
        <p:nvSpPr>
          <p:cNvPr id="39" name="TextBox 38"/>
          <p:cNvSpPr txBox="1"/>
          <p:nvPr/>
        </p:nvSpPr>
        <p:spPr>
          <a:xfrm>
            <a:off x="3850356" y="3862877"/>
            <a:ext cx="405880"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1/5</a:t>
            </a:r>
          </a:p>
        </p:txBody>
      </p:sp>
      <p:sp>
        <p:nvSpPr>
          <p:cNvPr id="41" name="TextBox 40"/>
          <p:cNvSpPr txBox="1"/>
          <p:nvPr/>
        </p:nvSpPr>
        <p:spPr>
          <a:xfrm>
            <a:off x="3891274" y="3176587"/>
            <a:ext cx="1308371" cy="430887"/>
          </a:xfrm>
          <a:prstGeom prst="rect">
            <a:avLst/>
          </a:prstGeom>
          <a:noFill/>
        </p:spPr>
        <p:txBody>
          <a:bodyPr wrap="none" rtlCol="0">
            <a:spAutoFit/>
          </a:bodyPr>
          <a:lstStyle/>
          <a:p>
            <a:pPr algn="ctr"/>
            <a:r>
              <a:rPr lang="es-ES_tradnl" sz="1100" i="1" dirty="0">
                <a:solidFill>
                  <a:schemeClr val="accent1"/>
                </a:solidFill>
                <a:latin typeface="Century Gothic" panose="020B0502020202020204" pitchFamily="34" charset="0"/>
              </a:rPr>
              <a:t>¿Cómo manejo </a:t>
            </a:r>
          </a:p>
          <a:p>
            <a:pPr algn="ctr"/>
            <a:r>
              <a:rPr lang="es-ES_tradnl" sz="1100" i="1" dirty="0">
                <a:solidFill>
                  <a:schemeClr val="accent1"/>
                </a:solidFill>
                <a:latin typeface="Century Gothic" panose="020B0502020202020204" pitchFamily="34" charset="0"/>
              </a:rPr>
              <a:t>la concesión?</a:t>
            </a:r>
          </a:p>
        </p:txBody>
      </p:sp>
      <p:sp>
        <p:nvSpPr>
          <p:cNvPr id="3" name="Rectángulo 2">
            <a:extLst>
              <a:ext uri="{FF2B5EF4-FFF2-40B4-BE49-F238E27FC236}">
                <a16:creationId xmlns:a16="http://schemas.microsoft.com/office/drawing/2014/main" id="{32B05DB8-BBD1-61AF-F897-E82857768F8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987D329D-CD5B-343D-56CF-31306D5D98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9">
            <a:extLst>
              <a:ext uri="{FF2B5EF4-FFF2-40B4-BE49-F238E27FC236}">
                <a16:creationId xmlns:a16="http://schemas.microsoft.com/office/drawing/2014/main" id="{A440A21B-31F5-3732-9636-6E08BCEB06D6}"/>
              </a:ext>
            </a:extLst>
          </p:cNvPr>
          <p:cNvSpPr/>
          <p:nvPr/>
        </p:nvSpPr>
        <p:spPr>
          <a:xfrm>
            <a:off x="4559668" y="3690305"/>
            <a:ext cx="345143" cy="34514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41">
            <a:extLst>
              <a:ext uri="{FF2B5EF4-FFF2-40B4-BE49-F238E27FC236}">
                <a16:creationId xmlns:a16="http://schemas.microsoft.com/office/drawing/2014/main" id="{0D2EE247-E139-BC91-D3C2-38BA3E46EE3F}"/>
              </a:ext>
            </a:extLst>
          </p:cNvPr>
          <p:cNvCxnSpPr>
            <a:stCxn id="2" idx="3"/>
          </p:cNvCxnSpPr>
          <p:nvPr/>
        </p:nvCxnSpPr>
        <p:spPr>
          <a:xfrm flipV="1">
            <a:off x="4904810" y="2178576"/>
            <a:ext cx="1478504" cy="1684300"/>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58">
            <a:extLst>
              <a:ext uri="{FF2B5EF4-FFF2-40B4-BE49-F238E27FC236}">
                <a16:creationId xmlns:a16="http://schemas.microsoft.com/office/drawing/2014/main" id="{A17B9839-5F44-86AF-5743-84A5289E7523}"/>
              </a:ext>
            </a:extLst>
          </p:cNvPr>
          <p:cNvSpPr txBox="1"/>
          <p:nvPr/>
        </p:nvSpPr>
        <p:spPr>
          <a:xfrm>
            <a:off x="5123094" y="2591002"/>
            <a:ext cx="71846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Soacha</a:t>
            </a:r>
          </a:p>
        </p:txBody>
      </p:sp>
      <p:sp>
        <p:nvSpPr>
          <p:cNvPr id="14" name="TextBox 61">
            <a:extLst>
              <a:ext uri="{FF2B5EF4-FFF2-40B4-BE49-F238E27FC236}">
                <a16:creationId xmlns:a16="http://schemas.microsoft.com/office/drawing/2014/main" id="{9AC4FD1A-2642-AF82-FB9E-C75D81CDF307}"/>
              </a:ext>
            </a:extLst>
          </p:cNvPr>
          <p:cNvSpPr txBox="1"/>
          <p:nvPr/>
        </p:nvSpPr>
        <p:spPr>
          <a:xfrm>
            <a:off x="6430588" y="2039658"/>
            <a:ext cx="2714205" cy="261610"/>
          </a:xfrm>
          <a:prstGeom prst="rect">
            <a:avLst/>
          </a:prstGeom>
          <a:noFill/>
        </p:spPr>
        <p:txBody>
          <a:bodyPr wrap="none" rtlCol="0">
            <a:spAutoFit/>
          </a:bodyPr>
          <a:lstStyle/>
          <a:p>
            <a:r>
              <a:rPr lang="es-ES_tradnl" sz="1100" b="1" i="1" dirty="0">
                <a:solidFill>
                  <a:srgbClr val="C00000"/>
                </a:solidFill>
                <a:latin typeface="Century Gothic" panose="020B0502020202020204" pitchFamily="34" charset="0"/>
              </a:rPr>
              <a:t>$125.486 - $118.000 - $1.000 = $6.486 </a:t>
            </a:r>
          </a:p>
        </p:txBody>
      </p:sp>
      <p:sp>
        <p:nvSpPr>
          <p:cNvPr id="17" name="Rectángulo 16">
            <a:extLst>
              <a:ext uri="{FF2B5EF4-FFF2-40B4-BE49-F238E27FC236}">
                <a16:creationId xmlns:a16="http://schemas.microsoft.com/office/drawing/2014/main" id="{4A623E09-C73D-CFE0-8938-AAF0B192F3E5}"/>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176168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57B73F2-BB94-DDBE-77D8-908106D13CDF}"/>
              </a:ext>
            </a:extLst>
          </p:cNvPr>
          <p:cNvSpPr>
            <a:spLocks noGrp="1"/>
          </p:cNvSpPr>
          <p:nvPr>
            <p:ph type="title"/>
          </p:nvPr>
        </p:nvSpPr>
        <p:spPr/>
        <p:txBody>
          <a:bodyPr>
            <a:normAutofit/>
          </a:bodyPr>
          <a:lstStyle/>
          <a:p>
            <a:r>
              <a:rPr lang="es-ES_tradnl" dirty="0">
                <a:latin typeface="Century Gothic" panose="020B0502020202020204" pitchFamily="34" charset="0"/>
              </a:rPr>
              <a:t>Árboles de Decisión</a:t>
            </a:r>
          </a:p>
        </p:txBody>
      </p:sp>
      <p:sp>
        <p:nvSpPr>
          <p:cNvPr id="3" name="Content Placeholder 2"/>
          <p:cNvSpPr>
            <a:spLocks noGrp="1"/>
          </p:cNvSpPr>
          <p:nvPr>
            <p:ph idx="1"/>
          </p:nvPr>
        </p:nvSpPr>
        <p:spPr>
          <a:xfrm>
            <a:off x="581192" y="2477541"/>
            <a:ext cx="8428696" cy="3678303"/>
          </a:xfrm>
        </p:spPr>
        <p:txBody>
          <a:bodyPr>
            <a:normAutofit/>
          </a:bodyPr>
          <a:lstStyle/>
          <a:p>
            <a:pPr algn="just"/>
            <a:r>
              <a:rPr lang="es-ES_tradnl" dirty="0">
                <a:solidFill>
                  <a:schemeClr val="accent1"/>
                </a:solidFill>
                <a:latin typeface="Century Gothic" panose="020B0502020202020204" pitchFamily="34" charset="0"/>
              </a:rPr>
              <a:t>Para el manejo de la concesión, se tienen tres alternativas:</a:t>
            </a:r>
          </a:p>
          <a:p>
            <a:pPr marL="457200" indent="-457200" algn="just">
              <a:buFont typeface="+mj-lt"/>
              <a:buAutoNum type="arabicPeriod" startAt="2"/>
            </a:pPr>
            <a:r>
              <a:rPr lang="es-MX" dirty="0">
                <a:solidFill>
                  <a:schemeClr val="accent1"/>
                </a:solidFill>
                <a:latin typeface="Century Gothic" panose="020B0502020202020204" pitchFamily="34" charset="0"/>
              </a:rPr>
              <a:t>Utilizar una nueva solución traída de Ciudad de México, en la que utilizan un lecho fluido. Es más económica, pues en valor presente asciende a $85.000 millones, sin embargo, no se ha tenido experiencia con ella. Por tal motivo, se estima que hay una probabilidad de 40% de que surjan problemas posteriores, caso en el cual habría que incurrir en costos adicionales que ascienden a $57.000 millones en Valor presente.</a:t>
            </a:r>
          </a:p>
          <a:p>
            <a:pPr marL="457200" indent="-457200" algn="just">
              <a:buFont typeface="+mj-lt"/>
              <a:buAutoNum type="arabicPeriod" startAt="2"/>
            </a:pPr>
            <a:endParaRPr lang="es-ES_tradnl" dirty="0">
              <a:solidFill>
                <a:schemeClr val="accent1"/>
              </a:solidFill>
              <a:latin typeface="Century Gothic" panose="020B0502020202020204" pitchFamily="34" charset="0"/>
            </a:endParaRPr>
          </a:p>
        </p:txBody>
      </p:sp>
      <p:sp>
        <p:nvSpPr>
          <p:cNvPr id="4" name="Slide Number Placeholder 3"/>
          <p:cNvSpPr>
            <a:spLocks noGrp="1"/>
          </p:cNvSpPr>
          <p:nvPr>
            <p:ph type="sldNum" sz="quarter" idx="12"/>
          </p:nvPr>
        </p:nvSpPr>
        <p:spPr/>
        <p:txBody>
          <a:bodyPr/>
          <a:lstStyle/>
          <a:p>
            <a:fld id="{5E3E23BA-6E79-2442-BA73-D218A5E297C3}" type="slidenum">
              <a:rPr lang="en-US" sz="1800" smtClean="0"/>
              <a:t>59</a:t>
            </a:fld>
            <a:endParaRPr lang="en-US" sz="1800"/>
          </a:p>
        </p:txBody>
      </p:sp>
      <p:sp>
        <p:nvSpPr>
          <p:cNvPr id="9" name="Rectángulo 8">
            <a:extLst>
              <a:ext uri="{FF2B5EF4-FFF2-40B4-BE49-F238E27FC236}">
                <a16:creationId xmlns:a16="http://schemas.microsoft.com/office/drawing/2014/main" id="{C5738F81-0E29-7B57-6A6C-32A64C5F732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2CC203AF-8BCA-3F0F-A66E-58B3FD5714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Probabilidad Y Estadistica Particular | MercadoLibre 📦">
            <a:extLst>
              <a:ext uri="{FF2B5EF4-FFF2-40B4-BE49-F238E27FC236}">
                <a16:creationId xmlns:a16="http://schemas.microsoft.com/office/drawing/2014/main" id="{1E7D755F-0078-541E-FED6-F9E725883CA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72" t="3529" r="7488" b="9494"/>
          <a:stretch/>
        </p:blipFill>
        <p:spPr bwMode="auto">
          <a:xfrm>
            <a:off x="9159761" y="3289086"/>
            <a:ext cx="2797077" cy="1852959"/>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41C7FA52-D377-530D-C800-19F9531F4D3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6773067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87D5997-28F3-EC8A-213B-5E89C41FD075}"/>
              </a:ext>
            </a:extLst>
          </p:cNvPr>
          <p:cNvSpPr>
            <a:spLocks noGrp="1"/>
          </p:cNvSpPr>
          <p:nvPr>
            <p:ph type="title"/>
          </p:nvPr>
        </p:nvSpPr>
        <p:spPr/>
        <p:txBody>
          <a:bodyPr>
            <a:normAutofit/>
          </a:bodyPr>
          <a:lstStyle/>
          <a:p>
            <a:r>
              <a:rPr lang="es-ES_tradnl" dirty="0">
                <a:latin typeface="Century Gothic" panose="020B0502020202020204" pitchFamily="34" charset="0"/>
              </a:rPr>
              <a:t>Árboles de Decisión</a:t>
            </a:r>
          </a:p>
        </p:txBody>
      </p:sp>
      <p:sp>
        <p:nvSpPr>
          <p:cNvPr id="4" name="Slide Number Placeholder 3"/>
          <p:cNvSpPr>
            <a:spLocks noGrp="1"/>
          </p:cNvSpPr>
          <p:nvPr>
            <p:ph type="sldNum" sz="quarter" idx="12"/>
          </p:nvPr>
        </p:nvSpPr>
        <p:spPr/>
        <p:txBody>
          <a:bodyPr/>
          <a:lstStyle/>
          <a:p>
            <a:fld id="{5E3E23BA-6E79-2442-BA73-D218A5E297C3}" type="slidenum">
              <a:rPr lang="en-US" sz="1800" smtClean="0"/>
              <a:t>60</a:t>
            </a:fld>
            <a:endParaRPr lang="en-US" sz="1800"/>
          </a:p>
        </p:txBody>
      </p:sp>
      <p:sp>
        <p:nvSpPr>
          <p:cNvPr id="9" name="Rectangle 8"/>
          <p:cNvSpPr/>
          <p:nvPr/>
        </p:nvSpPr>
        <p:spPr>
          <a:xfrm>
            <a:off x="1853893" y="4856891"/>
            <a:ext cx="345143" cy="34514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524001" y="4539335"/>
            <a:ext cx="990977"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¿Licitamos?</a:t>
            </a:r>
          </a:p>
        </p:txBody>
      </p:sp>
      <p:sp>
        <p:nvSpPr>
          <p:cNvPr id="13" name="Oval 12"/>
          <p:cNvSpPr/>
          <p:nvPr/>
        </p:nvSpPr>
        <p:spPr>
          <a:xfrm>
            <a:off x="3240122" y="4539335"/>
            <a:ext cx="358927" cy="3589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9" idx="3"/>
            <a:endCxn id="13" idx="2"/>
          </p:cNvCxnSpPr>
          <p:nvPr/>
        </p:nvCxnSpPr>
        <p:spPr>
          <a:xfrm flipV="1">
            <a:off x="2199035" y="4718798"/>
            <a:ext cx="1041086" cy="310664"/>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9" idx="3"/>
          </p:cNvCxnSpPr>
          <p:nvPr/>
        </p:nvCxnSpPr>
        <p:spPr>
          <a:xfrm>
            <a:off x="2199035" y="5029463"/>
            <a:ext cx="1041086" cy="669577"/>
          </a:xfrm>
          <a:prstGeom prst="line">
            <a:avLst/>
          </a:prstGeom>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656297" y="4829736"/>
            <a:ext cx="284052"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Sí</a:t>
            </a:r>
          </a:p>
        </p:txBody>
      </p:sp>
      <p:sp>
        <p:nvSpPr>
          <p:cNvPr id="23" name="TextBox 22"/>
          <p:cNvSpPr txBox="1"/>
          <p:nvPr/>
        </p:nvSpPr>
        <p:spPr>
          <a:xfrm>
            <a:off x="2549146" y="5436708"/>
            <a:ext cx="38183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No</a:t>
            </a:r>
          </a:p>
        </p:txBody>
      </p:sp>
      <p:sp>
        <p:nvSpPr>
          <p:cNvPr id="24" name="TextBox 23"/>
          <p:cNvSpPr txBox="1"/>
          <p:nvPr/>
        </p:nvSpPr>
        <p:spPr>
          <a:xfrm>
            <a:off x="2805901" y="4022066"/>
            <a:ext cx="1152880" cy="430887"/>
          </a:xfrm>
          <a:prstGeom prst="rect">
            <a:avLst/>
          </a:prstGeom>
          <a:noFill/>
        </p:spPr>
        <p:txBody>
          <a:bodyPr wrap="none" rtlCol="0">
            <a:spAutoFit/>
          </a:bodyPr>
          <a:lstStyle/>
          <a:p>
            <a:pPr algn="ctr"/>
            <a:r>
              <a:rPr lang="es-ES_tradnl" sz="1100" i="1" dirty="0">
                <a:solidFill>
                  <a:schemeClr val="accent1"/>
                </a:solidFill>
                <a:latin typeface="Century Gothic" panose="020B0502020202020204" pitchFamily="34" charset="0"/>
              </a:rPr>
              <a:t>¿Ganamos la </a:t>
            </a:r>
          </a:p>
          <a:p>
            <a:pPr algn="ctr"/>
            <a:r>
              <a:rPr lang="es-ES_tradnl" sz="1100" i="1" dirty="0">
                <a:solidFill>
                  <a:schemeClr val="accent1"/>
                </a:solidFill>
                <a:latin typeface="Century Gothic" panose="020B0502020202020204" pitchFamily="34" charset="0"/>
              </a:rPr>
              <a:t>licitación?</a:t>
            </a:r>
          </a:p>
        </p:txBody>
      </p:sp>
      <p:cxnSp>
        <p:nvCxnSpPr>
          <p:cNvPr id="25" name="Straight Connector 24"/>
          <p:cNvCxnSpPr>
            <a:stCxn id="13" idx="6"/>
          </p:cNvCxnSpPr>
          <p:nvPr/>
        </p:nvCxnSpPr>
        <p:spPr>
          <a:xfrm flipV="1">
            <a:off x="3599048" y="3862876"/>
            <a:ext cx="948218" cy="855922"/>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p:cNvCxnSpPr>
            <a:stCxn id="13" idx="6"/>
          </p:cNvCxnSpPr>
          <p:nvPr/>
        </p:nvCxnSpPr>
        <p:spPr>
          <a:xfrm>
            <a:off x="3599048" y="4718799"/>
            <a:ext cx="948218" cy="980241"/>
          </a:xfrm>
          <a:prstGeom prst="line">
            <a:avLst/>
          </a:prstGeom>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229467" y="4166656"/>
            <a:ext cx="284052"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Sí</a:t>
            </a:r>
          </a:p>
        </p:txBody>
      </p:sp>
      <p:sp>
        <p:nvSpPr>
          <p:cNvPr id="34" name="TextBox 33"/>
          <p:cNvSpPr txBox="1"/>
          <p:nvPr/>
        </p:nvSpPr>
        <p:spPr>
          <a:xfrm>
            <a:off x="4122316" y="5699040"/>
            <a:ext cx="38183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No</a:t>
            </a:r>
          </a:p>
        </p:txBody>
      </p:sp>
      <p:sp>
        <p:nvSpPr>
          <p:cNvPr id="36" name="TextBox 35"/>
          <p:cNvSpPr txBox="1"/>
          <p:nvPr/>
        </p:nvSpPr>
        <p:spPr>
          <a:xfrm>
            <a:off x="3290853" y="5673151"/>
            <a:ext cx="341760" cy="261610"/>
          </a:xfrm>
          <a:prstGeom prst="rect">
            <a:avLst/>
          </a:prstGeom>
          <a:noFill/>
        </p:spPr>
        <p:txBody>
          <a:bodyPr wrap="none" rtlCol="0">
            <a:spAutoFit/>
          </a:bodyPr>
          <a:lstStyle/>
          <a:p>
            <a:r>
              <a:rPr lang="es-ES_tradnl" sz="1100" b="1" i="1" dirty="0">
                <a:solidFill>
                  <a:srgbClr val="C00000"/>
                </a:solidFill>
                <a:latin typeface="Century Gothic" panose="020B0502020202020204" pitchFamily="34" charset="0"/>
              </a:rPr>
              <a:t>$0</a:t>
            </a:r>
          </a:p>
        </p:txBody>
      </p:sp>
      <p:sp>
        <p:nvSpPr>
          <p:cNvPr id="37" name="TextBox 36"/>
          <p:cNvSpPr txBox="1"/>
          <p:nvPr/>
        </p:nvSpPr>
        <p:spPr>
          <a:xfrm>
            <a:off x="4547266" y="5575207"/>
            <a:ext cx="676788" cy="261610"/>
          </a:xfrm>
          <a:prstGeom prst="rect">
            <a:avLst/>
          </a:prstGeom>
          <a:noFill/>
        </p:spPr>
        <p:txBody>
          <a:bodyPr wrap="none" rtlCol="0">
            <a:spAutoFit/>
          </a:bodyPr>
          <a:lstStyle/>
          <a:p>
            <a:r>
              <a:rPr lang="es-ES_tradnl" sz="1100" b="1" i="1" dirty="0">
                <a:solidFill>
                  <a:srgbClr val="C00000"/>
                </a:solidFill>
                <a:latin typeface="Century Gothic" panose="020B0502020202020204" pitchFamily="34" charset="0"/>
              </a:rPr>
              <a:t>-$1.000</a:t>
            </a:r>
          </a:p>
        </p:txBody>
      </p:sp>
      <p:sp>
        <p:nvSpPr>
          <p:cNvPr id="38" name="TextBox 37"/>
          <p:cNvSpPr txBox="1"/>
          <p:nvPr/>
        </p:nvSpPr>
        <p:spPr>
          <a:xfrm>
            <a:off x="3857112" y="5298208"/>
            <a:ext cx="405880"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4/5</a:t>
            </a:r>
          </a:p>
        </p:txBody>
      </p:sp>
      <p:sp>
        <p:nvSpPr>
          <p:cNvPr id="39" name="TextBox 38"/>
          <p:cNvSpPr txBox="1"/>
          <p:nvPr/>
        </p:nvSpPr>
        <p:spPr>
          <a:xfrm>
            <a:off x="3850356" y="3862877"/>
            <a:ext cx="405880"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1/5</a:t>
            </a:r>
          </a:p>
        </p:txBody>
      </p:sp>
      <p:sp>
        <p:nvSpPr>
          <p:cNvPr id="41" name="TextBox 40"/>
          <p:cNvSpPr txBox="1"/>
          <p:nvPr/>
        </p:nvSpPr>
        <p:spPr>
          <a:xfrm>
            <a:off x="3891274" y="3176587"/>
            <a:ext cx="1308371" cy="430887"/>
          </a:xfrm>
          <a:prstGeom prst="rect">
            <a:avLst/>
          </a:prstGeom>
          <a:noFill/>
        </p:spPr>
        <p:txBody>
          <a:bodyPr wrap="none" rtlCol="0">
            <a:spAutoFit/>
          </a:bodyPr>
          <a:lstStyle/>
          <a:p>
            <a:pPr algn="ctr"/>
            <a:r>
              <a:rPr lang="es-ES_tradnl" sz="1100" i="1" dirty="0">
                <a:solidFill>
                  <a:schemeClr val="accent1"/>
                </a:solidFill>
                <a:latin typeface="Century Gothic" panose="020B0502020202020204" pitchFamily="34" charset="0"/>
              </a:rPr>
              <a:t>¿Cómo manejo </a:t>
            </a:r>
          </a:p>
          <a:p>
            <a:pPr algn="ctr"/>
            <a:r>
              <a:rPr lang="es-ES_tradnl" sz="1100" i="1" dirty="0">
                <a:solidFill>
                  <a:schemeClr val="accent1"/>
                </a:solidFill>
                <a:latin typeface="Century Gothic" panose="020B0502020202020204" pitchFamily="34" charset="0"/>
              </a:rPr>
              <a:t>la concesión?</a:t>
            </a:r>
          </a:p>
        </p:txBody>
      </p:sp>
      <p:sp>
        <p:nvSpPr>
          <p:cNvPr id="3" name="Rectángulo 2">
            <a:extLst>
              <a:ext uri="{FF2B5EF4-FFF2-40B4-BE49-F238E27FC236}">
                <a16:creationId xmlns:a16="http://schemas.microsoft.com/office/drawing/2014/main" id="{32B05DB8-BBD1-61AF-F897-E82857768F8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987D329D-CD5B-343D-56CF-31306D5D98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9">
            <a:extLst>
              <a:ext uri="{FF2B5EF4-FFF2-40B4-BE49-F238E27FC236}">
                <a16:creationId xmlns:a16="http://schemas.microsoft.com/office/drawing/2014/main" id="{A440A21B-31F5-3732-9636-6E08BCEB06D6}"/>
              </a:ext>
            </a:extLst>
          </p:cNvPr>
          <p:cNvSpPr/>
          <p:nvPr/>
        </p:nvSpPr>
        <p:spPr>
          <a:xfrm>
            <a:off x="4559668" y="3690305"/>
            <a:ext cx="345143" cy="34514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41">
            <a:extLst>
              <a:ext uri="{FF2B5EF4-FFF2-40B4-BE49-F238E27FC236}">
                <a16:creationId xmlns:a16="http://schemas.microsoft.com/office/drawing/2014/main" id="{0D2EE247-E139-BC91-D3C2-38BA3E46EE3F}"/>
              </a:ext>
            </a:extLst>
          </p:cNvPr>
          <p:cNvCxnSpPr>
            <a:stCxn id="2" idx="3"/>
          </p:cNvCxnSpPr>
          <p:nvPr/>
        </p:nvCxnSpPr>
        <p:spPr>
          <a:xfrm flipV="1">
            <a:off x="4904810" y="2178576"/>
            <a:ext cx="1478504" cy="1684300"/>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58">
            <a:extLst>
              <a:ext uri="{FF2B5EF4-FFF2-40B4-BE49-F238E27FC236}">
                <a16:creationId xmlns:a16="http://schemas.microsoft.com/office/drawing/2014/main" id="{A17B9839-5F44-86AF-5743-84A5289E7523}"/>
              </a:ext>
            </a:extLst>
          </p:cNvPr>
          <p:cNvSpPr txBox="1"/>
          <p:nvPr/>
        </p:nvSpPr>
        <p:spPr>
          <a:xfrm>
            <a:off x="5123094" y="2591002"/>
            <a:ext cx="71846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Soacha</a:t>
            </a:r>
          </a:p>
        </p:txBody>
      </p:sp>
      <p:sp>
        <p:nvSpPr>
          <p:cNvPr id="14" name="TextBox 61">
            <a:extLst>
              <a:ext uri="{FF2B5EF4-FFF2-40B4-BE49-F238E27FC236}">
                <a16:creationId xmlns:a16="http://schemas.microsoft.com/office/drawing/2014/main" id="{9AC4FD1A-2642-AF82-FB9E-C75D81CDF307}"/>
              </a:ext>
            </a:extLst>
          </p:cNvPr>
          <p:cNvSpPr txBox="1"/>
          <p:nvPr/>
        </p:nvSpPr>
        <p:spPr>
          <a:xfrm>
            <a:off x="6430588" y="2039658"/>
            <a:ext cx="2714205" cy="261610"/>
          </a:xfrm>
          <a:prstGeom prst="rect">
            <a:avLst/>
          </a:prstGeom>
          <a:noFill/>
        </p:spPr>
        <p:txBody>
          <a:bodyPr wrap="none" rtlCol="0">
            <a:spAutoFit/>
          </a:bodyPr>
          <a:lstStyle/>
          <a:p>
            <a:r>
              <a:rPr lang="es-ES_tradnl" sz="1100" b="1" i="1" dirty="0">
                <a:solidFill>
                  <a:srgbClr val="C00000"/>
                </a:solidFill>
                <a:latin typeface="Century Gothic" panose="020B0502020202020204" pitchFamily="34" charset="0"/>
              </a:rPr>
              <a:t>$125.486 - $118.000 - $1.000 = $6.486 </a:t>
            </a:r>
          </a:p>
        </p:txBody>
      </p:sp>
      <p:cxnSp>
        <p:nvCxnSpPr>
          <p:cNvPr id="17" name="Straight Connector 44">
            <a:extLst>
              <a:ext uri="{FF2B5EF4-FFF2-40B4-BE49-F238E27FC236}">
                <a16:creationId xmlns:a16="http://schemas.microsoft.com/office/drawing/2014/main" id="{72EF1A67-84FD-D76B-19A0-D55DA7FE770F}"/>
              </a:ext>
            </a:extLst>
          </p:cNvPr>
          <p:cNvCxnSpPr>
            <a:endCxn id="18" idx="2"/>
          </p:cNvCxnSpPr>
          <p:nvPr/>
        </p:nvCxnSpPr>
        <p:spPr>
          <a:xfrm>
            <a:off x="4904811" y="3862877"/>
            <a:ext cx="1814685" cy="13827"/>
          </a:xfrm>
          <a:prstGeom prst="line">
            <a:avLst/>
          </a:prstGeom>
        </p:spPr>
        <p:style>
          <a:lnRef idx="2">
            <a:schemeClr val="accent1"/>
          </a:lnRef>
          <a:fillRef idx="0">
            <a:schemeClr val="accent1"/>
          </a:fillRef>
          <a:effectRef idx="1">
            <a:schemeClr val="accent1"/>
          </a:effectRef>
          <a:fontRef idx="minor">
            <a:schemeClr val="tx1"/>
          </a:fontRef>
        </p:style>
      </p:cxnSp>
      <p:sp>
        <p:nvSpPr>
          <p:cNvPr id="18" name="Oval 52">
            <a:extLst>
              <a:ext uri="{FF2B5EF4-FFF2-40B4-BE49-F238E27FC236}">
                <a16:creationId xmlns:a16="http://schemas.microsoft.com/office/drawing/2014/main" id="{41B1BA45-3F71-6742-7B43-6298ADD39D38}"/>
              </a:ext>
            </a:extLst>
          </p:cNvPr>
          <p:cNvSpPr/>
          <p:nvPr/>
        </p:nvSpPr>
        <p:spPr>
          <a:xfrm>
            <a:off x="6719496" y="3697240"/>
            <a:ext cx="358927" cy="3589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59">
            <a:extLst>
              <a:ext uri="{FF2B5EF4-FFF2-40B4-BE49-F238E27FC236}">
                <a16:creationId xmlns:a16="http://schemas.microsoft.com/office/drawing/2014/main" id="{ECDDA31B-4651-9B28-7DCC-E3F9F55AC8EE}"/>
              </a:ext>
            </a:extLst>
          </p:cNvPr>
          <p:cNvSpPr txBox="1"/>
          <p:nvPr/>
        </p:nvSpPr>
        <p:spPr>
          <a:xfrm>
            <a:off x="5618950" y="3833507"/>
            <a:ext cx="68640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México</a:t>
            </a:r>
          </a:p>
        </p:txBody>
      </p:sp>
      <p:cxnSp>
        <p:nvCxnSpPr>
          <p:cNvPr id="20" name="Straight Connector 64">
            <a:extLst>
              <a:ext uri="{FF2B5EF4-FFF2-40B4-BE49-F238E27FC236}">
                <a16:creationId xmlns:a16="http://schemas.microsoft.com/office/drawing/2014/main" id="{E0334D37-50C5-EA96-B396-EE3CEB96AEB4}"/>
              </a:ext>
            </a:extLst>
          </p:cNvPr>
          <p:cNvCxnSpPr/>
          <p:nvPr/>
        </p:nvCxnSpPr>
        <p:spPr>
          <a:xfrm flipV="1">
            <a:off x="7078423" y="3292222"/>
            <a:ext cx="904891" cy="563762"/>
          </a:xfrm>
          <a:prstGeom prst="line">
            <a:avLst/>
          </a:prstGeom>
        </p:spPr>
        <p:style>
          <a:lnRef idx="2">
            <a:schemeClr val="accent1"/>
          </a:lnRef>
          <a:fillRef idx="0">
            <a:schemeClr val="accent1"/>
          </a:fillRef>
          <a:effectRef idx="1">
            <a:schemeClr val="accent1"/>
          </a:effectRef>
          <a:fontRef idx="minor">
            <a:schemeClr val="tx1"/>
          </a:fontRef>
        </p:style>
      </p:cxnSp>
      <p:sp>
        <p:nvSpPr>
          <p:cNvPr id="21" name="TextBox 66">
            <a:extLst>
              <a:ext uri="{FF2B5EF4-FFF2-40B4-BE49-F238E27FC236}">
                <a16:creationId xmlns:a16="http://schemas.microsoft.com/office/drawing/2014/main" id="{F5642F0D-F593-576B-0685-28958406507B}"/>
              </a:ext>
            </a:extLst>
          </p:cNvPr>
          <p:cNvSpPr txBox="1"/>
          <p:nvPr/>
        </p:nvSpPr>
        <p:spPr>
          <a:xfrm>
            <a:off x="6393352" y="3352593"/>
            <a:ext cx="1031051" cy="261610"/>
          </a:xfrm>
          <a:prstGeom prst="rect">
            <a:avLst/>
          </a:prstGeom>
          <a:noFill/>
        </p:spPr>
        <p:txBody>
          <a:bodyPr wrap="none" rtlCol="0">
            <a:spAutoFit/>
          </a:bodyPr>
          <a:lstStyle/>
          <a:p>
            <a:pPr algn="ctr"/>
            <a:r>
              <a:rPr lang="es-ES_tradnl" sz="1100" i="1" dirty="0">
                <a:solidFill>
                  <a:schemeClr val="accent1"/>
                </a:solidFill>
                <a:latin typeface="Century Gothic" panose="020B0502020202020204" pitchFamily="34" charset="0"/>
              </a:rPr>
              <a:t>¿Hay Fallas?</a:t>
            </a:r>
          </a:p>
        </p:txBody>
      </p:sp>
      <p:cxnSp>
        <p:nvCxnSpPr>
          <p:cNvPr id="26" name="Straight Connector 69">
            <a:extLst>
              <a:ext uri="{FF2B5EF4-FFF2-40B4-BE49-F238E27FC236}">
                <a16:creationId xmlns:a16="http://schemas.microsoft.com/office/drawing/2014/main" id="{5501A5BB-114F-56E0-E197-3D3768780FCE}"/>
              </a:ext>
            </a:extLst>
          </p:cNvPr>
          <p:cNvCxnSpPr>
            <a:stCxn id="18" idx="6"/>
          </p:cNvCxnSpPr>
          <p:nvPr/>
        </p:nvCxnSpPr>
        <p:spPr>
          <a:xfrm>
            <a:off x="7078423" y="3876703"/>
            <a:ext cx="904891" cy="469374"/>
          </a:xfrm>
          <a:prstGeom prst="line">
            <a:avLst/>
          </a:prstGeom>
        </p:spPr>
        <p:style>
          <a:lnRef idx="2">
            <a:schemeClr val="accent1"/>
          </a:lnRef>
          <a:fillRef idx="0">
            <a:schemeClr val="accent1"/>
          </a:fillRef>
          <a:effectRef idx="1">
            <a:schemeClr val="accent1"/>
          </a:effectRef>
          <a:fontRef idx="minor">
            <a:schemeClr val="tx1"/>
          </a:fontRef>
        </p:style>
      </p:cxnSp>
      <p:sp>
        <p:nvSpPr>
          <p:cNvPr id="27" name="TextBox 73">
            <a:extLst>
              <a:ext uri="{FF2B5EF4-FFF2-40B4-BE49-F238E27FC236}">
                <a16:creationId xmlns:a16="http://schemas.microsoft.com/office/drawing/2014/main" id="{28DD414B-BBD3-6741-B412-B78F7A7E0972}"/>
              </a:ext>
            </a:extLst>
          </p:cNvPr>
          <p:cNvSpPr txBox="1"/>
          <p:nvPr/>
        </p:nvSpPr>
        <p:spPr>
          <a:xfrm>
            <a:off x="8030547" y="3038971"/>
            <a:ext cx="3706826" cy="261610"/>
          </a:xfrm>
          <a:prstGeom prst="rect">
            <a:avLst/>
          </a:prstGeom>
          <a:noFill/>
        </p:spPr>
        <p:txBody>
          <a:bodyPr wrap="square" rtlCol="0">
            <a:spAutoFit/>
          </a:bodyPr>
          <a:lstStyle/>
          <a:p>
            <a:r>
              <a:rPr lang="es-ES_tradnl" sz="1100" b="1" i="1" dirty="0">
                <a:solidFill>
                  <a:srgbClr val="C00000"/>
                </a:solidFill>
                <a:latin typeface="Century Gothic" panose="020B0502020202020204" pitchFamily="34" charset="0"/>
              </a:rPr>
              <a:t>$125.486 - $85.000 - $1.000 - $57.000 = -$17.514</a:t>
            </a:r>
          </a:p>
        </p:txBody>
      </p:sp>
      <p:sp>
        <p:nvSpPr>
          <p:cNvPr id="29" name="TextBox 74">
            <a:extLst>
              <a:ext uri="{FF2B5EF4-FFF2-40B4-BE49-F238E27FC236}">
                <a16:creationId xmlns:a16="http://schemas.microsoft.com/office/drawing/2014/main" id="{E0BD1D7C-2049-AFE1-5FFD-65227E390633}"/>
              </a:ext>
            </a:extLst>
          </p:cNvPr>
          <p:cNvSpPr txBox="1"/>
          <p:nvPr/>
        </p:nvSpPr>
        <p:spPr>
          <a:xfrm>
            <a:off x="8030545" y="4166656"/>
            <a:ext cx="3256579" cy="261610"/>
          </a:xfrm>
          <a:prstGeom prst="rect">
            <a:avLst/>
          </a:prstGeom>
          <a:noFill/>
        </p:spPr>
        <p:txBody>
          <a:bodyPr wrap="square" rtlCol="0">
            <a:spAutoFit/>
          </a:bodyPr>
          <a:lstStyle/>
          <a:p>
            <a:r>
              <a:rPr lang="es-ES_tradnl" sz="1100" b="1" i="1" dirty="0">
                <a:solidFill>
                  <a:srgbClr val="C00000"/>
                </a:solidFill>
                <a:latin typeface="Century Gothic" panose="020B0502020202020204" pitchFamily="34" charset="0"/>
              </a:rPr>
              <a:t>$125.486 - $85.000 - $1.000 = $39.486</a:t>
            </a:r>
          </a:p>
        </p:txBody>
      </p:sp>
      <p:sp>
        <p:nvSpPr>
          <p:cNvPr id="30" name="TextBox 75">
            <a:extLst>
              <a:ext uri="{FF2B5EF4-FFF2-40B4-BE49-F238E27FC236}">
                <a16:creationId xmlns:a16="http://schemas.microsoft.com/office/drawing/2014/main" id="{99C32D75-8785-CB28-D1A3-53F7835FA2E0}"/>
              </a:ext>
            </a:extLst>
          </p:cNvPr>
          <p:cNvSpPr txBox="1"/>
          <p:nvPr/>
        </p:nvSpPr>
        <p:spPr>
          <a:xfrm>
            <a:off x="7475754" y="3500636"/>
            <a:ext cx="463588"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40%</a:t>
            </a:r>
          </a:p>
        </p:txBody>
      </p:sp>
      <p:sp>
        <p:nvSpPr>
          <p:cNvPr id="31" name="TextBox 76">
            <a:extLst>
              <a:ext uri="{FF2B5EF4-FFF2-40B4-BE49-F238E27FC236}">
                <a16:creationId xmlns:a16="http://schemas.microsoft.com/office/drawing/2014/main" id="{233EE703-6076-4C32-C784-C6118AB0CB1B}"/>
              </a:ext>
            </a:extLst>
          </p:cNvPr>
          <p:cNvSpPr txBox="1"/>
          <p:nvPr/>
        </p:nvSpPr>
        <p:spPr>
          <a:xfrm>
            <a:off x="7468269" y="3827911"/>
            <a:ext cx="463588"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60%</a:t>
            </a:r>
          </a:p>
        </p:txBody>
      </p:sp>
      <p:sp>
        <p:nvSpPr>
          <p:cNvPr id="32" name="TextBox 90">
            <a:extLst>
              <a:ext uri="{FF2B5EF4-FFF2-40B4-BE49-F238E27FC236}">
                <a16:creationId xmlns:a16="http://schemas.microsoft.com/office/drawing/2014/main" id="{69DFA06C-E488-F8FC-DD27-8F69CDF0C122}"/>
              </a:ext>
            </a:extLst>
          </p:cNvPr>
          <p:cNvSpPr txBox="1"/>
          <p:nvPr/>
        </p:nvSpPr>
        <p:spPr>
          <a:xfrm>
            <a:off x="7468269" y="3176587"/>
            <a:ext cx="284052"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Sí</a:t>
            </a:r>
          </a:p>
        </p:txBody>
      </p:sp>
      <p:sp>
        <p:nvSpPr>
          <p:cNvPr id="35" name="TextBox 91">
            <a:extLst>
              <a:ext uri="{FF2B5EF4-FFF2-40B4-BE49-F238E27FC236}">
                <a16:creationId xmlns:a16="http://schemas.microsoft.com/office/drawing/2014/main" id="{0A1ED2A2-A128-EBBC-874F-D939C3C4054E}"/>
              </a:ext>
            </a:extLst>
          </p:cNvPr>
          <p:cNvSpPr txBox="1"/>
          <p:nvPr/>
        </p:nvSpPr>
        <p:spPr>
          <a:xfrm>
            <a:off x="7443448" y="4207578"/>
            <a:ext cx="38183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No</a:t>
            </a:r>
          </a:p>
        </p:txBody>
      </p:sp>
      <p:sp>
        <p:nvSpPr>
          <p:cNvPr id="40" name="Rectángulo 39">
            <a:extLst>
              <a:ext uri="{FF2B5EF4-FFF2-40B4-BE49-F238E27FC236}">
                <a16:creationId xmlns:a16="http://schemas.microsoft.com/office/drawing/2014/main" id="{81540A0F-A891-4870-1576-FE514A603863}"/>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938961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checkerboard(across)">
                                      <p:cBhvr>
                                        <p:cTn id="7" dur="500"/>
                                        <p:tgtEl>
                                          <p:spTgt spid="19"/>
                                        </p:tgtEl>
                                      </p:cBhvr>
                                    </p:animEffect>
                                  </p:childTnLst>
                                </p:cTn>
                              </p:par>
                              <p:par>
                                <p:cTn id="8" presetID="5" presetClass="entr" presetSubtype="1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checkerboard(across)">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ppt_x"/>
                                          </p:val>
                                        </p:tav>
                                        <p:tav tm="100000">
                                          <p:val>
                                            <p:strVal val="#ppt_x"/>
                                          </p:val>
                                        </p:tav>
                                      </p:tavLst>
                                    </p:anim>
                                    <p:anim calcmode="lin" valueType="num">
                                      <p:cBhvr additive="base">
                                        <p:cTn id="16" dur="500" fill="hold"/>
                                        <p:tgtEl>
                                          <p:spTgt spid="1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ppt_x"/>
                                          </p:val>
                                        </p:tav>
                                        <p:tav tm="100000">
                                          <p:val>
                                            <p:strVal val="#ppt_x"/>
                                          </p:val>
                                        </p:tav>
                                      </p:tavLst>
                                    </p:anim>
                                    <p:anim calcmode="lin" valueType="num">
                                      <p:cBhvr additive="base">
                                        <p:cTn id="2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barn(inVertical)">
                                      <p:cBhvr>
                                        <p:cTn id="25" dur="500"/>
                                        <p:tgtEl>
                                          <p:spTgt spid="20"/>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barn(inVertical)">
                                      <p:cBhvr>
                                        <p:cTn id="28" dur="500"/>
                                        <p:tgtEl>
                                          <p:spTgt spid="30"/>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barn(inVertical)">
                                      <p:cBhvr>
                                        <p:cTn id="31" dur="500"/>
                                        <p:tgtEl>
                                          <p:spTgt spid="32"/>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barn(inVertical)">
                                      <p:cBhvr>
                                        <p:cTn id="34" dur="5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6" presetClass="entr" presetSubtype="16" fill="hold" grpId="0" nodeType="click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circle(in)">
                                      <p:cBhvr>
                                        <p:cTn id="39" dur="2000"/>
                                        <p:tgtEl>
                                          <p:spTgt spid="31"/>
                                        </p:tgtEl>
                                      </p:cBhvr>
                                    </p:animEffect>
                                  </p:childTnLst>
                                </p:cTn>
                              </p:par>
                              <p:par>
                                <p:cTn id="40" presetID="6" presetClass="entr" presetSubtype="16" fill="hold" grpId="0" nodeType="with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circle(in)">
                                      <p:cBhvr>
                                        <p:cTn id="42" dur="2000"/>
                                        <p:tgtEl>
                                          <p:spTgt spid="35"/>
                                        </p:tgtEl>
                                      </p:cBhvr>
                                    </p:animEffect>
                                  </p:childTnLst>
                                </p:cTn>
                              </p:par>
                              <p:par>
                                <p:cTn id="43" presetID="6" presetClass="entr" presetSubtype="16"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circle(in)">
                                      <p:cBhvr>
                                        <p:cTn id="45" dur="2000"/>
                                        <p:tgtEl>
                                          <p:spTgt spid="29"/>
                                        </p:tgtEl>
                                      </p:cBhvr>
                                    </p:animEffect>
                                  </p:childTnLst>
                                </p:cTn>
                              </p:par>
                              <p:par>
                                <p:cTn id="46" presetID="6" presetClass="entr" presetSubtype="16" fill="hold"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circle(in)">
                                      <p:cBhvr>
                                        <p:cTn id="48" dur="2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21" grpId="0"/>
      <p:bldP spid="27" grpId="0"/>
      <p:bldP spid="29" grpId="0"/>
      <p:bldP spid="30" grpId="0"/>
      <p:bldP spid="31" grpId="0"/>
      <p:bldP spid="32" grpId="0"/>
      <p:bldP spid="3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65BA851B-EFF0-5137-3C29-21DB08789C10}"/>
              </a:ext>
            </a:extLst>
          </p:cNvPr>
          <p:cNvSpPr>
            <a:spLocks noGrp="1"/>
          </p:cNvSpPr>
          <p:nvPr>
            <p:ph type="title"/>
          </p:nvPr>
        </p:nvSpPr>
        <p:spPr/>
        <p:txBody>
          <a:bodyPr>
            <a:normAutofit/>
          </a:bodyPr>
          <a:lstStyle/>
          <a:p>
            <a:r>
              <a:rPr lang="es-ES_tradnl" dirty="0">
                <a:latin typeface="Century Gothic" panose="020B0502020202020204" pitchFamily="34" charset="0"/>
              </a:rPr>
              <a:t>Árboles de Decisión</a:t>
            </a:r>
          </a:p>
        </p:txBody>
      </p:sp>
      <p:sp>
        <p:nvSpPr>
          <p:cNvPr id="3" name="Content Placeholder 2"/>
          <p:cNvSpPr>
            <a:spLocks noGrp="1"/>
          </p:cNvSpPr>
          <p:nvPr>
            <p:ph idx="1"/>
          </p:nvPr>
        </p:nvSpPr>
        <p:spPr>
          <a:xfrm>
            <a:off x="581194" y="2180496"/>
            <a:ext cx="7427928" cy="3678303"/>
          </a:xfrm>
        </p:spPr>
        <p:txBody>
          <a:bodyPr>
            <a:normAutofit/>
          </a:bodyPr>
          <a:lstStyle/>
          <a:p>
            <a:pPr algn="just"/>
            <a:r>
              <a:rPr lang="es-ES_tradnl" dirty="0">
                <a:solidFill>
                  <a:schemeClr val="accent1"/>
                </a:solidFill>
                <a:latin typeface="Century Gothic" panose="020B0502020202020204" pitchFamily="34" charset="0"/>
              </a:rPr>
              <a:t>Para el manejo de la concesión, se tienen tres alternativas:</a:t>
            </a:r>
          </a:p>
          <a:p>
            <a:pPr marL="514350" indent="-514350" algn="just">
              <a:spcBef>
                <a:spcPts val="800"/>
              </a:spcBef>
              <a:buFont typeface="+mj-lt"/>
              <a:buAutoNum type="arabicPeriod" startAt="3"/>
            </a:pPr>
            <a:r>
              <a:rPr lang="es-MX" dirty="0">
                <a:solidFill>
                  <a:schemeClr val="accent1"/>
                </a:solidFill>
                <a:latin typeface="Century Gothic" panose="020B0502020202020204" pitchFamily="34" charset="0"/>
              </a:rPr>
              <a:t>Utilizar un nuevo método de vibro-compactación y suelo de cemento, que también permitiría bajar los costos. Estos serían en valor presente $110.000 millones. Este método también genera alguna incertidumbre, y por tanto se estima una probabilidad de 20% de tener que reconstruir algunos tramos, lo que costaría $28.000 millones adicionales en valor presente.</a:t>
            </a:r>
            <a:endParaRPr lang="es-CO" dirty="0">
              <a:solidFill>
                <a:schemeClr val="accent1"/>
              </a:solidFill>
              <a:latin typeface="Century Gothic" panose="020B0502020202020204" pitchFamily="34" charset="0"/>
            </a:endParaRPr>
          </a:p>
        </p:txBody>
      </p:sp>
      <p:sp>
        <p:nvSpPr>
          <p:cNvPr id="4" name="Slide Number Placeholder 3"/>
          <p:cNvSpPr>
            <a:spLocks noGrp="1"/>
          </p:cNvSpPr>
          <p:nvPr>
            <p:ph type="sldNum" sz="quarter" idx="12"/>
          </p:nvPr>
        </p:nvSpPr>
        <p:spPr/>
        <p:txBody>
          <a:bodyPr/>
          <a:lstStyle/>
          <a:p>
            <a:fld id="{5E3E23BA-6E79-2442-BA73-D218A5E297C3}" type="slidenum">
              <a:rPr lang="en-US" sz="1800" smtClean="0"/>
              <a:t>61</a:t>
            </a:fld>
            <a:endParaRPr lang="en-US" sz="1800"/>
          </a:p>
        </p:txBody>
      </p:sp>
      <p:sp>
        <p:nvSpPr>
          <p:cNvPr id="9" name="Rectángulo 8">
            <a:extLst>
              <a:ext uri="{FF2B5EF4-FFF2-40B4-BE49-F238E27FC236}">
                <a16:creationId xmlns:a16="http://schemas.microsoft.com/office/drawing/2014/main" id="{27446C75-A282-B9E2-51CC-81B1CA29C73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6FC31C3C-5754-ECCE-F7CE-93B88EAAEE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Clases online de Aprende probabilidad | LinkedIn Learning, antes Lynda.com">
            <a:extLst>
              <a:ext uri="{FF2B5EF4-FFF2-40B4-BE49-F238E27FC236}">
                <a16:creationId xmlns:a16="http://schemas.microsoft.com/office/drawing/2014/main" id="{0973C567-D3DB-9088-42C3-8E55676F8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04106" y="3198210"/>
            <a:ext cx="3157555" cy="1776125"/>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5BD568FC-3CB8-8557-BFEF-D5A472D2D560}"/>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7563919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87D5997-28F3-EC8A-213B-5E89C41FD075}"/>
              </a:ext>
            </a:extLst>
          </p:cNvPr>
          <p:cNvSpPr>
            <a:spLocks noGrp="1"/>
          </p:cNvSpPr>
          <p:nvPr>
            <p:ph type="title"/>
          </p:nvPr>
        </p:nvSpPr>
        <p:spPr/>
        <p:txBody>
          <a:bodyPr>
            <a:normAutofit/>
          </a:bodyPr>
          <a:lstStyle/>
          <a:p>
            <a:r>
              <a:rPr lang="es-ES_tradnl" dirty="0">
                <a:latin typeface="Century Gothic" panose="020B0502020202020204" pitchFamily="34" charset="0"/>
              </a:rPr>
              <a:t>Árboles de Decisión</a:t>
            </a:r>
          </a:p>
        </p:txBody>
      </p:sp>
      <p:sp>
        <p:nvSpPr>
          <p:cNvPr id="55" name="Content Placeholder 2">
            <a:extLst>
              <a:ext uri="{FF2B5EF4-FFF2-40B4-BE49-F238E27FC236}">
                <a16:creationId xmlns:a16="http://schemas.microsoft.com/office/drawing/2014/main" id="{06ED3914-1160-E068-5EFA-6F79BA7334C2}"/>
              </a:ext>
            </a:extLst>
          </p:cNvPr>
          <p:cNvSpPr>
            <a:spLocks noGrp="1"/>
          </p:cNvSpPr>
          <p:nvPr>
            <p:ph idx="1"/>
          </p:nvPr>
        </p:nvSpPr>
        <p:spPr>
          <a:xfrm>
            <a:off x="581192" y="2180496"/>
            <a:ext cx="3143265" cy="996091"/>
          </a:xfrm>
        </p:spPr>
        <p:txBody>
          <a:bodyPr>
            <a:normAutofit/>
          </a:bodyPr>
          <a:lstStyle/>
          <a:p>
            <a:pPr marL="0" indent="0" algn="ctr">
              <a:buNone/>
            </a:pPr>
            <a:r>
              <a:rPr lang="es-MX" sz="1600" b="1" dirty="0">
                <a:solidFill>
                  <a:srgbClr val="C00000"/>
                </a:solidFill>
                <a:latin typeface="Century Gothic" panose="020B0502020202020204" pitchFamily="34" charset="0"/>
              </a:rPr>
              <a:t>¿Cómo manejaría la concesión?</a:t>
            </a:r>
            <a:endParaRPr lang="es-CO" sz="1600" b="1" dirty="0">
              <a:solidFill>
                <a:srgbClr val="C00000"/>
              </a:solidFill>
              <a:latin typeface="Century Gothic" panose="020B0502020202020204" pitchFamily="34" charset="0"/>
            </a:endParaRPr>
          </a:p>
        </p:txBody>
      </p:sp>
      <p:sp>
        <p:nvSpPr>
          <p:cNvPr id="4" name="Slide Number Placeholder 3"/>
          <p:cNvSpPr>
            <a:spLocks noGrp="1"/>
          </p:cNvSpPr>
          <p:nvPr>
            <p:ph type="sldNum" sz="quarter" idx="12"/>
          </p:nvPr>
        </p:nvSpPr>
        <p:spPr/>
        <p:txBody>
          <a:bodyPr/>
          <a:lstStyle/>
          <a:p>
            <a:fld id="{5E3E23BA-6E79-2442-BA73-D218A5E297C3}" type="slidenum">
              <a:rPr lang="en-US" sz="1800" smtClean="0"/>
              <a:t>62</a:t>
            </a:fld>
            <a:endParaRPr lang="en-US" sz="1800"/>
          </a:p>
        </p:txBody>
      </p:sp>
      <p:sp>
        <p:nvSpPr>
          <p:cNvPr id="9" name="Rectangle 8"/>
          <p:cNvSpPr/>
          <p:nvPr/>
        </p:nvSpPr>
        <p:spPr>
          <a:xfrm>
            <a:off x="1853893" y="4856891"/>
            <a:ext cx="345143" cy="34514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524001" y="4539335"/>
            <a:ext cx="990977"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¿Licitamos?</a:t>
            </a:r>
          </a:p>
        </p:txBody>
      </p:sp>
      <p:sp>
        <p:nvSpPr>
          <p:cNvPr id="13" name="Oval 12"/>
          <p:cNvSpPr/>
          <p:nvPr/>
        </p:nvSpPr>
        <p:spPr>
          <a:xfrm>
            <a:off x="3240122" y="4539335"/>
            <a:ext cx="358927" cy="3589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9" idx="3"/>
            <a:endCxn id="13" idx="2"/>
          </p:cNvCxnSpPr>
          <p:nvPr/>
        </p:nvCxnSpPr>
        <p:spPr>
          <a:xfrm flipV="1">
            <a:off x="2199035" y="4718798"/>
            <a:ext cx="1041086" cy="310664"/>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9" idx="3"/>
          </p:cNvCxnSpPr>
          <p:nvPr/>
        </p:nvCxnSpPr>
        <p:spPr>
          <a:xfrm>
            <a:off x="2199035" y="5029463"/>
            <a:ext cx="1041086" cy="669577"/>
          </a:xfrm>
          <a:prstGeom prst="line">
            <a:avLst/>
          </a:prstGeom>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656297" y="4829736"/>
            <a:ext cx="284052"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Sí</a:t>
            </a:r>
          </a:p>
        </p:txBody>
      </p:sp>
      <p:sp>
        <p:nvSpPr>
          <p:cNvPr id="23" name="TextBox 22"/>
          <p:cNvSpPr txBox="1"/>
          <p:nvPr/>
        </p:nvSpPr>
        <p:spPr>
          <a:xfrm>
            <a:off x="2549146" y="5436708"/>
            <a:ext cx="38183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No</a:t>
            </a:r>
          </a:p>
        </p:txBody>
      </p:sp>
      <p:sp>
        <p:nvSpPr>
          <p:cNvPr id="24" name="TextBox 23"/>
          <p:cNvSpPr txBox="1"/>
          <p:nvPr/>
        </p:nvSpPr>
        <p:spPr>
          <a:xfrm>
            <a:off x="2805901" y="4022066"/>
            <a:ext cx="1152880" cy="430887"/>
          </a:xfrm>
          <a:prstGeom prst="rect">
            <a:avLst/>
          </a:prstGeom>
          <a:noFill/>
        </p:spPr>
        <p:txBody>
          <a:bodyPr wrap="none" rtlCol="0">
            <a:spAutoFit/>
          </a:bodyPr>
          <a:lstStyle/>
          <a:p>
            <a:pPr algn="ctr"/>
            <a:r>
              <a:rPr lang="es-ES_tradnl" sz="1100" i="1" dirty="0">
                <a:solidFill>
                  <a:schemeClr val="accent1"/>
                </a:solidFill>
                <a:latin typeface="Century Gothic" panose="020B0502020202020204" pitchFamily="34" charset="0"/>
              </a:rPr>
              <a:t>¿Ganamos la </a:t>
            </a:r>
          </a:p>
          <a:p>
            <a:pPr algn="ctr"/>
            <a:r>
              <a:rPr lang="es-ES_tradnl" sz="1100" i="1" dirty="0">
                <a:solidFill>
                  <a:schemeClr val="accent1"/>
                </a:solidFill>
                <a:latin typeface="Century Gothic" panose="020B0502020202020204" pitchFamily="34" charset="0"/>
              </a:rPr>
              <a:t>licitación?</a:t>
            </a:r>
          </a:p>
        </p:txBody>
      </p:sp>
      <p:cxnSp>
        <p:nvCxnSpPr>
          <p:cNvPr id="25" name="Straight Connector 24"/>
          <p:cNvCxnSpPr>
            <a:stCxn id="13" idx="6"/>
          </p:cNvCxnSpPr>
          <p:nvPr/>
        </p:nvCxnSpPr>
        <p:spPr>
          <a:xfrm flipV="1">
            <a:off x="3599048" y="3862876"/>
            <a:ext cx="948218" cy="855922"/>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p:cNvCxnSpPr>
            <a:stCxn id="13" idx="6"/>
          </p:cNvCxnSpPr>
          <p:nvPr/>
        </p:nvCxnSpPr>
        <p:spPr>
          <a:xfrm>
            <a:off x="3599048" y="4718799"/>
            <a:ext cx="948218" cy="980241"/>
          </a:xfrm>
          <a:prstGeom prst="line">
            <a:avLst/>
          </a:prstGeom>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229467" y="4166656"/>
            <a:ext cx="284052"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Sí</a:t>
            </a:r>
          </a:p>
        </p:txBody>
      </p:sp>
      <p:sp>
        <p:nvSpPr>
          <p:cNvPr id="34" name="TextBox 33"/>
          <p:cNvSpPr txBox="1"/>
          <p:nvPr/>
        </p:nvSpPr>
        <p:spPr>
          <a:xfrm>
            <a:off x="4122316" y="5699040"/>
            <a:ext cx="38183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No</a:t>
            </a:r>
          </a:p>
        </p:txBody>
      </p:sp>
      <p:sp>
        <p:nvSpPr>
          <p:cNvPr id="36" name="TextBox 35"/>
          <p:cNvSpPr txBox="1"/>
          <p:nvPr/>
        </p:nvSpPr>
        <p:spPr>
          <a:xfrm>
            <a:off x="3290853" y="5673151"/>
            <a:ext cx="341760" cy="261610"/>
          </a:xfrm>
          <a:prstGeom prst="rect">
            <a:avLst/>
          </a:prstGeom>
          <a:noFill/>
        </p:spPr>
        <p:txBody>
          <a:bodyPr wrap="none" rtlCol="0">
            <a:spAutoFit/>
          </a:bodyPr>
          <a:lstStyle/>
          <a:p>
            <a:r>
              <a:rPr lang="es-ES_tradnl" sz="1100" b="1" i="1" dirty="0">
                <a:solidFill>
                  <a:srgbClr val="C00000"/>
                </a:solidFill>
                <a:latin typeface="Century Gothic" panose="020B0502020202020204" pitchFamily="34" charset="0"/>
              </a:rPr>
              <a:t>$0</a:t>
            </a:r>
          </a:p>
        </p:txBody>
      </p:sp>
      <p:sp>
        <p:nvSpPr>
          <p:cNvPr id="37" name="TextBox 36"/>
          <p:cNvSpPr txBox="1"/>
          <p:nvPr/>
        </p:nvSpPr>
        <p:spPr>
          <a:xfrm>
            <a:off x="4547266" y="5575207"/>
            <a:ext cx="676788" cy="261610"/>
          </a:xfrm>
          <a:prstGeom prst="rect">
            <a:avLst/>
          </a:prstGeom>
          <a:noFill/>
        </p:spPr>
        <p:txBody>
          <a:bodyPr wrap="none" rtlCol="0">
            <a:spAutoFit/>
          </a:bodyPr>
          <a:lstStyle/>
          <a:p>
            <a:r>
              <a:rPr lang="es-ES_tradnl" sz="1100" b="1" i="1" dirty="0">
                <a:solidFill>
                  <a:srgbClr val="C00000"/>
                </a:solidFill>
                <a:latin typeface="Century Gothic" panose="020B0502020202020204" pitchFamily="34" charset="0"/>
              </a:rPr>
              <a:t>-$1.000</a:t>
            </a:r>
          </a:p>
        </p:txBody>
      </p:sp>
      <p:sp>
        <p:nvSpPr>
          <p:cNvPr id="38" name="TextBox 37"/>
          <p:cNvSpPr txBox="1"/>
          <p:nvPr/>
        </p:nvSpPr>
        <p:spPr>
          <a:xfrm>
            <a:off x="3857112" y="5298208"/>
            <a:ext cx="405880"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4/5</a:t>
            </a:r>
          </a:p>
        </p:txBody>
      </p:sp>
      <p:sp>
        <p:nvSpPr>
          <p:cNvPr id="39" name="TextBox 38"/>
          <p:cNvSpPr txBox="1"/>
          <p:nvPr/>
        </p:nvSpPr>
        <p:spPr>
          <a:xfrm>
            <a:off x="3850356" y="3862877"/>
            <a:ext cx="405880"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1/5</a:t>
            </a:r>
          </a:p>
        </p:txBody>
      </p:sp>
      <p:sp>
        <p:nvSpPr>
          <p:cNvPr id="41" name="TextBox 40"/>
          <p:cNvSpPr txBox="1"/>
          <p:nvPr/>
        </p:nvSpPr>
        <p:spPr>
          <a:xfrm>
            <a:off x="3891274" y="3176587"/>
            <a:ext cx="1308371" cy="430887"/>
          </a:xfrm>
          <a:prstGeom prst="rect">
            <a:avLst/>
          </a:prstGeom>
          <a:noFill/>
        </p:spPr>
        <p:txBody>
          <a:bodyPr wrap="none" rtlCol="0">
            <a:spAutoFit/>
          </a:bodyPr>
          <a:lstStyle/>
          <a:p>
            <a:pPr algn="ctr"/>
            <a:r>
              <a:rPr lang="es-ES_tradnl" sz="1100" i="1" dirty="0">
                <a:solidFill>
                  <a:schemeClr val="accent1"/>
                </a:solidFill>
                <a:latin typeface="Century Gothic" panose="020B0502020202020204" pitchFamily="34" charset="0"/>
              </a:rPr>
              <a:t>¿Cómo manejo </a:t>
            </a:r>
          </a:p>
          <a:p>
            <a:pPr algn="ctr"/>
            <a:r>
              <a:rPr lang="es-ES_tradnl" sz="1100" i="1" dirty="0">
                <a:solidFill>
                  <a:schemeClr val="accent1"/>
                </a:solidFill>
                <a:latin typeface="Century Gothic" panose="020B0502020202020204" pitchFamily="34" charset="0"/>
              </a:rPr>
              <a:t>la concesión?</a:t>
            </a:r>
          </a:p>
        </p:txBody>
      </p:sp>
      <p:sp>
        <p:nvSpPr>
          <p:cNvPr id="3" name="Rectángulo 2">
            <a:extLst>
              <a:ext uri="{FF2B5EF4-FFF2-40B4-BE49-F238E27FC236}">
                <a16:creationId xmlns:a16="http://schemas.microsoft.com/office/drawing/2014/main" id="{32B05DB8-BBD1-61AF-F897-E82857768F8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987D329D-CD5B-343D-56CF-31306D5D98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9">
            <a:extLst>
              <a:ext uri="{FF2B5EF4-FFF2-40B4-BE49-F238E27FC236}">
                <a16:creationId xmlns:a16="http://schemas.microsoft.com/office/drawing/2014/main" id="{A440A21B-31F5-3732-9636-6E08BCEB06D6}"/>
              </a:ext>
            </a:extLst>
          </p:cNvPr>
          <p:cNvSpPr/>
          <p:nvPr/>
        </p:nvSpPr>
        <p:spPr>
          <a:xfrm>
            <a:off x="4559668" y="3690305"/>
            <a:ext cx="345143" cy="34514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41">
            <a:extLst>
              <a:ext uri="{FF2B5EF4-FFF2-40B4-BE49-F238E27FC236}">
                <a16:creationId xmlns:a16="http://schemas.microsoft.com/office/drawing/2014/main" id="{0D2EE247-E139-BC91-D3C2-38BA3E46EE3F}"/>
              </a:ext>
            </a:extLst>
          </p:cNvPr>
          <p:cNvCxnSpPr>
            <a:stCxn id="2" idx="3"/>
          </p:cNvCxnSpPr>
          <p:nvPr/>
        </p:nvCxnSpPr>
        <p:spPr>
          <a:xfrm flipV="1">
            <a:off x="4904810" y="2178576"/>
            <a:ext cx="1478504" cy="1684300"/>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58">
            <a:extLst>
              <a:ext uri="{FF2B5EF4-FFF2-40B4-BE49-F238E27FC236}">
                <a16:creationId xmlns:a16="http://schemas.microsoft.com/office/drawing/2014/main" id="{A17B9839-5F44-86AF-5743-84A5289E7523}"/>
              </a:ext>
            </a:extLst>
          </p:cNvPr>
          <p:cNvSpPr txBox="1"/>
          <p:nvPr/>
        </p:nvSpPr>
        <p:spPr>
          <a:xfrm>
            <a:off x="5123094" y="2591002"/>
            <a:ext cx="71846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Soacha</a:t>
            </a:r>
          </a:p>
        </p:txBody>
      </p:sp>
      <p:sp>
        <p:nvSpPr>
          <p:cNvPr id="14" name="TextBox 61">
            <a:extLst>
              <a:ext uri="{FF2B5EF4-FFF2-40B4-BE49-F238E27FC236}">
                <a16:creationId xmlns:a16="http://schemas.microsoft.com/office/drawing/2014/main" id="{9AC4FD1A-2642-AF82-FB9E-C75D81CDF307}"/>
              </a:ext>
            </a:extLst>
          </p:cNvPr>
          <p:cNvSpPr txBox="1"/>
          <p:nvPr/>
        </p:nvSpPr>
        <p:spPr>
          <a:xfrm>
            <a:off x="6430588" y="2039658"/>
            <a:ext cx="2714205" cy="261610"/>
          </a:xfrm>
          <a:prstGeom prst="rect">
            <a:avLst/>
          </a:prstGeom>
          <a:noFill/>
        </p:spPr>
        <p:txBody>
          <a:bodyPr wrap="none" rtlCol="0">
            <a:spAutoFit/>
          </a:bodyPr>
          <a:lstStyle/>
          <a:p>
            <a:r>
              <a:rPr lang="es-ES_tradnl" sz="1100" b="1" i="1" dirty="0">
                <a:solidFill>
                  <a:srgbClr val="C00000"/>
                </a:solidFill>
                <a:latin typeface="Century Gothic" panose="020B0502020202020204" pitchFamily="34" charset="0"/>
              </a:rPr>
              <a:t>$125.486 - $118.000 - $1.000 = $6.486 </a:t>
            </a:r>
          </a:p>
        </p:txBody>
      </p:sp>
      <p:cxnSp>
        <p:nvCxnSpPr>
          <p:cNvPr id="17" name="Straight Connector 44">
            <a:extLst>
              <a:ext uri="{FF2B5EF4-FFF2-40B4-BE49-F238E27FC236}">
                <a16:creationId xmlns:a16="http://schemas.microsoft.com/office/drawing/2014/main" id="{72EF1A67-84FD-D76B-19A0-D55DA7FE770F}"/>
              </a:ext>
            </a:extLst>
          </p:cNvPr>
          <p:cNvCxnSpPr>
            <a:endCxn id="18" idx="2"/>
          </p:cNvCxnSpPr>
          <p:nvPr/>
        </p:nvCxnSpPr>
        <p:spPr>
          <a:xfrm>
            <a:off x="4904811" y="3862877"/>
            <a:ext cx="1814685" cy="13827"/>
          </a:xfrm>
          <a:prstGeom prst="line">
            <a:avLst/>
          </a:prstGeom>
        </p:spPr>
        <p:style>
          <a:lnRef idx="2">
            <a:schemeClr val="accent1"/>
          </a:lnRef>
          <a:fillRef idx="0">
            <a:schemeClr val="accent1"/>
          </a:fillRef>
          <a:effectRef idx="1">
            <a:schemeClr val="accent1"/>
          </a:effectRef>
          <a:fontRef idx="minor">
            <a:schemeClr val="tx1"/>
          </a:fontRef>
        </p:style>
      </p:cxnSp>
      <p:sp>
        <p:nvSpPr>
          <p:cNvPr id="18" name="Oval 52">
            <a:extLst>
              <a:ext uri="{FF2B5EF4-FFF2-40B4-BE49-F238E27FC236}">
                <a16:creationId xmlns:a16="http://schemas.microsoft.com/office/drawing/2014/main" id="{41B1BA45-3F71-6742-7B43-6298ADD39D38}"/>
              </a:ext>
            </a:extLst>
          </p:cNvPr>
          <p:cNvSpPr/>
          <p:nvPr/>
        </p:nvSpPr>
        <p:spPr>
          <a:xfrm>
            <a:off x="6719496" y="3697240"/>
            <a:ext cx="358927" cy="3589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59">
            <a:extLst>
              <a:ext uri="{FF2B5EF4-FFF2-40B4-BE49-F238E27FC236}">
                <a16:creationId xmlns:a16="http://schemas.microsoft.com/office/drawing/2014/main" id="{ECDDA31B-4651-9B28-7DCC-E3F9F55AC8EE}"/>
              </a:ext>
            </a:extLst>
          </p:cNvPr>
          <p:cNvSpPr txBox="1"/>
          <p:nvPr/>
        </p:nvSpPr>
        <p:spPr>
          <a:xfrm>
            <a:off x="5618950" y="3833507"/>
            <a:ext cx="68640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México</a:t>
            </a:r>
          </a:p>
        </p:txBody>
      </p:sp>
      <p:cxnSp>
        <p:nvCxnSpPr>
          <p:cNvPr id="20" name="Straight Connector 64">
            <a:extLst>
              <a:ext uri="{FF2B5EF4-FFF2-40B4-BE49-F238E27FC236}">
                <a16:creationId xmlns:a16="http://schemas.microsoft.com/office/drawing/2014/main" id="{E0334D37-50C5-EA96-B396-EE3CEB96AEB4}"/>
              </a:ext>
            </a:extLst>
          </p:cNvPr>
          <p:cNvCxnSpPr/>
          <p:nvPr/>
        </p:nvCxnSpPr>
        <p:spPr>
          <a:xfrm flipV="1">
            <a:off x="7078423" y="3292222"/>
            <a:ext cx="904891" cy="563762"/>
          </a:xfrm>
          <a:prstGeom prst="line">
            <a:avLst/>
          </a:prstGeom>
        </p:spPr>
        <p:style>
          <a:lnRef idx="2">
            <a:schemeClr val="accent1"/>
          </a:lnRef>
          <a:fillRef idx="0">
            <a:schemeClr val="accent1"/>
          </a:fillRef>
          <a:effectRef idx="1">
            <a:schemeClr val="accent1"/>
          </a:effectRef>
          <a:fontRef idx="minor">
            <a:schemeClr val="tx1"/>
          </a:fontRef>
        </p:style>
      </p:cxnSp>
      <p:sp>
        <p:nvSpPr>
          <p:cNvPr id="21" name="TextBox 66">
            <a:extLst>
              <a:ext uri="{FF2B5EF4-FFF2-40B4-BE49-F238E27FC236}">
                <a16:creationId xmlns:a16="http://schemas.microsoft.com/office/drawing/2014/main" id="{F5642F0D-F593-576B-0685-28958406507B}"/>
              </a:ext>
            </a:extLst>
          </p:cNvPr>
          <p:cNvSpPr txBox="1"/>
          <p:nvPr/>
        </p:nvSpPr>
        <p:spPr>
          <a:xfrm>
            <a:off x="6393352" y="3352593"/>
            <a:ext cx="1031051" cy="261610"/>
          </a:xfrm>
          <a:prstGeom prst="rect">
            <a:avLst/>
          </a:prstGeom>
          <a:noFill/>
        </p:spPr>
        <p:txBody>
          <a:bodyPr wrap="none" rtlCol="0">
            <a:spAutoFit/>
          </a:bodyPr>
          <a:lstStyle/>
          <a:p>
            <a:pPr algn="ctr"/>
            <a:r>
              <a:rPr lang="es-ES_tradnl" sz="1100" i="1" dirty="0">
                <a:solidFill>
                  <a:schemeClr val="accent1"/>
                </a:solidFill>
                <a:latin typeface="Century Gothic" panose="020B0502020202020204" pitchFamily="34" charset="0"/>
              </a:rPr>
              <a:t>¿Hay Fallas?</a:t>
            </a:r>
          </a:p>
        </p:txBody>
      </p:sp>
      <p:cxnSp>
        <p:nvCxnSpPr>
          <p:cNvPr id="26" name="Straight Connector 69">
            <a:extLst>
              <a:ext uri="{FF2B5EF4-FFF2-40B4-BE49-F238E27FC236}">
                <a16:creationId xmlns:a16="http://schemas.microsoft.com/office/drawing/2014/main" id="{5501A5BB-114F-56E0-E197-3D3768780FCE}"/>
              </a:ext>
            </a:extLst>
          </p:cNvPr>
          <p:cNvCxnSpPr>
            <a:stCxn id="18" idx="6"/>
          </p:cNvCxnSpPr>
          <p:nvPr/>
        </p:nvCxnSpPr>
        <p:spPr>
          <a:xfrm>
            <a:off x="7078423" y="3876703"/>
            <a:ext cx="904891" cy="469374"/>
          </a:xfrm>
          <a:prstGeom prst="line">
            <a:avLst/>
          </a:prstGeom>
        </p:spPr>
        <p:style>
          <a:lnRef idx="2">
            <a:schemeClr val="accent1"/>
          </a:lnRef>
          <a:fillRef idx="0">
            <a:schemeClr val="accent1"/>
          </a:fillRef>
          <a:effectRef idx="1">
            <a:schemeClr val="accent1"/>
          </a:effectRef>
          <a:fontRef idx="minor">
            <a:schemeClr val="tx1"/>
          </a:fontRef>
        </p:style>
      </p:cxnSp>
      <p:sp>
        <p:nvSpPr>
          <p:cNvPr id="27" name="TextBox 73">
            <a:extLst>
              <a:ext uri="{FF2B5EF4-FFF2-40B4-BE49-F238E27FC236}">
                <a16:creationId xmlns:a16="http://schemas.microsoft.com/office/drawing/2014/main" id="{28DD414B-BBD3-6741-B412-B78F7A7E0972}"/>
              </a:ext>
            </a:extLst>
          </p:cNvPr>
          <p:cNvSpPr txBox="1"/>
          <p:nvPr/>
        </p:nvSpPr>
        <p:spPr>
          <a:xfrm>
            <a:off x="8030547" y="3038971"/>
            <a:ext cx="3706826" cy="261610"/>
          </a:xfrm>
          <a:prstGeom prst="rect">
            <a:avLst/>
          </a:prstGeom>
          <a:noFill/>
        </p:spPr>
        <p:txBody>
          <a:bodyPr wrap="square" rtlCol="0">
            <a:spAutoFit/>
          </a:bodyPr>
          <a:lstStyle/>
          <a:p>
            <a:r>
              <a:rPr lang="es-ES_tradnl" sz="1100" b="1" i="1" dirty="0">
                <a:solidFill>
                  <a:srgbClr val="C00000"/>
                </a:solidFill>
                <a:latin typeface="Century Gothic" panose="020B0502020202020204" pitchFamily="34" charset="0"/>
              </a:rPr>
              <a:t>$125.486 - $85.000 - $1.000 - $57.000 = -$17.514</a:t>
            </a:r>
          </a:p>
        </p:txBody>
      </p:sp>
      <p:sp>
        <p:nvSpPr>
          <p:cNvPr id="29" name="TextBox 74">
            <a:extLst>
              <a:ext uri="{FF2B5EF4-FFF2-40B4-BE49-F238E27FC236}">
                <a16:creationId xmlns:a16="http://schemas.microsoft.com/office/drawing/2014/main" id="{E0BD1D7C-2049-AFE1-5FFD-65227E390633}"/>
              </a:ext>
            </a:extLst>
          </p:cNvPr>
          <p:cNvSpPr txBox="1"/>
          <p:nvPr/>
        </p:nvSpPr>
        <p:spPr>
          <a:xfrm>
            <a:off x="8030545" y="4166656"/>
            <a:ext cx="3256579" cy="261610"/>
          </a:xfrm>
          <a:prstGeom prst="rect">
            <a:avLst/>
          </a:prstGeom>
          <a:noFill/>
        </p:spPr>
        <p:txBody>
          <a:bodyPr wrap="square" rtlCol="0">
            <a:spAutoFit/>
          </a:bodyPr>
          <a:lstStyle/>
          <a:p>
            <a:r>
              <a:rPr lang="es-ES_tradnl" sz="1100" b="1" i="1" dirty="0">
                <a:solidFill>
                  <a:srgbClr val="C00000"/>
                </a:solidFill>
                <a:latin typeface="Century Gothic" panose="020B0502020202020204" pitchFamily="34" charset="0"/>
              </a:rPr>
              <a:t>$125.486 - $85.000 - $1.000 = $39.486</a:t>
            </a:r>
          </a:p>
        </p:txBody>
      </p:sp>
      <p:sp>
        <p:nvSpPr>
          <p:cNvPr id="30" name="TextBox 75">
            <a:extLst>
              <a:ext uri="{FF2B5EF4-FFF2-40B4-BE49-F238E27FC236}">
                <a16:creationId xmlns:a16="http://schemas.microsoft.com/office/drawing/2014/main" id="{99C32D75-8785-CB28-D1A3-53F7835FA2E0}"/>
              </a:ext>
            </a:extLst>
          </p:cNvPr>
          <p:cNvSpPr txBox="1"/>
          <p:nvPr/>
        </p:nvSpPr>
        <p:spPr>
          <a:xfrm>
            <a:off x="7475754" y="3500636"/>
            <a:ext cx="463588"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40%</a:t>
            </a:r>
          </a:p>
        </p:txBody>
      </p:sp>
      <p:sp>
        <p:nvSpPr>
          <p:cNvPr id="31" name="TextBox 76">
            <a:extLst>
              <a:ext uri="{FF2B5EF4-FFF2-40B4-BE49-F238E27FC236}">
                <a16:creationId xmlns:a16="http://schemas.microsoft.com/office/drawing/2014/main" id="{233EE703-6076-4C32-C784-C6118AB0CB1B}"/>
              </a:ext>
            </a:extLst>
          </p:cNvPr>
          <p:cNvSpPr txBox="1"/>
          <p:nvPr/>
        </p:nvSpPr>
        <p:spPr>
          <a:xfrm>
            <a:off x="7468269" y="3827911"/>
            <a:ext cx="463588"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60%</a:t>
            </a:r>
          </a:p>
        </p:txBody>
      </p:sp>
      <p:sp>
        <p:nvSpPr>
          <p:cNvPr id="32" name="TextBox 90">
            <a:extLst>
              <a:ext uri="{FF2B5EF4-FFF2-40B4-BE49-F238E27FC236}">
                <a16:creationId xmlns:a16="http://schemas.microsoft.com/office/drawing/2014/main" id="{69DFA06C-E488-F8FC-DD27-8F69CDF0C122}"/>
              </a:ext>
            </a:extLst>
          </p:cNvPr>
          <p:cNvSpPr txBox="1"/>
          <p:nvPr/>
        </p:nvSpPr>
        <p:spPr>
          <a:xfrm>
            <a:off x="7468269" y="3176587"/>
            <a:ext cx="284052"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Sí</a:t>
            </a:r>
          </a:p>
        </p:txBody>
      </p:sp>
      <p:sp>
        <p:nvSpPr>
          <p:cNvPr id="35" name="TextBox 91">
            <a:extLst>
              <a:ext uri="{FF2B5EF4-FFF2-40B4-BE49-F238E27FC236}">
                <a16:creationId xmlns:a16="http://schemas.microsoft.com/office/drawing/2014/main" id="{0A1ED2A2-A128-EBBC-874F-D939C3C4054E}"/>
              </a:ext>
            </a:extLst>
          </p:cNvPr>
          <p:cNvSpPr txBox="1"/>
          <p:nvPr/>
        </p:nvSpPr>
        <p:spPr>
          <a:xfrm>
            <a:off x="7443448" y="4207578"/>
            <a:ext cx="38183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No</a:t>
            </a:r>
          </a:p>
        </p:txBody>
      </p:sp>
      <p:cxnSp>
        <p:nvCxnSpPr>
          <p:cNvPr id="40" name="Straight Connector 48">
            <a:extLst>
              <a:ext uri="{FF2B5EF4-FFF2-40B4-BE49-F238E27FC236}">
                <a16:creationId xmlns:a16="http://schemas.microsoft.com/office/drawing/2014/main" id="{C11AA1AF-C17F-3E8B-B0D4-675C057811D6}"/>
              </a:ext>
            </a:extLst>
          </p:cNvPr>
          <p:cNvCxnSpPr>
            <a:endCxn id="43" idx="2"/>
          </p:cNvCxnSpPr>
          <p:nvPr/>
        </p:nvCxnSpPr>
        <p:spPr>
          <a:xfrm>
            <a:off x="4904811" y="3862876"/>
            <a:ext cx="1703059" cy="1712330"/>
          </a:xfrm>
          <a:prstGeom prst="line">
            <a:avLst/>
          </a:prstGeom>
        </p:spPr>
        <p:style>
          <a:lnRef idx="2">
            <a:schemeClr val="accent1"/>
          </a:lnRef>
          <a:fillRef idx="0">
            <a:schemeClr val="accent1"/>
          </a:fillRef>
          <a:effectRef idx="1">
            <a:schemeClr val="accent1"/>
          </a:effectRef>
          <a:fontRef idx="minor">
            <a:schemeClr val="tx1"/>
          </a:fontRef>
        </p:style>
      </p:cxnSp>
      <p:sp>
        <p:nvSpPr>
          <p:cNvPr id="42" name="TextBox 60">
            <a:extLst>
              <a:ext uri="{FF2B5EF4-FFF2-40B4-BE49-F238E27FC236}">
                <a16:creationId xmlns:a16="http://schemas.microsoft.com/office/drawing/2014/main" id="{61138126-AB79-1E39-3A10-6963E3251913}"/>
              </a:ext>
            </a:extLst>
          </p:cNvPr>
          <p:cNvSpPr txBox="1"/>
          <p:nvPr/>
        </p:nvSpPr>
        <p:spPr>
          <a:xfrm>
            <a:off x="5724439" y="4539334"/>
            <a:ext cx="843501"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Cemento</a:t>
            </a:r>
          </a:p>
        </p:txBody>
      </p:sp>
      <p:sp>
        <p:nvSpPr>
          <p:cNvPr id="43" name="Oval 79">
            <a:extLst>
              <a:ext uri="{FF2B5EF4-FFF2-40B4-BE49-F238E27FC236}">
                <a16:creationId xmlns:a16="http://schemas.microsoft.com/office/drawing/2014/main" id="{18B82CDE-457D-A42E-DA30-501F652816FC}"/>
              </a:ext>
            </a:extLst>
          </p:cNvPr>
          <p:cNvSpPr/>
          <p:nvPr/>
        </p:nvSpPr>
        <p:spPr>
          <a:xfrm>
            <a:off x="6607870" y="5395743"/>
            <a:ext cx="358927" cy="3589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Century Gothic" panose="020B0502020202020204" pitchFamily="34" charset="0"/>
            </a:endParaRPr>
          </a:p>
        </p:txBody>
      </p:sp>
      <p:cxnSp>
        <p:nvCxnSpPr>
          <p:cNvPr id="44" name="Straight Connector 80">
            <a:extLst>
              <a:ext uri="{FF2B5EF4-FFF2-40B4-BE49-F238E27FC236}">
                <a16:creationId xmlns:a16="http://schemas.microsoft.com/office/drawing/2014/main" id="{3AED6576-4A09-006E-D5EE-D93AD8B26BB6}"/>
              </a:ext>
            </a:extLst>
          </p:cNvPr>
          <p:cNvCxnSpPr/>
          <p:nvPr/>
        </p:nvCxnSpPr>
        <p:spPr>
          <a:xfrm flipV="1">
            <a:off x="6966797" y="4990725"/>
            <a:ext cx="904891" cy="563762"/>
          </a:xfrm>
          <a:prstGeom prst="line">
            <a:avLst/>
          </a:prstGeom>
        </p:spPr>
        <p:style>
          <a:lnRef idx="2">
            <a:schemeClr val="accent1"/>
          </a:lnRef>
          <a:fillRef idx="0">
            <a:schemeClr val="accent1"/>
          </a:fillRef>
          <a:effectRef idx="1">
            <a:schemeClr val="accent1"/>
          </a:effectRef>
          <a:fontRef idx="minor">
            <a:schemeClr val="tx1"/>
          </a:fontRef>
        </p:style>
      </p:cxnSp>
      <p:sp>
        <p:nvSpPr>
          <p:cNvPr id="45" name="TextBox 81">
            <a:extLst>
              <a:ext uri="{FF2B5EF4-FFF2-40B4-BE49-F238E27FC236}">
                <a16:creationId xmlns:a16="http://schemas.microsoft.com/office/drawing/2014/main" id="{518A3AF7-92F1-8033-9948-CB4A85E235E5}"/>
              </a:ext>
            </a:extLst>
          </p:cNvPr>
          <p:cNvSpPr txBox="1"/>
          <p:nvPr/>
        </p:nvSpPr>
        <p:spPr>
          <a:xfrm>
            <a:off x="6281726" y="5051096"/>
            <a:ext cx="1031051" cy="261610"/>
          </a:xfrm>
          <a:prstGeom prst="rect">
            <a:avLst/>
          </a:prstGeom>
          <a:noFill/>
        </p:spPr>
        <p:txBody>
          <a:bodyPr wrap="none" rtlCol="0">
            <a:spAutoFit/>
          </a:bodyPr>
          <a:lstStyle/>
          <a:p>
            <a:pPr algn="ctr"/>
            <a:r>
              <a:rPr lang="es-ES_tradnl" sz="1100" i="1" dirty="0">
                <a:solidFill>
                  <a:schemeClr val="accent1"/>
                </a:solidFill>
                <a:latin typeface="Century Gothic" panose="020B0502020202020204" pitchFamily="34" charset="0"/>
              </a:rPr>
              <a:t>¿Hay Fallas?</a:t>
            </a:r>
          </a:p>
        </p:txBody>
      </p:sp>
      <p:cxnSp>
        <p:nvCxnSpPr>
          <p:cNvPr id="46" name="Straight Connector 82">
            <a:extLst>
              <a:ext uri="{FF2B5EF4-FFF2-40B4-BE49-F238E27FC236}">
                <a16:creationId xmlns:a16="http://schemas.microsoft.com/office/drawing/2014/main" id="{C3046AF2-1C4E-64ED-7873-690EBAA44985}"/>
              </a:ext>
            </a:extLst>
          </p:cNvPr>
          <p:cNvCxnSpPr>
            <a:stCxn id="43" idx="6"/>
          </p:cNvCxnSpPr>
          <p:nvPr/>
        </p:nvCxnSpPr>
        <p:spPr>
          <a:xfrm>
            <a:off x="6966797" y="5575206"/>
            <a:ext cx="904891" cy="469374"/>
          </a:xfrm>
          <a:prstGeom prst="line">
            <a:avLst/>
          </a:prstGeom>
        </p:spPr>
        <p:style>
          <a:lnRef idx="2">
            <a:schemeClr val="accent1"/>
          </a:lnRef>
          <a:fillRef idx="0">
            <a:schemeClr val="accent1"/>
          </a:fillRef>
          <a:effectRef idx="1">
            <a:schemeClr val="accent1"/>
          </a:effectRef>
          <a:fontRef idx="minor">
            <a:schemeClr val="tx1"/>
          </a:fontRef>
        </p:style>
      </p:cxnSp>
      <p:sp>
        <p:nvSpPr>
          <p:cNvPr id="47" name="TextBox 83">
            <a:extLst>
              <a:ext uri="{FF2B5EF4-FFF2-40B4-BE49-F238E27FC236}">
                <a16:creationId xmlns:a16="http://schemas.microsoft.com/office/drawing/2014/main" id="{144A8C23-0D85-7EB3-0446-779C27551765}"/>
              </a:ext>
            </a:extLst>
          </p:cNvPr>
          <p:cNvSpPr txBox="1"/>
          <p:nvPr/>
        </p:nvSpPr>
        <p:spPr>
          <a:xfrm>
            <a:off x="7918919" y="4737474"/>
            <a:ext cx="3553944" cy="261610"/>
          </a:xfrm>
          <a:prstGeom prst="rect">
            <a:avLst/>
          </a:prstGeom>
          <a:noFill/>
        </p:spPr>
        <p:txBody>
          <a:bodyPr wrap="square" rtlCol="0">
            <a:spAutoFit/>
          </a:bodyPr>
          <a:lstStyle/>
          <a:p>
            <a:r>
              <a:rPr lang="es-ES_tradnl" sz="1100" b="1" i="1" dirty="0">
                <a:solidFill>
                  <a:srgbClr val="C00000"/>
                </a:solidFill>
                <a:latin typeface="Century Gothic" panose="020B0502020202020204" pitchFamily="34" charset="0"/>
              </a:rPr>
              <a:t>$125.486 - $110.000 - $1.000 - $28.000 = -$13.514</a:t>
            </a:r>
          </a:p>
        </p:txBody>
      </p:sp>
      <p:sp>
        <p:nvSpPr>
          <p:cNvPr id="48" name="TextBox 84">
            <a:extLst>
              <a:ext uri="{FF2B5EF4-FFF2-40B4-BE49-F238E27FC236}">
                <a16:creationId xmlns:a16="http://schemas.microsoft.com/office/drawing/2014/main" id="{BF527222-F504-C504-209C-7733977C6C19}"/>
              </a:ext>
            </a:extLst>
          </p:cNvPr>
          <p:cNvSpPr txBox="1"/>
          <p:nvPr/>
        </p:nvSpPr>
        <p:spPr>
          <a:xfrm>
            <a:off x="7918919" y="5865159"/>
            <a:ext cx="3025305" cy="261610"/>
          </a:xfrm>
          <a:prstGeom prst="rect">
            <a:avLst/>
          </a:prstGeom>
          <a:noFill/>
        </p:spPr>
        <p:txBody>
          <a:bodyPr wrap="square" rtlCol="0">
            <a:spAutoFit/>
          </a:bodyPr>
          <a:lstStyle/>
          <a:p>
            <a:r>
              <a:rPr lang="es-ES_tradnl" sz="1100" b="1" i="1" dirty="0">
                <a:solidFill>
                  <a:srgbClr val="C00000"/>
                </a:solidFill>
                <a:latin typeface="Century Gothic" panose="020B0502020202020204" pitchFamily="34" charset="0"/>
              </a:rPr>
              <a:t>$125.486 - $110.000 - $1.000  = $14.486</a:t>
            </a:r>
          </a:p>
        </p:txBody>
      </p:sp>
      <p:sp>
        <p:nvSpPr>
          <p:cNvPr id="49" name="TextBox 85">
            <a:extLst>
              <a:ext uri="{FF2B5EF4-FFF2-40B4-BE49-F238E27FC236}">
                <a16:creationId xmlns:a16="http://schemas.microsoft.com/office/drawing/2014/main" id="{5288A71F-FC4D-54A8-9183-C7846BB8821B}"/>
              </a:ext>
            </a:extLst>
          </p:cNvPr>
          <p:cNvSpPr txBox="1"/>
          <p:nvPr/>
        </p:nvSpPr>
        <p:spPr>
          <a:xfrm>
            <a:off x="7364128" y="5199139"/>
            <a:ext cx="463588"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20%</a:t>
            </a:r>
          </a:p>
        </p:txBody>
      </p:sp>
      <p:sp>
        <p:nvSpPr>
          <p:cNvPr id="50" name="TextBox 86">
            <a:extLst>
              <a:ext uri="{FF2B5EF4-FFF2-40B4-BE49-F238E27FC236}">
                <a16:creationId xmlns:a16="http://schemas.microsoft.com/office/drawing/2014/main" id="{EF9A0BE2-EA76-33F8-F368-ACB2DCDA2377}"/>
              </a:ext>
            </a:extLst>
          </p:cNvPr>
          <p:cNvSpPr txBox="1"/>
          <p:nvPr/>
        </p:nvSpPr>
        <p:spPr>
          <a:xfrm>
            <a:off x="7356643" y="5526414"/>
            <a:ext cx="463588"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80%</a:t>
            </a:r>
          </a:p>
        </p:txBody>
      </p:sp>
      <p:sp>
        <p:nvSpPr>
          <p:cNvPr id="51" name="TextBox 92">
            <a:extLst>
              <a:ext uri="{FF2B5EF4-FFF2-40B4-BE49-F238E27FC236}">
                <a16:creationId xmlns:a16="http://schemas.microsoft.com/office/drawing/2014/main" id="{C5B095D5-A878-DB25-11B1-743EBEA805F0}"/>
              </a:ext>
            </a:extLst>
          </p:cNvPr>
          <p:cNvSpPr txBox="1"/>
          <p:nvPr/>
        </p:nvSpPr>
        <p:spPr>
          <a:xfrm>
            <a:off x="7403232" y="4856891"/>
            <a:ext cx="284052"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Sí</a:t>
            </a:r>
          </a:p>
        </p:txBody>
      </p:sp>
      <p:sp>
        <p:nvSpPr>
          <p:cNvPr id="52" name="TextBox 93">
            <a:extLst>
              <a:ext uri="{FF2B5EF4-FFF2-40B4-BE49-F238E27FC236}">
                <a16:creationId xmlns:a16="http://schemas.microsoft.com/office/drawing/2014/main" id="{A08F9F32-A29D-69AD-BB85-73BFEF2A08D8}"/>
              </a:ext>
            </a:extLst>
          </p:cNvPr>
          <p:cNvSpPr txBox="1"/>
          <p:nvPr/>
        </p:nvSpPr>
        <p:spPr>
          <a:xfrm>
            <a:off x="7378411" y="5887882"/>
            <a:ext cx="38183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No</a:t>
            </a:r>
          </a:p>
        </p:txBody>
      </p:sp>
      <p:sp>
        <p:nvSpPr>
          <p:cNvPr id="53" name="TextBox 88">
            <a:extLst>
              <a:ext uri="{FF2B5EF4-FFF2-40B4-BE49-F238E27FC236}">
                <a16:creationId xmlns:a16="http://schemas.microsoft.com/office/drawing/2014/main" id="{39941A91-2085-AE98-04EB-9585A8D5EE6D}"/>
              </a:ext>
            </a:extLst>
          </p:cNvPr>
          <p:cNvSpPr txBox="1"/>
          <p:nvPr/>
        </p:nvSpPr>
        <p:spPr>
          <a:xfrm>
            <a:off x="6331370" y="4057538"/>
            <a:ext cx="1119217" cy="261610"/>
          </a:xfrm>
          <a:prstGeom prst="rect">
            <a:avLst/>
          </a:prstGeom>
          <a:noFill/>
        </p:spPr>
        <p:txBody>
          <a:bodyPr wrap="none" rtlCol="0">
            <a:spAutoFit/>
          </a:bodyPr>
          <a:lstStyle/>
          <a:p>
            <a:r>
              <a:rPr lang="es-ES_tradnl" sz="1100" b="1" i="1" dirty="0">
                <a:solidFill>
                  <a:srgbClr val="D7A700"/>
                </a:solidFill>
                <a:latin typeface="Century Gothic" panose="020B0502020202020204" pitchFamily="34" charset="0"/>
              </a:rPr>
              <a:t>E(x) = $16.686</a:t>
            </a:r>
          </a:p>
        </p:txBody>
      </p:sp>
      <p:sp>
        <p:nvSpPr>
          <p:cNvPr id="54" name="TextBox 89">
            <a:extLst>
              <a:ext uri="{FF2B5EF4-FFF2-40B4-BE49-F238E27FC236}">
                <a16:creationId xmlns:a16="http://schemas.microsoft.com/office/drawing/2014/main" id="{ADD89860-80CC-EA12-F83B-5E2BB5A0E984}"/>
              </a:ext>
            </a:extLst>
          </p:cNvPr>
          <p:cNvSpPr txBox="1"/>
          <p:nvPr/>
        </p:nvSpPr>
        <p:spPr>
          <a:xfrm>
            <a:off x="6261247" y="5778654"/>
            <a:ext cx="1040670" cy="261610"/>
          </a:xfrm>
          <a:prstGeom prst="rect">
            <a:avLst/>
          </a:prstGeom>
          <a:noFill/>
        </p:spPr>
        <p:txBody>
          <a:bodyPr wrap="none" rtlCol="0">
            <a:spAutoFit/>
          </a:bodyPr>
          <a:lstStyle/>
          <a:p>
            <a:r>
              <a:rPr lang="es-ES_tradnl" sz="1100" b="1" i="1" dirty="0">
                <a:solidFill>
                  <a:srgbClr val="D7A700"/>
                </a:solidFill>
                <a:latin typeface="Century Gothic" panose="020B0502020202020204" pitchFamily="34" charset="0"/>
              </a:rPr>
              <a:t>E(x) = $8.886</a:t>
            </a:r>
          </a:p>
        </p:txBody>
      </p:sp>
      <p:sp>
        <p:nvSpPr>
          <p:cNvPr id="56" name="Rectángulo 55">
            <a:extLst>
              <a:ext uri="{FF2B5EF4-FFF2-40B4-BE49-F238E27FC236}">
                <a16:creationId xmlns:a16="http://schemas.microsoft.com/office/drawing/2014/main" id="{2859B848-5388-DC78-1DF2-B9217061021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717569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dissolve">
                                      <p:cBhvr>
                                        <p:cTn id="7" dur="500"/>
                                        <p:tgtEl>
                                          <p:spTgt spid="42"/>
                                        </p:tgtEl>
                                      </p:cBhvr>
                                    </p:animEffect>
                                  </p:childTnLst>
                                </p:cTn>
                              </p:par>
                              <p:par>
                                <p:cTn id="8" presetID="9" presetClass="entr" presetSubtype="0" fill="hold"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dissolve">
                                      <p:cBhvr>
                                        <p:cTn id="10" dur="500"/>
                                        <p:tgtEl>
                                          <p:spTgt spid="40"/>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45"/>
                                        </p:tgtEl>
                                        <p:attrNameLst>
                                          <p:attrName>style.visibility</p:attrName>
                                        </p:attrNameLst>
                                      </p:cBhvr>
                                      <p:to>
                                        <p:strVal val="visible"/>
                                      </p:to>
                                    </p:set>
                                    <p:anim calcmode="lin" valueType="num">
                                      <p:cBhvr additive="base">
                                        <p:cTn id="15" dur="500" fill="hold"/>
                                        <p:tgtEl>
                                          <p:spTgt spid="45"/>
                                        </p:tgtEl>
                                        <p:attrNameLst>
                                          <p:attrName>ppt_x</p:attrName>
                                        </p:attrNameLst>
                                      </p:cBhvr>
                                      <p:tavLst>
                                        <p:tav tm="0">
                                          <p:val>
                                            <p:strVal val="#ppt_x"/>
                                          </p:val>
                                        </p:tav>
                                        <p:tav tm="100000">
                                          <p:val>
                                            <p:strVal val="#ppt_x"/>
                                          </p:val>
                                        </p:tav>
                                      </p:tavLst>
                                    </p:anim>
                                    <p:anim calcmode="lin" valueType="num">
                                      <p:cBhvr additive="base">
                                        <p:cTn id="16" dur="500" fill="hold"/>
                                        <p:tgtEl>
                                          <p:spTgt spid="4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anim calcmode="lin" valueType="num">
                                      <p:cBhvr additive="base">
                                        <p:cTn id="19" dur="500" fill="hold"/>
                                        <p:tgtEl>
                                          <p:spTgt spid="43"/>
                                        </p:tgtEl>
                                        <p:attrNameLst>
                                          <p:attrName>ppt_x</p:attrName>
                                        </p:attrNameLst>
                                      </p:cBhvr>
                                      <p:tavLst>
                                        <p:tav tm="0">
                                          <p:val>
                                            <p:strVal val="#ppt_x"/>
                                          </p:val>
                                        </p:tav>
                                        <p:tav tm="100000">
                                          <p:val>
                                            <p:strVal val="#ppt_x"/>
                                          </p:val>
                                        </p:tav>
                                      </p:tavLst>
                                    </p:anim>
                                    <p:anim calcmode="lin" valueType="num">
                                      <p:cBhvr additive="base">
                                        <p:cTn id="20"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51"/>
                                        </p:tgtEl>
                                        <p:attrNameLst>
                                          <p:attrName>style.visibility</p:attrName>
                                        </p:attrNameLst>
                                      </p:cBhvr>
                                      <p:to>
                                        <p:strVal val="visible"/>
                                      </p:to>
                                    </p:set>
                                    <p:animEffect transition="in" filter="checkerboard(across)">
                                      <p:cBhvr>
                                        <p:cTn id="25" dur="500"/>
                                        <p:tgtEl>
                                          <p:spTgt spid="51"/>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49"/>
                                        </p:tgtEl>
                                        <p:attrNameLst>
                                          <p:attrName>style.visibility</p:attrName>
                                        </p:attrNameLst>
                                      </p:cBhvr>
                                      <p:to>
                                        <p:strVal val="visible"/>
                                      </p:to>
                                    </p:set>
                                    <p:animEffect transition="in" filter="checkerboard(across)">
                                      <p:cBhvr>
                                        <p:cTn id="28" dur="500"/>
                                        <p:tgtEl>
                                          <p:spTgt spid="49"/>
                                        </p:tgtEl>
                                      </p:cBhvr>
                                    </p:animEffect>
                                  </p:childTnLst>
                                </p:cTn>
                              </p:par>
                              <p:par>
                                <p:cTn id="29" presetID="5" presetClass="entr" presetSubtype="10" fill="hold" nodeType="withEffect">
                                  <p:stCondLst>
                                    <p:cond delay="0"/>
                                  </p:stCondLst>
                                  <p:childTnLst>
                                    <p:set>
                                      <p:cBhvr>
                                        <p:cTn id="30" dur="1" fill="hold">
                                          <p:stCondLst>
                                            <p:cond delay="0"/>
                                          </p:stCondLst>
                                        </p:cTn>
                                        <p:tgtEl>
                                          <p:spTgt spid="44"/>
                                        </p:tgtEl>
                                        <p:attrNameLst>
                                          <p:attrName>style.visibility</p:attrName>
                                        </p:attrNameLst>
                                      </p:cBhvr>
                                      <p:to>
                                        <p:strVal val="visible"/>
                                      </p:to>
                                    </p:set>
                                    <p:animEffect transition="in" filter="checkerboard(across)">
                                      <p:cBhvr>
                                        <p:cTn id="31" dur="500"/>
                                        <p:tgtEl>
                                          <p:spTgt spid="44"/>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47"/>
                                        </p:tgtEl>
                                        <p:attrNameLst>
                                          <p:attrName>style.visibility</p:attrName>
                                        </p:attrNameLst>
                                      </p:cBhvr>
                                      <p:to>
                                        <p:strVal val="visible"/>
                                      </p:to>
                                    </p:set>
                                    <p:animEffect transition="in" filter="checkerboard(across)">
                                      <p:cBhvr>
                                        <p:cTn id="34" dur="500"/>
                                        <p:tgtEl>
                                          <p:spTgt spid="47"/>
                                        </p:tgtEl>
                                      </p:cBhvr>
                                    </p:animEffect>
                                  </p:childTnLst>
                                </p:cTn>
                              </p:par>
                            </p:childTnLst>
                          </p:cTn>
                        </p:par>
                      </p:childTnLst>
                    </p:cTn>
                  </p:par>
                  <p:par>
                    <p:cTn id="35" fill="hold">
                      <p:stCondLst>
                        <p:cond delay="indefinite"/>
                      </p:stCondLst>
                      <p:childTnLst>
                        <p:par>
                          <p:cTn id="36" fill="hold">
                            <p:stCondLst>
                              <p:cond delay="0"/>
                            </p:stCondLst>
                            <p:childTnLst>
                              <p:par>
                                <p:cTn id="37" presetID="5" presetClass="entr" presetSubtype="10" fill="hold" grpId="0" nodeType="clickEffect">
                                  <p:stCondLst>
                                    <p:cond delay="0"/>
                                  </p:stCondLst>
                                  <p:childTnLst>
                                    <p:set>
                                      <p:cBhvr>
                                        <p:cTn id="38" dur="1" fill="hold">
                                          <p:stCondLst>
                                            <p:cond delay="0"/>
                                          </p:stCondLst>
                                        </p:cTn>
                                        <p:tgtEl>
                                          <p:spTgt spid="52"/>
                                        </p:tgtEl>
                                        <p:attrNameLst>
                                          <p:attrName>style.visibility</p:attrName>
                                        </p:attrNameLst>
                                      </p:cBhvr>
                                      <p:to>
                                        <p:strVal val="visible"/>
                                      </p:to>
                                    </p:set>
                                    <p:animEffect transition="in" filter="checkerboard(across)">
                                      <p:cBhvr>
                                        <p:cTn id="39" dur="500"/>
                                        <p:tgtEl>
                                          <p:spTgt spid="52"/>
                                        </p:tgtEl>
                                      </p:cBhvr>
                                    </p:animEffect>
                                  </p:childTnLst>
                                </p:cTn>
                              </p:par>
                              <p:par>
                                <p:cTn id="40" presetID="5" presetClass="entr" presetSubtype="10" fill="hold" nodeType="withEffect">
                                  <p:stCondLst>
                                    <p:cond delay="0"/>
                                  </p:stCondLst>
                                  <p:childTnLst>
                                    <p:set>
                                      <p:cBhvr>
                                        <p:cTn id="41" dur="1" fill="hold">
                                          <p:stCondLst>
                                            <p:cond delay="0"/>
                                          </p:stCondLst>
                                        </p:cTn>
                                        <p:tgtEl>
                                          <p:spTgt spid="46"/>
                                        </p:tgtEl>
                                        <p:attrNameLst>
                                          <p:attrName>style.visibility</p:attrName>
                                        </p:attrNameLst>
                                      </p:cBhvr>
                                      <p:to>
                                        <p:strVal val="visible"/>
                                      </p:to>
                                    </p:set>
                                    <p:animEffect transition="in" filter="checkerboard(across)">
                                      <p:cBhvr>
                                        <p:cTn id="42" dur="500"/>
                                        <p:tgtEl>
                                          <p:spTgt spid="46"/>
                                        </p:tgtEl>
                                      </p:cBhvr>
                                    </p:animEffect>
                                  </p:childTnLst>
                                </p:cTn>
                              </p:par>
                              <p:par>
                                <p:cTn id="43" presetID="5" presetClass="entr" presetSubtype="10" fill="hold" grpId="0" nodeType="withEffect">
                                  <p:stCondLst>
                                    <p:cond delay="0"/>
                                  </p:stCondLst>
                                  <p:childTnLst>
                                    <p:set>
                                      <p:cBhvr>
                                        <p:cTn id="44" dur="1" fill="hold">
                                          <p:stCondLst>
                                            <p:cond delay="0"/>
                                          </p:stCondLst>
                                        </p:cTn>
                                        <p:tgtEl>
                                          <p:spTgt spid="50"/>
                                        </p:tgtEl>
                                        <p:attrNameLst>
                                          <p:attrName>style.visibility</p:attrName>
                                        </p:attrNameLst>
                                      </p:cBhvr>
                                      <p:to>
                                        <p:strVal val="visible"/>
                                      </p:to>
                                    </p:set>
                                    <p:animEffect transition="in" filter="checkerboard(across)">
                                      <p:cBhvr>
                                        <p:cTn id="45" dur="500"/>
                                        <p:tgtEl>
                                          <p:spTgt spid="50"/>
                                        </p:tgtEl>
                                      </p:cBhvr>
                                    </p:animEffect>
                                  </p:childTnLst>
                                </p:cTn>
                              </p:par>
                              <p:par>
                                <p:cTn id="46" presetID="5" presetClass="entr" presetSubtype="10" fill="hold" grpId="0" nodeType="withEffect">
                                  <p:stCondLst>
                                    <p:cond delay="0"/>
                                  </p:stCondLst>
                                  <p:childTnLst>
                                    <p:set>
                                      <p:cBhvr>
                                        <p:cTn id="47" dur="1" fill="hold">
                                          <p:stCondLst>
                                            <p:cond delay="0"/>
                                          </p:stCondLst>
                                        </p:cTn>
                                        <p:tgtEl>
                                          <p:spTgt spid="48"/>
                                        </p:tgtEl>
                                        <p:attrNameLst>
                                          <p:attrName>style.visibility</p:attrName>
                                        </p:attrNameLst>
                                      </p:cBhvr>
                                      <p:to>
                                        <p:strVal val="visible"/>
                                      </p:to>
                                    </p:set>
                                    <p:animEffect transition="in" filter="checkerboard(across)">
                                      <p:cBhvr>
                                        <p:cTn id="48" dur="500"/>
                                        <p:tgtEl>
                                          <p:spTgt spid="48"/>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53"/>
                                        </p:tgtEl>
                                        <p:attrNameLst>
                                          <p:attrName>style.visibility</p:attrName>
                                        </p:attrNameLst>
                                      </p:cBhvr>
                                      <p:to>
                                        <p:strVal val="visible"/>
                                      </p:to>
                                    </p:set>
                                    <p:animEffect transition="in" filter="blinds(horizontal)">
                                      <p:cBhvr>
                                        <p:cTn id="53" dur="500"/>
                                        <p:tgtEl>
                                          <p:spTgt spid="53"/>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54"/>
                                        </p:tgtEl>
                                        <p:attrNameLst>
                                          <p:attrName>style.visibility</p:attrName>
                                        </p:attrNameLst>
                                      </p:cBhvr>
                                      <p:to>
                                        <p:strVal val="visible"/>
                                      </p:to>
                                    </p:set>
                                    <p:animEffect transition="in" filter="blinds(horizontal)">
                                      <p:cBhvr>
                                        <p:cTn id="58"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animBg="1"/>
      <p:bldP spid="45" grpId="0"/>
      <p:bldP spid="47" grpId="0"/>
      <p:bldP spid="48" grpId="0"/>
      <p:bldP spid="49" grpId="0"/>
      <p:bldP spid="50" grpId="0"/>
      <p:bldP spid="51" grpId="0"/>
      <p:bldP spid="52" grpId="0"/>
      <p:bldP spid="53" grpId="0"/>
      <p:bldP spid="5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87D5997-28F3-EC8A-213B-5E89C41FD075}"/>
              </a:ext>
            </a:extLst>
          </p:cNvPr>
          <p:cNvSpPr>
            <a:spLocks noGrp="1"/>
          </p:cNvSpPr>
          <p:nvPr>
            <p:ph type="title"/>
          </p:nvPr>
        </p:nvSpPr>
        <p:spPr/>
        <p:txBody>
          <a:bodyPr>
            <a:normAutofit/>
          </a:bodyPr>
          <a:lstStyle/>
          <a:p>
            <a:r>
              <a:rPr lang="es-ES_tradnl" dirty="0">
                <a:latin typeface="Century Gothic" panose="020B0502020202020204" pitchFamily="34" charset="0"/>
              </a:rPr>
              <a:t>Árboles de Decisión</a:t>
            </a:r>
          </a:p>
        </p:txBody>
      </p:sp>
      <p:sp>
        <p:nvSpPr>
          <p:cNvPr id="55" name="Content Placeholder 2">
            <a:extLst>
              <a:ext uri="{FF2B5EF4-FFF2-40B4-BE49-F238E27FC236}">
                <a16:creationId xmlns:a16="http://schemas.microsoft.com/office/drawing/2014/main" id="{06ED3914-1160-E068-5EFA-6F79BA7334C2}"/>
              </a:ext>
            </a:extLst>
          </p:cNvPr>
          <p:cNvSpPr>
            <a:spLocks noGrp="1"/>
          </p:cNvSpPr>
          <p:nvPr>
            <p:ph idx="1"/>
          </p:nvPr>
        </p:nvSpPr>
        <p:spPr>
          <a:xfrm>
            <a:off x="581192" y="2180496"/>
            <a:ext cx="3143265" cy="996091"/>
          </a:xfrm>
        </p:spPr>
        <p:txBody>
          <a:bodyPr>
            <a:normAutofit/>
          </a:bodyPr>
          <a:lstStyle/>
          <a:p>
            <a:pPr marL="0" indent="0" algn="ctr">
              <a:buNone/>
            </a:pPr>
            <a:r>
              <a:rPr lang="es-MX" sz="1600" b="1" dirty="0">
                <a:solidFill>
                  <a:srgbClr val="C00000"/>
                </a:solidFill>
                <a:latin typeface="Century Gothic" panose="020B0502020202020204" pitchFamily="34" charset="0"/>
              </a:rPr>
              <a:t>¿Cómo manejaría la concesión?</a:t>
            </a:r>
            <a:endParaRPr lang="es-CO" sz="1600" b="1" dirty="0">
              <a:solidFill>
                <a:srgbClr val="C00000"/>
              </a:solidFill>
              <a:latin typeface="Century Gothic" panose="020B0502020202020204" pitchFamily="34" charset="0"/>
            </a:endParaRPr>
          </a:p>
        </p:txBody>
      </p:sp>
      <p:sp>
        <p:nvSpPr>
          <p:cNvPr id="4" name="Slide Number Placeholder 3"/>
          <p:cNvSpPr>
            <a:spLocks noGrp="1"/>
          </p:cNvSpPr>
          <p:nvPr>
            <p:ph type="sldNum" sz="quarter" idx="12"/>
          </p:nvPr>
        </p:nvSpPr>
        <p:spPr/>
        <p:txBody>
          <a:bodyPr/>
          <a:lstStyle/>
          <a:p>
            <a:fld id="{5E3E23BA-6E79-2442-BA73-D218A5E297C3}" type="slidenum">
              <a:rPr lang="en-US" sz="1800" smtClean="0"/>
              <a:t>63</a:t>
            </a:fld>
            <a:endParaRPr lang="en-US" sz="1800"/>
          </a:p>
        </p:txBody>
      </p:sp>
      <p:sp>
        <p:nvSpPr>
          <p:cNvPr id="9" name="Rectangle 8"/>
          <p:cNvSpPr/>
          <p:nvPr/>
        </p:nvSpPr>
        <p:spPr>
          <a:xfrm>
            <a:off x="1853893" y="4856891"/>
            <a:ext cx="345143" cy="34514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524001" y="4539335"/>
            <a:ext cx="990977"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¿Licitamos?</a:t>
            </a:r>
          </a:p>
        </p:txBody>
      </p:sp>
      <p:sp>
        <p:nvSpPr>
          <p:cNvPr id="13" name="Oval 12"/>
          <p:cNvSpPr/>
          <p:nvPr/>
        </p:nvSpPr>
        <p:spPr>
          <a:xfrm>
            <a:off x="3240122" y="4539335"/>
            <a:ext cx="358927" cy="3589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9" idx="3"/>
            <a:endCxn id="13" idx="2"/>
          </p:cNvCxnSpPr>
          <p:nvPr/>
        </p:nvCxnSpPr>
        <p:spPr>
          <a:xfrm flipV="1">
            <a:off x="2199035" y="4718798"/>
            <a:ext cx="1041086" cy="310664"/>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9" idx="3"/>
          </p:cNvCxnSpPr>
          <p:nvPr/>
        </p:nvCxnSpPr>
        <p:spPr>
          <a:xfrm>
            <a:off x="2199035" y="5029463"/>
            <a:ext cx="1041086" cy="669577"/>
          </a:xfrm>
          <a:prstGeom prst="line">
            <a:avLst/>
          </a:prstGeom>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656297" y="4829736"/>
            <a:ext cx="284052"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Sí</a:t>
            </a:r>
          </a:p>
        </p:txBody>
      </p:sp>
      <p:sp>
        <p:nvSpPr>
          <p:cNvPr id="23" name="TextBox 22"/>
          <p:cNvSpPr txBox="1"/>
          <p:nvPr/>
        </p:nvSpPr>
        <p:spPr>
          <a:xfrm>
            <a:off x="2549146" y="5436708"/>
            <a:ext cx="38183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No</a:t>
            </a:r>
          </a:p>
        </p:txBody>
      </p:sp>
      <p:sp>
        <p:nvSpPr>
          <p:cNvPr id="24" name="TextBox 23"/>
          <p:cNvSpPr txBox="1"/>
          <p:nvPr/>
        </p:nvSpPr>
        <p:spPr>
          <a:xfrm>
            <a:off x="2805901" y="4022066"/>
            <a:ext cx="1152880" cy="430887"/>
          </a:xfrm>
          <a:prstGeom prst="rect">
            <a:avLst/>
          </a:prstGeom>
          <a:noFill/>
        </p:spPr>
        <p:txBody>
          <a:bodyPr wrap="none" rtlCol="0">
            <a:spAutoFit/>
          </a:bodyPr>
          <a:lstStyle/>
          <a:p>
            <a:pPr algn="ctr"/>
            <a:r>
              <a:rPr lang="es-ES_tradnl" sz="1100" i="1" dirty="0">
                <a:solidFill>
                  <a:schemeClr val="accent1"/>
                </a:solidFill>
                <a:latin typeface="Century Gothic" panose="020B0502020202020204" pitchFamily="34" charset="0"/>
              </a:rPr>
              <a:t>¿Ganamos la </a:t>
            </a:r>
          </a:p>
          <a:p>
            <a:pPr algn="ctr"/>
            <a:r>
              <a:rPr lang="es-ES_tradnl" sz="1100" i="1" dirty="0">
                <a:solidFill>
                  <a:schemeClr val="accent1"/>
                </a:solidFill>
                <a:latin typeface="Century Gothic" panose="020B0502020202020204" pitchFamily="34" charset="0"/>
              </a:rPr>
              <a:t>licitación?</a:t>
            </a:r>
          </a:p>
        </p:txBody>
      </p:sp>
      <p:cxnSp>
        <p:nvCxnSpPr>
          <p:cNvPr id="25" name="Straight Connector 24"/>
          <p:cNvCxnSpPr>
            <a:stCxn id="13" idx="6"/>
          </p:cNvCxnSpPr>
          <p:nvPr/>
        </p:nvCxnSpPr>
        <p:spPr>
          <a:xfrm flipV="1">
            <a:off x="3599048" y="3862876"/>
            <a:ext cx="948218" cy="855922"/>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p:cNvCxnSpPr>
            <a:stCxn id="13" idx="6"/>
          </p:cNvCxnSpPr>
          <p:nvPr/>
        </p:nvCxnSpPr>
        <p:spPr>
          <a:xfrm>
            <a:off x="3599048" y="4718799"/>
            <a:ext cx="948218" cy="980241"/>
          </a:xfrm>
          <a:prstGeom prst="line">
            <a:avLst/>
          </a:prstGeom>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229467" y="4166656"/>
            <a:ext cx="284052"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Sí</a:t>
            </a:r>
          </a:p>
        </p:txBody>
      </p:sp>
      <p:sp>
        <p:nvSpPr>
          <p:cNvPr id="34" name="TextBox 33"/>
          <p:cNvSpPr txBox="1"/>
          <p:nvPr/>
        </p:nvSpPr>
        <p:spPr>
          <a:xfrm>
            <a:off x="4122316" y="5699040"/>
            <a:ext cx="38183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No</a:t>
            </a:r>
          </a:p>
        </p:txBody>
      </p:sp>
      <p:sp>
        <p:nvSpPr>
          <p:cNvPr id="36" name="TextBox 35"/>
          <p:cNvSpPr txBox="1"/>
          <p:nvPr/>
        </p:nvSpPr>
        <p:spPr>
          <a:xfrm>
            <a:off x="3290853" y="5673151"/>
            <a:ext cx="341760" cy="261610"/>
          </a:xfrm>
          <a:prstGeom prst="rect">
            <a:avLst/>
          </a:prstGeom>
          <a:noFill/>
        </p:spPr>
        <p:txBody>
          <a:bodyPr wrap="none" rtlCol="0">
            <a:spAutoFit/>
          </a:bodyPr>
          <a:lstStyle/>
          <a:p>
            <a:r>
              <a:rPr lang="es-ES_tradnl" sz="1100" b="1" i="1" dirty="0">
                <a:solidFill>
                  <a:srgbClr val="C00000"/>
                </a:solidFill>
                <a:latin typeface="Century Gothic" panose="020B0502020202020204" pitchFamily="34" charset="0"/>
              </a:rPr>
              <a:t>$0</a:t>
            </a:r>
          </a:p>
        </p:txBody>
      </p:sp>
      <p:sp>
        <p:nvSpPr>
          <p:cNvPr id="37" name="TextBox 36"/>
          <p:cNvSpPr txBox="1"/>
          <p:nvPr/>
        </p:nvSpPr>
        <p:spPr>
          <a:xfrm>
            <a:off x="4547266" y="5575207"/>
            <a:ext cx="676788" cy="261610"/>
          </a:xfrm>
          <a:prstGeom prst="rect">
            <a:avLst/>
          </a:prstGeom>
          <a:noFill/>
        </p:spPr>
        <p:txBody>
          <a:bodyPr wrap="none" rtlCol="0">
            <a:spAutoFit/>
          </a:bodyPr>
          <a:lstStyle/>
          <a:p>
            <a:r>
              <a:rPr lang="es-ES_tradnl" sz="1100" b="1" i="1" dirty="0">
                <a:solidFill>
                  <a:srgbClr val="C00000"/>
                </a:solidFill>
                <a:latin typeface="Century Gothic" panose="020B0502020202020204" pitchFamily="34" charset="0"/>
              </a:rPr>
              <a:t>-$1.000</a:t>
            </a:r>
          </a:p>
        </p:txBody>
      </p:sp>
      <p:sp>
        <p:nvSpPr>
          <p:cNvPr id="38" name="TextBox 37"/>
          <p:cNvSpPr txBox="1"/>
          <p:nvPr/>
        </p:nvSpPr>
        <p:spPr>
          <a:xfrm>
            <a:off x="3857112" y="5298208"/>
            <a:ext cx="405880"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4/5</a:t>
            </a:r>
          </a:p>
        </p:txBody>
      </p:sp>
      <p:sp>
        <p:nvSpPr>
          <p:cNvPr id="39" name="TextBox 38"/>
          <p:cNvSpPr txBox="1"/>
          <p:nvPr/>
        </p:nvSpPr>
        <p:spPr>
          <a:xfrm>
            <a:off x="3850356" y="3862877"/>
            <a:ext cx="405880"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1/5</a:t>
            </a:r>
          </a:p>
        </p:txBody>
      </p:sp>
      <p:sp>
        <p:nvSpPr>
          <p:cNvPr id="41" name="TextBox 40"/>
          <p:cNvSpPr txBox="1"/>
          <p:nvPr/>
        </p:nvSpPr>
        <p:spPr>
          <a:xfrm>
            <a:off x="3891274" y="3176587"/>
            <a:ext cx="1308371" cy="430887"/>
          </a:xfrm>
          <a:prstGeom prst="rect">
            <a:avLst/>
          </a:prstGeom>
          <a:noFill/>
        </p:spPr>
        <p:txBody>
          <a:bodyPr wrap="none" rtlCol="0">
            <a:spAutoFit/>
          </a:bodyPr>
          <a:lstStyle/>
          <a:p>
            <a:pPr algn="ctr"/>
            <a:r>
              <a:rPr lang="es-ES_tradnl" sz="1100" i="1" dirty="0">
                <a:solidFill>
                  <a:schemeClr val="accent1"/>
                </a:solidFill>
                <a:latin typeface="Century Gothic" panose="020B0502020202020204" pitchFamily="34" charset="0"/>
              </a:rPr>
              <a:t>¿Cómo manejo </a:t>
            </a:r>
          </a:p>
          <a:p>
            <a:pPr algn="ctr"/>
            <a:r>
              <a:rPr lang="es-ES_tradnl" sz="1100" i="1" dirty="0">
                <a:solidFill>
                  <a:schemeClr val="accent1"/>
                </a:solidFill>
                <a:latin typeface="Century Gothic" panose="020B0502020202020204" pitchFamily="34" charset="0"/>
              </a:rPr>
              <a:t>la concesión?</a:t>
            </a:r>
          </a:p>
        </p:txBody>
      </p:sp>
      <p:sp>
        <p:nvSpPr>
          <p:cNvPr id="3" name="Rectángulo 2">
            <a:extLst>
              <a:ext uri="{FF2B5EF4-FFF2-40B4-BE49-F238E27FC236}">
                <a16:creationId xmlns:a16="http://schemas.microsoft.com/office/drawing/2014/main" id="{32B05DB8-BBD1-61AF-F897-E82857768F8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987D329D-CD5B-343D-56CF-31306D5D98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9">
            <a:extLst>
              <a:ext uri="{FF2B5EF4-FFF2-40B4-BE49-F238E27FC236}">
                <a16:creationId xmlns:a16="http://schemas.microsoft.com/office/drawing/2014/main" id="{A440A21B-31F5-3732-9636-6E08BCEB06D6}"/>
              </a:ext>
            </a:extLst>
          </p:cNvPr>
          <p:cNvSpPr/>
          <p:nvPr/>
        </p:nvSpPr>
        <p:spPr>
          <a:xfrm>
            <a:off x="4559668" y="3690305"/>
            <a:ext cx="345143" cy="34514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41">
            <a:extLst>
              <a:ext uri="{FF2B5EF4-FFF2-40B4-BE49-F238E27FC236}">
                <a16:creationId xmlns:a16="http://schemas.microsoft.com/office/drawing/2014/main" id="{0D2EE247-E139-BC91-D3C2-38BA3E46EE3F}"/>
              </a:ext>
            </a:extLst>
          </p:cNvPr>
          <p:cNvCxnSpPr>
            <a:stCxn id="2" idx="3"/>
          </p:cNvCxnSpPr>
          <p:nvPr/>
        </p:nvCxnSpPr>
        <p:spPr>
          <a:xfrm flipV="1">
            <a:off x="4904810" y="2178576"/>
            <a:ext cx="1478504" cy="1684300"/>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58">
            <a:extLst>
              <a:ext uri="{FF2B5EF4-FFF2-40B4-BE49-F238E27FC236}">
                <a16:creationId xmlns:a16="http://schemas.microsoft.com/office/drawing/2014/main" id="{A17B9839-5F44-86AF-5743-84A5289E7523}"/>
              </a:ext>
            </a:extLst>
          </p:cNvPr>
          <p:cNvSpPr txBox="1"/>
          <p:nvPr/>
        </p:nvSpPr>
        <p:spPr>
          <a:xfrm>
            <a:off x="5123094" y="2591002"/>
            <a:ext cx="71846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Soacha</a:t>
            </a:r>
          </a:p>
        </p:txBody>
      </p:sp>
      <p:sp>
        <p:nvSpPr>
          <p:cNvPr id="14" name="TextBox 61">
            <a:extLst>
              <a:ext uri="{FF2B5EF4-FFF2-40B4-BE49-F238E27FC236}">
                <a16:creationId xmlns:a16="http://schemas.microsoft.com/office/drawing/2014/main" id="{9AC4FD1A-2642-AF82-FB9E-C75D81CDF307}"/>
              </a:ext>
            </a:extLst>
          </p:cNvPr>
          <p:cNvSpPr txBox="1"/>
          <p:nvPr/>
        </p:nvSpPr>
        <p:spPr>
          <a:xfrm>
            <a:off x="6430588" y="2039658"/>
            <a:ext cx="2714205" cy="261610"/>
          </a:xfrm>
          <a:prstGeom prst="rect">
            <a:avLst/>
          </a:prstGeom>
          <a:noFill/>
        </p:spPr>
        <p:txBody>
          <a:bodyPr wrap="none" rtlCol="0">
            <a:spAutoFit/>
          </a:bodyPr>
          <a:lstStyle/>
          <a:p>
            <a:r>
              <a:rPr lang="es-ES_tradnl" sz="1100" b="1" i="1" dirty="0">
                <a:solidFill>
                  <a:srgbClr val="C00000"/>
                </a:solidFill>
                <a:latin typeface="Century Gothic" panose="020B0502020202020204" pitchFamily="34" charset="0"/>
              </a:rPr>
              <a:t>$125.486 - $118.000 - $1.000 = $6.486 </a:t>
            </a:r>
          </a:p>
        </p:txBody>
      </p:sp>
      <p:cxnSp>
        <p:nvCxnSpPr>
          <p:cNvPr id="17" name="Straight Connector 44">
            <a:extLst>
              <a:ext uri="{FF2B5EF4-FFF2-40B4-BE49-F238E27FC236}">
                <a16:creationId xmlns:a16="http://schemas.microsoft.com/office/drawing/2014/main" id="{72EF1A67-84FD-D76B-19A0-D55DA7FE770F}"/>
              </a:ext>
            </a:extLst>
          </p:cNvPr>
          <p:cNvCxnSpPr>
            <a:endCxn id="18" idx="2"/>
          </p:cNvCxnSpPr>
          <p:nvPr/>
        </p:nvCxnSpPr>
        <p:spPr>
          <a:xfrm>
            <a:off x="4904811" y="3862877"/>
            <a:ext cx="1814685" cy="13827"/>
          </a:xfrm>
          <a:prstGeom prst="line">
            <a:avLst/>
          </a:prstGeom>
          <a:ln w="57150"/>
        </p:spPr>
        <p:style>
          <a:lnRef idx="2">
            <a:schemeClr val="accent2"/>
          </a:lnRef>
          <a:fillRef idx="0">
            <a:schemeClr val="accent2"/>
          </a:fillRef>
          <a:effectRef idx="1">
            <a:schemeClr val="accent2"/>
          </a:effectRef>
          <a:fontRef idx="minor">
            <a:schemeClr val="tx1"/>
          </a:fontRef>
        </p:style>
      </p:cxnSp>
      <p:sp>
        <p:nvSpPr>
          <p:cNvPr id="18" name="Oval 52">
            <a:extLst>
              <a:ext uri="{FF2B5EF4-FFF2-40B4-BE49-F238E27FC236}">
                <a16:creationId xmlns:a16="http://schemas.microsoft.com/office/drawing/2014/main" id="{41B1BA45-3F71-6742-7B43-6298ADD39D38}"/>
              </a:ext>
            </a:extLst>
          </p:cNvPr>
          <p:cNvSpPr/>
          <p:nvPr/>
        </p:nvSpPr>
        <p:spPr>
          <a:xfrm>
            <a:off x="6719496" y="3697240"/>
            <a:ext cx="358927" cy="3589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59">
            <a:extLst>
              <a:ext uri="{FF2B5EF4-FFF2-40B4-BE49-F238E27FC236}">
                <a16:creationId xmlns:a16="http://schemas.microsoft.com/office/drawing/2014/main" id="{ECDDA31B-4651-9B28-7DCC-E3F9F55AC8EE}"/>
              </a:ext>
            </a:extLst>
          </p:cNvPr>
          <p:cNvSpPr txBox="1"/>
          <p:nvPr/>
        </p:nvSpPr>
        <p:spPr>
          <a:xfrm>
            <a:off x="5618950" y="3833507"/>
            <a:ext cx="68640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México</a:t>
            </a:r>
          </a:p>
        </p:txBody>
      </p:sp>
      <p:cxnSp>
        <p:nvCxnSpPr>
          <p:cNvPr id="20" name="Straight Connector 64">
            <a:extLst>
              <a:ext uri="{FF2B5EF4-FFF2-40B4-BE49-F238E27FC236}">
                <a16:creationId xmlns:a16="http://schemas.microsoft.com/office/drawing/2014/main" id="{E0334D37-50C5-EA96-B396-EE3CEB96AEB4}"/>
              </a:ext>
            </a:extLst>
          </p:cNvPr>
          <p:cNvCxnSpPr/>
          <p:nvPr/>
        </p:nvCxnSpPr>
        <p:spPr>
          <a:xfrm flipV="1">
            <a:off x="7078423" y="3292222"/>
            <a:ext cx="904891" cy="563762"/>
          </a:xfrm>
          <a:prstGeom prst="line">
            <a:avLst/>
          </a:prstGeom>
        </p:spPr>
        <p:style>
          <a:lnRef idx="2">
            <a:schemeClr val="accent1"/>
          </a:lnRef>
          <a:fillRef idx="0">
            <a:schemeClr val="accent1"/>
          </a:fillRef>
          <a:effectRef idx="1">
            <a:schemeClr val="accent1"/>
          </a:effectRef>
          <a:fontRef idx="minor">
            <a:schemeClr val="tx1"/>
          </a:fontRef>
        </p:style>
      </p:cxnSp>
      <p:sp>
        <p:nvSpPr>
          <p:cNvPr id="21" name="TextBox 66">
            <a:extLst>
              <a:ext uri="{FF2B5EF4-FFF2-40B4-BE49-F238E27FC236}">
                <a16:creationId xmlns:a16="http://schemas.microsoft.com/office/drawing/2014/main" id="{F5642F0D-F593-576B-0685-28958406507B}"/>
              </a:ext>
            </a:extLst>
          </p:cNvPr>
          <p:cNvSpPr txBox="1"/>
          <p:nvPr/>
        </p:nvSpPr>
        <p:spPr>
          <a:xfrm>
            <a:off x="6393352" y="3352593"/>
            <a:ext cx="1031051" cy="261610"/>
          </a:xfrm>
          <a:prstGeom prst="rect">
            <a:avLst/>
          </a:prstGeom>
          <a:noFill/>
        </p:spPr>
        <p:txBody>
          <a:bodyPr wrap="none" rtlCol="0">
            <a:spAutoFit/>
          </a:bodyPr>
          <a:lstStyle/>
          <a:p>
            <a:pPr algn="ctr"/>
            <a:r>
              <a:rPr lang="es-ES_tradnl" sz="1100" i="1" dirty="0">
                <a:solidFill>
                  <a:schemeClr val="accent1"/>
                </a:solidFill>
                <a:latin typeface="Century Gothic" panose="020B0502020202020204" pitchFamily="34" charset="0"/>
              </a:rPr>
              <a:t>¿Hay Fallas?</a:t>
            </a:r>
          </a:p>
        </p:txBody>
      </p:sp>
      <p:cxnSp>
        <p:nvCxnSpPr>
          <p:cNvPr id="26" name="Straight Connector 69">
            <a:extLst>
              <a:ext uri="{FF2B5EF4-FFF2-40B4-BE49-F238E27FC236}">
                <a16:creationId xmlns:a16="http://schemas.microsoft.com/office/drawing/2014/main" id="{5501A5BB-114F-56E0-E197-3D3768780FCE}"/>
              </a:ext>
            </a:extLst>
          </p:cNvPr>
          <p:cNvCxnSpPr>
            <a:stCxn id="18" idx="6"/>
          </p:cNvCxnSpPr>
          <p:nvPr/>
        </p:nvCxnSpPr>
        <p:spPr>
          <a:xfrm>
            <a:off x="7078423" y="3876703"/>
            <a:ext cx="904891" cy="469374"/>
          </a:xfrm>
          <a:prstGeom prst="line">
            <a:avLst/>
          </a:prstGeom>
        </p:spPr>
        <p:style>
          <a:lnRef idx="2">
            <a:schemeClr val="accent1"/>
          </a:lnRef>
          <a:fillRef idx="0">
            <a:schemeClr val="accent1"/>
          </a:fillRef>
          <a:effectRef idx="1">
            <a:schemeClr val="accent1"/>
          </a:effectRef>
          <a:fontRef idx="minor">
            <a:schemeClr val="tx1"/>
          </a:fontRef>
        </p:style>
      </p:cxnSp>
      <p:sp>
        <p:nvSpPr>
          <p:cNvPr id="27" name="TextBox 73">
            <a:extLst>
              <a:ext uri="{FF2B5EF4-FFF2-40B4-BE49-F238E27FC236}">
                <a16:creationId xmlns:a16="http://schemas.microsoft.com/office/drawing/2014/main" id="{28DD414B-BBD3-6741-B412-B78F7A7E0972}"/>
              </a:ext>
            </a:extLst>
          </p:cNvPr>
          <p:cNvSpPr txBox="1"/>
          <p:nvPr/>
        </p:nvSpPr>
        <p:spPr>
          <a:xfrm>
            <a:off x="8030547" y="3038971"/>
            <a:ext cx="3706826" cy="261610"/>
          </a:xfrm>
          <a:prstGeom prst="rect">
            <a:avLst/>
          </a:prstGeom>
          <a:noFill/>
        </p:spPr>
        <p:txBody>
          <a:bodyPr wrap="square" rtlCol="0">
            <a:spAutoFit/>
          </a:bodyPr>
          <a:lstStyle/>
          <a:p>
            <a:r>
              <a:rPr lang="es-ES_tradnl" sz="1100" b="1" i="1" dirty="0">
                <a:solidFill>
                  <a:srgbClr val="C00000"/>
                </a:solidFill>
                <a:latin typeface="Century Gothic" panose="020B0502020202020204" pitchFamily="34" charset="0"/>
              </a:rPr>
              <a:t>$125.486 - $85.000 - $1.000 - $57.000 = -$17.514</a:t>
            </a:r>
          </a:p>
        </p:txBody>
      </p:sp>
      <p:sp>
        <p:nvSpPr>
          <p:cNvPr id="29" name="TextBox 74">
            <a:extLst>
              <a:ext uri="{FF2B5EF4-FFF2-40B4-BE49-F238E27FC236}">
                <a16:creationId xmlns:a16="http://schemas.microsoft.com/office/drawing/2014/main" id="{E0BD1D7C-2049-AFE1-5FFD-65227E390633}"/>
              </a:ext>
            </a:extLst>
          </p:cNvPr>
          <p:cNvSpPr txBox="1"/>
          <p:nvPr/>
        </p:nvSpPr>
        <p:spPr>
          <a:xfrm>
            <a:off x="8030545" y="4166656"/>
            <a:ext cx="3256579" cy="261610"/>
          </a:xfrm>
          <a:prstGeom prst="rect">
            <a:avLst/>
          </a:prstGeom>
          <a:noFill/>
        </p:spPr>
        <p:txBody>
          <a:bodyPr wrap="square" rtlCol="0">
            <a:spAutoFit/>
          </a:bodyPr>
          <a:lstStyle/>
          <a:p>
            <a:r>
              <a:rPr lang="es-ES_tradnl" sz="1100" b="1" i="1" dirty="0">
                <a:solidFill>
                  <a:srgbClr val="C00000"/>
                </a:solidFill>
                <a:latin typeface="Century Gothic" panose="020B0502020202020204" pitchFamily="34" charset="0"/>
              </a:rPr>
              <a:t>$125.486 - $85.000 - $1.000 = $39.486</a:t>
            </a:r>
          </a:p>
        </p:txBody>
      </p:sp>
      <p:sp>
        <p:nvSpPr>
          <p:cNvPr id="30" name="TextBox 75">
            <a:extLst>
              <a:ext uri="{FF2B5EF4-FFF2-40B4-BE49-F238E27FC236}">
                <a16:creationId xmlns:a16="http://schemas.microsoft.com/office/drawing/2014/main" id="{99C32D75-8785-CB28-D1A3-53F7835FA2E0}"/>
              </a:ext>
            </a:extLst>
          </p:cNvPr>
          <p:cNvSpPr txBox="1"/>
          <p:nvPr/>
        </p:nvSpPr>
        <p:spPr>
          <a:xfrm>
            <a:off x="7475754" y="3500636"/>
            <a:ext cx="463588"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40%</a:t>
            </a:r>
          </a:p>
        </p:txBody>
      </p:sp>
      <p:sp>
        <p:nvSpPr>
          <p:cNvPr id="31" name="TextBox 76">
            <a:extLst>
              <a:ext uri="{FF2B5EF4-FFF2-40B4-BE49-F238E27FC236}">
                <a16:creationId xmlns:a16="http://schemas.microsoft.com/office/drawing/2014/main" id="{233EE703-6076-4C32-C784-C6118AB0CB1B}"/>
              </a:ext>
            </a:extLst>
          </p:cNvPr>
          <p:cNvSpPr txBox="1"/>
          <p:nvPr/>
        </p:nvSpPr>
        <p:spPr>
          <a:xfrm>
            <a:off x="7468269" y="3827911"/>
            <a:ext cx="463588"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60%</a:t>
            </a:r>
          </a:p>
        </p:txBody>
      </p:sp>
      <p:sp>
        <p:nvSpPr>
          <p:cNvPr id="32" name="TextBox 90">
            <a:extLst>
              <a:ext uri="{FF2B5EF4-FFF2-40B4-BE49-F238E27FC236}">
                <a16:creationId xmlns:a16="http://schemas.microsoft.com/office/drawing/2014/main" id="{69DFA06C-E488-F8FC-DD27-8F69CDF0C122}"/>
              </a:ext>
            </a:extLst>
          </p:cNvPr>
          <p:cNvSpPr txBox="1"/>
          <p:nvPr/>
        </p:nvSpPr>
        <p:spPr>
          <a:xfrm>
            <a:off x="7468269" y="3176587"/>
            <a:ext cx="284052"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Sí</a:t>
            </a:r>
          </a:p>
        </p:txBody>
      </p:sp>
      <p:sp>
        <p:nvSpPr>
          <p:cNvPr id="35" name="TextBox 91">
            <a:extLst>
              <a:ext uri="{FF2B5EF4-FFF2-40B4-BE49-F238E27FC236}">
                <a16:creationId xmlns:a16="http://schemas.microsoft.com/office/drawing/2014/main" id="{0A1ED2A2-A128-EBBC-874F-D939C3C4054E}"/>
              </a:ext>
            </a:extLst>
          </p:cNvPr>
          <p:cNvSpPr txBox="1"/>
          <p:nvPr/>
        </p:nvSpPr>
        <p:spPr>
          <a:xfrm>
            <a:off x="7443448" y="4207578"/>
            <a:ext cx="38183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No</a:t>
            </a:r>
          </a:p>
        </p:txBody>
      </p:sp>
      <p:cxnSp>
        <p:nvCxnSpPr>
          <p:cNvPr id="40" name="Straight Connector 48">
            <a:extLst>
              <a:ext uri="{FF2B5EF4-FFF2-40B4-BE49-F238E27FC236}">
                <a16:creationId xmlns:a16="http://schemas.microsoft.com/office/drawing/2014/main" id="{C11AA1AF-C17F-3E8B-B0D4-675C057811D6}"/>
              </a:ext>
            </a:extLst>
          </p:cNvPr>
          <p:cNvCxnSpPr>
            <a:endCxn id="43" idx="2"/>
          </p:cNvCxnSpPr>
          <p:nvPr/>
        </p:nvCxnSpPr>
        <p:spPr>
          <a:xfrm>
            <a:off x="4904811" y="3862876"/>
            <a:ext cx="1703059" cy="1712330"/>
          </a:xfrm>
          <a:prstGeom prst="line">
            <a:avLst/>
          </a:prstGeom>
        </p:spPr>
        <p:style>
          <a:lnRef idx="2">
            <a:schemeClr val="accent1"/>
          </a:lnRef>
          <a:fillRef idx="0">
            <a:schemeClr val="accent1"/>
          </a:fillRef>
          <a:effectRef idx="1">
            <a:schemeClr val="accent1"/>
          </a:effectRef>
          <a:fontRef idx="minor">
            <a:schemeClr val="tx1"/>
          </a:fontRef>
        </p:style>
      </p:cxnSp>
      <p:sp>
        <p:nvSpPr>
          <p:cNvPr id="42" name="TextBox 60">
            <a:extLst>
              <a:ext uri="{FF2B5EF4-FFF2-40B4-BE49-F238E27FC236}">
                <a16:creationId xmlns:a16="http://schemas.microsoft.com/office/drawing/2014/main" id="{61138126-AB79-1E39-3A10-6963E3251913}"/>
              </a:ext>
            </a:extLst>
          </p:cNvPr>
          <p:cNvSpPr txBox="1"/>
          <p:nvPr/>
        </p:nvSpPr>
        <p:spPr>
          <a:xfrm>
            <a:off x="5724439" y="4539334"/>
            <a:ext cx="843501"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Cemento</a:t>
            </a:r>
          </a:p>
        </p:txBody>
      </p:sp>
      <p:sp>
        <p:nvSpPr>
          <p:cNvPr id="43" name="Oval 79">
            <a:extLst>
              <a:ext uri="{FF2B5EF4-FFF2-40B4-BE49-F238E27FC236}">
                <a16:creationId xmlns:a16="http://schemas.microsoft.com/office/drawing/2014/main" id="{18B82CDE-457D-A42E-DA30-501F652816FC}"/>
              </a:ext>
            </a:extLst>
          </p:cNvPr>
          <p:cNvSpPr/>
          <p:nvPr/>
        </p:nvSpPr>
        <p:spPr>
          <a:xfrm>
            <a:off x="6607870" y="5395743"/>
            <a:ext cx="358927" cy="3589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Century Gothic" panose="020B0502020202020204" pitchFamily="34" charset="0"/>
            </a:endParaRPr>
          </a:p>
        </p:txBody>
      </p:sp>
      <p:cxnSp>
        <p:nvCxnSpPr>
          <p:cNvPr id="44" name="Straight Connector 80">
            <a:extLst>
              <a:ext uri="{FF2B5EF4-FFF2-40B4-BE49-F238E27FC236}">
                <a16:creationId xmlns:a16="http://schemas.microsoft.com/office/drawing/2014/main" id="{3AED6576-4A09-006E-D5EE-D93AD8B26BB6}"/>
              </a:ext>
            </a:extLst>
          </p:cNvPr>
          <p:cNvCxnSpPr/>
          <p:nvPr/>
        </p:nvCxnSpPr>
        <p:spPr>
          <a:xfrm flipV="1">
            <a:off x="6966797" y="4990725"/>
            <a:ext cx="904891" cy="563762"/>
          </a:xfrm>
          <a:prstGeom prst="line">
            <a:avLst/>
          </a:prstGeom>
        </p:spPr>
        <p:style>
          <a:lnRef idx="2">
            <a:schemeClr val="accent1"/>
          </a:lnRef>
          <a:fillRef idx="0">
            <a:schemeClr val="accent1"/>
          </a:fillRef>
          <a:effectRef idx="1">
            <a:schemeClr val="accent1"/>
          </a:effectRef>
          <a:fontRef idx="minor">
            <a:schemeClr val="tx1"/>
          </a:fontRef>
        </p:style>
      </p:cxnSp>
      <p:sp>
        <p:nvSpPr>
          <p:cNvPr id="45" name="TextBox 81">
            <a:extLst>
              <a:ext uri="{FF2B5EF4-FFF2-40B4-BE49-F238E27FC236}">
                <a16:creationId xmlns:a16="http://schemas.microsoft.com/office/drawing/2014/main" id="{518A3AF7-92F1-8033-9948-CB4A85E235E5}"/>
              </a:ext>
            </a:extLst>
          </p:cNvPr>
          <p:cNvSpPr txBox="1"/>
          <p:nvPr/>
        </p:nvSpPr>
        <p:spPr>
          <a:xfrm>
            <a:off x="6281726" y="5051096"/>
            <a:ext cx="1031051" cy="261610"/>
          </a:xfrm>
          <a:prstGeom prst="rect">
            <a:avLst/>
          </a:prstGeom>
          <a:noFill/>
        </p:spPr>
        <p:txBody>
          <a:bodyPr wrap="none" rtlCol="0">
            <a:spAutoFit/>
          </a:bodyPr>
          <a:lstStyle/>
          <a:p>
            <a:pPr algn="ctr"/>
            <a:r>
              <a:rPr lang="es-ES_tradnl" sz="1100" i="1" dirty="0">
                <a:solidFill>
                  <a:schemeClr val="accent1"/>
                </a:solidFill>
                <a:latin typeface="Century Gothic" panose="020B0502020202020204" pitchFamily="34" charset="0"/>
              </a:rPr>
              <a:t>¿Hay Fallas?</a:t>
            </a:r>
          </a:p>
        </p:txBody>
      </p:sp>
      <p:cxnSp>
        <p:nvCxnSpPr>
          <p:cNvPr id="46" name="Straight Connector 82">
            <a:extLst>
              <a:ext uri="{FF2B5EF4-FFF2-40B4-BE49-F238E27FC236}">
                <a16:creationId xmlns:a16="http://schemas.microsoft.com/office/drawing/2014/main" id="{C3046AF2-1C4E-64ED-7873-690EBAA44985}"/>
              </a:ext>
            </a:extLst>
          </p:cNvPr>
          <p:cNvCxnSpPr>
            <a:stCxn id="43" idx="6"/>
          </p:cNvCxnSpPr>
          <p:nvPr/>
        </p:nvCxnSpPr>
        <p:spPr>
          <a:xfrm>
            <a:off x="6966797" y="5575206"/>
            <a:ext cx="904891" cy="469374"/>
          </a:xfrm>
          <a:prstGeom prst="line">
            <a:avLst/>
          </a:prstGeom>
        </p:spPr>
        <p:style>
          <a:lnRef idx="2">
            <a:schemeClr val="accent1"/>
          </a:lnRef>
          <a:fillRef idx="0">
            <a:schemeClr val="accent1"/>
          </a:fillRef>
          <a:effectRef idx="1">
            <a:schemeClr val="accent1"/>
          </a:effectRef>
          <a:fontRef idx="minor">
            <a:schemeClr val="tx1"/>
          </a:fontRef>
        </p:style>
      </p:cxnSp>
      <p:sp>
        <p:nvSpPr>
          <p:cNvPr id="47" name="TextBox 83">
            <a:extLst>
              <a:ext uri="{FF2B5EF4-FFF2-40B4-BE49-F238E27FC236}">
                <a16:creationId xmlns:a16="http://schemas.microsoft.com/office/drawing/2014/main" id="{144A8C23-0D85-7EB3-0446-779C27551765}"/>
              </a:ext>
            </a:extLst>
          </p:cNvPr>
          <p:cNvSpPr txBox="1"/>
          <p:nvPr/>
        </p:nvSpPr>
        <p:spPr>
          <a:xfrm>
            <a:off x="7918919" y="4737474"/>
            <a:ext cx="3553944" cy="261610"/>
          </a:xfrm>
          <a:prstGeom prst="rect">
            <a:avLst/>
          </a:prstGeom>
          <a:noFill/>
        </p:spPr>
        <p:txBody>
          <a:bodyPr wrap="square" rtlCol="0">
            <a:spAutoFit/>
          </a:bodyPr>
          <a:lstStyle/>
          <a:p>
            <a:r>
              <a:rPr lang="es-ES_tradnl" sz="1100" b="1" i="1" dirty="0">
                <a:solidFill>
                  <a:srgbClr val="C00000"/>
                </a:solidFill>
                <a:latin typeface="Century Gothic" panose="020B0502020202020204" pitchFamily="34" charset="0"/>
              </a:rPr>
              <a:t>$125.486 - $110.000 - $1.000 - $28.000 = -$13.514</a:t>
            </a:r>
          </a:p>
        </p:txBody>
      </p:sp>
      <p:sp>
        <p:nvSpPr>
          <p:cNvPr id="48" name="TextBox 84">
            <a:extLst>
              <a:ext uri="{FF2B5EF4-FFF2-40B4-BE49-F238E27FC236}">
                <a16:creationId xmlns:a16="http://schemas.microsoft.com/office/drawing/2014/main" id="{BF527222-F504-C504-209C-7733977C6C19}"/>
              </a:ext>
            </a:extLst>
          </p:cNvPr>
          <p:cNvSpPr txBox="1"/>
          <p:nvPr/>
        </p:nvSpPr>
        <p:spPr>
          <a:xfrm>
            <a:off x="7918919" y="5865159"/>
            <a:ext cx="3025305" cy="261610"/>
          </a:xfrm>
          <a:prstGeom prst="rect">
            <a:avLst/>
          </a:prstGeom>
          <a:noFill/>
        </p:spPr>
        <p:txBody>
          <a:bodyPr wrap="square" rtlCol="0">
            <a:spAutoFit/>
          </a:bodyPr>
          <a:lstStyle/>
          <a:p>
            <a:r>
              <a:rPr lang="es-ES_tradnl" sz="1100" b="1" i="1" dirty="0">
                <a:solidFill>
                  <a:srgbClr val="C00000"/>
                </a:solidFill>
                <a:latin typeface="Century Gothic" panose="020B0502020202020204" pitchFamily="34" charset="0"/>
              </a:rPr>
              <a:t>$125.486 - $110.000 - $1.000  = $14.486</a:t>
            </a:r>
          </a:p>
        </p:txBody>
      </p:sp>
      <p:sp>
        <p:nvSpPr>
          <p:cNvPr id="49" name="TextBox 85">
            <a:extLst>
              <a:ext uri="{FF2B5EF4-FFF2-40B4-BE49-F238E27FC236}">
                <a16:creationId xmlns:a16="http://schemas.microsoft.com/office/drawing/2014/main" id="{5288A71F-FC4D-54A8-9183-C7846BB8821B}"/>
              </a:ext>
            </a:extLst>
          </p:cNvPr>
          <p:cNvSpPr txBox="1"/>
          <p:nvPr/>
        </p:nvSpPr>
        <p:spPr>
          <a:xfrm>
            <a:off x="7364128" y="5199139"/>
            <a:ext cx="463588"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20%</a:t>
            </a:r>
          </a:p>
        </p:txBody>
      </p:sp>
      <p:sp>
        <p:nvSpPr>
          <p:cNvPr id="50" name="TextBox 86">
            <a:extLst>
              <a:ext uri="{FF2B5EF4-FFF2-40B4-BE49-F238E27FC236}">
                <a16:creationId xmlns:a16="http://schemas.microsoft.com/office/drawing/2014/main" id="{EF9A0BE2-EA76-33F8-F368-ACB2DCDA2377}"/>
              </a:ext>
            </a:extLst>
          </p:cNvPr>
          <p:cNvSpPr txBox="1"/>
          <p:nvPr/>
        </p:nvSpPr>
        <p:spPr>
          <a:xfrm>
            <a:off x="7356643" y="5526414"/>
            <a:ext cx="463588"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80%</a:t>
            </a:r>
          </a:p>
        </p:txBody>
      </p:sp>
      <p:sp>
        <p:nvSpPr>
          <p:cNvPr id="51" name="TextBox 92">
            <a:extLst>
              <a:ext uri="{FF2B5EF4-FFF2-40B4-BE49-F238E27FC236}">
                <a16:creationId xmlns:a16="http://schemas.microsoft.com/office/drawing/2014/main" id="{C5B095D5-A878-DB25-11B1-743EBEA805F0}"/>
              </a:ext>
            </a:extLst>
          </p:cNvPr>
          <p:cNvSpPr txBox="1"/>
          <p:nvPr/>
        </p:nvSpPr>
        <p:spPr>
          <a:xfrm>
            <a:off x="7403232" y="4856891"/>
            <a:ext cx="284052"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Si</a:t>
            </a:r>
          </a:p>
        </p:txBody>
      </p:sp>
      <p:sp>
        <p:nvSpPr>
          <p:cNvPr id="52" name="TextBox 93">
            <a:extLst>
              <a:ext uri="{FF2B5EF4-FFF2-40B4-BE49-F238E27FC236}">
                <a16:creationId xmlns:a16="http://schemas.microsoft.com/office/drawing/2014/main" id="{A08F9F32-A29D-69AD-BB85-73BFEF2A08D8}"/>
              </a:ext>
            </a:extLst>
          </p:cNvPr>
          <p:cNvSpPr txBox="1"/>
          <p:nvPr/>
        </p:nvSpPr>
        <p:spPr>
          <a:xfrm>
            <a:off x="7378411" y="5887882"/>
            <a:ext cx="38183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No</a:t>
            </a:r>
          </a:p>
        </p:txBody>
      </p:sp>
      <p:sp>
        <p:nvSpPr>
          <p:cNvPr id="53" name="TextBox 88">
            <a:extLst>
              <a:ext uri="{FF2B5EF4-FFF2-40B4-BE49-F238E27FC236}">
                <a16:creationId xmlns:a16="http://schemas.microsoft.com/office/drawing/2014/main" id="{39941A91-2085-AE98-04EB-9585A8D5EE6D}"/>
              </a:ext>
            </a:extLst>
          </p:cNvPr>
          <p:cNvSpPr txBox="1"/>
          <p:nvPr/>
        </p:nvSpPr>
        <p:spPr>
          <a:xfrm>
            <a:off x="6331370" y="4057538"/>
            <a:ext cx="1119217" cy="261610"/>
          </a:xfrm>
          <a:prstGeom prst="rect">
            <a:avLst/>
          </a:prstGeom>
          <a:noFill/>
        </p:spPr>
        <p:txBody>
          <a:bodyPr wrap="none" rtlCol="0">
            <a:spAutoFit/>
          </a:bodyPr>
          <a:lstStyle/>
          <a:p>
            <a:r>
              <a:rPr lang="es-ES_tradnl" sz="1100" b="1" i="1" dirty="0">
                <a:solidFill>
                  <a:srgbClr val="D7A700"/>
                </a:solidFill>
                <a:latin typeface="Century Gothic" panose="020B0502020202020204" pitchFamily="34" charset="0"/>
              </a:rPr>
              <a:t>E(x) = $16.686</a:t>
            </a:r>
          </a:p>
        </p:txBody>
      </p:sp>
      <p:sp>
        <p:nvSpPr>
          <p:cNvPr id="54" name="TextBox 89">
            <a:extLst>
              <a:ext uri="{FF2B5EF4-FFF2-40B4-BE49-F238E27FC236}">
                <a16:creationId xmlns:a16="http://schemas.microsoft.com/office/drawing/2014/main" id="{ADD89860-80CC-EA12-F83B-5E2BB5A0E984}"/>
              </a:ext>
            </a:extLst>
          </p:cNvPr>
          <p:cNvSpPr txBox="1"/>
          <p:nvPr/>
        </p:nvSpPr>
        <p:spPr>
          <a:xfrm>
            <a:off x="6261247" y="5778654"/>
            <a:ext cx="1040670" cy="261610"/>
          </a:xfrm>
          <a:prstGeom prst="rect">
            <a:avLst/>
          </a:prstGeom>
          <a:noFill/>
        </p:spPr>
        <p:txBody>
          <a:bodyPr wrap="none" rtlCol="0">
            <a:spAutoFit/>
          </a:bodyPr>
          <a:lstStyle/>
          <a:p>
            <a:r>
              <a:rPr lang="es-ES_tradnl" sz="1100" b="1" i="1" dirty="0">
                <a:solidFill>
                  <a:srgbClr val="D7A700"/>
                </a:solidFill>
                <a:latin typeface="Century Gothic" panose="020B0502020202020204" pitchFamily="34" charset="0"/>
              </a:rPr>
              <a:t>E(x) = $8.886</a:t>
            </a:r>
          </a:p>
        </p:txBody>
      </p:sp>
      <p:sp>
        <p:nvSpPr>
          <p:cNvPr id="56" name="TextBox 36">
            <a:extLst>
              <a:ext uri="{FF2B5EF4-FFF2-40B4-BE49-F238E27FC236}">
                <a16:creationId xmlns:a16="http://schemas.microsoft.com/office/drawing/2014/main" id="{F8A28542-7B25-DCD5-27EB-BC006B6E3464}"/>
              </a:ext>
            </a:extLst>
          </p:cNvPr>
          <p:cNvSpPr txBox="1"/>
          <p:nvPr/>
        </p:nvSpPr>
        <p:spPr>
          <a:xfrm>
            <a:off x="4412719" y="4057538"/>
            <a:ext cx="696024" cy="261610"/>
          </a:xfrm>
          <a:prstGeom prst="rect">
            <a:avLst/>
          </a:prstGeom>
          <a:noFill/>
        </p:spPr>
        <p:txBody>
          <a:bodyPr wrap="none" rtlCol="0">
            <a:spAutoFit/>
          </a:bodyPr>
          <a:lstStyle/>
          <a:p>
            <a:r>
              <a:rPr lang="es-ES_tradnl" sz="1100" b="1" i="1" dirty="0">
                <a:solidFill>
                  <a:schemeClr val="accent2"/>
                </a:solidFill>
                <a:latin typeface="Century Gothic" panose="020B0502020202020204" pitchFamily="34" charset="0"/>
              </a:rPr>
              <a:t>$16.686</a:t>
            </a:r>
          </a:p>
        </p:txBody>
      </p:sp>
      <p:sp>
        <p:nvSpPr>
          <p:cNvPr id="57" name="Rectángulo 56">
            <a:extLst>
              <a:ext uri="{FF2B5EF4-FFF2-40B4-BE49-F238E27FC236}">
                <a16:creationId xmlns:a16="http://schemas.microsoft.com/office/drawing/2014/main" id="{7A7E2807-1590-8B83-6352-722A124DE7C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85347812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87D5997-28F3-EC8A-213B-5E89C41FD075}"/>
              </a:ext>
            </a:extLst>
          </p:cNvPr>
          <p:cNvSpPr>
            <a:spLocks noGrp="1"/>
          </p:cNvSpPr>
          <p:nvPr>
            <p:ph type="title"/>
          </p:nvPr>
        </p:nvSpPr>
        <p:spPr/>
        <p:txBody>
          <a:bodyPr>
            <a:normAutofit/>
          </a:bodyPr>
          <a:lstStyle/>
          <a:p>
            <a:r>
              <a:rPr lang="es-ES_tradnl" dirty="0">
                <a:latin typeface="Century Gothic" panose="020B0502020202020204" pitchFamily="34" charset="0"/>
              </a:rPr>
              <a:t>Árboles de Decisión</a:t>
            </a:r>
          </a:p>
        </p:txBody>
      </p:sp>
      <p:sp>
        <p:nvSpPr>
          <p:cNvPr id="55" name="Content Placeholder 2">
            <a:extLst>
              <a:ext uri="{FF2B5EF4-FFF2-40B4-BE49-F238E27FC236}">
                <a16:creationId xmlns:a16="http://schemas.microsoft.com/office/drawing/2014/main" id="{06ED3914-1160-E068-5EFA-6F79BA7334C2}"/>
              </a:ext>
            </a:extLst>
          </p:cNvPr>
          <p:cNvSpPr>
            <a:spLocks noGrp="1"/>
          </p:cNvSpPr>
          <p:nvPr>
            <p:ph idx="1"/>
          </p:nvPr>
        </p:nvSpPr>
        <p:spPr>
          <a:xfrm>
            <a:off x="581192" y="2180496"/>
            <a:ext cx="3143265" cy="996091"/>
          </a:xfrm>
        </p:spPr>
        <p:txBody>
          <a:bodyPr>
            <a:normAutofit/>
          </a:bodyPr>
          <a:lstStyle/>
          <a:p>
            <a:pPr marL="0" indent="0" algn="ctr">
              <a:buNone/>
            </a:pPr>
            <a:r>
              <a:rPr lang="es-MX" sz="1600" b="1" dirty="0">
                <a:solidFill>
                  <a:srgbClr val="C00000"/>
                </a:solidFill>
                <a:latin typeface="Century Gothic" panose="020B0502020202020204" pitchFamily="34" charset="0"/>
              </a:rPr>
              <a:t>¿Cómo manejaría la concesión?</a:t>
            </a:r>
            <a:endParaRPr lang="es-CO" sz="1600" b="1" dirty="0">
              <a:solidFill>
                <a:srgbClr val="C00000"/>
              </a:solidFill>
              <a:latin typeface="Century Gothic" panose="020B0502020202020204" pitchFamily="34" charset="0"/>
            </a:endParaRPr>
          </a:p>
        </p:txBody>
      </p:sp>
      <p:sp>
        <p:nvSpPr>
          <p:cNvPr id="4" name="Slide Number Placeholder 3"/>
          <p:cNvSpPr>
            <a:spLocks noGrp="1"/>
          </p:cNvSpPr>
          <p:nvPr>
            <p:ph type="sldNum" sz="quarter" idx="12"/>
          </p:nvPr>
        </p:nvSpPr>
        <p:spPr/>
        <p:txBody>
          <a:bodyPr/>
          <a:lstStyle/>
          <a:p>
            <a:fld id="{5E3E23BA-6E79-2442-BA73-D218A5E297C3}" type="slidenum">
              <a:rPr lang="en-US" sz="1800" smtClean="0"/>
              <a:t>64</a:t>
            </a:fld>
            <a:endParaRPr lang="en-US" sz="1800"/>
          </a:p>
        </p:txBody>
      </p:sp>
      <p:sp>
        <p:nvSpPr>
          <p:cNvPr id="9" name="Rectangle 8"/>
          <p:cNvSpPr/>
          <p:nvPr/>
        </p:nvSpPr>
        <p:spPr>
          <a:xfrm>
            <a:off x="1853893" y="4856891"/>
            <a:ext cx="345143" cy="34514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524001" y="4539335"/>
            <a:ext cx="990977"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¿Licitamos?</a:t>
            </a:r>
          </a:p>
        </p:txBody>
      </p:sp>
      <p:sp>
        <p:nvSpPr>
          <p:cNvPr id="13" name="Oval 12"/>
          <p:cNvSpPr/>
          <p:nvPr/>
        </p:nvSpPr>
        <p:spPr>
          <a:xfrm>
            <a:off x="3240122" y="4539335"/>
            <a:ext cx="358927" cy="3589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9" idx="3"/>
            <a:endCxn id="13" idx="2"/>
          </p:cNvCxnSpPr>
          <p:nvPr/>
        </p:nvCxnSpPr>
        <p:spPr>
          <a:xfrm flipV="1">
            <a:off x="2199035" y="4718798"/>
            <a:ext cx="1041086" cy="310664"/>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9" idx="3"/>
          </p:cNvCxnSpPr>
          <p:nvPr/>
        </p:nvCxnSpPr>
        <p:spPr>
          <a:xfrm>
            <a:off x="2199035" y="5029463"/>
            <a:ext cx="1041086" cy="669577"/>
          </a:xfrm>
          <a:prstGeom prst="line">
            <a:avLst/>
          </a:prstGeom>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656297" y="4829736"/>
            <a:ext cx="284052"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Sí</a:t>
            </a:r>
          </a:p>
        </p:txBody>
      </p:sp>
      <p:sp>
        <p:nvSpPr>
          <p:cNvPr id="23" name="TextBox 22"/>
          <p:cNvSpPr txBox="1"/>
          <p:nvPr/>
        </p:nvSpPr>
        <p:spPr>
          <a:xfrm>
            <a:off x="2549146" y="5436708"/>
            <a:ext cx="38183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No</a:t>
            </a:r>
          </a:p>
        </p:txBody>
      </p:sp>
      <p:sp>
        <p:nvSpPr>
          <p:cNvPr id="24" name="TextBox 23"/>
          <p:cNvSpPr txBox="1"/>
          <p:nvPr/>
        </p:nvSpPr>
        <p:spPr>
          <a:xfrm>
            <a:off x="2805901" y="4022066"/>
            <a:ext cx="1152880" cy="430887"/>
          </a:xfrm>
          <a:prstGeom prst="rect">
            <a:avLst/>
          </a:prstGeom>
          <a:noFill/>
        </p:spPr>
        <p:txBody>
          <a:bodyPr wrap="none" rtlCol="0">
            <a:spAutoFit/>
          </a:bodyPr>
          <a:lstStyle/>
          <a:p>
            <a:pPr algn="ctr"/>
            <a:r>
              <a:rPr lang="es-ES_tradnl" sz="1100" i="1" dirty="0">
                <a:solidFill>
                  <a:schemeClr val="accent1"/>
                </a:solidFill>
                <a:latin typeface="Century Gothic" panose="020B0502020202020204" pitchFamily="34" charset="0"/>
              </a:rPr>
              <a:t>¿Ganamos la </a:t>
            </a:r>
          </a:p>
          <a:p>
            <a:pPr algn="ctr"/>
            <a:r>
              <a:rPr lang="es-ES_tradnl" sz="1100" i="1" dirty="0">
                <a:solidFill>
                  <a:schemeClr val="accent1"/>
                </a:solidFill>
                <a:latin typeface="Century Gothic" panose="020B0502020202020204" pitchFamily="34" charset="0"/>
              </a:rPr>
              <a:t>licitación?</a:t>
            </a:r>
          </a:p>
        </p:txBody>
      </p:sp>
      <p:cxnSp>
        <p:nvCxnSpPr>
          <p:cNvPr id="25" name="Straight Connector 24"/>
          <p:cNvCxnSpPr>
            <a:stCxn id="13" idx="6"/>
          </p:cNvCxnSpPr>
          <p:nvPr/>
        </p:nvCxnSpPr>
        <p:spPr>
          <a:xfrm flipV="1">
            <a:off x="3599048" y="3862876"/>
            <a:ext cx="948218" cy="855922"/>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p:cNvCxnSpPr>
            <a:stCxn id="13" idx="6"/>
          </p:cNvCxnSpPr>
          <p:nvPr/>
        </p:nvCxnSpPr>
        <p:spPr>
          <a:xfrm>
            <a:off x="3599048" y="4718799"/>
            <a:ext cx="948218" cy="980241"/>
          </a:xfrm>
          <a:prstGeom prst="line">
            <a:avLst/>
          </a:prstGeom>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229467" y="4166656"/>
            <a:ext cx="284052"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Sí</a:t>
            </a:r>
          </a:p>
        </p:txBody>
      </p:sp>
      <p:sp>
        <p:nvSpPr>
          <p:cNvPr id="34" name="TextBox 33"/>
          <p:cNvSpPr txBox="1"/>
          <p:nvPr/>
        </p:nvSpPr>
        <p:spPr>
          <a:xfrm>
            <a:off x="4122316" y="5699040"/>
            <a:ext cx="38183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No</a:t>
            </a:r>
          </a:p>
        </p:txBody>
      </p:sp>
      <p:sp>
        <p:nvSpPr>
          <p:cNvPr id="36" name="TextBox 35"/>
          <p:cNvSpPr txBox="1"/>
          <p:nvPr/>
        </p:nvSpPr>
        <p:spPr>
          <a:xfrm>
            <a:off x="3290853" y="5673151"/>
            <a:ext cx="341760" cy="261610"/>
          </a:xfrm>
          <a:prstGeom prst="rect">
            <a:avLst/>
          </a:prstGeom>
          <a:noFill/>
        </p:spPr>
        <p:txBody>
          <a:bodyPr wrap="none" rtlCol="0">
            <a:spAutoFit/>
          </a:bodyPr>
          <a:lstStyle/>
          <a:p>
            <a:r>
              <a:rPr lang="es-ES_tradnl" sz="1100" b="1" i="1" dirty="0">
                <a:solidFill>
                  <a:srgbClr val="C00000"/>
                </a:solidFill>
                <a:latin typeface="Century Gothic" panose="020B0502020202020204" pitchFamily="34" charset="0"/>
              </a:rPr>
              <a:t>$0</a:t>
            </a:r>
          </a:p>
        </p:txBody>
      </p:sp>
      <p:sp>
        <p:nvSpPr>
          <p:cNvPr id="37" name="TextBox 36"/>
          <p:cNvSpPr txBox="1"/>
          <p:nvPr/>
        </p:nvSpPr>
        <p:spPr>
          <a:xfrm>
            <a:off x="4547266" y="5575207"/>
            <a:ext cx="676788" cy="261610"/>
          </a:xfrm>
          <a:prstGeom prst="rect">
            <a:avLst/>
          </a:prstGeom>
          <a:noFill/>
        </p:spPr>
        <p:txBody>
          <a:bodyPr wrap="none" rtlCol="0">
            <a:spAutoFit/>
          </a:bodyPr>
          <a:lstStyle/>
          <a:p>
            <a:r>
              <a:rPr lang="es-ES_tradnl" sz="1100" b="1" i="1" dirty="0">
                <a:solidFill>
                  <a:srgbClr val="C00000"/>
                </a:solidFill>
                <a:latin typeface="Century Gothic" panose="020B0502020202020204" pitchFamily="34" charset="0"/>
              </a:rPr>
              <a:t>-$1.000</a:t>
            </a:r>
          </a:p>
        </p:txBody>
      </p:sp>
      <p:sp>
        <p:nvSpPr>
          <p:cNvPr id="38" name="TextBox 37"/>
          <p:cNvSpPr txBox="1"/>
          <p:nvPr/>
        </p:nvSpPr>
        <p:spPr>
          <a:xfrm>
            <a:off x="3857112" y="5298208"/>
            <a:ext cx="405880"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4/5</a:t>
            </a:r>
          </a:p>
        </p:txBody>
      </p:sp>
      <p:sp>
        <p:nvSpPr>
          <p:cNvPr id="39" name="TextBox 38"/>
          <p:cNvSpPr txBox="1"/>
          <p:nvPr/>
        </p:nvSpPr>
        <p:spPr>
          <a:xfrm>
            <a:off x="3850356" y="3862877"/>
            <a:ext cx="405880"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1/5</a:t>
            </a:r>
          </a:p>
        </p:txBody>
      </p:sp>
      <p:sp>
        <p:nvSpPr>
          <p:cNvPr id="41" name="TextBox 40"/>
          <p:cNvSpPr txBox="1"/>
          <p:nvPr/>
        </p:nvSpPr>
        <p:spPr>
          <a:xfrm>
            <a:off x="3891274" y="3176587"/>
            <a:ext cx="1308371" cy="430887"/>
          </a:xfrm>
          <a:prstGeom prst="rect">
            <a:avLst/>
          </a:prstGeom>
          <a:noFill/>
        </p:spPr>
        <p:txBody>
          <a:bodyPr wrap="none" rtlCol="0">
            <a:spAutoFit/>
          </a:bodyPr>
          <a:lstStyle/>
          <a:p>
            <a:pPr algn="ctr"/>
            <a:r>
              <a:rPr lang="es-ES_tradnl" sz="1100" i="1" dirty="0">
                <a:solidFill>
                  <a:schemeClr val="accent1"/>
                </a:solidFill>
                <a:latin typeface="Century Gothic" panose="020B0502020202020204" pitchFamily="34" charset="0"/>
              </a:rPr>
              <a:t>¿Cómo manejo </a:t>
            </a:r>
          </a:p>
          <a:p>
            <a:pPr algn="ctr"/>
            <a:r>
              <a:rPr lang="es-ES_tradnl" sz="1100" i="1" dirty="0">
                <a:solidFill>
                  <a:schemeClr val="accent1"/>
                </a:solidFill>
                <a:latin typeface="Century Gothic" panose="020B0502020202020204" pitchFamily="34" charset="0"/>
              </a:rPr>
              <a:t>la concesión?</a:t>
            </a:r>
          </a:p>
        </p:txBody>
      </p:sp>
      <p:sp>
        <p:nvSpPr>
          <p:cNvPr id="3" name="Rectángulo 2">
            <a:extLst>
              <a:ext uri="{FF2B5EF4-FFF2-40B4-BE49-F238E27FC236}">
                <a16:creationId xmlns:a16="http://schemas.microsoft.com/office/drawing/2014/main" id="{32B05DB8-BBD1-61AF-F897-E82857768F8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987D329D-CD5B-343D-56CF-31306D5D98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9">
            <a:extLst>
              <a:ext uri="{FF2B5EF4-FFF2-40B4-BE49-F238E27FC236}">
                <a16:creationId xmlns:a16="http://schemas.microsoft.com/office/drawing/2014/main" id="{A440A21B-31F5-3732-9636-6E08BCEB06D6}"/>
              </a:ext>
            </a:extLst>
          </p:cNvPr>
          <p:cNvSpPr/>
          <p:nvPr/>
        </p:nvSpPr>
        <p:spPr>
          <a:xfrm>
            <a:off x="4559668" y="3690305"/>
            <a:ext cx="345143" cy="34514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41">
            <a:extLst>
              <a:ext uri="{FF2B5EF4-FFF2-40B4-BE49-F238E27FC236}">
                <a16:creationId xmlns:a16="http://schemas.microsoft.com/office/drawing/2014/main" id="{0D2EE247-E139-BC91-D3C2-38BA3E46EE3F}"/>
              </a:ext>
            </a:extLst>
          </p:cNvPr>
          <p:cNvCxnSpPr>
            <a:stCxn id="2" idx="3"/>
          </p:cNvCxnSpPr>
          <p:nvPr/>
        </p:nvCxnSpPr>
        <p:spPr>
          <a:xfrm flipV="1">
            <a:off x="4904810" y="2178576"/>
            <a:ext cx="1478504" cy="1684300"/>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58">
            <a:extLst>
              <a:ext uri="{FF2B5EF4-FFF2-40B4-BE49-F238E27FC236}">
                <a16:creationId xmlns:a16="http://schemas.microsoft.com/office/drawing/2014/main" id="{A17B9839-5F44-86AF-5743-84A5289E7523}"/>
              </a:ext>
            </a:extLst>
          </p:cNvPr>
          <p:cNvSpPr txBox="1"/>
          <p:nvPr/>
        </p:nvSpPr>
        <p:spPr>
          <a:xfrm>
            <a:off x="5123094" y="2591002"/>
            <a:ext cx="71846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Soacha</a:t>
            </a:r>
          </a:p>
        </p:txBody>
      </p:sp>
      <p:sp>
        <p:nvSpPr>
          <p:cNvPr id="14" name="TextBox 61">
            <a:extLst>
              <a:ext uri="{FF2B5EF4-FFF2-40B4-BE49-F238E27FC236}">
                <a16:creationId xmlns:a16="http://schemas.microsoft.com/office/drawing/2014/main" id="{9AC4FD1A-2642-AF82-FB9E-C75D81CDF307}"/>
              </a:ext>
            </a:extLst>
          </p:cNvPr>
          <p:cNvSpPr txBox="1"/>
          <p:nvPr/>
        </p:nvSpPr>
        <p:spPr>
          <a:xfrm>
            <a:off x="6430588" y="2039658"/>
            <a:ext cx="2714205" cy="261610"/>
          </a:xfrm>
          <a:prstGeom prst="rect">
            <a:avLst/>
          </a:prstGeom>
          <a:noFill/>
        </p:spPr>
        <p:txBody>
          <a:bodyPr wrap="none" rtlCol="0">
            <a:spAutoFit/>
          </a:bodyPr>
          <a:lstStyle/>
          <a:p>
            <a:r>
              <a:rPr lang="es-ES_tradnl" sz="1100" b="1" i="1" dirty="0">
                <a:solidFill>
                  <a:srgbClr val="C00000"/>
                </a:solidFill>
                <a:latin typeface="Century Gothic" panose="020B0502020202020204" pitchFamily="34" charset="0"/>
              </a:rPr>
              <a:t>$125.486 - $118.000 - $1.000 = $6.486 </a:t>
            </a:r>
          </a:p>
        </p:txBody>
      </p:sp>
      <p:cxnSp>
        <p:nvCxnSpPr>
          <p:cNvPr id="17" name="Straight Connector 44">
            <a:extLst>
              <a:ext uri="{FF2B5EF4-FFF2-40B4-BE49-F238E27FC236}">
                <a16:creationId xmlns:a16="http://schemas.microsoft.com/office/drawing/2014/main" id="{72EF1A67-84FD-D76B-19A0-D55DA7FE770F}"/>
              </a:ext>
            </a:extLst>
          </p:cNvPr>
          <p:cNvCxnSpPr>
            <a:endCxn id="18" idx="2"/>
          </p:cNvCxnSpPr>
          <p:nvPr/>
        </p:nvCxnSpPr>
        <p:spPr>
          <a:xfrm>
            <a:off x="4904811" y="3862877"/>
            <a:ext cx="1814685" cy="13827"/>
          </a:xfrm>
          <a:prstGeom prst="line">
            <a:avLst/>
          </a:prstGeom>
          <a:ln w="57150"/>
        </p:spPr>
        <p:style>
          <a:lnRef idx="2">
            <a:schemeClr val="accent2"/>
          </a:lnRef>
          <a:fillRef idx="0">
            <a:schemeClr val="accent2"/>
          </a:fillRef>
          <a:effectRef idx="1">
            <a:schemeClr val="accent2"/>
          </a:effectRef>
          <a:fontRef idx="minor">
            <a:schemeClr val="tx1"/>
          </a:fontRef>
        </p:style>
      </p:cxnSp>
      <p:sp>
        <p:nvSpPr>
          <p:cNvPr id="18" name="Oval 52">
            <a:extLst>
              <a:ext uri="{FF2B5EF4-FFF2-40B4-BE49-F238E27FC236}">
                <a16:creationId xmlns:a16="http://schemas.microsoft.com/office/drawing/2014/main" id="{41B1BA45-3F71-6742-7B43-6298ADD39D38}"/>
              </a:ext>
            </a:extLst>
          </p:cNvPr>
          <p:cNvSpPr/>
          <p:nvPr/>
        </p:nvSpPr>
        <p:spPr>
          <a:xfrm>
            <a:off x="6719496" y="3697240"/>
            <a:ext cx="358927" cy="3589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59">
            <a:extLst>
              <a:ext uri="{FF2B5EF4-FFF2-40B4-BE49-F238E27FC236}">
                <a16:creationId xmlns:a16="http://schemas.microsoft.com/office/drawing/2014/main" id="{ECDDA31B-4651-9B28-7DCC-E3F9F55AC8EE}"/>
              </a:ext>
            </a:extLst>
          </p:cNvPr>
          <p:cNvSpPr txBox="1"/>
          <p:nvPr/>
        </p:nvSpPr>
        <p:spPr>
          <a:xfrm>
            <a:off x="5618950" y="3833507"/>
            <a:ext cx="68640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México</a:t>
            </a:r>
          </a:p>
        </p:txBody>
      </p:sp>
      <p:cxnSp>
        <p:nvCxnSpPr>
          <p:cNvPr id="20" name="Straight Connector 64">
            <a:extLst>
              <a:ext uri="{FF2B5EF4-FFF2-40B4-BE49-F238E27FC236}">
                <a16:creationId xmlns:a16="http://schemas.microsoft.com/office/drawing/2014/main" id="{E0334D37-50C5-EA96-B396-EE3CEB96AEB4}"/>
              </a:ext>
            </a:extLst>
          </p:cNvPr>
          <p:cNvCxnSpPr/>
          <p:nvPr/>
        </p:nvCxnSpPr>
        <p:spPr>
          <a:xfrm flipV="1">
            <a:off x="7078423" y="3292222"/>
            <a:ext cx="904891" cy="563762"/>
          </a:xfrm>
          <a:prstGeom prst="line">
            <a:avLst/>
          </a:prstGeom>
        </p:spPr>
        <p:style>
          <a:lnRef idx="2">
            <a:schemeClr val="accent1"/>
          </a:lnRef>
          <a:fillRef idx="0">
            <a:schemeClr val="accent1"/>
          </a:fillRef>
          <a:effectRef idx="1">
            <a:schemeClr val="accent1"/>
          </a:effectRef>
          <a:fontRef idx="minor">
            <a:schemeClr val="tx1"/>
          </a:fontRef>
        </p:style>
      </p:cxnSp>
      <p:sp>
        <p:nvSpPr>
          <p:cNvPr id="21" name="TextBox 66">
            <a:extLst>
              <a:ext uri="{FF2B5EF4-FFF2-40B4-BE49-F238E27FC236}">
                <a16:creationId xmlns:a16="http://schemas.microsoft.com/office/drawing/2014/main" id="{F5642F0D-F593-576B-0685-28958406507B}"/>
              </a:ext>
            </a:extLst>
          </p:cNvPr>
          <p:cNvSpPr txBox="1"/>
          <p:nvPr/>
        </p:nvSpPr>
        <p:spPr>
          <a:xfrm>
            <a:off x="6393352" y="3352593"/>
            <a:ext cx="1031051" cy="261610"/>
          </a:xfrm>
          <a:prstGeom prst="rect">
            <a:avLst/>
          </a:prstGeom>
          <a:noFill/>
        </p:spPr>
        <p:txBody>
          <a:bodyPr wrap="none" rtlCol="0">
            <a:spAutoFit/>
          </a:bodyPr>
          <a:lstStyle/>
          <a:p>
            <a:pPr algn="ctr"/>
            <a:r>
              <a:rPr lang="es-ES_tradnl" sz="1100" i="1" dirty="0">
                <a:solidFill>
                  <a:schemeClr val="accent1"/>
                </a:solidFill>
                <a:latin typeface="Century Gothic" panose="020B0502020202020204" pitchFamily="34" charset="0"/>
              </a:rPr>
              <a:t>¿Hay Fallas?</a:t>
            </a:r>
          </a:p>
        </p:txBody>
      </p:sp>
      <p:cxnSp>
        <p:nvCxnSpPr>
          <p:cNvPr id="26" name="Straight Connector 69">
            <a:extLst>
              <a:ext uri="{FF2B5EF4-FFF2-40B4-BE49-F238E27FC236}">
                <a16:creationId xmlns:a16="http://schemas.microsoft.com/office/drawing/2014/main" id="{5501A5BB-114F-56E0-E197-3D3768780FCE}"/>
              </a:ext>
            </a:extLst>
          </p:cNvPr>
          <p:cNvCxnSpPr>
            <a:stCxn id="18" idx="6"/>
          </p:cNvCxnSpPr>
          <p:nvPr/>
        </p:nvCxnSpPr>
        <p:spPr>
          <a:xfrm>
            <a:off x="7078423" y="3876703"/>
            <a:ext cx="904891" cy="469374"/>
          </a:xfrm>
          <a:prstGeom prst="line">
            <a:avLst/>
          </a:prstGeom>
        </p:spPr>
        <p:style>
          <a:lnRef idx="2">
            <a:schemeClr val="accent1"/>
          </a:lnRef>
          <a:fillRef idx="0">
            <a:schemeClr val="accent1"/>
          </a:fillRef>
          <a:effectRef idx="1">
            <a:schemeClr val="accent1"/>
          </a:effectRef>
          <a:fontRef idx="minor">
            <a:schemeClr val="tx1"/>
          </a:fontRef>
        </p:style>
      </p:cxnSp>
      <p:sp>
        <p:nvSpPr>
          <p:cNvPr id="27" name="TextBox 73">
            <a:extLst>
              <a:ext uri="{FF2B5EF4-FFF2-40B4-BE49-F238E27FC236}">
                <a16:creationId xmlns:a16="http://schemas.microsoft.com/office/drawing/2014/main" id="{28DD414B-BBD3-6741-B412-B78F7A7E0972}"/>
              </a:ext>
            </a:extLst>
          </p:cNvPr>
          <p:cNvSpPr txBox="1"/>
          <p:nvPr/>
        </p:nvSpPr>
        <p:spPr>
          <a:xfrm>
            <a:off x="8030547" y="3038971"/>
            <a:ext cx="3706826" cy="261610"/>
          </a:xfrm>
          <a:prstGeom prst="rect">
            <a:avLst/>
          </a:prstGeom>
          <a:noFill/>
        </p:spPr>
        <p:txBody>
          <a:bodyPr wrap="square" rtlCol="0">
            <a:spAutoFit/>
          </a:bodyPr>
          <a:lstStyle/>
          <a:p>
            <a:r>
              <a:rPr lang="es-ES_tradnl" sz="1100" b="1" i="1" dirty="0">
                <a:solidFill>
                  <a:srgbClr val="C00000"/>
                </a:solidFill>
                <a:latin typeface="Century Gothic" panose="020B0502020202020204" pitchFamily="34" charset="0"/>
              </a:rPr>
              <a:t>$125.486 - $85.000 - $1.000 - $57.000 = -$17.514</a:t>
            </a:r>
          </a:p>
        </p:txBody>
      </p:sp>
      <p:sp>
        <p:nvSpPr>
          <p:cNvPr id="29" name="TextBox 74">
            <a:extLst>
              <a:ext uri="{FF2B5EF4-FFF2-40B4-BE49-F238E27FC236}">
                <a16:creationId xmlns:a16="http://schemas.microsoft.com/office/drawing/2014/main" id="{E0BD1D7C-2049-AFE1-5FFD-65227E390633}"/>
              </a:ext>
            </a:extLst>
          </p:cNvPr>
          <p:cNvSpPr txBox="1"/>
          <p:nvPr/>
        </p:nvSpPr>
        <p:spPr>
          <a:xfrm>
            <a:off x="8030545" y="4166656"/>
            <a:ext cx="3256579" cy="261610"/>
          </a:xfrm>
          <a:prstGeom prst="rect">
            <a:avLst/>
          </a:prstGeom>
          <a:noFill/>
        </p:spPr>
        <p:txBody>
          <a:bodyPr wrap="square" rtlCol="0">
            <a:spAutoFit/>
          </a:bodyPr>
          <a:lstStyle/>
          <a:p>
            <a:r>
              <a:rPr lang="es-ES_tradnl" sz="1100" b="1" i="1" dirty="0">
                <a:solidFill>
                  <a:srgbClr val="C00000"/>
                </a:solidFill>
                <a:latin typeface="Century Gothic" panose="020B0502020202020204" pitchFamily="34" charset="0"/>
              </a:rPr>
              <a:t>$125.486 - $85.000 - $1.000 = $39.486</a:t>
            </a:r>
          </a:p>
        </p:txBody>
      </p:sp>
      <p:sp>
        <p:nvSpPr>
          <p:cNvPr id="30" name="TextBox 75">
            <a:extLst>
              <a:ext uri="{FF2B5EF4-FFF2-40B4-BE49-F238E27FC236}">
                <a16:creationId xmlns:a16="http://schemas.microsoft.com/office/drawing/2014/main" id="{99C32D75-8785-CB28-D1A3-53F7835FA2E0}"/>
              </a:ext>
            </a:extLst>
          </p:cNvPr>
          <p:cNvSpPr txBox="1"/>
          <p:nvPr/>
        </p:nvSpPr>
        <p:spPr>
          <a:xfrm>
            <a:off x="7475754" y="3500636"/>
            <a:ext cx="463588"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40%</a:t>
            </a:r>
          </a:p>
        </p:txBody>
      </p:sp>
      <p:sp>
        <p:nvSpPr>
          <p:cNvPr id="31" name="TextBox 76">
            <a:extLst>
              <a:ext uri="{FF2B5EF4-FFF2-40B4-BE49-F238E27FC236}">
                <a16:creationId xmlns:a16="http://schemas.microsoft.com/office/drawing/2014/main" id="{233EE703-6076-4C32-C784-C6118AB0CB1B}"/>
              </a:ext>
            </a:extLst>
          </p:cNvPr>
          <p:cNvSpPr txBox="1"/>
          <p:nvPr/>
        </p:nvSpPr>
        <p:spPr>
          <a:xfrm>
            <a:off x="7468269" y="3827911"/>
            <a:ext cx="463588"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60%</a:t>
            </a:r>
          </a:p>
        </p:txBody>
      </p:sp>
      <p:sp>
        <p:nvSpPr>
          <p:cNvPr id="32" name="TextBox 90">
            <a:extLst>
              <a:ext uri="{FF2B5EF4-FFF2-40B4-BE49-F238E27FC236}">
                <a16:creationId xmlns:a16="http://schemas.microsoft.com/office/drawing/2014/main" id="{69DFA06C-E488-F8FC-DD27-8F69CDF0C122}"/>
              </a:ext>
            </a:extLst>
          </p:cNvPr>
          <p:cNvSpPr txBox="1"/>
          <p:nvPr/>
        </p:nvSpPr>
        <p:spPr>
          <a:xfrm>
            <a:off x="7468269" y="3176587"/>
            <a:ext cx="284052"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Sí</a:t>
            </a:r>
          </a:p>
        </p:txBody>
      </p:sp>
      <p:sp>
        <p:nvSpPr>
          <p:cNvPr id="35" name="TextBox 91">
            <a:extLst>
              <a:ext uri="{FF2B5EF4-FFF2-40B4-BE49-F238E27FC236}">
                <a16:creationId xmlns:a16="http://schemas.microsoft.com/office/drawing/2014/main" id="{0A1ED2A2-A128-EBBC-874F-D939C3C4054E}"/>
              </a:ext>
            </a:extLst>
          </p:cNvPr>
          <p:cNvSpPr txBox="1"/>
          <p:nvPr/>
        </p:nvSpPr>
        <p:spPr>
          <a:xfrm>
            <a:off x="7443448" y="4207578"/>
            <a:ext cx="38183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No</a:t>
            </a:r>
          </a:p>
        </p:txBody>
      </p:sp>
      <p:cxnSp>
        <p:nvCxnSpPr>
          <p:cNvPr id="40" name="Straight Connector 48">
            <a:extLst>
              <a:ext uri="{FF2B5EF4-FFF2-40B4-BE49-F238E27FC236}">
                <a16:creationId xmlns:a16="http://schemas.microsoft.com/office/drawing/2014/main" id="{C11AA1AF-C17F-3E8B-B0D4-675C057811D6}"/>
              </a:ext>
            </a:extLst>
          </p:cNvPr>
          <p:cNvCxnSpPr>
            <a:endCxn id="43" idx="2"/>
          </p:cNvCxnSpPr>
          <p:nvPr/>
        </p:nvCxnSpPr>
        <p:spPr>
          <a:xfrm>
            <a:off x="4904811" y="3862876"/>
            <a:ext cx="1703059" cy="1712330"/>
          </a:xfrm>
          <a:prstGeom prst="line">
            <a:avLst/>
          </a:prstGeom>
        </p:spPr>
        <p:style>
          <a:lnRef idx="2">
            <a:schemeClr val="accent1"/>
          </a:lnRef>
          <a:fillRef idx="0">
            <a:schemeClr val="accent1"/>
          </a:fillRef>
          <a:effectRef idx="1">
            <a:schemeClr val="accent1"/>
          </a:effectRef>
          <a:fontRef idx="minor">
            <a:schemeClr val="tx1"/>
          </a:fontRef>
        </p:style>
      </p:cxnSp>
      <p:sp>
        <p:nvSpPr>
          <p:cNvPr id="42" name="TextBox 60">
            <a:extLst>
              <a:ext uri="{FF2B5EF4-FFF2-40B4-BE49-F238E27FC236}">
                <a16:creationId xmlns:a16="http://schemas.microsoft.com/office/drawing/2014/main" id="{61138126-AB79-1E39-3A10-6963E3251913}"/>
              </a:ext>
            </a:extLst>
          </p:cNvPr>
          <p:cNvSpPr txBox="1"/>
          <p:nvPr/>
        </p:nvSpPr>
        <p:spPr>
          <a:xfrm>
            <a:off x="5724439" y="4539334"/>
            <a:ext cx="843501"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Cemento</a:t>
            </a:r>
          </a:p>
        </p:txBody>
      </p:sp>
      <p:sp>
        <p:nvSpPr>
          <p:cNvPr id="43" name="Oval 79">
            <a:extLst>
              <a:ext uri="{FF2B5EF4-FFF2-40B4-BE49-F238E27FC236}">
                <a16:creationId xmlns:a16="http://schemas.microsoft.com/office/drawing/2014/main" id="{18B82CDE-457D-A42E-DA30-501F652816FC}"/>
              </a:ext>
            </a:extLst>
          </p:cNvPr>
          <p:cNvSpPr/>
          <p:nvPr/>
        </p:nvSpPr>
        <p:spPr>
          <a:xfrm>
            <a:off x="6607870" y="5395743"/>
            <a:ext cx="358927" cy="3589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Century Gothic" panose="020B0502020202020204" pitchFamily="34" charset="0"/>
            </a:endParaRPr>
          </a:p>
        </p:txBody>
      </p:sp>
      <p:cxnSp>
        <p:nvCxnSpPr>
          <p:cNvPr id="44" name="Straight Connector 80">
            <a:extLst>
              <a:ext uri="{FF2B5EF4-FFF2-40B4-BE49-F238E27FC236}">
                <a16:creationId xmlns:a16="http://schemas.microsoft.com/office/drawing/2014/main" id="{3AED6576-4A09-006E-D5EE-D93AD8B26BB6}"/>
              </a:ext>
            </a:extLst>
          </p:cNvPr>
          <p:cNvCxnSpPr/>
          <p:nvPr/>
        </p:nvCxnSpPr>
        <p:spPr>
          <a:xfrm flipV="1">
            <a:off x="6966797" y="4990725"/>
            <a:ext cx="904891" cy="563762"/>
          </a:xfrm>
          <a:prstGeom prst="line">
            <a:avLst/>
          </a:prstGeom>
        </p:spPr>
        <p:style>
          <a:lnRef idx="2">
            <a:schemeClr val="accent1"/>
          </a:lnRef>
          <a:fillRef idx="0">
            <a:schemeClr val="accent1"/>
          </a:fillRef>
          <a:effectRef idx="1">
            <a:schemeClr val="accent1"/>
          </a:effectRef>
          <a:fontRef idx="minor">
            <a:schemeClr val="tx1"/>
          </a:fontRef>
        </p:style>
      </p:cxnSp>
      <p:sp>
        <p:nvSpPr>
          <p:cNvPr id="45" name="TextBox 81">
            <a:extLst>
              <a:ext uri="{FF2B5EF4-FFF2-40B4-BE49-F238E27FC236}">
                <a16:creationId xmlns:a16="http://schemas.microsoft.com/office/drawing/2014/main" id="{518A3AF7-92F1-8033-9948-CB4A85E235E5}"/>
              </a:ext>
            </a:extLst>
          </p:cNvPr>
          <p:cNvSpPr txBox="1"/>
          <p:nvPr/>
        </p:nvSpPr>
        <p:spPr>
          <a:xfrm>
            <a:off x="6281726" y="5051096"/>
            <a:ext cx="1031051" cy="261610"/>
          </a:xfrm>
          <a:prstGeom prst="rect">
            <a:avLst/>
          </a:prstGeom>
          <a:noFill/>
        </p:spPr>
        <p:txBody>
          <a:bodyPr wrap="none" rtlCol="0">
            <a:spAutoFit/>
          </a:bodyPr>
          <a:lstStyle/>
          <a:p>
            <a:pPr algn="ctr"/>
            <a:r>
              <a:rPr lang="es-ES_tradnl" sz="1100" i="1" dirty="0">
                <a:solidFill>
                  <a:schemeClr val="accent1"/>
                </a:solidFill>
                <a:latin typeface="Century Gothic" panose="020B0502020202020204" pitchFamily="34" charset="0"/>
              </a:rPr>
              <a:t>¿Hay Fallas?</a:t>
            </a:r>
          </a:p>
        </p:txBody>
      </p:sp>
      <p:cxnSp>
        <p:nvCxnSpPr>
          <p:cNvPr id="46" name="Straight Connector 82">
            <a:extLst>
              <a:ext uri="{FF2B5EF4-FFF2-40B4-BE49-F238E27FC236}">
                <a16:creationId xmlns:a16="http://schemas.microsoft.com/office/drawing/2014/main" id="{C3046AF2-1C4E-64ED-7873-690EBAA44985}"/>
              </a:ext>
            </a:extLst>
          </p:cNvPr>
          <p:cNvCxnSpPr>
            <a:stCxn id="43" idx="6"/>
          </p:cNvCxnSpPr>
          <p:nvPr/>
        </p:nvCxnSpPr>
        <p:spPr>
          <a:xfrm>
            <a:off x="6966797" y="5575206"/>
            <a:ext cx="904891" cy="469374"/>
          </a:xfrm>
          <a:prstGeom prst="line">
            <a:avLst/>
          </a:prstGeom>
        </p:spPr>
        <p:style>
          <a:lnRef idx="2">
            <a:schemeClr val="accent1"/>
          </a:lnRef>
          <a:fillRef idx="0">
            <a:schemeClr val="accent1"/>
          </a:fillRef>
          <a:effectRef idx="1">
            <a:schemeClr val="accent1"/>
          </a:effectRef>
          <a:fontRef idx="minor">
            <a:schemeClr val="tx1"/>
          </a:fontRef>
        </p:style>
      </p:cxnSp>
      <p:sp>
        <p:nvSpPr>
          <p:cNvPr id="47" name="TextBox 83">
            <a:extLst>
              <a:ext uri="{FF2B5EF4-FFF2-40B4-BE49-F238E27FC236}">
                <a16:creationId xmlns:a16="http://schemas.microsoft.com/office/drawing/2014/main" id="{144A8C23-0D85-7EB3-0446-779C27551765}"/>
              </a:ext>
            </a:extLst>
          </p:cNvPr>
          <p:cNvSpPr txBox="1"/>
          <p:nvPr/>
        </p:nvSpPr>
        <p:spPr>
          <a:xfrm>
            <a:off x="7918919" y="4737474"/>
            <a:ext cx="3553944" cy="261610"/>
          </a:xfrm>
          <a:prstGeom prst="rect">
            <a:avLst/>
          </a:prstGeom>
          <a:noFill/>
        </p:spPr>
        <p:txBody>
          <a:bodyPr wrap="square" rtlCol="0">
            <a:spAutoFit/>
          </a:bodyPr>
          <a:lstStyle/>
          <a:p>
            <a:r>
              <a:rPr lang="es-ES_tradnl" sz="1100" b="1" i="1" dirty="0">
                <a:solidFill>
                  <a:srgbClr val="C00000"/>
                </a:solidFill>
                <a:latin typeface="Century Gothic" panose="020B0502020202020204" pitchFamily="34" charset="0"/>
              </a:rPr>
              <a:t>$125.486 - $110.000 - $1.000 - $28.000 = -$13.514</a:t>
            </a:r>
          </a:p>
        </p:txBody>
      </p:sp>
      <p:sp>
        <p:nvSpPr>
          <p:cNvPr id="48" name="TextBox 84">
            <a:extLst>
              <a:ext uri="{FF2B5EF4-FFF2-40B4-BE49-F238E27FC236}">
                <a16:creationId xmlns:a16="http://schemas.microsoft.com/office/drawing/2014/main" id="{BF527222-F504-C504-209C-7733977C6C19}"/>
              </a:ext>
            </a:extLst>
          </p:cNvPr>
          <p:cNvSpPr txBox="1"/>
          <p:nvPr/>
        </p:nvSpPr>
        <p:spPr>
          <a:xfrm>
            <a:off x="7918919" y="5865159"/>
            <a:ext cx="3025305" cy="261610"/>
          </a:xfrm>
          <a:prstGeom prst="rect">
            <a:avLst/>
          </a:prstGeom>
          <a:noFill/>
        </p:spPr>
        <p:txBody>
          <a:bodyPr wrap="square" rtlCol="0">
            <a:spAutoFit/>
          </a:bodyPr>
          <a:lstStyle/>
          <a:p>
            <a:r>
              <a:rPr lang="es-ES_tradnl" sz="1100" b="1" i="1" dirty="0">
                <a:solidFill>
                  <a:srgbClr val="C00000"/>
                </a:solidFill>
                <a:latin typeface="Century Gothic" panose="020B0502020202020204" pitchFamily="34" charset="0"/>
              </a:rPr>
              <a:t>$125.486 - $110.000 - $1.000  = $14.486</a:t>
            </a:r>
          </a:p>
        </p:txBody>
      </p:sp>
      <p:sp>
        <p:nvSpPr>
          <p:cNvPr id="49" name="TextBox 85">
            <a:extLst>
              <a:ext uri="{FF2B5EF4-FFF2-40B4-BE49-F238E27FC236}">
                <a16:creationId xmlns:a16="http://schemas.microsoft.com/office/drawing/2014/main" id="{5288A71F-FC4D-54A8-9183-C7846BB8821B}"/>
              </a:ext>
            </a:extLst>
          </p:cNvPr>
          <p:cNvSpPr txBox="1"/>
          <p:nvPr/>
        </p:nvSpPr>
        <p:spPr>
          <a:xfrm>
            <a:off x="7364128" y="5199139"/>
            <a:ext cx="463588"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20%</a:t>
            </a:r>
          </a:p>
        </p:txBody>
      </p:sp>
      <p:sp>
        <p:nvSpPr>
          <p:cNvPr id="50" name="TextBox 86">
            <a:extLst>
              <a:ext uri="{FF2B5EF4-FFF2-40B4-BE49-F238E27FC236}">
                <a16:creationId xmlns:a16="http://schemas.microsoft.com/office/drawing/2014/main" id="{EF9A0BE2-EA76-33F8-F368-ACB2DCDA2377}"/>
              </a:ext>
            </a:extLst>
          </p:cNvPr>
          <p:cNvSpPr txBox="1"/>
          <p:nvPr/>
        </p:nvSpPr>
        <p:spPr>
          <a:xfrm>
            <a:off x="7356643" y="5526414"/>
            <a:ext cx="463588"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80%</a:t>
            </a:r>
          </a:p>
        </p:txBody>
      </p:sp>
      <p:sp>
        <p:nvSpPr>
          <p:cNvPr id="51" name="TextBox 92">
            <a:extLst>
              <a:ext uri="{FF2B5EF4-FFF2-40B4-BE49-F238E27FC236}">
                <a16:creationId xmlns:a16="http://schemas.microsoft.com/office/drawing/2014/main" id="{C5B095D5-A878-DB25-11B1-743EBEA805F0}"/>
              </a:ext>
            </a:extLst>
          </p:cNvPr>
          <p:cNvSpPr txBox="1"/>
          <p:nvPr/>
        </p:nvSpPr>
        <p:spPr>
          <a:xfrm>
            <a:off x="7403232" y="4856891"/>
            <a:ext cx="284052"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Si</a:t>
            </a:r>
          </a:p>
        </p:txBody>
      </p:sp>
      <p:sp>
        <p:nvSpPr>
          <p:cNvPr id="52" name="TextBox 93">
            <a:extLst>
              <a:ext uri="{FF2B5EF4-FFF2-40B4-BE49-F238E27FC236}">
                <a16:creationId xmlns:a16="http://schemas.microsoft.com/office/drawing/2014/main" id="{A08F9F32-A29D-69AD-BB85-73BFEF2A08D8}"/>
              </a:ext>
            </a:extLst>
          </p:cNvPr>
          <p:cNvSpPr txBox="1"/>
          <p:nvPr/>
        </p:nvSpPr>
        <p:spPr>
          <a:xfrm>
            <a:off x="7378411" y="5887882"/>
            <a:ext cx="38183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No</a:t>
            </a:r>
          </a:p>
        </p:txBody>
      </p:sp>
      <p:sp>
        <p:nvSpPr>
          <p:cNvPr id="53" name="TextBox 88">
            <a:extLst>
              <a:ext uri="{FF2B5EF4-FFF2-40B4-BE49-F238E27FC236}">
                <a16:creationId xmlns:a16="http://schemas.microsoft.com/office/drawing/2014/main" id="{39941A91-2085-AE98-04EB-9585A8D5EE6D}"/>
              </a:ext>
            </a:extLst>
          </p:cNvPr>
          <p:cNvSpPr txBox="1"/>
          <p:nvPr/>
        </p:nvSpPr>
        <p:spPr>
          <a:xfrm>
            <a:off x="6331370" y="4057538"/>
            <a:ext cx="1119217" cy="261610"/>
          </a:xfrm>
          <a:prstGeom prst="rect">
            <a:avLst/>
          </a:prstGeom>
          <a:noFill/>
        </p:spPr>
        <p:txBody>
          <a:bodyPr wrap="none" rtlCol="0">
            <a:spAutoFit/>
          </a:bodyPr>
          <a:lstStyle/>
          <a:p>
            <a:r>
              <a:rPr lang="es-ES_tradnl" sz="1100" b="1" i="1" dirty="0">
                <a:solidFill>
                  <a:srgbClr val="D7A700"/>
                </a:solidFill>
                <a:latin typeface="Century Gothic" panose="020B0502020202020204" pitchFamily="34" charset="0"/>
              </a:rPr>
              <a:t>E(x) = $16.686</a:t>
            </a:r>
          </a:p>
        </p:txBody>
      </p:sp>
      <p:sp>
        <p:nvSpPr>
          <p:cNvPr id="54" name="TextBox 89">
            <a:extLst>
              <a:ext uri="{FF2B5EF4-FFF2-40B4-BE49-F238E27FC236}">
                <a16:creationId xmlns:a16="http://schemas.microsoft.com/office/drawing/2014/main" id="{ADD89860-80CC-EA12-F83B-5E2BB5A0E984}"/>
              </a:ext>
            </a:extLst>
          </p:cNvPr>
          <p:cNvSpPr txBox="1"/>
          <p:nvPr/>
        </p:nvSpPr>
        <p:spPr>
          <a:xfrm>
            <a:off x="6261247" y="5778654"/>
            <a:ext cx="1040670" cy="261610"/>
          </a:xfrm>
          <a:prstGeom prst="rect">
            <a:avLst/>
          </a:prstGeom>
          <a:noFill/>
        </p:spPr>
        <p:txBody>
          <a:bodyPr wrap="none" rtlCol="0">
            <a:spAutoFit/>
          </a:bodyPr>
          <a:lstStyle/>
          <a:p>
            <a:r>
              <a:rPr lang="es-ES_tradnl" sz="1100" b="1" i="1" dirty="0">
                <a:solidFill>
                  <a:srgbClr val="D7A700"/>
                </a:solidFill>
                <a:latin typeface="Century Gothic" panose="020B0502020202020204" pitchFamily="34" charset="0"/>
              </a:rPr>
              <a:t>E(x) = $8.886</a:t>
            </a:r>
          </a:p>
        </p:txBody>
      </p:sp>
      <p:sp>
        <p:nvSpPr>
          <p:cNvPr id="56" name="TextBox 36">
            <a:extLst>
              <a:ext uri="{FF2B5EF4-FFF2-40B4-BE49-F238E27FC236}">
                <a16:creationId xmlns:a16="http://schemas.microsoft.com/office/drawing/2014/main" id="{F8A28542-7B25-DCD5-27EB-BC006B6E3464}"/>
              </a:ext>
            </a:extLst>
          </p:cNvPr>
          <p:cNvSpPr txBox="1"/>
          <p:nvPr/>
        </p:nvSpPr>
        <p:spPr>
          <a:xfrm>
            <a:off x="4412719" y="4057538"/>
            <a:ext cx="696024" cy="261610"/>
          </a:xfrm>
          <a:prstGeom prst="rect">
            <a:avLst/>
          </a:prstGeom>
          <a:noFill/>
        </p:spPr>
        <p:txBody>
          <a:bodyPr wrap="none" rtlCol="0">
            <a:spAutoFit/>
          </a:bodyPr>
          <a:lstStyle/>
          <a:p>
            <a:r>
              <a:rPr lang="es-ES_tradnl" sz="1100" b="1" i="1" dirty="0">
                <a:solidFill>
                  <a:schemeClr val="accent2"/>
                </a:solidFill>
                <a:latin typeface="Century Gothic" panose="020B0502020202020204" pitchFamily="34" charset="0"/>
              </a:rPr>
              <a:t>$16.686</a:t>
            </a:r>
          </a:p>
        </p:txBody>
      </p:sp>
      <p:sp>
        <p:nvSpPr>
          <p:cNvPr id="57" name="TextBox 88">
            <a:extLst>
              <a:ext uri="{FF2B5EF4-FFF2-40B4-BE49-F238E27FC236}">
                <a16:creationId xmlns:a16="http://schemas.microsoft.com/office/drawing/2014/main" id="{ABB2A6AA-4A40-95AE-5F38-B075618055FA}"/>
              </a:ext>
            </a:extLst>
          </p:cNvPr>
          <p:cNvSpPr txBox="1"/>
          <p:nvPr/>
        </p:nvSpPr>
        <p:spPr>
          <a:xfrm>
            <a:off x="2901726" y="4917415"/>
            <a:ext cx="1040670" cy="261610"/>
          </a:xfrm>
          <a:prstGeom prst="rect">
            <a:avLst/>
          </a:prstGeom>
          <a:noFill/>
        </p:spPr>
        <p:txBody>
          <a:bodyPr wrap="none" rtlCol="0">
            <a:spAutoFit/>
          </a:bodyPr>
          <a:lstStyle/>
          <a:p>
            <a:r>
              <a:rPr lang="es-ES_tradnl" sz="1100" b="1" i="1" dirty="0">
                <a:solidFill>
                  <a:srgbClr val="D7A700"/>
                </a:solidFill>
                <a:latin typeface="Century Gothic" panose="020B0502020202020204" pitchFamily="34" charset="0"/>
              </a:rPr>
              <a:t>E(x) = $2.537</a:t>
            </a:r>
          </a:p>
        </p:txBody>
      </p:sp>
      <p:sp>
        <p:nvSpPr>
          <p:cNvPr id="58" name="Rectángulo 57">
            <a:extLst>
              <a:ext uri="{FF2B5EF4-FFF2-40B4-BE49-F238E27FC236}">
                <a16:creationId xmlns:a16="http://schemas.microsoft.com/office/drawing/2014/main" id="{820B43D6-4628-9504-F87F-A6FBE3C9E7D4}"/>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5347911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87D5997-28F3-EC8A-213B-5E89C41FD075}"/>
              </a:ext>
            </a:extLst>
          </p:cNvPr>
          <p:cNvSpPr>
            <a:spLocks noGrp="1"/>
          </p:cNvSpPr>
          <p:nvPr>
            <p:ph type="title"/>
          </p:nvPr>
        </p:nvSpPr>
        <p:spPr/>
        <p:txBody>
          <a:bodyPr>
            <a:normAutofit/>
          </a:bodyPr>
          <a:lstStyle/>
          <a:p>
            <a:r>
              <a:rPr lang="es-ES_tradnl" dirty="0">
                <a:latin typeface="Century Gothic" panose="020B0502020202020204" pitchFamily="34" charset="0"/>
              </a:rPr>
              <a:t>Árboles de Decisión</a:t>
            </a:r>
          </a:p>
        </p:txBody>
      </p:sp>
      <p:sp>
        <p:nvSpPr>
          <p:cNvPr id="55" name="Content Placeholder 2">
            <a:extLst>
              <a:ext uri="{FF2B5EF4-FFF2-40B4-BE49-F238E27FC236}">
                <a16:creationId xmlns:a16="http://schemas.microsoft.com/office/drawing/2014/main" id="{06ED3914-1160-E068-5EFA-6F79BA7334C2}"/>
              </a:ext>
            </a:extLst>
          </p:cNvPr>
          <p:cNvSpPr>
            <a:spLocks noGrp="1"/>
          </p:cNvSpPr>
          <p:nvPr>
            <p:ph idx="1"/>
          </p:nvPr>
        </p:nvSpPr>
        <p:spPr>
          <a:xfrm>
            <a:off x="581192" y="2180496"/>
            <a:ext cx="3143265" cy="996091"/>
          </a:xfrm>
        </p:spPr>
        <p:txBody>
          <a:bodyPr>
            <a:normAutofit/>
          </a:bodyPr>
          <a:lstStyle/>
          <a:p>
            <a:pPr marL="0" indent="0" algn="ctr">
              <a:buNone/>
            </a:pPr>
            <a:r>
              <a:rPr lang="es-MX" sz="1600" b="1" dirty="0">
                <a:solidFill>
                  <a:srgbClr val="C00000"/>
                </a:solidFill>
                <a:latin typeface="Century Gothic" panose="020B0502020202020204" pitchFamily="34" charset="0"/>
              </a:rPr>
              <a:t>¿Cómo manejaría la concesión?</a:t>
            </a:r>
            <a:endParaRPr lang="es-CO" sz="1600" b="1" dirty="0">
              <a:solidFill>
                <a:srgbClr val="C00000"/>
              </a:solidFill>
              <a:latin typeface="Century Gothic" panose="020B0502020202020204" pitchFamily="34" charset="0"/>
            </a:endParaRPr>
          </a:p>
        </p:txBody>
      </p:sp>
      <p:sp>
        <p:nvSpPr>
          <p:cNvPr id="4" name="Slide Number Placeholder 3"/>
          <p:cNvSpPr>
            <a:spLocks noGrp="1"/>
          </p:cNvSpPr>
          <p:nvPr>
            <p:ph type="sldNum" sz="quarter" idx="12"/>
          </p:nvPr>
        </p:nvSpPr>
        <p:spPr/>
        <p:txBody>
          <a:bodyPr/>
          <a:lstStyle/>
          <a:p>
            <a:fld id="{5E3E23BA-6E79-2442-BA73-D218A5E297C3}" type="slidenum">
              <a:rPr lang="en-US" sz="1800" smtClean="0"/>
              <a:t>65</a:t>
            </a:fld>
            <a:endParaRPr lang="en-US" sz="1800"/>
          </a:p>
        </p:txBody>
      </p:sp>
      <p:sp>
        <p:nvSpPr>
          <p:cNvPr id="9" name="Rectangle 8"/>
          <p:cNvSpPr/>
          <p:nvPr/>
        </p:nvSpPr>
        <p:spPr>
          <a:xfrm>
            <a:off x="1853893" y="4856891"/>
            <a:ext cx="345143" cy="34514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524001" y="4539335"/>
            <a:ext cx="990977"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¿Licitamos?</a:t>
            </a:r>
          </a:p>
        </p:txBody>
      </p:sp>
      <p:sp>
        <p:nvSpPr>
          <p:cNvPr id="13" name="Oval 12"/>
          <p:cNvSpPr/>
          <p:nvPr/>
        </p:nvSpPr>
        <p:spPr>
          <a:xfrm>
            <a:off x="3240122" y="4539335"/>
            <a:ext cx="358927" cy="3589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9" idx="3"/>
            <a:endCxn id="13" idx="2"/>
          </p:cNvCxnSpPr>
          <p:nvPr/>
        </p:nvCxnSpPr>
        <p:spPr>
          <a:xfrm flipV="1">
            <a:off x="2199035" y="4718798"/>
            <a:ext cx="1041086" cy="310664"/>
          </a:xfrm>
          <a:prstGeom prst="line">
            <a:avLst/>
          </a:prstGeom>
          <a:ln w="57150"/>
        </p:spPr>
        <p:style>
          <a:lnRef idx="2">
            <a:schemeClr val="accent2"/>
          </a:lnRef>
          <a:fillRef idx="0">
            <a:schemeClr val="accent2"/>
          </a:fillRef>
          <a:effectRef idx="1">
            <a:schemeClr val="accent2"/>
          </a:effectRef>
          <a:fontRef idx="minor">
            <a:schemeClr val="tx1"/>
          </a:fontRef>
        </p:style>
      </p:cxnSp>
      <p:cxnSp>
        <p:nvCxnSpPr>
          <p:cNvPr id="16" name="Straight Connector 15"/>
          <p:cNvCxnSpPr>
            <a:stCxn id="9" idx="3"/>
          </p:cNvCxnSpPr>
          <p:nvPr/>
        </p:nvCxnSpPr>
        <p:spPr>
          <a:xfrm>
            <a:off x="2199035" y="5029463"/>
            <a:ext cx="1041086" cy="669577"/>
          </a:xfrm>
          <a:prstGeom prst="line">
            <a:avLst/>
          </a:prstGeom>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656297" y="4829736"/>
            <a:ext cx="284052"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Sí</a:t>
            </a:r>
          </a:p>
        </p:txBody>
      </p:sp>
      <p:sp>
        <p:nvSpPr>
          <p:cNvPr id="23" name="TextBox 22"/>
          <p:cNvSpPr txBox="1"/>
          <p:nvPr/>
        </p:nvSpPr>
        <p:spPr>
          <a:xfrm>
            <a:off x="2549146" y="5436708"/>
            <a:ext cx="38183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No</a:t>
            </a:r>
          </a:p>
        </p:txBody>
      </p:sp>
      <p:sp>
        <p:nvSpPr>
          <p:cNvPr id="24" name="TextBox 23"/>
          <p:cNvSpPr txBox="1"/>
          <p:nvPr/>
        </p:nvSpPr>
        <p:spPr>
          <a:xfrm>
            <a:off x="2805901" y="4022066"/>
            <a:ext cx="1152880" cy="430887"/>
          </a:xfrm>
          <a:prstGeom prst="rect">
            <a:avLst/>
          </a:prstGeom>
          <a:noFill/>
        </p:spPr>
        <p:txBody>
          <a:bodyPr wrap="none" rtlCol="0">
            <a:spAutoFit/>
          </a:bodyPr>
          <a:lstStyle/>
          <a:p>
            <a:pPr algn="ctr"/>
            <a:r>
              <a:rPr lang="es-ES_tradnl" sz="1100" i="1" dirty="0">
                <a:solidFill>
                  <a:schemeClr val="accent1"/>
                </a:solidFill>
                <a:latin typeface="Century Gothic" panose="020B0502020202020204" pitchFamily="34" charset="0"/>
              </a:rPr>
              <a:t>¿Ganamos la </a:t>
            </a:r>
          </a:p>
          <a:p>
            <a:pPr algn="ctr"/>
            <a:r>
              <a:rPr lang="es-ES_tradnl" sz="1100" i="1" dirty="0">
                <a:solidFill>
                  <a:schemeClr val="accent1"/>
                </a:solidFill>
                <a:latin typeface="Century Gothic" panose="020B0502020202020204" pitchFamily="34" charset="0"/>
              </a:rPr>
              <a:t>licitación?</a:t>
            </a:r>
          </a:p>
        </p:txBody>
      </p:sp>
      <p:cxnSp>
        <p:nvCxnSpPr>
          <p:cNvPr id="25" name="Straight Connector 24"/>
          <p:cNvCxnSpPr>
            <a:stCxn id="13" idx="6"/>
          </p:cNvCxnSpPr>
          <p:nvPr/>
        </p:nvCxnSpPr>
        <p:spPr>
          <a:xfrm flipV="1">
            <a:off x="3599048" y="3862876"/>
            <a:ext cx="948218" cy="855922"/>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p:cNvCxnSpPr>
            <a:stCxn id="13" idx="6"/>
          </p:cNvCxnSpPr>
          <p:nvPr/>
        </p:nvCxnSpPr>
        <p:spPr>
          <a:xfrm>
            <a:off x="3599048" y="4718799"/>
            <a:ext cx="948218" cy="980241"/>
          </a:xfrm>
          <a:prstGeom prst="line">
            <a:avLst/>
          </a:prstGeom>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229467" y="4166656"/>
            <a:ext cx="284052"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Sí</a:t>
            </a:r>
          </a:p>
        </p:txBody>
      </p:sp>
      <p:sp>
        <p:nvSpPr>
          <p:cNvPr id="34" name="TextBox 33"/>
          <p:cNvSpPr txBox="1"/>
          <p:nvPr/>
        </p:nvSpPr>
        <p:spPr>
          <a:xfrm>
            <a:off x="4122316" y="5699040"/>
            <a:ext cx="38183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No</a:t>
            </a:r>
          </a:p>
        </p:txBody>
      </p:sp>
      <p:sp>
        <p:nvSpPr>
          <p:cNvPr id="36" name="TextBox 35"/>
          <p:cNvSpPr txBox="1"/>
          <p:nvPr/>
        </p:nvSpPr>
        <p:spPr>
          <a:xfrm>
            <a:off x="3290853" y="5673151"/>
            <a:ext cx="341760" cy="261610"/>
          </a:xfrm>
          <a:prstGeom prst="rect">
            <a:avLst/>
          </a:prstGeom>
          <a:noFill/>
        </p:spPr>
        <p:txBody>
          <a:bodyPr wrap="none" rtlCol="0">
            <a:spAutoFit/>
          </a:bodyPr>
          <a:lstStyle/>
          <a:p>
            <a:r>
              <a:rPr lang="es-ES_tradnl" sz="1100" b="1" i="1" dirty="0">
                <a:solidFill>
                  <a:srgbClr val="C00000"/>
                </a:solidFill>
                <a:latin typeface="Century Gothic" panose="020B0502020202020204" pitchFamily="34" charset="0"/>
              </a:rPr>
              <a:t>$0</a:t>
            </a:r>
          </a:p>
        </p:txBody>
      </p:sp>
      <p:sp>
        <p:nvSpPr>
          <p:cNvPr id="37" name="TextBox 36"/>
          <p:cNvSpPr txBox="1"/>
          <p:nvPr/>
        </p:nvSpPr>
        <p:spPr>
          <a:xfrm>
            <a:off x="4547266" y="5575207"/>
            <a:ext cx="676788" cy="261610"/>
          </a:xfrm>
          <a:prstGeom prst="rect">
            <a:avLst/>
          </a:prstGeom>
          <a:noFill/>
        </p:spPr>
        <p:txBody>
          <a:bodyPr wrap="none" rtlCol="0">
            <a:spAutoFit/>
          </a:bodyPr>
          <a:lstStyle/>
          <a:p>
            <a:r>
              <a:rPr lang="es-ES_tradnl" sz="1100" b="1" i="1" dirty="0">
                <a:solidFill>
                  <a:srgbClr val="C00000"/>
                </a:solidFill>
                <a:latin typeface="Century Gothic" panose="020B0502020202020204" pitchFamily="34" charset="0"/>
              </a:rPr>
              <a:t>-$1.000</a:t>
            </a:r>
          </a:p>
        </p:txBody>
      </p:sp>
      <p:sp>
        <p:nvSpPr>
          <p:cNvPr id="38" name="TextBox 37"/>
          <p:cNvSpPr txBox="1"/>
          <p:nvPr/>
        </p:nvSpPr>
        <p:spPr>
          <a:xfrm>
            <a:off x="3857112" y="5298208"/>
            <a:ext cx="405880"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4/5</a:t>
            </a:r>
          </a:p>
        </p:txBody>
      </p:sp>
      <p:sp>
        <p:nvSpPr>
          <p:cNvPr id="39" name="TextBox 38"/>
          <p:cNvSpPr txBox="1"/>
          <p:nvPr/>
        </p:nvSpPr>
        <p:spPr>
          <a:xfrm>
            <a:off x="3850356" y="3862877"/>
            <a:ext cx="405880"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1/5</a:t>
            </a:r>
          </a:p>
        </p:txBody>
      </p:sp>
      <p:sp>
        <p:nvSpPr>
          <p:cNvPr id="41" name="TextBox 40"/>
          <p:cNvSpPr txBox="1"/>
          <p:nvPr/>
        </p:nvSpPr>
        <p:spPr>
          <a:xfrm>
            <a:off x="3891274" y="3176587"/>
            <a:ext cx="1308371" cy="430887"/>
          </a:xfrm>
          <a:prstGeom prst="rect">
            <a:avLst/>
          </a:prstGeom>
          <a:noFill/>
        </p:spPr>
        <p:txBody>
          <a:bodyPr wrap="none" rtlCol="0">
            <a:spAutoFit/>
          </a:bodyPr>
          <a:lstStyle/>
          <a:p>
            <a:pPr algn="ctr"/>
            <a:r>
              <a:rPr lang="es-ES_tradnl" sz="1100" i="1" dirty="0">
                <a:solidFill>
                  <a:schemeClr val="accent1"/>
                </a:solidFill>
                <a:latin typeface="Century Gothic" panose="020B0502020202020204" pitchFamily="34" charset="0"/>
              </a:rPr>
              <a:t>¿Cómo manejo </a:t>
            </a:r>
          </a:p>
          <a:p>
            <a:pPr algn="ctr"/>
            <a:r>
              <a:rPr lang="es-ES_tradnl" sz="1100" i="1" dirty="0">
                <a:solidFill>
                  <a:schemeClr val="accent1"/>
                </a:solidFill>
                <a:latin typeface="Century Gothic" panose="020B0502020202020204" pitchFamily="34" charset="0"/>
              </a:rPr>
              <a:t>la concesión?</a:t>
            </a:r>
          </a:p>
        </p:txBody>
      </p:sp>
      <p:sp>
        <p:nvSpPr>
          <p:cNvPr id="3" name="Rectángulo 2">
            <a:extLst>
              <a:ext uri="{FF2B5EF4-FFF2-40B4-BE49-F238E27FC236}">
                <a16:creationId xmlns:a16="http://schemas.microsoft.com/office/drawing/2014/main" id="{32B05DB8-BBD1-61AF-F897-E82857768F8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987D329D-CD5B-343D-56CF-31306D5D98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9">
            <a:extLst>
              <a:ext uri="{FF2B5EF4-FFF2-40B4-BE49-F238E27FC236}">
                <a16:creationId xmlns:a16="http://schemas.microsoft.com/office/drawing/2014/main" id="{A440A21B-31F5-3732-9636-6E08BCEB06D6}"/>
              </a:ext>
            </a:extLst>
          </p:cNvPr>
          <p:cNvSpPr/>
          <p:nvPr/>
        </p:nvSpPr>
        <p:spPr>
          <a:xfrm>
            <a:off x="4559668" y="3690305"/>
            <a:ext cx="345143" cy="34514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41">
            <a:extLst>
              <a:ext uri="{FF2B5EF4-FFF2-40B4-BE49-F238E27FC236}">
                <a16:creationId xmlns:a16="http://schemas.microsoft.com/office/drawing/2014/main" id="{0D2EE247-E139-BC91-D3C2-38BA3E46EE3F}"/>
              </a:ext>
            </a:extLst>
          </p:cNvPr>
          <p:cNvCxnSpPr>
            <a:stCxn id="2" idx="3"/>
          </p:cNvCxnSpPr>
          <p:nvPr/>
        </p:nvCxnSpPr>
        <p:spPr>
          <a:xfrm flipV="1">
            <a:off x="4904810" y="2178576"/>
            <a:ext cx="1478504" cy="1684300"/>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58">
            <a:extLst>
              <a:ext uri="{FF2B5EF4-FFF2-40B4-BE49-F238E27FC236}">
                <a16:creationId xmlns:a16="http://schemas.microsoft.com/office/drawing/2014/main" id="{A17B9839-5F44-86AF-5743-84A5289E7523}"/>
              </a:ext>
            </a:extLst>
          </p:cNvPr>
          <p:cNvSpPr txBox="1"/>
          <p:nvPr/>
        </p:nvSpPr>
        <p:spPr>
          <a:xfrm>
            <a:off x="5123094" y="2591002"/>
            <a:ext cx="71846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Soacha</a:t>
            </a:r>
          </a:p>
        </p:txBody>
      </p:sp>
      <p:sp>
        <p:nvSpPr>
          <p:cNvPr id="14" name="TextBox 61">
            <a:extLst>
              <a:ext uri="{FF2B5EF4-FFF2-40B4-BE49-F238E27FC236}">
                <a16:creationId xmlns:a16="http://schemas.microsoft.com/office/drawing/2014/main" id="{9AC4FD1A-2642-AF82-FB9E-C75D81CDF307}"/>
              </a:ext>
            </a:extLst>
          </p:cNvPr>
          <p:cNvSpPr txBox="1"/>
          <p:nvPr/>
        </p:nvSpPr>
        <p:spPr>
          <a:xfrm>
            <a:off x="6430588" y="2039658"/>
            <a:ext cx="2714205" cy="261610"/>
          </a:xfrm>
          <a:prstGeom prst="rect">
            <a:avLst/>
          </a:prstGeom>
          <a:noFill/>
        </p:spPr>
        <p:txBody>
          <a:bodyPr wrap="none" rtlCol="0">
            <a:spAutoFit/>
          </a:bodyPr>
          <a:lstStyle/>
          <a:p>
            <a:r>
              <a:rPr lang="es-ES_tradnl" sz="1100" b="1" i="1" dirty="0">
                <a:solidFill>
                  <a:srgbClr val="C00000"/>
                </a:solidFill>
                <a:latin typeface="Century Gothic" panose="020B0502020202020204" pitchFamily="34" charset="0"/>
              </a:rPr>
              <a:t>$125.486 - $118.000 - $1.000 = $6.486 </a:t>
            </a:r>
          </a:p>
        </p:txBody>
      </p:sp>
      <p:cxnSp>
        <p:nvCxnSpPr>
          <p:cNvPr id="17" name="Straight Connector 44">
            <a:extLst>
              <a:ext uri="{FF2B5EF4-FFF2-40B4-BE49-F238E27FC236}">
                <a16:creationId xmlns:a16="http://schemas.microsoft.com/office/drawing/2014/main" id="{72EF1A67-84FD-D76B-19A0-D55DA7FE770F}"/>
              </a:ext>
            </a:extLst>
          </p:cNvPr>
          <p:cNvCxnSpPr>
            <a:endCxn id="18" idx="2"/>
          </p:cNvCxnSpPr>
          <p:nvPr/>
        </p:nvCxnSpPr>
        <p:spPr>
          <a:xfrm>
            <a:off x="4904811" y="3862877"/>
            <a:ext cx="1814685" cy="13827"/>
          </a:xfrm>
          <a:prstGeom prst="line">
            <a:avLst/>
          </a:prstGeom>
          <a:ln w="57150"/>
        </p:spPr>
        <p:style>
          <a:lnRef idx="2">
            <a:schemeClr val="accent2"/>
          </a:lnRef>
          <a:fillRef idx="0">
            <a:schemeClr val="accent2"/>
          </a:fillRef>
          <a:effectRef idx="1">
            <a:schemeClr val="accent2"/>
          </a:effectRef>
          <a:fontRef idx="minor">
            <a:schemeClr val="tx1"/>
          </a:fontRef>
        </p:style>
      </p:cxnSp>
      <p:sp>
        <p:nvSpPr>
          <p:cNvPr id="18" name="Oval 52">
            <a:extLst>
              <a:ext uri="{FF2B5EF4-FFF2-40B4-BE49-F238E27FC236}">
                <a16:creationId xmlns:a16="http://schemas.microsoft.com/office/drawing/2014/main" id="{41B1BA45-3F71-6742-7B43-6298ADD39D38}"/>
              </a:ext>
            </a:extLst>
          </p:cNvPr>
          <p:cNvSpPr/>
          <p:nvPr/>
        </p:nvSpPr>
        <p:spPr>
          <a:xfrm>
            <a:off x="6719496" y="3697240"/>
            <a:ext cx="358927" cy="3589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59">
            <a:extLst>
              <a:ext uri="{FF2B5EF4-FFF2-40B4-BE49-F238E27FC236}">
                <a16:creationId xmlns:a16="http://schemas.microsoft.com/office/drawing/2014/main" id="{ECDDA31B-4651-9B28-7DCC-E3F9F55AC8EE}"/>
              </a:ext>
            </a:extLst>
          </p:cNvPr>
          <p:cNvSpPr txBox="1"/>
          <p:nvPr/>
        </p:nvSpPr>
        <p:spPr>
          <a:xfrm>
            <a:off x="5618950" y="3833507"/>
            <a:ext cx="68640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México</a:t>
            </a:r>
          </a:p>
        </p:txBody>
      </p:sp>
      <p:cxnSp>
        <p:nvCxnSpPr>
          <p:cNvPr id="20" name="Straight Connector 64">
            <a:extLst>
              <a:ext uri="{FF2B5EF4-FFF2-40B4-BE49-F238E27FC236}">
                <a16:creationId xmlns:a16="http://schemas.microsoft.com/office/drawing/2014/main" id="{E0334D37-50C5-EA96-B396-EE3CEB96AEB4}"/>
              </a:ext>
            </a:extLst>
          </p:cNvPr>
          <p:cNvCxnSpPr/>
          <p:nvPr/>
        </p:nvCxnSpPr>
        <p:spPr>
          <a:xfrm flipV="1">
            <a:off x="7078423" y="3292222"/>
            <a:ext cx="904891" cy="563762"/>
          </a:xfrm>
          <a:prstGeom prst="line">
            <a:avLst/>
          </a:prstGeom>
        </p:spPr>
        <p:style>
          <a:lnRef idx="2">
            <a:schemeClr val="accent1"/>
          </a:lnRef>
          <a:fillRef idx="0">
            <a:schemeClr val="accent1"/>
          </a:fillRef>
          <a:effectRef idx="1">
            <a:schemeClr val="accent1"/>
          </a:effectRef>
          <a:fontRef idx="minor">
            <a:schemeClr val="tx1"/>
          </a:fontRef>
        </p:style>
      </p:cxnSp>
      <p:sp>
        <p:nvSpPr>
          <p:cNvPr id="21" name="TextBox 66">
            <a:extLst>
              <a:ext uri="{FF2B5EF4-FFF2-40B4-BE49-F238E27FC236}">
                <a16:creationId xmlns:a16="http://schemas.microsoft.com/office/drawing/2014/main" id="{F5642F0D-F593-576B-0685-28958406507B}"/>
              </a:ext>
            </a:extLst>
          </p:cNvPr>
          <p:cNvSpPr txBox="1"/>
          <p:nvPr/>
        </p:nvSpPr>
        <p:spPr>
          <a:xfrm>
            <a:off x="6393352" y="3352593"/>
            <a:ext cx="1031051" cy="261610"/>
          </a:xfrm>
          <a:prstGeom prst="rect">
            <a:avLst/>
          </a:prstGeom>
          <a:noFill/>
        </p:spPr>
        <p:txBody>
          <a:bodyPr wrap="none" rtlCol="0">
            <a:spAutoFit/>
          </a:bodyPr>
          <a:lstStyle/>
          <a:p>
            <a:pPr algn="ctr"/>
            <a:r>
              <a:rPr lang="es-ES_tradnl" sz="1100" i="1" dirty="0">
                <a:solidFill>
                  <a:schemeClr val="accent1"/>
                </a:solidFill>
                <a:latin typeface="Century Gothic" panose="020B0502020202020204" pitchFamily="34" charset="0"/>
              </a:rPr>
              <a:t>¿Hay Fallas?</a:t>
            </a:r>
          </a:p>
        </p:txBody>
      </p:sp>
      <p:cxnSp>
        <p:nvCxnSpPr>
          <p:cNvPr id="26" name="Straight Connector 69">
            <a:extLst>
              <a:ext uri="{FF2B5EF4-FFF2-40B4-BE49-F238E27FC236}">
                <a16:creationId xmlns:a16="http://schemas.microsoft.com/office/drawing/2014/main" id="{5501A5BB-114F-56E0-E197-3D3768780FCE}"/>
              </a:ext>
            </a:extLst>
          </p:cNvPr>
          <p:cNvCxnSpPr>
            <a:stCxn id="18" idx="6"/>
          </p:cNvCxnSpPr>
          <p:nvPr/>
        </p:nvCxnSpPr>
        <p:spPr>
          <a:xfrm>
            <a:off x="7078423" y="3876703"/>
            <a:ext cx="904891" cy="469374"/>
          </a:xfrm>
          <a:prstGeom prst="line">
            <a:avLst/>
          </a:prstGeom>
        </p:spPr>
        <p:style>
          <a:lnRef idx="2">
            <a:schemeClr val="accent1"/>
          </a:lnRef>
          <a:fillRef idx="0">
            <a:schemeClr val="accent1"/>
          </a:fillRef>
          <a:effectRef idx="1">
            <a:schemeClr val="accent1"/>
          </a:effectRef>
          <a:fontRef idx="minor">
            <a:schemeClr val="tx1"/>
          </a:fontRef>
        </p:style>
      </p:cxnSp>
      <p:sp>
        <p:nvSpPr>
          <p:cNvPr id="27" name="TextBox 73">
            <a:extLst>
              <a:ext uri="{FF2B5EF4-FFF2-40B4-BE49-F238E27FC236}">
                <a16:creationId xmlns:a16="http://schemas.microsoft.com/office/drawing/2014/main" id="{28DD414B-BBD3-6741-B412-B78F7A7E0972}"/>
              </a:ext>
            </a:extLst>
          </p:cNvPr>
          <p:cNvSpPr txBox="1"/>
          <p:nvPr/>
        </p:nvSpPr>
        <p:spPr>
          <a:xfrm>
            <a:off x="8030547" y="3038971"/>
            <a:ext cx="3706826" cy="261610"/>
          </a:xfrm>
          <a:prstGeom prst="rect">
            <a:avLst/>
          </a:prstGeom>
          <a:noFill/>
        </p:spPr>
        <p:txBody>
          <a:bodyPr wrap="square" rtlCol="0">
            <a:spAutoFit/>
          </a:bodyPr>
          <a:lstStyle/>
          <a:p>
            <a:r>
              <a:rPr lang="es-ES_tradnl" sz="1100" b="1" i="1" dirty="0">
                <a:solidFill>
                  <a:srgbClr val="C00000"/>
                </a:solidFill>
                <a:latin typeface="Century Gothic" panose="020B0502020202020204" pitchFamily="34" charset="0"/>
              </a:rPr>
              <a:t>$125.486 - $85.000 - $1.000 - $57.000 = -$17.514</a:t>
            </a:r>
          </a:p>
        </p:txBody>
      </p:sp>
      <p:sp>
        <p:nvSpPr>
          <p:cNvPr id="29" name="TextBox 74">
            <a:extLst>
              <a:ext uri="{FF2B5EF4-FFF2-40B4-BE49-F238E27FC236}">
                <a16:creationId xmlns:a16="http://schemas.microsoft.com/office/drawing/2014/main" id="{E0BD1D7C-2049-AFE1-5FFD-65227E390633}"/>
              </a:ext>
            </a:extLst>
          </p:cNvPr>
          <p:cNvSpPr txBox="1"/>
          <p:nvPr/>
        </p:nvSpPr>
        <p:spPr>
          <a:xfrm>
            <a:off x="8030545" y="4166656"/>
            <a:ext cx="3256579" cy="261610"/>
          </a:xfrm>
          <a:prstGeom prst="rect">
            <a:avLst/>
          </a:prstGeom>
          <a:noFill/>
        </p:spPr>
        <p:txBody>
          <a:bodyPr wrap="square" rtlCol="0">
            <a:spAutoFit/>
          </a:bodyPr>
          <a:lstStyle/>
          <a:p>
            <a:r>
              <a:rPr lang="es-ES_tradnl" sz="1100" b="1" i="1" dirty="0">
                <a:solidFill>
                  <a:srgbClr val="C00000"/>
                </a:solidFill>
                <a:latin typeface="Century Gothic" panose="020B0502020202020204" pitchFamily="34" charset="0"/>
              </a:rPr>
              <a:t>$125.486 - $85.000 - $1.000 = $39.486</a:t>
            </a:r>
          </a:p>
        </p:txBody>
      </p:sp>
      <p:sp>
        <p:nvSpPr>
          <p:cNvPr id="30" name="TextBox 75">
            <a:extLst>
              <a:ext uri="{FF2B5EF4-FFF2-40B4-BE49-F238E27FC236}">
                <a16:creationId xmlns:a16="http://schemas.microsoft.com/office/drawing/2014/main" id="{99C32D75-8785-CB28-D1A3-53F7835FA2E0}"/>
              </a:ext>
            </a:extLst>
          </p:cNvPr>
          <p:cNvSpPr txBox="1"/>
          <p:nvPr/>
        </p:nvSpPr>
        <p:spPr>
          <a:xfrm>
            <a:off x="7475754" y="3500636"/>
            <a:ext cx="463588"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40%</a:t>
            </a:r>
          </a:p>
        </p:txBody>
      </p:sp>
      <p:sp>
        <p:nvSpPr>
          <p:cNvPr id="31" name="TextBox 76">
            <a:extLst>
              <a:ext uri="{FF2B5EF4-FFF2-40B4-BE49-F238E27FC236}">
                <a16:creationId xmlns:a16="http://schemas.microsoft.com/office/drawing/2014/main" id="{233EE703-6076-4C32-C784-C6118AB0CB1B}"/>
              </a:ext>
            </a:extLst>
          </p:cNvPr>
          <p:cNvSpPr txBox="1"/>
          <p:nvPr/>
        </p:nvSpPr>
        <p:spPr>
          <a:xfrm>
            <a:off x="7468269" y="3827911"/>
            <a:ext cx="463588"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60%</a:t>
            </a:r>
          </a:p>
        </p:txBody>
      </p:sp>
      <p:sp>
        <p:nvSpPr>
          <p:cNvPr id="32" name="TextBox 90">
            <a:extLst>
              <a:ext uri="{FF2B5EF4-FFF2-40B4-BE49-F238E27FC236}">
                <a16:creationId xmlns:a16="http://schemas.microsoft.com/office/drawing/2014/main" id="{69DFA06C-E488-F8FC-DD27-8F69CDF0C122}"/>
              </a:ext>
            </a:extLst>
          </p:cNvPr>
          <p:cNvSpPr txBox="1"/>
          <p:nvPr/>
        </p:nvSpPr>
        <p:spPr>
          <a:xfrm>
            <a:off x="7468269" y="3176587"/>
            <a:ext cx="284052"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Sí</a:t>
            </a:r>
          </a:p>
        </p:txBody>
      </p:sp>
      <p:sp>
        <p:nvSpPr>
          <p:cNvPr id="35" name="TextBox 91">
            <a:extLst>
              <a:ext uri="{FF2B5EF4-FFF2-40B4-BE49-F238E27FC236}">
                <a16:creationId xmlns:a16="http://schemas.microsoft.com/office/drawing/2014/main" id="{0A1ED2A2-A128-EBBC-874F-D939C3C4054E}"/>
              </a:ext>
            </a:extLst>
          </p:cNvPr>
          <p:cNvSpPr txBox="1"/>
          <p:nvPr/>
        </p:nvSpPr>
        <p:spPr>
          <a:xfrm>
            <a:off x="7443448" y="4207578"/>
            <a:ext cx="38183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No</a:t>
            </a:r>
          </a:p>
        </p:txBody>
      </p:sp>
      <p:cxnSp>
        <p:nvCxnSpPr>
          <p:cNvPr id="40" name="Straight Connector 48">
            <a:extLst>
              <a:ext uri="{FF2B5EF4-FFF2-40B4-BE49-F238E27FC236}">
                <a16:creationId xmlns:a16="http://schemas.microsoft.com/office/drawing/2014/main" id="{C11AA1AF-C17F-3E8B-B0D4-675C057811D6}"/>
              </a:ext>
            </a:extLst>
          </p:cNvPr>
          <p:cNvCxnSpPr>
            <a:endCxn id="43" idx="2"/>
          </p:cNvCxnSpPr>
          <p:nvPr/>
        </p:nvCxnSpPr>
        <p:spPr>
          <a:xfrm>
            <a:off x="4904811" y="3862876"/>
            <a:ext cx="1703059" cy="1712330"/>
          </a:xfrm>
          <a:prstGeom prst="line">
            <a:avLst/>
          </a:prstGeom>
        </p:spPr>
        <p:style>
          <a:lnRef idx="2">
            <a:schemeClr val="accent1"/>
          </a:lnRef>
          <a:fillRef idx="0">
            <a:schemeClr val="accent1"/>
          </a:fillRef>
          <a:effectRef idx="1">
            <a:schemeClr val="accent1"/>
          </a:effectRef>
          <a:fontRef idx="minor">
            <a:schemeClr val="tx1"/>
          </a:fontRef>
        </p:style>
      </p:cxnSp>
      <p:sp>
        <p:nvSpPr>
          <p:cNvPr id="42" name="TextBox 60">
            <a:extLst>
              <a:ext uri="{FF2B5EF4-FFF2-40B4-BE49-F238E27FC236}">
                <a16:creationId xmlns:a16="http://schemas.microsoft.com/office/drawing/2014/main" id="{61138126-AB79-1E39-3A10-6963E3251913}"/>
              </a:ext>
            </a:extLst>
          </p:cNvPr>
          <p:cNvSpPr txBox="1"/>
          <p:nvPr/>
        </p:nvSpPr>
        <p:spPr>
          <a:xfrm>
            <a:off x="5724439" y="4539334"/>
            <a:ext cx="843501"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Cemento</a:t>
            </a:r>
          </a:p>
        </p:txBody>
      </p:sp>
      <p:sp>
        <p:nvSpPr>
          <p:cNvPr id="43" name="Oval 79">
            <a:extLst>
              <a:ext uri="{FF2B5EF4-FFF2-40B4-BE49-F238E27FC236}">
                <a16:creationId xmlns:a16="http://schemas.microsoft.com/office/drawing/2014/main" id="{18B82CDE-457D-A42E-DA30-501F652816FC}"/>
              </a:ext>
            </a:extLst>
          </p:cNvPr>
          <p:cNvSpPr/>
          <p:nvPr/>
        </p:nvSpPr>
        <p:spPr>
          <a:xfrm>
            <a:off x="6607870" y="5395743"/>
            <a:ext cx="358927" cy="3589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Century Gothic" panose="020B0502020202020204" pitchFamily="34" charset="0"/>
            </a:endParaRPr>
          </a:p>
        </p:txBody>
      </p:sp>
      <p:cxnSp>
        <p:nvCxnSpPr>
          <p:cNvPr id="44" name="Straight Connector 80">
            <a:extLst>
              <a:ext uri="{FF2B5EF4-FFF2-40B4-BE49-F238E27FC236}">
                <a16:creationId xmlns:a16="http://schemas.microsoft.com/office/drawing/2014/main" id="{3AED6576-4A09-006E-D5EE-D93AD8B26BB6}"/>
              </a:ext>
            </a:extLst>
          </p:cNvPr>
          <p:cNvCxnSpPr/>
          <p:nvPr/>
        </p:nvCxnSpPr>
        <p:spPr>
          <a:xfrm flipV="1">
            <a:off x="6966797" y="4990725"/>
            <a:ext cx="904891" cy="563762"/>
          </a:xfrm>
          <a:prstGeom prst="line">
            <a:avLst/>
          </a:prstGeom>
        </p:spPr>
        <p:style>
          <a:lnRef idx="2">
            <a:schemeClr val="accent1"/>
          </a:lnRef>
          <a:fillRef idx="0">
            <a:schemeClr val="accent1"/>
          </a:fillRef>
          <a:effectRef idx="1">
            <a:schemeClr val="accent1"/>
          </a:effectRef>
          <a:fontRef idx="minor">
            <a:schemeClr val="tx1"/>
          </a:fontRef>
        </p:style>
      </p:cxnSp>
      <p:sp>
        <p:nvSpPr>
          <p:cNvPr id="45" name="TextBox 81">
            <a:extLst>
              <a:ext uri="{FF2B5EF4-FFF2-40B4-BE49-F238E27FC236}">
                <a16:creationId xmlns:a16="http://schemas.microsoft.com/office/drawing/2014/main" id="{518A3AF7-92F1-8033-9948-CB4A85E235E5}"/>
              </a:ext>
            </a:extLst>
          </p:cNvPr>
          <p:cNvSpPr txBox="1"/>
          <p:nvPr/>
        </p:nvSpPr>
        <p:spPr>
          <a:xfrm>
            <a:off x="6281726" y="5051096"/>
            <a:ext cx="1031051" cy="261610"/>
          </a:xfrm>
          <a:prstGeom prst="rect">
            <a:avLst/>
          </a:prstGeom>
          <a:noFill/>
        </p:spPr>
        <p:txBody>
          <a:bodyPr wrap="none" rtlCol="0">
            <a:spAutoFit/>
          </a:bodyPr>
          <a:lstStyle/>
          <a:p>
            <a:pPr algn="ctr"/>
            <a:r>
              <a:rPr lang="es-ES_tradnl" sz="1100" i="1" dirty="0">
                <a:solidFill>
                  <a:schemeClr val="accent1"/>
                </a:solidFill>
                <a:latin typeface="Century Gothic" panose="020B0502020202020204" pitchFamily="34" charset="0"/>
              </a:rPr>
              <a:t>¿Hay Fallas?</a:t>
            </a:r>
          </a:p>
        </p:txBody>
      </p:sp>
      <p:cxnSp>
        <p:nvCxnSpPr>
          <p:cNvPr id="46" name="Straight Connector 82">
            <a:extLst>
              <a:ext uri="{FF2B5EF4-FFF2-40B4-BE49-F238E27FC236}">
                <a16:creationId xmlns:a16="http://schemas.microsoft.com/office/drawing/2014/main" id="{C3046AF2-1C4E-64ED-7873-690EBAA44985}"/>
              </a:ext>
            </a:extLst>
          </p:cNvPr>
          <p:cNvCxnSpPr>
            <a:stCxn id="43" idx="6"/>
          </p:cNvCxnSpPr>
          <p:nvPr/>
        </p:nvCxnSpPr>
        <p:spPr>
          <a:xfrm>
            <a:off x="6966797" y="5575206"/>
            <a:ext cx="904891" cy="469374"/>
          </a:xfrm>
          <a:prstGeom prst="line">
            <a:avLst/>
          </a:prstGeom>
        </p:spPr>
        <p:style>
          <a:lnRef idx="2">
            <a:schemeClr val="accent1"/>
          </a:lnRef>
          <a:fillRef idx="0">
            <a:schemeClr val="accent1"/>
          </a:fillRef>
          <a:effectRef idx="1">
            <a:schemeClr val="accent1"/>
          </a:effectRef>
          <a:fontRef idx="minor">
            <a:schemeClr val="tx1"/>
          </a:fontRef>
        </p:style>
      </p:cxnSp>
      <p:sp>
        <p:nvSpPr>
          <p:cNvPr id="47" name="TextBox 83">
            <a:extLst>
              <a:ext uri="{FF2B5EF4-FFF2-40B4-BE49-F238E27FC236}">
                <a16:creationId xmlns:a16="http://schemas.microsoft.com/office/drawing/2014/main" id="{144A8C23-0D85-7EB3-0446-779C27551765}"/>
              </a:ext>
            </a:extLst>
          </p:cNvPr>
          <p:cNvSpPr txBox="1"/>
          <p:nvPr/>
        </p:nvSpPr>
        <p:spPr>
          <a:xfrm>
            <a:off x="7918919" y="4737474"/>
            <a:ext cx="3553944" cy="261610"/>
          </a:xfrm>
          <a:prstGeom prst="rect">
            <a:avLst/>
          </a:prstGeom>
          <a:noFill/>
        </p:spPr>
        <p:txBody>
          <a:bodyPr wrap="square" rtlCol="0">
            <a:spAutoFit/>
          </a:bodyPr>
          <a:lstStyle/>
          <a:p>
            <a:r>
              <a:rPr lang="es-ES_tradnl" sz="1100" b="1" i="1" dirty="0">
                <a:solidFill>
                  <a:srgbClr val="C00000"/>
                </a:solidFill>
                <a:latin typeface="Century Gothic" panose="020B0502020202020204" pitchFamily="34" charset="0"/>
              </a:rPr>
              <a:t>$125.486 - $110.000 - $1.000 - $28.000 = -$13.514</a:t>
            </a:r>
          </a:p>
        </p:txBody>
      </p:sp>
      <p:sp>
        <p:nvSpPr>
          <p:cNvPr id="48" name="TextBox 84">
            <a:extLst>
              <a:ext uri="{FF2B5EF4-FFF2-40B4-BE49-F238E27FC236}">
                <a16:creationId xmlns:a16="http://schemas.microsoft.com/office/drawing/2014/main" id="{BF527222-F504-C504-209C-7733977C6C19}"/>
              </a:ext>
            </a:extLst>
          </p:cNvPr>
          <p:cNvSpPr txBox="1"/>
          <p:nvPr/>
        </p:nvSpPr>
        <p:spPr>
          <a:xfrm>
            <a:off x="7918919" y="5865159"/>
            <a:ext cx="3025305" cy="261610"/>
          </a:xfrm>
          <a:prstGeom prst="rect">
            <a:avLst/>
          </a:prstGeom>
          <a:noFill/>
        </p:spPr>
        <p:txBody>
          <a:bodyPr wrap="square" rtlCol="0">
            <a:spAutoFit/>
          </a:bodyPr>
          <a:lstStyle/>
          <a:p>
            <a:r>
              <a:rPr lang="es-ES_tradnl" sz="1100" b="1" i="1" dirty="0">
                <a:solidFill>
                  <a:srgbClr val="C00000"/>
                </a:solidFill>
                <a:latin typeface="Century Gothic" panose="020B0502020202020204" pitchFamily="34" charset="0"/>
              </a:rPr>
              <a:t>$125.486 - $110.000 - $1.000  = $14.486</a:t>
            </a:r>
          </a:p>
        </p:txBody>
      </p:sp>
      <p:sp>
        <p:nvSpPr>
          <p:cNvPr id="49" name="TextBox 85">
            <a:extLst>
              <a:ext uri="{FF2B5EF4-FFF2-40B4-BE49-F238E27FC236}">
                <a16:creationId xmlns:a16="http://schemas.microsoft.com/office/drawing/2014/main" id="{5288A71F-FC4D-54A8-9183-C7846BB8821B}"/>
              </a:ext>
            </a:extLst>
          </p:cNvPr>
          <p:cNvSpPr txBox="1"/>
          <p:nvPr/>
        </p:nvSpPr>
        <p:spPr>
          <a:xfrm>
            <a:off x="7364128" y="5199139"/>
            <a:ext cx="463588"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20%</a:t>
            </a:r>
          </a:p>
        </p:txBody>
      </p:sp>
      <p:sp>
        <p:nvSpPr>
          <p:cNvPr id="50" name="TextBox 86">
            <a:extLst>
              <a:ext uri="{FF2B5EF4-FFF2-40B4-BE49-F238E27FC236}">
                <a16:creationId xmlns:a16="http://schemas.microsoft.com/office/drawing/2014/main" id="{EF9A0BE2-EA76-33F8-F368-ACB2DCDA2377}"/>
              </a:ext>
            </a:extLst>
          </p:cNvPr>
          <p:cNvSpPr txBox="1"/>
          <p:nvPr/>
        </p:nvSpPr>
        <p:spPr>
          <a:xfrm>
            <a:off x="7356643" y="5526414"/>
            <a:ext cx="463588" cy="261610"/>
          </a:xfrm>
          <a:prstGeom prst="rect">
            <a:avLst/>
          </a:prstGeom>
          <a:noFill/>
        </p:spPr>
        <p:txBody>
          <a:bodyPr wrap="none" rtlCol="0">
            <a:spAutoFit/>
          </a:bodyPr>
          <a:lstStyle/>
          <a:p>
            <a:r>
              <a:rPr lang="es-ES_tradnl" sz="1100" b="1" i="1" dirty="0">
                <a:solidFill>
                  <a:srgbClr val="00B050"/>
                </a:solidFill>
                <a:latin typeface="Century Gothic" panose="020B0502020202020204" pitchFamily="34" charset="0"/>
              </a:rPr>
              <a:t>80%</a:t>
            </a:r>
          </a:p>
        </p:txBody>
      </p:sp>
      <p:sp>
        <p:nvSpPr>
          <p:cNvPr id="51" name="TextBox 92">
            <a:extLst>
              <a:ext uri="{FF2B5EF4-FFF2-40B4-BE49-F238E27FC236}">
                <a16:creationId xmlns:a16="http://schemas.microsoft.com/office/drawing/2014/main" id="{C5B095D5-A878-DB25-11B1-743EBEA805F0}"/>
              </a:ext>
            </a:extLst>
          </p:cNvPr>
          <p:cNvSpPr txBox="1"/>
          <p:nvPr/>
        </p:nvSpPr>
        <p:spPr>
          <a:xfrm>
            <a:off x="7403232" y="4856891"/>
            <a:ext cx="284052"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Si</a:t>
            </a:r>
          </a:p>
        </p:txBody>
      </p:sp>
      <p:sp>
        <p:nvSpPr>
          <p:cNvPr id="52" name="TextBox 93">
            <a:extLst>
              <a:ext uri="{FF2B5EF4-FFF2-40B4-BE49-F238E27FC236}">
                <a16:creationId xmlns:a16="http://schemas.microsoft.com/office/drawing/2014/main" id="{A08F9F32-A29D-69AD-BB85-73BFEF2A08D8}"/>
              </a:ext>
            </a:extLst>
          </p:cNvPr>
          <p:cNvSpPr txBox="1"/>
          <p:nvPr/>
        </p:nvSpPr>
        <p:spPr>
          <a:xfrm>
            <a:off x="7378411" y="5887882"/>
            <a:ext cx="381836" cy="261610"/>
          </a:xfrm>
          <a:prstGeom prst="rect">
            <a:avLst/>
          </a:prstGeom>
          <a:noFill/>
        </p:spPr>
        <p:txBody>
          <a:bodyPr wrap="none" rtlCol="0">
            <a:spAutoFit/>
          </a:bodyPr>
          <a:lstStyle/>
          <a:p>
            <a:r>
              <a:rPr lang="es-ES_tradnl" sz="1100" i="1" dirty="0">
                <a:solidFill>
                  <a:schemeClr val="accent1"/>
                </a:solidFill>
                <a:latin typeface="Century Gothic" panose="020B0502020202020204" pitchFamily="34" charset="0"/>
              </a:rPr>
              <a:t>No</a:t>
            </a:r>
          </a:p>
        </p:txBody>
      </p:sp>
      <p:sp>
        <p:nvSpPr>
          <p:cNvPr id="53" name="TextBox 88">
            <a:extLst>
              <a:ext uri="{FF2B5EF4-FFF2-40B4-BE49-F238E27FC236}">
                <a16:creationId xmlns:a16="http://schemas.microsoft.com/office/drawing/2014/main" id="{39941A91-2085-AE98-04EB-9585A8D5EE6D}"/>
              </a:ext>
            </a:extLst>
          </p:cNvPr>
          <p:cNvSpPr txBox="1"/>
          <p:nvPr/>
        </p:nvSpPr>
        <p:spPr>
          <a:xfrm>
            <a:off x="6331370" y="4057538"/>
            <a:ext cx="1119217" cy="261610"/>
          </a:xfrm>
          <a:prstGeom prst="rect">
            <a:avLst/>
          </a:prstGeom>
          <a:noFill/>
        </p:spPr>
        <p:txBody>
          <a:bodyPr wrap="none" rtlCol="0">
            <a:spAutoFit/>
          </a:bodyPr>
          <a:lstStyle/>
          <a:p>
            <a:r>
              <a:rPr lang="es-ES_tradnl" sz="1100" b="1" i="1" dirty="0">
                <a:solidFill>
                  <a:srgbClr val="D7A700"/>
                </a:solidFill>
                <a:latin typeface="Century Gothic" panose="020B0502020202020204" pitchFamily="34" charset="0"/>
              </a:rPr>
              <a:t>E(x) = $16.686</a:t>
            </a:r>
          </a:p>
        </p:txBody>
      </p:sp>
      <p:sp>
        <p:nvSpPr>
          <p:cNvPr id="54" name="TextBox 89">
            <a:extLst>
              <a:ext uri="{FF2B5EF4-FFF2-40B4-BE49-F238E27FC236}">
                <a16:creationId xmlns:a16="http://schemas.microsoft.com/office/drawing/2014/main" id="{ADD89860-80CC-EA12-F83B-5E2BB5A0E984}"/>
              </a:ext>
            </a:extLst>
          </p:cNvPr>
          <p:cNvSpPr txBox="1"/>
          <p:nvPr/>
        </p:nvSpPr>
        <p:spPr>
          <a:xfrm>
            <a:off x="6261247" y="5778654"/>
            <a:ext cx="1040670" cy="261610"/>
          </a:xfrm>
          <a:prstGeom prst="rect">
            <a:avLst/>
          </a:prstGeom>
          <a:noFill/>
        </p:spPr>
        <p:txBody>
          <a:bodyPr wrap="none" rtlCol="0">
            <a:spAutoFit/>
          </a:bodyPr>
          <a:lstStyle/>
          <a:p>
            <a:r>
              <a:rPr lang="es-ES_tradnl" sz="1100" b="1" i="1" dirty="0">
                <a:solidFill>
                  <a:srgbClr val="D7A700"/>
                </a:solidFill>
                <a:latin typeface="Century Gothic" panose="020B0502020202020204" pitchFamily="34" charset="0"/>
              </a:rPr>
              <a:t>E(x) = $8.886</a:t>
            </a:r>
          </a:p>
        </p:txBody>
      </p:sp>
      <p:sp>
        <p:nvSpPr>
          <p:cNvPr id="56" name="TextBox 36">
            <a:extLst>
              <a:ext uri="{FF2B5EF4-FFF2-40B4-BE49-F238E27FC236}">
                <a16:creationId xmlns:a16="http://schemas.microsoft.com/office/drawing/2014/main" id="{F8A28542-7B25-DCD5-27EB-BC006B6E3464}"/>
              </a:ext>
            </a:extLst>
          </p:cNvPr>
          <p:cNvSpPr txBox="1"/>
          <p:nvPr/>
        </p:nvSpPr>
        <p:spPr>
          <a:xfrm>
            <a:off x="4412719" y="4057538"/>
            <a:ext cx="696024" cy="261610"/>
          </a:xfrm>
          <a:prstGeom prst="rect">
            <a:avLst/>
          </a:prstGeom>
          <a:noFill/>
        </p:spPr>
        <p:txBody>
          <a:bodyPr wrap="none" rtlCol="0">
            <a:spAutoFit/>
          </a:bodyPr>
          <a:lstStyle/>
          <a:p>
            <a:r>
              <a:rPr lang="es-ES_tradnl" sz="1100" b="1" i="1" dirty="0">
                <a:solidFill>
                  <a:schemeClr val="accent2"/>
                </a:solidFill>
                <a:latin typeface="Century Gothic" panose="020B0502020202020204" pitchFamily="34" charset="0"/>
              </a:rPr>
              <a:t>$16.686</a:t>
            </a:r>
          </a:p>
        </p:txBody>
      </p:sp>
      <p:sp>
        <p:nvSpPr>
          <p:cNvPr id="57" name="TextBox 88">
            <a:extLst>
              <a:ext uri="{FF2B5EF4-FFF2-40B4-BE49-F238E27FC236}">
                <a16:creationId xmlns:a16="http://schemas.microsoft.com/office/drawing/2014/main" id="{ABB2A6AA-4A40-95AE-5F38-B075618055FA}"/>
              </a:ext>
            </a:extLst>
          </p:cNvPr>
          <p:cNvSpPr txBox="1"/>
          <p:nvPr/>
        </p:nvSpPr>
        <p:spPr>
          <a:xfrm>
            <a:off x="2901726" y="4917415"/>
            <a:ext cx="1040670" cy="261610"/>
          </a:xfrm>
          <a:prstGeom prst="rect">
            <a:avLst/>
          </a:prstGeom>
          <a:noFill/>
        </p:spPr>
        <p:txBody>
          <a:bodyPr wrap="none" rtlCol="0">
            <a:spAutoFit/>
          </a:bodyPr>
          <a:lstStyle/>
          <a:p>
            <a:r>
              <a:rPr lang="es-ES_tradnl" sz="1100" b="1" i="1" dirty="0">
                <a:solidFill>
                  <a:srgbClr val="D7A700"/>
                </a:solidFill>
                <a:latin typeface="Century Gothic" panose="020B0502020202020204" pitchFamily="34" charset="0"/>
              </a:rPr>
              <a:t>E(x) = $2.537</a:t>
            </a:r>
          </a:p>
        </p:txBody>
      </p:sp>
      <p:sp>
        <p:nvSpPr>
          <p:cNvPr id="58" name="TextBox 36">
            <a:extLst>
              <a:ext uri="{FF2B5EF4-FFF2-40B4-BE49-F238E27FC236}">
                <a16:creationId xmlns:a16="http://schemas.microsoft.com/office/drawing/2014/main" id="{167EC065-E302-C232-74BC-D26AA924FFF1}"/>
              </a:ext>
            </a:extLst>
          </p:cNvPr>
          <p:cNvSpPr txBox="1"/>
          <p:nvPr/>
        </p:nvSpPr>
        <p:spPr>
          <a:xfrm>
            <a:off x="1690514" y="5228504"/>
            <a:ext cx="617477" cy="261610"/>
          </a:xfrm>
          <a:prstGeom prst="rect">
            <a:avLst/>
          </a:prstGeom>
          <a:noFill/>
        </p:spPr>
        <p:txBody>
          <a:bodyPr wrap="none" rtlCol="0">
            <a:spAutoFit/>
          </a:bodyPr>
          <a:lstStyle/>
          <a:p>
            <a:r>
              <a:rPr lang="es-ES_tradnl" sz="1100" b="1" i="1" dirty="0">
                <a:solidFill>
                  <a:schemeClr val="accent2"/>
                </a:solidFill>
                <a:latin typeface="Century Gothic" panose="020B0502020202020204" pitchFamily="34" charset="0"/>
              </a:rPr>
              <a:t>$2.537</a:t>
            </a:r>
          </a:p>
        </p:txBody>
      </p:sp>
      <p:sp>
        <p:nvSpPr>
          <p:cNvPr id="59" name="Rectángulo 58">
            <a:extLst>
              <a:ext uri="{FF2B5EF4-FFF2-40B4-BE49-F238E27FC236}">
                <a16:creationId xmlns:a16="http://schemas.microsoft.com/office/drawing/2014/main" id="{CC20D0FE-53ED-0F5A-6DF4-F8C05156076D}"/>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4767581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CD87CAD-08B8-1C7A-5FD2-DD1F727E392A}"/>
              </a:ext>
            </a:extLst>
          </p:cNvPr>
          <p:cNvSpPr>
            <a:spLocks noGrp="1"/>
          </p:cNvSpPr>
          <p:nvPr>
            <p:ph type="title"/>
          </p:nvPr>
        </p:nvSpPr>
        <p:spPr/>
        <p:txBody>
          <a:bodyPr>
            <a:normAutofit/>
          </a:bodyPr>
          <a:lstStyle/>
          <a:p>
            <a:r>
              <a:rPr lang="es-ES_tradnl" dirty="0">
                <a:latin typeface="Century Gothic" panose="020B0502020202020204" pitchFamily="34" charset="0"/>
              </a:rPr>
              <a:t>Árboles de Decisión</a:t>
            </a:r>
          </a:p>
        </p:txBody>
      </p:sp>
      <p:sp>
        <p:nvSpPr>
          <p:cNvPr id="3" name="Content Placeholder 2"/>
          <p:cNvSpPr>
            <a:spLocks noGrp="1"/>
          </p:cNvSpPr>
          <p:nvPr>
            <p:ph idx="1"/>
          </p:nvPr>
        </p:nvSpPr>
        <p:spPr/>
        <p:txBody>
          <a:bodyPr>
            <a:normAutofit/>
          </a:bodyPr>
          <a:lstStyle/>
          <a:p>
            <a:pPr marL="0" indent="0" algn="just">
              <a:buNone/>
            </a:pPr>
            <a:r>
              <a:rPr lang="es-MX" b="1" dirty="0">
                <a:solidFill>
                  <a:srgbClr val="C00000"/>
                </a:solidFill>
                <a:latin typeface="Century Gothic" panose="020B0502020202020204" pitchFamily="34" charset="0"/>
              </a:rPr>
              <a:t>Conclusiones:</a:t>
            </a:r>
          </a:p>
          <a:p>
            <a:pPr marL="0" indent="0" algn="just">
              <a:buNone/>
            </a:pPr>
            <a:endParaRPr lang="es-MX" b="1" dirty="0">
              <a:solidFill>
                <a:schemeClr val="accent1"/>
              </a:solidFill>
              <a:latin typeface="Century Gothic" panose="020B0502020202020204" pitchFamily="34" charset="0"/>
            </a:endParaRPr>
          </a:p>
          <a:p>
            <a:pPr algn="just"/>
            <a:r>
              <a:rPr lang="es-MX" dirty="0">
                <a:solidFill>
                  <a:schemeClr val="accent1"/>
                </a:solidFill>
                <a:latin typeface="Century Gothic" panose="020B0502020202020204" pitchFamily="34" charset="0"/>
              </a:rPr>
              <a:t>El valor esperado del VPN al licitar es mayor al valor esperado del VPN de no licitar. Por ende, prefiero licitar sobre no licitar.</a:t>
            </a:r>
          </a:p>
          <a:p>
            <a:pPr marL="0" indent="0" algn="ctr">
              <a:buNone/>
            </a:pPr>
            <a:r>
              <a:rPr lang="es-CO" b="1" dirty="0">
                <a:solidFill>
                  <a:schemeClr val="accent3">
                    <a:lumMod val="75000"/>
                  </a:schemeClr>
                </a:solidFill>
                <a:latin typeface="Century Gothic" panose="020B0502020202020204" pitchFamily="34" charset="0"/>
              </a:rPr>
              <a:t>¿Cuál alternativa genera mayor valor?</a:t>
            </a:r>
          </a:p>
          <a:p>
            <a:pPr marL="0" indent="0" algn="ctr">
              <a:buNone/>
            </a:pPr>
            <a:r>
              <a:rPr lang="es-CO" b="1" dirty="0">
                <a:solidFill>
                  <a:schemeClr val="accent3">
                    <a:lumMod val="75000"/>
                  </a:schemeClr>
                </a:solidFill>
                <a:latin typeface="Century Gothic" panose="020B0502020202020204" pitchFamily="34" charset="0"/>
              </a:rPr>
              <a:t>¿Cuál alternativa tiene mayor riesgo?</a:t>
            </a:r>
          </a:p>
          <a:p>
            <a:pPr marL="0" indent="0" algn="ctr">
              <a:buNone/>
            </a:pPr>
            <a:endParaRPr lang="es-CO" dirty="0">
              <a:solidFill>
                <a:schemeClr val="accent1"/>
              </a:solidFill>
              <a:latin typeface="Century Gothic" panose="020B0502020202020204" pitchFamily="34" charset="0"/>
            </a:endParaRPr>
          </a:p>
          <a:p>
            <a:pPr algn="just"/>
            <a:r>
              <a:rPr lang="es-CO" dirty="0">
                <a:solidFill>
                  <a:schemeClr val="accent1"/>
                </a:solidFill>
                <a:latin typeface="Century Gothic" panose="020B0502020202020204" pitchFamily="34" charset="0"/>
              </a:rPr>
              <a:t>La mejor decisión de alternativa a licitar depende de la tolerancia al riesgo.</a:t>
            </a:r>
          </a:p>
        </p:txBody>
      </p:sp>
      <p:sp>
        <p:nvSpPr>
          <p:cNvPr id="4" name="Slide Number Placeholder 3"/>
          <p:cNvSpPr>
            <a:spLocks noGrp="1"/>
          </p:cNvSpPr>
          <p:nvPr>
            <p:ph type="sldNum" sz="quarter" idx="12"/>
          </p:nvPr>
        </p:nvSpPr>
        <p:spPr/>
        <p:txBody>
          <a:bodyPr/>
          <a:lstStyle/>
          <a:p>
            <a:fld id="{5E3E23BA-6E79-2442-BA73-D218A5E297C3}" type="slidenum">
              <a:rPr lang="en-US" sz="1800" smtClean="0"/>
              <a:t>66</a:t>
            </a:fld>
            <a:endParaRPr lang="en-US" sz="1800"/>
          </a:p>
        </p:txBody>
      </p:sp>
      <p:sp>
        <p:nvSpPr>
          <p:cNvPr id="9" name="Rectángulo 8">
            <a:extLst>
              <a:ext uri="{FF2B5EF4-FFF2-40B4-BE49-F238E27FC236}">
                <a16:creationId xmlns:a16="http://schemas.microsoft.com/office/drawing/2014/main" id="{2B6572A0-7B9E-F465-742D-B5C2AFDE63B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70C8D113-AF7C-06A3-031C-30E0470C22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3,071 ilustraciones de stock de Comunicación formal | Depositphotos">
            <a:extLst>
              <a:ext uri="{FF2B5EF4-FFF2-40B4-BE49-F238E27FC236}">
                <a16:creationId xmlns:a16="http://schemas.microsoft.com/office/drawing/2014/main" id="{54F9D233-1256-5BDC-0B64-94967FBC09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39765" y="3661191"/>
            <a:ext cx="2197608" cy="2197608"/>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C7BE66E8-6530-A46F-38D8-C5368396919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784516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E3E23BA-6E79-2442-BA73-D218A5E297C3}" type="slidenum">
              <a:rPr lang="es-CO" sz="1800" smtClean="0"/>
              <a:t>67</a:t>
            </a:fld>
            <a:endParaRPr lang="es-CO" sz="1800" dirty="0"/>
          </a:p>
        </p:txBody>
      </p:sp>
      <p:graphicFrame>
        <p:nvGraphicFramePr>
          <p:cNvPr id="46" name="Table 45"/>
          <p:cNvGraphicFramePr>
            <a:graphicFrameLocks noGrp="1"/>
          </p:cNvGraphicFramePr>
          <p:nvPr/>
        </p:nvGraphicFramePr>
        <p:xfrm>
          <a:off x="339765" y="2347021"/>
          <a:ext cx="3526841" cy="3587382"/>
        </p:xfrm>
        <a:graphic>
          <a:graphicData uri="http://schemas.openxmlformats.org/drawingml/2006/table">
            <a:tbl>
              <a:tblPr firstRow="1" bandRow="1">
                <a:tableStyleId>{3B4B98B0-60AC-42C2-AFA5-B58CD77FA1E5}</a:tableStyleId>
              </a:tblPr>
              <a:tblGrid>
                <a:gridCol w="1359017">
                  <a:extLst>
                    <a:ext uri="{9D8B030D-6E8A-4147-A177-3AD203B41FA5}">
                      <a16:colId xmlns:a16="http://schemas.microsoft.com/office/drawing/2014/main" val="20000"/>
                    </a:ext>
                  </a:extLst>
                </a:gridCol>
                <a:gridCol w="900727">
                  <a:extLst>
                    <a:ext uri="{9D8B030D-6E8A-4147-A177-3AD203B41FA5}">
                      <a16:colId xmlns:a16="http://schemas.microsoft.com/office/drawing/2014/main" val="20001"/>
                    </a:ext>
                  </a:extLst>
                </a:gridCol>
                <a:gridCol w="1267097">
                  <a:extLst>
                    <a:ext uri="{9D8B030D-6E8A-4147-A177-3AD203B41FA5}">
                      <a16:colId xmlns:a16="http://schemas.microsoft.com/office/drawing/2014/main" val="20002"/>
                    </a:ext>
                  </a:extLst>
                </a:gridCol>
              </a:tblGrid>
              <a:tr h="597897">
                <a:tc>
                  <a:txBody>
                    <a:bodyPr/>
                    <a:lstStyle/>
                    <a:p>
                      <a:pPr algn="ctr"/>
                      <a:r>
                        <a:rPr lang="es-CO" sz="1400" noProof="0">
                          <a:solidFill>
                            <a:schemeClr val="bg1"/>
                          </a:solidFill>
                          <a:latin typeface="Century Gothic" panose="020B0502020202020204" pitchFamily="34" charset="0"/>
                        </a:rPr>
                        <a:t>Alternativa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solidFill>
                  </a:tcPr>
                </a:tc>
                <a:tc>
                  <a:txBody>
                    <a:bodyPr/>
                    <a:lstStyle/>
                    <a:p>
                      <a:pPr algn="ctr"/>
                      <a:r>
                        <a:rPr lang="es-CO" sz="1400" noProof="0">
                          <a:solidFill>
                            <a:schemeClr val="bg1"/>
                          </a:solidFill>
                          <a:latin typeface="Century Gothic" panose="020B0502020202020204" pitchFamily="34" charset="0"/>
                        </a:rPr>
                        <a:t>E(VPN)</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solidFill>
                  </a:tcPr>
                </a:tc>
                <a:tc>
                  <a:txBody>
                    <a:bodyPr/>
                    <a:lstStyle/>
                    <a:p>
                      <a:pPr algn="ctr"/>
                      <a:r>
                        <a:rPr lang="es-CO" sz="1400" noProof="0">
                          <a:solidFill>
                            <a:schemeClr val="bg1"/>
                          </a:solidFill>
                          <a:latin typeface="Century Gothic" panose="020B0502020202020204" pitchFamily="34" charset="0"/>
                        </a:rPr>
                        <a:t>Desviación Estándar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97897">
                <a:tc>
                  <a:txBody>
                    <a:bodyPr/>
                    <a:lstStyle/>
                    <a:p>
                      <a:pPr algn="ctr"/>
                      <a:r>
                        <a:rPr lang="es-CO" sz="1400" noProof="0">
                          <a:solidFill>
                            <a:schemeClr val="accent1"/>
                          </a:solidFill>
                          <a:latin typeface="Century Gothic" panose="020B0502020202020204" pitchFamily="34" charset="0"/>
                        </a:rPr>
                        <a:t>Soacha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$6.486 </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dirty="0">
                          <a:solidFill>
                            <a:schemeClr val="accent1"/>
                          </a:solidFill>
                          <a:latin typeface="Century Gothic" panose="020B0502020202020204" pitchFamily="34" charset="0"/>
                        </a:rPr>
                        <a:t>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597897">
                <a:tc>
                  <a:txBody>
                    <a:bodyPr/>
                    <a:lstStyle/>
                    <a:p>
                      <a:pPr algn="ctr"/>
                      <a:r>
                        <a:rPr lang="es-CO" sz="1400" noProof="0">
                          <a:solidFill>
                            <a:schemeClr val="accent1"/>
                          </a:solidFill>
                          <a:latin typeface="Century Gothic" panose="020B0502020202020204" pitchFamily="34" charset="0"/>
                        </a:rPr>
                        <a:t>Mexico</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dirty="0">
                          <a:solidFill>
                            <a:schemeClr val="accent1"/>
                          </a:solidFill>
                          <a:latin typeface="Century Gothic" panose="020B0502020202020204" pitchFamily="34" charset="0"/>
                        </a:rPr>
                        <a:t>$16.686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$27.924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597897">
                <a:tc>
                  <a:txBody>
                    <a:bodyPr/>
                    <a:lstStyle/>
                    <a:p>
                      <a:pPr algn="ctr"/>
                      <a:r>
                        <a:rPr lang="es-CO" sz="1400" noProof="0">
                          <a:solidFill>
                            <a:schemeClr val="accent1"/>
                          </a:solidFill>
                          <a:latin typeface="Century Gothic" panose="020B0502020202020204" pitchFamily="34" charset="0"/>
                        </a:rPr>
                        <a:t>Cemento</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$8.886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$11.200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97897">
                <a:tc>
                  <a:txBody>
                    <a:bodyPr/>
                    <a:lstStyle/>
                    <a:p>
                      <a:pPr algn="ctr"/>
                      <a:r>
                        <a:rPr lang="es-CO" sz="1400" noProof="0">
                          <a:solidFill>
                            <a:schemeClr val="accent1"/>
                          </a:solidFill>
                          <a:latin typeface="Century Gothic" panose="020B0502020202020204" pitchFamily="34" charset="0"/>
                        </a:rPr>
                        <a:t>Nodo 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accent1"/>
                          </a:solidFill>
                          <a:latin typeface="Century Gothic" panose="020B0502020202020204" pitchFamily="34" charset="0"/>
                        </a:rPr>
                        <a:t>$6.486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dirty="0">
                          <a:solidFill>
                            <a:schemeClr val="accent1"/>
                          </a:solidFill>
                          <a:latin typeface="Century Gothic" panose="020B0502020202020204" pitchFamily="34" charset="0"/>
                        </a:rPr>
                        <a:t>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597897">
                <a:tc>
                  <a:txBody>
                    <a:bodyPr/>
                    <a:lstStyle/>
                    <a:p>
                      <a:pPr algn="ctr"/>
                      <a:r>
                        <a:rPr lang="es-CO" sz="1400" noProof="0">
                          <a:solidFill>
                            <a:schemeClr val="accent1"/>
                          </a:solidFill>
                          <a:latin typeface="Century Gothic" panose="020B0502020202020204" pitchFamily="34" charset="0"/>
                        </a:rPr>
                        <a:t>Nodo</a:t>
                      </a:r>
                      <a:r>
                        <a:rPr lang="es-CO" sz="1400" baseline="0" noProof="0">
                          <a:solidFill>
                            <a:schemeClr val="accent1"/>
                          </a:solidFill>
                          <a:latin typeface="Century Gothic" panose="020B0502020202020204" pitchFamily="34" charset="0"/>
                        </a:rPr>
                        <a:t> 1</a:t>
                      </a:r>
                      <a:endParaRPr lang="es-CO" sz="14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n-US" sz="1400">
                          <a:solidFill>
                            <a:schemeClr val="accent1"/>
                          </a:solidFill>
                          <a:latin typeface="Century Gothic" panose="020B0502020202020204" pitchFamily="34" charset="0"/>
                        </a:rPr>
                        <a:t>$497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n-US" sz="1400" dirty="0">
                          <a:solidFill>
                            <a:schemeClr val="accent1"/>
                          </a:solidFill>
                          <a:latin typeface="Century Gothic" panose="020B0502020202020204" pitchFamily="34" charset="0"/>
                        </a:rPr>
                        <a:t>$2.994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1" name="Table 45"/>
          <p:cNvGraphicFramePr>
            <a:graphicFrameLocks noGrp="1"/>
          </p:cNvGraphicFramePr>
          <p:nvPr/>
        </p:nvGraphicFramePr>
        <p:xfrm>
          <a:off x="4170840" y="2347021"/>
          <a:ext cx="3614623" cy="3587382"/>
        </p:xfrm>
        <a:graphic>
          <a:graphicData uri="http://schemas.openxmlformats.org/drawingml/2006/table">
            <a:tbl>
              <a:tblPr firstRow="1" bandRow="1">
                <a:tableStyleId>{3B4B98B0-60AC-42C2-AFA5-B58CD77FA1E5}</a:tableStyleId>
              </a:tblPr>
              <a:tblGrid>
                <a:gridCol w="1359017">
                  <a:extLst>
                    <a:ext uri="{9D8B030D-6E8A-4147-A177-3AD203B41FA5}">
                      <a16:colId xmlns:a16="http://schemas.microsoft.com/office/drawing/2014/main" val="20000"/>
                    </a:ext>
                  </a:extLst>
                </a:gridCol>
                <a:gridCol w="897068">
                  <a:extLst>
                    <a:ext uri="{9D8B030D-6E8A-4147-A177-3AD203B41FA5}">
                      <a16:colId xmlns:a16="http://schemas.microsoft.com/office/drawing/2014/main" val="20001"/>
                    </a:ext>
                  </a:extLst>
                </a:gridCol>
                <a:gridCol w="1358538">
                  <a:extLst>
                    <a:ext uri="{9D8B030D-6E8A-4147-A177-3AD203B41FA5}">
                      <a16:colId xmlns:a16="http://schemas.microsoft.com/office/drawing/2014/main" val="20002"/>
                    </a:ext>
                  </a:extLst>
                </a:gridCol>
              </a:tblGrid>
              <a:tr h="597897">
                <a:tc>
                  <a:txBody>
                    <a:bodyPr/>
                    <a:lstStyle/>
                    <a:p>
                      <a:pPr algn="ctr"/>
                      <a:r>
                        <a:rPr lang="es-CO" sz="1400" noProof="0">
                          <a:solidFill>
                            <a:schemeClr val="bg1"/>
                          </a:solidFill>
                          <a:latin typeface="Century Gothic" panose="020B0502020202020204" pitchFamily="34" charset="0"/>
                        </a:rPr>
                        <a:t>Alternativa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solidFill>
                  </a:tcPr>
                </a:tc>
                <a:tc>
                  <a:txBody>
                    <a:bodyPr/>
                    <a:lstStyle/>
                    <a:p>
                      <a:pPr algn="ctr"/>
                      <a:r>
                        <a:rPr lang="es-CO" sz="1400" noProof="0">
                          <a:solidFill>
                            <a:schemeClr val="bg1"/>
                          </a:solidFill>
                          <a:latin typeface="Century Gothic" panose="020B0502020202020204" pitchFamily="34" charset="0"/>
                        </a:rPr>
                        <a:t>E(VPN)</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solidFill>
                  </a:tcPr>
                </a:tc>
                <a:tc>
                  <a:txBody>
                    <a:bodyPr/>
                    <a:lstStyle/>
                    <a:p>
                      <a:pPr algn="ctr"/>
                      <a:r>
                        <a:rPr lang="es-CO" sz="1400" noProof="0">
                          <a:solidFill>
                            <a:schemeClr val="bg1"/>
                          </a:solidFill>
                          <a:latin typeface="Century Gothic" panose="020B0502020202020204" pitchFamily="34" charset="0"/>
                        </a:rPr>
                        <a:t>Desviación Estándar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97897">
                <a:tc>
                  <a:txBody>
                    <a:bodyPr/>
                    <a:lstStyle/>
                    <a:p>
                      <a:pPr algn="ctr"/>
                      <a:r>
                        <a:rPr lang="es-CO" sz="1400" noProof="0">
                          <a:solidFill>
                            <a:schemeClr val="accent1"/>
                          </a:solidFill>
                          <a:latin typeface="Century Gothic" panose="020B0502020202020204" pitchFamily="34" charset="0"/>
                        </a:rPr>
                        <a:t>Soacha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$6.486 </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597897">
                <a:tc>
                  <a:txBody>
                    <a:bodyPr/>
                    <a:lstStyle/>
                    <a:p>
                      <a:pPr algn="ctr"/>
                      <a:r>
                        <a:rPr lang="es-CO" sz="1400" noProof="0">
                          <a:solidFill>
                            <a:schemeClr val="accent1"/>
                          </a:solidFill>
                          <a:latin typeface="Century Gothic" panose="020B0502020202020204" pitchFamily="34" charset="0"/>
                        </a:rPr>
                        <a:t>Mexico</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$16.686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dirty="0">
                          <a:solidFill>
                            <a:schemeClr val="accent1"/>
                          </a:solidFill>
                          <a:latin typeface="Century Gothic" panose="020B0502020202020204" pitchFamily="34" charset="0"/>
                        </a:rPr>
                        <a:t>$27.924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597897">
                <a:tc>
                  <a:txBody>
                    <a:bodyPr/>
                    <a:lstStyle/>
                    <a:p>
                      <a:pPr algn="ctr"/>
                      <a:r>
                        <a:rPr lang="es-CO" sz="1400" noProof="0">
                          <a:solidFill>
                            <a:schemeClr val="accent1"/>
                          </a:solidFill>
                          <a:latin typeface="Century Gothic" panose="020B0502020202020204" pitchFamily="34" charset="0"/>
                        </a:rPr>
                        <a:t>Cemento</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$8.886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$11.200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97897">
                <a:tc>
                  <a:txBody>
                    <a:bodyPr/>
                    <a:lstStyle/>
                    <a:p>
                      <a:pPr algn="ctr"/>
                      <a:r>
                        <a:rPr lang="es-CO" sz="1400" noProof="0">
                          <a:solidFill>
                            <a:schemeClr val="accent1"/>
                          </a:solidFill>
                          <a:latin typeface="Century Gothic" panose="020B0502020202020204" pitchFamily="34" charset="0"/>
                        </a:rPr>
                        <a:t>Nodo 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CO" sz="1400" noProof="0">
                          <a:solidFill>
                            <a:schemeClr val="accent1"/>
                          </a:solidFill>
                          <a:latin typeface="Century Gothic" panose="020B0502020202020204" pitchFamily="34" charset="0"/>
                        </a:rPr>
                        <a:t>$16.686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dirty="0">
                          <a:solidFill>
                            <a:schemeClr val="accent1"/>
                          </a:solidFill>
                          <a:latin typeface="Century Gothic" panose="020B0502020202020204" pitchFamily="34" charset="0"/>
                        </a:rPr>
                        <a:t>$27.924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597897">
                <a:tc>
                  <a:txBody>
                    <a:bodyPr/>
                    <a:lstStyle/>
                    <a:p>
                      <a:pPr algn="ctr"/>
                      <a:r>
                        <a:rPr lang="es-CO" sz="1400" noProof="0">
                          <a:solidFill>
                            <a:schemeClr val="accent1"/>
                          </a:solidFill>
                          <a:latin typeface="Century Gothic" panose="020B0502020202020204" pitchFamily="34" charset="0"/>
                        </a:rPr>
                        <a:t>Nodo</a:t>
                      </a:r>
                      <a:r>
                        <a:rPr lang="es-CO" sz="1400" baseline="0" noProof="0">
                          <a:solidFill>
                            <a:schemeClr val="accent1"/>
                          </a:solidFill>
                          <a:latin typeface="Century Gothic" panose="020B0502020202020204" pitchFamily="34" charset="0"/>
                        </a:rPr>
                        <a:t> 1</a:t>
                      </a:r>
                      <a:endParaRPr lang="es-CO" sz="14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CO" sz="1400" noProof="0">
                          <a:solidFill>
                            <a:schemeClr val="accent1"/>
                          </a:solidFill>
                          <a:latin typeface="Century Gothic" panose="020B0502020202020204" pitchFamily="34" charset="0"/>
                        </a:rPr>
                        <a:t>$2.537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CO" sz="1400" noProof="0" dirty="0">
                          <a:solidFill>
                            <a:schemeClr val="accent1"/>
                          </a:solidFill>
                          <a:latin typeface="Century Gothic" panose="020B0502020202020204" pitchFamily="34" charset="0"/>
                        </a:rPr>
                        <a:t>$14.353</a:t>
                      </a:r>
                    </a:p>
                    <a:p>
                      <a:pPr algn="ctr"/>
                      <a:endParaRPr lang="es-CO" sz="1400" noProof="0" dirty="0">
                        <a:solidFill>
                          <a:schemeClr val="accent1"/>
                        </a:solidFill>
                        <a:latin typeface="Century Gothic" panose="020B0502020202020204" pitchFamily="34" charset="0"/>
                      </a:endParaRPr>
                    </a:p>
                  </a:txBody>
                  <a:tcPr anchor="b">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2" name="Table 45"/>
          <p:cNvGraphicFramePr>
            <a:graphicFrameLocks noGrp="1"/>
          </p:cNvGraphicFramePr>
          <p:nvPr/>
        </p:nvGraphicFramePr>
        <p:xfrm>
          <a:off x="8141949" y="2347021"/>
          <a:ext cx="3483994" cy="3587382"/>
        </p:xfrm>
        <a:graphic>
          <a:graphicData uri="http://schemas.openxmlformats.org/drawingml/2006/table">
            <a:tbl>
              <a:tblPr firstRow="1" bandRow="1">
                <a:tableStyleId>{3B4B98B0-60AC-42C2-AFA5-B58CD77FA1E5}</a:tableStyleId>
              </a:tblPr>
              <a:tblGrid>
                <a:gridCol w="1359017">
                  <a:extLst>
                    <a:ext uri="{9D8B030D-6E8A-4147-A177-3AD203B41FA5}">
                      <a16:colId xmlns:a16="http://schemas.microsoft.com/office/drawing/2014/main" val="20000"/>
                    </a:ext>
                  </a:extLst>
                </a:gridCol>
                <a:gridCol w="923194">
                  <a:extLst>
                    <a:ext uri="{9D8B030D-6E8A-4147-A177-3AD203B41FA5}">
                      <a16:colId xmlns:a16="http://schemas.microsoft.com/office/drawing/2014/main" val="20001"/>
                    </a:ext>
                  </a:extLst>
                </a:gridCol>
                <a:gridCol w="1201783">
                  <a:extLst>
                    <a:ext uri="{9D8B030D-6E8A-4147-A177-3AD203B41FA5}">
                      <a16:colId xmlns:a16="http://schemas.microsoft.com/office/drawing/2014/main" val="20002"/>
                    </a:ext>
                  </a:extLst>
                </a:gridCol>
              </a:tblGrid>
              <a:tr h="597897">
                <a:tc>
                  <a:txBody>
                    <a:bodyPr/>
                    <a:lstStyle/>
                    <a:p>
                      <a:pPr algn="ctr"/>
                      <a:r>
                        <a:rPr lang="es-CO" sz="1400" noProof="0" dirty="0">
                          <a:solidFill>
                            <a:schemeClr val="bg1"/>
                          </a:solidFill>
                          <a:latin typeface="Century Gothic" panose="020B0502020202020204" pitchFamily="34" charset="0"/>
                        </a:rPr>
                        <a:t>Alternativa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solidFill>
                  </a:tcPr>
                </a:tc>
                <a:tc>
                  <a:txBody>
                    <a:bodyPr/>
                    <a:lstStyle/>
                    <a:p>
                      <a:pPr algn="ctr"/>
                      <a:r>
                        <a:rPr lang="es-CO" sz="1400" noProof="0" dirty="0">
                          <a:solidFill>
                            <a:schemeClr val="bg1"/>
                          </a:solidFill>
                          <a:latin typeface="Century Gothic" panose="020B0502020202020204" pitchFamily="34" charset="0"/>
                        </a:rPr>
                        <a:t>E(VPN)</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solidFill>
                  </a:tcPr>
                </a:tc>
                <a:tc>
                  <a:txBody>
                    <a:bodyPr/>
                    <a:lstStyle/>
                    <a:p>
                      <a:pPr algn="ctr"/>
                      <a:r>
                        <a:rPr lang="es-CO" sz="1400" noProof="0" dirty="0">
                          <a:solidFill>
                            <a:schemeClr val="bg1"/>
                          </a:solidFill>
                          <a:latin typeface="Century Gothic" panose="020B0502020202020204" pitchFamily="34" charset="0"/>
                        </a:rPr>
                        <a:t>Desviación Estándar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97897">
                <a:tc>
                  <a:txBody>
                    <a:bodyPr/>
                    <a:lstStyle/>
                    <a:p>
                      <a:pPr algn="ctr"/>
                      <a:r>
                        <a:rPr lang="es-CO" sz="1400" noProof="0">
                          <a:solidFill>
                            <a:schemeClr val="accent1"/>
                          </a:solidFill>
                          <a:latin typeface="Century Gothic" panose="020B0502020202020204" pitchFamily="34" charset="0"/>
                        </a:rPr>
                        <a:t>Soacha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$6.486 </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1"/>
                  </a:ext>
                </a:extLst>
              </a:tr>
              <a:tr h="597897">
                <a:tc>
                  <a:txBody>
                    <a:bodyPr/>
                    <a:lstStyle/>
                    <a:p>
                      <a:pPr algn="ctr"/>
                      <a:r>
                        <a:rPr lang="es-CO" sz="1400" noProof="0">
                          <a:solidFill>
                            <a:schemeClr val="accent1"/>
                          </a:solidFill>
                          <a:latin typeface="Century Gothic" panose="020B0502020202020204" pitchFamily="34" charset="0"/>
                        </a:rPr>
                        <a:t>Mexico</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$16.686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$27.924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597897">
                <a:tc>
                  <a:txBody>
                    <a:bodyPr/>
                    <a:lstStyle/>
                    <a:p>
                      <a:pPr algn="ctr"/>
                      <a:r>
                        <a:rPr lang="es-CO" sz="1400" noProof="0">
                          <a:solidFill>
                            <a:schemeClr val="accent1"/>
                          </a:solidFill>
                          <a:latin typeface="Century Gothic" panose="020B0502020202020204" pitchFamily="34" charset="0"/>
                        </a:rPr>
                        <a:t>Cemento</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$8.886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dirty="0">
                          <a:solidFill>
                            <a:schemeClr val="accent1"/>
                          </a:solidFill>
                          <a:latin typeface="Century Gothic" panose="020B0502020202020204" pitchFamily="34" charset="0"/>
                        </a:rPr>
                        <a:t>$11.200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3"/>
                  </a:ext>
                </a:extLst>
              </a:tr>
              <a:tr h="597897">
                <a:tc>
                  <a:txBody>
                    <a:bodyPr/>
                    <a:lstStyle/>
                    <a:p>
                      <a:pPr algn="ctr"/>
                      <a:r>
                        <a:rPr lang="es-CO" sz="1400" noProof="0">
                          <a:solidFill>
                            <a:schemeClr val="accent1"/>
                          </a:solidFill>
                          <a:latin typeface="Century Gothic" panose="020B0502020202020204" pitchFamily="34" charset="0"/>
                        </a:rPr>
                        <a:t>Nodo 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accent1"/>
                          </a:solidFill>
                          <a:latin typeface="Century Gothic" panose="020B0502020202020204" pitchFamily="34" charset="0"/>
                        </a:rPr>
                        <a:t>$8.886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dirty="0">
                          <a:solidFill>
                            <a:schemeClr val="accent1"/>
                          </a:solidFill>
                          <a:latin typeface="Century Gothic" panose="020B0502020202020204" pitchFamily="34" charset="0"/>
                        </a:rPr>
                        <a:t>$11.200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597897">
                <a:tc>
                  <a:txBody>
                    <a:bodyPr/>
                    <a:lstStyle/>
                    <a:p>
                      <a:pPr algn="ctr"/>
                      <a:r>
                        <a:rPr lang="es-CO" sz="1400" noProof="0">
                          <a:solidFill>
                            <a:schemeClr val="accent1"/>
                          </a:solidFill>
                          <a:latin typeface="Century Gothic" panose="020B0502020202020204" pitchFamily="34" charset="0"/>
                        </a:rPr>
                        <a:t>Nodo</a:t>
                      </a:r>
                      <a:r>
                        <a:rPr lang="es-CO" sz="1400" baseline="0" noProof="0">
                          <a:solidFill>
                            <a:schemeClr val="accent1"/>
                          </a:solidFill>
                          <a:latin typeface="Century Gothic" panose="020B0502020202020204" pitchFamily="34" charset="0"/>
                        </a:rPr>
                        <a:t> 1</a:t>
                      </a:r>
                      <a:endParaRPr lang="es-CO" sz="14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n-US" sz="1400">
                          <a:solidFill>
                            <a:schemeClr val="accent1"/>
                          </a:solidFill>
                          <a:latin typeface="Century Gothic" panose="020B0502020202020204" pitchFamily="34" charset="0"/>
                        </a:rPr>
                        <a:t>$977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n-US" sz="1400" dirty="0">
                          <a:solidFill>
                            <a:schemeClr val="accent1"/>
                          </a:solidFill>
                          <a:latin typeface="Century Gothic" panose="020B0502020202020204" pitchFamily="34" charset="0"/>
                        </a:rPr>
                        <a:t>$6.382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Rectángulo 2"/>
          <p:cNvSpPr/>
          <p:nvPr/>
        </p:nvSpPr>
        <p:spPr>
          <a:xfrm>
            <a:off x="1688648" y="1948128"/>
            <a:ext cx="958917" cy="338554"/>
          </a:xfrm>
          <a:prstGeom prst="rect">
            <a:avLst/>
          </a:prstGeom>
        </p:spPr>
        <p:txBody>
          <a:bodyPr wrap="none">
            <a:spAutoFit/>
          </a:bodyPr>
          <a:lstStyle/>
          <a:p>
            <a:r>
              <a:rPr lang="es-MX" sz="1600" b="1" dirty="0">
                <a:solidFill>
                  <a:srgbClr val="C00000"/>
                </a:solidFill>
                <a:latin typeface="Century Gothic" panose="020B0502020202020204" pitchFamily="34" charset="0"/>
              </a:rPr>
              <a:t>Soacha</a:t>
            </a:r>
            <a:endParaRPr lang="es-CO" sz="1600" b="1" dirty="0">
              <a:solidFill>
                <a:srgbClr val="C00000"/>
              </a:solidFill>
              <a:latin typeface="Century Gothic" panose="020B0502020202020204" pitchFamily="34" charset="0"/>
            </a:endParaRPr>
          </a:p>
        </p:txBody>
      </p:sp>
      <p:sp>
        <p:nvSpPr>
          <p:cNvPr id="5" name="Rectángulo 4"/>
          <p:cNvSpPr/>
          <p:nvPr/>
        </p:nvSpPr>
        <p:spPr>
          <a:xfrm>
            <a:off x="5543576" y="1961777"/>
            <a:ext cx="928459" cy="338554"/>
          </a:xfrm>
          <a:prstGeom prst="rect">
            <a:avLst/>
          </a:prstGeom>
        </p:spPr>
        <p:txBody>
          <a:bodyPr wrap="none">
            <a:spAutoFit/>
          </a:bodyPr>
          <a:lstStyle/>
          <a:p>
            <a:r>
              <a:rPr lang="es-MX" sz="1600" b="1" dirty="0">
                <a:solidFill>
                  <a:srgbClr val="C00000"/>
                </a:solidFill>
                <a:latin typeface="Century Gothic" panose="020B0502020202020204" pitchFamily="34" charset="0"/>
              </a:rPr>
              <a:t>México</a:t>
            </a:r>
            <a:endParaRPr lang="es-CO" sz="1600" b="1" dirty="0">
              <a:solidFill>
                <a:srgbClr val="C00000"/>
              </a:solidFill>
              <a:latin typeface="Century Gothic" panose="020B0502020202020204" pitchFamily="34" charset="0"/>
            </a:endParaRPr>
          </a:p>
        </p:txBody>
      </p:sp>
      <p:sp>
        <p:nvSpPr>
          <p:cNvPr id="6" name="Rectángulo 5"/>
          <p:cNvSpPr/>
          <p:nvPr/>
        </p:nvSpPr>
        <p:spPr>
          <a:xfrm>
            <a:off x="9350787" y="1961777"/>
            <a:ext cx="1116011" cy="338554"/>
          </a:xfrm>
          <a:prstGeom prst="rect">
            <a:avLst/>
          </a:prstGeom>
        </p:spPr>
        <p:txBody>
          <a:bodyPr wrap="none">
            <a:spAutoFit/>
          </a:bodyPr>
          <a:lstStyle/>
          <a:p>
            <a:r>
              <a:rPr lang="es-MX" sz="1600" b="1" dirty="0">
                <a:solidFill>
                  <a:srgbClr val="C00000"/>
                </a:solidFill>
                <a:latin typeface="Century Gothic" panose="020B0502020202020204" pitchFamily="34" charset="0"/>
              </a:rPr>
              <a:t>Cemento</a:t>
            </a:r>
            <a:endParaRPr lang="es-CO" sz="1600" b="1" dirty="0">
              <a:solidFill>
                <a:srgbClr val="C00000"/>
              </a:solidFill>
              <a:latin typeface="Century Gothic" panose="020B0502020202020204" pitchFamily="34" charset="0"/>
            </a:endParaRPr>
          </a:p>
        </p:txBody>
      </p:sp>
      <p:sp>
        <p:nvSpPr>
          <p:cNvPr id="13" name="Rectángulo 12">
            <a:extLst>
              <a:ext uri="{FF2B5EF4-FFF2-40B4-BE49-F238E27FC236}">
                <a16:creationId xmlns:a16="http://schemas.microsoft.com/office/drawing/2014/main" id="{6F69484F-E791-73F7-D0FA-FB7C4EC86F8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5" name="Picture 2" descr="Clientes y aliados | Centro de Evaluación | Uniandes">
            <a:extLst>
              <a:ext uri="{FF2B5EF4-FFF2-40B4-BE49-F238E27FC236}">
                <a16:creationId xmlns:a16="http://schemas.microsoft.com/office/drawing/2014/main" id="{07A6CAFC-2510-C630-06F6-B9082A33EB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D4432E70-928C-74DB-F16B-1BE75A9AFFD6}"/>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7" name="Title 1">
            <a:extLst>
              <a:ext uri="{FF2B5EF4-FFF2-40B4-BE49-F238E27FC236}">
                <a16:creationId xmlns:a16="http://schemas.microsoft.com/office/drawing/2014/main" id="{051E72C7-7A57-7110-CCA9-96E39C3780F2}"/>
              </a:ext>
            </a:extLst>
          </p:cNvPr>
          <p:cNvSpPr>
            <a:spLocks noGrp="1"/>
          </p:cNvSpPr>
          <p:nvPr>
            <p:ph type="title"/>
          </p:nvPr>
        </p:nvSpPr>
        <p:spPr>
          <a:xfrm>
            <a:off x="581192" y="702156"/>
            <a:ext cx="11029616" cy="1013800"/>
          </a:xfrm>
        </p:spPr>
        <p:txBody>
          <a:bodyPr>
            <a:normAutofit/>
          </a:bodyPr>
          <a:lstStyle/>
          <a:p>
            <a:r>
              <a:rPr lang="es-ES_tradnl" dirty="0">
                <a:latin typeface="Century Gothic" panose="020B0502020202020204" pitchFamily="34" charset="0"/>
              </a:rPr>
              <a:t>Árboles de Decisión</a:t>
            </a:r>
          </a:p>
        </p:txBody>
      </p:sp>
    </p:spTree>
    <p:extLst>
      <p:ext uri="{BB962C8B-B14F-4D97-AF65-F5344CB8AC3E}">
        <p14:creationId xmlns:p14="http://schemas.microsoft.com/office/powerpoint/2010/main" val="14746605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E7C85-653C-6D52-F5C9-844052AD55B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19CA7D1-32A9-5E04-1A01-5F753061B79C}"/>
              </a:ext>
            </a:extLst>
          </p:cNvPr>
          <p:cNvSpPr>
            <a:spLocks noGrp="1"/>
          </p:cNvSpPr>
          <p:nvPr>
            <p:ph type="ctrTitle"/>
          </p:nvPr>
        </p:nvSpPr>
        <p:spPr>
          <a:xfrm>
            <a:off x="470868" y="1814732"/>
            <a:ext cx="10359896" cy="826833"/>
          </a:xfrm>
        </p:spPr>
        <p:txBody>
          <a:bodyPr>
            <a:noAutofit/>
          </a:bodyPr>
          <a:lstStyle/>
          <a:p>
            <a:pPr algn="just"/>
            <a:r>
              <a:rPr lang="es-CO" sz="3200" dirty="0">
                <a:latin typeface="Century Gothic"/>
              </a:rPr>
              <a:t>CONCEPTOS BÁSICOS DE RIESGO Y SU APLICACIÓN (</a:t>
            </a:r>
            <a:r>
              <a:rPr lang="es-CO" sz="3200" dirty="0">
                <a:solidFill>
                  <a:srgbClr val="D7A700"/>
                </a:solidFill>
                <a:latin typeface="Century Gothic"/>
              </a:rPr>
              <a:t>PARTE II</a:t>
            </a:r>
            <a:r>
              <a:rPr lang="es-CO" sz="3200" dirty="0">
                <a:latin typeface="Century Gothic"/>
              </a:rPr>
              <a:t>)</a:t>
            </a:r>
            <a:endParaRPr lang="es-CO" sz="3200" dirty="0">
              <a:latin typeface="Century Gothic" panose="020B0502020202020204" pitchFamily="34" charset="0"/>
            </a:endParaRPr>
          </a:p>
        </p:txBody>
      </p:sp>
      <p:sp>
        <p:nvSpPr>
          <p:cNvPr id="6" name="CuadroTexto 5">
            <a:extLst>
              <a:ext uri="{FF2B5EF4-FFF2-40B4-BE49-F238E27FC236}">
                <a16:creationId xmlns:a16="http://schemas.microsoft.com/office/drawing/2014/main" id="{7C0BD514-0CBF-0542-52FD-484D8B21A376}"/>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dirty="0">
                <a:solidFill>
                  <a:schemeClr val="bg1"/>
                </a:solidFill>
                <a:latin typeface="Century Gothic"/>
              </a:rPr>
              <a:t>													</a:t>
            </a:r>
            <a:endParaRPr lang="es-CO" sz="2000" b="1" u="sng" dirty="0">
              <a:solidFill>
                <a:schemeClr val="bg1"/>
              </a:solidFill>
              <a:latin typeface="Century Gothic"/>
            </a:endParaRPr>
          </a:p>
          <a:p>
            <a:endParaRPr lang="es-CO" sz="1000" b="1" dirty="0">
              <a:solidFill>
                <a:schemeClr val="bg1"/>
              </a:solidFill>
              <a:latin typeface="Century Gothic" panose="020B0502020202020204" pitchFamily="34" charset="0"/>
            </a:endParaRPr>
          </a:p>
          <a:p>
            <a:r>
              <a:rPr lang="es-CO" sz="2000" b="1" dirty="0">
                <a:solidFill>
                  <a:schemeClr val="bg1"/>
                </a:solidFill>
                <a:latin typeface="Century Gothic"/>
              </a:rPr>
              <a:t>DEPARTAMENTO DE INGENIERÍA INDUSTRIAL</a:t>
            </a:r>
          </a:p>
          <a:p>
            <a:r>
              <a:rPr lang="es-CO" sz="2000" b="1" dirty="0">
                <a:solidFill>
                  <a:schemeClr val="bg1"/>
                </a:solidFill>
                <a:latin typeface="Century Gothic"/>
              </a:rPr>
              <a:t>FACULTAD DE INGENIERÍA</a:t>
            </a:r>
          </a:p>
          <a:p>
            <a:r>
              <a:rPr lang="es-CO" sz="1000" b="1" u="sng" dirty="0">
                <a:solidFill>
                  <a:schemeClr val="bg1"/>
                </a:solidFill>
                <a:latin typeface="Century Gothic"/>
              </a:rPr>
              <a:t>													</a:t>
            </a:r>
          </a:p>
          <a:p>
            <a:endParaRPr lang="es-CO" sz="2000" b="1" dirty="0">
              <a:solidFill>
                <a:schemeClr val="bg1"/>
              </a:solidFill>
              <a:latin typeface="Century Gothic" panose="020B0502020202020204" pitchFamily="34" charset="0"/>
            </a:endParaRPr>
          </a:p>
          <a:p>
            <a:r>
              <a:rPr lang="es-CO" sz="2000" b="1" dirty="0">
                <a:solidFill>
                  <a:schemeClr val="bg1"/>
                </a:solidFill>
                <a:latin typeface="Century Gothic"/>
              </a:rPr>
              <a:t>Curso	    </a:t>
            </a:r>
            <a:r>
              <a:rPr lang="es-CO" sz="2000" dirty="0">
                <a:solidFill>
                  <a:schemeClr val="bg1"/>
                </a:solidFill>
                <a:latin typeface="Century Gothic"/>
              </a:rPr>
              <a:t>ANÁLISIS DE DECISIONES DE INVERSIÓN</a:t>
            </a:r>
          </a:p>
          <a:p>
            <a:r>
              <a:rPr lang="es-CO" sz="2000" b="1" dirty="0">
                <a:solidFill>
                  <a:schemeClr val="bg1"/>
                </a:solidFill>
                <a:latin typeface="Century Gothic"/>
              </a:rPr>
              <a:t>Correo     </a:t>
            </a:r>
            <a:r>
              <a:rPr lang="es-CO" sz="2000" dirty="0">
                <a:solidFill>
                  <a:schemeClr val="bg1"/>
                </a:solidFill>
                <a:latin typeface="Century Gothic"/>
              </a:rPr>
              <a:t>cursoanadec@uniandes.edu.co</a:t>
            </a:r>
          </a:p>
          <a:p>
            <a:endParaRPr lang="es-CO" sz="2000" b="1" dirty="0">
              <a:solidFill>
                <a:schemeClr val="bg1"/>
              </a:solidFill>
              <a:latin typeface="Century Gothic" panose="020B0502020202020204" pitchFamily="34" charset="0"/>
            </a:endParaRPr>
          </a:p>
        </p:txBody>
      </p:sp>
      <p:sp>
        <p:nvSpPr>
          <p:cNvPr id="8" name="Rectángulo 7">
            <a:extLst>
              <a:ext uri="{FF2B5EF4-FFF2-40B4-BE49-F238E27FC236}">
                <a16:creationId xmlns:a16="http://schemas.microsoft.com/office/drawing/2014/main" id="{7E936227-7ACA-8306-DA73-8EE43AB9259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284E074C-6404-1699-764A-EFB81DFE65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B4F81683-B7AC-18EA-4531-E41C092B94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BE4FEBAC-AB63-DC31-14C2-683299D7A72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457230"/>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themeOverride>
</file>

<file path=docProps/app.xml><?xml version="1.0" encoding="utf-8"?>
<Properties xmlns="http://schemas.openxmlformats.org/officeDocument/2006/extended-properties" xmlns:vt="http://schemas.openxmlformats.org/officeDocument/2006/docPropsVTypes">
  <Template/>
  <TotalTime>2115</TotalTime>
  <Words>5437</Words>
  <Application>Microsoft Office PowerPoint</Application>
  <PresentationFormat>Panorámica</PresentationFormat>
  <Paragraphs>881</Paragraphs>
  <Slides>68</Slides>
  <Notes>19</Notes>
  <HiddenSlides>0</HiddenSlides>
  <MMClips>0</MMClips>
  <ScaleCrop>false</ScaleCrop>
  <HeadingPairs>
    <vt:vector size="8" baseType="variant">
      <vt:variant>
        <vt:lpstr>Fuentes usadas</vt:lpstr>
      </vt:variant>
      <vt:variant>
        <vt:i4>8</vt:i4>
      </vt:variant>
      <vt:variant>
        <vt:lpstr>Tema</vt:lpstr>
      </vt:variant>
      <vt:variant>
        <vt:i4>1</vt:i4>
      </vt:variant>
      <vt:variant>
        <vt:lpstr>Servidores OLE incrustados</vt:lpstr>
      </vt:variant>
      <vt:variant>
        <vt:i4>1</vt:i4>
      </vt:variant>
      <vt:variant>
        <vt:lpstr>Títulos de diapositiva</vt:lpstr>
      </vt:variant>
      <vt:variant>
        <vt:i4>68</vt:i4>
      </vt:variant>
    </vt:vector>
  </HeadingPairs>
  <TitlesOfParts>
    <vt:vector size="78" baseType="lpstr">
      <vt:lpstr>Arial</vt:lpstr>
      <vt:lpstr>Avenir Book</vt:lpstr>
      <vt:lpstr>Calibri</vt:lpstr>
      <vt:lpstr>Cambria Math</vt:lpstr>
      <vt:lpstr>Century Gothic</vt:lpstr>
      <vt:lpstr>Gill Sans MT</vt:lpstr>
      <vt:lpstr>Wingdings</vt:lpstr>
      <vt:lpstr>Wingdings 2</vt:lpstr>
      <vt:lpstr>Dividendo</vt:lpstr>
      <vt:lpstr>Equation</vt:lpstr>
      <vt:lpstr>CONCEPTOS BÁSICOS DE RIESGO Y SU APLICACIÓN (PARTE I)</vt:lpstr>
      <vt:lpstr>AGENDA PROPUESTA</vt:lpstr>
      <vt:lpstr>AGENDA PROPUESTA</vt:lpstr>
      <vt:lpstr>¿Qué es el riesgo?</vt:lpstr>
      <vt:lpstr>¿Qué es el riesgo?</vt:lpstr>
      <vt:lpstr>¿Qué es el riesgo?</vt:lpstr>
      <vt:lpstr>¿Qué es el riesgo?</vt:lpstr>
      <vt:lpstr>¿Qué es el riesgo?</vt:lpstr>
      <vt:lpstr>¿Qué es el riesgo?</vt:lpstr>
      <vt:lpstr>AGENDA PROPUESTA</vt:lpstr>
      <vt:lpstr>Tolerancia al riesgo</vt:lpstr>
      <vt:lpstr>Tolerancia al riesgo</vt:lpstr>
      <vt:lpstr>Tolerancia al riesgo</vt:lpstr>
      <vt:lpstr>Forms</vt:lpstr>
      <vt:lpstr>Tolerancia al riesgo</vt:lpstr>
      <vt:lpstr>Tolerancia al riesgo</vt:lpstr>
      <vt:lpstr>Tolerancia al riesgo</vt:lpstr>
      <vt:lpstr>Tolerancia al riesgo</vt:lpstr>
      <vt:lpstr>Tolerancia al riesgo</vt:lpstr>
      <vt:lpstr>Tolerancia al riesgo</vt:lpstr>
      <vt:lpstr>Tolerancia al riesgo</vt:lpstr>
      <vt:lpstr>Tolerancia al riesgo</vt:lpstr>
      <vt:lpstr>Tolerancia al riesgo</vt:lpstr>
      <vt:lpstr>Tolerancia al riesgo</vt:lpstr>
      <vt:lpstr>Tolerancia al riesgo</vt:lpstr>
      <vt:lpstr>Tolerancia al riesgo</vt:lpstr>
      <vt:lpstr>Tolerancia al riesgo</vt:lpstr>
      <vt:lpstr>Tolerancia al riesgo</vt:lpstr>
      <vt:lpstr>Tolerancia al riesgo</vt:lpstr>
      <vt:lpstr>Tolerancia al riesgo</vt:lpstr>
      <vt:lpstr>AGENDA PROPUESTA</vt:lpstr>
      <vt:lpstr>Valor Esperado Y Varianza</vt:lpstr>
      <vt:lpstr>Valor Esperado Y Varianza</vt:lpstr>
      <vt:lpstr>Valor Esperado Y Varianza</vt:lpstr>
      <vt:lpstr>Valor Esperado Y Varianza</vt:lpstr>
      <vt:lpstr>Valor esperado y varianza</vt:lpstr>
      <vt:lpstr>Valor esperado y varianza</vt:lpstr>
      <vt:lpstr>Valor esperado y varianza</vt:lpstr>
      <vt:lpstr>Valoración del riesgo</vt:lpstr>
      <vt:lpstr>Valoración del riesgo</vt:lpstr>
      <vt:lpstr>Valor Esperado Y Varianza</vt:lpstr>
      <vt:lpstr>Ejercicio 1</vt:lpstr>
      <vt:lpstr>Ejercicio 2</vt:lpstr>
      <vt:lpstr>Ejercicio 3</vt:lpstr>
      <vt:lpstr>CONCEPTOS BÁSICOS DE RIESGO Y SU APLICACIÓN (PARTE I)</vt:lpstr>
      <vt:lpstr>CONCEPTOS BÁSICOS DE RIESGO Y SU APLICACIÓN (PARTE II)</vt:lpstr>
      <vt:lpstr>AGENDA PROPUESTA</vt:lpstr>
      <vt:lpstr>AGENDA PROPUESTA</vt:lpstr>
      <vt:lpstr>Análisis de escenarios y de Sensibilidad</vt:lpstr>
      <vt:lpstr>Análisis de escenarios y de Sensibilidad</vt:lpstr>
      <vt:lpstr>AGENDA PROPUESTA</vt:lpstr>
      <vt:lpstr>Árboles de Decisión</vt:lpstr>
      <vt:lpstr>Árboles de Decisión</vt:lpstr>
      <vt:lpstr>Árboles de Decisión</vt:lpstr>
      <vt:lpstr>Árboles de Decisión</vt:lpstr>
      <vt:lpstr>Árboles de Decisión</vt:lpstr>
      <vt:lpstr>Árboles de Decisión</vt:lpstr>
      <vt:lpstr>Árboles de Decisión</vt:lpstr>
      <vt:lpstr>Árboles de Decisión</vt:lpstr>
      <vt:lpstr>Árboles de Decisión</vt:lpstr>
      <vt:lpstr>Árboles de Decisión</vt:lpstr>
      <vt:lpstr>Árboles de Decisión</vt:lpstr>
      <vt:lpstr>Árboles de Decisión</vt:lpstr>
      <vt:lpstr>Árboles de Decisión</vt:lpstr>
      <vt:lpstr>Árboles de Decisión</vt:lpstr>
      <vt:lpstr>Árboles de Decisión</vt:lpstr>
      <vt:lpstr>Árboles de Decisión</vt:lpstr>
      <vt:lpstr>CONCEPTOS BÁSICOS DE RIESGO Y SU APLICACIÓN (PARTE II)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 Rodriguez</cp:lastModifiedBy>
  <cp:revision>149</cp:revision>
  <dcterms:created xsi:type="dcterms:W3CDTF">2019-06-20T04:25:04Z</dcterms:created>
  <dcterms:modified xsi:type="dcterms:W3CDTF">2026-05-07T15:38:14Z</dcterms:modified>
</cp:coreProperties>
</file>