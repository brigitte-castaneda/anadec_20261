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92" r:id="rId1"/>
  </p:sldMasterIdLst>
  <p:notesMasterIdLst>
    <p:notesMasterId r:id="rId30"/>
  </p:notesMasterIdLst>
  <p:handoutMasterIdLst>
    <p:handoutMasterId r:id="rId31"/>
  </p:handoutMasterIdLst>
  <p:sldIdLst>
    <p:sldId id="398" r:id="rId2"/>
    <p:sldId id="354" r:id="rId3"/>
    <p:sldId id="431" r:id="rId4"/>
    <p:sldId id="258" r:id="rId5"/>
    <p:sldId id="259" r:id="rId6"/>
    <p:sldId id="421" r:id="rId7"/>
    <p:sldId id="429" r:id="rId8"/>
    <p:sldId id="457" r:id="rId9"/>
    <p:sldId id="430" r:id="rId10"/>
    <p:sldId id="458" r:id="rId11"/>
    <p:sldId id="423" r:id="rId12"/>
    <p:sldId id="427" r:id="rId13"/>
    <p:sldId id="459" r:id="rId14"/>
    <p:sldId id="297" r:id="rId15"/>
    <p:sldId id="465" r:id="rId16"/>
    <p:sldId id="438" r:id="rId17"/>
    <p:sldId id="460" r:id="rId18"/>
    <p:sldId id="454" r:id="rId19"/>
    <p:sldId id="461" r:id="rId20"/>
    <p:sldId id="455" r:id="rId21"/>
    <p:sldId id="462" r:id="rId22"/>
    <p:sldId id="463" r:id="rId23"/>
    <p:sldId id="456" r:id="rId24"/>
    <p:sldId id="425" r:id="rId25"/>
    <p:sldId id="265" r:id="rId26"/>
    <p:sldId id="302" r:id="rId27"/>
    <p:sldId id="464" r:id="rId28"/>
    <p:sldId id="42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4E6"/>
    <a:srgbClr val="D7A700"/>
    <a:srgbClr val="C00000"/>
    <a:srgbClr val="002F90"/>
    <a:srgbClr val="FF6600"/>
    <a:srgbClr val="48BE7A"/>
    <a:srgbClr val="FF8AD8"/>
    <a:srgbClr val="7A81FF"/>
    <a:srgbClr val="D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C4C64A-51E1-3D42-8BE3-EC7400F6DFB2}" v="12" dt="2026-01-26T16:38:49.15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94694"/>
  </p:normalViewPr>
  <p:slideViewPr>
    <p:cSldViewPr snapToGrid="0">
      <p:cViewPr varScale="1">
        <p:scale>
          <a:sx n="117" d="100"/>
          <a:sy n="117" d="100"/>
        </p:scale>
        <p:origin x="13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48C4C64A-51E1-3D42-8BE3-EC7400F6DFB2}"/>
    <pc:docChg chg="undo custSel addSld delSld modSld">
      <pc:chgData name="Brigitte Castañeda Rodriguez" userId="5c201908-82f6-498c-9281-7eaa96fb17b4" providerId="ADAL" clId="{48C4C64A-51E1-3D42-8BE3-EC7400F6DFB2}" dt="2026-01-26T16:39:01.137" v="45" actId="1076"/>
      <pc:docMkLst>
        <pc:docMk/>
      </pc:docMkLst>
      <pc:sldChg chg="addSp delSp modSp mod">
        <pc:chgData name="Brigitte Castañeda Rodriguez" userId="5c201908-82f6-498c-9281-7eaa96fb17b4" providerId="ADAL" clId="{48C4C64A-51E1-3D42-8BE3-EC7400F6DFB2}" dt="2026-01-26T16:38:12.944" v="33" actId="1076"/>
        <pc:sldMkLst>
          <pc:docMk/>
          <pc:sldMk cId="3424180887" sldId="438"/>
        </pc:sldMkLst>
        <pc:picChg chg="add del mod">
          <ac:chgData name="Brigitte Castañeda Rodriguez" userId="5c201908-82f6-498c-9281-7eaa96fb17b4" providerId="ADAL" clId="{48C4C64A-51E1-3D42-8BE3-EC7400F6DFB2}" dt="2026-01-26T16:38:12.944" v="33" actId="1076"/>
          <ac:picMkLst>
            <pc:docMk/>
            <pc:sldMk cId="3424180887" sldId="438"/>
            <ac:picMk id="6" creationId="{80D43D6F-6C50-4686-32E0-E0B95F132155}"/>
          </ac:picMkLst>
        </pc:picChg>
        <pc:picChg chg="del">
          <ac:chgData name="Brigitte Castañeda Rodriguez" userId="5c201908-82f6-498c-9281-7eaa96fb17b4" providerId="ADAL" clId="{48C4C64A-51E1-3D42-8BE3-EC7400F6DFB2}" dt="2026-01-26T16:38:11.563" v="32" actId="478"/>
          <ac:picMkLst>
            <pc:docMk/>
            <pc:sldMk cId="3424180887" sldId="438"/>
            <ac:picMk id="14" creationId="{D6B6DC96-C34F-1D37-DCF2-905DDD4DA615}"/>
          </ac:picMkLst>
        </pc:picChg>
        <pc:picChg chg="del">
          <ac:chgData name="Brigitte Castañeda Rodriguez" userId="5c201908-82f6-498c-9281-7eaa96fb17b4" providerId="ADAL" clId="{48C4C64A-51E1-3D42-8BE3-EC7400F6DFB2}" dt="2026-01-26T16:37:39.877" v="23" actId="478"/>
          <ac:picMkLst>
            <pc:docMk/>
            <pc:sldMk cId="3424180887" sldId="438"/>
            <ac:picMk id="13314" creationId="{7EEFDCFB-0FF9-1D1A-5003-4B3206C00760}"/>
          </ac:picMkLst>
        </pc:picChg>
      </pc:sldChg>
      <pc:sldChg chg="addSp delSp modSp mod">
        <pc:chgData name="Brigitte Castañeda Rodriguez" userId="5c201908-82f6-498c-9281-7eaa96fb17b4" providerId="ADAL" clId="{48C4C64A-51E1-3D42-8BE3-EC7400F6DFB2}" dt="2026-01-26T16:38:08.051" v="30" actId="1076"/>
        <pc:sldMkLst>
          <pc:docMk/>
          <pc:sldMk cId="726153313" sldId="454"/>
        </pc:sldMkLst>
        <pc:picChg chg="add mod">
          <ac:chgData name="Brigitte Castañeda Rodriguez" userId="5c201908-82f6-498c-9281-7eaa96fb17b4" providerId="ADAL" clId="{48C4C64A-51E1-3D42-8BE3-EC7400F6DFB2}" dt="2026-01-26T16:38:08.051" v="30" actId="1076"/>
          <ac:picMkLst>
            <pc:docMk/>
            <pc:sldMk cId="726153313" sldId="454"/>
            <ac:picMk id="6" creationId="{A4EAC937-92D6-9BC4-8C82-053FAA0551F7}"/>
          </ac:picMkLst>
        </pc:picChg>
        <pc:picChg chg="del">
          <ac:chgData name="Brigitte Castañeda Rodriguez" userId="5c201908-82f6-498c-9281-7eaa96fb17b4" providerId="ADAL" clId="{48C4C64A-51E1-3D42-8BE3-EC7400F6DFB2}" dt="2026-01-26T16:38:03.476" v="26" actId="478"/>
          <ac:picMkLst>
            <pc:docMk/>
            <pc:sldMk cId="726153313" sldId="454"/>
            <ac:picMk id="7" creationId="{B3CFF034-4BCF-F732-3354-AA701DC98F11}"/>
          </ac:picMkLst>
        </pc:picChg>
        <pc:picChg chg="del">
          <ac:chgData name="Brigitte Castañeda Rodriguez" userId="5c201908-82f6-498c-9281-7eaa96fb17b4" providerId="ADAL" clId="{48C4C64A-51E1-3D42-8BE3-EC7400F6DFB2}" dt="2026-01-26T16:38:01.994" v="25" actId="478"/>
          <ac:picMkLst>
            <pc:docMk/>
            <pc:sldMk cId="726153313" sldId="454"/>
            <ac:picMk id="14338" creationId="{C8633A87-1E80-2602-9367-810C1CA853E0}"/>
          </ac:picMkLst>
        </pc:picChg>
      </pc:sldChg>
      <pc:sldChg chg="addSp delSp modSp mod">
        <pc:chgData name="Brigitte Castañeda Rodriguez" userId="5c201908-82f6-498c-9281-7eaa96fb17b4" providerId="ADAL" clId="{48C4C64A-51E1-3D42-8BE3-EC7400F6DFB2}" dt="2026-01-26T16:38:33.191" v="39" actId="1076"/>
        <pc:sldMkLst>
          <pc:docMk/>
          <pc:sldMk cId="3694344773" sldId="455"/>
        </pc:sldMkLst>
        <pc:picChg chg="add mod">
          <ac:chgData name="Brigitte Castañeda Rodriguez" userId="5c201908-82f6-498c-9281-7eaa96fb17b4" providerId="ADAL" clId="{48C4C64A-51E1-3D42-8BE3-EC7400F6DFB2}" dt="2026-01-26T16:38:33.191" v="39" actId="1076"/>
          <ac:picMkLst>
            <pc:docMk/>
            <pc:sldMk cId="3694344773" sldId="455"/>
            <ac:picMk id="3" creationId="{288901B6-4335-4AE8-E794-9A69935E02B6}"/>
          </ac:picMkLst>
        </pc:picChg>
        <pc:picChg chg="del">
          <ac:chgData name="Brigitte Castañeda Rodriguez" userId="5c201908-82f6-498c-9281-7eaa96fb17b4" providerId="ADAL" clId="{48C4C64A-51E1-3D42-8BE3-EC7400F6DFB2}" dt="2026-01-26T16:38:16.819" v="34" actId="478"/>
          <ac:picMkLst>
            <pc:docMk/>
            <pc:sldMk cId="3694344773" sldId="455"/>
            <ac:picMk id="10" creationId="{A09F5143-ABB7-AB0F-A272-C16B7F947B8D}"/>
          </ac:picMkLst>
        </pc:picChg>
        <pc:picChg chg="del">
          <ac:chgData name="Brigitte Castañeda Rodriguez" userId="5c201908-82f6-498c-9281-7eaa96fb17b4" providerId="ADAL" clId="{48C4C64A-51E1-3D42-8BE3-EC7400F6DFB2}" dt="2026-01-26T16:38:18.029" v="35" actId="478"/>
          <ac:picMkLst>
            <pc:docMk/>
            <pc:sldMk cId="3694344773" sldId="455"/>
            <ac:picMk id="15362" creationId="{311F784E-0A82-EEBA-69A2-92CAF2CA8FD9}"/>
          </ac:picMkLst>
        </pc:picChg>
      </pc:sldChg>
      <pc:sldChg chg="addSp delSp modSp mod">
        <pc:chgData name="Brigitte Castañeda Rodriguez" userId="5c201908-82f6-498c-9281-7eaa96fb17b4" providerId="ADAL" clId="{48C4C64A-51E1-3D42-8BE3-EC7400F6DFB2}" dt="2026-01-26T16:37:29.121" v="18" actId="1076"/>
        <pc:sldMkLst>
          <pc:docMk/>
          <pc:sldMk cId="1367693967" sldId="460"/>
        </pc:sldMkLst>
        <pc:picChg chg="add mod">
          <ac:chgData name="Brigitte Castañeda Rodriguez" userId="5c201908-82f6-498c-9281-7eaa96fb17b4" providerId="ADAL" clId="{48C4C64A-51E1-3D42-8BE3-EC7400F6DFB2}" dt="2026-01-26T16:37:26.294" v="15" actId="1076"/>
          <ac:picMkLst>
            <pc:docMk/>
            <pc:sldMk cId="1367693967" sldId="460"/>
            <ac:picMk id="7" creationId="{EFD6DE7F-9DFE-AE54-959A-8E31A8B2D0A2}"/>
          </ac:picMkLst>
        </pc:picChg>
        <pc:picChg chg="mod">
          <ac:chgData name="Brigitte Castañeda Rodriguez" userId="5c201908-82f6-498c-9281-7eaa96fb17b4" providerId="ADAL" clId="{48C4C64A-51E1-3D42-8BE3-EC7400F6DFB2}" dt="2026-01-26T16:37:29.121" v="18" actId="1076"/>
          <ac:picMkLst>
            <pc:docMk/>
            <pc:sldMk cId="1367693967" sldId="460"/>
            <ac:picMk id="14" creationId="{A08E248D-D3AD-96EE-30F6-0F68EF5DA7F0}"/>
          </ac:picMkLst>
        </pc:picChg>
        <pc:picChg chg="add del">
          <ac:chgData name="Brigitte Castañeda Rodriguez" userId="5c201908-82f6-498c-9281-7eaa96fb17b4" providerId="ADAL" clId="{48C4C64A-51E1-3D42-8BE3-EC7400F6DFB2}" dt="2026-01-26T16:37:27.822" v="17" actId="478"/>
          <ac:picMkLst>
            <pc:docMk/>
            <pc:sldMk cId="1367693967" sldId="460"/>
            <ac:picMk id="13314" creationId="{0F82B46D-55CA-FAD2-DF54-763091CA0D37}"/>
          </ac:picMkLst>
        </pc:picChg>
      </pc:sldChg>
      <pc:sldChg chg="addSp delSp modSp mod">
        <pc:chgData name="Brigitte Castañeda Rodriguez" userId="5c201908-82f6-498c-9281-7eaa96fb17b4" providerId="ADAL" clId="{48C4C64A-51E1-3D42-8BE3-EC7400F6DFB2}" dt="2026-01-26T16:39:01.137" v="45" actId="1076"/>
        <pc:sldMkLst>
          <pc:docMk/>
          <pc:sldMk cId="3290960603" sldId="463"/>
        </pc:sldMkLst>
        <pc:picChg chg="add mod">
          <ac:chgData name="Brigitte Castañeda Rodriguez" userId="5c201908-82f6-498c-9281-7eaa96fb17b4" providerId="ADAL" clId="{48C4C64A-51E1-3D42-8BE3-EC7400F6DFB2}" dt="2026-01-26T16:39:01.137" v="45" actId="1076"/>
          <ac:picMkLst>
            <pc:docMk/>
            <pc:sldMk cId="3290960603" sldId="463"/>
            <ac:picMk id="6" creationId="{ADABC0B7-7FB6-2A5D-C2FE-70509E5E8118}"/>
          </ac:picMkLst>
        </pc:picChg>
        <pc:picChg chg="del">
          <ac:chgData name="Brigitte Castañeda Rodriguez" userId="5c201908-82f6-498c-9281-7eaa96fb17b4" providerId="ADAL" clId="{48C4C64A-51E1-3D42-8BE3-EC7400F6DFB2}" dt="2026-01-26T16:38:36.008" v="40" actId="478"/>
          <ac:picMkLst>
            <pc:docMk/>
            <pc:sldMk cId="3290960603" sldId="463"/>
            <ac:picMk id="11" creationId="{B26D30F7-519E-FF11-B346-75285E190BD0}"/>
          </ac:picMkLst>
        </pc:picChg>
        <pc:picChg chg="del">
          <ac:chgData name="Brigitte Castañeda Rodriguez" userId="5c201908-82f6-498c-9281-7eaa96fb17b4" providerId="ADAL" clId="{48C4C64A-51E1-3D42-8BE3-EC7400F6DFB2}" dt="2026-01-26T16:38:37.962" v="41" actId="478"/>
          <ac:picMkLst>
            <pc:docMk/>
            <pc:sldMk cId="3290960603" sldId="463"/>
            <ac:picMk id="16386" creationId="{0929A0FB-5699-52BD-2786-E2DAD3C76023}"/>
          </ac:picMkLst>
        </pc:picChg>
      </pc:sldChg>
      <pc:sldChg chg="add del">
        <pc:chgData name="Brigitte Castañeda Rodriguez" userId="5c201908-82f6-498c-9281-7eaa96fb17b4" providerId="ADAL" clId="{48C4C64A-51E1-3D42-8BE3-EC7400F6DFB2}" dt="2026-01-26T16:36:15.149" v="1" actId="2696"/>
        <pc:sldMkLst>
          <pc:docMk/>
          <pc:sldMk cId="3566548561" sldId="4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26/01/26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26/01/26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83411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BA75-1C58-12F2-FC26-D58D365B4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E63D0-FF96-6146-048E-989947235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346130-B552-80AD-B402-BC6AF0F48D06}"/>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854133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858898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E5A76-0AD1-7331-6592-443BEBA68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2D4EB-7BC5-4A65-58A9-36A3037CB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41ECC-ADCD-9EBB-1965-F5AEFB523F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928EC9-2D6A-1788-2E09-4C33C3CB7CB7}"/>
              </a:ext>
            </a:extLst>
          </p:cNvPr>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198945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63390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032273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77196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789880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3B11-726F-C14B-0766-E48E67FA3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1DD4E-7805-673B-A1B2-FDED71A69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B61AA-156E-68F2-AAAA-E622B1A93E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DBEDA8-4E38-F935-6611-972B929EAF65}"/>
              </a:ext>
            </a:extLst>
          </p:cNvPr>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404898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1/26/26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38534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83086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1/26/26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83209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1/26/26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6928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1/26/26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2769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1/26/26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90547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1/26/26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9466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1/26/26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377819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1/26/26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19591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747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1/26/26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56143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1/26/26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2190837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eptgu.eco.catedras.unc.edu.ar/unidad-1-2/que-es-un-proyecto/costo-de-oportunidad/"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menti.com/aljbo7jfqy9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8.jpe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4.jpe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gif"/><Relationship Id="rId5" Type="http://schemas.openxmlformats.org/officeDocument/2006/relationships/image" Target="../media/image27.jpeg"/><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6" name="CuadroTexto 5"/>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4" name="Rectángulo 3">
            <a:extLst>
              <a:ext uri="{FF2B5EF4-FFF2-40B4-BE49-F238E27FC236}">
                <a16:creationId xmlns:a16="http://schemas.microsoft.com/office/drawing/2014/main" id="{B4713FC0-59F6-475F-C18A-6594C895A7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743835"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D96E788-B85C-A920-13D8-0A899DD148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3AAA-18F5-D925-DA76-5B4AED58E7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677C02-9CF8-31BD-A57F-3F5097FF869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85F6FF7A-0603-E10A-2BAB-F8CA647534D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2CD6EE4F-7BED-9982-7B9D-A07C57D8426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CF2C850C-F4FB-527E-DE78-98462D43A13F}"/>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tx2">
                    <a:lumMod val="20000"/>
                    <a:lumOff val="80000"/>
                  </a:schemeClr>
                </a:solidFill>
                <a:latin typeface="Century Gothic"/>
                <a:cs typeface="Arial"/>
              </a:rPr>
              <a:t>Relación entre Costo de Oportunidad y Valor del Dinero en el Tiempo (VDT)</a:t>
            </a:r>
            <a:endParaRPr lang="es-CO">
              <a:solidFill>
                <a:schemeClr val="tx2">
                  <a:lumMod val="20000"/>
                  <a:lumOff val="80000"/>
                </a:schemeClr>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1B555938-AE0D-B3AB-D153-17D0335254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399DF3D-CC99-31FE-199B-0623ABA3F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763D8673-23CC-A26D-A596-D8EE15FE8A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0310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76881" y="2269638"/>
            <a:ext cx="7412271" cy="3686499"/>
          </a:xfrm>
        </p:spPr>
        <p:txBody>
          <a:bodyPr>
            <a:normAutofit/>
          </a:bodyPr>
          <a:lstStyle/>
          <a:p>
            <a:pPr marL="0" indent="0" algn="just">
              <a:buNone/>
            </a:pPr>
            <a:r>
              <a:rPr lang="es-ES_tradnl">
                <a:latin typeface="Century Gothic" panose="020B0502020202020204" pitchFamily="34" charset="0"/>
              </a:rPr>
              <a:t>Cuando se utiliza el término Costo de Oportunidad, se hace alusión a dos (2) interpretaciones cuya relación es estrecha:</a:t>
            </a:r>
          </a:p>
          <a:p>
            <a:pPr algn="just"/>
            <a:endParaRPr lang="es-ES_tradnl">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a:t>
            </a:r>
            <a:r>
              <a:rPr lang="es-ES_tradnl" sz="1800" b="1">
                <a:solidFill>
                  <a:srgbClr val="D7A700"/>
                </a:solidFill>
                <a:latin typeface="Century Gothic" panose="020B0502020202020204" pitchFamily="34" charset="0"/>
              </a:rPr>
              <a:t>beneficio de la mejor alternativa rechazada </a:t>
            </a:r>
            <a:r>
              <a:rPr lang="es-ES_tradnl" sz="1800">
                <a:latin typeface="Century Gothic" panose="020B0502020202020204" pitchFamily="34" charset="0"/>
              </a:rPr>
              <a:t>y de la cual se pierde la oportunidad de obtener beneficios.</a:t>
            </a:r>
          </a:p>
          <a:p>
            <a:pPr marL="692150" lvl="1" indent="-342900" algn="just">
              <a:buFont typeface="+mj-lt"/>
              <a:buAutoNum type="arabicPeriod"/>
            </a:pPr>
            <a:endParaRPr lang="es-ES_tradnl" sz="1800">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costo de oportunidad como elemento fundamental del concepto de pérdida del </a:t>
            </a:r>
            <a:r>
              <a:rPr lang="es-ES_tradnl" sz="1800" b="1">
                <a:solidFill>
                  <a:srgbClr val="D7A700"/>
                </a:solidFill>
                <a:latin typeface="Century Gothic" panose="020B0502020202020204" pitchFamily="34" charset="0"/>
              </a:rPr>
              <a:t>Valor del Dinero en el Tiempo (VDT)</a:t>
            </a:r>
            <a:r>
              <a:rPr lang="es-ES_tradnl" sz="1800">
                <a:solidFill>
                  <a:srgbClr val="D7A700"/>
                </a:solidFill>
                <a:latin typeface="Century Gothic" panose="020B0502020202020204" pitchFamily="34" charset="0"/>
              </a:rPr>
              <a: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1DC79C84-9E20-4804-9C9F-48A2FC2FDA2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C1F56C2-EEA8-2D03-725B-2E76BD77F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AC07419-7908-0D3B-55C7-D0DCAF474F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Cómo tomar decisiones importantes con seguridad? 4 modelos">
            <a:extLst>
              <a:ext uri="{FF2B5EF4-FFF2-40B4-BE49-F238E27FC236}">
                <a16:creationId xmlns:a16="http://schemas.microsoft.com/office/drawing/2014/main" id="{E4C5402D-7C3F-D37E-704C-C7432DC61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257" y="2903945"/>
            <a:ext cx="3115862" cy="190605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ECA02643-C906-11CA-D86E-DB7828D35B0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303343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fade">
                                      <p:cBhvr>
                                        <p:cTn id="12"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41966" y="1989939"/>
            <a:ext cx="7875734" cy="4438284"/>
          </a:xfrm>
        </p:spPr>
        <p:txBody>
          <a:bodyPr>
            <a:normAutofit/>
          </a:bodyPr>
          <a:lstStyle/>
          <a:p>
            <a:pPr marL="0" indent="0" algn="just">
              <a:buNone/>
            </a:pPr>
            <a:r>
              <a:rPr lang="es-ES_tradnl">
                <a:latin typeface="Century Gothic" panose="020B0502020202020204" pitchFamily="34" charset="0"/>
              </a:rPr>
              <a:t>Las dos anteriores interpretaciones pueden parecer distintas. No obstante, hacen referencia al mismo concepto bajo situaciones distintas.</a:t>
            </a:r>
          </a:p>
          <a:p>
            <a:pPr marL="0" indent="0" algn="ctr">
              <a:buNone/>
            </a:pPr>
            <a:endParaRPr lang="es-ES_tradnl">
              <a:latin typeface="Century Gothic" panose="020B0502020202020204" pitchFamily="34" charset="0"/>
            </a:endParaRPr>
          </a:p>
          <a:p>
            <a:pPr marL="0" indent="0" algn="ctr">
              <a:buNone/>
            </a:pPr>
            <a:r>
              <a:rPr lang="es-ES_tradnl">
                <a:latin typeface="Century Gothic" panose="020B0502020202020204" pitchFamily="34" charset="0"/>
              </a:rPr>
              <a:t>Veamos un </a:t>
            </a:r>
            <a:r>
              <a:rPr lang="es-ES_tradnl" b="1">
                <a:solidFill>
                  <a:schemeClr val="accent1">
                    <a:lumMod val="75000"/>
                  </a:schemeClr>
                </a:solidFill>
                <a:latin typeface="Century Gothic" panose="020B0502020202020204" pitchFamily="34" charset="0"/>
              </a:rPr>
              <a:t>en detalle</a:t>
            </a:r>
            <a:r>
              <a:rPr lang="es-ES_tradnl">
                <a:solidFill>
                  <a:schemeClr val="accent1">
                    <a:lumMod val="75000"/>
                  </a:schemeClr>
                </a:solidFill>
                <a:latin typeface="Century Gothic" panose="020B0502020202020204" pitchFamily="34" charset="0"/>
              </a:rPr>
              <a:t> </a:t>
            </a:r>
            <a:r>
              <a:rPr lang="es-ES_tradnl">
                <a:latin typeface="Century Gothic" panose="020B0502020202020204" pitchFamily="34" charset="0"/>
              </a:rPr>
              <a:t>la primera definición.</a:t>
            </a:r>
          </a:p>
          <a:p>
            <a:pPr marL="0" indent="0" algn="ctr">
              <a:buNone/>
            </a:pPr>
            <a:endParaRPr lang="es-ES_tradnl">
              <a:latin typeface="Century Gothic" panose="020B0502020202020204" pitchFamily="34" charset="0"/>
            </a:endParaRPr>
          </a:p>
          <a:p>
            <a:pPr marL="0" indent="0" algn="r">
              <a:buNone/>
            </a:pPr>
            <a:r>
              <a:rPr lang="es-ES_tradnl">
                <a:solidFill>
                  <a:srgbClr val="D7A700"/>
                </a:solidFill>
                <a:latin typeface="Century Gothic" panose="020B0502020202020204" pitchFamily="34" charset="0"/>
              </a:rPr>
              <a:t>El </a:t>
            </a:r>
            <a:r>
              <a:rPr lang="es-ES_tradnl" b="1">
                <a:solidFill>
                  <a:srgbClr val="D7A700"/>
                </a:solidFill>
                <a:latin typeface="Century Gothic" panose="020B0502020202020204" pitchFamily="34" charset="0"/>
              </a:rPr>
              <a:t>beneficio de la mejor alternativa rechazada </a:t>
            </a:r>
            <a:r>
              <a:rPr lang="es-ES_tradnl">
                <a:solidFill>
                  <a:srgbClr val="D7A700"/>
                </a:solidFill>
                <a:latin typeface="Century Gothic" panose="020B0502020202020204" pitchFamily="34" charset="0"/>
              </a:rPr>
              <a:t>y de la cual se pierde la oportunidad de obtener ventajas económicas.</a:t>
            </a:r>
          </a:p>
          <a:p>
            <a:pPr marL="0" indent="0" algn="ctr">
              <a:buNone/>
            </a:pPr>
            <a:endParaRPr lang="es-ES_tradnl">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8DAF76B8-B148-7DDF-C37C-304E803266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17A5AC8-B047-50DB-DE02-BBB86102B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C254344-7A4A-C649-3786-6B0BDDCC88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Qué es beneficio neto, beneficio bruto y ebitda">
            <a:extLst>
              <a:ext uri="{FF2B5EF4-FFF2-40B4-BE49-F238E27FC236}">
                <a16:creationId xmlns:a16="http://schemas.microsoft.com/office/drawing/2014/main" id="{91670C3E-A27F-32AA-BE3F-412BF27D0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928" y="3170479"/>
            <a:ext cx="2868106" cy="161331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29A16EAE-54C8-3AC7-E014-E945E750A509}"/>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210897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
        <p:nvSpPr>
          <p:cNvPr id="20" name="Rectángulo 19"/>
          <p:cNvSpPr/>
          <p:nvPr/>
        </p:nvSpPr>
        <p:spPr>
          <a:xfrm>
            <a:off x="3983276" y="2822966"/>
            <a:ext cx="7272553" cy="2585323"/>
          </a:xfrm>
          <a:prstGeom prst="rect">
            <a:avLst/>
          </a:prstGeom>
        </p:spPr>
        <p:txBody>
          <a:bodyPr wrap="square" lIns="91440" tIns="45720" rIns="91440" bIns="45720" anchor="t">
            <a:spAutoFit/>
          </a:bodyPr>
          <a:lstStyle/>
          <a:p>
            <a:pPr algn="just">
              <a:buClr>
                <a:schemeClr val="accent3">
                  <a:lumMod val="75000"/>
                </a:schemeClr>
              </a:buClr>
            </a:pPr>
            <a:r>
              <a:rPr lang="es-CO" b="1">
                <a:solidFill>
                  <a:srgbClr val="C00000"/>
                </a:solidFill>
                <a:latin typeface="Century Gothic" panose="020B0502020202020204" pitchFamily="34" charset="0"/>
              </a:rPr>
              <a:t>Elegir alguna cosa significa renunciar a otra</a:t>
            </a:r>
            <a:r>
              <a:rPr lang="es-CO">
                <a:solidFill>
                  <a:schemeClr val="accent1"/>
                </a:solidFill>
                <a:latin typeface="Century Gothic" panose="020B0502020202020204" pitchFamily="34" charset="0"/>
              </a:rPr>
              <a:t>.</a:t>
            </a:r>
          </a:p>
          <a:p>
            <a:pPr algn="just">
              <a:buClr>
                <a:schemeClr val="accent3">
                  <a:lumMod val="75000"/>
                </a:schemeClr>
              </a:buClr>
            </a:pPr>
            <a:endParaRPr lang="es-CO">
              <a:latin typeface="Century Gothic"/>
            </a:endParaRPr>
          </a:p>
          <a:p>
            <a:pPr algn="just">
              <a:buClr>
                <a:schemeClr val="accent3">
                  <a:lumMod val="75000"/>
                </a:schemeClr>
              </a:buClr>
            </a:pPr>
            <a:r>
              <a:rPr lang="es-CO">
                <a:latin typeface="Century Gothic"/>
              </a:rPr>
              <a:t>Bajo la </a:t>
            </a:r>
            <a:r>
              <a:rPr lang="es-CO" b="1">
                <a:solidFill>
                  <a:schemeClr val="accent1"/>
                </a:solidFill>
                <a:latin typeface="Century Gothic"/>
              </a:rPr>
              <a:t>primera interpretación</a:t>
            </a:r>
            <a:r>
              <a:rPr lang="es-CO">
                <a:latin typeface="Century Gothic"/>
              </a:rPr>
              <a:t>, e</a:t>
            </a:r>
            <a:r>
              <a:rPr lang="es-CO">
                <a:effectLst/>
                <a:latin typeface="Century Gothic"/>
              </a:rPr>
              <a:t>l </a:t>
            </a:r>
            <a:r>
              <a:rPr lang="es-CO" b="1" u="sng">
                <a:solidFill>
                  <a:srgbClr val="D7A700"/>
                </a:solidFill>
                <a:latin typeface="Century Gothic"/>
              </a:rPr>
              <a:t>C</a:t>
            </a:r>
            <a:r>
              <a:rPr lang="es-CO" b="1" u="sng">
                <a:solidFill>
                  <a:srgbClr val="D7A700"/>
                </a:solidFill>
                <a:effectLst/>
                <a:latin typeface="Century Gothic"/>
                <a:hlinkClick r:id="rId2">
                  <a:extLst>
                    <a:ext uri="{A12FA001-AC4F-418D-AE19-62706E023703}">
                      <ahyp:hlinkClr xmlns:ahyp="http://schemas.microsoft.com/office/drawing/2018/hyperlinkcolor" val="tx"/>
                    </a:ext>
                  </a:extLst>
                </a:hlinkClick>
              </a:rPr>
              <a:t>osto de Oportunidad</a:t>
            </a:r>
            <a:r>
              <a:rPr lang="es-CO">
                <a:solidFill>
                  <a:srgbClr val="D7A700"/>
                </a:solidFill>
                <a:effectLst/>
                <a:latin typeface="Century Gothic"/>
              </a:rPr>
              <a:t> </a:t>
            </a:r>
            <a:r>
              <a:rPr lang="es-CO">
                <a:effectLst/>
                <a:latin typeface="Century Gothic"/>
              </a:rPr>
              <a:t>se define como el rendimiento o los beneficios que se dejan de percibir por la mejor alternativa a la </a:t>
            </a:r>
            <a:r>
              <a:rPr lang="es-CO">
                <a:latin typeface="Century Gothic"/>
              </a:rPr>
              <a:t>decisión tomada.</a:t>
            </a:r>
            <a:endParaRPr lang="es-CO">
              <a:latin typeface="Century Gothic" panose="020B0502020202020204" pitchFamily="34" charset="0"/>
            </a:endParaRPr>
          </a:p>
          <a:p>
            <a:pPr algn="just"/>
            <a:endParaRPr lang="es-CO">
              <a:latin typeface="Century Gothic"/>
            </a:endParaRPr>
          </a:p>
          <a:p>
            <a:pPr algn="just"/>
            <a:r>
              <a:rPr lang="es-CO">
                <a:latin typeface="Century Gothic"/>
              </a:rPr>
              <a:t>Más </a:t>
            </a:r>
            <a:r>
              <a:rPr lang="es-CO">
                <a:effectLst/>
                <a:latin typeface="Century Gothic"/>
              </a:rPr>
              <a:t>que un costo </a:t>
            </a:r>
            <a:r>
              <a:rPr lang="es-CO">
                <a:latin typeface="Century Gothic"/>
              </a:rPr>
              <a:t>económico</a:t>
            </a:r>
            <a:r>
              <a:rPr lang="es-CO">
                <a:effectLst/>
                <a:latin typeface="Century Gothic"/>
              </a:rPr>
              <a:t>, se considera, como su nombre lo indica, el costo de hacer una </a:t>
            </a:r>
            <a:r>
              <a:rPr lang="es-CO">
                <a:latin typeface="Century Gothic"/>
              </a:rPr>
              <a:t>elección </a:t>
            </a:r>
            <a:r>
              <a:rPr lang="es-CO">
                <a:effectLst/>
                <a:latin typeface="Century Gothic"/>
              </a:rPr>
              <a:t>diferente a la que se </a:t>
            </a:r>
            <a:r>
              <a:rPr lang="es-CO">
                <a:latin typeface="Century Gothic"/>
              </a:rPr>
              <a:t>tomó </a:t>
            </a:r>
            <a:r>
              <a:rPr lang="es-CO">
                <a:effectLst/>
                <a:latin typeface="Century Gothic"/>
              </a:rPr>
              <a:t>entre varias alternativas. </a:t>
            </a: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12A37EA-1CD6-7682-7872-EC5C5AF09C6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074" name="Picture 2" descr="Imágenes de Rechazado libres de derechos | Depositphotos">
            <a:extLst>
              <a:ext uri="{FF2B5EF4-FFF2-40B4-BE49-F238E27FC236}">
                <a16:creationId xmlns:a16="http://schemas.microsoft.com/office/drawing/2014/main" id="{4442F4B3-C881-1D65-05CD-2A6C0A0B27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147" y="2744942"/>
            <a:ext cx="3551129" cy="2663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90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animEffect transition="in" filter="dissolve">
                                      <p:cBhvr>
                                        <p:cTn id="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2DC08-4954-DF26-35DC-D0B6CCDC27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83DA24-B5C1-7EA0-FD09-B15417327F6F}"/>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5F20A189-8969-AE5C-D130-12994BDC3C4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354A7846-E6E3-AB98-945C-959322B3BD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5036376-A830-C1E6-C43C-95CB6A88A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8678CF7-8646-ADAD-65A1-2CD7C3408D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BD2D09AB-AE82-D51D-33C5-C98A6CC2CB0D}"/>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129FFCB5-C729-996B-54B0-D79E7EC070D7}"/>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98A7DFA2-3053-8F73-2934-ADD634F27F5A}"/>
              </a:ext>
            </a:extLst>
          </p:cNvPr>
          <p:cNvGraphicFramePr>
            <a:graphicFrameLocks noGrp="1"/>
          </p:cNvGraphicFramePr>
          <p:nvPr>
            <p:extLst>
              <p:ext uri="{D42A27DB-BD31-4B8C-83A1-F6EECF244321}">
                <p14:modId xmlns:p14="http://schemas.microsoft.com/office/powerpoint/2010/main" val="3377301483"/>
              </p:ext>
            </p:extLst>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483E2A75-A15B-F924-0306-6D64FFF9AC79}"/>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591D3153-9D80-2DDA-7EDF-C1C66B1B5B15}"/>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60 puntos</a:t>
            </a:r>
          </a:p>
        </p:txBody>
      </p:sp>
    </p:spTree>
    <p:extLst>
      <p:ext uri="{BB962C8B-B14F-4D97-AF65-F5344CB8AC3E}">
        <p14:creationId xmlns:p14="http://schemas.microsoft.com/office/powerpoint/2010/main" val="197712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4179-6E44-2BFC-799C-C11F09F418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C6F4BA-6D68-2A4C-3234-4E1FA83FCAC0}"/>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1BD31265-1203-8217-2FF1-EE0696FCEA3B}"/>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18AF551B-B3E8-2B42-33AD-12F55E65A8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4456DB9-91E6-1143-7263-488FE992D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E259002-5B31-2D9F-FFFC-D1DE35FC23D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A972C6B4-9697-4EFE-5BD5-82AAEBED778C}"/>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2C2E9980-E782-7353-A4F9-33D354F21D45}"/>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12974516-379E-FE43-5408-72229DA8D797}"/>
              </a:ext>
            </a:extLst>
          </p:cNvPr>
          <p:cNvGraphicFramePr>
            <a:graphicFrameLocks noGrp="1"/>
          </p:cNvGraphicFramePr>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9353F4FD-E962-F42A-D943-187DD120BBD5}"/>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01A38794-0E92-B2B6-968A-A5A5A0B9E92C}"/>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dirty="0">
                <a:highlight>
                  <a:srgbClr val="FFFF00"/>
                </a:highlight>
                <a:latin typeface="Century Gothic" panose="020B0502020202020204" pitchFamily="34" charset="0"/>
                <a:ea typeface="Calibri" panose="020F0502020204030204" pitchFamily="34" charset="0"/>
                <a:cs typeface="Times New Roman" panose="02020603050405020304" pitchFamily="18" charset="0"/>
              </a:rPr>
              <a:t>60 puntos</a:t>
            </a:r>
          </a:p>
        </p:txBody>
      </p:sp>
    </p:spTree>
    <p:extLst>
      <p:ext uri="{BB962C8B-B14F-4D97-AF65-F5344CB8AC3E}">
        <p14:creationId xmlns:p14="http://schemas.microsoft.com/office/powerpoint/2010/main" val="168916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26B9-4C18-AC7D-E2D8-878D983A69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5300C2-FE1C-C0E1-6226-5F91113A0652}"/>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FF0957B2-1FB5-6CCF-1F4D-8D2DC35F42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3D91474-9485-A1FD-322E-40EB4D6166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17BDEC-5E5E-FFF2-8716-D8B783FBF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566BF0C-D213-3A05-7C23-EB8242E153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4ACD3831-9EB4-C42E-81BF-C2AF8F69CE37}"/>
              </a:ext>
            </a:extLst>
          </p:cNvPr>
          <p:cNvSpPr>
            <a:spLocks noGrp="1"/>
          </p:cNvSpPr>
          <p:nvPr>
            <p:ph idx="1"/>
          </p:nvPr>
        </p:nvSpPr>
        <p:spPr>
          <a:xfrm>
            <a:off x="641965" y="2582571"/>
            <a:ext cx="10908070" cy="2010029"/>
          </a:xfrm>
        </p:spPr>
        <p:txBody>
          <a:bodyPr>
            <a:noAutofit/>
          </a:bodyPr>
          <a:lstStyle/>
          <a:p>
            <a:pPr marL="0" indent="0" algn="just">
              <a:buNone/>
            </a:pPr>
            <a:r>
              <a:rPr lang="es-CO" sz="160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79BD8F08-1002-B50C-7F6E-C975D00BE7BD}"/>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CE9E63BC-047A-BEDF-3C73-2D0626A5A743}"/>
              </a:ext>
            </a:extLst>
          </p:cNvPr>
          <p:cNvSpPr txBox="1"/>
          <p:nvPr/>
        </p:nvSpPr>
        <p:spPr>
          <a:xfrm>
            <a:off x="2699798" y="4956034"/>
            <a:ext cx="6506831" cy="830997"/>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 </a:t>
            </a:r>
          </a:p>
          <a:p>
            <a:pPr marL="0" indent="0" algn="ctr">
              <a:buNone/>
            </a:pPr>
            <a:endParaRPr lang="es-ES_tradnl" sz="1600" b="1" dirty="0">
              <a:solidFill>
                <a:schemeClr val="accent1"/>
              </a:solidFill>
              <a:latin typeface="Century Gothic" panose="020B0502020202020204" pitchFamily="34" charset="0"/>
            </a:endParaRPr>
          </a:p>
          <a:p>
            <a:pPr marL="0" indent="0" algn="ctr">
              <a:buNone/>
            </a:pPr>
            <a:r>
              <a:rPr lang="es-ES_tradnl" sz="1600" b="1" dirty="0">
                <a:solidFill>
                  <a:schemeClr val="accent1"/>
                </a:solidFill>
                <a:latin typeface="Century Gothic" panose="020B0502020202020204" pitchFamily="34" charset="0"/>
              </a:rPr>
              <a:t>¿Cuál es el costo de oportunidad de irse en carro?</a:t>
            </a:r>
          </a:p>
        </p:txBody>
      </p:sp>
    </p:spTree>
    <p:extLst>
      <p:ext uri="{BB962C8B-B14F-4D97-AF65-F5344CB8AC3E}">
        <p14:creationId xmlns:p14="http://schemas.microsoft.com/office/powerpoint/2010/main" val="218440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FEAC-130D-F294-BF23-92DA7DD70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DE5E9D-2E5B-BC71-0836-0CA208D1F7E4}"/>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DA4569A3-3350-E9DA-6B86-FF9B0F0B026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4678F344-03CC-507E-08F5-20FC5F02433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A02A958-861F-6A91-1606-FB9A5FB40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4386420-B699-E108-AC2F-7BE0E51B08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6ED35EA1-811B-5BBA-4FD3-1716C9EF3EBE}"/>
              </a:ext>
            </a:extLst>
          </p:cNvPr>
          <p:cNvSpPr>
            <a:spLocks noGrp="1"/>
          </p:cNvSpPr>
          <p:nvPr>
            <p:ph idx="1"/>
          </p:nvPr>
        </p:nvSpPr>
        <p:spPr>
          <a:xfrm>
            <a:off x="641965" y="2582571"/>
            <a:ext cx="10908070" cy="2010029"/>
          </a:xfrm>
        </p:spPr>
        <p:txBody>
          <a:bodyPr>
            <a:noAutofit/>
          </a:bodyPr>
          <a:lstStyle/>
          <a:p>
            <a:pPr marL="0" indent="0" algn="just">
              <a:buNone/>
            </a:pPr>
            <a:r>
              <a:rPr lang="es-CO" sz="160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80AC05FA-AD64-4596-AF9A-2D0F3A321B46}"/>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A5FBA5EE-972F-EF2E-4C1A-5E4D8DE014D8}"/>
              </a:ext>
            </a:extLst>
          </p:cNvPr>
          <p:cNvSpPr txBox="1"/>
          <p:nvPr/>
        </p:nvSpPr>
        <p:spPr>
          <a:xfrm>
            <a:off x="2699798" y="4956034"/>
            <a:ext cx="6506831" cy="1323439"/>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a:t>
            </a:r>
          </a:p>
          <a:p>
            <a:pPr marL="0" indent="0" algn="ctr">
              <a:buNone/>
            </a:pPr>
            <a:r>
              <a:rPr lang="es-ES_tradnl" sz="1600" b="1" dirty="0">
                <a:solidFill>
                  <a:srgbClr val="FF0000"/>
                </a:solidFill>
                <a:highlight>
                  <a:srgbClr val="FFFF00"/>
                </a:highlight>
                <a:latin typeface="Century Gothic" panose="020B0502020202020204" pitchFamily="34" charset="0"/>
              </a:rPr>
              <a:t>$10.000 </a:t>
            </a:r>
          </a:p>
          <a:p>
            <a:pPr marL="0" indent="0" algn="ctr">
              <a:buNone/>
            </a:pPr>
            <a:endParaRPr lang="es-ES_tradnl" sz="1600" b="1" dirty="0">
              <a:solidFill>
                <a:schemeClr val="accent1"/>
              </a:solidFill>
              <a:latin typeface="Century Gothic" panose="020B0502020202020204" pitchFamily="34" charset="0"/>
            </a:endParaRPr>
          </a:p>
          <a:p>
            <a:pPr marL="0" indent="0" algn="ctr">
              <a:buNone/>
            </a:pPr>
            <a:r>
              <a:rPr lang="es-ES_tradnl" sz="1600" b="1" dirty="0">
                <a:solidFill>
                  <a:schemeClr val="accent1"/>
                </a:solidFill>
                <a:latin typeface="Century Gothic" panose="020B0502020202020204" pitchFamily="34" charset="0"/>
              </a:rPr>
              <a:t>¿Cuál es el costo de oportunidad de irse en carro?</a:t>
            </a:r>
          </a:p>
          <a:p>
            <a:pPr marL="0" indent="0" algn="ctr">
              <a:buNone/>
            </a:pPr>
            <a:r>
              <a:rPr lang="es-ES_tradnl" sz="1600" b="1" dirty="0">
                <a:solidFill>
                  <a:srgbClr val="FF0000"/>
                </a:solidFill>
                <a:highlight>
                  <a:srgbClr val="FFFF00"/>
                </a:highlight>
                <a:latin typeface="Century Gothic" panose="020B0502020202020204" pitchFamily="34" charset="0"/>
              </a:rPr>
              <a:t>$7.000</a:t>
            </a:r>
          </a:p>
        </p:txBody>
      </p:sp>
    </p:spTree>
    <p:extLst>
      <p:ext uri="{BB962C8B-B14F-4D97-AF65-F5344CB8AC3E}">
        <p14:creationId xmlns:p14="http://schemas.microsoft.com/office/powerpoint/2010/main" val="63904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552BCBF7-82FF-D3F8-D63F-5B7A6CE98E7C}"/>
              </a:ext>
            </a:extLst>
          </p:cNvPr>
          <p:cNvSpPr/>
          <p:nvPr/>
        </p:nvSpPr>
        <p:spPr>
          <a:xfrm>
            <a:off x="393441" y="2331186"/>
            <a:ext cx="11405118" cy="4031873"/>
          </a:xfrm>
          <a:prstGeom prst="rect">
            <a:avLst/>
          </a:prstGeom>
        </p:spPr>
        <p:txBody>
          <a:bodyPr wrap="square" lIns="91440" tIns="45720" rIns="91440" bIns="45720" anchor="t">
            <a:spAutoFit/>
          </a:bodyPr>
          <a:lstStyle/>
          <a:p>
            <a:pPr marL="285750" indent="-285750" algn="just">
              <a:buClr>
                <a:schemeClr val="accent2"/>
              </a:buClr>
              <a:buFont typeface="Arial" panose="020B0604020202020204" pitchFamily="34" charset="0"/>
              <a:buChar char="•"/>
            </a:pPr>
            <a:r>
              <a:rPr lang="es-CO" sz="1600" dirty="0">
                <a:latin typeface="Century Gothic"/>
              </a:rPr>
              <a:t>Se debe asegurar la </a:t>
            </a:r>
            <a:r>
              <a:rPr lang="es-CO" sz="1600" b="1" dirty="0">
                <a:solidFill>
                  <a:schemeClr val="accent1"/>
                </a:solidFill>
                <a:latin typeface="Century Gothic"/>
              </a:rPr>
              <a:t>comparabilidad</a:t>
            </a:r>
            <a:r>
              <a:rPr lang="es-CO" sz="1600" dirty="0">
                <a:latin typeface="Century Gothic"/>
              </a:rPr>
              <a:t> de los beneficios obtenidos con cada alternativa.</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a:rPr>
              <a:t>Su estimación se debe realizar en términos </a:t>
            </a:r>
            <a:r>
              <a:rPr lang="es-CO" sz="1600" b="1" dirty="0">
                <a:solidFill>
                  <a:schemeClr val="accent1"/>
                </a:solidFill>
                <a:highlight>
                  <a:srgbClr val="FFFF00"/>
                </a:highlight>
                <a:latin typeface="Century Gothic"/>
              </a:rPr>
              <a:t>totales</a:t>
            </a:r>
            <a:r>
              <a:rPr lang="es-CO" sz="1600" dirty="0">
                <a:latin typeface="Century Gothic"/>
              </a:rPr>
              <a:t>,</a:t>
            </a:r>
            <a:r>
              <a:rPr lang="es-CO" sz="1600" dirty="0">
                <a:solidFill>
                  <a:srgbClr val="C00000"/>
                </a:solidFill>
                <a:latin typeface="Century Gothic"/>
              </a:rPr>
              <a:t> </a:t>
            </a:r>
            <a:r>
              <a:rPr lang="es-CO" sz="1600" b="1" dirty="0">
                <a:solidFill>
                  <a:schemeClr val="accent1"/>
                </a:solidFill>
                <a:latin typeface="Century Gothic"/>
              </a:rPr>
              <a:t>NO marginales</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a:rPr>
              <a:t>Toda decisión trae consigo la incursión en un Costo de Oportunidad (</a:t>
            </a:r>
            <a:r>
              <a:rPr lang="es-CO" sz="1600" b="1" dirty="0">
                <a:solidFill>
                  <a:schemeClr val="accent1"/>
                </a:solidFill>
                <a:latin typeface="Century Gothic"/>
              </a:rPr>
              <a:t>no hay Costo de Oportunidad igual a 0</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dirty="0">
                <a:latin typeface="Century Gothic"/>
              </a:rPr>
              <a:t>En muchas ocasiones, el análisis supone la consideración de </a:t>
            </a:r>
            <a:r>
              <a:rPr lang="es-CO" sz="1600" b="1" dirty="0">
                <a:solidFill>
                  <a:schemeClr val="accent1"/>
                </a:solidFill>
                <a:latin typeface="Century Gothic"/>
              </a:rPr>
              <a:t>diversas variables</a:t>
            </a:r>
            <a:r>
              <a:rPr lang="es-CO" sz="1600" dirty="0">
                <a:solidFill>
                  <a:srgbClr val="002F90"/>
                </a:solidFill>
                <a:latin typeface="Century Gothic"/>
              </a:rPr>
              <a:t> </a:t>
            </a:r>
            <a:r>
              <a:rPr lang="es-CO" sz="1600" dirty="0">
                <a:latin typeface="Century Gothic"/>
              </a:rPr>
              <a:t>(análisis multivariado: </a:t>
            </a:r>
            <a:r>
              <a:rPr lang="es-CO" sz="1600" b="1" dirty="0">
                <a:solidFill>
                  <a:schemeClr val="accent1"/>
                </a:solidFill>
                <a:latin typeface="Century Gothic"/>
              </a:rPr>
              <a:t>funciones de utilidad</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panose="020B0502020202020204" pitchFamily="34" charset="0"/>
              </a:rPr>
              <a:t>A la hora de valorarlo, es muy importante tener presente cuál es la </a:t>
            </a:r>
            <a:r>
              <a:rPr lang="es-CO" sz="1600" b="1" dirty="0">
                <a:solidFill>
                  <a:schemeClr val="accent1"/>
                </a:solidFill>
                <a:latin typeface="Century Gothic" panose="020B0502020202020204" pitchFamily="34" charset="0"/>
              </a:rPr>
              <a:t>función objetivo</a:t>
            </a:r>
            <a:r>
              <a:rPr lang="es-CO" sz="1600" dirty="0">
                <a:latin typeface="Century Gothic" panose="020B0502020202020204" pitchFamily="34" charset="0"/>
              </a:rPr>
              <a:t>, y el </a:t>
            </a:r>
            <a:r>
              <a:rPr lang="es-CO" sz="1600" b="1" dirty="0">
                <a:solidFill>
                  <a:schemeClr val="accent1"/>
                </a:solidFill>
                <a:latin typeface="Century Gothic" panose="020B0502020202020204" pitchFamily="34" charset="0"/>
              </a:rPr>
              <a:t>valor</a:t>
            </a:r>
            <a:r>
              <a:rPr lang="es-CO" sz="1600" dirty="0">
                <a:latin typeface="Century Gothic" panose="020B0502020202020204" pitchFamily="34" charset="0"/>
              </a:rPr>
              <a:t> que tiene para el tomador de decisión aquello que se deja de ganar.</a:t>
            </a:r>
          </a:p>
          <a:p>
            <a:pPr marL="285750" indent="-285750" algn="just">
              <a:buClr>
                <a:schemeClr val="accent2"/>
              </a:buClr>
              <a:buFont typeface="Arial" panose="020B0604020202020204" pitchFamily="34" charset="0"/>
              <a:buChar char="•"/>
            </a:pPr>
            <a:endParaRPr lang="es-CO" sz="1600" dirty="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dirty="0">
                <a:latin typeface="Century Gothic" panose="020B0502020202020204" pitchFamily="34" charset="0"/>
              </a:rPr>
              <a:t>El costo de oportunidad en muchas ocasiones es objetivo (la mayoría de las veces en el mundo empresarial), pero en otras muchas ocasiones está lleno de </a:t>
            </a:r>
            <a:r>
              <a:rPr lang="es-CO" sz="1600" b="1" dirty="0">
                <a:solidFill>
                  <a:schemeClr val="accent1"/>
                </a:solidFill>
                <a:latin typeface="Century Gothic" panose="020B0502020202020204" pitchFamily="34" charset="0"/>
              </a:rPr>
              <a:t>subjetividad</a:t>
            </a:r>
            <a:r>
              <a:rPr lang="es-CO" sz="1600" dirty="0">
                <a:latin typeface="Century Gothic" panose="020B0502020202020204" pitchFamily="34" charset="0"/>
              </a:rPr>
              <a:t>, como en el caso de la política económica y las decisiones personales, dependiendo de quién hace el análisis porque entramos en “juicios de valor”.</a:t>
            </a:r>
          </a:p>
          <a:p>
            <a:pPr marL="285750" indent="-285750" algn="just">
              <a:buClr>
                <a:schemeClr val="accent2"/>
              </a:buClr>
              <a:buFont typeface="Arial" panose="020B0604020202020204" pitchFamily="34" charset="0"/>
              <a:buChar char="•"/>
            </a:pPr>
            <a:endParaRPr lang="es-CO" sz="1600" dirty="0">
              <a:latin typeface="Century Gothic"/>
            </a:endParaRPr>
          </a:p>
        </p:txBody>
      </p:sp>
      <p:sp>
        <p:nvSpPr>
          <p:cNvPr id="10" name="Título 1">
            <a:extLst>
              <a:ext uri="{FF2B5EF4-FFF2-40B4-BE49-F238E27FC236}">
                <a16:creationId xmlns:a16="http://schemas.microsoft.com/office/drawing/2014/main" id="{DF4D758E-BB29-E682-0327-A54F2FD61400}"/>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16" name="CuadroTexto 15">
            <a:extLst>
              <a:ext uri="{FF2B5EF4-FFF2-40B4-BE49-F238E27FC236}">
                <a16:creationId xmlns:a16="http://schemas.microsoft.com/office/drawing/2014/main" id="{8F3273D9-57A4-9922-573F-4AED64B486B6}"/>
              </a:ext>
            </a:extLst>
          </p:cNvPr>
          <p:cNvSpPr txBox="1"/>
          <p:nvPr/>
        </p:nvSpPr>
        <p:spPr>
          <a:xfrm>
            <a:off x="393441" y="1890822"/>
            <a:ext cx="6097772" cy="369332"/>
          </a:xfrm>
          <a:prstGeom prst="rect">
            <a:avLst/>
          </a:prstGeom>
          <a:noFill/>
        </p:spPr>
        <p:txBody>
          <a:bodyPr wrap="square">
            <a:spAutoFit/>
          </a:bodyPr>
          <a:lstStyle/>
          <a:p>
            <a:r>
              <a:rPr lang="es-CO" b="1">
                <a:solidFill>
                  <a:srgbClr val="D7A700"/>
                </a:solidFill>
                <a:latin typeface="Century Gothic"/>
              </a:rPr>
              <a:t>Consideraciones:</a:t>
            </a:r>
            <a:endParaRPr lang="es-CO">
              <a:solidFill>
                <a:srgbClr val="D7A700"/>
              </a:solidFill>
            </a:endParaRPr>
          </a:p>
        </p:txBody>
      </p:sp>
      <p:sp>
        <p:nvSpPr>
          <p:cNvPr id="2" name="Rectángulo 1">
            <a:extLst>
              <a:ext uri="{FF2B5EF4-FFF2-40B4-BE49-F238E27FC236}">
                <a16:creationId xmlns:a16="http://schemas.microsoft.com/office/drawing/2014/main" id="{2F939A2B-D76D-30A9-ADC0-A3670F04C5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7" name="Picture 2" descr="Imágenes de Consideraciones libres de derechos | Depositphotos">
            <a:extLst>
              <a:ext uri="{FF2B5EF4-FFF2-40B4-BE49-F238E27FC236}">
                <a16:creationId xmlns:a16="http://schemas.microsoft.com/office/drawing/2014/main" id="{DF499D3D-EE33-CB3C-E886-49411865B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0735" y="726376"/>
            <a:ext cx="1673819" cy="1258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58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randombar(horizontal)">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randombar(horizontal)">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randombar(horizontal)">
                                      <p:cBhvr>
                                        <p:cTn id="22" dur="500"/>
                                        <p:tgtEl>
                                          <p:spTgt spid="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5">
                                            <p:txEl>
                                              <p:pRg st="8" end="8"/>
                                            </p:txEl>
                                          </p:spTgt>
                                        </p:tgtEl>
                                        <p:attrNameLst>
                                          <p:attrName>style.visibility</p:attrName>
                                        </p:attrNameLst>
                                      </p:cBhvr>
                                      <p:to>
                                        <p:strVal val="visible"/>
                                      </p:to>
                                    </p:set>
                                    <p:animEffect transition="in" filter="randombar(horizontal)">
                                      <p:cBhvr>
                                        <p:cTn id="27" dur="500"/>
                                        <p:tgtEl>
                                          <p:spTgt spid="1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5">
                                            <p:txEl>
                                              <p:pRg st="10" end="10"/>
                                            </p:txEl>
                                          </p:spTgt>
                                        </p:tgtEl>
                                        <p:attrNameLst>
                                          <p:attrName>style.visibility</p:attrName>
                                        </p:attrNameLst>
                                      </p:cBhvr>
                                      <p:to>
                                        <p:strVal val="visible"/>
                                      </p:to>
                                    </p:set>
                                    <p:animEffect transition="in" filter="randombar(horizontal)">
                                      <p:cBhvr>
                                        <p:cTn id="32" dur="500"/>
                                        <p:tgtEl>
                                          <p:spTgt spid="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p:cNvSpPr>
                <a:spLocks noGrp="1"/>
              </p:cNvSpPr>
              <p:nvPr>
                <p:ph idx="1"/>
              </p:nvPr>
            </p:nvSpPr>
            <p:spPr>
              <a:xfrm>
                <a:off x="678413" y="2543550"/>
                <a:ext cx="10835173" cy="1727826"/>
              </a:xfrm>
            </p:spPr>
            <p:txBody>
              <a:bodyPr>
                <a:noAutofit/>
              </a:bodyPr>
              <a:lstStyle/>
              <a:p>
                <a:pPr marL="0" indent="0" algn="just">
                  <a:buNone/>
                </a:pPr>
                <a:r>
                  <a:rPr lang="es-ES">
                    <a:latin typeface="Century Gothic" panose="020B0502020202020204" pitchFamily="34" charset="0"/>
                  </a:rPr>
                  <a:t>Una compañía ha encontrado que la rentabilidad para uno de sus procesos productivos depende de los parámetros de operación </a:t>
                </a:r>
                <a:r>
                  <a:rPr lang="es-ES" i="1">
                    <a:latin typeface="Century Gothic" panose="020B0502020202020204" pitchFamily="34" charset="0"/>
                  </a:rPr>
                  <a:t>a</a:t>
                </a:r>
                <a:r>
                  <a:rPr lang="es-ES">
                    <a:latin typeface="Century Gothic" panose="020B0502020202020204" pitchFamily="34" charset="0"/>
                  </a:rPr>
                  <a:t> y </a:t>
                </a:r>
                <a:r>
                  <a:rPr lang="es-ES" i="1">
                    <a:latin typeface="Century Gothic" panose="020B0502020202020204" pitchFamily="34" charset="0"/>
                  </a:rPr>
                  <a:t>b</a:t>
                </a:r>
                <a:r>
                  <a:rPr lang="es-ES">
                    <a:latin typeface="Century Gothic" panose="020B0502020202020204" pitchFamily="34" charset="0"/>
                  </a:rPr>
                  <a:t> y viene dada por la siguiente expresión:</a:t>
                </a:r>
              </a:p>
              <a:p>
                <a:pPr marL="0" indent="0" algn="just">
                  <a:buNone/>
                </a:pPr>
                <a:endParaRPr lang="es-CO">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b="1" i="0" smtClean="0">
                          <a:solidFill>
                            <a:srgbClr val="D7A700"/>
                          </a:solidFill>
                          <a:latin typeface="Cambria Math" panose="02040503050406030204" pitchFamily="18" charset="0"/>
                        </a:rPr>
                        <m:t>𝐑𝐞𝐧𝐭𝐚𝐛𝐢𝐥𝐢𝐝𝐚𝐝</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f>
                        <m:fPr>
                          <m:ctrlPr>
                            <a:rPr lang="es-419" b="1" i="1" smtClean="0">
                              <a:solidFill>
                                <a:srgbClr val="D7A700"/>
                              </a:solidFill>
                              <a:latin typeface="Cambria Math" panose="02040503050406030204" pitchFamily="18" charset="0"/>
                            </a:rPr>
                          </m:ctrlPr>
                        </m:fPr>
                        <m:num>
                          <m:r>
                            <a:rPr lang="es-419" b="1" i="0" smtClean="0">
                              <a:solidFill>
                                <a:srgbClr val="D7A700"/>
                              </a:solidFill>
                              <a:latin typeface="Cambria Math" panose="02040503050406030204" pitchFamily="18" charset="0"/>
                            </a:rPr>
                            <m:t>𝟏</m:t>
                          </m:r>
                        </m:num>
                        <m:den>
                          <m:r>
                            <a:rPr lang="es-419" b="1" i="0" smtClean="0">
                              <a:solidFill>
                                <a:srgbClr val="D7A700"/>
                              </a:solidFill>
                              <a:latin typeface="Cambria Math" panose="02040503050406030204" pitchFamily="18" charset="0"/>
                            </a:rPr>
                            <m:t>𝟓𝟎</m:t>
                          </m:r>
                        </m:den>
                      </m:f>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𝐚𝐛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𝟒</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e>
                          </m:d>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𝟐</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e>
                      </m:d>
                    </m:oMath>
                  </m:oMathPara>
                </a14:m>
                <a:endParaRPr lang="es-CO">
                  <a:solidFill>
                    <a:srgbClr val="D7A700"/>
                  </a:solidFill>
                  <a:latin typeface="Century Gothic" panose="020B0502020202020204" pitchFamily="34" charset="0"/>
                </a:endParaRPr>
              </a:p>
            </p:txBody>
          </p:sp>
        </mc:Choice>
        <mc:Fallback xmlns="">
          <p:sp>
            <p:nvSpPr>
              <p:cNvPr id="10" name="Content Placeholder 6"/>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50" t="-1408" r="-450"/>
                </a:stretch>
              </a:blipFill>
            </p:spPr>
            <p:txBody>
              <a:bodyPr/>
              <a:lstStyle/>
              <a:p>
                <a:r>
                  <a:rPr lang="en-US">
                    <a:noFill/>
                  </a:rPr>
                  <a:t> </a:t>
                </a:r>
              </a:p>
            </p:txBody>
          </p:sp>
        </mc:Fallback>
      </mc:AlternateContent>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12</a:t>
            </a:fld>
            <a:endParaRPr lang="en-US" sz="2000" b="1">
              <a:latin typeface="Century Gothic" panose="020B0502020202020204" pitchFamily="34" charset="0"/>
            </a:endParaRPr>
          </a:p>
        </p:txBody>
      </p:sp>
      <p:sp>
        <p:nvSpPr>
          <p:cNvPr id="12" name="Rectángulo 11"/>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9AE97B0C-705E-7778-5F15-BEE4396663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DEE1786A-C920-80FA-5DA4-BB6F458DA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1A234206-6469-41F0-89B1-E1B5E7651DC8}"/>
              </a:ext>
            </a:extLst>
          </p:cNvPr>
          <p:cNvSpPr txBox="1"/>
          <p:nvPr/>
        </p:nvSpPr>
        <p:spPr>
          <a:xfrm>
            <a:off x="801956" y="4644134"/>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8948749C-6200-631B-E8DA-5278A1DFEF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0285EAAC-4138-6023-09BE-27C276F01C6A}"/>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429341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AF33-B37C-2892-8E46-44A0A259431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a:extLst>
                  <a:ext uri="{FF2B5EF4-FFF2-40B4-BE49-F238E27FC236}">
                    <a16:creationId xmlns:a16="http://schemas.microsoft.com/office/drawing/2014/main" id="{F47FE7AE-2796-D9B4-8F07-30967F4AEA42}"/>
                  </a:ext>
                </a:extLst>
              </p:cNvPr>
              <p:cNvSpPr>
                <a:spLocks noGrp="1"/>
              </p:cNvSpPr>
              <p:nvPr>
                <p:ph idx="1"/>
              </p:nvPr>
            </p:nvSpPr>
            <p:spPr>
              <a:xfrm>
                <a:off x="678413" y="2543550"/>
                <a:ext cx="10835173" cy="1727826"/>
              </a:xfrm>
            </p:spPr>
            <p:txBody>
              <a:bodyPr>
                <a:noAutofit/>
              </a:bodyPr>
              <a:lstStyle/>
              <a:p>
                <a:pPr marL="0" indent="0" algn="just">
                  <a:buNone/>
                </a:pPr>
                <a:r>
                  <a:rPr lang="es-ES">
                    <a:latin typeface="Century Gothic" panose="020B0502020202020204" pitchFamily="34" charset="0"/>
                  </a:rPr>
                  <a:t>Una compañía ha encontrado que la rentabilidad para uno de sus procesos productivos depende de los parámetros de operación </a:t>
                </a:r>
                <a:r>
                  <a:rPr lang="es-ES" i="1">
                    <a:latin typeface="Century Gothic" panose="020B0502020202020204" pitchFamily="34" charset="0"/>
                  </a:rPr>
                  <a:t>a</a:t>
                </a:r>
                <a:r>
                  <a:rPr lang="es-ES">
                    <a:latin typeface="Century Gothic" panose="020B0502020202020204" pitchFamily="34" charset="0"/>
                  </a:rPr>
                  <a:t> y </a:t>
                </a:r>
                <a:r>
                  <a:rPr lang="es-ES" i="1">
                    <a:latin typeface="Century Gothic" panose="020B0502020202020204" pitchFamily="34" charset="0"/>
                  </a:rPr>
                  <a:t>b</a:t>
                </a:r>
                <a:r>
                  <a:rPr lang="es-ES">
                    <a:latin typeface="Century Gothic" panose="020B0502020202020204" pitchFamily="34" charset="0"/>
                  </a:rPr>
                  <a:t> y viene dada por la siguiente expresión:</a:t>
                </a:r>
              </a:p>
              <a:p>
                <a:pPr marL="0" indent="0" algn="just">
                  <a:buNone/>
                </a:pPr>
                <a:endParaRPr lang="es-CO">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b="1" i="0" smtClean="0">
                          <a:solidFill>
                            <a:srgbClr val="D7A700"/>
                          </a:solidFill>
                          <a:latin typeface="Cambria Math" panose="02040503050406030204" pitchFamily="18" charset="0"/>
                        </a:rPr>
                        <m:t>𝐑𝐞𝐧𝐭𝐚𝐛𝐢𝐥𝐢𝐝𝐚𝐝</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f>
                        <m:fPr>
                          <m:ctrlPr>
                            <a:rPr lang="es-419" b="1" i="1" smtClean="0">
                              <a:solidFill>
                                <a:srgbClr val="D7A700"/>
                              </a:solidFill>
                              <a:latin typeface="Cambria Math" panose="02040503050406030204" pitchFamily="18" charset="0"/>
                            </a:rPr>
                          </m:ctrlPr>
                        </m:fPr>
                        <m:num>
                          <m:r>
                            <a:rPr lang="es-419" b="1" i="0" smtClean="0">
                              <a:solidFill>
                                <a:srgbClr val="D7A700"/>
                              </a:solidFill>
                              <a:latin typeface="Cambria Math" panose="02040503050406030204" pitchFamily="18" charset="0"/>
                            </a:rPr>
                            <m:t>𝟏</m:t>
                          </m:r>
                        </m:num>
                        <m:den>
                          <m:r>
                            <a:rPr lang="es-419" b="1" i="0" smtClean="0">
                              <a:solidFill>
                                <a:srgbClr val="D7A700"/>
                              </a:solidFill>
                              <a:latin typeface="Cambria Math" panose="02040503050406030204" pitchFamily="18" charset="0"/>
                            </a:rPr>
                            <m:t>𝟓𝟎</m:t>
                          </m:r>
                        </m:den>
                      </m:f>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𝐚𝐛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𝟒</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e>
                          </m:d>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𝟐</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e>
                      </m:d>
                    </m:oMath>
                  </m:oMathPara>
                </a14:m>
                <a:endParaRPr lang="es-CO">
                  <a:solidFill>
                    <a:srgbClr val="D7A700"/>
                  </a:solidFill>
                  <a:latin typeface="Century Gothic" panose="020B0502020202020204" pitchFamily="34" charset="0"/>
                </a:endParaRPr>
              </a:p>
            </p:txBody>
          </p:sp>
        </mc:Choice>
        <mc:Fallback xmlns="">
          <p:sp>
            <p:nvSpPr>
              <p:cNvPr id="10" name="Content Placeholder 6">
                <a:extLst>
                  <a:ext uri="{FF2B5EF4-FFF2-40B4-BE49-F238E27FC236}">
                    <a16:creationId xmlns:a16="http://schemas.microsoft.com/office/drawing/2014/main" id="{F47FE7AE-2796-D9B4-8F07-30967F4AEA42}"/>
                  </a:ext>
                </a:extLst>
              </p:cNvPr>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68" t="-1460" r="-468"/>
                </a:stretch>
              </a:blipFill>
            </p:spPr>
            <p:txBody>
              <a:bodyPr/>
              <a:lstStyle/>
              <a:p>
                <a:r>
                  <a:rPr lang="es-ES_tradnl">
                    <a:noFill/>
                  </a:rPr>
                  <a:t> </a:t>
                </a:r>
              </a:p>
            </p:txBody>
          </p:sp>
        </mc:Fallback>
      </mc:AlternateContent>
      <p:sp>
        <p:nvSpPr>
          <p:cNvPr id="11" name="Slide Number Placeholder 10">
            <a:extLst>
              <a:ext uri="{FF2B5EF4-FFF2-40B4-BE49-F238E27FC236}">
                <a16:creationId xmlns:a16="http://schemas.microsoft.com/office/drawing/2014/main" id="{A56EEEDE-3DA7-7CB6-60BE-20DF7E910FDE}"/>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13</a:t>
            </a:fld>
            <a:endParaRPr lang="en-US" sz="2000" b="1">
              <a:latin typeface="Century Gothic" panose="020B0502020202020204" pitchFamily="34" charset="0"/>
            </a:endParaRPr>
          </a:p>
        </p:txBody>
      </p:sp>
      <p:sp>
        <p:nvSpPr>
          <p:cNvPr id="12" name="Rectángulo 11">
            <a:extLst>
              <a:ext uri="{FF2B5EF4-FFF2-40B4-BE49-F238E27FC236}">
                <a16:creationId xmlns:a16="http://schemas.microsoft.com/office/drawing/2014/main" id="{38E91C92-41A6-6FE6-55A4-5AE4FC8296D1}"/>
              </a:ext>
            </a:extLst>
          </p:cNvPr>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1DEA9272-33EC-ABAA-753B-20D006441B7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4D9D201-36C1-4589-9944-B03BBDF45D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4C8300E8-959D-C4C1-5FBC-C93629AC2E6B}"/>
              </a:ext>
            </a:extLst>
          </p:cNvPr>
          <p:cNvSpPr txBox="1"/>
          <p:nvPr/>
        </p:nvSpPr>
        <p:spPr>
          <a:xfrm>
            <a:off x="801956" y="4644134"/>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AC88405C-94C3-A813-544B-77A073C78E1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C77727E0-9794-AB66-68F5-C2245AC965B8}"/>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3" name="CuadroTexto 7">
            <a:extLst>
              <a:ext uri="{FF2B5EF4-FFF2-40B4-BE49-F238E27FC236}">
                <a16:creationId xmlns:a16="http://schemas.microsoft.com/office/drawing/2014/main" id="{CDD3AD7C-32AD-E89F-F925-05A0B9F6DD55}"/>
              </a:ext>
            </a:extLst>
          </p:cNvPr>
          <p:cNvSpPr txBox="1"/>
          <p:nvPr/>
        </p:nvSpPr>
        <p:spPr>
          <a:xfrm>
            <a:off x="930133" y="5414208"/>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Actual: </a:t>
            </a:r>
            <a:r>
              <a:rPr lang="es-ES" b="1" dirty="0">
                <a:solidFill>
                  <a:schemeClr val="accent1"/>
                </a:solidFill>
                <a:highlight>
                  <a:srgbClr val="FFFF00"/>
                </a:highlight>
                <a:latin typeface="Century Gothic" panose="020B0502020202020204" pitchFamily="34" charset="0"/>
              </a:rPr>
              <a:t>Rentabilidad(1,2)= 0.10</a:t>
            </a:r>
          </a:p>
          <a:p>
            <a:pPr algn="ctr"/>
            <a:r>
              <a:rPr lang="es-ES" b="1" dirty="0">
                <a:solidFill>
                  <a:schemeClr val="accent1"/>
                </a:solidFill>
                <a:latin typeface="Century Gothic" panose="020B0502020202020204" pitchFamily="34" charset="0"/>
              </a:rPr>
              <a:t>Máxima rentabilidad: </a:t>
            </a:r>
            <a:r>
              <a:rPr lang="es-ES" b="1" dirty="0">
                <a:solidFill>
                  <a:schemeClr val="accent1"/>
                </a:solidFill>
                <a:highlight>
                  <a:srgbClr val="FFFF00"/>
                </a:highlight>
                <a:latin typeface="Century Gothic" panose="020B0502020202020204" pitchFamily="34" charset="0"/>
              </a:rPr>
              <a:t>a=10/3; b=8/3</a:t>
            </a:r>
            <a:r>
              <a:rPr lang="es-ES" b="1" dirty="0">
                <a:solidFill>
                  <a:schemeClr val="accent1"/>
                </a:solidFill>
                <a:latin typeface="Century Gothic" panose="020B0502020202020204" pitchFamily="34" charset="0"/>
              </a:rPr>
              <a:t>; </a:t>
            </a:r>
            <a:r>
              <a:rPr lang="es-ES" b="1" dirty="0">
                <a:solidFill>
                  <a:schemeClr val="accent1"/>
                </a:solidFill>
                <a:highlight>
                  <a:srgbClr val="FFFF00"/>
                </a:highlight>
                <a:latin typeface="Century Gothic" panose="020B0502020202020204" pitchFamily="34" charset="0"/>
              </a:rPr>
              <a:t>Rentabilidad(10/3,8/3)= 0.1867 </a:t>
            </a:r>
            <a:endParaRPr lang="es-CO" sz="1800" b="1" dirty="0">
              <a:solidFill>
                <a:schemeClr val="accent1"/>
              </a:solidFill>
              <a:highlight>
                <a:srgbClr val="FFFF00"/>
              </a:highlight>
              <a:latin typeface="Century Gothic" panose="020B0502020202020204" pitchFamily="34" charset="0"/>
            </a:endParaRPr>
          </a:p>
        </p:txBody>
      </p:sp>
    </p:spTree>
    <p:extLst>
      <p:ext uri="{BB962C8B-B14F-4D97-AF65-F5344CB8AC3E}">
        <p14:creationId xmlns:p14="http://schemas.microsoft.com/office/powerpoint/2010/main" val="243315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sz="3200">
                <a:latin typeface="Century Gothic" panose="020B0502020202020204" pitchFamily="34" charset="0"/>
              </a:rPr>
              <a:t>¿Qué es el costo de oportunidad?</a:t>
            </a:r>
          </a:p>
        </p:txBody>
      </p:sp>
      <p:sp>
        <p:nvSpPr>
          <p:cNvPr id="10" name="Content Placeholder 6"/>
          <p:cNvSpPr>
            <a:spLocks noGrp="1"/>
          </p:cNvSpPr>
          <p:nvPr>
            <p:ph idx="1"/>
          </p:nvPr>
        </p:nvSpPr>
        <p:spPr>
          <a:xfrm>
            <a:off x="2005044" y="2594129"/>
            <a:ext cx="5754294" cy="1450925"/>
          </a:xfrm>
        </p:spPr>
        <p:txBody>
          <a:bodyPr>
            <a:normAutofit/>
          </a:bodyPr>
          <a:lstStyle/>
          <a:p>
            <a:pPr marL="0" indent="0" algn="ctr">
              <a:buNone/>
            </a:pPr>
            <a:r>
              <a:rPr lang="es-ES_tradnl">
                <a:solidFill>
                  <a:schemeClr val="tx1"/>
                </a:solidFill>
                <a:latin typeface="Century Gothic" panose="020B0502020202020204" pitchFamily="34" charset="0"/>
              </a:rPr>
              <a:t>En conclusión, cualquier decisión que se tome siempre tiene relacionado un Costo de Oportunidad.</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14</a:t>
            </a:fld>
            <a:endParaRPr lang="en-US" sz="2000" b="1">
              <a:latin typeface="Century Gothic" panose="020B0502020202020204" pitchFamily="34" charset="0"/>
            </a:endParaRPr>
          </a:p>
        </p:txBody>
      </p:sp>
      <p:sp>
        <p:nvSpPr>
          <p:cNvPr id="2" name="Rectángulo 1"/>
          <p:cNvSpPr/>
          <p:nvPr/>
        </p:nvSpPr>
        <p:spPr>
          <a:xfrm>
            <a:off x="2558975" y="4583589"/>
            <a:ext cx="7074050" cy="923330"/>
          </a:xfrm>
          <a:prstGeom prst="rect">
            <a:avLst/>
          </a:prstGeom>
          <a:solidFill>
            <a:schemeClr val="accent3">
              <a:lumMod val="60000"/>
              <a:lumOff val="40000"/>
            </a:schemeClr>
          </a:solidFill>
        </p:spPr>
        <p:txBody>
          <a:bodyPr wrap="square">
            <a:spAutoFit/>
          </a:bodyPr>
          <a:lstStyle/>
          <a:p>
            <a:pPr algn="ctr"/>
            <a:r>
              <a:rPr lang="es-ES_tradnl" b="1">
                <a:solidFill>
                  <a:schemeClr val="accent1"/>
                </a:solidFill>
                <a:latin typeface="Century Gothic" panose="020B0502020202020204" pitchFamily="34" charset="0"/>
              </a:rPr>
              <a:t>Esto se debe a que, en un mundo con recursos limitados, seleccionar una alternativa por lo general implica sacrificar otra.</a:t>
            </a:r>
          </a:p>
        </p:txBody>
      </p:sp>
      <p:sp>
        <p:nvSpPr>
          <p:cNvPr id="3" name="Rectángulo 2">
            <a:extLst>
              <a:ext uri="{FF2B5EF4-FFF2-40B4-BE49-F238E27FC236}">
                <a16:creationId xmlns:a16="http://schemas.microsoft.com/office/drawing/2014/main" id="{9D7DE274-7430-681C-1FF9-6148C23008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764F226-4B21-0FF6-071B-2BF687897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ágenes de Decision - Descarga gratuita en Freepik">
            <a:extLst>
              <a:ext uri="{FF2B5EF4-FFF2-40B4-BE49-F238E27FC236}">
                <a16:creationId xmlns:a16="http://schemas.microsoft.com/office/drawing/2014/main" id="{8565570C-052F-ECD4-DF23-BD52B0075C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20" t="10238" r="10636" b="10238"/>
          <a:stretch/>
        </p:blipFill>
        <p:spPr bwMode="auto">
          <a:xfrm>
            <a:off x="8235230" y="2005694"/>
            <a:ext cx="2323070" cy="2331271"/>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4EC8264-CDA7-F9BD-6534-A56C5C0CC24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1407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2263-2918-C92F-AC29-849E65E4D502}"/>
              </a:ext>
            </a:extLst>
          </p:cNvPr>
          <p:cNvSpPr>
            <a:spLocks noGrp="1"/>
          </p:cNvSpPr>
          <p:nvPr>
            <p:ph type="title"/>
          </p:nvPr>
        </p:nvSpPr>
        <p:spPr/>
        <p:txBody>
          <a:bodyPr/>
          <a:lstStyle/>
          <a:p>
            <a:endParaRPr lang="es-ES_tradnl"/>
          </a:p>
        </p:txBody>
      </p:sp>
      <p:sp>
        <p:nvSpPr>
          <p:cNvPr id="4" name="Slide Number Placeholder 3">
            <a:extLst>
              <a:ext uri="{FF2B5EF4-FFF2-40B4-BE49-F238E27FC236}">
                <a16:creationId xmlns:a16="http://schemas.microsoft.com/office/drawing/2014/main" id="{B95F044D-ABFB-81C0-FC63-F523B5074D39}"/>
              </a:ext>
            </a:extLst>
          </p:cNvPr>
          <p:cNvSpPr>
            <a:spLocks noGrp="1"/>
          </p:cNvSpPr>
          <p:nvPr>
            <p:ph type="sldNum" sz="quarter" idx="12"/>
          </p:nvPr>
        </p:nvSpPr>
        <p:spPr/>
        <p:txBody>
          <a:bodyPr/>
          <a:lstStyle/>
          <a:p>
            <a:fld id="{D57F1E4F-1CFF-5643-939E-217C01CDF565}" type="slidenum">
              <a:rPr lang="en-US" smtClean="0"/>
              <a:pPr/>
              <a:t>15</a:t>
            </a:fld>
            <a:endParaRPr lang="en-US"/>
          </a:p>
        </p:txBody>
      </p:sp>
      <p:sp>
        <p:nvSpPr>
          <p:cNvPr id="6" name="TextBox 5">
            <a:extLst>
              <a:ext uri="{FF2B5EF4-FFF2-40B4-BE49-F238E27FC236}">
                <a16:creationId xmlns:a16="http://schemas.microsoft.com/office/drawing/2014/main" id="{957CC4DB-6A42-B1F2-5B4C-BC2E0CCA1C14}"/>
              </a:ext>
            </a:extLst>
          </p:cNvPr>
          <p:cNvSpPr txBox="1"/>
          <p:nvPr/>
        </p:nvSpPr>
        <p:spPr>
          <a:xfrm>
            <a:off x="664464" y="6315166"/>
            <a:ext cx="3601242" cy="369332"/>
          </a:xfrm>
          <a:prstGeom prst="rect">
            <a:avLst/>
          </a:prstGeom>
          <a:noFill/>
        </p:spPr>
        <p:txBody>
          <a:bodyPr wrap="none" rtlCol="0">
            <a:spAutoFit/>
          </a:bodyPr>
          <a:lstStyle/>
          <a:p>
            <a:r>
              <a:rPr lang="es-ES_tradnl" dirty="0">
                <a:hlinkClick r:id="rId2"/>
              </a:rPr>
              <a:t>https://www.menti.com</a:t>
            </a:r>
            <a:r>
              <a:rPr lang="es-ES_tradnl">
                <a:hlinkClick r:id="rId2"/>
              </a:rPr>
              <a:t>/aljbo7jfqy9e</a:t>
            </a:r>
            <a:r>
              <a:rPr lang="es-ES_tradnl"/>
              <a:t> </a:t>
            </a:r>
            <a:endParaRPr lang="es-ES_tradnl" dirty="0"/>
          </a:p>
        </p:txBody>
      </p:sp>
      <p:sp>
        <p:nvSpPr>
          <p:cNvPr id="7" name="Content Placeholder 6">
            <a:extLst>
              <a:ext uri="{FF2B5EF4-FFF2-40B4-BE49-F238E27FC236}">
                <a16:creationId xmlns:a16="http://schemas.microsoft.com/office/drawing/2014/main" id="{04F77242-9A2F-D5C2-CB30-35BD723B6A5B}"/>
              </a:ext>
            </a:extLst>
          </p:cNvPr>
          <p:cNvSpPr>
            <a:spLocks noGrp="1"/>
          </p:cNvSpPr>
          <p:nvPr>
            <p:ph idx="1"/>
          </p:nvPr>
        </p:nvSpPr>
        <p:spPr/>
        <p:txBody>
          <a:bodyPr/>
          <a:lstStyle/>
          <a:p>
            <a:endParaRPr lang="es-ES_tradnl"/>
          </a:p>
        </p:txBody>
      </p:sp>
      <p:pic>
        <p:nvPicPr>
          <p:cNvPr id="3" name="Picture 2">
            <a:extLst>
              <a:ext uri="{FF2B5EF4-FFF2-40B4-BE49-F238E27FC236}">
                <a16:creationId xmlns:a16="http://schemas.microsoft.com/office/drawing/2014/main" id="{EB12A78D-BE35-4242-C77F-560D8BA5AEAD}"/>
              </a:ext>
            </a:extLst>
          </p:cNvPr>
          <p:cNvPicPr>
            <a:picLocks noChangeAspect="1"/>
          </p:cNvPicPr>
          <p:nvPr/>
        </p:nvPicPr>
        <p:blipFill>
          <a:blip r:embed="rId3"/>
          <a:stretch>
            <a:fillRect/>
          </a:stretch>
        </p:blipFill>
        <p:spPr>
          <a:xfrm>
            <a:off x="-1" y="-47530"/>
            <a:ext cx="12314537" cy="6905530"/>
          </a:xfrm>
          <a:prstGeom prst="rect">
            <a:avLst/>
          </a:prstGeom>
        </p:spPr>
      </p:pic>
    </p:spTree>
    <p:extLst>
      <p:ext uri="{BB962C8B-B14F-4D97-AF65-F5344CB8AC3E}">
        <p14:creationId xmlns:p14="http://schemas.microsoft.com/office/powerpoint/2010/main" val="1858068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6A7D1A14-36C1-49D3-93E0-4578B847CFB5}"/>
              </a:ext>
            </a:extLst>
          </p:cNvPr>
          <p:cNvSpPr>
            <a:spLocks noGrp="1"/>
          </p:cNvSpPr>
          <p:nvPr>
            <p:ph type="title"/>
          </p:nvPr>
        </p:nvSpPr>
        <p:spPr/>
        <p:txBody>
          <a:bodyPr/>
          <a:lstStyle/>
          <a:p>
            <a:r>
              <a:rPr lang="es-CO" dirty="0">
                <a:latin typeface="Century Gothic" panose="020B0502020202020204" pitchFamily="34" charset="0"/>
              </a:rPr>
              <a:t>PREGUNTA 1 (4 MINUTOS)</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
        <p:nvSpPr>
          <p:cNvPr id="5" name="TPPolling"/>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030B7CF3-F66C-FA65-D904-51F663DA311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E83CBE2-9562-BE43-7256-191E4065B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1091580A-6AF1-26BC-CBE1-8BBFE7CBDA7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5">
            <a:extLst>
              <a:ext uri="{FF2B5EF4-FFF2-40B4-BE49-F238E27FC236}">
                <a16:creationId xmlns:a16="http://schemas.microsoft.com/office/drawing/2014/main" id="{80D43D6F-6C50-4686-32E0-E0B95F132155}"/>
              </a:ext>
            </a:extLst>
          </p:cNvPr>
          <p:cNvPicPr>
            <a:picLocks noChangeAspect="1"/>
          </p:cNvPicPr>
          <p:nvPr/>
        </p:nvPicPr>
        <p:blipFill>
          <a:blip r:embed="rId5"/>
          <a:stretch>
            <a:fillRect/>
          </a:stretch>
        </p:blipFill>
        <p:spPr>
          <a:xfrm>
            <a:off x="1560318" y="1906765"/>
            <a:ext cx="9989717" cy="4951235"/>
          </a:xfrm>
          <a:prstGeom prst="rect">
            <a:avLst/>
          </a:prstGeom>
        </p:spPr>
      </p:pic>
    </p:spTree>
    <p:custDataLst>
      <p:tags r:id="rId1"/>
    </p:custDataLst>
    <p:extLst>
      <p:ext uri="{BB962C8B-B14F-4D97-AF65-F5344CB8AC3E}">
        <p14:creationId xmlns:p14="http://schemas.microsoft.com/office/powerpoint/2010/main" val="342418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4AA2-AA74-A0F2-F183-B79F096F967E}"/>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2E0125F7-84ED-0FFE-165D-CD5F457C2F69}"/>
              </a:ext>
            </a:extLst>
          </p:cNvPr>
          <p:cNvSpPr>
            <a:spLocks noGrp="1"/>
          </p:cNvSpPr>
          <p:nvPr>
            <p:ph type="title"/>
          </p:nvPr>
        </p:nvSpPr>
        <p:spPr/>
        <p:txBody>
          <a:bodyPr/>
          <a:lstStyle/>
          <a:p>
            <a:r>
              <a:rPr lang="es-CO">
                <a:latin typeface="Century Gothic" panose="020B0502020202020204" pitchFamily="34" charset="0"/>
              </a:rPr>
              <a:t>PREGUNTA 1 (4 MINUTOS)</a:t>
            </a:r>
          </a:p>
        </p:txBody>
      </p:sp>
      <p:sp>
        <p:nvSpPr>
          <p:cNvPr id="4" name="Marcador de número de diapositiva 3">
            <a:extLst>
              <a:ext uri="{FF2B5EF4-FFF2-40B4-BE49-F238E27FC236}">
                <a16:creationId xmlns:a16="http://schemas.microsoft.com/office/drawing/2014/main" id="{915460AC-008D-CAEC-F835-11DDEEBE8FAE}"/>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BC9AD6E-C588-46B0-23D5-B639C1C4DE7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E711654-9176-C626-E778-9C396CEA7F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6719330-78C4-C923-62D2-7796E7617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extLst>
              <a:ext uri="{FF2B5EF4-FFF2-40B4-BE49-F238E27FC236}">
                <a16:creationId xmlns:a16="http://schemas.microsoft.com/office/drawing/2014/main" id="{A08E248D-D3AD-96EE-30F6-0F68EF5DA7F0}"/>
              </a:ext>
            </a:extLst>
          </p:cNvPr>
          <p:cNvPicPr>
            <a:picLocks noChangeAspect="1"/>
          </p:cNvPicPr>
          <p:nvPr/>
        </p:nvPicPr>
        <p:blipFill>
          <a:blip r:embed="rId4"/>
          <a:stretch>
            <a:fillRect/>
          </a:stretch>
        </p:blipFill>
        <p:spPr>
          <a:xfrm>
            <a:off x="1045026" y="1844276"/>
            <a:ext cx="8013357" cy="4783545"/>
          </a:xfrm>
          <a:prstGeom prst="rect">
            <a:avLst/>
          </a:prstGeom>
        </p:spPr>
      </p:pic>
      <p:sp>
        <p:nvSpPr>
          <p:cNvPr id="3" name="Rectángulo 2">
            <a:extLst>
              <a:ext uri="{FF2B5EF4-FFF2-40B4-BE49-F238E27FC236}">
                <a16:creationId xmlns:a16="http://schemas.microsoft.com/office/drawing/2014/main" id="{08CF7A18-1BDA-784A-FC88-FD9F015F67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4" name="Picture 2" descr="Imágenes de Resolucion Problemas - Descarga gratuita en Freepik">
            <a:extLst>
              <a:ext uri="{FF2B5EF4-FFF2-40B4-BE49-F238E27FC236}">
                <a16:creationId xmlns:a16="http://schemas.microsoft.com/office/drawing/2014/main" id="{0F82B46D-55CA-FAD2-DF54-763091CA0D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9653" y="3429000"/>
            <a:ext cx="2235775" cy="15801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A36170A-0382-AAFC-B29A-2A16B6EED4DE}"/>
              </a:ext>
            </a:extLst>
          </p:cNvPr>
          <p:cNvSpPr/>
          <p:nvPr/>
        </p:nvSpPr>
        <p:spPr>
          <a:xfrm>
            <a:off x="1248629" y="5858466"/>
            <a:ext cx="7699879" cy="687378"/>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36769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C5E2-8C61-BBCC-18BE-D2F1F8A7C28C}"/>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9285384F-DB32-61CE-686B-4DBF554FD96B}"/>
              </a:ext>
            </a:extLst>
          </p:cNvPr>
          <p:cNvSpPr>
            <a:spLocks noGrp="1"/>
          </p:cNvSpPr>
          <p:nvPr>
            <p:ph type="title"/>
          </p:nvPr>
        </p:nvSpPr>
        <p:spPr/>
        <p:txBody>
          <a:bodyPr/>
          <a:lstStyle/>
          <a:p>
            <a:r>
              <a:rPr lang="es-CO" dirty="0">
                <a:latin typeface="Century Gothic" panose="020B0502020202020204" pitchFamily="34" charset="0"/>
              </a:rPr>
              <a:t>PREGUNTA 2 (5 MINUTOS)</a:t>
            </a:r>
          </a:p>
        </p:txBody>
      </p:sp>
      <p:sp>
        <p:nvSpPr>
          <p:cNvPr id="4" name="Marcador de número de diapositiva 3">
            <a:extLst>
              <a:ext uri="{FF2B5EF4-FFF2-40B4-BE49-F238E27FC236}">
                <a16:creationId xmlns:a16="http://schemas.microsoft.com/office/drawing/2014/main" id="{D91C01EF-A0D5-D8BC-B7DF-DA0C73B9CF3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07EBCE0D-47CD-176A-2547-3A7092D834F0}"/>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3266187-2813-8A27-8476-2026F5A90B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857A56-50D7-1005-EDCE-4BF46E58E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FC9BFF1C-8D6D-9DB3-9B84-51AA433ABB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5">
            <a:extLst>
              <a:ext uri="{FF2B5EF4-FFF2-40B4-BE49-F238E27FC236}">
                <a16:creationId xmlns:a16="http://schemas.microsoft.com/office/drawing/2014/main" id="{A4EAC937-92D6-9BC4-8C82-053FAA0551F7}"/>
              </a:ext>
            </a:extLst>
          </p:cNvPr>
          <p:cNvPicPr>
            <a:picLocks noChangeAspect="1"/>
          </p:cNvPicPr>
          <p:nvPr/>
        </p:nvPicPr>
        <p:blipFill>
          <a:blip r:embed="rId4"/>
          <a:stretch>
            <a:fillRect/>
          </a:stretch>
        </p:blipFill>
        <p:spPr>
          <a:xfrm>
            <a:off x="2051956" y="1855350"/>
            <a:ext cx="7777843" cy="5002650"/>
          </a:xfrm>
          <a:prstGeom prst="rect">
            <a:avLst/>
          </a:prstGeom>
        </p:spPr>
      </p:pic>
    </p:spTree>
    <p:custDataLst>
      <p:tags r:id="rId1"/>
    </p:custDataLst>
    <p:extLst>
      <p:ext uri="{BB962C8B-B14F-4D97-AF65-F5344CB8AC3E}">
        <p14:creationId xmlns:p14="http://schemas.microsoft.com/office/powerpoint/2010/main" val="7261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BCEA-544E-7E36-64D3-F4E6EDAF379B}"/>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5759072D-D155-701F-6BF4-DB5927193E02}"/>
              </a:ext>
            </a:extLst>
          </p:cNvPr>
          <p:cNvSpPr>
            <a:spLocks noGrp="1"/>
          </p:cNvSpPr>
          <p:nvPr>
            <p:ph type="title"/>
          </p:nvPr>
        </p:nvSpPr>
        <p:spPr/>
        <p:txBody>
          <a:bodyPr/>
          <a:lstStyle/>
          <a:p>
            <a:r>
              <a:rPr lang="es-CO">
                <a:latin typeface="Century Gothic" panose="020B0502020202020204" pitchFamily="34" charset="0"/>
              </a:rPr>
              <a:t>PREGUNTA 2 (5 MINUTOS)</a:t>
            </a:r>
          </a:p>
        </p:txBody>
      </p:sp>
      <p:sp>
        <p:nvSpPr>
          <p:cNvPr id="4" name="Marcador de número de diapositiva 3">
            <a:extLst>
              <a:ext uri="{FF2B5EF4-FFF2-40B4-BE49-F238E27FC236}">
                <a16:creationId xmlns:a16="http://schemas.microsoft.com/office/drawing/2014/main" id="{169406AF-1EC2-C39B-6386-BC586F9794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E8ED489A-4257-77F4-9358-7046EF871523}"/>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274D0295-C797-235A-77F0-DEF843B0A1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18AD173-34DB-68C3-6FB7-8F0F91388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C7516B0A-D021-5C30-A2F2-C347B28F2C09}"/>
              </a:ext>
            </a:extLst>
          </p:cNvPr>
          <p:cNvPicPr>
            <a:picLocks noChangeAspect="1"/>
          </p:cNvPicPr>
          <p:nvPr/>
        </p:nvPicPr>
        <p:blipFill>
          <a:blip r:embed="rId4"/>
          <a:stretch>
            <a:fillRect/>
          </a:stretch>
        </p:blipFill>
        <p:spPr>
          <a:xfrm>
            <a:off x="996618" y="1962360"/>
            <a:ext cx="7772400" cy="4777530"/>
          </a:xfrm>
          <a:prstGeom prst="rect">
            <a:avLst/>
          </a:prstGeom>
        </p:spPr>
      </p:pic>
      <p:sp>
        <p:nvSpPr>
          <p:cNvPr id="3" name="Rectángulo 2">
            <a:extLst>
              <a:ext uri="{FF2B5EF4-FFF2-40B4-BE49-F238E27FC236}">
                <a16:creationId xmlns:a16="http://schemas.microsoft.com/office/drawing/2014/main" id="{1EE3182F-D861-F1BC-2B6D-C9F38E7E698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4338" name="Picture 2" descr="Tendencias ineficaces a la hora de resolver problemas">
            <a:extLst>
              <a:ext uri="{FF2B5EF4-FFF2-40B4-BE49-F238E27FC236}">
                <a16:creationId xmlns:a16="http://schemas.microsoft.com/office/drawing/2014/main" id="{B8191581-8708-5A89-E175-721200192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6616" y="3429000"/>
            <a:ext cx="2594192" cy="15739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3FF570F-D017-2CA9-CACB-7D503B4C8551}"/>
              </a:ext>
            </a:extLst>
          </p:cNvPr>
          <p:cNvSpPr/>
          <p:nvPr/>
        </p:nvSpPr>
        <p:spPr>
          <a:xfrm>
            <a:off x="1192938" y="5461174"/>
            <a:ext cx="7699879" cy="201799"/>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60524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9FED-50BC-AD9A-EF98-BB238E6F6266}"/>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E5ED9DF7-6BFF-2155-2BC0-82D65CEF7B87}"/>
              </a:ext>
            </a:extLst>
          </p:cNvPr>
          <p:cNvSpPr>
            <a:spLocks noGrp="1"/>
          </p:cNvSpPr>
          <p:nvPr>
            <p:ph type="title"/>
          </p:nvPr>
        </p:nvSpPr>
        <p:spPr/>
        <p:txBody>
          <a:bodyPr/>
          <a:lstStyle/>
          <a:p>
            <a:r>
              <a:rPr lang="es-CO">
                <a:latin typeface="Century Gothic" panose="020B0502020202020204" pitchFamily="34" charset="0"/>
              </a:rPr>
              <a:t>PREGUNTA 3 (4 MINUTOS)</a:t>
            </a:r>
          </a:p>
        </p:txBody>
      </p:sp>
      <p:sp>
        <p:nvSpPr>
          <p:cNvPr id="4" name="Marcador de número de diapositiva 3">
            <a:extLst>
              <a:ext uri="{FF2B5EF4-FFF2-40B4-BE49-F238E27FC236}">
                <a16:creationId xmlns:a16="http://schemas.microsoft.com/office/drawing/2014/main" id="{CB3E8B3D-5F88-D547-2B7A-B085CC66B40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378D9015-ECD7-6285-DC41-80D20B389D75}"/>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3AB8044-334E-DA63-2706-AF02747CAA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B4A512F-F0F4-742A-EF81-AEE2F33EE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B169610-50DE-45ED-09EF-D50216217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 name="Picture 2">
            <a:extLst>
              <a:ext uri="{FF2B5EF4-FFF2-40B4-BE49-F238E27FC236}">
                <a16:creationId xmlns:a16="http://schemas.microsoft.com/office/drawing/2014/main" id="{288901B6-4335-4AE8-E794-9A69935E02B6}"/>
              </a:ext>
            </a:extLst>
          </p:cNvPr>
          <p:cNvPicPr>
            <a:picLocks noChangeAspect="1"/>
          </p:cNvPicPr>
          <p:nvPr/>
        </p:nvPicPr>
        <p:blipFill>
          <a:blip r:embed="rId4"/>
          <a:stretch>
            <a:fillRect/>
          </a:stretch>
        </p:blipFill>
        <p:spPr>
          <a:xfrm>
            <a:off x="1108528" y="1865991"/>
            <a:ext cx="9319986" cy="4792505"/>
          </a:xfrm>
          <a:prstGeom prst="rect">
            <a:avLst/>
          </a:prstGeom>
        </p:spPr>
      </p:pic>
    </p:spTree>
    <p:custDataLst>
      <p:tags r:id="rId1"/>
    </p:custDataLst>
    <p:extLst>
      <p:ext uri="{BB962C8B-B14F-4D97-AF65-F5344CB8AC3E}">
        <p14:creationId xmlns:p14="http://schemas.microsoft.com/office/powerpoint/2010/main" val="36943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41199-AEC6-76B1-9149-9ACCE52D6BFD}"/>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D88A4B0E-750F-96E0-D47E-A9158A42FF46}"/>
              </a:ext>
            </a:extLst>
          </p:cNvPr>
          <p:cNvSpPr>
            <a:spLocks noGrp="1"/>
          </p:cNvSpPr>
          <p:nvPr>
            <p:ph type="title"/>
          </p:nvPr>
        </p:nvSpPr>
        <p:spPr/>
        <p:txBody>
          <a:bodyPr/>
          <a:lstStyle/>
          <a:p>
            <a:r>
              <a:rPr lang="es-CO" dirty="0">
                <a:latin typeface="Century Gothic" panose="020B0502020202020204" pitchFamily="34" charset="0"/>
              </a:rPr>
              <a:t>PREGUNTA 3 (4 MINUTOS)</a:t>
            </a:r>
          </a:p>
        </p:txBody>
      </p:sp>
      <p:sp>
        <p:nvSpPr>
          <p:cNvPr id="4" name="Marcador de número de diapositiva 3">
            <a:extLst>
              <a:ext uri="{FF2B5EF4-FFF2-40B4-BE49-F238E27FC236}">
                <a16:creationId xmlns:a16="http://schemas.microsoft.com/office/drawing/2014/main" id="{54E1F2D0-4D59-CD40-732A-AD909215F97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B7865112-B427-29F6-1516-AE7A978656B1}"/>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1E1F58F-53E5-435A-0D44-B901752ECAC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93484A1-2594-3BC7-0550-39FE9AD7B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CD80CEAA-E8F7-A0FF-3131-369F19112DEC}"/>
              </a:ext>
            </a:extLst>
          </p:cNvPr>
          <p:cNvPicPr>
            <a:picLocks noChangeAspect="1"/>
          </p:cNvPicPr>
          <p:nvPr/>
        </p:nvPicPr>
        <p:blipFill>
          <a:blip r:embed="rId5"/>
          <a:stretch>
            <a:fillRect/>
          </a:stretch>
        </p:blipFill>
        <p:spPr>
          <a:xfrm>
            <a:off x="1415434" y="1922248"/>
            <a:ext cx="7020554" cy="4777877"/>
          </a:xfrm>
          <a:prstGeom prst="rect">
            <a:avLst/>
          </a:prstGeom>
        </p:spPr>
      </p:pic>
      <p:sp>
        <p:nvSpPr>
          <p:cNvPr id="7" name="Rectángulo 6">
            <a:extLst>
              <a:ext uri="{FF2B5EF4-FFF2-40B4-BE49-F238E27FC236}">
                <a16:creationId xmlns:a16="http://schemas.microsoft.com/office/drawing/2014/main" id="{1885A7B1-947C-54F0-2D3A-8308347030B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5362" name="Picture 2" descr="Aprender a resolver problemas | PressCoaching">
            <a:extLst>
              <a:ext uri="{FF2B5EF4-FFF2-40B4-BE49-F238E27FC236}">
                <a16:creationId xmlns:a16="http://schemas.microsoft.com/office/drawing/2014/main" id="{F5DB4FE2-A803-B6C4-710C-23E4231EBE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9631" y="3106456"/>
            <a:ext cx="3207142" cy="1803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D630EDB-82B2-D074-D665-DB99F2F338AB}"/>
              </a:ext>
            </a:extLst>
          </p:cNvPr>
          <p:cNvSpPr/>
          <p:nvPr/>
        </p:nvSpPr>
        <p:spPr>
          <a:xfrm>
            <a:off x="1174019" y="5836319"/>
            <a:ext cx="7699879" cy="201799"/>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68687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AB5C-BE54-0742-4C7B-D1E21E5DF885}"/>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19B7C58A-D7BB-FC31-6DCB-A52B86C40516}"/>
              </a:ext>
            </a:extLst>
          </p:cNvPr>
          <p:cNvSpPr>
            <a:spLocks noGrp="1"/>
          </p:cNvSpPr>
          <p:nvPr>
            <p:ph type="title"/>
          </p:nvPr>
        </p:nvSpPr>
        <p:spPr/>
        <p:txBody>
          <a:bodyPr/>
          <a:lstStyle/>
          <a:p>
            <a:r>
              <a:rPr lang="es-CO">
                <a:latin typeface="Century Gothic" panose="020B0502020202020204" pitchFamily="34" charset="0"/>
              </a:rPr>
              <a:t>PREGUNTA 4 (5 MINUTOS)</a:t>
            </a:r>
          </a:p>
        </p:txBody>
      </p:sp>
      <p:sp>
        <p:nvSpPr>
          <p:cNvPr id="4" name="Marcador de número de diapositiva 3">
            <a:extLst>
              <a:ext uri="{FF2B5EF4-FFF2-40B4-BE49-F238E27FC236}">
                <a16:creationId xmlns:a16="http://schemas.microsoft.com/office/drawing/2014/main" id="{B33923A1-8C39-B4FA-B66C-B41F892E48B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AFB9682A-BAF7-46B9-A070-BB243B4327D1}"/>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FCC2988-BC5F-DAFF-D97C-A7B9AF4430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86B79ED-E0EF-98C2-8515-A3DCD02F3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F4749DC-3DCE-16C8-BF13-74B92A37C6B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5">
            <a:extLst>
              <a:ext uri="{FF2B5EF4-FFF2-40B4-BE49-F238E27FC236}">
                <a16:creationId xmlns:a16="http://schemas.microsoft.com/office/drawing/2014/main" id="{ADABC0B7-7FB6-2A5D-C2FE-70509E5E8118}"/>
              </a:ext>
            </a:extLst>
          </p:cNvPr>
          <p:cNvPicPr>
            <a:picLocks noChangeAspect="1"/>
          </p:cNvPicPr>
          <p:nvPr/>
        </p:nvPicPr>
        <p:blipFill>
          <a:blip r:embed="rId4"/>
          <a:stretch>
            <a:fillRect/>
          </a:stretch>
        </p:blipFill>
        <p:spPr>
          <a:xfrm>
            <a:off x="1815614" y="2038392"/>
            <a:ext cx="8560772" cy="4340673"/>
          </a:xfrm>
          <a:prstGeom prst="rect">
            <a:avLst/>
          </a:prstGeom>
        </p:spPr>
      </p:pic>
    </p:spTree>
    <p:custDataLst>
      <p:tags r:id="rId1"/>
    </p:custDataLst>
    <p:extLst>
      <p:ext uri="{BB962C8B-B14F-4D97-AF65-F5344CB8AC3E}">
        <p14:creationId xmlns:p14="http://schemas.microsoft.com/office/powerpoint/2010/main" val="329096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CFF1-48B5-0EEB-8C41-835BD158FD14}"/>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FFEF6672-9AAB-866C-2C01-0F9D0A2545F0}"/>
              </a:ext>
            </a:extLst>
          </p:cNvPr>
          <p:cNvSpPr>
            <a:spLocks noGrp="1"/>
          </p:cNvSpPr>
          <p:nvPr>
            <p:ph type="title"/>
          </p:nvPr>
        </p:nvSpPr>
        <p:spPr/>
        <p:txBody>
          <a:bodyPr/>
          <a:lstStyle/>
          <a:p>
            <a:r>
              <a:rPr lang="es-CO" dirty="0">
                <a:latin typeface="Century Gothic" panose="020B0502020202020204" pitchFamily="34" charset="0"/>
              </a:rPr>
              <a:t>PREGUNTA 4 (5 MINUTOS)</a:t>
            </a:r>
          </a:p>
        </p:txBody>
      </p:sp>
      <p:sp>
        <p:nvSpPr>
          <p:cNvPr id="4" name="Marcador de número de diapositiva 3">
            <a:extLst>
              <a:ext uri="{FF2B5EF4-FFF2-40B4-BE49-F238E27FC236}">
                <a16:creationId xmlns:a16="http://schemas.microsoft.com/office/drawing/2014/main" id="{0D976F3A-E9E2-7B18-6B81-DAB2FBD512C3}"/>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E177D15-0D52-23CC-0A9F-0BC2839CCE1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4AE3500-7BB8-5B5D-C43F-320362E8FB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18F553A-8073-A91A-3B5F-A65F5CB86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BBFF9A4-8FDF-AA43-D12E-CAEB9522D162}"/>
              </a:ext>
            </a:extLst>
          </p:cNvPr>
          <p:cNvPicPr>
            <a:picLocks noChangeAspect="1"/>
          </p:cNvPicPr>
          <p:nvPr/>
        </p:nvPicPr>
        <p:blipFill>
          <a:blip r:embed="rId4"/>
          <a:stretch>
            <a:fillRect/>
          </a:stretch>
        </p:blipFill>
        <p:spPr>
          <a:xfrm>
            <a:off x="1289264" y="1904660"/>
            <a:ext cx="7200531" cy="4640342"/>
          </a:xfrm>
          <a:prstGeom prst="rect">
            <a:avLst/>
          </a:prstGeom>
        </p:spPr>
      </p:pic>
      <p:sp>
        <p:nvSpPr>
          <p:cNvPr id="3" name="Rectángulo 2">
            <a:extLst>
              <a:ext uri="{FF2B5EF4-FFF2-40B4-BE49-F238E27FC236}">
                <a16:creationId xmlns:a16="http://schemas.microsoft.com/office/drawing/2014/main" id="{723DC319-944E-4D3A-517B-1986CAC9D59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6386" name="Picture 2" descr="Resolución de problemas. 10 consejos para evitar antes de encontrar una  solución - Cepymenews">
            <a:extLst>
              <a:ext uri="{FF2B5EF4-FFF2-40B4-BE49-F238E27FC236}">
                <a16:creationId xmlns:a16="http://schemas.microsoft.com/office/drawing/2014/main" id="{51048C60-4625-4445-B9C1-D5D3B2C615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3053" y="3429000"/>
            <a:ext cx="2887755" cy="153594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A74D73E-DD67-21A3-5115-71148A9B7288}"/>
              </a:ext>
            </a:extLst>
          </p:cNvPr>
          <p:cNvSpPr/>
          <p:nvPr/>
        </p:nvSpPr>
        <p:spPr>
          <a:xfrm>
            <a:off x="1337980" y="5142045"/>
            <a:ext cx="7699879" cy="426336"/>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11222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0B350FC-AF73-8F25-8CA6-9E9B24E055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2" name="Picture 6" descr="Resultado de imagen para RELOJ VECTOR">
            <a:extLst>
              <a:ext uri="{FF2B5EF4-FFF2-40B4-BE49-F238E27FC236}">
                <a16:creationId xmlns:a16="http://schemas.microsoft.com/office/drawing/2014/main" id="{6F079B36-206B-AF08-63CC-CB2132E7BDD3}"/>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F4E70C8E-6F4F-5AE8-A908-093FE580A90B}"/>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tx2">
                    <a:lumMod val="20000"/>
                    <a:lumOff val="80000"/>
                  </a:schemeClr>
                </a:solidFill>
                <a:latin typeface="Century Gothic"/>
                <a:cs typeface="Arial"/>
              </a:rPr>
              <a:t>¿Qué es el Costo de Oportunidad?</a:t>
            </a:r>
            <a:endParaRPr lang="es-ES">
              <a:solidFill>
                <a:schemeClr val="tx2">
                  <a:lumMod val="20000"/>
                  <a:lumOff val="80000"/>
                </a:schemeClr>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239495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1000"/>
                                        <p:tgtEl>
                                          <p:spTgt spid="13"/>
                                        </p:tgtEl>
                                      </p:cBhvr>
                                    </p:animEffect>
                                    <p:anim calcmode="lin" valueType="num">
                                      <p:cBhvr>
                                        <p:cTn id="10" dur="1000" fill="hold"/>
                                        <p:tgtEl>
                                          <p:spTgt spid="13"/>
                                        </p:tgtEl>
                                        <p:attrNameLst>
                                          <p:attrName>ppt_x</p:attrName>
                                        </p:attrNameLst>
                                      </p:cBhvr>
                                      <p:tavLst>
                                        <p:tav tm="0">
                                          <p:val>
                                            <p:strVal val="#ppt_x"/>
                                          </p:val>
                                        </p:tav>
                                        <p:tav tm="100000">
                                          <p:val>
                                            <p:strVal val="#ppt_x"/>
                                          </p:val>
                                        </p:tav>
                                      </p:tavLst>
                                    </p:anim>
                                    <p:anim calcmode="lin" valueType="num">
                                      <p:cBhvr>
                                        <p:cTn id="1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just"/>
            <a:r>
              <a:rPr lang="es-ES_tradnl">
                <a:latin typeface="Century Gothic" panose="020B0502020202020204" pitchFamily="34" charset="0"/>
              </a:rPr>
              <a:t>RELACIÓN ENTRE COSTO DE OPORTUNIDAD Y VALOR DEL DINERO EN EL TIEMPO</a:t>
            </a:r>
          </a:p>
        </p:txBody>
      </p:sp>
      <p:sp>
        <p:nvSpPr>
          <p:cNvPr id="10" name="Content Placeholder 6"/>
          <p:cNvSpPr>
            <a:spLocks noGrp="1"/>
          </p:cNvSpPr>
          <p:nvPr>
            <p:ph idx="1"/>
          </p:nvPr>
        </p:nvSpPr>
        <p:spPr>
          <a:xfrm>
            <a:off x="581193" y="2091712"/>
            <a:ext cx="7857254" cy="4046985"/>
          </a:xfrm>
        </p:spPr>
        <p:txBody>
          <a:bodyPr>
            <a:normAutofit/>
          </a:bodyPr>
          <a:lstStyle/>
          <a:p>
            <a:pPr marL="0" indent="0" algn="ctr">
              <a:buNone/>
            </a:pPr>
            <a:r>
              <a:rPr lang="es-ES_tradnl">
                <a:latin typeface="Century Gothic" panose="020B0502020202020204" pitchFamily="34" charset="0"/>
              </a:rPr>
              <a:t>Ahora, también es útil entender la segunda interpretación del Costo de Oportunidad y establecer su relación con el VDT.</a:t>
            </a:r>
          </a:p>
          <a:p>
            <a:pPr marL="0" indent="0" algn="ctr">
              <a:buNone/>
            </a:pPr>
            <a:endParaRPr lang="es-ES_tradnl">
              <a:latin typeface="Century Gothic" panose="020B0502020202020204" pitchFamily="34" charset="0"/>
            </a:endParaRPr>
          </a:p>
          <a:p>
            <a:pPr marL="0" indent="0" algn="r">
              <a:buNone/>
            </a:pPr>
            <a:r>
              <a:rPr lang="es-ES_tradnl" b="1">
                <a:solidFill>
                  <a:srgbClr val="D7A700"/>
                </a:solidFill>
                <a:latin typeface="Century Gothic" panose="020B0502020202020204" pitchFamily="34" charset="0"/>
              </a:rPr>
              <a:t>El Costo de Oportunidad como elemento fundamental del concepto de pérdida del valor del dinero en el tiempo (VDT).</a:t>
            </a:r>
          </a:p>
          <a:p>
            <a:pPr marL="0" indent="0" algn="ctr">
              <a:buNone/>
            </a:pPr>
            <a:endParaRPr lang="es-ES_tradnl">
              <a:latin typeface="Century Gothic" panose="020B0502020202020204" pitchFamily="34" charset="0"/>
            </a:endParaRPr>
          </a:p>
          <a:p>
            <a:pPr marL="0" indent="0" algn="ctr">
              <a:buNone/>
            </a:pPr>
            <a:r>
              <a:rPr lang="es-ES_tradnl" b="1">
                <a:solidFill>
                  <a:schemeClr val="accent1"/>
                </a:solidFill>
                <a:latin typeface="Century Gothic" panose="020B0502020202020204" pitchFamily="34" charset="0"/>
              </a:rPr>
              <a:t>¿Para todos los agentes es igual el VDT?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7210D5D7-8AE0-7B74-7D02-08E91D7F8F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ADBBB33-F2D1-E32B-CDF4-2D5BA6C2B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34E48BC-414B-317F-04B1-F22CE3A06F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170" name="Picture 2" descr="El valor del dinero en el tiempo - GCH ACCOUNTING FIRM.">
            <a:extLst>
              <a:ext uri="{FF2B5EF4-FFF2-40B4-BE49-F238E27FC236}">
                <a16:creationId xmlns:a16="http://schemas.microsoft.com/office/drawing/2014/main" id="{BE76C320-756E-2700-A430-AEBB36099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9085" y="3134869"/>
            <a:ext cx="2880950" cy="1892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73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26</a:t>
            </a:fld>
            <a:endParaRPr lang="en-US" sz="2000" b="1">
              <a:latin typeface="Century Gothic" panose="020B0502020202020204" pitchFamily="34" charset="0"/>
            </a:endParaRPr>
          </a:p>
        </p:txBody>
      </p:sp>
      <p:sp>
        <p:nvSpPr>
          <p:cNvPr id="25" name="Rectángulo 24"/>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F13D0EAF-8190-4459-6E3B-EDF3575C5A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1FA4F54B-7EDB-FAB5-682A-5A9DD85CE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0127F71-123A-9118-058B-F2850DB570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B391F82B-1D81-9365-931C-899A9DC42F8C}"/>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71B0010B-2A92-8DCB-F512-A4972309703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1EAB02BB-C0F2-A1EA-3932-F812D737A142}"/>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031A2A67-FB32-2A28-4330-9C239BAB81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7C71DA01-0113-44A2-969E-BB1A30EC76D3}"/>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8AEDECF3-A7F8-8ABB-B734-78314E853342}"/>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687C136C-36BD-671E-7E39-272A83E42EA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DAEF592C-E7D3-000B-AFD1-2AB167EDF95D}"/>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D01AB1B1-A3FC-6D7C-8742-0FD6032B71F1}"/>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Tree>
    <p:extLst>
      <p:ext uri="{BB962C8B-B14F-4D97-AF65-F5344CB8AC3E}">
        <p14:creationId xmlns:p14="http://schemas.microsoft.com/office/powerpoint/2010/main" val="163752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52324-E9BE-D57C-149B-CE2CE2A09D16}"/>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F1E2B06E-650F-2F85-B07B-45A463AF33C3}"/>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27</a:t>
            </a:fld>
            <a:endParaRPr lang="en-US" sz="2000" b="1">
              <a:latin typeface="Century Gothic" panose="020B0502020202020204" pitchFamily="34" charset="0"/>
            </a:endParaRPr>
          </a:p>
        </p:txBody>
      </p:sp>
      <p:sp>
        <p:nvSpPr>
          <p:cNvPr id="25" name="Rectángulo 24">
            <a:extLst>
              <a:ext uri="{FF2B5EF4-FFF2-40B4-BE49-F238E27FC236}">
                <a16:creationId xmlns:a16="http://schemas.microsoft.com/office/drawing/2014/main" id="{3320775A-1F94-575E-4710-95E4615FA30F}"/>
              </a:ext>
            </a:extLst>
          </p:cNvPr>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665728B4-54DE-620D-D83F-1722777537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7B28E0BB-B4F4-B0A2-FD59-89289C64F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6CC7A42-A401-A6E4-13B4-1BD7033E94C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2D9128FA-B7CF-2454-45D1-D16A6BD15EE9}"/>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63A94727-3744-1669-CA39-B522112A680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BBC39D95-0292-6D96-5F59-E183BE293721}"/>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EFD8BEF2-881C-D399-AFB2-CB8F0F323A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279707D7-5D17-85E8-D769-DDE47E830EFD}"/>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4CC0E660-79D3-1A00-EBBB-115A353348F0}"/>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45D9D612-A8A0-C5B2-E162-C8B564DB0BF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1E6CDBA2-1319-1AA7-212D-E17C7358E005}"/>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0162D90A-BB81-73BD-0A8E-665EEF3B8886}"/>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
        <p:nvSpPr>
          <p:cNvPr id="7" name="TextBox 6">
            <a:extLst>
              <a:ext uri="{FF2B5EF4-FFF2-40B4-BE49-F238E27FC236}">
                <a16:creationId xmlns:a16="http://schemas.microsoft.com/office/drawing/2014/main" id="{85AF361C-E2EB-8FAF-4B1B-D4A0D9A0D054}"/>
              </a:ext>
            </a:extLst>
          </p:cNvPr>
          <p:cNvSpPr txBox="1"/>
          <p:nvPr/>
        </p:nvSpPr>
        <p:spPr>
          <a:xfrm>
            <a:off x="6927172" y="6357858"/>
            <a:ext cx="6094948" cy="646331"/>
          </a:xfrm>
          <a:prstGeom prst="rect">
            <a:avLst/>
          </a:prstGeom>
          <a:noFill/>
        </p:spPr>
        <p:txBody>
          <a:bodyPr wrap="square">
            <a:spAutoFit/>
          </a:bodyPr>
          <a:lstStyle/>
          <a:p>
            <a:r>
              <a:rPr lang="en-CO" altLang="en-CO" b="1" dirty="0">
                <a:solidFill>
                  <a:schemeClr val="accent1"/>
                </a:solidFill>
                <a:highlight>
                  <a:srgbClr val="FFFF00"/>
                </a:highlight>
                <a:latin typeface="Century Gothic" panose="020B0502020202020204" pitchFamily="34" charset="0"/>
              </a:rPr>
              <a:t>Δ </a:t>
            </a:r>
            <a:r>
              <a:rPr lang="es-ES" b="1" dirty="0">
                <a:solidFill>
                  <a:schemeClr val="accent1"/>
                </a:solidFill>
                <a:highlight>
                  <a:srgbClr val="FFFF00"/>
                </a:highlight>
                <a:latin typeface="Century Gothic" panose="020B0502020202020204" pitchFamily="34" charset="0"/>
              </a:rPr>
              <a:t>=</a:t>
            </a:r>
            <a:r>
              <a:rPr lang="en-CO" b="1" dirty="0">
                <a:solidFill>
                  <a:schemeClr val="accent1"/>
                </a:solidFill>
                <a:highlight>
                  <a:srgbClr val="FFFF00"/>
                </a:highlight>
                <a:latin typeface="Century Gothic" panose="020B0502020202020204" pitchFamily="34" charset="0"/>
              </a:rPr>
              <a:t>(3550 - 800) / 800 *100 = 343,75%</a:t>
            </a:r>
          </a:p>
          <a:p>
            <a:r>
              <a:rPr lang="en-CO" dirty="0"/>
              <a:t> </a:t>
            </a:r>
            <a:endParaRPr lang="es-ES_tradnl" dirty="0"/>
          </a:p>
        </p:txBody>
      </p:sp>
      <p:pic>
        <p:nvPicPr>
          <p:cNvPr id="1026" name="Picture 2">
            <a:extLst>
              <a:ext uri="{FF2B5EF4-FFF2-40B4-BE49-F238E27FC236}">
                <a16:creationId xmlns:a16="http://schemas.microsoft.com/office/drawing/2014/main" id="{2EE9D283-377B-9D1C-5DE5-79B6554C06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00" y="-411163"/>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87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02849334-50C1-23CB-251B-F07826B2CE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C995C794-1E12-7031-9346-1AE89CA8F72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5.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81</TotalTime>
  <Words>2043</Words>
  <Application>Microsoft Macintosh PowerPoint</Application>
  <PresentationFormat>Widescreen</PresentationFormat>
  <Paragraphs>267</Paragraphs>
  <Slides>28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 Math</vt:lpstr>
      <vt:lpstr>Century Gothic</vt:lpstr>
      <vt:lpstr>Courier New</vt:lpstr>
      <vt:lpstr>Gill Sans MT</vt:lpstr>
      <vt:lpstr>Wingdings 2</vt:lpstr>
      <vt:lpstr>Dividendo</vt:lpstr>
      <vt:lpstr>COSTO DE OPORTUNIDAD Y VALOR DEL DINERO EN EL TIEMPO (PARTE I)</vt:lpstr>
      <vt:lpstr>AGENDA PROPUESTA</vt:lpstr>
      <vt:lpstr>AGENDA PROPUESTA</vt:lpstr>
      <vt:lpstr>¿Qué es el costo de oportunidad?</vt:lpstr>
      <vt:lpstr>¿Qué es el costo de oportunidad?</vt:lpstr>
      <vt:lpstr>¿Qué es el costo de oportunidad?</vt:lpstr>
      <vt:lpstr>¿Qué es el costo de oportunidad?</vt:lpstr>
      <vt:lpstr>¿Qué es el costo de oportunidad?</vt:lpstr>
      <vt:lpstr>¿Qué es el costo de oportunidad?</vt:lpstr>
      <vt:lpstr>¿Qué es el costo de oportunidad?</vt:lpstr>
      <vt:lpstr>PowerPoint Presentation</vt:lpstr>
      <vt:lpstr>PowerPoint Presentation</vt:lpstr>
      <vt:lpstr>PowerPoint Presentation</vt:lpstr>
      <vt:lpstr>¿Qué es el costo de oportunidad?</vt:lpstr>
      <vt:lpstr>PowerPoint Presentation</vt:lpstr>
      <vt:lpstr>PREGUNTA 1 (4 MINUTOS)</vt:lpstr>
      <vt:lpstr>PREGUNTA 1 (4 MINUTOS)</vt:lpstr>
      <vt:lpstr>PREGUNTA 2 (5 MINUTOS)</vt:lpstr>
      <vt:lpstr>PREGUNTA 2 (5 MINUTOS)</vt:lpstr>
      <vt:lpstr>PREGUNTA 3 (4 MINUTOS)</vt:lpstr>
      <vt:lpstr>PREGUNTA 3 (4 MINUTOS)</vt:lpstr>
      <vt:lpstr>PREGUNTA 4 (5 MINUTOS)</vt:lpstr>
      <vt:lpstr>PREGUNTA 4 (5 MINUTOS)</vt:lpstr>
      <vt:lpstr>AGENDA PROPUESTA</vt:lpstr>
      <vt:lpstr>RELACIÓN ENTRE COSTO DE OPORTUNIDAD Y VALOR DEL DINERO EN EL TIEMPO</vt:lpstr>
      <vt:lpstr>RELACIÓN ENTRE COSTO DE OPORTUNIDAD Y VALOR DEL DINERO EN EL TIEMPO</vt:lpstr>
      <vt:lpstr>RELACIÓN ENTRE COSTO DE OPORTUNIDAD Y VALOR DEL DINERO EN EL TIEMPO</vt:lpstr>
      <vt:lpstr>COSTO DE OPORTUNIDAD y valor del dinero en el tiempo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3</cp:revision>
  <dcterms:created xsi:type="dcterms:W3CDTF">2019-06-20T04:25:04Z</dcterms:created>
  <dcterms:modified xsi:type="dcterms:W3CDTF">2026-01-26T16:39:04Z</dcterms:modified>
</cp:coreProperties>
</file>