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6" r:id="rId1"/>
  </p:sldMasterIdLst>
  <p:notesMasterIdLst>
    <p:notesMasterId r:id="rId37"/>
  </p:notesMasterIdLst>
  <p:handoutMasterIdLst>
    <p:handoutMasterId r:id="rId38"/>
  </p:handoutMasterIdLst>
  <p:sldIdLst>
    <p:sldId id="512" r:id="rId2"/>
    <p:sldId id="520" r:id="rId3"/>
    <p:sldId id="508" r:id="rId4"/>
    <p:sldId id="442" r:id="rId5"/>
    <p:sldId id="496" r:id="rId6"/>
    <p:sldId id="444" r:id="rId7"/>
    <p:sldId id="446" r:id="rId8"/>
    <p:sldId id="447" r:id="rId9"/>
    <p:sldId id="448" r:id="rId10"/>
    <p:sldId id="449" r:id="rId11"/>
    <p:sldId id="450" r:id="rId12"/>
    <p:sldId id="451" r:id="rId13"/>
    <p:sldId id="513" r:id="rId14"/>
    <p:sldId id="452" r:id="rId15"/>
    <p:sldId id="462" r:id="rId16"/>
    <p:sldId id="498" r:id="rId17"/>
    <p:sldId id="464" r:id="rId18"/>
    <p:sldId id="465" r:id="rId19"/>
    <p:sldId id="466" r:id="rId20"/>
    <p:sldId id="467" r:id="rId21"/>
    <p:sldId id="468" r:id="rId22"/>
    <p:sldId id="469" r:id="rId23"/>
    <p:sldId id="481" r:id="rId24"/>
    <p:sldId id="500" r:id="rId25"/>
    <p:sldId id="483" r:id="rId26"/>
    <p:sldId id="484" r:id="rId27"/>
    <p:sldId id="485" r:id="rId28"/>
    <p:sldId id="486" r:id="rId29"/>
    <p:sldId id="487" r:id="rId30"/>
    <p:sldId id="488" r:id="rId31"/>
    <p:sldId id="501" r:id="rId32"/>
    <p:sldId id="517" r:id="rId33"/>
    <p:sldId id="518" r:id="rId34"/>
    <p:sldId id="519" r:id="rId35"/>
    <p:sldId id="40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D7A700"/>
    <a:srgbClr val="FFD579"/>
    <a:srgbClr val="945200"/>
    <a:srgbClr val="C00000"/>
    <a:srgbClr val="6666FF"/>
    <a:srgbClr val="002F90"/>
    <a:srgbClr val="FF5050"/>
    <a:srgbClr val="FFF4E6"/>
    <a:srgbClr val="E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FD57C-AFD6-B347-9D45-DF06FCD2F30B}" v="1" dt="2026-03-03T01:34:39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/>
    <p:restoredTop sz="94681"/>
  </p:normalViewPr>
  <p:slideViewPr>
    <p:cSldViewPr snapToGrid="0">
      <p:cViewPr varScale="1">
        <p:scale>
          <a:sx n="163" d="100"/>
          <a:sy n="163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andes-my.sharepoint.com/personal/ay_cortes_uniandes_edu_co/Documents/DOCENCIA/2.%20ANADEC/5.%20Semestre%202025-10/4.%20M&#243;dulos%20Tem&#225;ticos/06.%20M&#243;dulo%205.%20La%20Construcci&#243;n%20del%20Flujo%20de%20Caja%20Libre%20de%20un%20Proyecto/6.1.%20Presentac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'[6.1.4. ANADEC 202510 - La Construcción del Flujo de Caja Libre de un Proyecto (Depreciaciones &amp; Amortizaciones) - Solución.xlsx]Depreciación&amp;Amortización'!$C$47</c:f>
              <c:strCache>
                <c:ptCount val="1"/>
                <c:pt idx="0">
                  <c:v>Línea Recta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1"/>
              </a:solidFill>
              <a:ln w="2857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</c:marker>
          <c:xVal>
            <c:numRef>
              <c:f>'[6.1.4. ANADEC 202510 - La Construcción del Flujo de Caja Libre de un Proyecto (Depreciaciones &amp; Amortizaciones) - Solución.xlsx]Depreciación&amp;Amortización'!$B$48:$B$57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'[6.1.4. ANADEC 202510 - La Construcción del Flujo de Caja Libre de un Proyecto (Depreciaciones &amp; Amortizaciones) - Solución.xlsx]Depreciación&amp;Amortización'!$C$48:$C$57</c:f>
              <c:numCache>
                <c:formatCode>"$"\ #,##0.0</c:formatCode>
                <c:ptCount val="10"/>
                <c:pt idx="0">
                  <c:v>7000000</c:v>
                </c:pt>
                <c:pt idx="1">
                  <c:v>7000000</c:v>
                </c:pt>
                <c:pt idx="2">
                  <c:v>7000000</c:v>
                </c:pt>
                <c:pt idx="3">
                  <c:v>7000000</c:v>
                </c:pt>
                <c:pt idx="4">
                  <c:v>7000000</c:v>
                </c:pt>
                <c:pt idx="5">
                  <c:v>7000000</c:v>
                </c:pt>
                <c:pt idx="6">
                  <c:v>7000000</c:v>
                </c:pt>
                <c:pt idx="7">
                  <c:v>7000000</c:v>
                </c:pt>
                <c:pt idx="8">
                  <c:v>7000000</c:v>
                </c:pt>
                <c:pt idx="9">
                  <c:v>7000000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0B1-634F-AF99-E112A0CAA74B}"/>
            </c:ext>
          </c:extLst>
        </c:ser>
        <c:ser>
          <c:idx val="2"/>
          <c:order val="1"/>
          <c:tx>
            <c:strRef>
              <c:f>'[6.1.4. ANADEC 202510 - La Construcción del Flujo de Caja Libre de un Proyecto (Depreciaciones &amp; Amortizaciones) - Solución.xlsx]Depreciación&amp;Amortización'!$D$47</c:f>
              <c:strCache>
                <c:ptCount val="1"/>
                <c:pt idx="0">
                  <c:v>Reducción de Saldos</c:v>
                </c:pt>
              </c:strCache>
            </c:strRef>
          </c:tx>
          <c:spPr>
            <a:ln w="28575" cap="rnd">
              <a:solidFill>
                <a:srgbClr val="FF93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FF9300"/>
              </a:solidFill>
              <a:ln w="28575" cap="rnd">
                <a:solidFill>
                  <a:srgbClr val="FF930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</c:marker>
          <c:yVal>
            <c:numRef>
              <c:f>'[6.1.4. ANADEC 202510 - La Construcción del Flujo de Caja Libre de un Proyecto (Depreciaciones &amp; Amortizaciones) - Solución.xlsx]Depreciación&amp;Amortización'!$D$48:$D$57</c:f>
              <c:numCache>
                <c:formatCode>"$"\ #,##0.0</c:formatCode>
                <c:ptCount val="10"/>
                <c:pt idx="0">
                  <c:v>15019808.291501163</c:v>
                </c:pt>
                <c:pt idx="1">
                  <c:v>12199875.277583074</c:v>
                </c:pt>
                <c:pt idx="2">
                  <c:v>9909377.9294640459</c:v>
                </c:pt>
                <c:pt idx="3">
                  <c:v>8048915.9696067609</c:v>
                </c:pt>
                <c:pt idx="4">
                  <c:v>6537751.2843830651</c:v>
                </c:pt>
                <c:pt idx="5">
                  <c:v>5310304.1475212006</c:v>
                </c:pt>
                <c:pt idx="6">
                  <c:v>4313307.2692045523</c:v>
                </c:pt>
                <c:pt idx="7">
                  <c:v>3503494.1656321678</c:v>
                </c:pt>
                <c:pt idx="8">
                  <c:v>2845721.5316548184</c:v>
                </c:pt>
                <c:pt idx="9">
                  <c:v>2311444.1334491642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0B1-634F-AF99-E112A0CAA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5269312"/>
        <c:axId val="755911696"/>
      </c:scatterChart>
      <c:valAx>
        <c:axId val="755269312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755911696"/>
        <c:crosses val="autoZero"/>
        <c:crossBetween val="midCat"/>
      </c:valAx>
      <c:valAx>
        <c:axId val="75591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\ 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7552693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en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Century Gothic" panose="020B0502020202020204" pitchFamily="34" charset="0"/>
        </a:defRPr>
      </a:pPr>
      <a:endParaRPr lang="en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shorturl.at</a:t>
            </a:r>
            <a:r>
              <a:rPr lang="es-ES_tradnl" dirty="0"/>
              <a:t>/dm6fC </a:t>
            </a:r>
          </a:p>
        </p:txBody>
      </p:sp>
    </p:spTree>
    <p:extLst>
      <p:ext uri="{BB962C8B-B14F-4D97-AF65-F5344CB8AC3E}">
        <p14:creationId xmlns:p14="http://schemas.microsoft.com/office/powerpoint/2010/main" val="1827774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16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7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6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87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3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86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82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3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3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4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0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url.at/dm6f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009128" y="2167469"/>
            <a:ext cx="8540907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/>
              </a:rPr>
              <a:t>Concepto de Depreciación &amp; Amortización.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endParaRPr lang="es-CO" sz="200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/>
              </a:rPr>
              <a:t>¿Cómo se contabiliza una Depreciación?</a:t>
            </a:r>
            <a:endParaRPr lang="es-CO" sz="200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endParaRPr lang="es-CO" sz="200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/>
              </a:rPr>
              <a:t>El cálculo de la Depreciación.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endParaRPr lang="es-CO" sz="200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r>
              <a:rPr lang="es-CO" sz="2000">
                <a:solidFill>
                  <a:schemeClr val="accent1"/>
                </a:solidFill>
                <a:latin typeface="Century Gothic"/>
              </a:rPr>
              <a:t>¿Cuáles son los métodos de Depreciación?</a:t>
            </a:r>
            <a:endParaRPr lang="es-CO" sz="200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1"/>
              </a:solidFill>
              <a:latin typeface="Century Gothic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CO" sz="2000">
                <a:solidFill>
                  <a:schemeClr val="accent3">
                    <a:lumMod val="75000"/>
                  </a:schemeClr>
                </a:solidFill>
                <a:latin typeface="Century Gothic"/>
              </a:rPr>
              <a:t>4.1. </a:t>
            </a: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/>
              </a:rPr>
              <a:t>Método de Línea Recta.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1"/>
              </a:solidFill>
              <a:latin typeface="Century Gothic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CO" sz="2000">
                <a:solidFill>
                  <a:schemeClr val="accent3">
                    <a:lumMod val="75000"/>
                  </a:schemeClr>
                </a:solidFill>
                <a:latin typeface="Century Gothic"/>
              </a:rPr>
              <a:t>4.2. </a:t>
            </a: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/>
              </a:rPr>
              <a:t>Método Acelerado.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CO" sz="2000">
                <a:solidFill>
                  <a:schemeClr val="accent3">
                    <a:lumMod val="75000"/>
                  </a:schemeClr>
                </a:solidFill>
                <a:latin typeface="Century Gothic"/>
              </a:rPr>
              <a:t>4.3. </a:t>
            </a: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/>
              </a:rPr>
              <a:t>Método de Unidades Productivas.</a:t>
            </a:r>
            <a:endParaRPr lang="es-CO" sz="200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427A8A7-A921-1543-1A3C-32E34217BA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FFB1B2FC-B97D-A5C0-DAE5-C9484EF7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9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7399-728F-94C6-BE3A-D168CA5C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Trabajemos en un único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BD969-9069-C7A3-4906-56997E7D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https://shorturl.at/dm6fC</a:t>
            </a:r>
            <a:r>
              <a:rPr lang="es-ES_tradnl" sz="32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BEAD7-960E-2432-9C72-BE94B945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B9795-CC6F-83C3-66D4-AA24D6971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413" y="1902660"/>
            <a:ext cx="4527410" cy="452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6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5"/>
          <p:cNvSpPr/>
          <p:nvPr/>
        </p:nvSpPr>
        <p:spPr>
          <a:xfrm>
            <a:off x="2109219" y="1562679"/>
            <a:ext cx="7541310" cy="2199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algn="l" defTabSz="914400">
              <a:spcBef>
                <a:spcPts val="2000"/>
              </a:spcBef>
              <a:defRPr sz="240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</a:defRPr>
            </a:lvl1pPr>
          </a:lstStyle>
          <a:p>
            <a:pPr defTabSz="410771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endParaRPr lang="en-US" sz="1406">
              <a:solidFill>
                <a:srgbClr val="606060"/>
              </a:solidFill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143" y="2248626"/>
            <a:ext cx="9597358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42947">
              <a:spcBef>
                <a:spcPts val="1406"/>
              </a:spcBef>
              <a:buClr>
                <a:srgbClr val="BEBEBE"/>
              </a:buClr>
              <a:buSzPct val="125000"/>
              <a:defRPr sz="1800">
                <a:solidFill>
                  <a:srgbClr val="000000"/>
                </a:solidFill>
              </a:defRPr>
            </a:pPr>
            <a:r>
              <a:rPr lang="es-ES_tradnl" dirty="0">
                <a:solidFill>
                  <a:schemeClr val="accent1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Existen varios métodos de depreciación utilizados en el mundo. Pese a lo anterior, sólo se mostrarán tres métodos que serán suficientes para entender el concepto de depreciación y las diferentes formas de depreciar. </a:t>
            </a:r>
          </a:p>
          <a:p>
            <a:pPr algn="just" defTabSz="642947">
              <a:spcBef>
                <a:spcPts val="1406"/>
              </a:spcBef>
              <a:buClr>
                <a:srgbClr val="BEBEBE"/>
              </a:buClr>
              <a:buSzPct val="125000"/>
              <a:defRPr sz="1800">
                <a:solidFill>
                  <a:srgbClr val="000000"/>
                </a:solidFill>
              </a:defRPr>
            </a:pPr>
            <a:r>
              <a:rPr lang="es-ES_tradnl" dirty="0">
                <a:solidFill>
                  <a:schemeClr val="accent1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Cabe anotar que, aunque no son los únicos métodos existentes, sí </a:t>
            </a:r>
            <a:r>
              <a:rPr lang="es-ES_tradnl" b="1" dirty="0">
                <a:solidFill>
                  <a:srgbClr val="C00000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son los más utilizados en Colombia</a:t>
            </a:r>
            <a:r>
              <a:rPr lang="es-ES_tradnl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. </a:t>
            </a:r>
            <a:r>
              <a:rPr lang="es-ES_tradnl" dirty="0">
                <a:solidFill>
                  <a:schemeClr val="accent1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En este orden de ideas, los métodos pueden clasificarse así:</a:t>
            </a:r>
          </a:p>
          <a:p>
            <a:pPr marL="208012" indent="-208012" algn="just" defTabSz="642947">
              <a:spcBef>
                <a:spcPts val="1406"/>
              </a:spcBef>
              <a:buClr>
                <a:srgbClr val="BEBEBE"/>
              </a:buClr>
              <a:buSzPct val="125000"/>
              <a:buFontTx/>
              <a:buChar char="•"/>
              <a:defRPr sz="1800">
                <a:solidFill>
                  <a:srgbClr val="000000"/>
                </a:solidFill>
              </a:defRPr>
            </a:pPr>
            <a:endParaRPr lang="es-ES_tradnl" dirty="0">
              <a:solidFill>
                <a:schemeClr val="accent1"/>
              </a:solidFill>
              <a:uFill>
                <a:solidFill>
                  <a:srgbClr val="595959"/>
                </a:solidFill>
              </a:uFill>
              <a:latin typeface="Century Gothic" panose="020B0502020202020204" pitchFamily="34" charset="0"/>
            </a:endParaRPr>
          </a:p>
          <a:p>
            <a:pPr marL="637584" lvl="1" indent="-342900" algn="just" defTabSz="642947">
              <a:spcBef>
                <a:spcPts val="422"/>
              </a:spcBef>
              <a:buClr>
                <a:srgbClr val="D7A700"/>
              </a:buClr>
              <a:buSzPct val="125000"/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s-ES_tradnl" dirty="0">
                <a:solidFill>
                  <a:schemeClr val="accent1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Método Lineal (Línea Recta).</a:t>
            </a:r>
          </a:p>
          <a:p>
            <a:pPr marL="637584" lvl="1" indent="-342900" algn="just" defTabSz="642947">
              <a:spcBef>
                <a:spcPts val="422"/>
              </a:spcBef>
              <a:buClr>
                <a:srgbClr val="D7A700"/>
              </a:buClr>
              <a:buSzPct val="125000"/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s-ES_tradnl" dirty="0">
                <a:solidFill>
                  <a:schemeClr val="accent1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Método Acelerado: Reducción de Saldos.</a:t>
            </a:r>
          </a:p>
          <a:p>
            <a:pPr marL="637584" lvl="1" indent="-342900" algn="just" defTabSz="642947">
              <a:spcBef>
                <a:spcPts val="422"/>
              </a:spcBef>
              <a:buClr>
                <a:srgbClr val="D7A700"/>
              </a:buClr>
              <a:buSzPct val="125000"/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s-ES_tradnl" dirty="0">
                <a:solidFill>
                  <a:schemeClr val="accent1"/>
                </a:solidFill>
                <a:uFill>
                  <a:solidFill>
                    <a:srgbClr val="595959"/>
                  </a:solidFill>
                </a:uFill>
                <a:latin typeface="Century Gothic" panose="020B0502020202020204" pitchFamily="34" charset="0"/>
              </a:rPr>
              <a:t>Método de Unidades Productivas.</a:t>
            </a:r>
          </a:p>
          <a:p>
            <a:pPr marL="241105" indent="-241105" algn="just" defTabSz="642947">
              <a:spcBef>
                <a:spcPts val="1406"/>
              </a:spcBef>
              <a:buClr>
                <a:srgbClr val="BEBEBE"/>
              </a:buClr>
              <a:buSzPct val="125000"/>
              <a:buFont typeface="Arial"/>
              <a:buChar char="•"/>
              <a:defRPr sz="1800">
                <a:solidFill>
                  <a:srgbClr val="000000"/>
                </a:solidFill>
              </a:defRPr>
            </a:pPr>
            <a:endParaRPr lang="es-ES_tradnl" sz="2000" dirty="0">
              <a:solidFill>
                <a:srgbClr val="595959"/>
              </a:solidFill>
              <a:uFill>
                <a:solidFill>
                  <a:srgbClr val="595959"/>
                </a:solidFill>
              </a:u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993C8B-01D6-7A76-D091-831771AB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19" y="732616"/>
            <a:ext cx="11029616" cy="1013800"/>
          </a:xfrm>
        </p:spPr>
        <p:txBody>
          <a:bodyPr/>
          <a:lstStyle/>
          <a:p>
            <a:r>
              <a:rPr lang="es-ES"/>
              <a:t>¿Cuáles son los métodos de depreciación?</a:t>
            </a:r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803E2CC-3A36-9A21-0F26-1697842355A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7A094A3F-7D98-98BF-B0ED-6EF4F1E38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ategoría «Depreciación» de imágenes, fotos de stock e ilustraciones libres  de regalías | Shutterstock">
            <a:extLst>
              <a:ext uri="{FF2B5EF4-FFF2-40B4-BE49-F238E27FC236}">
                <a16:creationId xmlns:a16="http://schemas.microsoft.com/office/drawing/2014/main" id="{6604A6A4-9E3A-8F9B-FDB8-6F0148FB31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59"/>
          <a:stretch/>
        </p:blipFill>
        <p:spPr bwMode="auto">
          <a:xfrm>
            <a:off x="7636440" y="4282311"/>
            <a:ext cx="3055926" cy="171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7DAC3AF-CA9F-4329-CE2E-79C71118092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37DD5A-D959-CE91-297C-E0EF8265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00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55615" y="1618911"/>
            <a:ext cx="10280769" cy="1480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Consiste en depreciar el activo de manera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constante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 lo largo de su vida útil. Es decir, nominalmente el activo pierde el mismo valor por periodo (Anualidad). 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3261412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3863554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4518606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5213341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848551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6484313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7161472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7754182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8316638" y="358505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073359" y="5006267"/>
            <a:ext cx="21194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>
                <a:solidFill>
                  <a:schemeClr val="accent1"/>
                </a:solidFill>
                <a:latin typeface="Century Gothic" panose="020B0502020202020204" pitchFamily="34" charset="0"/>
              </a:rPr>
              <a:t>Depreciación del periodo</a:t>
            </a:r>
          </a:p>
        </p:txBody>
      </p:sp>
      <p:sp>
        <p:nvSpPr>
          <p:cNvPr id="20" name="Abrir llave 19"/>
          <p:cNvSpPr/>
          <p:nvPr/>
        </p:nvSpPr>
        <p:spPr>
          <a:xfrm rot="5400000">
            <a:off x="5774041" y="547065"/>
            <a:ext cx="299544" cy="554323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851224" y="2833613"/>
            <a:ext cx="2310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>
                <a:solidFill>
                  <a:schemeClr val="accent1"/>
                </a:solidFill>
                <a:latin typeface="Century Gothic" panose="020B0502020202020204" pitchFamily="34" charset="0"/>
              </a:rPr>
              <a:t>Valor a depreciar del Activo</a:t>
            </a:r>
          </a:p>
        </p:txBody>
      </p:sp>
      <p:sp>
        <p:nvSpPr>
          <p:cNvPr id="22" name="Abrir llave 21"/>
          <p:cNvSpPr/>
          <p:nvPr/>
        </p:nvSpPr>
        <p:spPr>
          <a:xfrm rot="5400000" flipH="1">
            <a:off x="3155519" y="4904146"/>
            <a:ext cx="364622" cy="4748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23" name="Abrir llave 22"/>
          <p:cNvSpPr/>
          <p:nvPr/>
        </p:nvSpPr>
        <p:spPr>
          <a:xfrm rot="5400000" flipH="1">
            <a:off x="3450541" y="4973747"/>
            <a:ext cx="364622" cy="106492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24" name="Abrir llave 23"/>
          <p:cNvSpPr/>
          <p:nvPr/>
        </p:nvSpPr>
        <p:spPr>
          <a:xfrm rot="5400000" flipH="1">
            <a:off x="3715581" y="5070643"/>
            <a:ext cx="364622" cy="168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100392" y="6127369"/>
            <a:ext cx="2143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>
                <a:solidFill>
                  <a:schemeClr val="accent1"/>
                </a:solidFill>
                <a:latin typeface="Century Gothic" panose="020B0502020202020204" pitchFamily="34" charset="0"/>
              </a:rPr>
              <a:t>Depreciación Acumulada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4791370" y="55803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60AA08E-F10F-4198-BF7C-57DA66096E87}"/>
              </a:ext>
            </a:extLst>
          </p:cNvPr>
          <p:cNvSpPr txBox="1"/>
          <p:nvPr/>
        </p:nvSpPr>
        <p:spPr>
          <a:xfrm>
            <a:off x="7454415" y="6127368"/>
            <a:ext cx="2507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>
                <a:solidFill>
                  <a:schemeClr val="accent1"/>
                </a:solidFill>
                <a:latin typeface="Century Gothic" panose="020B0502020202020204" pitchFamily="34" charset="0"/>
              </a:rPr>
              <a:t>Estado de Situación Financiera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1DCF9BE-FFD1-4779-93C4-C6DE874746B7}"/>
              </a:ext>
            </a:extLst>
          </p:cNvPr>
          <p:cNvSpPr txBox="1"/>
          <p:nvPr/>
        </p:nvSpPr>
        <p:spPr>
          <a:xfrm>
            <a:off x="7454415" y="5003084"/>
            <a:ext cx="1762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Estado de Resultados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80EC580-4A52-4920-B5AB-CCA58C681ED9}"/>
              </a:ext>
            </a:extLst>
          </p:cNvPr>
          <p:cNvCxnSpPr>
            <a:stCxn id="5" idx="3"/>
            <a:endCxn id="31" idx="1"/>
          </p:cNvCxnSpPr>
          <p:nvPr/>
        </p:nvCxnSpPr>
        <p:spPr>
          <a:xfrm flipV="1">
            <a:off x="7192850" y="5141584"/>
            <a:ext cx="261565" cy="3183"/>
          </a:xfrm>
          <a:prstGeom prst="straightConnector1">
            <a:avLst/>
          </a:prstGeom>
          <a:ln w="28575">
            <a:solidFill>
              <a:schemeClr val="accent5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D16BFBD-C6B5-4013-B397-CB8D2DE884CE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 flipV="1">
            <a:off x="5243928" y="6265868"/>
            <a:ext cx="2210487" cy="1"/>
          </a:xfrm>
          <a:prstGeom prst="straightConnector1">
            <a:avLst/>
          </a:prstGeom>
          <a:ln w="28575">
            <a:solidFill>
              <a:schemeClr val="accent5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F9EE31-E7E5-214F-88A1-60B5122DD88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2" name="Picture 2" descr="Clientes y aliados | Centro de Evaluación | Uniandes">
            <a:extLst>
              <a:ext uri="{FF2B5EF4-FFF2-40B4-BE49-F238E27FC236}">
                <a16:creationId xmlns:a16="http://schemas.microsoft.com/office/drawing/2014/main" id="{31F8DA33-BFDE-8928-1341-9F78B898C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3B7EF7E-4485-1932-DFAD-8839FF2582B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195507-11DF-C842-83D5-D598F9A5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52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5" grpId="0"/>
      <p:bldP spid="20" grpId="0" animBg="1"/>
      <p:bldP spid="21" grpId="0"/>
      <p:bldP spid="22" grpId="0" animBg="1"/>
      <p:bldP spid="23" grpId="0" animBg="1"/>
      <p:bldP spid="24" grpId="0" animBg="1"/>
      <p:bldP spid="25" grpId="0"/>
      <p:bldP spid="26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70351" y="1643485"/>
            <a:ext cx="10187635" cy="1480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Consiste en depreciar el activo de manera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constante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a lo largo de su vida útil. Es decir, nominalmente el activo pierde el mismo valor por periodo (Anualidad). 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B22458C-5775-45BE-AF85-63F9565D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930" y="3824749"/>
            <a:ext cx="7818208" cy="26129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0304288-359D-4EB0-932C-70A60236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28" y="4474140"/>
            <a:ext cx="7014044" cy="27534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FBC567DC-6B24-433D-8742-6F1992C2C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928" y="2922502"/>
            <a:ext cx="7460483" cy="59876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A6F290E-5053-4CE0-B78C-ADED6E8A5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964" y="5177600"/>
            <a:ext cx="1511254" cy="17144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0A8AE56-4C84-48A5-86C8-CE70D7198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331" y="5425306"/>
            <a:ext cx="1428027" cy="216573"/>
          </a:xfrm>
          <a:prstGeom prst="rect">
            <a:avLst/>
          </a:prstGeom>
        </p:spPr>
      </p:pic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371FCA3-3CDC-4672-AB27-7CD8EBE9410E}"/>
              </a:ext>
            </a:extLst>
          </p:cNvPr>
          <p:cNvCxnSpPr/>
          <p:nvPr/>
        </p:nvCxnSpPr>
        <p:spPr>
          <a:xfrm>
            <a:off x="3158319" y="4757133"/>
            <a:ext cx="0" cy="420467"/>
          </a:xfrm>
          <a:prstGeom prst="straightConnector1">
            <a:avLst/>
          </a:prstGeom>
          <a:ln w="38100">
            <a:solidFill>
              <a:srgbClr val="D7A7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3EC9FA8-7A86-44B6-BD69-B9DBC767EB45}"/>
              </a:ext>
            </a:extLst>
          </p:cNvPr>
          <p:cNvSpPr txBox="1"/>
          <p:nvPr/>
        </p:nvSpPr>
        <p:spPr>
          <a:xfrm>
            <a:off x="1976104" y="5234302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5">
                    <a:lumMod val="25000"/>
                  </a:schemeClr>
                </a:solidFill>
                <a:latin typeface="Century Gothic" panose="020B0502020202020204" pitchFamily="34" charset="0"/>
                <a:cs typeface="Times New Roman"/>
              </a:rPr>
              <a:t>Valor Activo Neto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7CA805-5250-E6C9-1FBD-CCB6BF15B88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8D5F2A2A-CFF4-C021-674C-517168BAE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CA33030-A0EE-5570-AE85-9BFCF987C7B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F092AC87-4562-74FD-E34B-9F363578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03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3334647"/>
            <a:ext cx="5627696" cy="234066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adquiere, por COP $80.000.000, un 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chiller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para el Centro Comercial San Rafael.</a:t>
            </a: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Según el experto técnico, la vida útil de dicha máquina es de 10 años. Así mismo, espera que en 10 años la máquina se pueda vender a COP $10.000.000 (Valor de Salvamento).</a:t>
            </a:r>
          </a:p>
          <a:p>
            <a:pPr marL="0" indent="0" algn="ctr">
              <a:buNone/>
            </a:pPr>
            <a:r>
              <a:rPr lang="es-CO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Si su asesor contable le indica que deprecie por el Método de Línea Recta, </a:t>
            </a:r>
            <a:r>
              <a:rPr lang="es-ES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¿cuál es la Depreciación Periódica y la Depreciación Acumulada del Chiller?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AD9136-5760-44FE-9788-0D83CA3C4F7E}"/>
              </a:ext>
            </a:extLst>
          </p:cNvPr>
          <p:cNvSpPr/>
          <p:nvPr/>
        </p:nvSpPr>
        <p:spPr>
          <a:xfrm>
            <a:off x="581193" y="2074004"/>
            <a:ext cx="1359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>
                <a:solidFill>
                  <a:srgbClr val="C00000"/>
                </a:solidFill>
                <a:latin typeface="Century Gothic" panose="020B0502020202020204" pitchFamily="34" charset="0"/>
              </a:rPr>
              <a:t>Ejemplo 1</a:t>
            </a:r>
            <a:r>
              <a:rPr lang="es-ES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endParaRPr lang="es-CO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17441-F491-4642-B969-7DB4A76B2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39940">
            <a:off x="6835322" y="2592201"/>
            <a:ext cx="4054555" cy="30409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60BC292-15EE-0473-7C4A-3DAFDBDAE6E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Picture 2" descr="Clientes y aliados | Centro de Evaluación | Uniandes">
            <a:extLst>
              <a:ext uri="{FF2B5EF4-FFF2-40B4-BE49-F238E27FC236}">
                <a16:creationId xmlns:a16="http://schemas.microsoft.com/office/drawing/2014/main" id="{85F15D8C-E3FA-D630-8D7C-D2AC3D90F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E26EC8C-5B52-FEBC-DEA0-61FD9A7FDB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41ACB62D-8329-99D3-8C2A-EA4D92FA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85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877640"/>
              </p:ext>
            </p:extLst>
          </p:nvPr>
        </p:nvGraphicFramePr>
        <p:xfrm>
          <a:off x="1552050" y="2666272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491A8DFE-C264-4FDF-A774-DC3B1D40E81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EE6E5A6A-8F61-BAC1-7C72-C6CBBDBAA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EE1797D-10AC-94E3-F150-621C7F17550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192476A-8464-FA88-56D7-ADD0103F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124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038970"/>
              </p:ext>
            </p:extLst>
          </p:nvPr>
        </p:nvGraphicFramePr>
        <p:xfrm>
          <a:off x="1552050" y="2666272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4AA0209D-C19A-1CA0-F61F-3F294E95878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6E402475-B55A-98E2-9108-F20E890CE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EF0102E-CE61-3552-DBF0-591C9B982E8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4B9DC1B9-ADA9-D98B-644A-7FE166B5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11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715383"/>
              </p:ext>
            </p:extLst>
          </p:nvPr>
        </p:nvGraphicFramePr>
        <p:xfrm>
          <a:off x="1552050" y="2666272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1E94FFE9-1737-FAA8-6786-56D6CEEFC61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98652688-7EF7-BBC0-5EA3-A718C3CE5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41C98F4-038B-5432-2AD8-AC282672C75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CB04AD93-AEA9-3051-75A6-0B4938CE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48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59283"/>
              </p:ext>
            </p:extLst>
          </p:nvPr>
        </p:nvGraphicFramePr>
        <p:xfrm>
          <a:off x="1552050" y="2666272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14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66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E1805876-0583-04A6-E7CA-0158E5B762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F9EA1613-3E13-CF34-854E-E2A2DA467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9532494-F9EB-6014-D4ED-602685851DF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B9ECEAB9-2792-5A19-D37D-7E375CDF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0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799095"/>
              </p:ext>
            </p:extLst>
          </p:nvPr>
        </p:nvGraphicFramePr>
        <p:xfrm>
          <a:off x="1552050" y="2666272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14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21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56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66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31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24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10 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ED8227E4-21AE-FAA2-2AAE-4A92CE2E045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18C72C4A-58BD-E128-15E7-6EE41A9A5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40BCDD4-8B67-8847-CD14-27A528DC61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F45C22A-C799-26A8-1AA3-505C19D1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706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1. Método de línea recta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432289"/>
              </p:ext>
            </p:extLst>
          </p:nvPr>
        </p:nvGraphicFramePr>
        <p:xfrm>
          <a:off x="1552050" y="2666272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14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21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56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66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31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24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 10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DA015C8E-F526-69CF-FA54-0957690A8B1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E1A5B34B-C595-417E-BA3E-5EEA1FE06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2157765-ACB0-F371-0435-CD23B52CFA1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D6C3FAEB-D451-E3EE-7DF5-B50800D5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545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936458" y="2175935"/>
            <a:ext cx="8540907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</a:rPr>
              <a:t>Concepto de Depreciación &amp; Amortización.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endParaRPr lang="es-CO" sz="200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</a:rPr>
              <a:t>¿Cómo se contabiliza una Depreciación?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endParaRPr lang="es-CO" sz="200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</a:rPr>
              <a:t>El cálculo de la Depreciación.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endParaRPr lang="es-CO" sz="200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AutoNum type="arabicPeriod"/>
            </a:pP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</a:rPr>
              <a:t>¿Cuáles son los métodos de Depreciación?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CO" sz="200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4.1. </a:t>
            </a: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</a:rPr>
              <a:t>Método de Línea Recta.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CO" sz="200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4.2. 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Método Acelerado.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CO" sz="200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4.3. </a:t>
            </a:r>
            <a:r>
              <a:rPr lang="es-CO" sz="200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</a:rPr>
              <a:t>Método de Unidades Productivas.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sz="2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B8447CB-966F-A7C6-A301-81ABBFDB1AC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EF690A78-9E3D-0363-1F93-FE03589C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0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0363" y="2363984"/>
            <a:ext cx="6814860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método consiste en depreciar el activo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aceleradamente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; es decir, </a:t>
            </a:r>
            <a:r>
              <a:rPr lang="es-ES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al inicio de su vida útil se deprecia un mayor porcentaje del activo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y a medida que pasa el tiempo se deprecia en menor proporción. 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El método acelerado más comúnmente usado es: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 de Reducción de Saldos.</a:t>
            </a:r>
          </a:p>
          <a:p>
            <a:pPr algn="just"/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52F79D-FD2A-4E0D-A09A-83A13FED8D48}"/>
              </a:ext>
            </a:extLst>
          </p:cNvPr>
          <p:cNvSpPr/>
          <p:nvPr/>
        </p:nvSpPr>
        <p:spPr>
          <a:xfrm>
            <a:off x="7825545" y="2487878"/>
            <a:ext cx="119050" cy="2368063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55FF4E-1CA8-4FF3-ACD1-05A56C0DCEF4}"/>
              </a:ext>
            </a:extLst>
          </p:cNvPr>
          <p:cNvSpPr/>
          <p:nvPr/>
        </p:nvSpPr>
        <p:spPr>
          <a:xfrm>
            <a:off x="8272589" y="3109662"/>
            <a:ext cx="119050" cy="1746281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FD8E77-1AB5-4524-A045-DA0C9D30BF43}"/>
              </a:ext>
            </a:extLst>
          </p:cNvPr>
          <p:cNvSpPr/>
          <p:nvPr/>
        </p:nvSpPr>
        <p:spPr>
          <a:xfrm>
            <a:off x="8716272" y="3440394"/>
            <a:ext cx="119050" cy="14155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5B7C98-C7CC-451B-A4BD-4E56A16E2968}"/>
              </a:ext>
            </a:extLst>
          </p:cNvPr>
          <p:cNvSpPr/>
          <p:nvPr/>
        </p:nvSpPr>
        <p:spPr>
          <a:xfrm>
            <a:off x="9172908" y="3797590"/>
            <a:ext cx="119050" cy="1058352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943227A-CC8D-4DBF-9657-5793E8748552}"/>
              </a:ext>
            </a:extLst>
          </p:cNvPr>
          <p:cNvSpPr/>
          <p:nvPr/>
        </p:nvSpPr>
        <p:spPr>
          <a:xfrm>
            <a:off x="9629541" y="4115094"/>
            <a:ext cx="119050" cy="740846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6D8483-B440-493C-B5A5-452288E7C347}"/>
              </a:ext>
            </a:extLst>
          </p:cNvPr>
          <p:cNvSpPr/>
          <p:nvPr/>
        </p:nvSpPr>
        <p:spPr>
          <a:xfrm>
            <a:off x="10059723" y="4273849"/>
            <a:ext cx="119050" cy="582093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7A12A5-DAEE-44EB-8E42-AB1D4C856C2E}"/>
              </a:ext>
            </a:extLst>
          </p:cNvPr>
          <p:cNvSpPr/>
          <p:nvPr/>
        </p:nvSpPr>
        <p:spPr>
          <a:xfrm>
            <a:off x="10476674" y="4419372"/>
            <a:ext cx="119050" cy="436570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B3CA47-8298-4157-84BC-95DC915205AB}"/>
              </a:ext>
            </a:extLst>
          </p:cNvPr>
          <p:cNvSpPr/>
          <p:nvPr/>
        </p:nvSpPr>
        <p:spPr>
          <a:xfrm>
            <a:off x="10867172" y="4538437"/>
            <a:ext cx="119050" cy="317505"/>
          </a:xfrm>
          <a:prstGeom prst="rect">
            <a:avLst/>
          </a:prstGeom>
          <a:solidFill>
            <a:srgbClr val="FF9300"/>
          </a:solidFill>
          <a:ln>
            <a:solidFill>
              <a:srgbClr val="94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2DD9B4-3F89-4FE0-AF16-6FEB731FE794}"/>
              </a:ext>
            </a:extLst>
          </p:cNvPr>
          <p:cNvSpPr txBox="1"/>
          <p:nvPr/>
        </p:nvSpPr>
        <p:spPr>
          <a:xfrm>
            <a:off x="8967696" y="4855943"/>
            <a:ext cx="1620957" cy="229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90">
                <a:solidFill>
                  <a:schemeClr val="accent1"/>
                </a:solidFill>
                <a:latin typeface="Century Gothic" panose="020B0502020202020204" pitchFamily="34" charset="0"/>
              </a:rPr>
              <a:t>Depreciación del periodo</a:t>
            </a: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79F4AB75-495F-4198-8FED-994AA0D57E24}"/>
              </a:ext>
            </a:extLst>
          </p:cNvPr>
          <p:cNvSpPr/>
          <p:nvPr/>
        </p:nvSpPr>
        <p:spPr>
          <a:xfrm rot="5400000">
            <a:off x="9201226" y="663103"/>
            <a:ext cx="305813" cy="34017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2592BBB-87D9-49E0-A507-4B1982AA7447}"/>
              </a:ext>
            </a:extLst>
          </p:cNvPr>
          <p:cNvSpPr txBox="1"/>
          <p:nvPr/>
        </p:nvSpPr>
        <p:spPr>
          <a:xfrm>
            <a:off x="8591106" y="1926927"/>
            <a:ext cx="1760418" cy="229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90">
                <a:solidFill>
                  <a:schemeClr val="accent1"/>
                </a:solidFill>
                <a:latin typeface="Century Gothic" panose="020B0502020202020204" pitchFamily="34" charset="0"/>
              </a:rPr>
              <a:t>Valor a depreciar del Activo</a:t>
            </a:r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32421B50-A642-46CF-AC11-C2CE2B0EF98D}"/>
              </a:ext>
            </a:extLst>
          </p:cNvPr>
          <p:cNvSpPr/>
          <p:nvPr/>
        </p:nvSpPr>
        <p:spPr>
          <a:xfrm rot="5400000" flipH="1">
            <a:off x="7708380" y="4813794"/>
            <a:ext cx="364622" cy="4748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7" name="Abrir llave 16">
            <a:extLst>
              <a:ext uri="{FF2B5EF4-FFF2-40B4-BE49-F238E27FC236}">
                <a16:creationId xmlns:a16="http://schemas.microsoft.com/office/drawing/2014/main" id="{394D3291-4BD6-47A0-834E-9C07A3D2C255}"/>
              </a:ext>
            </a:extLst>
          </p:cNvPr>
          <p:cNvSpPr/>
          <p:nvPr/>
        </p:nvSpPr>
        <p:spPr>
          <a:xfrm rot="5400000" flipH="1">
            <a:off x="8003402" y="4883394"/>
            <a:ext cx="364622" cy="106492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D5CF9C7E-E699-448C-A9BA-951FB5425546}"/>
              </a:ext>
            </a:extLst>
          </p:cNvPr>
          <p:cNvSpPr/>
          <p:nvPr/>
        </p:nvSpPr>
        <p:spPr>
          <a:xfrm rot="5400000" flipH="1">
            <a:off x="8311845" y="4893107"/>
            <a:ext cx="364622" cy="168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890">
              <a:solidFill>
                <a:schemeClr val="accent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36B8BA9-7212-4C44-862B-AA7512C3730E}"/>
              </a:ext>
            </a:extLst>
          </p:cNvPr>
          <p:cNvSpPr txBox="1"/>
          <p:nvPr/>
        </p:nvSpPr>
        <p:spPr>
          <a:xfrm>
            <a:off x="7832476" y="5926040"/>
            <a:ext cx="1638590" cy="229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90">
                <a:solidFill>
                  <a:schemeClr val="accent1"/>
                </a:solidFill>
                <a:latin typeface="Century Gothic" panose="020B0502020202020204" pitchFamily="34" charset="0"/>
              </a:rPr>
              <a:t>Depreciación Acumulada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CB946DF-DA26-71D4-46BC-83F8EE1A57D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7" name="Picture 2" descr="Clientes y aliados | Centro de Evaluación | Uniandes">
            <a:extLst>
              <a:ext uri="{FF2B5EF4-FFF2-40B4-BE49-F238E27FC236}">
                <a16:creationId xmlns:a16="http://schemas.microsoft.com/office/drawing/2014/main" id="{70420CD2-D9C4-CF98-1904-A270AAB26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420F1232-4293-B525-D114-70FD9B7570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73B064-D529-6050-F035-D9B5832A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58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139" y="3940130"/>
            <a:ext cx="7818208" cy="261295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221" y="4819176"/>
            <a:ext cx="7014044" cy="27534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315" y="2816901"/>
            <a:ext cx="8261661" cy="710189"/>
          </a:xfrm>
          <a:prstGeom prst="rect">
            <a:avLst/>
          </a:prstGeom>
        </p:spPr>
      </p:pic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B1D20092-ECEA-4294-992F-35F7896CD0BD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D7A7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01FAFE8-4ECC-36AD-B9B5-E16AC2C9FBD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407BA993-BE4B-65B3-5174-CE8AF17A7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4304BB8-25C1-F2AD-4A26-DFED6165AB1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1F290C9-BC27-CC3A-FC4F-F8638F20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96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3700143"/>
            <a:ext cx="5627696" cy="234066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adquiere, por COP $80.000.000, un 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chiller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para el Centro Comercial San Rafael.</a:t>
            </a: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Según el experto técnico, la vida útil de dicha máquina es de 10 años. Así mismo, espera que en 10 años la máquina se pueda vender a COP $10.000.000 (Valor de Salvamento).</a:t>
            </a:r>
          </a:p>
          <a:p>
            <a:pPr marL="0" indent="0" algn="ctr">
              <a:buNone/>
            </a:pPr>
            <a:r>
              <a:rPr lang="es-CO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Si su asesor contable le indica que deprecie por el Método de Reducción de Saldos, </a:t>
            </a:r>
            <a:r>
              <a:rPr lang="es-ES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¿cuál es la Depreciación Periódica y la Depreciación Acumulada del Chiller?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AD9136-5760-44FE-9788-0D83CA3C4F7E}"/>
              </a:ext>
            </a:extLst>
          </p:cNvPr>
          <p:cNvSpPr/>
          <p:nvPr/>
        </p:nvSpPr>
        <p:spPr>
          <a:xfrm>
            <a:off x="581192" y="2570738"/>
            <a:ext cx="1342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>
                <a:solidFill>
                  <a:srgbClr val="C00000"/>
                </a:solidFill>
                <a:latin typeface="Century Gothic" panose="020B0502020202020204" pitchFamily="34" charset="0"/>
              </a:rPr>
              <a:t>Ejemplo 2</a:t>
            </a:r>
            <a:r>
              <a:rPr lang="es-ES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endParaRPr lang="es-CO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17441-F491-4642-B969-7DB4A76B2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39940">
            <a:off x="6835322" y="2592201"/>
            <a:ext cx="4054555" cy="30409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1D52B9ED-2FE1-4C0B-9A0F-B67FEC59CDD3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A6B3AE-146E-D36F-7C4E-B643E9C1AE6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Picture 2" descr="Clientes y aliados | Centro de Evaluación | Uniandes">
            <a:extLst>
              <a:ext uri="{FF2B5EF4-FFF2-40B4-BE49-F238E27FC236}">
                <a16:creationId xmlns:a16="http://schemas.microsoft.com/office/drawing/2014/main" id="{C7EA8D3E-1E0B-D434-A353-F62F36B8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39E8AF0-B906-8E27-9FAA-D2F2A0F43FB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4B8F63-0781-38CD-E33B-B306334E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04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913198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6E55186-EB60-42BE-9A52-4A04B906D19F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5024FA-18D8-F995-74BE-36AE00D20FF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5C92C208-DBB6-E46B-AC35-631CB57F9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ACD5DD1-1525-1AA5-ABFB-1D293BC880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140341D-6701-65FA-7DAE-36A08980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519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55590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0B3A94A-8FF4-4BBD-815D-E093D4739D80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FE92F2-FCD3-EDCF-B278-65BC181B37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10DCD3F1-390C-CDF1-2331-C132CC5DE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FC2C53F-AF08-0B83-0C2B-71C130C2DD0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3D8F5001-886D-D962-F027-ACDD2AFD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19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00722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0DB7FD4-6200-45F4-8392-F93DD41C5DF4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175D17-B1E9-77FE-7F24-2E39D13F13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3788AE44-B887-A706-C34D-44AD9910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BA12C75-2E84-1E64-FFED-C65B2631E9A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7EFCB3D-62AE-8813-2211-A0A588FD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100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778791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12,2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27,2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52,8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F59000E-AC28-47B1-9F82-9BFCB8B9AA57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5BC54BE-BD4A-C694-997D-98D47F4412E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129051B9-1713-C32A-B246-B3C8D17A5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18F72BE-7288-6B7D-8268-EC0966B7212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391C9437-A15F-D7BB-7422-BBA4B9DF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60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805813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12,2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9,9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6,5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3,5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2,3 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27,2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37,1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45,2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51,7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57,0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61,3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64,8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67,7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52,8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42,9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34,8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28,3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23,0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18,7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12,3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10,0 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32ED49-3ECF-4E2C-999E-76FF78EC85FB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FF1B6F-2F95-931D-B7ED-9A2FB0AEBFF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A0ECECF3-0101-7F2B-6A3D-1827F6E44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C5B675-72BF-FA7F-BD1C-C6FE24F4B90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C5DF7E7-95FB-685A-C940-B8F8F5EC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07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2. Método Acelerado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70645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12,2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9,9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6,5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3,5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2,3 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27,2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37,1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45,2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51,7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57,0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61,3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64,8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67,7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65,0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52,8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42,9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34,8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28,3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23,0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18,7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15,2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12,3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 10,0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CB98BDD-9B06-4377-A8D2-1C213CC206AB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Método de Reducción de Saldos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1CEF04-EE02-CE97-5CB3-B17C1F41B5B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E8C273DD-FB01-F089-891A-37BE144B5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E6C2670-D60A-1E9C-CBE7-45E59B851E6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561749F-E60F-38C1-25FD-84737B45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535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6D28DFB-F80B-D3FC-AADF-792FD4853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94" y="1947616"/>
            <a:ext cx="11044409" cy="1179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El objetivo del método de unidades productivas es </a:t>
            </a:r>
            <a:r>
              <a:rPr lang="es-ES" b="1" dirty="0">
                <a:solidFill>
                  <a:srgbClr val="C00000"/>
                </a:solidFill>
                <a:latin typeface="Century Gothic"/>
              </a:rPr>
              <a:t>depreciar a un cargo basado en la utilización o producción esperada.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1BE27AA-7EA4-4EC8-DB8B-EDB47E343E3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8512C0BE-8C7A-D567-D7BD-EC8CAD6DE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3472F67-946C-DDCF-6E11-D51E5626E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912" y="4492511"/>
            <a:ext cx="7818208" cy="261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FF4B39D-6D57-79F6-344C-9A2A6D2FB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407" y="5152964"/>
            <a:ext cx="7014044" cy="275344"/>
          </a:xfrm>
          <a:prstGeom prst="rect">
            <a:avLst/>
          </a:prstGeom>
        </p:spPr>
      </p:pic>
      <p:pic>
        <p:nvPicPr>
          <p:cNvPr id="17" name="Imagen 16" descr="Imagen que contiene Logotipo&#10;&#10;El contenido generado por inteligencia artificial puede ser incorrecto.">
            <a:extLst>
              <a:ext uri="{FF2B5EF4-FFF2-40B4-BE49-F238E27FC236}">
                <a16:creationId xmlns:a16="http://schemas.microsoft.com/office/drawing/2014/main" id="{A31188F6-28C8-177D-443A-8157CDA1B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34" y="3358929"/>
            <a:ext cx="8745058" cy="5801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F947E2F-E71D-AC23-2F74-5F4E84C4D1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91A8984-93E9-1AD0-6629-8FAEA2B3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09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AD9136-5760-44FE-9788-0D83CA3C4F7E}"/>
              </a:ext>
            </a:extLst>
          </p:cNvPr>
          <p:cNvSpPr/>
          <p:nvPr/>
        </p:nvSpPr>
        <p:spPr>
          <a:xfrm>
            <a:off x="581192" y="1895172"/>
            <a:ext cx="1342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>
                <a:solidFill>
                  <a:srgbClr val="C00000"/>
                </a:solidFill>
                <a:latin typeface="Century Gothic" panose="020B0502020202020204" pitchFamily="34" charset="0"/>
              </a:rPr>
              <a:t>Ejemplo 3</a:t>
            </a:r>
            <a:r>
              <a:rPr lang="es-ES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endParaRPr lang="es-CO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17441-F491-4642-B969-7DB4A76B2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39940">
            <a:off x="8325291" y="2858446"/>
            <a:ext cx="3531514" cy="2648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E3F8031-6F9D-6806-681A-655FFE2914A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Picture 2" descr="Clientes y aliados | Centro de Evaluación | Uniandes">
            <a:extLst>
              <a:ext uri="{FF2B5EF4-FFF2-40B4-BE49-F238E27FC236}">
                <a16:creationId xmlns:a16="http://schemas.microsoft.com/office/drawing/2014/main" id="{6C595EC2-1922-9802-7A47-A83379EAF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B5913F9-46E0-6914-E003-C9872DA6922B}"/>
              </a:ext>
            </a:extLst>
          </p:cNvPr>
          <p:cNvSpPr txBox="1"/>
          <p:nvPr/>
        </p:nvSpPr>
        <p:spPr>
          <a:xfrm>
            <a:off x="515197" y="2334012"/>
            <a:ext cx="75027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adquiere, por COP $80.000.000, un 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chiller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para el Centro Comercial San Rafael.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Según el experto técnico, la vida útil de dicha máquina es de 10 años. Así mismo, espera que en 10 años la máquina se pueda vender a COP $10.000.000 (Valor de Salvamento).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marL="0" indent="0" algn="ctr">
              <a:spcBef>
                <a:spcPts val="20"/>
              </a:spcBef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Por otro lado, se estima que durante su vida útil el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chiller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 enfriaría unos 20.000 litros de líquido y que el número de litros enfriados cada año sería el siguiente: 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7A9B4FE9-2C20-9896-717C-7CB5C86D9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096366"/>
              </p:ext>
            </p:extLst>
          </p:nvPr>
        </p:nvGraphicFramePr>
        <p:xfrm>
          <a:off x="641965" y="5189108"/>
          <a:ext cx="7191356" cy="7166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3023">
                  <a:extLst>
                    <a:ext uri="{9D8B030D-6E8A-4147-A177-3AD203B41FA5}">
                      <a16:colId xmlns:a16="http://schemas.microsoft.com/office/drawing/2014/main" val="2032322659"/>
                    </a:ext>
                  </a:extLst>
                </a:gridCol>
                <a:gridCol w="433702">
                  <a:extLst>
                    <a:ext uri="{9D8B030D-6E8A-4147-A177-3AD203B41FA5}">
                      <a16:colId xmlns:a16="http://schemas.microsoft.com/office/drawing/2014/main" val="416869394"/>
                    </a:ext>
                  </a:extLst>
                </a:gridCol>
                <a:gridCol w="578501">
                  <a:extLst>
                    <a:ext uri="{9D8B030D-6E8A-4147-A177-3AD203B41FA5}">
                      <a16:colId xmlns:a16="http://schemas.microsoft.com/office/drawing/2014/main" val="803836604"/>
                    </a:ext>
                  </a:extLst>
                </a:gridCol>
                <a:gridCol w="686288">
                  <a:extLst>
                    <a:ext uri="{9D8B030D-6E8A-4147-A177-3AD203B41FA5}">
                      <a16:colId xmlns:a16="http://schemas.microsoft.com/office/drawing/2014/main" val="1349908274"/>
                    </a:ext>
                  </a:extLst>
                </a:gridCol>
                <a:gridCol w="649714">
                  <a:extLst>
                    <a:ext uri="{9D8B030D-6E8A-4147-A177-3AD203B41FA5}">
                      <a16:colId xmlns:a16="http://schemas.microsoft.com/office/drawing/2014/main" val="1930001805"/>
                    </a:ext>
                  </a:extLst>
                </a:gridCol>
                <a:gridCol w="741152">
                  <a:extLst>
                    <a:ext uri="{9D8B030D-6E8A-4147-A177-3AD203B41FA5}">
                      <a16:colId xmlns:a16="http://schemas.microsoft.com/office/drawing/2014/main" val="3149504336"/>
                    </a:ext>
                  </a:extLst>
                </a:gridCol>
                <a:gridCol w="649711">
                  <a:extLst>
                    <a:ext uri="{9D8B030D-6E8A-4147-A177-3AD203B41FA5}">
                      <a16:colId xmlns:a16="http://schemas.microsoft.com/office/drawing/2014/main" val="3014391259"/>
                    </a:ext>
                  </a:extLst>
                </a:gridCol>
                <a:gridCol w="710671">
                  <a:extLst>
                    <a:ext uri="{9D8B030D-6E8A-4147-A177-3AD203B41FA5}">
                      <a16:colId xmlns:a16="http://schemas.microsoft.com/office/drawing/2014/main" val="795723388"/>
                    </a:ext>
                  </a:extLst>
                </a:gridCol>
                <a:gridCol w="588751">
                  <a:extLst>
                    <a:ext uri="{9D8B030D-6E8A-4147-A177-3AD203B41FA5}">
                      <a16:colId xmlns:a16="http://schemas.microsoft.com/office/drawing/2014/main" val="2178969049"/>
                    </a:ext>
                  </a:extLst>
                </a:gridCol>
                <a:gridCol w="607041">
                  <a:extLst>
                    <a:ext uri="{9D8B030D-6E8A-4147-A177-3AD203B41FA5}">
                      <a16:colId xmlns:a16="http://schemas.microsoft.com/office/drawing/2014/main" val="2257081558"/>
                    </a:ext>
                  </a:extLst>
                </a:gridCol>
                <a:gridCol w="972802">
                  <a:extLst>
                    <a:ext uri="{9D8B030D-6E8A-4147-A177-3AD203B41FA5}">
                      <a16:colId xmlns:a16="http://schemas.microsoft.com/office/drawing/2014/main" val="3406254277"/>
                    </a:ext>
                  </a:extLst>
                </a:gridCol>
              </a:tblGrid>
              <a:tr h="15016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kern="1200">
                          <a:solidFill>
                            <a:schemeClr val="bg1"/>
                          </a:solidFill>
                          <a:latin typeface="Century Gothic"/>
                          <a:ea typeface="+mn-ea"/>
                          <a:cs typeface="+mn-cs"/>
                        </a:rPr>
                        <a:t>Año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1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2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3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4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7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8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9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10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330591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kern="1200">
                          <a:solidFill>
                            <a:schemeClr val="accent1"/>
                          </a:solidFill>
                          <a:latin typeface="Century Gothic"/>
                          <a:ea typeface="+mn-ea"/>
                          <a:cs typeface="+mn-cs"/>
                        </a:rPr>
                        <a:t>Litros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1.200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2.400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2.800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3.000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3.000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2.800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2.400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1.200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s-CO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600</a:t>
                      </a:r>
                    </a:p>
                  </a:txBody>
                  <a:tcPr marL="6344" marR="6344" marT="6344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1014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D1595A53-F33E-D9C6-B0C2-CA7D1DA6BDAC}"/>
              </a:ext>
            </a:extLst>
          </p:cNvPr>
          <p:cNvSpPr txBox="1"/>
          <p:nvPr/>
        </p:nvSpPr>
        <p:spPr>
          <a:xfrm>
            <a:off x="1045026" y="5905763"/>
            <a:ext cx="6100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600" b="1" u="sng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Si su asesor contable le indica que deprecie por el Método de Unidades Productivas, </a:t>
            </a:r>
            <a:r>
              <a:rPr lang="es-ES" sz="1600" b="1" u="sng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¿cuál es la Depreciación Periódica y la Depreciación Acumulada del Chiller?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C6A30D-AA6B-E68F-43F5-F723016D5B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DAC49D-581A-CB5F-97A1-3B81AE24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673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348FC39-BEAA-84C0-8A43-DB4597C1018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E6E123AC-4F08-5A6F-5A75-7AD87B206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73DA1765-1716-4B25-2CF1-97FAC6787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876375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858F983D-AC7B-0B39-CD79-4E1458419DD3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435" indent="-305435">
              <a:buNone/>
            </a:pPr>
            <a:r>
              <a:rPr lang="es-ES" sz="2000" b="1">
                <a:solidFill>
                  <a:srgbClr val="C00000"/>
                </a:solidFill>
                <a:latin typeface="Century Gothic"/>
              </a:rPr>
              <a:t>Método de Unidades Productivas</a:t>
            </a:r>
            <a:endParaRPr lang="es-ES" sz="200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5D9083-4E57-9B43-1BC8-A69F923E18E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22C3E58B-CCC1-F4AB-CCB7-BB189572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600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8E7613A-01FD-C573-8A04-A6345BE0C86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F39C1392-023A-FC0D-A687-1A042D33F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6D9EE40-0B85-8095-B3FE-594323142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04126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63C48AA7-7A86-C30E-B5AB-60E57BDCBA74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435" indent="-305435">
              <a:buNone/>
            </a:pPr>
            <a:r>
              <a:rPr lang="es-ES" sz="2000" b="1">
                <a:solidFill>
                  <a:srgbClr val="C00000"/>
                </a:solidFill>
                <a:latin typeface="Century Gothic"/>
              </a:rPr>
              <a:t>Método de Unidades Productivas</a:t>
            </a:r>
            <a:endParaRPr lang="es-ES" sz="200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CAFFBE-8ED5-2C5F-1BE1-52F8855D9A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E3B008C-9C67-C78D-E7AD-5237902C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83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5822DE-728A-D86B-5D2C-3E02D6C18C8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9976A49D-32A5-B290-18D2-C789F40A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FAF8EDF4-C92F-54E0-339B-B5343DE4E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522810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77,9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5AA01E74-8CDF-D55D-B1F5-850AFD75BD33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435" indent="-305435">
              <a:buNone/>
            </a:pPr>
            <a:r>
              <a:rPr lang="es-ES" sz="2000" b="1">
                <a:solidFill>
                  <a:srgbClr val="C00000"/>
                </a:solidFill>
                <a:latin typeface="Century Gothic"/>
              </a:rPr>
              <a:t>Método de Unidades Productivas</a:t>
            </a:r>
            <a:endParaRPr lang="es-ES" sz="200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7FA493-3C9D-CF16-F191-66F4D2B0DB8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2ED91138-F707-8B76-86E2-B8D5C57A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0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6969AAB-61D5-1856-C824-A23EEFC7F7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7AE69B54-36F8-2EEA-349D-9880DA7D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3B5A43CA-0107-D6E1-1FEA-68DF7D8BF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73085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4,2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8,4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9,8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9,8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8,4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4,2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2,1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6,3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14,7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24,5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35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45,5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55,3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63,7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67,9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70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77,9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73,7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65,3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55,5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34,5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24,7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16,3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12,1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7B1C7247-370A-75A6-7609-594D22F5AF41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435" indent="-305435">
              <a:buNone/>
            </a:pPr>
            <a:r>
              <a:rPr lang="es-ES" sz="2000" b="1">
                <a:solidFill>
                  <a:srgbClr val="C00000"/>
                </a:solidFill>
                <a:latin typeface="Century Gothic"/>
              </a:rPr>
              <a:t>Método de Unidades Productivas</a:t>
            </a:r>
            <a:endParaRPr lang="es-ES" sz="200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8EDD35-FFBB-FFA6-6735-45353425E1A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F38C2FE-6BD4-B434-1443-4257B6B4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30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3. Método De UNIDADES PRODUCTIVAS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2CA4C5-0DC3-1B89-C1DB-468F5D828D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5B71426A-8E16-2714-018D-E2898D58C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9D289A3-3C3D-FB53-C4B6-680C8D5EA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332052"/>
              </p:ext>
            </p:extLst>
          </p:nvPr>
        </p:nvGraphicFramePr>
        <p:xfrm>
          <a:off x="1552050" y="2666270"/>
          <a:ext cx="9046036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2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Depreciación del Periodo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4,2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8,4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9,8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9,8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8,4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4,2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2,1</a:t>
                      </a:r>
                      <a:endParaRPr lang="es-ES" sz="1200" dirty="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Depreciación Acumulada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6,3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14,7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24,5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35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45,5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55,3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63,7</a:t>
                      </a: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67,9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70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Valor en Libros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80,0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77,9 </a:t>
                      </a:r>
                      <a:endParaRPr lang="en-US" sz="12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73,7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65,3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55,5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45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34,5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24,7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16,3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12,1</a:t>
                      </a:r>
                      <a:endParaRPr lang="es-ES" sz="1200"/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</a:t>
                      </a: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A5BF222D-F8A5-EF7F-32B6-F2A5213A7F01}"/>
              </a:ext>
            </a:extLst>
          </p:cNvPr>
          <p:cNvSpPr txBox="1">
            <a:spLocks/>
          </p:cNvSpPr>
          <p:nvPr/>
        </p:nvSpPr>
        <p:spPr>
          <a:xfrm>
            <a:off x="581193" y="1909059"/>
            <a:ext cx="11029615" cy="72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435" indent="-305435">
              <a:buNone/>
            </a:pPr>
            <a:r>
              <a:rPr lang="es-ES" sz="2000" b="1">
                <a:solidFill>
                  <a:srgbClr val="C00000"/>
                </a:solidFill>
                <a:latin typeface="Century Gothic"/>
              </a:rPr>
              <a:t>Método de Unidades Productivas</a:t>
            </a:r>
            <a:endParaRPr lang="es-ES" sz="200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6459C4-7AF7-FFF9-E450-154C33414F5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2E61C80E-60D5-9754-555F-D14DEE9B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351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RESUMEN – Métodos de depreciación &amp; AMORTIZACIÓN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63933" y="1982131"/>
            <a:ext cx="8264134" cy="7494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1">
                <a:solidFill>
                  <a:srgbClr val="C00000"/>
                </a:solidFill>
                <a:latin typeface="Century Gothic" panose="020B0502020202020204" pitchFamily="34" charset="0"/>
              </a:rPr>
              <a:t>EN RESUMEN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7EAF9F-9ACC-D181-1AF7-3E6A3BB9BDE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6EF5834D-86A7-78FF-1566-34CBD398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317B4B0-F4FC-8322-7A30-5CF735224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45127"/>
              </p:ext>
            </p:extLst>
          </p:nvPr>
        </p:nvGraphicFramePr>
        <p:xfrm>
          <a:off x="1045026" y="3065794"/>
          <a:ext cx="10020820" cy="2121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3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39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30290">
                <a:tc>
                  <a:txBody>
                    <a:bodyPr/>
                    <a:lstStyle/>
                    <a:p>
                      <a:pPr algn="ctr"/>
                      <a:endParaRPr lang="es-ES_tradnl" sz="14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TOTAL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</a:t>
                      </a:r>
                      <a:r>
                        <a:rPr lang="en-US" sz="1400" b="0" u="none" strike="noStrike" err="1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Línea</a:t>
                      </a:r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Recta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70,0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</a:t>
                      </a:r>
                      <a:r>
                        <a:rPr lang="en-US" sz="1400" b="0" u="none" strike="noStrike" err="1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Reducción</a:t>
                      </a:r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de </a:t>
                      </a:r>
                      <a:r>
                        <a:rPr lang="en-US" sz="1400" b="0" u="none" strike="noStrike" err="1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Saldos</a:t>
                      </a:r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15,0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12,2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9,9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8,0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6,5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5,3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4,3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3,5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2,8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2,3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70,0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 Unidades </a:t>
                      </a:r>
                      <a:r>
                        <a:rPr lang="en-US" sz="1400" b="0" u="none" strike="noStrike" err="1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Productivas</a:t>
                      </a:r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-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 2,1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4,2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8,4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9,8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10,5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10,5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9,8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8,4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4,2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/>
                        </a:rPr>
                        <a:t>2,1</a:t>
                      </a:r>
                      <a:endParaRPr lang="es-ES" sz="3200" b="0">
                        <a:solidFill>
                          <a:schemeClr val="accent1"/>
                        </a:solidFill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 70,0 </a:t>
                      </a:r>
                      <a:endParaRPr lang="en-US" sz="1400" b="0" i="0" u="none" strike="noStrike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DBB9AD67-875F-20B3-80FB-EF924ADDA8F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78F462-FB0A-E6CD-2CC5-BA4B79BE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RESUMEN – Métodos de depreciación &amp; AMORTIZACIÓN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D24C042-3742-1589-768A-8F8F3317A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3933" y="1982131"/>
            <a:ext cx="8264134" cy="7494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1">
                <a:solidFill>
                  <a:srgbClr val="C00000"/>
                </a:solidFill>
                <a:latin typeface="Century Gothic" panose="020B0502020202020204" pitchFamily="34" charset="0"/>
              </a:rPr>
              <a:t>EN RESUMEN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6FEA82-2633-41B9-369C-A1FEA0AB7F7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5CAB322D-25BC-664D-A896-078CB3A12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D171FD46-F484-D1C5-EEAC-1BD70D3794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8368608"/>
              </p:ext>
            </p:extLst>
          </p:nvPr>
        </p:nvGraphicFramePr>
        <p:xfrm>
          <a:off x="1391773" y="2599814"/>
          <a:ext cx="8776309" cy="4051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5DC97074-A6C1-D63C-8D9A-73204E65542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B3E97F12-5CD6-7EC4-C15A-74F531BE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816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9930-2E17-DFBF-B0E6-BF6F3C9B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E5BC1-D418-E6D9-E8A9-EC91D5E7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2700">
                <a:latin typeface="Century Gothic" panose="020B0502020202020204" pitchFamily="34" charset="0"/>
              </a:rPr>
              <a:t>¿CUÁL ES EL IMPACTO DE LA DEPRECIACIÓN EN LOS IMPUESTOS?</a:t>
            </a:r>
            <a:endParaRPr lang="es-ES" sz="2700"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FBB425-EEA3-0857-EEB7-9D96C4E8D0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87B554C9-21DD-14B0-7D53-D05E588F7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531208F-9CFC-B795-97EF-A683D7658A1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10C1BA69-7374-B9D1-3022-05596823E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420801"/>
              </p:ext>
            </p:extLst>
          </p:nvPr>
        </p:nvGraphicFramePr>
        <p:xfrm>
          <a:off x="537074" y="2219287"/>
          <a:ext cx="7163205" cy="369719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91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20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1437" marR="91437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Utilidad Bruta</a:t>
                      </a:r>
                    </a:p>
                  </a:txBody>
                  <a:tcPr marL="91437" marR="91437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Depreciación del Periodo (LR)</a:t>
                      </a:r>
                    </a:p>
                  </a:txBody>
                  <a:tcPr marL="91437" marR="91437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EBIT (UAII)</a:t>
                      </a:r>
                    </a:p>
                  </a:txBody>
                  <a:tcPr marL="91437" marR="91437" marT="45719" marB="45719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37" marR="91437" marT="45719" marB="457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Impuesto Operacional</a:t>
                      </a:r>
                    </a:p>
                  </a:txBody>
                  <a:tcPr marL="91437" marR="91437" marT="45719" marB="457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99" marR="12699" marT="126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$ 32.550.000</a:t>
                      </a:r>
                      <a:endParaRPr lang="es-CO" sz="140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32.550.000</a:t>
                      </a:r>
                      <a:endParaRPr kumimoji="0" lang="es-CO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99" marR="12699" marT="126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99" marR="12699" marT="126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850626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99" marR="12699" marT="126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951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3440408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9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99" marR="12699" marT="126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084838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$ 100.000.000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$ 7.000.000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u="none" strike="noStrike" dirty="0">
                          <a:effectLst/>
                          <a:latin typeface="Century Gothic" panose="020B0502020202020204" pitchFamily="34" charset="0"/>
                        </a:rPr>
                        <a:t> $ 93.000.000 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$ 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</a:rPr>
                        <a:t>32.550.000</a:t>
                      </a:r>
                      <a:endParaRPr kumimoji="0" lang="es-ES" dirty="0">
                        <a:latin typeface="Century Gothic" panose="020B0502020202020204" pitchFamily="34" charset="0"/>
                      </a:endParaRPr>
                    </a:p>
                  </a:txBody>
                  <a:tcPr marL="12699" marR="12699" marT="1269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57525394"/>
                  </a:ext>
                </a:extLst>
              </a:tr>
            </a:tbl>
          </a:graphicData>
        </a:graphic>
      </p:graphicFrame>
      <p:grpSp>
        <p:nvGrpSpPr>
          <p:cNvPr id="11" name="Group 4">
            <a:extLst>
              <a:ext uri="{FF2B5EF4-FFF2-40B4-BE49-F238E27FC236}">
                <a16:creationId xmlns:a16="http://schemas.microsoft.com/office/drawing/2014/main" id="{2B743F86-1F3E-BC61-D01C-04A4AA6F3039}"/>
              </a:ext>
            </a:extLst>
          </p:cNvPr>
          <p:cNvGrpSpPr>
            <a:grpSpLocks/>
          </p:cNvGrpSpPr>
          <p:nvPr/>
        </p:nvGrpSpPr>
        <p:grpSpPr bwMode="auto">
          <a:xfrm>
            <a:off x="7700279" y="2205566"/>
            <a:ext cx="1929059" cy="400786"/>
            <a:chOff x="-656022" y="-295281"/>
            <a:chExt cx="2279935" cy="401150"/>
          </a:xfrm>
        </p:grpSpPr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32B9317A-A94C-DD75-81C4-AE388DFA6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51" y="-295281"/>
              <a:ext cx="1146662" cy="39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9BBB59"/>
            </a:solidFill>
            <a:ln w="25400" cap="flat" cmpd="sng">
              <a:solidFill>
                <a:srgbClr val="71884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endParaRPr lang="es-ES" sz="1400" b="1">
                <a:solidFill>
                  <a:srgbClr val="40404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F20A7FC4-6AB6-33BC-2F7A-69A6E4D22B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56022" y="-99609"/>
              <a:ext cx="1077524" cy="12710"/>
            </a:xfrm>
            <a:prstGeom prst="line">
              <a:avLst/>
            </a:prstGeom>
            <a:noFill/>
            <a:ln w="25400" cap="flat" cmpd="sng">
              <a:solidFill>
                <a:srgbClr val="71884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s-ES" sz="1600">
                <a:latin typeface="Century Gothic" panose="020B0502020202020204" pitchFamily="34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D9B86C68-65D5-2DD8-B78E-038AF62C1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50" y="-292756"/>
              <a:ext cx="1146662" cy="39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es-ES" sz="1400" b="1" dirty="0">
                  <a:solidFill>
                    <a:srgbClr val="404040"/>
                  </a:solidFill>
                  <a:latin typeface="Century Gothic" panose="020B0502020202020204" pitchFamily="34" charset="0"/>
                </a:rPr>
                <a:t>EBIT * 35%</a:t>
              </a:r>
              <a:endParaRPr lang="es-ES" sz="24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6" name="TextBox 8">
            <a:extLst>
              <a:ext uri="{FF2B5EF4-FFF2-40B4-BE49-F238E27FC236}">
                <a16:creationId xmlns:a16="http://schemas.microsoft.com/office/drawing/2014/main" id="{9483BB07-18AE-6607-6182-09A87EF578F3}"/>
              </a:ext>
            </a:extLst>
          </p:cNvPr>
          <p:cNvSpPr txBox="1"/>
          <p:nvPr/>
        </p:nvSpPr>
        <p:spPr>
          <a:xfrm>
            <a:off x="8226576" y="3166970"/>
            <a:ext cx="365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Suma Simple Impuestos</a:t>
            </a:r>
          </a:p>
          <a:p>
            <a:pPr algn="ctr"/>
            <a:endParaRPr lang="es-ES_tradnl" sz="2000" i="1" dirty="0">
              <a:latin typeface="Century Gothic" panose="020B0502020202020204" pitchFamily="34" charset="0"/>
            </a:endParaRPr>
          </a:p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$325.500.000</a:t>
            </a:r>
          </a:p>
          <a:p>
            <a:pPr algn="ctr"/>
            <a:endParaRPr lang="es-ES_tradnl" sz="2000" i="1" dirty="0">
              <a:latin typeface="Century Gothic" panose="020B0502020202020204" pitchFamily="34" charset="0"/>
            </a:endParaRPr>
          </a:p>
          <a:p>
            <a:pPr algn="ctr"/>
            <a:endParaRPr lang="es-ES_tradnl" sz="2000" i="1" dirty="0">
              <a:latin typeface="Century Gothic" panose="020B0502020202020204" pitchFamily="34" charset="0"/>
            </a:endParaRPr>
          </a:p>
          <a:p>
            <a:pPr algn="ctr"/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VPN Impuestos (C.O.: 10%)</a:t>
            </a:r>
          </a:p>
          <a:p>
            <a:pPr algn="ctr"/>
            <a:endParaRPr lang="es-ES_tradnl" sz="2000" i="1" dirty="0">
              <a:latin typeface="Century Gothic" panose="020B0502020202020204" pitchFamily="34" charset="0"/>
            </a:endParaRPr>
          </a:p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$200.005.659</a:t>
            </a:r>
            <a:endParaRPr lang="es-ES_tradnl" dirty="0"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29F2E80-9369-D4C0-21F1-4F3CCFEE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14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72F4-08C9-C148-7FF0-2223ACF7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9A79375-8D1C-C434-650A-882E8B8C558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95741CDF-4D8C-BFC9-9754-D782891CC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B977D4B-C70D-647E-1EDA-C646B458C8D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270DBAAF-7BA9-6593-C47C-15FAC6D09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864555"/>
              </p:ext>
            </p:extLst>
          </p:nvPr>
        </p:nvGraphicFramePr>
        <p:xfrm>
          <a:off x="2052163" y="2824066"/>
          <a:ext cx="6347094" cy="26141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44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9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1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Método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Suma Simple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VPN Impuestos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Línea Recta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$ 325.500.000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$ 200.005.659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Reducción de Saldos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CO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$ 325.500.000 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$ 197.671.047 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Unidades Productivas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CO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$ 325.500.000 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$ 200.230.400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Cerrar llave 16">
            <a:extLst>
              <a:ext uri="{FF2B5EF4-FFF2-40B4-BE49-F238E27FC236}">
                <a16:creationId xmlns:a16="http://schemas.microsoft.com/office/drawing/2014/main" id="{07E1BE17-9FF6-B251-9B1D-1B53B2E3A6D3}"/>
              </a:ext>
            </a:extLst>
          </p:cNvPr>
          <p:cNvSpPr/>
          <p:nvPr/>
        </p:nvSpPr>
        <p:spPr>
          <a:xfrm>
            <a:off x="8514731" y="3967595"/>
            <a:ext cx="370189" cy="77971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DB692AA-8C07-AF66-C720-12C6D6C4062C}"/>
              </a:ext>
            </a:extLst>
          </p:cNvPr>
          <p:cNvSpPr txBox="1"/>
          <p:nvPr/>
        </p:nvSpPr>
        <p:spPr>
          <a:xfrm>
            <a:off x="8699825" y="4171567"/>
            <a:ext cx="236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1800" b="1">
                <a:solidFill>
                  <a:srgbClr val="C00000"/>
                </a:solidFill>
                <a:latin typeface="Century Gothic" panose="020B0502020202020204" pitchFamily="34" charset="0"/>
              </a:rPr>
              <a:t>ACELERADO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E36911E-8EE8-82B9-31F7-D8A75137E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2700">
                <a:latin typeface="Century Gothic" panose="020B0502020202020204" pitchFamily="34" charset="0"/>
              </a:rPr>
              <a:t>¿CUÁL ES EL IMPACTO DE LA DEPRECIACIÓN EN LOS IMPUESTOS?</a:t>
            </a:r>
            <a:endParaRPr lang="es-ES" sz="2700"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1EA35FD9-9BCE-010D-4451-A0791F65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630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A08F-A412-1F1B-494D-3FCE4536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CE5921D4-0036-6F82-1E43-107486AA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D656E86-6746-1891-48DE-EA332AD82CA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C4F8B0C6-9241-B5C4-D6C6-C1DD4559F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9B056C5-D830-230C-D035-5ED9E1E0D6B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03E9A7A9-D868-709E-33E6-4432A4ADA6BA}"/>
              </a:ext>
            </a:extLst>
          </p:cNvPr>
          <p:cNvSpPr/>
          <p:nvPr/>
        </p:nvSpPr>
        <p:spPr>
          <a:xfrm>
            <a:off x="3908864" y="3933728"/>
            <a:ext cx="370189" cy="77971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DEF15A7-DFB7-95B5-7A2F-1EB973A2429A}"/>
              </a:ext>
            </a:extLst>
          </p:cNvPr>
          <p:cNvSpPr/>
          <p:nvPr/>
        </p:nvSpPr>
        <p:spPr>
          <a:xfrm>
            <a:off x="850719" y="2376157"/>
            <a:ext cx="3496577" cy="501914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bg1"/>
                </a:solidFill>
                <a:latin typeface="Century Gothic" panose="020B0502020202020204" pitchFamily="34" charset="0"/>
              </a:rPr>
              <a:t>Costo de Ventas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C6D74D6-E4F4-417F-F6FA-5AA4555333E4}"/>
              </a:ext>
            </a:extLst>
          </p:cNvPr>
          <p:cNvSpPr/>
          <p:nvPr/>
        </p:nvSpPr>
        <p:spPr>
          <a:xfrm>
            <a:off x="850718" y="3292253"/>
            <a:ext cx="3496577" cy="400797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bg1"/>
                </a:solidFill>
                <a:latin typeface="Century Gothic" panose="020B0502020202020204" pitchFamily="34" charset="0"/>
              </a:rPr>
              <a:t>Gastos Operacionales (AOM)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5DCC349-7620-7A7E-DF6E-9C2A9BD876C6}"/>
              </a:ext>
            </a:extLst>
          </p:cNvPr>
          <p:cNvSpPr/>
          <p:nvPr/>
        </p:nvSpPr>
        <p:spPr>
          <a:xfrm>
            <a:off x="850718" y="4577393"/>
            <a:ext cx="3496577" cy="37854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Ingresos No Operacionales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02059B8B-EEDC-9F28-0C09-0A09E9CBCA5A}"/>
              </a:ext>
            </a:extLst>
          </p:cNvPr>
          <p:cNvSpPr/>
          <p:nvPr/>
        </p:nvSpPr>
        <p:spPr>
          <a:xfrm>
            <a:off x="850717" y="5766442"/>
            <a:ext cx="3496577" cy="400797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Impuestos</a:t>
            </a: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8AA1E9E7-C4BC-CCD0-0B9A-F18D3B34CEAB}"/>
              </a:ext>
            </a:extLst>
          </p:cNvPr>
          <p:cNvSpPr/>
          <p:nvPr/>
        </p:nvSpPr>
        <p:spPr>
          <a:xfrm>
            <a:off x="850717" y="6180468"/>
            <a:ext cx="3496577" cy="395658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Utilidad Neta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E7B25D9-1D1B-3E42-7A8C-EEB6EBE4D725}"/>
              </a:ext>
            </a:extLst>
          </p:cNvPr>
          <p:cNvSpPr/>
          <p:nvPr/>
        </p:nvSpPr>
        <p:spPr>
          <a:xfrm>
            <a:off x="850718" y="4103537"/>
            <a:ext cx="3496577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EBIT (UAII)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0592217-D5E4-91A7-567D-3E822499810E}"/>
              </a:ext>
            </a:extLst>
          </p:cNvPr>
          <p:cNvSpPr/>
          <p:nvPr/>
        </p:nvSpPr>
        <p:spPr>
          <a:xfrm>
            <a:off x="850719" y="1899178"/>
            <a:ext cx="3496577" cy="47921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Ingresos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5E166150-9440-2D54-78D3-7697C619C68B}"/>
              </a:ext>
            </a:extLst>
          </p:cNvPr>
          <p:cNvSpPr/>
          <p:nvPr/>
        </p:nvSpPr>
        <p:spPr>
          <a:xfrm>
            <a:off x="850719" y="2878072"/>
            <a:ext cx="3496577" cy="400797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Utilidad Bruta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10732D99-3380-2C27-0226-FD629B9CC35F}"/>
              </a:ext>
            </a:extLst>
          </p:cNvPr>
          <p:cNvSpPr/>
          <p:nvPr/>
        </p:nvSpPr>
        <p:spPr>
          <a:xfrm>
            <a:off x="850717" y="3693051"/>
            <a:ext cx="3496577" cy="400797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Depreciación/Amortización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AD86B1BB-A00A-52EC-F1B0-141B3AC451D8}"/>
              </a:ext>
            </a:extLst>
          </p:cNvPr>
          <p:cNvSpPr/>
          <p:nvPr/>
        </p:nvSpPr>
        <p:spPr>
          <a:xfrm>
            <a:off x="850717" y="4949575"/>
            <a:ext cx="3496577" cy="378540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bg1"/>
                </a:solidFill>
                <a:latin typeface="Century Gothic" panose="020B0502020202020204" pitchFamily="34" charset="0"/>
              </a:rPr>
              <a:t>Egresos No Operacionales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DDFFA2D-551C-720C-3B7C-6EDCF062E0A0}"/>
              </a:ext>
            </a:extLst>
          </p:cNvPr>
          <p:cNvSpPr/>
          <p:nvPr/>
        </p:nvSpPr>
        <p:spPr>
          <a:xfrm>
            <a:off x="850719" y="5306115"/>
            <a:ext cx="3496577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Utilidad Antes de Impuestos (UAI)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0A000BB-7D1E-9855-63C5-9E52B828BF26}"/>
              </a:ext>
            </a:extLst>
          </p:cNvPr>
          <p:cNvCxnSpPr>
            <a:cxnSpLocks/>
          </p:cNvCxnSpPr>
          <p:nvPr/>
        </p:nvCxnSpPr>
        <p:spPr>
          <a:xfrm flipH="1">
            <a:off x="4345541" y="3918857"/>
            <a:ext cx="416464" cy="84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AD17B6F-303A-9851-C593-FA96A1149ADD}"/>
              </a:ext>
            </a:extLst>
          </p:cNvPr>
          <p:cNvCxnSpPr>
            <a:cxnSpLocks/>
          </p:cNvCxnSpPr>
          <p:nvPr/>
        </p:nvCxnSpPr>
        <p:spPr>
          <a:xfrm flipH="1">
            <a:off x="4345541" y="6007295"/>
            <a:ext cx="416464" cy="84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1B89FD5-52D3-2188-5907-EF47812E3331}"/>
              </a:ext>
            </a:extLst>
          </p:cNvPr>
          <p:cNvCxnSpPr/>
          <p:nvPr/>
        </p:nvCxnSpPr>
        <p:spPr>
          <a:xfrm>
            <a:off x="4762005" y="3918857"/>
            <a:ext cx="0" cy="209689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E789D62-FA7C-6307-70CC-BFBA573AE38D}"/>
              </a:ext>
            </a:extLst>
          </p:cNvPr>
          <p:cNvSpPr/>
          <p:nvPr/>
        </p:nvSpPr>
        <p:spPr>
          <a:xfrm rot="16200000">
            <a:off x="4098554" y="4786022"/>
            <a:ext cx="1696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u="sng">
                <a:solidFill>
                  <a:schemeClr val="accent2">
                    <a:lumMod val="75000"/>
                  </a:schemeClr>
                </a:solidFill>
              </a:rPr>
              <a:t>Relación Inversa</a:t>
            </a:r>
            <a:endParaRPr lang="es-CO" u="sng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BF0FBAD5-5BFF-DBCD-2311-BEC8F4877372}"/>
              </a:ext>
            </a:extLst>
          </p:cNvPr>
          <p:cNvSpPr txBox="1"/>
          <p:nvPr/>
        </p:nvSpPr>
        <p:spPr>
          <a:xfrm>
            <a:off x="5399798" y="2317102"/>
            <a:ext cx="5998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Aunque la depreciación </a:t>
            </a:r>
            <a:r>
              <a:rPr lang="es-ES_tradnl" dirty="0">
                <a:solidFill>
                  <a:srgbClr val="FF0000"/>
                </a:solidFill>
                <a:latin typeface="Century Gothic" panose="020B0502020202020204" pitchFamily="34" charset="0"/>
              </a:rPr>
              <a:t>NO ES UN GASTO EFECTIVO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, si puede llegar a impactar la liquidez a través del </a:t>
            </a:r>
            <a:r>
              <a:rPr lang="es-ES_tradnl" dirty="0">
                <a:solidFill>
                  <a:srgbClr val="FF0000"/>
                </a:solidFill>
                <a:latin typeface="Century Gothic" panose="020B0502020202020204" pitchFamily="34" charset="0"/>
              </a:rPr>
              <a:t>PAGO DE IMPUESTOS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B41A4EF7-FF46-B754-CAD1-ADBABDC1433A}"/>
              </a:ext>
            </a:extLst>
          </p:cNvPr>
          <p:cNvSpPr txBox="1"/>
          <p:nvPr/>
        </p:nvSpPr>
        <p:spPr>
          <a:xfrm>
            <a:off x="5433761" y="3788508"/>
            <a:ext cx="5998917" cy="201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Por el concepto de Valor de Dinero en el Tiempo (VDT), se prefieren los métodos de depreciación acelerados.</a:t>
            </a: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s-ES_tradnl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Es preferible pagar un peso mañana y no pagarlo hoy.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0DDB495-ED45-DAD6-2835-61C59D96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2700">
                <a:latin typeface="Century Gothic" panose="020B0502020202020204" pitchFamily="34" charset="0"/>
              </a:rPr>
              <a:t>¿CUÁL ES EL IMPACTO DE LA DEPRECIACIÓN EN LOS IMPUESTOS?</a:t>
            </a:r>
            <a:endParaRPr lang="es-ES" sz="27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006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CB11DE2-0B3A-D7E4-92B9-679B181D33C9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>
              <a:solidFill>
                <a:schemeClr val="bg1"/>
              </a:solidFill>
              <a:latin typeface="Century Gothic"/>
            </a:endParaRPr>
          </a:p>
          <a:p>
            <a:endParaRPr lang="es-CO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E185D3-8DC7-2CA9-EAB4-D356BCC4ACA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92D859E-C0DF-723B-D43C-3568A40B3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>
                <a:latin typeface="Century Gothic"/>
              </a:rPr>
              <a:t>LA CONSTRUCCIÓN DEL FLUJO DE CAJA LIBRE DE UN PROYECTO (</a:t>
            </a:r>
            <a:r>
              <a:rPr lang="es-CO" sz="4000">
                <a:solidFill>
                  <a:srgbClr val="D7A700"/>
                </a:solidFill>
                <a:latin typeface="Century Gothic"/>
              </a:rPr>
              <a:t>parte II</a:t>
            </a:r>
            <a:r>
              <a:rPr lang="es-CO" sz="4000">
                <a:latin typeface="Century Gothic"/>
              </a:rPr>
              <a:t>)</a:t>
            </a:r>
            <a:endParaRPr lang="es-CO" sz="40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023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57</TotalTime>
  <Words>2498</Words>
  <Application>Microsoft Macintosh PowerPoint</Application>
  <PresentationFormat>Widescreen</PresentationFormat>
  <Paragraphs>889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Century Gothic</vt:lpstr>
      <vt:lpstr>Gill Sans MT</vt:lpstr>
      <vt:lpstr>Wingdings</vt:lpstr>
      <vt:lpstr>Wingdings 2</vt:lpstr>
      <vt:lpstr>Dividendo</vt:lpstr>
      <vt:lpstr>AGENDA PROPUESTA</vt:lpstr>
      <vt:lpstr>Trabajemos en un único Excel</vt:lpstr>
      <vt:lpstr>¿Cuáles son los métodos de depreciación?</vt:lpstr>
      <vt:lpstr>1. Método de línea recta</vt:lpstr>
      <vt:lpstr>1. Método de línea recta</vt:lpstr>
      <vt:lpstr>1. Método de línea recta</vt:lpstr>
      <vt:lpstr>1. Método de línea recta</vt:lpstr>
      <vt:lpstr>1. Método de línea recta</vt:lpstr>
      <vt:lpstr>1. Método de línea recta</vt:lpstr>
      <vt:lpstr>1. Método de línea recta</vt:lpstr>
      <vt:lpstr>1. Método de línea recta</vt:lpstr>
      <vt:lpstr>1. Método de línea recta</vt:lpstr>
      <vt:lpstr>AGENDA PROPUESTA</vt:lpstr>
      <vt:lpstr>2. Método Acelerado</vt:lpstr>
      <vt:lpstr>2. Método Acelerado</vt:lpstr>
      <vt:lpstr>2. MÉTODO ACELERADO</vt:lpstr>
      <vt:lpstr>2. Método Acelerado</vt:lpstr>
      <vt:lpstr>2. Método Acelerado</vt:lpstr>
      <vt:lpstr>2. Método Acelerado</vt:lpstr>
      <vt:lpstr>2. Método Acelerado</vt:lpstr>
      <vt:lpstr>2. Método Acelerado</vt:lpstr>
      <vt:lpstr>2. Método Acelerado</vt:lpstr>
      <vt:lpstr>3. Método DE UNIDADES PRODUCTIVAS</vt:lpstr>
      <vt:lpstr>3. MÉTODO DE UNIDADES PRODUCTIVAS</vt:lpstr>
      <vt:lpstr>3. Método De UNIDADES PRODUCTIVAS</vt:lpstr>
      <vt:lpstr>3. Método De UNIDADES PRODUCTIVAS</vt:lpstr>
      <vt:lpstr>3. Método De UNIDADES PRODUCTIVAS</vt:lpstr>
      <vt:lpstr>3. Método De UNIDADES PRODUCTIVAS</vt:lpstr>
      <vt:lpstr>3. Método De UNIDADES PRODUCTIVAS</vt:lpstr>
      <vt:lpstr>RESUMEN – Métodos de depreciación &amp; AMORTIZACIÓN</vt:lpstr>
      <vt:lpstr>RESUMEN – Métodos de depreciación &amp; AMORTIZACIÓN</vt:lpstr>
      <vt:lpstr>¿CUÁL ES EL IMPACTO DE LA DEPRECIACIÓN EN LOS IMPUESTOS?</vt:lpstr>
      <vt:lpstr>¿CUÁL ES EL IMPACTO DE LA DEPRECIACIÓN EN LOS IMPUESTOS?</vt:lpstr>
      <vt:lpstr>¿CUÁL ES EL IMPACTO DE LA DEPRECIACIÓN EN LOS IMPUESTOS?</vt:lpstr>
      <vt:lpstr>LA CONSTRUCCIÓN DEL FLUJO DE CAJA LIBRE DE UN PROYECTO (parte 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 Rodriguez</cp:lastModifiedBy>
  <cp:revision>7</cp:revision>
  <dcterms:created xsi:type="dcterms:W3CDTF">2019-06-20T04:25:04Z</dcterms:created>
  <dcterms:modified xsi:type="dcterms:W3CDTF">2026-03-03T01:46:36Z</dcterms:modified>
</cp:coreProperties>
</file>