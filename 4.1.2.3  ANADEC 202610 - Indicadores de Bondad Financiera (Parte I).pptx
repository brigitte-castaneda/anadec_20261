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38"/>
  </p:notesMasterIdLst>
  <p:handoutMasterIdLst>
    <p:handoutMasterId r:id="rId39"/>
  </p:handoutMasterIdLst>
  <p:sldIdLst>
    <p:sldId id="384" r:id="rId2"/>
    <p:sldId id="625" r:id="rId3"/>
    <p:sldId id="587" r:id="rId4"/>
    <p:sldId id="588" r:id="rId5"/>
    <p:sldId id="577" r:id="rId6"/>
    <p:sldId id="615" r:id="rId7"/>
    <p:sldId id="616" r:id="rId8"/>
    <p:sldId id="617" r:id="rId9"/>
    <p:sldId id="618" r:id="rId10"/>
    <p:sldId id="299" r:id="rId11"/>
    <p:sldId id="300" r:id="rId12"/>
    <p:sldId id="605" r:id="rId13"/>
    <p:sldId id="317" r:id="rId14"/>
    <p:sldId id="318" r:id="rId15"/>
    <p:sldId id="319" r:id="rId16"/>
    <p:sldId id="320" r:id="rId17"/>
    <p:sldId id="321" r:id="rId18"/>
    <p:sldId id="371" r:id="rId19"/>
    <p:sldId id="606" r:id="rId20"/>
    <p:sldId id="326" r:id="rId21"/>
    <p:sldId id="327" r:id="rId22"/>
    <p:sldId id="328" r:id="rId23"/>
    <p:sldId id="389" r:id="rId24"/>
    <p:sldId id="610" r:id="rId25"/>
    <p:sldId id="330" r:id="rId26"/>
    <p:sldId id="331" r:id="rId27"/>
    <p:sldId id="332" r:id="rId28"/>
    <p:sldId id="607" r:id="rId29"/>
    <p:sldId id="333" r:id="rId30"/>
    <p:sldId id="334" r:id="rId31"/>
    <p:sldId id="335" r:id="rId32"/>
    <p:sldId id="609" r:id="rId33"/>
    <p:sldId id="337" r:id="rId34"/>
    <p:sldId id="623" r:id="rId35"/>
    <p:sldId id="624" r:id="rId36"/>
    <p:sldId id="626"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8CB64A"/>
    <a:srgbClr val="366658"/>
    <a:srgbClr val="969FA7"/>
    <a:srgbClr val="48BE7A"/>
    <a:srgbClr val="002F90"/>
    <a:srgbClr val="6666FF"/>
    <a:srgbClr val="FF6600"/>
    <a:srgbClr val="93FFFF"/>
    <a:srgbClr val="FFF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BE8A58-28B5-0B44-A71F-975A5FE38795}" v="8" dt="2026-02-24T02:17:00.48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3" autoAdjust="0"/>
    <p:restoredTop sz="93446" autoAdjust="0"/>
  </p:normalViewPr>
  <p:slideViewPr>
    <p:cSldViewPr snapToGrid="0">
      <p:cViewPr varScale="1">
        <p:scale>
          <a:sx n="68" d="100"/>
          <a:sy n="68" d="100"/>
        </p:scale>
        <p:origin x="240" y="1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23/02/26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23/02/26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Cuando</a:t>
            </a:r>
            <a:r>
              <a:rPr lang="en-US" dirty="0"/>
              <a:t> se </a:t>
            </a:r>
            <a:r>
              <a:rPr lang="en-US" dirty="0" err="1"/>
              <a:t>hable</a:t>
            </a:r>
            <a:r>
              <a:rPr lang="en-US" dirty="0"/>
              <a:t> del 41,16%, </a:t>
            </a:r>
            <a:r>
              <a:rPr lang="en-US" dirty="0" err="1"/>
              <a:t>es</a:t>
            </a:r>
            <a:r>
              <a:rPr lang="en-US" dirty="0"/>
              <a:t> </a:t>
            </a:r>
            <a:r>
              <a:rPr lang="en-US" dirty="0" err="1"/>
              <a:t>bueno</a:t>
            </a:r>
            <a:r>
              <a:rPr lang="en-US" baseline="0" dirty="0"/>
              <a:t> </a:t>
            </a:r>
            <a:r>
              <a:rPr lang="en-US" baseline="0" dirty="0" err="1"/>
              <a:t>preguntar</a:t>
            </a:r>
            <a:r>
              <a:rPr lang="en-US" baseline="0" dirty="0"/>
              <a:t> </a:t>
            </a:r>
            <a:r>
              <a:rPr lang="en-US" baseline="0" dirty="0" err="1"/>
              <a:t>que</a:t>
            </a:r>
            <a:r>
              <a:rPr lang="en-US" baseline="0" dirty="0"/>
              <a:t> </a:t>
            </a:r>
            <a:r>
              <a:rPr lang="en-US" baseline="0" dirty="0" err="1"/>
              <a:t>comparen</a:t>
            </a:r>
            <a:r>
              <a:rPr lang="en-US" baseline="0" dirty="0"/>
              <a:t> el 41% de 1.000 con el 9% de 1.000 </a:t>
            </a:r>
            <a:r>
              <a:rPr lang="en-US" baseline="0" dirty="0" err="1"/>
              <a:t>cuatro</a:t>
            </a:r>
            <a:r>
              <a:rPr lang="en-US" baseline="0" dirty="0"/>
              <a:t> </a:t>
            </a:r>
            <a:r>
              <a:rPr lang="en-US" baseline="0" dirty="0" err="1"/>
              <a:t>veces</a:t>
            </a:r>
            <a:r>
              <a:rPr lang="en-US" baseline="0" dirty="0"/>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4138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388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Cuando</a:t>
            </a:r>
            <a:r>
              <a:rPr lang="en-US" dirty="0"/>
              <a:t> se </a:t>
            </a:r>
            <a:r>
              <a:rPr lang="en-US" dirty="0" err="1"/>
              <a:t>hable</a:t>
            </a:r>
            <a:r>
              <a:rPr lang="en-US" dirty="0"/>
              <a:t> del 41,16%, </a:t>
            </a:r>
            <a:r>
              <a:rPr lang="en-US" dirty="0" err="1"/>
              <a:t>es</a:t>
            </a:r>
            <a:r>
              <a:rPr lang="en-US" dirty="0"/>
              <a:t> </a:t>
            </a:r>
            <a:r>
              <a:rPr lang="en-US" dirty="0" err="1"/>
              <a:t>bueno</a:t>
            </a:r>
            <a:r>
              <a:rPr lang="en-US" baseline="0" dirty="0"/>
              <a:t> </a:t>
            </a:r>
            <a:r>
              <a:rPr lang="en-US" baseline="0" dirty="0" err="1"/>
              <a:t>preguntar</a:t>
            </a:r>
            <a:r>
              <a:rPr lang="en-US" baseline="0" dirty="0"/>
              <a:t> </a:t>
            </a:r>
            <a:r>
              <a:rPr lang="en-US" baseline="0" dirty="0" err="1"/>
              <a:t>que</a:t>
            </a:r>
            <a:r>
              <a:rPr lang="en-US" baseline="0" dirty="0"/>
              <a:t> </a:t>
            </a:r>
            <a:r>
              <a:rPr lang="en-US" baseline="0" dirty="0" err="1"/>
              <a:t>comparen</a:t>
            </a:r>
            <a:r>
              <a:rPr lang="en-US" baseline="0" dirty="0"/>
              <a:t> el 41% de 1.000 con el 9% de 1.000 </a:t>
            </a:r>
            <a:r>
              <a:rPr lang="en-US" baseline="0" dirty="0" err="1"/>
              <a:t>cuatro</a:t>
            </a:r>
            <a:r>
              <a:rPr lang="en-US" baseline="0" dirty="0"/>
              <a:t> </a:t>
            </a:r>
            <a:r>
              <a:rPr lang="en-US" baseline="0" dirty="0" err="1"/>
              <a:t>veces</a:t>
            </a:r>
            <a:r>
              <a:rPr lang="en-US" baseline="0" dirty="0"/>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4842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858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85E5-1E15-8C25-0901-FEB224CF9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2ACEF-11EC-7CFC-3D88-DAF5C3945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9D69E-B579-FAF5-1524-77CD86BE4A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06FBF-5410-BEA7-DD1E-218D3DC4B2E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9117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2BD0-1B24-C923-8BDD-E6F7DF39F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59663-F467-90B6-4AFD-D6370FC15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58CE0-576C-366F-491C-530697C458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1B82A6-7149-84E1-207B-2D69F56D629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4563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B4BE7-0BE5-17A8-CBDD-E61169D16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7A7B-193C-5E16-4AF8-F3908340A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BEC6A-A059-AA06-4ED5-75981996E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52E732-EB5E-AED6-BC5D-DA8C7E4A6B7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9688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835A-5A17-0078-C78B-795CDB0F9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A7EF7-3CA5-F4E3-604D-A3B2408A7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20480-931E-C453-7179-61567BC913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ED0D86-DA55-0469-D930-91651513230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2956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5665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7647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95905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2/23/26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2/23/26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2/23/26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2/23/26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2/23/26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2/23/26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6.emf"/><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emf"/></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61457"/>
            <a:ext cx="11029615" cy="4094680"/>
          </a:xfrm>
        </p:spPr>
        <p:txBody>
          <a:bodyPr>
            <a:normAutofit/>
          </a:bodyPr>
          <a:lstStyle/>
          <a:p>
            <a:pPr marL="0" indent="0" algn="ctr">
              <a:buNone/>
            </a:pPr>
            <a:r>
              <a:rPr lang="es-CO" sz="4400" dirty="0">
                <a:solidFill>
                  <a:srgbClr val="C00000"/>
                </a:solidFill>
              </a:rPr>
              <a:t>¿Qué hacemos en estos casos?</a:t>
            </a:r>
          </a:p>
        </p:txBody>
      </p:sp>
      <p:sp>
        <p:nvSpPr>
          <p:cNvPr id="6" name="Rectángulo 5">
            <a:extLst>
              <a:ext uri="{FF2B5EF4-FFF2-40B4-BE49-F238E27FC236}">
                <a16:creationId xmlns:a16="http://schemas.microsoft.com/office/drawing/2014/main" id="{6070ECE1-5F74-2AA0-260B-626F631CB9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08027CA-742A-D678-EA2D-28456D129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2E5AEBF-22C9-2527-1FDF-93527146787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25AC0B3-2228-6276-7E24-66FCBE774C7A}"/>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ACLARACIÓN DE LA TIR</a:t>
            </a:r>
          </a:p>
        </p:txBody>
      </p:sp>
      <p:sp>
        <p:nvSpPr>
          <p:cNvPr id="2" name="Marcador de número de diapositiva 3">
            <a:extLst>
              <a:ext uri="{FF2B5EF4-FFF2-40B4-BE49-F238E27FC236}">
                <a16:creationId xmlns:a16="http://schemas.microsoft.com/office/drawing/2014/main" id="{F8665161-1DD5-ECCC-B669-3053C8BBD3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18596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07030"/>
            <a:ext cx="11029616" cy="4149108"/>
          </a:xfrm>
        </p:spPr>
        <p:txBody>
          <a:bodyPr>
            <a:normAutofit/>
          </a:bodyPr>
          <a:lstStyle/>
          <a:p>
            <a:pPr marL="0" indent="0" algn="just">
              <a:buNone/>
            </a:pPr>
            <a:r>
              <a:rPr lang="es-ES_tradnl" sz="2400" dirty="0"/>
              <a:t>Los dos proyectos aunque cuentan con estructuras de flujos muy diferentes  cuentan con una misma rentabilidad (TIR).</a:t>
            </a:r>
          </a:p>
          <a:p>
            <a:pPr marL="0" indent="0" algn="just">
              <a:buNone/>
            </a:pPr>
            <a:endParaRPr lang="es-ES_tradnl" sz="2400" dirty="0"/>
          </a:p>
          <a:p>
            <a:pPr marL="0" indent="0" algn="just">
              <a:buNone/>
            </a:pPr>
            <a:r>
              <a:rPr lang="es-ES_tradnl" sz="2400" dirty="0"/>
              <a:t>Esto se debe a que la TIR es la rentabilidad de los recursos que</a:t>
            </a:r>
            <a:r>
              <a:rPr lang="es-ES_tradnl" sz="2400" b="1" dirty="0"/>
              <a:t> permanecen en el proyecto. </a:t>
            </a:r>
            <a:endParaRPr lang="es-ES_tradnl" sz="2400" dirty="0"/>
          </a:p>
          <a:p>
            <a:pPr marL="0" indent="0" algn="just">
              <a:buNone/>
            </a:pPr>
            <a:endParaRPr lang="es-ES_tradnl" sz="2400" dirty="0"/>
          </a:p>
          <a:p>
            <a:pPr marL="0" indent="0" algn="just">
              <a:buNone/>
            </a:pPr>
            <a:r>
              <a:rPr lang="es-ES_tradnl" sz="2400" dirty="0"/>
              <a:t>Veamos lo anterior en detalle.</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ángulo 5">
            <a:extLst>
              <a:ext uri="{FF2B5EF4-FFF2-40B4-BE49-F238E27FC236}">
                <a16:creationId xmlns:a16="http://schemas.microsoft.com/office/drawing/2014/main" id="{6CA2F824-25BE-B488-7683-C44300C511D1}"/>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7" name="Picture 2" descr="Clientes y aliados | Centro de Evaluación | Uniandes">
            <a:extLst>
              <a:ext uri="{FF2B5EF4-FFF2-40B4-BE49-F238E27FC236}">
                <a16:creationId xmlns:a16="http://schemas.microsoft.com/office/drawing/2014/main" id="{05C33AF6-AA43-4CB4-1C89-9E6804C1A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7A96DF7-5AA8-D7F7-2BAD-298A16FC9CE7}"/>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9" name="Título 1">
            <a:extLst>
              <a:ext uri="{FF2B5EF4-FFF2-40B4-BE49-F238E27FC236}">
                <a16:creationId xmlns:a16="http://schemas.microsoft.com/office/drawing/2014/main" id="{66FC5D49-042C-69A0-C98A-F510CA138337}"/>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42621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p:cNvCxnSpPr/>
          <p:nvPr/>
        </p:nvCxnSpPr>
        <p:spPr>
          <a:xfrm>
            <a:off x="1279868" y="3194042"/>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1194266" y="2820044"/>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p:cNvSpPr>
            <a:spLocks/>
          </p:cNvSpPr>
          <p:nvPr/>
        </p:nvSpPr>
        <p:spPr bwMode="auto">
          <a:xfrm>
            <a:off x="2771418" y="328637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p:cNvSpPr>
            <a:spLocks/>
          </p:cNvSpPr>
          <p:nvPr/>
        </p:nvSpPr>
        <p:spPr bwMode="auto">
          <a:xfrm>
            <a:off x="3859906" y="328637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p:cNvSpPr>
            <a:spLocks/>
          </p:cNvSpPr>
          <p:nvPr/>
        </p:nvSpPr>
        <p:spPr bwMode="auto">
          <a:xfrm>
            <a:off x="4919380" y="330033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p:cNvSpPr>
            <a:spLocks/>
          </p:cNvSpPr>
          <p:nvPr/>
        </p:nvSpPr>
        <p:spPr bwMode="auto">
          <a:xfrm>
            <a:off x="771743" y="405937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p:cNvSpPr>
            <a:spLocks/>
          </p:cNvSpPr>
          <p:nvPr/>
        </p:nvSpPr>
        <p:spPr bwMode="auto">
          <a:xfrm>
            <a:off x="1808701" y="330033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p:cNvSpPr>
            <a:spLocks/>
          </p:cNvSpPr>
          <p:nvPr/>
        </p:nvSpPr>
        <p:spPr bwMode="auto">
          <a:xfrm>
            <a:off x="2801004" y="206062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graphicFrame>
        <p:nvGraphicFramePr>
          <p:cNvPr id="17" name="Table 16"/>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90.000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1.090.000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 90.000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90.000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 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53" name="Straight Connector 52">
            <a:extLst>
              <a:ext uri="{FF2B5EF4-FFF2-40B4-BE49-F238E27FC236}">
                <a16:creationId xmlns:a16="http://schemas.microsoft.com/office/drawing/2014/main" id="{EB990701-222C-4FB2-851C-F0613482C732}"/>
              </a:ext>
            </a:extLst>
          </p:cNvPr>
          <p:cNvCxnSpPr/>
          <p:nvPr/>
        </p:nvCxnSpPr>
        <p:spPr>
          <a:xfrm>
            <a:off x="1309308" y="3194042"/>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909DE8AA-4CE3-4AE9-9F05-D17B7A2FDD66}"/>
              </a:ext>
            </a:extLst>
          </p:cNvPr>
          <p:cNvCxnSpPr/>
          <p:nvPr/>
        </p:nvCxnSpPr>
        <p:spPr>
          <a:xfrm>
            <a:off x="1309307" y="3194042"/>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5F5B25C5-11D5-47B2-85FD-8F2F11584B41}"/>
              </a:ext>
            </a:extLst>
          </p:cNvPr>
          <p:cNvCxnSpPr/>
          <p:nvPr/>
        </p:nvCxnSpPr>
        <p:spPr>
          <a:xfrm flipV="1">
            <a:off x="2984447" y="273531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4FB218C-B370-4E36-9077-C82F0182233B}"/>
              </a:ext>
            </a:extLst>
          </p:cNvPr>
          <p:cNvCxnSpPr/>
          <p:nvPr/>
        </p:nvCxnSpPr>
        <p:spPr>
          <a:xfrm flipV="1">
            <a:off x="4057876" y="273531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7132BCFB-1B12-40E4-9563-25758905BB79}"/>
              </a:ext>
            </a:extLst>
          </p:cNvPr>
          <p:cNvCxnSpPr/>
          <p:nvPr/>
        </p:nvCxnSpPr>
        <p:spPr>
          <a:xfrm flipV="1">
            <a:off x="2006671" y="273531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86592FDB-24C6-419C-A292-E8949BEDDD5F}"/>
              </a:ext>
            </a:extLst>
          </p:cNvPr>
          <p:cNvSpPr/>
          <p:nvPr/>
        </p:nvSpPr>
        <p:spPr>
          <a:xfrm rot="5400000">
            <a:off x="3302344" y="957713"/>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0" name="Straight Arrow Connector 59">
            <a:extLst>
              <a:ext uri="{FF2B5EF4-FFF2-40B4-BE49-F238E27FC236}">
                <a16:creationId xmlns:a16="http://schemas.microsoft.com/office/drawing/2014/main" id="{C7A16934-F9E5-4554-BFF4-9443F1B2F36B}"/>
              </a:ext>
            </a:extLst>
          </p:cNvPr>
          <p:cNvCxnSpPr>
            <a:cxnSpLocks/>
          </p:cNvCxnSpPr>
          <p:nvPr/>
        </p:nvCxnSpPr>
        <p:spPr>
          <a:xfrm flipV="1">
            <a:off x="5087910" y="1815737"/>
            <a:ext cx="0" cy="858602"/>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sp>
        <p:nvSpPr>
          <p:cNvPr id="65" name="Rectangle 64">
            <a:extLst>
              <a:ext uri="{FF2B5EF4-FFF2-40B4-BE49-F238E27FC236}">
                <a16:creationId xmlns:a16="http://schemas.microsoft.com/office/drawing/2014/main" id="{FB3842AC-E26E-4625-87D7-9C935DC382E0}"/>
              </a:ext>
            </a:extLst>
          </p:cNvPr>
          <p:cNvSpPr>
            <a:spLocks/>
          </p:cNvSpPr>
          <p:nvPr/>
        </p:nvSpPr>
        <p:spPr bwMode="auto">
          <a:xfrm>
            <a:off x="4917388" y="195022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3" name="Rectángulo 2">
            <a:extLst>
              <a:ext uri="{FF2B5EF4-FFF2-40B4-BE49-F238E27FC236}">
                <a16:creationId xmlns:a16="http://schemas.microsoft.com/office/drawing/2014/main" id="{CA19B3B0-0633-35AD-C58A-52EE8B902818}"/>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C15005F6-A7E8-DAFB-8C60-30713E57B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EC088C0-79C5-959F-0B57-BA0926B95C60}"/>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CFA551D0-91D3-9353-A3AA-32C5BBBECE1E}"/>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cxnSp>
        <p:nvCxnSpPr>
          <p:cNvPr id="14" name="Straight Arrow Connector 55">
            <a:extLst>
              <a:ext uri="{FF2B5EF4-FFF2-40B4-BE49-F238E27FC236}">
                <a16:creationId xmlns:a16="http://schemas.microsoft.com/office/drawing/2014/main" id="{64829254-737E-B1B9-70FF-CADB1B2D2F93}"/>
              </a:ext>
            </a:extLst>
          </p:cNvPr>
          <p:cNvCxnSpPr/>
          <p:nvPr/>
        </p:nvCxnSpPr>
        <p:spPr>
          <a:xfrm flipV="1">
            <a:off x="5104356" y="272515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0583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07029"/>
            <a:ext cx="11110065" cy="1621972"/>
          </a:xfrm>
        </p:spPr>
        <p:txBody>
          <a:bodyPr>
            <a:normAutofit/>
          </a:bodyPr>
          <a:lstStyle/>
          <a:p>
            <a:pPr marL="0" indent="0" algn="just">
              <a:buNone/>
            </a:pPr>
            <a:r>
              <a:rPr lang="es-ES_tradnl" sz="2600" dirty="0"/>
              <a:t>En el </a:t>
            </a:r>
            <a:r>
              <a:rPr lang="es-ES_tradnl" sz="2600" b="1" dirty="0"/>
              <a:t>Proyecto 1</a:t>
            </a:r>
            <a:r>
              <a:rPr lang="es-ES_tradnl" sz="2600" dirty="0"/>
              <a:t> es muy fácil ver que el retorno solo se da sobre el 1.000.000 que permanece en el proyecto, ahora veamos que pasa en el proyecto 2.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ángulo 5">
            <a:extLst>
              <a:ext uri="{FF2B5EF4-FFF2-40B4-BE49-F238E27FC236}">
                <a16:creationId xmlns:a16="http://schemas.microsoft.com/office/drawing/2014/main" id="{64ECFD48-7DBC-EDD1-3D73-D20B5AA80464}"/>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7" name="Picture 2" descr="Clientes y aliados | Centro de Evaluación | Uniandes">
            <a:extLst>
              <a:ext uri="{FF2B5EF4-FFF2-40B4-BE49-F238E27FC236}">
                <a16:creationId xmlns:a16="http://schemas.microsoft.com/office/drawing/2014/main" id="{79B75A3E-69A7-2F28-4823-633E639EC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E4776B0-6494-2B16-F916-CAD7084B28C0}"/>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9" name="Título 1">
            <a:extLst>
              <a:ext uri="{FF2B5EF4-FFF2-40B4-BE49-F238E27FC236}">
                <a16:creationId xmlns:a16="http://schemas.microsoft.com/office/drawing/2014/main" id="{DF845CB8-DA0D-907F-8853-2AB22EF933C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3697490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EB990701-222C-4FB2-851C-F0613482C732}"/>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909DE8AA-4CE3-4AE9-9F05-D17B7A2FDD66}"/>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5F5B25C5-11D5-47B2-85FD-8F2F11584B41}"/>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4FB218C-B370-4E36-9077-C82F0182233B}"/>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46DF9E9D-BDF7-4D50-BA15-31B4DB0D9868}"/>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7132BCFB-1B12-40E4-9563-25758905BB79}"/>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86592FDB-24C6-419C-A292-E8949BEDDD5F}"/>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472FF93C-4321-A46C-B08A-E748089F86BC}"/>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AD949628-2A98-0011-8016-AC57572FD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D831F89-2E74-A70E-CCB9-AEA5F88D6307}"/>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F2D0A8AA-6172-072E-AEC1-85066CA3C8E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87E8172E-09AE-DC8D-7483-9D32CBB8CF5A}"/>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90440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5570-E74F-D6D6-C4E0-B2C5BFC8AF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E2AE79-4D5E-F9B4-3B00-0CB1F68A31F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8F11F32-20B4-BD10-1497-4DFAA85645E6}"/>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FD0DF8B-75ED-5918-8054-B47195B37B90}"/>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B4CC49F3-78BA-1C67-13E7-15160F2EB6AA}"/>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1081E91E-F4E9-ACD4-18E9-DA847389F6CD}"/>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3530F3C9-7F64-6172-AF1A-D805C1134372}"/>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B0711626-E55E-0E0E-4532-D67B077E734C}"/>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94A11892-5E2F-6AED-86D3-85B9B3E6FD63}"/>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217691A1-A791-9A7B-291E-91FB9D59F546}"/>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AA1143D7-3763-439B-3695-89E0E4FC49A7}"/>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89B426E1-74AA-6E31-833D-30190D24C689}"/>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F0943C03-C039-FE59-AD0E-8A7988D464D1}"/>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044852EF-A265-A92A-FF4E-70FF7AA83768}"/>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2DED702E-FA96-A93D-7EDD-798715A76984}"/>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0E3B8A93-0114-4968-4E72-74B4969F0A5A}"/>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989355FB-40ED-A303-AD99-C7A5D8C8D8B2}"/>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ACDA055D-2567-BAC6-C43E-5489634B1C08}"/>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4980ED21-1D4B-4E6A-E0D3-E5C060EE1405}"/>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53E2BAEC-5881-13C7-7058-86230F464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D872A59-70AD-3A0C-9D5F-BB838B4E1AF0}"/>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990D88B8-0F13-5525-6742-56B184CF4D61}"/>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E657069C-D08A-EC69-FB33-C208EC338477}"/>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04A271C1-F757-4613-8028-708E4A9E0322}"/>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A6CBECC-B5EB-4424-8F38-330A57296FC6}"/>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Tree>
    <p:extLst>
      <p:ext uri="{BB962C8B-B14F-4D97-AF65-F5344CB8AC3E}">
        <p14:creationId xmlns:p14="http://schemas.microsoft.com/office/powerpoint/2010/main" val="2996883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96CD-9379-B406-402B-E305499E65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E03F7C-BB78-D1A5-7096-E80BDB914C7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69A0E35-E4F5-BC1C-C842-9027102ABD6D}"/>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E374AFA-4201-895A-7215-72DEE772D8C5}"/>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B5472E6C-4A4C-FA78-CD64-76F0FA3025E8}"/>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40DBC0A7-7753-223D-D40C-FCC082F4F451}"/>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404586F3-10CF-6DBD-FFFE-27EDB1D79D61}"/>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BF6D7AC4-C82B-CEB3-8C65-A96077A62736}"/>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1910B922-D462-BEE3-7B6C-B53A02692A8A}"/>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4B99AA82-8D38-4E2F-68DB-0F60DD272FF0}"/>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6D3E406D-0EF9-504A-796C-9CA0123B248D}"/>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773A8F20-2E9A-12F0-F153-E0F98B8C227C}"/>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068AD7D1-0F44-7856-BAF8-E380FEE5895D}"/>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668F25B-7665-0286-2C46-A845F44304E2}"/>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CCD373C5-2ED3-AD0C-F130-F93CF6BA987B}"/>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5BF5FD67-3B91-CF69-A601-2A2B5DA7873A}"/>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052BA03E-6E2A-72E7-33AA-9320464EBBC7}"/>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8BC40A9E-3889-57F8-FCBE-C93C78CB55CE}"/>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7141F7E1-0188-26EA-9FF2-F9D2C16F1DF2}"/>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C7DA1517-37DE-E42C-AE1B-494960CC3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32DCD43-8244-1FF4-C370-97239D256B61}"/>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E4C930A0-578F-0552-3F9B-C90E96E2F8E9}"/>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B3911330-6061-23E6-90AC-47A058D2E0F5}"/>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70.320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238.349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542.983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a:extLst>
              <a:ext uri="{FF2B5EF4-FFF2-40B4-BE49-F238E27FC236}">
                <a16:creationId xmlns:a16="http://schemas.microsoft.com/office/drawing/2014/main" id="{E1A77068-A0A9-9AC0-86B9-CDDC6B03E21D}"/>
              </a:ext>
            </a:extLst>
          </p:cNvPr>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F2D7386-8C71-940C-ABD0-7A33E3B9C5D7}"/>
              </a:ext>
            </a:extLst>
          </p:cNvPr>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475D93B4-43D8-CE5D-F5D2-A53B487A00D6}"/>
              </a:ext>
            </a:extLst>
          </p:cNvPr>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a:extLst>
              <a:ext uri="{FF2B5EF4-FFF2-40B4-BE49-F238E27FC236}">
                <a16:creationId xmlns:a16="http://schemas.microsoft.com/office/drawing/2014/main" id="{2792B039-D133-6EBE-1286-9099DD1E27ED}"/>
              </a:ext>
            </a:extLst>
          </p:cNvPr>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a:extLst>
              <a:ext uri="{FF2B5EF4-FFF2-40B4-BE49-F238E27FC236}">
                <a16:creationId xmlns:a16="http://schemas.microsoft.com/office/drawing/2014/main" id="{A9D5DC9D-3D90-FDB3-2ABA-7862A37CD7AA}"/>
              </a:ext>
            </a:extLst>
          </p:cNvPr>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a:extLst>
              <a:ext uri="{FF2B5EF4-FFF2-40B4-BE49-F238E27FC236}">
                <a16:creationId xmlns:a16="http://schemas.microsoft.com/office/drawing/2014/main" id="{5F14F927-8102-85A5-B7B2-FF211560013F}"/>
              </a:ext>
            </a:extLst>
          </p:cNvPr>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a:extLst>
              <a:ext uri="{FF2B5EF4-FFF2-40B4-BE49-F238E27FC236}">
                <a16:creationId xmlns:a16="http://schemas.microsoft.com/office/drawing/2014/main" id="{3671EF61-FE8D-EACF-D766-FEF89F55FBD8}"/>
              </a:ext>
            </a:extLst>
          </p:cNvPr>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a:extLst>
              <a:ext uri="{FF2B5EF4-FFF2-40B4-BE49-F238E27FC236}">
                <a16:creationId xmlns:a16="http://schemas.microsoft.com/office/drawing/2014/main" id="{3DE3E496-6481-93DC-FFCE-B8D0CBC01974}"/>
              </a:ext>
            </a:extLst>
          </p:cNvPr>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AC3001BE-0913-0D98-A373-DDCB8BBDC143}"/>
              </a:ext>
            </a:extLst>
          </p:cNvPr>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B37A4C7E-8C31-1C34-1398-0B4DE53444BF}"/>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32F9897-1C92-E101-8D2B-B5FDC0F81982}"/>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BFB8A3F3-8C6D-7911-4E60-9FDD414B505D}"/>
              </a:ext>
            </a:extLst>
          </p:cNvPr>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2" name="Rectangle 44">
            <a:extLst>
              <a:ext uri="{FF2B5EF4-FFF2-40B4-BE49-F238E27FC236}">
                <a16:creationId xmlns:a16="http://schemas.microsoft.com/office/drawing/2014/main" id="{96BA8AF6-834C-9A29-A17F-07207EED6213}"/>
              </a:ext>
            </a:extLst>
          </p:cNvPr>
          <p:cNvSpPr>
            <a:spLocks/>
          </p:cNvSpPr>
          <p:nvPr/>
        </p:nvSpPr>
        <p:spPr bwMode="auto">
          <a:xfrm>
            <a:off x="8563247" y="279260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17" name="Rectangle 47">
            <a:extLst>
              <a:ext uri="{FF2B5EF4-FFF2-40B4-BE49-F238E27FC236}">
                <a16:creationId xmlns:a16="http://schemas.microsoft.com/office/drawing/2014/main" id="{6C6C45FE-C77A-06B3-308C-1232A1B93D12}"/>
              </a:ext>
            </a:extLst>
          </p:cNvPr>
          <p:cNvSpPr>
            <a:spLocks/>
          </p:cNvSpPr>
          <p:nvPr/>
        </p:nvSpPr>
        <p:spPr bwMode="auto">
          <a:xfrm>
            <a:off x="8573920" y="2376822"/>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cxnSp>
        <p:nvCxnSpPr>
          <p:cNvPr id="18" name="Straight Arrow Connector 62">
            <a:extLst>
              <a:ext uri="{FF2B5EF4-FFF2-40B4-BE49-F238E27FC236}">
                <a16:creationId xmlns:a16="http://schemas.microsoft.com/office/drawing/2014/main" id="{DAEC074D-EB6D-5C83-3EA9-5B7667053093}"/>
              </a:ext>
            </a:extLst>
          </p:cNvPr>
          <p:cNvCxnSpPr/>
          <p:nvPr/>
        </p:nvCxnSpPr>
        <p:spPr>
          <a:xfrm flipV="1">
            <a:off x="8880324" y="2776148"/>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63">
            <a:extLst>
              <a:ext uri="{FF2B5EF4-FFF2-40B4-BE49-F238E27FC236}">
                <a16:creationId xmlns:a16="http://schemas.microsoft.com/office/drawing/2014/main" id="{F38F1906-DB73-A546-09E9-F91D524C398F}"/>
              </a:ext>
            </a:extLst>
          </p:cNvPr>
          <p:cNvCxnSpPr/>
          <p:nvPr/>
        </p:nvCxnSpPr>
        <p:spPr>
          <a:xfrm flipV="1">
            <a:off x="8894069" y="2221955"/>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1213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44F06-E4B6-6BD3-6CE7-63D89F26322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2C35F4-9BDF-589E-3C49-EC9582F7055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EFA6ABF-3476-627D-938E-5BB97B52E71D}"/>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8A43D40-4AAF-C731-B510-6D1B72F7CC74}"/>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1135BA8E-C496-6193-13E6-C2810D765196}"/>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505E624E-3F13-EF4F-9FD5-5929CCB6EF57}"/>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6F9F2570-2318-BBCC-BAEF-838BF6710560}"/>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79A58F92-DB7A-7C7B-9A6F-3547208A40CC}"/>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21F664AD-748B-34CF-67FB-929E5700F75B}"/>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5E03BB24-C414-491C-220B-103E64A26D2F}"/>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A9820EF2-CAAA-6725-3E1D-4CE6182BA6F0}"/>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21C99621-E40D-F06D-847B-FC83202EE93A}"/>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E8BADCB0-E413-9BEE-9A4D-6033DEFC6DB6}"/>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E2FCDBB6-34BF-94DC-448A-FCD1F99B87F9}"/>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AC53373-9D34-BE23-A575-81BA30A3C294}"/>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6034976B-9F93-9900-49AA-2BA77B663080}"/>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B7E83DEB-2EB7-4769-9575-09B8F8DCE495}"/>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16FED3A4-3AC3-D002-6936-DB5CF0586FB8}"/>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711C954F-4002-DFD0-4124-4D6E62A093D0}"/>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8028569E-4C84-541F-7BDB-CF942E169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1C54B34-E221-F577-1D9A-8DEB3D260C02}"/>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EA9404F5-FE42-EC3E-CA1C-8156FFA5AA42}"/>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208686F9-7BDE-852D-EA99-7821704FA859}"/>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70.320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48.868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238.349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259.800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542.983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283.182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a:extLst>
              <a:ext uri="{FF2B5EF4-FFF2-40B4-BE49-F238E27FC236}">
                <a16:creationId xmlns:a16="http://schemas.microsoft.com/office/drawing/2014/main" id="{460AAD95-8793-15A8-7089-C99B97BACBB2}"/>
              </a:ext>
            </a:extLst>
          </p:cNvPr>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BA682EA-51D4-5761-8F39-4B5767755BB5}"/>
              </a:ext>
            </a:extLst>
          </p:cNvPr>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B898610D-0508-4AA2-28C0-C3598C21DCE6}"/>
              </a:ext>
            </a:extLst>
          </p:cNvPr>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a:extLst>
              <a:ext uri="{FF2B5EF4-FFF2-40B4-BE49-F238E27FC236}">
                <a16:creationId xmlns:a16="http://schemas.microsoft.com/office/drawing/2014/main" id="{6025F474-F103-B484-DAF8-451992233347}"/>
              </a:ext>
            </a:extLst>
          </p:cNvPr>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a:extLst>
              <a:ext uri="{FF2B5EF4-FFF2-40B4-BE49-F238E27FC236}">
                <a16:creationId xmlns:a16="http://schemas.microsoft.com/office/drawing/2014/main" id="{F49B053A-A14D-6BB7-54F6-B904F36EF050}"/>
              </a:ext>
            </a:extLst>
          </p:cNvPr>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a:extLst>
              <a:ext uri="{FF2B5EF4-FFF2-40B4-BE49-F238E27FC236}">
                <a16:creationId xmlns:a16="http://schemas.microsoft.com/office/drawing/2014/main" id="{F2F9465A-4402-480F-55EA-086B01DE2A62}"/>
              </a:ext>
            </a:extLst>
          </p:cNvPr>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a:extLst>
              <a:ext uri="{FF2B5EF4-FFF2-40B4-BE49-F238E27FC236}">
                <a16:creationId xmlns:a16="http://schemas.microsoft.com/office/drawing/2014/main" id="{FB731434-B6EA-2C26-DA1E-0080B4A7B512}"/>
              </a:ext>
            </a:extLst>
          </p:cNvPr>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a:extLst>
              <a:ext uri="{FF2B5EF4-FFF2-40B4-BE49-F238E27FC236}">
                <a16:creationId xmlns:a16="http://schemas.microsoft.com/office/drawing/2014/main" id="{A30400F6-D306-D400-A0AD-E224FA623CD0}"/>
              </a:ext>
            </a:extLst>
          </p:cNvPr>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B1A05320-1A4E-9B4D-0E92-B7FB00CFDD5F}"/>
              </a:ext>
            </a:extLst>
          </p:cNvPr>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E8A2AD94-B5FB-2622-9E9E-3F7367FFF726}"/>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68BF058C-D39B-3B39-AF98-179596373199}"/>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AC68EEE7-A935-4091-9FF6-4CD3B8E06D5A}"/>
              </a:ext>
            </a:extLst>
          </p:cNvPr>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2" name="Rectangle 44">
            <a:extLst>
              <a:ext uri="{FF2B5EF4-FFF2-40B4-BE49-F238E27FC236}">
                <a16:creationId xmlns:a16="http://schemas.microsoft.com/office/drawing/2014/main" id="{7AE0A6FE-A696-C5E7-8F3F-A4204A2F7062}"/>
              </a:ext>
            </a:extLst>
          </p:cNvPr>
          <p:cNvSpPr>
            <a:spLocks/>
          </p:cNvSpPr>
          <p:nvPr/>
        </p:nvSpPr>
        <p:spPr bwMode="auto">
          <a:xfrm>
            <a:off x="8563247" y="279260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17" name="Rectangle 47">
            <a:extLst>
              <a:ext uri="{FF2B5EF4-FFF2-40B4-BE49-F238E27FC236}">
                <a16:creationId xmlns:a16="http://schemas.microsoft.com/office/drawing/2014/main" id="{931F3B86-FA4B-04A9-95F1-0EF4E859D38F}"/>
              </a:ext>
            </a:extLst>
          </p:cNvPr>
          <p:cNvSpPr>
            <a:spLocks/>
          </p:cNvSpPr>
          <p:nvPr/>
        </p:nvSpPr>
        <p:spPr bwMode="auto">
          <a:xfrm>
            <a:off x="8573920" y="2376822"/>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cxnSp>
        <p:nvCxnSpPr>
          <p:cNvPr id="18" name="Straight Arrow Connector 62">
            <a:extLst>
              <a:ext uri="{FF2B5EF4-FFF2-40B4-BE49-F238E27FC236}">
                <a16:creationId xmlns:a16="http://schemas.microsoft.com/office/drawing/2014/main" id="{1BE67067-C948-E552-9937-A2827AF6A90E}"/>
              </a:ext>
            </a:extLst>
          </p:cNvPr>
          <p:cNvCxnSpPr/>
          <p:nvPr/>
        </p:nvCxnSpPr>
        <p:spPr>
          <a:xfrm flipV="1">
            <a:off x="8880324" y="2776148"/>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63">
            <a:extLst>
              <a:ext uri="{FF2B5EF4-FFF2-40B4-BE49-F238E27FC236}">
                <a16:creationId xmlns:a16="http://schemas.microsoft.com/office/drawing/2014/main" id="{9D47F3B0-0F40-D921-FBCA-3E9721772A52}"/>
              </a:ext>
            </a:extLst>
          </p:cNvPr>
          <p:cNvCxnSpPr/>
          <p:nvPr/>
        </p:nvCxnSpPr>
        <p:spPr>
          <a:xfrm flipV="1">
            <a:off x="8894069" y="2221955"/>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40">
            <a:extLst>
              <a:ext uri="{FF2B5EF4-FFF2-40B4-BE49-F238E27FC236}">
                <a16:creationId xmlns:a16="http://schemas.microsoft.com/office/drawing/2014/main" id="{F2EAA67F-4C5C-6CFA-C05E-F374074EE629}"/>
              </a:ext>
            </a:extLst>
          </p:cNvPr>
          <p:cNvCxnSpPr/>
          <p:nvPr/>
        </p:nvCxnSpPr>
        <p:spPr>
          <a:xfrm flipV="1">
            <a:off x="9964271" y="2748024"/>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41">
            <a:extLst>
              <a:ext uri="{FF2B5EF4-FFF2-40B4-BE49-F238E27FC236}">
                <a16:creationId xmlns:a16="http://schemas.microsoft.com/office/drawing/2014/main" id="{9C7769B3-46E5-8AE3-0B7C-AE5669AE97CD}"/>
              </a:ext>
            </a:extLst>
          </p:cNvPr>
          <p:cNvCxnSpPr/>
          <p:nvPr/>
        </p:nvCxnSpPr>
        <p:spPr>
          <a:xfrm flipV="1">
            <a:off x="9978016" y="2193831"/>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45">
            <a:extLst>
              <a:ext uri="{FF2B5EF4-FFF2-40B4-BE49-F238E27FC236}">
                <a16:creationId xmlns:a16="http://schemas.microsoft.com/office/drawing/2014/main" id="{0B5FFC10-0A40-E85D-D671-B90217A740C6}"/>
              </a:ext>
            </a:extLst>
          </p:cNvPr>
          <p:cNvSpPr>
            <a:spLocks/>
          </p:cNvSpPr>
          <p:nvPr/>
        </p:nvSpPr>
        <p:spPr bwMode="auto">
          <a:xfrm>
            <a:off x="9578469" y="280035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48.868</a:t>
            </a:r>
          </a:p>
        </p:txBody>
      </p:sp>
      <p:sp>
        <p:nvSpPr>
          <p:cNvPr id="26" name="Rectangle 48">
            <a:extLst>
              <a:ext uri="{FF2B5EF4-FFF2-40B4-BE49-F238E27FC236}">
                <a16:creationId xmlns:a16="http://schemas.microsoft.com/office/drawing/2014/main" id="{7D090A38-122E-521C-431B-E38DB95B7607}"/>
              </a:ext>
            </a:extLst>
          </p:cNvPr>
          <p:cNvSpPr>
            <a:spLocks/>
          </p:cNvSpPr>
          <p:nvPr/>
        </p:nvSpPr>
        <p:spPr bwMode="auto">
          <a:xfrm>
            <a:off x="9610556" y="237147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259.800</a:t>
            </a:r>
          </a:p>
        </p:txBody>
      </p:sp>
    </p:spTree>
    <p:extLst>
      <p:ext uri="{BB962C8B-B14F-4D97-AF65-F5344CB8AC3E}">
        <p14:creationId xmlns:p14="http://schemas.microsoft.com/office/powerpoint/2010/main" val="1616214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8F3E-4BF9-847D-4DEC-5892250AA5A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521F31-06F7-2F5E-870B-E4C7B47D549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90FF12B-7427-6A36-36E2-6801CC92193F}"/>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DD2FC29-1144-17BA-61EC-FDDD613741F9}"/>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97C95EBA-EFEF-770D-8EE4-E3798A174191}"/>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5217E1C4-A524-8756-3380-2D3A080334D1}"/>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C295BCC5-93C0-9649-D2E4-38D68E4E8E85}"/>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5DE88A39-9389-C033-97DA-AC8D72584BAE}"/>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CC1E17F3-6708-CC76-534E-2156752782F6}"/>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80B2190D-1B3A-4B89-B470-8358C3279168}"/>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8F9B185A-1BB4-D33E-668C-CBB85EE0F1D9}"/>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6A3DEC03-440C-628B-4654-CBF2C32DAD51}"/>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7B46E015-FAED-6A3B-4DE3-C7AFE8483CAF}"/>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F82D276-911C-5B71-66B8-74E3BE9550CF}"/>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534A5C1E-B85E-4D68-4DBD-69FC40836485}"/>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695D22B5-89C0-0C8F-CDAF-37EB95F59D99}"/>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C5448F90-0AD6-DC6B-477D-74D3E0D3957E}"/>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53780489-100D-5318-C354-E09B4CBFEC7A}"/>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EBF4F87D-D061-5A02-AB6B-20011A4D9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ECD3392-8754-ABB6-7563-D8709701FCE4}"/>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45C74932-23CC-FFC8-8DB0-AF7AFE4A2D4B}"/>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0960FFA1-5023-2700-25AD-6D7AA379C3DA}"/>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70.320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48.868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25.486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238.349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259.800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283.182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542.983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283.182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a:extLst>
              <a:ext uri="{FF2B5EF4-FFF2-40B4-BE49-F238E27FC236}">
                <a16:creationId xmlns:a16="http://schemas.microsoft.com/office/drawing/2014/main" id="{2B9368E9-4853-427D-9A8F-A1EE3FDC1A94}"/>
              </a:ext>
            </a:extLst>
          </p:cNvPr>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C28105D-4C60-6EF1-7405-57269380DDE2}"/>
              </a:ext>
            </a:extLst>
          </p:cNvPr>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E630ACD4-4848-D68A-9BF5-1FBC6C20C4AE}"/>
              </a:ext>
            </a:extLst>
          </p:cNvPr>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a:extLst>
              <a:ext uri="{FF2B5EF4-FFF2-40B4-BE49-F238E27FC236}">
                <a16:creationId xmlns:a16="http://schemas.microsoft.com/office/drawing/2014/main" id="{6D68BF86-37E8-4E6C-01D4-8775AE35652F}"/>
              </a:ext>
            </a:extLst>
          </p:cNvPr>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a:extLst>
              <a:ext uri="{FF2B5EF4-FFF2-40B4-BE49-F238E27FC236}">
                <a16:creationId xmlns:a16="http://schemas.microsoft.com/office/drawing/2014/main" id="{8CE7529A-E57B-C1F5-FE46-D315C8515573}"/>
              </a:ext>
            </a:extLst>
          </p:cNvPr>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a:extLst>
              <a:ext uri="{FF2B5EF4-FFF2-40B4-BE49-F238E27FC236}">
                <a16:creationId xmlns:a16="http://schemas.microsoft.com/office/drawing/2014/main" id="{63106BC6-67B0-AA75-9826-529C0BA16BDB}"/>
              </a:ext>
            </a:extLst>
          </p:cNvPr>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a:extLst>
              <a:ext uri="{FF2B5EF4-FFF2-40B4-BE49-F238E27FC236}">
                <a16:creationId xmlns:a16="http://schemas.microsoft.com/office/drawing/2014/main" id="{8794254E-8C92-3442-609C-DF6DBA36B411}"/>
              </a:ext>
            </a:extLst>
          </p:cNvPr>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a:extLst>
              <a:ext uri="{FF2B5EF4-FFF2-40B4-BE49-F238E27FC236}">
                <a16:creationId xmlns:a16="http://schemas.microsoft.com/office/drawing/2014/main" id="{D8F6B47F-F2AE-93CB-CEAF-6234F2261363}"/>
              </a:ext>
            </a:extLst>
          </p:cNvPr>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037987A9-F44F-8643-D472-0AEFA51EAC03}"/>
              </a:ext>
            </a:extLst>
          </p:cNvPr>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5DFFE12A-563F-3848-274C-604D3AC47034}"/>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5C236BB2-686B-832E-8CB7-2F53B2B5EA05}"/>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2F025B96-8555-0BBC-7D60-7AF5A244A8C5}"/>
              </a:ext>
            </a:extLst>
          </p:cNvPr>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2" name="Rectangle 44">
            <a:extLst>
              <a:ext uri="{FF2B5EF4-FFF2-40B4-BE49-F238E27FC236}">
                <a16:creationId xmlns:a16="http://schemas.microsoft.com/office/drawing/2014/main" id="{6B24B261-D207-7405-64F1-3E04FBF71E47}"/>
              </a:ext>
            </a:extLst>
          </p:cNvPr>
          <p:cNvSpPr>
            <a:spLocks/>
          </p:cNvSpPr>
          <p:nvPr/>
        </p:nvSpPr>
        <p:spPr bwMode="auto">
          <a:xfrm>
            <a:off x="8563247" y="279260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17" name="Rectangle 47">
            <a:extLst>
              <a:ext uri="{FF2B5EF4-FFF2-40B4-BE49-F238E27FC236}">
                <a16:creationId xmlns:a16="http://schemas.microsoft.com/office/drawing/2014/main" id="{402681A5-1FC2-67F0-373D-894E04370337}"/>
              </a:ext>
            </a:extLst>
          </p:cNvPr>
          <p:cNvSpPr>
            <a:spLocks/>
          </p:cNvSpPr>
          <p:nvPr/>
        </p:nvSpPr>
        <p:spPr bwMode="auto">
          <a:xfrm>
            <a:off x="8573920" y="2376822"/>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cxnSp>
        <p:nvCxnSpPr>
          <p:cNvPr id="18" name="Straight Arrow Connector 62">
            <a:extLst>
              <a:ext uri="{FF2B5EF4-FFF2-40B4-BE49-F238E27FC236}">
                <a16:creationId xmlns:a16="http://schemas.microsoft.com/office/drawing/2014/main" id="{B4602B64-7DBF-5EAD-7B91-6AB197E2D6A0}"/>
              </a:ext>
            </a:extLst>
          </p:cNvPr>
          <p:cNvCxnSpPr/>
          <p:nvPr/>
        </p:nvCxnSpPr>
        <p:spPr>
          <a:xfrm flipV="1">
            <a:off x="8880324" y="2776148"/>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63">
            <a:extLst>
              <a:ext uri="{FF2B5EF4-FFF2-40B4-BE49-F238E27FC236}">
                <a16:creationId xmlns:a16="http://schemas.microsoft.com/office/drawing/2014/main" id="{4629758F-CF58-2D2E-63E6-94E2DCACD398}"/>
              </a:ext>
            </a:extLst>
          </p:cNvPr>
          <p:cNvCxnSpPr/>
          <p:nvPr/>
        </p:nvCxnSpPr>
        <p:spPr>
          <a:xfrm flipV="1">
            <a:off x="8894069" y="2221955"/>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40">
            <a:extLst>
              <a:ext uri="{FF2B5EF4-FFF2-40B4-BE49-F238E27FC236}">
                <a16:creationId xmlns:a16="http://schemas.microsoft.com/office/drawing/2014/main" id="{A29C5DDC-7DE5-8B38-2321-EE97AA5411AC}"/>
              </a:ext>
            </a:extLst>
          </p:cNvPr>
          <p:cNvCxnSpPr/>
          <p:nvPr/>
        </p:nvCxnSpPr>
        <p:spPr>
          <a:xfrm flipV="1">
            <a:off x="9964271" y="2748024"/>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41">
            <a:extLst>
              <a:ext uri="{FF2B5EF4-FFF2-40B4-BE49-F238E27FC236}">
                <a16:creationId xmlns:a16="http://schemas.microsoft.com/office/drawing/2014/main" id="{D3FC12B5-8D3F-2E8D-643C-B1DD7D9E0743}"/>
              </a:ext>
            </a:extLst>
          </p:cNvPr>
          <p:cNvCxnSpPr/>
          <p:nvPr/>
        </p:nvCxnSpPr>
        <p:spPr>
          <a:xfrm flipV="1">
            <a:off x="9978016" y="2193831"/>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45">
            <a:extLst>
              <a:ext uri="{FF2B5EF4-FFF2-40B4-BE49-F238E27FC236}">
                <a16:creationId xmlns:a16="http://schemas.microsoft.com/office/drawing/2014/main" id="{ECDFE7C2-931A-B5C0-C8D8-8338D9AFE466}"/>
              </a:ext>
            </a:extLst>
          </p:cNvPr>
          <p:cNvSpPr>
            <a:spLocks/>
          </p:cNvSpPr>
          <p:nvPr/>
        </p:nvSpPr>
        <p:spPr bwMode="auto">
          <a:xfrm>
            <a:off x="9578469" y="280035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48.868</a:t>
            </a:r>
          </a:p>
        </p:txBody>
      </p:sp>
      <p:sp>
        <p:nvSpPr>
          <p:cNvPr id="26" name="Rectangle 48">
            <a:extLst>
              <a:ext uri="{FF2B5EF4-FFF2-40B4-BE49-F238E27FC236}">
                <a16:creationId xmlns:a16="http://schemas.microsoft.com/office/drawing/2014/main" id="{32F9ED47-4590-826F-BE05-CB519E4E1CA5}"/>
              </a:ext>
            </a:extLst>
          </p:cNvPr>
          <p:cNvSpPr>
            <a:spLocks/>
          </p:cNvSpPr>
          <p:nvPr/>
        </p:nvSpPr>
        <p:spPr bwMode="auto">
          <a:xfrm>
            <a:off x="9610556" y="237147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259.800</a:t>
            </a:r>
          </a:p>
        </p:txBody>
      </p:sp>
      <p:cxnSp>
        <p:nvCxnSpPr>
          <p:cNvPr id="27" name="Straight Arrow Connector 42">
            <a:extLst>
              <a:ext uri="{FF2B5EF4-FFF2-40B4-BE49-F238E27FC236}">
                <a16:creationId xmlns:a16="http://schemas.microsoft.com/office/drawing/2014/main" id="{13348FE3-1D60-3BAB-470D-7324DB97F6A9}"/>
              </a:ext>
            </a:extLst>
          </p:cNvPr>
          <p:cNvCxnSpPr/>
          <p:nvPr/>
        </p:nvCxnSpPr>
        <p:spPr>
          <a:xfrm flipV="1">
            <a:off x="10941005" y="2767030"/>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43">
            <a:extLst>
              <a:ext uri="{FF2B5EF4-FFF2-40B4-BE49-F238E27FC236}">
                <a16:creationId xmlns:a16="http://schemas.microsoft.com/office/drawing/2014/main" id="{94EBB022-6D86-DA6A-D260-230EDE76CA98}"/>
              </a:ext>
            </a:extLst>
          </p:cNvPr>
          <p:cNvCxnSpPr/>
          <p:nvPr/>
        </p:nvCxnSpPr>
        <p:spPr>
          <a:xfrm flipV="1">
            <a:off x="10954750" y="2212837"/>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49">
            <a:extLst>
              <a:ext uri="{FF2B5EF4-FFF2-40B4-BE49-F238E27FC236}">
                <a16:creationId xmlns:a16="http://schemas.microsoft.com/office/drawing/2014/main" id="{59803875-FA94-5AEA-20C5-F63CC1E8F982}"/>
              </a:ext>
            </a:extLst>
          </p:cNvPr>
          <p:cNvSpPr>
            <a:spLocks/>
          </p:cNvSpPr>
          <p:nvPr/>
        </p:nvSpPr>
        <p:spPr bwMode="auto">
          <a:xfrm>
            <a:off x="10683885" y="2830769"/>
            <a:ext cx="12959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25.486</a:t>
            </a:r>
          </a:p>
        </p:txBody>
      </p:sp>
      <p:sp>
        <p:nvSpPr>
          <p:cNvPr id="36" name="Rectangle 50">
            <a:extLst>
              <a:ext uri="{FF2B5EF4-FFF2-40B4-BE49-F238E27FC236}">
                <a16:creationId xmlns:a16="http://schemas.microsoft.com/office/drawing/2014/main" id="{13763009-BC88-EA9C-7854-442632419689}"/>
              </a:ext>
            </a:extLst>
          </p:cNvPr>
          <p:cNvSpPr>
            <a:spLocks/>
          </p:cNvSpPr>
          <p:nvPr/>
        </p:nvSpPr>
        <p:spPr bwMode="auto">
          <a:xfrm>
            <a:off x="10735377" y="2391794"/>
            <a:ext cx="12959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283.182</a:t>
            </a:r>
          </a:p>
        </p:txBody>
      </p:sp>
    </p:spTree>
    <p:extLst>
      <p:ext uri="{BB962C8B-B14F-4D97-AF65-F5344CB8AC3E}">
        <p14:creationId xmlns:p14="http://schemas.microsoft.com/office/powerpoint/2010/main" val="425191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821"/>
            <a:ext cx="11029615" cy="3957059"/>
          </a:xfrm>
        </p:spPr>
        <p:txBody>
          <a:bodyPr>
            <a:noAutofit/>
          </a:bodyPr>
          <a:lstStyle/>
          <a:p>
            <a:pPr marL="0" indent="0" algn="just">
              <a:buNone/>
            </a:pPr>
            <a:endParaRPr lang="es-ES_tradnl" sz="2400" dirty="0"/>
          </a:p>
          <a:p>
            <a:pPr marL="0" indent="0" algn="just">
              <a:buNone/>
            </a:pPr>
            <a:r>
              <a:rPr lang="es-ES_tradnl" sz="2400" dirty="0"/>
              <a:t>Los anteriores ejemplos permiten obtener varias conclusiones interesantes:</a:t>
            </a:r>
          </a:p>
          <a:p>
            <a:pPr marL="0" indent="0" algn="just">
              <a:buNone/>
            </a:pPr>
            <a:endParaRPr lang="es-ES_tradnl" sz="2400" dirty="0"/>
          </a:p>
          <a:p>
            <a:pPr marL="457200" indent="-457200" algn="just">
              <a:buFont typeface="+mj-lt"/>
              <a:buAutoNum type="arabicPeriod"/>
            </a:pPr>
            <a:r>
              <a:rPr lang="es-ES_tradnl" sz="2400" dirty="0"/>
              <a:t>Los flujos que otorga el proyecto, por valor de 308.668,7, corresponden al retorno del 9% del capital invertido durante el periodo más un componente del capital que es “retirado” del proyecto.</a:t>
            </a:r>
          </a:p>
          <a:p>
            <a:pPr marL="457200" indent="-457200" algn="just">
              <a:buFont typeface="+mj-lt"/>
              <a:buAutoNum type="arabicPeriod"/>
            </a:pPr>
            <a:r>
              <a:rPr lang="es-ES_tradnl" sz="2400" dirty="0"/>
              <a:t>El valor de la cuota por periodo es entonces una mezcla entre el retorno efectivo del 9% sobre el saldo vigente más un “retiro” de un pedazo de los recursos invertidos.</a:t>
            </a:r>
          </a:p>
          <a:p>
            <a:pPr marL="457200" indent="-457200" algn="just">
              <a:buFont typeface="+mj-lt"/>
              <a:buAutoNum type="arabicPeriod"/>
            </a:pPr>
            <a:r>
              <a:rPr lang="es-ES_tradnl" sz="2400" dirty="0"/>
              <a:t>Entonces, el 9% es realmente la rentabilidad efectiva sobre la inversión (saldo de capital vigente) que no se ha retirado y que </a:t>
            </a:r>
            <a:r>
              <a:rPr lang="es-ES_tradnl" sz="2400" i="1" dirty="0">
                <a:solidFill>
                  <a:srgbClr val="800000"/>
                </a:solidFill>
              </a:rPr>
              <a:t>PERMANECE INVERTIDA</a:t>
            </a:r>
            <a:r>
              <a:rPr lang="es-ES_tradnl" sz="2400" dirty="0"/>
              <a:t> en el proyecto.</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Rectángulo 5">
            <a:extLst>
              <a:ext uri="{FF2B5EF4-FFF2-40B4-BE49-F238E27FC236}">
                <a16:creationId xmlns:a16="http://schemas.microsoft.com/office/drawing/2014/main" id="{E8D4A1D8-E896-FC25-C082-14DD438C48C2}"/>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7" name="Picture 2" descr="Clientes y aliados | Centro de Evaluación | Uniandes">
            <a:extLst>
              <a:ext uri="{FF2B5EF4-FFF2-40B4-BE49-F238E27FC236}">
                <a16:creationId xmlns:a16="http://schemas.microsoft.com/office/drawing/2014/main" id="{C8E8AF18-1962-17D8-F610-6685411AF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A1D20D8-619A-9F25-70EB-5F93F11C22F9}"/>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9" name="Título 1">
            <a:extLst>
              <a:ext uri="{FF2B5EF4-FFF2-40B4-BE49-F238E27FC236}">
                <a16:creationId xmlns:a16="http://schemas.microsoft.com/office/drawing/2014/main" id="{730000AD-703B-E556-52F1-14132A59ECB7}"/>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38948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21" name="Straight Connector 20"/>
          <p:cNvCxnSpPr/>
          <p:nvPr/>
        </p:nvCxnSpPr>
        <p:spPr>
          <a:xfrm>
            <a:off x="3878703" y="3757726"/>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3878702" y="375772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33"/>
          <p:cNvSpPr>
            <a:spLocks/>
          </p:cNvSpPr>
          <p:nvPr/>
        </p:nvSpPr>
        <p:spPr bwMode="auto">
          <a:xfrm>
            <a:off x="4194883" y="34514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5" name="Straight Arrow Connector 34"/>
          <p:cNvCxnSpPr/>
          <p:nvPr/>
        </p:nvCxnSpPr>
        <p:spPr>
          <a:xfrm flipV="1">
            <a:off x="4576067" y="3177272"/>
            <a:ext cx="13745" cy="58045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4576067" y="2456849"/>
            <a:ext cx="13745" cy="72042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5535165" y="3273912"/>
            <a:ext cx="13745" cy="48381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V="1">
            <a:off x="5535165" y="2456849"/>
            <a:ext cx="13745" cy="8170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6626961" y="3273912"/>
            <a:ext cx="0" cy="42267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6626962" y="2395705"/>
            <a:ext cx="13745" cy="87820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7603695" y="3413186"/>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7603696" y="2394392"/>
            <a:ext cx="13745" cy="101879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44"/>
          <p:cNvSpPr>
            <a:spLocks/>
          </p:cNvSpPr>
          <p:nvPr/>
        </p:nvSpPr>
        <p:spPr bwMode="auto">
          <a:xfrm>
            <a:off x="5215777" y="346401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46" name="Rectangle 45"/>
          <p:cNvSpPr>
            <a:spLocks/>
          </p:cNvSpPr>
          <p:nvPr/>
        </p:nvSpPr>
        <p:spPr bwMode="auto">
          <a:xfrm>
            <a:off x="6241159" y="34514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48.868</a:t>
            </a:r>
          </a:p>
        </p:txBody>
      </p:sp>
      <p:sp>
        <p:nvSpPr>
          <p:cNvPr id="47" name="Rectangle 46"/>
          <p:cNvSpPr>
            <a:spLocks/>
          </p:cNvSpPr>
          <p:nvPr/>
        </p:nvSpPr>
        <p:spPr bwMode="auto">
          <a:xfrm>
            <a:off x="4254627" y="258362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sp>
        <p:nvSpPr>
          <p:cNvPr id="48" name="Rectangle 47"/>
          <p:cNvSpPr>
            <a:spLocks/>
          </p:cNvSpPr>
          <p:nvPr/>
        </p:nvSpPr>
        <p:spPr bwMode="auto">
          <a:xfrm>
            <a:off x="5226450" y="258362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sp>
        <p:nvSpPr>
          <p:cNvPr id="49" name="Rectangle 48"/>
          <p:cNvSpPr>
            <a:spLocks/>
          </p:cNvSpPr>
          <p:nvPr/>
        </p:nvSpPr>
        <p:spPr bwMode="auto">
          <a:xfrm>
            <a:off x="6273246" y="2557959"/>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259.800</a:t>
            </a:r>
          </a:p>
        </p:txBody>
      </p:sp>
      <p:sp>
        <p:nvSpPr>
          <p:cNvPr id="50" name="Rectangle 49"/>
          <p:cNvSpPr>
            <a:spLocks/>
          </p:cNvSpPr>
          <p:nvPr/>
        </p:nvSpPr>
        <p:spPr bwMode="auto">
          <a:xfrm>
            <a:off x="7346575" y="3461536"/>
            <a:ext cx="1295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25.486</a:t>
            </a:r>
          </a:p>
        </p:txBody>
      </p:sp>
      <p:sp>
        <p:nvSpPr>
          <p:cNvPr id="51" name="Rectangle 50"/>
          <p:cNvSpPr>
            <a:spLocks/>
          </p:cNvSpPr>
          <p:nvPr/>
        </p:nvSpPr>
        <p:spPr bwMode="auto">
          <a:xfrm>
            <a:off x="7398067" y="2557959"/>
            <a:ext cx="1295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283.182</a:t>
            </a:r>
          </a:p>
        </p:txBody>
      </p:sp>
      <p:sp>
        <p:nvSpPr>
          <p:cNvPr id="52" name="Rectangle 51"/>
          <p:cNvSpPr>
            <a:spLocks/>
          </p:cNvSpPr>
          <p:nvPr/>
        </p:nvSpPr>
        <p:spPr bwMode="auto">
          <a:xfrm>
            <a:off x="3095735" y="462305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cxnSp>
        <p:nvCxnSpPr>
          <p:cNvPr id="27" name="Curved Connector 26"/>
          <p:cNvCxnSpPr/>
          <p:nvPr/>
        </p:nvCxnSpPr>
        <p:spPr>
          <a:xfrm rot="16200000" flipH="1">
            <a:off x="3720578" y="5058180"/>
            <a:ext cx="845082" cy="528834"/>
          </a:xfrm>
          <a:prstGeom prst="curvedConnector3">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53" name="Rectangle 52"/>
          <p:cNvSpPr>
            <a:spLocks/>
          </p:cNvSpPr>
          <p:nvPr/>
        </p:nvSpPr>
        <p:spPr bwMode="auto">
          <a:xfrm>
            <a:off x="3450771" y="5806693"/>
            <a:ext cx="174802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Capital Invertido</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Inicialmente</a:t>
            </a:r>
          </a:p>
        </p:txBody>
      </p:sp>
      <p:sp>
        <p:nvSpPr>
          <p:cNvPr id="54" name="Rectangle 53"/>
          <p:cNvSpPr>
            <a:spLocks/>
          </p:cNvSpPr>
          <p:nvPr/>
        </p:nvSpPr>
        <p:spPr bwMode="auto">
          <a:xfrm>
            <a:off x="3912440" y="407623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FF"/>
                </a:solidFill>
                <a:effectLst/>
                <a:uLnTx/>
                <a:uFillTx/>
                <a:latin typeface="Calibri" panose="020F0502020204030204"/>
                <a:ea typeface="+mn-ea"/>
                <a:cs typeface="+mn-cs"/>
              </a:rPr>
              <a:t>781.331</a:t>
            </a:r>
          </a:p>
        </p:txBody>
      </p:sp>
      <p:sp>
        <p:nvSpPr>
          <p:cNvPr id="55" name="Rectangle 54"/>
          <p:cNvSpPr>
            <a:spLocks/>
          </p:cNvSpPr>
          <p:nvPr/>
        </p:nvSpPr>
        <p:spPr bwMode="auto">
          <a:xfrm>
            <a:off x="4870268" y="407164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FF"/>
                </a:solidFill>
                <a:effectLst/>
                <a:uLnTx/>
                <a:uFillTx/>
                <a:latin typeface="Calibri" panose="020F0502020204030204"/>
                <a:ea typeface="+mn-ea"/>
                <a:cs typeface="+mn-cs"/>
              </a:rPr>
              <a:t>542.982</a:t>
            </a:r>
          </a:p>
        </p:txBody>
      </p:sp>
      <p:sp>
        <p:nvSpPr>
          <p:cNvPr id="56" name="Rectangle 55"/>
          <p:cNvSpPr>
            <a:spLocks/>
          </p:cNvSpPr>
          <p:nvPr/>
        </p:nvSpPr>
        <p:spPr bwMode="auto">
          <a:xfrm>
            <a:off x="5974482" y="407483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FF"/>
                </a:solidFill>
                <a:effectLst/>
                <a:uLnTx/>
                <a:uFillTx/>
                <a:latin typeface="Calibri" panose="020F0502020204030204"/>
                <a:ea typeface="+mn-ea"/>
                <a:cs typeface="+mn-cs"/>
              </a:rPr>
              <a:t>283.1182</a:t>
            </a:r>
          </a:p>
        </p:txBody>
      </p:sp>
      <p:cxnSp>
        <p:nvCxnSpPr>
          <p:cNvPr id="58" name="Curved Connector 57"/>
          <p:cNvCxnSpPr/>
          <p:nvPr/>
        </p:nvCxnSpPr>
        <p:spPr>
          <a:xfrm>
            <a:off x="8218336" y="4228727"/>
            <a:ext cx="507222" cy="1062783"/>
          </a:xfrm>
          <a:prstGeom prst="curvedConnector2">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59" name="Rectangle 58"/>
          <p:cNvSpPr>
            <a:spLocks/>
          </p:cNvSpPr>
          <p:nvPr/>
        </p:nvSpPr>
        <p:spPr bwMode="auto">
          <a:xfrm>
            <a:off x="7617441" y="5343907"/>
            <a:ext cx="200144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Capital que permanece invertido</a:t>
            </a:r>
          </a:p>
        </p:txBody>
      </p:sp>
      <p:sp>
        <p:nvSpPr>
          <p:cNvPr id="60" name="Left Brace 59"/>
          <p:cNvSpPr/>
          <p:nvPr/>
        </p:nvSpPr>
        <p:spPr>
          <a:xfrm rot="10800000">
            <a:off x="7869985" y="3897968"/>
            <a:ext cx="365935" cy="640865"/>
          </a:xfrm>
          <a:prstGeom prst="leftBrace">
            <a:avLst/>
          </a:prstGeom>
          <a:ln w="28575">
            <a:solidFill>
              <a:srgbClr val="0000FF"/>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FF"/>
              </a:solidFill>
              <a:effectLst/>
              <a:uLnTx/>
              <a:uFillTx/>
              <a:latin typeface="Calibri" panose="020F0502020204030204"/>
              <a:ea typeface="+mn-ea"/>
              <a:cs typeface="+mn-cs"/>
            </a:endParaRPr>
          </a:p>
        </p:txBody>
      </p:sp>
      <p:cxnSp>
        <p:nvCxnSpPr>
          <p:cNvPr id="66" name="Curved Connector 65"/>
          <p:cNvCxnSpPr>
            <a:endCxn id="73" idx="0"/>
          </p:cNvCxnSpPr>
          <p:nvPr/>
        </p:nvCxnSpPr>
        <p:spPr>
          <a:xfrm>
            <a:off x="8328697" y="3562934"/>
            <a:ext cx="1845669" cy="529101"/>
          </a:xfrm>
          <a:prstGeom prst="curvedConnector2">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73" name="Rectangle 72"/>
          <p:cNvSpPr>
            <a:spLocks/>
          </p:cNvSpPr>
          <p:nvPr/>
        </p:nvSpPr>
        <p:spPr bwMode="auto">
          <a:xfrm>
            <a:off x="8997518" y="4092035"/>
            <a:ext cx="235369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Retorno del 9% sobre el capital que permanece invertido</a:t>
            </a:r>
          </a:p>
        </p:txBody>
      </p:sp>
      <p:cxnSp>
        <p:nvCxnSpPr>
          <p:cNvPr id="75" name="Curved Connector 74"/>
          <p:cNvCxnSpPr/>
          <p:nvPr/>
        </p:nvCxnSpPr>
        <p:spPr>
          <a:xfrm rot="10800000" flipV="1">
            <a:off x="3095739" y="2775586"/>
            <a:ext cx="1480329" cy="637600"/>
          </a:xfrm>
          <a:prstGeom prst="curvedConnector3">
            <a:avLst>
              <a:gd name="adj1" fmla="val 50000"/>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81" name="Rectangle 80"/>
          <p:cNvSpPr>
            <a:spLocks/>
          </p:cNvSpPr>
          <p:nvPr/>
        </p:nvSpPr>
        <p:spPr bwMode="auto">
          <a:xfrm>
            <a:off x="2008240" y="3122144"/>
            <a:ext cx="94599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Capital retirado</a:t>
            </a:r>
          </a:p>
        </p:txBody>
      </p:sp>
      <p:sp>
        <p:nvSpPr>
          <p:cNvPr id="3" name="Rectángulo 2">
            <a:extLst>
              <a:ext uri="{FF2B5EF4-FFF2-40B4-BE49-F238E27FC236}">
                <a16:creationId xmlns:a16="http://schemas.microsoft.com/office/drawing/2014/main" id="{2ED85748-6D0B-17A2-DD42-C65F0AF7578C}"/>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5" name="Picture 2" descr="Clientes y aliados | Centro de Evaluación | Uniandes">
            <a:extLst>
              <a:ext uri="{FF2B5EF4-FFF2-40B4-BE49-F238E27FC236}">
                <a16:creationId xmlns:a16="http://schemas.microsoft.com/office/drawing/2014/main" id="{96D0E652-A3C0-EB42-DB4E-F300835A1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C128EF4-2BA5-132E-AB10-60DDA2ACEB35}"/>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7" name="Título 1">
            <a:extLst>
              <a:ext uri="{FF2B5EF4-FFF2-40B4-BE49-F238E27FC236}">
                <a16:creationId xmlns:a16="http://schemas.microsoft.com/office/drawing/2014/main" id="{F715A850-5502-4079-614E-56A307B6DFC8}"/>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3019604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17044-AD22-1F7F-DDE3-8B7174B704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67D568-CB00-E00C-2C81-0D6F1288F8BF}"/>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94CC9A06-6C58-0649-AC5D-BBC62E3BF23C}"/>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0F77C52-D640-2EAE-5BC1-253332348933}"/>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530B4015-CACF-C85B-5792-6E119D3599F5}"/>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8212397-5334-13B4-07C0-A2D027AF1D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E5CCF2-8521-1CC3-EEDD-91C5F76C9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9337DA5-08F1-BE8B-FB90-7C77B18FE5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1324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948158"/>
            <a:ext cx="9144000" cy="2076492"/>
          </a:xfrm>
        </p:spPr>
        <p:txBody>
          <a:bodyPr>
            <a:normAutofit/>
          </a:bodyPr>
          <a:lstStyle/>
          <a:p>
            <a:pPr marL="0" indent="0" algn="ctr">
              <a:buNone/>
            </a:pPr>
            <a:r>
              <a:rPr lang="es-ES_tradnl" sz="2800" b="1" dirty="0">
                <a:solidFill>
                  <a:srgbClr val="800000"/>
                </a:solidFill>
              </a:rPr>
              <a:t>VAE</a:t>
            </a:r>
          </a:p>
          <a:p>
            <a:pPr marL="0" indent="0" algn="ctr">
              <a:buNone/>
            </a:pPr>
            <a:r>
              <a:rPr lang="es-ES_tradnl" sz="2800" b="1" dirty="0">
                <a:solidFill>
                  <a:srgbClr val="800000"/>
                </a:solidFill>
              </a:rPr>
              <a:t>(Valor Anual Equivalente)</a:t>
            </a:r>
          </a:p>
        </p:txBody>
      </p:sp>
      <p:sp>
        <p:nvSpPr>
          <p:cNvPr id="4" name="Slide Number Placeholder 3"/>
          <p:cNvSpPr>
            <a:spLocks noGrp="1"/>
          </p:cNvSpPr>
          <p:nvPr>
            <p:ph type="sldNum" sz="quarter" idx="12"/>
          </p:nvPr>
        </p:nvSpPr>
        <p:spPr/>
        <p:txBody>
          <a:bodyPr/>
          <a:lstStyle/>
          <a:p>
            <a:fld id="{5E3E23BA-6E79-2442-BA73-D218A5E297C3}" type="slidenum">
              <a:rPr lang="en-US" smtClean="0"/>
              <a:t>13</a:t>
            </a:fld>
            <a:endParaRPr lang="en-US"/>
          </a:p>
        </p:txBody>
      </p:sp>
      <p:sp>
        <p:nvSpPr>
          <p:cNvPr id="3" name="Rectángulo 2">
            <a:extLst>
              <a:ext uri="{FF2B5EF4-FFF2-40B4-BE49-F238E27FC236}">
                <a16:creationId xmlns:a16="http://schemas.microsoft.com/office/drawing/2014/main" id="{855A590E-0615-7A68-BEF5-D2BAD91967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B2C1B5F-BD96-77DD-9351-99960CAB1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9F0BCDF-CFBC-F541-965C-6812A5F717B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12786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0676"/>
            <a:ext cx="11029615" cy="4500586"/>
          </a:xfrm>
        </p:spPr>
        <p:txBody>
          <a:bodyPr>
            <a:noAutofit/>
          </a:bodyPr>
          <a:lstStyle/>
          <a:p>
            <a:pPr algn="just"/>
            <a:r>
              <a:rPr lang="es-ES" sz="2400" dirty="0"/>
              <a:t>El VAE o Valor Anual Equivalente, es un indicador de creación de valor que guarda una estrecha relación con el VPN.</a:t>
            </a:r>
          </a:p>
          <a:p>
            <a:pPr algn="just"/>
            <a:r>
              <a:rPr lang="es-ES" sz="2400" dirty="0"/>
              <a:t>El VAE es un indicador utilizado para evaluar la suma equivalente periódico (como serie uniforme) de los flujos generados por un proyecto de inversión.</a:t>
            </a:r>
          </a:p>
          <a:p>
            <a:pPr algn="just"/>
            <a:endParaRPr lang="es-ES" sz="2400" dirty="0"/>
          </a:p>
          <a:p>
            <a:pPr marL="0" indent="0" algn="ctr">
              <a:buNone/>
            </a:pPr>
            <a:r>
              <a:rPr lang="es-ES" sz="2400" dirty="0">
                <a:solidFill>
                  <a:srgbClr val="800000"/>
                </a:solidFill>
              </a:rPr>
              <a:t>¿Alguna idea de cómo calcular dicho indicador con lo visto hasta el momento?</a:t>
            </a:r>
          </a:p>
          <a:p>
            <a:pPr marL="0" indent="0" algn="ctr">
              <a:buNone/>
            </a:pPr>
            <a:endParaRPr lang="es-ES" sz="2400" dirty="0"/>
          </a:p>
          <a:p>
            <a:pPr algn="just"/>
            <a:r>
              <a:rPr lang="es-ES" sz="2400" dirty="0"/>
              <a:t>Cuando se está evaluando </a:t>
            </a:r>
            <a:r>
              <a:rPr lang="es-ES" sz="2400" i="1" dirty="0">
                <a:solidFill>
                  <a:schemeClr val="accent6"/>
                </a:solidFill>
              </a:rPr>
              <a:t>un único proyecto</a:t>
            </a:r>
            <a:r>
              <a:rPr lang="es-ES" sz="2400" dirty="0"/>
              <a:t>, el resultado del VAE es consistente con el VPN; sin embargo, como veremos más adelante, el VAE muestra algunas desventajas a la hora de comparar varias alternativas de inversión.</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14</a:t>
            </a:fld>
            <a:endParaRPr lang="en-US"/>
          </a:p>
        </p:txBody>
      </p:sp>
      <p:sp>
        <p:nvSpPr>
          <p:cNvPr id="8" name="Rectángulo 7">
            <a:extLst>
              <a:ext uri="{FF2B5EF4-FFF2-40B4-BE49-F238E27FC236}">
                <a16:creationId xmlns:a16="http://schemas.microsoft.com/office/drawing/2014/main" id="{1F12B3C5-05E8-0D21-15DE-5A184CE459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5D7A6BED-9E9E-10A9-D8B3-51DC39BD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FA2A306A-7B53-5288-96E7-A4799F59AD9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9CC1292-A5B4-2A3B-713E-5C1BA278791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16254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4090"/>
            <a:ext cx="11029611" cy="582946"/>
          </a:xfrm>
        </p:spPr>
        <p:txBody>
          <a:bodyPr>
            <a:normAutofit/>
          </a:bodyPr>
          <a:lstStyle/>
          <a:p>
            <a:pPr marL="0" indent="0">
              <a:buNone/>
            </a:pPr>
            <a:r>
              <a:rPr lang="es-ES" sz="2400" dirty="0"/>
              <a:t>Gráficamente, el objetivo del VAE es el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15</a:t>
            </a:fld>
            <a:endParaRPr lang="en-US"/>
          </a:p>
        </p:txBody>
      </p:sp>
      <p:cxnSp>
        <p:nvCxnSpPr>
          <p:cNvPr id="5" name="Straight Connector 17"/>
          <p:cNvCxnSpPr/>
          <p:nvPr/>
        </p:nvCxnSpPr>
        <p:spPr>
          <a:xfrm>
            <a:off x="1438170" y="347216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p:cNvCxnSpPr/>
          <p:nvPr/>
        </p:nvCxnSpPr>
        <p:spPr>
          <a:xfrm>
            <a:off x="1450998" y="348499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p:cNvCxnSpPr/>
          <p:nvPr/>
        </p:nvCxnSpPr>
        <p:spPr>
          <a:xfrm flipV="1">
            <a:off x="1993319" y="302626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p:cNvCxnSpPr/>
          <p:nvPr/>
        </p:nvCxnSpPr>
        <p:spPr>
          <a:xfrm>
            <a:off x="2589085" y="3484996"/>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p:cNvCxnSpPr/>
          <p:nvPr/>
        </p:nvCxnSpPr>
        <p:spPr>
          <a:xfrm flipV="1">
            <a:off x="3275821" y="302626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p:cNvSpPr>
            <a:spLocks/>
          </p:cNvSpPr>
          <p:nvPr/>
        </p:nvSpPr>
        <p:spPr bwMode="auto">
          <a:xfrm flipH="1">
            <a:off x="1438170" y="31951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23"/>
          <p:cNvSpPr>
            <a:spLocks/>
          </p:cNvSpPr>
          <p:nvPr/>
        </p:nvSpPr>
        <p:spPr bwMode="auto">
          <a:xfrm>
            <a:off x="1824789"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2" name="Rectangle 24"/>
          <p:cNvSpPr>
            <a:spLocks/>
          </p:cNvSpPr>
          <p:nvPr/>
        </p:nvSpPr>
        <p:spPr bwMode="auto">
          <a:xfrm>
            <a:off x="2420555" y="319516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3" name="Rectangle 25"/>
          <p:cNvSpPr>
            <a:spLocks/>
          </p:cNvSpPr>
          <p:nvPr/>
        </p:nvSpPr>
        <p:spPr bwMode="auto">
          <a:xfrm>
            <a:off x="3072963" y="348806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7" name="Rectangle 31"/>
          <p:cNvSpPr>
            <a:spLocks/>
          </p:cNvSpPr>
          <p:nvPr/>
        </p:nvSpPr>
        <p:spPr bwMode="auto">
          <a:xfrm>
            <a:off x="3897383"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8" name="Straight Arrow Connector 32"/>
          <p:cNvCxnSpPr/>
          <p:nvPr/>
        </p:nvCxnSpPr>
        <p:spPr>
          <a:xfrm flipV="1">
            <a:off x="4065913" y="282713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17"/>
          <p:cNvCxnSpPr/>
          <p:nvPr/>
        </p:nvCxnSpPr>
        <p:spPr>
          <a:xfrm>
            <a:off x="7684131" y="5799771"/>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9"/>
          <p:cNvCxnSpPr/>
          <p:nvPr/>
        </p:nvCxnSpPr>
        <p:spPr>
          <a:xfrm flipV="1">
            <a:off x="8239280" y="535387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0"/>
          <p:cNvCxnSpPr/>
          <p:nvPr/>
        </p:nvCxnSpPr>
        <p:spPr>
          <a:xfrm flipV="1">
            <a:off x="8835046"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1"/>
          <p:cNvCxnSpPr/>
          <p:nvPr/>
        </p:nvCxnSpPr>
        <p:spPr>
          <a:xfrm flipV="1">
            <a:off x="9521782"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2"/>
          <p:cNvSpPr>
            <a:spLocks/>
          </p:cNvSpPr>
          <p:nvPr/>
        </p:nvSpPr>
        <p:spPr bwMode="auto">
          <a:xfrm flipH="1">
            <a:off x="7684131" y="579827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8" name="Rectangle 23"/>
          <p:cNvSpPr>
            <a:spLocks/>
          </p:cNvSpPr>
          <p:nvPr/>
        </p:nvSpPr>
        <p:spPr bwMode="auto">
          <a:xfrm>
            <a:off x="8070750"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9" name="Rectangle 24"/>
          <p:cNvSpPr>
            <a:spLocks/>
          </p:cNvSpPr>
          <p:nvPr/>
        </p:nvSpPr>
        <p:spPr bwMode="auto">
          <a:xfrm>
            <a:off x="8666516"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0" name="Rectangle 25"/>
          <p:cNvSpPr>
            <a:spLocks/>
          </p:cNvSpPr>
          <p:nvPr/>
        </p:nvSpPr>
        <p:spPr bwMode="auto">
          <a:xfrm>
            <a:off x="9318924" y="581567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1" name="Rectangle 31"/>
          <p:cNvSpPr>
            <a:spLocks/>
          </p:cNvSpPr>
          <p:nvPr/>
        </p:nvSpPr>
        <p:spPr bwMode="auto">
          <a:xfrm>
            <a:off x="10143344"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2" name="Straight Arrow Connector 32"/>
          <p:cNvCxnSpPr/>
          <p:nvPr/>
        </p:nvCxnSpPr>
        <p:spPr>
          <a:xfrm flipH="1" flipV="1">
            <a:off x="10311704" y="5353874"/>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Flecha abajo 34"/>
          <p:cNvSpPr/>
          <p:nvPr/>
        </p:nvSpPr>
        <p:spPr>
          <a:xfrm>
            <a:off x="8739421" y="4462355"/>
            <a:ext cx="465734" cy="456580"/>
          </a:xfrm>
          <a:prstGeom prst="downArrow">
            <a:avLst>
              <a:gd name="adj1" fmla="val 33258"/>
              <a:gd name="adj2" fmla="val 2347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sp>
        <p:nvSpPr>
          <p:cNvPr id="36" name="Abrir llave 35"/>
          <p:cNvSpPr/>
          <p:nvPr/>
        </p:nvSpPr>
        <p:spPr>
          <a:xfrm rot="16200000">
            <a:off x="8702290" y="2547118"/>
            <a:ext cx="461849" cy="3028075"/>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400"/>
          </a:p>
        </p:txBody>
      </p:sp>
      <p:cxnSp>
        <p:nvCxnSpPr>
          <p:cNvPr id="33" name="Straight Connector 17"/>
          <p:cNvCxnSpPr/>
          <p:nvPr/>
        </p:nvCxnSpPr>
        <p:spPr>
          <a:xfrm>
            <a:off x="7652843" y="343339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18"/>
          <p:cNvCxnSpPr/>
          <p:nvPr/>
        </p:nvCxnSpPr>
        <p:spPr>
          <a:xfrm flipV="1">
            <a:off x="7665671" y="2987499"/>
            <a:ext cx="0" cy="458726"/>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22"/>
          <p:cNvSpPr>
            <a:spLocks/>
          </p:cNvSpPr>
          <p:nvPr/>
        </p:nvSpPr>
        <p:spPr bwMode="auto">
          <a:xfrm flipH="1">
            <a:off x="7599807" y="3470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1" name="Rectangle 23"/>
          <p:cNvSpPr>
            <a:spLocks/>
          </p:cNvSpPr>
          <p:nvPr/>
        </p:nvSpPr>
        <p:spPr bwMode="auto">
          <a:xfrm>
            <a:off x="8039462"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42" name="Rectangle 24"/>
          <p:cNvSpPr>
            <a:spLocks/>
          </p:cNvSpPr>
          <p:nvPr/>
        </p:nvSpPr>
        <p:spPr bwMode="auto">
          <a:xfrm>
            <a:off x="8635228" y="346998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43" name="Rectangle 25"/>
          <p:cNvSpPr>
            <a:spLocks/>
          </p:cNvSpPr>
          <p:nvPr/>
        </p:nvSpPr>
        <p:spPr bwMode="auto">
          <a:xfrm>
            <a:off x="9287636" y="34493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4" name="Rectangle 31"/>
          <p:cNvSpPr>
            <a:spLocks/>
          </p:cNvSpPr>
          <p:nvPr/>
        </p:nvSpPr>
        <p:spPr bwMode="auto">
          <a:xfrm>
            <a:off x="10112056"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22"/>
          <p:cNvSpPr>
            <a:spLocks/>
          </p:cNvSpPr>
          <p:nvPr/>
        </p:nvSpPr>
        <p:spPr bwMode="auto">
          <a:xfrm flipH="1">
            <a:off x="7423732" y="264613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VPN</a:t>
            </a:r>
          </a:p>
        </p:txBody>
      </p:sp>
      <p:sp>
        <p:nvSpPr>
          <p:cNvPr id="15" name="14 Flecha derecha"/>
          <p:cNvSpPr/>
          <p:nvPr/>
        </p:nvSpPr>
        <p:spPr>
          <a:xfrm>
            <a:off x="5564642" y="3275481"/>
            <a:ext cx="1062716" cy="24335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400"/>
          </a:p>
        </p:txBody>
      </p:sp>
      <p:sp>
        <p:nvSpPr>
          <p:cNvPr id="14" name="Título 1">
            <a:extLst>
              <a:ext uri="{FF2B5EF4-FFF2-40B4-BE49-F238E27FC236}">
                <a16:creationId xmlns:a16="http://schemas.microsoft.com/office/drawing/2014/main" id="{FDEE3519-44A7-5F95-3A3D-ADDA2D78020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
        <p:nvSpPr>
          <p:cNvPr id="16" name="Rectangle 22">
            <a:extLst>
              <a:ext uri="{FF2B5EF4-FFF2-40B4-BE49-F238E27FC236}">
                <a16:creationId xmlns:a16="http://schemas.microsoft.com/office/drawing/2014/main" id="{707D10F6-87EE-DF9E-078B-9C010B44422B}"/>
              </a:ext>
            </a:extLst>
          </p:cNvPr>
          <p:cNvSpPr>
            <a:spLocks/>
          </p:cNvSpPr>
          <p:nvPr/>
        </p:nvSpPr>
        <p:spPr bwMode="auto">
          <a:xfrm flipH="1">
            <a:off x="6953517" y="535387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VAE</a:t>
            </a:r>
          </a:p>
        </p:txBody>
      </p:sp>
    </p:spTree>
    <p:extLst>
      <p:ext uri="{BB962C8B-B14F-4D97-AF65-F5344CB8AC3E}">
        <p14:creationId xmlns:p14="http://schemas.microsoft.com/office/powerpoint/2010/main" val="3078180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5" grpId="0" animBg="1"/>
      <p:bldP spid="36" grpId="0" animBg="1"/>
      <p:bldP spid="40" grpId="0"/>
      <p:bldP spid="41" grpId="0"/>
      <p:bldP spid="42" grpId="0"/>
      <p:bldP spid="43" grpId="0"/>
      <p:bldP spid="44" grpId="0"/>
      <p:bldP spid="46" grpId="0"/>
      <p:bldP spid="15" grpId="0" animBg="1"/>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8799"/>
            <a:ext cx="11029615" cy="1230086"/>
          </a:xfrm>
        </p:spPr>
        <p:txBody>
          <a:bodyPr>
            <a:normAutofit/>
          </a:bodyPr>
          <a:lstStyle/>
          <a:p>
            <a:pPr marL="0" indent="0" algn="just">
              <a:buNone/>
            </a:pPr>
            <a:r>
              <a:rPr lang="es-ES" sz="2400" dirty="0"/>
              <a:t>Dado el objetivo mostrado en la gráfica anterior, existen diversas formas de hacerlo. Sin embargo, lo más conveniente es </a:t>
            </a:r>
            <a:r>
              <a:rPr lang="es-ES" sz="2400" b="1" dirty="0"/>
              <a:t>anualizar el valor presente</a:t>
            </a:r>
            <a:r>
              <a:rPr lang="es-ES" sz="2400" dirty="0"/>
              <a:t>. Para ello basta con utilizar la relación de equivalencia “serie uniforme equivalente a un valor presente”.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16</a:t>
            </a:fld>
            <a:endParaRPr lang="en-US"/>
          </a:p>
        </p:txBody>
      </p:sp>
      <p:pic>
        <p:nvPicPr>
          <p:cNvPr id="5" name="Picture 2"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170" y="3945301"/>
            <a:ext cx="3478195" cy="895275"/>
          </a:xfrm>
          <a:prstGeom prst="rect">
            <a:avLst/>
          </a:prstGeom>
        </p:spPr>
      </p:pic>
      <p:pic>
        <p:nvPicPr>
          <p:cNvPr id="6" name="Imagen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683" y="5064037"/>
            <a:ext cx="2728848" cy="408253"/>
          </a:xfrm>
          <a:prstGeom prst="rect">
            <a:avLst/>
          </a:prstGeom>
        </p:spPr>
      </p:pic>
      <p:sp>
        <p:nvSpPr>
          <p:cNvPr id="7" name="Flecha derecha 6"/>
          <p:cNvSpPr/>
          <p:nvPr/>
        </p:nvSpPr>
        <p:spPr>
          <a:xfrm>
            <a:off x="5837318" y="4607724"/>
            <a:ext cx="517363" cy="2951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225" y="3951063"/>
            <a:ext cx="4132125" cy="804239"/>
          </a:xfrm>
          <a:prstGeom prst="rect">
            <a:avLst/>
          </a:prstGeom>
        </p:spPr>
      </p:pic>
      <p:pic>
        <p:nvPicPr>
          <p:cNvPr id="9" name="Imagen 8"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4303" y="5090005"/>
            <a:ext cx="3719527" cy="382285"/>
          </a:xfrm>
          <a:prstGeom prst="rect">
            <a:avLst/>
          </a:prstGeom>
        </p:spPr>
      </p:pic>
      <p:sp>
        <p:nvSpPr>
          <p:cNvPr id="11" name="Rectángulo 10">
            <a:extLst>
              <a:ext uri="{FF2B5EF4-FFF2-40B4-BE49-F238E27FC236}">
                <a16:creationId xmlns:a16="http://schemas.microsoft.com/office/drawing/2014/main" id="{BD80D735-627E-9357-C75F-20BD49BE9D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5A3681B-A607-D95C-33DE-76D54DD358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510C27B-A7F2-88B0-3A97-48A9580AEC8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7" name="Título 1">
            <a:extLst>
              <a:ext uri="{FF2B5EF4-FFF2-40B4-BE49-F238E27FC236}">
                <a16:creationId xmlns:a16="http://schemas.microsoft.com/office/drawing/2014/main" id="{C421107C-C6E3-4548-6A9E-A5252A43C20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55803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44041"/>
            <a:ext cx="10968843" cy="3670767"/>
          </a:xfrm>
        </p:spPr>
        <p:txBody>
          <a:bodyPr>
            <a:normAutofit/>
          </a:bodyPr>
          <a:lstStyle/>
          <a:p>
            <a:pPr marL="0" indent="0" algn="just">
              <a:buNone/>
            </a:pPr>
            <a:r>
              <a:rPr lang="es-ES" sz="2400" dirty="0"/>
              <a:t>Al VAE depende directamente del VPN, la interpretación de éste es bastante sencilla. </a:t>
            </a:r>
          </a:p>
          <a:p>
            <a:pPr marL="0" indent="0" algn="just">
              <a:buNone/>
            </a:pPr>
            <a:endParaRPr lang="es-ES" sz="2400" dirty="0"/>
          </a:p>
          <a:p>
            <a:pPr marL="0" indent="0" algn="just">
              <a:buNone/>
            </a:pPr>
            <a:r>
              <a:rPr lang="es-ES" sz="2400" dirty="0"/>
              <a:t>Si el VPN del proyecto resulta ser negativo, el VAE es también negativo; caso en el cual se conoce como CAE (</a:t>
            </a:r>
            <a:r>
              <a:rPr lang="es-ES" sz="2400" b="1" dirty="0"/>
              <a:t>costo anual equivalente</a:t>
            </a:r>
            <a:r>
              <a:rPr lang="es-ES" sz="2400" dirty="0"/>
              <a:t>). </a:t>
            </a:r>
          </a:p>
          <a:p>
            <a:pPr marL="0" indent="0" algn="just">
              <a:buNone/>
            </a:pPr>
            <a:endParaRPr lang="es-ES" sz="2400" dirty="0"/>
          </a:p>
          <a:p>
            <a:pPr marL="0" indent="0" algn="just">
              <a:buNone/>
            </a:pPr>
            <a:r>
              <a:rPr lang="es-ES" sz="2400" dirty="0"/>
              <a:t>Por el contrario, si el VPN es positivo el VAE es positivo.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17</a:t>
            </a:fld>
            <a:endParaRPr lang="en-US"/>
          </a:p>
        </p:txBody>
      </p:sp>
      <p:sp>
        <p:nvSpPr>
          <p:cNvPr id="6" name="Rectángulo 5">
            <a:extLst>
              <a:ext uri="{FF2B5EF4-FFF2-40B4-BE49-F238E27FC236}">
                <a16:creationId xmlns:a16="http://schemas.microsoft.com/office/drawing/2014/main" id="{66A8CE90-D0E8-8050-235F-833EAD52807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CF533BB-1618-95EF-FB24-ACFFAAF65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38B7EF6-40CD-7FCD-11A3-52684A7815B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942697C-88A7-8E10-6904-7BB05FAAEA8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801226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918368"/>
            <a:ext cx="11029616" cy="582946"/>
          </a:xfrm>
        </p:spPr>
        <p:txBody>
          <a:bodyPr>
            <a:normAutofit/>
          </a:bodyPr>
          <a:lstStyle/>
          <a:p>
            <a:pPr marL="0" indent="0" algn="ctr">
              <a:buNone/>
            </a:pPr>
            <a:r>
              <a:rPr lang="es-ES" sz="2400" dirty="0"/>
              <a:t>Haciendo una comparación con el VPN y la TIR podemos concluir lo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18</a:t>
            </a:fld>
            <a:endParaRPr lang="en-US"/>
          </a:p>
        </p:txBody>
      </p:sp>
      <p:graphicFrame>
        <p:nvGraphicFramePr>
          <p:cNvPr id="5" name="Table 4"/>
          <p:cNvGraphicFramePr>
            <a:graphicFrameLocks noGrp="1"/>
          </p:cNvGraphicFramePr>
          <p:nvPr/>
        </p:nvGraphicFramePr>
        <p:xfrm>
          <a:off x="695999" y="2996400"/>
          <a:ext cx="10800001" cy="2546398"/>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VAE&lt;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VPN&lt;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TIR &lt;</a:t>
                      </a:r>
                      <a:r>
                        <a:rPr lang="es-ES_tradnl" sz="2000" baseline="0" noProof="0" dirty="0">
                          <a:solidFill>
                            <a:sysClr val="windowText" lastClr="000000"/>
                          </a:solidFill>
                        </a:rPr>
                        <a:t> C.O.</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No hay</a:t>
                      </a:r>
                      <a:r>
                        <a:rPr lang="es-ES_tradnl" sz="2000" baseline="0" noProof="0" dirty="0">
                          <a:solidFill>
                            <a:sysClr val="windowText" lastClr="000000"/>
                          </a:solidFill>
                        </a:rPr>
                        <a:t> efecto sobre el valor</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Rectángulo 6">
            <a:extLst>
              <a:ext uri="{FF2B5EF4-FFF2-40B4-BE49-F238E27FC236}">
                <a16:creationId xmlns:a16="http://schemas.microsoft.com/office/drawing/2014/main" id="{234340A3-A069-2DFE-D058-B4B5E5E29CA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F90FB66-4D84-CBDE-DD86-5D01C7E07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89D35A7-DCE8-1B43-D4AA-17C01FA3CAE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0F1B630-B8A4-3AA7-A9C3-0A91E58C85F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79987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5319-1558-E5E1-E48C-FAF8844FCA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CDE33B-5C5C-30CC-70DA-352CC431506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FCC3C606-7ACE-4D9B-9595-3F3E7818466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5AC6CDCC-C21F-24FF-C70B-2EF25B28D857}"/>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CAC653F-A819-4E65-3965-2954A78FF3AA}"/>
              </a:ext>
            </a:extLst>
          </p:cNvPr>
          <p:cNvSpPr/>
          <p:nvPr/>
        </p:nvSpPr>
        <p:spPr>
          <a:xfrm>
            <a:off x="3173020" y="2318042"/>
            <a:ext cx="8540907" cy="2554545"/>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2799435-1346-2A1D-B552-5DDDC0E9FC3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E58CB5-568B-225F-FF0A-E7173A8B8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F233301-7FAE-6801-8923-7C22BBBF842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00603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3098"/>
            <a:ext cx="9144000" cy="1219804"/>
          </a:xfrm>
        </p:spPr>
        <p:txBody>
          <a:bodyPr>
            <a:normAutofit lnSpcReduction="10000"/>
          </a:bodyPr>
          <a:lstStyle/>
          <a:p>
            <a:pPr marL="0" indent="0" algn="ctr">
              <a:buNone/>
            </a:pPr>
            <a:r>
              <a:rPr lang="es-ES_tradnl" sz="3200" b="1" dirty="0">
                <a:solidFill>
                  <a:srgbClr val="800000"/>
                </a:solidFill>
              </a:rPr>
              <a:t>B/C </a:t>
            </a:r>
          </a:p>
          <a:p>
            <a:pPr marL="0" indent="0" algn="ctr">
              <a:buNone/>
            </a:pPr>
            <a:r>
              <a:rPr lang="es-ES_tradnl" sz="2800" b="1" dirty="0">
                <a:solidFill>
                  <a:srgbClr val="800000"/>
                </a:solidFill>
              </a:rPr>
              <a:t>(Relación </a:t>
            </a:r>
            <a:r>
              <a:rPr lang="es-ES_tradnl" sz="3200" b="1" dirty="0">
                <a:solidFill>
                  <a:srgbClr val="800000"/>
                </a:solidFill>
              </a:rPr>
              <a:t>Beneficio</a:t>
            </a:r>
            <a:r>
              <a:rPr lang="es-ES_tradnl" sz="2800" b="1" dirty="0">
                <a:solidFill>
                  <a:srgbClr val="800000"/>
                </a:solidFill>
              </a:rPr>
              <a:t> Costo)</a:t>
            </a:r>
          </a:p>
        </p:txBody>
      </p:sp>
      <p:sp>
        <p:nvSpPr>
          <p:cNvPr id="4" name="Slide Number Placeholder 3"/>
          <p:cNvSpPr>
            <a:spLocks noGrp="1"/>
          </p:cNvSpPr>
          <p:nvPr>
            <p:ph type="sldNum" sz="quarter" idx="12"/>
          </p:nvPr>
        </p:nvSpPr>
        <p:spPr/>
        <p:txBody>
          <a:bodyPr/>
          <a:lstStyle/>
          <a:p>
            <a:fld id="{5E3E23BA-6E79-2442-BA73-D218A5E297C3}" type="slidenum">
              <a:rPr lang="en-US" smtClean="0"/>
              <a:t>20</a:t>
            </a:fld>
            <a:endParaRPr lang="en-US"/>
          </a:p>
        </p:txBody>
      </p:sp>
      <p:sp>
        <p:nvSpPr>
          <p:cNvPr id="3" name="Rectángulo 2">
            <a:extLst>
              <a:ext uri="{FF2B5EF4-FFF2-40B4-BE49-F238E27FC236}">
                <a16:creationId xmlns:a16="http://schemas.microsoft.com/office/drawing/2014/main" id="{A8070C99-FD92-9E96-88BA-B4155B38013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F6ED338-8848-8C5E-DD39-36E27AB90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8397D05-77F2-0DDD-7795-4453D0C2573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499150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3563"/>
            <a:ext cx="11029616" cy="1529869"/>
          </a:xfrm>
        </p:spPr>
        <p:txBody>
          <a:bodyPr>
            <a:noAutofit/>
          </a:bodyPr>
          <a:lstStyle/>
          <a:p>
            <a:pPr marL="0" indent="0" algn="just">
              <a:buNone/>
            </a:pPr>
            <a:r>
              <a:rPr lang="es-ES" sz="2400" dirty="0"/>
              <a:t>La relación B/C no es más que la relación entre el valor presente de los flujos de caja positivos y el valor presente de los flujos de caja negativos descontados al costo de oportunidad.</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21</a:t>
            </a:fld>
            <a:endParaRPr lang="en-US"/>
          </a:p>
        </p:txBody>
      </p:sp>
      <p:sp>
        <p:nvSpPr>
          <p:cNvPr id="9" name="Rectángulo 8">
            <a:extLst>
              <a:ext uri="{FF2B5EF4-FFF2-40B4-BE49-F238E27FC236}">
                <a16:creationId xmlns:a16="http://schemas.microsoft.com/office/drawing/2014/main" id="{A50DD1F5-AF18-1EA5-E875-AFF1FA99C3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1451ED2-B337-0DEC-7050-03020F76D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A27C2A6-4363-9358-0260-30A528BD99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AC2E0C70-018D-9695-4FC6-8CAE7A9CD997}"/>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F4C774C-16EF-D3A1-C9F7-C345E436F456}"/>
                  </a:ext>
                </a:extLst>
              </p:cNvPr>
              <p:cNvSpPr txBox="1"/>
              <p:nvPr/>
            </p:nvSpPr>
            <p:spPr>
              <a:xfrm>
                <a:off x="3939384" y="4240391"/>
                <a:ext cx="4313232" cy="1209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𝐵</m:t>
                          </m:r>
                        </m:num>
                        <m:den>
                          <m:r>
                            <a:rPr lang="es-ES" sz="3600" b="0" i="1" smtClean="0">
                              <a:latin typeface="Cambria Math" panose="02040503050406030204" pitchFamily="18" charset="0"/>
                            </a:rPr>
                            <m:t>𝐶</m:t>
                          </m:r>
                        </m:den>
                      </m:f>
                      <m:r>
                        <a:rPr lang="es-ES" sz="3600" b="0" i="1" smtClean="0">
                          <a:latin typeface="Cambria Math" panose="02040503050406030204" pitchFamily="18" charset="0"/>
                        </a:rPr>
                        <m:t>=</m:t>
                      </m:r>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m:t>
                              </m:r>
                            </m:sub>
                          </m:sSub>
                        </m:num>
                        <m:den>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 −</m:t>
                              </m:r>
                            </m:sub>
                          </m:sSub>
                        </m:den>
                      </m:f>
                    </m:oMath>
                  </m:oMathPara>
                </a14:m>
                <a:endParaRPr lang="es-CO" sz="3600" dirty="0"/>
              </a:p>
            </p:txBody>
          </p:sp>
        </mc:Choice>
        <mc:Fallback xmlns="">
          <p:sp>
            <p:nvSpPr>
              <p:cNvPr id="2" name="CuadroTexto 1">
                <a:extLst>
                  <a:ext uri="{FF2B5EF4-FFF2-40B4-BE49-F238E27FC236}">
                    <a16:creationId xmlns:a16="http://schemas.microsoft.com/office/drawing/2014/main" id="{6F4C774C-16EF-D3A1-C9F7-C345E436F456}"/>
                  </a:ext>
                </a:extLst>
              </p:cNvPr>
              <p:cNvSpPr txBox="1">
                <a:spLocks noRot="1" noChangeAspect="1" noMove="1" noResize="1" noEditPoints="1" noAdjustHandles="1" noChangeArrowheads="1" noChangeShapeType="1" noTextEdit="1"/>
              </p:cNvSpPr>
              <p:nvPr/>
            </p:nvSpPr>
            <p:spPr>
              <a:xfrm>
                <a:off x="3939384" y="4240391"/>
                <a:ext cx="4313232" cy="1209498"/>
              </a:xfrm>
              <a:prstGeom prst="rect">
                <a:avLst/>
              </a:prstGeom>
              <a:blipFill>
                <a:blip r:embed="rId3"/>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2303526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0819"/>
            <a:ext cx="11029615" cy="4351338"/>
          </a:xfrm>
        </p:spPr>
        <p:txBody>
          <a:bodyPr>
            <a:normAutofit/>
          </a:bodyPr>
          <a:lstStyle/>
          <a:p>
            <a:pPr algn="just"/>
            <a:r>
              <a:rPr lang="es-ES" sz="2400" dirty="0"/>
              <a:t>Cuando se está evaluando </a:t>
            </a:r>
            <a:r>
              <a:rPr lang="es-ES" sz="2400" i="1" dirty="0">
                <a:solidFill>
                  <a:schemeClr val="accent6"/>
                </a:solidFill>
              </a:rPr>
              <a:t>un único proyecto, existe total consistencia con los demás indicadores vistos</a:t>
            </a:r>
            <a:r>
              <a:rPr lang="es-ES" sz="2400" b="1" dirty="0"/>
              <a:t>. </a:t>
            </a:r>
            <a:r>
              <a:rPr lang="es-ES" sz="2400" dirty="0"/>
              <a:t>En este orden, por ejemplo, si el VP de los flujos de caja positivos es superior al VP de los flujos de caja negativos se tendrá un VPN&gt;0 y un B/C &gt;1 </a:t>
            </a:r>
          </a:p>
          <a:p>
            <a:pPr algn="just"/>
            <a:endParaRPr lang="es-ES" sz="2400" dirty="0"/>
          </a:p>
          <a:p>
            <a:pPr algn="just"/>
            <a:r>
              <a:rPr lang="es-ES" sz="2400" dirty="0"/>
              <a:t>Recuerden que para el cálculo del VP los flujos deben ser neteados. Después de realizado lo anterior, el flujo neto del periodo es llevado a VP como un flujo positivo si este es mayor a 0 y viceversa.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22</a:t>
            </a:fld>
            <a:endParaRPr lang="en-US"/>
          </a:p>
        </p:txBody>
      </p:sp>
      <p:sp>
        <p:nvSpPr>
          <p:cNvPr id="6" name="Rectángulo 5">
            <a:extLst>
              <a:ext uri="{FF2B5EF4-FFF2-40B4-BE49-F238E27FC236}">
                <a16:creationId xmlns:a16="http://schemas.microsoft.com/office/drawing/2014/main" id="{7958D708-9DAF-A5A1-7CC3-406AB5B3D1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8999227-6CAE-4969-6416-23008F92A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6979598-BF19-9256-D13C-42992EEBDC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F8F7DAE-F1BB-FFAD-804C-CAD4B1F78E10}"/>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Tree>
    <p:extLst>
      <p:ext uri="{BB962C8B-B14F-4D97-AF65-F5344CB8AC3E}">
        <p14:creationId xmlns:p14="http://schemas.microsoft.com/office/powerpoint/2010/main" val="216159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2369"/>
            <a:ext cx="11029605" cy="538470"/>
          </a:xfrm>
        </p:spPr>
        <p:txBody>
          <a:bodyPr>
            <a:normAutofit/>
          </a:bodyPr>
          <a:lstStyle/>
          <a:p>
            <a:pPr marL="0" indent="0" algn="just">
              <a:buNone/>
            </a:pPr>
            <a:r>
              <a:rPr lang="es-ES" sz="2400" dirty="0"/>
              <a:t>Supongamos el siguiente ejemplo con un CO del 10%</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23</a:t>
            </a:fld>
            <a:endParaRPr lang="en-US"/>
          </a:p>
        </p:txBody>
      </p:sp>
      <p:cxnSp>
        <p:nvCxnSpPr>
          <p:cNvPr id="5" name="Straight Connector 17">
            <a:extLst>
              <a:ext uri="{FF2B5EF4-FFF2-40B4-BE49-F238E27FC236}">
                <a16:creationId xmlns:a16="http://schemas.microsoft.com/office/drawing/2014/main" id="{5D97D45F-986B-4F12-B32E-2FF788DEBC4E}"/>
              </a:ext>
            </a:extLst>
          </p:cNvPr>
          <p:cNvCxnSpPr/>
          <p:nvPr/>
        </p:nvCxnSpPr>
        <p:spPr>
          <a:xfrm>
            <a:off x="1633674" y="351453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a:extLst>
              <a:ext uri="{FF2B5EF4-FFF2-40B4-BE49-F238E27FC236}">
                <a16:creationId xmlns:a16="http://schemas.microsoft.com/office/drawing/2014/main" id="{1ED55832-BDFE-4EAA-89FA-673DA28E1D4E}"/>
              </a:ext>
            </a:extLst>
          </p:cNvPr>
          <p:cNvCxnSpPr/>
          <p:nvPr/>
        </p:nvCxnSpPr>
        <p:spPr>
          <a:xfrm>
            <a:off x="1646502" y="352735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a:extLst>
              <a:ext uri="{FF2B5EF4-FFF2-40B4-BE49-F238E27FC236}">
                <a16:creationId xmlns:a16="http://schemas.microsoft.com/office/drawing/2014/main" id="{EE015A24-5579-428E-8B9A-54B1120961A3}"/>
              </a:ext>
            </a:extLst>
          </p:cNvPr>
          <p:cNvCxnSpPr/>
          <p:nvPr/>
        </p:nvCxnSpPr>
        <p:spPr>
          <a:xfrm flipV="1">
            <a:off x="2188823" y="306863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a:extLst>
              <a:ext uri="{FF2B5EF4-FFF2-40B4-BE49-F238E27FC236}">
                <a16:creationId xmlns:a16="http://schemas.microsoft.com/office/drawing/2014/main" id="{032F1B8F-B2F2-4839-B88F-AD3A6F8D7540}"/>
              </a:ext>
            </a:extLst>
          </p:cNvPr>
          <p:cNvCxnSpPr/>
          <p:nvPr/>
        </p:nvCxnSpPr>
        <p:spPr>
          <a:xfrm>
            <a:off x="2784589" y="3527361"/>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a:extLst>
              <a:ext uri="{FF2B5EF4-FFF2-40B4-BE49-F238E27FC236}">
                <a16:creationId xmlns:a16="http://schemas.microsoft.com/office/drawing/2014/main" id="{8580E507-6731-427D-ADA5-B4F4BB21CEC8}"/>
              </a:ext>
            </a:extLst>
          </p:cNvPr>
          <p:cNvCxnSpPr/>
          <p:nvPr/>
        </p:nvCxnSpPr>
        <p:spPr>
          <a:xfrm flipV="1">
            <a:off x="3471325" y="306863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a:extLst>
              <a:ext uri="{FF2B5EF4-FFF2-40B4-BE49-F238E27FC236}">
                <a16:creationId xmlns:a16="http://schemas.microsoft.com/office/drawing/2014/main" id="{FD415B6A-38B3-4C62-97BE-AC5B165C7D14}"/>
              </a:ext>
            </a:extLst>
          </p:cNvPr>
          <p:cNvSpPr>
            <a:spLocks/>
          </p:cNvSpPr>
          <p:nvPr/>
        </p:nvSpPr>
        <p:spPr bwMode="auto">
          <a:xfrm flipH="1">
            <a:off x="1633674" y="323753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23">
            <a:extLst>
              <a:ext uri="{FF2B5EF4-FFF2-40B4-BE49-F238E27FC236}">
                <a16:creationId xmlns:a16="http://schemas.microsoft.com/office/drawing/2014/main" id="{8FACDF7C-0D23-4CDA-86B8-2BCCF5679D79}"/>
              </a:ext>
            </a:extLst>
          </p:cNvPr>
          <p:cNvSpPr>
            <a:spLocks/>
          </p:cNvSpPr>
          <p:nvPr/>
        </p:nvSpPr>
        <p:spPr bwMode="auto">
          <a:xfrm>
            <a:off x="2020293"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2" name="Rectangle 24">
            <a:extLst>
              <a:ext uri="{FF2B5EF4-FFF2-40B4-BE49-F238E27FC236}">
                <a16:creationId xmlns:a16="http://schemas.microsoft.com/office/drawing/2014/main" id="{2CE19B71-C0A8-4B6B-9A0E-78105CBE4ABF}"/>
              </a:ext>
            </a:extLst>
          </p:cNvPr>
          <p:cNvSpPr>
            <a:spLocks/>
          </p:cNvSpPr>
          <p:nvPr/>
        </p:nvSpPr>
        <p:spPr bwMode="auto">
          <a:xfrm>
            <a:off x="2707029" y="350127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3" name="Rectangle 25">
            <a:extLst>
              <a:ext uri="{FF2B5EF4-FFF2-40B4-BE49-F238E27FC236}">
                <a16:creationId xmlns:a16="http://schemas.microsoft.com/office/drawing/2014/main" id="{47497F06-FEDD-4C3D-BCE9-CA681F2E67FD}"/>
              </a:ext>
            </a:extLst>
          </p:cNvPr>
          <p:cNvSpPr>
            <a:spLocks/>
          </p:cNvSpPr>
          <p:nvPr/>
        </p:nvSpPr>
        <p:spPr bwMode="auto">
          <a:xfrm>
            <a:off x="3268467" y="353043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4" name="Rectangle 31">
            <a:extLst>
              <a:ext uri="{FF2B5EF4-FFF2-40B4-BE49-F238E27FC236}">
                <a16:creationId xmlns:a16="http://schemas.microsoft.com/office/drawing/2014/main" id="{EF9FC7C0-01E9-48CC-9D74-5865D8BC4C8A}"/>
              </a:ext>
            </a:extLst>
          </p:cNvPr>
          <p:cNvSpPr>
            <a:spLocks/>
          </p:cNvSpPr>
          <p:nvPr/>
        </p:nvSpPr>
        <p:spPr bwMode="auto">
          <a:xfrm>
            <a:off x="4092887"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5" name="Straight Arrow Connector 32">
            <a:extLst>
              <a:ext uri="{FF2B5EF4-FFF2-40B4-BE49-F238E27FC236}">
                <a16:creationId xmlns:a16="http://schemas.microsoft.com/office/drawing/2014/main" id="{D5926038-4EED-46BF-A909-FBA367B21BF7}"/>
              </a:ext>
            </a:extLst>
          </p:cNvPr>
          <p:cNvCxnSpPr/>
          <p:nvPr/>
        </p:nvCxnSpPr>
        <p:spPr>
          <a:xfrm flipV="1">
            <a:off x="4261417" y="286949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9">
            <a:extLst>
              <a:ext uri="{FF2B5EF4-FFF2-40B4-BE49-F238E27FC236}">
                <a16:creationId xmlns:a16="http://schemas.microsoft.com/office/drawing/2014/main" id="{287E5494-5132-4ECB-97D2-4E54FEF036B8}"/>
              </a:ext>
            </a:extLst>
          </p:cNvPr>
          <p:cNvCxnSpPr/>
          <p:nvPr/>
        </p:nvCxnSpPr>
        <p:spPr>
          <a:xfrm flipV="1">
            <a:off x="2784589" y="306863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8">
            <a:extLst>
              <a:ext uri="{FF2B5EF4-FFF2-40B4-BE49-F238E27FC236}">
                <a16:creationId xmlns:a16="http://schemas.microsoft.com/office/drawing/2014/main" id="{3900D6A7-6319-4F75-BE38-112832B7DD7E}"/>
              </a:ext>
            </a:extLst>
          </p:cNvPr>
          <p:cNvSpPr>
            <a:spLocks/>
          </p:cNvSpPr>
          <p:nvPr/>
        </p:nvSpPr>
        <p:spPr bwMode="auto">
          <a:xfrm>
            <a:off x="1507137" y="276235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18" name="Rectangle 18">
            <a:extLst>
              <a:ext uri="{FF2B5EF4-FFF2-40B4-BE49-F238E27FC236}">
                <a16:creationId xmlns:a16="http://schemas.microsoft.com/office/drawing/2014/main" id="{F48C04C4-9DE4-443F-82F0-ACF2545D076E}"/>
              </a:ext>
            </a:extLst>
          </p:cNvPr>
          <p:cNvSpPr>
            <a:spLocks/>
          </p:cNvSpPr>
          <p:nvPr/>
        </p:nvSpPr>
        <p:spPr bwMode="auto">
          <a:xfrm>
            <a:off x="3627026" y="25903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a:t>
            </a:r>
          </a:p>
        </p:txBody>
      </p:sp>
      <p:sp>
        <p:nvSpPr>
          <p:cNvPr id="19" name="Rectangle 18">
            <a:extLst>
              <a:ext uri="{FF2B5EF4-FFF2-40B4-BE49-F238E27FC236}">
                <a16:creationId xmlns:a16="http://schemas.microsoft.com/office/drawing/2014/main" id="{2689A458-AC08-40DE-8895-BC1B11AE8641}"/>
              </a:ext>
            </a:extLst>
          </p:cNvPr>
          <p:cNvSpPr>
            <a:spLocks/>
          </p:cNvSpPr>
          <p:nvPr/>
        </p:nvSpPr>
        <p:spPr bwMode="auto">
          <a:xfrm>
            <a:off x="2200413" y="27639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20" name="Rectangle 18">
            <a:extLst>
              <a:ext uri="{FF2B5EF4-FFF2-40B4-BE49-F238E27FC236}">
                <a16:creationId xmlns:a16="http://schemas.microsoft.com/office/drawing/2014/main" id="{71206DA2-A613-49F3-B9F2-050F4790D0F4}"/>
              </a:ext>
            </a:extLst>
          </p:cNvPr>
          <p:cNvSpPr>
            <a:spLocks/>
          </p:cNvSpPr>
          <p:nvPr/>
        </p:nvSpPr>
        <p:spPr bwMode="auto">
          <a:xfrm>
            <a:off x="2825482" y="2785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21" name="Rectangle 18">
            <a:extLst>
              <a:ext uri="{FF2B5EF4-FFF2-40B4-BE49-F238E27FC236}">
                <a16:creationId xmlns:a16="http://schemas.microsoft.com/office/drawing/2014/main" id="{AAD0ED06-A375-4B26-96B1-7CB6E3A3D728}"/>
              </a:ext>
            </a:extLst>
          </p:cNvPr>
          <p:cNvSpPr>
            <a:spLocks/>
          </p:cNvSpPr>
          <p:nvPr/>
        </p:nvSpPr>
        <p:spPr bwMode="auto">
          <a:xfrm>
            <a:off x="2202171" y="400567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a:t>
            </a:r>
          </a:p>
        </p:txBody>
      </p:sp>
      <p:sp>
        <p:nvSpPr>
          <p:cNvPr id="22" name="Rectangle 18">
            <a:extLst>
              <a:ext uri="{FF2B5EF4-FFF2-40B4-BE49-F238E27FC236}">
                <a16:creationId xmlns:a16="http://schemas.microsoft.com/office/drawing/2014/main" id="{3A17D5EF-10A5-4249-95B2-98B6A61CC401}"/>
              </a:ext>
            </a:extLst>
          </p:cNvPr>
          <p:cNvSpPr>
            <a:spLocks/>
          </p:cNvSpPr>
          <p:nvPr/>
        </p:nvSpPr>
        <p:spPr bwMode="auto">
          <a:xfrm>
            <a:off x="994947" y="436939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cxnSp>
        <p:nvCxnSpPr>
          <p:cNvPr id="23" name="Straight Connector 17">
            <a:extLst>
              <a:ext uri="{FF2B5EF4-FFF2-40B4-BE49-F238E27FC236}">
                <a16:creationId xmlns:a16="http://schemas.microsoft.com/office/drawing/2014/main" id="{3E832321-975B-4337-A031-5B895E2D3082}"/>
              </a:ext>
            </a:extLst>
          </p:cNvPr>
          <p:cNvCxnSpPr/>
          <p:nvPr/>
        </p:nvCxnSpPr>
        <p:spPr>
          <a:xfrm>
            <a:off x="7848282" y="350188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8">
            <a:extLst>
              <a:ext uri="{FF2B5EF4-FFF2-40B4-BE49-F238E27FC236}">
                <a16:creationId xmlns:a16="http://schemas.microsoft.com/office/drawing/2014/main" id="{C7BD7A87-91C9-40E8-B095-F32C2CB80B64}"/>
              </a:ext>
            </a:extLst>
          </p:cNvPr>
          <p:cNvCxnSpPr/>
          <p:nvPr/>
        </p:nvCxnSpPr>
        <p:spPr>
          <a:xfrm>
            <a:off x="7861110" y="351470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19">
            <a:extLst>
              <a:ext uri="{FF2B5EF4-FFF2-40B4-BE49-F238E27FC236}">
                <a16:creationId xmlns:a16="http://schemas.microsoft.com/office/drawing/2014/main" id="{5684EFD7-8965-466E-83B7-63FA01BD934F}"/>
              </a:ext>
            </a:extLst>
          </p:cNvPr>
          <p:cNvCxnSpPr/>
          <p:nvPr/>
        </p:nvCxnSpPr>
        <p:spPr>
          <a:xfrm flipV="1">
            <a:off x="8403431" y="30559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0">
            <a:extLst>
              <a:ext uri="{FF2B5EF4-FFF2-40B4-BE49-F238E27FC236}">
                <a16:creationId xmlns:a16="http://schemas.microsoft.com/office/drawing/2014/main" id="{D5B082C0-4A4B-4BE3-BCBD-B8F5204352F6}"/>
              </a:ext>
            </a:extLst>
          </p:cNvPr>
          <p:cNvCxnSpPr>
            <a:cxnSpLocks/>
          </p:cNvCxnSpPr>
          <p:nvPr/>
        </p:nvCxnSpPr>
        <p:spPr>
          <a:xfrm>
            <a:off x="8999197" y="3514711"/>
            <a:ext cx="0" cy="3600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1">
            <a:extLst>
              <a:ext uri="{FF2B5EF4-FFF2-40B4-BE49-F238E27FC236}">
                <a16:creationId xmlns:a16="http://schemas.microsoft.com/office/drawing/2014/main" id="{4B172F8C-9A4D-4055-BB75-144BE62336F4}"/>
              </a:ext>
            </a:extLst>
          </p:cNvPr>
          <p:cNvCxnSpPr/>
          <p:nvPr/>
        </p:nvCxnSpPr>
        <p:spPr>
          <a:xfrm flipV="1">
            <a:off x="9685933" y="305598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2">
            <a:extLst>
              <a:ext uri="{FF2B5EF4-FFF2-40B4-BE49-F238E27FC236}">
                <a16:creationId xmlns:a16="http://schemas.microsoft.com/office/drawing/2014/main" id="{0DBC607A-09E8-4172-9159-ED701622D1A9}"/>
              </a:ext>
            </a:extLst>
          </p:cNvPr>
          <p:cNvSpPr>
            <a:spLocks/>
          </p:cNvSpPr>
          <p:nvPr/>
        </p:nvSpPr>
        <p:spPr bwMode="auto">
          <a:xfrm flipH="1">
            <a:off x="7848282" y="3224882"/>
            <a:ext cx="13172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0</a:t>
            </a:r>
          </a:p>
        </p:txBody>
      </p:sp>
      <p:sp>
        <p:nvSpPr>
          <p:cNvPr id="29" name="Rectangle 23">
            <a:extLst>
              <a:ext uri="{FF2B5EF4-FFF2-40B4-BE49-F238E27FC236}">
                <a16:creationId xmlns:a16="http://schemas.microsoft.com/office/drawing/2014/main" id="{39D08D1B-DEBE-489E-939C-4A429574EE4D}"/>
              </a:ext>
            </a:extLst>
          </p:cNvPr>
          <p:cNvSpPr>
            <a:spLocks/>
          </p:cNvSpPr>
          <p:nvPr/>
        </p:nvSpPr>
        <p:spPr bwMode="auto">
          <a:xfrm>
            <a:off x="8234901"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0" name="Rectangle 24">
            <a:extLst>
              <a:ext uri="{FF2B5EF4-FFF2-40B4-BE49-F238E27FC236}">
                <a16:creationId xmlns:a16="http://schemas.microsoft.com/office/drawing/2014/main" id="{BE88D575-2A00-47CF-8167-8F7768B61B6E}"/>
              </a:ext>
            </a:extLst>
          </p:cNvPr>
          <p:cNvSpPr>
            <a:spLocks/>
          </p:cNvSpPr>
          <p:nvPr/>
        </p:nvSpPr>
        <p:spPr bwMode="auto">
          <a:xfrm>
            <a:off x="8921637" y="346684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1" name="Rectangle 25">
            <a:extLst>
              <a:ext uri="{FF2B5EF4-FFF2-40B4-BE49-F238E27FC236}">
                <a16:creationId xmlns:a16="http://schemas.microsoft.com/office/drawing/2014/main" id="{98D15F81-AB64-476B-AE87-77668526CA2A}"/>
              </a:ext>
            </a:extLst>
          </p:cNvPr>
          <p:cNvSpPr>
            <a:spLocks/>
          </p:cNvSpPr>
          <p:nvPr/>
        </p:nvSpPr>
        <p:spPr bwMode="auto">
          <a:xfrm>
            <a:off x="9483075" y="351778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2" name="Rectangle 31">
            <a:extLst>
              <a:ext uri="{FF2B5EF4-FFF2-40B4-BE49-F238E27FC236}">
                <a16:creationId xmlns:a16="http://schemas.microsoft.com/office/drawing/2014/main" id="{8881DB07-4845-4861-8283-76D3038F7A7A}"/>
              </a:ext>
            </a:extLst>
          </p:cNvPr>
          <p:cNvSpPr>
            <a:spLocks/>
          </p:cNvSpPr>
          <p:nvPr/>
        </p:nvSpPr>
        <p:spPr bwMode="auto">
          <a:xfrm>
            <a:off x="10307495"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3" name="Straight Arrow Connector 32">
            <a:extLst>
              <a:ext uri="{FF2B5EF4-FFF2-40B4-BE49-F238E27FC236}">
                <a16:creationId xmlns:a16="http://schemas.microsoft.com/office/drawing/2014/main" id="{9DB45386-7782-4ECE-ACFA-B13D7DCC7FB2}"/>
              </a:ext>
            </a:extLst>
          </p:cNvPr>
          <p:cNvCxnSpPr/>
          <p:nvPr/>
        </p:nvCxnSpPr>
        <p:spPr>
          <a:xfrm flipV="1">
            <a:off x="10476025" y="28568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8">
            <a:extLst>
              <a:ext uri="{FF2B5EF4-FFF2-40B4-BE49-F238E27FC236}">
                <a16:creationId xmlns:a16="http://schemas.microsoft.com/office/drawing/2014/main" id="{B09D9AEE-3033-4770-B9C7-0C177603DBAB}"/>
              </a:ext>
            </a:extLst>
          </p:cNvPr>
          <p:cNvSpPr>
            <a:spLocks/>
          </p:cNvSpPr>
          <p:nvPr/>
        </p:nvSpPr>
        <p:spPr bwMode="auto">
          <a:xfrm>
            <a:off x="7721745" y="274970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36" name="Rectangle 18">
            <a:extLst>
              <a:ext uri="{FF2B5EF4-FFF2-40B4-BE49-F238E27FC236}">
                <a16:creationId xmlns:a16="http://schemas.microsoft.com/office/drawing/2014/main" id="{C3950895-E13D-4BB1-B00E-C26488FA9D97}"/>
              </a:ext>
            </a:extLst>
          </p:cNvPr>
          <p:cNvSpPr>
            <a:spLocks/>
          </p:cNvSpPr>
          <p:nvPr/>
        </p:nvSpPr>
        <p:spPr bwMode="auto">
          <a:xfrm>
            <a:off x="9841634" y="2577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a:t>
            </a:r>
          </a:p>
        </p:txBody>
      </p:sp>
      <p:sp>
        <p:nvSpPr>
          <p:cNvPr id="38" name="Rectangle 18">
            <a:extLst>
              <a:ext uri="{FF2B5EF4-FFF2-40B4-BE49-F238E27FC236}">
                <a16:creationId xmlns:a16="http://schemas.microsoft.com/office/drawing/2014/main" id="{41107D47-8199-429B-80A6-E0F0CCB04E46}"/>
              </a:ext>
            </a:extLst>
          </p:cNvPr>
          <p:cNvSpPr>
            <a:spLocks/>
          </p:cNvSpPr>
          <p:nvPr/>
        </p:nvSpPr>
        <p:spPr bwMode="auto">
          <a:xfrm>
            <a:off x="9040090" y="27730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39" name="Rectangle 18">
            <a:extLst>
              <a:ext uri="{FF2B5EF4-FFF2-40B4-BE49-F238E27FC236}">
                <a16:creationId xmlns:a16="http://schemas.microsoft.com/office/drawing/2014/main" id="{44C5D209-06ED-4304-82CF-C183692BC655}"/>
              </a:ext>
            </a:extLst>
          </p:cNvPr>
          <p:cNvSpPr>
            <a:spLocks/>
          </p:cNvSpPr>
          <p:nvPr/>
        </p:nvSpPr>
        <p:spPr bwMode="auto">
          <a:xfrm>
            <a:off x="8397941" y="381855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a:t>
            </a:r>
          </a:p>
        </p:txBody>
      </p:sp>
      <p:sp>
        <p:nvSpPr>
          <p:cNvPr id="40" name="Rectangle 18">
            <a:extLst>
              <a:ext uri="{FF2B5EF4-FFF2-40B4-BE49-F238E27FC236}">
                <a16:creationId xmlns:a16="http://schemas.microsoft.com/office/drawing/2014/main" id="{2EADA295-64E2-476B-B9CC-67E4A2782F98}"/>
              </a:ext>
            </a:extLst>
          </p:cNvPr>
          <p:cNvSpPr>
            <a:spLocks/>
          </p:cNvSpPr>
          <p:nvPr/>
        </p:nvSpPr>
        <p:spPr bwMode="auto">
          <a:xfrm>
            <a:off x="7209555" y="432693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cxnSp>
        <p:nvCxnSpPr>
          <p:cNvPr id="44" name="Conector recto 43">
            <a:extLst>
              <a:ext uri="{FF2B5EF4-FFF2-40B4-BE49-F238E27FC236}">
                <a16:creationId xmlns:a16="http://schemas.microsoft.com/office/drawing/2014/main" id="{57B8A31A-12CE-4059-980E-F6E808B1029D}"/>
              </a:ext>
            </a:extLst>
          </p:cNvPr>
          <p:cNvCxnSpPr>
            <a:cxnSpLocks/>
            <a:stCxn id="3" idx="2"/>
          </p:cNvCxnSpPr>
          <p:nvPr/>
        </p:nvCxnSpPr>
        <p:spPr>
          <a:xfrm>
            <a:off x="6095994" y="2360839"/>
            <a:ext cx="6" cy="4172041"/>
          </a:xfrm>
          <a:prstGeom prst="line">
            <a:avLst/>
          </a:prstGeom>
          <a:ln w="57150"/>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4525E41-0C14-48C6-8B99-6F7C1AD10294}"/>
                  </a:ext>
                </a:extLst>
              </p:cNvPr>
              <p:cNvSpPr txBox="1"/>
              <p:nvPr/>
            </p:nvSpPr>
            <p:spPr>
              <a:xfrm>
                <a:off x="1419885" y="5243702"/>
                <a:ext cx="3697167" cy="631263"/>
              </a:xfrm>
              <a:prstGeom prst="rect">
                <a:avLst/>
              </a:prstGeom>
              <a:noFill/>
            </p:spPr>
            <p:txBody>
              <a:bodyPr wrap="none" lIns="0" tIns="0" rIns="0" bIns="0" rtlCol="0">
                <a:spAutoFit/>
              </a:bodyPr>
              <a:lstStyle/>
              <a:p>
                <a:pPr algn="ctr"/>
                <a14:m>
                  <m:oMath xmlns:m="http://schemas.openxmlformats.org/officeDocument/2006/math">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𝐵</m:t>
                        </m:r>
                      </m:num>
                      <m:den>
                        <m:r>
                          <a:rPr lang="es-CO" sz="2400" i="1">
                            <a:latin typeface="Cambria Math" panose="02040503050406030204" pitchFamily="18" charset="0"/>
                            <a:ea typeface="Cambria Math" panose="02040503050406030204" pitchFamily="18" charset="0"/>
                          </a:rPr>
                          <m:t>𝐶</m:t>
                        </m:r>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𝐼𝑛𝑔𝑟𝑒𝑠𝑜𝑠</m:t>
                            </m:r>
                          </m:sub>
                        </m:sSub>
                      </m:num>
                      <m:den>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𝑒𝑔𝑟𝑒𝑠𝑜𝑠</m:t>
                            </m:r>
                          </m:sub>
                        </m:sSub>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19.264</m:t>
                        </m:r>
                      </m:num>
                      <m:den>
                        <m:r>
                          <a:rPr lang="es-CO" sz="2400" i="1">
                            <a:latin typeface="Cambria Math" panose="02040503050406030204" pitchFamily="18" charset="0"/>
                            <a:ea typeface="Cambria Math" panose="02040503050406030204" pitchFamily="18" charset="0"/>
                          </a:rPr>
                          <m:t>21.611</m:t>
                        </m:r>
                      </m:den>
                    </m:f>
                    <m:r>
                      <a:rPr lang="es-CO" sz="2400" i="1">
                        <a:latin typeface="Cambria Math" panose="02040503050406030204" pitchFamily="18" charset="0"/>
                        <a:ea typeface="Cambria Math" panose="02040503050406030204" pitchFamily="18" charset="0"/>
                      </a:rPr>
                      <m:t>=</m:t>
                    </m:r>
                  </m:oMath>
                </a14:m>
                <a:r>
                  <a:rPr lang="es-CO" sz="2400" dirty="0">
                    <a:latin typeface="Cambria Math" panose="02040503050406030204" pitchFamily="18" charset="0"/>
                    <a:ea typeface="Cambria Math" panose="02040503050406030204" pitchFamily="18" charset="0"/>
                  </a:rPr>
                  <a:t>0,89</a:t>
                </a:r>
              </a:p>
            </p:txBody>
          </p:sp>
        </mc:Choice>
        <mc:Fallback xmlns="">
          <p:sp>
            <p:nvSpPr>
              <p:cNvPr id="47" name="CuadroTexto 46">
                <a:extLst>
                  <a:ext uri="{FF2B5EF4-FFF2-40B4-BE49-F238E27FC236}">
                    <a16:creationId xmlns:a16="http://schemas.microsoft.com/office/drawing/2014/main" id="{74525E41-0C14-48C6-8B99-6F7C1AD10294}"/>
                  </a:ext>
                </a:extLst>
              </p:cNvPr>
              <p:cNvSpPr txBox="1">
                <a:spLocks noRot="1" noChangeAspect="1" noMove="1" noResize="1" noEditPoints="1" noAdjustHandles="1" noChangeArrowheads="1" noChangeShapeType="1" noTextEdit="1"/>
              </p:cNvSpPr>
              <p:nvPr/>
            </p:nvSpPr>
            <p:spPr>
              <a:xfrm>
                <a:off x="1419885" y="5243702"/>
                <a:ext cx="3697167" cy="631263"/>
              </a:xfrm>
              <a:prstGeom prst="rect">
                <a:avLst/>
              </a:prstGeom>
              <a:blipFill>
                <a:blip r:embed="rId3"/>
                <a:stretch>
                  <a:fillRect r="-4785" b="-192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083EB93F-9BC4-4749-A031-9A16A763A993}"/>
                  </a:ext>
                </a:extLst>
              </p:cNvPr>
              <p:cNvSpPr txBox="1"/>
              <p:nvPr/>
            </p:nvSpPr>
            <p:spPr>
              <a:xfrm>
                <a:off x="7519258" y="5172879"/>
                <a:ext cx="3611310" cy="672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a:latin typeface="Cambria Math" panose="02040503050406030204" pitchFamily="18" charset="0"/>
                            </a:rPr>
                          </m:ctrlPr>
                        </m:fPr>
                        <m:num>
                          <m:r>
                            <a:rPr lang="es-CO" sz="2000" i="1">
                              <a:latin typeface="Cambria Math" panose="02040503050406030204" pitchFamily="18" charset="0"/>
                            </a:rPr>
                            <m:t>𝐵</m:t>
                          </m:r>
                        </m:num>
                        <m:den>
                          <m:r>
                            <a:rPr lang="es-CO" sz="2000" i="1">
                              <a:latin typeface="Cambria Math" panose="02040503050406030204" pitchFamily="18" charset="0"/>
                            </a:rPr>
                            <m:t>𝐶</m:t>
                          </m:r>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𝐼𝑛𝑔𝑟𝑒𝑠𝑜𝑠</m:t>
                              </m:r>
                            </m:sub>
                          </m:sSub>
                        </m:num>
                        <m:den>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𝑒𝑔𝑟𝑒𝑠𝑜𝑠</m:t>
                              </m:r>
                            </m:sub>
                          </m:sSub>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15.132</m:t>
                          </m:r>
                        </m:num>
                        <m:den>
                          <m:r>
                            <a:rPr lang="es-CO" sz="2000" i="1">
                              <a:latin typeface="Cambria Math" panose="02040503050406030204" pitchFamily="18" charset="0"/>
                            </a:rPr>
                            <m:t>17.479</m:t>
                          </m:r>
                        </m:den>
                      </m:f>
                      <m:r>
                        <a:rPr lang="es-CO" sz="2000" i="1">
                          <a:latin typeface="Cambria Math" panose="02040503050406030204" pitchFamily="18" charset="0"/>
                        </a:rPr>
                        <m:t>=0,87</m:t>
                      </m:r>
                    </m:oMath>
                  </m:oMathPara>
                </a14:m>
                <a:endParaRPr lang="es-CO" sz="2000" dirty="0"/>
              </a:p>
            </p:txBody>
          </p:sp>
        </mc:Choice>
        <mc:Fallback xmlns="">
          <p:sp>
            <p:nvSpPr>
              <p:cNvPr id="48" name="CuadroTexto 47">
                <a:extLst>
                  <a:ext uri="{FF2B5EF4-FFF2-40B4-BE49-F238E27FC236}">
                    <a16:creationId xmlns:a16="http://schemas.microsoft.com/office/drawing/2014/main" id="{083EB93F-9BC4-4749-A031-9A16A763A993}"/>
                  </a:ext>
                </a:extLst>
              </p:cNvPr>
              <p:cNvSpPr txBox="1">
                <a:spLocks noRot="1" noChangeAspect="1" noMove="1" noResize="1" noEditPoints="1" noAdjustHandles="1" noChangeArrowheads="1" noChangeShapeType="1" noTextEdit="1"/>
              </p:cNvSpPr>
              <p:nvPr/>
            </p:nvSpPr>
            <p:spPr>
              <a:xfrm>
                <a:off x="7519258" y="5172879"/>
                <a:ext cx="3611310" cy="672428"/>
              </a:xfrm>
              <a:prstGeom prst="rect">
                <a:avLst/>
              </a:prstGeom>
              <a:blipFill>
                <a:blip r:embed="rId4"/>
                <a:stretch>
                  <a:fillRect/>
                </a:stretch>
              </a:blipFill>
            </p:spPr>
            <p:txBody>
              <a:bodyPr/>
              <a:lstStyle/>
              <a:p>
                <a:r>
                  <a:rPr lang="es-CO">
                    <a:noFill/>
                  </a:rPr>
                  <a:t> </a:t>
                </a:r>
              </a:p>
            </p:txBody>
          </p:sp>
        </mc:Fallback>
      </mc:AlternateContent>
      <p:sp>
        <p:nvSpPr>
          <p:cNvPr id="34" name="Rectángulo 33">
            <a:extLst>
              <a:ext uri="{FF2B5EF4-FFF2-40B4-BE49-F238E27FC236}">
                <a16:creationId xmlns:a16="http://schemas.microsoft.com/office/drawing/2014/main" id="{2DA8B73D-01A4-53A3-95CF-16577B90CB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7" name="Picture 2" descr="Clientes y aliados | Centro de Evaluación | Uniandes">
            <a:extLst>
              <a:ext uri="{FF2B5EF4-FFF2-40B4-BE49-F238E27FC236}">
                <a16:creationId xmlns:a16="http://schemas.microsoft.com/office/drawing/2014/main" id="{0235CC89-86DA-E05E-C897-1AE5F7CCBE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2" name="Rectángulo 41">
            <a:extLst>
              <a:ext uri="{FF2B5EF4-FFF2-40B4-BE49-F238E27FC236}">
                <a16:creationId xmlns:a16="http://schemas.microsoft.com/office/drawing/2014/main" id="{E96CE54A-9754-2108-30D9-AAE2E0B9DDB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43" name="Título 1">
            <a:extLst>
              <a:ext uri="{FF2B5EF4-FFF2-40B4-BE49-F238E27FC236}">
                <a16:creationId xmlns:a16="http://schemas.microsoft.com/office/drawing/2014/main" id="{9617CB4B-BCEA-7E31-4B55-D264D513E9F0}"/>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
        <p:nvSpPr>
          <p:cNvPr id="46" name="Marcador de contenido 2">
            <a:extLst>
              <a:ext uri="{FF2B5EF4-FFF2-40B4-BE49-F238E27FC236}">
                <a16:creationId xmlns:a16="http://schemas.microsoft.com/office/drawing/2014/main" id="{EEE4EBDF-CCEB-A255-101C-4F57DD78263A}"/>
              </a:ext>
            </a:extLst>
          </p:cNvPr>
          <p:cNvSpPr txBox="1">
            <a:spLocks/>
          </p:cNvSpPr>
          <p:nvPr/>
        </p:nvSpPr>
        <p:spPr>
          <a:xfrm>
            <a:off x="6096001" y="5978158"/>
            <a:ext cx="6095994" cy="8106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buFont typeface="Wingdings" panose="05000000000000000000" pitchFamily="2" charset="2"/>
              <a:buChar char="ü"/>
            </a:pPr>
            <a:r>
              <a:rPr lang="es-ES" sz="2400" dirty="0"/>
              <a:t>Enfoque adoptado en el curso</a:t>
            </a:r>
          </a:p>
        </p:txBody>
      </p:sp>
    </p:spTree>
    <p:extLst>
      <p:ext uri="{BB962C8B-B14F-4D97-AF65-F5344CB8AC3E}">
        <p14:creationId xmlns:p14="http://schemas.microsoft.com/office/powerpoint/2010/main" val="21676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7" grpId="0"/>
      <p:bldP spid="18" grpId="0"/>
      <p:bldP spid="19" grpId="0"/>
      <p:bldP spid="20" grpId="0"/>
      <p:bldP spid="21" grpId="0"/>
      <p:bldP spid="22" grpId="0"/>
      <p:bldP spid="28" grpId="0"/>
      <p:bldP spid="29" grpId="0"/>
      <p:bldP spid="30" grpId="0"/>
      <p:bldP spid="31" grpId="0"/>
      <p:bldP spid="32" grpId="0"/>
      <p:bldP spid="35" grpId="0"/>
      <p:bldP spid="36" grpId="0"/>
      <p:bldP spid="38" grpId="0"/>
      <p:bldP spid="39" grpId="0"/>
      <p:bldP spid="40" grpId="0"/>
      <p:bldP spid="47" grpId="0"/>
      <p:bldP spid="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02D57-55E4-2556-EA4D-0407CCB4EA2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A18CFDB-0E93-EDDA-A6BC-BE1DCCFB53D2}"/>
              </a:ext>
            </a:extLst>
          </p:cNvPr>
          <p:cNvSpPr>
            <a:spLocks noGrp="1"/>
          </p:cNvSpPr>
          <p:nvPr>
            <p:ph idx="1"/>
          </p:nvPr>
        </p:nvSpPr>
        <p:spPr>
          <a:xfrm>
            <a:off x="581191" y="1828145"/>
            <a:ext cx="11029615" cy="777763"/>
          </a:xfrm>
        </p:spPr>
        <p:txBody>
          <a:bodyPr>
            <a:normAutofit/>
          </a:bodyPr>
          <a:lstStyle/>
          <a:p>
            <a:pPr marL="0" indent="0" algn="ctr">
              <a:buNone/>
            </a:pPr>
            <a:r>
              <a:rPr lang="es-ES" sz="2400" dirty="0"/>
              <a:t>Haciendo una comparación con el VAE, VPN y la TIR podemos concluir lo siguiente:</a:t>
            </a:r>
          </a:p>
        </p:txBody>
      </p:sp>
      <p:sp>
        <p:nvSpPr>
          <p:cNvPr id="4" name="Marcador de número de diapositiva 3">
            <a:extLst>
              <a:ext uri="{FF2B5EF4-FFF2-40B4-BE49-F238E27FC236}">
                <a16:creationId xmlns:a16="http://schemas.microsoft.com/office/drawing/2014/main" id="{A2BD1CC6-64B3-E410-F446-ED83A62D8FB4}"/>
              </a:ext>
            </a:extLst>
          </p:cNvPr>
          <p:cNvSpPr>
            <a:spLocks noGrp="1"/>
          </p:cNvSpPr>
          <p:nvPr>
            <p:ph type="sldNum" sz="quarter" idx="12"/>
          </p:nvPr>
        </p:nvSpPr>
        <p:spPr/>
        <p:txBody>
          <a:bodyPr/>
          <a:lstStyle/>
          <a:p>
            <a:fld id="{5E3E23BA-6E79-2442-BA73-D218A5E297C3}" type="slidenum">
              <a:rPr lang="en-US" smtClean="0"/>
              <a:t>24</a:t>
            </a:fld>
            <a:endParaRPr lang="en-US"/>
          </a:p>
        </p:txBody>
      </p:sp>
      <p:sp>
        <p:nvSpPr>
          <p:cNvPr id="7" name="Rectángulo 6">
            <a:extLst>
              <a:ext uri="{FF2B5EF4-FFF2-40B4-BE49-F238E27FC236}">
                <a16:creationId xmlns:a16="http://schemas.microsoft.com/office/drawing/2014/main" id="{C85D188C-23FE-B845-0AED-019C2D54A4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408B1D7-E9E4-C95F-75EA-BF6533A3C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C6D58F9-FAE2-27E6-0339-7A80F5FBA53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69E95B91-5845-FC52-3B0C-50FFE7CF9B71}"/>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graphicFrame>
        <p:nvGraphicFramePr>
          <p:cNvPr id="12" name="Table 4">
            <a:extLst>
              <a:ext uri="{FF2B5EF4-FFF2-40B4-BE49-F238E27FC236}">
                <a16:creationId xmlns:a16="http://schemas.microsoft.com/office/drawing/2014/main" id="{765C16F3-FD38-C9DA-56A4-8B53E6D5DBFC}"/>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B/C&lt;</a:t>
                      </a:r>
                      <a:r>
                        <a:rPr lang="es-ES_tradnl" sz="2000" baseline="0" noProof="0" dirty="0">
                          <a:solidFill>
                            <a:sysClr val="windowText" lastClr="000000"/>
                          </a:solidFill>
                        </a:rPr>
                        <a:t> 1</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VAE&lt;</a:t>
                      </a:r>
                      <a:r>
                        <a:rPr lang="es-ES_tradnl" sz="1800" baseline="0" noProof="0" dirty="0">
                          <a:solidFill>
                            <a:schemeClr val="tx1"/>
                          </a:solidFill>
                        </a:rPr>
                        <a:t> 0</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VPN&lt;</a:t>
                      </a:r>
                      <a:r>
                        <a:rPr lang="es-ES_tradnl" sz="1800" baseline="0" noProof="0" dirty="0">
                          <a:solidFill>
                            <a:schemeClr val="tx1"/>
                          </a:solidFill>
                        </a:rPr>
                        <a:t> 0</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TIR &lt;</a:t>
                      </a:r>
                      <a:r>
                        <a:rPr lang="es-ES_tradnl" sz="1800" baseline="0" noProof="0" dirty="0">
                          <a:solidFill>
                            <a:schemeClr val="tx1"/>
                          </a:solidFill>
                        </a:rPr>
                        <a:t> C.O.</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B/C&gt;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B/C=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CuadroTexto 4">
            <a:extLst>
              <a:ext uri="{FF2B5EF4-FFF2-40B4-BE49-F238E27FC236}">
                <a16:creationId xmlns:a16="http://schemas.microsoft.com/office/drawing/2014/main" id="{B49F81A1-CA4C-89E8-9DA7-2E633227FA44}"/>
              </a:ext>
            </a:extLst>
          </p:cNvPr>
          <p:cNvSpPr txBox="1"/>
          <p:nvPr/>
        </p:nvSpPr>
        <p:spPr>
          <a:xfrm>
            <a:off x="581190" y="5677034"/>
            <a:ext cx="11029615" cy="830997"/>
          </a:xfrm>
          <a:prstGeom prst="rect">
            <a:avLst/>
          </a:prstGeom>
          <a:noFill/>
        </p:spPr>
        <p:txBody>
          <a:bodyPr wrap="square">
            <a:spAutoFit/>
          </a:bodyPr>
          <a:lstStyle/>
          <a:p>
            <a:pPr marL="0" indent="0" algn="just">
              <a:buNone/>
            </a:pPr>
            <a:r>
              <a:rPr lang="es-ES" sz="2400" dirty="0"/>
              <a:t>Al igual que el VPN y la TIR, es necesario entender adecuadamente la relación B/C, para no hacer interpretaciones erradas. </a:t>
            </a:r>
          </a:p>
        </p:txBody>
      </p:sp>
    </p:spTree>
    <p:extLst>
      <p:ext uri="{BB962C8B-B14F-4D97-AF65-F5344CB8AC3E}">
        <p14:creationId xmlns:p14="http://schemas.microsoft.com/office/powerpoint/2010/main" val="2789152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365394"/>
            <a:ext cx="11029616" cy="2497433"/>
          </a:xfrm>
        </p:spPr>
        <p:txBody>
          <a:bodyPr>
            <a:normAutofit/>
          </a:bodyPr>
          <a:lstStyle/>
          <a:p>
            <a:pPr marL="0" indent="0" algn="ctr">
              <a:buNone/>
            </a:pPr>
            <a:r>
              <a:rPr lang="es-ES" sz="2800" dirty="0">
                <a:solidFill>
                  <a:srgbClr val="800000"/>
                </a:solidFill>
              </a:rPr>
              <a:t>¿Como interpretamos los resultados?</a:t>
            </a:r>
          </a:p>
          <a:p>
            <a:pPr marL="0" indent="0" algn="ctr">
              <a:buNone/>
            </a:pPr>
            <a:endParaRPr lang="es-ES" sz="2400" dirty="0">
              <a:solidFill>
                <a:srgbClr val="800000"/>
              </a:solidFill>
            </a:endParaRPr>
          </a:p>
          <a:p>
            <a:pPr marL="0" indent="0" algn="ctr">
              <a:buNone/>
            </a:pPr>
            <a:r>
              <a:rPr lang="es-ES" sz="2400" dirty="0"/>
              <a:t>Supongamos que la relación B/C arrojó un resultado de 2,5 </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25</a:t>
            </a:fld>
            <a:endParaRPr lang="en-US"/>
          </a:p>
        </p:txBody>
      </p:sp>
      <p:sp>
        <p:nvSpPr>
          <p:cNvPr id="6" name="Rectángulo 5">
            <a:extLst>
              <a:ext uri="{FF2B5EF4-FFF2-40B4-BE49-F238E27FC236}">
                <a16:creationId xmlns:a16="http://schemas.microsoft.com/office/drawing/2014/main" id="{4C5B5313-4E56-2C5B-6A43-11E3029DA5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ABC8AD0-E420-97F6-1F8B-2379312CB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1B72F96-7EF5-E968-9308-2DA921601B3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FE5FD68-E0A2-92AC-D539-542FD1754B0B}"/>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Tree>
    <p:extLst>
      <p:ext uri="{BB962C8B-B14F-4D97-AF65-F5344CB8AC3E}">
        <p14:creationId xmlns:p14="http://schemas.microsoft.com/office/powerpoint/2010/main" val="26712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8621" y="3035698"/>
                <a:ext cx="8134758" cy="737184"/>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nor/>
                        </m:rPr>
                        <a:rPr lang="es-ES" sz="2400" dirty="0" smtClean="0"/>
                        <m:t>Al</m:t>
                      </m:r>
                      <m:r>
                        <m:rPr>
                          <m:nor/>
                        </m:rPr>
                        <a:rPr lang="es-ES" sz="2400" dirty="0" smtClean="0"/>
                        <m:t> </m:t>
                      </m:r>
                      <m:r>
                        <m:rPr>
                          <m:nor/>
                        </m:rPr>
                        <a:rPr lang="es-ES" sz="2400" dirty="0" smtClean="0"/>
                        <m:t>multiplicar</m:t>
                      </m:r>
                      <m:r>
                        <m:rPr>
                          <m:nor/>
                        </m:rPr>
                        <a:rPr lang="es-ES" sz="2400" dirty="0" smtClean="0"/>
                        <m:t> </m:t>
                      </m:r>
                      <m:r>
                        <m:rPr>
                          <m:nor/>
                        </m:rPr>
                        <a:rPr lang="es-ES" sz="2400" dirty="0" smtClean="0"/>
                        <m:t>a</m:t>
                      </m:r>
                      <m:r>
                        <m:rPr>
                          <m:nor/>
                        </m:rPr>
                        <a:rPr lang="es-ES" sz="2400" dirty="0" smtClean="0"/>
                        <m:t> </m:t>
                      </m:r>
                      <m:r>
                        <m:rPr>
                          <m:nor/>
                        </m:rPr>
                        <a:rPr lang="es-ES" sz="2400" dirty="0" smtClean="0"/>
                        <m:t>ambos</m:t>
                      </m:r>
                      <m:r>
                        <m:rPr>
                          <m:nor/>
                        </m:rPr>
                        <a:rPr lang="es-ES" sz="2400" dirty="0" smtClean="0"/>
                        <m:t> </m:t>
                      </m:r>
                      <m:r>
                        <m:rPr>
                          <m:nor/>
                        </m:rPr>
                        <a:rPr lang="es-ES" sz="2400" dirty="0" smtClean="0"/>
                        <m:t>lados</m:t>
                      </m:r>
                      <m:r>
                        <m:rPr>
                          <m:nor/>
                        </m:rPr>
                        <a:rPr lang="es-ES" sz="2400" dirty="0" smtClean="0"/>
                        <m:t> </m:t>
                      </m:r>
                      <m:r>
                        <m:rPr>
                          <m:nor/>
                        </m:rPr>
                        <a:rPr lang="es-ES" sz="2400" dirty="0" smtClean="0"/>
                        <m:t>de</m:t>
                      </m:r>
                      <m:r>
                        <m:rPr>
                          <m:nor/>
                        </m:rPr>
                        <a:rPr lang="es-ES" sz="2400" dirty="0" smtClean="0"/>
                        <m:t> </m:t>
                      </m:r>
                      <m:r>
                        <m:rPr>
                          <m:nor/>
                        </m:rPr>
                        <a:rPr lang="es-ES" sz="2400" dirty="0" smtClean="0"/>
                        <m:t>la</m:t>
                      </m:r>
                      <m:r>
                        <m:rPr>
                          <m:nor/>
                        </m:rPr>
                        <a:rPr lang="es-ES" sz="2400" dirty="0" smtClean="0"/>
                        <m:t> </m:t>
                      </m:r>
                      <m:r>
                        <m:rPr>
                          <m:nor/>
                        </m:rPr>
                        <a:rPr lang="es-ES" sz="2400" dirty="0" smtClean="0"/>
                        <m:t>ecuaci</m:t>
                      </m:r>
                      <m:r>
                        <m:rPr>
                          <m:nor/>
                        </m:rPr>
                        <a:rPr lang="es-ES" sz="2400" dirty="0" smtClean="0"/>
                        <m:t>ó</m:t>
                      </m:r>
                      <m:r>
                        <m:rPr>
                          <m:nor/>
                        </m:rPr>
                        <a:rPr lang="es-ES" sz="2400" dirty="0" smtClean="0"/>
                        <m:t>n</m:t>
                      </m:r>
                      <m:r>
                        <m:rPr>
                          <m:nor/>
                        </m:rPr>
                        <a:rPr lang="es-ES" sz="2400" dirty="0" smtClean="0"/>
                        <m:t> </m:t>
                      </m:r>
                      <m:r>
                        <m:rPr>
                          <m:nor/>
                        </m:rPr>
                        <a:rPr lang="es-ES" sz="2400" dirty="0" smtClean="0"/>
                        <m:t>por</m:t>
                      </m:r>
                      <m:r>
                        <a:rPr lang="es-ES" sz="2400" b="0" i="1" dirty="0" smtClean="0">
                          <a:latin typeface="Cambria Math" panose="02040503050406030204" pitchFamily="18" charset="0"/>
                        </a:rPr>
                        <m:t> </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m:t>
                              </m:r>
                            </m:sub>
                          </m:sSub>
                        </m:den>
                      </m:f>
                    </m:oMath>
                  </m:oMathPara>
                </a14:m>
                <a:endParaRPr lang="es-E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8621" y="3035698"/>
                <a:ext cx="8134758" cy="737184"/>
              </a:xfrm>
              <a:blipFill>
                <a:blip r:embed="rId2"/>
                <a:stretch>
                  <a:fillRect t="-3306"/>
                </a:stretch>
              </a:blipFill>
            </p:spPr>
            <p:txBody>
              <a:bodyPr/>
              <a:lstStyle/>
              <a:p>
                <a:r>
                  <a:rPr lang="es-CO">
                    <a:noFill/>
                  </a:rPr>
                  <a:t> </a:t>
                </a:r>
              </a:p>
            </p:txBody>
          </p:sp>
        </mc:Fallback>
      </mc:AlternateContent>
      <p:sp>
        <p:nvSpPr>
          <p:cNvPr id="4" name="Marcador de número de diapositiva 3"/>
          <p:cNvSpPr>
            <a:spLocks noGrp="1"/>
          </p:cNvSpPr>
          <p:nvPr>
            <p:ph type="sldNum" sz="quarter" idx="12"/>
          </p:nvPr>
        </p:nvSpPr>
        <p:spPr/>
        <p:txBody>
          <a:bodyPr/>
          <a:lstStyle/>
          <a:p>
            <a:fld id="{5E3E23BA-6E79-2442-BA73-D218A5E297C3}" type="slidenum">
              <a:rPr lang="en-US" smtClean="0"/>
              <a:t>26</a:t>
            </a:fld>
            <a:endParaRPr lang="en-US"/>
          </a:p>
        </p:txBody>
      </p:sp>
      <p:sp>
        <p:nvSpPr>
          <p:cNvPr id="5" name="Rectángulo 4">
            <a:extLst>
              <a:ext uri="{FF2B5EF4-FFF2-40B4-BE49-F238E27FC236}">
                <a16:creationId xmlns:a16="http://schemas.microsoft.com/office/drawing/2014/main" id="{C29EDDF1-E6AE-5963-F9CE-A565834EAA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8676BF9-E3BD-1BFD-3DEB-E14EAC4E99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879A36B8-898D-0A0E-1F1D-B5E92CF0E27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C37E0C5C-925E-F094-7D63-FC5187B7EA94}"/>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DE36FAD-8BD6-620A-9537-697103E74EF4}"/>
                  </a:ext>
                </a:extLst>
              </p:cNvPr>
              <p:cNvSpPr txBox="1"/>
              <p:nvPr/>
            </p:nvSpPr>
            <p:spPr>
              <a:xfrm>
                <a:off x="581192" y="2070936"/>
                <a:ext cx="11029616" cy="6064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3600" b="0" i="1" smtClean="0">
                          <a:latin typeface="Cambria Math" panose="02040503050406030204" pitchFamily="18" charset="0"/>
                          <a:ea typeface="Cambria Math" panose="02040503050406030204" pitchFamily="18" charset="0"/>
                        </a:rPr>
                        <m:t>𝑉𝑃𝑁</m:t>
                      </m:r>
                      <m:r>
                        <a:rPr lang="es-ES" sz="3600" b="0" i="1"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Spread</m:t>
                      </m:r>
                      <m:r>
                        <m:rPr>
                          <m:nor/>
                        </m:rPr>
                        <a:rPr lang="es-ES" sz="3600" b="0" i="0"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𝑉</m:t>
                      </m:r>
                      <m:sSub>
                        <m:sSubPr>
                          <m:ctrlPr>
                            <a:rPr lang="es-ES" sz="3600" b="0" i="1" smtClean="0">
                              <a:latin typeface="Cambria Math" panose="02040503050406030204" pitchFamily="18" charset="0"/>
                              <a:ea typeface="Cambria Math" panose="02040503050406030204" pitchFamily="18" charset="0"/>
                            </a:rPr>
                          </m:ctrlPr>
                        </m:sSubPr>
                        <m:e>
                          <m:r>
                            <a:rPr lang="es-ES" sz="3600" b="0" i="1" smtClean="0">
                              <a:latin typeface="Cambria Math" panose="02040503050406030204" pitchFamily="18" charset="0"/>
                              <a:ea typeface="Cambria Math" panose="02040503050406030204" pitchFamily="18" charset="0"/>
                            </a:rPr>
                            <m:t>𝑃</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r>
                        <a:rPr lang="es-ES" sz="3600" b="0" i="0" smtClean="0">
                          <a:latin typeface="Cambria Math" panose="02040503050406030204" pitchFamily="18" charset="0"/>
                          <a:ea typeface="Cambria Math" panose="02040503050406030204" pitchFamily="18" charset="0"/>
                        </a:rPr>
                        <m:t>−</m:t>
                      </m:r>
                      <m:sSub>
                        <m:sSubPr>
                          <m:ctrlPr>
                            <a:rPr lang="es-ES" sz="3600" b="0" i="1" smtClean="0">
                              <a:latin typeface="Cambria Math" panose="02040503050406030204" pitchFamily="18" charset="0"/>
                              <a:ea typeface="Cambria Math" panose="02040503050406030204" pitchFamily="18" charset="0"/>
                            </a:rPr>
                          </m:ctrlPr>
                        </m:sSubPr>
                        <m:e>
                          <m:r>
                            <m:rPr>
                              <m:sty m:val="p"/>
                            </m:rPr>
                            <a:rPr lang="es-ES" sz="3600" b="0" i="0" smtClean="0">
                              <a:latin typeface="Cambria Math" panose="02040503050406030204" pitchFamily="18" charset="0"/>
                              <a:ea typeface="Cambria Math" panose="02040503050406030204" pitchFamily="18" charset="0"/>
                            </a:rPr>
                            <m:t>VP</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oMath>
                  </m:oMathPara>
                </a14:m>
                <a:endParaRPr lang="es-CO" sz="3600" dirty="0">
                  <a:latin typeface="Cambria Math" panose="02040503050406030204" pitchFamily="18" charset="0"/>
                  <a:ea typeface="Cambria Math" panose="02040503050406030204" pitchFamily="18" charset="0"/>
                </a:endParaRPr>
              </a:p>
            </p:txBody>
          </p:sp>
        </mc:Choice>
        <mc:Fallback xmlns="">
          <p:sp>
            <p:nvSpPr>
              <p:cNvPr id="2" name="CuadroTexto 1">
                <a:extLst>
                  <a:ext uri="{FF2B5EF4-FFF2-40B4-BE49-F238E27FC236}">
                    <a16:creationId xmlns:a16="http://schemas.microsoft.com/office/drawing/2014/main" id="{0DE36FAD-8BD6-620A-9537-697103E74EF4}"/>
                  </a:ext>
                </a:extLst>
              </p:cNvPr>
              <p:cNvSpPr txBox="1">
                <a:spLocks noRot="1" noChangeAspect="1" noMove="1" noResize="1" noEditPoints="1" noAdjustHandles="1" noChangeArrowheads="1" noChangeShapeType="1" noTextEdit="1"/>
              </p:cNvSpPr>
              <p:nvPr/>
            </p:nvSpPr>
            <p:spPr>
              <a:xfrm>
                <a:off x="581192" y="2070936"/>
                <a:ext cx="11029616" cy="606448"/>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AC1E631-D29C-59D1-3369-228D470A9C89}"/>
                  </a:ext>
                </a:extLst>
              </p:cNvPr>
              <p:cNvSpPr txBox="1"/>
              <p:nvPr/>
            </p:nvSpPr>
            <p:spPr>
              <a:xfrm>
                <a:off x="2923368" y="3892774"/>
                <a:ext cx="6345263" cy="10750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b="0" i="1" smtClean="0">
                                  <a:latin typeface="Cambria Math" panose="02040503050406030204" pitchFamily="18" charset="0"/>
                                </a:rPr>
                                <m:t>+</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oMath>
                  </m:oMathPara>
                </a14:m>
                <a:endParaRPr lang="es-CO" sz="3200" dirty="0"/>
              </a:p>
            </p:txBody>
          </p:sp>
        </mc:Choice>
        <mc:Fallback xmlns="">
          <p:sp>
            <p:nvSpPr>
              <p:cNvPr id="6" name="CuadroTexto 5">
                <a:extLst>
                  <a:ext uri="{FF2B5EF4-FFF2-40B4-BE49-F238E27FC236}">
                    <a16:creationId xmlns:a16="http://schemas.microsoft.com/office/drawing/2014/main" id="{6AC1E631-D29C-59D1-3369-228D470A9C89}"/>
                  </a:ext>
                </a:extLst>
              </p:cNvPr>
              <p:cNvSpPr txBox="1">
                <a:spLocks noRot="1" noChangeAspect="1" noMove="1" noResize="1" noEditPoints="1" noAdjustHandles="1" noChangeArrowheads="1" noChangeShapeType="1" noTextEdit="1"/>
              </p:cNvSpPr>
              <p:nvPr/>
            </p:nvSpPr>
            <p:spPr>
              <a:xfrm>
                <a:off x="2923368" y="3892774"/>
                <a:ext cx="6345263" cy="107503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A92684F-F8CC-5D0F-E08E-804828C7792E}"/>
                  </a:ext>
                </a:extLst>
              </p:cNvPr>
              <p:cNvSpPr txBox="1"/>
              <p:nvPr/>
            </p:nvSpPr>
            <p:spPr>
              <a:xfrm>
                <a:off x="4405632" y="5297178"/>
                <a:ext cx="3380734" cy="10740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𝐵</m:t>
                          </m:r>
                        </m:num>
                        <m:den>
                          <m:r>
                            <a:rPr lang="es-ES" sz="3200" b="0" i="1" smtClean="0">
                              <a:latin typeface="Cambria Math" panose="02040503050406030204" pitchFamily="18" charset="0"/>
                            </a:rPr>
                            <m:t>𝐶</m:t>
                          </m:r>
                        </m:den>
                      </m:f>
                      <m:r>
                        <a:rPr lang="es-ES" sz="3200" b="0" i="1" smtClean="0">
                          <a:latin typeface="Cambria Math" panose="02040503050406030204" pitchFamily="18" charset="0"/>
                        </a:rPr>
                        <m:t>−1</m:t>
                      </m:r>
                    </m:oMath>
                  </m:oMathPara>
                </a14:m>
                <a:endParaRPr lang="es-CO" sz="3200" dirty="0"/>
              </a:p>
            </p:txBody>
          </p:sp>
        </mc:Choice>
        <mc:Fallback xmlns="">
          <p:sp>
            <p:nvSpPr>
              <p:cNvPr id="8" name="CuadroTexto 7">
                <a:extLst>
                  <a:ext uri="{FF2B5EF4-FFF2-40B4-BE49-F238E27FC236}">
                    <a16:creationId xmlns:a16="http://schemas.microsoft.com/office/drawing/2014/main" id="{7A92684F-F8CC-5D0F-E08E-804828C7792E}"/>
                  </a:ext>
                </a:extLst>
              </p:cNvPr>
              <p:cNvSpPr txBox="1">
                <a:spLocks noRot="1" noChangeAspect="1" noMove="1" noResize="1" noEditPoints="1" noAdjustHandles="1" noChangeArrowheads="1" noChangeShapeType="1" noTextEdit="1"/>
              </p:cNvSpPr>
              <p:nvPr/>
            </p:nvSpPr>
            <p:spPr>
              <a:xfrm>
                <a:off x="4405632" y="5297178"/>
                <a:ext cx="3380734" cy="1074077"/>
              </a:xfrm>
              <a:prstGeom prst="rect">
                <a:avLst/>
              </a:prstGeom>
              <a:blipFill>
                <a:blip r:embed="rId6"/>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65360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5093"/>
            <a:ext cx="11029615" cy="1865166"/>
          </a:xfrm>
        </p:spPr>
        <p:txBody>
          <a:bodyPr>
            <a:normAutofit/>
          </a:bodyPr>
          <a:lstStyle/>
          <a:p>
            <a:pPr marL="0" indent="0" algn="just">
              <a:buNone/>
            </a:pPr>
            <a:r>
              <a:rPr lang="es-ES" sz="2400" dirty="0"/>
              <a:t>Así que, si la relación B/C arroja un resultado de 2,5 según nuestro ejemplo, es correcto afirmar que por cada peso invertido en valor presente, el proyecto está generando 1,5 pesos adicionales (spread) por encima de lo que hubiesen generado inversiones que rentan al costo de oportunidad.</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27</a:t>
            </a:fld>
            <a:endParaRPr lang="en-US"/>
          </a:p>
        </p:txBody>
      </p:sp>
      <p:sp>
        <p:nvSpPr>
          <p:cNvPr id="9" name="Rectángulo 8">
            <a:extLst>
              <a:ext uri="{FF2B5EF4-FFF2-40B4-BE49-F238E27FC236}">
                <a16:creationId xmlns:a16="http://schemas.microsoft.com/office/drawing/2014/main" id="{9AEB8D2D-4A41-A2C3-E7EB-895FA60D29D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423630F-1956-ED90-CAD9-E30BCDBC1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6AE6B15-5C04-A537-E709-23DB6CDB37F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049232B4-7A4E-D8EC-F5D5-C2678CECFBC7}"/>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F53C758-289A-D6C2-1945-D3FB6CCFE68B}"/>
                  </a:ext>
                </a:extLst>
              </p:cNvPr>
              <p:cNvSpPr txBox="1"/>
              <p:nvPr/>
            </p:nvSpPr>
            <p:spPr>
              <a:xfrm>
                <a:off x="4828471" y="3690259"/>
                <a:ext cx="2535053"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𝐵</m:t>
                          </m:r>
                        </m:num>
                        <m:den>
                          <m:r>
                            <a:rPr lang="es-ES" sz="2400" b="0" i="1" smtClean="0">
                              <a:latin typeface="Cambria Math" panose="02040503050406030204" pitchFamily="18" charset="0"/>
                            </a:rPr>
                            <m:t>𝐶</m:t>
                          </m:r>
                        </m:den>
                      </m:f>
                      <m:r>
                        <a:rPr lang="es-ES" sz="2400" b="0" i="1" smtClean="0">
                          <a:latin typeface="Cambria Math" panose="02040503050406030204" pitchFamily="18" charset="0"/>
                        </a:rPr>
                        <m:t>−1</m:t>
                      </m:r>
                    </m:oMath>
                  </m:oMathPara>
                </a14:m>
                <a:endParaRPr lang="es-CO" sz="2400" dirty="0"/>
              </a:p>
            </p:txBody>
          </p:sp>
        </mc:Choice>
        <mc:Fallback xmlns="">
          <p:sp>
            <p:nvSpPr>
              <p:cNvPr id="2" name="CuadroTexto 1">
                <a:extLst>
                  <a:ext uri="{FF2B5EF4-FFF2-40B4-BE49-F238E27FC236}">
                    <a16:creationId xmlns:a16="http://schemas.microsoft.com/office/drawing/2014/main" id="{5F53C758-289A-D6C2-1945-D3FB6CCFE68B}"/>
                  </a:ext>
                </a:extLst>
              </p:cNvPr>
              <p:cNvSpPr txBox="1">
                <a:spLocks noRot="1" noChangeAspect="1" noMove="1" noResize="1" noEditPoints="1" noAdjustHandles="1" noChangeArrowheads="1" noChangeShapeType="1" noTextEdit="1"/>
              </p:cNvSpPr>
              <p:nvPr/>
            </p:nvSpPr>
            <p:spPr>
              <a:xfrm>
                <a:off x="4828471" y="3690259"/>
                <a:ext cx="2535053" cy="805605"/>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3892B2F-8E7D-CED9-3B3B-28D6FBD4DA58}"/>
                  </a:ext>
                </a:extLst>
              </p:cNvPr>
              <p:cNvSpPr txBox="1"/>
              <p:nvPr/>
            </p:nvSpPr>
            <p:spPr>
              <a:xfrm>
                <a:off x="4828470" y="4712000"/>
                <a:ext cx="2727157"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=2,5−1</m:t>
                      </m:r>
                    </m:oMath>
                  </m:oMathPara>
                </a14:m>
                <a:endParaRPr lang="es-CO" sz="2400" dirty="0"/>
              </a:p>
            </p:txBody>
          </p:sp>
        </mc:Choice>
        <mc:Fallback xmlns="">
          <p:sp>
            <p:nvSpPr>
              <p:cNvPr id="8" name="CuadroTexto 7">
                <a:extLst>
                  <a:ext uri="{FF2B5EF4-FFF2-40B4-BE49-F238E27FC236}">
                    <a16:creationId xmlns:a16="http://schemas.microsoft.com/office/drawing/2014/main" id="{83892B2F-8E7D-CED9-3B3B-28D6FBD4DA58}"/>
                  </a:ext>
                </a:extLst>
              </p:cNvPr>
              <p:cNvSpPr txBox="1">
                <a:spLocks noRot="1" noChangeAspect="1" noMove="1" noResize="1" noEditPoints="1" noAdjustHandles="1" noChangeArrowheads="1" noChangeShapeType="1" noTextEdit="1"/>
              </p:cNvSpPr>
              <p:nvPr/>
            </p:nvSpPr>
            <p:spPr>
              <a:xfrm>
                <a:off x="4828470" y="4712000"/>
                <a:ext cx="2727157" cy="805605"/>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C5D5D28-CE5B-460B-3B09-EED79F7E600E}"/>
                  </a:ext>
                </a:extLst>
              </p:cNvPr>
              <p:cNvSpPr txBox="1"/>
              <p:nvPr/>
            </p:nvSpPr>
            <p:spPr>
              <a:xfrm>
                <a:off x="5000412" y="5733741"/>
                <a:ext cx="2191176"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=1,5</m:t>
                      </m:r>
                    </m:oMath>
                  </m:oMathPara>
                </a14:m>
                <a:endParaRPr lang="es-CO" sz="2400" dirty="0"/>
              </a:p>
            </p:txBody>
          </p:sp>
        </mc:Choice>
        <mc:Fallback xmlns="">
          <p:sp>
            <p:nvSpPr>
              <p:cNvPr id="13" name="CuadroTexto 12">
                <a:extLst>
                  <a:ext uri="{FF2B5EF4-FFF2-40B4-BE49-F238E27FC236}">
                    <a16:creationId xmlns:a16="http://schemas.microsoft.com/office/drawing/2014/main" id="{FC5D5D28-CE5B-460B-3B09-EED79F7E600E}"/>
                  </a:ext>
                </a:extLst>
              </p:cNvPr>
              <p:cNvSpPr txBox="1">
                <a:spLocks noRot="1" noChangeAspect="1" noMove="1" noResize="1" noEditPoints="1" noAdjustHandles="1" noChangeArrowheads="1" noChangeShapeType="1" noTextEdit="1"/>
              </p:cNvSpPr>
              <p:nvPr/>
            </p:nvSpPr>
            <p:spPr>
              <a:xfrm>
                <a:off x="5000412" y="5733741"/>
                <a:ext cx="2191176" cy="805605"/>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47159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D4F74-6D41-F79E-0810-F2C774CCC5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0531B-20E2-FA86-BB4F-DCC9635B9DE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0DB2AE80-E7D6-C089-950D-641688CEC0E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7E8DCE5A-86D2-6DCA-BF93-5B1F979DF48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7D20593F-9A46-6CD3-0B6C-1027F4C2EB6F}"/>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PayBack</a:t>
            </a:r>
          </a:p>
        </p:txBody>
      </p:sp>
      <p:sp>
        <p:nvSpPr>
          <p:cNvPr id="3" name="Rectángulo 2">
            <a:extLst>
              <a:ext uri="{FF2B5EF4-FFF2-40B4-BE49-F238E27FC236}">
                <a16:creationId xmlns:a16="http://schemas.microsoft.com/office/drawing/2014/main" id="{045DBFBB-CD8E-F467-BD10-AAC574FD23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9862892-2DDB-0B34-FB88-E0BAD923E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C3A5CA0-5CB2-2FF4-8C5A-B2A5752AC3D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0180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873730"/>
            <a:ext cx="9144000" cy="2076492"/>
          </a:xfrm>
        </p:spPr>
        <p:txBody>
          <a:bodyPr>
            <a:normAutofit/>
          </a:bodyPr>
          <a:lstStyle/>
          <a:p>
            <a:pPr marL="0" indent="0" algn="ctr">
              <a:buNone/>
            </a:pPr>
            <a:r>
              <a:rPr lang="es-ES_tradnl" sz="3200" b="1" dirty="0">
                <a:solidFill>
                  <a:srgbClr val="800000"/>
                </a:solidFill>
              </a:rPr>
              <a:t>PayBack</a:t>
            </a:r>
          </a:p>
          <a:p>
            <a:pPr marL="0" indent="0" algn="ctr">
              <a:buNone/>
            </a:pPr>
            <a:r>
              <a:rPr lang="es-ES_tradnl" sz="3200" b="1" dirty="0">
                <a:solidFill>
                  <a:srgbClr val="800000"/>
                </a:solidFill>
              </a:rPr>
              <a:t>(Periodo de recuperación)</a:t>
            </a:r>
          </a:p>
        </p:txBody>
      </p:sp>
      <p:sp>
        <p:nvSpPr>
          <p:cNvPr id="4" name="Slide Number Placeholder 3"/>
          <p:cNvSpPr>
            <a:spLocks noGrp="1"/>
          </p:cNvSpPr>
          <p:nvPr>
            <p:ph type="sldNum" sz="quarter" idx="12"/>
          </p:nvPr>
        </p:nvSpPr>
        <p:spPr/>
        <p:txBody>
          <a:bodyPr/>
          <a:lstStyle/>
          <a:p>
            <a:fld id="{5E3E23BA-6E79-2442-BA73-D218A5E297C3}" type="slidenum">
              <a:rPr lang="en-US" smtClean="0"/>
              <a:t>29</a:t>
            </a:fld>
            <a:endParaRPr lang="en-US"/>
          </a:p>
        </p:txBody>
      </p:sp>
      <p:sp>
        <p:nvSpPr>
          <p:cNvPr id="3" name="Rectángulo 2">
            <a:extLst>
              <a:ext uri="{FF2B5EF4-FFF2-40B4-BE49-F238E27FC236}">
                <a16:creationId xmlns:a16="http://schemas.microsoft.com/office/drawing/2014/main" id="{B35D7191-4C2B-04BB-FE7E-4A231CF55C5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7F94364-CBEF-1DAC-6AF0-C87F785B2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7156532-8252-AB88-6468-A1D7232ED69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57258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7914"/>
            <a:ext cx="11029615" cy="4149109"/>
          </a:xfrm>
        </p:spPr>
        <p:txBody>
          <a:bodyPr>
            <a:noAutofit/>
          </a:bodyPr>
          <a:lstStyle/>
          <a:p>
            <a:pPr algn="just">
              <a:buFont typeface="Arial" panose="020B0604020202020204" pitchFamily="34" charset="0"/>
              <a:buChar char="•"/>
            </a:pPr>
            <a:r>
              <a:rPr lang="es-ES" sz="2400" dirty="0"/>
              <a:t>El periodo de recuperación, conocido también como </a:t>
            </a:r>
            <a:r>
              <a:rPr lang="es-ES" sz="2400" dirty="0" err="1"/>
              <a:t>Payback</a:t>
            </a:r>
            <a:r>
              <a:rPr lang="es-ES" sz="2400" dirty="0"/>
              <a:t>, es un indicador de amplia utilización en la vida real. </a:t>
            </a:r>
          </a:p>
          <a:p>
            <a:pPr algn="just">
              <a:buFont typeface="Arial" panose="020B0604020202020204" pitchFamily="34" charset="0"/>
              <a:buChar char="•"/>
            </a:pPr>
            <a:r>
              <a:rPr lang="es-ES" sz="2400" b="1" dirty="0"/>
              <a:t>Consiste en determinar el número de periodos requeridos para recuperar la inversión inicial. </a:t>
            </a:r>
            <a:r>
              <a:rPr lang="es-ES" sz="2400" dirty="0"/>
              <a:t>Sin embargo, la forma en que comúnmente se usa tiene fuertes errores conceptuales ya que no considera el valor del dinero en el tiempo, pues suele utilizarse sumando de manera simple los ingresos/egresos periodo a periodo.</a:t>
            </a:r>
          </a:p>
          <a:p>
            <a:pPr algn="just">
              <a:buFont typeface="Arial" panose="020B0604020202020204" pitchFamily="34" charset="0"/>
              <a:buChar char="•"/>
            </a:pPr>
            <a:r>
              <a:rPr lang="es-ES" sz="2400" dirty="0"/>
              <a:t>Pese a lo anterior, este indicador puede utilizarse siempre y cuando se incluya en el análisis el valor del dinero en el tiempo; esto es, descontar al costo de oportunidad cada flujo generado por el proyecto y sumarlos en valor presente hasta que dicha suma sea superior a la inversión inicial.</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30</a:t>
            </a:fld>
            <a:endParaRPr lang="en-US"/>
          </a:p>
        </p:txBody>
      </p:sp>
      <p:sp>
        <p:nvSpPr>
          <p:cNvPr id="8" name="Rectángulo 7">
            <a:extLst>
              <a:ext uri="{FF2B5EF4-FFF2-40B4-BE49-F238E27FC236}">
                <a16:creationId xmlns:a16="http://schemas.microsoft.com/office/drawing/2014/main" id="{48CBA7C3-3EE8-53E0-1FC9-469E1C0965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A0A5453-51E4-AEA0-9DE8-5FD3B2917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04A86F6-C569-5D30-5E82-7EAB6EB52F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09E8B95-FF44-11F9-9B4E-3791BFB0E7E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345326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7915"/>
            <a:ext cx="11029615" cy="1069150"/>
          </a:xfrm>
        </p:spPr>
        <p:txBody>
          <a:bodyPr>
            <a:noAutofit/>
          </a:bodyPr>
          <a:lstStyle/>
          <a:p>
            <a:pPr marL="0" indent="0" algn="just">
              <a:buNone/>
            </a:pPr>
            <a:r>
              <a:rPr lang="es-ES" sz="2400" b="1" dirty="0"/>
              <a:t>Ejemplo 1:</a:t>
            </a:r>
          </a:p>
          <a:p>
            <a:pPr marL="0" indent="0" algn="just">
              <a:buNone/>
            </a:pPr>
            <a:r>
              <a:rPr lang="es-ES" sz="2400" dirty="0"/>
              <a:t>Suponga los siguientes flujos: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31</a:t>
            </a:fld>
            <a:endParaRPr lang="en-US"/>
          </a:p>
        </p:txBody>
      </p:sp>
      <p:cxnSp>
        <p:nvCxnSpPr>
          <p:cNvPr id="5" name="Straight Connector 17"/>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1" name="Rectangle 23"/>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2" name="Rectangle 23"/>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3" name="Rectangle 23"/>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16" name="Rectángulo 15">
            <a:extLst>
              <a:ext uri="{FF2B5EF4-FFF2-40B4-BE49-F238E27FC236}">
                <a16:creationId xmlns:a16="http://schemas.microsoft.com/office/drawing/2014/main" id="{07938327-5899-D6AA-C8B8-9650E2ED91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6E0C389B-C206-A0AA-52C3-D124E4428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DE989A7D-BFB5-B240-BCAE-87E3A1E92CE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4843B27D-AE27-E6E6-FF30-B98DA2D1418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1EA45E38-5876-D649-E626-264F41CA17DE}"/>
              </a:ext>
            </a:extLst>
          </p:cNvPr>
          <p:cNvSpPr txBox="1"/>
          <p:nvPr/>
        </p:nvSpPr>
        <p:spPr>
          <a:xfrm>
            <a:off x="581191" y="4529582"/>
            <a:ext cx="11029613" cy="1569660"/>
          </a:xfrm>
          <a:prstGeom prst="rect">
            <a:avLst/>
          </a:prstGeom>
          <a:noFill/>
        </p:spPr>
        <p:txBody>
          <a:bodyPr wrap="square">
            <a:spAutoFit/>
          </a:bodyPr>
          <a:lstStyle/>
          <a:p>
            <a:pPr algn="just"/>
            <a:endParaRPr lang="es-ES" sz="2400" dirty="0"/>
          </a:p>
          <a:p>
            <a:pPr marL="0" indent="0" algn="just">
              <a:buNone/>
            </a:pPr>
            <a:r>
              <a:rPr lang="es-ES" sz="2400" dirty="0"/>
              <a:t>Comúnmente (equivocadamente) y sin considerar el valor del dinero en el tiempo se diría que el </a:t>
            </a:r>
            <a:r>
              <a:rPr lang="es-ES" sz="2400" b="1" dirty="0"/>
              <a:t>periodo de recuperación </a:t>
            </a:r>
            <a:r>
              <a:rPr lang="es-ES" sz="2400" dirty="0"/>
              <a:t>de este proyecto es de </a:t>
            </a:r>
            <a:r>
              <a:rPr lang="es-ES" sz="2400" b="1" dirty="0"/>
              <a:t>2</a:t>
            </a:r>
            <a:r>
              <a:rPr lang="es-ES" sz="2400" dirty="0"/>
              <a:t>. Sin embargo, al tener en cuenta un costo de oportunidad el resultado es diferente.</a:t>
            </a:r>
          </a:p>
        </p:txBody>
      </p:sp>
    </p:spTree>
    <p:extLst>
      <p:ext uri="{BB962C8B-B14F-4D97-AF65-F5344CB8AC3E}">
        <p14:creationId xmlns:p14="http://schemas.microsoft.com/office/powerpoint/2010/main" val="446071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BCBF5-1A02-2E42-ABAF-D5E2A132F23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8A22937-5180-CF27-6B7E-29367B8FBE85}"/>
              </a:ext>
            </a:extLst>
          </p:cNvPr>
          <p:cNvSpPr>
            <a:spLocks noGrp="1"/>
          </p:cNvSpPr>
          <p:nvPr>
            <p:ph idx="1"/>
          </p:nvPr>
        </p:nvSpPr>
        <p:spPr>
          <a:xfrm>
            <a:off x="581191" y="1817915"/>
            <a:ext cx="11029615" cy="1069150"/>
          </a:xfrm>
        </p:spPr>
        <p:txBody>
          <a:bodyPr>
            <a:noAutofit/>
          </a:bodyPr>
          <a:lstStyle/>
          <a:p>
            <a:pPr marL="0" indent="0" algn="just">
              <a:buNone/>
            </a:pPr>
            <a:r>
              <a:rPr lang="es-ES" sz="2400" b="1" dirty="0"/>
              <a:t>Ejemplo 1:</a:t>
            </a:r>
          </a:p>
          <a:p>
            <a:pPr marL="0" indent="0" algn="just">
              <a:buNone/>
            </a:pPr>
            <a:r>
              <a:rPr lang="es-ES" sz="2400" dirty="0"/>
              <a:t>Suponga los siguientes flujos:</a:t>
            </a:r>
          </a:p>
        </p:txBody>
      </p:sp>
      <p:sp>
        <p:nvSpPr>
          <p:cNvPr id="4" name="Marcador de número de diapositiva 3">
            <a:extLst>
              <a:ext uri="{FF2B5EF4-FFF2-40B4-BE49-F238E27FC236}">
                <a16:creationId xmlns:a16="http://schemas.microsoft.com/office/drawing/2014/main" id="{4C910905-C282-5A62-41BB-C3FFABACFB4C}"/>
              </a:ext>
            </a:extLst>
          </p:cNvPr>
          <p:cNvSpPr>
            <a:spLocks noGrp="1"/>
          </p:cNvSpPr>
          <p:nvPr>
            <p:ph type="sldNum" sz="quarter" idx="12"/>
          </p:nvPr>
        </p:nvSpPr>
        <p:spPr/>
        <p:txBody>
          <a:bodyPr/>
          <a:lstStyle/>
          <a:p>
            <a:fld id="{5E3E23BA-6E79-2442-BA73-D218A5E297C3}" type="slidenum">
              <a:rPr lang="en-US" smtClean="0"/>
              <a:t>32</a:t>
            </a:fld>
            <a:endParaRPr lang="en-US"/>
          </a:p>
        </p:txBody>
      </p:sp>
      <p:cxnSp>
        <p:nvCxnSpPr>
          <p:cNvPr id="5" name="Straight Connector 17">
            <a:extLst>
              <a:ext uri="{FF2B5EF4-FFF2-40B4-BE49-F238E27FC236}">
                <a16:creationId xmlns:a16="http://schemas.microsoft.com/office/drawing/2014/main" id="{3D1B5D09-03B1-6419-E7AF-DC11D04E0C44}"/>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DA7D9E7C-5E9A-D277-4C70-5429F3231DE0}"/>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8F83B75D-3694-3682-6D8A-EA935A6EA970}"/>
              </a:ext>
            </a:extLst>
          </p:cNvPr>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792391B0-051D-DC15-80F2-E536FEBE2DBB}"/>
              </a:ext>
            </a:extLst>
          </p:cNvPr>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ABD550A-886C-832E-2C7A-8F80CBD66983}"/>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a:extLst>
              <a:ext uri="{FF2B5EF4-FFF2-40B4-BE49-F238E27FC236}">
                <a16:creationId xmlns:a16="http://schemas.microsoft.com/office/drawing/2014/main" id="{4A9FF337-837E-9C76-BC3B-FF72FAB33523}"/>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a:extLst>
              <a:ext uri="{FF2B5EF4-FFF2-40B4-BE49-F238E27FC236}">
                <a16:creationId xmlns:a16="http://schemas.microsoft.com/office/drawing/2014/main" id="{29E3D85C-B393-4666-0566-287EA14FD4C2}"/>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a:extLst>
              <a:ext uri="{FF2B5EF4-FFF2-40B4-BE49-F238E27FC236}">
                <a16:creationId xmlns:a16="http://schemas.microsoft.com/office/drawing/2014/main" id="{BF8CCCBB-2F19-1E37-7F56-06D27339EE47}"/>
              </a:ext>
            </a:extLst>
          </p:cNvPr>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a:extLst>
              <a:ext uri="{FF2B5EF4-FFF2-40B4-BE49-F238E27FC236}">
                <a16:creationId xmlns:a16="http://schemas.microsoft.com/office/drawing/2014/main" id="{5B1B9470-570E-9743-12FF-16A27D8E4376}"/>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a:extLst>
              <a:ext uri="{FF2B5EF4-FFF2-40B4-BE49-F238E27FC236}">
                <a16:creationId xmlns:a16="http://schemas.microsoft.com/office/drawing/2014/main" id="{BDA77367-3F8A-77E9-102C-5D3BB91BA610}"/>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6160B10F-1071-93EF-8072-EDA07426BFF7}"/>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488D1284-6D06-9CED-5C04-5AB75B59A5B0}"/>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a:extLst>
              <a:ext uri="{FF2B5EF4-FFF2-40B4-BE49-F238E27FC236}">
                <a16:creationId xmlns:a16="http://schemas.microsoft.com/office/drawing/2014/main" id="{AFA6A6E8-7F0F-9D1D-7681-AF915EC15702}"/>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1" name="Rectangle 23">
            <a:extLst>
              <a:ext uri="{FF2B5EF4-FFF2-40B4-BE49-F238E27FC236}">
                <a16:creationId xmlns:a16="http://schemas.microsoft.com/office/drawing/2014/main" id="{CE23771C-491C-EE2F-0F4D-D301F0995F0C}"/>
              </a:ext>
            </a:extLst>
          </p:cNvPr>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2" name="Rectangle 23">
            <a:extLst>
              <a:ext uri="{FF2B5EF4-FFF2-40B4-BE49-F238E27FC236}">
                <a16:creationId xmlns:a16="http://schemas.microsoft.com/office/drawing/2014/main" id="{EF5BA3F9-2E93-6028-3045-0240766BE250}"/>
              </a:ext>
            </a:extLst>
          </p:cNvPr>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3" name="Rectangle 23">
            <a:extLst>
              <a:ext uri="{FF2B5EF4-FFF2-40B4-BE49-F238E27FC236}">
                <a16:creationId xmlns:a16="http://schemas.microsoft.com/office/drawing/2014/main" id="{236C70B4-2B40-7E54-7AD3-7640FA42DEAC}"/>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16" name="Rectángulo 15">
            <a:extLst>
              <a:ext uri="{FF2B5EF4-FFF2-40B4-BE49-F238E27FC236}">
                <a16:creationId xmlns:a16="http://schemas.microsoft.com/office/drawing/2014/main" id="{6F08F7C4-8DA6-5C0A-F3CD-FF3DCF7FEEE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46DF016-F514-E313-CC92-B1C5AD1D5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C62A4C48-42CF-8ABC-294F-672D613C590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51DC5746-59D6-3F94-1FFE-321FD1D546DA}"/>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6DE12170-2F9F-655A-AC94-70A700094BCC}"/>
              </a:ext>
            </a:extLst>
          </p:cNvPr>
          <p:cNvSpPr txBox="1"/>
          <p:nvPr/>
        </p:nvSpPr>
        <p:spPr>
          <a:xfrm>
            <a:off x="581191" y="4812611"/>
            <a:ext cx="11029613" cy="1200329"/>
          </a:xfrm>
          <a:prstGeom prst="rect">
            <a:avLst/>
          </a:prstGeom>
          <a:noFill/>
        </p:spPr>
        <p:txBody>
          <a:bodyPr wrap="square">
            <a:spAutoFit/>
          </a:bodyPr>
          <a:lstStyle/>
          <a:p>
            <a:pPr algn="just"/>
            <a:endParaRPr lang="es-ES" sz="2400" dirty="0"/>
          </a:p>
          <a:p>
            <a:pPr algn="ctr"/>
            <a:r>
              <a:rPr lang="es-ES" sz="2400" dirty="0"/>
              <a:t>Si el costo de oportunidad fuese por ejemplo 10%, el periodo de recuperación sería diferente.</a:t>
            </a:r>
          </a:p>
        </p:txBody>
      </p:sp>
    </p:spTree>
    <p:extLst>
      <p:ext uri="{BB962C8B-B14F-4D97-AF65-F5344CB8AC3E}">
        <p14:creationId xmlns:p14="http://schemas.microsoft.com/office/powerpoint/2010/main" val="1388172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3245"/>
            <a:ext cx="11029615" cy="511144"/>
          </a:xfrm>
        </p:spPr>
        <p:txBody>
          <a:bodyPr>
            <a:normAutofit/>
          </a:bodyPr>
          <a:lstStyle/>
          <a:p>
            <a:pPr marL="0" indent="0">
              <a:buNone/>
            </a:pPr>
            <a:r>
              <a:rPr lang="es-ES" sz="2400" dirty="0"/>
              <a:t>¿Cuándo recupero la inversión?</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33</a:t>
            </a:fld>
            <a:endParaRPr lang="en-US"/>
          </a:p>
        </p:txBody>
      </p:sp>
      <p:pic>
        <p:nvPicPr>
          <p:cNvPr id="8" name="Imagen 7"/>
          <p:cNvPicPr>
            <a:picLocks noChangeAspect="1"/>
          </p:cNvPicPr>
          <p:nvPr/>
        </p:nvPicPr>
        <p:blipFill>
          <a:blip r:embed="rId2"/>
          <a:stretch>
            <a:fillRect/>
          </a:stretch>
        </p:blipFill>
        <p:spPr>
          <a:xfrm>
            <a:off x="3376155" y="2536726"/>
            <a:ext cx="3761236" cy="643675"/>
          </a:xfrm>
          <a:prstGeom prst="rect">
            <a:avLst/>
          </a:prstGeom>
        </p:spPr>
      </p:pic>
      <p:pic>
        <p:nvPicPr>
          <p:cNvPr id="9" name="Imagen 8"/>
          <p:cNvPicPr>
            <a:picLocks noChangeAspect="1"/>
          </p:cNvPicPr>
          <p:nvPr/>
        </p:nvPicPr>
        <p:blipFill>
          <a:blip r:embed="rId3"/>
          <a:stretch>
            <a:fillRect/>
          </a:stretch>
        </p:blipFill>
        <p:spPr>
          <a:xfrm>
            <a:off x="3388984" y="3611704"/>
            <a:ext cx="5399152" cy="632059"/>
          </a:xfrm>
          <a:prstGeom prst="rect">
            <a:avLst/>
          </a:prstGeom>
        </p:spPr>
      </p:pic>
      <p:pic>
        <p:nvPicPr>
          <p:cNvPr id="10" name="Imagen 9"/>
          <p:cNvPicPr>
            <a:picLocks noChangeAspect="1"/>
          </p:cNvPicPr>
          <p:nvPr/>
        </p:nvPicPr>
        <p:blipFill>
          <a:blip r:embed="rId4"/>
          <a:stretch>
            <a:fillRect/>
          </a:stretch>
        </p:blipFill>
        <p:spPr>
          <a:xfrm>
            <a:off x="3341338" y="4781128"/>
            <a:ext cx="7192920" cy="658954"/>
          </a:xfrm>
          <a:prstGeom prst="rect">
            <a:avLst/>
          </a:prstGeom>
        </p:spPr>
      </p:pic>
      <p:sp>
        <p:nvSpPr>
          <p:cNvPr id="11" name="CuadroTexto 10"/>
          <p:cNvSpPr txBox="1"/>
          <p:nvPr/>
        </p:nvSpPr>
        <p:spPr>
          <a:xfrm>
            <a:off x="1642108" y="2648235"/>
            <a:ext cx="2039840" cy="461665"/>
          </a:xfrm>
          <a:prstGeom prst="rect">
            <a:avLst/>
          </a:prstGeom>
          <a:noFill/>
        </p:spPr>
        <p:txBody>
          <a:bodyPr wrap="square" rtlCol="0">
            <a:spAutoFit/>
          </a:bodyPr>
          <a:lstStyle/>
          <a:p>
            <a:r>
              <a:rPr lang="es-ES" sz="2400" b="1" dirty="0">
                <a:solidFill>
                  <a:srgbClr val="800000"/>
                </a:solidFill>
              </a:rPr>
              <a:t>1 periodo:</a:t>
            </a:r>
          </a:p>
        </p:txBody>
      </p:sp>
      <p:sp>
        <p:nvSpPr>
          <p:cNvPr id="12" name="CuadroTexto 11"/>
          <p:cNvSpPr txBox="1"/>
          <p:nvPr/>
        </p:nvSpPr>
        <p:spPr>
          <a:xfrm>
            <a:off x="1642108" y="3693206"/>
            <a:ext cx="2039840" cy="461665"/>
          </a:xfrm>
          <a:prstGeom prst="rect">
            <a:avLst/>
          </a:prstGeom>
          <a:noFill/>
        </p:spPr>
        <p:txBody>
          <a:bodyPr wrap="square" rtlCol="0">
            <a:spAutoFit/>
          </a:bodyPr>
          <a:lstStyle/>
          <a:p>
            <a:r>
              <a:rPr lang="es-ES" sz="2400" b="1" dirty="0">
                <a:solidFill>
                  <a:srgbClr val="800000"/>
                </a:solidFill>
              </a:rPr>
              <a:t>2 periodos:</a:t>
            </a:r>
          </a:p>
        </p:txBody>
      </p:sp>
      <p:sp>
        <p:nvSpPr>
          <p:cNvPr id="13" name="CuadroTexto 12"/>
          <p:cNvSpPr txBox="1"/>
          <p:nvPr/>
        </p:nvSpPr>
        <p:spPr>
          <a:xfrm>
            <a:off x="1594462" y="4852331"/>
            <a:ext cx="2039840" cy="461665"/>
          </a:xfrm>
          <a:prstGeom prst="rect">
            <a:avLst/>
          </a:prstGeom>
          <a:noFill/>
        </p:spPr>
        <p:txBody>
          <a:bodyPr wrap="square" rtlCol="0">
            <a:spAutoFit/>
          </a:bodyPr>
          <a:lstStyle/>
          <a:p>
            <a:r>
              <a:rPr lang="es-ES" sz="2400" b="1" dirty="0">
                <a:solidFill>
                  <a:srgbClr val="800000"/>
                </a:solidFill>
              </a:rPr>
              <a:t>3 periodos:</a:t>
            </a:r>
          </a:p>
        </p:txBody>
      </p:sp>
      <p:sp>
        <p:nvSpPr>
          <p:cNvPr id="14" name="CuadroTexto 13"/>
          <p:cNvSpPr txBox="1"/>
          <p:nvPr/>
        </p:nvSpPr>
        <p:spPr>
          <a:xfrm>
            <a:off x="7478487" y="2566573"/>
            <a:ext cx="1112990" cy="461665"/>
          </a:xfrm>
          <a:prstGeom prst="rect">
            <a:avLst/>
          </a:prstGeom>
          <a:noFill/>
        </p:spPr>
        <p:txBody>
          <a:bodyPr wrap="square" rtlCol="0">
            <a:spAutoFit/>
          </a:bodyPr>
          <a:lstStyle/>
          <a:p>
            <a:pPr algn="ctr"/>
            <a:r>
              <a:rPr lang="es-ES" sz="1200" b="1" dirty="0">
                <a:solidFill>
                  <a:srgbClr val="800000"/>
                </a:solidFill>
              </a:rPr>
              <a:t>No se ha recuperado</a:t>
            </a:r>
          </a:p>
        </p:txBody>
      </p:sp>
      <p:sp>
        <p:nvSpPr>
          <p:cNvPr id="15" name="CuadroTexto 14"/>
          <p:cNvSpPr txBox="1"/>
          <p:nvPr/>
        </p:nvSpPr>
        <p:spPr>
          <a:xfrm>
            <a:off x="9170389" y="3655157"/>
            <a:ext cx="1112990" cy="461665"/>
          </a:xfrm>
          <a:prstGeom prst="rect">
            <a:avLst/>
          </a:prstGeom>
          <a:noFill/>
        </p:spPr>
        <p:txBody>
          <a:bodyPr wrap="square" rtlCol="0">
            <a:spAutoFit/>
          </a:bodyPr>
          <a:lstStyle/>
          <a:p>
            <a:pPr algn="ctr"/>
            <a:r>
              <a:rPr lang="es-ES" sz="1200" b="1" dirty="0">
                <a:solidFill>
                  <a:srgbClr val="800000"/>
                </a:solidFill>
              </a:rPr>
              <a:t>No se ha recuperado</a:t>
            </a:r>
          </a:p>
        </p:txBody>
      </p:sp>
      <p:sp>
        <p:nvSpPr>
          <p:cNvPr id="16" name="CuadroTexto 15"/>
          <p:cNvSpPr txBox="1"/>
          <p:nvPr/>
        </p:nvSpPr>
        <p:spPr>
          <a:xfrm>
            <a:off x="10499441" y="4779222"/>
            <a:ext cx="699796" cy="584776"/>
          </a:xfrm>
          <a:prstGeom prst="rect">
            <a:avLst/>
          </a:prstGeom>
          <a:noFill/>
        </p:spPr>
        <p:txBody>
          <a:bodyPr wrap="square" rtlCol="0">
            <a:spAutoFit/>
          </a:bodyPr>
          <a:lstStyle/>
          <a:p>
            <a:r>
              <a:rPr lang="es-ES" sz="3200" dirty="0">
                <a:solidFill>
                  <a:schemeClr val="accent5">
                    <a:lumMod val="75000"/>
                  </a:schemeClr>
                </a:solidFill>
                <a:latin typeface="Zapf Dingbats"/>
                <a:ea typeface="Zapf Dingbats"/>
                <a:cs typeface="Zapf Dingbats"/>
                <a:sym typeface="Zapf Dingbats"/>
              </a:rPr>
              <a:t>✓</a:t>
            </a:r>
            <a:endParaRPr lang="es-ES" sz="3200" dirty="0">
              <a:solidFill>
                <a:schemeClr val="accent5">
                  <a:lumMod val="75000"/>
                </a:schemeClr>
              </a:solidFill>
            </a:endParaRPr>
          </a:p>
        </p:txBody>
      </p:sp>
      <p:sp>
        <p:nvSpPr>
          <p:cNvPr id="19" name="TextBox 18">
            <a:extLst>
              <a:ext uri="{FF2B5EF4-FFF2-40B4-BE49-F238E27FC236}">
                <a16:creationId xmlns:a16="http://schemas.microsoft.com/office/drawing/2014/main" id="{70220847-A17F-444F-A5A9-57989E35284B}"/>
              </a:ext>
            </a:extLst>
          </p:cNvPr>
          <p:cNvSpPr txBox="1"/>
          <p:nvPr/>
        </p:nvSpPr>
        <p:spPr>
          <a:xfrm>
            <a:off x="581190" y="5935707"/>
            <a:ext cx="11029615" cy="461665"/>
          </a:xfrm>
          <a:prstGeom prst="rect">
            <a:avLst/>
          </a:prstGeom>
          <a:noFill/>
        </p:spPr>
        <p:txBody>
          <a:bodyPr wrap="square">
            <a:spAutoFit/>
          </a:bodyPr>
          <a:lstStyle/>
          <a:p>
            <a:pPr algn="ctr"/>
            <a:r>
              <a:rPr lang="es-ES" sz="2400" dirty="0"/>
              <a:t>La Inversión se recupera en 3 periodos</a:t>
            </a:r>
          </a:p>
        </p:txBody>
      </p:sp>
      <p:sp>
        <p:nvSpPr>
          <p:cNvPr id="5" name="Rectángulo 4">
            <a:extLst>
              <a:ext uri="{FF2B5EF4-FFF2-40B4-BE49-F238E27FC236}">
                <a16:creationId xmlns:a16="http://schemas.microsoft.com/office/drawing/2014/main" id="{049934C3-3D58-0686-E6D9-78412395E09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D740BEA-EE08-8A50-2774-CA676C47B6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467DF90-A30D-1F12-9E7D-9DCA8DA1B6B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8" name="Título 1">
            <a:extLst>
              <a:ext uri="{FF2B5EF4-FFF2-40B4-BE49-F238E27FC236}">
                <a16:creationId xmlns:a16="http://schemas.microsoft.com/office/drawing/2014/main" id="{681BD2C8-076C-FC4F-E4A9-82542F52D38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243259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5C79E-5409-29B7-A6D6-42EBA44975F9}"/>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8C459B-DADF-6F7E-988A-3C094A931645}"/>
              </a:ext>
            </a:extLst>
          </p:cNvPr>
          <p:cNvSpPr>
            <a:spLocks noGrp="1"/>
          </p:cNvSpPr>
          <p:nvPr>
            <p:ph idx="1"/>
          </p:nvPr>
        </p:nvSpPr>
        <p:spPr>
          <a:xfrm>
            <a:off x="581191" y="1817915"/>
            <a:ext cx="11029615" cy="1069150"/>
          </a:xfrm>
        </p:spPr>
        <p:txBody>
          <a:bodyPr>
            <a:noAutofit/>
          </a:bodyPr>
          <a:lstStyle/>
          <a:p>
            <a:pPr marL="0" indent="0" algn="just">
              <a:buNone/>
            </a:pPr>
            <a:r>
              <a:rPr lang="es-ES" sz="2400" b="1" dirty="0"/>
              <a:t>Ejemplo 2:</a:t>
            </a:r>
          </a:p>
          <a:p>
            <a:pPr marL="0" indent="0" algn="just">
              <a:buNone/>
            </a:pPr>
            <a:r>
              <a:rPr lang="es-ES" sz="2400" dirty="0"/>
              <a:t>Suponga los siguientes flujos:</a:t>
            </a:r>
          </a:p>
        </p:txBody>
      </p:sp>
      <p:sp>
        <p:nvSpPr>
          <p:cNvPr id="4" name="Marcador de número de diapositiva 3">
            <a:extLst>
              <a:ext uri="{FF2B5EF4-FFF2-40B4-BE49-F238E27FC236}">
                <a16:creationId xmlns:a16="http://schemas.microsoft.com/office/drawing/2014/main" id="{F998F1FC-80DD-62C9-AA74-48C9562ED569}"/>
              </a:ext>
            </a:extLst>
          </p:cNvPr>
          <p:cNvSpPr>
            <a:spLocks noGrp="1"/>
          </p:cNvSpPr>
          <p:nvPr>
            <p:ph type="sldNum" sz="quarter" idx="12"/>
          </p:nvPr>
        </p:nvSpPr>
        <p:spPr/>
        <p:txBody>
          <a:bodyPr/>
          <a:lstStyle/>
          <a:p>
            <a:fld id="{5E3E23BA-6E79-2442-BA73-D218A5E297C3}" type="slidenum">
              <a:rPr lang="en-US" smtClean="0"/>
              <a:t>34</a:t>
            </a:fld>
            <a:endParaRPr lang="en-US"/>
          </a:p>
        </p:txBody>
      </p:sp>
      <p:cxnSp>
        <p:nvCxnSpPr>
          <p:cNvPr id="5" name="Straight Connector 17">
            <a:extLst>
              <a:ext uri="{FF2B5EF4-FFF2-40B4-BE49-F238E27FC236}">
                <a16:creationId xmlns:a16="http://schemas.microsoft.com/office/drawing/2014/main" id="{E676C41F-2992-B6AE-7ABD-774164F99CF0}"/>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AE04B9D8-7280-DCE6-945D-FA000E5AA5E7}"/>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6F9D5555-0D5B-4D1B-4157-7C34C76C0DBD}"/>
              </a:ext>
            </a:extLst>
          </p:cNvPr>
          <p:cNvCxnSpPr>
            <a:cxnSpLocks/>
          </p:cNvCxnSpPr>
          <p:nvPr/>
        </p:nvCxnSpPr>
        <p:spPr>
          <a:xfrm>
            <a:off x="6736080" y="3657600"/>
            <a:ext cx="14223" cy="47591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30B328CC-8CB8-7C87-52A5-7CDD5AEAB09B}"/>
              </a:ext>
            </a:extLst>
          </p:cNvPr>
          <p:cNvCxnSpPr/>
          <p:nvPr/>
        </p:nvCxnSpPr>
        <p:spPr>
          <a:xfrm flipV="1">
            <a:off x="610657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4D3519D-3D27-A8AC-CAF8-AC0A41BA8E97}"/>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a:extLst>
              <a:ext uri="{FF2B5EF4-FFF2-40B4-BE49-F238E27FC236}">
                <a16:creationId xmlns:a16="http://schemas.microsoft.com/office/drawing/2014/main" id="{D1756758-48CF-EB56-96D6-B4B184CEBF7C}"/>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a:extLst>
              <a:ext uri="{FF2B5EF4-FFF2-40B4-BE49-F238E27FC236}">
                <a16:creationId xmlns:a16="http://schemas.microsoft.com/office/drawing/2014/main" id="{120CF352-D36E-EF01-003C-5D9B2D673C5C}"/>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a:extLst>
              <a:ext uri="{FF2B5EF4-FFF2-40B4-BE49-F238E27FC236}">
                <a16:creationId xmlns:a16="http://schemas.microsoft.com/office/drawing/2014/main" id="{B7C05768-32D8-178F-0CBC-449C59C9DE3D}"/>
              </a:ext>
            </a:extLst>
          </p:cNvPr>
          <p:cNvSpPr>
            <a:spLocks/>
          </p:cNvSpPr>
          <p:nvPr/>
        </p:nvSpPr>
        <p:spPr bwMode="auto">
          <a:xfrm>
            <a:off x="6658224" y="363567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a:extLst>
              <a:ext uri="{FF2B5EF4-FFF2-40B4-BE49-F238E27FC236}">
                <a16:creationId xmlns:a16="http://schemas.microsoft.com/office/drawing/2014/main" id="{7A37BC45-F7D6-2582-0286-065F413FC4B7}"/>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a:extLst>
              <a:ext uri="{FF2B5EF4-FFF2-40B4-BE49-F238E27FC236}">
                <a16:creationId xmlns:a16="http://schemas.microsoft.com/office/drawing/2014/main" id="{5A8F9004-C54B-9713-411B-46C9DCD84152}"/>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CB0AB7DE-FCFA-1802-15DA-907A69AE7436}"/>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DF470AD0-D0E8-6B3E-FBE5-1D2AB712BB1A}"/>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a:extLst>
              <a:ext uri="{FF2B5EF4-FFF2-40B4-BE49-F238E27FC236}">
                <a16:creationId xmlns:a16="http://schemas.microsoft.com/office/drawing/2014/main" id="{0BBDE73E-9F8B-CE88-77D6-C8961685CC59}"/>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21" name="Rectangle 23">
            <a:extLst>
              <a:ext uri="{FF2B5EF4-FFF2-40B4-BE49-F238E27FC236}">
                <a16:creationId xmlns:a16="http://schemas.microsoft.com/office/drawing/2014/main" id="{5BB5E5ED-1F0A-D124-F7B9-6D0850778AA0}"/>
              </a:ext>
            </a:extLst>
          </p:cNvPr>
          <p:cNvSpPr>
            <a:spLocks/>
          </p:cNvSpPr>
          <p:nvPr/>
        </p:nvSpPr>
        <p:spPr bwMode="auto">
          <a:xfrm>
            <a:off x="6504912" y="4251762"/>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
        <p:nvSpPr>
          <p:cNvPr id="22" name="Rectangle 23">
            <a:extLst>
              <a:ext uri="{FF2B5EF4-FFF2-40B4-BE49-F238E27FC236}">
                <a16:creationId xmlns:a16="http://schemas.microsoft.com/office/drawing/2014/main" id="{D069933F-E30F-7BF4-7D53-30C30E93D228}"/>
              </a:ext>
            </a:extLst>
          </p:cNvPr>
          <p:cNvSpPr>
            <a:spLocks/>
          </p:cNvSpPr>
          <p:nvPr/>
        </p:nvSpPr>
        <p:spPr bwMode="auto">
          <a:xfrm>
            <a:off x="5895625" y="2928196"/>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23" name="Rectangle 23">
            <a:extLst>
              <a:ext uri="{FF2B5EF4-FFF2-40B4-BE49-F238E27FC236}">
                <a16:creationId xmlns:a16="http://schemas.microsoft.com/office/drawing/2014/main" id="{DCB0C9B4-332D-7084-105E-2CEEF47878A0}"/>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16" name="Rectángulo 15">
            <a:extLst>
              <a:ext uri="{FF2B5EF4-FFF2-40B4-BE49-F238E27FC236}">
                <a16:creationId xmlns:a16="http://schemas.microsoft.com/office/drawing/2014/main" id="{E305F984-0939-0DEB-6386-7DCAA3DB27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3CE89093-7906-76AA-8074-7978BEA3E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9C403173-6E49-2DF3-3E85-20ABB9EEAE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F2BF28D-B2E5-44EC-84AA-6318382AAE16}"/>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64C1AC60-64D4-4C81-73EC-93574E68EA77}"/>
              </a:ext>
            </a:extLst>
          </p:cNvPr>
          <p:cNvSpPr txBox="1"/>
          <p:nvPr/>
        </p:nvSpPr>
        <p:spPr>
          <a:xfrm>
            <a:off x="581191" y="4812611"/>
            <a:ext cx="11029613" cy="1569660"/>
          </a:xfrm>
          <a:prstGeom prst="rect">
            <a:avLst/>
          </a:prstGeom>
          <a:noFill/>
        </p:spPr>
        <p:txBody>
          <a:bodyPr wrap="square">
            <a:spAutoFit/>
          </a:bodyPr>
          <a:lstStyle/>
          <a:p>
            <a:pPr algn="just"/>
            <a:endParaRPr lang="es-ES" sz="2400" dirty="0"/>
          </a:p>
          <a:p>
            <a:pPr algn="ctr"/>
            <a:r>
              <a:rPr lang="es-ES" sz="2400" dirty="0"/>
              <a:t>Si el costo de oportunidad fuese por ejemplo 10%, aplicando la metodología anterior tendríamos que se logra PayBack en el periodo 2, pero en el periodo 3 no. Luego en el periodo 4 se vuelve a recuperar la inversión.</a:t>
            </a:r>
          </a:p>
        </p:txBody>
      </p:sp>
    </p:spTree>
    <p:extLst>
      <p:ext uri="{BB962C8B-B14F-4D97-AF65-F5344CB8AC3E}">
        <p14:creationId xmlns:p14="http://schemas.microsoft.com/office/powerpoint/2010/main" val="34102821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6F17-6FEF-78F4-1CDD-8CD7624DDD8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7CC311D-1C93-800F-3FD4-B824C5DA9252}"/>
              </a:ext>
            </a:extLst>
          </p:cNvPr>
          <p:cNvSpPr>
            <a:spLocks noGrp="1"/>
          </p:cNvSpPr>
          <p:nvPr>
            <p:ph idx="1"/>
          </p:nvPr>
        </p:nvSpPr>
        <p:spPr>
          <a:xfrm>
            <a:off x="581192" y="1994725"/>
            <a:ext cx="11029615" cy="2963990"/>
          </a:xfrm>
        </p:spPr>
        <p:txBody>
          <a:bodyPr>
            <a:noAutofit/>
          </a:bodyPr>
          <a:lstStyle/>
          <a:p>
            <a:pPr marL="0" indent="0" algn="just">
              <a:buNone/>
            </a:pPr>
            <a:r>
              <a:rPr lang="es-ES" sz="2400" dirty="0"/>
              <a:t>Casos como el anterior se pueden abordar con diferentes enfoques como:</a:t>
            </a:r>
          </a:p>
          <a:p>
            <a:pPr algn="just">
              <a:buFont typeface="Wingdings" panose="05000000000000000000" pitchFamily="2" charset="2"/>
              <a:buChar char="ü"/>
            </a:pPr>
            <a:r>
              <a:rPr lang="es-ES" sz="2400" dirty="0"/>
              <a:t>Llevar todos los flujos de caja negativos al periodo 0 y luego aplicar la metodología que vimos en el ejemplo 1. </a:t>
            </a:r>
          </a:p>
          <a:p>
            <a:pPr algn="just">
              <a:buFont typeface="Wingdings" panose="05000000000000000000" pitchFamily="2" charset="2"/>
              <a:buChar char="ü"/>
            </a:pPr>
            <a:r>
              <a:rPr lang="es-ES" sz="2400" dirty="0"/>
              <a:t>Al igual que con la TIR, si hay mas de un cambio en el signo de los flujos de caja puede que haya mas de un PayBack. Por lo tanto, no sería apropiado evaluar el proyecto con este indicador.</a:t>
            </a:r>
          </a:p>
        </p:txBody>
      </p:sp>
      <p:sp>
        <p:nvSpPr>
          <p:cNvPr id="4" name="Marcador de número de diapositiva 3">
            <a:extLst>
              <a:ext uri="{FF2B5EF4-FFF2-40B4-BE49-F238E27FC236}">
                <a16:creationId xmlns:a16="http://schemas.microsoft.com/office/drawing/2014/main" id="{F8F20941-0802-814F-86CC-11A0EFE9934D}"/>
              </a:ext>
            </a:extLst>
          </p:cNvPr>
          <p:cNvSpPr>
            <a:spLocks noGrp="1"/>
          </p:cNvSpPr>
          <p:nvPr>
            <p:ph type="sldNum" sz="quarter" idx="12"/>
          </p:nvPr>
        </p:nvSpPr>
        <p:spPr/>
        <p:txBody>
          <a:bodyPr/>
          <a:lstStyle/>
          <a:p>
            <a:fld id="{5E3E23BA-6E79-2442-BA73-D218A5E297C3}" type="slidenum">
              <a:rPr lang="en-US" smtClean="0"/>
              <a:t>35</a:t>
            </a:fld>
            <a:endParaRPr lang="en-US"/>
          </a:p>
        </p:txBody>
      </p:sp>
      <p:sp>
        <p:nvSpPr>
          <p:cNvPr id="16" name="Rectángulo 15">
            <a:extLst>
              <a:ext uri="{FF2B5EF4-FFF2-40B4-BE49-F238E27FC236}">
                <a16:creationId xmlns:a16="http://schemas.microsoft.com/office/drawing/2014/main" id="{AA967C03-04F7-FCAA-5312-804D90BDC6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2DDF29D-1DDA-1606-67B1-227C3731A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7841AEF7-ED6F-B38E-077A-3534C313B79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55DEC04-8D86-5A0C-EA4F-B08400A88D0B}"/>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2876484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0AD52-241C-439E-6421-FEEDA6138F11}"/>
              </a:ext>
            </a:extLst>
          </p:cNvPr>
          <p:cNvSpPr>
            <a:spLocks noGrp="1"/>
          </p:cNvSpPr>
          <p:nvPr>
            <p:ph type="title"/>
          </p:nvPr>
        </p:nvSpPr>
        <p:spPr/>
        <p:txBody>
          <a:bodyPr/>
          <a:lstStyle/>
          <a:p>
            <a:r>
              <a:rPr lang="es-ES_tradnl" dirty="0"/>
              <a:t>¿CUÁLES USAR PARA SELECCIONAR ALTERNATIVAS?</a:t>
            </a:r>
          </a:p>
        </p:txBody>
      </p:sp>
      <p:graphicFrame>
        <p:nvGraphicFramePr>
          <p:cNvPr id="5" name="Content Placeholder 4">
            <a:extLst>
              <a:ext uri="{FF2B5EF4-FFF2-40B4-BE49-F238E27FC236}">
                <a16:creationId xmlns:a16="http://schemas.microsoft.com/office/drawing/2014/main" id="{45282827-2DE9-F093-ADA4-321F2517B98D}"/>
              </a:ext>
            </a:extLst>
          </p:cNvPr>
          <p:cNvGraphicFramePr>
            <a:graphicFrameLocks noGrp="1"/>
          </p:cNvGraphicFramePr>
          <p:nvPr>
            <p:ph idx="1"/>
            <p:extLst>
              <p:ext uri="{D42A27DB-BD31-4B8C-83A1-F6EECF244321}">
                <p14:modId xmlns:p14="http://schemas.microsoft.com/office/powerpoint/2010/main" val="1954577424"/>
              </p:ext>
            </p:extLst>
          </p:nvPr>
        </p:nvGraphicFramePr>
        <p:xfrm>
          <a:off x="581025" y="2181225"/>
          <a:ext cx="11029948" cy="2661920"/>
        </p:xfrm>
        <a:graphic>
          <a:graphicData uri="http://schemas.openxmlformats.org/drawingml/2006/table">
            <a:tbl>
              <a:tblPr firstRow="1" bandRow="1">
                <a:tableStyleId>{5C22544A-7EE6-4342-B048-85BDC9FD1C3A}</a:tableStyleId>
              </a:tblPr>
              <a:tblGrid>
                <a:gridCol w="1647825">
                  <a:extLst>
                    <a:ext uri="{9D8B030D-6E8A-4147-A177-3AD203B41FA5}">
                      <a16:colId xmlns:a16="http://schemas.microsoft.com/office/drawing/2014/main" val="3221532531"/>
                    </a:ext>
                  </a:extLst>
                </a:gridCol>
                <a:gridCol w="2076450">
                  <a:extLst>
                    <a:ext uri="{9D8B030D-6E8A-4147-A177-3AD203B41FA5}">
                      <a16:colId xmlns:a16="http://schemas.microsoft.com/office/drawing/2014/main" val="4039866031"/>
                    </a:ext>
                  </a:extLst>
                </a:gridCol>
                <a:gridCol w="2000250">
                  <a:extLst>
                    <a:ext uri="{9D8B030D-6E8A-4147-A177-3AD203B41FA5}">
                      <a16:colId xmlns:a16="http://schemas.microsoft.com/office/drawing/2014/main" val="277530999"/>
                    </a:ext>
                  </a:extLst>
                </a:gridCol>
                <a:gridCol w="5305423">
                  <a:extLst>
                    <a:ext uri="{9D8B030D-6E8A-4147-A177-3AD203B41FA5}">
                      <a16:colId xmlns:a16="http://schemas.microsoft.com/office/drawing/2014/main" val="517703575"/>
                    </a:ext>
                  </a:extLst>
                </a:gridCol>
              </a:tblGrid>
              <a:tr h="370840">
                <a:tc>
                  <a:txBody>
                    <a:bodyPr/>
                    <a:lstStyle/>
                    <a:p>
                      <a:r>
                        <a:rPr lang="es-ES_tradnl" dirty="0"/>
                        <a:t>Método</a:t>
                      </a:r>
                    </a:p>
                  </a:txBody>
                  <a:tcPr/>
                </a:tc>
                <a:tc>
                  <a:txBody>
                    <a:bodyPr/>
                    <a:lstStyle/>
                    <a:p>
                      <a:r>
                        <a:rPr lang="es-ES_tradnl" dirty="0"/>
                        <a:t>Justificación de una inversión</a:t>
                      </a:r>
                    </a:p>
                  </a:txBody>
                  <a:tcPr/>
                </a:tc>
                <a:tc>
                  <a:txBody>
                    <a:bodyPr/>
                    <a:lstStyle/>
                    <a:p>
                      <a:r>
                        <a:rPr lang="es-ES_tradnl" dirty="0"/>
                        <a:t>Ordenamiento de Alternativas</a:t>
                      </a:r>
                    </a:p>
                  </a:txBody>
                  <a:tcPr/>
                </a:tc>
                <a:tc>
                  <a:txBody>
                    <a:bodyPr/>
                    <a:lstStyle/>
                    <a:p>
                      <a:r>
                        <a:rPr lang="es-ES_tradnl" dirty="0"/>
                        <a:t>Observaciones</a:t>
                      </a:r>
                    </a:p>
                  </a:txBody>
                  <a:tcPr/>
                </a:tc>
                <a:extLst>
                  <a:ext uri="{0D108BD9-81ED-4DB2-BD59-A6C34878D82A}">
                    <a16:rowId xmlns:a16="http://schemas.microsoft.com/office/drawing/2014/main" val="849244024"/>
                  </a:ext>
                </a:extLst>
              </a:tr>
              <a:tr h="370840">
                <a:tc>
                  <a:txBody>
                    <a:bodyPr/>
                    <a:lstStyle/>
                    <a:p>
                      <a:r>
                        <a:rPr lang="es-ES_tradnl" dirty="0"/>
                        <a:t>VPN</a:t>
                      </a:r>
                    </a:p>
                  </a:txBody>
                  <a:tcPr/>
                </a:tc>
                <a:tc>
                  <a:txBody>
                    <a:bodyPr/>
                    <a:lstStyle/>
                    <a:p>
                      <a:r>
                        <a:rPr lang="es-ES_tradnl" dirty="0"/>
                        <a:t>Adecuado</a:t>
                      </a:r>
                    </a:p>
                  </a:txBody>
                  <a:tcPr/>
                </a:tc>
                <a:tc>
                  <a:txBody>
                    <a:bodyPr/>
                    <a:lstStyle/>
                    <a:p>
                      <a:r>
                        <a:rPr lang="es-ES_tradnl" dirty="0"/>
                        <a:t>Adecuado </a:t>
                      </a:r>
                    </a:p>
                  </a:txBody>
                  <a:tcPr/>
                </a:tc>
                <a:tc>
                  <a:txBody>
                    <a:bodyPr/>
                    <a:lstStyle/>
                    <a:p>
                      <a:r>
                        <a:rPr lang="es-ES_tradnl" dirty="0"/>
                        <a:t>Indicador de valor, fiable.</a:t>
                      </a:r>
                    </a:p>
                  </a:txBody>
                  <a:tcPr/>
                </a:tc>
                <a:extLst>
                  <a:ext uri="{0D108BD9-81ED-4DB2-BD59-A6C34878D82A}">
                    <a16:rowId xmlns:a16="http://schemas.microsoft.com/office/drawing/2014/main" val="371857513"/>
                  </a:ext>
                </a:extLst>
              </a:tr>
              <a:tr h="370840">
                <a:tc>
                  <a:txBody>
                    <a:bodyPr/>
                    <a:lstStyle/>
                    <a:p>
                      <a:r>
                        <a:rPr lang="es-ES_tradnl" dirty="0"/>
                        <a:t>TIR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 con limitaciones</a:t>
                      </a:r>
                    </a:p>
                  </a:txBody>
                  <a:tcPr/>
                </a:tc>
                <a:tc>
                  <a:txBody>
                    <a:bodyPr/>
                    <a:lstStyle/>
                    <a:p>
                      <a:r>
                        <a:rPr lang="es-ES_tradnl" dirty="0"/>
                        <a:t>Inadecuado</a:t>
                      </a:r>
                    </a:p>
                  </a:txBody>
                  <a:tcPr/>
                </a:tc>
                <a:tc>
                  <a:txBody>
                    <a:bodyPr/>
                    <a:lstStyle/>
                    <a:p>
                      <a:r>
                        <a:rPr lang="es-ES_tradnl" dirty="0"/>
                        <a:t>Supuesto de reinversión, tasas múltiples.</a:t>
                      </a:r>
                      <a:br>
                        <a:rPr lang="es-ES_tradnl" dirty="0"/>
                      </a:br>
                      <a:r>
                        <a:rPr lang="es-ES_tradnl" dirty="0"/>
                        <a:t>No es un indicador de valor.</a:t>
                      </a:r>
                    </a:p>
                  </a:txBody>
                  <a:tcPr/>
                </a:tc>
                <a:extLst>
                  <a:ext uri="{0D108BD9-81ED-4DB2-BD59-A6C34878D82A}">
                    <a16:rowId xmlns:a16="http://schemas.microsoft.com/office/drawing/2014/main" val="3897598086"/>
                  </a:ext>
                </a:extLst>
              </a:tr>
              <a:tr h="370840">
                <a:tc>
                  <a:txBody>
                    <a:bodyPr/>
                    <a:lstStyle/>
                    <a:p>
                      <a:r>
                        <a:rPr lang="es-ES_tradnl" dirty="0"/>
                        <a:t>B/C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Inadecuado</a:t>
                      </a:r>
                    </a:p>
                  </a:txBody>
                  <a:tcPr/>
                </a:tc>
                <a:tc>
                  <a:txBody>
                    <a:bodyPr/>
                    <a:lstStyle/>
                    <a:p>
                      <a:r>
                        <a:rPr lang="es-ES_tradnl" dirty="0"/>
                        <a:t>No captura las diferencias en el monto de inversión.</a:t>
                      </a:r>
                    </a:p>
                  </a:txBody>
                  <a:tcPr/>
                </a:tc>
                <a:extLst>
                  <a:ext uri="{0D108BD9-81ED-4DB2-BD59-A6C34878D82A}">
                    <a16:rowId xmlns:a16="http://schemas.microsoft.com/office/drawing/2014/main" val="626570852"/>
                  </a:ext>
                </a:extLst>
              </a:tr>
              <a:tr h="370840">
                <a:tc>
                  <a:txBody>
                    <a:bodyPr/>
                    <a:lstStyle/>
                    <a:p>
                      <a:r>
                        <a:rPr lang="es-ES_tradnl" dirty="0"/>
                        <a:t>TVR/TIRM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a:t>
                      </a:r>
                    </a:p>
                  </a:txBody>
                  <a:tcPr/>
                </a:tc>
                <a:tc>
                  <a:txBody>
                    <a:bodyPr/>
                    <a:lstStyle/>
                    <a:p>
                      <a:r>
                        <a:rPr lang="es-ES_tradnl" dirty="0"/>
                        <a:t>Es consistente 100% con el VPN, pero no indica valor.</a:t>
                      </a:r>
                    </a:p>
                    <a:p>
                      <a:r>
                        <a:rPr lang="es-ES_tradnl" dirty="0"/>
                        <a:t>Solamente </a:t>
                      </a:r>
                      <a:r>
                        <a:rPr lang="es-ES_tradnl"/>
                        <a:t>es válido </a:t>
                      </a:r>
                      <a:r>
                        <a:rPr lang="es-ES_tradnl" dirty="0"/>
                        <a:t>para montos iguales.. </a:t>
                      </a:r>
                    </a:p>
                  </a:txBody>
                  <a:tcPr/>
                </a:tc>
                <a:extLst>
                  <a:ext uri="{0D108BD9-81ED-4DB2-BD59-A6C34878D82A}">
                    <a16:rowId xmlns:a16="http://schemas.microsoft.com/office/drawing/2014/main" val="2322003997"/>
                  </a:ext>
                </a:extLst>
              </a:tr>
            </a:tbl>
          </a:graphicData>
        </a:graphic>
      </p:graphicFrame>
      <p:sp>
        <p:nvSpPr>
          <p:cNvPr id="4" name="Slide Number Placeholder 3">
            <a:extLst>
              <a:ext uri="{FF2B5EF4-FFF2-40B4-BE49-F238E27FC236}">
                <a16:creationId xmlns:a16="http://schemas.microsoft.com/office/drawing/2014/main" id="{96638403-A056-6CAA-C37B-3DEE59D40667}"/>
              </a:ext>
            </a:extLst>
          </p:cNvPr>
          <p:cNvSpPr>
            <a:spLocks noGrp="1"/>
          </p:cNvSpPr>
          <p:nvPr>
            <p:ph type="sldNum" sz="quarter" idx="12"/>
          </p:nvPr>
        </p:nvSpPr>
        <p:spPr/>
        <p:txBody>
          <a:bodyPr/>
          <a:lstStyle/>
          <a:p>
            <a:fld id="{D57F1E4F-1CFF-5643-939E-217C01CDF565}" type="slidenum">
              <a:rPr lang="en-US" smtClean="0"/>
              <a:pPr/>
              <a:t>36</a:t>
            </a:fld>
            <a:endParaRPr lang="en-US"/>
          </a:p>
        </p:txBody>
      </p:sp>
    </p:spTree>
    <p:extLst>
      <p:ext uri="{BB962C8B-B14F-4D97-AF65-F5344CB8AC3E}">
        <p14:creationId xmlns:p14="http://schemas.microsoft.com/office/powerpoint/2010/main" val="2121359493"/>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2803</TotalTime>
  <Words>2332</Words>
  <Application>Microsoft Macintosh PowerPoint</Application>
  <PresentationFormat>Widescreen</PresentationFormat>
  <Paragraphs>625</Paragraphs>
  <Slides>36</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Cambria Math</vt:lpstr>
      <vt:lpstr>Century Gothic</vt:lpstr>
      <vt:lpstr>Gill Sans MT</vt:lpstr>
      <vt:lpstr>Wingdings</vt:lpstr>
      <vt:lpstr>Wingdings 2</vt:lpstr>
      <vt:lpstr>Zapf Dingbats</vt:lpstr>
      <vt:lpstr>Dividendo</vt:lpstr>
      <vt:lpstr>ACLARACIÓN DE LA TIR</vt:lpstr>
      <vt:lpstr>TIR</vt:lpstr>
      <vt:lpstr>TIR</vt:lpstr>
      <vt:lpstr>TIR</vt:lpstr>
      <vt:lpstr>TIR</vt:lpstr>
      <vt:lpstr>TIR</vt:lpstr>
      <vt:lpstr>TIR</vt:lpstr>
      <vt:lpstr>TIR</vt:lpstr>
      <vt:lpstr>TIR</vt:lpstr>
      <vt:lpstr>TIR</vt:lpstr>
      <vt:lpstr>TIR</vt:lpstr>
      <vt:lpstr>AGENDA PROPUESTA</vt:lpstr>
      <vt:lpstr>PowerPoint Presentation</vt:lpstr>
      <vt:lpstr>VAE</vt:lpstr>
      <vt:lpstr>VAE</vt:lpstr>
      <vt:lpstr>VAE</vt:lpstr>
      <vt:lpstr>VAE</vt:lpstr>
      <vt:lpstr>VAE</vt:lpstr>
      <vt:lpstr>AGENDA PROPUESTA</vt:lpstr>
      <vt:lpstr>PowerPoint Presentation</vt:lpstr>
      <vt:lpstr>b/c</vt:lpstr>
      <vt:lpstr>b/c</vt:lpstr>
      <vt:lpstr>b/c</vt:lpstr>
      <vt:lpstr>b/c</vt:lpstr>
      <vt:lpstr>b/c</vt:lpstr>
      <vt:lpstr>b/c</vt:lpstr>
      <vt:lpstr>b/c</vt:lpstr>
      <vt:lpstr>AGENDA PROPUESTA</vt:lpstr>
      <vt:lpstr>PowerPoint Presentation</vt:lpstr>
      <vt:lpstr>PayBack</vt:lpstr>
      <vt:lpstr>pAyback</vt:lpstr>
      <vt:lpstr>pAyback</vt:lpstr>
      <vt:lpstr>pAyback</vt:lpstr>
      <vt:lpstr>pAyback</vt:lpstr>
      <vt:lpstr>pAyback</vt:lpstr>
      <vt:lpstr>¿CUÁLES USAR PARA SELECCIONAR ALTERNATIVAS?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25</cp:revision>
  <dcterms:created xsi:type="dcterms:W3CDTF">2019-06-20T04:25:04Z</dcterms:created>
  <dcterms:modified xsi:type="dcterms:W3CDTF">2026-02-24T02:19:25Z</dcterms:modified>
</cp:coreProperties>
</file>