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7"/>
  </p:notesMasterIdLst>
  <p:handoutMasterIdLst>
    <p:handoutMasterId r:id="rId48"/>
  </p:handoutMasterIdLst>
  <p:sldIdLst>
    <p:sldId id="398" r:id="rId2"/>
    <p:sldId id="354" r:id="rId3"/>
    <p:sldId id="425" r:id="rId4"/>
    <p:sldId id="312" r:id="rId5"/>
    <p:sldId id="290" r:id="rId6"/>
    <p:sldId id="314" r:id="rId7"/>
    <p:sldId id="291" r:id="rId8"/>
    <p:sldId id="292" r:id="rId9"/>
    <p:sldId id="315" r:id="rId10"/>
    <p:sldId id="293" r:id="rId11"/>
    <p:sldId id="344" r:id="rId12"/>
    <p:sldId id="345" r:id="rId13"/>
    <p:sldId id="294" r:id="rId14"/>
    <p:sldId id="426" r:id="rId15"/>
    <p:sldId id="316" r:id="rId16"/>
    <p:sldId id="296" r:id="rId17"/>
    <p:sldId id="298" r:id="rId18"/>
    <p:sldId id="319" r:id="rId19"/>
    <p:sldId id="436" r:id="rId20"/>
    <p:sldId id="435" r:id="rId21"/>
    <p:sldId id="430" r:id="rId22"/>
    <p:sldId id="431" r:id="rId23"/>
    <p:sldId id="432" r:id="rId24"/>
    <p:sldId id="434" r:id="rId25"/>
    <p:sldId id="300" r:id="rId26"/>
    <p:sldId id="302" r:id="rId27"/>
    <p:sldId id="427" r:id="rId28"/>
    <p:sldId id="317" r:id="rId29"/>
    <p:sldId id="303" r:id="rId30"/>
    <p:sldId id="327" r:id="rId31"/>
    <p:sldId id="304" r:id="rId32"/>
    <p:sldId id="306" r:id="rId33"/>
    <p:sldId id="433" r:id="rId34"/>
    <p:sldId id="429" r:id="rId35"/>
    <p:sldId id="343" r:id="rId36"/>
    <p:sldId id="428" r:id="rId37"/>
    <p:sldId id="331" r:id="rId38"/>
    <p:sldId id="333" r:id="rId39"/>
    <p:sldId id="338" r:id="rId40"/>
    <p:sldId id="337" r:id="rId41"/>
    <p:sldId id="336" r:id="rId42"/>
    <p:sldId id="437" r:id="rId43"/>
    <p:sldId id="310" r:id="rId44"/>
    <p:sldId id="311" r:id="rId45"/>
    <p:sldId id="424"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6666FF"/>
    <a:srgbClr val="002F90"/>
    <a:srgbClr val="00FA00"/>
    <a:srgbClr val="FF6600"/>
    <a:srgbClr val="33CC33"/>
    <a:srgbClr val="FFF4E6"/>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6FB750-78F6-DA41-8BDD-F2126A1EF7FF}" v="7" dt="2026-08-18T17:14:24.23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2"/>
    <p:restoredTop sz="94678"/>
  </p:normalViewPr>
  <p:slideViewPr>
    <p:cSldViewPr snapToGrid="0">
      <p:cViewPr varScale="1">
        <p:scale>
          <a:sx n="150" d="100"/>
          <a:sy n="150" d="100"/>
        </p:scale>
        <p:origin x="10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938F7A95-1314-5A0F-843E-287C4A35EE59}"/>
    <pc:docChg chg="undo custSel addSld delSld modSld">
      <pc:chgData name="Brigitte Castañeda Rodriguez" userId="5c201908-82f6-498c-9281-7eaa96fb17b4" providerId="ADAL" clId="{938F7A95-1314-5A0F-843E-287C4A35EE59}" dt="2026-08-20T16:29:49.729" v="36" actId="1076"/>
      <pc:docMkLst>
        <pc:docMk/>
      </pc:docMkLst>
      <pc:sldChg chg="modSp mod">
        <pc:chgData name="Brigitte Castañeda Rodriguez" userId="5c201908-82f6-498c-9281-7eaa96fb17b4" providerId="ADAL" clId="{938F7A95-1314-5A0F-843E-287C4A35EE59}" dt="2026-08-18T17:05:33.131" v="8" actId="790"/>
        <pc:sldMkLst>
          <pc:docMk/>
          <pc:sldMk cId="1256288854" sldId="304"/>
        </pc:sldMkLst>
        <pc:spChg chg="mod">
          <ac:chgData name="Brigitte Castañeda Rodriguez" userId="5c201908-82f6-498c-9281-7eaa96fb17b4" providerId="ADAL" clId="{938F7A95-1314-5A0F-843E-287C4A35EE59}" dt="2026-08-18T17:04:56.688" v="3" actId="20577"/>
          <ac:spMkLst>
            <pc:docMk/>
            <pc:sldMk cId="1256288854" sldId="304"/>
            <ac:spMk id="14" creationId="{AC936C4D-CFBF-BA79-8A83-58FB405C73B2}"/>
          </ac:spMkLst>
        </pc:spChg>
        <pc:spChg chg="mod">
          <ac:chgData name="Brigitte Castañeda Rodriguez" userId="5c201908-82f6-498c-9281-7eaa96fb17b4" providerId="ADAL" clId="{938F7A95-1314-5A0F-843E-287C4A35EE59}" dt="2026-08-18T17:05:33.131" v="8" actId="790"/>
          <ac:spMkLst>
            <pc:docMk/>
            <pc:sldMk cId="1256288854" sldId="304"/>
            <ac:spMk id="15" creationId="{FAF0AF5A-6F65-34B4-D3FD-365F541471A8}"/>
          </ac:spMkLst>
        </pc:spChg>
      </pc:sldChg>
      <pc:sldChg chg="modSp mod">
        <pc:chgData name="Brigitte Castañeda Rodriguez" userId="5c201908-82f6-498c-9281-7eaa96fb17b4" providerId="ADAL" clId="{938F7A95-1314-5A0F-843E-287C4A35EE59}" dt="2026-08-20T16:29:49.729" v="36" actId="1076"/>
        <pc:sldMkLst>
          <pc:docMk/>
          <pc:sldMk cId="4006192825" sldId="343"/>
        </pc:sldMkLst>
        <pc:spChg chg="mod">
          <ac:chgData name="Brigitte Castañeda Rodriguez" userId="5c201908-82f6-498c-9281-7eaa96fb17b4" providerId="ADAL" clId="{938F7A95-1314-5A0F-843E-287C4A35EE59}" dt="2026-08-20T16:29:46.355" v="35" actId="20577"/>
          <ac:spMkLst>
            <pc:docMk/>
            <pc:sldMk cId="4006192825" sldId="343"/>
            <ac:spMk id="17" creationId="{99212A69-A390-5432-EF35-B83812BF0A0B}"/>
          </ac:spMkLst>
        </pc:spChg>
        <pc:picChg chg="mod">
          <ac:chgData name="Brigitte Castañeda Rodriguez" userId="5c201908-82f6-498c-9281-7eaa96fb17b4" providerId="ADAL" clId="{938F7A95-1314-5A0F-843E-287C4A35EE59}" dt="2026-08-20T16:29:49.729" v="36" actId="1076"/>
          <ac:picMkLst>
            <pc:docMk/>
            <pc:sldMk cId="4006192825" sldId="343"/>
            <ac:picMk id="5" creationId="{D58BCCDF-5043-95CE-E870-92C1E2205869}"/>
          </ac:picMkLst>
        </pc:picChg>
      </pc:sldChg>
      <pc:sldChg chg="modSp mod">
        <pc:chgData name="Brigitte Castañeda Rodriguez" userId="5c201908-82f6-498c-9281-7eaa96fb17b4" providerId="ADAL" clId="{938F7A95-1314-5A0F-843E-287C4A35EE59}" dt="2026-08-18T16:28:44.540" v="0" actId="14734"/>
        <pc:sldMkLst>
          <pc:docMk/>
          <pc:sldMk cId="2223513443" sldId="432"/>
        </pc:sldMkLst>
        <pc:graphicFrameChg chg="modGraphic">
          <ac:chgData name="Brigitte Castañeda Rodriguez" userId="5c201908-82f6-498c-9281-7eaa96fb17b4" providerId="ADAL" clId="{938F7A95-1314-5A0F-843E-287C4A35EE59}" dt="2026-08-18T16:28:44.540" v="0" actId="14734"/>
          <ac:graphicFrameMkLst>
            <pc:docMk/>
            <pc:sldMk cId="2223513443" sldId="432"/>
            <ac:graphicFrameMk id="6" creationId="{4E9FC1F4-146B-9E97-F110-04E839C50458}"/>
          </ac:graphicFrameMkLst>
        </pc:graphicFrameChg>
      </pc:sldChg>
      <pc:sldChg chg="addSp delSp modSp new mod">
        <pc:chgData name="Brigitte Castañeda Rodriguez" userId="5c201908-82f6-498c-9281-7eaa96fb17b4" providerId="ADAL" clId="{938F7A95-1314-5A0F-843E-287C4A35EE59}" dt="2026-08-18T17:14:12.261" v="26" actId="20577"/>
        <pc:sldMkLst>
          <pc:docMk/>
          <pc:sldMk cId="2988772700" sldId="436"/>
        </pc:sldMkLst>
        <pc:spChg chg="mod">
          <ac:chgData name="Brigitte Castañeda Rodriguez" userId="5c201908-82f6-498c-9281-7eaa96fb17b4" providerId="ADAL" clId="{938F7A95-1314-5A0F-843E-287C4A35EE59}" dt="2026-08-18T17:14:12.261" v="26" actId="20577"/>
          <ac:spMkLst>
            <pc:docMk/>
            <pc:sldMk cId="2988772700" sldId="436"/>
            <ac:spMk id="2" creationId="{30C10F62-E8F8-3282-2B2D-0EECFD2AA76A}"/>
          </ac:spMkLst>
        </pc:spChg>
        <pc:picChg chg="add mod">
          <ac:chgData name="Brigitte Castañeda Rodriguez" userId="5c201908-82f6-498c-9281-7eaa96fb17b4" providerId="ADAL" clId="{938F7A95-1314-5A0F-843E-287C4A35EE59}" dt="2026-08-18T17:14:09.047" v="20" actId="1076"/>
          <ac:picMkLst>
            <pc:docMk/>
            <pc:sldMk cId="2988772700" sldId="436"/>
            <ac:picMk id="5" creationId="{28EC5E3B-395D-2BC3-5EE6-F405B9A9DEB6}"/>
          </ac:picMkLst>
        </pc:picChg>
      </pc:sldChg>
      <pc:sldChg chg="add">
        <pc:chgData name="Brigitte Castañeda Rodriguez" userId="5c201908-82f6-498c-9281-7eaa96fb17b4" providerId="ADAL" clId="{938F7A95-1314-5A0F-843E-287C4A35EE59}" dt="2026-08-18T17:14:24.231" v="27"/>
        <pc:sldMkLst>
          <pc:docMk/>
          <pc:sldMk cId="2019350776" sldId="437"/>
        </pc:sldMkLst>
      </pc:sldChg>
    </pc:docChg>
  </pc:docChgLst>
  <pc:docChgLst>
    <pc:chgData name="Noe Sebastian Medina Munoz" userId="5c431823-7140-4362-8dc5-fa929eff80ab" providerId="ADAL" clId="{12A7C632-F0F6-4C50-9800-5DEC504475F9}"/>
    <pc:docChg chg="undo custSel addSld modSld">
      <pc:chgData name="Noe Sebastian Medina Munoz" userId="5c431823-7140-4362-8dc5-fa929eff80ab" providerId="ADAL" clId="{12A7C632-F0F6-4C50-9800-5DEC504475F9}" dt="2026-08-18T01:33:47.751" v="1256" actId="20577"/>
      <pc:docMkLst>
        <pc:docMk/>
      </pc:docMkLst>
      <pc:sldChg chg="delSp modSp mod">
        <pc:chgData name="Noe Sebastian Medina Munoz" userId="5c431823-7140-4362-8dc5-fa929eff80ab" providerId="ADAL" clId="{12A7C632-F0F6-4C50-9800-5DEC504475F9}" dt="2026-08-18T01:26:51.569" v="810" actId="1036"/>
        <pc:sldMkLst>
          <pc:docMk/>
          <pc:sldMk cId="3359956815" sldId="302"/>
        </pc:sldMkLst>
        <pc:spChg chg="mod">
          <ac:chgData name="Noe Sebastian Medina Munoz" userId="5c431823-7140-4362-8dc5-fa929eff80ab" providerId="ADAL" clId="{12A7C632-F0F6-4C50-9800-5DEC504475F9}" dt="2026-08-18T01:25:12.209" v="718" actId="20577"/>
          <ac:spMkLst>
            <pc:docMk/>
            <pc:sldMk cId="3359956815" sldId="302"/>
            <ac:spMk id="3" creationId="{00000000-0000-0000-0000-000000000000}"/>
          </ac:spMkLst>
        </pc:spChg>
        <pc:spChg chg="mod">
          <ac:chgData name="Noe Sebastian Medina Munoz" userId="5c431823-7140-4362-8dc5-fa929eff80ab" providerId="ADAL" clId="{12A7C632-F0F6-4C50-9800-5DEC504475F9}" dt="2026-08-18T01:26:51.569" v="810" actId="1036"/>
          <ac:spMkLst>
            <pc:docMk/>
            <pc:sldMk cId="3359956815" sldId="302"/>
            <ac:spMk id="15" creationId="{1DDDAA3A-DE76-419B-8BCE-76F12ECBD4BB}"/>
          </ac:spMkLst>
        </pc:spChg>
        <pc:graphicFrameChg chg="mod modGraphic">
          <ac:chgData name="Noe Sebastian Medina Munoz" userId="5c431823-7140-4362-8dc5-fa929eff80ab" providerId="ADAL" clId="{12A7C632-F0F6-4C50-9800-5DEC504475F9}" dt="2026-08-18T01:26:51.569" v="810" actId="1036"/>
          <ac:graphicFrameMkLst>
            <pc:docMk/>
            <pc:sldMk cId="3359956815" sldId="302"/>
            <ac:graphicFrameMk id="8" creationId="{411D5730-3C2B-A4A6-7A2A-6A549CDF0F56}"/>
          </ac:graphicFrameMkLst>
        </pc:graphicFrameChg>
      </pc:sldChg>
      <pc:sldChg chg="addSp delSp modSp mod modAnim">
        <pc:chgData name="Noe Sebastian Medina Munoz" userId="5c431823-7140-4362-8dc5-fa929eff80ab" providerId="ADAL" clId="{12A7C632-F0F6-4C50-9800-5DEC504475F9}" dt="2026-08-18T01:33:47.751" v="1256" actId="20577"/>
        <pc:sldMkLst>
          <pc:docMk/>
          <pc:sldMk cId="2541370564" sldId="319"/>
        </pc:sldMkLst>
        <pc:spChg chg="add mod">
          <ac:chgData name="Noe Sebastian Medina Munoz" userId="5c431823-7140-4362-8dc5-fa929eff80ab" providerId="ADAL" clId="{12A7C632-F0F6-4C50-9800-5DEC504475F9}" dt="2026-08-18T01:33:47.751" v="1256" actId="20577"/>
          <ac:spMkLst>
            <pc:docMk/>
            <pc:sldMk cId="2541370564" sldId="319"/>
            <ac:spMk id="7" creationId="{1EA2EEEB-377F-7D18-EBA8-0E013666A522}"/>
          </ac:spMkLst>
        </pc:spChg>
      </pc:sldChg>
      <pc:sldChg chg="addSp delSp modSp mod">
        <pc:chgData name="Noe Sebastian Medina Munoz" userId="5c431823-7140-4362-8dc5-fa929eff80ab" providerId="ADAL" clId="{12A7C632-F0F6-4C50-9800-5DEC504475F9}" dt="2026-08-18T01:30:02.719" v="1064"/>
        <pc:sldMkLst>
          <pc:docMk/>
          <pc:sldMk cId="108012378" sldId="336"/>
        </pc:sldMkLst>
        <pc:spChg chg="add mod">
          <ac:chgData name="Noe Sebastian Medina Munoz" userId="5c431823-7140-4362-8dc5-fa929eff80ab" providerId="ADAL" clId="{12A7C632-F0F6-4C50-9800-5DEC504475F9}" dt="2026-08-18T01:28:37.993" v="1051"/>
          <ac:spMkLst>
            <pc:docMk/>
            <pc:sldMk cId="108012378" sldId="336"/>
            <ac:spMk id="11" creationId="{A96989DF-2675-5325-3BBE-B700CFD2FD98}"/>
          </ac:spMkLst>
        </pc:spChg>
        <pc:graphicFrameChg chg="mod">
          <ac:chgData name="Noe Sebastian Medina Munoz" userId="5c431823-7140-4362-8dc5-fa929eff80ab" providerId="ADAL" clId="{12A7C632-F0F6-4C50-9800-5DEC504475F9}" dt="2026-08-18T01:30:02.719" v="1064"/>
          <ac:graphicFrameMkLst>
            <pc:docMk/>
            <pc:sldMk cId="108012378" sldId="336"/>
            <ac:graphicFrameMk id="7" creationId="{00000000-0000-0000-0000-000000000000}"/>
          </ac:graphicFrameMkLst>
        </pc:graphicFrameChg>
      </pc:sldChg>
      <pc:sldChg chg="addSp delSp modSp mod">
        <pc:chgData name="Noe Sebastian Medina Munoz" userId="5c431823-7140-4362-8dc5-fa929eff80ab" providerId="ADAL" clId="{12A7C632-F0F6-4C50-9800-5DEC504475F9}" dt="2026-08-18T01:28:30.370" v="1048" actId="21"/>
        <pc:sldMkLst>
          <pc:docMk/>
          <pc:sldMk cId="1099134719" sldId="337"/>
        </pc:sldMkLst>
        <pc:spChg chg="add del mod">
          <ac:chgData name="Noe Sebastian Medina Munoz" userId="5c431823-7140-4362-8dc5-fa929eff80ab" providerId="ADAL" clId="{12A7C632-F0F6-4C50-9800-5DEC504475F9}" dt="2026-08-18T01:28:30.370" v="1048" actId="21"/>
          <ac:spMkLst>
            <pc:docMk/>
            <pc:sldMk cId="1099134719" sldId="337"/>
            <ac:spMk id="8" creationId="{00000000-0000-0000-0000-000000000000}"/>
          </ac:spMkLst>
        </pc:spChg>
        <pc:graphicFrameChg chg="mod">
          <ac:chgData name="Noe Sebastian Medina Munoz" userId="5c431823-7140-4362-8dc5-fa929eff80ab" providerId="ADAL" clId="{12A7C632-F0F6-4C50-9800-5DEC504475F9}" dt="2026-08-18T01:28:16.862" v="1035" actId="1036"/>
          <ac:graphicFrameMkLst>
            <pc:docMk/>
            <pc:sldMk cId="1099134719" sldId="337"/>
            <ac:graphicFrameMk id="9" creationId="{B7B3A1A6-3CA5-E9C3-A757-C61CACEC6328}"/>
          </ac:graphicFrameMkLst>
        </pc:graphicFrameChg>
      </pc:sldChg>
      <pc:sldChg chg="addSp delSp modSp add mod modAnim">
        <pc:chgData name="Noe Sebastian Medina Munoz" userId="5c431823-7140-4362-8dc5-fa929eff80ab" providerId="ADAL" clId="{12A7C632-F0F6-4C50-9800-5DEC504475F9}" dt="2026-08-18T01:20:37.349" v="597" actId="20577"/>
        <pc:sldMkLst>
          <pc:docMk/>
          <pc:sldMk cId="1390217424" sldId="434"/>
        </pc:sldMkLst>
        <pc:spChg chg="add mod">
          <ac:chgData name="Noe Sebastian Medina Munoz" userId="5c431823-7140-4362-8dc5-fa929eff80ab" providerId="ADAL" clId="{12A7C632-F0F6-4C50-9800-5DEC504475F9}" dt="2026-08-18T01:20:37.349" v="597" actId="20577"/>
          <ac:spMkLst>
            <pc:docMk/>
            <pc:sldMk cId="1390217424" sldId="434"/>
            <ac:spMk id="7" creationId="{4191E129-3658-B67B-7418-DFB68156E2A3}"/>
          </ac:spMkLst>
        </pc:spChg>
      </pc:sldChg>
      <pc:sldChg chg="add">
        <pc:chgData name="Noe Sebastian Medina Munoz" userId="5c431823-7140-4362-8dc5-fa929eff80ab" providerId="ADAL" clId="{12A7C632-F0F6-4C50-9800-5DEC504475F9}" dt="2026-08-18T01:32:14.409" v="1065"/>
        <pc:sldMkLst>
          <pc:docMk/>
          <pc:sldMk cId="1245758456" sldId="43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20/08/26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20/08/26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62738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69803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67288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00925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5512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4097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20310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555187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2108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2325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39268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394434230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0.jpeg"/><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1.jpe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2.jpeg"/><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CONCEPTO DE INTERÉS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3D207C77-7599-8525-86D6-40C6D2C01D63}"/>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A47CFAFA-B488-C53C-EDBB-885B44FB40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accent1"/>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BFFE8E9-A168-FD1B-1D9F-E059D2FE146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accent1"/>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0C49DEB-80B9-35F0-704B-75A4C2033D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7389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134552" y="2149503"/>
            <a:ext cx="9131905" cy="820040"/>
          </a:xfrm>
        </p:spPr>
        <p:txBody>
          <a:bodyPr>
            <a:normAutofit/>
          </a:bodyPr>
          <a:lstStyle/>
          <a:p>
            <a:pPr marL="0" indent="0">
              <a:buNone/>
            </a:pPr>
            <a:r>
              <a:rPr lang="es-ES_tradnl" sz="3600" b="1">
                <a:solidFill>
                  <a:srgbClr val="800000"/>
                </a:solidFill>
                <a:latin typeface="Century Gothic"/>
              </a:rPr>
              <a:t>Interés Vencido</a:t>
            </a:r>
            <a:endParaRPr lang="es-ES"/>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2D80F3CB-08BF-98DD-0616-1855ECC11A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A2D391F-791B-035F-65ED-E8A1CF614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760D00DE-5880-320F-6D97-59161526F7F6}"/>
              </a:ext>
            </a:extLst>
          </p:cNvPr>
          <p:cNvSpPr txBox="1"/>
          <p:nvPr/>
        </p:nvSpPr>
        <p:spPr>
          <a:xfrm>
            <a:off x="7033638" y="5068140"/>
            <a:ext cx="42766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600" b="1">
                <a:solidFill>
                  <a:srgbClr val="800000"/>
                </a:solidFill>
                <a:latin typeface="Century Gothic"/>
              </a:rPr>
              <a:t>Interés Anticipado</a:t>
            </a:r>
            <a:r>
              <a:rPr lang="es-ES" sz="3600">
                <a:latin typeface="Century Gothic"/>
              </a:rPr>
              <a:t>​</a:t>
            </a:r>
            <a:endParaRPr lang="es-ES"/>
          </a:p>
        </p:txBody>
      </p:sp>
      <p:pic>
        <p:nvPicPr>
          <p:cNvPr id="13" name="Imagen 12" descr="Vs PNG para descargar gratis">
            <a:extLst>
              <a:ext uri="{FF2B5EF4-FFF2-40B4-BE49-F238E27FC236}">
                <a16:creationId xmlns:a16="http://schemas.microsoft.com/office/drawing/2014/main" id="{264BEB98-EDB1-ABDE-776E-5C7C58B5EDBB}"/>
              </a:ext>
            </a:extLst>
          </p:cNvPr>
          <p:cNvPicPr>
            <a:picLocks noChangeAspect="1"/>
          </p:cNvPicPr>
          <p:nvPr/>
        </p:nvPicPr>
        <p:blipFill>
          <a:blip r:embed="rId3"/>
          <a:stretch>
            <a:fillRect/>
          </a:stretch>
        </p:blipFill>
        <p:spPr>
          <a:xfrm>
            <a:off x="2806200" y="1893437"/>
            <a:ext cx="6633180" cy="4414762"/>
          </a:xfrm>
          <a:prstGeom prst="rect">
            <a:avLst/>
          </a:prstGeom>
        </p:spPr>
      </p:pic>
      <p:sp>
        <p:nvSpPr>
          <p:cNvPr id="5" name="Rectángulo 4">
            <a:extLst>
              <a:ext uri="{FF2B5EF4-FFF2-40B4-BE49-F238E27FC236}">
                <a16:creationId xmlns:a16="http://schemas.microsoft.com/office/drawing/2014/main" id="{264533F3-5685-158C-191D-0D7E42432BE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85116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960780" y="4449667"/>
            <a:ext cx="5796506" cy="1078338"/>
          </a:xfrm>
        </p:spPr>
        <p:txBody>
          <a:bodyPr>
            <a:noAutofit/>
          </a:bodyPr>
          <a:lstStyle/>
          <a:p>
            <a:pPr marL="0" indent="0" algn="ctr">
              <a:buNone/>
            </a:pPr>
            <a:r>
              <a:rPr lang="es-ES_tradnl">
                <a:solidFill>
                  <a:schemeClr val="accent1"/>
                </a:solidFill>
                <a:latin typeface="Century Gothic" panose="020B0502020202020204" pitchFamily="34" charset="0"/>
              </a:rPr>
              <a:t>Usted solicita un préstamo de 500 para pagar en un año  y el banco ofrece un interés del 10% AV con amortización Tipo Bullet.</a:t>
            </a:r>
          </a:p>
          <a:p>
            <a:pPr marL="0" indent="0" algn="ctr">
              <a:buNone/>
            </a:pPr>
            <a:r>
              <a:rPr lang="es-ES_tradnl" b="1">
                <a:solidFill>
                  <a:srgbClr val="D7A700"/>
                </a:solidFill>
                <a:latin typeface="Century Gothic" panose="020B0502020202020204" pitchFamily="34" charset="0"/>
              </a:rPr>
              <a:t>¿Cómo sería posible graficar los movimientos de este crédito para usted?</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10" name="Rectángulo 9"/>
          <p:cNvSpPr/>
          <p:nvPr/>
        </p:nvSpPr>
        <p:spPr>
          <a:xfrm>
            <a:off x="565938" y="2104534"/>
            <a:ext cx="2135521"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Vencido</a:t>
            </a:r>
          </a:p>
        </p:txBody>
      </p:sp>
      <p:sp>
        <p:nvSpPr>
          <p:cNvPr id="3" name="Rectángulo 2"/>
          <p:cNvSpPr/>
          <p:nvPr/>
        </p:nvSpPr>
        <p:spPr>
          <a:xfrm>
            <a:off x="1747770" y="2713342"/>
            <a:ext cx="8696460" cy="646331"/>
          </a:xfrm>
          <a:prstGeom prst="rect">
            <a:avLst/>
          </a:prstGeom>
        </p:spPr>
        <p:txBody>
          <a:bodyPr wrap="square">
            <a:spAutoFit/>
          </a:bodyPr>
          <a:lstStyle/>
          <a:p>
            <a:pPr algn="ctr"/>
            <a:r>
              <a:rPr lang="es-ES_tradnl">
                <a:solidFill>
                  <a:schemeClr val="accent1"/>
                </a:solidFill>
                <a:latin typeface="Century Gothic" panose="020B0502020202020204" pitchFamily="34" charset="0"/>
              </a:rPr>
              <a:t>Es aquel que genera intereses al final de cada periodo de capitalización, y es a la que más estamos acostumbrados.</a:t>
            </a:r>
          </a:p>
        </p:txBody>
      </p:sp>
      <p:sp>
        <p:nvSpPr>
          <p:cNvPr id="11" name="Rectángulo 10"/>
          <p:cNvSpPr/>
          <p:nvPr/>
        </p:nvSpPr>
        <p:spPr>
          <a:xfrm>
            <a:off x="688072" y="3594638"/>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1.1.</a:t>
            </a:r>
            <a:endParaRPr lang="es-CO" sz="2000" b="1">
              <a:solidFill>
                <a:srgbClr val="C00000"/>
              </a:solidFill>
              <a:latin typeface="Century Gothic" panose="020B0502020202020204" pitchFamily="34" charset="0"/>
            </a:endParaRPr>
          </a:p>
        </p:txBody>
      </p:sp>
      <p:cxnSp>
        <p:nvCxnSpPr>
          <p:cNvPr id="33" name="Straight Connector 4"/>
          <p:cNvCxnSpPr/>
          <p:nvPr/>
        </p:nvCxnSpPr>
        <p:spPr>
          <a:xfrm>
            <a:off x="8035704" y="4938014"/>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6"/>
          <p:cNvCxnSpPr/>
          <p:nvPr/>
        </p:nvCxnSpPr>
        <p:spPr>
          <a:xfrm>
            <a:off x="10029055" y="49486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8"/>
          <p:cNvCxnSpPr>
            <a:endCxn id="39" idx="2"/>
          </p:cNvCxnSpPr>
          <p:nvPr/>
        </p:nvCxnSpPr>
        <p:spPr>
          <a:xfrm flipH="1" flipV="1">
            <a:off x="8035702" y="41873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13"/>
          <p:cNvSpPr>
            <a:spLocks/>
          </p:cNvSpPr>
          <p:nvPr/>
        </p:nvSpPr>
        <p:spPr bwMode="auto">
          <a:xfrm flipH="1">
            <a:off x="7793572" y="48644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37" name="Rectangle 15"/>
          <p:cNvSpPr>
            <a:spLocks/>
          </p:cNvSpPr>
          <p:nvPr/>
        </p:nvSpPr>
        <p:spPr bwMode="auto">
          <a:xfrm>
            <a:off x="9860526" y="46550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38" name="Rectangle 21"/>
          <p:cNvSpPr>
            <a:spLocks/>
          </p:cNvSpPr>
          <p:nvPr/>
        </p:nvSpPr>
        <p:spPr bwMode="auto">
          <a:xfrm>
            <a:off x="9648601" y="540489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39" name="Rectangle 23"/>
          <p:cNvSpPr>
            <a:spLocks/>
          </p:cNvSpPr>
          <p:nvPr/>
        </p:nvSpPr>
        <p:spPr bwMode="auto">
          <a:xfrm>
            <a:off x="7252736" y="39411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40" name="Straight Arrow Connector 6"/>
          <p:cNvCxnSpPr/>
          <p:nvPr/>
        </p:nvCxnSpPr>
        <p:spPr>
          <a:xfrm>
            <a:off x="10029055" y="5633365"/>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21"/>
          <p:cNvSpPr>
            <a:spLocks/>
          </p:cNvSpPr>
          <p:nvPr/>
        </p:nvSpPr>
        <p:spPr bwMode="auto">
          <a:xfrm>
            <a:off x="9648601" y="5709916"/>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sp>
        <p:nvSpPr>
          <p:cNvPr id="12" name="Rectángulo 11">
            <a:extLst>
              <a:ext uri="{FF2B5EF4-FFF2-40B4-BE49-F238E27FC236}">
                <a16:creationId xmlns:a16="http://schemas.microsoft.com/office/drawing/2014/main" id="{FD2198BC-DC47-C64F-191A-7E21C875E7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A0ECA94-D05B-E4C8-46AA-4DF2ECE88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B56DCB5-41F2-A04E-B51B-E86B125D72AE}"/>
              </a:ext>
            </a:extLst>
          </p:cNvPr>
          <p:cNvSpPr txBox="1"/>
          <p:nvPr/>
        </p:nvSpPr>
        <p:spPr>
          <a:xfrm>
            <a:off x="10104710" y="4752335"/>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5" name="Rectángulo 4">
            <a:extLst>
              <a:ext uri="{FF2B5EF4-FFF2-40B4-BE49-F238E27FC236}">
                <a16:creationId xmlns:a16="http://schemas.microsoft.com/office/drawing/2014/main" id="{09DCE32F-046D-931B-CDC7-DE03DFC44DF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9870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heckerboard(across)">
                                      <p:cBhvr>
                                        <p:cTn id="27" dur="500"/>
                                        <p:tgtEl>
                                          <p:spTgt spid="7"/>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36" grpId="0"/>
      <p:bldP spid="37" grpId="0"/>
      <p:bldP spid="38" grpId="0"/>
      <p:bldP spid="39" grpId="0"/>
      <p:bldP spid="41"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960780" y="4449667"/>
            <a:ext cx="5796506" cy="1078338"/>
          </a:xfrm>
        </p:spPr>
        <p:txBody>
          <a:bodyPr>
            <a:noAutofit/>
          </a:bodyPr>
          <a:lstStyle/>
          <a:p>
            <a:pPr marL="0" indent="0" algn="ctr">
              <a:buNone/>
            </a:pPr>
            <a:r>
              <a:rPr lang="es-ES_tradnl">
                <a:solidFill>
                  <a:schemeClr val="accent1"/>
                </a:solidFill>
                <a:latin typeface="Century Gothic" panose="020B0502020202020204" pitchFamily="34" charset="0"/>
              </a:rPr>
              <a:t>Usted solicita un préstamo de 500 para pagar en un año  y el banco ofrece un interés del 10% AA con amortización Tipo Bullet.</a:t>
            </a:r>
          </a:p>
          <a:p>
            <a:pPr marL="0" indent="0" algn="ctr">
              <a:buNone/>
            </a:pPr>
            <a:r>
              <a:rPr lang="es-ES_tradnl" b="1">
                <a:solidFill>
                  <a:srgbClr val="D7A700"/>
                </a:solidFill>
                <a:latin typeface="Century Gothic" panose="020B0502020202020204" pitchFamily="34" charset="0"/>
              </a:rPr>
              <a:t>¿Cómo sería posible graficar los movimientos de este crédito para usted?</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6</a:t>
            </a:fld>
            <a:endParaRPr lang="en-US" sz="2000" b="1">
              <a:latin typeface="Century Gothic" panose="020B0502020202020204" pitchFamily="34" charset="0"/>
            </a:endParaRPr>
          </a:p>
        </p:txBody>
      </p:sp>
      <p:sp>
        <p:nvSpPr>
          <p:cNvPr id="10" name="Rectángulo 9"/>
          <p:cNvSpPr/>
          <p:nvPr/>
        </p:nvSpPr>
        <p:spPr>
          <a:xfrm>
            <a:off x="629427" y="2088015"/>
            <a:ext cx="2459328"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Anticipado</a:t>
            </a:r>
          </a:p>
        </p:txBody>
      </p:sp>
      <p:sp>
        <p:nvSpPr>
          <p:cNvPr id="3" name="Rectángulo 2"/>
          <p:cNvSpPr/>
          <p:nvPr/>
        </p:nvSpPr>
        <p:spPr>
          <a:xfrm>
            <a:off x="1747770" y="2713342"/>
            <a:ext cx="8696460" cy="646331"/>
          </a:xfrm>
          <a:prstGeom prst="rect">
            <a:avLst/>
          </a:prstGeom>
        </p:spPr>
        <p:txBody>
          <a:bodyPr wrap="square">
            <a:spAutoFit/>
          </a:bodyPr>
          <a:lstStyle/>
          <a:p>
            <a:pPr algn="ctr"/>
            <a:r>
              <a:rPr lang="es-CO">
                <a:solidFill>
                  <a:schemeClr val="accent1"/>
                </a:solidFill>
                <a:latin typeface="Century Gothic" panose="020B0502020202020204" pitchFamily="34" charset="0"/>
              </a:rPr>
              <a:t>Se dice que hay una tasa de interés anticipada cuando los intereses se causan al inicio de cada periodo de capitalización.</a:t>
            </a:r>
          </a:p>
        </p:txBody>
      </p:sp>
      <p:sp>
        <p:nvSpPr>
          <p:cNvPr id="11" name="Rectángulo 10"/>
          <p:cNvSpPr/>
          <p:nvPr/>
        </p:nvSpPr>
        <p:spPr>
          <a:xfrm>
            <a:off x="688072" y="3594638"/>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1.2.</a:t>
            </a:r>
            <a:endParaRPr lang="es-CO" sz="2000" b="1">
              <a:solidFill>
                <a:srgbClr val="C00000"/>
              </a:solidFill>
              <a:latin typeface="Century Gothic" panose="020B0502020202020204" pitchFamily="34" charset="0"/>
            </a:endParaRPr>
          </a:p>
        </p:txBody>
      </p:sp>
      <p:cxnSp>
        <p:nvCxnSpPr>
          <p:cNvPr id="12" name="Straight Connector 4"/>
          <p:cNvCxnSpPr/>
          <p:nvPr/>
        </p:nvCxnSpPr>
        <p:spPr>
          <a:xfrm>
            <a:off x="8035702" y="4951261"/>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6"/>
          <p:cNvCxnSpPr/>
          <p:nvPr/>
        </p:nvCxnSpPr>
        <p:spPr>
          <a:xfrm>
            <a:off x="10029055" y="49486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8"/>
          <p:cNvCxnSpPr>
            <a:endCxn id="18" idx="2"/>
          </p:cNvCxnSpPr>
          <p:nvPr/>
        </p:nvCxnSpPr>
        <p:spPr>
          <a:xfrm flipH="1" flipV="1">
            <a:off x="8035702" y="41873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3"/>
          <p:cNvSpPr>
            <a:spLocks/>
          </p:cNvSpPr>
          <p:nvPr/>
        </p:nvSpPr>
        <p:spPr bwMode="auto">
          <a:xfrm flipH="1">
            <a:off x="7793572" y="48644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16" name="Rectangle 15"/>
          <p:cNvSpPr>
            <a:spLocks/>
          </p:cNvSpPr>
          <p:nvPr/>
        </p:nvSpPr>
        <p:spPr bwMode="auto">
          <a:xfrm>
            <a:off x="9860526" y="46550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7" name="Rectangle 21"/>
          <p:cNvSpPr>
            <a:spLocks/>
          </p:cNvSpPr>
          <p:nvPr/>
        </p:nvSpPr>
        <p:spPr bwMode="auto">
          <a:xfrm>
            <a:off x="9246089" y="574124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18" name="Rectangle 23"/>
          <p:cNvSpPr>
            <a:spLocks/>
          </p:cNvSpPr>
          <p:nvPr/>
        </p:nvSpPr>
        <p:spPr bwMode="auto">
          <a:xfrm>
            <a:off x="7252736" y="39411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sp>
        <p:nvSpPr>
          <p:cNvPr id="19" name="Rectángulo 18"/>
          <p:cNvSpPr/>
          <p:nvPr/>
        </p:nvSpPr>
        <p:spPr>
          <a:xfrm>
            <a:off x="6725640" y="5589946"/>
            <a:ext cx="2598230" cy="646331"/>
          </a:xfrm>
          <a:prstGeom prst="rect">
            <a:avLst/>
          </a:prstGeom>
        </p:spPr>
        <p:txBody>
          <a:bodyPr wrap="square">
            <a:spAutoFit/>
          </a:bodyPr>
          <a:lstStyle/>
          <a:p>
            <a:pPr algn="ctr"/>
            <a:r>
              <a:rPr lang="es-ES_tradnl" sz="1200">
                <a:solidFill>
                  <a:srgbClr val="FF0000"/>
                </a:solidFill>
                <a:latin typeface="Century Gothic" panose="020B0502020202020204" pitchFamily="34" charset="0"/>
              </a:rPr>
              <a:t>El banco realmente entregará 450 al momento del desembolso.</a:t>
            </a:r>
            <a:endParaRPr lang="es-CO" sz="1200">
              <a:solidFill>
                <a:srgbClr val="FF0000"/>
              </a:solidFill>
              <a:latin typeface="Century Gothic" panose="020B0502020202020204" pitchFamily="34" charset="0"/>
            </a:endParaRPr>
          </a:p>
        </p:txBody>
      </p:sp>
      <p:cxnSp>
        <p:nvCxnSpPr>
          <p:cNvPr id="22" name="Straight Arrow Connector 6"/>
          <p:cNvCxnSpPr/>
          <p:nvPr/>
        </p:nvCxnSpPr>
        <p:spPr>
          <a:xfrm>
            <a:off x="8035702" y="4993811"/>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1"/>
          <p:cNvSpPr>
            <a:spLocks/>
          </p:cNvSpPr>
          <p:nvPr/>
        </p:nvSpPr>
        <p:spPr bwMode="auto">
          <a:xfrm>
            <a:off x="7257342" y="534497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sp>
        <p:nvSpPr>
          <p:cNvPr id="20" name="Rectángulo 19">
            <a:extLst>
              <a:ext uri="{FF2B5EF4-FFF2-40B4-BE49-F238E27FC236}">
                <a16:creationId xmlns:a16="http://schemas.microsoft.com/office/drawing/2014/main" id="{23B48CC1-E694-AB6D-CAF5-D0F7C8D4581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EA79CD48-4EFE-0899-5026-C4DA03E2B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4693A54-B0B7-143A-E6B7-39B3EA95A9D2}"/>
              </a:ext>
            </a:extLst>
          </p:cNvPr>
          <p:cNvSpPr txBox="1"/>
          <p:nvPr/>
        </p:nvSpPr>
        <p:spPr>
          <a:xfrm>
            <a:off x="10104710" y="4752335"/>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7" name="Rectángulo 6">
            <a:extLst>
              <a:ext uri="{FF2B5EF4-FFF2-40B4-BE49-F238E27FC236}">
                <a16:creationId xmlns:a16="http://schemas.microsoft.com/office/drawing/2014/main" id="{6E10AF39-20F0-B309-89D5-26FF80646B8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6851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heckerboard(across)">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5" grpId="0"/>
      <p:bldP spid="16" grpId="0"/>
      <p:bldP spid="17" grpId="0"/>
      <p:bldP spid="18" grpId="0"/>
      <p:bldP spid="19" grpId="0"/>
      <p:bldP spid="25"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p:nvPr>
        </p:nvSpPr>
        <p:spPr>
          <a:xfrm>
            <a:off x="567278" y="860218"/>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1406876" y="4999660"/>
            <a:ext cx="8490745" cy="806025"/>
          </a:xfrm>
        </p:spPr>
        <p:txBody>
          <a:bodyPr>
            <a:normAutofit/>
          </a:bodyPr>
          <a:lstStyle/>
          <a:p>
            <a:pPr marL="0" indent="0" algn="ctr">
              <a:buNone/>
            </a:pPr>
            <a:r>
              <a:rPr lang="es-ES_tradnl" b="1">
                <a:solidFill>
                  <a:srgbClr val="D7A700"/>
                </a:solidFill>
                <a:latin typeface="Century Gothic" panose="020B0502020202020204" pitchFamily="34" charset="0"/>
              </a:rPr>
              <a:t>¿Es lo mismo pagar el interés de manera anticipada que de manera vencida?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7</a:t>
            </a:fld>
            <a:endParaRPr lang="en-US" sz="1800"/>
          </a:p>
        </p:txBody>
      </p:sp>
      <p:sp>
        <p:nvSpPr>
          <p:cNvPr id="46" name="Rectángulo 45"/>
          <p:cNvSpPr/>
          <p:nvPr/>
        </p:nvSpPr>
        <p:spPr>
          <a:xfrm>
            <a:off x="1939594" y="2015042"/>
            <a:ext cx="2135521"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Vencido</a:t>
            </a:r>
          </a:p>
        </p:txBody>
      </p:sp>
      <p:sp>
        <p:nvSpPr>
          <p:cNvPr id="47" name="Rectángulo 46"/>
          <p:cNvSpPr/>
          <p:nvPr/>
        </p:nvSpPr>
        <p:spPr>
          <a:xfrm>
            <a:off x="6695636" y="2024283"/>
            <a:ext cx="2459328"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Anticipado</a:t>
            </a:r>
          </a:p>
        </p:txBody>
      </p:sp>
      <p:cxnSp>
        <p:nvCxnSpPr>
          <p:cNvPr id="55" name="Straight Connector 4"/>
          <p:cNvCxnSpPr/>
          <p:nvPr/>
        </p:nvCxnSpPr>
        <p:spPr>
          <a:xfrm>
            <a:off x="7121304" y="3592539"/>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Arrow Connector 6"/>
          <p:cNvCxnSpPr/>
          <p:nvPr/>
        </p:nvCxnSpPr>
        <p:spPr>
          <a:xfrm>
            <a:off x="9114655" y="3603187"/>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8"/>
          <p:cNvCxnSpPr>
            <a:cxnSpLocks/>
          </p:cNvCxnSpPr>
          <p:nvPr/>
        </p:nvCxnSpPr>
        <p:spPr>
          <a:xfrm flipH="1" flipV="1">
            <a:off x="7121302" y="2841899"/>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58" name="Rectangle 13"/>
          <p:cNvSpPr>
            <a:spLocks/>
          </p:cNvSpPr>
          <p:nvPr/>
        </p:nvSpPr>
        <p:spPr bwMode="auto">
          <a:xfrm flipH="1">
            <a:off x="6879172" y="3519016"/>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59" name="Rectangle 15"/>
          <p:cNvSpPr>
            <a:spLocks/>
          </p:cNvSpPr>
          <p:nvPr/>
        </p:nvSpPr>
        <p:spPr bwMode="auto">
          <a:xfrm>
            <a:off x="8946126" y="33095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60" name="Rectangle 21"/>
          <p:cNvSpPr>
            <a:spLocks/>
          </p:cNvSpPr>
          <p:nvPr/>
        </p:nvSpPr>
        <p:spPr bwMode="auto">
          <a:xfrm>
            <a:off x="8331689" y="4395768"/>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61" name="Rectangle 23"/>
          <p:cNvSpPr>
            <a:spLocks/>
          </p:cNvSpPr>
          <p:nvPr/>
        </p:nvSpPr>
        <p:spPr bwMode="auto">
          <a:xfrm>
            <a:off x="6338336" y="2595678"/>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63" name="Straight Arrow Connector 6"/>
          <p:cNvCxnSpPr/>
          <p:nvPr/>
        </p:nvCxnSpPr>
        <p:spPr>
          <a:xfrm>
            <a:off x="7121302" y="3648336"/>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4" name="Rectangle 21"/>
          <p:cNvSpPr>
            <a:spLocks/>
          </p:cNvSpPr>
          <p:nvPr/>
        </p:nvSpPr>
        <p:spPr bwMode="auto">
          <a:xfrm>
            <a:off x="6342942" y="3999499"/>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cxnSp>
        <p:nvCxnSpPr>
          <p:cNvPr id="65" name="Straight Connector 4"/>
          <p:cNvCxnSpPr/>
          <p:nvPr/>
        </p:nvCxnSpPr>
        <p:spPr>
          <a:xfrm>
            <a:off x="2052898" y="3566414"/>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Arrow Connector 6"/>
          <p:cNvCxnSpPr/>
          <p:nvPr/>
        </p:nvCxnSpPr>
        <p:spPr>
          <a:xfrm>
            <a:off x="4046249" y="35770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8"/>
          <p:cNvCxnSpPr>
            <a:cxnSpLocks/>
          </p:cNvCxnSpPr>
          <p:nvPr/>
        </p:nvCxnSpPr>
        <p:spPr>
          <a:xfrm flipH="1" flipV="1">
            <a:off x="2052896" y="28157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68" name="Rectangle 13"/>
          <p:cNvSpPr>
            <a:spLocks/>
          </p:cNvSpPr>
          <p:nvPr/>
        </p:nvSpPr>
        <p:spPr bwMode="auto">
          <a:xfrm flipH="1">
            <a:off x="1810766" y="34928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69" name="Rectangle 15"/>
          <p:cNvSpPr>
            <a:spLocks/>
          </p:cNvSpPr>
          <p:nvPr/>
        </p:nvSpPr>
        <p:spPr bwMode="auto">
          <a:xfrm>
            <a:off x="3877720" y="32834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70" name="Rectangle 21"/>
          <p:cNvSpPr>
            <a:spLocks/>
          </p:cNvSpPr>
          <p:nvPr/>
        </p:nvSpPr>
        <p:spPr bwMode="auto">
          <a:xfrm>
            <a:off x="3665795" y="403329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71" name="Rectangle 23"/>
          <p:cNvSpPr>
            <a:spLocks/>
          </p:cNvSpPr>
          <p:nvPr/>
        </p:nvSpPr>
        <p:spPr bwMode="auto">
          <a:xfrm>
            <a:off x="1269930" y="25695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72" name="Straight Arrow Connector 6"/>
          <p:cNvCxnSpPr/>
          <p:nvPr/>
        </p:nvCxnSpPr>
        <p:spPr>
          <a:xfrm>
            <a:off x="4046249" y="4261765"/>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3" name="Rectangle 21"/>
          <p:cNvSpPr>
            <a:spLocks/>
          </p:cNvSpPr>
          <p:nvPr/>
        </p:nvSpPr>
        <p:spPr bwMode="auto">
          <a:xfrm>
            <a:off x="3665795" y="4338316"/>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mc:AlternateContent xmlns:mc="http://schemas.openxmlformats.org/markup-compatibility/2006" xmlns:a14="http://schemas.microsoft.com/office/drawing/2010/main">
        <mc:Choice Requires="a14">
          <p:sp>
            <p:nvSpPr>
              <p:cNvPr id="74" name="CuadroTexto 73"/>
              <p:cNvSpPr txBox="1"/>
              <p:nvPr/>
            </p:nvSpPr>
            <p:spPr>
              <a:xfrm>
                <a:off x="7973563" y="2722955"/>
                <a:ext cx="2928109" cy="438390"/>
              </a:xfrm>
              <a:prstGeom prst="rect">
                <a:avLst/>
              </a:prstGeom>
              <a:noFill/>
            </p:spPr>
            <p:txBody>
              <a:bodyPr wrap="none" lIns="0" tIns="0" rIns="0" bIns="0" rtlCol="0">
                <a:spAutoFit/>
              </a:bodyPr>
              <a:lstStyle/>
              <a:p>
                <a:pPr/>
                <a14:m>
                  <m:oMathPara xmlns:m="http://schemas.openxmlformats.org/officeDocument/2006/math">
                    <m:oMath>
                      <m:sSub>
                        <m:sSubPr>
                          <m:ctrlPr>
                            <a:rPr lang="es-CO" sz="1500" b="1" i="0" smtClean="0">
                              <a:solidFill>
                                <a:schemeClr val="accent3">
                                  <a:lumMod val="50000"/>
                                </a:schemeClr>
                              </a:solidFill>
                              <a:latin typeface="Cambria Math" panose="02040503050406030204" pitchFamily="18" charset="0"/>
                            </a:rPr>
                          </m:ctrlPr>
                        </m:sSubPr>
                        <m:e>
                          <m:r>
                            <a:rPr lang="es-CO" sz="1500" b="1" i="0" smtClean="0">
                              <a:solidFill>
                                <a:schemeClr val="accent3">
                                  <a:lumMod val="50000"/>
                                </a:schemeClr>
                              </a:solidFill>
                              <a:latin typeface="Cambria Math" panose="02040503050406030204" pitchFamily="18" charset="0"/>
                            </a:rPr>
                            <m:t>𝐢</m:t>
                          </m:r>
                        </m:e>
                        <m:sub>
                          <m:r>
                            <a:rPr lang="es-CO" sz="1500" b="1" i="0" smtClean="0">
                              <a:solidFill>
                                <a:schemeClr val="accent3">
                                  <a:lumMod val="50000"/>
                                </a:schemeClr>
                              </a:solidFill>
                              <a:latin typeface="Cambria Math" panose="02040503050406030204" pitchFamily="18" charset="0"/>
                            </a:rPr>
                            <m:t>𝐄𝐟𝐞𝐜𝐭𝐢𝐯𝐚</m:t>
                          </m:r>
                        </m:sub>
                      </m:sSub>
                      <m:r>
                        <a:rPr lang="es-CO" sz="1500" b="1" i="0" smtClean="0">
                          <a:solidFill>
                            <a:schemeClr val="accent3">
                              <a:lumMod val="50000"/>
                            </a:schemeClr>
                          </a:solidFill>
                          <a:latin typeface="Cambria Math" panose="02040503050406030204" pitchFamily="18" charset="0"/>
                        </a:rPr>
                        <m:t>=</m:t>
                      </m:r>
                      <m:f>
                        <m:fPr>
                          <m:ctrlPr>
                            <a:rPr lang="es-CO" sz="1500" b="1" i="0" smtClean="0">
                              <a:solidFill>
                                <a:schemeClr val="accent3">
                                  <a:lumMod val="50000"/>
                                </a:schemeClr>
                              </a:solidFill>
                              <a:latin typeface="Cambria Math" panose="02040503050406030204" pitchFamily="18" charset="0"/>
                            </a:rPr>
                          </m:ctrlPr>
                        </m:fPr>
                        <m:num>
                          <m:r>
                            <a:rPr lang="es-CO" sz="1500" b="1" i="0" smtClean="0">
                              <a:solidFill>
                                <a:schemeClr val="accent3">
                                  <a:lumMod val="50000"/>
                                </a:schemeClr>
                              </a:solidFill>
                              <a:latin typeface="Cambria Math" panose="02040503050406030204" pitchFamily="18" charset="0"/>
                            </a:rPr>
                            <m:t>𝟓𝟎𝟎</m:t>
                          </m:r>
                        </m:num>
                        <m:den>
                          <m:r>
                            <a:rPr lang="es-CO" sz="1500" b="1" i="0" smtClean="0">
                              <a:solidFill>
                                <a:schemeClr val="accent3">
                                  <a:lumMod val="50000"/>
                                </a:schemeClr>
                              </a:solidFill>
                              <a:latin typeface="Cambria Math" panose="02040503050406030204" pitchFamily="18" charset="0"/>
                            </a:rPr>
                            <m:t>𝟒𝟓𝟎</m:t>
                          </m:r>
                        </m:den>
                      </m:f>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𝟏𝟏</m:t>
                      </m:r>
                      <m:r>
                        <a:rPr lang="es-CO" sz="1500" b="1" i="0" smtClean="0">
                          <a:solidFill>
                            <a:schemeClr val="accent3">
                              <a:lumMod val="50000"/>
                            </a:schemeClr>
                          </a:solidFill>
                          <a:latin typeface="Cambria Math" panose="02040503050406030204" pitchFamily="18" charset="0"/>
                        </a:rPr>
                        <m:t>% </m:t>
                      </m:r>
                      <m:r>
                        <a:rPr lang="es-CO" sz="1500" b="1" i="0" smtClean="0">
                          <a:solidFill>
                            <a:schemeClr val="accent3">
                              <a:lumMod val="50000"/>
                            </a:schemeClr>
                          </a:solidFill>
                          <a:latin typeface="Cambria Math" panose="02040503050406030204" pitchFamily="18" charset="0"/>
                        </a:rPr>
                        <m:t>𝐄𝐀</m:t>
                      </m:r>
                    </m:oMath>
                  </m:oMathPara>
                </a14:m>
                <a:endParaRPr lang="es-CO" sz="1500" b="1">
                  <a:solidFill>
                    <a:schemeClr val="accent3">
                      <a:lumMod val="50000"/>
                    </a:schemeClr>
                  </a:solidFill>
                </a:endParaRPr>
              </a:p>
            </p:txBody>
          </p:sp>
        </mc:Choice>
        <mc:Fallback xmlns="">
          <p:sp>
            <p:nvSpPr>
              <p:cNvPr id="74" name="CuadroTexto 73"/>
              <p:cNvSpPr txBox="1">
                <a:spLocks noRot="1" noChangeAspect="1" noMove="1" noResize="1" noEditPoints="1" noAdjustHandles="1" noChangeArrowheads="1" noChangeShapeType="1" noTextEdit="1"/>
              </p:cNvSpPr>
              <p:nvPr/>
            </p:nvSpPr>
            <p:spPr>
              <a:xfrm>
                <a:off x="7973563" y="2722955"/>
                <a:ext cx="2928109" cy="438390"/>
              </a:xfrm>
              <a:prstGeom prst="rect">
                <a:avLst/>
              </a:prstGeom>
              <a:blipFill>
                <a:blip r:embed="rId2"/>
                <a:stretch>
                  <a:fillRect b="-1388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5" name="CuadroTexto 74"/>
              <p:cNvSpPr txBox="1"/>
              <p:nvPr/>
            </p:nvSpPr>
            <p:spPr>
              <a:xfrm>
                <a:off x="2915913" y="2722955"/>
                <a:ext cx="2625142" cy="438390"/>
              </a:xfrm>
              <a:prstGeom prst="rect">
                <a:avLst/>
              </a:prstGeom>
              <a:noFill/>
            </p:spPr>
            <p:txBody>
              <a:bodyPr wrap="none" lIns="0" tIns="0" rIns="0" bIns="0" rtlCol="0">
                <a:spAutoFit/>
              </a:bodyPr>
              <a:lstStyle/>
              <a:p>
                <a:pPr/>
                <a14:m>
                  <m:oMathPara xmlns:m="http://schemas.openxmlformats.org/officeDocument/2006/math">
                    <m:oMath>
                      <m:sSub>
                        <m:sSubPr>
                          <m:ctrlPr>
                            <a:rPr lang="es-CO" sz="1500" b="1" i="0" smtClean="0">
                              <a:solidFill>
                                <a:schemeClr val="accent3">
                                  <a:lumMod val="50000"/>
                                </a:schemeClr>
                              </a:solidFill>
                              <a:latin typeface="Cambria Math" panose="02040503050406030204" pitchFamily="18" charset="0"/>
                            </a:rPr>
                          </m:ctrlPr>
                        </m:sSubPr>
                        <m:e>
                          <m:r>
                            <a:rPr lang="es-CO" sz="1500" b="1" i="0" smtClean="0">
                              <a:solidFill>
                                <a:schemeClr val="accent3">
                                  <a:lumMod val="50000"/>
                                </a:schemeClr>
                              </a:solidFill>
                              <a:latin typeface="Cambria Math" panose="02040503050406030204" pitchFamily="18" charset="0"/>
                            </a:rPr>
                            <m:t>𝐢</m:t>
                          </m:r>
                        </m:e>
                        <m:sub>
                          <m:r>
                            <a:rPr lang="es-CO" sz="1500" b="1" i="0" smtClean="0">
                              <a:solidFill>
                                <a:schemeClr val="accent3">
                                  <a:lumMod val="50000"/>
                                </a:schemeClr>
                              </a:solidFill>
                              <a:latin typeface="Cambria Math" panose="02040503050406030204" pitchFamily="18" charset="0"/>
                            </a:rPr>
                            <m:t>𝐄𝐟𝐞𝐜𝐭𝐢𝐯𝐚</m:t>
                          </m:r>
                        </m:sub>
                      </m:sSub>
                      <m:r>
                        <a:rPr lang="es-CO" sz="1500" b="1" i="0" smtClean="0">
                          <a:solidFill>
                            <a:schemeClr val="accent3">
                              <a:lumMod val="50000"/>
                            </a:schemeClr>
                          </a:solidFill>
                          <a:latin typeface="Cambria Math" panose="02040503050406030204" pitchFamily="18" charset="0"/>
                        </a:rPr>
                        <m:t>=</m:t>
                      </m:r>
                      <m:f>
                        <m:fPr>
                          <m:ctrlPr>
                            <a:rPr lang="es-CO" sz="1500" b="1" i="0" smtClean="0">
                              <a:solidFill>
                                <a:schemeClr val="accent3">
                                  <a:lumMod val="50000"/>
                                </a:schemeClr>
                              </a:solidFill>
                              <a:latin typeface="Cambria Math" panose="02040503050406030204" pitchFamily="18" charset="0"/>
                            </a:rPr>
                          </m:ctrlPr>
                        </m:fPr>
                        <m:num>
                          <m:r>
                            <a:rPr lang="es-CO" sz="1500" b="1" i="0" smtClean="0">
                              <a:solidFill>
                                <a:schemeClr val="accent3">
                                  <a:lumMod val="50000"/>
                                </a:schemeClr>
                              </a:solidFill>
                              <a:latin typeface="Cambria Math" panose="02040503050406030204" pitchFamily="18" charset="0"/>
                            </a:rPr>
                            <m:t>𝟓𝟓𝟎</m:t>
                          </m:r>
                        </m:num>
                        <m:den>
                          <m:r>
                            <a:rPr lang="es-CO" sz="1500" b="1" i="0" smtClean="0">
                              <a:solidFill>
                                <a:schemeClr val="accent3">
                                  <a:lumMod val="50000"/>
                                </a:schemeClr>
                              </a:solidFill>
                              <a:latin typeface="Cambria Math" panose="02040503050406030204" pitchFamily="18" charset="0"/>
                            </a:rPr>
                            <m:t>𝟓𝟎𝟎</m:t>
                          </m:r>
                        </m:den>
                      </m:f>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𝟏𝟎</m:t>
                      </m:r>
                      <m:r>
                        <a:rPr lang="es-CO" sz="1500" b="1" i="0" smtClean="0">
                          <a:solidFill>
                            <a:schemeClr val="accent3">
                              <a:lumMod val="50000"/>
                            </a:schemeClr>
                          </a:solidFill>
                          <a:latin typeface="Cambria Math" panose="02040503050406030204" pitchFamily="18" charset="0"/>
                        </a:rPr>
                        <m:t>% </m:t>
                      </m:r>
                      <m:r>
                        <a:rPr lang="es-CO" sz="1500" b="1" i="0" smtClean="0">
                          <a:solidFill>
                            <a:schemeClr val="accent3">
                              <a:lumMod val="50000"/>
                            </a:schemeClr>
                          </a:solidFill>
                          <a:latin typeface="Cambria Math" panose="02040503050406030204" pitchFamily="18" charset="0"/>
                        </a:rPr>
                        <m:t>𝐄𝐀</m:t>
                      </m:r>
                    </m:oMath>
                  </m:oMathPara>
                </a14:m>
                <a:endParaRPr lang="es-CO" sz="1500" b="1">
                  <a:solidFill>
                    <a:schemeClr val="accent3">
                      <a:lumMod val="50000"/>
                    </a:schemeClr>
                  </a:solidFill>
                </a:endParaRPr>
              </a:p>
            </p:txBody>
          </p:sp>
        </mc:Choice>
        <mc:Fallback xmlns="">
          <p:sp>
            <p:nvSpPr>
              <p:cNvPr id="75" name="CuadroTexto 74"/>
              <p:cNvSpPr txBox="1">
                <a:spLocks noRot="1" noChangeAspect="1" noMove="1" noResize="1" noEditPoints="1" noAdjustHandles="1" noChangeArrowheads="1" noChangeShapeType="1" noTextEdit="1"/>
              </p:cNvSpPr>
              <p:nvPr/>
            </p:nvSpPr>
            <p:spPr>
              <a:xfrm>
                <a:off x="2915913" y="2722955"/>
                <a:ext cx="2625142" cy="438390"/>
              </a:xfrm>
              <a:prstGeom prst="rect">
                <a:avLst/>
              </a:prstGeom>
              <a:blipFill>
                <a:blip r:embed="rId3"/>
                <a:stretch>
                  <a:fillRect b="-13889"/>
                </a:stretch>
              </a:blipFill>
            </p:spPr>
            <p:txBody>
              <a:bodyPr/>
              <a:lstStyle/>
              <a:p>
                <a:r>
                  <a:rPr lang="es-ES_tradnl">
                    <a:noFill/>
                  </a:rPr>
                  <a:t> </a:t>
                </a:r>
              </a:p>
            </p:txBody>
          </p:sp>
        </mc:Fallback>
      </mc:AlternateContent>
      <p:sp>
        <p:nvSpPr>
          <p:cNvPr id="2" name="Rectángulo 1">
            <a:extLst>
              <a:ext uri="{FF2B5EF4-FFF2-40B4-BE49-F238E27FC236}">
                <a16:creationId xmlns:a16="http://schemas.microsoft.com/office/drawing/2014/main" id="{493818FC-D401-FD01-5434-570439FB08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B0BFAF94-FE76-579E-82FA-9BAAD1DC7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794B13D6-2302-7170-6DDC-494D00137CD7}"/>
              </a:ext>
            </a:extLst>
          </p:cNvPr>
          <p:cNvSpPr txBox="1"/>
          <p:nvPr/>
        </p:nvSpPr>
        <p:spPr>
          <a:xfrm>
            <a:off x="4075115" y="3404789"/>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9" name="CuadroTexto 8">
            <a:extLst>
              <a:ext uri="{FF2B5EF4-FFF2-40B4-BE49-F238E27FC236}">
                <a16:creationId xmlns:a16="http://schemas.microsoft.com/office/drawing/2014/main" id="{591177B1-D444-0345-2604-5B0174E8845A}"/>
              </a:ext>
            </a:extLst>
          </p:cNvPr>
          <p:cNvSpPr txBox="1"/>
          <p:nvPr/>
        </p:nvSpPr>
        <p:spPr>
          <a:xfrm>
            <a:off x="9225057" y="3416459"/>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10" name="Rectángulo 9">
            <a:extLst>
              <a:ext uri="{FF2B5EF4-FFF2-40B4-BE49-F238E27FC236}">
                <a16:creationId xmlns:a16="http://schemas.microsoft.com/office/drawing/2014/main" id="{DC3CA1A5-393B-FEA7-06AD-561A1A5135C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3222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4" grpId="0"/>
      <p:bldP spid="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86155" y="8073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408329" y="3552540"/>
            <a:ext cx="7610476" cy="914400"/>
          </a:xfrm>
        </p:spPr>
        <p:txBody>
          <a:bodyPr>
            <a:normAutofit/>
          </a:bodyPr>
          <a:lstStyle/>
          <a:p>
            <a:pPr algn="just"/>
            <a:r>
              <a:rPr lang="es-ES_tradnl">
                <a:latin typeface="Century Gothic" panose="020B0502020202020204" pitchFamily="34" charset="0"/>
              </a:rPr>
              <a:t>¿Cuál era la tasa efectiva?</a:t>
            </a:r>
          </a:p>
          <a:p>
            <a:pPr marL="0" indent="0" algn="ctr">
              <a:buNone/>
            </a:pPr>
            <a:r>
              <a:rPr lang="es-ES_tradnl" b="1">
                <a:solidFill>
                  <a:srgbClr val="C00000"/>
                </a:solidFill>
                <a:latin typeface="Century Gothic" panose="020B0502020202020204" pitchFamily="34" charset="0"/>
              </a:rPr>
              <a:t>11,11%</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8</a:t>
            </a:fld>
            <a:endParaRPr lang="en-US" sz="2000" b="1">
              <a:latin typeface="Century Gothic" panose="020B0502020202020204" pitchFamily="34" charset="0"/>
            </a:endParaRPr>
          </a:p>
        </p:txBody>
      </p:sp>
      <p:sp>
        <p:nvSpPr>
          <p:cNvPr id="2" name="Rectángulo 1"/>
          <p:cNvSpPr/>
          <p:nvPr/>
        </p:nvSpPr>
        <p:spPr>
          <a:xfrm>
            <a:off x="817581" y="4727600"/>
            <a:ext cx="10305826" cy="646331"/>
          </a:xfrm>
          <a:prstGeom prst="rect">
            <a:avLst/>
          </a:prstGeom>
        </p:spPr>
        <p:txBody>
          <a:bodyPr wrap="square">
            <a:spAutoFit/>
          </a:bodyPr>
          <a:lstStyle/>
          <a:p>
            <a:pPr algn="ctr"/>
            <a:r>
              <a:rPr lang="es-ES_tradnl" b="1">
                <a:solidFill>
                  <a:srgbClr val="D7A700"/>
                </a:solidFill>
                <a:latin typeface="Century Gothic" panose="020B0502020202020204" pitchFamily="34" charset="0"/>
              </a:rPr>
              <a:t>Esto se debe a que es mejor recibir un peso hoy que un peso mañana o, por el contrario, es mejor pagar un peso mañana que pagarlo hoy.</a:t>
            </a:r>
          </a:p>
        </p:txBody>
      </p:sp>
      <p:sp>
        <p:nvSpPr>
          <p:cNvPr id="3" name="Rectángulo 2">
            <a:extLst>
              <a:ext uri="{FF2B5EF4-FFF2-40B4-BE49-F238E27FC236}">
                <a16:creationId xmlns:a16="http://schemas.microsoft.com/office/drawing/2014/main" id="{3B844051-9541-0E87-9141-454DE7E65AD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3E4C8B69-574B-4D79-8194-CC8CB88A0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13C7C84E-AA9C-EAC0-C5E3-379814FC9DC0}"/>
              </a:ext>
            </a:extLst>
          </p:cNvPr>
          <p:cNvSpPr txBox="1"/>
          <p:nvPr/>
        </p:nvSpPr>
        <p:spPr>
          <a:xfrm>
            <a:off x="2408329" y="2723099"/>
            <a:ext cx="6100174" cy="369332"/>
          </a:xfrm>
          <a:prstGeom prst="rect">
            <a:avLst/>
          </a:prstGeom>
          <a:noFill/>
        </p:spPr>
        <p:txBody>
          <a:bodyPr wrap="square">
            <a:spAutoFit/>
          </a:bodyPr>
          <a:lstStyle/>
          <a:p>
            <a:pPr marL="285750" indent="-285750" algn="just">
              <a:buClr>
                <a:schemeClr val="accent2"/>
              </a:buClr>
              <a:buFont typeface="Wingdings" pitchFamily="2" charset="2"/>
              <a:buChar char="§"/>
            </a:pPr>
            <a:r>
              <a:rPr lang="es-ES_tradnl">
                <a:latin typeface="Century Gothic" panose="020B0502020202020204" pitchFamily="34" charset="0"/>
              </a:rPr>
              <a:t>¿Cuál era la tasa anticipada?</a:t>
            </a:r>
          </a:p>
        </p:txBody>
      </p:sp>
      <p:sp>
        <p:nvSpPr>
          <p:cNvPr id="14" name="CuadroTexto 13">
            <a:extLst>
              <a:ext uri="{FF2B5EF4-FFF2-40B4-BE49-F238E27FC236}">
                <a16:creationId xmlns:a16="http://schemas.microsoft.com/office/drawing/2014/main" id="{B84CBD5F-0125-B90E-0E8A-3EC7BEDCD9D6}"/>
              </a:ext>
            </a:extLst>
          </p:cNvPr>
          <p:cNvSpPr txBox="1"/>
          <p:nvPr/>
        </p:nvSpPr>
        <p:spPr>
          <a:xfrm>
            <a:off x="5745454" y="3137819"/>
            <a:ext cx="6100174" cy="369332"/>
          </a:xfrm>
          <a:prstGeom prst="rect">
            <a:avLst/>
          </a:prstGeom>
          <a:noFill/>
        </p:spPr>
        <p:txBody>
          <a:bodyPr wrap="square">
            <a:spAutoFit/>
          </a:bodyPr>
          <a:lstStyle/>
          <a:p>
            <a:r>
              <a:rPr lang="es-ES_tradnl" b="1">
                <a:solidFill>
                  <a:srgbClr val="C00000"/>
                </a:solidFill>
                <a:latin typeface="Century Gothic" panose="020B0502020202020204" pitchFamily="34" charset="0"/>
              </a:rPr>
              <a:t> 10%</a:t>
            </a:r>
            <a:endParaRPr lang="es-CO"/>
          </a:p>
        </p:txBody>
      </p:sp>
      <p:sp>
        <p:nvSpPr>
          <p:cNvPr id="5" name="Rectángulo 4">
            <a:extLst>
              <a:ext uri="{FF2B5EF4-FFF2-40B4-BE49-F238E27FC236}">
                <a16:creationId xmlns:a16="http://schemas.microsoft.com/office/drawing/2014/main" id="{029C5A8C-8E1D-B7AB-3669-3467C5A0891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26" name="Picture 2" descr="Dónde invertir con interés compuesto? - GENERAMÁS">
            <a:extLst>
              <a:ext uri="{FF2B5EF4-FFF2-40B4-BE49-F238E27FC236}">
                <a16:creationId xmlns:a16="http://schemas.microsoft.com/office/drawing/2014/main" id="{30C80FDA-A5A0-548D-1423-897FF0FEF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3006" y="1918228"/>
            <a:ext cx="2929839" cy="226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77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19" dur="500"/>
                                        <p:tgtEl>
                                          <p:spTgt spid="6">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86155" y="8073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352211" y="1889227"/>
            <a:ext cx="7610476" cy="799997"/>
          </a:xfrm>
        </p:spPr>
        <p:txBody>
          <a:bodyPr>
            <a:normAutofit/>
          </a:bodyPr>
          <a:lstStyle/>
          <a:p>
            <a:pPr marL="0" indent="0" algn="ctr">
              <a:buNone/>
            </a:pPr>
            <a:r>
              <a:rPr lang="es-ES_tradnl" sz="2000" b="1">
                <a:solidFill>
                  <a:srgbClr val="C00000"/>
                </a:solidFill>
                <a:latin typeface="Century Gothic" panose="020B0502020202020204" pitchFamily="34" charset="0"/>
              </a:rPr>
              <a:t>¿Las tasas de interés anticipadas son efectivas?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9</a:t>
            </a:fld>
            <a:endParaRPr lang="en-US" sz="2000" b="1">
              <a:latin typeface="Century Gothic" panose="020B0502020202020204" pitchFamily="34" charset="0"/>
            </a:endParaRPr>
          </a:p>
        </p:txBody>
      </p:sp>
      <p:pic>
        <p:nvPicPr>
          <p:cNvPr id="12" name="Picture 2" descr="Resultado de imagen para decision"/>
          <p:cNvPicPr>
            <a:picLocks noChangeAspect="1" noChangeArrowheads="1"/>
          </p:cNvPicPr>
          <p:nvPr/>
        </p:nvPicPr>
        <p:blipFill rotWithShape="1">
          <a:blip r:embed="rId2">
            <a:clrChange>
              <a:clrFrom>
                <a:srgbClr val="A6D2C5"/>
              </a:clrFrom>
              <a:clrTo>
                <a:srgbClr val="A6D2C5">
                  <a:alpha val="0"/>
                </a:srgbClr>
              </a:clrTo>
            </a:clrChange>
            <a:extLst>
              <a:ext uri="{28A0092B-C50C-407E-A947-70E740481C1C}">
                <a14:useLocalDpi xmlns:a14="http://schemas.microsoft.com/office/drawing/2010/main" val="0"/>
              </a:ext>
            </a:extLst>
          </a:blip>
          <a:srcRect l="37049" r="35829"/>
          <a:stretch/>
        </p:blipFill>
        <p:spPr bwMode="auto">
          <a:xfrm>
            <a:off x="1025027" y="1889227"/>
            <a:ext cx="1327184" cy="296178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p:cNvSpPr/>
          <p:nvPr/>
        </p:nvSpPr>
        <p:spPr>
          <a:xfrm>
            <a:off x="2994641" y="3714229"/>
            <a:ext cx="6202717" cy="1754326"/>
          </a:xfrm>
          <a:prstGeom prst="rect">
            <a:avLst/>
          </a:prstGeom>
        </p:spPr>
        <p:txBody>
          <a:bodyPr wrap="square">
            <a:spAutoFit/>
          </a:bodyPr>
          <a:lstStyle/>
          <a:p>
            <a:pPr marL="457200" indent="-457200" algn="ctr">
              <a:buClr>
                <a:schemeClr val="accent2"/>
              </a:buClr>
              <a:buFont typeface="+mj-lt"/>
              <a:buAutoNum type="arabicPeriod"/>
            </a:pPr>
            <a:r>
              <a:rPr lang="es-ES_tradnl" b="1">
                <a:solidFill>
                  <a:schemeClr val="accent1"/>
                </a:solidFill>
                <a:latin typeface="Century Gothic" panose="020B0502020202020204" pitchFamily="34" charset="0"/>
              </a:rPr>
              <a:t>Toda tasa vencida es una tasa efectiva.</a:t>
            </a: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r>
              <a:rPr lang="es-ES_tradnl" b="1">
                <a:solidFill>
                  <a:schemeClr val="accent1"/>
                </a:solidFill>
                <a:latin typeface="Century Gothic" panose="020B0502020202020204" pitchFamily="34" charset="0"/>
              </a:rPr>
              <a:t>Ninguna tasa anticipada es una tasa efectiva.</a:t>
            </a:r>
          </a:p>
        </p:txBody>
      </p:sp>
      <p:sp>
        <p:nvSpPr>
          <p:cNvPr id="2" name="Rectángulo 1">
            <a:extLst>
              <a:ext uri="{FF2B5EF4-FFF2-40B4-BE49-F238E27FC236}">
                <a16:creationId xmlns:a16="http://schemas.microsoft.com/office/drawing/2014/main" id="{50B374F7-EECE-6E90-55FF-5988B398D8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261AA51-4B2C-566B-12B6-B2E46D717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86DF1DB-040A-79C0-A9A9-9AFF3B7CB1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446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581587" y="1999025"/>
            <a:ext cx="7610476" cy="900929"/>
          </a:xfrm>
        </p:spPr>
        <p:txBody>
          <a:bodyPr>
            <a:normAutofit/>
          </a:bodyPr>
          <a:lstStyle/>
          <a:p>
            <a:pPr marL="0" indent="0" algn="just">
              <a:buNone/>
            </a:pPr>
            <a:r>
              <a:rPr lang="es-ES_tradnl" b="1">
                <a:solidFill>
                  <a:srgbClr val="D7A700"/>
                </a:solidFill>
                <a:latin typeface="Century Gothic" panose="020B0502020202020204" pitchFamily="34" charset="0"/>
              </a:rPr>
              <a:t>¿Cómo se pasa de una tasa anticipada a una tasa vencida?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10</a:t>
            </a:fld>
            <a:endParaRPr lang="en-US" sz="2000" b="1">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 name="CuadroTexto 2"/>
              <p:cNvSpPr txBox="1"/>
              <p:nvPr/>
            </p:nvSpPr>
            <p:spPr>
              <a:xfrm>
                <a:off x="4961499" y="2865195"/>
                <a:ext cx="1957139" cy="946926"/>
              </a:xfrm>
              <a:prstGeom prst="rect">
                <a:avLst/>
              </a:prstGeom>
              <a:noFill/>
            </p:spPr>
            <p:txBody>
              <a:bodyPr wrap="none" lIns="0" tIns="0" rIns="0" bIns="0" rtlCol="0">
                <a:spAutoFit/>
              </a:bodyPr>
              <a:lstStyle/>
              <a:p>
                <a:pPr/>
                <a14:m>
                  <m:oMathPara xmlns:m="http://schemas.openxmlformats.org/officeDocument/2006/math">
                    <m:oMath>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r>
                        <a:rPr lang="es-CO" sz="3000" b="0" i="1" smtClean="0">
                          <a:solidFill>
                            <a:schemeClr val="tx1"/>
                          </a:solidFill>
                          <a:latin typeface="Cambria Math" panose="02040503050406030204" pitchFamily="18" charset="0"/>
                        </a:rPr>
                        <m:t>=</m:t>
                      </m:r>
                      <m:f>
                        <m:fPr>
                          <m:ctrlPr>
                            <a:rPr lang="es-CO" sz="3000" b="0" i="1" smtClean="0">
                              <a:solidFill>
                                <a:schemeClr val="tx1"/>
                              </a:solidFill>
                              <a:latin typeface="Cambria Math" panose="02040503050406030204" pitchFamily="18" charset="0"/>
                            </a:rPr>
                          </m:ctrlPr>
                        </m:fPr>
                        <m:num>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num>
                        <m:den>
                          <m:r>
                            <a:rPr lang="es-CO" sz="3000" b="0" i="1" smtClean="0">
                              <a:solidFill>
                                <a:schemeClr val="tx1"/>
                              </a:solidFill>
                              <a:latin typeface="Cambria Math" panose="02040503050406030204" pitchFamily="18" charset="0"/>
                            </a:rPr>
                            <m:t>1−</m:t>
                          </m:r>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den>
                      </m:f>
                    </m:oMath>
                  </m:oMathPara>
                </a14:m>
                <a:endParaRPr lang="es-CO" sz="3000">
                  <a:solidFill>
                    <a:schemeClr val="tx1"/>
                  </a:solidFill>
                </a:endParaRPr>
              </a:p>
            </p:txBody>
          </p:sp>
        </mc:Choice>
        <mc:Fallback xmlns="">
          <p:sp>
            <p:nvSpPr>
              <p:cNvPr id="3" name="CuadroTexto 2"/>
              <p:cNvSpPr txBox="1">
                <a:spLocks noRot="1" noChangeAspect="1" noMove="1" noResize="1" noEditPoints="1" noAdjustHandles="1" noChangeArrowheads="1" noChangeShapeType="1" noTextEdit="1"/>
              </p:cNvSpPr>
              <p:nvPr/>
            </p:nvSpPr>
            <p:spPr>
              <a:xfrm>
                <a:off x="4961499" y="2865195"/>
                <a:ext cx="1957139" cy="946926"/>
              </a:xfrm>
              <a:prstGeom prst="rect">
                <a:avLst/>
              </a:prstGeom>
              <a:blipFill>
                <a:blip r:embed="rId2"/>
                <a:stretch>
                  <a:fillRect l="-1935" t="-1333" b="-6667"/>
                </a:stretch>
              </a:blipFill>
            </p:spPr>
            <p:txBody>
              <a:bodyPr/>
              <a:lstStyle/>
              <a:p>
                <a:r>
                  <a:rPr lang="es-ES_tradnl">
                    <a:noFill/>
                  </a:rPr>
                  <a:t> </a:t>
                </a:r>
              </a:p>
            </p:txBody>
          </p:sp>
        </mc:Fallback>
      </mc:AlternateContent>
      <p:sp>
        <p:nvSpPr>
          <p:cNvPr id="20" name="Content Placeholder 2"/>
          <p:cNvSpPr txBox="1">
            <a:spLocks/>
          </p:cNvSpPr>
          <p:nvPr/>
        </p:nvSpPr>
        <p:spPr>
          <a:xfrm>
            <a:off x="2655981" y="4008610"/>
            <a:ext cx="7610476" cy="90092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b="1">
                <a:solidFill>
                  <a:srgbClr val="D7A700"/>
                </a:solidFill>
                <a:latin typeface="Century Gothic" panose="020B0502020202020204" pitchFamily="34" charset="0"/>
              </a:rPr>
              <a:t>¿Cómo se pasa de una tasa vencida a una tasa anticipada?</a:t>
            </a:r>
          </a:p>
        </p:txBody>
      </p:sp>
      <mc:AlternateContent xmlns:mc="http://schemas.openxmlformats.org/markup-compatibility/2006" xmlns:a14="http://schemas.microsoft.com/office/drawing/2010/main">
        <mc:Choice Requires="a14">
          <p:sp>
            <p:nvSpPr>
              <p:cNvPr id="21" name="CuadroTexto 20"/>
              <p:cNvSpPr txBox="1"/>
              <p:nvPr/>
            </p:nvSpPr>
            <p:spPr>
              <a:xfrm>
                <a:off x="4961498" y="4909539"/>
                <a:ext cx="1957139" cy="946926"/>
              </a:xfrm>
              <a:prstGeom prst="rect">
                <a:avLst/>
              </a:prstGeom>
              <a:noFill/>
            </p:spPr>
            <p:txBody>
              <a:bodyPr wrap="none" lIns="0" tIns="0" rIns="0" bIns="0" rtlCol="0">
                <a:spAutoFit/>
              </a:bodyPr>
              <a:lstStyle/>
              <a:p>
                <a:pPr/>
                <a14:m>
                  <m:oMathPara xmlns:m="http://schemas.openxmlformats.org/officeDocument/2006/math">
                    <m:oMath>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r>
                        <a:rPr lang="es-CO" sz="3000" b="0" i="1" smtClean="0">
                          <a:solidFill>
                            <a:schemeClr val="tx1"/>
                          </a:solidFill>
                          <a:latin typeface="Cambria Math" panose="02040503050406030204" pitchFamily="18" charset="0"/>
                        </a:rPr>
                        <m:t>=</m:t>
                      </m:r>
                      <m:f>
                        <m:fPr>
                          <m:ctrlPr>
                            <a:rPr lang="es-CO" sz="3000" b="0" i="1" smtClean="0">
                              <a:solidFill>
                                <a:schemeClr val="tx1"/>
                              </a:solidFill>
                              <a:latin typeface="Cambria Math" panose="02040503050406030204" pitchFamily="18" charset="0"/>
                            </a:rPr>
                          </m:ctrlPr>
                        </m:fPr>
                        <m:num>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num>
                        <m:den>
                          <m:r>
                            <a:rPr lang="es-CO" sz="3000" b="0" i="1" smtClean="0">
                              <a:solidFill>
                                <a:schemeClr val="tx1"/>
                              </a:solidFill>
                              <a:latin typeface="Cambria Math" panose="02040503050406030204" pitchFamily="18" charset="0"/>
                            </a:rPr>
                            <m:t>1+</m:t>
                          </m:r>
                          <m:sSub>
                            <m:sSubPr>
                              <m:ctrlPr>
                                <a:rPr lang="es-CO" sz="3000" b="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den>
                      </m:f>
                    </m:oMath>
                  </m:oMathPara>
                </a14:m>
                <a:endParaRPr lang="es-CO" sz="3000">
                  <a:solidFill>
                    <a:schemeClr val="tx1"/>
                  </a:solidFill>
                </a:endParaRPr>
              </a:p>
            </p:txBody>
          </p:sp>
        </mc:Choice>
        <mc:Fallback xmlns="">
          <p:sp>
            <p:nvSpPr>
              <p:cNvPr id="21" name="CuadroTexto 20"/>
              <p:cNvSpPr txBox="1">
                <a:spLocks noRot="1" noChangeAspect="1" noMove="1" noResize="1" noEditPoints="1" noAdjustHandles="1" noChangeArrowheads="1" noChangeShapeType="1" noTextEdit="1"/>
              </p:cNvSpPr>
              <p:nvPr/>
            </p:nvSpPr>
            <p:spPr>
              <a:xfrm>
                <a:off x="4961498" y="4909539"/>
                <a:ext cx="1957139" cy="946926"/>
              </a:xfrm>
              <a:prstGeom prst="rect">
                <a:avLst/>
              </a:prstGeom>
              <a:blipFill>
                <a:blip r:embed="rId3"/>
                <a:stretch>
                  <a:fillRect l="-1935" t="-1316" b="-5263"/>
                </a:stretch>
              </a:blipFill>
            </p:spPr>
            <p:txBody>
              <a:bodyPr/>
              <a:lstStyle/>
              <a:p>
                <a:r>
                  <a:rPr lang="es-ES_tradnl">
                    <a:noFill/>
                  </a:rPr>
                  <a:t> </a:t>
                </a:r>
              </a:p>
            </p:txBody>
          </p:sp>
        </mc:Fallback>
      </mc:AlternateContent>
      <p:sp>
        <p:nvSpPr>
          <p:cNvPr id="2" name="Rectángulo 1">
            <a:extLst>
              <a:ext uri="{FF2B5EF4-FFF2-40B4-BE49-F238E27FC236}">
                <a16:creationId xmlns:a16="http://schemas.microsoft.com/office/drawing/2014/main" id="{7F765641-4E13-15A1-922D-403CA7C4E3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2CE255EA-1DD4-B9EB-4BD2-907AB671A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0762008-8FBD-128A-0479-40AB943E89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56363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ppt_y</p:attrName>
                                        </p:attrNameLst>
                                      </p:cBhvr>
                                      <p:tavLst>
                                        <p:tav tm="0">
                                          <p:val>
                                            <p:strVal val="#ppt_y+#ppt_h*1.125000"/>
                                          </p:val>
                                        </p:tav>
                                        <p:tav tm="100000">
                                          <p:val>
                                            <p:strVal val="#ppt_y"/>
                                          </p:val>
                                        </p:tav>
                                      </p:tavLst>
                                    </p:anim>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checkerboard(across)">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p:tgtEl>
                                          <p:spTgt spid="21"/>
                                        </p:tgtEl>
                                        <p:attrNameLst>
                                          <p:attrName>ppt_y</p:attrName>
                                        </p:attrNameLst>
                                      </p:cBhvr>
                                      <p:tavLst>
                                        <p:tav tm="0">
                                          <p:val>
                                            <p:strVal val="#ppt_y+#ppt_h*1.125000"/>
                                          </p:val>
                                        </p:tav>
                                        <p:tav tm="100000">
                                          <p:val>
                                            <p:strVal val="#ppt_y"/>
                                          </p:val>
                                        </p:tav>
                                      </p:tavLst>
                                    </p:anim>
                                    <p:animEffect transition="in" filter="wipe(up)">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Pregunta 1</a:t>
            </a:r>
          </a:p>
        </p:txBody>
      </p:sp>
      <p:sp>
        <p:nvSpPr>
          <p:cNvPr id="23" name="TPAnswers" title="Answer Text Shape">
            <a:extLst>
              <a:ext uri="{FF2B5EF4-FFF2-40B4-BE49-F238E27FC236}">
                <a16:creationId xmlns:a16="http://schemas.microsoft.com/office/drawing/2014/main" id="{CF06FE8F-1458-E1B3-5AF5-368198D9A63F}"/>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35,53%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13,60 %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36,05%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28,36% EA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11</a:t>
            </a:fld>
            <a:endParaRPr lang="en-US" sz="2000" b="1">
              <a:latin typeface="Century Gothic" panose="020B0502020202020204" pitchFamily="34" charset="0"/>
            </a:endParaRPr>
          </a:p>
        </p:txBody>
      </p:sp>
      <p:sp>
        <p:nvSpPr>
          <p:cNvPr id="13" name="Content Placeholder 2"/>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a:latin typeface="Century Gothic" panose="020B0502020202020204" pitchFamily="34" charset="0"/>
              </a:rPr>
              <a:t>Usted tiene una tasa de 32% NA/TV. ¿Cuál es la tasa efectiva anual?</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83E768DE-20A9-92CD-64E0-DD004A90E3D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236898CA-C079-FA01-BD2E-0E140AEE5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Gráfico 8" descr="Badge Tick1 con relleno sólido">
            <a:extLst>
              <a:ext uri="{FF2B5EF4-FFF2-40B4-BE49-F238E27FC236}">
                <a16:creationId xmlns:a16="http://schemas.microsoft.com/office/drawing/2014/main" id="{3D82C7D3-1924-A5F2-AFE4-0101935C3A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884" y="4117866"/>
            <a:ext cx="590550" cy="590550"/>
          </a:xfrm>
          <a:prstGeom prst="rect">
            <a:avLst/>
          </a:prstGeom>
        </p:spPr>
      </p:pic>
      <p:sp>
        <p:nvSpPr>
          <p:cNvPr id="2" name="Rectángulo 1">
            <a:extLst>
              <a:ext uri="{FF2B5EF4-FFF2-40B4-BE49-F238E27FC236}">
                <a16:creationId xmlns:a16="http://schemas.microsoft.com/office/drawing/2014/main" id="{9B3FFF6E-E43D-253E-C992-FCF47873544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2" descr="Tendencias ineficaces a la hora de resolver problemas">
            <a:extLst>
              <a:ext uri="{FF2B5EF4-FFF2-40B4-BE49-F238E27FC236}">
                <a16:creationId xmlns:a16="http://schemas.microsoft.com/office/drawing/2014/main" id="{22C7730E-B7C8-B884-FF22-9C93C70D20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6279" y="3429000"/>
            <a:ext cx="2823537" cy="171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48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Pregunta 2</a:t>
            </a:r>
          </a:p>
        </p:txBody>
      </p:sp>
      <p:sp>
        <p:nvSpPr>
          <p:cNvPr id="23" name="TPAnswers" title="Answer Text Shape">
            <a:extLst>
              <a:ext uri="{FF2B5EF4-FFF2-40B4-BE49-F238E27FC236}">
                <a16:creationId xmlns:a16="http://schemas.microsoft.com/office/drawing/2014/main" id="{CF06FE8F-1458-E1B3-5AF5-368198D9A63F}"/>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39,59%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40,27%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31,79%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33,09% EA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sp>
        <p:nvSpPr>
          <p:cNvPr id="13" name="Content Placeholder 2"/>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r>
              <a:rPr lang="es-ES_tradnl">
                <a:solidFill>
                  <a:schemeClr val="accent1"/>
                </a:solidFill>
                <a:latin typeface="Century Gothic" panose="020B0502020202020204" pitchFamily="34" charset="0"/>
              </a:rPr>
              <a:t>Usted tiene una tasa de 32% NA/TA. ¿Cuál es la tasa efectiva anual?</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A3168F79-E395-1FF4-6D44-6F2837A206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309FD3FA-1BE0-4D51-2BCF-25FEAE1FD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 name="Gráfico 7" descr="Badge Tick1 con relleno sólido">
            <a:extLst>
              <a:ext uri="{FF2B5EF4-FFF2-40B4-BE49-F238E27FC236}">
                <a16:creationId xmlns:a16="http://schemas.microsoft.com/office/drawing/2014/main" id="{810DED9E-441F-098E-F508-373A694C6A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8268" y="3299728"/>
            <a:ext cx="590550" cy="590550"/>
          </a:xfrm>
          <a:prstGeom prst="rect">
            <a:avLst/>
          </a:prstGeom>
        </p:spPr>
      </p:pic>
      <p:sp>
        <p:nvSpPr>
          <p:cNvPr id="2" name="Rectángulo 1">
            <a:extLst>
              <a:ext uri="{FF2B5EF4-FFF2-40B4-BE49-F238E27FC236}">
                <a16:creationId xmlns:a16="http://schemas.microsoft.com/office/drawing/2014/main" id="{F47B81D4-8D5B-7D77-89BF-B474DC88E1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2" descr="Aprender a resolver problemas | PressCoaching">
            <a:extLst>
              <a:ext uri="{FF2B5EF4-FFF2-40B4-BE49-F238E27FC236}">
                <a16:creationId xmlns:a16="http://schemas.microsoft.com/office/drawing/2014/main" id="{794AA1D7-FE98-DA01-70F8-8047D68814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056676" y="3145902"/>
            <a:ext cx="4493359" cy="2527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99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04093" y="8835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3354378" y="2126243"/>
            <a:ext cx="8465161" cy="3670767"/>
          </a:xfrm>
        </p:spPr>
        <p:txBody>
          <a:bodyPr>
            <a:normAutofit/>
          </a:bodyPr>
          <a:lstStyle/>
          <a:p>
            <a:pPr marL="0" indent="0" algn="just">
              <a:buNone/>
            </a:pPr>
            <a:endParaRPr lang="es-ES_tradnl">
              <a:latin typeface="Century Gothic" panose="020B0502020202020204" pitchFamily="34" charset="0"/>
            </a:endParaRPr>
          </a:p>
          <a:p>
            <a:pPr marL="457200" indent="-457200" algn="just">
              <a:buFont typeface="+mj-lt"/>
              <a:buAutoNum type="arabicPeriod"/>
            </a:pPr>
            <a:r>
              <a:rPr lang="es-ES_tradnl">
                <a:solidFill>
                  <a:schemeClr val="accent1"/>
                </a:solidFill>
                <a:latin typeface="Century Gothic" panose="020B0502020202020204" pitchFamily="34" charset="0"/>
              </a:rPr>
              <a:t>Toda tasa vencida es una tasa efectiva.</a:t>
            </a:r>
          </a:p>
          <a:p>
            <a:pPr marL="457200" indent="-457200" algn="just">
              <a:buFont typeface="+mj-lt"/>
              <a:buAutoNum type="arabicPeriod"/>
            </a:pPr>
            <a:r>
              <a:rPr lang="es-ES_tradnl">
                <a:solidFill>
                  <a:schemeClr val="accent1"/>
                </a:solidFill>
                <a:latin typeface="Century Gothic" panose="020B0502020202020204" pitchFamily="34" charset="0"/>
              </a:rPr>
              <a:t>Ninguna tasa anticipada es efectiva.</a:t>
            </a:r>
          </a:p>
          <a:p>
            <a:pPr marL="457200" indent="-457200" algn="just">
              <a:buFont typeface="+mj-lt"/>
              <a:buAutoNum type="arabicPeriod"/>
            </a:pPr>
            <a:r>
              <a:rPr lang="es-ES_tradnl">
                <a:solidFill>
                  <a:schemeClr val="accent1"/>
                </a:solidFill>
                <a:latin typeface="Century Gothic" panose="020B0502020202020204" pitchFamily="34" charset="0"/>
              </a:rPr>
              <a:t>Una tasa anticipada es más costosa (rentable) que una tasa vencida.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pic>
        <p:nvPicPr>
          <p:cNvPr id="8194" name="Picture 2" descr="Resultado de imagen para lupa"/>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834" r="19322"/>
          <a:stretch/>
        </p:blipFill>
        <p:spPr bwMode="auto">
          <a:xfrm>
            <a:off x="801220" y="2601268"/>
            <a:ext cx="2157631" cy="2458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3354378" y="2700671"/>
            <a:ext cx="1985095" cy="461665"/>
          </a:xfrm>
          <a:prstGeom prst="rect">
            <a:avLst/>
          </a:prstGeom>
        </p:spPr>
        <p:txBody>
          <a:bodyPr wrap="none">
            <a:spAutoFit/>
          </a:bodyPr>
          <a:lstStyle/>
          <a:p>
            <a:pPr algn="just"/>
            <a:r>
              <a:rPr lang="es-ES_tradnl" sz="2400" b="1">
                <a:solidFill>
                  <a:srgbClr val="C00000"/>
                </a:solidFill>
                <a:latin typeface="Century Gothic" panose="020B0502020202020204" pitchFamily="34" charset="0"/>
              </a:rPr>
              <a:t>En resumen:</a:t>
            </a:r>
          </a:p>
        </p:txBody>
      </p:sp>
      <p:sp>
        <p:nvSpPr>
          <p:cNvPr id="3" name="Rectángulo 2">
            <a:extLst>
              <a:ext uri="{FF2B5EF4-FFF2-40B4-BE49-F238E27FC236}">
                <a16:creationId xmlns:a16="http://schemas.microsoft.com/office/drawing/2014/main" id="{C57303D6-835D-EDFA-79F6-E5DDAF3FA0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BC81983B-15B4-C612-B5E1-3A4960D08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73EFEA1-D2FC-C330-88EE-4AD59582E52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27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FE59718-649A-FCEF-CF71-16241DE009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9650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96085" y="4968903"/>
            <a:ext cx="9144000" cy="876726"/>
          </a:xfrm>
        </p:spPr>
        <p:txBody>
          <a:bodyPr>
            <a:normAutofit/>
          </a:bodyPr>
          <a:lstStyle/>
          <a:p>
            <a:pPr marL="0" indent="0" algn="ctr">
              <a:buNone/>
            </a:pPr>
            <a:r>
              <a:rPr lang="es-ES_tradnl" sz="3600" b="1">
                <a:solidFill>
                  <a:srgbClr val="800000"/>
                </a:solidFill>
                <a:latin typeface="Century Gothic" panose="020B0502020202020204" pitchFamily="34" charset="0"/>
              </a:rPr>
              <a:t>Interés Real/Constante</a:t>
            </a:r>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15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00E1E540-1153-A957-1AE8-E58C559D4F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91D56AD0-7428-CE91-68A1-88B5D5AB1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9CBE145-C4FA-046B-8EBF-0F9A76FED6B0}"/>
              </a:ext>
            </a:extLst>
          </p:cNvPr>
          <p:cNvSpPr txBox="1"/>
          <p:nvPr/>
        </p:nvSpPr>
        <p:spPr>
          <a:xfrm>
            <a:off x="6106" y="1889097"/>
            <a:ext cx="6765470" cy="646331"/>
          </a:xfrm>
          <a:prstGeom prst="rect">
            <a:avLst/>
          </a:prstGeom>
          <a:noFill/>
        </p:spPr>
        <p:txBody>
          <a:bodyPr wrap="square">
            <a:spAutoFit/>
          </a:bodyPr>
          <a:lstStyle/>
          <a:p>
            <a:pPr marL="0" indent="0" algn="ctr">
              <a:buNone/>
            </a:pPr>
            <a:r>
              <a:rPr lang="es-ES_tradnl" sz="3600" b="1">
                <a:solidFill>
                  <a:srgbClr val="800000"/>
                </a:solidFill>
                <a:latin typeface="Century Gothic" panose="020B0502020202020204" pitchFamily="34" charset="0"/>
              </a:rPr>
              <a:t>Interés Nominal/Corriente</a:t>
            </a:r>
          </a:p>
        </p:txBody>
      </p:sp>
      <p:pic>
        <p:nvPicPr>
          <p:cNvPr id="8" name="Imagen 7" descr="Vs PNG para descargar gratis">
            <a:extLst>
              <a:ext uri="{FF2B5EF4-FFF2-40B4-BE49-F238E27FC236}">
                <a16:creationId xmlns:a16="http://schemas.microsoft.com/office/drawing/2014/main" id="{D9857FB5-AF06-8634-37F9-7D9B74030BBA}"/>
              </a:ext>
            </a:extLst>
          </p:cNvPr>
          <p:cNvPicPr>
            <a:picLocks noChangeAspect="1"/>
          </p:cNvPicPr>
          <p:nvPr/>
        </p:nvPicPr>
        <p:blipFill>
          <a:blip r:embed="rId3"/>
          <a:stretch>
            <a:fillRect/>
          </a:stretch>
        </p:blipFill>
        <p:spPr>
          <a:xfrm>
            <a:off x="3117142" y="1710874"/>
            <a:ext cx="6633180" cy="4414762"/>
          </a:xfrm>
          <a:prstGeom prst="rect">
            <a:avLst/>
          </a:prstGeom>
        </p:spPr>
      </p:pic>
      <p:sp>
        <p:nvSpPr>
          <p:cNvPr id="5" name="Rectángulo 4">
            <a:extLst>
              <a:ext uri="{FF2B5EF4-FFF2-40B4-BE49-F238E27FC236}">
                <a16:creationId xmlns:a16="http://schemas.microsoft.com/office/drawing/2014/main" id="{CD817D1B-C8C7-5649-E26B-98F9E0ABED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0530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581192" y="2035661"/>
            <a:ext cx="11029615" cy="4605306"/>
          </a:xfrm>
        </p:spPr>
        <p:txBody>
          <a:bodyPr>
            <a:noAutofit/>
          </a:bodyPr>
          <a:lstStyle/>
          <a:p>
            <a:pPr algn="just"/>
            <a:r>
              <a:rPr lang="es-ES">
                <a:solidFill>
                  <a:schemeClr val="accent1"/>
                </a:solidFill>
                <a:latin typeface="Century Gothic" panose="020B0502020202020204" pitchFamily="34" charset="0"/>
              </a:rPr>
              <a:t>En la literatura, el interés </a:t>
            </a:r>
            <a:r>
              <a:rPr lang="es-ES" b="1" u="sng">
                <a:solidFill>
                  <a:schemeClr val="accent1"/>
                </a:solidFill>
                <a:latin typeface="Century Gothic" panose="020B0502020202020204" pitchFamily="34" charset="0"/>
              </a:rPr>
              <a:t>constante</a:t>
            </a:r>
            <a:r>
              <a:rPr lang="es-ES">
                <a:solidFill>
                  <a:schemeClr val="accent1"/>
                </a:solidFill>
                <a:latin typeface="Century Gothic" panose="020B0502020202020204" pitchFamily="34" charset="0"/>
              </a:rPr>
              <a:t> es también llamado </a:t>
            </a:r>
            <a:r>
              <a:rPr lang="es-ES" b="1" u="sng">
                <a:solidFill>
                  <a:schemeClr val="accent1"/>
                </a:solidFill>
                <a:latin typeface="Century Gothic" panose="020B0502020202020204" pitchFamily="34" charset="0"/>
              </a:rPr>
              <a:t>real</a:t>
            </a:r>
            <a:r>
              <a:rPr lang="es-ES">
                <a:solidFill>
                  <a:schemeClr val="accent3">
                    <a:lumMod val="75000"/>
                  </a:schemeClr>
                </a:solidFill>
                <a:latin typeface="Century Gothic" panose="020B0502020202020204" pitchFamily="34" charset="0"/>
              </a:rPr>
              <a:t> </a:t>
            </a:r>
            <a:r>
              <a:rPr lang="es-ES">
                <a:solidFill>
                  <a:schemeClr val="accent1"/>
                </a:solidFill>
                <a:latin typeface="Century Gothic" panose="020B0502020202020204" pitchFamily="34" charset="0"/>
              </a:rPr>
              <a:t>y el interés </a:t>
            </a:r>
            <a:r>
              <a:rPr lang="es-ES" b="1" u="sng">
                <a:solidFill>
                  <a:srgbClr val="D7A700"/>
                </a:solidFill>
                <a:latin typeface="Century Gothic" panose="020B0502020202020204" pitchFamily="34" charset="0"/>
              </a:rPr>
              <a:t>corriente</a:t>
            </a:r>
            <a:r>
              <a:rPr lang="es-ES">
                <a:solidFill>
                  <a:schemeClr val="accent1"/>
                </a:solidFill>
                <a:latin typeface="Century Gothic" panose="020B0502020202020204" pitchFamily="34" charset="0"/>
              </a:rPr>
              <a:t> también se conoce como interés </a:t>
            </a:r>
            <a:r>
              <a:rPr lang="es-ES" b="1" u="sng">
                <a:solidFill>
                  <a:srgbClr val="D7A700"/>
                </a:solidFill>
                <a:latin typeface="Century Gothic" panose="020B0502020202020204" pitchFamily="34" charset="0"/>
              </a:rPr>
              <a:t>nominal</a:t>
            </a:r>
            <a:r>
              <a:rPr lang="es-ES">
                <a:solidFill>
                  <a:schemeClr val="accent1"/>
                </a:solidFill>
                <a:latin typeface="Century Gothic" panose="020B0502020202020204" pitchFamily="34" charset="0"/>
              </a:rPr>
              <a:t>.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Las tasas de interés que corrientemente vemos en el mercado (tasas hipotecarias, créditos de libre inversión, rentabilidad de un fondo de inversión, etc.) son tasas que como ya lo vimos, son tasas superiores a la inflación.</a:t>
            </a:r>
          </a:p>
          <a:p>
            <a:pPr marL="0" indent="0" algn="ctr">
              <a:buNone/>
            </a:pPr>
            <a:endParaRPr lang="es-ES">
              <a:solidFill>
                <a:srgbClr val="800000"/>
              </a:solidFill>
              <a:latin typeface="Century Gothic" panose="020B0502020202020204" pitchFamily="34" charset="0"/>
            </a:endParaRPr>
          </a:p>
          <a:p>
            <a:pPr marL="0" indent="0" algn="ctr">
              <a:buNone/>
            </a:pPr>
            <a:r>
              <a:rPr lang="es-ES" b="1">
                <a:solidFill>
                  <a:srgbClr val="C00000"/>
                </a:solidFill>
                <a:latin typeface="Century Gothic" panose="020B0502020202020204" pitchFamily="34" charset="0"/>
              </a:rPr>
              <a:t>¿Por qué estas tasas son mayores a la inflación?</a:t>
            </a:r>
          </a:p>
          <a:p>
            <a:pPr marL="0" indent="0" algn="ctr">
              <a:buNone/>
            </a:pPr>
            <a:endParaRPr lang="es-ES">
              <a:solidFill>
                <a:srgbClr val="800000"/>
              </a:solidFill>
              <a:latin typeface="Century Gothic" panose="020B0502020202020204" pitchFamily="34" charset="0"/>
            </a:endParaRPr>
          </a:p>
          <a:p>
            <a:pPr algn="just"/>
            <a:r>
              <a:rPr lang="es-ES">
                <a:solidFill>
                  <a:schemeClr val="accent1"/>
                </a:solidFill>
                <a:latin typeface="Century Gothic" panose="020B0502020202020204" pitchFamily="34" charset="0"/>
              </a:rPr>
              <a:t>Las tasas de interés que se ven corrientemente en el mercado tienen </a:t>
            </a:r>
            <a:r>
              <a:rPr lang="es-ES" b="1">
                <a:solidFill>
                  <a:srgbClr val="48BE7A"/>
                </a:solidFill>
                <a:latin typeface="Century Gothic" panose="020B0502020202020204" pitchFamily="34" charset="0"/>
              </a:rPr>
              <a:t>“INCORPORADA” </a:t>
            </a:r>
            <a:r>
              <a:rPr lang="es-ES">
                <a:solidFill>
                  <a:schemeClr val="accent1"/>
                </a:solidFill>
                <a:latin typeface="Century Gothic" panose="020B0502020202020204" pitchFamily="34" charset="0"/>
              </a:rPr>
              <a:t>la inflación. Por ende, se conocen como tasas corrientes o nominales.</a:t>
            </a:r>
          </a:p>
          <a:p>
            <a:pPr algn="just"/>
            <a:endParaRPr lang="es-ES">
              <a:latin typeface="Century Gothic" panose="020B0502020202020204" pitchFamily="34" charset="0"/>
            </a:endParaRPr>
          </a:p>
          <a:p>
            <a:pPr marL="0" indent="0" algn="just">
              <a:buNone/>
            </a:pPr>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16</a:t>
            </a:fld>
            <a:endParaRPr lang="en-US" sz="2000" b="1">
              <a:latin typeface="Century Gothic" panose="020B0502020202020204" pitchFamily="34" charset="0"/>
            </a:endParaRPr>
          </a:p>
        </p:txBody>
      </p:sp>
      <p:sp>
        <p:nvSpPr>
          <p:cNvPr id="9" name="Rectángulo 8">
            <a:extLst>
              <a:ext uri="{FF2B5EF4-FFF2-40B4-BE49-F238E27FC236}">
                <a16:creationId xmlns:a16="http://schemas.microsoft.com/office/drawing/2014/main" id="{EE64ECA0-22E8-59AF-6B6D-B2F756816B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AEE696-1A24-7447-3341-F9A87E3B5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981F8C3-C2BE-86B5-E4DE-1BD8C718136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9117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581192" y="4320988"/>
            <a:ext cx="7060579" cy="1635149"/>
          </a:xfrm>
        </p:spPr>
        <p:txBody>
          <a:bodyPr>
            <a:normAutofit/>
          </a:bodyPr>
          <a:lstStyle/>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Estas tasas no se pueden “ver” </a:t>
            </a:r>
            <a:r>
              <a:rPr lang="es-ES" b="1">
                <a:solidFill>
                  <a:srgbClr val="D7A700"/>
                </a:solidFill>
                <a:latin typeface="Century Gothic" panose="020B0502020202020204" pitchFamily="34" charset="0"/>
              </a:rPr>
              <a:t>directamente</a:t>
            </a:r>
            <a:r>
              <a:rPr lang="es-ES">
                <a:solidFill>
                  <a:schemeClr val="accent1"/>
                </a:solidFill>
                <a:latin typeface="Century Gothic" panose="020B0502020202020204" pitchFamily="34" charset="0"/>
              </a:rPr>
              <a:t> en el mercado.</a:t>
            </a:r>
          </a:p>
          <a:p>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17</a:t>
            </a:fld>
            <a:endParaRPr lang="en-US" sz="2000" b="1">
              <a:latin typeface="Century Gothic" panose="020B0502020202020204" pitchFamily="34" charset="0"/>
            </a:endParaRPr>
          </a:p>
        </p:txBody>
      </p:sp>
      <p:pic>
        <p:nvPicPr>
          <p:cNvPr id="9218" name="Picture 2" descr="Resultado de imagen para pelicula con los ojos vendados"/>
          <p:cNvPicPr>
            <a:picLocks noChangeAspect="1" noChangeArrowheads="1"/>
          </p:cNvPicPr>
          <p:nvPr/>
        </p:nvPicPr>
        <p:blipFill rotWithShape="1">
          <a:blip r:embed="rId2">
            <a:extLst>
              <a:ext uri="{28A0092B-C50C-407E-A947-70E740481C1C}">
                <a14:useLocalDpi xmlns:a14="http://schemas.microsoft.com/office/drawing/2010/main" val="0"/>
              </a:ext>
            </a:extLst>
          </a:blip>
          <a:srcRect l="16625" r="17776"/>
          <a:stretch/>
        </p:blipFill>
        <p:spPr bwMode="auto">
          <a:xfrm>
            <a:off x="8116473" y="2456130"/>
            <a:ext cx="3620900" cy="275983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5741A56-844B-7621-27E8-06AB85372F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A81C03C-3A3A-7258-6AF4-5120FCB30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10CFA7B7-FFA7-EA69-573D-46EAB1F6D3B3}"/>
              </a:ext>
            </a:extLst>
          </p:cNvPr>
          <p:cNvSpPr txBox="1"/>
          <p:nvPr/>
        </p:nvSpPr>
        <p:spPr>
          <a:xfrm>
            <a:off x="581192" y="2635717"/>
            <a:ext cx="7060579" cy="1200329"/>
          </a:xfrm>
          <a:prstGeom prst="rect">
            <a:avLst/>
          </a:prstGeom>
          <a:noFill/>
        </p:spPr>
        <p:txBody>
          <a:bodyPr wrap="square">
            <a:spAutoFit/>
          </a:bodyPr>
          <a:lstStyle/>
          <a:p>
            <a:pPr marL="285750" indent="-285750" algn="just">
              <a:buClr>
                <a:schemeClr val="accent2"/>
              </a:buClr>
              <a:buFont typeface="Wingdings" pitchFamily="2" charset="2"/>
              <a:buChar char="§"/>
            </a:pPr>
            <a:r>
              <a:rPr lang="es-ES">
                <a:solidFill>
                  <a:schemeClr val="accent1"/>
                </a:solidFill>
                <a:latin typeface="Century Gothic" panose="020B0502020202020204" pitchFamily="34" charset="0"/>
              </a:rPr>
              <a:t>Por el contrario, cuando se habla de una tasa de interés en términos </a:t>
            </a:r>
            <a:r>
              <a:rPr lang="es-ES" b="1">
                <a:solidFill>
                  <a:schemeClr val="accent1"/>
                </a:solidFill>
                <a:latin typeface="Century Gothic" panose="020B0502020202020204" pitchFamily="34" charset="0"/>
              </a:rPr>
              <a:t>constantes o reales</a:t>
            </a:r>
            <a:r>
              <a:rPr lang="es-ES">
                <a:solidFill>
                  <a:schemeClr val="accent1"/>
                </a:solidFill>
                <a:latin typeface="Century Gothic" panose="020B0502020202020204" pitchFamily="34" charset="0"/>
              </a:rPr>
              <a:t>, en contraposición a las tasas corrientes, estás son tasas que </a:t>
            </a:r>
            <a:r>
              <a:rPr lang="es-ES" b="1">
                <a:solidFill>
                  <a:srgbClr val="C00000"/>
                </a:solidFill>
                <a:latin typeface="Century Gothic" panose="020B0502020202020204" pitchFamily="34" charset="0"/>
              </a:rPr>
              <a:t>no incorporan el efecto de la inflación.</a:t>
            </a:r>
          </a:p>
        </p:txBody>
      </p:sp>
      <p:sp>
        <p:nvSpPr>
          <p:cNvPr id="5" name="Rectángulo 4">
            <a:extLst>
              <a:ext uri="{FF2B5EF4-FFF2-40B4-BE49-F238E27FC236}">
                <a16:creationId xmlns:a16="http://schemas.microsoft.com/office/drawing/2014/main" id="{C1DE058E-1C9B-B4C2-3548-E295295C2D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0155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9218"/>
                                        </p:tgtEl>
                                        <p:attrNameLst>
                                          <p:attrName>style.visibility</p:attrName>
                                        </p:attrNameLst>
                                      </p:cBhvr>
                                      <p:to>
                                        <p:strVal val="visible"/>
                                      </p:to>
                                    </p:set>
                                    <p:animEffect transition="in" filter="barn(inVertical)">
                                      <p:cBhvr>
                                        <p:cTn id="10"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18</a:t>
            </a:fld>
            <a:endParaRPr lang="en-US" sz="2000" b="1">
              <a:latin typeface="Century Gothic" panose="020B0502020202020204" pitchFamily="34" charset="0"/>
            </a:endParaRPr>
          </a:p>
        </p:txBody>
      </p:sp>
      <p:pic>
        <p:nvPicPr>
          <p:cNvPr id="10" name="Imagen 9"/>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49716642-40EB-2712-4A61-AD8C69F883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6C2F5F4-72A6-C51F-799C-43C6521FF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D1AE07C-0DEB-F5AA-5045-175DB6A601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1EA2EEEB-377F-7D18-EBA8-0E013666A522}"/>
              </a:ext>
            </a:extLst>
          </p:cNvPr>
          <p:cNvSpPr>
            <a:spLocks noGrp="1"/>
          </p:cNvSpPr>
          <p:nvPr>
            <p:ph idx="1"/>
          </p:nvPr>
        </p:nvSpPr>
        <p:spPr>
          <a:xfrm>
            <a:off x="3803363" y="2383331"/>
            <a:ext cx="7060579" cy="1635149"/>
          </a:xfrm>
        </p:spPr>
        <p:txBody>
          <a:bodyPr>
            <a:normAutofit/>
          </a:bodyPr>
          <a:lstStyle/>
          <a:p>
            <a:pPr algn="just"/>
            <a:r>
              <a:rPr lang="es-ES" err="1">
                <a:solidFill>
                  <a:schemeClr val="accent1"/>
                </a:solidFill>
                <a:latin typeface="Century Gothic" panose="020B0502020202020204" pitchFamily="34" charset="0"/>
              </a:rPr>
              <a:t>Demosle</a:t>
            </a:r>
            <a:r>
              <a:rPr lang="es-ES">
                <a:solidFill>
                  <a:schemeClr val="accent1"/>
                </a:solidFill>
                <a:latin typeface="Century Gothic" panose="020B0502020202020204" pitchFamily="34" charset="0"/>
              </a:rPr>
              <a:t> un vistazo al crecimiento real que ha presentado el SMMLV en los últimos años con base en los valores decretados por el estado colombiano. </a:t>
            </a:r>
          </a:p>
          <a:p>
            <a:endParaRPr lang="es-ES">
              <a:latin typeface="Century Gothic" panose="020B0502020202020204" pitchFamily="34" charset="0"/>
            </a:endParaRPr>
          </a:p>
        </p:txBody>
      </p:sp>
    </p:spTree>
    <p:extLst>
      <p:ext uri="{BB962C8B-B14F-4D97-AF65-F5344CB8AC3E}">
        <p14:creationId xmlns:p14="http://schemas.microsoft.com/office/powerpoint/2010/main" val="254137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0F62-E8F8-3282-2B2D-0EECFD2AA76A}"/>
              </a:ext>
            </a:extLst>
          </p:cNvPr>
          <p:cNvSpPr>
            <a:spLocks noGrp="1"/>
          </p:cNvSpPr>
          <p:nvPr>
            <p:ph type="title"/>
          </p:nvPr>
        </p:nvSpPr>
        <p:spPr/>
        <p:txBody>
          <a:bodyPr/>
          <a:lstStyle/>
          <a:p>
            <a:r>
              <a:rPr lang="es-ES_tradnl" dirty="0"/>
              <a:t>REPASO CLASE</a:t>
            </a:r>
          </a:p>
        </p:txBody>
      </p:sp>
      <p:sp>
        <p:nvSpPr>
          <p:cNvPr id="4" name="Slide Number Placeholder 3">
            <a:extLst>
              <a:ext uri="{FF2B5EF4-FFF2-40B4-BE49-F238E27FC236}">
                <a16:creationId xmlns:a16="http://schemas.microsoft.com/office/drawing/2014/main" id="{A2BBF305-AB54-1E50-1415-E2197A5C40A7}"/>
              </a:ext>
            </a:extLst>
          </p:cNvPr>
          <p:cNvSpPr>
            <a:spLocks noGrp="1"/>
          </p:cNvSpPr>
          <p:nvPr>
            <p:ph type="sldNum" sz="quarter" idx="12"/>
          </p:nvPr>
        </p:nvSpPr>
        <p:spPr/>
        <p:txBody>
          <a:bodyPr/>
          <a:lstStyle/>
          <a:p>
            <a:fld id="{D57F1E4F-1CFF-5643-939E-217C01CDF565}" type="slidenum">
              <a:rPr lang="en-US" smtClean="0"/>
              <a:pPr/>
              <a:t>19</a:t>
            </a:fld>
            <a:endParaRPr lang="en-US"/>
          </a:p>
        </p:txBody>
      </p:sp>
      <p:pic>
        <p:nvPicPr>
          <p:cNvPr id="5" name="Picture 4">
            <a:extLst>
              <a:ext uri="{FF2B5EF4-FFF2-40B4-BE49-F238E27FC236}">
                <a16:creationId xmlns:a16="http://schemas.microsoft.com/office/drawing/2014/main" id="{28EC5E3B-395D-2BC3-5EE6-F405B9A9DEB6}"/>
              </a:ext>
            </a:extLst>
          </p:cNvPr>
          <p:cNvPicPr>
            <a:picLocks noChangeAspect="1"/>
          </p:cNvPicPr>
          <p:nvPr/>
        </p:nvPicPr>
        <p:blipFill>
          <a:blip r:embed="rId2"/>
          <a:stretch>
            <a:fillRect/>
          </a:stretch>
        </p:blipFill>
        <p:spPr>
          <a:xfrm>
            <a:off x="3937944" y="2186134"/>
            <a:ext cx="4316111" cy="4282910"/>
          </a:xfrm>
          <a:prstGeom prst="rect">
            <a:avLst/>
          </a:prstGeom>
        </p:spPr>
      </p:pic>
    </p:spTree>
    <p:extLst>
      <p:ext uri="{BB962C8B-B14F-4D97-AF65-F5344CB8AC3E}">
        <p14:creationId xmlns:p14="http://schemas.microsoft.com/office/powerpoint/2010/main" val="2988772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5FFA-6964-3227-55E5-7A3FA4E2D4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1FBF03-2CC8-B913-5EB9-A07DB0995787}"/>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F7F6356F-5269-3572-146D-DE5BC0F2D1F2}"/>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20</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20F55F93-6D8F-8A83-8EC7-F4C2E79634D7}"/>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790DA22D-E4DD-B75E-9FDB-879B67D847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81B7FDD-1111-B3D1-8015-F8C56477C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462BADF-7738-968A-E424-4BE2087D64C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19F40BEE-AC85-0D07-ADE1-29215519EBF1}"/>
              </a:ext>
            </a:extLst>
          </p:cNvPr>
          <p:cNvGraphicFramePr>
            <a:graphicFrameLocks noGrp="1"/>
          </p:cNvGraphicFramePr>
          <p:nvPr/>
        </p:nvGraphicFramePr>
        <p:xfrm>
          <a:off x="4053746" y="1892226"/>
          <a:ext cx="1712088"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1245758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CDD7-56CC-9C0E-1487-272BDA3095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73B35A-C068-F0AB-060A-3295F2E7342F}"/>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34AAA909-F656-E1C5-AA97-3F29EB2BFF82}"/>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21</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2D75806E-75A3-69A8-5533-8D78A19A94EB}"/>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CC691A8C-EB06-8FFA-10D9-55C89C8A34C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28388DC-C768-5AD2-FB57-35383D946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5BC003E-33A1-6ECE-EB84-5EB02936876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6087CE6B-0797-0005-7450-D872F966D4E6}"/>
              </a:ext>
            </a:extLst>
          </p:cNvPr>
          <p:cNvGraphicFramePr>
            <a:graphicFrameLocks noGrp="1"/>
          </p:cNvGraphicFramePr>
          <p:nvPr>
            <p:extLst>
              <p:ext uri="{D42A27DB-BD31-4B8C-83A1-F6EECF244321}">
                <p14:modId xmlns:p14="http://schemas.microsoft.com/office/powerpoint/2010/main" val="3800479586"/>
              </p:ext>
            </p:extLst>
          </p:nvPr>
        </p:nvGraphicFramePr>
        <p:xfrm>
          <a:off x="4053746" y="1892226"/>
          <a:ext cx="2856686"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1614519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FCC0-AB3D-5B2F-CAF5-2E74E5FAEC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E7A4DA-86CC-3D2B-7797-850AC16CF53F}"/>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60D84D56-0B5A-A0D9-08AC-BA49E1DB564D}"/>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22</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BAF7BB68-E8FD-E670-42CD-9D598595A8C7}"/>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D14B37DE-FA21-4D12-919C-BB55367712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C4AF422-9F93-2848-CDA2-ACF97E4D2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BE00CD-67AB-9229-C672-A416FD7D73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9A0F80D0-2919-8E40-CEFA-8396BACE603D}"/>
              </a:ext>
            </a:extLst>
          </p:cNvPr>
          <p:cNvGraphicFramePr>
            <a:graphicFrameLocks noGrp="1"/>
          </p:cNvGraphicFramePr>
          <p:nvPr>
            <p:extLst>
              <p:ext uri="{D42A27DB-BD31-4B8C-83A1-F6EECF244321}">
                <p14:modId xmlns:p14="http://schemas.microsoft.com/office/powerpoint/2010/main" val="3713945960"/>
              </p:ext>
            </p:extLst>
          </p:nvPr>
        </p:nvGraphicFramePr>
        <p:xfrm>
          <a:off x="4053746" y="1892226"/>
          <a:ext cx="3780059"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3290273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3951-4703-430E-CFD7-436CD334C7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1FC893-727C-7F8B-1FAD-0109950424B8}"/>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8BBA3E6B-3017-80A4-3BA3-7AFB615EBB76}"/>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23</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51C30454-1A50-53B8-F22D-73BA5C1D57ED}"/>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819FF1AF-686D-ECB9-FDC2-A158CABFC6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3D501A15-A9AB-BC18-9AA5-F8CB1F9EC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3CB11A6-ACD9-978C-02A4-141409DB2B1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4E9FC1F4-146B-9E97-F110-04E839C50458}"/>
              </a:ext>
            </a:extLst>
          </p:cNvPr>
          <p:cNvGraphicFramePr>
            <a:graphicFrameLocks noGrp="1"/>
          </p:cNvGraphicFramePr>
          <p:nvPr>
            <p:extLst>
              <p:ext uri="{D42A27DB-BD31-4B8C-83A1-F6EECF244321}">
                <p14:modId xmlns:p14="http://schemas.microsoft.com/office/powerpoint/2010/main" val="762608402"/>
              </p:ext>
            </p:extLst>
          </p:nvPr>
        </p:nvGraphicFramePr>
        <p:xfrm>
          <a:off x="4053746" y="1892226"/>
          <a:ext cx="4770763" cy="4806719"/>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gridCol w="990704">
                  <a:extLst>
                    <a:ext uri="{9D8B030D-6E8A-4147-A177-3AD203B41FA5}">
                      <a16:colId xmlns:a16="http://schemas.microsoft.com/office/drawing/2014/main" val="39874880"/>
                    </a:ext>
                  </a:extLst>
                </a:gridCol>
              </a:tblGrid>
              <a:tr h="154800">
                <a:tc>
                  <a:txBody>
                    <a:bodyPr/>
                    <a:lstStyle/>
                    <a:p>
                      <a:pPr algn="ctr" fontAlgn="b">
                        <a:buNone/>
                      </a:pPr>
                      <a:r>
                        <a:rPr lang="en-US" sz="900" b="1" u="none" strike="noStrike" dirty="0">
                          <a:solidFill>
                            <a:schemeClr val="accent1"/>
                          </a:solidFill>
                          <a:effectLst/>
                          <a:latin typeface="Century Gothic" panose="020B0502020202020204" pitchFamily="34" charset="0"/>
                        </a:rPr>
                        <a:t>Año</a:t>
                      </a:r>
                      <a:endParaRPr lang="en-US" sz="900" b="1" i="1" u="none" strike="noStrike" dirty="0">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Real</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0,36%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0,42%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0,91%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0,22%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4,21%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62719">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dirty="0">
                          <a:effectLst/>
                          <a:latin typeface="Century Gothic" panose="020B0502020202020204" pitchFamily="34" charset="0"/>
                        </a:rPr>
                        <a:t>16,00%</a:t>
                      </a:r>
                      <a:endParaRPr lang="en-CO" sz="900" b="0" i="0" u="none" strike="noStrike" dirty="0">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dirty="0">
                          <a:effectLst/>
                          <a:latin typeface="Century Gothic" panose="020B0502020202020204" pitchFamily="34" charset="0"/>
                        </a:rPr>
                        <a:t>2,55%</a:t>
                      </a:r>
                      <a:endParaRPr lang="en-CO" sz="900" b="0" i="0" u="none" strike="noStrike" dirty="0">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dirty="0">
                          <a:effectLst/>
                          <a:latin typeface="Century Gothic" panose="020B0502020202020204" pitchFamily="34" charset="0"/>
                        </a:rPr>
                        <a:t>17,03%</a:t>
                      </a:r>
                      <a:endParaRPr lang="en-CO" sz="900" b="0" i="0" u="none" strike="noStrike" dirty="0">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2223513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92CA-C729-1CF6-7E0A-EC23DA9CC4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D8623A-0E89-CBA0-F5DC-CA38E75710AB}"/>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9A24A0F2-A449-ADE0-0581-B0AAD01A8E2E}"/>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24</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9BF3AE89-3572-B3B1-1A29-A1735DE24E71}"/>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C28ED1A9-097F-5C27-46A1-BFBE92DA675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DA26D41C-EA9C-AE00-DB41-4C796D410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3190710-6969-F414-B90F-609218D40A6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4191E129-3658-B67B-7418-DFB68156E2A3}"/>
              </a:ext>
            </a:extLst>
          </p:cNvPr>
          <p:cNvSpPr>
            <a:spLocks noGrp="1"/>
          </p:cNvSpPr>
          <p:nvPr>
            <p:ph idx="1"/>
          </p:nvPr>
        </p:nvSpPr>
        <p:spPr>
          <a:xfrm>
            <a:off x="3048000" y="2235926"/>
            <a:ext cx="8562808" cy="3918863"/>
          </a:xfrm>
        </p:spPr>
        <p:txBody>
          <a:bodyPr>
            <a:normAutofit/>
          </a:bodyPr>
          <a:lstStyle/>
          <a:p>
            <a:pPr algn="just"/>
            <a:r>
              <a:rPr lang="es-ES" dirty="0">
                <a:latin typeface="Century Gothic" panose="020B0502020202020204" pitchFamily="34" charset="0"/>
              </a:rPr>
              <a:t>En algunos casos como el anterior tiene mas sentido calcular las variaciones reales de cada periodo usando la inflación del periodo inmediatamente anterior. Lo anterior debido a que el valor del SMMLV se fija antes de comenzar cada año y se realiza con base en la inflación esperada para el año en curso. </a:t>
            </a:r>
          </a:p>
          <a:p>
            <a:pPr algn="just"/>
            <a:endParaRPr lang="es-ES" dirty="0">
              <a:latin typeface="Century Gothic" panose="020B0502020202020204" pitchFamily="34" charset="0"/>
            </a:endParaRPr>
          </a:p>
          <a:p>
            <a:pPr algn="just"/>
            <a:r>
              <a:rPr lang="es-ES" dirty="0">
                <a:latin typeface="Century Gothic" panose="020B0502020202020204" pitchFamily="34" charset="0"/>
              </a:rPr>
              <a:t>Por ejemplo, El SMMLV del año 2026 se estableció en diciembre de 2025, teniendo en cuenta la inflación con la que se esperaba cerrará el 2025.</a:t>
            </a:r>
          </a:p>
        </p:txBody>
      </p:sp>
    </p:spTree>
    <p:extLst>
      <p:ext uri="{BB962C8B-B14F-4D97-AF65-F5344CB8AC3E}">
        <p14:creationId xmlns:p14="http://schemas.microsoft.com/office/powerpoint/2010/main" val="139021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641966" y="2235926"/>
            <a:ext cx="10968842" cy="3918863"/>
          </a:xfrm>
        </p:spPr>
        <p:txBody>
          <a:bodyPr>
            <a:normAutofit/>
          </a:bodyPr>
          <a:lstStyle/>
          <a:p>
            <a:pPr algn="just"/>
            <a:r>
              <a:rPr lang="es-ES">
                <a:latin typeface="Century Gothic" panose="020B0502020202020204" pitchFamily="34" charset="0"/>
              </a:rPr>
              <a:t>La relación entre estos dos tipos de tasas de interés se verá con mayor detalle cuando abordemos el tema de la inflación y su efecto en la evaluación de proyectos.</a:t>
            </a:r>
          </a:p>
          <a:p>
            <a:pPr marL="0" indent="0" algn="just">
              <a:buNone/>
            </a:pPr>
            <a:endParaRPr lang="es-ES">
              <a:latin typeface="Century Gothic" panose="020B0502020202020204" pitchFamily="34" charset="0"/>
            </a:endParaRPr>
          </a:p>
          <a:p>
            <a:pPr algn="just"/>
            <a:r>
              <a:rPr lang="es-ES">
                <a:latin typeface="Century Gothic" panose="020B0502020202020204" pitchFamily="34" charset="0"/>
              </a:rPr>
              <a:t>La expresión que relaciona ambas tasas de interés es la siguiente:</a:t>
            </a:r>
          </a:p>
          <a:p>
            <a:pPr marL="0" indent="0" algn="just">
              <a:buNone/>
            </a:pPr>
            <a:endParaRPr lang="es-ES">
              <a:latin typeface="Century Gothic" panose="020B0502020202020204" pitchFamily="34" charset="0"/>
            </a:endParaRPr>
          </a:p>
          <a:p>
            <a:pPr marL="0" indent="0" algn="just">
              <a:buNone/>
            </a:pPr>
            <a:endParaRPr lang="es-ES">
              <a:latin typeface="Century Gothic" panose="020B0502020202020204" pitchFamily="34" charset="0"/>
            </a:endParaRPr>
          </a:p>
          <a:p>
            <a:pPr algn="just"/>
            <a:r>
              <a:rPr lang="es-ES">
                <a:latin typeface="Century Gothic" panose="020B0502020202020204" pitchFamily="34" charset="0"/>
              </a:rPr>
              <a:t>El crecimiento real se entiende como el crecimiento económico en términos físicos o en términos monetarios una vez deducida la inflación. Es el incremento que se obtiene con datos valorados a precios constantes, respecto a un periodo base.</a:t>
            </a:r>
          </a:p>
          <a:p>
            <a:pPr algn="just"/>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060F9FC6-1FAB-8CE0-0847-FF41B84890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76936DC-18C5-16D7-B4B9-4E70E373C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84B3201-94C8-2E16-2747-80D7E373919A}"/>
                  </a:ext>
                </a:extLst>
              </p:cNvPr>
              <p:cNvSpPr txBox="1"/>
              <p:nvPr/>
            </p:nvSpPr>
            <p:spPr>
              <a:xfrm>
                <a:off x="3049108" y="4043520"/>
                <a:ext cx="5848011" cy="303673"/>
              </a:xfrm>
              <a:prstGeom prst="rect">
                <a:avLst/>
              </a:prstGeom>
              <a:noFill/>
            </p:spPr>
            <p:txBody>
              <a:bodyPr wrap="none" lIns="0" tIns="0" rIns="0" bIns="0" rtlCol="0">
                <a:spAutoFit/>
              </a:bodyPr>
              <a:lstStyle/>
              <a:p>
                <a:pPr/>
                <a14:m>
                  <m:oMathPara xmlns:m="http://schemas.openxmlformats.org/officeDocument/2006/math">
                    <m:oMath>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0" smtClean="0">
                              <a:solidFill>
                                <a:schemeClr val="accent1"/>
                              </a:solidFill>
                              <a:latin typeface="Cambria Math" panose="02040503050406030204" pitchFamily="18" charset="0"/>
                            </a:rPr>
                          </m:ctrlPr>
                        </m:sSubPr>
                        <m:e>
                          <m:r>
                            <a:rPr lang="es-ES" b="1" i="0" smtClean="0">
                              <a:solidFill>
                                <a:schemeClr val="accent1"/>
                              </a:solidFill>
                              <a:latin typeface="Cambria Math" panose="02040503050406030204" pitchFamily="18" charset="0"/>
                            </a:rPr>
                            <m:t>𝐢</m:t>
                          </m:r>
                        </m:e>
                        <m:sub>
                          <m:r>
                            <a:rPr lang="es-ES" b="1" i="0" smtClean="0">
                              <a:solidFill>
                                <a:schemeClr val="accent1"/>
                              </a:solidFill>
                              <a:latin typeface="Cambria Math" panose="02040503050406030204" pitchFamily="18" charset="0"/>
                            </a:rPr>
                            <m:t>𝐧𝐨𝐦𝐢𝐧𝐚𝐥</m:t>
                          </m:r>
                          <m:r>
                            <a:rPr lang="es-ES" b="1" i="0" smtClean="0">
                              <a:solidFill>
                                <a:schemeClr val="accent1"/>
                              </a:solidFill>
                              <a:latin typeface="Cambria Math" panose="02040503050406030204" pitchFamily="18" charset="0"/>
                            </a:rPr>
                            <m:t> (</m:t>
                          </m:r>
                          <m:r>
                            <a:rPr lang="es-ES" b="1" i="0" smtClean="0">
                              <a:solidFill>
                                <a:schemeClr val="accent1"/>
                              </a:solidFill>
                              <a:latin typeface="Cambria Math" panose="02040503050406030204" pitchFamily="18" charset="0"/>
                            </a:rPr>
                            <m:t>𝐜𝐨𝐫𝐫𝐢𝐞𝐧𝐭𝐞</m:t>
                          </m:r>
                          <m:r>
                            <a:rPr lang="es-ES" b="1" i="0" smtClean="0">
                              <a:solidFill>
                                <a:schemeClr val="accent1"/>
                              </a:solidFill>
                              <a:latin typeface="Cambria Math" panose="02040503050406030204" pitchFamily="18" charset="0"/>
                            </a:rPr>
                            <m:t>)</m:t>
                          </m:r>
                        </m:sub>
                      </m:sSub>
                      <m:r>
                        <a:rPr lang="es-ES" b="1" i="0" smtClean="0">
                          <a:solidFill>
                            <a:schemeClr val="accent1"/>
                          </a:solidFill>
                          <a:latin typeface="Cambria Math" panose="02040503050406030204" pitchFamily="18" charset="0"/>
                        </a:rPr>
                        <m:t>=(</m:t>
                      </m:r>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0" smtClean="0">
                              <a:solidFill>
                                <a:schemeClr val="accent1"/>
                              </a:solidFill>
                              <a:latin typeface="Cambria Math" panose="02040503050406030204" pitchFamily="18" charset="0"/>
                            </a:rPr>
                          </m:ctrlPr>
                        </m:sSubPr>
                        <m:e>
                          <m:r>
                            <a:rPr lang="es-ES" b="1" i="0" smtClean="0">
                              <a:solidFill>
                                <a:schemeClr val="accent1"/>
                              </a:solidFill>
                              <a:latin typeface="Cambria Math" panose="02040503050406030204" pitchFamily="18" charset="0"/>
                            </a:rPr>
                            <m:t>𝐢</m:t>
                          </m:r>
                        </m:e>
                        <m:sub>
                          <m:r>
                            <a:rPr lang="es-ES" b="1" i="0" smtClean="0">
                              <a:solidFill>
                                <a:schemeClr val="accent1"/>
                              </a:solidFill>
                              <a:latin typeface="Cambria Math" panose="02040503050406030204" pitchFamily="18" charset="0"/>
                            </a:rPr>
                            <m:t>𝐫𝐞𝐚𝐥</m:t>
                          </m:r>
                          <m:r>
                            <a:rPr lang="es-ES" b="1" i="0" smtClean="0">
                              <a:solidFill>
                                <a:schemeClr val="accent1"/>
                              </a:solidFill>
                              <a:latin typeface="Cambria Math" panose="02040503050406030204" pitchFamily="18" charset="0"/>
                            </a:rPr>
                            <m:t> </m:t>
                          </m:r>
                          <m:d>
                            <m:dPr>
                              <m:ctrlPr>
                                <a:rPr lang="es-ES" b="1" i="0" smtClean="0">
                                  <a:solidFill>
                                    <a:schemeClr val="accent1"/>
                                  </a:solidFill>
                                  <a:latin typeface="Cambria Math" panose="02040503050406030204" pitchFamily="18" charset="0"/>
                                </a:rPr>
                              </m:ctrlPr>
                            </m:dPr>
                            <m:e>
                              <m:r>
                                <a:rPr lang="es-ES" b="1" i="0" smtClean="0">
                                  <a:solidFill>
                                    <a:schemeClr val="accent1"/>
                                  </a:solidFill>
                                  <a:latin typeface="Cambria Math" panose="02040503050406030204" pitchFamily="18" charset="0"/>
                                </a:rPr>
                                <m:t>𝐜𝐨𝐧𝐬𝐭𝐚𝐧𝐭𝐞</m:t>
                              </m:r>
                            </m:e>
                          </m:d>
                        </m:sub>
                      </m:sSub>
                      <m:r>
                        <a:rPr lang="es-ES" b="1" i="0" smtClean="0">
                          <a:solidFill>
                            <a:schemeClr val="accent1"/>
                          </a:solidFill>
                          <a:latin typeface="Cambria Math" panose="02040503050406030204" pitchFamily="18" charset="0"/>
                        </a:rPr>
                        <m:t>)(</m:t>
                      </m:r>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0" smtClean="0">
                              <a:solidFill>
                                <a:schemeClr val="accent1"/>
                              </a:solidFill>
                              <a:latin typeface="Cambria Math" panose="02040503050406030204" pitchFamily="18" charset="0"/>
                              <a:ea typeface="Cambria Math" panose="02040503050406030204" pitchFamily="18" charset="0"/>
                            </a:rPr>
                          </m:ctrlPr>
                        </m:sSubPr>
                        <m:e>
                          <m:r>
                            <a:rPr lang="es-ES" b="1" i="0" smtClean="0">
                              <a:solidFill>
                                <a:schemeClr val="accent1"/>
                              </a:solidFill>
                              <a:latin typeface="Cambria Math" panose="02040503050406030204" pitchFamily="18" charset="0"/>
                              <a:ea typeface="Cambria Math" panose="02040503050406030204" pitchFamily="18" charset="0"/>
                            </a:rPr>
                            <m:t>𝛑</m:t>
                          </m:r>
                        </m:e>
                        <m:sub>
                          <m:r>
                            <a:rPr lang="es-ES" b="1" i="0" smtClean="0">
                              <a:solidFill>
                                <a:schemeClr val="accent1"/>
                              </a:solidFill>
                              <a:latin typeface="Cambria Math" panose="02040503050406030204" pitchFamily="18" charset="0"/>
                              <a:ea typeface="Cambria Math" panose="02040503050406030204" pitchFamily="18" charset="0"/>
                            </a:rPr>
                            <m:t>𝐢𝐧𝐟𝐥𝐚𝐜𝐢</m:t>
                          </m:r>
                          <m:r>
                            <a:rPr lang="es-ES" b="1" i="0">
                              <a:solidFill>
                                <a:schemeClr val="accent1"/>
                              </a:solidFill>
                              <a:latin typeface="Cambria Math" panose="02040503050406030204" pitchFamily="18" charset="0"/>
                              <a:ea typeface="Cambria Math" panose="02040503050406030204" pitchFamily="18" charset="0"/>
                            </a:rPr>
                            <m:t>ó</m:t>
                          </m:r>
                          <m:r>
                            <a:rPr lang="es-ES" b="1" i="0" smtClean="0">
                              <a:solidFill>
                                <a:schemeClr val="accent1"/>
                              </a:solidFill>
                              <a:latin typeface="Cambria Math" panose="02040503050406030204" pitchFamily="18" charset="0"/>
                              <a:ea typeface="Cambria Math" panose="02040503050406030204" pitchFamily="18" charset="0"/>
                            </a:rPr>
                            <m:t>𝐧</m:t>
                          </m:r>
                        </m:sub>
                      </m:sSub>
                      <m:r>
                        <a:rPr lang="es-ES" b="1" i="0" smtClean="0">
                          <a:solidFill>
                            <a:schemeClr val="accent1"/>
                          </a:solidFill>
                          <a:latin typeface="Cambria Math" panose="02040503050406030204" pitchFamily="18" charset="0"/>
                          <a:ea typeface="Cambria Math" panose="02040503050406030204" pitchFamily="18" charset="0"/>
                        </a:rPr>
                        <m:t>)</m:t>
                      </m:r>
                    </m:oMath>
                  </m:oMathPara>
                </a14:m>
                <a:endParaRPr lang="es-CO" b="1">
                  <a:solidFill>
                    <a:schemeClr val="accent1"/>
                  </a:solidFill>
                </a:endParaRPr>
              </a:p>
            </p:txBody>
          </p:sp>
        </mc:Choice>
        <mc:Fallback xmlns="">
          <p:sp>
            <p:nvSpPr>
              <p:cNvPr id="7" name="CuadroTexto 6">
                <a:extLst>
                  <a:ext uri="{FF2B5EF4-FFF2-40B4-BE49-F238E27FC236}">
                    <a16:creationId xmlns:a16="http://schemas.microsoft.com/office/drawing/2014/main" id="{C84B3201-94C8-2E16-2747-80D7E373919A}"/>
                  </a:ext>
                </a:extLst>
              </p:cNvPr>
              <p:cNvSpPr txBox="1">
                <a:spLocks noRot="1" noChangeAspect="1" noMove="1" noResize="1" noEditPoints="1" noAdjustHandles="1" noChangeArrowheads="1" noChangeShapeType="1" noTextEdit="1"/>
              </p:cNvSpPr>
              <p:nvPr/>
            </p:nvSpPr>
            <p:spPr>
              <a:xfrm>
                <a:off x="3049108" y="4043520"/>
                <a:ext cx="5848011" cy="303673"/>
              </a:xfrm>
              <a:prstGeom prst="rect">
                <a:avLst/>
              </a:prstGeom>
              <a:blipFill>
                <a:blip r:embed="rId3"/>
                <a:stretch>
                  <a:fillRect l="-868" t="-4000" r="-1302" b="-24000"/>
                </a:stretch>
              </a:blipFill>
            </p:spPr>
            <p:txBody>
              <a:bodyPr/>
              <a:lstStyle/>
              <a:p>
                <a:r>
                  <a:rPr lang="es-ES_tradnl">
                    <a:noFill/>
                  </a:rPr>
                  <a:t> </a:t>
                </a:r>
              </a:p>
            </p:txBody>
          </p:sp>
        </mc:Fallback>
      </mc:AlternateContent>
      <p:pic>
        <p:nvPicPr>
          <p:cNvPr id="15362" name="Picture 2" descr="Están bajas las tasas de interés real? ¿Por qué? - Clase Ejecutiva UC">
            <a:extLst>
              <a:ext uri="{FF2B5EF4-FFF2-40B4-BE49-F238E27FC236}">
                <a16:creationId xmlns:a16="http://schemas.microsoft.com/office/drawing/2014/main" id="{BA4A68F5-AA51-68F6-9DD2-4488D83A3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0143" y="3281680"/>
            <a:ext cx="2014118" cy="11988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6A40422-F021-DC3A-E329-7788127CF3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0000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Pregunta 3</a:t>
            </a:r>
          </a:p>
        </p:txBody>
      </p:sp>
      <p:sp>
        <p:nvSpPr>
          <p:cNvPr id="3" name="Marcador de contenido 2"/>
          <p:cNvSpPr>
            <a:spLocks noGrp="1"/>
          </p:cNvSpPr>
          <p:nvPr>
            <p:ph idx="1"/>
          </p:nvPr>
        </p:nvSpPr>
        <p:spPr>
          <a:xfrm>
            <a:off x="446043" y="1928733"/>
            <a:ext cx="11308955" cy="1013800"/>
          </a:xfrm>
        </p:spPr>
        <p:txBody>
          <a:bodyPr>
            <a:normAutofit/>
          </a:bodyPr>
          <a:lstStyle/>
          <a:p>
            <a:pPr marL="0" indent="0" algn="just">
              <a:buNone/>
            </a:pPr>
            <a:r>
              <a:rPr lang="es-ES">
                <a:solidFill>
                  <a:schemeClr val="accent1"/>
                </a:solidFill>
                <a:latin typeface="Century Gothic" panose="020B0502020202020204" pitchFamily="34" charset="0"/>
              </a:rPr>
              <a:t>La tasa de captación del sistema financiero colombiano al cierre de 2025 fue de 9,09%. </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15" name="CuadroTexto 14">
            <a:extLst>
              <a:ext uri="{FF2B5EF4-FFF2-40B4-BE49-F238E27FC236}">
                <a16:creationId xmlns:a16="http://schemas.microsoft.com/office/drawing/2014/main" id="{1DDDAA3A-DE76-419B-8BCE-76F12ECBD4BB}"/>
              </a:ext>
            </a:extLst>
          </p:cNvPr>
          <p:cNvSpPr txBox="1"/>
          <p:nvPr/>
        </p:nvSpPr>
        <p:spPr>
          <a:xfrm>
            <a:off x="446043" y="3087170"/>
            <a:ext cx="11164765" cy="1200329"/>
          </a:xfrm>
          <a:prstGeom prst="rect">
            <a:avLst/>
          </a:prstGeom>
          <a:noFill/>
        </p:spPr>
        <p:txBody>
          <a:bodyPr wrap="square">
            <a:spAutoFit/>
          </a:bodyPr>
          <a:lstStyle/>
          <a:p>
            <a:pPr marL="0" indent="0" algn="just">
              <a:buNone/>
            </a:pPr>
            <a:endParaRPr lang="es-ES" i="1">
              <a:solidFill>
                <a:schemeClr val="accent1"/>
              </a:solidFill>
              <a:latin typeface="Century Gothic" panose="020B0502020202020204" pitchFamily="34" charset="0"/>
            </a:endParaRPr>
          </a:p>
          <a:p>
            <a:pPr marL="0" indent="0" algn="just">
              <a:buNone/>
            </a:pPr>
            <a:endParaRPr lang="es-ES">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La inflación anual a diciembre de 2025 fue de 5,10%.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Cuál fue la tasa real de captación del sistema financiero colombiano</a:t>
            </a:r>
            <a:r>
              <a:rPr lang="es-ES" b="1">
                <a:solidFill>
                  <a:srgbClr val="D7A700"/>
                </a:solidFill>
                <a:latin typeface="Century Gothic" panose="020B0502020202020204" pitchFamily="34" charset="0"/>
              </a:rPr>
              <a:t>? </a:t>
            </a:r>
          </a:p>
        </p:txBody>
      </p:sp>
      <p:sp>
        <p:nvSpPr>
          <p:cNvPr id="9" name="Rectángulo 8">
            <a:extLst>
              <a:ext uri="{FF2B5EF4-FFF2-40B4-BE49-F238E27FC236}">
                <a16:creationId xmlns:a16="http://schemas.microsoft.com/office/drawing/2014/main" id="{0B7CF7B6-9D77-3745-3EF8-6EF8D1AC63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3DD2629-08D0-A152-BFBA-B1E826351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53F53AF-05EE-9053-3733-0513B856CD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8" name="Table 7">
            <a:extLst>
              <a:ext uri="{FF2B5EF4-FFF2-40B4-BE49-F238E27FC236}">
                <a16:creationId xmlns:a16="http://schemas.microsoft.com/office/drawing/2014/main" id="{411D5730-3C2B-A4A6-7A2A-6A549CDF0F56}"/>
              </a:ext>
            </a:extLst>
          </p:cNvPr>
          <p:cNvGraphicFramePr>
            <a:graphicFrameLocks noGrp="1"/>
          </p:cNvGraphicFramePr>
          <p:nvPr>
            <p:extLst>
              <p:ext uri="{D42A27DB-BD31-4B8C-83A1-F6EECF244321}">
                <p14:modId xmlns:p14="http://schemas.microsoft.com/office/powerpoint/2010/main" val="1740226218"/>
              </p:ext>
            </p:extLst>
          </p:nvPr>
        </p:nvGraphicFramePr>
        <p:xfrm>
          <a:off x="3759728" y="4589712"/>
          <a:ext cx="4910100" cy="365760"/>
        </p:xfrm>
        <a:graphic>
          <a:graphicData uri="http://schemas.openxmlformats.org/drawingml/2006/table">
            <a:tbl>
              <a:tblPr firstRow="1" bandRow="1">
                <a:tableStyleId>{5C22544A-7EE6-4342-B048-85BDC9FD1C3A}</a:tableStyleId>
              </a:tblPr>
              <a:tblGrid>
                <a:gridCol w="2519886">
                  <a:extLst>
                    <a:ext uri="{9D8B030D-6E8A-4147-A177-3AD203B41FA5}">
                      <a16:colId xmlns:a16="http://schemas.microsoft.com/office/drawing/2014/main" val="2622910914"/>
                    </a:ext>
                  </a:extLst>
                </a:gridCol>
                <a:gridCol w="2390214">
                  <a:extLst>
                    <a:ext uri="{9D8B030D-6E8A-4147-A177-3AD203B41FA5}">
                      <a16:colId xmlns:a16="http://schemas.microsoft.com/office/drawing/2014/main" val="2461722547"/>
                    </a:ext>
                  </a:extLst>
                </a:gridCol>
              </a:tblGrid>
              <a:tr h="121022">
                <a:tc>
                  <a:txBody>
                    <a:bodyPr/>
                    <a:lstStyle/>
                    <a:p>
                      <a:pPr algn="ctr"/>
                      <a:r>
                        <a:rPr lang="en-CO">
                          <a:latin typeface="Century Gothic" panose="020B0502020202020204" pitchFamily="34" charset="0"/>
                        </a:rPr>
                        <a:t>Respuesta</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solidFill>
                  </a:tcPr>
                </a:tc>
                <a:tc>
                  <a:txBody>
                    <a:bodyPr/>
                    <a:lstStyle/>
                    <a:p>
                      <a:pPr algn="ctr"/>
                      <a:r>
                        <a:rPr lang="en-CO">
                          <a:solidFill>
                            <a:srgbClr val="D7A700"/>
                          </a:solidFill>
                          <a:latin typeface="Century Gothic" panose="020B0502020202020204" pitchFamily="34" charset="0"/>
                        </a:rPr>
                        <a:t>3</a:t>
                      </a:r>
                      <a:r>
                        <a:rPr lang="es-ES">
                          <a:solidFill>
                            <a:srgbClr val="D7A700"/>
                          </a:solidFill>
                          <a:latin typeface="Century Gothic" panose="020B0502020202020204" pitchFamily="34" charset="0"/>
                        </a:rPr>
                        <a:t>,</a:t>
                      </a:r>
                      <a:r>
                        <a:rPr lang="en-CO">
                          <a:solidFill>
                            <a:srgbClr val="D7A700"/>
                          </a:solidFill>
                          <a:latin typeface="Century Gothic" panose="020B0502020202020204" pitchFamily="34" charset="0"/>
                        </a:rPr>
                        <a:t>8</a:t>
                      </a:r>
                      <a:r>
                        <a:rPr lang="es-ES">
                          <a:solidFill>
                            <a:srgbClr val="D7A700"/>
                          </a:solidFill>
                          <a:latin typeface="Century Gothic" panose="020B0502020202020204" pitchFamily="34" charset="0"/>
                        </a:rPr>
                        <a:t>0</a:t>
                      </a:r>
                      <a:r>
                        <a:rPr lang="en-CO">
                          <a:solidFill>
                            <a:srgbClr val="D7A700"/>
                          </a:solidFill>
                          <a:latin typeface="Century Gothic" panose="020B0502020202020204" pitchFamily="34" charset="0"/>
                        </a:rPr>
                        <a:t>%</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73866947"/>
                  </a:ext>
                </a:extLst>
              </a:tr>
            </a:tbl>
          </a:graphicData>
        </a:graphic>
      </p:graphicFrame>
    </p:spTree>
    <p:extLst>
      <p:ext uri="{BB962C8B-B14F-4D97-AF65-F5344CB8AC3E}">
        <p14:creationId xmlns:p14="http://schemas.microsoft.com/office/powerpoint/2010/main" val="335995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3A04217-CA6D-321F-A836-8B549FFA72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6703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34927" y="2138617"/>
            <a:ext cx="9144000" cy="3505182"/>
          </a:xfrm>
        </p:spPr>
        <p:txBody>
          <a:bodyPr>
            <a:normAutofit/>
          </a:bodyPr>
          <a:lstStyle/>
          <a:p>
            <a:pPr marL="0" indent="0">
              <a:buNone/>
            </a:pPr>
            <a:r>
              <a:rPr lang="es-ES_tradnl" sz="3600" b="1">
                <a:solidFill>
                  <a:srgbClr val="800000"/>
                </a:solidFill>
                <a:latin typeface="Century Gothic" panose="020B0502020202020204" pitchFamily="34" charset="0"/>
              </a:rPr>
              <a:t>Interés Discreto </a:t>
            </a:r>
          </a:p>
          <a:p>
            <a:pPr marL="0" indent="0" algn="ctr">
              <a:buNone/>
            </a:pPr>
            <a:r>
              <a:rPr lang="es-ES_tradnl" sz="3600" b="1">
                <a:solidFill>
                  <a:srgbClr val="800000"/>
                </a:solidFill>
                <a:latin typeface="Century Gothic" panose="020B0502020202020204" pitchFamily="34" charset="0"/>
              </a:rPr>
              <a:t> </a:t>
            </a:r>
          </a:p>
          <a:p>
            <a:pPr marL="0" indent="0" algn="ctr">
              <a:buNone/>
            </a:pPr>
            <a:endParaRPr lang="es-ES_tradnl" sz="3600" b="1">
              <a:solidFill>
                <a:srgbClr val="800000"/>
              </a:solidFill>
              <a:latin typeface="Century Gothic" panose="020B0502020202020204" pitchFamily="34" charset="0"/>
            </a:endParaRPr>
          </a:p>
          <a:p>
            <a:pPr marL="0" indent="0" algn="r">
              <a:buNone/>
            </a:pPr>
            <a:r>
              <a:rPr lang="es-ES_tradnl" sz="3600" b="1">
                <a:solidFill>
                  <a:srgbClr val="800000"/>
                </a:solidFill>
                <a:latin typeface="Century Gothic" panose="020B0502020202020204" pitchFamily="34" charset="0"/>
              </a:rPr>
              <a:t>Interés Continuo</a:t>
            </a:r>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28</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FD611AEB-125A-F7E0-28B8-AC79FE375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5274BC0-1AD1-0F7F-A548-8831606A3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Vs PNG para descargar gratis">
            <a:extLst>
              <a:ext uri="{FF2B5EF4-FFF2-40B4-BE49-F238E27FC236}">
                <a16:creationId xmlns:a16="http://schemas.microsoft.com/office/drawing/2014/main" id="{B151EB12-F82A-7F8C-C339-05601173AB58}"/>
              </a:ext>
            </a:extLst>
          </p:cNvPr>
          <p:cNvPicPr>
            <a:picLocks noChangeAspect="1"/>
          </p:cNvPicPr>
          <p:nvPr/>
        </p:nvPicPr>
        <p:blipFill>
          <a:blip r:embed="rId3"/>
          <a:stretch>
            <a:fillRect/>
          </a:stretch>
        </p:blipFill>
        <p:spPr>
          <a:xfrm>
            <a:off x="2790337" y="1893437"/>
            <a:ext cx="6633180" cy="4414762"/>
          </a:xfrm>
          <a:prstGeom prst="rect">
            <a:avLst/>
          </a:prstGeom>
        </p:spPr>
      </p:pic>
      <p:sp>
        <p:nvSpPr>
          <p:cNvPr id="6" name="Rectángulo 5">
            <a:extLst>
              <a:ext uri="{FF2B5EF4-FFF2-40B4-BE49-F238E27FC236}">
                <a16:creationId xmlns:a16="http://schemas.microsoft.com/office/drawing/2014/main" id="{187CCA2B-AD7F-87CE-6850-FED2172E09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75457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704672" y="1248650"/>
            <a:ext cx="10594699" cy="3000298"/>
          </a:xfrm>
        </p:spPr>
        <p:txBody>
          <a:bodyPr>
            <a:normAutofit/>
          </a:bodyPr>
          <a:lstStyle/>
          <a:p>
            <a:pPr marL="0" indent="0" algn="just">
              <a:buNone/>
            </a:pPr>
            <a:r>
              <a:rPr lang="es-ES">
                <a:latin typeface="Century Gothic" panose="020B0502020202020204" pitchFamily="34" charset="0"/>
              </a:rPr>
              <a:t>Una </a:t>
            </a:r>
            <a:r>
              <a:rPr lang="es-ES" b="1">
                <a:solidFill>
                  <a:schemeClr val="accent1"/>
                </a:solidFill>
                <a:latin typeface="Century Gothic" panose="020B0502020202020204" pitchFamily="34" charset="0"/>
              </a:rPr>
              <a:t>tasa discreta </a:t>
            </a:r>
            <a:r>
              <a:rPr lang="es-ES">
                <a:solidFill>
                  <a:schemeClr val="accent1"/>
                </a:solidFill>
                <a:latin typeface="Century Gothic" panose="020B0502020202020204" pitchFamily="34" charset="0"/>
              </a:rPr>
              <a:t>se caracteriza por </a:t>
            </a:r>
            <a:r>
              <a:rPr lang="es-ES" b="1">
                <a:solidFill>
                  <a:schemeClr val="accent1"/>
                </a:solidFill>
                <a:latin typeface="Century Gothic" panose="020B0502020202020204" pitchFamily="34" charset="0"/>
              </a:rPr>
              <a:t>capitalizar los intereses en intervalos de tiempo específicos</a:t>
            </a:r>
            <a:r>
              <a:rPr lang="es-ES">
                <a:solidFill>
                  <a:schemeClr val="accent1"/>
                </a:solidFill>
                <a:latin typeface="Century Gothic" panose="020B0502020202020204" pitchFamily="34" charset="0"/>
              </a:rPr>
              <a:t>.</a:t>
            </a:r>
            <a:r>
              <a:rPr lang="es-ES" b="1">
                <a:solidFill>
                  <a:srgbClr val="C00000"/>
                </a:solidFill>
                <a:latin typeface="Century Gothic" panose="020B0502020202020204" pitchFamily="34" charset="0"/>
              </a:rPr>
              <a:t> </a:t>
            </a:r>
            <a:r>
              <a:rPr lang="es-ES">
                <a:latin typeface="Century Gothic" panose="020B0502020202020204" pitchFamily="34" charset="0"/>
              </a:rPr>
              <a:t>Veamos algunos casos de tasas nominales con sus respectivos periodos de capitalización.</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29</a:t>
            </a:fld>
            <a:endParaRPr lang="en-US" sz="2000" b="1">
              <a:latin typeface="Century Gothic" panose="020B0502020202020204" pitchFamily="34" charset="0"/>
            </a:endParaRPr>
          </a:p>
        </p:txBody>
      </p:sp>
      <p:sp>
        <p:nvSpPr>
          <p:cNvPr id="6" name="CuadroTexto 5"/>
          <p:cNvSpPr txBox="1"/>
          <p:nvPr/>
        </p:nvSpPr>
        <p:spPr>
          <a:xfrm>
            <a:off x="1605537" y="3664175"/>
            <a:ext cx="2116815" cy="2449838"/>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20% NA/AV</a:t>
            </a:r>
          </a:p>
          <a:p>
            <a:pPr>
              <a:lnSpc>
                <a:spcPct val="130000"/>
              </a:lnSpc>
            </a:pPr>
            <a:r>
              <a:rPr lang="es-ES" sz="2000">
                <a:solidFill>
                  <a:schemeClr val="accent1"/>
                </a:solidFill>
                <a:latin typeface="Century Gothic" panose="020B0502020202020204" pitchFamily="34" charset="0"/>
              </a:rPr>
              <a:t>20% NA/SV</a:t>
            </a:r>
          </a:p>
          <a:p>
            <a:pPr>
              <a:lnSpc>
                <a:spcPct val="130000"/>
              </a:lnSpc>
            </a:pPr>
            <a:r>
              <a:rPr lang="es-ES" sz="2000">
                <a:solidFill>
                  <a:schemeClr val="accent1"/>
                </a:solidFill>
                <a:latin typeface="Century Gothic" panose="020B0502020202020204" pitchFamily="34" charset="0"/>
              </a:rPr>
              <a:t>20% NA/TV</a:t>
            </a:r>
          </a:p>
          <a:p>
            <a:pPr>
              <a:lnSpc>
                <a:spcPct val="130000"/>
              </a:lnSpc>
            </a:pPr>
            <a:r>
              <a:rPr lang="es-ES" sz="2000">
                <a:solidFill>
                  <a:schemeClr val="accent1"/>
                </a:solidFill>
                <a:latin typeface="Century Gothic" panose="020B0502020202020204" pitchFamily="34" charset="0"/>
              </a:rPr>
              <a:t>20% NA/MV</a:t>
            </a:r>
          </a:p>
          <a:p>
            <a:pPr>
              <a:lnSpc>
                <a:spcPct val="130000"/>
              </a:lnSpc>
            </a:pPr>
            <a:r>
              <a:rPr lang="es-ES" sz="2000">
                <a:solidFill>
                  <a:schemeClr val="accent1"/>
                </a:solidFill>
                <a:latin typeface="Century Gothic" panose="020B0502020202020204" pitchFamily="34" charset="0"/>
              </a:rPr>
              <a:t>20% NA/DV</a:t>
            </a:r>
          </a:p>
          <a:p>
            <a:pPr>
              <a:lnSpc>
                <a:spcPct val="130000"/>
              </a:lnSpc>
            </a:pPr>
            <a:endParaRPr lang="es-ES" sz="2000">
              <a:solidFill>
                <a:schemeClr val="accent1"/>
              </a:solidFill>
              <a:latin typeface="Century Gothic" panose="020B0502020202020204" pitchFamily="34" charset="0"/>
            </a:endParaRPr>
          </a:p>
        </p:txBody>
      </p:sp>
      <p:sp>
        <p:nvSpPr>
          <p:cNvPr id="7" name="CuadroTexto 6"/>
          <p:cNvSpPr txBox="1"/>
          <p:nvPr/>
        </p:nvSpPr>
        <p:spPr>
          <a:xfrm>
            <a:off x="4349445" y="3672923"/>
            <a:ext cx="3892278" cy="2049728"/>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1      Capitalización por año</a:t>
            </a:r>
          </a:p>
          <a:p>
            <a:pPr>
              <a:lnSpc>
                <a:spcPct val="130000"/>
              </a:lnSpc>
            </a:pPr>
            <a:r>
              <a:rPr lang="es-ES" sz="2000">
                <a:solidFill>
                  <a:schemeClr val="accent1"/>
                </a:solidFill>
                <a:latin typeface="Century Gothic" panose="020B0502020202020204" pitchFamily="34" charset="0"/>
              </a:rPr>
              <a:t>2      Capitalizaciones por año</a:t>
            </a:r>
          </a:p>
          <a:p>
            <a:pPr>
              <a:lnSpc>
                <a:spcPct val="130000"/>
              </a:lnSpc>
            </a:pPr>
            <a:r>
              <a:rPr lang="es-ES" sz="2000">
                <a:solidFill>
                  <a:schemeClr val="accent1"/>
                </a:solidFill>
                <a:latin typeface="Century Gothic" panose="020B0502020202020204" pitchFamily="34" charset="0"/>
              </a:rPr>
              <a:t>4      Capitalizaciones por año</a:t>
            </a:r>
          </a:p>
          <a:p>
            <a:pPr>
              <a:lnSpc>
                <a:spcPct val="130000"/>
              </a:lnSpc>
            </a:pPr>
            <a:r>
              <a:rPr lang="es-ES" sz="2000">
                <a:solidFill>
                  <a:schemeClr val="accent1"/>
                </a:solidFill>
                <a:latin typeface="Century Gothic" panose="020B0502020202020204" pitchFamily="34" charset="0"/>
              </a:rPr>
              <a:t>12    Capitalizaciones por año</a:t>
            </a:r>
          </a:p>
          <a:p>
            <a:pPr>
              <a:lnSpc>
                <a:spcPct val="130000"/>
              </a:lnSpc>
            </a:pPr>
            <a:r>
              <a:rPr lang="es-ES" sz="2000">
                <a:solidFill>
                  <a:schemeClr val="accent1"/>
                </a:solidFill>
                <a:latin typeface="Century Gothic" panose="020B0502020202020204" pitchFamily="34" charset="0"/>
              </a:rPr>
              <a:t>365  Capitalizaciones por año</a:t>
            </a:r>
          </a:p>
        </p:txBody>
      </p:sp>
      <p:sp>
        <p:nvSpPr>
          <p:cNvPr id="8" name="CuadroTexto 7"/>
          <p:cNvSpPr txBox="1"/>
          <p:nvPr/>
        </p:nvSpPr>
        <p:spPr>
          <a:xfrm>
            <a:off x="9402807" y="3625653"/>
            <a:ext cx="952605" cy="2092881"/>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n=1</a:t>
            </a:r>
          </a:p>
          <a:p>
            <a:pPr>
              <a:lnSpc>
                <a:spcPct val="130000"/>
              </a:lnSpc>
            </a:pPr>
            <a:r>
              <a:rPr lang="es-ES" sz="2000">
                <a:solidFill>
                  <a:schemeClr val="accent1"/>
                </a:solidFill>
                <a:latin typeface="Century Gothic" panose="020B0502020202020204" pitchFamily="34" charset="0"/>
              </a:rPr>
              <a:t>n=2</a:t>
            </a:r>
          </a:p>
          <a:p>
            <a:pPr>
              <a:lnSpc>
                <a:spcPct val="130000"/>
              </a:lnSpc>
            </a:pPr>
            <a:r>
              <a:rPr lang="es-ES" sz="2000">
                <a:solidFill>
                  <a:schemeClr val="accent1"/>
                </a:solidFill>
                <a:latin typeface="Century Gothic" panose="020B0502020202020204" pitchFamily="34" charset="0"/>
              </a:rPr>
              <a:t>n=4</a:t>
            </a:r>
          </a:p>
          <a:p>
            <a:pPr>
              <a:lnSpc>
                <a:spcPct val="130000"/>
              </a:lnSpc>
            </a:pPr>
            <a:r>
              <a:rPr lang="es-ES" sz="2000">
                <a:solidFill>
                  <a:schemeClr val="accent1"/>
                </a:solidFill>
                <a:latin typeface="Century Gothic" panose="020B0502020202020204" pitchFamily="34" charset="0"/>
              </a:rPr>
              <a:t>n=12</a:t>
            </a:r>
          </a:p>
          <a:p>
            <a:pPr>
              <a:lnSpc>
                <a:spcPct val="130000"/>
              </a:lnSpc>
            </a:pPr>
            <a:r>
              <a:rPr lang="es-ES" sz="2000">
                <a:solidFill>
                  <a:schemeClr val="accent1"/>
                </a:solidFill>
                <a:latin typeface="Century Gothic" panose="020B0502020202020204" pitchFamily="34" charset="0"/>
              </a:rPr>
              <a:t>n=365</a:t>
            </a:r>
          </a:p>
        </p:txBody>
      </p:sp>
      <p:sp>
        <p:nvSpPr>
          <p:cNvPr id="9" name="Flecha derecha 8"/>
          <p:cNvSpPr/>
          <p:nvPr/>
        </p:nvSpPr>
        <p:spPr>
          <a:xfrm>
            <a:off x="3307119" y="381538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0" name="Flecha derecha 9"/>
          <p:cNvSpPr/>
          <p:nvPr/>
        </p:nvSpPr>
        <p:spPr>
          <a:xfrm>
            <a:off x="3307119" y="4212333"/>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1" name="Flecha derecha 10"/>
          <p:cNvSpPr/>
          <p:nvPr/>
        </p:nvSpPr>
        <p:spPr>
          <a:xfrm>
            <a:off x="3307119" y="4601579"/>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2" name="Flecha derecha 11"/>
          <p:cNvSpPr/>
          <p:nvPr/>
        </p:nvSpPr>
        <p:spPr>
          <a:xfrm>
            <a:off x="3307119" y="5010640"/>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3" name="Flecha derecha 12"/>
          <p:cNvSpPr/>
          <p:nvPr/>
        </p:nvSpPr>
        <p:spPr>
          <a:xfrm>
            <a:off x="3307119" y="539083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4" name="Flecha derecha 13"/>
          <p:cNvSpPr/>
          <p:nvPr/>
        </p:nvSpPr>
        <p:spPr>
          <a:xfrm>
            <a:off x="8374196" y="382308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5" name="Flecha derecha 14"/>
          <p:cNvSpPr/>
          <p:nvPr/>
        </p:nvSpPr>
        <p:spPr>
          <a:xfrm>
            <a:off x="8360481" y="4212333"/>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6" name="Flecha derecha 15"/>
          <p:cNvSpPr/>
          <p:nvPr/>
        </p:nvSpPr>
        <p:spPr>
          <a:xfrm>
            <a:off x="8360481" y="4601579"/>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7" name="Flecha derecha 16"/>
          <p:cNvSpPr/>
          <p:nvPr/>
        </p:nvSpPr>
        <p:spPr>
          <a:xfrm>
            <a:off x="8360481" y="5006334"/>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8" name="Flecha derecha 17"/>
          <p:cNvSpPr/>
          <p:nvPr/>
        </p:nvSpPr>
        <p:spPr>
          <a:xfrm>
            <a:off x="8360481" y="539083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5" name="Rectángulo 4">
            <a:extLst>
              <a:ext uri="{FF2B5EF4-FFF2-40B4-BE49-F238E27FC236}">
                <a16:creationId xmlns:a16="http://schemas.microsoft.com/office/drawing/2014/main" id="{D8245322-DDEA-A2CE-F997-B64F904A74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90DFDF4A-7149-8770-54B6-665ABA677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73D61150-1684-A0B1-FCA7-28BA484F18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5000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704672" y="1039642"/>
            <a:ext cx="10307317" cy="2747038"/>
          </a:xfrm>
        </p:spPr>
        <p:txBody>
          <a:bodyPr>
            <a:normAutofit/>
          </a:bodyPr>
          <a:lstStyle/>
          <a:p>
            <a:pPr marL="0" indent="0" algn="just">
              <a:buNone/>
            </a:pPr>
            <a:r>
              <a:rPr lang="es-ES">
                <a:latin typeface="Century Gothic" panose="020B0502020202020204" pitchFamily="34" charset="0"/>
              </a:rPr>
              <a:t>Sabemos que entre </a:t>
            </a:r>
            <a:r>
              <a:rPr lang="es-ES" b="1">
                <a:solidFill>
                  <a:srgbClr val="D7A700"/>
                </a:solidFill>
                <a:latin typeface="Century Gothic" panose="020B0502020202020204" pitchFamily="34" charset="0"/>
              </a:rPr>
              <a:t>mayor número de capitalizaciones </a:t>
            </a:r>
            <a:r>
              <a:rPr lang="es-ES">
                <a:latin typeface="Century Gothic" panose="020B0502020202020204" pitchFamily="34" charset="0"/>
              </a:rPr>
              <a:t>haya en la tasa nominal, </a:t>
            </a:r>
            <a:r>
              <a:rPr lang="es-ES" b="1">
                <a:solidFill>
                  <a:schemeClr val="accent1"/>
                </a:solidFill>
                <a:latin typeface="Century Gothic" panose="020B0502020202020204" pitchFamily="34" charset="0"/>
              </a:rPr>
              <a:t>mayor será el equivalente en tasa efectiva</a:t>
            </a:r>
            <a:r>
              <a:rPr lang="es-ES">
                <a:latin typeface="Century Gothic" panose="020B0502020202020204" pitchFamily="34" charset="0"/>
              </a:rPr>
              <a:t>.</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30</a:t>
            </a:fld>
            <a:endParaRPr lang="en-US" sz="2000" b="1">
              <a:latin typeface="Century Gothic" panose="020B0502020202020204" pitchFamily="34" charset="0"/>
            </a:endParaRPr>
          </a:p>
        </p:txBody>
      </p:sp>
      <p:sp>
        <p:nvSpPr>
          <p:cNvPr id="23" name="Marcador de contenido 2"/>
          <p:cNvSpPr txBox="1">
            <a:spLocks/>
          </p:cNvSpPr>
          <p:nvPr/>
        </p:nvSpPr>
        <p:spPr>
          <a:xfrm>
            <a:off x="1594980" y="2738832"/>
            <a:ext cx="10032997" cy="27470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a:latin typeface="Century Gothic" panose="020B0502020202020204" pitchFamily="34" charset="0"/>
              </a:rPr>
              <a:t>Capitalicemos cada hora en un año</a:t>
            </a:r>
          </a:p>
          <a:p>
            <a:pPr marL="0" indent="0" algn="just">
              <a:buFont typeface="Wingdings 2" panose="05020102010507070707" pitchFamily="18" charset="2"/>
              <a:buNone/>
            </a:pPr>
            <a:r>
              <a:rPr lang="es-ES">
                <a:latin typeface="Century Gothic" panose="020B0502020202020204" pitchFamily="34" charset="0"/>
              </a:rPr>
              <a:t>Capitalicemos cada minuto en un año</a:t>
            </a:r>
          </a:p>
          <a:p>
            <a:pPr marL="0" indent="0" algn="just">
              <a:buFont typeface="Wingdings 2" panose="05020102010507070707" pitchFamily="18" charset="2"/>
              <a:buNone/>
            </a:pPr>
            <a:r>
              <a:rPr lang="es-ES">
                <a:latin typeface="Century Gothic" panose="020B0502020202020204" pitchFamily="34" charset="0"/>
              </a:rPr>
              <a:t>Capitalicemos cada segundo en un año</a:t>
            </a:r>
          </a:p>
          <a:p>
            <a:pPr marL="0" indent="0" algn="just">
              <a:buFont typeface="Wingdings 2" panose="05020102010507070707" pitchFamily="18" charset="2"/>
              <a:buNone/>
            </a:pPr>
            <a:r>
              <a:rPr lang="es-ES">
                <a:latin typeface="Century Gothic" panose="020B0502020202020204" pitchFamily="34" charset="0"/>
              </a:rPr>
              <a:t>Capitalicemos cada pestañeo en un año</a:t>
            </a:r>
          </a:p>
          <a:p>
            <a:pPr marL="0" indent="0" algn="just">
              <a:buFont typeface="Wingdings 2" panose="05020102010507070707" pitchFamily="18" charset="2"/>
              <a:buNone/>
            </a:pPr>
            <a:r>
              <a:rPr lang="es-ES">
                <a:latin typeface="Century Gothic" panose="020B0502020202020204" pitchFamily="34" charset="0"/>
              </a:rPr>
              <a:t>Capitalicemos infinitas veces en un año</a:t>
            </a:r>
          </a:p>
        </p:txBody>
      </p:sp>
      <p:sp>
        <p:nvSpPr>
          <p:cNvPr id="25" name="Marcador de contenido 2"/>
          <p:cNvSpPr txBox="1">
            <a:spLocks/>
          </p:cNvSpPr>
          <p:nvPr/>
        </p:nvSpPr>
        <p:spPr>
          <a:xfrm>
            <a:off x="704672" y="4347485"/>
            <a:ext cx="11112498" cy="27470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b="1">
                <a:solidFill>
                  <a:srgbClr val="C00000"/>
                </a:solidFill>
                <a:latin typeface="Century Gothic" panose="020B0502020202020204" pitchFamily="34" charset="0"/>
              </a:rPr>
              <a:t>Una tasa continua es aquella que capitaliza los intereses en un periodo continuo de tiempo.</a:t>
            </a:r>
          </a:p>
        </p:txBody>
      </p:sp>
      <p:sp>
        <p:nvSpPr>
          <p:cNvPr id="5" name="Rectángulo 4">
            <a:extLst>
              <a:ext uri="{FF2B5EF4-FFF2-40B4-BE49-F238E27FC236}">
                <a16:creationId xmlns:a16="http://schemas.microsoft.com/office/drawing/2014/main" id="{A28857CD-2E3D-9A1A-1F11-807C77340F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FC2D943-E859-1DDB-EEAA-9F9175F39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cared Horror GIF by SpongeBob SquarePants">
            <a:extLst>
              <a:ext uri="{FF2B5EF4-FFF2-40B4-BE49-F238E27FC236}">
                <a16:creationId xmlns:a16="http://schemas.microsoft.com/office/drawing/2014/main" id="{9DAD3190-B3BE-3F35-9FD0-0176D3EF17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6927" y="2692928"/>
            <a:ext cx="4150742" cy="2792942"/>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E53146EB-2A7F-8A55-4B63-3A7F51025C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2844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1539775" y="1876405"/>
            <a:ext cx="10174430" cy="3670767"/>
          </a:xfrm>
        </p:spPr>
        <p:txBody>
          <a:bodyPr>
            <a:normAutofit/>
          </a:bodyPr>
          <a:lstStyle/>
          <a:p>
            <a:pPr algn="just">
              <a:lnSpc>
                <a:spcPct val="110000"/>
              </a:lnSpc>
            </a:pPr>
            <a:r>
              <a:rPr lang="es-ES" dirty="0">
                <a:latin typeface="Century Gothic" panose="020B0502020202020204" pitchFamily="34" charset="0"/>
              </a:rPr>
              <a:t>Cuando hablamos de capitalización continua de los intereses ocurre los siguiente:</a:t>
            </a:r>
          </a:p>
          <a:p>
            <a:pPr algn="just">
              <a:lnSpc>
                <a:spcPct val="110000"/>
              </a:lnSpc>
            </a:pPr>
            <a:endParaRPr lang="es-ES" dirty="0">
              <a:latin typeface="Century Gothic" panose="020B0502020202020204" pitchFamily="34" charset="0"/>
            </a:endParaRPr>
          </a:p>
          <a:p>
            <a:pPr algn="just">
              <a:lnSpc>
                <a:spcPct val="110000"/>
              </a:lnSpc>
            </a:pPr>
            <a:r>
              <a:rPr lang="es-ES" dirty="0">
                <a:latin typeface="Century Gothic" panose="020B0502020202020204" pitchFamily="34" charset="0"/>
              </a:rPr>
              <a:t>Retomando nuestra expresión de equivalencia de tasas nominales y efectivas:</a:t>
            </a:r>
          </a:p>
          <a:p>
            <a:pPr marL="0" indent="0" algn="just">
              <a:lnSpc>
                <a:spcPct val="110000"/>
              </a:lnSpc>
              <a:buNone/>
            </a:pPr>
            <a:endParaRPr lang="es-ES" dirty="0">
              <a:latin typeface="Century Gothic" panose="020B0502020202020204" pitchFamily="34" charset="0"/>
            </a:endParaRPr>
          </a:p>
          <a:p>
            <a:pPr algn="just">
              <a:lnSpc>
                <a:spcPct val="110000"/>
              </a:lnSpc>
            </a:pPr>
            <a:endParaRPr lang="es-ES" dirty="0">
              <a:latin typeface="Century Gothic" panose="020B0502020202020204" pitchFamily="34" charset="0"/>
            </a:endParaRPr>
          </a:p>
          <a:p>
            <a:pPr algn="just">
              <a:lnSpc>
                <a:spcPct val="110000"/>
              </a:lnSpc>
            </a:pPr>
            <a:endParaRPr lang="es-ES" dirty="0">
              <a:latin typeface="Century Gothic" panose="020B0502020202020204" pitchFamily="34" charset="0"/>
            </a:endParaRPr>
          </a:p>
          <a:p>
            <a:pPr algn="just">
              <a:lnSpc>
                <a:spcPct val="110000"/>
              </a:lnSpc>
            </a:pPr>
            <a:r>
              <a:rPr lang="es-ES" dirty="0">
                <a:latin typeface="Century Gothic" panose="020B0502020202020204" pitchFamily="34" charset="0"/>
              </a:rPr>
              <a:t>Resolviendo:</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31</a:t>
            </a:fld>
            <a:endParaRPr lang="en-US" sz="2000" b="1">
              <a:latin typeface="Century Gothic" panose="020B0502020202020204" pitchFamily="34" charset="0"/>
            </a:endParaRPr>
          </a:p>
        </p:txBody>
      </p:sp>
      <p:sp>
        <p:nvSpPr>
          <p:cNvPr id="8" name="CuadroTexto 7"/>
          <p:cNvSpPr txBox="1"/>
          <p:nvPr/>
        </p:nvSpPr>
        <p:spPr>
          <a:xfrm>
            <a:off x="2294871" y="2653359"/>
            <a:ext cx="2116815" cy="697948"/>
          </a:xfrm>
          <a:prstGeom prst="rect">
            <a:avLst/>
          </a:prstGeom>
          <a:noFill/>
        </p:spPr>
        <p:txBody>
          <a:bodyPr wrap="square" rtlCol="0">
            <a:spAutoFit/>
          </a:bodyPr>
          <a:lstStyle/>
          <a:p>
            <a:pPr>
              <a:lnSpc>
                <a:spcPct val="130000"/>
              </a:lnSpc>
            </a:pPr>
            <a:r>
              <a:rPr lang="es-ES" sz="1600" b="1">
                <a:solidFill>
                  <a:srgbClr val="D7A700"/>
                </a:solidFill>
                <a:latin typeface="Century Gothic" panose="020B0502020202020204" pitchFamily="34" charset="0"/>
              </a:rPr>
              <a:t>20% Continuo</a:t>
            </a:r>
          </a:p>
          <a:p>
            <a:pPr>
              <a:lnSpc>
                <a:spcPct val="130000"/>
              </a:lnSpc>
            </a:pPr>
            <a:endParaRPr lang="es-ES" sz="1600">
              <a:solidFill>
                <a:srgbClr val="D7A700"/>
              </a:solidFill>
              <a:latin typeface="Century Gothic" panose="020B0502020202020204" pitchFamily="34" charset="0"/>
            </a:endParaRPr>
          </a:p>
        </p:txBody>
      </p:sp>
      <p:sp>
        <p:nvSpPr>
          <p:cNvPr id="9" name="CuadroTexto 8"/>
          <p:cNvSpPr txBox="1"/>
          <p:nvPr/>
        </p:nvSpPr>
        <p:spPr>
          <a:xfrm>
            <a:off x="5004329" y="2667679"/>
            <a:ext cx="3645039" cy="377860"/>
          </a:xfrm>
          <a:prstGeom prst="rect">
            <a:avLst/>
          </a:prstGeom>
          <a:noFill/>
        </p:spPr>
        <p:txBody>
          <a:bodyPr wrap="square" rtlCol="0">
            <a:spAutoFit/>
          </a:bodyPr>
          <a:lstStyle/>
          <a:p>
            <a:pPr>
              <a:lnSpc>
                <a:spcPct val="130000"/>
              </a:lnSpc>
            </a:pPr>
            <a:r>
              <a:rPr lang="es-ES" sz="1600" b="1">
                <a:solidFill>
                  <a:srgbClr val="C00000"/>
                </a:solidFill>
                <a:latin typeface="Century Gothic" panose="020B0502020202020204" pitchFamily="34" charset="0"/>
              </a:rPr>
              <a:t>∞ Capitalización por año</a:t>
            </a:r>
          </a:p>
        </p:txBody>
      </p:sp>
      <p:sp>
        <p:nvSpPr>
          <p:cNvPr id="10" name="CuadroTexto 9"/>
          <p:cNvSpPr txBox="1"/>
          <p:nvPr/>
        </p:nvSpPr>
        <p:spPr>
          <a:xfrm>
            <a:off x="9135482" y="2674952"/>
            <a:ext cx="952605" cy="377860"/>
          </a:xfrm>
          <a:prstGeom prst="rect">
            <a:avLst/>
          </a:prstGeom>
          <a:noFill/>
        </p:spPr>
        <p:txBody>
          <a:bodyPr wrap="square" rtlCol="0">
            <a:spAutoFit/>
          </a:bodyPr>
          <a:lstStyle/>
          <a:p>
            <a:pPr>
              <a:lnSpc>
                <a:spcPct val="130000"/>
              </a:lnSpc>
            </a:pPr>
            <a:r>
              <a:rPr lang="es-ES" sz="1600" b="1">
                <a:solidFill>
                  <a:schemeClr val="accent1"/>
                </a:solidFill>
                <a:latin typeface="Century Gothic" panose="020B0502020202020204" pitchFamily="34" charset="0"/>
              </a:rPr>
              <a:t>n=∞</a:t>
            </a:r>
          </a:p>
        </p:txBody>
      </p:sp>
      <p:sp>
        <p:nvSpPr>
          <p:cNvPr id="11" name="Flecha derecha 10"/>
          <p:cNvSpPr/>
          <p:nvPr/>
        </p:nvSpPr>
        <p:spPr>
          <a:xfrm>
            <a:off x="3886285" y="2773856"/>
            <a:ext cx="756921" cy="19241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p:sp>
        <p:nvSpPr>
          <p:cNvPr id="16" name="Flecha derecha 15"/>
          <p:cNvSpPr/>
          <p:nvPr/>
        </p:nvSpPr>
        <p:spPr>
          <a:xfrm>
            <a:off x="8034541" y="2782942"/>
            <a:ext cx="756921" cy="19241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p:sp>
        <p:nvSpPr>
          <p:cNvPr id="5" name="Rectángulo 4">
            <a:extLst>
              <a:ext uri="{FF2B5EF4-FFF2-40B4-BE49-F238E27FC236}">
                <a16:creationId xmlns:a16="http://schemas.microsoft.com/office/drawing/2014/main" id="{578E860D-C124-488E-E6E9-33FF67270E6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9251AA7-B7C1-DC00-59AF-A5A4C52C2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E86DB3E2-E4F6-576D-A4DB-A27CCFA7E417}"/>
                  </a:ext>
                </a:extLst>
              </p:cNvPr>
              <p:cNvSpPr txBox="1"/>
              <p:nvPr/>
            </p:nvSpPr>
            <p:spPr>
              <a:xfrm>
                <a:off x="5101061" y="3812462"/>
                <a:ext cx="2179056" cy="521938"/>
              </a:xfrm>
              <a:prstGeom prst="rect">
                <a:avLst/>
              </a:prstGeom>
              <a:noFill/>
            </p:spPr>
            <p:txBody>
              <a:bodyPr wrap="square" lIns="0" tIns="0" rIns="0" bIns="0" rtlCol="0">
                <a:spAutoFit/>
              </a:bodyPr>
              <a:lstStyle/>
              <a:p>
                <a:pPr/>
                <a14:m>
                  <m:oMathPara xmlns:m="http://schemas.openxmlformats.org/officeDocument/2006/math">
                    <m:o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d>
                            <m:dPr>
                              <m:ctrlPr>
                                <a:rPr lang="es-CO" b="0" i="1" smtClean="0">
                                  <a:latin typeface="Cambria Math" panose="02040503050406030204" pitchFamily="18" charset="0"/>
                                </a:rPr>
                              </m:ctrlPr>
                            </m:dPr>
                            <m:e>
                              <m:r>
                                <a:rPr lang="es-CO" b="0" i="1" smtClean="0">
                                  <a:latin typeface="Cambria Math" panose="02040503050406030204" pitchFamily="18" charset="0"/>
                                </a:rPr>
                                <m:t>1+</m:t>
                              </m:r>
                              <m:f>
                                <m:fPr>
                                  <m:ctrlPr>
                                    <a:rPr lang="es-CO" b="0" i="1" smtClean="0">
                                      <a:latin typeface="Cambria Math" panose="02040503050406030204" pitchFamily="18" charset="0"/>
                                    </a:rPr>
                                  </m:ctrlPr>
                                </m:fPr>
                                <m:num>
                                  <m:r>
                                    <a:rPr lang="es-CO" b="0" i="1" smtClean="0">
                                      <a:latin typeface="Cambria Math" panose="02040503050406030204" pitchFamily="18" charset="0"/>
                                    </a:rPr>
                                    <m:t>𝑟</m:t>
                                  </m:r>
                                </m:num>
                                <m:den>
                                  <m:r>
                                    <a:rPr lang="es-CO" b="0" i="1" smtClean="0">
                                      <a:latin typeface="Cambria Math" panose="02040503050406030204" pitchFamily="18" charset="0"/>
                                    </a:rPr>
                                    <m:t>𝑛</m:t>
                                  </m:r>
                                </m:den>
                              </m:f>
                            </m:e>
                          </m:d>
                        </m:e>
                        <m:sup>
                          <m:r>
                            <a:rPr lang="es-CO" b="0" i="1" smtClean="0">
                              <a:latin typeface="Cambria Math" panose="02040503050406030204" pitchFamily="18" charset="0"/>
                            </a:rPr>
                            <m:t>𝑛</m:t>
                          </m:r>
                        </m:sup>
                      </m:sSup>
                      <m:r>
                        <a:rPr lang="es-CO" b="0" i="1" smtClean="0">
                          <a:latin typeface="Cambria Math" panose="02040503050406030204" pitchFamily="18" charset="0"/>
                        </a:rPr>
                        <m:t>−1</m:t>
                      </m:r>
                    </m:oMath>
                  </m:oMathPara>
                </a14:m>
                <a:endParaRPr lang="es-CO"/>
              </a:p>
            </p:txBody>
          </p:sp>
        </mc:Choice>
        <mc:Fallback xmlns="">
          <p:sp>
            <p:nvSpPr>
              <p:cNvPr id="12" name="CuadroTexto 11">
                <a:extLst>
                  <a:ext uri="{FF2B5EF4-FFF2-40B4-BE49-F238E27FC236}">
                    <a16:creationId xmlns:a16="http://schemas.microsoft.com/office/drawing/2014/main" id="{E86DB3E2-E4F6-576D-A4DB-A27CCFA7E417}"/>
                  </a:ext>
                </a:extLst>
              </p:cNvPr>
              <p:cNvSpPr txBox="1">
                <a:spLocks noRot="1" noChangeAspect="1" noMove="1" noResize="1" noEditPoints="1" noAdjustHandles="1" noChangeArrowheads="1" noChangeShapeType="1" noTextEdit="1"/>
              </p:cNvSpPr>
              <p:nvPr/>
            </p:nvSpPr>
            <p:spPr>
              <a:xfrm>
                <a:off x="5101061" y="3812462"/>
                <a:ext cx="2179056" cy="521938"/>
              </a:xfrm>
              <a:prstGeom prst="rect">
                <a:avLst/>
              </a:prstGeom>
              <a:blipFill>
                <a:blip r:embed="rId3"/>
                <a:stretch>
                  <a:fillRect b="-71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C936C4D-CFBF-BA79-8A83-58FB405C73B2}"/>
                  </a:ext>
                </a:extLst>
              </p:cNvPr>
              <p:cNvSpPr txBox="1"/>
              <p:nvPr/>
            </p:nvSpPr>
            <p:spPr>
              <a:xfrm>
                <a:off x="4764009" y="4419437"/>
                <a:ext cx="2853159" cy="606320"/>
              </a:xfrm>
              <a:prstGeom prst="rect">
                <a:avLst/>
              </a:prstGeom>
              <a:noFill/>
            </p:spPr>
            <p:txBody>
              <a:bodyPr wrap="square">
                <a:spAutoFit/>
              </a:bodyPr>
              <a:lstStyle/>
              <a:p>
                <a:pPr/>
                <a14:m>
                  <m:oMathPara xmlns:m="http://schemas.openxmlformats.org/officeDocument/2006/math">
                    <m:o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func>
                        <m:funcPr>
                          <m:ctrlPr>
                            <a:rPr lang="pt-BR" b="0" i="1" smtClean="0">
                              <a:latin typeface="Cambria Math" panose="02040503050406030204" pitchFamily="18" charset="0"/>
                            </a:rPr>
                          </m:ctrlPr>
                        </m:funcPr>
                        <m:fName>
                          <m:limLow>
                            <m:limLowPr>
                              <m:ctrlPr>
                                <a:rPr lang="pt-BR" b="0" i="0"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pt-BR" b="0" i="1" smtClean="0">
                                  <a:latin typeface="Cambria Math" panose="02040503050406030204" pitchFamily="18" charset="0"/>
                                </a:rPr>
                                <m:t>𝑛</m:t>
                              </m:r>
                              <m:r>
                                <a:rPr lang="pt-BR" b="0" i="1" smtClean="0">
                                  <a:latin typeface="Cambria Math" panose="02040503050406030204" pitchFamily="18" charset="0"/>
                                </a:rPr>
                                <m:t>→∞</m:t>
                              </m:r>
                            </m:lim>
                          </m:limLow>
                        </m:fName>
                        <m:e>
                          <m:d>
                            <m:dPr>
                              <m:begChr m:val="["/>
                              <m:endChr m:val="]"/>
                              <m:ctrlPr>
                                <a:rPr lang="pt-BR" b="0" i="1" smtClean="0">
                                  <a:latin typeface="Cambria Math" panose="02040503050406030204" pitchFamily="18" charset="0"/>
                                </a:rPr>
                              </m:ctrlPr>
                            </m:dPr>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1+</m:t>
                                      </m:r>
                                      <m:f>
                                        <m:fPr>
                                          <m:ctrlPr>
                                            <a:rPr lang="es-CO" b="0" i="1" smtClean="0">
                                              <a:latin typeface="Cambria Math" panose="02040503050406030204" pitchFamily="18" charset="0"/>
                                            </a:rPr>
                                          </m:ctrlPr>
                                        </m:fPr>
                                        <m:num>
                                          <m:r>
                                            <a:rPr lang="es-CO" b="0" i="1" smtClean="0">
                                              <a:latin typeface="Cambria Math" panose="02040503050406030204" pitchFamily="18" charset="0"/>
                                            </a:rPr>
                                            <m:t>𝑟</m:t>
                                          </m:r>
                                        </m:num>
                                        <m:den>
                                          <m:r>
                                            <a:rPr lang="pt-BR" b="0" i="1" smtClean="0">
                                              <a:latin typeface="Cambria Math" panose="02040503050406030204" pitchFamily="18" charset="0"/>
                                            </a:rPr>
                                            <m:t>𝑛</m:t>
                                          </m:r>
                                        </m:den>
                                      </m:f>
                                    </m:e>
                                  </m:d>
                                </m:e>
                                <m:sup>
                                  <m:r>
                                    <a:rPr lang="pt-BR" b="0" i="1" smtClean="0">
                                      <a:latin typeface="Cambria Math" panose="02040503050406030204" pitchFamily="18" charset="0"/>
                                    </a:rPr>
                                    <m:t>𝑛</m:t>
                                  </m:r>
                                </m:sup>
                              </m:sSup>
                              <m:r>
                                <a:rPr lang="es-CO" b="0" i="1" smtClean="0">
                                  <a:latin typeface="Cambria Math" panose="02040503050406030204" pitchFamily="18" charset="0"/>
                                </a:rPr>
                                <m:t>−1</m:t>
                              </m:r>
                            </m:e>
                          </m:d>
                        </m:e>
                      </m:func>
                    </m:oMath>
                  </m:oMathPara>
                </a14:m>
                <a:endParaRPr lang="es-CO" dirty="0"/>
              </a:p>
            </p:txBody>
          </p:sp>
        </mc:Choice>
        <mc:Fallback xmlns="">
          <p:sp>
            <p:nvSpPr>
              <p:cNvPr id="14" name="CuadroTexto 13">
                <a:extLst>
                  <a:ext uri="{FF2B5EF4-FFF2-40B4-BE49-F238E27FC236}">
                    <a16:creationId xmlns:a16="http://schemas.microsoft.com/office/drawing/2014/main" id="{AC936C4D-CFBF-BA79-8A83-58FB405C73B2}"/>
                  </a:ext>
                </a:extLst>
              </p:cNvPr>
              <p:cNvSpPr txBox="1">
                <a:spLocks noRot="1" noChangeAspect="1" noMove="1" noResize="1" noEditPoints="1" noAdjustHandles="1" noChangeArrowheads="1" noChangeShapeType="1" noTextEdit="1"/>
              </p:cNvSpPr>
              <p:nvPr/>
            </p:nvSpPr>
            <p:spPr>
              <a:xfrm>
                <a:off x="4764009" y="4419437"/>
                <a:ext cx="2853159" cy="60632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8043DD3-6A6A-7817-284E-FC5064DFBC44}"/>
                  </a:ext>
                </a:extLst>
              </p:cNvPr>
              <p:cNvSpPr txBox="1"/>
              <p:nvPr/>
            </p:nvSpPr>
            <p:spPr>
              <a:xfrm>
                <a:off x="4719672" y="5319237"/>
                <a:ext cx="2941832" cy="708720"/>
              </a:xfrm>
              <a:prstGeom prst="rect">
                <a:avLst/>
              </a:prstGeom>
              <a:noFill/>
            </p:spPr>
            <p:txBody>
              <a:bodyPr wrap="square">
                <a:spAutoFit/>
              </a:bodyPr>
              <a:lstStyle/>
              <a:p>
                <a:pPr/>
                <a14:m>
                  <m:oMathPara xmlns:m="http://schemas.openxmlformats.org/officeDocument/2006/math">
                    <m:o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func>
                        <m:funcPr>
                          <m:ctrlPr>
                            <a:rPr lang="pt-BR" b="0" i="1" smtClean="0">
                              <a:latin typeface="Cambria Math" panose="02040503050406030204" pitchFamily="18" charset="0"/>
                            </a:rPr>
                          </m:ctrlPr>
                        </m:funcPr>
                        <m:fName>
                          <m:limLow>
                            <m:limLowPr>
                              <m:ctrlPr>
                                <a:rPr lang="pt-BR" b="0" i="0"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pt-BR" b="0" i="1" smtClean="0">
                                  <a:latin typeface="Cambria Math" panose="02040503050406030204" pitchFamily="18" charset="0"/>
                                </a:rPr>
                                <m:t>𝑛</m:t>
                              </m:r>
                              <m:r>
                                <a:rPr lang="pt-BR" b="0" i="1" smtClean="0">
                                  <a:latin typeface="Cambria Math" panose="02040503050406030204" pitchFamily="18" charset="0"/>
                                </a:rPr>
                                <m:t>→∞</m:t>
                              </m:r>
                            </m:lim>
                          </m:limLow>
                        </m:fName>
                        <m:e>
                          <m:d>
                            <m:dPr>
                              <m:begChr m:val="["/>
                              <m:endChr m:val="]"/>
                              <m:ctrlPr>
                                <a:rPr lang="pt-BR" b="0" i="1" smtClean="0">
                                  <a:latin typeface="Cambria Math" panose="02040503050406030204" pitchFamily="18" charset="0"/>
                                </a:rPr>
                              </m:ctrlPr>
                            </m:dPr>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1+</m:t>
                                      </m:r>
                                      <m:f>
                                        <m:fPr>
                                          <m:ctrlPr>
                                            <a:rPr lang="es-CO" b="0" i="1" smtClean="0">
                                              <a:latin typeface="Cambria Math" panose="02040503050406030204" pitchFamily="18" charset="0"/>
                                            </a:rPr>
                                          </m:ctrlPr>
                                        </m:fPr>
                                        <m:num>
                                          <m:r>
                                            <a:rPr lang="es-CO" b="0" i="1" smtClean="0">
                                              <a:latin typeface="Cambria Math" panose="02040503050406030204" pitchFamily="18" charset="0"/>
                                            </a:rPr>
                                            <m:t>𝑟</m:t>
                                          </m:r>
                                        </m:num>
                                        <m:den>
                                          <m:r>
                                            <a:rPr lang="pt-BR" b="0" i="1" smtClean="0">
                                              <a:latin typeface="Cambria Math" panose="02040503050406030204" pitchFamily="18" charset="0"/>
                                            </a:rPr>
                                            <m:t>𝑛</m:t>
                                          </m:r>
                                        </m:den>
                                      </m:f>
                                    </m:e>
                                  </m:d>
                                </m:e>
                                <m:sup>
                                  <m:f>
                                    <m:fPr>
                                      <m:ctrlPr>
                                        <a:rPr lang="pt-BR" b="0" i="1" smtClean="0">
                                          <a:latin typeface="Cambria Math" panose="02040503050406030204" pitchFamily="18" charset="0"/>
                                        </a:rPr>
                                      </m:ctrlPr>
                                    </m:fPr>
                                    <m:num>
                                      <m:r>
                                        <a:rPr lang="pt-BR" b="0" i="1" smtClean="0">
                                          <a:latin typeface="Cambria Math" panose="02040503050406030204" pitchFamily="18" charset="0"/>
                                        </a:rPr>
                                        <m:t>𝑛</m:t>
                                      </m:r>
                                    </m:num>
                                    <m:den>
                                      <m:r>
                                        <a:rPr lang="es-CO" b="0" i="1" smtClean="0">
                                          <a:latin typeface="Cambria Math" panose="02040503050406030204" pitchFamily="18" charset="0"/>
                                        </a:rPr>
                                        <m:t>𝑟</m:t>
                                      </m:r>
                                    </m:den>
                                  </m:f>
                                  <m:r>
                                    <a:rPr lang="es-CO" b="0" i="1" smtClean="0">
                                      <a:latin typeface="Cambria Math" panose="02040503050406030204" pitchFamily="18" charset="0"/>
                                      <a:ea typeface="Cambria Math" panose="02040503050406030204" pitchFamily="18" charset="0"/>
                                    </a:rPr>
                                    <m:t>×</m:t>
                                  </m:r>
                                  <m:r>
                                    <a:rPr lang="es-CO" b="0" i="1" smtClean="0">
                                      <a:latin typeface="Cambria Math" panose="02040503050406030204" pitchFamily="18" charset="0"/>
                                      <a:ea typeface="Cambria Math" panose="02040503050406030204" pitchFamily="18" charset="0"/>
                                    </a:rPr>
                                    <m:t>𝑟</m:t>
                                  </m:r>
                                </m:sup>
                              </m:sSup>
                              <m:r>
                                <a:rPr lang="es-CO" b="0" i="1" smtClean="0">
                                  <a:latin typeface="Cambria Math" panose="02040503050406030204" pitchFamily="18" charset="0"/>
                                </a:rPr>
                                <m:t>−1</m:t>
                              </m:r>
                            </m:e>
                          </m:d>
                        </m:e>
                      </m:func>
                    </m:oMath>
                  </m:oMathPara>
                </a14:m>
                <a:endParaRPr lang="es-CO"/>
              </a:p>
            </p:txBody>
          </p:sp>
        </mc:Choice>
        <mc:Fallback xmlns="">
          <p:sp>
            <p:nvSpPr>
              <p:cNvPr id="18" name="CuadroTexto 17">
                <a:extLst>
                  <a:ext uri="{FF2B5EF4-FFF2-40B4-BE49-F238E27FC236}">
                    <a16:creationId xmlns:a16="http://schemas.microsoft.com/office/drawing/2014/main" id="{A8043DD3-6A6A-7817-284E-FC5064DFBC44}"/>
                  </a:ext>
                </a:extLst>
              </p:cNvPr>
              <p:cNvSpPr txBox="1">
                <a:spLocks noRot="1" noChangeAspect="1" noMove="1" noResize="1" noEditPoints="1" noAdjustHandles="1" noChangeArrowheads="1" noChangeShapeType="1" noTextEdit="1"/>
              </p:cNvSpPr>
              <p:nvPr/>
            </p:nvSpPr>
            <p:spPr>
              <a:xfrm>
                <a:off x="4719672" y="5319237"/>
                <a:ext cx="2941832" cy="708720"/>
              </a:xfrm>
              <a:prstGeom prst="rect">
                <a:avLst/>
              </a:prstGeom>
              <a:blipFill>
                <a:blip r:embed="rId5"/>
                <a:stretch>
                  <a:fillRect b="-178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72104CFD-F676-C191-1D15-E9258BFE7634}"/>
                  </a:ext>
                </a:extLst>
              </p:cNvPr>
              <p:cNvSpPr txBox="1"/>
              <p:nvPr/>
            </p:nvSpPr>
            <p:spPr>
              <a:xfrm>
                <a:off x="5373406" y="6321262"/>
                <a:ext cx="1634364" cy="369332"/>
              </a:xfrm>
              <a:prstGeom prst="rect">
                <a:avLst/>
              </a:prstGeom>
              <a:noFill/>
            </p:spPr>
            <p:txBody>
              <a:bodyPr wrap="square">
                <a:spAutoFit/>
              </a:bodyPr>
              <a:lstStyle/>
              <a:p>
                <a:pPr/>
                <a14:m>
                  <m:oMathPara xmlns:m="http://schemas.openxmlformats.org/officeDocument/2006/math">
                    <m:o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𝑒</m:t>
                          </m:r>
                        </m:e>
                        <m:sup>
                          <m:r>
                            <a:rPr lang="es-CO" b="0" i="1" smtClean="0">
                              <a:latin typeface="Cambria Math" panose="02040503050406030204" pitchFamily="18" charset="0"/>
                            </a:rPr>
                            <m:t>𝑟</m:t>
                          </m:r>
                        </m:sup>
                      </m:sSup>
                      <m:r>
                        <a:rPr lang="es-CO" b="0" i="1" smtClean="0">
                          <a:latin typeface="Cambria Math" panose="02040503050406030204" pitchFamily="18" charset="0"/>
                        </a:rPr>
                        <m:t>−1</m:t>
                      </m:r>
                    </m:oMath>
                  </m:oMathPara>
                </a14:m>
                <a:endParaRPr lang="es-CO"/>
              </a:p>
            </p:txBody>
          </p:sp>
        </mc:Choice>
        <mc:Fallback xmlns="">
          <p:sp>
            <p:nvSpPr>
              <p:cNvPr id="20" name="CuadroTexto 19">
                <a:extLst>
                  <a:ext uri="{FF2B5EF4-FFF2-40B4-BE49-F238E27FC236}">
                    <a16:creationId xmlns:a16="http://schemas.microsoft.com/office/drawing/2014/main" id="{72104CFD-F676-C191-1D15-E9258BFE7634}"/>
                  </a:ext>
                </a:extLst>
              </p:cNvPr>
              <p:cNvSpPr txBox="1">
                <a:spLocks noRot="1" noChangeAspect="1" noMove="1" noResize="1" noEditPoints="1" noAdjustHandles="1" noChangeArrowheads="1" noChangeShapeType="1" noTextEdit="1"/>
              </p:cNvSpPr>
              <p:nvPr/>
            </p:nvSpPr>
            <p:spPr>
              <a:xfrm>
                <a:off x="5373406" y="6321262"/>
                <a:ext cx="1634364" cy="369332"/>
              </a:xfrm>
              <a:prstGeom prst="rect">
                <a:avLst/>
              </a:prstGeom>
              <a:blipFill>
                <a:blip r:embed="rId6"/>
                <a:stretch>
                  <a:fillRect/>
                </a:stretch>
              </a:blipFill>
            </p:spPr>
            <p:txBody>
              <a:bodyPr/>
              <a:lstStyle/>
              <a:p>
                <a:r>
                  <a:rPr lang="es-ES_tradnl">
                    <a:noFill/>
                  </a:rPr>
                  <a:t> </a:t>
                </a:r>
              </a:p>
            </p:txBody>
          </p:sp>
        </mc:Fallback>
      </mc:AlternateContent>
      <p:sp>
        <p:nvSpPr>
          <p:cNvPr id="13" name="Rectángulo 12">
            <a:extLst>
              <a:ext uri="{FF2B5EF4-FFF2-40B4-BE49-F238E27FC236}">
                <a16:creationId xmlns:a16="http://schemas.microsoft.com/office/drawing/2014/main" id="{34646C29-98EA-9826-BF3D-B09F1192DB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Flecha derecha 15">
            <a:extLst>
              <a:ext uri="{FF2B5EF4-FFF2-40B4-BE49-F238E27FC236}">
                <a16:creationId xmlns:a16="http://schemas.microsoft.com/office/drawing/2014/main" id="{4EB0E7A0-D1F1-CA34-D102-D7F060247731}"/>
              </a:ext>
            </a:extLst>
          </p:cNvPr>
          <p:cNvSpPr/>
          <p:nvPr/>
        </p:nvSpPr>
        <p:spPr>
          <a:xfrm>
            <a:off x="6904583" y="6415682"/>
            <a:ext cx="756921" cy="192416"/>
          </a:xfrm>
          <a:prstGeom prst="rightArrow">
            <a:avLst/>
          </a:prstGeom>
          <a:solidFill>
            <a:schemeClr val="accent1">
              <a:lumMod val="75000"/>
            </a:schemeClr>
          </a:solidFill>
          <a:ln>
            <a:solidFill>
              <a:schemeClr val="accent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5" name="CuadroTexto 19">
                <a:extLst>
                  <a:ext uri="{FF2B5EF4-FFF2-40B4-BE49-F238E27FC236}">
                    <a16:creationId xmlns:a16="http://schemas.microsoft.com/office/drawing/2014/main" id="{FAF0AF5A-6F65-34B4-D3FD-365F541471A8}"/>
                  </a:ext>
                </a:extLst>
              </p:cNvPr>
              <p:cNvSpPr txBox="1"/>
              <p:nvPr/>
            </p:nvSpPr>
            <p:spPr>
              <a:xfrm>
                <a:off x="7795115" y="6306964"/>
                <a:ext cx="1979080" cy="369332"/>
              </a:xfrm>
              <a:prstGeom prst="rect">
                <a:avLst/>
              </a:prstGeom>
              <a:solidFill>
                <a:schemeClr val="accent1">
                  <a:lumMod val="20000"/>
                  <a:lumOff val="80000"/>
                </a:schemeClr>
              </a:solidFill>
              <a:ln>
                <a:solidFill>
                  <a:schemeClr val="accent1"/>
                </a:solidFill>
              </a:ln>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𝑙𝑛</m:t>
                          </m:r>
                          <m:r>
                            <a:rPr lang="en-US" b="0" i="1" smtClean="0">
                              <a:latin typeface="Cambria Math" panose="02040503050406030204" pitchFamily="18" charset="0"/>
                            </a:rPr>
                            <m:t>(1+</m:t>
                          </m:r>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n-US" b="0" i="1" smtClean="0">
                          <a:latin typeface="Cambria Math" panose="02040503050406030204" pitchFamily="18" charset="0"/>
                        </a:rPr>
                        <m:t>)</m:t>
                      </m:r>
                    </m:oMath>
                  </m:oMathPara>
                </a14:m>
                <a:endParaRPr lang="es-CO" dirty="0"/>
              </a:p>
            </p:txBody>
          </p:sp>
        </mc:Choice>
        <mc:Fallback xmlns="">
          <p:sp>
            <p:nvSpPr>
              <p:cNvPr id="15" name="CuadroTexto 19">
                <a:extLst>
                  <a:ext uri="{FF2B5EF4-FFF2-40B4-BE49-F238E27FC236}">
                    <a16:creationId xmlns:a16="http://schemas.microsoft.com/office/drawing/2014/main" id="{FAF0AF5A-6F65-34B4-D3FD-365F541471A8}"/>
                  </a:ext>
                </a:extLst>
              </p:cNvPr>
              <p:cNvSpPr txBox="1">
                <a:spLocks noRot="1" noChangeAspect="1" noMove="1" noResize="1" noEditPoints="1" noAdjustHandles="1" noChangeArrowheads="1" noChangeShapeType="1" noTextEdit="1"/>
              </p:cNvSpPr>
              <p:nvPr/>
            </p:nvSpPr>
            <p:spPr>
              <a:xfrm>
                <a:off x="7795115" y="6306964"/>
                <a:ext cx="1979080" cy="369332"/>
              </a:xfrm>
              <a:prstGeom prst="rect">
                <a:avLst/>
              </a:prstGeom>
              <a:blipFill>
                <a:blip r:embed="rId7"/>
                <a:stretch>
                  <a:fillRect b="-9677"/>
                </a:stretch>
              </a:blipFill>
              <a:ln>
                <a:solidFill>
                  <a:schemeClr val="accent1"/>
                </a:solidFill>
              </a:ln>
            </p:spPr>
            <p:txBody>
              <a:bodyPr/>
              <a:lstStyle/>
              <a:p>
                <a:r>
                  <a:rPr lang="es-ES_tradnl">
                    <a:noFill/>
                  </a:rPr>
                  <a:t> </a:t>
                </a:r>
              </a:p>
            </p:txBody>
          </p:sp>
        </mc:Fallback>
      </mc:AlternateContent>
    </p:spTree>
    <p:extLst>
      <p:ext uri="{BB962C8B-B14F-4D97-AF65-F5344CB8AC3E}">
        <p14:creationId xmlns:p14="http://schemas.microsoft.com/office/powerpoint/2010/main" val="125628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p:tgtEl>
                                          <p:spTgt spid="16"/>
                                        </p:tgtEl>
                                        <p:attrNameLst>
                                          <p:attrName>ppt_y</p:attrName>
                                        </p:attrNameLst>
                                      </p:cBhvr>
                                      <p:tavLst>
                                        <p:tav tm="0">
                                          <p:val>
                                            <p:strVal val="#ppt_y+#ppt_h*1.125000"/>
                                          </p:val>
                                        </p:tav>
                                        <p:tav tm="100000">
                                          <p:val>
                                            <p:strVal val="#ppt_y"/>
                                          </p:val>
                                        </p:tav>
                                      </p:tavLst>
                                    </p:anim>
                                    <p:animEffect transition="in" filter="wipe(up)">
                                      <p:cBhvr>
                                        <p:cTn id="24" dur="500"/>
                                        <p:tgtEl>
                                          <p:spTgt spid="16"/>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p:tgtEl>
                                          <p:spTgt spid="10"/>
                                        </p:tgtEl>
                                        <p:attrNameLst>
                                          <p:attrName>ppt_y</p:attrName>
                                        </p:attrNameLst>
                                      </p:cBhvr>
                                      <p:tavLst>
                                        <p:tav tm="0">
                                          <p:val>
                                            <p:strVal val="#ppt_y+#ppt_h*1.125000"/>
                                          </p:val>
                                        </p:tav>
                                        <p:tav tm="100000">
                                          <p:val>
                                            <p:strVal val="#ppt_y"/>
                                          </p:val>
                                        </p:tav>
                                      </p:tavLst>
                                    </p:anim>
                                    <p:animEffect transition="in" filter="wipe(up)">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p:tgtEl>
                                          <p:spTgt spid="6"/>
                                        </p:tgtEl>
                                        <p:attrNameLst>
                                          <p:attrName>ppt_y</p:attrName>
                                        </p:attrNameLst>
                                      </p:cBhvr>
                                      <p:tavLst>
                                        <p:tav tm="0">
                                          <p:val>
                                            <p:strVal val="#ppt_y+#ppt_h*1.125000"/>
                                          </p:val>
                                        </p:tav>
                                        <p:tav tm="100000">
                                          <p:val>
                                            <p:strVal val="#ppt_y"/>
                                          </p:val>
                                        </p:tav>
                                      </p:tavLst>
                                    </p:anim>
                                    <p:animEffect transition="in" filter="wipe(up)">
                                      <p:cBhvr>
                                        <p:cTn id="56" dur="500"/>
                                        <p:tgtEl>
                                          <p:spTgt spid="6"/>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6" grpId="0" animBg="1"/>
      <p:bldP spid="12" grpId="0"/>
      <p:bldP spid="14" grpId="0"/>
      <p:bldP spid="18" grpId="0"/>
      <p:bldP spid="20" grpId="0"/>
      <p:bldP spid="6"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581192" y="1356489"/>
            <a:ext cx="11029615" cy="3678303"/>
          </a:xfrm>
        </p:spPr>
        <p:txBody>
          <a:bodyPr>
            <a:normAutofit/>
          </a:bodyPr>
          <a:lstStyle/>
          <a:p>
            <a:pPr algn="just"/>
            <a:r>
              <a:rPr lang="es-ES">
                <a:latin typeface="Century Gothic" panose="020B0502020202020204" pitchFamily="34" charset="0"/>
              </a:rPr>
              <a:t>El cobro de un </a:t>
            </a:r>
            <a:r>
              <a:rPr lang="es-ES" b="1">
                <a:solidFill>
                  <a:srgbClr val="D7A700"/>
                </a:solidFill>
                <a:latin typeface="Century Gothic" panose="020B0502020202020204" pitchFamily="34" charset="0"/>
              </a:rPr>
              <a:t>interés continuo</a:t>
            </a:r>
            <a:r>
              <a:rPr lang="es-ES">
                <a:solidFill>
                  <a:srgbClr val="D7A700"/>
                </a:solidFill>
                <a:latin typeface="Century Gothic" panose="020B0502020202020204" pitchFamily="34" charset="0"/>
              </a:rPr>
              <a:t> </a:t>
            </a:r>
            <a:r>
              <a:rPr lang="es-ES">
                <a:latin typeface="Century Gothic" panose="020B0502020202020204" pitchFamily="34" charset="0"/>
              </a:rPr>
              <a:t>en la práctica no es usual. Es muy utilizado en la teoría, ya que permite </a:t>
            </a:r>
            <a:r>
              <a:rPr lang="es-ES" b="1">
                <a:solidFill>
                  <a:schemeClr val="accent1"/>
                </a:solidFill>
                <a:latin typeface="Century Gothic" panose="020B0502020202020204" pitchFamily="34" charset="0"/>
              </a:rPr>
              <a:t>simplificar</a:t>
            </a:r>
            <a:r>
              <a:rPr lang="es-ES">
                <a:latin typeface="Century Gothic" panose="020B0502020202020204" pitchFamily="34" charset="0"/>
              </a:rPr>
              <a:t> las expresiones matemáticas y los resultados que de ellas se derivan. </a:t>
            </a:r>
          </a:p>
          <a:p>
            <a:pPr algn="just"/>
            <a:r>
              <a:rPr lang="es-ES">
                <a:latin typeface="Century Gothic" panose="020B0502020202020204" pitchFamily="34" charset="0"/>
              </a:rPr>
              <a:t>Se utiliza en </a:t>
            </a:r>
            <a:r>
              <a:rPr lang="es-ES" b="1">
                <a:solidFill>
                  <a:srgbClr val="C00000"/>
                </a:solidFill>
                <a:latin typeface="Century Gothic" panose="020B0502020202020204" pitchFamily="34" charset="0"/>
              </a:rPr>
              <a:t>cursos de valoración de instrumentos financieros</a:t>
            </a:r>
            <a:r>
              <a:rPr lang="es-ES">
                <a:latin typeface="Century Gothic" panose="020B0502020202020204" pitchFamily="34" charset="0"/>
              </a:rPr>
              <a:t> (Gerencia Financiera del Riesgo, Mercados Derivados)</a:t>
            </a:r>
          </a:p>
          <a:p>
            <a:pPr algn="just"/>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32</a:t>
            </a:fld>
            <a:endParaRPr lang="en-US" sz="2000" b="1">
              <a:latin typeface="Century Gothic" panose="020B0502020202020204" pitchFamily="34" charset="0"/>
            </a:endParaRPr>
          </a:p>
        </p:txBody>
      </p:sp>
      <p:pic>
        <p:nvPicPr>
          <p:cNvPr id="18434" name="Picture 2" descr="Resultado de imagen para mercado derivad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5508" y="3630055"/>
            <a:ext cx="4036810" cy="269120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09CD944-DE66-A22B-7814-666A0949E15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E334918-E3FF-0E74-DF5D-F88F65C1F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6AFA5CA-D828-0D84-9C6A-795DABA75D7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2160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04733-9DEA-6888-108E-9D09EC0D74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EAFFA0-87B3-E81C-43DA-E5CD503BDB9C}"/>
              </a:ext>
            </a:extLst>
          </p:cNvPr>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a:extLst>
              <a:ext uri="{FF2B5EF4-FFF2-40B4-BE49-F238E27FC236}">
                <a16:creationId xmlns:a16="http://schemas.microsoft.com/office/drawing/2014/main" id="{2A6B98B4-0C8C-3CF2-7FA4-DE36735C98ED}"/>
              </a:ext>
            </a:extLst>
          </p:cNvPr>
          <p:cNvSpPr>
            <a:spLocks noGrp="1"/>
          </p:cNvSpPr>
          <p:nvPr>
            <p:ph idx="1"/>
          </p:nvPr>
        </p:nvSpPr>
        <p:spPr>
          <a:xfrm>
            <a:off x="581192" y="2640239"/>
            <a:ext cx="11029615" cy="653144"/>
          </a:xfrm>
        </p:spPr>
        <p:txBody>
          <a:bodyPr>
            <a:normAutofit/>
          </a:bodyPr>
          <a:lstStyle/>
          <a:p>
            <a:pPr algn="just"/>
            <a:r>
              <a:rPr lang="es-ES" dirty="0">
                <a:latin typeface="Century Gothic" panose="020B0502020202020204" pitchFamily="34" charset="0"/>
              </a:rPr>
              <a:t>¿Por qué decimos que con el interés continuo permite simplificar expresiones matemáticas?</a:t>
            </a:r>
          </a:p>
        </p:txBody>
      </p:sp>
      <p:sp>
        <p:nvSpPr>
          <p:cNvPr id="4" name="Marcador de número de diapositiva 3">
            <a:extLst>
              <a:ext uri="{FF2B5EF4-FFF2-40B4-BE49-F238E27FC236}">
                <a16:creationId xmlns:a16="http://schemas.microsoft.com/office/drawing/2014/main" id="{2F6A1C72-6114-2E85-832C-4E2C2CCB02C6}"/>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33</a:t>
            </a:fld>
            <a:endParaRPr lang="en-US" sz="2000" b="1">
              <a:latin typeface="Century Gothic" panose="020B0502020202020204" pitchFamily="34" charset="0"/>
            </a:endParaRPr>
          </a:p>
        </p:txBody>
      </p:sp>
      <p:sp>
        <p:nvSpPr>
          <p:cNvPr id="9" name="Rectángulo 8">
            <a:extLst>
              <a:ext uri="{FF2B5EF4-FFF2-40B4-BE49-F238E27FC236}">
                <a16:creationId xmlns:a16="http://schemas.microsoft.com/office/drawing/2014/main" id="{41CA4649-9BEB-C89E-EF46-2C211E881FF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8D9D0B8-DF30-A2CC-12DD-510D2AC35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C374361-F28B-7C16-2FD8-45CBD3F724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0DEAF6B-3997-0701-2D5C-614A1983B4BB}"/>
                  </a:ext>
                </a:extLst>
              </p:cNvPr>
              <p:cNvSpPr txBox="1"/>
              <p:nvPr/>
            </p:nvSpPr>
            <p:spPr>
              <a:xfrm>
                <a:off x="2763003" y="3564618"/>
                <a:ext cx="6665991" cy="523220"/>
              </a:xfrm>
              <a:prstGeom prst="rect">
                <a:avLst/>
              </a:prstGeom>
              <a:noFill/>
            </p:spPr>
            <p:txBody>
              <a:bodyPr wrap="square">
                <a:spAutoFit/>
              </a:bodyPr>
              <a:lstStyle/>
              <a:p>
                <a:pPr algn="ctr"/>
                <a14:m>
                  <m:oMath xmlns:m="http://schemas.openxmlformats.org/officeDocument/2006/math">
                    <m:r>
                      <a:rPr lang="es-ES" sz="2800" b="0" i="1" smtClean="0">
                        <a:latin typeface="Cambria Math" panose="02040503050406030204" pitchFamily="18" charset="0"/>
                      </a:rPr>
                      <m:t>𝑆𝑎𝑙𝑑</m:t>
                    </m:r>
                    <m:sSub>
                      <m:sSubPr>
                        <m:ctrlPr>
                          <a:rPr lang="es-ES" sz="2800" b="0" i="1" smtClean="0">
                            <a:latin typeface="Cambria Math" panose="02040503050406030204" pitchFamily="18" charset="0"/>
                          </a:rPr>
                        </m:ctrlPr>
                      </m:sSubPr>
                      <m:e>
                        <m:r>
                          <a:rPr lang="es-ES" sz="2800" b="0" i="1" smtClean="0">
                            <a:latin typeface="Cambria Math" panose="02040503050406030204" pitchFamily="18" charset="0"/>
                          </a:rPr>
                          <m:t>𝑜</m:t>
                        </m:r>
                      </m:e>
                      <m:sub>
                        <m:r>
                          <a:rPr lang="es-ES" sz="2800" i="1">
                            <a:latin typeface="Cambria Math" panose="02040503050406030204" pitchFamily="18" charset="0"/>
                          </a:rPr>
                          <m:t>𝐹𝑖𝑛𝑎𝑙</m:t>
                        </m:r>
                      </m:sub>
                    </m:sSub>
                    <m:r>
                      <a:rPr lang="es-ES" sz="2800" b="0" i="1" smtClean="0">
                        <a:latin typeface="Cambria Math" panose="02040503050406030204" pitchFamily="18" charset="0"/>
                      </a:rPr>
                      <m:t> </m:t>
                    </m:r>
                    <m:r>
                      <a:rPr lang="es-CO" sz="2800" b="0" i="1" smtClean="0">
                        <a:latin typeface="Cambria Math" panose="02040503050406030204" pitchFamily="18" charset="0"/>
                      </a:rPr>
                      <m:t>=</m:t>
                    </m:r>
                    <m:r>
                      <a:rPr lang="es-ES" sz="2800" b="0" i="1" smtClean="0">
                        <a:latin typeface="Cambria Math" panose="02040503050406030204" pitchFamily="18" charset="0"/>
                      </a:rPr>
                      <m:t>𝑆𝑎𝑙𝑑</m:t>
                    </m:r>
                    <m:sSub>
                      <m:sSubPr>
                        <m:ctrlPr>
                          <a:rPr lang="es-ES" sz="2800" b="0" i="1" smtClean="0">
                            <a:latin typeface="Cambria Math" panose="02040503050406030204" pitchFamily="18" charset="0"/>
                          </a:rPr>
                        </m:ctrlPr>
                      </m:sSubPr>
                      <m:e>
                        <m:r>
                          <a:rPr lang="es-ES" sz="2800" b="0" i="1" smtClean="0">
                            <a:latin typeface="Cambria Math" panose="02040503050406030204" pitchFamily="18" charset="0"/>
                          </a:rPr>
                          <m:t>𝑜</m:t>
                        </m:r>
                      </m:e>
                      <m:sub>
                        <m:r>
                          <a:rPr lang="es-ES" sz="2800" b="0" i="1" smtClean="0">
                            <a:latin typeface="Cambria Math" panose="02040503050406030204" pitchFamily="18" charset="0"/>
                          </a:rPr>
                          <m:t>𝑖𝑛𝑖𝑐𝑖𝑎𝑙</m:t>
                        </m:r>
                      </m:sub>
                    </m:sSub>
                    <m:r>
                      <a:rPr lang="es-ES" sz="2800" b="0" i="1" smtClean="0">
                        <a:latin typeface="Cambria Math" panose="02040503050406030204" pitchFamily="18" charset="0"/>
                      </a:rPr>
                      <m:t>∗</m:t>
                    </m:r>
                    <m:sSup>
                      <m:sSupPr>
                        <m:ctrlPr>
                          <a:rPr lang="es-ES" sz="2800" b="0" i="1" smtClean="0">
                            <a:latin typeface="Cambria Math" panose="02040503050406030204" pitchFamily="18" charset="0"/>
                          </a:rPr>
                        </m:ctrlPr>
                      </m:sSupPr>
                      <m:e>
                        <m:r>
                          <a:rPr lang="es-ES" sz="2800" b="0" i="1" smtClean="0">
                            <a:latin typeface="Cambria Math" panose="02040503050406030204" pitchFamily="18" charset="0"/>
                          </a:rPr>
                          <m:t>𝑒</m:t>
                        </m:r>
                      </m:e>
                      <m:sup>
                        <m:r>
                          <a:rPr lang="es-ES" sz="2800" b="0" i="1" smtClean="0">
                            <a:latin typeface="Cambria Math" panose="02040503050406030204" pitchFamily="18" charset="0"/>
                          </a:rPr>
                          <m:t>𝑟</m:t>
                        </m:r>
                      </m:sup>
                    </m:sSup>
                  </m:oMath>
                </a14:m>
                <a:r>
                  <a:rPr lang="es-CO" sz="2800"/>
                  <a:t>  </a:t>
                </a:r>
              </a:p>
            </p:txBody>
          </p:sp>
        </mc:Choice>
        <mc:Fallback xmlns="">
          <p:sp>
            <p:nvSpPr>
              <p:cNvPr id="6" name="CuadroTexto 5">
                <a:extLst>
                  <a:ext uri="{FF2B5EF4-FFF2-40B4-BE49-F238E27FC236}">
                    <a16:creationId xmlns:a16="http://schemas.microsoft.com/office/drawing/2014/main" id="{20DEAF6B-3997-0701-2D5C-614A1983B4BB}"/>
                  </a:ext>
                </a:extLst>
              </p:cNvPr>
              <p:cNvSpPr txBox="1">
                <a:spLocks noRot="1" noChangeAspect="1" noMove="1" noResize="1" noEditPoints="1" noAdjustHandles="1" noChangeArrowheads="1" noChangeShapeType="1" noTextEdit="1"/>
              </p:cNvSpPr>
              <p:nvPr/>
            </p:nvSpPr>
            <p:spPr>
              <a:xfrm>
                <a:off x="2763003" y="3564618"/>
                <a:ext cx="6665991" cy="523220"/>
              </a:xfrm>
              <a:prstGeom prst="rect">
                <a:avLst/>
              </a:prstGeom>
              <a:blipFill>
                <a:blip r:embed="rId3"/>
                <a:stretch>
                  <a:fillRect b="-2093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Marcador de contenido 2">
                <a:extLst>
                  <a:ext uri="{FF2B5EF4-FFF2-40B4-BE49-F238E27FC236}">
                    <a16:creationId xmlns:a16="http://schemas.microsoft.com/office/drawing/2014/main" id="{89E12853-60B7-2461-3FC5-1549B85CFE36}"/>
                  </a:ext>
                </a:extLst>
              </p:cNvPr>
              <p:cNvSpPr txBox="1">
                <a:spLocks/>
              </p:cNvSpPr>
              <p:nvPr/>
            </p:nvSpPr>
            <p:spPr>
              <a:xfrm>
                <a:off x="520420" y="4488901"/>
                <a:ext cx="11029615" cy="653144"/>
              </a:xfrm>
              <a:prstGeom prst="rect">
                <a:avLst/>
              </a:prstGeom>
            </p:spPr>
            <p:txBody>
              <a:bodyPr vert="horz" lIns="91440" tIns="45720" rIns="91440" bIns="45720" rtlCol="0" anchor="ct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s-ES">
                    <a:latin typeface="Century Gothic" panose="020B0502020202020204" pitchFamily="34" charset="0"/>
                  </a:rPr>
                  <a:t>Donde </a:t>
                </a:r>
                <a14:m>
                  <m:oMath xmlns:m="http://schemas.openxmlformats.org/officeDocument/2006/math">
                    <m:r>
                      <a:rPr lang="es-ES" b="0" i="1" smtClean="0">
                        <a:latin typeface="Cambria Math" panose="02040503050406030204" pitchFamily="18" charset="0"/>
                      </a:rPr>
                      <m:t>𝑟</m:t>
                    </m:r>
                    <m:r>
                      <a:rPr lang="es-ES" b="0" i="1" smtClean="0">
                        <a:latin typeface="Cambria Math" panose="02040503050406030204" pitchFamily="18" charset="0"/>
                      </a:rPr>
                      <m:t> </m:t>
                    </m:r>
                  </m:oMath>
                </a14:m>
                <a:r>
                  <a:rPr lang="es-ES">
                    <a:latin typeface="Century Gothic" panose="020B0502020202020204" pitchFamily="34" charset="0"/>
                  </a:rPr>
                  <a:t>es igual a la tasa de capitalización continua (C.C.)</a:t>
                </a:r>
              </a:p>
              <a:p>
                <a:pPr algn="just"/>
                <a:r>
                  <a:rPr lang="es-ES">
                    <a:latin typeface="Century Gothic" panose="020B0502020202020204" pitchFamily="34" charset="0"/>
                  </a:rPr>
                  <a:t>Así mismo la conversión de tasas de interés es mas simple.</a:t>
                </a:r>
              </a:p>
            </p:txBody>
          </p:sp>
        </mc:Choice>
        <mc:Fallback xmlns="">
          <p:sp>
            <p:nvSpPr>
              <p:cNvPr id="7" name="Marcador de contenido 2">
                <a:extLst>
                  <a:ext uri="{FF2B5EF4-FFF2-40B4-BE49-F238E27FC236}">
                    <a16:creationId xmlns:a16="http://schemas.microsoft.com/office/drawing/2014/main" id="{89E12853-60B7-2461-3FC5-1549B85CFE36}"/>
                  </a:ext>
                </a:extLst>
              </p:cNvPr>
              <p:cNvSpPr txBox="1">
                <a:spLocks noRot="1" noChangeAspect="1" noMove="1" noResize="1" noEditPoints="1" noAdjustHandles="1" noChangeArrowheads="1" noChangeShapeType="1" noTextEdit="1"/>
              </p:cNvSpPr>
              <p:nvPr/>
            </p:nvSpPr>
            <p:spPr>
              <a:xfrm>
                <a:off x="520420" y="4488901"/>
                <a:ext cx="11029615" cy="653144"/>
              </a:xfrm>
              <a:prstGeom prst="rect">
                <a:avLst/>
              </a:prstGeom>
              <a:blipFill>
                <a:blip r:embed="rId4"/>
                <a:stretch>
                  <a:fillRect l="-115" t="-9434" b="-9434"/>
                </a:stretch>
              </a:blipFill>
            </p:spPr>
            <p:txBody>
              <a:bodyPr/>
              <a:lstStyle/>
              <a:p>
                <a:r>
                  <a:rPr lang="es-ES_tradnl">
                    <a:noFill/>
                  </a:rPr>
                  <a:t> </a:t>
                </a:r>
              </a:p>
            </p:txBody>
          </p:sp>
        </mc:Fallback>
      </mc:AlternateContent>
    </p:spTree>
    <p:extLst>
      <p:ext uri="{BB962C8B-B14F-4D97-AF65-F5344CB8AC3E}">
        <p14:creationId xmlns:p14="http://schemas.microsoft.com/office/powerpoint/2010/main" val="314903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245C-8C54-934C-2AAB-CCD10E18A0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F2FD3E-EF7E-9D1D-68D6-520C727E18E2}"/>
              </a:ext>
            </a:extLst>
          </p:cNvPr>
          <p:cNvSpPr>
            <a:spLocks noGrp="1"/>
          </p:cNvSpPr>
          <p:nvPr>
            <p:ph type="title"/>
          </p:nvPr>
        </p:nvSpPr>
        <p:spPr/>
        <p:txBody>
          <a:bodyPr/>
          <a:lstStyle/>
          <a:p>
            <a:r>
              <a:rPr lang="es-ES">
                <a:latin typeface="Century Gothic" panose="020B0502020202020204" pitchFamily="34" charset="0"/>
              </a:rPr>
              <a:t>Interés Discreto / Continuo</a:t>
            </a:r>
          </a:p>
        </p:txBody>
      </p:sp>
      <p:sp>
        <p:nvSpPr>
          <p:cNvPr id="4" name="Marcador de número de diapositiva 3">
            <a:extLst>
              <a:ext uri="{FF2B5EF4-FFF2-40B4-BE49-F238E27FC236}">
                <a16:creationId xmlns:a16="http://schemas.microsoft.com/office/drawing/2014/main" id="{B3F0A769-FA52-96C6-D6EE-4553B09D51D8}"/>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34</a:t>
            </a:fld>
            <a:endParaRPr lang="en-US" sz="2000" b="1">
              <a:latin typeface="Century Gothic" panose="020B0502020202020204" pitchFamily="34" charset="0"/>
            </a:endParaRPr>
          </a:p>
        </p:txBody>
      </p:sp>
      <p:sp>
        <p:nvSpPr>
          <p:cNvPr id="9" name="Rectángulo 8">
            <a:extLst>
              <a:ext uri="{FF2B5EF4-FFF2-40B4-BE49-F238E27FC236}">
                <a16:creationId xmlns:a16="http://schemas.microsoft.com/office/drawing/2014/main" id="{E5E700E0-F27D-B476-0198-561B7A570BF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BF21D69-B43C-85D8-A965-84BB90D15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6AD3C2F-8A05-ABCC-7597-74247853EF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ángulo 7">
            <a:extLst>
              <a:ext uri="{FF2B5EF4-FFF2-40B4-BE49-F238E27FC236}">
                <a16:creationId xmlns:a16="http://schemas.microsoft.com/office/drawing/2014/main" id="{B5EF0A21-8F44-8711-81B7-6C39DFAE9A17}"/>
              </a:ext>
            </a:extLst>
          </p:cNvPr>
          <p:cNvSpPr/>
          <p:nvPr/>
        </p:nvSpPr>
        <p:spPr>
          <a:xfrm>
            <a:off x="413752" y="2148153"/>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3.1.</a:t>
            </a:r>
            <a:endParaRPr lang="es-CO" sz="2000"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B7A63CF2-A6B2-5CEA-2085-6FA216FEEE1A}"/>
              </a:ext>
            </a:extLst>
          </p:cNvPr>
          <p:cNvSpPr txBox="1"/>
          <p:nvPr/>
        </p:nvSpPr>
        <p:spPr>
          <a:xfrm>
            <a:off x="581192" y="2690336"/>
            <a:ext cx="11029615" cy="1477328"/>
          </a:xfrm>
          <a:prstGeom prst="rect">
            <a:avLst/>
          </a:prstGeom>
          <a:noFill/>
        </p:spPr>
        <p:txBody>
          <a:bodyPr wrap="square">
            <a:spAutoFit/>
          </a:bodyPr>
          <a:lstStyle/>
          <a:p>
            <a:pPr algn="ctr">
              <a:buNone/>
            </a:pPr>
            <a:r>
              <a:rPr lang="es-CO">
                <a:solidFill>
                  <a:schemeClr val="accent1"/>
                </a:solidFill>
                <a:effectLst/>
                <a:latin typeface="Century Gothic" panose="020B0502020202020204" pitchFamily="34" charset="0"/>
              </a:rPr>
              <a:t>Considere que usted es un ahorrador y decide guardar su dinero en un banco por 4 meses para poder consumir más en el paseo de fin de año.</a:t>
            </a:r>
          </a:p>
          <a:p>
            <a:pPr algn="ctr">
              <a:buNone/>
            </a:pPr>
            <a:endParaRPr lang="es-CO">
              <a:solidFill>
                <a:schemeClr val="accent1"/>
              </a:solidFill>
              <a:effectLst/>
              <a:latin typeface="Century Gothic" panose="020B0502020202020204" pitchFamily="34" charset="0"/>
            </a:endParaRPr>
          </a:p>
          <a:p>
            <a:pPr algn="ctr">
              <a:buNone/>
            </a:pPr>
            <a:r>
              <a:rPr lang="es-CO">
                <a:solidFill>
                  <a:schemeClr val="accent1"/>
                </a:solidFill>
                <a:effectLst/>
                <a:latin typeface="Century Gothic" panose="020B0502020202020204" pitchFamily="34" charset="0"/>
              </a:rPr>
              <a:t>Usted cuenta con $930. Si la tasa que le ofrece el banco es de </a:t>
            </a:r>
            <a:r>
              <a:rPr lang="es-CO" b="1">
                <a:solidFill>
                  <a:schemeClr val="accent1"/>
                </a:solidFill>
                <a:effectLst/>
                <a:latin typeface="Century Gothic" panose="020B0502020202020204" pitchFamily="34" charset="0"/>
              </a:rPr>
              <a:t>6% anual continua</a:t>
            </a:r>
            <a:r>
              <a:rPr lang="es-CO">
                <a:solidFill>
                  <a:schemeClr val="accent1"/>
                </a:solidFill>
                <a:effectLst/>
                <a:latin typeface="Century Gothic" panose="020B0502020202020204" pitchFamily="34" charset="0"/>
              </a:rPr>
              <a:t>, ¿cuánto tendría usted para pasarla bien?</a:t>
            </a:r>
          </a:p>
        </p:txBody>
      </p:sp>
      <p:pic>
        <p:nvPicPr>
          <p:cNvPr id="34818" name="Picture 2" descr="Interés compuesto: Fórmula y ejemplos">
            <a:extLst>
              <a:ext uri="{FF2B5EF4-FFF2-40B4-BE49-F238E27FC236}">
                <a16:creationId xmlns:a16="http://schemas.microsoft.com/office/drawing/2014/main" id="{9ADCB15A-A83A-69F9-A7C8-E67D785C5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749" y="4619901"/>
            <a:ext cx="2287451" cy="171558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5CE12D1-1D61-DD21-BF4D-D29AAAB61D32}"/>
                  </a:ext>
                </a:extLst>
              </p:cNvPr>
              <p:cNvSpPr txBox="1"/>
              <p:nvPr/>
            </p:nvSpPr>
            <p:spPr>
              <a:xfrm>
                <a:off x="3417987" y="4478291"/>
                <a:ext cx="5087185" cy="283219"/>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s-419" b="0" i="1" smtClean="0">
                          <a:latin typeface="Cambria Math" panose="02040503050406030204" pitchFamily="18" charset="0"/>
                        </a:rPr>
                        <m:t>6% </m:t>
                      </m:r>
                      <m:r>
                        <a:rPr lang="es-419" b="0" i="1" smtClean="0">
                          <a:latin typeface="Cambria Math" panose="02040503050406030204" pitchFamily="18" charset="0"/>
                        </a:rPr>
                        <m:t>𝑐</m:t>
                      </m:r>
                      <m:r>
                        <a:rPr lang="es-419" b="0" i="1" smtClean="0">
                          <a:latin typeface="Cambria Math" panose="02040503050406030204" pitchFamily="18" charset="0"/>
                        </a:rPr>
                        <m:t>.</m:t>
                      </m:r>
                      <m:r>
                        <a:rPr lang="es-419" b="0" i="1" smtClean="0">
                          <a:latin typeface="Cambria Math" panose="02040503050406030204" pitchFamily="18" charset="0"/>
                        </a:rPr>
                        <m:t>𝑐</m:t>
                      </m:r>
                      <m:r>
                        <a:rPr lang="es-419" b="0" i="1" smtClean="0">
                          <a:latin typeface="Cambria Math" panose="02040503050406030204" pitchFamily="18" charset="0"/>
                        </a:rPr>
                        <m:t>. </m:t>
                      </m:r>
                      <m:r>
                        <a:rPr lang="es-419" b="0" i="1" smtClean="0">
                          <a:latin typeface="Cambria Math" panose="02040503050406030204" pitchFamily="18" charset="0"/>
                        </a:rPr>
                        <m:t>𝑎𝑛𝑢𝑎𝑙</m:t>
                      </m:r>
                      <m:r>
                        <a:rPr lang="es-419" b="0" i="1" smtClean="0">
                          <a:latin typeface="Cambria Math" panose="02040503050406030204" pitchFamily="18" charset="0"/>
                        </a:rPr>
                        <m:t> →</m:t>
                      </m:r>
                      <m:sSup>
                        <m:sSupPr>
                          <m:ctrlPr>
                            <a:rPr lang="es-419" b="0" i="1" smtClean="0">
                              <a:latin typeface="Cambria Math" panose="02040503050406030204" pitchFamily="18" charset="0"/>
                            </a:rPr>
                          </m:ctrlPr>
                        </m:sSupPr>
                        <m:e>
                          <m:r>
                            <a:rPr lang="es-419" b="0" i="1" smtClean="0">
                              <a:latin typeface="Cambria Math" panose="02040503050406030204" pitchFamily="18" charset="0"/>
                            </a:rPr>
                            <m:t>𝑒</m:t>
                          </m:r>
                        </m:e>
                        <m:sup>
                          <m:r>
                            <a:rPr lang="es-419" b="0" i="1" smtClean="0">
                              <a:latin typeface="Cambria Math" panose="02040503050406030204" pitchFamily="18" charset="0"/>
                            </a:rPr>
                            <m:t>6%</m:t>
                          </m:r>
                        </m:sup>
                      </m:sSup>
                      <m:r>
                        <a:rPr lang="es-419" b="0" i="1" smtClean="0">
                          <a:latin typeface="Cambria Math" panose="02040503050406030204" pitchFamily="18" charset="0"/>
                        </a:rPr>
                        <m:t>−1=</m:t>
                      </m:r>
                      <m:r>
                        <a:rPr lang="es-419" b="1" i="1" smtClean="0">
                          <a:solidFill>
                            <a:schemeClr val="accent3">
                              <a:lumMod val="50000"/>
                            </a:schemeClr>
                          </a:solidFill>
                          <a:latin typeface="Cambria Math" panose="02040503050406030204" pitchFamily="18" charset="0"/>
                        </a:rPr>
                        <m:t>𝟔</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𝟏𝟖</m:t>
                      </m:r>
                      <m:r>
                        <a:rPr lang="es-419" b="1" i="1" smtClean="0">
                          <a:solidFill>
                            <a:schemeClr val="accent3">
                              <a:lumMod val="50000"/>
                            </a:schemeClr>
                          </a:solidFill>
                          <a:latin typeface="Cambria Math" panose="02040503050406030204" pitchFamily="18" charset="0"/>
                        </a:rPr>
                        <m:t>% </m:t>
                      </m:r>
                      <m:r>
                        <a:rPr lang="es-419" b="1" i="1" smtClean="0">
                          <a:solidFill>
                            <a:schemeClr val="accent3">
                              <a:lumMod val="50000"/>
                            </a:schemeClr>
                          </a:solidFill>
                          <a:latin typeface="Cambria Math" panose="02040503050406030204" pitchFamily="18" charset="0"/>
                        </a:rPr>
                        <m:t>𝑬</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𝑨</m:t>
                      </m:r>
                      <m:r>
                        <a:rPr lang="es-419" b="1" i="1" smtClean="0">
                          <a:solidFill>
                            <a:schemeClr val="accent3">
                              <a:lumMod val="50000"/>
                            </a:schemeClr>
                          </a:solidFill>
                          <a:latin typeface="Cambria Math" panose="02040503050406030204" pitchFamily="18" charset="0"/>
                        </a:rPr>
                        <m:t>.</m:t>
                      </m:r>
                    </m:oMath>
                  </m:oMathPara>
                </a14:m>
                <a:endParaRPr lang="es-CO" b="1"/>
              </a:p>
            </p:txBody>
          </p:sp>
        </mc:Choice>
        <mc:Fallback xmlns="">
          <p:sp>
            <p:nvSpPr>
              <p:cNvPr id="13" name="CuadroTexto 12">
                <a:extLst>
                  <a:ext uri="{FF2B5EF4-FFF2-40B4-BE49-F238E27FC236}">
                    <a16:creationId xmlns:a16="http://schemas.microsoft.com/office/drawing/2014/main" id="{35CE12D1-1D61-DD21-BF4D-D29AAAB61D32}"/>
                  </a:ext>
                </a:extLst>
              </p:cNvPr>
              <p:cNvSpPr txBox="1">
                <a:spLocks noRot="1" noChangeAspect="1" noMove="1" noResize="1" noEditPoints="1" noAdjustHandles="1" noChangeArrowheads="1" noChangeShapeType="1" noTextEdit="1"/>
              </p:cNvSpPr>
              <p:nvPr/>
            </p:nvSpPr>
            <p:spPr>
              <a:xfrm>
                <a:off x="3417987" y="4478291"/>
                <a:ext cx="5087185" cy="283219"/>
              </a:xfrm>
              <a:prstGeom prst="rect">
                <a:avLst/>
              </a:prstGeom>
              <a:blipFill>
                <a:blip r:embed="rId4"/>
                <a:stretch>
                  <a:fillRect t="-4348" b="-3913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EAB0C6D-E376-6BC6-868F-18CDB2ACAC11}"/>
                  </a:ext>
                </a:extLst>
              </p:cNvPr>
              <p:cNvSpPr txBox="1"/>
              <p:nvPr/>
            </p:nvSpPr>
            <p:spPr>
              <a:xfrm>
                <a:off x="3179992" y="5072137"/>
                <a:ext cx="5087185" cy="348172"/>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s-419" i="1" smtClean="0">
                          <a:latin typeface="Cambria Math" panose="02040503050406030204" pitchFamily="18" charset="0"/>
                        </a:rPr>
                        <m:t>6,18% </m:t>
                      </m:r>
                      <m:r>
                        <a:rPr lang="es-419" i="1" smtClean="0">
                          <a:latin typeface="Cambria Math" panose="02040503050406030204" pitchFamily="18" charset="0"/>
                        </a:rPr>
                        <m:t>𝐸</m:t>
                      </m:r>
                      <m:r>
                        <a:rPr lang="es-419" i="1" smtClean="0">
                          <a:latin typeface="Cambria Math" panose="02040503050406030204" pitchFamily="18" charset="0"/>
                        </a:rPr>
                        <m:t>.</m:t>
                      </m:r>
                      <m:r>
                        <a:rPr lang="es-419" i="1" smtClean="0">
                          <a:latin typeface="Cambria Math" panose="02040503050406030204" pitchFamily="18" charset="0"/>
                        </a:rPr>
                        <m:t>𝐴</m:t>
                      </m:r>
                      <m:r>
                        <a:rPr lang="es-419" i="1" smtClean="0">
                          <a:latin typeface="Cambria Math" panose="02040503050406030204" pitchFamily="18" charset="0"/>
                        </a:rPr>
                        <m:t>.  → </m:t>
                      </m:r>
                      <m:rad>
                        <m:radPr>
                          <m:ctrlPr>
                            <a:rPr lang="es-419" b="0" i="1" smtClean="0">
                              <a:latin typeface="Cambria Math" panose="02040503050406030204" pitchFamily="18" charset="0"/>
                            </a:rPr>
                          </m:ctrlPr>
                        </m:radPr>
                        <m:deg>
                          <m:r>
                            <m:rPr>
                              <m:brk m:alnAt="7"/>
                            </m:rPr>
                            <a:rPr lang="es-419" b="0" i="1" smtClean="0">
                              <a:latin typeface="Cambria Math" panose="02040503050406030204" pitchFamily="18" charset="0"/>
                            </a:rPr>
                            <m:t>1</m:t>
                          </m:r>
                          <m:r>
                            <a:rPr lang="es-419" b="0" i="1" smtClean="0">
                              <a:latin typeface="Cambria Math" panose="02040503050406030204" pitchFamily="18" charset="0"/>
                            </a:rPr>
                            <m:t>2</m:t>
                          </m:r>
                        </m:deg>
                        <m:e>
                          <m:d>
                            <m:dPr>
                              <m:ctrlPr>
                                <a:rPr lang="es-419" b="0" i="1" smtClean="0">
                                  <a:latin typeface="Cambria Math" panose="02040503050406030204" pitchFamily="18" charset="0"/>
                                </a:rPr>
                              </m:ctrlPr>
                            </m:dPr>
                            <m:e>
                              <m:r>
                                <a:rPr lang="es-419" b="0" i="1" smtClean="0">
                                  <a:latin typeface="Cambria Math" panose="02040503050406030204" pitchFamily="18" charset="0"/>
                                </a:rPr>
                                <m:t>1+</m:t>
                              </m:r>
                              <m:r>
                                <a:rPr lang="es-419" b="1" i="1" smtClean="0">
                                  <a:solidFill>
                                    <a:schemeClr val="accent3">
                                      <a:lumMod val="50000"/>
                                    </a:schemeClr>
                                  </a:solidFill>
                                  <a:latin typeface="Cambria Math" panose="02040503050406030204" pitchFamily="18" charset="0"/>
                                </a:rPr>
                                <m:t>𝟔</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𝟏𝟖</m:t>
                              </m:r>
                              <m:r>
                                <a:rPr lang="es-419" b="1" i="1" smtClean="0">
                                  <a:solidFill>
                                    <a:schemeClr val="accent3">
                                      <a:lumMod val="50000"/>
                                    </a:schemeClr>
                                  </a:solidFill>
                                  <a:latin typeface="Cambria Math" panose="02040503050406030204" pitchFamily="18" charset="0"/>
                                </a:rPr>
                                <m:t>%</m:t>
                              </m:r>
                            </m:e>
                          </m:d>
                        </m:e>
                      </m:rad>
                      <m:r>
                        <a:rPr lang="es-419" b="0" i="1" smtClean="0">
                          <a:latin typeface="Cambria Math" panose="02040503050406030204" pitchFamily="18" charset="0"/>
                        </a:rPr>
                        <m:t>−1=</m:t>
                      </m:r>
                      <m:r>
                        <a:rPr lang="es-419" b="1" i="1" smtClean="0">
                          <a:solidFill>
                            <a:schemeClr val="accent2"/>
                          </a:solidFill>
                          <a:latin typeface="Cambria Math" panose="02040503050406030204" pitchFamily="18" charset="0"/>
                        </a:rPr>
                        <m:t>𝟎</m:t>
                      </m:r>
                      <m:r>
                        <a:rPr lang="es-419" b="1" i="1" smtClean="0">
                          <a:solidFill>
                            <a:schemeClr val="accent2"/>
                          </a:solidFill>
                          <a:latin typeface="Cambria Math" panose="02040503050406030204" pitchFamily="18" charset="0"/>
                        </a:rPr>
                        <m:t>,</m:t>
                      </m:r>
                      <m:r>
                        <a:rPr lang="es-419" b="1" i="1" smtClean="0">
                          <a:solidFill>
                            <a:schemeClr val="accent2"/>
                          </a:solidFill>
                          <a:latin typeface="Cambria Math" panose="02040503050406030204" pitchFamily="18" charset="0"/>
                        </a:rPr>
                        <m:t>𝟓𝟎</m:t>
                      </m:r>
                      <m:r>
                        <a:rPr lang="es-419" b="1" i="1" smtClean="0">
                          <a:solidFill>
                            <a:schemeClr val="accent2"/>
                          </a:solidFill>
                          <a:latin typeface="Cambria Math" panose="02040503050406030204" pitchFamily="18" charset="0"/>
                        </a:rPr>
                        <m:t>% </m:t>
                      </m:r>
                      <m:r>
                        <a:rPr lang="es-419" b="0" i="1" smtClean="0">
                          <a:latin typeface="Cambria Math" panose="02040503050406030204" pitchFamily="18" charset="0"/>
                        </a:rPr>
                        <m:t>𝐸</m:t>
                      </m:r>
                      <m:r>
                        <a:rPr lang="es-419" b="0" i="1" smtClean="0">
                          <a:latin typeface="Cambria Math" panose="02040503050406030204" pitchFamily="18" charset="0"/>
                        </a:rPr>
                        <m:t>.</m:t>
                      </m:r>
                      <m:r>
                        <a:rPr lang="es-419" b="0" i="1" smtClean="0">
                          <a:latin typeface="Cambria Math" panose="02040503050406030204" pitchFamily="18" charset="0"/>
                        </a:rPr>
                        <m:t>𝑀</m:t>
                      </m:r>
                      <m:r>
                        <a:rPr lang="es-419" b="0" i="1" smtClean="0">
                          <a:latin typeface="Cambria Math" panose="02040503050406030204" pitchFamily="18" charset="0"/>
                        </a:rPr>
                        <m:t>.</m:t>
                      </m:r>
                    </m:oMath>
                  </m:oMathPara>
                </a14:m>
                <a:endParaRPr lang="es-CO"/>
              </a:p>
            </p:txBody>
          </p:sp>
        </mc:Choice>
        <mc:Fallback xmlns="">
          <p:sp>
            <p:nvSpPr>
              <p:cNvPr id="3" name="CuadroTexto 2">
                <a:extLst>
                  <a:ext uri="{FF2B5EF4-FFF2-40B4-BE49-F238E27FC236}">
                    <a16:creationId xmlns:a16="http://schemas.microsoft.com/office/drawing/2014/main" id="{6EAB0C6D-E376-6BC6-868F-18CDB2ACAC11}"/>
                  </a:ext>
                </a:extLst>
              </p:cNvPr>
              <p:cNvSpPr txBox="1">
                <a:spLocks noRot="1" noChangeAspect="1" noMove="1" noResize="1" noEditPoints="1" noAdjustHandles="1" noChangeArrowheads="1" noChangeShapeType="1" noTextEdit="1"/>
              </p:cNvSpPr>
              <p:nvPr/>
            </p:nvSpPr>
            <p:spPr>
              <a:xfrm>
                <a:off x="3179992" y="5072137"/>
                <a:ext cx="5087185" cy="348172"/>
              </a:xfrm>
              <a:prstGeom prst="rect">
                <a:avLst/>
              </a:prstGeom>
              <a:blipFill>
                <a:blip r:embed="rId5"/>
                <a:stretch>
                  <a:fillRect l="-748" b="-25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E9F48DD-144D-D57B-C68A-A18F50733F63}"/>
                  </a:ext>
                </a:extLst>
              </p:cNvPr>
              <p:cNvSpPr txBox="1"/>
              <p:nvPr/>
            </p:nvSpPr>
            <p:spPr>
              <a:xfrm>
                <a:off x="3179991" y="5730936"/>
                <a:ext cx="5087185"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s-419" i="1" smtClean="0">
                          <a:latin typeface="Cambria Math" panose="02040503050406030204" pitchFamily="18" charset="0"/>
                        </a:rPr>
                        <m:t>𝑆</m:t>
                      </m:r>
                      <m:r>
                        <a:rPr lang="es-419" b="0" i="1" smtClean="0">
                          <a:latin typeface="Cambria Math" panose="02040503050406030204" pitchFamily="18" charset="0"/>
                        </a:rPr>
                        <m:t>𝑎𝑙𝑑𝑜</m:t>
                      </m:r>
                      <m:r>
                        <a:rPr lang="es-419" b="0" i="1" smtClean="0">
                          <a:latin typeface="Cambria Math" panose="02040503050406030204" pitchFamily="18" charset="0"/>
                        </a:rPr>
                        <m:t> </m:t>
                      </m:r>
                      <m:r>
                        <a:rPr lang="es-419" b="0" i="1" smtClean="0">
                          <a:latin typeface="Cambria Math" panose="02040503050406030204" pitchFamily="18" charset="0"/>
                        </a:rPr>
                        <m:t>𝐹𝑖𝑛𝑎𝑙</m:t>
                      </m:r>
                      <m:r>
                        <a:rPr lang="es-419" b="0" i="1" smtClean="0">
                          <a:latin typeface="Cambria Math" panose="02040503050406030204" pitchFamily="18" charset="0"/>
                        </a:rPr>
                        <m:t>=$930×</m:t>
                      </m:r>
                      <m:sSup>
                        <m:sSupPr>
                          <m:ctrlPr>
                            <a:rPr lang="es-419" b="0" i="1" smtClean="0">
                              <a:latin typeface="Cambria Math" panose="02040503050406030204" pitchFamily="18" charset="0"/>
                              <a:ea typeface="Cambria Math" panose="02040503050406030204" pitchFamily="18" charset="0"/>
                            </a:rPr>
                          </m:ctrlPr>
                        </m:sSupPr>
                        <m:e>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1+</m:t>
                              </m:r>
                              <m:r>
                                <a:rPr lang="es-419" b="1" i="1" smtClean="0">
                                  <a:solidFill>
                                    <a:schemeClr val="accent2"/>
                                  </a:solidFill>
                                  <a:latin typeface="Cambria Math" panose="02040503050406030204" pitchFamily="18" charset="0"/>
                                  <a:ea typeface="Cambria Math" panose="02040503050406030204" pitchFamily="18" charset="0"/>
                                </a:rPr>
                                <m:t>𝟎</m:t>
                              </m:r>
                              <m:r>
                                <a:rPr lang="es-419" b="1" i="1" smtClean="0">
                                  <a:solidFill>
                                    <a:schemeClr val="accent2"/>
                                  </a:solidFill>
                                  <a:latin typeface="Cambria Math" panose="02040503050406030204" pitchFamily="18" charset="0"/>
                                  <a:ea typeface="Cambria Math" panose="02040503050406030204" pitchFamily="18" charset="0"/>
                                </a:rPr>
                                <m:t>,</m:t>
                              </m:r>
                              <m:r>
                                <a:rPr lang="es-419" b="1" i="1" smtClean="0">
                                  <a:solidFill>
                                    <a:schemeClr val="accent2"/>
                                  </a:solidFill>
                                  <a:latin typeface="Cambria Math" panose="02040503050406030204" pitchFamily="18" charset="0"/>
                                  <a:ea typeface="Cambria Math" panose="02040503050406030204" pitchFamily="18" charset="0"/>
                                </a:rPr>
                                <m:t>𝟓𝟎</m:t>
                              </m:r>
                              <m:r>
                                <a:rPr lang="es-419" b="1" i="1" smtClean="0">
                                  <a:solidFill>
                                    <a:schemeClr val="accent2"/>
                                  </a:solidFill>
                                  <a:latin typeface="Cambria Math" panose="02040503050406030204" pitchFamily="18" charset="0"/>
                                  <a:ea typeface="Cambria Math" panose="02040503050406030204" pitchFamily="18" charset="0"/>
                                </a:rPr>
                                <m:t>%</m:t>
                              </m:r>
                            </m:e>
                          </m:d>
                        </m:e>
                        <m:sup>
                          <m:r>
                            <a:rPr lang="es-419" b="0" i="1" smtClean="0">
                              <a:latin typeface="Cambria Math" panose="02040503050406030204" pitchFamily="18" charset="0"/>
                              <a:ea typeface="Cambria Math" panose="02040503050406030204" pitchFamily="18" charset="0"/>
                            </a:rPr>
                            <m:t>4</m:t>
                          </m:r>
                        </m:sup>
                      </m:sSup>
                      <m:r>
                        <a:rPr lang="es-419" b="0" i="1" smtClean="0">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𝟗𝟒𝟖</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𝟕𝟗</m:t>
                      </m:r>
                    </m:oMath>
                  </m:oMathPara>
                </a14:m>
                <a:endParaRPr lang="es-CO" b="1"/>
              </a:p>
            </p:txBody>
          </p:sp>
        </mc:Choice>
        <mc:Fallback xmlns="">
          <p:sp>
            <p:nvSpPr>
              <p:cNvPr id="6" name="CuadroTexto 5">
                <a:extLst>
                  <a:ext uri="{FF2B5EF4-FFF2-40B4-BE49-F238E27FC236}">
                    <a16:creationId xmlns:a16="http://schemas.microsoft.com/office/drawing/2014/main" id="{6E9F48DD-144D-D57B-C68A-A18F50733F63}"/>
                  </a:ext>
                </a:extLst>
              </p:cNvPr>
              <p:cNvSpPr txBox="1">
                <a:spLocks noRot="1" noChangeAspect="1" noMove="1" noResize="1" noEditPoints="1" noAdjustHandles="1" noChangeArrowheads="1" noChangeShapeType="1" noTextEdit="1"/>
              </p:cNvSpPr>
              <p:nvPr/>
            </p:nvSpPr>
            <p:spPr>
              <a:xfrm>
                <a:off x="3179991" y="5730936"/>
                <a:ext cx="5087185" cy="276999"/>
              </a:xfrm>
              <a:prstGeom prst="rect">
                <a:avLst/>
              </a:prstGeom>
              <a:blipFill>
                <a:blip r:embed="rId6"/>
                <a:stretch>
                  <a:fillRect t="-8696" b="-3478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E160DA8-CD5B-BBC1-5828-B2F947529225}"/>
                  </a:ext>
                </a:extLst>
              </p:cNvPr>
              <p:cNvSpPr txBox="1"/>
              <p:nvPr/>
            </p:nvSpPr>
            <p:spPr>
              <a:xfrm>
                <a:off x="3179990" y="6155844"/>
                <a:ext cx="5087185" cy="415307"/>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s-419" i="1" smtClean="0">
                          <a:latin typeface="Cambria Math" panose="02040503050406030204" pitchFamily="18" charset="0"/>
                        </a:rPr>
                        <m:t>𝑆</m:t>
                      </m:r>
                      <m:r>
                        <a:rPr lang="es-419" b="0" i="1" smtClean="0">
                          <a:latin typeface="Cambria Math" panose="02040503050406030204" pitchFamily="18" charset="0"/>
                        </a:rPr>
                        <m:t>𝑎𝑙𝑑𝑜</m:t>
                      </m:r>
                      <m:r>
                        <a:rPr lang="es-419" b="0" i="1" smtClean="0">
                          <a:latin typeface="Cambria Math" panose="02040503050406030204" pitchFamily="18" charset="0"/>
                        </a:rPr>
                        <m:t> </m:t>
                      </m:r>
                      <m:r>
                        <a:rPr lang="es-419" b="0" i="1" smtClean="0">
                          <a:latin typeface="Cambria Math" panose="02040503050406030204" pitchFamily="18" charset="0"/>
                        </a:rPr>
                        <m:t>𝐹𝑖𝑛𝑎𝑙</m:t>
                      </m:r>
                      <m:r>
                        <a:rPr lang="es-419" b="0" i="1" smtClean="0">
                          <a:latin typeface="Cambria Math" panose="02040503050406030204" pitchFamily="18" charset="0"/>
                        </a:rPr>
                        <m:t>=$930×</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b="0" i="1" smtClean="0">
                              <a:latin typeface="Cambria Math" panose="02040503050406030204" pitchFamily="18" charset="0"/>
                            </a:rPr>
                            <m:t>6%∗</m:t>
                          </m:r>
                          <m:f>
                            <m:fPr>
                              <m:ctrlPr>
                                <a:rPr lang="es-ES" b="0" i="1" smtClean="0">
                                  <a:latin typeface="Cambria Math" panose="02040503050406030204" pitchFamily="18" charset="0"/>
                                </a:rPr>
                              </m:ctrlPr>
                            </m:fPr>
                            <m:num>
                              <m:r>
                                <a:rPr lang="es-ES" b="0" i="1" smtClean="0">
                                  <a:latin typeface="Cambria Math" panose="02040503050406030204" pitchFamily="18" charset="0"/>
                                </a:rPr>
                                <m:t>4</m:t>
                              </m:r>
                            </m:num>
                            <m:den>
                              <m:r>
                                <a:rPr lang="es-ES" b="0" i="1" smtClean="0">
                                  <a:latin typeface="Cambria Math" panose="02040503050406030204" pitchFamily="18" charset="0"/>
                                </a:rPr>
                                <m:t>12</m:t>
                              </m:r>
                            </m:den>
                          </m:f>
                        </m:sup>
                      </m:sSup>
                      <m:r>
                        <a:rPr lang="es-ES" b="0" i="1" smtClean="0">
                          <a:latin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𝟗𝟒𝟖</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𝟕𝟗</m:t>
                      </m:r>
                    </m:oMath>
                  </m:oMathPara>
                </a14:m>
                <a:endParaRPr lang="es-CO" b="1"/>
              </a:p>
            </p:txBody>
          </p:sp>
        </mc:Choice>
        <mc:Fallback xmlns="">
          <p:sp>
            <p:nvSpPr>
              <p:cNvPr id="7" name="CuadroTexto 6">
                <a:extLst>
                  <a:ext uri="{FF2B5EF4-FFF2-40B4-BE49-F238E27FC236}">
                    <a16:creationId xmlns:a16="http://schemas.microsoft.com/office/drawing/2014/main" id="{0E160DA8-CD5B-BBC1-5828-B2F947529225}"/>
                  </a:ext>
                </a:extLst>
              </p:cNvPr>
              <p:cNvSpPr txBox="1">
                <a:spLocks noRot="1" noChangeAspect="1" noMove="1" noResize="1" noEditPoints="1" noAdjustHandles="1" noChangeArrowheads="1" noChangeShapeType="1" noTextEdit="1"/>
              </p:cNvSpPr>
              <p:nvPr/>
            </p:nvSpPr>
            <p:spPr>
              <a:xfrm>
                <a:off x="3179990" y="6155844"/>
                <a:ext cx="5087185" cy="415307"/>
              </a:xfrm>
              <a:prstGeom prst="rect">
                <a:avLst/>
              </a:prstGeom>
              <a:blipFill>
                <a:blip r:embed="rId7"/>
                <a:stretch>
                  <a:fillRect b="-23529"/>
                </a:stretch>
              </a:blipFill>
            </p:spPr>
            <p:txBody>
              <a:bodyPr/>
              <a:lstStyle/>
              <a:p>
                <a:r>
                  <a:rPr lang="es-ES_tradnl">
                    <a:noFill/>
                  </a:rPr>
                  <a:t> </a:t>
                </a:r>
              </a:p>
            </p:txBody>
          </p:sp>
        </mc:Fallback>
      </mc:AlternateContent>
    </p:spTree>
    <p:extLst>
      <p:ext uri="{BB962C8B-B14F-4D97-AF65-F5344CB8AC3E}">
        <p14:creationId xmlns:p14="http://schemas.microsoft.com/office/powerpoint/2010/main" val="58957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11" dur="500"/>
                                        <p:tgtEl>
                                          <p:spTgt spid="12">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ppt_y</p:attrName>
                                        </p:attrNameLst>
                                      </p:cBhvr>
                                      <p:tavLst>
                                        <p:tav tm="0">
                                          <p:val>
                                            <p:strVal val="#ppt_y+#ppt_h*1.125000"/>
                                          </p:val>
                                        </p:tav>
                                        <p:tav tm="100000">
                                          <p:val>
                                            <p:strVal val="#ppt_y"/>
                                          </p:val>
                                        </p:tav>
                                      </p:tavLst>
                                    </p:anim>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p:tgtEl>
                                          <p:spTgt spid="6"/>
                                        </p:tgtEl>
                                        <p:attrNameLst>
                                          <p:attrName>ppt_y</p:attrName>
                                        </p:attrNameLst>
                                      </p:cBhvr>
                                      <p:tavLst>
                                        <p:tav tm="0">
                                          <p:val>
                                            <p:strVal val="#ppt_y+#ppt_h*1.125000"/>
                                          </p:val>
                                        </p:tav>
                                        <p:tav tm="100000">
                                          <p:val>
                                            <p:strVal val="#ppt_y"/>
                                          </p:val>
                                        </p:tav>
                                      </p:tavLst>
                                    </p:anim>
                                    <p:animEffect transition="in" filter="wipe(up)">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p:tgtEl>
                                          <p:spTgt spid="7"/>
                                        </p:tgtEl>
                                        <p:attrNameLst>
                                          <p:attrName>ppt_y</p:attrName>
                                        </p:attrNameLst>
                                      </p:cBhvr>
                                      <p:tavLst>
                                        <p:tav tm="0">
                                          <p:val>
                                            <p:strVal val="#ppt_y+#ppt_h*1.125000"/>
                                          </p:val>
                                        </p:tav>
                                        <p:tav tm="100000">
                                          <p:val>
                                            <p:strVal val="#ppt_y"/>
                                          </p:val>
                                        </p:tav>
                                      </p:tavLst>
                                    </p:anim>
                                    <p:animEffect transition="in" filter="wipe(up)">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3"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Pregunta 4</a:t>
            </a:r>
          </a:p>
        </p:txBody>
      </p:sp>
      <p:sp>
        <p:nvSpPr>
          <p:cNvPr id="17" name="TPAnswers" title="Answer Text Shape">
            <a:extLst>
              <a:ext uri="{FF2B5EF4-FFF2-40B4-BE49-F238E27FC236}">
                <a16:creationId xmlns:a16="http://schemas.microsoft.com/office/drawing/2014/main" id="{99212A69-A390-5432-EF35-B83812BF0A0B}"/>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dirty="0">
                <a:solidFill>
                  <a:schemeClr val="accent1"/>
                </a:solidFill>
                <a:latin typeface="Century Gothic" panose="020B0502020202020204" pitchFamily="34" charset="0"/>
              </a:rPr>
              <a:t>4,31%</a:t>
            </a:r>
          </a:p>
          <a:p>
            <a:pPr marL="457200" indent="-457200" algn="just">
              <a:buFont typeface="Wingdings 2" panose="05020102010507070707" pitchFamily="18" charset="2"/>
              <a:buAutoNum type="alphaUcPeriod"/>
            </a:pPr>
            <a:r>
              <a:rPr lang="es-CO" dirty="0">
                <a:solidFill>
                  <a:schemeClr val="accent1"/>
                </a:solidFill>
                <a:latin typeface="Century Gothic" panose="020B0502020202020204" pitchFamily="34" charset="0"/>
              </a:rPr>
              <a:t>4,13%</a:t>
            </a:r>
          </a:p>
          <a:p>
            <a:pPr marL="457200" indent="-457200" algn="just">
              <a:buFont typeface="Wingdings 2" panose="05020102010507070707" pitchFamily="18" charset="2"/>
              <a:buAutoNum type="alphaUcPeriod"/>
            </a:pPr>
            <a:r>
              <a:rPr lang="es-CO" dirty="0">
                <a:solidFill>
                  <a:schemeClr val="accent1"/>
                </a:solidFill>
                <a:latin typeface="Century Gothic" panose="020B0502020202020204" pitchFamily="34" charset="0"/>
              </a:rPr>
              <a:t>4,18%</a:t>
            </a:r>
          </a:p>
          <a:p>
            <a:pPr marL="457200" indent="-457200" algn="just">
              <a:buFont typeface="Wingdings 2" panose="05020102010507070707" pitchFamily="18" charset="2"/>
              <a:buAutoNum type="alphaUcPeriod"/>
            </a:pPr>
            <a:r>
              <a:rPr lang="es-CO" dirty="0">
                <a:solidFill>
                  <a:schemeClr val="accent1"/>
                </a:solidFill>
                <a:latin typeface="Century Gothic" panose="020B0502020202020204" pitchFamily="34" charset="0"/>
              </a:rPr>
              <a:t>4,22%</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35</a:t>
            </a:fld>
            <a:endParaRPr lang="en-US" sz="2000" b="1">
              <a:latin typeface="Century Gothic" panose="020B0502020202020204" pitchFamily="34" charset="0"/>
            </a:endParaRPr>
          </a:p>
        </p:txBody>
      </p:sp>
      <p:sp>
        <p:nvSpPr>
          <p:cNvPr id="12" name="Content Placeholder 2">
            <a:extLst>
              <a:ext uri="{FF2B5EF4-FFF2-40B4-BE49-F238E27FC236}">
                <a16:creationId xmlns:a16="http://schemas.microsoft.com/office/drawing/2014/main" id="{9F36C173-99E1-721F-A9BB-E2F5005CDFCD}"/>
              </a:ext>
            </a:extLst>
          </p:cNvPr>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a:latin typeface="Century Gothic" panose="020B0502020202020204" pitchFamily="34" charset="0"/>
              </a:rPr>
              <a:t>¿Cuál es la equivalencia de una tasa de interés del 2,10% NS/TA en anual continua?</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084D757D-3B78-E831-63F3-5E0CE3CBFA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8E76484-E17D-FE9F-466B-091DBA87C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Gráfico 4" descr="Badge Tick1 con relleno sólido">
            <a:extLst>
              <a:ext uri="{FF2B5EF4-FFF2-40B4-BE49-F238E27FC236}">
                <a16:creationId xmlns:a16="http://schemas.microsoft.com/office/drawing/2014/main" id="{D58BCCDF-5043-95CE-E870-92C1E2205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1376" y="4491033"/>
            <a:ext cx="590550" cy="590550"/>
          </a:xfrm>
          <a:prstGeom prst="rect">
            <a:avLst/>
          </a:prstGeom>
        </p:spPr>
      </p:pic>
      <p:sp>
        <p:nvSpPr>
          <p:cNvPr id="6" name="Rectángulo 5">
            <a:extLst>
              <a:ext uri="{FF2B5EF4-FFF2-40B4-BE49-F238E27FC236}">
                <a16:creationId xmlns:a16="http://schemas.microsoft.com/office/drawing/2014/main" id="{80FDF459-A8A4-9DA3-E14F-C430F5A267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Resolución de problemas. 10 consejos para evitar antes de encontrar una  solución - Cepymenews">
            <a:extLst>
              <a:ext uri="{FF2B5EF4-FFF2-40B4-BE49-F238E27FC236}">
                <a16:creationId xmlns:a16="http://schemas.microsoft.com/office/drawing/2014/main" id="{BD630AD8-C2EF-EF17-81EB-DC9B41D64F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381" y="3537293"/>
            <a:ext cx="2549330" cy="1355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19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C0FA0B9-DBF8-53BD-78F0-5AC7965F2E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2803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7082460" y="2060497"/>
            <a:ext cx="4086602" cy="3505182"/>
          </a:xfrm>
        </p:spPr>
        <p:txBody>
          <a:bodyPr>
            <a:normAutofit/>
          </a:bodyPr>
          <a:lstStyle/>
          <a:p>
            <a:pPr marL="0" indent="0" algn="ctr">
              <a:buNone/>
            </a:pPr>
            <a:r>
              <a:rPr lang="es-ES_tradnl" sz="5400" b="1">
                <a:solidFill>
                  <a:srgbClr val="800000"/>
                </a:solidFill>
                <a:latin typeface="Century Gothic" panose="020B0502020202020204" pitchFamily="34" charset="0"/>
              </a:rPr>
              <a:t>Ejercicios</a:t>
            </a:r>
          </a:p>
          <a:p>
            <a:pPr marL="0" indent="0" algn="ctr">
              <a:buNone/>
            </a:pPr>
            <a:r>
              <a:rPr lang="es-ES_tradnl" sz="5400" b="1">
                <a:solidFill>
                  <a:srgbClr val="800000"/>
                </a:solidFill>
                <a:latin typeface="Century Gothic" panose="020B0502020202020204" pitchFamily="34" charset="0"/>
              </a:rPr>
              <a:t>Prácticos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37</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AABC1537-9FC2-6E02-94BE-39C4E9B417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DC95630C-F2C0-753F-1A98-AFA7D1D38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stiramientos previo entrenamiento 💪 Stretching before training 💪 — Hive">
            <a:extLst>
              <a:ext uri="{FF2B5EF4-FFF2-40B4-BE49-F238E27FC236}">
                <a16:creationId xmlns:a16="http://schemas.microsoft.com/office/drawing/2014/main" id="{702AB608-229A-7C73-ED58-6DAE9D17A2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7970" y="3500315"/>
            <a:ext cx="2920895" cy="2920895"/>
          </a:xfrm>
          <a:prstGeom prst="rect">
            <a:avLst/>
          </a:prstGeom>
          <a:noFill/>
          <a:extLst>
            <a:ext uri="{909E8E84-426E-40DD-AFC4-6F175D3DCCD1}">
              <a14:hiddenFill xmlns:a14="http://schemas.microsoft.com/office/drawing/2010/main">
                <a:solidFill>
                  <a:srgbClr val="FFFFFF"/>
                </a:solidFill>
              </a14:hiddenFill>
            </a:ext>
          </a:extLst>
        </p:spPr>
      </p:pic>
      <p:pic>
        <p:nvPicPr>
          <p:cNvPr id="26626" name="Picture 2" descr="Resultado de imagen para ejercicios practico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43" y="1902841"/>
            <a:ext cx="4011098" cy="308281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4A08530-D37D-4FAC-120A-1867015FAA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5211020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entury Gothic" panose="020B0502020202020204" pitchFamily="34" charset="0"/>
              </a:rPr>
              <a:t>EJERCICIO 1</a:t>
            </a:r>
          </a:p>
        </p:txBody>
      </p:sp>
      <p:sp>
        <p:nvSpPr>
          <p:cNvPr id="8"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38</a:t>
            </a:fld>
            <a:endParaRPr lang="en-US" sz="2000" b="1">
              <a:latin typeface="Century Gothic" panose="020B0502020202020204" pitchFamily="34" charset="0"/>
            </a:endParaRPr>
          </a:p>
        </p:txBody>
      </p:sp>
      <p:sp>
        <p:nvSpPr>
          <p:cNvPr id="19" name="Rectángulo 51"/>
          <p:cNvSpPr/>
          <p:nvPr/>
        </p:nvSpPr>
        <p:spPr>
          <a:xfrm>
            <a:off x="711567" y="2191249"/>
            <a:ext cx="5127529" cy="369332"/>
          </a:xfrm>
          <a:prstGeom prst="rect">
            <a:avLst/>
          </a:prstGeom>
          <a:ln>
            <a:noFill/>
          </a:ln>
        </p:spPr>
        <p:txBody>
          <a:bodyPr wrap="square">
            <a:spAutoFit/>
          </a:bodyPr>
          <a:lstStyle/>
          <a:p>
            <a:r>
              <a:rPr lang="es-ES_tradnl" b="1">
                <a:solidFill>
                  <a:srgbClr val="C00000"/>
                </a:solidFill>
                <a:latin typeface="Century Gothic" panose="020B0502020202020204" pitchFamily="34" charset="0"/>
              </a:rPr>
              <a:t>Convertir 10% NA/SA </a:t>
            </a:r>
            <a:r>
              <a:rPr lang="es-ES_tradnl" b="1">
                <a:solidFill>
                  <a:srgbClr val="C00000"/>
                </a:solidFill>
                <a:latin typeface="Century Gothic" panose="020B0502020202020204" pitchFamily="34" charset="0"/>
                <a:sym typeface="Wingdings"/>
              </a:rPr>
              <a:t>a NA/TA</a:t>
            </a:r>
            <a:endParaRPr lang="es-ES_tradnl" b="1">
              <a:solidFill>
                <a:srgbClr val="C00000"/>
              </a:solidFill>
              <a:latin typeface="Century Gothic" panose="020B0502020202020204" pitchFamily="34" charset="0"/>
            </a:endParaRPr>
          </a:p>
        </p:txBody>
      </p:sp>
      <p:sp>
        <p:nvSpPr>
          <p:cNvPr id="3" name="Rectángulo 2">
            <a:extLst>
              <a:ext uri="{FF2B5EF4-FFF2-40B4-BE49-F238E27FC236}">
                <a16:creationId xmlns:a16="http://schemas.microsoft.com/office/drawing/2014/main" id="{E3D9AC58-AA3B-DA45-4E6C-D7CCB9CA1CA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FD7F4108-CF6A-B10A-C3DA-D4FE1A77F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DAC6EBD-5910-7FE6-52C4-3EC1F2C10B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00824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entury Gothic" panose="020B0502020202020204" pitchFamily="34" charset="0"/>
              </a:rPr>
              <a:t>SOLUCIÓN EJERCICIO 1</a:t>
            </a:r>
          </a:p>
        </p:txBody>
      </p:sp>
      <p:sp>
        <p:nvSpPr>
          <p:cNvPr id="18"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39</a:t>
            </a:fld>
            <a:endParaRPr lang="en-US" sz="2000" b="1">
              <a:latin typeface="Century Gothic" panose="020B0502020202020204" pitchFamily="34" charset="0"/>
            </a:endParaRPr>
          </a:p>
        </p:txBody>
      </p:sp>
      <p:sp>
        <p:nvSpPr>
          <p:cNvPr id="20" name="Rectángulo 20"/>
          <p:cNvSpPr/>
          <p:nvPr/>
        </p:nvSpPr>
        <p:spPr>
          <a:xfrm>
            <a:off x="1636784" y="3045686"/>
            <a:ext cx="4410182"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1) Pasar de Tasa Nominal a Tasa Periódica</a:t>
            </a:r>
          </a:p>
        </p:txBody>
      </p:sp>
      <p:sp>
        <p:nvSpPr>
          <p:cNvPr id="23" name="Rectángulo 36"/>
          <p:cNvSpPr/>
          <p:nvPr/>
        </p:nvSpPr>
        <p:spPr>
          <a:xfrm>
            <a:off x="1613921" y="4052410"/>
            <a:ext cx="4592924"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2) Pasar de Tasa Anticipada a Tasa Vencida</a:t>
            </a:r>
          </a:p>
        </p:txBody>
      </p:sp>
      <p:sp>
        <p:nvSpPr>
          <p:cNvPr id="24" name="Rectángulo 37"/>
          <p:cNvSpPr/>
          <p:nvPr/>
        </p:nvSpPr>
        <p:spPr>
          <a:xfrm>
            <a:off x="6656263" y="3024471"/>
            <a:ext cx="2060180"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3) Pasar de ES a TV</a:t>
            </a:r>
          </a:p>
        </p:txBody>
      </p:sp>
      <p:sp>
        <p:nvSpPr>
          <p:cNvPr id="29" name="Rectángulo 39"/>
          <p:cNvSpPr/>
          <p:nvPr/>
        </p:nvSpPr>
        <p:spPr>
          <a:xfrm>
            <a:off x="6668671" y="4040275"/>
            <a:ext cx="3464410"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4) Pasar de TV a Tasa Anticipada</a:t>
            </a:r>
          </a:p>
        </p:txBody>
      </p:sp>
      <p:sp>
        <p:nvSpPr>
          <p:cNvPr id="34" name="CuadroTexto 42"/>
          <p:cNvSpPr txBox="1"/>
          <p:nvPr/>
        </p:nvSpPr>
        <p:spPr>
          <a:xfrm>
            <a:off x="4705318" y="5817290"/>
            <a:ext cx="3857146" cy="338554"/>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s-ES_tradnl" sz="1600" b="1">
                <a:solidFill>
                  <a:schemeClr val="accent1"/>
                </a:solidFill>
                <a:latin typeface="Century Gothic" panose="020B0502020202020204" pitchFamily="34" charset="0"/>
              </a:rPr>
              <a:t>NA/TA= 2,53% TA x 4 = 10,13% NA/TA</a:t>
            </a:r>
          </a:p>
        </p:txBody>
      </p:sp>
      <p:sp>
        <p:nvSpPr>
          <p:cNvPr id="35" name="Rectángulo 43"/>
          <p:cNvSpPr/>
          <p:nvPr/>
        </p:nvSpPr>
        <p:spPr>
          <a:xfrm>
            <a:off x="3617989" y="5255486"/>
            <a:ext cx="4410182"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5) Pasar de Tasa Periódica a Tasa Nominal</a:t>
            </a:r>
          </a:p>
        </p:txBody>
      </p:sp>
      <p:sp>
        <p:nvSpPr>
          <p:cNvPr id="3" name="Rectángulo 2">
            <a:extLst>
              <a:ext uri="{FF2B5EF4-FFF2-40B4-BE49-F238E27FC236}">
                <a16:creationId xmlns:a16="http://schemas.microsoft.com/office/drawing/2014/main" id="{C827546A-2DA0-72F3-1F45-967EE5ADA65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A63F3EFE-A2A3-4A28-0BEB-0408674746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51">
            <a:extLst>
              <a:ext uri="{FF2B5EF4-FFF2-40B4-BE49-F238E27FC236}">
                <a16:creationId xmlns:a16="http://schemas.microsoft.com/office/drawing/2014/main" id="{0C7C7D29-D590-57AD-8F72-1986BBA7CB2B}"/>
              </a:ext>
            </a:extLst>
          </p:cNvPr>
          <p:cNvSpPr/>
          <p:nvPr/>
        </p:nvSpPr>
        <p:spPr>
          <a:xfrm>
            <a:off x="711567" y="2191249"/>
            <a:ext cx="5127529" cy="369332"/>
          </a:xfrm>
          <a:prstGeom prst="rect">
            <a:avLst/>
          </a:prstGeom>
          <a:ln>
            <a:noFill/>
          </a:ln>
        </p:spPr>
        <p:txBody>
          <a:bodyPr wrap="square">
            <a:spAutoFit/>
          </a:bodyPr>
          <a:lstStyle/>
          <a:p>
            <a:r>
              <a:rPr lang="es-ES_tradnl" b="1">
                <a:solidFill>
                  <a:srgbClr val="C00000"/>
                </a:solidFill>
                <a:latin typeface="Century Gothic" panose="020B0502020202020204" pitchFamily="34" charset="0"/>
              </a:rPr>
              <a:t>Convertir 10% NA/SA </a:t>
            </a:r>
            <a:r>
              <a:rPr lang="es-ES_tradnl" b="1">
                <a:solidFill>
                  <a:srgbClr val="C00000"/>
                </a:solidFill>
                <a:latin typeface="Century Gothic" panose="020B0502020202020204" pitchFamily="34" charset="0"/>
                <a:sym typeface="Wingdings"/>
              </a:rPr>
              <a:t>a NA/TA</a:t>
            </a:r>
            <a:endParaRPr lang="es-ES_tradnl" b="1">
              <a:solidFill>
                <a:srgbClr val="C00000"/>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FFDC474-7019-9340-8A6C-59149C9D625D}"/>
                  </a:ext>
                </a:extLst>
              </p:cNvPr>
              <p:cNvSpPr txBox="1"/>
              <p:nvPr/>
            </p:nvSpPr>
            <p:spPr>
              <a:xfrm>
                <a:off x="3054666" y="3473761"/>
                <a:ext cx="2284600" cy="801181"/>
              </a:xfrm>
              <a:prstGeom prst="rect">
                <a:avLst/>
              </a:prstGeom>
              <a:noFill/>
            </p:spPr>
            <p:txBody>
              <a:bodyPr wrap="none" lIns="0" tIns="0" rIns="0" bIns="0" rtlCol="0">
                <a:spAutoFit/>
              </a:bodyPr>
              <a:lstStyle/>
              <a:p>
                <a:pPr/>
                <a14:m>
                  <m:oMathPara xmlns:m="http://schemas.openxmlformats.org/officeDocument/2006/math">
                    <m:oMath>
                      <m:f>
                        <m:fPr>
                          <m:ctrlPr>
                            <a:rPr lang="es-ES" i="1">
                              <a:latin typeface="Cambria Math" panose="02040503050406030204" pitchFamily="18" charset="0"/>
                            </a:rPr>
                          </m:ctrlPr>
                        </m:fPr>
                        <m:num>
                          <m:r>
                            <a:rPr lang="es-ES" i="1">
                              <a:latin typeface="Cambria Math" panose="02040503050406030204" pitchFamily="18" charset="0"/>
                            </a:rPr>
                            <m:t>10%</m:t>
                          </m:r>
                          <m:r>
                            <a:rPr lang="es-ES" b="0" i="1" smtClean="0">
                              <a:latin typeface="Cambria Math" panose="02040503050406030204" pitchFamily="18" charset="0"/>
                            </a:rPr>
                            <m:t> </m:t>
                          </m:r>
                          <m:r>
                            <a:rPr lang="es-ES" b="0" i="1" smtClean="0">
                              <a:latin typeface="Cambria Math" panose="02040503050406030204" pitchFamily="18" charset="0"/>
                            </a:rPr>
                            <m:t>𝑁𝐴</m:t>
                          </m:r>
                          <m:r>
                            <a:rPr lang="es-ES" b="0" i="1" smtClean="0">
                              <a:latin typeface="Cambria Math" panose="02040503050406030204" pitchFamily="18" charset="0"/>
                            </a:rPr>
                            <m:t>/</m:t>
                          </m:r>
                          <m:r>
                            <a:rPr lang="es-ES" b="0" i="1" smtClean="0">
                              <a:latin typeface="Cambria Math" panose="02040503050406030204" pitchFamily="18" charset="0"/>
                            </a:rPr>
                            <m:t>𝑆𝐴</m:t>
                          </m:r>
                        </m:num>
                        <m:den>
                          <m:r>
                            <a:rPr lang="es-ES" b="0" i="1" smtClean="0">
                              <a:latin typeface="Cambria Math" panose="02040503050406030204" pitchFamily="18" charset="0"/>
                            </a:rPr>
                            <m:t>2</m:t>
                          </m:r>
                        </m:den>
                      </m:f>
                      <m:r>
                        <a:rPr lang="es-ES" b="0" i="1" smtClean="0">
                          <a:latin typeface="Cambria Math" panose="02040503050406030204" pitchFamily="18" charset="0"/>
                        </a:rPr>
                        <m:t>=5% </m:t>
                      </m:r>
                      <m:r>
                        <a:rPr lang="es-ES" b="0" i="1" smtClean="0">
                          <a:latin typeface="Cambria Math" panose="02040503050406030204" pitchFamily="18" charset="0"/>
                        </a:rPr>
                        <m:t>𝑆𝐴</m:t>
                      </m:r>
                      <m:r>
                        <a:rPr lang="es-ES" b="0" i="1" smtClean="0">
                          <a:latin typeface="Cambria Math" panose="02040503050406030204" pitchFamily="18" charset="0"/>
                        </a:rPr>
                        <m:t> </m:t>
                      </m:r>
                    </m:oMath>
                  </m:oMathPara>
                </a14:m>
                <a:endParaRPr lang="es-ES" b="0"/>
              </a:p>
              <a:p>
                <a:endParaRPr lang="es-CO"/>
              </a:p>
            </p:txBody>
          </p:sp>
        </mc:Choice>
        <mc:Fallback xmlns="">
          <p:sp>
            <p:nvSpPr>
              <p:cNvPr id="8" name="CuadroTexto 7">
                <a:extLst>
                  <a:ext uri="{FF2B5EF4-FFF2-40B4-BE49-F238E27FC236}">
                    <a16:creationId xmlns:a16="http://schemas.microsoft.com/office/drawing/2014/main" id="{FFFDC474-7019-9340-8A6C-59149C9D625D}"/>
                  </a:ext>
                </a:extLst>
              </p:cNvPr>
              <p:cNvSpPr txBox="1">
                <a:spLocks noRot="1" noChangeAspect="1" noMove="1" noResize="1" noEditPoints="1" noAdjustHandles="1" noChangeArrowheads="1" noChangeShapeType="1" noTextEdit="1"/>
              </p:cNvSpPr>
              <p:nvPr/>
            </p:nvSpPr>
            <p:spPr>
              <a:xfrm>
                <a:off x="3054666" y="3473761"/>
                <a:ext cx="2284600" cy="801181"/>
              </a:xfrm>
              <a:prstGeom prst="rect">
                <a:avLst/>
              </a:prstGeom>
              <a:blipFill>
                <a:blip r:embed="rId3"/>
                <a:stretch>
                  <a:fillRect l="-2210" t="-4688" r="-331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9241700-6070-52D1-F654-E6A8A56C37E7}"/>
                  </a:ext>
                </a:extLst>
              </p:cNvPr>
              <p:cNvSpPr txBox="1"/>
              <p:nvPr/>
            </p:nvSpPr>
            <p:spPr>
              <a:xfrm>
                <a:off x="7164351" y="3526605"/>
                <a:ext cx="4041427" cy="400944"/>
              </a:xfrm>
              <a:prstGeom prst="rect">
                <a:avLst/>
              </a:prstGeom>
              <a:noFill/>
            </p:spPr>
            <p:txBody>
              <a:bodyPr wrap="none" lIns="0" tIns="0" rIns="0" bIns="0" rtlCol="0">
                <a:spAutoFit/>
              </a:bodyPr>
              <a:lstStyle/>
              <a:p>
                <a:pPr/>
                <a14:m>
                  <m:oMathPara xmlns:m="http://schemas.openxmlformats.org/officeDocument/2006/math">
                    <m:oMath>
                      <m:r>
                        <a:rPr lang="es-ES" b="0" i="1" smtClean="0">
                          <a:latin typeface="Cambria Math" panose="02040503050406030204" pitchFamily="18" charset="0"/>
                        </a:rPr>
                        <m:t>𝑇𝑉</m:t>
                      </m:r>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i="1">
                                  <a:latin typeface="Cambria Math" panose="02040503050406030204" pitchFamily="18" charset="0"/>
                                </a:rPr>
                                <m:t>1+5,263%</m:t>
                              </m:r>
                              <m:r>
                                <a:rPr lang="es-ES" b="0" i="1" smtClean="0">
                                  <a:latin typeface="Cambria Math" panose="02040503050406030204" pitchFamily="18" charset="0"/>
                                </a:rPr>
                                <m:t> </m:t>
                              </m:r>
                              <m:r>
                                <a:rPr lang="es-ES" b="0" i="1" smtClean="0">
                                  <a:latin typeface="Cambria Math" panose="02040503050406030204" pitchFamily="18" charset="0"/>
                                </a:rPr>
                                <m:t>𝑆𝑉</m:t>
                              </m:r>
                            </m:e>
                          </m:d>
                        </m:e>
                        <m:sup>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den>
                          </m:f>
                          <m:r>
                            <a:rPr lang="es-ES" b="0" i="1" smtClean="0">
                              <a:latin typeface="Cambria Math" panose="02040503050406030204" pitchFamily="18" charset="0"/>
                            </a:rPr>
                            <m:t> </m:t>
                          </m:r>
                        </m:sup>
                      </m:sSup>
                      <m:r>
                        <a:rPr lang="es-ES" b="0" i="1" smtClean="0">
                          <a:latin typeface="Cambria Math" panose="02040503050406030204" pitchFamily="18" charset="0"/>
                        </a:rPr>
                        <m:t>−1=2,6% </m:t>
                      </m:r>
                      <m:r>
                        <a:rPr lang="es-ES" b="0" i="1" smtClean="0">
                          <a:latin typeface="Cambria Math" panose="02040503050406030204" pitchFamily="18" charset="0"/>
                        </a:rPr>
                        <m:t>𝑇𝑉</m:t>
                      </m:r>
                    </m:oMath>
                  </m:oMathPara>
                </a14:m>
                <a:endParaRPr lang="es-CO"/>
              </a:p>
            </p:txBody>
          </p:sp>
        </mc:Choice>
        <mc:Fallback xmlns="">
          <p:sp>
            <p:nvSpPr>
              <p:cNvPr id="10" name="CuadroTexto 9">
                <a:extLst>
                  <a:ext uri="{FF2B5EF4-FFF2-40B4-BE49-F238E27FC236}">
                    <a16:creationId xmlns:a16="http://schemas.microsoft.com/office/drawing/2014/main" id="{19241700-6070-52D1-F654-E6A8A56C37E7}"/>
                  </a:ext>
                </a:extLst>
              </p:cNvPr>
              <p:cNvSpPr txBox="1">
                <a:spLocks noRot="1" noChangeAspect="1" noMove="1" noResize="1" noEditPoints="1" noAdjustHandles="1" noChangeArrowheads="1" noChangeShapeType="1" noTextEdit="1"/>
              </p:cNvSpPr>
              <p:nvPr/>
            </p:nvSpPr>
            <p:spPr>
              <a:xfrm>
                <a:off x="7164351" y="3526605"/>
                <a:ext cx="4041427" cy="400944"/>
              </a:xfrm>
              <a:prstGeom prst="rect">
                <a:avLst/>
              </a:prstGeom>
              <a:blipFill>
                <a:blip r:embed="rId4"/>
                <a:stretch>
                  <a:fillRect l="-627" r="-627" b="-2424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657FFF6-03E4-05CB-98A6-73D58C387DAB}"/>
                  </a:ext>
                </a:extLst>
              </p:cNvPr>
              <p:cNvSpPr txBox="1"/>
              <p:nvPr/>
            </p:nvSpPr>
            <p:spPr>
              <a:xfrm>
                <a:off x="2296965" y="4542306"/>
                <a:ext cx="3089820" cy="536750"/>
              </a:xfrm>
              <a:prstGeom prst="rect">
                <a:avLst/>
              </a:prstGeom>
              <a:noFill/>
            </p:spPr>
            <p:txBody>
              <a:bodyPr wrap="none" lIns="0" tIns="0" rIns="0" bIns="0" rtlCol="0">
                <a:spAutoFit/>
              </a:bodyPr>
              <a:lstStyle/>
              <a:p>
                <a:pPr/>
                <a14:m>
                  <m:oMathPara xmlns:m="http://schemas.openxmlformats.org/officeDocument/2006/math">
                    <m:oMath>
                      <m:r>
                        <a:rPr lang="es-ES" b="0" i="1" smtClean="0">
                          <a:latin typeface="Cambria Math" panose="02040503050406030204" pitchFamily="18" charset="0"/>
                        </a:rPr>
                        <m:t>𝑆𝑉</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 </m:t>
                          </m:r>
                          <m:r>
                            <a:rPr lang="es-ES" b="0" i="1" smtClean="0">
                              <a:latin typeface="Cambria Math" panose="02040503050406030204" pitchFamily="18" charset="0"/>
                            </a:rPr>
                            <m:t>𝑆𝐴</m:t>
                          </m:r>
                        </m:num>
                        <m:den>
                          <m:r>
                            <a:rPr lang="es-ES" b="0" i="1" smtClean="0">
                              <a:latin typeface="Cambria Math" panose="02040503050406030204" pitchFamily="18" charset="0"/>
                            </a:rPr>
                            <m:t>1−5% </m:t>
                          </m:r>
                          <m:r>
                            <a:rPr lang="es-ES" b="0" i="1" smtClean="0">
                              <a:latin typeface="Cambria Math" panose="02040503050406030204" pitchFamily="18" charset="0"/>
                            </a:rPr>
                            <m:t>𝑆𝐴</m:t>
                          </m:r>
                        </m:den>
                      </m:f>
                      <m:r>
                        <a:rPr lang="es-ES" b="0" i="1" smtClean="0">
                          <a:latin typeface="Cambria Math" panose="02040503050406030204" pitchFamily="18" charset="0"/>
                        </a:rPr>
                        <m:t>=5,263% </m:t>
                      </m:r>
                      <m:r>
                        <a:rPr lang="es-ES" b="0" i="1" smtClean="0">
                          <a:latin typeface="Cambria Math" panose="02040503050406030204" pitchFamily="18" charset="0"/>
                        </a:rPr>
                        <m:t>𝑆𝑉</m:t>
                      </m:r>
                    </m:oMath>
                  </m:oMathPara>
                </a14:m>
                <a:endParaRPr lang="es-CO"/>
              </a:p>
            </p:txBody>
          </p:sp>
        </mc:Choice>
        <mc:Fallback xmlns="">
          <p:sp>
            <p:nvSpPr>
              <p:cNvPr id="11" name="CuadroTexto 10">
                <a:extLst>
                  <a:ext uri="{FF2B5EF4-FFF2-40B4-BE49-F238E27FC236}">
                    <a16:creationId xmlns:a16="http://schemas.microsoft.com/office/drawing/2014/main" id="{B657FFF6-03E4-05CB-98A6-73D58C387DAB}"/>
                  </a:ext>
                </a:extLst>
              </p:cNvPr>
              <p:cNvSpPr txBox="1">
                <a:spLocks noRot="1" noChangeAspect="1" noMove="1" noResize="1" noEditPoints="1" noAdjustHandles="1" noChangeArrowheads="1" noChangeShapeType="1" noTextEdit="1"/>
              </p:cNvSpPr>
              <p:nvPr/>
            </p:nvSpPr>
            <p:spPr>
              <a:xfrm>
                <a:off x="2296965" y="4542306"/>
                <a:ext cx="3089820" cy="536750"/>
              </a:xfrm>
              <a:prstGeom prst="rect">
                <a:avLst/>
              </a:prstGeom>
              <a:blipFill>
                <a:blip r:embed="rId5"/>
                <a:stretch>
                  <a:fillRect l="-816" t="-6977" r="-816" b="-2790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A7EBC71-EAE8-62C7-651E-56586D44FE04}"/>
                  </a:ext>
                </a:extLst>
              </p:cNvPr>
              <p:cNvSpPr txBox="1"/>
              <p:nvPr/>
            </p:nvSpPr>
            <p:spPr>
              <a:xfrm>
                <a:off x="7347069" y="4542306"/>
                <a:ext cx="3182538" cy="549702"/>
              </a:xfrm>
              <a:prstGeom prst="rect">
                <a:avLst/>
              </a:prstGeom>
              <a:noFill/>
            </p:spPr>
            <p:txBody>
              <a:bodyPr wrap="none" lIns="0" tIns="0" rIns="0" bIns="0" rtlCol="0">
                <a:spAutoFit/>
              </a:bodyPr>
              <a:lstStyle/>
              <a:p>
                <a:pPr/>
                <a14:m>
                  <m:oMathPara xmlns:m="http://schemas.openxmlformats.org/officeDocument/2006/math">
                    <m:oMath>
                      <m:r>
                        <a:rPr lang="es-ES" b="0" i="1" smtClean="0">
                          <a:latin typeface="Cambria Math" panose="02040503050406030204" pitchFamily="18" charset="0"/>
                        </a:rPr>
                        <m:t>𝑇𝐴</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2,6% </m:t>
                          </m:r>
                          <m:r>
                            <a:rPr lang="es-ES" b="0" i="1" smtClean="0">
                              <a:latin typeface="Cambria Math" panose="02040503050406030204" pitchFamily="18" charset="0"/>
                            </a:rPr>
                            <m:t>𝑇𝑉</m:t>
                          </m:r>
                        </m:num>
                        <m:den>
                          <m:r>
                            <a:rPr lang="es-ES" b="0" i="1" smtClean="0">
                              <a:latin typeface="Cambria Math" panose="02040503050406030204" pitchFamily="18" charset="0"/>
                            </a:rPr>
                            <m:t>1+2,6% </m:t>
                          </m:r>
                          <m:r>
                            <a:rPr lang="es-ES" b="0" i="1" smtClean="0">
                              <a:latin typeface="Cambria Math" panose="02040503050406030204" pitchFamily="18" charset="0"/>
                            </a:rPr>
                            <m:t>𝑇𝑉</m:t>
                          </m:r>
                        </m:den>
                      </m:f>
                      <m:r>
                        <a:rPr lang="es-ES" b="0" i="1" smtClean="0">
                          <a:latin typeface="Cambria Math" panose="02040503050406030204" pitchFamily="18" charset="0"/>
                        </a:rPr>
                        <m:t>=2,53% </m:t>
                      </m:r>
                      <m:r>
                        <a:rPr lang="es-ES" b="0" i="1" smtClean="0">
                          <a:latin typeface="Cambria Math" panose="02040503050406030204" pitchFamily="18" charset="0"/>
                        </a:rPr>
                        <m:t>𝑇𝐴</m:t>
                      </m:r>
                    </m:oMath>
                  </m:oMathPara>
                </a14:m>
                <a:endParaRPr lang="es-CO"/>
              </a:p>
            </p:txBody>
          </p:sp>
        </mc:Choice>
        <mc:Fallback xmlns="">
          <p:sp>
            <p:nvSpPr>
              <p:cNvPr id="12" name="CuadroTexto 11">
                <a:extLst>
                  <a:ext uri="{FF2B5EF4-FFF2-40B4-BE49-F238E27FC236}">
                    <a16:creationId xmlns:a16="http://schemas.microsoft.com/office/drawing/2014/main" id="{BA7EBC71-EAE8-62C7-651E-56586D44FE04}"/>
                  </a:ext>
                </a:extLst>
              </p:cNvPr>
              <p:cNvSpPr txBox="1">
                <a:spLocks noRot="1" noChangeAspect="1" noMove="1" noResize="1" noEditPoints="1" noAdjustHandles="1" noChangeArrowheads="1" noChangeShapeType="1" noTextEdit="1"/>
              </p:cNvSpPr>
              <p:nvPr/>
            </p:nvSpPr>
            <p:spPr>
              <a:xfrm>
                <a:off x="7347069" y="4542306"/>
                <a:ext cx="3182538" cy="549702"/>
              </a:xfrm>
              <a:prstGeom prst="rect">
                <a:avLst/>
              </a:prstGeom>
              <a:blipFill>
                <a:blip r:embed="rId6"/>
                <a:stretch>
                  <a:fillRect l="-797" t="-9091" r="-1195" b="-22727"/>
                </a:stretch>
              </a:blipFill>
            </p:spPr>
            <p:txBody>
              <a:bodyPr/>
              <a:lstStyle/>
              <a:p>
                <a:r>
                  <a:rPr lang="es-ES_tradnl">
                    <a:noFill/>
                  </a:rPr>
                  <a:t> </a:t>
                </a:r>
              </a:p>
            </p:txBody>
          </p:sp>
        </mc:Fallback>
      </mc:AlternateContent>
      <p:sp>
        <p:nvSpPr>
          <p:cNvPr id="9" name="Rectángulo 8">
            <a:extLst>
              <a:ext uri="{FF2B5EF4-FFF2-40B4-BE49-F238E27FC236}">
                <a16:creationId xmlns:a16="http://schemas.microsoft.com/office/drawing/2014/main" id="{1EBEBB43-F883-3669-90DF-087A6F757F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8828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up)">
                                      <p:cBhvr>
                                        <p:cTn id="8" dur="500"/>
                                        <p:tgtEl>
                                          <p:spTgt spid="20"/>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p:tgtEl>
                                          <p:spTgt spid="23"/>
                                        </p:tgtEl>
                                        <p:attrNameLst>
                                          <p:attrName>ppt_y</p:attrName>
                                        </p:attrNameLst>
                                      </p:cBhvr>
                                      <p:tavLst>
                                        <p:tav tm="0">
                                          <p:val>
                                            <p:strVal val="#ppt_y+#ppt_h*1.125000"/>
                                          </p:val>
                                        </p:tav>
                                        <p:tav tm="100000">
                                          <p:val>
                                            <p:strVal val="#ppt_y"/>
                                          </p:val>
                                        </p:tav>
                                      </p:tavLst>
                                    </p:anim>
                                    <p:animEffect transition="in" filter="wipe(up)">
                                      <p:cBhvr>
                                        <p:cTn id="18" dur="500"/>
                                        <p:tgtEl>
                                          <p:spTgt spid="23"/>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p:tgtEl>
                                          <p:spTgt spid="11"/>
                                        </p:tgtEl>
                                        <p:attrNameLst>
                                          <p:attrName>ppt_y</p:attrName>
                                        </p:attrNameLst>
                                      </p:cBhvr>
                                      <p:tavLst>
                                        <p:tav tm="0">
                                          <p:val>
                                            <p:strVal val="#ppt_y+#ppt_h*1.125000"/>
                                          </p:val>
                                        </p:tav>
                                        <p:tav tm="100000">
                                          <p:val>
                                            <p:strVal val="#ppt_y"/>
                                          </p:val>
                                        </p:tav>
                                      </p:tavLst>
                                    </p:anim>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p:tgtEl>
                                          <p:spTgt spid="24"/>
                                        </p:tgtEl>
                                        <p:attrNameLst>
                                          <p:attrName>ppt_y</p:attrName>
                                        </p:attrNameLst>
                                      </p:cBhvr>
                                      <p:tavLst>
                                        <p:tav tm="0">
                                          <p:val>
                                            <p:strVal val="#ppt_y+#ppt_h*1.125000"/>
                                          </p:val>
                                        </p:tav>
                                        <p:tav tm="100000">
                                          <p:val>
                                            <p:strVal val="#ppt_y"/>
                                          </p:val>
                                        </p:tav>
                                      </p:tavLst>
                                    </p:anim>
                                    <p:animEffect transition="in" filter="wipe(up)">
                                      <p:cBhvr>
                                        <p:cTn id="28" dur="500"/>
                                        <p:tgtEl>
                                          <p:spTgt spid="24"/>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p:tgtEl>
                                          <p:spTgt spid="10"/>
                                        </p:tgtEl>
                                        <p:attrNameLst>
                                          <p:attrName>ppt_y</p:attrName>
                                        </p:attrNameLst>
                                      </p:cBhvr>
                                      <p:tavLst>
                                        <p:tav tm="0">
                                          <p:val>
                                            <p:strVal val="#ppt_y+#ppt_h*1.125000"/>
                                          </p:val>
                                        </p:tav>
                                        <p:tav tm="100000">
                                          <p:val>
                                            <p:strVal val="#ppt_y"/>
                                          </p:val>
                                        </p:tav>
                                      </p:tavLst>
                                    </p:anim>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p:tgtEl>
                                          <p:spTgt spid="29"/>
                                        </p:tgtEl>
                                        <p:attrNameLst>
                                          <p:attrName>ppt_y</p:attrName>
                                        </p:attrNameLst>
                                      </p:cBhvr>
                                      <p:tavLst>
                                        <p:tav tm="0">
                                          <p:val>
                                            <p:strVal val="#ppt_y+#ppt_h*1.125000"/>
                                          </p:val>
                                        </p:tav>
                                        <p:tav tm="100000">
                                          <p:val>
                                            <p:strVal val="#ppt_y"/>
                                          </p:val>
                                        </p:tav>
                                      </p:tavLst>
                                    </p:anim>
                                    <p:animEffect transition="in" filter="wipe(up)">
                                      <p:cBhvr>
                                        <p:cTn id="38" dur="500"/>
                                        <p:tgtEl>
                                          <p:spTgt spid="29"/>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p:tgtEl>
                                          <p:spTgt spid="12"/>
                                        </p:tgtEl>
                                        <p:attrNameLst>
                                          <p:attrName>ppt_y</p:attrName>
                                        </p:attrNameLst>
                                      </p:cBhvr>
                                      <p:tavLst>
                                        <p:tav tm="0">
                                          <p:val>
                                            <p:strVal val="#ppt_y+#ppt_h*1.125000"/>
                                          </p:val>
                                        </p:tav>
                                        <p:tav tm="100000">
                                          <p:val>
                                            <p:strVal val="#ppt_y"/>
                                          </p:val>
                                        </p:tav>
                                      </p:tavLst>
                                    </p:anim>
                                    <p:animEffect transition="in" filter="wipe(up)">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ppt_x"/>
                                          </p:val>
                                        </p:tav>
                                        <p:tav tm="100000">
                                          <p:val>
                                            <p:strVal val="#ppt_x"/>
                                          </p:val>
                                        </p:tav>
                                      </p:tavLst>
                                    </p:anim>
                                    <p:anim calcmode="lin" valueType="num">
                                      <p:cBhvr additive="base">
                                        <p:cTn id="48" dur="500" fill="hold"/>
                                        <p:tgtEl>
                                          <p:spTgt spid="3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9" grpId="0"/>
      <p:bldP spid="34" grpId="0" animBg="1"/>
      <p:bldP spid="35" grpId="0"/>
      <p:bldP spid="8" grpId="0"/>
      <p:bldP spid="10" grpId="0"/>
      <p:bldP spid="11"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atin typeface="Century Gothic" panose="020B0502020202020204" pitchFamily="34" charset="0"/>
              </a:rPr>
              <a:t>EJERCICIO 2</a:t>
            </a:r>
          </a:p>
        </p:txBody>
      </p:sp>
      <p:sp>
        <p:nvSpPr>
          <p:cNvPr id="8" name="Marcador de contenido 2"/>
          <p:cNvSpPr>
            <a:spLocks noGrp="1"/>
          </p:cNvSpPr>
          <p:nvPr>
            <p:ph idx="1"/>
          </p:nvPr>
        </p:nvSpPr>
        <p:spPr>
          <a:xfrm>
            <a:off x="641965" y="1459427"/>
            <a:ext cx="10731242" cy="3670767"/>
          </a:xfrm>
        </p:spPr>
        <p:txBody>
          <a:bodyPr>
            <a:normAutofit/>
          </a:bodyPr>
          <a:lstStyle/>
          <a:p>
            <a:pPr marL="0" indent="0" algn="just">
              <a:buNone/>
            </a:pPr>
            <a:r>
              <a:rPr lang="es-CO">
                <a:latin typeface="Century Gothic" panose="020B0502020202020204" pitchFamily="34" charset="0"/>
              </a:rPr>
              <a:t>A continuación, está el valor de la matrícula de una universidad y la inflación oficial del DANE. Calcule el crecimiento nominal y el crecimiento real de esta matrícula de la universidad para los años comprendidos en el periodo 2008 – 2012. Tenga en cuenta que al final de cada año la universidad toma en cuenta la inflación para definir el valor de la matricula del año siguiente</a:t>
            </a:r>
          </a:p>
          <a:p>
            <a:pPr marL="0" indent="0" algn="just">
              <a:buNone/>
            </a:pPr>
            <a:endParaRPr lang="es-CO" b="1">
              <a:latin typeface="Century Gothic" panose="020B0502020202020204" pitchFamily="34" charset="0"/>
            </a:endParaRPr>
          </a:p>
          <a:p>
            <a:pPr marL="0" indent="0" algn="just">
              <a:buNone/>
            </a:pPr>
            <a:endParaRPr lang="es-CO" b="1">
              <a:latin typeface="Century Gothic" panose="020B0502020202020204" pitchFamily="34" charset="0"/>
            </a:endParaRPr>
          </a:p>
          <a:p>
            <a:pPr algn="just"/>
            <a:endParaRPr lang="es-CO">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40</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25EFBE0A-3BF3-561F-41D6-E3E1F92D78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91AB4FCE-377E-2D8E-7D61-B1713EF38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6">
            <a:extLst>
              <a:ext uri="{FF2B5EF4-FFF2-40B4-BE49-F238E27FC236}">
                <a16:creationId xmlns:a16="http://schemas.microsoft.com/office/drawing/2014/main" id="{B7B3A1A6-3CA5-E9C3-A757-C61CACEC6328}"/>
              </a:ext>
            </a:extLst>
          </p:cNvPr>
          <p:cNvGraphicFramePr>
            <a:graphicFrameLocks noGrp="1"/>
          </p:cNvGraphicFramePr>
          <p:nvPr>
            <p:extLst>
              <p:ext uri="{D42A27DB-BD31-4B8C-83A1-F6EECF244321}">
                <p14:modId xmlns:p14="http://schemas.microsoft.com/office/powerpoint/2010/main" val="436286973"/>
              </p:ext>
            </p:extLst>
          </p:nvPr>
        </p:nvGraphicFramePr>
        <p:xfrm>
          <a:off x="2480152" y="3489530"/>
          <a:ext cx="7478040" cy="2926080"/>
        </p:xfrm>
        <a:graphic>
          <a:graphicData uri="http://schemas.openxmlformats.org/drawingml/2006/table">
            <a:tbl>
              <a:tblPr firstRow="1" bandRow="1">
                <a:tableStyleId>{21E4AEA4-8DFA-4A89-87EB-49C32662AFE0}</a:tableStyleId>
              </a:tblPr>
              <a:tblGrid>
                <a:gridCol w="1495608">
                  <a:extLst>
                    <a:ext uri="{9D8B030D-6E8A-4147-A177-3AD203B41FA5}">
                      <a16:colId xmlns:a16="http://schemas.microsoft.com/office/drawing/2014/main" val="20000"/>
                    </a:ext>
                  </a:extLst>
                </a:gridCol>
                <a:gridCol w="1495608">
                  <a:extLst>
                    <a:ext uri="{9D8B030D-6E8A-4147-A177-3AD203B41FA5}">
                      <a16:colId xmlns:a16="http://schemas.microsoft.com/office/drawing/2014/main" val="20001"/>
                    </a:ext>
                  </a:extLst>
                </a:gridCol>
                <a:gridCol w="1495608">
                  <a:extLst>
                    <a:ext uri="{9D8B030D-6E8A-4147-A177-3AD203B41FA5}">
                      <a16:colId xmlns:a16="http://schemas.microsoft.com/office/drawing/2014/main" val="20002"/>
                    </a:ext>
                  </a:extLst>
                </a:gridCol>
                <a:gridCol w="1495608">
                  <a:extLst>
                    <a:ext uri="{9D8B030D-6E8A-4147-A177-3AD203B41FA5}">
                      <a16:colId xmlns:a16="http://schemas.microsoft.com/office/drawing/2014/main" val="20003"/>
                    </a:ext>
                  </a:extLst>
                </a:gridCol>
                <a:gridCol w="1495608">
                  <a:extLst>
                    <a:ext uri="{9D8B030D-6E8A-4147-A177-3AD203B41FA5}">
                      <a16:colId xmlns:a16="http://schemas.microsoft.com/office/drawing/2014/main" val="20004"/>
                    </a:ext>
                  </a:extLst>
                </a:gridCol>
              </a:tblGrid>
              <a:tr h="286826">
                <a:tc gridSpan="2">
                  <a:txBody>
                    <a:bodyPr/>
                    <a:lstStyle/>
                    <a:p>
                      <a:pPr algn="ctr"/>
                      <a:r>
                        <a:rPr lang="en-US" sz="1600" err="1">
                          <a:latin typeface="Century Gothic" panose="020B0502020202020204" pitchFamily="34" charset="0"/>
                        </a:rPr>
                        <a:t>Precio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tc>
                  <a:txBody>
                    <a:bodyPr/>
                    <a:lstStyle/>
                    <a:p>
                      <a:pPr algn="ctr"/>
                      <a:r>
                        <a:rPr lang="en-US" sz="1600" err="1">
                          <a:latin typeface="Century Gothic" panose="020B0502020202020204" pitchFamily="34" charset="0"/>
                        </a:rPr>
                        <a:t>Inflación</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gridSpan="2">
                  <a:txBody>
                    <a:bodyPr/>
                    <a:lstStyle/>
                    <a:p>
                      <a:pPr algn="ctr"/>
                      <a:r>
                        <a:rPr lang="en-US" sz="1600" err="1">
                          <a:latin typeface="Century Gothic" panose="020B0502020202020204" pitchFamily="34" charset="0"/>
                        </a:rPr>
                        <a:t>Crecimiento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extLst>
                  <a:ext uri="{0D108BD9-81ED-4DB2-BD59-A6C34878D82A}">
                    <a16:rowId xmlns:a16="http://schemas.microsoft.com/office/drawing/2014/main" val="10000"/>
                  </a:ext>
                </a:extLst>
              </a:tr>
              <a:tr h="495069">
                <a:tc>
                  <a:txBody>
                    <a:bodyPr/>
                    <a:lstStyle/>
                    <a:p>
                      <a:pPr algn="ctr"/>
                      <a:r>
                        <a:rPr lang="en-US" sz="1600" b="1" err="1">
                          <a:solidFill>
                            <a:schemeClr val="accent1"/>
                          </a:solidFill>
                          <a:latin typeface="Century Gothic" panose="020B0502020202020204" pitchFamily="34" charset="0"/>
                        </a:rPr>
                        <a:t>Año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Precio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a:solidFill>
                            <a:schemeClr val="accent1"/>
                          </a:solidFill>
                          <a:latin typeface="Century Gothic" panose="020B0502020202020204" pitchFamily="34" charset="0"/>
                        </a:rPr>
                        <a:t>Variación del</a:t>
                      </a:r>
                      <a:r>
                        <a:rPr lang="en-US" sz="1600" b="1" baseline="0">
                          <a:solidFill>
                            <a:schemeClr val="accent1"/>
                          </a:solidFill>
                          <a:latin typeface="Century Gothic" panose="020B0502020202020204" pitchFamily="34" charset="0"/>
                        </a:rPr>
                        <a:t> IPC</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Nominal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Real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1"/>
                  </a:ext>
                </a:extLst>
              </a:tr>
              <a:tr h="286826">
                <a:tc>
                  <a:txBody>
                    <a:bodyPr/>
                    <a:lstStyle/>
                    <a:p>
                      <a:pPr algn="ctr"/>
                      <a:r>
                        <a:rPr lang="en-US" sz="1600" b="1">
                          <a:solidFill>
                            <a:schemeClr val="accent1"/>
                          </a:solidFill>
                          <a:latin typeface="Century Gothic" panose="020B0502020202020204" pitchFamily="34" charset="0"/>
                        </a:rPr>
                        <a:t>2007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$8.165.000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5,69%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86826">
                <a:tc>
                  <a:txBody>
                    <a:bodyPr/>
                    <a:lstStyle/>
                    <a:p>
                      <a:pPr algn="ctr"/>
                      <a:r>
                        <a:rPr lang="en-US" sz="1600" b="1">
                          <a:solidFill>
                            <a:schemeClr val="accent1"/>
                          </a:solidFill>
                          <a:latin typeface="Century Gothic" panose="020B0502020202020204" pitchFamily="34" charset="0"/>
                        </a:rPr>
                        <a:t>2008</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$8.820.000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7,67%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86826">
                <a:tc>
                  <a:txBody>
                    <a:bodyPr/>
                    <a:lstStyle/>
                    <a:p>
                      <a:pPr algn="ctr"/>
                      <a:r>
                        <a:rPr lang="en-US" sz="1600" b="1">
                          <a:solidFill>
                            <a:schemeClr val="accent1"/>
                          </a:solidFill>
                          <a:latin typeface="Century Gothic" panose="020B0502020202020204" pitchFamily="34" charset="0"/>
                        </a:rPr>
                        <a:t>2009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$9.660.000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286826">
                <a:tc>
                  <a:txBody>
                    <a:bodyPr/>
                    <a:lstStyle/>
                    <a:p>
                      <a:pPr algn="ctr"/>
                      <a:r>
                        <a:rPr lang="en-US" sz="1600" b="1">
                          <a:solidFill>
                            <a:schemeClr val="accent1"/>
                          </a:solidFill>
                          <a:latin typeface="Century Gothic" panose="020B0502020202020204" pitchFamily="34" charset="0"/>
                        </a:rPr>
                        <a:t>2010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$10.095.000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3,17%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171867">
                <a:tc>
                  <a:txBody>
                    <a:bodyPr/>
                    <a:lstStyle/>
                    <a:p>
                      <a:pPr algn="ctr"/>
                      <a:r>
                        <a:rPr lang="en-US" sz="1600" b="1">
                          <a:solidFill>
                            <a:schemeClr val="accent1"/>
                          </a:solidFill>
                          <a:latin typeface="Century Gothic" panose="020B0502020202020204" pitchFamily="34" charset="0"/>
                        </a:rPr>
                        <a:t>2011</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$10.600.000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3,73%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286826">
                <a:tc>
                  <a:txBody>
                    <a:bodyPr/>
                    <a:lstStyle/>
                    <a:p>
                      <a:pPr algn="ctr"/>
                      <a:r>
                        <a:rPr lang="en-US" sz="1600" b="1">
                          <a:solidFill>
                            <a:schemeClr val="accent1"/>
                          </a:solidFill>
                          <a:latin typeface="Century Gothic" panose="020B0502020202020204" pitchFamily="34" charset="0"/>
                        </a:rPr>
                        <a:t>2012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$11.240.000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2,44%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7" name="Rectángulo 6">
            <a:extLst>
              <a:ext uri="{FF2B5EF4-FFF2-40B4-BE49-F238E27FC236}">
                <a16:creationId xmlns:a16="http://schemas.microsoft.com/office/drawing/2014/main" id="{E5EEB8D1-EE3D-B914-92A2-893AC952D6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99134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atin typeface="Century Gothic" panose="020B0502020202020204" pitchFamily="34" charset="0"/>
              </a:rPr>
              <a:t>SOLUCIÓN EJERCICIO 2</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41</a:t>
            </a:fld>
            <a:endParaRPr lang="en-US" sz="2000" b="1">
              <a:latin typeface="Century Gothic" panose="020B0502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681422537"/>
              </p:ext>
            </p:extLst>
          </p:nvPr>
        </p:nvGraphicFramePr>
        <p:xfrm>
          <a:off x="2480152" y="3533073"/>
          <a:ext cx="7478040" cy="2926080"/>
        </p:xfrm>
        <a:graphic>
          <a:graphicData uri="http://schemas.openxmlformats.org/drawingml/2006/table">
            <a:tbl>
              <a:tblPr firstRow="1" bandRow="1">
                <a:tableStyleId>{21E4AEA4-8DFA-4A89-87EB-49C32662AFE0}</a:tableStyleId>
              </a:tblPr>
              <a:tblGrid>
                <a:gridCol w="1495608">
                  <a:extLst>
                    <a:ext uri="{9D8B030D-6E8A-4147-A177-3AD203B41FA5}">
                      <a16:colId xmlns:a16="http://schemas.microsoft.com/office/drawing/2014/main" val="20000"/>
                    </a:ext>
                  </a:extLst>
                </a:gridCol>
                <a:gridCol w="1495608">
                  <a:extLst>
                    <a:ext uri="{9D8B030D-6E8A-4147-A177-3AD203B41FA5}">
                      <a16:colId xmlns:a16="http://schemas.microsoft.com/office/drawing/2014/main" val="20001"/>
                    </a:ext>
                  </a:extLst>
                </a:gridCol>
                <a:gridCol w="1495608">
                  <a:extLst>
                    <a:ext uri="{9D8B030D-6E8A-4147-A177-3AD203B41FA5}">
                      <a16:colId xmlns:a16="http://schemas.microsoft.com/office/drawing/2014/main" val="20002"/>
                    </a:ext>
                  </a:extLst>
                </a:gridCol>
                <a:gridCol w="1495608">
                  <a:extLst>
                    <a:ext uri="{9D8B030D-6E8A-4147-A177-3AD203B41FA5}">
                      <a16:colId xmlns:a16="http://schemas.microsoft.com/office/drawing/2014/main" val="20003"/>
                    </a:ext>
                  </a:extLst>
                </a:gridCol>
                <a:gridCol w="1495608">
                  <a:extLst>
                    <a:ext uri="{9D8B030D-6E8A-4147-A177-3AD203B41FA5}">
                      <a16:colId xmlns:a16="http://schemas.microsoft.com/office/drawing/2014/main" val="20004"/>
                    </a:ext>
                  </a:extLst>
                </a:gridCol>
              </a:tblGrid>
              <a:tr h="286826">
                <a:tc gridSpan="2">
                  <a:txBody>
                    <a:bodyPr/>
                    <a:lstStyle/>
                    <a:p>
                      <a:pPr algn="ctr"/>
                      <a:r>
                        <a:rPr lang="en-US" sz="1600" err="1">
                          <a:latin typeface="Century Gothic" panose="020B0502020202020204" pitchFamily="34" charset="0"/>
                        </a:rPr>
                        <a:t>Precio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tc>
                  <a:txBody>
                    <a:bodyPr/>
                    <a:lstStyle/>
                    <a:p>
                      <a:pPr algn="ctr"/>
                      <a:r>
                        <a:rPr lang="en-US" sz="1600" err="1">
                          <a:latin typeface="Century Gothic" panose="020B0502020202020204" pitchFamily="34" charset="0"/>
                        </a:rPr>
                        <a:t>Inflación</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gridSpan="2">
                  <a:txBody>
                    <a:bodyPr/>
                    <a:lstStyle/>
                    <a:p>
                      <a:pPr algn="ctr"/>
                      <a:r>
                        <a:rPr lang="en-US" sz="1600" err="1">
                          <a:latin typeface="Century Gothic" panose="020B0502020202020204" pitchFamily="34" charset="0"/>
                        </a:rPr>
                        <a:t>Crecimiento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extLst>
                  <a:ext uri="{0D108BD9-81ED-4DB2-BD59-A6C34878D82A}">
                    <a16:rowId xmlns:a16="http://schemas.microsoft.com/office/drawing/2014/main" val="10000"/>
                  </a:ext>
                </a:extLst>
              </a:tr>
              <a:tr h="495069">
                <a:tc>
                  <a:txBody>
                    <a:bodyPr/>
                    <a:lstStyle/>
                    <a:p>
                      <a:pPr algn="ctr"/>
                      <a:r>
                        <a:rPr lang="en-US" sz="1600" b="1">
                          <a:solidFill>
                            <a:schemeClr val="accent1"/>
                          </a:solidFill>
                          <a:latin typeface="Century Gothic"/>
                        </a:rPr>
                        <a:t>Año</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Precio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a:solidFill>
                            <a:schemeClr val="accent1"/>
                          </a:solidFill>
                          <a:latin typeface="Century Gothic" panose="020B0502020202020204" pitchFamily="34" charset="0"/>
                        </a:rPr>
                        <a:t>Variación del</a:t>
                      </a:r>
                      <a:r>
                        <a:rPr lang="en-US" sz="1600" b="1" baseline="0">
                          <a:solidFill>
                            <a:schemeClr val="accent1"/>
                          </a:solidFill>
                          <a:latin typeface="Century Gothic" panose="020B0502020202020204" pitchFamily="34" charset="0"/>
                        </a:rPr>
                        <a:t> IPC</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Nominal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Real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1"/>
                  </a:ext>
                </a:extLst>
              </a:tr>
              <a:tr h="286826">
                <a:tc>
                  <a:txBody>
                    <a:bodyPr/>
                    <a:lstStyle/>
                    <a:p>
                      <a:pPr algn="ctr"/>
                      <a:r>
                        <a:rPr lang="en-US" sz="1600" b="1">
                          <a:solidFill>
                            <a:schemeClr val="accent1"/>
                          </a:solidFill>
                          <a:latin typeface="Century Gothic" panose="020B0502020202020204" pitchFamily="34" charset="0"/>
                        </a:rPr>
                        <a:t>2007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$8.165.000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5,69%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86826">
                <a:tc>
                  <a:txBody>
                    <a:bodyPr/>
                    <a:lstStyle/>
                    <a:p>
                      <a:pPr algn="ctr"/>
                      <a:r>
                        <a:rPr lang="en-US" sz="1600" b="1">
                          <a:solidFill>
                            <a:schemeClr val="accent1"/>
                          </a:solidFill>
                          <a:latin typeface="Century Gothic" panose="020B0502020202020204" pitchFamily="34" charset="0"/>
                        </a:rPr>
                        <a:t>2008</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$8.820.000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7,67%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8,022%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rtl="0" fontAlgn="t">
                        <a:buNone/>
                      </a:pPr>
                      <a:r>
                        <a:rPr lang="es-CO" sz="1600" b="0" i="0" u="none" strike="noStrike">
                          <a:solidFill>
                            <a:srgbClr val="366658"/>
                          </a:solidFill>
                          <a:effectLst/>
                          <a:latin typeface="Century Gothic" panose="020B0502020202020204" pitchFamily="34" charset="0"/>
                        </a:rPr>
                        <a:t>2,21%</a:t>
                      </a:r>
                    </a:p>
                  </a:txBody>
                  <a:tcPr marL="6350" marR="6350" marT="6350"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86826">
                <a:tc>
                  <a:txBody>
                    <a:bodyPr/>
                    <a:lstStyle/>
                    <a:p>
                      <a:pPr algn="ctr"/>
                      <a:r>
                        <a:rPr lang="en-US" sz="1600" b="1">
                          <a:solidFill>
                            <a:schemeClr val="accent1"/>
                          </a:solidFill>
                          <a:latin typeface="Century Gothic" panose="020B0502020202020204" pitchFamily="34" charset="0"/>
                        </a:rPr>
                        <a:t>2009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$9.660.000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9,524%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rtl="0" fontAlgn="t">
                        <a:buNone/>
                      </a:pPr>
                      <a:r>
                        <a:rPr lang="es-CO" sz="1600" b="0" i="0" u="none" strike="noStrike">
                          <a:solidFill>
                            <a:srgbClr val="366658"/>
                          </a:solidFill>
                          <a:effectLst/>
                          <a:latin typeface="Century Gothic" panose="020B0502020202020204" pitchFamily="34" charset="0"/>
                        </a:rPr>
                        <a:t>1,72%</a:t>
                      </a:r>
                    </a:p>
                  </a:txBody>
                  <a:tcPr marL="6350" marR="6350" marT="6350"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286826">
                <a:tc>
                  <a:txBody>
                    <a:bodyPr/>
                    <a:lstStyle/>
                    <a:p>
                      <a:pPr algn="ctr"/>
                      <a:r>
                        <a:rPr lang="en-US" sz="1600" b="1">
                          <a:solidFill>
                            <a:schemeClr val="accent1"/>
                          </a:solidFill>
                          <a:latin typeface="Century Gothic" panose="020B0502020202020204" pitchFamily="34" charset="0"/>
                        </a:rPr>
                        <a:t>2010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$10.095.000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3,17%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4,503%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rtl="0" fontAlgn="t">
                        <a:buNone/>
                      </a:pPr>
                      <a:r>
                        <a:rPr lang="es-CO" sz="1600" b="0" i="0" u="none" strike="noStrike">
                          <a:solidFill>
                            <a:srgbClr val="366658"/>
                          </a:solidFill>
                          <a:effectLst/>
                          <a:latin typeface="Century Gothic" panose="020B0502020202020204" pitchFamily="34" charset="0"/>
                        </a:rPr>
                        <a:t>2,45%</a:t>
                      </a:r>
                    </a:p>
                  </a:txBody>
                  <a:tcPr marL="6350" marR="6350" marT="6350"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286826">
                <a:tc>
                  <a:txBody>
                    <a:bodyPr/>
                    <a:lstStyle/>
                    <a:p>
                      <a:pPr algn="ctr"/>
                      <a:r>
                        <a:rPr lang="en-US" sz="1600" b="1">
                          <a:solidFill>
                            <a:schemeClr val="accent1"/>
                          </a:solidFill>
                          <a:latin typeface="Century Gothic" panose="020B0502020202020204" pitchFamily="34" charset="0"/>
                        </a:rPr>
                        <a:t>2011</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$10.600.000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3,73%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rtl="0" fontAlgn="t">
                        <a:buNone/>
                      </a:pPr>
                      <a:r>
                        <a:rPr lang="es-CO" sz="1600" b="0" i="0" u="none" strike="noStrike">
                          <a:solidFill>
                            <a:srgbClr val="366658"/>
                          </a:solidFill>
                          <a:effectLst/>
                          <a:latin typeface="Century Gothic" panose="020B0502020202020204" pitchFamily="34" charset="0"/>
                        </a:rPr>
                        <a:t>1,77%</a:t>
                      </a:r>
                    </a:p>
                  </a:txBody>
                  <a:tcPr marL="6350" marR="6350" marT="6350"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286826">
                <a:tc>
                  <a:txBody>
                    <a:bodyPr/>
                    <a:lstStyle/>
                    <a:p>
                      <a:pPr algn="ctr"/>
                      <a:r>
                        <a:rPr lang="en-US" sz="1600" b="1">
                          <a:solidFill>
                            <a:schemeClr val="accent1"/>
                          </a:solidFill>
                          <a:latin typeface="Century Gothic" panose="020B0502020202020204" pitchFamily="34" charset="0"/>
                        </a:rPr>
                        <a:t>2012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$11.240.000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2,44%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6,04%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rtl="0" fontAlgn="t">
                        <a:buNone/>
                      </a:pPr>
                      <a:r>
                        <a:rPr lang="es-CO" sz="1600" b="0" i="0" u="none" strike="noStrike">
                          <a:solidFill>
                            <a:srgbClr val="366658"/>
                          </a:solidFill>
                          <a:effectLst/>
                          <a:latin typeface="Century Gothic" panose="020B0502020202020204" pitchFamily="34" charset="0"/>
                        </a:rPr>
                        <a:t>2,23%</a:t>
                      </a:r>
                    </a:p>
                  </a:txBody>
                  <a:tcPr marL="6350" marR="6350" marT="6350"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2" name="Rectángulo 1">
            <a:extLst>
              <a:ext uri="{FF2B5EF4-FFF2-40B4-BE49-F238E27FC236}">
                <a16:creationId xmlns:a16="http://schemas.microsoft.com/office/drawing/2014/main" id="{1BF76960-94CD-960C-E7F8-4BD776CE11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FD482DCD-07F9-C61F-D474-4F820D6E6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C9D20D1-74FE-EFAF-1FF1-BBECA334065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Marcador de contenido 2">
            <a:extLst>
              <a:ext uri="{FF2B5EF4-FFF2-40B4-BE49-F238E27FC236}">
                <a16:creationId xmlns:a16="http://schemas.microsoft.com/office/drawing/2014/main" id="{A96989DF-2675-5325-3BBE-B700CFD2FD98}"/>
              </a:ext>
            </a:extLst>
          </p:cNvPr>
          <p:cNvSpPr>
            <a:spLocks noGrp="1"/>
          </p:cNvSpPr>
          <p:nvPr>
            <p:ph idx="1"/>
          </p:nvPr>
        </p:nvSpPr>
        <p:spPr>
          <a:xfrm>
            <a:off x="641965" y="1459427"/>
            <a:ext cx="10731242" cy="3670767"/>
          </a:xfrm>
        </p:spPr>
        <p:txBody>
          <a:bodyPr>
            <a:normAutofit/>
          </a:bodyPr>
          <a:lstStyle/>
          <a:p>
            <a:pPr marL="0" indent="0" algn="just">
              <a:buNone/>
            </a:pPr>
            <a:r>
              <a:rPr lang="es-CO">
                <a:latin typeface="Century Gothic" panose="020B0502020202020204" pitchFamily="34" charset="0"/>
              </a:rPr>
              <a:t>A continuación, está el valor de la matrícula de una universidad y la inflación oficial del DANE. Calcule el crecimiento nominal y el crecimiento real de esta matrícula de la universidad para los años comprendidos en el periodo 2008 – 2012. Tenga en cuenta que al final de cada año la universidad toma en cuenta la inflación para definir el valor de la matricula del año siguiente</a:t>
            </a:r>
          </a:p>
          <a:p>
            <a:pPr marL="0" indent="0" algn="just">
              <a:buNone/>
            </a:pPr>
            <a:endParaRPr lang="es-CO" b="1">
              <a:latin typeface="Century Gothic" panose="020B0502020202020204" pitchFamily="34" charset="0"/>
            </a:endParaRPr>
          </a:p>
          <a:p>
            <a:pPr marL="0" indent="0" algn="just">
              <a:buNone/>
            </a:pPr>
            <a:endParaRPr lang="es-CO" b="1">
              <a:latin typeface="Century Gothic" panose="020B0502020202020204" pitchFamily="34" charset="0"/>
            </a:endParaRPr>
          </a:p>
          <a:p>
            <a:pPr algn="just"/>
            <a:endParaRPr lang="es-CO">
              <a:latin typeface="Century Gothic" panose="020B0502020202020204" pitchFamily="34" charset="0"/>
            </a:endParaRPr>
          </a:p>
        </p:txBody>
      </p:sp>
    </p:spTree>
    <p:extLst>
      <p:ext uri="{BB962C8B-B14F-4D97-AF65-F5344CB8AC3E}">
        <p14:creationId xmlns:p14="http://schemas.microsoft.com/office/powerpoint/2010/main" val="108012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FA59F-7C8D-4874-7C55-0016D1D33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B0CFC-7858-0BA3-B196-1BF957D5B824}"/>
              </a:ext>
            </a:extLst>
          </p:cNvPr>
          <p:cNvSpPr>
            <a:spLocks noGrp="1"/>
          </p:cNvSpPr>
          <p:nvPr>
            <p:ph type="title"/>
          </p:nvPr>
        </p:nvSpPr>
        <p:spPr/>
        <p:txBody>
          <a:bodyPr/>
          <a:lstStyle/>
          <a:p>
            <a:r>
              <a:rPr lang="es-ES_tradnl" dirty="0"/>
              <a:t>REPASO CLASE</a:t>
            </a:r>
          </a:p>
        </p:txBody>
      </p:sp>
      <p:sp>
        <p:nvSpPr>
          <p:cNvPr id="4" name="Slide Number Placeholder 3">
            <a:extLst>
              <a:ext uri="{FF2B5EF4-FFF2-40B4-BE49-F238E27FC236}">
                <a16:creationId xmlns:a16="http://schemas.microsoft.com/office/drawing/2014/main" id="{371FC0B2-6835-A62A-0BA7-8526CFFBC0DD}"/>
              </a:ext>
            </a:extLst>
          </p:cNvPr>
          <p:cNvSpPr>
            <a:spLocks noGrp="1"/>
          </p:cNvSpPr>
          <p:nvPr>
            <p:ph type="sldNum" sz="quarter" idx="12"/>
          </p:nvPr>
        </p:nvSpPr>
        <p:spPr/>
        <p:txBody>
          <a:bodyPr/>
          <a:lstStyle/>
          <a:p>
            <a:fld id="{D57F1E4F-1CFF-5643-939E-217C01CDF565}" type="slidenum">
              <a:rPr lang="en-US" smtClean="0"/>
              <a:pPr/>
              <a:t>42</a:t>
            </a:fld>
            <a:endParaRPr lang="en-US"/>
          </a:p>
        </p:txBody>
      </p:sp>
      <p:pic>
        <p:nvPicPr>
          <p:cNvPr id="5" name="Picture 4">
            <a:extLst>
              <a:ext uri="{FF2B5EF4-FFF2-40B4-BE49-F238E27FC236}">
                <a16:creationId xmlns:a16="http://schemas.microsoft.com/office/drawing/2014/main" id="{99F9C0F5-2728-AB46-7109-ADE29158A74F}"/>
              </a:ext>
            </a:extLst>
          </p:cNvPr>
          <p:cNvPicPr>
            <a:picLocks noChangeAspect="1"/>
          </p:cNvPicPr>
          <p:nvPr/>
        </p:nvPicPr>
        <p:blipFill>
          <a:blip r:embed="rId2"/>
          <a:stretch>
            <a:fillRect/>
          </a:stretch>
        </p:blipFill>
        <p:spPr>
          <a:xfrm>
            <a:off x="3937944" y="2186134"/>
            <a:ext cx="4316111" cy="4282910"/>
          </a:xfrm>
          <a:prstGeom prst="rect">
            <a:avLst/>
          </a:prstGeom>
        </p:spPr>
      </p:pic>
    </p:spTree>
    <p:extLst>
      <p:ext uri="{BB962C8B-B14F-4D97-AF65-F5344CB8AC3E}">
        <p14:creationId xmlns:p14="http://schemas.microsoft.com/office/powerpoint/2010/main" val="2019350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Ejercicio 3</a:t>
            </a:r>
          </a:p>
        </p:txBody>
      </p:sp>
      <p:graphicFrame>
        <p:nvGraphicFramePr>
          <p:cNvPr id="10" name="Marcador de contenido 4"/>
          <p:cNvGraphicFramePr>
            <a:graphicFrameLocks noGrp="1"/>
          </p:cNvGraphicFramePr>
          <p:nvPr>
            <p:ph idx="1"/>
            <p:extLst>
              <p:ext uri="{D42A27DB-BD31-4B8C-83A1-F6EECF244321}">
                <p14:modId xmlns:p14="http://schemas.microsoft.com/office/powerpoint/2010/main" val="4039547323"/>
              </p:ext>
            </p:extLst>
          </p:nvPr>
        </p:nvGraphicFramePr>
        <p:xfrm>
          <a:off x="1629153"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rgbClr val="000000"/>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43</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5110CE16-4D71-1E8C-2675-805282AA1F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8D32F39-CF90-72EB-557F-D50AD54C85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3C125AD3-798F-E9FE-DFFD-3001D08020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14168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SOLUCIÓN Ejercicio 3</a:t>
            </a:r>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1979546766"/>
              </p:ext>
            </p:extLst>
          </p:nvPr>
        </p:nvGraphicFramePr>
        <p:xfrm>
          <a:off x="1448088"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10,23%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1,57%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9,36%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chemeClr val="accent1"/>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9,95%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1,63%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9,60%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7,32%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7,06%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44,25%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40,20%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38,37%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35,01%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36,64%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12,28%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11,93%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11,75%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0,97%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11,42%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6,18%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5,96%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
        <p:nvSpPr>
          <p:cNvPr id="4" name="Marcador de número de diapositiva 3"/>
          <p:cNvSpPr>
            <a:spLocks noGrp="1"/>
          </p:cNvSpPr>
          <p:nvPr>
            <p:ph type="sldNum" sz="quarter" idx="12"/>
          </p:nvPr>
        </p:nvSpPr>
        <p:spPr/>
        <p:txBody>
          <a:bodyPr/>
          <a:lstStyle/>
          <a:p>
            <a:fld id="{5E3E23BA-6E79-2442-BA73-D218A5E297C3}" type="slidenum">
              <a:rPr lang="en-US" sz="1800" b="1" smtClean="0">
                <a:latin typeface="Century Gothic" panose="020B0502020202020204" pitchFamily="34" charset="0"/>
              </a:rPr>
              <a:t>44</a:t>
            </a:fld>
            <a:endParaRPr lang="en-US" sz="1800" b="1">
              <a:latin typeface="Century Gothic" panose="020B0502020202020204" pitchFamily="34" charset="0"/>
            </a:endParaRPr>
          </a:p>
        </p:txBody>
      </p:sp>
      <p:sp>
        <p:nvSpPr>
          <p:cNvPr id="3" name="Rectángulo 2">
            <a:extLst>
              <a:ext uri="{FF2B5EF4-FFF2-40B4-BE49-F238E27FC236}">
                <a16:creationId xmlns:a16="http://schemas.microsoft.com/office/drawing/2014/main" id="{68614718-E9BB-B12B-1279-CF07BD83FD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D0A2264-B73F-4465-2270-4FB68EA87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BE46D9A-9019-C850-96F0-B83163219DC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00711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CONCEPTO DE INTERÉS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09F52D49-DE7E-0F48-4569-5572AB55331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3BDC74F2-5492-D0B0-70AA-8AAC6142D23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ZEROBASED" val="False"/>
</p:tagLst>
</file>

<file path=ppt/tags/tag2.xml><?xml version="1.0" encoding="utf-8"?>
<p:tagLst xmlns:a="http://schemas.openxmlformats.org/drawingml/2006/main" xmlns:r="http://schemas.openxmlformats.org/officeDocument/2006/relationships" xmlns:p="http://schemas.openxmlformats.org/presentationml/2006/main">
  <p:tag name="ZEROBASED" val="False"/>
</p:tagLst>
</file>

<file path=ppt/tags/tag3.xml><?xml version="1.0" encoding="utf-8"?>
<p:tagLst xmlns:a="http://schemas.openxmlformats.org/drawingml/2006/main" xmlns:r="http://schemas.openxmlformats.org/officeDocument/2006/relationships" xmlns:p="http://schemas.openxmlformats.org/presentationml/2006/main">
  <p:tag name="ZEROBASED" val="Fals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{7D419497-B805-D64B-B6E0-457F12115DD4}tf10001123</Template>
  <TotalTime>62</TotalTime>
  <Words>3481</Words>
  <Application>Microsoft Macintosh PowerPoint</Application>
  <PresentationFormat>Widescreen</PresentationFormat>
  <Paragraphs>997</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Calibri</vt:lpstr>
      <vt:lpstr>Cambria Math</vt:lpstr>
      <vt:lpstr>Century Gothic</vt:lpstr>
      <vt:lpstr>Gill Sans MT</vt:lpstr>
      <vt:lpstr>Wingdings</vt:lpstr>
      <vt:lpstr>Wingdings 2</vt:lpstr>
      <vt:lpstr>Dividendo</vt:lpstr>
      <vt:lpstr>CONCEPTO DE INTERÉS (PARTE II)</vt:lpstr>
      <vt:lpstr>AGENDA PROPUESTA</vt:lpstr>
      <vt:lpstr>AGENDA PROPUESTA</vt:lpstr>
      <vt:lpstr>PowerPoint Presentation</vt:lpstr>
      <vt:lpstr>Interés Vencido / Anticipado</vt:lpstr>
      <vt:lpstr>Interés Vencido / Anticipado</vt:lpstr>
      <vt:lpstr>Interés Vencido / Anticipado</vt:lpstr>
      <vt:lpstr>Interés Vencido / Anticipado</vt:lpstr>
      <vt:lpstr>Interés Vencido / Anticipado</vt:lpstr>
      <vt:lpstr>Interés Vencido / Anticipado</vt:lpstr>
      <vt:lpstr>Pregunta 1</vt:lpstr>
      <vt:lpstr>Pregunta 2</vt:lpstr>
      <vt:lpstr>Interés Vencido / Anticipado</vt:lpstr>
      <vt:lpstr>AGENDA PROPUESTA</vt:lpstr>
      <vt:lpstr>PowerPoint Presentation</vt:lpstr>
      <vt:lpstr>Interés Constante / Corriente</vt:lpstr>
      <vt:lpstr>Interés Constante / Corriente</vt:lpstr>
      <vt:lpstr>Interés Constante / Corriente</vt:lpstr>
      <vt:lpstr>REPASO CLASE</vt:lpstr>
      <vt:lpstr>Interés Constante / Corriente</vt:lpstr>
      <vt:lpstr>Interés Constante / Corriente</vt:lpstr>
      <vt:lpstr>Interés Constante / Corriente</vt:lpstr>
      <vt:lpstr>Interés Constante / Corriente</vt:lpstr>
      <vt:lpstr>Interés Constante / Corriente</vt:lpstr>
      <vt:lpstr>Interés Constante / Corriente</vt:lpstr>
      <vt:lpstr>Pregunta 3</vt:lpstr>
      <vt:lpstr>AGENDA PROPUESTA</vt:lpstr>
      <vt:lpstr>PowerPoint Presentation</vt:lpstr>
      <vt:lpstr>Interés Discreto / Continuo</vt:lpstr>
      <vt:lpstr>Interés Discreto / Continuo</vt:lpstr>
      <vt:lpstr>Interés Discreto / Continuo</vt:lpstr>
      <vt:lpstr>Interés Discreto / Continuo</vt:lpstr>
      <vt:lpstr>Interés Discreto / Continuo</vt:lpstr>
      <vt:lpstr>Interés Discreto / Continuo</vt:lpstr>
      <vt:lpstr>Pregunta 4</vt:lpstr>
      <vt:lpstr>AGENDA PROPUESTA</vt:lpstr>
      <vt:lpstr>PowerPoint Presentation</vt:lpstr>
      <vt:lpstr>EJERCICIO 1</vt:lpstr>
      <vt:lpstr>SOLUCIÓN EJERCICIO 1</vt:lpstr>
      <vt:lpstr>EJERCICIO 2</vt:lpstr>
      <vt:lpstr>SOLUCIÓN EJERCICIO 2</vt:lpstr>
      <vt:lpstr>REPASO CLASE</vt:lpstr>
      <vt:lpstr>Ejercicio 3</vt:lpstr>
      <vt:lpstr>SOLUCIÓN Ejercicio 3</vt:lpstr>
      <vt:lpstr>CONCEPTO DE INTERÉS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cp:revision>
  <dcterms:created xsi:type="dcterms:W3CDTF">2019-06-20T04:25:04Z</dcterms:created>
  <dcterms:modified xsi:type="dcterms:W3CDTF">2026-08-20T16:29:52Z</dcterms:modified>
</cp:coreProperties>
</file>