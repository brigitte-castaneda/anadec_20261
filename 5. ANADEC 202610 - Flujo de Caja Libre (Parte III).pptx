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53"/>
  </p:notesMasterIdLst>
  <p:handoutMasterIdLst>
    <p:handoutMasterId r:id="rId54"/>
  </p:handoutMasterIdLst>
  <p:sldIdLst>
    <p:sldId id="398" r:id="rId2"/>
    <p:sldId id="354" r:id="rId3"/>
    <p:sldId id="537" r:id="rId4"/>
    <p:sldId id="548" r:id="rId5"/>
    <p:sldId id="507" r:id="rId6"/>
    <p:sldId id="508" r:id="rId7"/>
    <p:sldId id="509" r:id="rId8"/>
    <p:sldId id="510" r:id="rId9"/>
    <p:sldId id="539" r:id="rId10"/>
    <p:sldId id="623" r:id="rId11"/>
    <p:sldId id="624" r:id="rId12"/>
    <p:sldId id="511" r:id="rId13"/>
    <p:sldId id="526" r:id="rId14"/>
    <p:sldId id="542" r:id="rId15"/>
    <p:sldId id="514" r:id="rId16"/>
    <p:sldId id="543" r:id="rId17"/>
    <p:sldId id="516" r:id="rId18"/>
    <p:sldId id="517" r:id="rId19"/>
    <p:sldId id="547" r:id="rId20"/>
    <p:sldId id="518" r:id="rId21"/>
    <p:sldId id="544" r:id="rId22"/>
    <p:sldId id="520" r:id="rId23"/>
    <p:sldId id="538" r:id="rId24"/>
    <p:sldId id="521" r:id="rId25"/>
    <p:sldId id="622" r:id="rId26"/>
    <p:sldId id="523" r:id="rId27"/>
    <p:sldId id="530" r:id="rId28"/>
    <p:sldId id="536" r:id="rId29"/>
    <p:sldId id="524" r:id="rId30"/>
    <p:sldId id="550" r:id="rId31"/>
    <p:sldId id="549" r:id="rId32"/>
    <p:sldId id="551" r:id="rId33"/>
    <p:sldId id="552" r:id="rId34"/>
    <p:sldId id="605" r:id="rId35"/>
    <p:sldId id="606" r:id="rId36"/>
    <p:sldId id="607" r:id="rId37"/>
    <p:sldId id="608" r:id="rId38"/>
    <p:sldId id="609" r:id="rId39"/>
    <p:sldId id="610" r:id="rId40"/>
    <p:sldId id="611" r:id="rId41"/>
    <p:sldId id="612" r:id="rId42"/>
    <p:sldId id="613" r:id="rId43"/>
    <p:sldId id="614" r:id="rId44"/>
    <p:sldId id="615" r:id="rId45"/>
    <p:sldId id="616" r:id="rId46"/>
    <p:sldId id="617" r:id="rId47"/>
    <p:sldId id="618" r:id="rId48"/>
    <p:sldId id="619" r:id="rId49"/>
    <p:sldId id="620" r:id="rId50"/>
    <p:sldId id="621" r:id="rId51"/>
    <p:sldId id="403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2E8151"/>
    <a:srgbClr val="D7A700"/>
    <a:srgbClr val="FFF4E6"/>
    <a:srgbClr val="002F90"/>
    <a:srgbClr val="E8F8FA"/>
    <a:srgbClr val="DFFFFF"/>
    <a:srgbClr val="FF6600"/>
    <a:srgbClr val="33CC33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8CB553-F3DA-4210-983E-F1D772CEEC3B}" v="7" dt="2026-02-22T23:49:18.7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50"/>
  </p:normalViewPr>
  <p:slideViewPr>
    <p:cSldViewPr snapToGrid="0">
      <p:cViewPr varScale="1">
        <p:scale>
          <a:sx n="90" d="100"/>
          <a:sy n="90" d="100"/>
        </p:scale>
        <p:origin x="29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Ruiz Vasquez" userId="b9ac515f-a907-4e47-a2f2-146fecab7773" providerId="ADAL" clId="{56A0C440-5C1A-4EB2-911C-33352D869E1C}"/>
    <pc:docChg chg="undo custSel addSld delSld modSld">
      <pc:chgData name="Pedro Ruiz Vasquez" userId="b9ac515f-a907-4e47-a2f2-146fecab7773" providerId="ADAL" clId="{56A0C440-5C1A-4EB2-911C-33352D869E1C}" dt="2026-02-22T23:51:06.959" v="1683" actId="1076"/>
      <pc:docMkLst>
        <pc:docMk/>
      </pc:docMkLst>
      <pc:sldChg chg="modSp mod">
        <pc:chgData name="Pedro Ruiz Vasquez" userId="b9ac515f-a907-4e47-a2f2-146fecab7773" providerId="ADAL" clId="{56A0C440-5C1A-4EB2-911C-33352D869E1C}" dt="2026-02-22T23:45:27.822" v="1220" actId="20577"/>
        <pc:sldMkLst>
          <pc:docMk/>
          <pc:sldMk cId="3512443484" sldId="508"/>
        </pc:sldMkLst>
        <pc:graphicFrameChg chg="modGraphic">
          <ac:chgData name="Pedro Ruiz Vasquez" userId="b9ac515f-a907-4e47-a2f2-146fecab7773" providerId="ADAL" clId="{56A0C440-5C1A-4EB2-911C-33352D869E1C}" dt="2026-02-22T23:45:27.822" v="1220" actId="20577"/>
          <ac:graphicFrameMkLst>
            <pc:docMk/>
            <pc:sldMk cId="3512443484" sldId="508"/>
            <ac:graphicFrameMk id="11" creationId="{00000000-0000-0000-0000-000000000000}"/>
          </ac:graphicFrameMkLst>
        </pc:graphicFrameChg>
      </pc:sldChg>
      <pc:sldChg chg="modSp mod">
        <pc:chgData name="Pedro Ruiz Vasquez" userId="b9ac515f-a907-4e47-a2f2-146fecab7773" providerId="ADAL" clId="{56A0C440-5C1A-4EB2-911C-33352D869E1C}" dt="2026-02-22T23:46:17.262" v="1301" actId="20577"/>
        <pc:sldMkLst>
          <pc:docMk/>
          <pc:sldMk cId="1766451685" sldId="510"/>
        </pc:sldMkLst>
        <pc:graphicFrameChg chg="modGraphic">
          <ac:chgData name="Pedro Ruiz Vasquez" userId="b9ac515f-a907-4e47-a2f2-146fecab7773" providerId="ADAL" clId="{56A0C440-5C1A-4EB2-911C-33352D869E1C}" dt="2026-02-22T23:45:39.495" v="1229" actId="20577"/>
          <ac:graphicFrameMkLst>
            <pc:docMk/>
            <pc:sldMk cId="1766451685" sldId="510"/>
            <ac:graphicFrameMk id="5" creationId="{00000000-0000-0000-0000-000000000000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5:44.205" v="1238" actId="20577"/>
          <ac:graphicFrameMkLst>
            <pc:docMk/>
            <pc:sldMk cId="1766451685" sldId="510"/>
            <ac:graphicFrameMk id="24" creationId="{00000000-0000-0000-0000-000000000000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6:17.262" v="1301" actId="20577"/>
          <ac:graphicFrameMkLst>
            <pc:docMk/>
            <pc:sldMk cId="1766451685" sldId="510"/>
            <ac:graphicFrameMk id="25" creationId="{00000000-0000-0000-0000-000000000000}"/>
          </ac:graphicFrameMkLst>
        </pc:graphicFrameChg>
      </pc:sldChg>
      <pc:sldChg chg="modSp mod">
        <pc:chgData name="Pedro Ruiz Vasquez" userId="b9ac515f-a907-4e47-a2f2-146fecab7773" providerId="ADAL" clId="{56A0C440-5C1A-4EB2-911C-33352D869E1C}" dt="2026-02-22T23:48:27.358" v="1601" actId="1076"/>
        <pc:sldMkLst>
          <pc:docMk/>
          <pc:sldMk cId="634421522" sldId="518"/>
        </pc:sldMkLst>
        <pc:spChg chg="mod">
          <ac:chgData name="Pedro Ruiz Vasquez" userId="b9ac515f-a907-4e47-a2f2-146fecab7773" providerId="ADAL" clId="{56A0C440-5C1A-4EB2-911C-33352D869E1C}" dt="2026-02-22T23:48:14.925" v="1548" actId="1076"/>
          <ac:spMkLst>
            <pc:docMk/>
            <pc:sldMk cId="634421522" sldId="518"/>
            <ac:spMk id="12" creationId="{3623FAFD-35AA-8EAE-0E0D-5452AA30CC67}"/>
          </ac:spMkLst>
        </pc:spChg>
        <pc:spChg chg="mod">
          <ac:chgData name="Pedro Ruiz Vasquez" userId="b9ac515f-a907-4e47-a2f2-146fecab7773" providerId="ADAL" clId="{56A0C440-5C1A-4EB2-911C-33352D869E1C}" dt="2026-02-22T23:48:27.358" v="1601" actId="1076"/>
          <ac:spMkLst>
            <pc:docMk/>
            <pc:sldMk cId="634421522" sldId="518"/>
            <ac:spMk id="13" creationId="{38271520-704E-2EE5-6805-80720A4144CA}"/>
          </ac:spMkLst>
        </pc:spChg>
        <pc:graphicFrameChg chg="modGraphic">
          <ac:chgData name="Pedro Ruiz Vasquez" userId="b9ac515f-a907-4e47-a2f2-146fecab7773" providerId="ADAL" clId="{56A0C440-5C1A-4EB2-911C-33352D869E1C}" dt="2026-02-22T23:48:12.599" v="1547" actId="20577"/>
          <ac:graphicFrameMkLst>
            <pc:docMk/>
            <pc:sldMk cId="634421522" sldId="518"/>
            <ac:graphicFrameMk id="5" creationId="{00000000-0000-0000-0000-000000000000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8:24.507" v="1600" actId="20577"/>
          <ac:graphicFrameMkLst>
            <pc:docMk/>
            <pc:sldMk cId="634421522" sldId="518"/>
            <ac:graphicFrameMk id="6" creationId="{00000000-0000-0000-0000-000000000000}"/>
          </ac:graphicFrameMkLst>
        </pc:graphicFrameChg>
      </pc:sldChg>
      <pc:sldChg chg="modSp mod">
        <pc:chgData name="Pedro Ruiz Vasquez" userId="b9ac515f-a907-4e47-a2f2-146fecab7773" providerId="ADAL" clId="{56A0C440-5C1A-4EB2-911C-33352D869E1C}" dt="2026-02-22T23:46:54.776" v="1405" actId="20577"/>
        <pc:sldMkLst>
          <pc:docMk/>
          <pc:sldMk cId="440872514" sldId="526"/>
        </pc:sldMkLst>
        <pc:graphicFrameChg chg="modGraphic">
          <ac:chgData name="Pedro Ruiz Vasquez" userId="b9ac515f-a907-4e47-a2f2-146fecab7773" providerId="ADAL" clId="{56A0C440-5C1A-4EB2-911C-33352D869E1C}" dt="2026-02-22T23:46:51.847" v="1394" actId="20577"/>
          <ac:graphicFrameMkLst>
            <pc:docMk/>
            <pc:sldMk cId="440872514" sldId="526"/>
            <ac:graphicFrameMk id="8" creationId="{00000000-0000-0000-0000-000000000000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6:54.776" v="1405" actId="20577"/>
          <ac:graphicFrameMkLst>
            <pc:docMk/>
            <pc:sldMk cId="440872514" sldId="526"/>
            <ac:graphicFrameMk id="9" creationId="{00000000-0000-0000-0000-000000000000}"/>
          </ac:graphicFrameMkLst>
        </pc:graphicFrameChg>
      </pc:sldChg>
      <pc:sldChg chg="modSp mod">
        <pc:chgData name="Pedro Ruiz Vasquez" userId="b9ac515f-a907-4e47-a2f2-146fecab7773" providerId="ADAL" clId="{56A0C440-5C1A-4EB2-911C-33352D869E1C}" dt="2026-02-22T23:46:21.270" v="1312" actId="20577"/>
        <pc:sldMkLst>
          <pc:docMk/>
          <pc:sldMk cId="3960004962" sldId="539"/>
        </pc:sldMkLst>
        <pc:graphicFrameChg chg="modGraphic">
          <ac:chgData name="Pedro Ruiz Vasquez" userId="b9ac515f-a907-4e47-a2f2-146fecab7773" providerId="ADAL" clId="{56A0C440-5C1A-4EB2-911C-33352D869E1C}" dt="2026-02-22T23:45:53.083" v="1256" actId="20577"/>
          <ac:graphicFrameMkLst>
            <pc:docMk/>
            <pc:sldMk cId="3960004962" sldId="539"/>
            <ac:graphicFrameMk id="10" creationId="{438F88FC-B861-0C5E-EB05-53C42A3251F6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5:49.956" v="1247" actId="20577"/>
          <ac:graphicFrameMkLst>
            <pc:docMk/>
            <pc:sldMk cId="3960004962" sldId="539"/>
            <ac:graphicFrameMk id="11" creationId="{E8180F2C-5C93-A2A5-8930-1059ED854862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6:21.270" v="1312" actId="20577"/>
          <ac:graphicFrameMkLst>
            <pc:docMk/>
            <pc:sldMk cId="3960004962" sldId="539"/>
            <ac:graphicFrameMk id="25" creationId="{00000000-0000-0000-0000-000000000000}"/>
          </ac:graphicFrameMkLst>
        </pc:graphicFrameChg>
      </pc:sldChg>
      <pc:sldChg chg="modSp mod">
        <pc:chgData name="Pedro Ruiz Vasquez" userId="b9ac515f-a907-4e47-a2f2-146fecab7773" providerId="ADAL" clId="{56A0C440-5C1A-4EB2-911C-33352D869E1C}" dt="2026-02-22T23:47:06.920" v="1439" actId="20577"/>
        <pc:sldMkLst>
          <pc:docMk/>
          <pc:sldMk cId="2293912694" sldId="542"/>
        </pc:sldMkLst>
        <pc:graphicFrameChg chg="modGraphic">
          <ac:chgData name="Pedro Ruiz Vasquez" userId="b9ac515f-a907-4e47-a2f2-146fecab7773" providerId="ADAL" clId="{56A0C440-5C1A-4EB2-911C-33352D869E1C}" dt="2026-02-22T23:47:02.913" v="1428" actId="20577"/>
          <ac:graphicFrameMkLst>
            <pc:docMk/>
            <pc:sldMk cId="2293912694" sldId="542"/>
            <ac:graphicFrameMk id="8" creationId="{00000000-0000-0000-0000-000000000000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7:06.920" v="1439" actId="20577"/>
          <ac:graphicFrameMkLst>
            <pc:docMk/>
            <pc:sldMk cId="2293912694" sldId="542"/>
            <ac:graphicFrameMk id="9" creationId="{00000000-0000-0000-0000-000000000000}"/>
          </ac:graphicFrameMkLst>
        </pc:graphicFrameChg>
      </pc:sldChg>
      <pc:sldChg chg="modSp mod">
        <pc:chgData name="Pedro Ruiz Vasquez" userId="b9ac515f-a907-4e47-a2f2-146fecab7773" providerId="ADAL" clId="{56A0C440-5C1A-4EB2-911C-33352D869E1C}" dt="2026-02-22T23:47:27.807" v="1475" actId="20577"/>
        <pc:sldMkLst>
          <pc:docMk/>
          <pc:sldMk cId="2267083930" sldId="543"/>
        </pc:sldMkLst>
        <pc:graphicFrameChg chg="modGraphic">
          <ac:chgData name="Pedro Ruiz Vasquez" userId="b9ac515f-a907-4e47-a2f2-146fecab7773" providerId="ADAL" clId="{56A0C440-5C1A-4EB2-911C-33352D869E1C}" dt="2026-02-22T23:47:16.394" v="1462" actId="20577"/>
          <ac:graphicFrameMkLst>
            <pc:docMk/>
            <pc:sldMk cId="2267083930" sldId="543"/>
            <ac:graphicFrameMk id="8" creationId="{00000000-0000-0000-0000-000000000000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7:27.807" v="1475" actId="20577"/>
          <ac:graphicFrameMkLst>
            <pc:docMk/>
            <pc:sldMk cId="2267083930" sldId="543"/>
            <ac:graphicFrameMk id="9" creationId="{00000000-0000-0000-0000-000000000000}"/>
          </ac:graphicFrameMkLst>
        </pc:graphicFrameChg>
        <pc:picChg chg="mod">
          <ac:chgData name="Pedro Ruiz Vasquez" userId="b9ac515f-a907-4e47-a2f2-146fecab7773" providerId="ADAL" clId="{56A0C440-5C1A-4EB2-911C-33352D869E1C}" dt="2026-02-22T23:47:23.543" v="1464" actId="1076"/>
          <ac:picMkLst>
            <pc:docMk/>
            <pc:sldMk cId="2267083930" sldId="543"/>
            <ac:picMk id="12" creationId="{F4797212-20C0-3939-B03C-71CC86FF1026}"/>
          </ac:picMkLst>
        </pc:picChg>
      </pc:sldChg>
      <pc:sldChg chg="modSp mod">
        <pc:chgData name="Pedro Ruiz Vasquez" userId="b9ac515f-a907-4e47-a2f2-146fecab7773" providerId="ADAL" clId="{56A0C440-5C1A-4EB2-911C-33352D869E1C}" dt="2026-02-22T23:47:54.416" v="1525" actId="20577"/>
        <pc:sldMkLst>
          <pc:docMk/>
          <pc:sldMk cId="3690464068" sldId="547"/>
        </pc:sldMkLst>
        <pc:spChg chg="mod">
          <ac:chgData name="Pedro Ruiz Vasquez" userId="b9ac515f-a907-4e47-a2f2-146fecab7773" providerId="ADAL" clId="{56A0C440-5C1A-4EB2-911C-33352D869E1C}" dt="2026-02-22T23:47:39.449" v="1486" actId="1076"/>
          <ac:spMkLst>
            <pc:docMk/>
            <pc:sldMk cId="3690464068" sldId="547"/>
            <ac:spMk id="13" creationId="{DA131AA2-7CCD-CF99-7B59-BDE688138EC2}"/>
          </ac:spMkLst>
        </pc:spChg>
        <pc:spChg chg="mod">
          <ac:chgData name="Pedro Ruiz Vasquez" userId="b9ac515f-a907-4e47-a2f2-146fecab7773" providerId="ADAL" clId="{56A0C440-5C1A-4EB2-911C-33352D869E1C}" dt="2026-02-22T23:47:43.758" v="1487" actId="1076"/>
          <ac:spMkLst>
            <pc:docMk/>
            <pc:sldMk cId="3690464068" sldId="547"/>
            <ac:spMk id="14" creationId="{0A5169F8-8234-1BDD-61A3-87446AB81345}"/>
          </ac:spMkLst>
        </pc:spChg>
        <pc:graphicFrameChg chg="modGraphic">
          <ac:chgData name="Pedro Ruiz Vasquez" userId="b9ac515f-a907-4e47-a2f2-146fecab7773" providerId="ADAL" clId="{56A0C440-5C1A-4EB2-911C-33352D869E1C}" dt="2026-02-22T23:47:50.795" v="1512" actId="20577"/>
          <ac:graphicFrameMkLst>
            <pc:docMk/>
            <pc:sldMk cId="3690464068" sldId="547"/>
            <ac:graphicFrameMk id="8" creationId="{E5C2E2F1-C7F6-05A4-0FCA-CDA2E5934037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7:54.416" v="1525" actId="20577"/>
          <ac:graphicFrameMkLst>
            <pc:docMk/>
            <pc:sldMk cId="3690464068" sldId="547"/>
            <ac:graphicFrameMk id="9" creationId="{576323EF-CD65-EF0D-D6E3-12E3F79D2EB3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7:36.868" v="1485" actId="20577"/>
          <ac:graphicFrameMkLst>
            <pc:docMk/>
            <pc:sldMk cId="3690464068" sldId="547"/>
            <ac:graphicFrameMk id="11" creationId="{36AB3342-12CB-1B21-9D48-38BDBCC0DDBD}"/>
          </ac:graphicFrameMkLst>
        </pc:graphicFrameChg>
      </pc:sldChg>
      <pc:sldChg chg="modSp mod">
        <pc:chgData name="Pedro Ruiz Vasquez" userId="b9ac515f-a907-4e47-a2f2-146fecab7773" providerId="ADAL" clId="{56A0C440-5C1A-4EB2-911C-33352D869E1C}" dt="2026-02-22T23:48:53.837" v="1645" actId="20577"/>
        <pc:sldMkLst>
          <pc:docMk/>
          <pc:sldMk cId="3683885915" sldId="605"/>
        </pc:sldMkLst>
        <pc:graphicFrameChg chg="modGraphic">
          <ac:chgData name="Pedro Ruiz Vasquez" userId="b9ac515f-a907-4e47-a2f2-146fecab7773" providerId="ADAL" clId="{56A0C440-5C1A-4EB2-911C-33352D869E1C}" dt="2026-02-22T23:48:53.837" v="1645" actId="20577"/>
          <ac:graphicFrameMkLst>
            <pc:docMk/>
            <pc:sldMk cId="3683885915" sldId="605"/>
            <ac:graphicFrameMk id="15" creationId="{DCBD9540-6F63-24DA-324A-98A005ECAE8A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8:48.421" v="1623" actId="20577"/>
          <ac:graphicFrameMkLst>
            <pc:docMk/>
            <pc:sldMk cId="3683885915" sldId="605"/>
            <ac:graphicFrameMk id="16" creationId="{45EC6A31-EB13-76EB-C9F1-7124B0B1EB6B}"/>
          </ac:graphicFrameMkLst>
        </pc:graphicFrameChg>
      </pc:sldChg>
      <pc:sldChg chg="modSp mod">
        <pc:chgData name="Pedro Ruiz Vasquez" userId="b9ac515f-a907-4e47-a2f2-146fecab7773" providerId="ADAL" clId="{56A0C440-5C1A-4EB2-911C-33352D869E1C}" dt="2026-02-22T23:49:05.065" v="1668"/>
        <pc:sldMkLst>
          <pc:docMk/>
          <pc:sldMk cId="4154464252" sldId="606"/>
        </pc:sldMkLst>
        <pc:graphicFrameChg chg="mod">
          <ac:chgData name="Pedro Ruiz Vasquez" userId="b9ac515f-a907-4e47-a2f2-146fecab7773" providerId="ADAL" clId="{56A0C440-5C1A-4EB2-911C-33352D869E1C}" dt="2026-02-22T23:49:05.065" v="1668"/>
          <ac:graphicFrameMkLst>
            <pc:docMk/>
            <pc:sldMk cId="4154464252" sldId="606"/>
            <ac:graphicFrameMk id="15" creationId="{6D8CC0B3-4F93-221F-1E7A-8F826662B468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9:01.735" v="1667" actId="20577"/>
          <ac:graphicFrameMkLst>
            <pc:docMk/>
            <pc:sldMk cId="4154464252" sldId="606"/>
            <ac:graphicFrameMk id="16" creationId="{7A59C19E-C6EA-7468-2D76-C1730E5AD2DB}"/>
          </ac:graphicFrameMkLst>
        </pc:graphicFrameChg>
      </pc:sldChg>
      <pc:sldChg chg="modSp">
        <pc:chgData name="Pedro Ruiz Vasquez" userId="b9ac515f-a907-4e47-a2f2-146fecab7773" providerId="ADAL" clId="{56A0C440-5C1A-4EB2-911C-33352D869E1C}" dt="2026-02-22T23:49:09.296" v="1670"/>
        <pc:sldMkLst>
          <pc:docMk/>
          <pc:sldMk cId="2338334277" sldId="607"/>
        </pc:sldMkLst>
        <pc:graphicFrameChg chg="mod">
          <ac:chgData name="Pedro Ruiz Vasquez" userId="b9ac515f-a907-4e47-a2f2-146fecab7773" providerId="ADAL" clId="{56A0C440-5C1A-4EB2-911C-33352D869E1C}" dt="2026-02-22T23:49:09.296" v="1670"/>
          <ac:graphicFrameMkLst>
            <pc:docMk/>
            <pc:sldMk cId="2338334277" sldId="607"/>
            <ac:graphicFrameMk id="15" creationId="{CF8F0F1B-A30A-3F18-6D3E-CE160BAF999F}"/>
          </ac:graphicFrameMkLst>
        </pc:graphicFrameChg>
        <pc:graphicFrameChg chg="mod">
          <ac:chgData name="Pedro Ruiz Vasquez" userId="b9ac515f-a907-4e47-a2f2-146fecab7773" providerId="ADAL" clId="{56A0C440-5C1A-4EB2-911C-33352D869E1C}" dt="2026-02-22T23:49:07.779" v="1669"/>
          <ac:graphicFrameMkLst>
            <pc:docMk/>
            <pc:sldMk cId="2338334277" sldId="607"/>
            <ac:graphicFrameMk id="16" creationId="{157D4D8E-DF15-9E28-E2D1-D5D09AB03746}"/>
          </ac:graphicFrameMkLst>
        </pc:graphicFrameChg>
      </pc:sldChg>
      <pc:sldChg chg="modSp">
        <pc:chgData name="Pedro Ruiz Vasquez" userId="b9ac515f-a907-4e47-a2f2-146fecab7773" providerId="ADAL" clId="{56A0C440-5C1A-4EB2-911C-33352D869E1C}" dt="2026-02-22T23:49:14.456" v="1672"/>
        <pc:sldMkLst>
          <pc:docMk/>
          <pc:sldMk cId="2713310569" sldId="608"/>
        </pc:sldMkLst>
        <pc:graphicFrameChg chg="mod">
          <ac:chgData name="Pedro Ruiz Vasquez" userId="b9ac515f-a907-4e47-a2f2-146fecab7773" providerId="ADAL" clId="{56A0C440-5C1A-4EB2-911C-33352D869E1C}" dt="2026-02-22T23:49:14.456" v="1672"/>
          <ac:graphicFrameMkLst>
            <pc:docMk/>
            <pc:sldMk cId="2713310569" sldId="608"/>
            <ac:graphicFrameMk id="15" creationId="{94FD938A-1AA2-8705-BBF8-58B198954214}"/>
          </ac:graphicFrameMkLst>
        </pc:graphicFrameChg>
        <pc:graphicFrameChg chg="mod">
          <ac:chgData name="Pedro Ruiz Vasquez" userId="b9ac515f-a907-4e47-a2f2-146fecab7773" providerId="ADAL" clId="{56A0C440-5C1A-4EB2-911C-33352D869E1C}" dt="2026-02-22T23:49:12.833" v="1671"/>
          <ac:graphicFrameMkLst>
            <pc:docMk/>
            <pc:sldMk cId="2713310569" sldId="608"/>
            <ac:graphicFrameMk id="16" creationId="{69D8254B-FB56-C1AF-3FBC-2255EFE251D1}"/>
          </ac:graphicFrameMkLst>
        </pc:graphicFrameChg>
      </pc:sldChg>
      <pc:sldChg chg="modSp">
        <pc:chgData name="Pedro Ruiz Vasquez" userId="b9ac515f-a907-4e47-a2f2-146fecab7773" providerId="ADAL" clId="{56A0C440-5C1A-4EB2-911C-33352D869E1C}" dt="2026-02-22T23:49:18.747" v="1674"/>
        <pc:sldMkLst>
          <pc:docMk/>
          <pc:sldMk cId="2256025985" sldId="609"/>
        </pc:sldMkLst>
        <pc:graphicFrameChg chg="mod">
          <ac:chgData name="Pedro Ruiz Vasquez" userId="b9ac515f-a907-4e47-a2f2-146fecab7773" providerId="ADAL" clId="{56A0C440-5C1A-4EB2-911C-33352D869E1C}" dt="2026-02-22T23:49:18.747" v="1674"/>
          <ac:graphicFrameMkLst>
            <pc:docMk/>
            <pc:sldMk cId="2256025985" sldId="609"/>
            <ac:graphicFrameMk id="6" creationId="{7F2AB43A-E9D5-D281-9E71-B31F16192A6C}"/>
          </ac:graphicFrameMkLst>
        </pc:graphicFrameChg>
        <pc:graphicFrameChg chg="mod">
          <ac:chgData name="Pedro Ruiz Vasquez" userId="b9ac515f-a907-4e47-a2f2-146fecab7773" providerId="ADAL" clId="{56A0C440-5C1A-4EB2-911C-33352D869E1C}" dt="2026-02-22T23:49:17.482" v="1673"/>
          <ac:graphicFrameMkLst>
            <pc:docMk/>
            <pc:sldMk cId="2256025985" sldId="609"/>
            <ac:graphicFrameMk id="7" creationId="{6A0BB2DE-8AE3-9E14-1C3A-796FB87AE3EC}"/>
          </ac:graphicFrameMkLst>
        </pc:graphicFrameChg>
      </pc:sldChg>
      <pc:sldChg chg="modSp mod">
        <pc:chgData name="Pedro Ruiz Vasquez" userId="b9ac515f-a907-4e47-a2f2-146fecab7773" providerId="ADAL" clId="{56A0C440-5C1A-4EB2-911C-33352D869E1C}" dt="2026-02-22T23:49:37.219" v="1676" actId="2165"/>
        <pc:sldMkLst>
          <pc:docMk/>
          <pc:sldMk cId="658625537" sldId="611"/>
        </pc:sldMkLst>
        <pc:graphicFrameChg chg="modGraphic">
          <ac:chgData name="Pedro Ruiz Vasquez" userId="b9ac515f-a907-4e47-a2f2-146fecab7773" providerId="ADAL" clId="{56A0C440-5C1A-4EB2-911C-33352D869E1C}" dt="2026-02-22T23:49:37.219" v="1676" actId="2165"/>
          <ac:graphicFrameMkLst>
            <pc:docMk/>
            <pc:sldMk cId="658625537" sldId="611"/>
            <ac:graphicFrameMk id="6" creationId="{289AB005-F80A-7D10-779D-F757DCD06D64}"/>
          </ac:graphicFrameMkLst>
        </pc:graphicFrameChg>
      </pc:sldChg>
      <pc:sldChg chg="modSp mod">
        <pc:chgData name="Pedro Ruiz Vasquez" userId="b9ac515f-a907-4e47-a2f2-146fecab7773" providerId="ADAL" clId="{56A0C440-5C1A-4EB2-911C-33352D869E1C}" dt="2026-02-22T23:49:44.069" v="1677" actId="2165"/>
        <pc:sldMkLst>
          <pc:docMk/>
          <pc:sldMk cId="1036259101" sldId="612"/>
        </pc:sldMkLst>
        <pc:graphicFrameChg chg="modGraphic">
          <ac:chgData name="Pedro Ruiz Vasquez" userId="b9ac515f-a907-4e47-a2f2-146fecab7773" providerId="ADAL" clId="{56A0C440-5C1A-4EB2-911C-33352D869E1C}" dt="2026-02-22T23:49:44.069" v="1677" actId="2165"/>
          <ac:graphicFrameMkLst>
            <pc:docMk/>
            <pc:sldMk cId="1036259101" sldId="612"/>
            <ac:graphicFrameMk id="6" creationId="{A081DBD7-485F-4A62-E3E2-7B6A65B90683}"/>
          </ac:graphicFrameMkLst>
        </pc:graphicFrameChg>
      </pc:sldChg>
      <pc:sldChg chg="modSp mod">
        <pc:chgData name="Pedro Ruiz Vasquez" userId="b9ac515f-a907-4e47-a2f2-146fecab7773" providerId="ADAL" clId="{56A0C440-5C1A-4EB2-911C-33352D869E1C}" dt="2026-02-22T23:50:46.409" v="1680" actId="1076"/>
        <pc:sldMkLst>
          <pc:docMk/>
          <pc:sldMk cId="1807970305" sldId="618"/>
        </pc:sldMkLst>
        <pc:spChg chg="mod">
          <ac:chgData name="Pedro Ruiz Vasquez" userId="b9ac515f-a907-4e47-a2f2-146fecab7773" providerId="ADAL" clId="{56A0C440-5C1A-4EB2-911C-33352D869E1C}" dt="2026-02-22T23:50:46.409" v="1680" actId="1076"/>
          <ac:spMkLst>
            <pc:docMk/>
            <pc:sldMk cId="1807970305" sldId="618"/>
            <ac:spMk id="7" creationId="{DA0A06C6-7662-D359-D01D-A046373F0618}"/>
          </ac:spMkLst>
        </pc:spChg>
        <pc:graphicFrameChg chg="mod modGraphic">
          <ac:chgData name="Pedro Ruiz Vasquez" userId="b9ac515f-a907-4e47-a2f2-146fecab7773" providerId="ADAL" clId="{56A0C440-5C1A-4EB2-911C-33352D869E1C}" dt="2026-02-22T23:50:39.909" v="1679" actId="1076"/>
          <ac:graphicFrameMkLst>
            <pc:docMk/>
            <pc:sldMk cId="1807970305" sldId="618"/>
            <ac:graphicFrameMk id="6" creationId="{0667B98D-7A3A-839A-D6EB-E90F94BFC446}"/>
          </ac:graphicFrameMkLst>
        </pc:graphicFrameChg>
      </pc:sldChg>
      <pc:sldChg chg="modSp mod">
        <pc:chgData name="Pedro Ruiz Vasquez" userId="b9ac515f-a907-4e47-a2f2-146fecab7773" providerId="ADAL" clId="{56A0C440-5C1A-4EB2-911C-33352D869E1C}" dt="2026-02-22T23:51:06.959" v="1683" actId="1076"/>
        <pc:sldMkLst>
          <pc:docMk/>
          <pc:sldMk cId="1997551708" sldId="620"/>
        </pc:sldMkLst>
        <pc:spChg chg="mod">
          <ac:chgData name="Pedro Ruiz Vasquez" userId="b9ac515f-a907-4e47-a2f2-146fecab7773" providerId="ADAL" clId="{56A0C440-5C1A-4EB2-911C-33352D869E1C}" dt="2026-02-22T23:51:06.959" v="1683" actId="1076"/>
          <ac:spMkLst>
            <pc:docMk/>
            <pc:sldMk cId="1997551708" sldId="620"/>
            <ac:spMk id="7" creationId="{C0A7A970-69D4-26E4-D1BC-A55F795266E3}"/>
          </ac:spMkLst>
        </pc:spChg>
        <pc:graphicFrameChg chg="mod modGraphic">
          <ac:chgData name="Pedro Ruiz Vasquez" userId="b9ac515f-a907-4e47-a2f2-146fecab7773" providerId="ADAL" clId="{56A0C440-5C1A-4EB2-911C-33352D869E1C}" dt="2026-02-22T23:51:04.267" v="1682" actId="1076"/>
          <ac:graphicFrameMkLst>
            <pc:docMk/>
            <pc:sldMk cId="1997551708" sldId="620"/>
            <ac:graphicFrameMk id="6" creationId="{C7D8B96A-A9B9-C0A5-7F51-3CEF6E50E312}"/>
          </ac:graphicFrameMkLst>
        </pc:graphicFrameChg>
      </pc:sldChg>
      <pc:sldChg chg="modSp add mod">
        <pc:chgData name="Pedro Ruiz Vasquez" userId="b9ac515f-a907-4e47-a2f2-146fecab7773" providerId="ADAL" clId="{56A0C440-5C1A-4EB2-911C-33352D869E1C}" dt="2026-02-22T23:46:25.328" v="1323" actId="20577"/>
        <pc:sldMkLst>
          <pc:docMk/>
          <pc:sldMk cId="3268494852" sldId="623"/>
        </pc:sldMkLst>
        <pc:graphicFrameChg chg="modGraphic">
          <ac:chgData name="Pedro Ruiz Vasquez" userId="b9ac515f-a907-4e47-a2f2-146fecab7773" providerId="ADAL" clId="{56A0C440-5C1A-4EB2-911C-33352D869E1C}" dt="2026-02-22T23:46:07.242" v="1281" actId="20577"/>
          <ac:graphicFrameMkLst>
            <pc:docMk/>
            <pc:sldMk cId="3268494852" sldId="623"/>
            <ac:graphicFrameMk id="10" creationId="{D7296489-470A-7E28-BF79-B5653CC83FF6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6:11.821" v="1290" actId="20577"/>
          <ac:graphicFrameMkLst>
            <pc:docMk/>
            <pc:sldMk cId="3268494852" sldId="623"/>
            <ac:graphicFrameMk id="11" creationId="{1C9EAEC3-EB9E-4E46-FDD1-0A07E704ED40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6:25.328" v="1323" actId="20577"/>
          <ac:graphicFrameMkLst>
            <pc:docMk/>
            <pc:sldMk cId="3268494852" sldId="623"/>
            <ac:graphicFrameMk id="25" creationId="{00000000-0000-0000-0000-000000000000}"/>
          </ac:graphicFrameMkLst>
        </pc:graphicFrameChg>
      </pc:sldChg>
      <pc:sldChg chg="modSp add mod">
        <pc:chgData name="Pedro Ruiz Vasquez" userId="b9ac515f-a907-4e47-a2f2-146fecab7773" providerId="ADAL" clId="{56A0C440-5C1A-4EB2-911C-33352D869E1C}" dt="2026-02-22T23:46:40.027" v="1363" actId="20577"/>
        <pc:sldMkLst>
          <pc:docMk/>
          <pc:sldMk cId="475840723" sldId="624"/>
        </pc:sldMkLst>
        <pc:graphicFrameChg chg="modGraphic">
          <ac:chgData name="Pedro Ruiz Vasquez" userId="b9ac515f-a907-4e47-a2f2-146fecab7773" providerId="ADAL" clId="{56A0C440-5C1A-4EB2-911C-33352D869E1C}" dt="2026-02-22T23:46:37.317" v="1354" actId="20577"/>
          <ac:graphicFrameMkLst>
            <pc:docMk/>
            <pc:sldMk cId="475840723" sldId="624"/>
            <ac:graphicFrameMk id="10" creationId="{B593BCF5-B22D-F919-1D7E-A7B92742E210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6:40.027" v="1363" actId="20577"/>
          <ac:graphicFrameMkLst>
            <pc:docMk/>
            <pc:sldMk cId="475840723" sldId="624"/>
            <ac:graphicFrameMk id="11" creationId="{D5B30439-13C1-7E4C-0AE3-639A406F2B82}"/>
          </ac:graphicFrameMkLst>
        </pc:graphicFrameChg>
        <pc:graphicFrameChg chg="modGraphic">
          <ac:chgData name="Pedro Ruiz Vasquez" userId="b9ac515f-a907-4e47-a2f2-146fecab7773" providerId="ADAL" clId="{56A0C440-5C1A-4EB2-911C-33352D869E1C}" dt="2026-02-22T23:46:31.135" v="1334" actId="20577"/>
          <ac:graphicFrameMkLst>
            <pc:docMk/>
            <pc:sldMk cId="475840723" sldId="624"/>
            <ac:graphicFrameMk id="25" creationId="{5787F111-B122-955D-09FA-DFB693BDA80E}"/>
          </ac:graphicFrameMkLst>
        </pc:graphicFrameChg>
      </pc:sldChg>
    </pc:docChg>
  </pc:docChgLst>
  <pc:docChgLst>
    <pc:chgData name="Pedro Ruiz Vasquez" userId="S::p.ruizv@uniandes.edu.co::b9ac515f-a907-4e47-a2f2-146fecab7773" providerId="AD" clId="Web-{01DA4537-4DAB-107B-7519-3C4D855B1192}"/>
    <pc:docChg chg="modSld">
      <pc:chgData name="Pedro Ruiz Vasquez" userId="S::p.ruizv@uniandes.edu.co::b9ac515f-a907-4e47-a2f2-146fecab7773" providerId="AD" clId="Web-{01DA4537-4DAB-107B-7519-3C4D855B1192}" dt="2026-02-17T23:04:06.379" v="11" actId="20577"/>
      <pc:docMkLst>
        <pc:docMk/>
      </pc:docMkLst>
      <pc:sldChg chg="modSp">
        <pc:chgData name="Pedro Ruiz Vasquez" userId="S::p.ruizv@uniandes.edu.co::b9ac515f-a907-4e47-a2f2-146fecab7773" providerId="AD" clId="Web-{01DA4537-4DAB-107B-7519-3C4D855B1192}" dt="2026-02-17T23:03:20.985" v="8" actId="20577"/>
        <pc:sldMkLst>
          <pc:docMk/>
          <pc:sldMk cId="2495310034" sldId="548"/>
        </pc:sldMkLst>
        <pc:spChg chg="mod">
          <ac:chgData name="Pedro Ruiz Vasquez" userId="S::p.ruizv@uniandes.edu.co::b9ac515f-a907-4e47-a2f2-146fecab7773" providerId="AD" clId="Web-{01DA4537-4DAB-107B-7519-3C4D855B1192}" dt="2026-02-17T23:03:20.985" v="8" actId="20577"/>
          <ac:spMkLst>
            <pc:docMk/>
            <pc:sldMk cId="2495310034" sldId="548"/>
            <ac:spMk id="33" creationId="{6CC3001B-BB06-D7AD-4596-39174C7802A1}"/>
          </ac:spMkLst>
        </pc:spChg>
      </pc:sldChg>
      <pc:sldChg chg="modSp">
        <pc:chgData name="Pedro Ruiz Vasquez" userId="S::p.ruizv@uniandes.edu.co::b9ac515f-a907-4e47-a2f2-146fecab7773" providerId="AD" clId="Web-{01DA4537-4DAB-107B-7519-3C4D855B1192}" dt="2026-02-17T23:03:34.565" v="9" actId="20577"/>
        <pc:sldMkLst>
          <pc:docMk/>
          <pc:sldMk cId="1392755856" sldId="549"/>
        </pc:sldMkLst>
        <pc:spChg chg="mod">
          <ac:chgData name="Pedro Ruiz Vasquez" userId="S::p.ruizv@uniandes.edu.co::b9ac515f-a907-4e47-a2f2-146fecab7773" providerId="AD" clId="Web-{01DA4537-4DAB-107B-7519-3C4D855B1192}" dt="2026-02-17T23:03:34.565" v="9" actId="20577"/>
          <ac:spMkLst>
            <pc:docMk/>
            <pc:sldMk cId="1392755856" sldId="549"/>
            <ac:spMk id="16" creationId="{EF954A61-6F8E-AEBA-D62B-B4404922737F}"/>
          </ac:spMkLst>
        </pc:spChg>
      </pc:sldChg>
      <pc:sldChg chg="modSp">
        <pc:chgData name="Pedro Ruiz Vasquez" userId="S::p.ruizv@uniandes.edu.co::b9ac515f-a907-4e47-a2f2-146fecab7773" providerId="AD" clId="Web-{01DA4537-4DAB-107B-7519-3C4D855B1192}" dt="2026-02-17T23:03:44.222" v="10" actId="20577"/>
        <pc:sldMkLst>
          <pc:docMk/>
          <pc:sldMk cId="2264804368" sldId="619"/>
        </pc:sldMkLst>
        <pc:spChg chg="mod">
          <ac:chgData name="Pedro Ruiz Vasquez" userId="S::p.ruizv@uniandes.edu.co::b9ac515f-a907-4e47-a2f2-146fecab7773" providerId="AD" clId="Web-{01DA4537-4DAB-107B-7519-3C4D855B1192}" dt="2026-02-17T23:03:44.222" v="10" actId="20577"/>
          <ac:spMkLst>
            <pc:docMk/>
            <pc:sldMk cId="2264804368" sldId="619"/>
            <ac:spMk id="15" creationId="{76FBE78A-9AA7-3FDC-17FE-B108EA275F01}"/>
          </ac:spMkLst>
        </pc:spChg>
      </pc:sldChg>
      <pc:sldChg chg="modSp">
        <pc:chgData name="Pedro Ruiz Vasquez" userId="S::p.ruizv@uniandes.edu.co::b9ac515f-a907-4e47-a2f2-146fecab7773" providerId="AD" clId="Web-{01DA4537-4DAB-107B-7519-3C4D855B1192}" dt="2026-02-17T23:04:06.379" v="11" actId="20577"/>
        <pc:sldMkLst>
          <pc:docMk/>
          <pc:sldMk cId="3432507145" sldId="621"/>
        </pc:sldMkLst>
        <pc:spChg chg="mod">
          <ac:chgData name="Pedro Ruiz Vasquez" userId="S::p.ruizv@uniandes.edu.co::b9ac515f-a907-4e47-a2f2-146fecab7773" providerId="AD" clId="Web-{01DA4537-4DAB-107B-7519-3C4D855B1192}" dt="2026-02-17T23:04:06.379" v="11" actId="20577"/>
          <ac:spMkLst>
            <pc:docMk/>
            <pc:sldMk cId="3432507145" sldId="621"/>
            <ac:spMk id="15" creationId="{6379F47B-EC9F-9CE8-3810-621FF9CFB2F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33228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11098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7D158-C3F9-4738-2D30-A9CB7E74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EF0DA1-B473-3FA6-7351-2D4AEE956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F85A51-6B95-C849-4E2E-45113126C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99267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41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48D12-ADC8-BA0E-6A52-128E938DB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6C775-CDEF-E3FB-846B-45E1AA30E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019E7-67AA-589C-54B4-87AF8B77B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E4E25-E569-B1AB-6EAB-333EE5EF2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9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395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44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6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1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0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79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1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1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3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17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38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55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841514FB-4664-B956-D5FF-8848136CE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1266506" cy="826833"/>
          </a:xfrm>
        </p:spPr>
        <p:txBody>
          <a:bodyPr>
            <a:noAutofit/>
          </a:bodyPr>
          <a:lstStyle/>
          <a:p>
            <a:r>
              <a:rPr lang="es-CO" sz="3200" dirty="0">
                <a:latin typeface="Century Gothic"/>
                <a:ea typeface="+mj-lt"/>
                <a:cs typeface="+mj-lt"/>
              </a:rPr>
              <a:t>LA CONSTRUCCIÓN DEL FLUJO DE CAJA LIBRE DE un PROYECTO (</a:t>
            </a:r>
            <a:r>
              <a:rPr lang="es-CO" sz="3200" dirty="0" err="1">
                <a:solidFill>
                  <a:srgbClr val="D7A700"/>
                </a:solidFill>
                <a:latin typeface="Century Gothic"/>
                <a:ea typeface="+mj-lt"/>
                <a:cs typeface="+mj-lt"/>
              </a:rPr>
              <a:t>PaRTE</a:t>
            </a:r>
            <a:r>
              <a:rPr lang="es-CO" sz="3200" dirty="0">
                <a:solidFill>
                  <a:srgbClr val="D7A700"/>
                </a:solidFill>
                <a:latin typeface="Century Gothic"/>
                <a:ea typeface="+mj-lt"/>
                <a:cs typeface="+mj-lt"/>
              </a:rPr>
              <a:t> III</a:t>
            </a:r>
            <a:r>
              <a:rPr lang="es-CO" sz="3200" dirty="0">
                <a:latin typeface="Century Gothic"/>
                <a:ea typeface="+mj-lt"/>
                <a:cs typeface="+mj-lt"/>
              </a:rPr>
              <a:t>)</a:t>
            </a:r>
            <a:endParaRPr lang="es-ES" dirty="0">
              <a:latin typeface="Century Gothic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9A1A25C-32E5-4275-39EE-43C4C11A3746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959506E-564A-1C7E-EF85-5BED9CB2F37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2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806200" y="2772729"/>
            <a:ext cx="8540907" cy="304698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accent1"/>
                </a:solidFill>
                <a:latin typeface="Century Gothic"/>
                <a:cs typeface="Arial"/>
              </a:rPr>
              <a:t>Capital de Trabajo en el Estado de la Situación Financiera y en el Estado de Resultados.</a:t>
            </a: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CO" sz="1600" dirty="0">
                <a:solidFill>
                  <a:schemeClr val="accent1"/>
                </a:solidFill>
                <a:latin typeface="Century Gothic"/>
                <a:cs typeface="Arial"/>
              </a:rPr>
              <a:t>Capital de Trabajo por Periodo de Cobro, Periodo de Pago y Periodo de Rotación de Inventario.</a:t>
            </a: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Variación de PPE e Intangibles </a:t>
            </a:r>
            <a:r>
              <a:rPr lang="es-CO" sz="1600" dirty="0">
                <a:solidFill>
                  <a:schemeClr val="accent1"/>
                </a:solidFill>
                <a:latin typeface="Century Gothic"/>
                <a:cs typeface="Arial"/>
              </a:rPr>
              <a:t>(CAPEX).</a:t>
            </a: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CO" sz="1600" dirty="0">
                <a:solidFill>
                  <a:schemeClr val="accent1"/>
                </a:solidFill>
                <a:latin typeface="Century Gothic"/>
                <a:cs typeface="Arial"/>
              </a:rPr>
              <a:t>Impuesto Ocasional.</a:t>
            </a:r>
            <a:endParaRPr lang="es-CO" sz="1600" dirty="0">
              <a:solidFill>
                <a:schemeClr val="accent1"/>
              </a:solidFill>
              <a:latin typeface="Century Gothic"/>
            </a:endParaRPr>
          </a:p>
          <a:p>
            <a:pPr algn="just">
              <a:buClr>
                <a:srgbClr val="48BE7A"/>
              </a:buClr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 algn="just">
              <a:buClr>
                <a:srgbClr val="48BE7A"/>
              </a:buClr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algn="just">
              <a:buClr>
                <a:schemeClr val="accent3">
                  <a:lumMod val="75000"/>
                </a:schemeClr>
              </a:buClr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74B4FC1-E2E1-0CA9-DF73-5952722BA5B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97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3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806200" y="2772729"/>
            <a:ext cx="8540907" cy="304698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accent1"/>
                </a:solidFill>
                <a:latin typeface="Century Gothic"/>
                <a:cs typeface="Arial"/>
              </a:rPr>
              <a:t>Capital de Trabajo en el Estado de la Situación Financiera y en el Estado de Resultados.</a:t>
            </a: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CO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Capital de Trabajo por Periodo de Cobro, Periodo de Pago y Periodo de Rotación de Inventario.</a:t>
            </a: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bg2">
                  <a:lumMod val="90000"/>
                </a:schemeClr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Variación de PPE e Intangibles (CAPEX).</a:t>
            </a: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bg2">
                  <a:lumMod val="90000"/>
                </a:schemeClr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CO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Impuesto Ocasional.</a:t>
            </a:r>
            <a:endParaRPr lang="es-CO" sz="1600" dirty="0">
              <a:solidFill>
                <a:schemeClr val="bg2">
                  <a:lumMod val="90000"/>
                </a:schemeClr>
              </a:solidFill>
              <a:latin typeface="Century Gothic"/>
            </a:endParaRPr>
          </a:p>
          <a:p>
            <a:pPr algn="just">
              <a:buClr>
                <a:srgbClr val="48BE7A"/>
              </a:buClr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 algn="just">
              <a:buClr>
                <a:srgbClr val="48BE7A"/>
              </a:buClr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algn="just">
              <a:buClr>
                <a:schemeClr val="accent3">
                  <a:lumMod val="75000"/>
                </a:schemeClr>
              </a:buClr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9EA739B-5A00-9FA7-0F5E-B12AE6C4FF3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20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DF000-415D-183B-9273-B657C5A5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5FDC6-E013-3B6F-EAD8-FFB8B7FAA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C5C04D-2BEA-E702-2CA9-B9947BD2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4</a:t>
            </a:fld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ACD2E70-0ECD-A960-D1CA-B59B0BFA6E7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9F30F73D-20AB-34D1-0A72-FEA22B817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6E743559-44E6-2047-3FA8-9E714B40A1F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472741F0-7562-9C0D-0A58-DD64FA6C6F85}"/>
              </a:ext>
            </a:extLst>
          </p:cNvPr>
          <p:cNvGrpSpPr/>
          <p:nvPr/>
        </p:nvGrpSpPr>
        <p:grpSpPr>
          <a:xfrm>
            <a:off x="3224719" y="1905759"/>
            <a:ext cx="6015174" cy="2206595"/>
            <a:chOff x="1804678" y="1905759"/>
            <a:chExt cx="5403850" cy="2206595"/>
          </a:xfrm>
        </p:grpSpPr>
        <p:sp>
          <p:nvSpPr>
            <p:cNvPr id="29" name="AutoShape 12">
              <a:extLst>
                <a:ext uri="{FF2B5EF4-FFF2-40B4-BE49-F238E27FC236}">
                  <a16:creationId xmlns:a16="http://schemas.microsoft.com/office/drawing/2014/main" id="{A7AAECFE-6E7A-DE11-5584-6C6D8E852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678" y="1905759"/>
              <a:ext cx="5403850" cy="220659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45719" tIns="45719" rIns="45719" bIns="45719"/>
            <a:lstStyle/>
            <a:p>
              <a:pPr lvl="1">
                <a:lnSpc>
                  <a:spcPct val="120000"/>
                </a:lnSpc>
              </a:pPr>
              <a:endParaRPr lang="es-ES" sz="900" dirty="0">
                <a:cs typeface="Arial" charset="0"/>
                <a:sym typeface="Arial" charset="0"/>
              </a:endParaRP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(+) Ingresos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(-)  Costos de Venta</a:t>
              </a:r>
            </a:p>
            <a:p>
              <a:pPr lvl="1">
                <a:lnSpc>
                  <a:spcPct val="120000"/>
                </a:lnSpc>
              </a:pPr>
              <a:endParaRPr lang="es-ES" sz="400" b="1" dirty="0">
                <a:solidFill>
                  <a:srgbClr val="C00000"/>
                </a:solidFill>
                <a:cs typeface="Arial" charset="0"/>
                <a:sym typeface="Arial" charset="0"/>
              </a:endParaRPr>
            </a:p>
            <a:p>
              <a:pPr lvl="1">
                <a:lnSpc>
                  <a:spcPct val="120000"/>
                </a:lnSpc>
              </a:pP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      Utilidad Bruta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(-)  Gastos AOM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(-)  Depreciaciones &amp; Amortizaciones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      EBIT (UAII)</a:t>
              </a:r>
              <a:endParaRPr lang="es-ES" sz="2000" dirty="0">
                <a:solidFill>
                  <a:srgbClr val="C00000"/>
                </a:solidFill>
                <a:cs typeface="Arial" charset="0"/>
                <a:sym typeface="Arial" charset="0"/>
              </a:endParaRPr>
            </a:p>
            <a:p>
              <a:pPr lvl="1">
                <a:lnSpc>
                  <a:spcPct val="120000"/>
                </a:lnSpc>
              </a:pPr>
              <a:endParaRPr lang="es-ES" sz="2000" dirty="0">
                <a:cs typeface="Arial" charset="0"/>
                <a:sym typeface="Arial" charset="0"/>
              </a:endParaRPr>
            </a:p>
          </p:txBody>
        </p:sp>
        <p:sp>
          <p:nvSpPr>
            <p:cNvPr id="30" name="Line 14">
              <a:extLst>
                <a:ext uri="{FF2B5EF4-FFF2-40B4-BE49-F238E27FC236}">
                  <a16:creationId xmlns:a16="http://schemas.microsoft.com/office/drawing/2014/main" id="{25C2D3C5-1591-E6F9-FE29-E68EBE5FD9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4104" y="2843228"/>
              <a:ext cx="3640132" cy="44285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 dirty="0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31" name="Line 15">
              <a:extLst>
                <a:ext uri="{FF2B5EF4-FFF2-40B4-BE49-F238E27FC236}">
                  <a16:creationId xmlns:a16="http://schemas.microsoft.com/office/drawing/2014/main" id="{7571B47F-DC78-2B7A-B2D3-F13521DFF0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0446" y="4011003"/>
              <a:ext cx="3602032" cy="25948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 dirty="0">
                <a:latin typeface="Helvetica" charset="0"/>
                <a:cs typeface="Helvetica" charset="0"/>
                <a:sym typeface="Helvetica" charset="0"/>
              </a:endParaRP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A45E4D7C-1BB4-320F-A4BC-165D4CCA0E97}"/>
              </a:ext>
            </a:extLst>
          </p:cNvPr>
          <p:cNvGrpSpPr/>
          <p:nvPr/>
        </p:nvGrpSpPr>
        <p:grpSpPr>
          <a:xfrm>
            <a:off x="3570563" y="3988180"/>
            <a:ext cx="5770018" cy="2365953"/>
            <a:chOff x="2150522" y="3988180"/>
            <a:chExt cx="5770018" cy="2365953"/>
          </a:xfrm>
        </p:grpSpPr>
        <p:sp>
          <p:nvSpPr>
            <p:cNvPr id="33" name="AutoShape 1">
              <a:extLst>
                <a:ext uri="{FF2B5EF4-FFF2-40B4-BE49-F238E27FC236}">
                  <a16:creationId xmlns:a16="http://schemas.microsoft.com/office/drawing/2014/main" id="{6CC3001B-BB06-D7AD-4596-39174C780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522" y="3988180"/>
              <a:ext cx="5770018" cy="220659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45719" tIns="45719" rIns="45719" bIns="45719" anchor="t"/>
            <a:lstStyle/>
            <a:p>
              <a:pPr lvl="1"/>
              <a:endParaRPr lang="es-ES" sz="300" dirty="0">
                <a:solidFill>
                  <a:schemeClr val="accent1"/>
                </a:solidFill>
                <a:cs typeface="Arial" charset="0"/>
                <a:sym typeface="Arial" charset="0"/>
              </a:endParaRPr>
            </a:p>
            <a:p>
              <a:r>
                <a:rPr lang="es-ES" sz="2000" dirty="0">
                  <a:cs typeface="Arial" charset="0"/>
                  <a:sym typeface="Arial" charset="0"/>
                </a:rPr>
                <a:t>     </a:t>
              </a:r>
            </a:p>
            <a:p>
              <a:r>
                <a:rPr lang="es-ES" sz="2000" dirty="0">
                  <a:cs typeface="Arial" charset="0"/>
                  <a:sym typeface="Arial" charset="0"/>
                </a:rPr>
                <a:t>       (+) Depreciaciones &amp; Amortizaciones</a:t>
              </a:r>
            </a:p>
            <a:p>
              <a:endParaRPr lang="es-ES" sz="100" dirty="0">
                <a:solidFill>
                  <a:schemeClr val="accent1"/>
                </a:solidFill>
                <a:cs typeface="Arial" charset="0"/>
                <a:sym typeface="Arial" charset="0"/>
              </a:endParaRPr>
            </a:p>
            <a:p>
              <a:r>
                <a:rPr lang="es-ES" sz="2000" dirty="0">
                  <a:solidFill>
                    <a:schemeClr val="accent1"/>
                  </a:solidFill>
                  <a:cs typeface="Arial" charset="0"/>
                  <a:sym typeface="Arial" charset="0"/>
                </a:rPr>
                <a:t>        </a:t>
              </a: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EBITDA</a:t>
              </a:r>
              <a:endParaRPr lang="es-ES" sz="2000" dirty="0">
                <a:solidFill>
                  <a:srgbClr val="C00000"/>
                </a:solidFill>
                <a:cs typeface="Arial" charset="0"/>
                <a:sym typeface="Arial" charset="0"/>
              </a:endParaRPr>
            </a:p>
            <a:p>
              <a:endParaRPr lang="es-ES" sz="400" dirty="0">
                <a:cs typeface="Arial" charset="0"/>
                <a:sym typeface="Arial" charset="0"/>
              </a:endParaRPr>
            </a:p>
            <a:p>
              <a:r>
                <a:rPr lang="es-ES" sz="2000" dirty="0">
                  <a:cs typeface="Arial" charset="0"/>
                  <a:sym typeface="Arial" charset="0"/>
                </a:rPr>
                <a:t>       (-)  Variación en WK</a:t>
              </a:r>
            </a:p>
            <a:p>
              <a:r>
                <a:rPr lang="es-ES" sz="2000" dirty="0">
                  <a:cs typeface="Arial" charset="0"/>
                  <a:sym typeface="Arial" charset="0"/>
                </a:rPr>
                <a:t>       (-)  Variación de PPE e Intangibles (CAPEX)</a:t>
              </a:r>
            </a:p>
            <a:p>
              <a:r>
                <a:rPr lang="es-ES" sz="2000" dirty="0">
                  <a:cs typeface="Arial"/>
                  <a:sym typeface="Arial" charset="0"/>
                </a:rPr>
                <a:t>       (-)  Impuesto Operacional (EBIT • Tasa Imp)</a:t>
              </a:r>
              <a:br>
                <a:rPr lang="es-ES" sz="2000" dirty="0">
                  <a:cs typeface="Arial" charset="0"/>
                </a:rPr>
              </a:br>
              <a:r>
                <a:rPr lang="es-ES" sz="2000">
                  <a:cs typeface="Arial"/>
                  <a:sym typeface="Arial" charset="0"/>
                </a:rPr>
                <a:t>       (-)  Impuesto por Ganancia/Pérdida Ocasional</a:t>
              </a:r>
              <a:endParaRPr lang="es-ES" sz="2000">
                <a:cs typeface="Arial"/>
              </a:endParaRPr>
            </a:p>
            <a:p>
              <a:endParaRPr lang="es-ES" sz="900" dirty="0">
                <a:solidFill>
                  <a:schemeClr val="accent1"/>
                </a:solidFill>
                <a:cs typeface="Arial" charset="0"/>
                <a:sym typeface="Arial" charset="0"/>
              </a:endParaRPr>
            </a:p>
            <a:p>
              <a:r>
                <a:rPr lang="es-ES" sz="2000" b="1" dirty="0">
                  <a:solidFill>
                    <a:schemeClr val="accent1"/>
                  </a:solidFill>
                  <a:cs typeface="Arial" charset="0"/>
                  <a:sym typeface="Arial" charset="0"/>
                </a:rPr>
                <a:t>        </a:t>
              </a: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Flujo de Caja Libre (FCL)</a:t>
              </a:r>
            </a:p>
          </p:txBody>
        </p:sp>
        <p:sp>
          <p:nvSpPr>
            <p:cNvPr id="34" name="Line 2">
              <a:extLst>
                <a:ext uri="{FF2B5EF4-FFF2-40B4-BE49-F238E27FC236}">
                  <a16:creationId xmlns:a16="http://schemas.microsoft.com/office/drawing/2014/main" id="{84A29AB8-2C22-B2DF-D0D6-DE8C443D1C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7281" y="5037125"/>
              <a:ext cx="3981034" cy="12698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35" name="Line 3">
              <a:extLst>
                <a:ext uri="{FF2B5EF4-FFF2-40B4-BE49-F238E27FC236}">
                  <a16:creationId xmlns:a16="http://schemas.microsoft.com/office/drawing/2014/main" id="{B63F1552-4060-FEE8-B274-E0456C526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111" y="6341435"/>
              <a:ext cx="4004204" cy="12698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>
                <a:latin typeface="Helvetica" charset="0"/>
                <a:cs typeface="Helvetica" charset="0"/>
                <a:sym typeface="Helvetica" charset="0"/>
              </a:endParaRPr>
            </a:p>
          </p:txBody>
        </p:sp>
      </p:grpSp>
      <p:sp>
        <p:nvSpPr>
          <p:cNvPr id="36" name="Abrir llave 35">
            <a:extLst>
              <a:ext uri="{FF2B5EF4-FFF2-40B4-BE49-F238E27FC236}">
                <a16:creationId xmlns:a16="http://schemas.microsoft.com/office/drawing/2014/main" id="{F71FECF8-BE5A-AE64-D128-FB4F551FA0A1}"/>
              </a:ext>
            </a:extLst>
          </p:cNvPr>
          <p:cNvSpPr/>
          <p:nvPr/>
        </p:nvSpPr>
        <p:spPr>
          <a:xfrm>
            <a:off x="3498789" y="2219217"/>
            <a:ext cx="205356" cy="2160079"/>
          </a:xfrm>
          <a:prstGeom prst="leftBrac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592ACF2-F9B3-7052-0EF6-AF85C0587243}"/>
              </a:ext>
            </a:extLst>
          </p:cNvPr>
          <p:cNvSpPr txBox="1"/>
          <p:nvPr/>
        </p:nvSpPr>
        <p:spPr>
          <a:xfrm>
            <a:off x="1547364" y="2821557"/>
            <a:ext cx="2005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chemeClr val="accent1"/>
                </a:solidFill>
                <a:latin typeface="Century Gothic"/>
              </a:rPr>
              <a:t>Estado de Resultados</a:t>
            </a:r>
          </a:p>
        </p:txBody>
      </p:sp>
      <p:sp>
        <p:nvSpPr>
          <p:cNvPr id="38" name="Abrir llave 37">
            <a:extLst>
              <a:ext uri="{FF2B5EF4-FFF2-40B4-BE49-F238E27FC236}">
                <a16:creationId xmlns:a16="http://schemas.microsoft.com/office/drawing/2014/main" id="{B00CC01B-F171-7161-DA0A-4F3289335AFC}"/>
              </a:ext>
            </a:extLst>
          </p:cNvPr>
          <p:cNvSpPr/>
          <p:nvPr/>
        </p:nvSpPr>
        <p:spPr>
          <a:xfrm>
            <a:off x="3485047" y="4438510"/>
            <a:ext cx="219098" cy="1971644"/>
          </a:xfrm>
          <a:prstGeom prst="leftBrac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34EB798-A84F-443C-19C4-091A15291978}"/>
              </a:ext>
            </a:extLst>
          </p:cNvPr>
          <p:cNvSpPr txBox="1"/>
          <p:nvPr/>
        </p:nvSpPr>
        <p:spPr>
          <a:xfrm>
            <a:off x="1547364" y="5127274"/>
            <a:ext cx="2005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chemeClr val="accent1"/>
                </a:solidFill>
                <a:latin typeface="Century Gothic"/>
              </a:rPr>
              <a:t>Flujo de Caja Libre</a:t>
            </a:r>
          </a:p>
        </p:txBody>
      </p:sp>
      <p:grpSp>
        <p:nvGrpSpPr>
          <p:cNvPr id="40" name="Group 4">
            <a:extLst>
              <a:ext uri="{FF2B5EF4-FFF2-40B4-BE49-F238E27FC236}">
                <a16:creationId xmlns:a16="http://schemas.microsoft.com/office/drawing/2014/main" id="{BA82AB43-A4AD-13BA-C585-386787EE0EB0}"/>
              </a:ext>
            </a:extLst>
          </p:cNvPr>
          <p:cNvGrpSpPr>
            <a:grpSpLocks/>
          </p:cNvGrpSpPr>
          <p:nvPr/>
        </p:nvGrpSpPr>
        <p:grpSpPr bwMode="auto">
          <a:xfrm>
            <a:off x="7535336" y="4932256"/>
            <a:ext cx="4371807" cy="747513"/>
            <a:chOff x="-656022" y="-417449"/>
            <a:chExt cx="2669272" cy="748191"/>
          </a:xfrm>
        </p:grpSpPr>
        <p:sp>
          <p:nvSpPr>
            <p:cNvPr id="41" name="AutoShape 5">
              <a:extLst>
                <a:ext uri="{FF2B5EF4-FFF2-40B4-BE49-F238E27FC236}">
                  <a16:creationId xmlns:a16="http://schemas.microsoft.com/office/drawing/2014/main" id="{2CED997B-1E8D-4F64-004F-B234181C0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89" y="-417449"/>
              <a:ext cx="1571861" cy="74819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9BBB59"/>
            </a:solidFill>
            <a:ln w="25400" cap="flat" cmpd="sng">
              <a:solidFill>
                <a:srgbClr val="71884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/>
              <a:endParaRPr lang="es-ES" sz="1400" b="1" dirty="0">
                <a:solidFill>
                  <a:srgbClr val="404040"/>
                </a:solidFill>
              </a:endParaRPr>
            </a:p>
          </p:txBody>
        </p:sp>
        <p:sp>
          <p:nvSpPr>
            <p:cNvPr id="42" name="Line 6">
              <a:extLst>
                <a:ext uri="{FF2B5EF4-FFF2-40B4-BE49-F238E27FC236}">
                  <a16:creationId xmlns:a16="http://schemas.microsoft.com/office/drawing/2014/main" id="{3AD54A18-D30F-B644-2F28-845A27991A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656022" y="-99609"/>
              <a:ext cx="1077524" cy="12710"/>
            </a:xfrm>
            <a:prstGeom prst="line">
              <a:avLst/>
            </a:prstGeom>
            <a:noFill/>
            <a:ln w="25400" cap="flat" cmpd="sng">
              <a:solidFill>
                <a:srgbClr val="71884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s-ES" sz="1600" dirty="0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43" name="AutoShape 7">
              <a:extLst>
                <a:ext uri="{FF2B5EF4-FFF2-40B4-BE49-F238E27FC236}">
                  <a16:creationId xmlns:a16="http://schemas.microsoft.com/office/drawing/2014/main" id="{7B9DED5D-F300-07C8-46FE-9896602B2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502" y="-417449"/>
              <a:ext cx="1571862" cy="74819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es-CO" sz="1400" b="1" dirty="0">
                  <a:solidFill>
                    <a:srgbClr val="404040"/>
                  </a:solidFill>
                </a:rPr>
                <a:t>Ajusta el principio de causación para que refleje el principio de caja.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531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02257" y="2394815"/>
            <a:ext cx="7893284" cy="33112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/>
              </a:rPr>
              <a:t>Recordemos que el Estado de Resultados se fundamenta en el </a:t>
            </a:r>
            <a:r>
              <a:rPr lang="es-ES" b="1" dirty="0">
                <a:solidFill>
                  <a:srgbClr val="C00000"/>
                </a:solidFill>
                <a:latin typeface="Century Gothic"/>
              </a:rPr>
              <a:t>principio de causación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.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/>
              </a:rPr>
              <a:t>¿Cómo podemos corregir estos efectos? ¿Dónde podremos encontrar la información necesaria para realizar esa corrección?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/>
              </a:rPr>
              <a:t>Veamos un ejemplo para entender esto.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</a:t>
            </a:fld>
            <a:endParaRPr lang="en-US" sz="18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435921-3282-664F-0FE5-026B8A3A8E9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B5B5528-3F99-4F3B-A0AC-6CFD0054B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6843B1C-36A8-92EF-3F6D-91A35C947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259465"/>
            <a:ext cx="2924008" cy="188258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C84CE04-7E07-6D92-C8BA-FC362A55141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1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19" name="Marcador de contenido 2"/>
          <p:cNvSpPr>
            <a:spLocks noGrp="1"/>
          </p:cNvSpPr>
          <p:nvPr>
            <p:ph idx="1"/>
          </p:nvPr>
        </p:nvSpPr>
        <p:spPr>
          <a:xfrm>
            <a:off x="1045026" y="2271743"/>
            <a:ext cx="10119676" cy="8625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Al inicio del año 0, el Estado de Situación Financiera de una compañía es el siguiente: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429322"/>
              </p:ext>
            </p:extLst>
          </p:nvPr>
        </p:nvGraphicFramePr>
        <p:xfrm>
          <a:off x="3793755" y="3429000"/>
          <a:ext cx="3916942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3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9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Estado de Situación Financiera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2DC76061-C663-280C-DB72-CE2D748DB9A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7DAFCCD2-67EE-FABB-4E60-33A3C36EA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660763D-FA84-33D3-BBA7-6BFF599A3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121" y="3690075"/>
            <a:ext cx="2625165" cy="180664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24413E6-31B2-1518-518F-6A79649A0CE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443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86975" y="2180407"/>
            <a:ext cx="10418049" cy="331127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/>
              </a:rPr>
              <a:t>Suponga que la compañía tiene ingresos en el año 1 por 100 millones de pesos. De dichos ingresos, 30 millones se efectúan a crédito. ¿Cómo se registra esa transacción?</a:t>
            </a:r>
          </a:p>
          <a:p>
            <a:pPr marL="0" indent="0" algn="just">
              <a:buNone/>
            </a:pPr>
            <a:endParaRPr lang="es-ES" dirty="0">
              <a:solidFill>
                <a:schemeClr val="accent1"/>
              </a:solidFill>
              <a:latin typeface="Century Gothic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" dirty="0">
                <a:solidFill>
                  <a:schemeClr val="accent1"/>
                </a:solidFill>
                <a:latin typeface="Century Gothic"/>
              </a:rPr>
              <a:t>Por un lado, se registran 100 millones de ingreso en el Estado de Resultados.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dirty="0">
                <a:solidFill>
                  <a:schemeClr val="accent1"/>
                </a:solidFill>
                <a:latin typeface="Century Gothic"/>
              </a:rPr>
              <a:t>Por otro lado, se registran 70 millones de ingreso en la caja de la compañía y 30 millones como una cuenta por cobrar.</a:t>
            </a:r>
          </a:p>
          <a:p>
            <a:pPr marL="457200" indent="-457200" algn="just">
              <a:buFont typeface="+mj-lt"/>
              <a:buAutoNum type="arabicPeriod"/>
            </a:pPr>
            <a:endParaRPr lang="es-ES" dirty="0">
              <a:solidFill>
                <a:schemeClr val="accent1"/>
              </a:solidFill>
              <a:latin typeface="Century Gothic"/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/>
              </a:rPr>
              <a:t>Veámoslo en el </a:t>
            </a:r>
            <a:r>
              <a:rPr lang="es-ES" b="1" dirty="0">
                <a:solidFill>
                  <a:srgbClr val="C00000"/>
                </a:solidFill>
                <a:latin typeface="Century Gothic"/>
              </a:rPr>
              <a:t>Estado de Situación Financiera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7</a:t>
            </a:fld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9D866DC-D403-C24C-DC1B-A408BBD850F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6B8B1338-AD79-BC75-06D4-C23903FD6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9EFACDA-C0BE-953A-0003-4BA164253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121" y="4502248"/>
            <a:ext cx="2367760" cy="145388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9591A39-ACCD-0C9F-AA07-04F8C25352D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2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>
                <a:latin typeface="Century Gothic"/>
              </a:rPr>
              <a:t>Capital de Trabajo (WC)</a:t>
            </a:r>
          </a:p>
        </p:txBody>
      </p:sp>
      <p:sp>
        <p:nvSpPr>
          <p:cNvPr id="19" name="Marcador de contenido 2"/>
          <p:cNvSpPr>
            <a:spLocks noGrp="1"/>
          </p:cNvSpPr>
          <p:nvPr>
            <p:ph idx="1"/>
          </p:nvPr>
        </p:nvSpPr>
        <p:spPr>
          <a:xfrm>
            <a:off x="922913" y="2314035"/>
            <a:ext cx="10651681" cy="8625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O" dirty="0">
                <a:solidFill>
                  <a:schemeClr val="accent1"/>
                </a:solidFill>
                <a:latin typeface="Century Gothic"/>
              </a:rPr>
              <a:t>Después del año 1, el Estado de Situación Financiera y el Estado de Resultados quedan así: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s-CO" smtClean="0"/>
              <a:t>8</a:t>
            </a:fld>
            <a:endParaRPr lang="es-CO"/>
          </a:p>
        </p:txBody>
      </p:sp>
      <p:sp>
        <p:nvSpPr>
          <p:cNvPr id="14" name="Marcador de contenido 2"/>
          <p:cNvSpPr txBox="1">
            <a:spLocks/>
          </p:cNvSpPr>
          <p:nvPr/>
        </p:nvSpPr>
        <p:spPr>
          <a:xfrm>
            <a:off x="1003896" y="5925597"/>
            <a:ext cx="10265191" cy="426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200" b="1" dirty="0">
                <a:solidFill>
                  <a:srgbClr val="C00000"/>
                </a:solidFill>
                <a:latin typeface="Century Gothic"/>
              </a:rPr>
              <a:t>Para simplicidad de este ejercicio, se asume que no hay otros ingresos y que tampoco hay costos ni impuestos. Recuerden que este es un GRAN supuesto y el ejercicio es sólo para ilustrar un aspecto específico del Estado de Resultados.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963100"/>
              </p:ext>
            </p:extLst>
          </p:nvPr>
        </p:nvGraphicFramePr>
        <p:xfrm>
          <a:off x="4890302" y="3361419"/>
          <a:ext cx="3728970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1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352869"/>
              </p:ext>
            </p:extLst>
          </p:nvPr>
        </p:nvGraphicFramePr>
        <p:xfrm>
          <a:off x="1003896" y="3352453"/>
          <a:ext cx="3728970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0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799505"/>
              </p:ext>
            </p:extLst>
          </p:nvPr>
        </p:nvGraphicFramePr>
        <p:xfrm>
          <a:off x="8789404" y="3361419"/>
          <a:ext cx="2821404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1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Estado de Resultados 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Ingresos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Costos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EBIT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Tax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95CCF0D2-32E1-5530-98BF-004F8B27975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B37EE37B-63DD-A290-F58F-AB74999FC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914BCD2-565E-FA18-4A40-D69A3198109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451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>
                <a:latin typeface="Century Gothic"/>
              </a:rPr>
              <a:t>Capital de Trabajo (WC)</a:t>
            </a:r>
          </a:p>
        </p:txBody>
      </p:sp>
      <p:sp>
        <p:nvSpPr>
          <p:cNvPr id="19" name="Marcador de contenido 2"/>
          <p:cNvSpPr>
            <a:spLocks noGrp="1"/>
          </p:cNvSpPr>
          <p:nvPr>
            <p:ph idx="1"/>
          </p:nvPr>
        </p:nvSpPr>
        <p:spPr>
          <a:xfrm>
            <a:off x="922913" y="2314035"/>
            <a:ext cx="10651681" cy="8625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O" dirty="0">
                <a:solidFill>
                  <a:schemeClr val="accent1"/>
                </a:solidFill>
                <a:latin typeface="Century Gothic"/>
              </a:rPr>
              <a:t>Después del año 1, el Estado de Situación Financiera y el Estado de Resultados quedan así: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s-CO" smtClean="0"/>
              <a:t>9</a:t>
            </a:fld>
            <a:endParaRPr lang="es-CO"/>
          </a:p>
        </p:txBody>
      </p:sp>
      <p:sp>
        <p:nvSpPr>
          <p:cNvPr id="14" name="Marcador de contenido 2"/>
          <p:cNvSpPr txBox="1">
            <a:spLocks/>
          </p:cNvSpPr>
          <p:nvPr/>
        </p:nvSpPr>
        <p:spPr>
          <a:xfrm>
            <a:off x="1003896" y="5925597"/>
            <a:ext cx="10265191" cy="426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200" b="1" dirty="0">
                <a:solidFill>
                  <a:srgbClr val="C00000"/>
                </a:solidFill>
                <a:latin typeface="Century Gothic"/>
              </a:rPr>
              <a:t>Para simplicidad de este ejercicio, se asume que no hay otros ingresos y que tampoco hay costos ni impuestos. Recuerden que este es un GRAN supuesto y el ejercicio es sólo para ilustrar un aspecto específico del Estado de Resultados.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208138"/>
              </p:ext>
            </p:extLst>
          </p:nvPr>
        </p:nvGraphicFramePr>
        <p:xfrm>
          <a:off x="8789404" y="3361419"/>
          <a:ext cx="2821404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1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Estado de Resultados 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Ingresos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Costos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EBIT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Tax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95CCF0D2-32E1-5530-98BF-004F8B27975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B37EE37B-63DD-A290-F58F-AB74999FC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D98E3A5-468C-4A39-E1FF-C91421045B6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38F88FC-B861-0C5E-EB05-53C42A325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92595"/>
              </p:ext>
            </p:extLst>
          </p:nvPr>
        </p:nvGraphicFramePr>
        <p:xfrm>
          <a:off x="4890302" y="3361419"/>
          <a:ext cx="3703572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6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4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4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1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23">
            <a:extLst>
              <a:ext uri="{FF2B5EF4-FFF2-40B4-BE49-F238E27FC236}">
                <a16:creationId xmlns:a16="http://schemas.microsoft.com/office/drawing/2014/main" id="{E8180F2C-5C93-A2A5-8930-1059ED854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854118"/>
              </p:ext>
            </p:extLst>
          </p:nvPr>
        </p:nvGraphicFramePr>
        <p:xfrm>
          <a:off x="1003896" y="3352453"/>
          <a:ext cx="3703571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0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00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>
                <a:latin typeface="Century Gothic"/>
              </a:rPr>
              <a:t>Capital de Trabajo (WC)</a:t>
            </a:r>
          </a:p>
        </p:txBody>
      </p:sp>
      <p:sp>
        <p:nvSpPr>
          <p:cNvPr id="19" name="Marcador de contenido 2"/>
          <p:cNvSpPr>
            <a:spLocks noGrp="1"/>
          </p:cNvSpPr>
          <p:nvPr>
            <p:ph idx="1"/>
          </p:nvPr>
        </p:nvSpPr>
        <p:spPr>
          <a:xfrm>
            <a:off x="922913" y="2314035"/>
            <a:ext cx="10651681" cy="8625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O" dirty="0">
                <a:solidFill>
                  <a:schemeClr val="accent1"/>
                </a:solidFill>
                <a:latin typeface="Century Gothic"/>
              </a:rPr>
              <a:t>Después del año 1, el Estado de Situación Financiera y el Estado de Resultados quedan así: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s-CO" smtClean="0"/>
              <a:t>10</a:t>
            </a:fld>
            <a:endParaRPr lang="es-CO"/>
          </a:p>
        </p:txBody>
      </p:sp>
      <p:sp>
        <p:nvSpPr>
          <p:cNvPr id="14" name="Marcador de contenido 2"/>
          <p:cNvSpPr txBox="1">
            <a:spLocks/>
          </p:cNvSpPr>
          <p:nvPr/>
        </p:nvSpPr>
        <p:spPr>
          <a:xfrm>
            <a:off x="1003896" y="5925597"/>
            <a:ext cx="10265191" cy="426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200" b="1" dirty="0">
                <a:solidFill>
                  <a:srgbClr val="C00000"/>
                </a:solidFill>
                <a:latin typeface="Century Gothic"/>
              </a:rPr>
              <a:t>Para simplicidad de este ejercicio, se asume que no hay otros ingresos y que tampoco hay costos ni impuestos. Recuerden que este es un GRAN supuesto y el ejercicio es sólo para ilustrar un aspecto específico del Estado de Resultados.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78369"/>
              </p:ext>
            </p:extLst>
          </p:nvPr>
        </p:nvGraphicFramePr>
        <p:xfrm>
          <a:off x="8789404" y="3310617"/>
          <a:ext cx="2821404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1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Estado de Resultados 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Ingresos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Costos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EBIT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Tax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95CCF0D2-32E1-5530-98BF-004F8B27975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B37EE37B-63DD-A290-F58F-AB74999FC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34A1DFA-6A65-2B6D-27D1-469141BC6D0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D7296489-470A-7E28-BF79-B5653CC83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161686"/>
              </p:ext>
            </p:extLst>
          </p:nvPr>
        </p:nvGraphicFramePr>
        <p:xfrm>
          <a:off x="4560095" y="3310617"/>
          <a:ext cx="4118237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6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6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5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1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170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23">
            <a:extLst>
              <a:ext uri="{FF2B5EF4-FFF2-40B4-BE49-F238E27FC236}">
                <a16:creationId xmlns:a16="http://schemas.microsoft.com/office/drawing/2014/main" id="{1C9EAEC3-EB9E-4E46-FDD1-0A07E704E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708474"/>
              </p:ext>
            </p:extLst>
          </p:nvPr>
        </p:nvGraphicFramePr>
        <p:xfrm>
          <a:off x="690626" y="3327052"/>
          <a:ext cx="3745903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5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7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11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0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49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122B7-1849-F79C-9D17-FC458CF2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FA2871-B374-BB1D-DC7E-78D80F0A4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>
                <a:latin typeface="Century Gothic"/>
              </a:rPr>
              <a:t>Capital de Trabajo (WC)</a:t>
            </a: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F84D873E-AE61-D50B-E65F-9C9B86BC4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913" y="2314035"/>
            <a:ext cx="10651681" cy="8625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O" dirty="0">
                <a:solidFill>
                  <a:schemeClr val="accent1"/>
                </a:solidFill>
                <a:latin typeface="Century Gothic"/>
              </a:rPr>
              <a:t>Después del año 1, el Estado de Situación Financiera y el Estado de Resultados quedan así: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338BD8-2DCE-0ED6-B3DD-EF0FF870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s-CO" smtClean="0"/>
              <a:t>11</a:t>
            </a:fld>
            <a:endParaRPr lang="es-CO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D4D597EE-E05D-F4B6-4797-061B66B6722D}"/>
              </a:ext>
            </a:extLst>
          </p:cNvPr>
          <p:cNvSpPr txBox="1">
            <a:spLocks/>
          </p:cNvSpPr>
          <p:nvPr/>
        </p:nvSpPr>
        <p:spPr>
          <a:xfrm>
            <a:off x="1003896" y="5925597"/>
            <a:ext cx="10265191" cy="426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200" b="1" dirty="0">
                <a:solidFill>
                  <a:srgbClr val="C00000"/>
                </a:solidFill>
                <a:latin typeface="Century Gothic"/>
              </a:rPr>
              <a:t>Para simplicidad de este ejercicio, se asume que no hay otros ingresos y que tampoco hay costos ni impuestos. Recuerden que este es un GRAN supuesto y el ejercicio es sólo para ilustrar un aspecto específico del Estado de Resultados.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787F111-B122-955D-09FA-DFB693BDA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089642"/>
              </p:ext>
            </p:extLst>
          </p:nvPr>
        </p:nvGraphicFramePr>
        <p:xfrm>
          <a:off x="8789404" y="3361419"/>
          <a:ext cx="2821404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1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Estado de Resultados 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Ingresos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Costos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EBIT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Tax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8EF68884-9E5D-C10E-3774-5CD4DD67679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D7FF1406-7C61-62CD-00E2-116A5FD5C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2AF3BEC-32C7-D9EC-6D8A-276481F7508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B593BCF5-B22D-F919-1D7E-A7B92742E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956104"/>
              </p:ext>
            </p:extLst>
          </p:nvPr>
        </p:nvGraphicFramePr>
        <p:xfrm>
          <a:off x="4517767" y="3353104"/>
          <a:ext cx="4211366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6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1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170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CxC</a:t>
                      </a:r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30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23">
            <a:extLst>
              <a:ext uri="{FF2B5EF4-FFF2-40B4-BE49-F238E27FC236}">
                <a16:creationId xmlns:a16="http://schemas.microsoft.com/office/drawing/2014/main" id="{D5B30439-13C1-7E4C-0AE3-639A406F2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918857"/>
              </p:ext>
            </p:extLst>
          </p:nvPr>
        </p:nvGraphicFramePr>
        <p:xfrm>
          <a:off x="641965" y="3336018"/>
          <a:ext cx="3779771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6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0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84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963250"/>
            <a:ext cx="8500265" cy="23867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Ampliemos ahora nuestro ejemplo. Suponga que en el año 1 la compañía compra inventario de mercancía para vender por 35 millones.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Sin embargo, esa mercancía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no se vende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y queda en bodega.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12</a:t>
            </a:fld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95C6EA-EF3E-4BD2-6646-C7C2BD05C74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BC007967-E89E-3C54-DE13-6F2E9641E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7BEC1C5-FF62-9554-B8D3-710282991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546" y="3388474"/>
            <a:ext cx="2774827" cy="194237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4EB2377-C3B9-BCFF-D1FB-FDB0A889867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389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19" name="Marcador de contenido 2"/>
          <p:cNvSpPr>
            <a:spLocks noGrp="1"/>
          </p:cNvSpPr>
          <p:nvPr>
            <p:ph idx="1"/>
          </p:nvPr>
        </p:nvSpPr>
        <p:spPr>
          <a:xfrm>
            <a:off x="375595" y="2116991"/>
            <a:ext cx="11440810" cy="8625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Hasta ahora, el Estado de Situación Financiera y el Estado de Resultados son los siguientes (año 1):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13</a:t>
            </a:fld>
            <a:endParaRPr lang="en-US"/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2294558" y="5724571"/>
            <a:ext cx="7893284" cy="862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6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queda después de registrar la compra de inventario de mercancía?</a:t>
            </a:r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160696"/>
              </p:ext>
            </p:extLst>
          </p:nvPr>
        </p:nvGraphicFramePr>
        <p:xfrm>
          <a:off x="2294558" y="3081204"/>
          <a:ext cx="4487323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3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Estado de Situación Financiera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170</a:t>
                      </a:r>
                    </a:p>
                  </a:txBody>
                  <a:tcP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CxC</a:t>
                      </a:r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056209"/>
              </p:ext>
            </p:extLst>
          </p:nvPr>
        </p:nvGraphicFramePr>
        <p:xfrm>
          <a:off x="7302097" y="3105234"/>
          <a:ext cx="2904519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Estado de Resultados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Costos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EBIT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Tax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961EE188-3A75-292A-1832-A0755475A20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E48291B-7684-E3D7-70A8-1CEA83D5D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24528047-C1AD-D6D7-7AEB-0952D0D2B59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872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19" name="Marcador de contenido 2"/>
          <p:cNvSpPr>
            <a:spLocks noGrp="1"/>
          </p:cNvSpPr>
          <p:nvPr>
            <p:ph idx="1"/>
          </p:nvPr>
        </p:nvSpPr>
        <p:spPr>
          <a:xfrm>
            <a:off x="375595" y="2116991"/>
            <a:ext cx="11440810" cy="8625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Hasta ahora, el Estado de la Situación Financiera y el Estado de Resultados son los siguientes (año 1):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14</a:t>
            </a:fld>
            <a:endParaRPr lang="en-US"/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2294558" y="5724571"/>
            <a:ext cx="7893284" cy="862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6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queda después de registrar la compra de inventario de mercancía?</a:t>
            </a:r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378754"/>
              </p:ext>
            </p:extLst>
          </p:nvPr>
        </p:nvGraphicFramePr>
        <p:xfrm>
          <a:off x="1705232" y="3085032"/>
          <a:ext cx="5212574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6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83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Estado de Situación Financiera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135</a:t>
                      </a:r>
                    </a:p>
                  </a:txBody>
                  <a:tcP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CxC</a:t>
                      </a:r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Inventario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702923"/>
              </p:ext>
            </p:extLst>
          </p:nvPr>
        </p:nvGraphicFramePr>
        <p:xfrm>
          <a:off x="7302097" y="3105234"/>
          <a:ext cx="2904519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Estado de Resultados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Costos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EBIT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Tax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961EE188-3A75-292A-1832-A0755475A20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E48291B-7684-E3D7-70A8-1CEA83D5D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0829E07-54AD-E6B1-72FD-5C49CCE2386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912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41965" y="2865099"/>
            <a:ext cx="8403640" cy="23867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Ampliemos más nuestro ejemplo. Supóngase que sólo se pagaron 5 millones de contado de los inventarios de mercancía que se adquirieron. 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¿Cómo cambiarían nuestros resultados?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15</a:t>
            </a:fld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B96DBAD-C67D-6649-3381-A0CCF6E7E82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800D22-3A3A-B6B2-CA6F-EA46CDA41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0C87CEC-186E-2AB4-2DB7-F84906C94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826" y="3058309"/>
            <a:ext cx="2543261" cy="200031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5FC80ED-F28D-228F-3067-393BF9B42A0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14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19" name="Marcador de contenido 2"/>
          <p:cNvSpPr>
            <a:spLocks noGrp="1"/>
          </p:cNvSpPr>
          <p:nvPr>
            <p:ph idx="1"/>
          </p:nvPr>
        </p:nvSpPr>
        <p:spPr>
          <a:xfrm>
            <a:off x="375595" y="2116991"/>
            <a:ext cx="11440810" cy="8625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Hasta ahora, el Estado de la Situación Financiera y el Estado de Resultados son los siguientes (año 1):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370943"/>
              </p:ext>
            </p:extLst>
          </p:nvPr>
        </p:nvGraphicFramePr>
        <p:xfrm>
          <a:off x="1705232" y="3085032"/>
          <a:ext cx="5212574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6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83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Estado de Situación Financiera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165</a:t>
                      </a:r>
                    </a:p>
                  </a:txBody>
                  <a:tcP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CxP</a:t>
                      </a:r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CxC</a:t>
                      </a:r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Inventario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840491"/>
              </p:ext>
            </p:extLst>
          </p:nvPr>
        </p:nvGraphicFramePr>
        <p:xfrm>
          <a:off x="7302097" y="3105234"/>
          <a:ext cx="2904519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Estado de Resultados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Costos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EBIT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Tax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961EE188-3A75-292A-1832-A0755475A20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E48291B-7684-E3D7-70A8-1CEA83D5D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4797212-20C0-3939-B03C-71CC86FF1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034" y="5684808"/>
            <a:ext cx="2720840" cy="107416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4E92784-9F6E-7E7C-2C4A-C992368CE82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083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06113" y="2469281"/>
            <a:ext cx="8304459" cy="348685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Nótese como el pago de las cuentas por pagar, la compra de inventarios y las cuentas por cobrar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no se refleja en la utilidad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Sin embargo, los anteriores pagos implican </a:t>
            </a:r>
            <a:r>
              <a:rPr lang="es-ES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movimientos de efectivo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Por ende, para incorporar dichos movimientos de efectivo, se ajusta la utilidad por el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capital de trabajo.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17</a:t>
            </a:fld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3B0ED8-8075-04E5-63AF-999839DF9AC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E8DE7A7D-A7A0-C6EE-5949-AB442A4E7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F5693C7-C03E-2E46-6E49-7DE837598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463" y="3136250"/>
            <a:ext cx="2636108" cy="1855881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8BC2FDF-AC59-3797-38F8-EDD620D2660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12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4270" y="1865034"/>
            <a:ext cx="11243103" cy="13677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En el lenguaje financiero se llama capital de trabajo a la diferencia entre el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activo corriente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(excluyendo el efectivo para efectos del flujo de caja) y el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pasivo corriente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 Según la estructura del Estado de Situación Financiera encontramos estos dos componentes así: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18</a:t>
            </a:fld>
            <a:endParaRPr lang="en-US"/>
          </a:p>
        </p:txBody>
      </p:sp>
      <p:sp>
        <p:nvSpPr>
          <p:cNvPr id="7" name="Rectangle 2"/>
          <p:cNvSpPr/>
          <p:nvPr/>
        </p:nvSpPr>
        <p:spPr>
          <a:xfrm>
            <a:off x="3773751" y="4173029"/>
            <a:ext cx="2512594" cy="213094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>
                <a:latin typeface="Century Gothic" panose="020B0502020202020204" pitchFamily="34" charset="0"/>
              </a:rPr>
              <a:t>Activos No Corrientes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7991" y="4186684"/>
            <a:ext cx="2512594" cy="10514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>
                <a:latin typeface="Century Gothic" panose="020B0502020202020204" pitchFamily="34" charset="0"/>
              </a:rPr>
              <a:t>Pasivos No Corrientes (LP)</a:t>
            </a:r>
          </a:p>
        </p:txBody>
      </p:sp>
      <p:sp>
        <p:nvSpPr>
          <p:cNvPr id="9" name="Rectangle 6"/>
          <p:cNvSpPr/>
          <p:nvPr/>
        </p:nvSpPr>
        <p:spPr>
          <a:xfrm>
            <a:off x="3773751" y="3340099"/>
            <a:ext cx="2512594" cy="846584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>
                <a:latin typeface="Century Gothic" panose="020B0502020202020204" pitchFamily="34" charset="0"/>
              </a:rPr>
              <a:t>Activos Corrientes</a:t>
            </a:r>
          </a:p>
        </p:txBody>
      </p:sp>
      <p:sp>
        <p:nvSpPr>
          <p:cNvPr id="10" name="Rectangle 5"/>
          <p:cNvSpPr/>
          <p:nvPr/>
        </p:nvSpPr>
        <p:spPr>
          <a:xfrm>
            <a:off x="6287991" y="3340099"/>
            <a:ext cx="2510948" cy="8465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>
                <a:latin typeface="Century Gothic" panose="020B0502020202020204" pitchFamily="34" charset="0"/>
              </a:rPr>
              <a:t>Pasivos Corrientes</a:t>
            </a:r>
          </a:p>
        </p:txBody>
      </p:sp>
      <p:sp>
        <p:nvSpPr>
          <p:cNvPr id="11" name="Rectangle 8"/>
          <p:cNvSpPr/>
          <p:nvPr/>
        </p:nvSpPr>
        <p:spPr>
          <a:xfrm>
            <a:off x="6287991" y="5238085"/>
            <a:ext cx="2510948" cy="10658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>
                <a:latin typeface="Century Gothic" panose="020B0502020202020204" pitchFamily="34" charset="0"/>
              </a:rPr>
              <a:t>Patrimonio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CC3F870-73B6-8117-5319-281EC1870CA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EB6730ED-BD1E-1F72-C13E-93561080F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4FA07A8F-2012-E172-51EC-58A136D7308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731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64AA8-EBBD-FF08-8B15-118643255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8351C-3B63-0981-B983-A181894F9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063579-D215-00CD-1A7C-61A4607B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E5C2E2F1-C7F6-05A4-0FCA-CDA2E5934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832735"/>
              </p:ext>
            </p:extLst>
          </p:nvPr>
        </p:nvGraphicFramePr>
        <p:xfrm>
          <a:off x="4196966" y="2140034"/>
          <a:ext cx="4416167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3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ESF (Año 1)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165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CxP</a:t>
                      </a:r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CxC</a:t>
                      </a:r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Inventario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35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24">
            <a:extLst>
              <a:ext uri="{FF2B5EF4-FFF2-40B4-BE49-F238E27FC236}">
                <a16:creationId xmlns:a16="http://schemas.microsoft.com/office/drawing/2014/main" id="{576323EF-CD65-EF0D-D6E3-12E3F79D2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148624"/>
              </p:ext>
            </p:extLst>
          </p:nvPr>
        </p:nvGraphicFramePr>
        <p:xfrm>
          <a:off x="8817630" y="2140034"/>
          <a:ext cx="2904519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Estado de Resultados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Costos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EBIT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Tax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U. Periodo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ECAEA876-8707-7876-B12E-B42747E7BC7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400BD4A9-825C-7164-012A-F2E0035DB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84E718F-35CB-AD94-405B-B03D45E4904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3">
            <a:extLst>
              <a:ext uri="{FF2B5EF4-FFF2-40B4-BE49-F238E27FC236}">
                <a16:creationId xmlns:a16="http://schemas.microsoft.com/office/drawing/2014/main" id="{36AB3342-12CB-1B21-9D48-38BDBCC0D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109505"/>
              </p:ext>
            </p:extLst>
          </p:nvPr>
        </p:nvGraphicFramePr>
        <p:xfrm>
          <a:off x="385829" y="2140034"/>
          <a:ext cx="3712037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4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ESF (Año 0) 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Bancos LP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DA131AA2-7CCD-CF99-7B59-BDE688138EC2}"/>
              </a:ext>
            </a:extLst>
          </p:cNvPr>
          <p:cNvSpPr txBox="1"/>
          <p:nvPr/>
        </p:nvSpPr>
        <p:spPr>
          <a:xfrm>
            <a:off x="780860" y="5066215"/>
            <a:ext cx="2659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WK (Año 0) = 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A5169F8-8234-1BDD-61A3-87446AB81345}"/>
              </a:ext>
            </a:extLst>
          </p:cNvPr>
          <p:cNvSpPr txBox="1"/>
          <p:nvPr/>
        </p:nvSpPr>
        <p:spPr>
          <a:xfrm>
            <a:off x="4097866" y="5058392"/>
            <a:ext cx="4612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WK (Año 1) = 30 + 35 – 30 = 35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098A97C-E1B3-782D-9B29-DE1AEC069697}"/>
              </a:ext>
            </a:extLst>
          </p:cNvPr>
          <p:cNvSpPr txBox="1"/>
          <p:nvPr/>
        </p:nvSpPr>
        <p:spPr>
          <a:xfrm>
            <a:off x="4097866" y="5859597"/>
            <a:ext cx="310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∆ WK = 35 – 0 = 35</a:t>
            </a:r>
          </a:p>
        </p:txBody>
      </p:sp>
    </p:spTree>
    <p:extLst>
      <p:ext uri="{BB962C8B-B14F-4D97-AF65-F5344CB8AC3E}">
        <p14:creationId xmlns:p14="http://schemas.microsoft.com/office/powerpoint/2010/main" val="369046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9664" y="2115734"/>
            <a:ext cx="11141144" cy="11468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Ejemplo: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A continuación, se tiene el Estado de Situación Financiera de una compañía de carbón para los años 2013 y 2014. ¿De cuánto es el WK en cada año?</a:t>
            </a:r>
            <a:endParaRPr lang="es-ES" i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671006"/>
              </p:ext>
            </p:extLst>
          </p:nvPr>
        </p:nvGraphicFramePr>
        <p:xfrm>
          <a:off x="766544" y="3523410"/>
          <a:ext cx="5481598" cy="19567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8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3822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31 de diciembre de 2013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CO" sz="1200" b="0" i="0" u="none" strike="noStrike" dirty="0">
                        <a:effectLst/>
                        <a:latin typeface="Verdana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200" b="0" i="0" u="none" strike="noStrike" dirty="0">
                        <a:effectLst/>
                        <a:latin typeface="Verdan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200" b="0" i="0" u="none" strike="noStrike" dirty="0">
                        <a:effectLst/>
                        <a:latin typeface="Verdana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CO" sz="1200" b="0" i="0" u="none" strike="noStrike" dirty="0">
                        <a:effectLst/>
                        <a:latin typeface="Verdana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82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Efectivo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 err="1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CxP</a:t>
                      </a:r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82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 err="1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CxC</a:t>
                      </a:r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Deuda LP</a:t>
                      </a:r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82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Inventario Materia Prima</a:t>
                      </a:r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82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Maquinaria</a:t>
                      </a:r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Capital Suscrito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822"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Utilidad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386348"/>
              </p:ext>
            </p:extLst>
          </p:nvPr>
        </p:nvGraphicFramePr>
        <p:xfrm>
          <a:off x="6422242" y="3523410"/>
          <a:ext cx="5003214" cy="19567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7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2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3822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31 de diciembre de 2014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CO" sz="1200" b="0" i="0" u="none" strike="noStrike" dirty="0"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200" b="0" i="0" u="none" strike="noStrike" dirty="0">
                        <a:effectLst/>
                        <a:latin typeface="Verdan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200" b="0" i="0" u="none" strike="noStrike" dirty="0">
                        <a:effectLst/>
                        <a:latin typeface="Verdana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CO" sz="1200" b="0" i="0" u="none" strike="noStrike" dirty="0"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82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Efectivo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 err="1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CxP</a:t>
                      </a:r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82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 err="1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CxC</a:t>
                      </a:r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Deuda LP</a:t>
                      </a:r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82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Inventario Materia Prima</a:t>
                      </a:r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82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Maquinaria</a:t>
                      </a:r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100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Capital Suscrito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822"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6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Utilidad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42B7DAE5-E131-AACF-2A14-66BEDB37BB9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E75A15C-B702-46A8-59A6-70E6E3F8E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75E101E-58A4-C5D0-6D4A-178496687EC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623FAFD-35AA-8EAE-0E0D-5452AA30CC67}"/>
              </a:ext>
            </a:extLst>
          </p:cNvPr>
          <p:cNvSpPr txBox="1"/>
          <p:nvPr/>
        </p:nvSpPr>
        <p:spPr>
          <a:xfrm>
            <a:off x="1669900" y="5644016"/>
            <a:ext cx="3994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WK (2013) = 80 – 25 = 55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8271520-704E-2EE5-6805-80720A4144CA}"/>
              </a:ext>
            </a:extLst>
          </p:cNvPr>
          <p:cNvSpPr txBox="1"/>
          <p:nvPr/>
        </p:nvSpPr>
        <p:spPr>
          <a:xfrm>
            <a:off x="6527762" y="5644015"/>
            <a:ext cx="4612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WK (2014) = 50 - 0 = 50</a:t>
            </a:r>
          </a:p>
        </p:txBody>
      </p:sp>
    </p:spTree>
    <p:extLst>
      <p:ext uri="{BB962C8B-B14F-4D97-AF65-F5344CB8AC3E}">
        <p14:creationId xmlns:p14="http://schemas.microsoft.com/office/powerpoint/2010/main" val="63442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21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2B7DAE5-E131-AACF-2A14-66BEDB37BB9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E75A15C-B702-46A8-59A6-70E6E3F8E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9E2AE7DA-2DDD-BE6E-B1AA-4AD49CAB5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073" y="1975583"/>
            <a:ext cx="10435853" cy="11468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O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¿Cuál es la variación en WK? ¿Qué significa una variación positiva? ¿Negativa?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D177758-187C-9F8C-891C-84EC100B05A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4" name="Table 24">
            <a:extLst>
              <a:ext uri="{FF2B5EF4-FFF2-40B4-BE49-F238E27FC236}">
                <a16:creationId xmlns:a16="http://schemas.microsoft.com/office/drawing/2014/main" id="{2F6926E2-0854-D062-8E25-636AFB8DE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945653"/>
              </p:ext>
            </p:extLst>
          </p:nvPr>
        </p:nvGraphicFramePr>
        <p:xfrm>
          <a:off x="6218364" y="3085302"/>
          <a:ext cx="2904519" cy="3235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FCL (2014)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EBIT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(+) Depreciación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EBITDA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(-) Var WK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-5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66216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(-) CAPEX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86607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(-) Impuesto Operacional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25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6BF9E15D-6528-9F72-14D3-0ABFB3009964}"/>
              </a:ext>
            </a:extLst>
          </p:cNvPr>
          <p:cNvSpPr txBox="1"/>
          <p:nvPr/>
        </p:nvSpPr>
        <p:spPr>
          <a:xfrm>
            <a:off x="2116666" y="4308465"/>
            <a:ext cx="310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∆ WK = 50 – 55 = -5</a:t>
            </a:r>
          </a:p>
        </p:txBody>
      </p:sp>
    </p:spTree>
    <p:extLst>
      <p:ext uri="{BB962C8B-B14F-4D97-AF65-F5344CB8AC3E}">
        <p14:creationId xmlns:p14="http://schemas.microsoft.com/office/powerpoint/2010/main" val="108552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84240" y="2413458"/>
            <a:ext cx="6724881" cy="32906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En conclusión, para corregir los efectos del principio de causación, se utiliza la variación en WK como mecanismo para identificar como fueron los flujos (ingresos y egresos) de efectivo basándose en los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activos y pasivos corrientes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  <a:endParaRPr lang="es-ES" i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22</a:t>
            </a:fld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02D623C-9D90-9D60-C5F0-A694DBC58BA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9DE755AE-CA64-8522-4053-02AE88F2F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A19D28F-C16B-6DFD-E339-29344CE165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06" t="7225" r="5787" b="11595"/>
          <a:stretch/>
        </p:blipFill>
        <p:spPr>
          <a:xfrm>
            <a:off x="8166549" y="2917829"/>
            <a:ext cx="3216223" cy="222421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37923FA-697B-DD58-1A88-2F637D00004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086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23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806200" y="2772729"/>
            <a:ext cx="8540907" cy="329320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Capital de Trabajo en el Estado de la Situación Financiera y en el Estado de Resultados.</a:t>
            </a:r>
            <a:endParaRPr lang="es-ES" sz="1600" dirty="0">
              <a:solidFill>
                <a:schemeClr val="bg2">
                  <a:lumMod val="90000"/>
                </a:schemeClr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CO" sz="1600" dirty="0">
                <a:solidFill>
                  <a:schemeClr val="accent1"/>
                </a:solidFill>
                <a:latin typeface="Century Gothic"/>
                <a:cs typeface="Arial"/>
              </a:rPr>
              <a:t>Capital de Trabajo por Periodo de Cobro, Periodo de Pago y Periodo de Rotación de Inventario.</a:t>
            </a: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Variación de PPE e Intangibles (CAPEX)</a:t>
            </a:r>
            <a:r>
              <a:rPr lang="es-CO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.</a:t>
            </a: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bg2">
                  <a:lumMod val="90000"/>
                </a:schemeClr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CO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Impuesto Ocasional.</a:t>
            </a:r>
            <a:endParaRPr lang="es-CO" sz="1600" dirty="0">
              <a:solidFill>
                <a:schemeClr val="bg2">
                  <a:lumMod val="90000"/>
                </a:schemeClr>
              </a:solidFill>
              <a:latin typeface="Century Gothic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bg2">
                  <a:lumMod val="90000"/>
                </a:schemeClr>
              </a:solidFill>
              <a:latin typeface="Century Gothic"/>
              <a:cs typeface="Arial"/>
            </a:endParaRPr>
          </a:p>
          <a:p>
            <a:pPr algn="just">
              <a:buClr>
                <a:srgbClr val="48BE7A"/>
              </a:buClr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 algn="just">
              <a:buClr>
                <a:srgbClr val="48BE7A"/>
              </a:buClr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algn="just">
              <a:buClr>
                <a:schemeClr val="accent3">
                  <a:lumMod val="75000"/>
                </a:schemeClr>
              </a:buClr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1613D7A-2154-B7C8-0BA3-7A4D6A88B5C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801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44843" y="2595596"/>
            <a:ext cx="11479427" cy="7644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¿Qué pasa si el </a:t>
            </a:r>
            <a:r>
              <a:rPr lang="es-ES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working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 capital se estima por medio de los periodos (en días) de cobro, pago y rotación de inventario?</a:t>
            </a:r>
          </a:p>
          <a:p>
            <a:pPr lvl="1" algn="just"/>
            <a:endParaRPr lang="es-ES" sz="2000" b="1" dirty="0">
              <a:latin typeface="Century Gothic" panose="020B0502020202020204" pitchFamily="34" charset="0"/>
            </a:endParaRPr>
          </a:p>
          <a:p>
            <a:pPr lvl="1" algn="just"/>
            <a:endParaRPr lang="es-ES" sz="2000" b="1" dirty="0">
              <a:latin typeface="Century Gothic" panose="020B0502020202020204" pitchFamily="34" charset="0"/>
            </a:endParaRPr>
          </a:p>
          <a:p>
            <a:pPr algn="just"/>
            <a:endParaRPr lang="es-ES" sz="2000" b="1" dirty="0"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24</a:t>
            </a:fld>
            <a:endParaRPr lang="en-US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899408" y="2720438"/>
            <a:ext cx="10711400" cy="3600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El periodo de cobro, en días, es una forma estándar de expresar el capital de trabajo. Por lo general, este define cada cuenta del capital de trabajo (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CxC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, 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CxP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, Inventarios) </a:t>
            </a:r>
            <a:r>
              <a:rPr lang="es-ES" sz="18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como una proporción de las ventas (o los costos de ventas) del año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4DA20C-C66E-B81A-6AF3-0028633AFFE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999A0806-72C5-EC5A-9FBA-0E9A417F0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A057D1E1-1323-B400-026C-82AE0218CFFC}"/>
                  </a:ext>
                </a:extLst>
              </p:cNvPr>
              <p:cNvSpPr txBox="1"/>
              <p:nvPr/>
            </p:nvSpPr>
            <p:spPr>
              <a:xfrm>
                <a:off x="2629462" y="4059955"/>
                <a:ext cx="7889211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Periodo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cobro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as</m:t>
                          </m:r>
                        </m:e>
                      </m:d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Cuentas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por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cobrar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CXC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Ingresos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Operacionales</m:t>
                          </m:r>
                        </m:den>
                      </m:f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s-ES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ú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mero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s-ES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í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as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en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el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ñ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A057D1E1-1323-B400-026C-82AE0218C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462" y="4059955"/>
                <a:ext cx="7889211" cy="576183"/>
              </a:xfrm>
              <a:prstGeom prst="rect">
                <a:avLst/>
              </a:prstGeom>
              <a:blipFill>
                <a:blip r:embed="rId4"/>
                <a:stretch>
                  <a:fillRect l="-161" t="-6383" b="-1702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C908697-AECE-C080-0919-85D5B1107692}"/>
                  </a:ext>
                </a:extLst>
              </p:cNvPr>
              <p:cNvSpPr txBox="1"/>
              <p:nvPr/>
            </p:nvSpPr>
            <p:spPr>
              <a:xfrm>
                <a:off x="2713619" y="5022748"/>
                <a:ext cx="7720895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Periodo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pago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as</m:t>
                          </m:r>
                        </m:e>
                      </m:d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Cuentas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por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pagar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CXP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Costos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de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Venta</m:t>
                          </m:r>
                        </m:den>
                      </m:f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s-ES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ú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mero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s-ES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í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as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en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el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ñ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C908697-AECE-C080-0919-85D5B1107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619" y="5022748"/>
                <a:ext cx="7720895" cy="527580"/>
              </a:xfrm>
              <a:prstGeom prst="rect">
                <a:avLst/>
              </a:prstGeom>
              <a:blipFill>
                <a:blip r:embed="rId5"/>
                <a:stretch>
                  <a:fillRect l="-164" t="-7143" r="-164" b="-3095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61A71D4-E854-C27B-BC65-F1C2E659FCD1}"/>
                  </a:ext>
                </a:extLst>
              </p:cNvPr>
              <p:cNvSpPr txBox="1"/>
              <p:nvPr/>
            </p:nvSpPr>
            <p:spPr>
              <a:xfrm>
                <a:off x="2873397" y="5936938"/>
                <a:ext cx="7371441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Periodo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inventario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as</m:t>
                          </m:r>
                        </m:e>
                      </m:d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Inventarios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Costos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de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Venta</m:t>
                          </m:r>
                        </m:den>
                      </m:f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s-ES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ú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mero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s-ES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í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as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en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el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ñ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61A71D4-E854-C27B-BC65-F1C2E659F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397" y="5936938"/>
                <a:ext cx="7371441" cy="518604"/>
              </a:xfrm>
              <a:prstGeom prst="rect">
                <a:avLst/>
              </a:prstGeom>
              <a:blipFill>
                <a:blip r:embed="rId6"/>
                <a:stretch>
                  <a:fillRect l="-344" t="-2381" r="-172" b="-2857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>
            <a:extLst>
              <a:ext uri="{FF2B5EF4-FFF2-40B4-BE49-F238E27FC236}">
                <a16:creationId xmlns:a16="http://schemas.microsoft.com/office/drawing/2014/main" id="{C312784A-A8AC-816F-0E6B-04B76CE995D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16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9E513-FC48-594D-3FB8-13CEF6FCA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70813-3048-B88D-DC13-D0E968CF7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C8BE1A-A74F-4847-C7C2-C0EC481E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25</a:t>
            </a:fld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3DCACA2-25A4-17C9-DE74-0F2452599EF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D2EEAC51-2405-B30E-A948-7CE592BF6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191853B-A599-69D8-28A0-107845505AF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62850AC2-D916-558D-3837-3AA187B5C4C2}"/>
              </a:ext>
            </a:extLst>
          </p:cNvPr>
          <p:cNvSpPr txBox="1">
            <a:spLocks/>
          </p:cNvSpPr>
          <p:nvPr/>
        </p:nvSpPr>
        <p:spPr>
          <a:xfrm>
            <a:off x="740300" y="2136238"/>
            <a:ext cx="10711400" cy="3600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En este ejemplo, se tiene una conversión, rotación o días de inventarios de 90 días y de 30 para las 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CxP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. La rotación o días para las 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CxC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 son de 60 días.</a:t>
            </a:r>
          </a:p>
          <a:p>
            <a:pPr marL="0" indent="0" algn="just">
              <a:buNone/>
            </a:pPr>
            <a:endParaRPr lang="es-ES" sz="1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69689DD2-9570-829B-F133-3DF57E96DE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217" t="23807" r="14254" b="14387"/>
          <a:stretch/>
        </p:blipFill>
        <p:spPr>
          <a:xfrm>
            <a:off x="1119002" y="2986209"/>
            <a:ext cx="5146331" cy="3335053"/>
          </a:xfrm>
          <a:prstGeom prst="rect">
            <a:avLst/>
          </a:prstGeom>
        </p:spPr>
      </p:pic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FA72BBC-2383-FFEE-A6D4-2BF491457A61}"/>
              </a:ext>
            </a:extLst>
          </p:cNvPr>
          <p:cNvSpPr/>
          <p:nvPr/>
        </p:nvSpPr>
        <p:spPr>
          <a:xfrm rot="5400000">
            <a:off x="957482" y="4140953"/>
            <a:ext cx="948267" cy="1678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AF7EBDB9-8C71-FD0D-A8F0-053B788B6648}"/>
              </a:ext>
            </a:extLst>
          </p:cNvPr>
          <p:cNvSpPr/>
          <p:nvPr/>
        </p:nvSpPr>
        <p:spPr>
          <a:xfrm rot="5400000">
            <a:off x="1905484" y="5238014"/>
            <a:ext cx="838730" cy="1763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66B1AE06-E529-2287-4CAD-AC8BB04CABCC}"/>
              </a:ext>
            </a:extLst>
          </p:cNvPr>
          <p:cNvSpPr/>
          <p:nvPr/>
        </p:nvSpPr>
        <p:spPr>
          <a:xfrm rot="16200000">
            <a:off x="3630351" y="4140951"/>
            <a:ext cx="948266" cy="1678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C7F08F7D-519F-89D6-6D16-258767780574}"/>
              </a:ext>
            </a:extLst>
          </p:cNvPr>
          <p:cNvSpPr/>
          <p:nvPr/>
        </p:nvSpPr>
        <p:spPr>
          <a:xfrm rot="16200000">
            <a:off x="5349086" y="5195946"/>
            <a:ext cx="948266" cy="1678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BF485289-23E0-9D02-7B67-F12F4B08B9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054" y="3429000"/>
            <a:ext cx="4948925" cy="2038039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B2C863F0-FD30-83CD-17C7-EA5E0BF35085}"/>
              </a:ext>
            </a:extLst>
          </p:cNvPr>
          <p:cNvSpPr txBox="1"/>
          <p:nvPr/>
        </p:nvSpPr>
        <p:spPr>
          <a:xfrm>
            <a:off x="6297719" y="5648963"/>
            <a:ext cx="587143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200" dirty="0"/>
              <a:t>Periodo de Inventario + Periodo de Cobro – Periodo de Pago = Ciclo de efectivo</a:t>
            </a:r>
          </a:p>
        </p:txBody>
      </p:sp>
    </p:spTree>
    <p:extLst>
      <p:ext uri="{BB962C8B-B14F-4D97-AF65-F5344CB8AC3E}">
        <p14:creationId xmlns:p14="http://schemas.microsoft.com/office/powerpoint/2010/main" val="156016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052128"/>
              </p:ext>
            </p:extLst>
          </p:nvPr>
        </p:nvGraphicFramePr>
        <p:xfrm>
          <a:off x="704572" y="2505488"/>
          <a:ext cx="10782855" cy="3390900"/>
        </p:xfrm>
        <a:graphic>
          <a:graphicData uri="http://schemas.openxmlformats.org/drawingml/2006/table">
            <a:tbl>
              <a:tblPr/>
              <a:tblGrid>
                <a:gridCol w="2833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2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6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57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Año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Unidad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Periodo de Inventario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[Días]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Periodo de Cobro 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[Días]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60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45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Periodo de Pago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[Días]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Ventas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Costo de Ventas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l-GR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1" name="Marcador de contenido 2"/>
          <p:cNvSpPr txBox="1">
            <a:spLocks/>
          </p:cNvSpPr>
          <p:nvPr/>
        </p:nvSpPr>
        <p:spPr>
          <a:xfrm>
            <a:off x="596699" y="2002146"/>
            <a:ext cx="8851023" cy="667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Veamos un ejemplo de esta aproximación para estimar el 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working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 capital.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2359D4E-2D4F-E1BB-9D2D-E226DA57443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0CCD6E30-1490-5EDD-D362-DA3AC31F9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FC8423B-6C7E-E1EB-9D4C-FF53D284450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219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 panose="020B0502020202020204" pitchFamily="34" charset="0"/>
              </a:rPr>
              <a:t>Capital de Trabajo (WC)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388237"/>
              </p:ext>
            </p:extLst>
          </p:nvPr>
        </p:nvGraphicFramePr>
        <p:xfrm>
          <a:off x="704572" y="2565237"/>
          <a:ext cx="10782855" cy="3390900"/>
        </p:xfrm>
        <a:graphic>
          <a:graphicData uri="http://schemas.openxmlformats.org/drawingml/2006/table">
            <a:tbl>
              <a:tblPr/>
              <a:tblGrid>
                <a:gridCol w="2903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4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40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Año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Unidad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Periodo de Inventario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[Días]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Periodo de Cobro 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[Días]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60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45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Periodo de Pago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[Días]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Ventas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Costo de Ventas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Inventario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29,2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38,9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CxC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166,7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125,0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CxP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WC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137,5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105,6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ΔWC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137,5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-31,9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-22,2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E2371FC6-14A0-3C6C-A869-C86D7133AB6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D5C19DE2-776A-76A2-B538-E5AFE9846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436F6F9F-412B-4136-EE25-546FDE59EC26}"/>
              </a:ext>
            </a:extLst>
          </p:cNvPr>
          <p:cNvSpPr txBox="1">
            <a:spLocks/>
          </p:cNvSpPr>
          <p:nvPr/>
        </p:nvSpPr>
        <p:spPr>
          <a:xfrm>
            <a:off x="596699" y="2002146"/>
            <a:ext cx="8851023" cy="667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Veamos un ejemplo de esta aproximación para estimar el 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working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 capital.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B6BD33E-B76F-A5CF-DC71-DB5AE69EB1C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088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439413"/>
              </p:ext>
            </p:extLst>
          </p:nvPr>
        </p:nvGraphicFramePr>
        <p:xfrm>
          <a:off x="641965" y="2562890"/>
          <a:ext cx="10782855" cy="3390900"/>
        </p:xfrm>
        <a:graphic>
          <a:graphicData uri="http://schemas.openxmlformats.org/drawingml/2006/table">
            <a:tbl>
              <a:tblPr/>
              <a:tblGrid>
                <a:gridCol w="2880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6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1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05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Año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Unidad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Periodo de Inventario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[Días]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20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Periodo de Cobro 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[Días]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60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45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Periodo de Pago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[Días]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Ventas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Costo de Ventas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Inventario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29,2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38,9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CxC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166,7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125,0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CxP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WC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137,5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105,6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ΔWC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137,5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-31,9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-22,2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1" name="Marcador de contenido 2"/>
          <p:cNvSpPr txBox="1">
            <a:spLocks/>
          </p:cNvSpPr>
          <p:nvPr/>
        </p:nvSpPr>
        <p:spPr>
          <a:xfrm>
            <a:off x="121801" y="1932537"/>
            <a:ext cx="9096340" cy="667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¿Y sí se asume que al final del periodo se recupera el capital de trabajo?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0A2D435-D698-0568-E5CB-21F3CA6A976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68FC2BF7-A7C9-6F7D-0C8F-0263481AE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0B9827F-6345-9F94-47DF-3F504A70421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495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Capital de Trabajo (WC)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369833"/>
              </p:ext>
            </p:extLst>
          </p:nvPr>
        </p:nvGraphicFramePr>
        <p:xfrm>
          <a:off x="879281" y="2477865"/>
          <a:ext cx="10553840" cy="3390900"/>
        </p:xfrm>
        <a:graphic>
          <a:graphicData uri="http://schemas.openxmlformats.org/drawingml/2006/table">
            <a:tbl>
              <a:tblPr/>
              <a:tblGrid>
                <a:gridCol w="2706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9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1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54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Año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Unidad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Periodo de Inventario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[Días]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Periodo de Cobro 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[Días]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60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45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Periodo de Pago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[Días]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Ventas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1.000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Costo de Ventas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700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Inventario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29,2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38,9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CxC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166,7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125,0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CxP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WC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137,5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105,6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83,3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1212">
                <a:tc>
                  <a:txBody>
                    <a:bodyPr/>
                    <a:lstStyle/>
                    <a:p>
                      <a:pPr algn="ctr" fontAlgn="b"/>
                      <a:r>
                        <a:rPr lang="el-G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ΔWC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[COP]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137,5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-31,9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-22,2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-83,3</a:t>
                      </a:r>
                    </a:p>
                  </a:txBody>
                  <a:tcPr marL="12700" marR="12700" marT="12700" marB="0" anchor="b"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A726DDDD-64DF-7A6E-4F44-65AFE8FBCE0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0185711B-40D5-E32D-6F78-A61C2E3A5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3E904D5-07AC-8749-16BA-AB8473EBB81A}"/>
              </a:ext>
            </a:extLst>
          </p:cNvPr>
          <p:cNvSpPr txBox="1">
            <a:spLocks/>
          </p:cNvSpPr>
          <p:nvPr/>
        </p:nvSpPr>
        <p:spPr>
          <a:xfrm>
            <a:off x="121801" y="1932537"/>
            <a:ext cx="9096340" cy="667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¿Y sí se asume que al final del periodo se recupera el capital de trabajo?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B5BB662-4A05-88D7-E635-B4F6F127811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483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4B32-DAE5-7F1B-D04F-58E0B8B1F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12423-6CF5-D831-9A83-D3FD33DD5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C4B81E-E9DF-CCE7-DF03-65C13E00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30</a:t>
            </a:fld>
            <a:endParaRPr lang="en-US" sz="1400" b="1" dirty="0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6BE4E30A-70E8-DFB3-A893-A5D37869D3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97D173C-E1FC-8D09-1360-9BDF4DF2C16E}"/>
              </a:ext>
            </a:extLst>
          </p:cNvPr>
          <p:cNvSpPr/>
          <p:nvPr/>
        </p:nvSpPr>
        <p:spPr>
          <a:xfrm>
            <a:off x="2806200" y="2772729"/>
            <a:ext cx="8540907" cy="329320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Capital de Trabajo en el Estado de la Situación Financiera y en el Estado de Resultados.</a:t>
            </a:r>
            <a:endParaRPr lang="es-ES" sz="1600" dirty="0">
              <a:solidFill>
                <a:schemeClr val="bg2">
                  <a:lumMod val="90000"/>
                </a:schemeClr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CO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Capital de Trabajo por Periodo de Cobro, Periodo de Pago y Periodo de Rotación de Inventario.</a:t>
            </a: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Variación de PPE e Intangibles (CAPEX).</a:t>
            </a: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CO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Impuesto Ocasional.</a:t>
            </a:r>
            <a:endParaRPr lang="es-CO" sz="1600" dirty="0">
              <a:solidFill>
                <a:schemeClr val="bg2">
                  <a:lumMod val="90000"/>
                </a:schemeClr>
              </a:solidFill>
              <a:latin typeface="Century Gothic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algn="just">
              <a:buClr>
                <a:srgbClr val="48BE7A"/>
              </a:buClr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 algn="just">
              <a:buClr>
                <a:srgbClr val="48BE7A"/>
              </a:buClr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algn="just">
              <a:buClr>
                <a:schemeClr val="accent3">
                  <a:lumMod val="75000"/>
                </a:schemeClr>
              </a:buClr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72CE3BA-8226-3DDF-9581-7C33689ED43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680CB6BA-E2B2-AFA1-4379-007857CF5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37E6632-4BB6-1143-081B-B4D72A52862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44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CA800-8950-DA7C-BC24-BD7836804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961A6-F371-0E87-23EB-B19B5BDB8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Variación de PPE e Intangibles (CAPEX)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72A6942-F13E-5E8F-72DC-0C308A1CA27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3D08C5C3-4EEB-A527-A2A8-91B96FFAA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8B58ECC-9F83-0131-0468-64C13917E1E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F6B6BF-23D7-C334-A42F-9B1481272820}"/>
              </a:ext>
            </a:extLst>
          </p:cNvPr>
          <p:cNvGrpSpPr>
            <a:grpSpLocks/>
          </p:cNvGrpSpPr>
          <p:nvPr/>
        </p:nvGrpSpPr>
        <p:grpSpPr bwMode="auto">
          <a:xfrm>
            <a:off x="8284655" y="5005731"/>
            <a:ext cx="3568677" cy="875551"/>
            <a:chOff x="-296955" y="-417449"/>
            <a:chExt cx="2310205" cy="876345"/>
          </a:xfrm>
        </p:grpSpPr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B740FBE1-EC5E-C7B7-2B6C-7912A53B6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89" y="-417449"/>
              <a:ext cx="1571861" cy="87634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9BBB59"/>
            </a:solidFill>
            <a:ln w="25400" cap="flat" cmpd="sng">
              <a:solidFill>
                <a:srgbClr val="71884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/>
              <a:endParaRPr lang="es-ES" sz="1400" b="1" dirty="0">
                <a:solidFill>
                  <a:srgbClr val="404040"/>
                </a:solidFill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4089CEC5-78BC-5911-9E51-6FE84450D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296955" y="156872"/>
              <a:ext cx="673023" cy="1983"/>
            </a:xfrm>
            <a:prstGeom prst="line">
              <a:avLst/>
            </a:prstGeom>
            <a:noFill/>
            <a:ln w="25400" cap="flat" cmpd="sng">
              <a:solidFill>
                <a:srgbClr val="71884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es-ES" sz="1600" dirty="0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10" name="AutoShape 7">
              <a:extLst>
                <a:ext uri="{FF2B5EF4-FFF2-40B4-BE49-F238E27FC236}">
                  <a16:creationId xmlns:a16="http://schemas.microsoft.com/office/drawing/2014/main" id="{5F8760DB-A279-CC68-2165-8F8D3D2AF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502" y="-417449"/>
              <a:ext cx="1571862" cy="87634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es-ES" sz="1400" b="1" dirty="0">
                  <a:solidFill>
                    <a:srgbClr val="404040"/>
                  </a:solidFill>
                </a:rPr>
                <a:t>Ajusta por el principio de pertinencia para que refleje las inversiones y desinversiones.</a:t>
              </a:r>
              <a:endParaRPr lang="es-ES" sz="1400" dirty="0"/>
            </a:p>
          </p:txBody>
        </p:sp>
      </p:grpSp>
      <p:sp>
        <p:nvSpPr>
          <p:cNvPr id="11" name="Marcador de número de diapositiva 3">
            <a:extLst>
              <a:ext uri="{FF2B5EF4-FFF2-40B4-BE49-F238E27FC236}">
                <a16:creationId xmlns:a16="http://schemas.microsoft.com/office/drawing/2014/main" id="{1EF909ED-C8BF-1B36-7F45-4B64630F0573}"/>
              </a:ext>
            </a:extLst>
          </p:cNvPr>
          <p:cNvSpPr txBox="1">
            <a:spLocks/>
          </p:cNvSpPr>
          <p:nvPr/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31</a:t>
            </a:fld>
            <a:endParaRPr lang="en-US" sz="1400" b="1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481BB51-4A5C-8DB0-9653-98511B840C47}"/>
              </a:ext>
            </a:extLst>
          </p:cNvPr>
          <p:cNvGrpSpPr/>
          <p:nvPr/>
        </p:nvGrpSpPr>
        <p:grpSpPr>
          <a:xfrm>
            <a:off x="2208718" y="1939627"/>
            <a:ext cx="6015174" cy="2206595"/>
            <a:chOff x="1804678" y="1905759"/>
            <a:chExt cx="5403850" cy="2206595"/>
          </a:xfrm>
        </p:grpSpPr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050E4278-C238-1367-0AEC-01C70AA7E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678" y="1905759"/>
              <a:ext cx="5403850" cy="220659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45719" tIns="45719" rIns="45719" bIns="45719"/>
            <a:lstStyle/>
            <a:p>
              <a:pPr lvl="1">
                <a:lnSpc>
                  <a:spcPct val="120000"/>
                </a:lnSpc>
              </a:pPr>
              <a:endParaRPr lang="es-ES" sz="900" dirty="0">
                <a:cs typeface="Arial" charset="0"/>
                <a:sym typeface="Arial" charset="0"/>
              </a:endParaRP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(+) Ingresos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(-)  Costos de Venta</a:t>
              </a:r>
            </a:p>
            <a:p>
              <a:pPr lvl="1">
                <a:lnSpc>
                  <a:spcPct val="120000"/>
                </a:lnSpc>
              </a:pPr>
              <a:endParaRPr lang="es-ES" sz="400" b="1" dirty="0">
                <a:solidFill>
                  <a:srgbClr val="C00000"/>
                </a:solidFill>
                <a:cs typeface="Arial" charset="0"/>
                <a:sym typeface="Arial" charset="0"/>
              </a:endParaRPr>
            </a:p>
            <a:p>
              <a:pPr lvl="1">
                <a:lnSpc>
                  <a:spcPct val="120000"/>
                </a:lnSpc>
              </a:pP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      Utilidad Bruta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(-)  Gastos AOM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(-)  Depreciaciones &amp; Amortizaciones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      EBIT (UAII)</a:t>
              </a:r>
              <a:endParaRPr lang="es-ES" sz="2000" dirty="0">
                <a:solidFill>
                  <a:srgbClr val="C00000"/>
                </a:solidFill>
                <a:cs typeface="Arial" charset="0"/>
                <a:sym typeface="Arial" charset="0"/>
              </a:endParaRPr>
            </a:p>
            <a:p>
              <a:pPr lvl="1">
                <a:lnSpc>
                  <a:spcPct val="120000"/>
                </a:lnSpc>
              </a:pPr>
              <a:endParaRPr lang="es-ES" sz="2000" dirty="0">
                <a:cs typeface="Arial" charset="0"/>
                <a:sym typeface="Arial" charset="0"/>
              </a:endParaRPr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FF711E4E-FE2F-47F1-4D09-16F832D690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4104" y="2843228"/>
              <a:ext cx="3640132" cy="44285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 dirty="0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3EFCB77B-6FB1-2170-E987-E1B55D8DC8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0446" y="4011003"/>
              <a:ext cx="3602032" cy="25948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 dirty="0">
                <a:latin typeface="Helvetica" charset="0"/>
                <a:cs typeface="Helvetica" charset="0"/>
                <a:sym typeface="Helvetica" charset="0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70B4ED6-EDE5-CC7F-1CAB-2A3E4CAC1A57}"/>
              </a:ext>
            </a:extLst>
          </p:cNvPr>
          <p:cNvGrpSpPr/>
          <p:nvPr/>
        </p:nvGrpSpPr>
        <p:grpSpPr>
          <a:xfrm>
            <a:off x="2554562" y="4022048"/>
            <a:ext cx="5770018" cy="2365953"/>
            <a:chOff x="2150522" y="3988180"/>
            <a:chExt cx="5770018" cy="2365953"/>
          </a:xfrm>
        </p:grpSpPr>
        <p:sp>
          <p:nvSpPr>
            <p:cNvPr id="16" name="AutoShape 1">
              <a:extLst>
                <a:ext uri="{FF2B5EF4-FFF2-40B4-BE49-F238E27FC236}">
                  <a16:creationId xmlns:a16="http://schemas.microsoft.com/office/drawing/2014/main" id="{EF954A61-6F8E-AEBA-D62B-B44049227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522" y="3988180"/>
              <a:ext cx="5770018" cy="220659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45719" tIns="45719" rIns="45719" bIns="45719" anchor="t"/>
            <a:lstStyle/>
            <a:p>
              <a:pPr lvl="1"/>
              <a:endParaRPr lang="es-ES" sz="300" dirty="0">
                <a:solidFill>
                  <a:schemeClr val="accent1"/>
                </a:solidFill>
                <a:cs typeface="Arial" charset="0"/>
                <a:sym typeface="Arial" charset="0"/>
              </a:endParaRPr>
            </a:p>
            <a:p>
              <a:r>
                <a:rPr lang="es-ES" sz="2000" dirty="0">
                  <a:cs typeface="Arial" charset="0"/>
                  <a:sym typeface="Arial" charset="0"/>
                </a:rPr>
                <a:t>     </a:t>
              </a:r>
            </a:p>
            <a:p>
              <a:r>
                <a:rPr lang="es-ES" sz="2000" dirty="0">
                  <a:cs typeface="Arial" charset="0"/>
                  <a:sym typeface="Arial" charset="0"/>
                </a:rPr>
                <a:t>       (+) Depreciaciones &amp; Amortizaciones</a:t>
              </a:r>
            </a:p>
            <a:p>
              <a:endParaRPr lang="es-ES" sz="100" dirty="0">
                <a:solidFill>
                  <a:schemeClr val="accent1"/>
                </a:solidFill>
                <a:cs typeface="Arial" charset="0"/>
                <a:sym typeface="Arial" charset="0"/>
              </a:endParaRPr>
            </a:p>
            <a:p>
              <a:r>
                <a:rPr lang="es-ES" sz="2000" dirty="0">
                  <a:solidFill>
                    <a:schemeClr val="accent1"/>
                  </a:solidFill>
                  <a:cs typeface="Arial" charset="0"/>
                  <a:sym typeface="Arial" charset="0"/>
                </a:rPr>
                <a:t>        </a:t>
              </a: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EBITDA</a:t>
              </a:r>
              <a:endParaRPr lang="es-ES" sz="2000" dirty="0">
                <a:solidFill>
                  <a:srgbClr val="C00000"/>
                </a:solidFill>
                <a:cs typeface="Arial" charset="0"/>
                <a:sym typeface="Arial" charset="0"/>
              </a:endParaRPr>
            </a:p>
            <a:p>
              <a:endParaRPr lang="es-ES" sz="400" dirty="0">
                <a:cs typeface="Arial" charset="0"/>
                <a:sym typeface="Arial" charset="0"/>
              </a:endParaRPr>
            </a:p>
            <a:p>
              <a:r>
                <a:rPr lang="es-ES" sz="2000" dirty="0">
                  <a:cs typeface="Arial" charset="0"/>
                  <a:sym typeface="Arial" charset="0"/>
                </a:rPr>
                <a:t>       (-)  Variación en WK</a:t>
              </a:r>
            </a:p>
            <a:p>
              <a:r>
                <a:rPr lang="es-ES" sz="2000" dirty="0">
                  <a:cs typeface="Arial" charset="0"/>
                  <a:sym typeface="Arial" charset="0"/>
                </a:rPr>
                <a:t>       (-)  Variación de PPE e intangibles (CAPEX)</a:t>
              </a:r>
            </a:p>
            <a:p>
              <a:r>
                <a:rPr lang="es-ES" sz="2000" dirty="0">
                  <a:cs typeface="Arial"/>
                  <a:sym typeface="Arial" charset="0"/>
                </a:rPr>
                <a:t>       (-)  Impuesto Operacional (EBIT • Tasa Imp)</a:t>
              </a:r>
              <a:br>
                <a:rPr lang="es-ES" sz="2000" dirty="0">
                  <a:cs typeface="Arial" charset="0"/>
                </a:rPr>
              </a:br>
              <a:r>
                <a:rPr lang="es-ES" sz="2000">
                  <a:cs typeface="Arial"/>
                  <a:sym typeface="Arial" charset="0"/>
                </a:rPr>
                <a:t>       (-)  Impuesto por Ganancia/Pérdida Ocasional</a:t>
              </a:r>
              <a:endParaRPr lang="es-ES" sz="2000">
                <a:cs typeface="Arial"/>
              </a:endParaRPr>
            </a:p>
            <a:p>
              <a:endParaRPr lang="es-ES" sz="900" dirty="0">
                <a:solidFill>
                  <a:schemeClr val="accent1"/>
                </a:solidFill>
                <a:cs typeface="Arial" charset="0"/>
                <a:sym typeface="Arial" charset="0"/>
              </a:endParaRPr>
            </a:p>
            <a:p>
              <a:r>
                <a:rPr lang="es-ES" sz="2000" b="1" dirty="0">
                  <a:solidFill>
                    <a:schemeClr val="accent1"/>
                  </a:solidFill>
                  <a:cs typeface="Arial" charset="0"/>
                  <a:sym typeface="Arial" charset="0"/>
                </a:rPr>
                <a:t>       </a:t>
              </a: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Flujo de Caja Libre (FCL)</a:t>
              </a:r>
            </a:p>
          </p:txBody>
        </p:sp>
        <p:sp>
          <p:nvSpPr>
            <p:cNvPr id="17" name="Line 2">
              <a:extLst>
                <a:ext uri="{FF2B5EF4-FFF2-40B4-BE49-F238E27FC236}">
                  <a16:creationId xmlns:a16="http://schemas.microsoft.com/office/drawing/2014/main" id="{3EDA4307-E8EB-3E63-F518-9B1765B1E8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7281" y="5037125"/>
              <a:ext cx="3981034" cy="12698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18" name="Line 3">
              <a:extLst>
                <a:ext uri="{FF2B5EF4-FFF2-40B4-BE49-F238E27FC236}">
                  <a16:creationId xmlns:a16="http://schemas.microsoft.com/office/drawing/2014/main" id="{AB91391E-23A2-7E4B-2182-1A53A573F9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111" y="6341435"/>
              <a:ext cx="4004204" cy="12698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>
                <a:latin typeface="Helvetica" charset="0"/>
                <a:cs typeface="Helvetica" charset="0"/>
                <a:sym typeface="Helvetica" charset="0"/>
              </a:endParaRPr>
            </a:p>
          </p:txBody>
        </p:sp>
      </p:grpSp>
      <p:sp>
        <p:nvSpPr>
          <p:cNvPr id="19" name="Abrir llave 18">
            <a:extLst>
              <a:ext uri="{FF2B5EF4-FFF2-40B4-BE49-F238E27FC236}">
                <a16:creationId xmlns:a16="http://schemas.microsoft.com/office/drawing/2014/main" id="{728FE288-73DE-3DB4-0D19-BBF68E4AEE2A}"/>
              </a:ext>
            </a:extLst>
          </p:cNvPr>
          <p:cNvSpPr/>
          <p:nvPr/>
        </p:nvSpPr>
        <p:spPr>
          <a:xfrm>
            <a:off x="2482788" y="2253085"/>
            <a:ext cx="205356" cy="2160079"/>
          </a:xfrm>
          <a:prstGeom prst="leftBrac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FFAF2FF-5A29-5E75-BF6D-DD9992B64397}"/>
              </a:ext>
            </a:extLst>
          </p:cNvPr>
          <p:cNvSpPr txBox="1"/>
          <p:nvPr/>
        </p:nvSpPr>
        <p:spPr>
          <a:xfrm>
            <a:off x="531363" y="2855425"/>
            <a:ext cx="2005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chemeClr val="accent1"/>
                </a:solidFill>
                <a:latin typeface="Century Gothic"/>
              </a:rPr>
              <a:t>Estado de Resultados</a:t>
            </a:r>
          </a:p>
        </p:txBody>
      </p:sp>
      <p:sp>
        <p:nvSpPr>
          <p:cNvPr id="21" name="Abrir llave 20">
            <a:extLst>
              <a:ext uri="{FF2B5EF4-FFF2-40B4-BE49-F238E27FC236}">
                <a16:creationId xmlns:a16="http://schemas.microsoft.com/office/drawing/2014/main" id="{ABCCCA07-CF42-3FB7-6198-F440A1EE38BE}"/>
              </a:ext>
            </a:extLst>
          </p:cNvPr>
          <p:cNvSpPr/>
          <p:nvPr/>
        </p:nvSpPr>
        <p:spPr>
          <a:xfrm>
            <a:off x="2469046" y="4472378"/>
            <a:ext cx="219098" cy="1971644"/>
          </a:xfrm>
          <a:prstGeom prst="leftBrac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78E6468-A8D2-BC0E-C948-96B1EA829501}"/>
              </a:ext>
            </a:extLst>
          </p:cNvPr>
          <p:cNvSpPr txBox="1"/>
          <p:nvPr/>
        </p:nvSpPr>
        <p:spPr>
          <a:xfrm>
            <a:off x="531363" y="5161142"/>
            <a:ext cx="2005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chemeClr val="accent1"/>
                </a:solidFill>
                <a:latin typeface="Century Gothic"/>
              </a:rPr>
              <a:t>Flujo de Caja Libre</a:t>
            </a:r>
          </a:p>
        </p:txBody>
      </p:sp>
    </p:spTree>
    <p:extLst>
      <p:ext uri="{BB962C8B-B14F-4D97-AF65-F5344CB8AC3E}">
        <p14:creationId xmlns:p14="http://schemas.microsoft.com/office/powerpoint/2010/main" val="139275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87069" y="2285370"/>
            <a:ext cx="9017861" cy="3670767"/>
          </a:xfrm>
        </p:spPr>
        <p:txBody>
          <a:bodyPr>
            <a:normAutofit/>
          </a:bodyPr>
          <a:lstStyle/>
          <a:p>
            <a:pPr algn="just">
              <a:buFont typeface="Arial"/>
              <a:buChar char="•"/>
            </a:pPr>
            <a:r>
              <a:rPr lang="es-ES" dirty="0">
                <a:solidFill>
                  <a:schemeClr val="accent1"/>
                </a:solidFill>
                <a:latin typeface="Century Gothic"/>
              </a:rPr>
              <a:t>El CAPEX (Capital </a:t>
            </a:r>
            <a:r>
              <a:rPr lang="es-ES" dirty="0" err="1">
                <a:solidFill>
                  <a:schemeClr val="accent1"/>
                </a:solidFill>
                <a:latin typeface="Century Gothic"/>
              </a:rPr>
              <a:t>Expenditures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) hacer referencia a la compra y venta de Propiedad, Planta y Equipo e Activos Intangibles de una firma o un proyecto de inversión. </a:t>
            </a:r>
          </a:p>
          <a:p>
            <a:pPr algn="just">
              <a:buFont typeface="Arial"/>
              <a:buChar char="•"/>
            </a:pPr>
            <a:endParaRPr lang="es-ES" dirty="0">
              <a:solidFill>
                <a:schemeClr val="accent1"/>
              </a:solidFill>
              <a:latin typeface="Century Gothic"/>
            </a:endParaRPr>
          </a:p>
          <a:p>
            <a:pPr algn="just">
              <a:buFont typeface="Arial"/>
              <a:buChar char="•"/>
            </a:pPr>
            <a:r>
              <a:rPr lang="es-ES" dirty="0">
                <a:solidFill>
                  <a:schemeClr val="accent1"/>
                </a:solidFill>
                <a:latin typeface="Century Gothic"/>
              </a:rPr>
              <a:t>Este es un ajuste adicional a la Utilidad Operacional (EBIT) para incorporar movimientos de caja que no se evidencian en el Estado de Resultados.</a:t>
            </a:r>
          </a:p>
          <a:p>
            <a:pPr algn="just">
              <a:buFont typeface="Arial"/>
              <a:buChar char="•"/>
            </a:pPr>
            <a:endParaRPr lang="es-ES" sz="2200" dirty="0">
              <a:solidFill>
                <a:schemeClr val="accent1"/>
              </a:solidFill>
            </a:endParaRPr>
          </a:p>
          <a:p>
            <a:pPr algn="just">
              <a:buFont typeface="Arial"/>
              <a:buChar char="•"/>
            </a:pPr>
            <a:endParaRPr lang="es-ES" sz="2200" dirty="0">
              <a:solidFill>
                <a:schemeClr val="accent1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32</a:t>
            </a:fld>
            <a:endParaRPr lang="en-US" sz="1800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A0A8E4A7-DFE5-FF41-2EE3-4B955E2B3169}"/>
              </a:ext>
            </a:extLst>
          </p:cNvPr>
          <p:cNvGrpSpPr/>
          <p:nvPr/>
        </p:nvGrpSpPr>
        <p:grpSpPr>
          <a:xfrm>
            <a:off x="0" y="12287"/>
            <a:ext cx="12192000" cy="367433"/>
            <a:chOff x="0" y="12287"/>
            <a:chExt cx="12192000" cy="367433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5289628F-C09B-C94F-E907-7A0F6532B7FD}"/>
                </a:ext>
              </a:extLst>
            </p:cNvPr>
            <p:cNvSpPr/>
            <p:nvPr/>
          </p:nvSpPr>
          <p:spPr>
            <a:xfrm>
              <a:off x="1066395" y="12287"/>
              <a:ext cx="11125605" cy="3475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13" name="Picture 6" descr="Resultado de imagen para universidad de los andes LOGO">
              <a:extLst>
                <a:ext uri="{FF2B5EF4-FFF2-40B4-BE49-F238E27FC236}">
                  <a16:creationId xmlns:a16="http://schemas.microsoft.com/office/drawing/2014/main" id="{9303BFAC-AB77-26FB-D750-C3F4F0C9F8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5" t="24006" r="7786" b="27603"/>
            <a:stretch/>
          </p:blipFill>
          <p:spPr bwMode="auto">
            <a:xfrm>
              <a:off x="0" y="21812"/>
              <a:ext cx="1074148" cy="347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B7A44B4B-28D7-9FA5-0F6C-D04044D74324}"/>
                </a:ext>
              </a:extLst>
            </p:cNvPr>
            <p:cNvSpPr/>
            <p:nvPr/>
          </p:nvSpPr>
          <p:spPr>
            <a:xfrm>
              <a:off x="1471540" y="118110"/>
              <a:ext cx="272542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CO" sz="1100" b="1" dirty="0">
                  <a:solidFill>
                    <a:schemeClr val="accent2">
                      <a:lumMod val="50000"/>
                    </a:schemeClr>
                  </a:solidFill>
                  <a:sym typeface="Gill Sans Light"/>
                </a:rPr>
                <a:t>Departamento de Ingeniería Industrial</a:t>
              </a:r>
              <a:endParaRPr lang="es-CO" sz="11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2D5767F-FA54-8FF4-D46E-C40D55E9227C}"/>
                </a:ext>
              </a:extLst>
            </p:cNvPr>
            <p:cNvSpPr/>
            <p:nvPr/>
          </p:nvSpPr>
          <p:spPr>
            <a:xfrm>
              <a:off x="5485209" y="102867"/>
              <a:ext cx="244009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CO" sz="1100" b="1" dirty="0">
                  <a:solidFill>
                    <a:schemeClr val="accent2">
                      <a:lumMod val="50000"/>
                    </a:schemeClr>
                  </a:solidFill>
                  <a:sym typeface="Gill Sans Light"/>
                </a:rPr>
                <a:t>Curso</a:t>
              </a:r>
              <a:r>
                <a:rPr lang="es-CO" sz="1100" dirty="0">
                  <a:solidFill>
                    <a:schemeClr val="accent2">
                      <a:lumMod val="50000"/>
                    </a:schemeClr>
                  </a:solidFill>
                  <a:sym typeface="Gill Sans Light"/>
                </a:rPr>
                <a:t> Análisis de Decisión de Inversión</a:t>
              </a:r>
              <a:endParaRPr lang="es-CO" sz="11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9111F70-0CF1-7C8D-F0D9-3F91BBB23DC1}"/>
                </a:ext>
              </a:extLst>
            </p:cNvPr>
            <p:cNvSpPr/>
            <p:nvPr/>
          </p:nvSpPr>
          <p:spPr>
            <a:xfrm>
              <a:off x="9095303" y="118110"/>
              <a:ext cx="264207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CO" sz="1100" b="1" dirty="0">
                  <a:solidFill>
                    <a:schemeClr val="accent2">
                      <a:lumMod val="50000"/>
                    </a:schemeClr>
                  </a:solidFill>
                  <a:sym typeface="Gill Sans Light"/>
                </a:rPr>
                <a:t>Profesora</a:t>
              </a:r>
              <a:r>
                <a:rPr lang="es-CO" sz="1100" dirty="0">
                  <a:solidFill>
                    <a:schemeClr val="accent2">
                      <a:lumMod val="50000"/>
                    </a:schemeClr>
                  </a:solidFill>
                  <a:sym typeface="Gill Sans Light"/>
                </a:rPr>
                <a:t> María Fernanda Valero Sánchez</a:t>
              </a:r>
              <a:endParaRPr lang="es-CO" sz="11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sp>
        <p:nvSpPr>
          <p:cNvPr id="8" name="Título 1">
            <a:extLst>
              <a:ext uri="{FF2B5EF4-FFF2-40B4-BE49-F238E27FC236}">
                <a16:creationId xmlns:a16="http://schemas.microsoft.com/office/drawing/2014/main" id="{EB605574-82ED-AD98-0C11-CADF2401B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 dirty="0">
                <a:latin typeface="Century Gothic"/>
              </a:rPr>
              <a:t>Variación de PPE e Intangibles (CAPEX)</a:t>
            </a:r>
          </a:p>
        </p:txBody>
      </p:sp>
    </p:spTree>
    <p:extLst>
      <p:ext uri="{BB962C8B-B14F-4D97-AF65-F5344CB8AC3E}">
        <p14:creationId xmlns:p14="http://schemas.microsoft.com/office/powerpoint/2010/main" val="34857036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4DB0-AA9E-22A6-8A6E-52D73637C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EBB32B-36FE-E4F1-FBB6-4651D18D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33</a:t>
            </a:fld>
            <a:endParaRPr lang="en-US" sz="1800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7E5BAE5D-41C1-052E-1CF7-56673C1B6916}"/>
              </a:ext>
            </a:extLst>
          </p:cNvPr>
          <p:cNvGrpSpPr/>
          <p:nvPr/>
        </p:nvGrpSpPr>
        <p:grpSpPr>
          <a:xfrm>
            <a:off x="0" y="12287"/>
            <a:ext cx="12192000" cy="367433"/>
            <a:chOff x="0" y="12287"/>
            <a:chExt cx="12192000" cy="367433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9224356-421A-5FE9-B9B3-37E9096587E1}"/>
                </a:ext>
              </a:extLst>
            </p:cNvPr>
            <p:cNvSpPr/>
            <p:nvPr/>
          </p:nvSpPr>
          <p:spPr>
            <a:xfrm>
              <a:off x="1066395" y="12287"/>
              <a:ext cx="11125605" cy="3475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13" name="Picture 6" descr="Resultado de imagen para universidad de los andes LOGO">
              <a:extLst>
                <a:ext uri="{FF2B5EF4-FFF2-40B4-BE49-F238E27FC236}">
                  <a16:creationId xmlns:a16="http://schemas.microsoft.com/office/drawing/2014/main" id="{6BCB0FED-23DE-9810-6E5F-2CE1CE7B5C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5" t="24006" r="7786" b="27603"/>
            <a:stretch/>
          </p:blipFill>
          <p:spPr bwMode="auto">
            <a:xfrm>
              <a:off x="0" y="21812"/>
              <a:ext cx="1074148" cy="347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D78B9B5-DCBD-4520-26F3-57E343BCEF67}"/>
                </a:ext>
              </a:extLst>
            </p:cNvPr>
            <p:cNvSpPr/>
            <p:nvPr/>
          </p:nvSpPr>
          <p:spPr>
            <a:xfrm>
              <a:off x="1471540" y="118110"/>
              <a:ext cx="272542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CO" sz="1100" b="1" dirty="0">
                  <a:solidFill>
                    <a:schemeClr val="accent2">
                      <a:lumMod val="50000"/>
                    </a:schemeClr>
                  </a:solidFill>
                  <a:sym typeface="Gill Sans Light"/>
                </a:rPr>
                <a:t>Departamento de Ingeniería Industrial</a:t>
              </a:r>
              <a:endParaRPr lang="es-CO" sz="11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3DC4F738-65B9-209A-90E8-E82BFEEE4C09}"/>
                </a:ext>
              </a:extLst>
            </p:cNvPr>
            <p:cNvSpPr/>
            <p:nvPr/>
          </p:nvSpPr>
          <p:spPr>
            <a:xfrm>
              <a:off x="5485209" y="102867"/>
              <a:ext cx="244009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CO" sz="1100" b="1" dirty="0">
                  <a:solidFill>
                    <a:schemeClr val="accent2">
                      <a:lumMod val="50000"/>
                    </a:schemeClr>
                  </a:solidFill>
                  <a:sym typeface="Gill Sans Light"/>
                </a:rPr>
                <a:t>Curso</a:t>
              </a:r>
              <a:r>
                <a:rPr lang="es-CO" sz="1100" dirty="0">
                  <a:solidFill>
                    <a:schemeClr val="accent2">
                      <a:lumMod val="50000"/>
                    </a:schemeClr>
                  </a:solidFill>
                  <a:sym typeface="Gill Sans Light"/>
                </a:rPr>
                <a:t> Análisis de Decisión de Inversión</a:t>
              </a:r>
              <a:endParaRPr lang="es-CO" sz="11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568BB2E2-7497-4E85-B844-B20A65D8DCDC}"/>
                </a:ext>
              </a:extLst>
            </p:cNvPr>
            <p:cNvSpPr/>
            <p:nvPr/>
          </p:nvSpPr>
          <p:spPr>
            <a:xfrm>
              <a:off x="9095303" y="118110"/>
              <a:ext cx="264207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CO" sz="1100" b="1" dirty="0">
                  <a:solidFill>
                    <a:schemeClr val="accent2">
                      <a:lumMod val="50000"/>
                    </a:schemeClr>
                  </a:solidFill>
                  <a:sym typeface="Gill Sans Light"/>
                </a:rPr>
                <a:t>Profesora</a:t>
              </a:r>
              <a:r>
                <a:rPr lang="es-CO" sz="1100" dirty="0">
                  <a:solidFill>
                    <a:schemeClr val="accent2">
                      <a:lumMod val="50000"/>
                    </a:schemeClr>
                  </a:solidFill>
                  <a:sym typeface="Gill Sans Light"/>
                </a:rPr>
                <a:t> María Fernanda Valero Sánchez</a:t>
              </a:r>
              <a:endParaRPr lang="es-CO" sz="11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sp>
        <p:nvSpPr>
          <p:cNvPr id="8" name="Título 1">
            <a:extLst>
              <a:ext uri="{FF2B5EF4-FFF2-40B4-BE49-F238E27FC236}">
                <a16:creationId xmlns:a16="http://schemas.microsoft.com/office/drawing/2014/main" id="{230BE46D-3443-FFD0-EC84-35FEF6A4F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 dirty="0">
                <a:latin typeface="Century Gothic"/>
              </a:rPr>
              <a:t>Variación de PPE e Intangibles (CAPEX)</a:t>
            </a: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4FB84589-9688-CBA7-B448-B8DBB05DFA6E}"/>
              </a:ext>
            </a:extLst>
          </p:cNvPr>
          <p:cNvSpPr txBox="1">
            <a:spLocks/>
          </p:cNvSpPr>
          <p:nvPr/>
        </p:nvSpPr>
        <p:spPr>
          <a:xfrm>
            <a:off x="1535288" y="2252649"/>
            <a:ext cx="9144000" cy="57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s-ES" dirty="0">
                <a:solidFill>
                  <a:schemeClr val="accent1"/>
                </a:solidFill>
                <a:latin typeface="Century Gothic"/>
              </a:rPr>
              <a:t>¿Como conseguimos esta información?</a:t>
            </a:r>
          </a:p>
          <a:p>
            <a:pPr algn="just"/>
            <a:endParaRPr lang="es-ES" dirty="0">
              <a:solidFill>
                <a:schemeClr val="accent1"/>
              </a:solidFill>
              <a:latin typeface="Century Gothic"/>
            </a:endParaRPr>
          </a:p>
          <a:p>
            <a:pPr algn="just"/>
            <a:endParaRPr lang="es-E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5D53D7F-04F8-E40B-6EA8-308F0F6F0A6D}"/>
              </a:ext>
            </a:extLst>
          </p:cNvPr>
          <p:cNvSpPr txBox="1"/>
          <p:nvPr/>
        </p:nvSpPr>
        <p:spPr>
          <a:xfrm>
            <a:off x="3726565" y="253393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Año t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C43355A-461C-8D14-4AE5-8FAC797CAFC7}"/>
              </a:ext>
            </a:extLst>
          </p:cNvPr>
          <p:cNvSpPr txBox="1"/>
          <p:nvPr/>
        </p:nvSpPr>
        <p:spPr>
          <a:xfrm>
            <a:off x="7463713" y="2537254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Año t + 1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001259F-4E1A-974D-E282-E457F10A5CE5}"/>
              </a:ext>
            </a:extLst>
          </p:cNvPr>
          <p:cNvSpPr/>
          <p:nvPr/>
        </p:nvSpPr>
        <p:spPr>
          <a:xfrm>
            <a:off x="1360320" y="6013104"/>
            <a:ext cx="9493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∆ </a:t>
            </a:r>
            <a:r>
              <a:rPr lang="es-ES" b="1" dirty="0">
                <a:solidFill>
                  <a:schemeClr val="accent1"/>
                </a:solidFill>
                <a:latin typeface="Century Gothic"/>
              </a:rPr>
              <a:t>CAPEX 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= COMPRA DE PPE E INTANGIBLES - VENTA DE PPE E INTANGIBLES</a:t>
            </a: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5BEEE95E-E3D2-578E-9CC3-EC691544710E}"/>
              </a:ext>
            </a:extLst>
          </p:cNvPr>
          <p:cNvSpPr/>
          <p:nvPr/>
        </p:nvSpPr>
        <p:spPr>
          <a:xfrm>
            <a:off x="2116872" y="3710969"/>
            <a:ext cx="1900279" cy="1747911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Activos No Corrientes</a:t>
            </a:r>
          </a:p>
        </p:txBody>
      </p:sp>
      <p:sp>
        <p:nvSpPr>
          <p:cNvPr id="32" name="Rectangle 7">
            <a:extLst>
              <a:ext uri="{FF2B5EF4-FFF2-40B4-BE49-F238E27FC236}">
                <a16:creationId xmlns:a16="http://schemas.microsoft.com/office/drawing/2014/main" id="{857C7350-2580-CD71-7D2E-3AAFDE929AEC}"/>
              </a:ext>
            </a:extLst>
          </p:cNvPr>
          <p:cNvSpPr/>
          <p:nvPr/>
        </p:nvSpPr>
        <p:spPr>
          <a:xfrm>
            <a:off x="4019698" y="3719933"/>
            <a:ext cx="1900279" cy="86241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Deuda LP</a:t>
            </a: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A8104A0B-C1CA-E438-9EB5-20210A9D491C}"/>
              </a:ext>
            </a:extLst>
          </p:cNvPr>
          <p:cNvSpPr/>
          <p:nvPr/>
        </p:nvSpPr>
        <p:spPr>
          <a:xfrm>
            <a:off x="2116872" y="3013717"/>
            <a:ext cx="1900279" cy="694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Activos Corrientes</a:t>
            </a: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C5E9704E-B574-302E-2465-638C127D9D5C}"/>
              </a:ext>
            </a:extLst>
          </p:cNvPr>
          <p:cNvSpPr/>
          <p:nvPr/>
        </p:nvSpPr>
        <p:spPr>
          <a:xfrm>
            <a:off x="4020321" y="3013717"/>
            <a:ext cx="1899034" cy="694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Pasivos Corrientes</a:t>
            </a: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194F8445-B9C4-0610-ED6C-35B14A00964E}"/>
              </a:ext>
            </a:extLst>
          </p:cNvPr>
          <p:cNvSpPr/>
          <p:nvPr/>
        </p:nvSpPr>
        <p:spPr>
          <a:xfrm>
            <a:off x="4020321" y="4593546"/>
            <a:ext cx="1899034" cy="8742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Patrimonio</a:t>
            </a: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B27DE55E-4B90-7EFB-C351-BB0D07E1B4F9}"/>
              </a:ext>
            </a:extLst>
          </p:cNvPr>
          <p:cNvSpPr/>
          <p:nvPr/>
        </p:nvSpPr>
        <p:spPr>
          <a:xfrm>
            <a:off x="6271402" y="3722774"/>
            <a:ext cx="1900279" cy="1747911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Activos No Corrientes</a:t>
            </a: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DC85BE8F-683C-C5AA-AB08-972E23CF8D51}"/>
              </a:ext>
            </a:extLst>
          </p:cNvPr>
          <p:cNvSpPr/>
          <p:nvPr/>
        </p:nvSpPr>
        <p:spPr>
          <a:xfrm>
            <a:off x="8174228" y="3731738"/>
            <a:ext cx="1900279" cy="86241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Deuda LP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3D37FD3F-650C-10D1-FB3C-A807E013619D}"/>
              </a:ext>
            </a:extLst>
          </p:cNvPr>
          <p:cNvSpPr/>
          <p:nvPr/>
        </p:nvSpPr>
        <p:spPr>
          <a:xfrm>
            <a:off x="6271402" y="3025522"/>
            <a:ext cx="1900279" cy="694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Activos Corrientes</a:t>
            </a:r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id="{570E7434-1F6E-66E2-CA3D-3865CAF7266F}"/>
              </a:ext>
            </a:extLst>
          </p:cNvPr>
          <p:cNvSpPr/>
          <p:nvPr/>
        </p:nvSpPr>
        <p:spPr>
          <a:xfrm>
            <a:off x="8174851" y="3025522"/>
            <a:ext cx="1899034" cy="694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Pasivos Corrientes</a:t>
            </a: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2CBE1622-5BA2-EB4D-27AD-3E19D860036C}"/>
              </a:ext>
            </a:extLst>
          </p:cNvPr>
          <p:cNvSpPr/>
          <p:nvPr/>
        </p:nvSpPr>
        <p:spPr>
          <a:xfrm>
            <a:off x="8174851" y="4605351"/>
            <a:ext cx="1899034" cy="8742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Patrimonio</a:t>
            </a:r>
          </a:p>
        </p:txBody>
      </p:sp>
    </p:spTree>
    <p:extLst>
      <p:ext uri="{BB962C8B-B14F-4D97-AF65-F5344CB8AC3E}">
        <p14:creationId xmlns:p14="http://schemas.microsoft.com/office/powerpoint/2010/main" val="424312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Variación de PPE e Intangibles (CAPEX)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043717"/>
            <a:ext cx="10878718" cy="79856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 1: 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Estos son los Estados de Situación Financiera de una compañía que está iniciando. ¿Cuánto dinero invirtió la empresa en compra de activos en el año 2?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34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DD16E1C-5A0A-FD29-2CC8-9980A66C98D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7CDC62B2-56EB-2800-7798-313CED76E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72B2C527-88DE-C0B5-9A5B-427B2F77353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DCBD9540-6F63-24DA-324A-98A005ECA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295708"/>
              </p:ext>
            </p:extLst>
          </p:nvPr>
        </p:nvGraphicFramePr>
        <p:xfrm>
          <a:off x="6168768" y="3437966"/>
          <a:ext cx="4262165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1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2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Deuda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Vehículo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80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Table 23">
            <a:extLst>
              <a:ext uri="{FF2B5EF4-FFF2-40B4-BE49-F238E27FC236}">
                <a16:creationId xmlns:a16="http://schemas.microsoft.com/office/drawing/2014/main" id="{45EC6A31-EB13-76EB-C9F1-7124B0B1E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633477"/>
              </p:ext>
            </p:extLst>
          </p:nvPr>
        </p:nvGraphicFramePr>
        <p:xfrm>
          <a:off x="2282363" y="3429000"/>
          <a:ext cx="3703571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1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Deuda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80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88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3C9DC-517A-EB7E-2B22-D1DE1865B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F9DA-B370-9D08-B573-AEFE714C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Variación de PPE e Intangibles (CAPEX)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2DA149-FDC5-7C73-A1D8-197DE947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43717"/>
            <a:ext cx="10878718" cy="79856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La compañía invirtió 50 pesos en el año 2 para poder comprar el vehículo.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5B6115-6784-C37B-5F75-077802F5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35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03DFDAE-9B4A-0709-E3F2-8150C229C9A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3DAD28A9-6C5D-D867-6C18-E4310E20D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EDEEF93E-8818-8E80-38A8-68185419AA4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6D8CC0B3-4F93-221F-1E7A-8F826662B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1462"/>
              </p:ext>
            </p:extLst>
          </p:nvPr>
        </p:nvGraphicFramePr>
        <p:xfrm>
          <a:off x="6168768" y="3437966"/>
          <a:ext cx="4262165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1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2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Deuda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Vehículo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80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Table 23">
            <a:extLst>
              <a:ext uri="{FF2B5EF4-FFF2-40B4-BE49-F238E27FC236}">
                <a16:creationId xmlns:a16="http://schemas.microsoft.com/office/drawing/2014/main" id="{7A59C19E-C6EA-7468-2D76-C1730E5AD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63187"/>
              </p:ext>
            </p:extLst>
          </p:nvPr>
        </p:nvGraphicFramePr>
        <p:xfrm>
          <a:off x="2282363" y="3429000"/>
          <a:ext cx="3703571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1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Deuda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80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46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BC97E-7DCC-1598-9E3F-D0E2F4F38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9BAAC-A268-ADE2-47B1-05CBB45B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Variación de PPE e Intangibles (CAPEX)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AA2776-F565-6A8A-B8EC-FE884D918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77677"/>
            <a:ext cx="10878718" cy="79856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∆ </a:t>
            </a:r>
            <a:r>
              <a:rPr lang="es-ES" b="1" dirty="0">
                <a:solidFill>
                  <a:schemeClr val="accent1"/>
                </a:solidFill>
                <a:latin typeface="Century Gothic"/>
              </a:rPr>
              <a:t>CAPEX 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= COMPRA DE PPE E INTANGIBLES - VENTA DE PPE E INTANGIBLES</a:t>
            </a: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∆ </a:t>
            </a:r>
            <a:r>
              <a:rPr lang="es-ES" b="1" dirty="0">
                <a:solidFill>
                  <a:schemeClr val="accent1"/>
                </a:solidFill>
                <a:latin typeface="Century Gothic"/>
              </a:rPr>
              <a:t>CAPEX 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= 50 – 0 = 50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7F06B8-0444-7940-DF5B-1DD07549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36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4C60EDA-1CDD-74F2-5B68-086552CDFE7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9C01F802-2708-396F-9A5E-C28CE6EDA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F2106CB3-9593-28CD-05D6-8EF6983D06D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CF8F0F1B-A30A-3F18-6D3E-CE160BAF9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980411"/>
              </p:ext>
            </p:extLst>
          </p:nvPr>
        </p:nvGraphicFramePr>
        <p:xfrm>
          <a:off x="6168768" y="3437966"/>
          <a:ext cx="4262165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1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2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Deuda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Vehículo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50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80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Table 23">
            <a:extLst>
              <a:ext uri="{FF2B5EF4-FFF2-40B4-BE49-F238E27FC236}">
                <a16:creationId xmlns:a16="http://schemas.microsoft.com/office/drawing/2014/main" id="{157D4D8E-DF15-9E28-E2D1-D5D09AB03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977298"/>
              </p:ext>
            </p:extLst>
          </p:nvPr>
        </p:nvGraphicFramePr>
        <p:xfrm>
          <a:off x="2282363" y="3429000"/>
          <a:ext cx="3703571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1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Deuda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80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833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E5BB1-2BDB-802B-C46D-F9B7FB3BC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08592-E266-AB94-ED34-F15A948A9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Variación de PPE e Intangibles (CAPEX)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4CE243-03FA-9B98-5CBE-B8CB6FA4C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43717"/>
            <a:ext cx="10878718" cy="79856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 2: 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Estos son los Estados de Situación Financiera de una compañía. ¿Cuánto dinero invirtió la empresa en compra de activos en el año 2?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5E9A52-ECCA-FF46-D7F8-5BBD2413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37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A37AD8-A310-4DEF-FBEF-585759F80E8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C33E3278-93A2-1D84-EE09-E34763222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9149AE5E-4D0C-4271-6AAD-19C98380730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94FD938A-1AA2-8705-BBF8-58B198954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181096"/>
              </p:ext>
            </p:extLst>
          </p:nvPr>
        </p:nvGraphicFramePr>
        <p:xfrm>
          <a:off x="6168768" y="3437966"/>
          <a:ext cx="4558499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3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2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130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Deuda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110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Maquinaria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70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90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Table 23">
            <a:extLst>
              <a:ext uri="{FF2B5EF4-FFF2-40B4-BE49-F238E27FC236}">
                <a16:creationId xmlns:a16="http://schemas.microsoft.com/office/drawing/2014/main" id="{69D8254B-FB56-C1AF-3FBC-2255EFE25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603614"/>
              </p:ext>
            </p:extLst>
          </p:nvPr>
        </p:nvGraphicFramePr>
        <p:xfrm>
          <a:off x="1253067" y="3429000"/>
          <a:ext cx="4732870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1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Deuda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110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Maquinaria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90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31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AEDA-DA5B-B811-B28C-EC17EB9EC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293C5-3A8B-88B1-F8BE-6E4745D0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Variación de PPE e Intangibles (CAPEX)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605013-20BF-6929-D41E-2A4836DCE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77677"/>
            <a:ext cx="10878718" cy="79856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∆ </a:t>
            </a:r>
            <a:r>
              <a:rPr lang="es-ES" b="1" dirty="0">
                <a:solidFill>
                  <a:schemeClr val="accent1"/>
                </a:solidFill>
                <a:latin typeface="Century Gothic"/>
              </a:rPr>
              <a:t>CAPEX 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= COMPRA DE PPE E INTANGIBLES - VENTA DE PPE E INTANGIBLES</a:t>
            </a: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∆ </a:t>
            </a:r>
            <a:r>
              <a:rPr lang="es-ES" b="1" dirty="0">
                <a:solidFill>
                  <a:schemeClr val="accent1"/>
                </a:solidFill>
                <a:latin typeface="Century Gothic"/>
              </a:rPr>
              <a:t>CAPEX 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= 0 – 30 = – 30 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485213-E012-506A-8D69-B134154D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38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14F30DA-8FD4-5B5C-7CB7-7F23E39C8CB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DF26C037-F1B4-5827-46DF-E10B130BF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3A9F0F94-31DF-D402-4736-296BC31C796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7F2AB43A-E9D5-D281-9E71-B31F16192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414554"/>
              </p:ext>
            </p:extLst>
          </p:nvPr>
        </p:nvGraphicFramePr>
        <p:xfrm>
          <a:off x="6168768" y="3437966"/>
          <a:ext cx="4558499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3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2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130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Deuda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110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Maquinaria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70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90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23">
            <a:extLst>
              <a:ext uri="{FF2B5EF4-FFF2-40B4-BE49-F238E27FC236}">
                <a16:creationId xmlns:a16="http://schemas.microsoft.com/office/drawing/2014/main" id="{6A0BB2DE-8AE3-9E14-1C3A-796FB87AE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237833"/>
              </p:ext>
            </p:extLst>
          </p:nvPr>
        </p:nvGraphicFramePr>
        <p:xfrm>
          <a:off x="1253067" y="3429000"/>
          <a:ext cx="4732870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bg1"/>
                          </a:solidFill>
                          <a:latin typeface="Century Gothic"/>
                        </a:rPr>
                        <a:t>Año 1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15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Efectivo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Deuda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110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Maquinaria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100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Capital Suscrito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90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800" noProof="0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200</a:t>
                      </a:r>
                    </a:p>
                  </a:txBody>
                  <a:tcPr>
                    <a:lnR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02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3BEC6-48CF-3C47-FB62-4D8466F8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60468A-BC5C-CCDE-C8D2-268C4B88B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Variación de PPE e Intangibles (CAPEX)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0DD789-AB96-4BCB-4710-B54B2A170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88066"/>
            <a:ext cx="10878718" cy="308186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 3: 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Suponga una empresa </a:t>
            </a:r>
            <a:r>
              <a:rPr lang="es-ES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textilera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 que compra una máquina en el 2013 por valor de $50, la vida útil de la máquina es de 5 años y se deprecia por el método de línea recta sin valor de salvamento.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Construyamos su tabla de depreciación.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4D0C05-EF71-3D18-9F8B-6FDBC515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39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5BA69FC-87E7-308F-418C-3610DFFC23D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FEF93DB9-89DE-6DFF-6FAB-D100CBCEF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12C3D24D-EBC4-A1B9-3C10-13D33361A0E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9267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17DFE-5977-82AF-9A2F-6D34005A3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A760-CF7D-E073-F39D-160EE12C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Variación de PPE e Intangibles (CAPEX)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036BAB-E7FF-75B6-4D2B-039F5AD69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88067"/>
            <a:ext cx="10878718" cy="80433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Tabla de depreciación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104590-C73B-D76A-8FD9-E63948C4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40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17F5D4-6E16-C2EB-59C7-17CF50E6DBB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9094B463-475C-A43B-6CB6-C55B3CA14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357CD88F-E8F0-24EB-678A-9191AE9E236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89AB005-F80A-7D10-779D-F757DCD06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89904"/>
              </p:ext>
            </p:extLst>
          </p:nvPr>
        </p:nvGraphicFramePr>
        <p:xfrm>
          <a:off x="2527300" y="2864512"/>
          <a:ext cx="7137400" cy="2308860"/>
        </p:xfrm>
        <a:graphic>
          <a:graphicData uri="http://schemas.openxmlformats.org/drawingml/2006/table">
            <a:tbl>
              <a:tblPr/>
              <a:tblGrid>
                <a:gridCol w="21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400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Año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2014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2018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596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(0)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(1)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(2)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(3)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(4)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(5)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Depreciación Periodo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Depreciación Acumulada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 Libros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6255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97A43-E406-450E-9C08-29B70B240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24F23-5508-3A90-A1D5-FAAB53D6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Variación de PPE e Intangibles (CAPEX)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DA2A66-8BC4-1841-7748-8659089C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88067"/>
            <a:ext cx="10878718" cy="80433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Tabla de depreciación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07552A-3182-20FD-A3D3-1F68DE60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41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90E3245-21F7-3C5A-74B8-8D357D3514B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77ACE173-DC9F-3C3B-06C8-6D3F2D3C8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CE2368F7-2B2A-1ED7-863B-824F01D6DB3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A081DBD7-485F-4A62-E3E2-7B6A65B90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538736"/>
              </p:ext>
            </p:extLst>
          </p:nvPr>
        </p:nvGraphicFramePr>
        <p:xfrm>
          <a:off x="2527300" y="2864512"/>
          <a:ext cx="7137400" cy="2308860"/>
        </p:xfrm>
        <a:graphic>
          <a:graphicData uri="http://schemas.openxmlformats.org/drawingml/2006/table">
            <a:tbl>
              <a:tblPr/>
              <a:tblGrid>
                <a:gridCol w="21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400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Año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2014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2018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596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(0)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(1)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(2)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(3)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(4)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(5)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Depreciación Periodo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Depreciación Acumulada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 Libros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2591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1619-705E-33DE-8BFD-AA741656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D1BCD-E37E-102C-64F3-F58AF583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Variación de PPE e Intangibles (CAPEX)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8C8BC1-72BA-247E-4F40-42D5CF45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42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21E979D-EB35-2C6F-39B9-3D934608662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3B2DEB46-CBF8-EA52-4ADA-5DA9539C7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95AF7592-51B6-E35F-8BF7-F7C283CF261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7FB899D-7E27-91AB-DDE5-4B29A4FCC6A1}"/>
              </a:ext>
            </a:extLst>
          </p:cNvPr>
          <p:cNvSpPr txBox="1">
            <a:spLocks/>
          </p:cNvSpPr>
          <p:nvPr/>
        </p:nvSpPr>
        <p:spPr>
          <a:xfrm>
            <a:off x="910169" y="2539948"/>
            <a:ext cx="10371662" cy="2738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Suponga que vendo el activo en el año 2 (2015) por el valor en libros en ese periodo (30).</a:t>
            </a:r>
          </a:p>
          <a:p>
            <a:pPr marL="0" indent="0" algn="ctr">
              <a:buNone/>
            </a:pPr>
            <a:endParaRPr lang="es-ES" dirty="0">
              <a:solidFill>
                <a:srgbClr val="800000"/>
              </a:solidFill>
            </a:endParaRPr>
          </a:p>
          <a:p>
            <a:pPr marL="0" indent="0" algn="ctr">
              <a:buNone/>
            </a:pPr>
            <a:r>
              <a:rPr lang="es-ES" dirty="0">
                <a:solidFill>
                  <a:srgbClr val="800000"/>
                </a:solidFill>
              </a:rPr>
              <a:t>¿Cuál sería el CAPEX?</a:t>
            </a:r>
          </a:p>
          <a:p>
            <a:pPr marL="0" indent="0" algn="ctr">
              <a:buNone/>
            </a:pPr>
            <a:endParaRPr lang="es-ES" dirty="0">
              <a:solidFill>
                <a:srgbClr val="800000"/>
              </a:solidFill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∆ </a:t>
            </a:r>
            <a:r>
              <a:rPr lang="es-ES" b="1" dirty="0">
                <a:solidFill>
                  <a:schemeClr val="accent1"/>
                </a:solidFill>
                <a:latin typeface="Century Gothic"/>
              </a:rPr>
              <a:t>CAPEX 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= COMPRA DE PPE E INTANGIBLES - VENTA DE PPE E INTANGIBLES</a:t>
            </a: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∆ </a:t>
            </a:r>
            <a:r>
              <a:rPr lang="es-ES" b="1" dirty="0">
                <a:solidFill>
                  <a:schemeClr val="accent1"/>
                </a:solidFill>
                <a:latin typeface="Century Gothic"/>
              </a:rPr>
              <a:t>CAPEX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 = -30</a:t>
            </a:r>
            <a:endParaRPr lang="es-ES" dirty="0">
              <a:solidFill>
                <a:srgbClr val="800000"/>
              </a:solidFill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12E2E8E-A2FE-F77D-5C2B-1FBE10090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257" y="4859924"/>
            <a:ext cx="2152126" cy="151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418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2DEB9-6360-4506-C804-B0E82B4B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2BCC9-56C3-3FBC-C0CA-EB77A4873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Variación de PPE e Intangibles (CAPEX)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B1152E-CF34-AE1D-EFF0-EF63924F7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43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1BE79A1-EBFD-1F5E-7D3B-3B729C35B17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CAF6D115-BCAC-CB52-264E-A4ADA8065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5A6210CE-6ED1-4908-630B-7CB52413BB4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D3D7AB9-C57A-619B-DEB1-6BB94A8485B8}"/>
              </a:ext>
            </a:extLst>
          </p:cNvPr>
          <p:cNvSpPr txBox="1">
            <a:spLocks/>
          </p:cNvSpPr>
          <p:nvPr/>
        </p:nvSpPr>
        <p:spPr>
          <a:xfrm>
            <a:off x="910169" y="2539948"/>
            <a:ext cx="10371662" cy="2738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En resumen, el CAPEX se puede entender como los flujos de efectivo que se originan por la compra y venta de Propiedad, Planta y Equipo e Intangibles.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Es importante recordar que dichas transacciones no se incorporan en el Estado de Resultados y por ende se deben incorporar en el Flujo de Caja Libre.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s-ES" dirty="0">
              <a:solidFill>
                <a:srgbClr val="800000"/>
              </a:solidFill>
            </a:endParaRPr>
          </a:p>
          <a:p>
            <a:pPr marL="0" indent="0" algn="ctr">
              <a:buFont typeface="Wingdings 2" panose="05020102010507070707" pitchFamily="18" charset="2"/>
              <a:buNone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0899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53905-3AC1-06A2-3B6C-C0F3421E0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D259B3-9236-E59E-A42F-787C7788E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7EF338-6E01-3952-3CD8-11E837F6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44</a:t>
            </a:fld>
            <a:endParaRPr lang="en-US" sz="1400" b="1" dirty="0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706BAD3B-470E-7AF2-495E-00DA72F940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1DAF7B20-9165-BBB3-8B3C-66A775CB3CEC}"/>
              </a:ext>
            </a:extLst>
          </p:cNvPr>
          <p:cNvSpPr/>
          <p:nvPr/>
        </p:nvSpPr>
        <p:spPr>
          <a:xfrm>
            <a:off x="2806200" y="2772729"/>
            <a:ext cx="8540907" cy="329320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Capital de Trabajo en el Estado de la Situación Financiera y en el Estado de Resultados.</a:t>
            </a:r>
            <a:endParaRPr lang="es-ES" sz="1600" dirty="0">
              <a:solidFill>
                <a:schemeClr val="bg2">
                  <a:lumMod val="90000"/>
                </a:schemeClr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CO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Capital de Trabajo por Periodo de Cobro, Periodo de Pago y Periodo de Rotación de Inventario.</a:t>
            </a: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Variación de PPE e Intangibles (CAPEX).</a:t>
            </a:r>
            <a:endParaRPr lang="es-CO" sz="1600" dirty="0">
              <a:solidFill>
                <a:schemeClr val="bg2">
                  <a:lumMod val="90000"/>
                </a:schemeClr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r>
              <a:rPr lang="es-CO" sz="1600" dirty="0">
                <a:solidFill>
                  <a:schemeClr val="accent1"/>
                </a:solidFill>
                <a:latin typeface="Century Gothic"/>
                <a:cs typeface="Arial"/>
              </a:rPr>
              <a:t>Impuesto Ocasional.</a:t>
            </a:r>
          </a:p>
          <a:p>
            <a:pPr marL="342900" indent="-342900" algn="just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algn="just">
              <a:buClr>
                <a:srgbClr val="48BE7A"/>
              </a:buClr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 algn="just">
              <a:buClr>
                <a:srgbClr val="48BE7A"/>
              </a:buClr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algn="just">
              <a:buClr>
                <a:schemeClr val="accent3">
                  <a:lumMod val="75000"/>
                </a:schemeClr>
              </a:buClr>
            </a:pPr>
            <a:endParaRPr lang="es-CO" sz="16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9D991DA-0A62-D721-893B-18C9DAADC99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C53EBF03-45C1-6BE1-9969-F69C5ED1B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7FB4218-FA52-8091-8738-1F6A368CC23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71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91092-D7CF-1F16-CC95-2D92CE6CA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2CBF6-3964-7655-BE22-1CDF661BF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IMPUESTO OCASIONAL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54505-3696-2B6E-992A-FE40509A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45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D701379-79BA-0BC2-FFC0-EFD9CB86729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5AB7EF11-75F9-DD13-C40D-952710363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0B7BA69C-6E5F-C33F-3FCB-BDC2D8090AA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hape 72">
            <a:extLst>
              <a:ext uri="{FF2B5EF4-FFF2-40B4-BE49-F238E27FC236}">
                <a16:creationId xmlns:a16="http://schemas.microsoft.com/office/drawing/2014/main" id="{22C2D047-5582-0AB2-2A89-96EC99ED7536}"/>
              </a:ext>
            </a:extLst>
          </p:cNvPr>
          <p:cNvSpPr txBox="1">
            <a:spLocks/>
          </p:cNvSpPr>
          <p:nvPr/>
        </p:nvSpPr>
        <p:spPr>
          <a:xfrm>
            <a:off x="2420792" y="5543456"/>
            <a:ext cx="7350415" cy="44215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vert="horz" lIns="130046" tIns="65023" rIns="130046" bIns="65023" rtlCol="0">
            <a:noAutofit/>
          </a:bodyPr>
          <a:lstStyle>
            <a:lvl1pPr marL="487672" indent="-325115" algn="l" defTabSz="130046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0322" indent="-325115" algn="l" defTabSz="130046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0506" indent="-325115" algn="l" defTabSz="130046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0644" indent="-325115" algn="l" defTabSz="130046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0781" indent="-325115" algn="l" defTabSz="130046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70873" indent="-260092" algn="l" defTabSz="130046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0965" indent="-260092" algn="l" defTabSz="130046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91057" indent="-260092" algn="l" defTabSz="130046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51149" indent="-260092" algn="l" defTabSz="130046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2557" indent="0" algn="ctr">
              <a:buNone/>
              <a:defRPr sz="1800">
                <a:solidFill>
                  <a:srgbClr val="000000"/>
                </a:solidFill>
              </a:defRPr>
            </a:pPr>
            <a:r>
              <a:rPr lang="es-ES_tradnl" sz="2200" i="1" dirty="0">
                <a:solidFill>
                  <a:schemeClr val="bg1"/>
                </a:solidFill>
              </a:rPr>
              <a:t>IMPUESTO A LA GANANCIA/PÉRDIDA OCASIONAL</a:t>
            </a:r>
          </a:p>
          <a:p>
            <a:pPr marL="162557" indent="0" algn="ctr">
              <a:buNone/>
              <a:defRPr sz="1800">
                <a:solidFill>
                  <a:srgbClr val="000000"/>
                </a:solidFill>
              </a:defRPr>
            </a:pPr>
            <a:endParaRPr lang="es-ES_tradnl" sz="2200" i="1" dirty="0">
              <a:solidFill>
                <a:schemeClr val="bg1"/>
              </a:solidFill>
            </a:endParaRPr>
          </a:p>
        </p:txBody>
      </p:sp>
      <p:sp>
        <p:nvSpPr>
          <p:cNvPr id="6" name="Shape 72">
            <a:extLst>
              <a:ext uri="{FF2B5EF4-FFF2-40B4-BE49-F238E27FC236}">
                <a16:creationId xmlns:a16="http://schemas.microsoft.com/office/drawing/2014/main" id="{D5996403-1892-23BC-F356-B1F9C206316D}"/>
              </a:ext>
            </a:extLst>
          </p:cNvPr>
          <p:cNvSpPr txBox="1">
            <a:spLocks/>
          </p:cNvSpPr>
          <p:nvPr/>
        </p:nvSpPr>
        <p:spPr>
          <a:xfrm>
            <a:off x="2536134" y="1974958"/>
            <a:ext cx="6538108" cy="1051856"/>
          </a:xfrm>
          <a:prstGeom prst="rect">
            <a:avLst/>
          </a:prstGeom>
        </p:spPr>
        <p:txBody>
          <a:bodyPr vert="horz" lIns="91439" tIns="45719" rIns="91439" bIns="45719" rtlCol="0">
            <a:normAutofit/>
          </a:bodyPr>
          <a:lstStyle>
            <a:lvl1pPr marL="487672" indent="-325115" algn="l" defTabSz="130046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0322" indent="-325115" algn="l" defTabSz="130046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0506" indent="-325115" algn="l" defTabSz="130046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0644" indent="-325115" algn="l" defTabSz="130046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0781" indent="-325115" algn="l" defTabSz="130046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70873" indent="-260092" algn="l" defTabSz="130046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0965" indent="-260092" algn="l" defTabSz="130046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91057" indent="-260092" algn="l" defTabSz="130046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51149" indent="-260092" algn="l" defTabSz="130046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294" indent="0" algn="ctr">
              <a:buNone/>
              <a:defRPr sz="1800">
                <a:solidFill>
                  <a:srgbClr val="000000"/>
                </a:solidFill>
              </a:defRPr>
            </a:pPr>
            <a:r>
              <a:rPr lang="es-ES_tradnl" sz="2400" b="1" i="1" dirty="0">
                <a:solidFill>
                  <a:srgbClr val="C00000"/>
                </a:solidFill>
              </a:rPr>
              <a:t>¿Qué pasa cuando un activo se vende por encima o por debajo de su valor en libros?</a:t>
            </a:r>
          </a:p>
        </p:txBody>
      </p:sp>
      <p:sp>
        <p:nvSpPr>
          <p:cNvPr id="8" name="Shape 72">
            <a:extLst>
              <a:ext uri="{FF2B5EF4-FFF2-40B4-BE49-F238E27FC236}">
                <a16:creationId xmlns:a16="http://schemas.microsoft.com/office/drawing/2014/main" id="{826ECF18-A497-20B7-B691-FBB3028F4DCD}"/>
              </a:ext>
            </a:extLst>
          </p:cNvPr>
          <p:cNvSpPr txBox="1">
            <a:spLocks/>
          </p:cNvSpPr>
          <p:nvPr/>
        </p:nvSpPr>
        <p:spPr>
          <a:xfrm>
            <a:off x="2536134" y="3203926"/>
            <a:ext cx="6538108" cy="2081682"/>
          </a:xfrm>
          <a:prstGeom prst="rect">
            <a:avLst/>
          </a:prstGeom>
        </p:spPr>
        <p:txBody>
          <a:bodyPr vert="horz" lIns="91439" tIns="45719" rIns="91439" bIns="45719" rtlCol="0">
            <a:normAutofit/>
          </a:bodyPr>
          <a:lstStyle>
            <a:lvl1pPr marL="487672" indent="-325115" algn="l" defTabSz="130046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0322" indent="-325115" algn="l" defTabSz="130046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0506" indent="-325115" algn="l" defTabSz="130046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0644" indent="-325115" algn="l" defTabSz="130046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0781" indent="-325115" algn="l" defTabSz="130046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70873" indent="-260092" algn="l" defTabSz="130046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0965" indent="-260092" algn="l" defTabSz="130046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91057" indent="-260092" algn="l" defTabSz="130046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51149" indent="-260092" algn="l" defTabSz="130046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s-ES_tradnl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Cuando se vende por encima:</a:t>
            </a:r>
          </a:p>
          <a:p>
            <a:pPr marL="114294" indent="0">
              <a:buNone/>
              <a:defRPr sz="1800">
                <a:solidFill>
                  <a:srgbClr val="000000"/>
                </a:solidFill>
              </a:defRPr>
            </a:pPr>
            <a:r>
              <a:rPr lang="es-ES_tradnl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Ganancia ocasional </a:t>
            </a:r>
            <a:r>
              <a:rPr lang="es-ES_tradnl" sz="1800" dirty="0">
                <a:solidFill>
                  <a:schemeClr val="accent1"/>
                </a:solidFill>
                <a:latin typeface="Century Gothic" panose="020B0502020202020204" pitchFamily="34" charset="0"/>
                <a:sym typeface="Wingdings" panose="05000000000000000000" pitchFamily="2" charset="2"/>
              </a:rPr>
              <a:t></a:t>
            </a:r>
            <a:r>
              <a:rPr lang="es-ES_tradnl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 Ingreso NO Operacional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s-ES_tradnl" sz="1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s-ES_tradnl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Cuando se vende por debajo:</a:t>
            </a:r>
          </a:p>
          <a:p>
            <a:pPr marL="114294" indent="0">
              <a:buNone/>
              <a:defRPr sz="1800">
                <a:solidFill>
                  <a:srgbClr val="000000"/>
                </a:solidFill>
              </a:defRPr>
            </a:pPr>
            <a:r>
              <a:rPr lang="es-ES_tradnl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Pérdida ocasional </a:t>
            </a:r>
            <a:r>
              <a:rPr lang="es-ES_tradnl" sz="1800" dirty="0">
                <a:solidFill>
                  <a:schemeClr val="accent1"/>
                </a:solidFill>
                <a:latin typeface="Century Gothic" panose="020B0502020202020204" pitchFamily="34" charset="0"/>
                <a:sym typeface="Wingdings" panose="05000000000000000000" pitchFamily="2" charset="2"/>
              </a:rPr>
              <a:t></a:t>
            </a:r>
            <a:r>
              <a:rPr lang="es-ES_tradnl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 Egreso NO Operacional</a:t>
            </a:r>
          </a:p>
          <a:p>
            <a:pPr marL="114294" indent="0">
              <a:buNone/>
              <a:defRPr sz="1800">
                <a:solidFill>
                  <a:srgbClr val="000000"/>
                </a:solidFill>
              </a:defRPr>
            </a:pPr>
            <a:endParaRPr lang="es-ES_tradnl" sz="2200" i="1" dirty="0"/>
          </a:p>
        </p:txBody>
      </p:sp>
    </p:spTree>
    <p:extLst>
      <p:ext uri="{BB962C8B-B14F-4D97-AF65-F5344CB8AC3E}">
        <p14:creationId xmlns:p14="http://schemas.microsoft.com/office/powerpoint/2010/main" val="233717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4C9D-9A9B-4BA6-B357-DDEE8469C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9B830-8B39-DB36-292C-2CC5FEA5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IMPUESTO OCASIONAL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4F5466-F87C-8A13-6D9B-D16E137ED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46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A679548-2B62-AD15-02BE-BB6024CE119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7CCB8166-B179-BC2E-D586-8F7BC97FB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F0BDA642-A9E0-DA24-1146-2A503CEDB89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0827FED2-E203-E951-809D-DCFC8690A886}"/>
              </a:ext>
            </a:extLst>
          </p:cNvPr>
          <p:cNvSpPr txBox="1">
            <a:spLocks/>
          </p:cNvSpPr>
          <p:nvPr/>
        </p:nvSpPr>
        <p:spPr>
          <a:xfrm>
            <a:off x="910169" y="2539948"/>
            <a:ext cx="10371662" cy="2738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Retomando el mismo ejemplo de la empresa de textiles suponga ahora que vende el activo en el año 2 (2015) por 40.</a:t>
            </a:r>
          </a:p>
          <a:p>
            <a:pPr marL="0" indent="0" algn="ctr">
              <a:buNone/>
            </a:pPr>
            <a:endParaRPr lang="es-ES" dirty="0">
              <a:solidFill>
                <a:srgbClr val="800000"/>
              </a:solidFill>
            </a:endParaRPr>
          </a:p>
          <a:p>
            <a:pPr marL="0" indent="0" algn="ctr">
              <a:buNone/>
            </a:pPr>
            <a:r>
              <a:rPr lang="es-ES" dirty="0">
                <a:solidFill>
                  <a:srgbClr val="800000"/>
                </a:solidFill>
              </a:rPr>
              <a:t>¿Cuál sería el CAPEX?</a:t>
            </a:r>
          </a:p>
          <a:p>
            <a:pPr marL="0" indent="0" algn="ctr">
              <a:buNone/>
            </a:pPr>
            <a:endParaRPr lang="es-ES" dirty="0">
              <a:solidFill>
                <a:srgbClr val="800000"/>
              </a:solidFill>
            </a:endParaRPr>
          </a:p>
          <a:p>
            <a:pPr marL="0" indent="0" algn="ctr">
              <a:buNone/>
            </a:pPr>
            <a:r>
              <a:rPr lang="es-ES" dirty="0">
                <a:solidFill>
                  <a:srgbClr val="800000"/>
                </a:solidFill>
              </a:rPr>
              <a:t>¿Cuál era el valor en libros?</a:t>
            </a:r>
          </a:p>
          <a:p>
            <a:pPr marL="0" indent="0" algn="ctr">
              <a:buNone/>
            </a:pPr>
            <a:endParaRPr lang="es-ES" dirty="0">
              <a:solidFill>
                <a:srgbClr val="800000"/>
              </a:solidFill>
            </a:endParaRPr>
          </a:p>
          <a:p>
            <a:pPr marL="0" indent="0" algn="ctr">
              <a:buNone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 descr="Persona Pensando Vectores, Ilustraciones y Gráficos - 123RF">
            <a:extLst>
              <a:ext uri="{FF2B5EF4-FFF2-40B4-BE49-F238E27FC236}">
                <a16:creationId xmlns:a16="http://schemas.microsoft.com/office/drawing/2014/main" id="{E402800A-FF4E-3CF0-4B95-35E6C8418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392" y="4182199"/>
            <a:ext cx="1959362" cy="2193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5600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4EDA9-3698-9FF8-C1B9-AE8307BC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48785-4C53-3C4A-66FA-D515AF56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IMPUESTO OCASIONAL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5E3895-5CA7-0985-1B92-8B95EE2C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47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1120D1E-1F62-9B68-FD53-E76BB8C1993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83BF85FC-5A17-6B73-9C37-B16A6445C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5C5DCB06-EE7E-2DE2-AD56-AD5AB6C0D94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667B98D-7A3A-839A-D6EB-E90F94BFC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659210"/>
              </p:ext>
            </p:extLst>
          </p:nvPr>
        </p:nvGraphicFramePr>
        <p:xfrm>
          <a:off x="1989921" y="3823270"/>
          <a:ext cx="8061258" cy="2821940"/>
        </p:xfrm>
        <a:graphic>
          <a:graphicData uri="http://schemas.openxmlformats.org/drawingml/2006/table">
            <a:tbl>
              <a:tblPr/>
              <a:tblGrid>
                <a:gridCol w="2467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3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3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329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Año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2014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2018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292">
                <a:tc vMerge="1"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596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(0)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(1)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(2)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(3)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(4)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(5)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292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292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Depreciación Periodo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292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E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292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Depreciación Acumulada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292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E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292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 Libros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292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292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CAPEX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-40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675710"/>
                  </a:ext>
                </a:extLst>
              </a:tr>
              <a:tr h="223292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94191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DA0A06C6-7662-D359-D01D-A046373F0618}"/>
              </a:ext>
            </a:extLst>
          </p:cNvPr>
          <p:cNvSpPr txBox="1">
            <a:spLocks/>
          </p:cNvSpPr>
          <p:nvPr/>
        </p:nvSpPr>
        <p:spPr>
          <a:xfrm>
            <a:off x="581191" y="3134252"/>
            <a:ext cx="10878718" cy="7985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∆ </a:t>
            </a:r>
            <a:r>
              <a:rPr lang="es-ES" sz="1600" b="1" dirty="0">
                <a:solidFill>
                  <a:schemeClr val="accent1"/>
                </a:solidFill>
                <a:latin typeface="Century Gothic"/>
              </a:rPr>
              <a:t>CAPEX </a:t>
            </a:r>
            <a:r>
              <a:rPr lang="es-ES" sz="1600" dirty="0">
                <a:solidFill>
                  <a:schemeClr val="accent1"/>
                </a:solidFill>
                <a:latin typeface="Century Gothic"/>
              </a:rPr>
              <a:t>= COMPRA DE PPE E INTANGIBLES - VENTA DE PPE E INTANGIBLES</a:t>
            </a:r>
          </a:p>
          <a:p>
            <a:pPr marL="0" indent="0" algn="ctr">
              <a:buNone/>
            </a:pPr>
            <a:r>
              <a:rPr lang="es-E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∆ </a:t>
            </a:r>
            <a:r>
              <a:rPr lang="es-ES" sz="1600" b="1" dirty="0">
                <a:solidFill>
                  <a:schemeClr val="accent1"/>
                </a:solidFill>
                <a:latin typeface="Century Gothic"/>
              </a:rPr>
              <a:t>CAPEX </a:t>
            </a:r>
            <a:r>
              <a:rPr lang="es-ES" sz="1600" dirty="0">
                <a:solidFill>
                  <a:schemeClr val="accent1"/>
                </a:solidFill>
                <a:latin typeface="Century Gothic"/>
              </a:rPr>
              <a:t>= 0 – 40 = – 40 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s-E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(+/-) G/P Ocasional = (Valor Venta - Valor en libros (antes de la venta)) = (40 – 30) = 10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endParaRPr lang="fr-FR" sz="16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Wingdings 2" panose="05020102010507070707" pitchFamily="18" charset="2"/>
              <a:buNone/>
            </a:pPr>
            <a:endParaRPr lang="es-ES" sz="16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BFC6C952-A4C5-C61E-8647-E379A5E163C1}"/>
              </a:ext>
            </a:extLst>
          </p:cNvPr>
          <p:cNvSpPr txBox="1">
            <a:spLocks/>
          </p:cNvSpPr>
          <p:nvPr/>
        </p:nvSpPr>
        <p:spPr>
          <a:xfrm>
            <a:off x="613083" y="1746054"/>
            <a:ext cx="10878718" cy="7985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 2" panose="05020102010507070707" pitchFamily="18" charset="2"/>
              <a:buNone/>
            </a:pPr>
            <a:r>
              <a:rPr lang="es-ES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 4: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¿Cómo será el registro en el Flujo de Caja Libre (FCL) si la venta en activos en 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el periodo 2 fue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de 40?</a:t>
            </a:r>
          </a:p>
        </p:txBody>
      </p:sp>
    </p:spTree>
    <p:extLst>
      <p:ext uri="{BB962C8B-B14F-4D97-AF65-F5344CB8AC3E}">
        <p14:creationId xmlns:p14="http://schemas.microsoft.com/office/powerpoint/2010/main" val="18079703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E6938-4B92-0733-5C5C-E7F46FD79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E7754-A304-0CC0-710C-84EDEB340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IMPUESTO OCASIONAL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7E855A-8BD1-C6BF-03B8-CE3410409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48</a:t>
            </a:fld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85144E9-18EB-9C21-AE58-75FF0063F65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4CA502E9-3DB1-2088-AD03-5D7F88262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9292E69-F68C-9E76-950F-C7A57E069DC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669B42-6F25-8053-9942-08FBB0177394}"/>
              </a:ext>
            </a:extLst>
          </p:cNvPr>
          <p:cNvSpPr/>
          <p:nvPr/>
        </p:nvSpPr>
        <p:spPr>
          <a:xfrm>
            <a:off x="2877784" y="5969242"/>
            <a:ext cx="5019715" cy="29490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711D01-049F-7791-1C2E-DAC47BD773D8}"/>
              </a:ext>
            </a:extLst>
          </p:cNvPr>
          <p:cNvSpPr txBox="1"/>
          <p:nvPr/>
        </p:nvSpPr>
        <p:spPr>
          <a:xfrm>
            <a:off x="7105091" y="3572844"/>
            <a:ext cx="5021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 G/P Ocasional</a:t>
            </a:r>
            <a:r>
              <a:rPr lang="es-CO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</a:p>
          <a:p>
            <a:r>
              <a:rPr lang="es-CO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(Valor Venta - Valor en libros)</a:t>
            </a:r>
            <a:r>
              <a:rPr lang="es-ES" sz="1600" dirty="0">
                <a:solidFill>
                  <a:schemeClr val="accent1"/>
                </a:solidFill>
                <a:latin typeface="Century Gothic" panose="020B0502020202020204" pitchFamily="34" charset="0"/>
                <a:sym typeface="Arial" charset="0"/>
              </a:rPr>
              <a:t> • </a:t>
            </a:r>
            <a:r>
              <a:rPr lang="es-CO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E336D99-B441-8D42-169D-E3C8B9B54B18}"/>
              </a:ext>
            </a:extLst>
          </p:cNvPr>
          <p:cNvSpPr txBox="1"/>
          <p:nvPr/>
        </p:nvSpPr>
        <p:spPr>
          <a:xfrm>
            <a:off x="7132596" y="4492892"/>
            <a:ext cx="4478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 G/P Ocasional </a:t>
            </a:r>
            <a:r>
              <a:rPr lang="es-CO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= (40-30)</a:t>
            </a:r>
            <a:r>
              <a:rPr lang="es-ES" sz="1600" dirty="0">
                <a:solidFill>
                  <a:schemeClr val="accent1"/>
                </a:solidFill>
                <a:latin typeface="Century Gothic" panose="020B0502020202020204" pitchFamily="34" charset="0"/>
                <a:sym typeface="Arial" charset="0"/>
              </a:rPr>
              <a:t> • </a:t>
            </a:r>
            <a:r>
              <a:rPr lang="es-CO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30% = 3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27B02E6-E344-484B-331A-2E7FF48D44B7}"/>
              </a:ext>
            </a:extLst>
          </p:cNvPr>
          <p:cNvGrpSpPr/>
          <p:nvPr/>
        </p:nvGrpSpPr>
        <p:grpSpPr>
          <a:xfrm>
            <a:off x="2098653" y="1905759"/>
            <a:ext cx="6015174" cy="2206595"/>
            <a:chOff x="1804678" y="1905759"/>
            <a:chExt cx="5403850" cy="2206595"/>
          </a:xfrm>
        </p:grpSpPr>
        <p:sp>
          <p:nvSpPr>
            <p:cNvPr id="11" name="AutoShape 12">
              <a:extLst>
                <a:ext uri="{FF2B5EF4-FFF2-40B4-BE49-F238E27FC236}">
                  <a16:creationId xmlns:a16="http://schemas.microsoft.com/office/drawing/2014/main" id="{FC6ECF80-5745-2917-F860-F8F3D6CC7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678" y="1905759"/>
              <a:ext cx="5403850" cy="220659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45719" tIns="45719" rIns="45719" bIns="45719"/>
            <a:lstStyle/>
            <a:p>
              <a:pPr lvl="1">
                <a:lnSpc>
                  <a:spcPct val="120000"/>
                </a:lnSpc>
              </a:pPr>
              <a:endParaRPr lang="es-ES" sz="900" dirty="0">
                <a:cs typeface="Arial" charset="0"/>
                <a:sym typeface="Arial" charset="0"/>
              </a:endParaRP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(+) Ingresos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(-)  Costos de Venta</a:t>
              </a:r>
            </a:p>
            <a:p>
              <a:pPr lvl="1">
                <a:lnSpc>
                  <a:spcPct val="120000"/>
                </a:lnSpc>
              </a:pPr>
              <a:endParaRPr lang="es-ES" sz="400" b="1" dirty="0">
                <a:solidFill>
                  <a:srgbClr val="C00000"/>
                </a:solidFill>
                <a:cs typeface="Arial" charset="0"/>
                <a:sym typeface="Arial" charset="0"/>
              </a:endParaRPr>
            </a:p>
            <a:p>
              <a:pPr lvl="1">
                <a:lnSpc>
                  <a:spcPct val="120000"/>
                </a:lnSpc>
              </a:pP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      Utilidad Bruta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(-)  Gastos AOM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(-)  Depreciaciones &amp; Amortizaciones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      EBIT (UAII)</a:t>
              </a:r>
              <a:endParaRPr lang="es-ES" sz="2000" dirty="0">
                <a:solidFill>
                  <a:srgbClr val="C00000"/>
                </a:solidFill>
                <a:cs typeface="Arial" charset="0"/>
                <a:sym typeface="Arial" charset="0"/>
              </a:endParaRPr>
            </a:p>
            <a:p>
              <a:pPr lvl="1">
                <a:lnSpc>
                  <a:spcPct val="120000"/>
                </a:lnSpc>
              </a:pPr>
              <a:endParaRPr lang="es-ES" sz="2000" dirty="0">
                <a:cs typeface="Arial" charset="0"/>
                <a:sym typeface="Arial" charset="0"/>
              </a:endParaRPr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977D0303-F8C2-FBD2-379E-17438707A5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4104" y="2843228"/>
              <a:ext cx="3640132" cy="44285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 dirty="0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090FE323-CE02-B2CA-CC10-08D7F43D98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0446" y="4011003"/>
              <a:ext cx="3602032" cy="25948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 dirty="0">
                <a:latin typeface="Helvetica" charset="0"/>
                <a:cs typeface="Helvetica" charset="0"/>
                <a:sym typeface="Helvetica" charset="0"/>
              </a:endParaRP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7C910A8-886F-D28A-5135-DC9D749D5C3E}"/>
              </a:ext>
            </a:extLst>
          </p:cNvPr>
          <p:cNvGrpSpPr/>
          <p:nvPr/>
        </p:nvGrpSpPr>
        <p:grpSpPr>
          <a:xfrm>
            <a:off x="2427186" y="3970488"/>
            <a:ext cx="5770018" cy="2383645"/>
            <a:chOff x="2133211" y="3970488"/>
            <a:chExt cx="5770018" cy="2383645"/>
          </a:xfrm>
        </p:grpSpPr>
        <p:sp>
          <p:nvSpPr>
            <p:cNvPr id="15" name="AutoShape 1">
              <a:extLst>
                <a:ext uri="{FF2B5EF4-FFF2-40B4-BE49-F238E27FC236}">
                  <a16:creationId xmlns:a16="http://schemas.microsoft.com/office/drawing/2014/main" id="{76FBE78A-9AA7-3FDC-17FE-B108EA275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3211" y="3970488"/>
              <a:ext cx="5770018" cy="220659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45719" tIns="45719" rIns="45719" bIns="45719" anchor="t"/>
            <a:lstStyle/>
            <a:p>
              <a:pPr lvl="1"/>
              <a:endParaRPr lang="es-ES" sz="300" dirty="0">
                <a:solidFill>
                  <a:schemeClr val="accent1"/>
                </a:solidFill>
                <a:cs typeface="Arial" charset="0"/>
                <a:sym typeface="Arial" charset="0"/>
              </a:endParaRPr>
            </a:p>
            <a:p>
              <a:r>
                <a:rPr lang="es-ES" sz="2000" dirty="0">
                  <a:cs typeface="Arial" charset="0"/>
                  <a:sym typeface="Arial" charset="0"/>
                </a:rPr>
                <a:t>     </a:t>
              </a:r>
            </a:p>
            <a:p>
              <a:r>
                <a:rPr lang="es-ES" sz="2000" dirty="0">
                  <a:cs typeface="Arial" charset="0"/>
                  <a:sym typeface="Arial" charset="0"/>
                </a:rPr>
                <a:t>       (+) Depreciaciones &amp; Amortizaciones</a:t>
              </a:r>
            </a:p>
            <a:p>
              <a:endParaRPr lang="es-ES" sz="100" dirty="0">
                <a:solidFill>
                  <a:schemeClr val="accent1"/>
                </a:solidFill>
                <a:cs typeface="Arial" charset="0"/>
                <a:sym typeface="Arial" charset="0"/>
              </a:endParaRPr>
            </a:p>
            <a:p>
              <a:r>
                <a:rPr lang="es-ES" sz="2000" dirty="0">
                  <a:solidFill>
                    <a:schemeClr val="accent1"/>
                  </a:solidFill>
                  <a:cs typeface="Arial" charset="0"/>
                  <a:sym typeface="Arial" charset="0"/>
                </a:rPr>
                <a:t>        </a:t>
              </a: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EBITDA</a:t>
              </a:r>
              <a:endParaRPr lang="es-ES" sz="2000" dirty="0">
                <a:solidFill>
                  <a:srgbClr val="C00000"/>
                </a:solidFill>
                <a:cs typeface="Arial" charset="0"/>
                <a:sym typeface="Arial" charset="0"/>
              </a:endParaRPr>
            </a:p>
            <a:p>
              <a:endParaRPr lang="es-ES" sz="400" dirty="0">
                <a:cs typeface="Arial" charset="0"/>
                <a:sym typeface="Arial" charset="0"/>
              </a:endParaRPr>
            </a:p>
            <a:p>
              <a:r>
                <a:rPr lang="es-ES" sz="2000" dirty="0">
                  <a:cs typeface="Arial" charset="0"/>
                  <a:sym typeface="Arial" charset="0"/>
                </a:rPr>
                <a:t>       (-)  Variación en WK</a:t>
              </a:r>
            </a:p>
            <a:p>
              <a:r>
                <a:rPr lang="es-ES" sz="2000" dirty="0">
                  <a:cs typeface="Arial" charset="0"/>
                  <a:sym typeface="Arial" charset="0"/>
                </a:rPr>
                <a:t>       (-)  Variación de Activos No Corrientes (CAPEX)</a:t>
              </a:r>
            </a:p>
            <a:p>
              <a:r>
                <a:rPr lang="es-ES" sz="2000" dirty="0">
                  <a:cs typeface="Arial"/>
                  <a:sym typeface="Arial" charset="0"/>
                </a:rPr>
                <a:t>       (-)  Impuesto Operacional (EBIT • Tasa Imp)</a:t>
              </a:r>
              <a:br>
                <a:rPr lang="es-ES" sz="2000" dirty="0">
                  <a:cs typeface="Arial" charset="0"/>
                </a:rPr>
              </a:br>
              <a:r>
                <a:rPr lang="es-ES" sz="2000">
                  <a:cs typeface="Arial"/>
                  <a:sym typeface="Arial" charset="0"/>
                </a:rPr>
                <a:t>       (-)  Impuesto por Ganancia/Pérdida Ocasional</a:t>
              </a:r>
              <a:endParaRPr lang="es-ES" sz="2000">
                <a:cs typeface="Arial"/>
              </a:endParaRPr>
            </a:p>
            <a:p>
              <a:endParaRPr lang="es-ES" sz="900" dirty="0">
                <a:solidFill>
                  <a:schemeClr val="accent1"/>
                </a:solidFill>
                <a:cs typeface="Arial" charset="0"/>
                <a:sym typeface="Arial" charset="0"/>
              </a:endParaRPr>
            </a:p>
            <a:p>
              <a:r>
                <a:rPr lang="es-ES" sz="2000" b="1" dirty="0">
                  <a:solidFill>
                    <a:schemeClr val="accent1"/>
                  </a:solidFill>
                  <a:cs typeface="Arial" charset="0"/>
                  <a:sym typeface="Arial" charset="0"/>
                </a:rPr>
                <a:t>        </a:t>
              </a: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Flujo de Caja Libre (FCL)</a:t>
              </a:r>
            </a:p>
          </p:txBody>
        </p:sp>
        <p:sp>
          <p:nvSpPr>
            <p:cNvPr id="16" name="Line 2">
              <a:extLst>
                <a:ext uri="{FF2B5EF4-FFF2-40B4-BE49-F238E27FC236}">
                  <a16:creationId xmlns:a16="http://schemas.microsoft.com/office/drawing/2014/main" id="{08879653-468A-CBFC-30A5-F6D458D7CB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7281" y="5037125"/>
              <a:ext cx="3981034" cy="12698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17" name="Line 3">
              <a:extLst>
                <a:ext uri="{FF2B5EF4-FFF2-40B4-BE49-F238E27FC236}">
                  <a16:creationId xmlns:a16="http://schemas.microsoft.com/office/drawing/2014/main" id="{DD585A85-EDCC-691F-136A-34B9FC0E9D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111" y="6341435"/>
              <a:ext cx="4004204" cy="12698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>
                <a:latin typeface="Helvetica" charset="0"/>
                <a:cs typeface="Helvetica" charset="0"/>
                <a:sym typeface="Helvetica" charset="0"/>
              </a:endParaRPr>
            </a:p>
          </p:txBody>
        </p:sp>
      </p:grpSp>
      <p:sp>
        <p:nvSpPr>
          <p:cNvPr id="18" name="Abrir llave 17">
            <a:extLst>
              <a:ext uri="{FF2B5EF4-FFF2-40B4-BE49-F238E27FC236}">
                <a16:creationId xmlns:a16="http://schemas.microsoft.com/office/drawing/2014/main" id="{0F8B62FF-63E2-D18C-9DF2-451A262DBDCF}"/>
              </a:ext>
            </a:extLst>
          </p:cNvPr>
          <p:cNvSpPr/>
          <p:nvPr/>
        </p:nvSpPr>
        <p:spPr>
          <a:xfrm>
            <a:off x="2372723" y="2219217"/>
            <a:ext cx="205356" cy="2160079"/>
          </a:xfrm>
          <a:prstGeom prst="leftBrac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9C13004-0E17-462E-542D-B0D6CFA59ADE}"/>
              </a:ext>
            </a:extLst>
          </p:cNvPr>
          <p:cNvSpPr txBox="1"/>
          <p:nvPr/>
        </p:nvSpPr>
        <p:spPr>
          <a:xfrm>
            <a:off x="421298" y="2821557"/>
            <a:ext cx="2005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chemeClr val="accent1"/>
                </a:solidFill>
                <a:latin typeface="Century Gothic"/>
              </a:rPr>
              <a:t>Estado de Resultados</a:t>
            </a:r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DA399FDC-48B2-AF29-1758-710457078882}"/>
              </a:ext>
            </a:extLst>
          </p:cNvPr>
          <p:cNvSpPr/>
          <p:nvPr/>
        </p:nvSpPr>
        <p:spPr>
          <a:xfrm>
            <a:off x="2358981" y="4438510"/>
            <a:ext cx="219098" cy="1971644"/>
          </a:xfrm>
          <a:prstGeom prst="leftBrac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A34EF4D-D685-D8D4-ED9F-B99C0E1D9037}"/>
              </a:ext>
            </a:extLst>
          </p:cNvPr>
          <p:cNvSpPr txBox="1"/>
          <p:nvPr/>
        </p:nvSpPr>
        <p:spPr>
          <a:xfrm>
            <a:off x="421298" y="5127274"/>
            <a:ext cx="2005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chemeClr val="accent1"/>
                </a:solidFill>
                <a:latin typeface="Century Gothic"/>
              </a:rPr>
              <a:t>Flujo de Caja Libre</a:t>
            </a:r>
          </a:p>
        </p:txBody>
      </p:sp>
    </p:spTree>
    <p:extLst>
      <p:ext uri="{BB962C8B-B14F-4D97-AF65-F5344CB8AC3E}">
        <p14:creationId xmlns:p14="http://schemas.microsoft.com/office/powerpoint/2010/main" val="226480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D7967-2CF1-E1E5-E82D-789A26ED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397FA-28FB-61AF-FA12-804A1D4AF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IMPUESTO OCASIONAL</a:t>
            </a:r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6CFCE2-FE53-7284-A3B6-87C040DD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49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812DF4C-EC4E-6C59-181A-BAD835454A7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7110A148-EBC3-1C32-6B38-9DA278B05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5ED87D0E-5234-426E-3A03-E1AAA5C5848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C7D8B96A-A9B9-C0A5-7F51-3CEF6E50E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92190"/>
              </p:ext>
            </p:extLst>
          </p:nvPr>
        </p:nvGraphicFramePr>
        <p:xfrm>
          <a:off x="1793942" y="3917950"/>
          <a:ext cx="8453215" cy="2821940"/>
        </p:xfrm>
        <a:graphic>
          <a:graphicData uri="http://schemas.openxmlformats.org/drawingml/2006/table">
            <a:tbl>
              <a:tblPr/>
              <a:tblGrid>
                <a:gridCol w="2587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6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76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400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Año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2014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2018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596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(0)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(1)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(2)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(3)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(4)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(5)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8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Depreciación Periodo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E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Depreciación Acumulada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E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 Libros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CAPEX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6757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94191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0A7A970-69D4-26E4-D1BC-A55F795266E3}"/>
              </a:ext>
            </a:extLst>
          </p:cNvPr>
          <p:cNvSpPr txBox="1">
            <a:spLocks/>
          </p:cNvSpPr>
          <p:nvPr/>
        </p:nvSpPr>
        <p:spPr>
          <a:xfrm>
            <a:off x="581190" y="3201986"/>
            <a:ext cx="10878718" cy="7985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∆ </a:t>
            </a:r>
            <a:r>
              <a:rPr lang="es-ES" sz="1600" b="1" dirty="0">
                <a:solidFill>
                  <a:schemeClr val="accent1"/>
                </a:solidFill>
                <a:latin typeface="Century Gothic"/>
              </a:rPr>
              <a:t>CAPEX </a:t>
            </a:r>
            <a:r>
              <a:rPr lang="es-ES" sz="1600" dirty="0">
                <a:solidFill>
                  <a:schemeClr val="accent1"/>
                </a:solidFill>
                <a:latin typeface="Century Gothic"/>
              </a:rPr>
              <a:t>= COMPRA DE PPE E INTANGIBLES - VENTA DE PPE E INTANGIBLES</a:t>
            </a:r>
          </a:p>
          <a:p>
            <a:pPr marL="0" indent="0" algn="ctr">
              <a:buNone/>
            </a:pPr>
            <a:r>
              <a:rPr lang="es-E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∆ </a:t>
            </a:r>
            <a:r>
              <a:rPr lang="es-ES" sz="1600" b="1" dirty="0">
                <a:solidFill>
                  <a:schemeClr val="accent1"/>
                </a:solidFill>
                <a:latin typeface="Century Gothic"/>
              </a:rPr>
              <a:t>CAPEX </a:t>
            </a:r>
            <a:r>
              <a:rPr lang="es-ES" sz="1600" dirty="0">
                <a:solidFill>
                  <a:schemeClr val="accent1"/>
                </a:solidFill>
                <a:latin typeface="Century Gothic"/>
              </a:rPr>
              <a:t>= 0 – 25 = – 25</a:t>
            </a:r>
          </a:p>
          <a:p>
            <a:pPr marL="0" indent="0" algn="ctr">
              <a:buNone/>
            </a:pPr>
            <a:r>
              <a:rPr lang="es-E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(+/-) G/P Ocasional = (Valor Venta - Valor en libros (antes de la venta)) = (25 – 30) = – 5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endParaRPr lang="fr-FR" sz="16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Font typeface="Wingdings 2" panose="05020102010507070707" pitchFamily="18" charset="2"/>
              <a:buNone/>
            </a:pPr>
            <a:endParaRPr lang="es-ES" sz="16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80F5C277-9D08-9DB9-2900-5AF336ADB14F}"/>
              </a:ext>
            </a:extLst>
          </p:cNvPr>
          <p:cNvSpPr txBox="1">
            <a:spLocks/>
          </p:cNvSpPr>
          <p:nvPr/>
        </p:nvSpPr>
        <p:spPr>
          <a:xfrm>
            <a:off x="613083" y="1847657"/>
            <a:ext cx="10878718" cy="7985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 2" panose="05020102010507070707" pitchFamily="18" charset="2"/>
              <a:buNone/>
            </a:pPr>
            <a:r>
              <a:rPr lang="es-ES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 5: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¿Cómo será el registro en el Flujo de Caja Libre (FCL) si la venta en activos en el periodo 2 fue de 25?</a:t>
            </a:r>
          </a:p>
        </p:txBody>
      </p:sp>
    </p:spTree>
    <p:extLst>
      <p:ext uri="{BB962C8B-B14F-4D97-AF65-F5344CB8AC3E}">
        <p14:creationId xmlns:p14="http://schemas.microsoft.com/office/powerpoint/2010/main" val="19975517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ACE8B-4527-004C-71A5-E2CAC904F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C6C9D-AC3A-0DF8-7DD5-99C1FD731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/>
              </a:rPr>
              <a:t>IMPUESTO OCASIONAL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E9584E-F6E3-FFB0-680D-76BCC1C7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mtClean="0"/>
              <a:t>50</a:t>
            </a:fld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0CD6E48-03D1-6E5E-64F6-DCDEC12D170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83384194-81E0-885F-594E-E030F2B5C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700D135-10DD-C7D7-1580-0B7D0DBCFC1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227918-73FC-3CE9-AC3F-4B8337BDA124}"/>
              </a:ext>
            </a:extLst>
          </p:cNvPr>
          <p:cNvSpPr/>
          <p:nvPr/>
        </p:nvSpPr>
        <p:spPr>
          <a:xfrm>
            <a:off x="2877784" y="5969242"/>
            <a:ext cx="5019715" cy="29490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CA1BCAF-C543-7A26-D185-92B2F387AE36}"/>
              </a:ext>
            </a:extLst>
          </p:cNvPr>
          <p:cNvSpPr txBox="1"/>
          <p:nvPr/>
        </p:nvSpPr>
        <p:spPr>
          <a:xfrm>
            <a:off x="7105091" y="3572844"/>
            <a:ext cx="5021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 G/P Ocasional</a:t>
            </a:r>
            <a:r>
              <a:rPr lang="es-CO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</a:p>
          <a:p>
            <a:r>
              <a:rPr lang="es-CO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(Valor Venta - Valor en libros)</a:t>
            </a:r>
            <a:r>
              <a:rPr lang="es-ES" sz="1600" dirty="0">
                <a:solidFill>
                  <a:schemeClr val="accent1"/>
                </a:solidFill>
                <a:latin typeface="Century Gothic" panose="020B0502020202020204" pitchFamily="34" charset="0"/>
                <a:sym typeface="Arial" charset="0"/>
              </a:rPr>
              <a:t> • </a:t>
            </a:r>
            <a:r>
              <a:rPr lang="es-CO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5247BF0-56D6-9BE0-535A-9397AF685FC6}"/>
              </a:ext>
            </a:extLst>
          </p:cNvPr>
          <p:cNvSpPr txBox="1"/>
          <p:nvPr/>
        </p:nvSpPr>
        <p:spPr>
          <a:xfrm>
            <a:off x="7132596" y="4492892"/>
            <a:ext cx="4830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 G/P Ocasional </a:t>
            </a:r>
            <a:r>
              <a:rPr lang="es-CO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= (25-30)</a:t>
            </a:r>
            <a:r>
              <a:rPr lang="es-ES" sz="1600" dirty="0">
                <a:solidFill>
                  <a:schemeClr val="accent1"/>
                </a:solidFill>
                <a:latin typeface="Century Gothic" panose="020B0502020202020204" pitchFamily="34" charset="0"/>
                <a:sym typeface="Arial" charset="0"/>
              </a:rPr>
              <a:t> • </a:t>
            </a:r>
            <a:r>
              <a:rPr lang="es-CO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30% = -1,5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ED46790F-F5A0-FF64-EF05-10EDCEF36137}"/>
              </a:ext>
            </a:extLst>
          </p:cNvPr>
          <p:cNvGrpSpPr/>
          <p:nvPr/>
        </p:nvGrpSpPr>
        <p:grpSpPr>
          <a:xfrm>
            <a:off x="2098653" y="1905759"/>
            <a:ext cx="6015174" cy="2206595"/>
            <a:chOff x="1804678" y="1905759"/>
            <a:chExt cx="5403850" cy="2206595"/>
          </a:xfrm>
        </p:grpSpPr>
        <p:sp>
          <p:nvSpPr>
            <p:cNvPr id="11" name="AutoShape 12">
              <a:extLst>
                <a:ext uri="{FF2B5EF4-FFF2-40B4-BE49-F238E27FC236}">
                  <a16:creationId xmlns:a16="http://schemas.microsoft.com/office/drawing/2014/main" id="{120A2B0B-062F-7159-CA4B-64F82DE58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678" y="1905759"/>
              <a:ext cx="5403850" cy="220659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45719" tIns="45719" rIns="45719" bIns="45719"/>
            <a:lstStyle/>
            <a:p>
              <a:pPr lvl="1">
                <a:lnSpc>
                  <a:spcPct val="120000"/>
                </a:lnSpc>
              </a:pPr>
              <a:endParaRPr lang="es-ES" sz="900" dirty="0">
                <a:cs typeface="Arial" charset="0"/>
                <a:sym typeface="Arial" charset="0"/>
              </a:endParaRP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(+) Ingresos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(-)  Costos de Venta</a:t>
              </a:r>
            </a:p>
            <a:p>
              <a:pPr lvl="1">
                <a:lnSpc>
                  <a:spcPct val="120000"/>
                </a:lnSpc>
              </a:pPr>
              <a:endParaRPr lang="es-ES" sz="400" b="1" dirty="0">
                <a:solidFill>
                  <a:srgbClr val="C00000"/>
                </a:solidFill>
                <a:cs typeface="Arial" charset="0"/>
                <a:sym typeface="Arial" charset="0"/>
              </a:endParaRPr>
            </a:p>
            <a:p>
              <a:pPr lvl="1">
                <a:lnSpc>
                  <a:spcPct val="120000"/>
                </a:lnSpc>
              </a:pP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      Utilidad Bruta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(-)  Gastos AOM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dirty="0">
                  <a:cs typeface="Arial" charset="0"/>
                  <a:sym typeface="Arial" charset="0"/>
                </a:rPr>
                <a:t>(-)  Depreciaciones &amp; Amortizaciones</a:t>
              </a:r>
            </a:p>
            <a:p>
              <a:pPr lvl="1">
                <a:lnSpc>
                  <a:spcPct val="120000"/>
                </a:lnSpc>
              </a:pP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      EBIT (UAII)</a:t>
              </a:r>
              <a:endParaRPr lang="es-ES" sz="2000" dirty="0">
                <a:solidFill>
                  <a:srgbClr val="C00000"/>
                </a:solidFill>
                <a:cs typeface="Arial" charset="0"/>
                <a:sym typeface="Arial" charset="0"/>
              </a:endParaRPr>
            </a:p>
            <a:p>
              <a:pPr lvl="1">
                <a:lnSpc>
                  <a:spcPct val="120000"/>
                </a:lnSpc>
              </a:pPr>
              <a:endParaRPr lang="es-ES" sz="2000" dirty="0">
                <a:cs typeface="Arial" charset="0"/>
                <a:sym typeface="Arial" charset="0"/>
              </a:endParaRPr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C1D7BF3A-4E2F-C11A-B5F9-09B43C3AF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4104" y="2843228"/>
              <a:ext cx="3640132" cy="44285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 dirty="0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C15ABB9C-63A3-5BE7-0590-2B83C2028F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0446" y="4011003"/>
              <a:ext cx="3602032" cy="25948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 dirty="0">
                <a:latin typeface="Helvetica" charset="0"/>
                <a:cs typeface="Helvetica" charset="0"/>
                <a:sym typeface="Helvetica" charset="0"/>
              </a:endParaRP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0A566FF4-484B-0047-4601-A301B546F990}"/>
              </a:ext>
            </a:extLst>
          </p:cNvPr>
          <p:cNvGrpSpPr/>
          <p:nvPr/>
        </p:nvGrpSpPr>
        <p:grpSpPr>
          <a:xfrm>
            <a:off x="2427186" y="3970488"/>
            <a:ext cx="5770018" cy="2383645"/>
            <a:chOff x="2133211" y="3970488"/>
            <a:chExt cx="5770018" cy="2383645"/>
          </a:xfrm>
        </p:grpSpPr>
        <p:sp>
          <p:nvSpPr>
            <p:cNvPr id="15" name="AutoShape 1">
              <a:extLst>
                <a:ext uri="{FF2B5EF4-FFF2-40B4-BE49-F238E27FC236}">
                  <a16:creationId xmlns:a16="http://schemas.microsoft.com/office/drawing/2014/main" id="{6379F47B-EC9F-9CE8-3810-621FF9CFB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3211" y="3970488"/>
              <a:ext cx="5770018" cy="220659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45719" tIns="45719" rIns="45719" bIns="45719" anchor="t"/>
            <a:lstStyle/>
            <a:p>
              <a:pPr lvl="1"/>
              <a:endParaRPr lang="es-ES" sz="300" dirty="0">
                <a:solidFill>
                  <a:schemeClr val="accent1"/>
                </a:solidFill>
                <a:cs typeface="Arial" charset="0"/>
                <a:sym typeface="Arial" charset="0"/>
              </a:endParaRPr>
            </a:p>
            <a:p>
              <a:r>
                <a:rPr lang="es-ES" sz="2000" dirty="0">
                  <a:cs typeface="Arial" charset="0"/>
                  <a:sym typeface="Arial" charset="0"/>
                </a:rPr>
                <a:t>     </a:t>
              </a:r>
            </a:p>
            <a:p>
              <a:r>
                <a:rPr lang="es-ES" sz="2000" dirty="0">
                  <a:cs typeface="Arial" charset="0"/>
                  <a:sym typeface="Arial" charset="0"/>
                </a:rPr>
                <a:t>       (+) Depreciaciones &amp; Amortizaciones</a:t>
              </a:r>
            </a:p>
            <a:p>
              <a:endParaRPr lang="es-ES" sz="100" dirty="0">
                <a:solidFill>
                  <a:schemeClr val="accent1"/>
                </a:solidFill>
                <a:cs typeface="Arial" charset="0"/>
                <a:sym typeface="Arial" charset="0"/>
              </a:endParaRPr>
            </a:p>
            <a:p>
              <a:r>
                <a:rPr lang="es-ES" sz="2000" dirty="0">
                  <a:solidFill>
                    <a:schemeClr val="accent1"/>
                  </a:solidFill>
                  <a:cs typeface="Arial" charset="0"/>
                  <a:sym typeface="Arial" charset="0"/>
                </a:rPr>
                <a:t>        </a:t>
              </a: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EBITDA</a:t>
              </a:r>
              <a:endParaRPr lang="es-ES" sz="2000" dirty="0">
                <a:solidFill>
                  <a:srgbClr val="C00000"/>
                </a:solidFill>
                <a:cs typeface="Arial" charset="0"/>
                <a:sym typeface="Arial" charset="0"/>
              </a:endParaRPr>
            </a:p>
            <a:p>
              <a:endParaRPr lang="es-ES" sz="400" dirty="0">
                <a:cs typeface="Arial" charset="0"/>
                <a:sym typeface="Arial" charset="0"/>
              </a:endParaRPr>
            </a:p>
            <a:p>
              <a:r>
                <a:rPr lang="es-ES" sz="2000" dirty="0">
                  <a:cs typeface="Arial" charset="0"/>
                  <a:sym typeface="Arial" charset="0"/>
                </a:rPr>
                <a:t>       (-)  Variación en WK</a:t>
              </a:r>
            </a:p>
            <a:p>
              <a:r>
                <a:rPr lang="es-ES" sz="2000" dirty="0">
                  <a:cs typeface="Arial" charset="0"/>
                  <a:sym typeface="Arial" charset="0"/>
                </a:rPr>
                <a:t>       (-)  Variación de Activos No Corrientes (CAPEX)</a:t>
              </a:r>
            </a:p>
            <a:p>
              <a:r>
                <a:rPr lang="es-ES" sz="2000" dirty="0">
                  <a:cs typeface="Arial"/>
                  <a:sym typeface="Arial" charset="0"/>
                </a:rPr>
                <a:t>       (-)  Impuesto Operacional (EBIT • Tasa Imp)</a:t>
              </a:r>
              <a:br>
                <a:rPr lang="es-ES" sz="2000" dirty="0">
                  <a:cs typeface="Arial" charset="0"/>
                </a:rPr>
              </a:br>
              <a:r>
                <a:rPr lang="es-ES" sz="2000">
                  <a:cs typeface="Arial"/>
                  <a:sym typeface="Arial" charset="0"/>
                </a:rPr>
                <a:t>       (-)  Impuesto por Ganancia/Pérdida Ocasional</a:t>
              </a:r>
              <a:endParaRPr lang="es-ES" sz="2000">
                <a:cs typeface="Arial"/>
              </a:endParaRPr>
            </a:p>
            <a:p>
              <a:endParaRPr lang="es-ES" sz="900" dirty="0">
                <a:solidFill>
                  <a:schemeClr val="accent1"/>
                </a:solidFill>
                <a:cs typeface="Arial" charset="0"/>
                <a:sym typeface="Arial" charset="0"/>
              </a:endParaRPr>
            </a:p>
            <a:p>
              <a:r>
                <a:rPr lang="es-ES" sz="2000" b="1" dirty="0">
                  <a:solidFill>
                    <a:schemeClr val="accent1"/>
                  </a:solidFill>
                  <a:cs typeface="Arial" charset="0"/>
                  <a:sym typeface="Arial" charset="0"/>
                </a:rPr>
                <a:t>        </a:t>
              </a:r>
              <a:r>
                <a:rPr lang="es-ES" sz="2000" b="1" dirty="0">
                  <a:solidFill>
                    <a:srgbClr val="C00000"/>
                  </a:solidFill>
                  <a:cs typeface="Arial" charset="0"/>
                  <a:sym typeface="Arial" charset="0"/>
                </a:rPr>
                <a:t>Flujo de Caja Libre (FCL)</a:t>
              </a:r>
            </a:p>
          </p:txBody>
        </p:sp>
        <p:sp>
          <p:nvSpPr>
            <p:cNvPr id="16" name="Line 2">
              <a:extLst>
                <a:ext uri="{FF2B5EF4-FFF2-40B4-BE49-F238E27FC236}">
                  <a16:creationId xmlns:a16="http://schemas.microsoft.com/office/drawing/2014/main" id="{1D8F477B-B13F-8C0E-5B31-5FCFEA8A08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7281" y="5037125"/>
              <a:ext cx="3981034" cy="12698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17" name="Line 3">
              <a:extLst>
                <a:ext uri="{FF2B5EF4-FFF2-40B4-BE49-F238E27FC236}">
                  <a16:creationId xmlns:a16="http://schemas.microsoft.com/office/drawing/2014/main" id="{CBDE7248-9B7E-3622-57E0-6F757C9EA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111" y="6341435"/>
              <a:ext cx="4004204" cy="12698"/>
            </a:xfrm>
            <a:prstGeom prst="line">
              <a:avLst/>
            </a:prstGeom>
            <a:noFill/>
            <a:ln w="25400" cap="flat" cmpd="sng">
              <a:solidFill>
                <a:srgbClr val="4F81BD"/>
              </a:solidFill>
              <a:prstDash val="solid"/>
              <a:round/>
              <a:headEnd/>
              <a:tailEnd/>
            </a:ln>
            <a:effectLst>
              <a:outerShdw blurRad="38100" dist="20000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45719" tIns="45719" rIns="45719" bIns="45719"/>
            <a:lstStyle/>
            <a:p>
              <a:endParaRPr lang="es-ES" sz="1600">
                <a:latin typeface="Helvetica" charset="0"/>
                <a:cs typeface="Helvetica" charset="0"/>
                <a:sym typeface="Helvetica" charset="0"/>
              </a:endParaRPr>
            </a:p>
          </p:txBody>
        </p:sp>
      </p:grpSp>
      <p:sp>
        <p:nvSpPr>
          <p:cNvPr id="18" name="Abrir llave 17">
            <a:extLst>
              <a:ext uri="{FF2B5EF4-FFF2-40B4-BE49-F238E27FC236}">
                <a16:creationId xmlns:a16="http://schemas.microsoft.com/office/drawing/2014/main" id="{DD22DDE3-4813-92D5-4D0F-4A96D5FECA50}"/>
              </a:ext>
            </a:extLst>
          </p:cNvPr>
          <p:cNvSpPr/>
          <p:nvPr/>
        </p:nvSpPr>
        <p:spPr>
          <a:xfrm>
            <a:off x="2372723" y="2219217"/>
            <a:ext cx="205356" cy="2160079"/>
          </a:xfrm>
          <a:prstGeom prst="leftBrac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A18883F-F684-0581-D043-875212346556}"/>
              </a:ext>
            </a:extLst>
          </p:cNvPr>
          <p:cNvSpPr txBox="1"/>
          <p:nvPr/>
        </p:nvSpPr>
        <p:spPr>
          <a:xfrm>
            <a:off x="421298" y="2821557"/>
            <a:ext cx="2005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chemeClr val="accent1"/>
                </a:solidFill>
                <a:latin typeface="Century Gothic"/>
              </a:rPr>
              <a:t>Estado de Resultados</a:t>
            </a:r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B54782E3-658A-4A16-9FB6-6DDAF909C650}"/>
              </a:ext>
            </a:extLst>
          </p:cNvPr>
          <p:cNvSpPr/>
          <p:nvPr/>
        </p:nvSpPr>
        <p:spPr>
          <a:xfrm>
            <a:off x="2358981" y="4438510"/>
            <a:ext cx="219098" cy="1971644"/>
          </a:xfrm>
          <a:prstGeom prst="leftBrac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7CBCECC-D4C8-9A37-888A-93049FB78D29}"/>
              </a:ext>
            </a:extLst>
          </p:cNvPr>
          <p:cNvSpPr txBox="1"/>
          <p:nvPr/>
        </p:nvSpPr>
        <p:spPr>
          <a:xfrm>
            <a:off x="421298" y="5127274"/>
            <a:ext cx="2005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chemeClr val="accent1"/>
                </a:solidFill>
                <a:latin typeface="Century Gothic"/>
              </a:rPr>
              <a:t>Flujo de Caja Libre</a:t>
            </a:r>
          </a:p>
        </p:txBody>
      </p:sp>
    </p:spTree>
    <p:extLst>
      <p:ext uri="{BB962C8B-B14F-4D97-AF65-F5344CB8AC3E}">
        <p14:creationId xmlns:p14="http://schemas.microsoft.com/office/powerpoint/2010/main" val="343250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E648F019-4A15-BB52-31C8-516379DFA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1266506" cy="826833"/>
          </a:xfrm>
        </p:spPr>
        <p:txBody>
          <a:bodyPr>
            <a:noAutofit/>
          </a:bodyPr>
          <a:lstStyle/>
          <a:p>
            <a:r>
              <a:rPr lang="es-CO" sz="3200" dirty="0">
                <a:latin typeface="Century Gothic"/>
                <a:ea typeface="+mj-lt"/>
                <a:cs typeface="+mj-lt"/>
              </a:rPr>
              <a:t>LA CONSTRUCCIÓN DEL FLUJO DE CAJA LIBRE DE un PROYECTO (</a:t>
            </a:r>
            <a:r>
              <a:rPr lang="es-CO" sz="3200" dirty="0" err="1">
                <a:solidFill>
                  <a:srgbClr val="D7A700"/>
                </a:solidFill>
                <a:latin typeface="Century Gothic"/>
                <a:ea typeface="+mj-lt"/>
                <a:cs typeface="+mj-lt"/>
              </a:rPr>
              <a:t>PaRTE</a:t>
            </a:r>
            <a:r>
              <a:rPr lang="es-CO" sz="3200" dirty="0">
                <a:solidFill>
                  <a:srgbClr val="D7A700"/>
                </a:solidFill>
                <a:latin typeface="Century Gothic"/>
                <a:ea typeface="+mj-lt"/>
                <a:cs typeface="+mj-lt"/>
              </a:rPr>
              <a:t> III</a:t>
            </a:r>
            <a:r>
              <a:rPr lang="es-CO" sz="3200" dirty="0">
                <a:latin typeface="Century Gothic"/>
                <a:ea typeface="+mj-lt"/>
                <a:cs typeface="+mj-lt"/>
              </a:rPr>
              <a:t>)</a:t>
            </a:r>
            <a:endParaRPr lang="es-ES" dirty="0">
              <a:latin typeface="Century Gothic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0EA3E87-E55D-1A5A-0213-898584679795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FFD1143-6641-C27C-23E7-F02749BF0C7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00231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abd047c-ff48-492a-8bbb-8f98b9fb9cca}" enabled="0" method="" siteId="{fabd047c-ff48-492a-8bbb-8f98b9fb9cc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7610</TotalTime>
  <Words>4382</Words>
  <Application>Microsoft Office PowerPoint</Application>
  <PresentationFormat>Widescreen</PresentationFormat>
  <Paragraphs>1277</Paragraphs>
  <Slides>51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Arial</vt:lpstr>
      <vt:lpstr>Calibri</vt:lpstr>
      <vt:lpstr>Cambria Math</vt:lpstr>
      <vt:lpstr>Century Gothic</vt:lpstr>
      <vt:lpstr>Gill Sans Light</vt:lpstr>
      <vt:lpstr>Gill Sans MT</vt:lpstr>
      <vt:lpstr>Helvetica</vt:lpstr>
      <vt:lpstr>Wingdings 2</vt:lpstr>
      <vt:lpstr>Dividendo</vt:lpstr>
      <vt:lpstr>LA CONSTRUCCIÓN DEL FLUJO DE CAJA LIBRE DE un PROYECTO (PaRTE III)</vt:lpstr>
      <vt:lpstr>AGENDA PROPUESTA</vt:lpstr>
      <vt:lpstr>AGENDA PROPUESTA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AGENDA PROPUESTA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Capital de Trabajo (WC)</vt:lpstr>
      <vt:lpstr>AGENDA PROPUESTA</vt:lpstr>
      <vt:lpstr>Variación de PPE e Intangibles (CAPEX)</vt:lpstr>
      <vt:lpstr>Variación de PPE e Intangibles (CAPEX)</vt:lpstr>
      <vt:lpstr>Variación de PPE e Intangibles (CAPEX)</vt:lpstr>
      <vt:lpstr>Variación de PPE e Intangibles (CAPEX)</vt:lpstr>
      <vt:lpstr>Variación de PPE e Intangibles (CAPEX)</vt:lpstr>
      <vt:lpstr>Variación de PPE e Intangibles (CAPEX)</vt:lpstr>
      <vt:lpstr>Variación de PPE e Intangibles (CAPEX)</vt:lpstr>
      <vt:lpstr>Variación de PPE e Intangibles (CAPEX)</vt:lpstr>
      <vt:lpstr>Variación de PPE e Intangibles (CAPEX)</vt:lpstr>
      <vt:lpstr>Variación de PPE e Intangibles (CAPEX)</vt:lpstr>
      <vt:lpstr>Variación de PPE e Intangibles (CAPEX)</vt:lpstr>
      <vt:lpstr>Variación de PPE e Intangibles (CAPEX)</vt:lpstr>
      <vt:lpstr>Variación de PPE e Intangibles (CAPEX)</vt:lpstr>
      <vt:lpstr>AGENDA PROPUESTA</vt:lpstr>
      <vt:lpstr>IMPUESTO OCASIONAL</vt:lpstr>
      <vt:lpstr>IMPUESTO OCASIONAL</vt:lpstr>
      <vt:lpstr>IMPUESTO OCASIONAL</vt:lpstr>
      <vt:lpstr>IMPUESTO OCASIONAL</vt:lpstr>
      <vt:lpstr>IMPUESTO OCASIONAL</vt:lpstr>
      <vt:lpstr>IMPUESTO OCASIONAL</vt:lpstr>
      <vt:lpstr>LA CONSTRUCCIÓN DEL FLUJO DE CAJA LIBRE DE un PROYECTO (PaRTE III)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Pedro Ruiz</cp:lastModifiedBy>
  <cp:revision>167</cp:revision>
  <dcterms:created xsi:type="dcterms:W3CDTF">2019-06-20T04:25:04Z</dcterms:created>
  <dcterms:modified xsi:type="dcterms:W3CDTF">2026-02-22T23:51:11Z</dcterms:modified>
</cp:coreProperties>
</file>