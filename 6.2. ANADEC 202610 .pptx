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3"/>
  </p:notesMasterIdLst>
  <p:handoutMasterIdLst>
    <p:handoutMasterId r:id="rId44"/>
  </p:handoutMasterIdLst>
  <p:sldIdLst>
    <p:sldId id="398" r:id="rId2"/>
    <p:sldId id="354" r:id="rId3"/>
    <p:sldId id="442" r:id="rId4"/>
    <p:sldId id="386" r:id="rId5"/>
    <p:sldId id="265" r:id="rId6"/>
    <p:sldId id="339" r:id="rId7"/>
    <p:sldId id="340" r:id="rId8"/>
    <p:sldId id="341" r:id="rId9"/>
    <p:sldId id="342" r:id="rId10"/>
    <p:sldId id="343" r:id="rId11"/>
    <p:sldId id="484" r:id="rId12"/>
    <p:sldId id="345" r:id="rId13"/>
    <p:sldId id="443" r:id="rId14"/>
    <p:sldId id="346" r:id="rId15"/>
    <p:sldId id="347" r:id="rId16"/>
    <p:sldId id="365" r:id="rId17"/>
    <p:sldId id="349" r:id="rId18"/>
    <p:sldId id="494" r:id="rId19"/>
    <p:sldId id="350" r:id="rId20"/>
    <p:sldId id="348" r:id="rId21"/>
    <p:sldId id="485" r:id="rId22"/>
    <p:sldId id="352" r:id="rId23"/>
    <p:sldId id="353" r:id="rId24"/>
    <p:sldId id="408" r:id="rId25"/>
    <p:sldId id="409" r:id="rId26"/>
    <p:sldId id="360" r:id="rId27"/>
    <p:sldId id="417" r:id="rId28"/>
    <p:sldId id="418" r:id="rId29"/>
    <p:sldId id="419" r:id="rId30"/>
    <p:sldId id="420" r:id="rId31"/>
    <p:sldId id="493" r:id="rId32"/>
    <p:sldId id="433" r:id="rId33"/>
    <p:sldId id="486" r:id="rId34"/>
    <p:sldId id="487" r:id="rId35"/>
    <p:sldId id="488" r:id="rId36"/>
    <p:sldId id="422" r:id="rId37"/>
    <p:sldId id="489" r:id="rId38"/>
    <p:sldId id="483" r:id="rId39"/>
    <p:sldId id="490" r:id="rId40"/>
    <p:sldId id="492" r:id="rId41"/>
    <p:sldId id="403"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7A700"/>
    <a:srgbClr val="002F90"/>
    <a:srgbClr val="6666FF"/>
    <a:srgbClr val="FFF4E6"/>
    <a:srgbClr val="E8F8FA"/>
    <a:srgbClr val="DFFFFF"/>
    <a:srgbClr val="FF6600"/>
    <a:srgbClr val="33CC33"/>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AD544F-6B20-4315-AE31-25DB1713BD82}" v="3" dt="2026-03-26T13:58:45.11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67"/>
    <p:restoredTop sz="94751"/>
  </p:normalViewPr>
  <p:slideViewPr>
    <p:cSldViewPr snapToGrid="0">
      <p:cViewPr varScale="1">
        <p:scale>
          <a:sx n="73" d="100"/>
          <a:sy n="73" d="100"/>
        </p:scale>
        <p:origin x="2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oleObject" Target="NVD:Users:NICOLAS:Dropbox:Academia:ANADEC:Presentaciones:Soportes:6%20-%20Seleccio&#769;n%20de%20Proyecto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9.2188142923536442E-2"/>
          <c:y val="4.3785814963089219E-2"/>
          <c:w val="0.88588153481666843"/>
          <c:h val="0.81772814619259304"/>
        </c:manualLayout>
      </c:layout>
      <c:lineChart>
        <c:grouping val="standard"/>
        <c:varyColors val="0"/>
        <c:ser>
          <c:idx val="0"/>
          <c:order val="0"/>
          <c:tx>
            <c:strRef>
              <c:f>Sheet1!$F$109</c:f>
              <c:strCache>
                <c:ptCount val="1"/>
                <c:pt idx="0">
                  <c:v>VPN (Proyecto A)</c:v>
                </c:pt>
              </c:strCache>
            </c:strRef>
          </c:tx>
          <c:spPr>
            <a:ln w="28575" cmpd="sng">
              <a:solidFill>
                <a:schemeClr val="accent6"/>
              </a:solidFill>
            </a:ln>
          </c:spPr>
          <c:marker>
            <c:symbol val="none"/>
          </c:marker>
          <c:cat>
            <c:numRef>
              <c:f>Sheet1!$J$111:$J$127</c:f>
              <c:numCache>
                <c:formatCode>0%</c:formatCode>
                <c:ptCount val="17"/>
                <c:pt idx="0">
                  <c:v>0.08</c:v>
                </c:pt>
                <c:pt idx="1">
                  <c:v>0.09</c:v>
                </c:pt>
                <c:pt idx="2">
                  <c:v>0.1</c:v>
                </c:pt>
                <c:pt idx="3">
                  <c:v>0.11</c:v>
                </c:pt>
                <c:pt idx="4">
                  <c:v>0.12</c:v>
                </c:pt>
                <c:pt idx="5">
                  <c:v>0.13</c:v>
                </c:pt>
                <c:pt idx="6">
                  <c:v>0.14000000000000001</c:v>
                </c:pt>
                <c:pt idx="7">
                  <c:v>0.15</c:v>
                </c:pt>
                <c:pt idx="8">
                  <c:v>0.16</c:v>
                </c:pt>
                <c:pt idx="9">
                  <c:v>0.17</c:v>
                </c:pt>
                <c:pt idx="10">
                  <c:v>0.18</c:v>
                </c:pt>
                <c:pt idx="11">
                  <c:v>0.19</c:v>
                </c:pt>
                <c:pt idx="12">
                  <c:v>0.2</c:v>
                </c:pt>
                <c:pt idx="13">
                  <c:v>0.21</c:v>
                </c:pt>
                <c:pt idx="14">
                  <c:v>0.22</c:v>
                </c:pt>
                <c:pt idx="15">
                  <c:v>0.23</c:v>
                </c:pt>
                <c:pt idx="16">
                  <c:v>0.24</c:v>
                </c:pt>
              </c:numCache>
            </c:numRef>
          </c:cat>
          <c:val>
            <c:numRef>
              <c:f>Sheet1!$G$111:$G$127</c:f>
              <c:numCache>
                <c:formatCode>_(* #.##000_);_(* \(#.##000\);_(* "-"_);_(@_)</c:formatCode>
                <c:ptCount val="17"/>
                <c:pt idx="0">
                  <c:v>437.37561334811022</c:v>
                </c:pt>
                <c:pt idx="1">
                  <c:v>400.27445480661783</c:v>
                </c:pt>
                <c:pt idx="2">
                  <c:v>364.68323698704131</c:v>
                </c:pt>
                <c:pt idx="3">
                  <c:v>330.52292635380797</c:v>
                </c:pt>
                <c:pt idx="4">
                  <c:v>297.71943284420217</c:v>
                </c:pt>
                <c:pt idx="5">
                  <c:v>266.20325415537451</c:v>
                </c:pt>
                <c:pt idx="6">
                  <c:v>235.90914878904621</c:v>
                </c:pt>
                <c:pt idx="7">
                  <c:v>206.77583528410489</c:v>
                </c:pt>
                <c:pt idx="8">
                  <c:v>178.74571531804509</c:v>
                </c:pt>
                <c:pt idx="9">
                  <c:v>151.76461858251761</c:v>
                </c:pt>
                <c:pt idx="10">
                  <c:v>125.781567539083</c:v>
                </c:pt>
                <c:pt idx="11">
                  <c:v>100.74856034125079</c:v>
                </c:pt>
                <c:pt idx="12">
                  <c:v>76.620370370370253</c:v>
                </c:pt>
                <c:pt idx="13">
                  <c:v>53.354360977945483</c:v>
                </c:pt>
                <c:pt idx="14">
                  <c:v>30.910314157295719</c:v>
                </c:pt>
                <c:pt idx="15">
                  <c:v>9.2502719847544448</c:v>
                </c:pt>
                <c:pt idx="16">
                  <c:v>-11.661610223789131</c:v>
                </c:pt>
              </c:numCache>
            </c:numRef>
          </c:val>
          <c:smooth val="0"/>
          <c:extLst>
            <c:ext xmlns:c16="http://schemas.microsoft.com/office/drawing/2014/chart" uri="{C3380CC4-5D6E-409C-BE32-E72D297353CC}">
              <c16:uniqueId val="{00000000-3BD6-4201-8169-DBE587AC48D9}"/>
            </c:ext>
          </c:extLst>
        </c:ser>
        <c:ser>
          <c:idx val="1"/>
          <c:order val="1"/>
          <c:tx>
            <c:strRef>
              <c:f>Sheet1!$H$109</c:f>
              <c:strCache>
                <c:ptCount val="1"/>
                <c:pt idx="0">
                  <c:v>VPN (Proyecto B)</c:v>
                </c:pt>
              </c:strCache>
            </c:strRef>
          </c:tx>
          <c:spPr>
            <a:ln w="28575" cmpd="sng"/>
          </c:spPr>
          <c:marker>
            <c:symbol val="none"/>
          </c:marker>
          <c:cat>
            <c:numRef>
              <c:f>Sheet1!$J$111:$J$127</c:f>
              <c:numCache>
                <c:formatCode>0%</c:formatCode>
                <c:ptCount val="17"/>
                <c:pt idx="0">
                  <c:v>0.08</c:v>
                </c:pt>
                <c:pt idx="1">
                  <c:v>0.09</c:v>
                </c:pt>
                <c:pt idx="2">
                  <c:v>0.1</c:v>
                </c:pt>
                <c:pt idx="3">
                  <c:v>0.11</c:v>
                </c:pt>
                <c:pt idx="4">
                  <c:v>0.12</c:v>
                </c:pt>
                <c:pt idx="5">
                  <c:v>0.13</c:v>
                </c:pt>
                <c:pt idx="6">
                  <c:v>0.14000000000000001</c:v>
                </c:pt>
                <c:pt idx="7">
                  <c:v>0.15</c:v>
                </c:pt>
                <c:pt idx="8">
                  <c:v>0.16</c:v>
                </c:pt>
                <c:pt idx="9">
                  <c:v>0.17</c:v>
                </c:pt>
                <c:pt idx="10">
                  <c:v>0.18</c:v>
                </c:pt>
                <c:pt idx="11">
                  <c:v>0.19</c:v>
                </c:pt>
                <c:pt idx="12">
                  <c:v>0.2</c:v>
                </c:pt>
                <c:pt idx="13">
                  <c:v>0.21</c:v>
                </c:pt>
                <c:pt idx="14">
                  <c:v>0.22</c:v>
                </c:pt>
                <c:pt idx="15">
                  <c:v>0.23</c:v>
                </c:pt>
                <c:pt idx="16">
                  <c:v>0.24</c:v>
                </c:pt>
              </c:numCache>
            </c:numRef>
          </c:cat>
          <c:val>
            <c:numRef>
              <c:f>Sheet1!$I$111:$I$127</c:f>
              <c:numCache>
                <c:formatCode>_(* #.##000_);_(* \(#.##000\);_(* "-"_);_(@_)</c:formatCode>
                <c:ptCount val="17"/>
                <c:pt idx="0">
                  <c:v>496.35501853904219</c:v>
                </c:pt>
                <c:pt idx="1">
                  <c:v>444.82563167585801</c:v>
                </c:pt>
                <c:pt idx="2">
                  <c:v>395.39338470422348</c:v>
                </c:pt>
                <c:pt idx="3">
                  <c:v>347.9485088247331</c:v>
                </c:pt>
                <c:pt idx="4">
                  <c:v>302.38810117250318</c:v>
                </c:pt>
                <c:pt idx="5">
                  <c:v>258.6156307713531</c:v>
                </c:pt>
                <c:pt idx="6">
                  <c:v>216.54048442923019</c:v>
                </c:pt>
                <c:pt idx="7">
                  <c:v>176.07754900570129</c:v>
                </c:pt>
                <c:pt idx="8">
                  <c:v>137.14682683061801</c:v>
                </c:pt>
                <c:pt idx="9">
                  <c:v>99.673081364607739</c:v>
                </c:pt>
                <c:pt idx="10">
                  <c:v>63.58551047094852</c:v>
                </c:pt>
                <c:pt idx="11">
                  <c:v>28.817444918404131</c:v>
                </c:pt>
                <c:pt idx="12">
                  <c:v>-4.6939300411520337</c:v>
                </c:pt>
                <c:pt idx="13">
                  <c:v>-37.007831975075312</c:v>
                </c:pt>
                <c:pt idx="14">
                  <c:v>-68.180119225978004</c:v>
                </c:pt>
                <c:pt idx="15">
                  <c:v>-98.263511132285274</c:v>
                </c:pt>
                <c:pt idx="16">
                  <c:v>-127.3077919774848</c:v>
                </c:pt>
              </c:numCache>
            </c:numRef>
          </c:val>
          <c:smooth val="0"/>
          <c:extLst>
            <c:ext xmlns:c16="http://schemas.microsoft.com/office/drawing/2014/chart" uri="{C3380CC4-5D6E-409C-BE32-E72D297353CC}">
              <c16:uniqueId val="{00000001-3BD6-4201-8169-DBE587AC48D9}"/>
            </c:ext>
          </c:extLst>
        </c:ser>
        <c:ser>
          <c:idx val="2"/>
          <c:order val="2"/>
          <c:tx>
            <c:strRef>
              <c:f>Sheet1!$J$109</c:f>
              <c:strCache>
                <c:ptCount val="1"/>
                <c:pt idx="0">
                  <c:v>B - A</c:v>
                </c:pt>
              </c:strCache>
            </c:strRef>
          </c:tx>
          <c:spPr>
            <a:ln w="28575" cmpd="sng">
              <a:solidFill>
                <a:schemeClr val="accent5"/>
              </a:solidFill>
            </a:ln>
          </c:spPr>
          <c:marker>
            <c:symbol val="none"/>
          </c:marker>
          <c:cat>
            <c:numRef>
              <c:f>Sheet1!$J$111:$J$127</c:f>
              <c:numCache>
                <c:formatCode>0%</c:formatCode>
                <c:ptCount val="17"/>
                <c:pt idx="0">
                  <c:v>0.08</c:v>
                </c:pt>
                <c:pt idx="1">
                  <c:v>0.09</c:v>
                </c:pt>
                <c:pt idx="2">
                  <c:v>0.1</c:v>
                </c:pt>
                <c:pt idx="3">
                  <c:v>0.11</c:v>
                </c:pt>
                <c:pt idx="4">
                  <c:v>0.12</c:v>
                </c:pt>
                <c:pt idx="5">
                  <c:v>0.13</c:v>
                </c:pt>
                <c:pt idx="6">
                  <c:v>0.14000000000000001</c:v>
                </c:pt>
                <c:pt idx="7">
                  <c:v>0.15</c:v>
                </c:pt>
                <c:pt idx="8">
                  <c:v>0.16</c:v>
                </c:pt>
                <c:pt idx="9">
                  <c:v>0.17</c:v>
                </c:pt>
                <c:pt idx="10">
                  <c:v>0.18</c:v>
                </c:pt>
                <c:pt idx="11">
                  <c:v>0.19</c:v>
                </c:pt>
                <c:pt idx="12">
                  <c:v>0.2</c:v>
                </c:pt>
                <c:pt idx="13">
                  <c:v>0.21</c:v>
                </c:pt>
                <c:pt idx="14">
                  <c:v>0.22</c:v>
                </c:pt>
                <c:pt idx="15">
                  <c:v>0.23</c:v>
                </c:pt>
                <c:pt idx="16">
                  <c:v>0.24</c:v>
                </c:pt>
              </c:numCache>
            </c:numRef>
          </c:cat>
          <c:val>
            <c:numRef>
              <c:f>Sheet1!$K$111:$K$127</c:f>
              <c:numCache>
                <c:formatCode>_(* #.##000_);_(* \(#.##000\);_(* "-"_);_(@_)</c:formatCode>
                <c:ptCount val="17"/>
                <c:pt idx="0">
                  <c:v>58.97940519093185</c:v>
                </c:pt>
                <c:pt idx="1">
                  <c:v>44.551176869240159</c:v>
                </c:pt>
                <c:pt idx="2">
                  <c:v>30.710147717182618</c:v>
                </c:pt>
                <c:pt idx="3">
                  <c:v>17.425582470925178</c:v>
                </c:pt>
                <c:pt idx="4">
                  <c:v>4.6686683283008961</c:v>
                </c:pt>
                <c:pt idx="5">
                  <c:v>-7.5876233840210201</c:v>
                </c:pt>
                <c:pt idx="6">
                  <c:v>-19.368664359815401</c:v>
                </c:pt>
                <c:pt idx="7">
                  <c:v>-30.69828627840354</c:v>
                </c:pt>
                <c:pt idx="8">
                  <c:v>-41.598888487426947</c:v>
                </c:pt>
                <c:pt idx="9">
                  <c:v>-52.091537217909831</c:v>
                </c:pt>
                <c:pt idx="10">
                  <c:v>-62.196057068134401</c:v>
                </c:pt>
                <c:pt idx="11">
                  <c:v>-71.931115422846901</c:v>
                </c:pt>
                <c:pt idx="12">
                  <c:v>-81.314300411522581</c:v>
                </c:pt>
                <c:pt idx="13">
                  <c:v>-90.362192953020838</c:v>
                </c:pt>
                <c:pt idx="14">
                  <c:v>-99.090433383273805</c:v>
                </c:pt>
                <c:pt idx="15">
                  <c:v>-107.51378311704001</c:v>
                </c:pt>
                <c:pt idx="16">
                  <c:v>-115.6461817536957</c:v>
                </c:pt>
              </c:numCache>
            </c:numRef>
          </c:val>
          <c:smooth val="0"/>
          <c:extLst>
            <c:ext xmlns:c16="http://schemas.microsoft.com/office/drawing/2014/chart" uri="{C3380CC4-5D6E-409C-BE32-E72D297353CC}">
              <c16:uniqueId val="{00000002-3BD6-4201-8169-DBE587AC48D9}"/>
            </c:ext>
          </c:extLst>
        </c:ser>
        <c:dLbls>
          <c:showLegendKey val="0"/>
          <c:showVal val="0"/>
          <c:showCatName val="0"/>
          <c:showSerName val="0"/>
          <c:showPercent val="0"/>
          <c:showBubbleSize val="0"/>
        </c:dLbls>
        <c:smooth val="0"/>
        <c:axId val="2142321144"/>
        <c:axId val="2142304008"/>
      </c:lineChart>
      <c:catAx>
        <c:axId val="2142321144"/>
        <c:scaling>
          <c:orientation val="minMax"/>
        </c:scaling>
        <c:delete val="0"/>
        <c:axPos val="b"/>
        <c:numFmt formatCode="0%" sourceLinked="1"/>
        <c:majorTickMark val="out"/>
        <c:minorTickMark val="none"/>
        <c:tickLblPos val="nextTo"/>
        <c:crossAx val="2142304008"/>
        <c:crosses val="autoZero"/>
        <c:auto val="1"/>
        <c:lblAlgn val="ctr"/>
        <c:lblOffset val="100"/>
        <c:noMultiLvlLbl val="0"/>
      </c:catAx>
      <c:valAx>
        <c:axId val="2142304008"/>
        <c:scaling>
          <c:orientation val="minMax"/>
        </c:scaling>
        <c:delete val="0"/>
        <c:axPos val="l"/>
        <c:numFmt formatCode="&quot;$&quot;\ #,##0" sourceLinked="0"/>
        <c:majorTickMark val="out"/>
        <c:minorTickMark val="none"/>
        <c:tickLblPos val="nextTo"/>
        <c:crossAx val="2142321144"/>
        <c:crosses val="autoZero"/>
        <c:crossBetween val="between"/>
      </c:valAx>
    </c:plotArea>
    <c:legend>
      <c:legendPos val="b"/>
      <c:overlay val="0"/>
    </c:legend>
    <c:plotVisOnly val="1"/>
    <c:dispBlanksAs val="gap"/>
    <c:showDLblsOverMax val="0"/>
  </c:chart>
  <c:txPr>
    <a:bodyPr/>
    <a:lstStyle/>
    <a:p>
      <a:pPr>
        <a:defRPr sz="1200">
          <a:latin typeface="Century Gothic" panose="020B0502020202020204" pitchFamily="34" charset="0"/>
        </a:defRPr>
      </a:pPr>
      <a:endParaRPr lang="es-CO"/>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26/03/2026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‹Nº›</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26/03/2026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‹Nº›</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err="1"/>
              <a:t>Qué</a:t>
            </a:r>
            <a:r>
              <a:rPr lang="en-US"/>
              <a:t> se </a:t>
            </a:r>
            <a:r>
              <a:rPr lang="en-US" err="1"/>
              <a:t>requiere</a:t>
            </a:r>
            <a:r>
              <a:rPr lang="en-US"/>
              <a:t> </a:t>
            </a:r>
            <a:r>
              <a:rPr lang="en-US" err="1"/>
              <a:t>para</a:t>
            </a:r>
            <a:r>
              <a:rPr lang="en-US"/>
              <a:t> </a:t>
            </a:r>
            <a:r>
              <a:rPr lang="en-US" err="1"/>
              <a:t>traer</a:t>
            </a:r>
            <a:r>
              <a:rPr lang="en-US"/>
              <a:t> a valor </a:t>
            </a:r>
            <a:r>
              <a:rPr lang="en-US" err="1"/>
              <a:t>presente</a:t>
            </a:r>
            <a:r>
              <a:rPr lang="en-US"/>
              <a:t>? –</a:t>
            </a:r>
            <a:r>
              <a:rPr lang="en-US" baseline="0"/>
              <a:t> </a:t>
            </a:r>
            <a:r>
              <a:rPr lang="en-US" baseline="0" err="1"/>
              <a:t>Flujos</a:t>
            </a:r>
            <a:r>
              <a:rPr lang="en-US" baseline="0"/>
              <a:t> &amp; </a:t>
            </a:r>
            <a:r>
              <a:rPr lang="en-US" baseline="0" err="1"/>
              <a:t>Tasa</a:t>
            </a:r>
            <a:r>
              <a:rPr lang="en-US" baseline="0"/>
              <a:t> de </a:t>
            </a:r>
            <a:r>
              <a:rPr lang="en-US" baseline="0" err="1"/>
              <a:t>Descuento</a:t>
            </a: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141973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436199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3/26/2026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393783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A523018D-1CC0-468E-BE3B-579A148A0691}" type="datetime1">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203832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3/26/2026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4215371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51F0D08-E4F7-43DB-810A-34BADF6468F7}" type="datetime1">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0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DFE1DAC-EC09-4DEA-BBB4-788DDBA09515}" type="datetime1">
              <a:rPr lang="en-US" smtClean="0"/>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4250999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A9BFF582-E74C-4A8A-87B2-214B0CF47F99}" type="datetime1">
              <a:rPr lang="en-US" smtClean="0"/>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992219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2184653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3/26/2026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3093702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029878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326DF8C-FC0D-41BB-BB53-20BBB44E4230}" type="datetime1">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315277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3/26/2026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214459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3/26/2026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Tree>
    <p:extLst>
      <p:ext uri="{BB962C8B-B14F-4D97-AF65-F5344CB8AC3E}">
        <p14:creationId xmlns:p14="http://schemas.microsoft.com/office/powerpoint/2010/main" val="27855496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sv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687556" cy="826833"/>
          </a:xfrm>
        </p:spPr>
        <p:txBody>
          <a:bodyPr>
            <a:noAutofit/>
          </a:bodyPr>
          <a:lstStyle/>
          <a:p>
            <a:r>
              <a:rPr lang="es-CO" sz="3000">
                <a:latin typeface="Century Gothic"/>
              </a:rPr>
              <a:t>COMPARACIÓN Y SELECCIÓN DE PROYECTOS (</a:t>
            </a:r>
            <a:r>
              <a:rPr lang="es-CO" sz="3000">
                <a:solidFill>
                  <a:srgbClr val="D7A700"/>
                </a:solidFill>
                <a:latin typeface="Century Gothic"/>
              </a:rPr>
              <a:t>PARTE II</a:t>
            </a:r>
            <a:r>
              <a:rPr lang="es-CO" sz="3000">
                <a:latin typeface="Century Gothic"/>
              </a:rPr>
              <a:t>)</a:t>
            </a:r>
            <a:endParaRPr lang="es-CO" sz="3000">
              <a:latin typeface="Century Gothic" panose="020B0502020202020204" pitchFamily="34" charset="0"/>
            </a:endParaRPr>
          </a:p>
        </p:txBody>
      </p:sp>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47A102A3-81CE-8062-F170-D46987365771}"/>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2CCC2D2-BEBF-1929-6E42-B10085A85E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088AC59-0D72-C8A2-185B-B457DC580C2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CuadroTexto 9">
            <a:extLst>
              <a:ext uri="{FF2B5EF4-FFF2-40B4-BE49-F238E27FC236}">
                <a16:creationId xmlns:a16="http://schemas.microsoft.com/office/drawing/2014/main" id="{0595B2A7-C950-E97A-E67F-BC010AFC059A}"/>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Proyectos Mutuamente Excluyentes.</a:t>
            </a:r>
            <a:endParaRPr lang="es-ES" dirty="0">
              <a:solidFill>
                <a:schemeClr val="accent1"/>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rPr>
              <a:t>	</a:t>
            </a:r>
            <a:r>
              <a:rPr lang="es-CO" dirty="0">
                <a:solidFill>
                  <a:schemeClr val="accent3">
                    <a:lumMod val="75000"/>
                  </a:schemeClr>
                </a:solidFill>
                <a:latin typeface="Century Gothic"/>
              </a:rPr>
              <a:t>1.1. </a:t>
            </a:r>
            <a:r>
              <a:rPr lang="es-CO" dirty="0">
                <a:solidFill>
                  <a:schemeClr val="accent1"/>
                </a:solidFill>
                <a:latin typeface="Century Gothic"/>
              </a:rPr>
              <a:t>Caso 2: misma vida útil, pero distinta inversión inicial.</a:t>
            </a:r>
          </a:p>
          <a:p>
            <a:pPr>
              <a:buClr>
                <a:srgbClr val="48BE7A"/>
              </a:buClr>
            </a:pPr>
            <a:endParaRPr lang="es-CO" dirty="0">
              <a:solidFill>
                <a:schemeClr val="accent1"/>
              </a:solidFill>
              <a:latin typeface="Century Gothic"/>
            </a:endParaRPr>
          </a:p>
          <a:p>
            <a:pPr>
              <a:buClr>
                <a:srgbClr val="48BE7A"/>
              </a:buClr>
            </a:pPr>
            <a:r>
              <a:rPr lang="es-CO" dirty="0">
                <a:solidFill>
                  <a:schemeClr val="accent1"/>
                </a:solidFill>
                <a:latin typeface="Century Gothic" panose="020B0502020202020204" pitchFamily="34" charset="0"/>
                <a:cs typeface="Arial"/>
              </a:rPr>
              <a:t>		</a:t>
            </a:r>
            <a:r>
              <a:rPr lang="es-CO" dirty="0">
                <a:solidFill>
                  <a:schemeClr val="accent3">
                    <a:lumMod val="75000"/>
                  </a:schemeClr>
                </a:solidFill>
                <a:latin typeface="Century Gothic" panose="020B0502020202020204" pitchFamily="34" charset="0"/>
                <a:cs typeface="Arial"/>
              </a:rPr>
              <a:t>1.1.1. </a:t>
            </a:r>
            <a:r>
              <a:rPr lang="es-CO" dirty="0">
                <a:solidFill>
                  <a:schemeClr val="accent1"/>
                </a:solidFill>
                <a:latin typeface="Century Gothic" panose="020B0502020202020204" pitchFamily="34" charset="0"/>
                <a:cs typeface="Arial"/>
              </a:rPr>
              <a:t>Análisis marginal, incremental o diferencial.</a:t>
            </a: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Font typeface="+mj-lt"/>
              <a:buAutoNum type="arabicPeriod" startAt="2"/>
            </a:pPr>
            <a:r>
              <a:rPr lang="es-CO" dirty="0">
                <a:solidFill>
                  <a:schemeClr val="accent1"/>
                </a:solidFill>
                <a:latin typeface="Century Gothic" panose="020B0502020202020204" pitchFamily="34" charset="0"/>
                <a:cs typeface="Arial"/>
              </a:rPr>
              <a:t>Ejercicios de Práctica.</a:t>
            </a: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3CFC413A-B870-5A5D-E75D-4584902CEEF3}"/>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768C5599-2244-728C-BA35-6C0FD1FAA8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C5BA06F-C0B6-1B72-F301-DCB9A33155B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3" name="Slide Number Placeholder 3">
            <a:extLst>
              <a:ext uri="{FF2B5EF4-FFF2-40B4-BE49-F238E27FC236}">
                <a16:creationId xmlns:a16="http://schemas.microsoft.com/office/drawing/2014/main" id="{7C2E8DF0-03C0-9EFF-870B-4E7A3DE08476}"/>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3F8E585-2BDB-7B55-6963-DB542CEABBA9}"/>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B577537-F7CB-DA74-7520-342A0DCDA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61FB9A07-E832-6CA0-938A-F3CE6DD6FC9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5428875C-E7F8-9A46-B732-2B10ED5407A3}"/>
              </a:ext>
            </a:extLst>
          </p:cNvPr>
          <p:cNvSpPr/>
          <p:nvPr/>
        </p:nvSpPr>
        <p:spPr>
          <a:xfrm>
            <a:off x="2806200" y="277272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Proyectos Mutuamente Excluyentes.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rPr>
              <a:t>	</a:t>
            </a:r>
            <a:r>
              <a:rPr lang="es-CO" dirty="0">
                <a:solidFill>
                  <a:schemeClr val="accent3">
                    <a:lumMod val="75000"/>
                  </a:schemeClr>
                </a:solidFill>
                <a:latin typeface="Century Gothic"/>
              </a:rPr>
              <a:t>1.1. </a:t>
            </a:r>
            <a:r>
              <a:rPr lang="es-CO" dirty="0">
                <a:solidFill>
                  <a:schemeClr val="accent1"/>
                </a:solidFill>
                <a:latin typeface="Century Gothic"/>
              </a:rPr>
              <a:t>Caso 2: misma vida útil, pero distinta inversión inicial.</a:t>
            </a:r>
          </a:p>
          <a:p>
            <a:pPr>
              <a:buClr>
                <a:srgbClr val="48BE7A"/>
              </a:buClr>
            </a:pPr>
            <a:endParaRPr lang="es-CO" dirty="0">
              <a:solidFill>
                <a:schemeClr val="accent1"/>
              </a:solidFill>
              <a:latin typeface="Century Gothic"/>
            </a:endParaRPr>
          </a:p>
          <a:p>
            <a:pPr>
              <a:buClr>
                <a:srgbClr val="48BE7A"/>
              </a:buClr>
            </a:pPr>
            <a:r>
              <a:rPr lang="es-CO" dirty="0">
                <a:solidFill>
                  <a:schemeClr val="accent1"/>
                </a:solidFill>
                <a:latin typeface="Century Gothic" panose="020B0502020202020204" pitchFamily="34" charset="0"/>
                <a:cs typeface="Arial"/>
              </a:rPr>
              <a:t>		</a:t>
            </a:r>
            <a:r>
              <a:rPr lang="es-CO" dirty="0">
                <a:solidFill>
                  <a:schemeClr val="accent3">
                    <a:lumMod val="75000"/>
                  </a:schemeClr>
                </a:solidFill>
                <a:latin typeface="Century Gothic" panose="020B0502020202020204" pitchFamily="34" charset="0"/>
                <a:cs typeface="Arial"/>
              </a:rPr>
              <a:t>1.1.1. </a:t>
            </a:r>
            <a:r>
              <a:rPr lang="es-CO" dirty="0">
                <a:solidFill>
                  <a:schemeClr val="bg2">
                    <a:lumMod val="90000"/>
                  </a:schemeClr>
                </a:solidFill>
                <a:latin typeface="Century Gothic" panose="020B0502020202020204" pitchFamily="34" charset="0"/>
                <a:cs typeface="Arial"/>
              </a:rPr>
              <a:t>Análisis marginal, incremental o diferencial.</a:t>
            </a: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 typeface="+mj-lt"/>
              <a:buAutoNum type="arabicPeriod" startAt="2"/>
            </a:pPr>
            <a:r>
              <a:rPr lang="es-CO" dirty="0">
                <a:solidFill>
                  <a:schemeClr val="bg2">
                    <a:lumMod val="90000"/>
                  </a:schemeClr>
                </a:solidFill>
                <a:latin typeface="Century Gothic" panose="020B0502020202020204" pitchFamily="34" charset="0"/>
                <a:cs typeface="Arial"/>
              </a:rPr>
              <a:t>Ejercicios de Práctica.</a:t>
            </a: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947A4B89-64FB-9883-B60B-A9E9DE4884C3}"/>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81083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sp>
        <p:nvSpPr>
          <p:cNvPr id="6" name="Rounded Rectangle 5"/>
          <p:cNvSpPr/>
          <p:nvPr/>
        </p:nvSpPr>
        <p:spPr>
          <a:xfrm>
            <a:off x="5027272" y="2944819"/>
            <a:ext cx="2469722" cy="803186"/>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a:latin typeface="Century Gothic" panose="020B0502020202020204" pitchFamily="34" charset="0"/>
              </a:rPr>
              <a:t>Misma Vida Útil</a:t>
            </a:r>
          </a:p>
        </p:txBody>
      </p:sp>
      <p:sp>
        <p:nvSpPr>
          <p:cNvPr id="7" name="Rounded Rectangle 6"/>
          <p:cNvSpPr/>
          <p:nvPr/>
        </p:nvSpPr>
        <p:spPr>
          <a:xfrm>
            <a:off x="1635641" y="3937321"/>
            <a:ext cx="2088967" cy="1211411"/>
          </a:xfrm>
          <a:prstGeom prst="roundRect">
            <a:avLst/>
          </a:prstGeom>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2000" dirty="0">
                <a:latin typeface="Century Gothic" panose="020B0502020202020204" pitchFamily="34" charset="0"/>
              </a:rPr>
              <a:t>Proyectos Mutuamente Excluyentes</a:t>
            </a:r>
          </a:p>
        </p:txBody>
      </p:sp>
      <p:cxnSp>
        <p:nvCxnSpPr>
          <p:cNvPr id="8" name="Curved Connector 7"/>
          <p:cNvCxnSpPr>
            <a:stCxn id="7" idx="0"/>
            <a:endCxn id="6" idx="1"/>
          </p:cNvCxnSpPr>
          <p:nvPr/>
        </p:nvCxnSpPr>
        <p:spPr>
          <a:xfrm rot="5400000" flipH="1" flipV="1">
            <a:off x="3558244" y="2468292"/>
            <a:ext cx="590908" cy="2347148"/>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9" name="Curved Connector 8"/>
          <p:cNvCxnSpPr>
            <a:stCxn id="6" idx="3"/>
            <a:endCxn id="10" idx="1"/>
          </p:cNvCxnSpPr>
          <p:nvPr/>
        </p:nvCxnSpPr>
        <p:spPr>
          <a:xfrm flipV="1">
            <a:off x="7496994" y="2527136"/>
            <a:ext cx="886618" cy="819276"/>
          </a:xfrm>
          <a:prstGeom prst="curved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Rounded Rectangle 9"/>
          <p:cNvSpPr/>
          <p:nvPr/>
        </p:nvSpPr>
        <p:spPr>
          <a:xfrm>
            <a:off x="8383613" y="2188370"/>
            <a:ext cx="2054201" cy="6775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a:latin typeface="Century Gothic" panose="020B0502020202020204" pitchFamily="34" charset="0"/>
              </a:rPr>
              <a:t>Inversión Inicial Igual</a:t>
            </a:r>
          </a:p>
        </p:txBody>
      </p:sp>
      <p:sp>
        <p:nvSpPr>
          <p:cNvPr id="19" name="Rounded Rectangle 18"/>
          <p:cNvSpPr/>
          <p:nvPr/>
        </p:nvSpPr>
        <p:spPr>
          <a:xfrm>
            <a:off x="8383613" y="3937320"/>
            <a:ext cx="2054201" cy="6775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a:latin typeface="Century Gothic" panose="020B0502020202020204" pitchFamily="34" charset="0"/>
              </a:rPr>
              <a:t>Inversión Inicial Distinta</a:t>
            </a:r>
          </a:p>
        </p:txBody>
      </p:sp>
      <p:sp>
        <p:nvSpPr>
          <p:cNvPr id="25" name="Rounded Rectangle 24"/>
          <p:cNvSpPr/>
          <p:nvPr/>
        </p:nvSpPr>
        <p:spPr>
          <a:xfrm>
            <a:off x="5027272" y="5465449"/>
            <a:ext cx="2469722" cy="803186"/>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a:latin typeface="Century Gothic" panose="020B0502020202020204" pitchFamily="34" charset="0"/>
              </a:rPr>
              <a:t>Distinta Vida Útil</a:t>
            </a:r>
          </a:p>
        </p:txBody>
      </p:sp>
      <p:cxnSp>
        <p:nvCxnSpPr>
          <p:cNvPr id="28" name="Curved Connector 27"/>
          <p:cNvCxnSpPr>
            <a:stCxn id="6" idx="3"/>
            <a:endCxn id="19" idx="1"/>
          </p:cNvCxnSpPr>
          <p:nvPr/>
        </p:nvCxnSpPr>
        <p:spPr>
          <a:xfrm>
            <a:off x="7496994" y="3346412"/>
            <a:ext cx="886618" cy="929674"/>
          </a:xfrm>
          <a:prstGeom prst="curved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1" name="Curved Connector 30"/>
          <p:cNvCxnSpPr>
            <a:stCxn id="7" idx="2"/>
            <a:endCxn id="25" idx="1"/>
          </p:cNvCxnSpPr>
          <p:nvPr/>
        </p:nvCxnSpPr>
        <p:spPr>
          <a:xfrm rot="16200000" flipH="1">
            <a:off x="3494544" y="4334312"/>
            <a:ext cx="718311" cy="2347148"/>
          </a:xfrm>
          <a:prstGeom prst="curvedConnector2">
            <a:avLst/>
          </a:prstGeom>
          <a:ln>
            <a:tailEnd type="arrow"/>
          </a:ln>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3BDB3FBB-06BC-028E-A212-6696ECA530B3}"/>
              </a:ext>
            </a:extLst>
          </p:cNvPr>
          <p:cNvSpPr txBox="1"/>
          <p:nvPr/>
        </p:nvSpPr>
        <p:spPr>
          <a:xfrm>
            <a:off x="10556359" y="4091420"/>
            <a:ext cx="1148966" cy="400110"/>
          </a:xfrm>
          <a:prstGeom prst="rect">
            <a:avLst/>
          </a:prstGeom>
          <a:noFill/>
        </p:spPr>
        <p:txBody>
          <a:bodyPr wrap="square">
            <a:spAutoFit/>
          </a:bodyPr>
          <a:lstStyle/>
          <a:p>
            <a:r>
              <a:rPr lang="es-ES_tradnl" sz="2000" b="1" dirty="0">
                <a:solidFill>
                  <a:srgbClr val="D7A700"/>
                </a:solidFill>
                <a:latin typeface="Century Gothic" panose="020B0502020202020204" pitchFamily="34" charset="0"/>
              </a:rPr>
              <a:t>Caso 2 </a:t>
            </a:r>
            <a:endParaRPr lang="es-CO" sz="2000" dirty="0"/>
          </a:p>
        </p:txBody>
      </p:sp>
      <p:sp>
        <p:nvSpPr>
          <p:cNvPr id="15" name="CuadroTexto 14">
            <a:extLst>
              <a:ext uri="{FF2B5EF4-FFF2-40B4-BE49-F238E27FC236}">
                <a16:creationId xmlns:a16="http://schemas.microsoft.com/office/drawing/2014/main" id="{6A3AA0CC-910A-8EE8-A921-5CE3F5421CA7}"/>
              </a:ext>
            </a:extLst>
          </p:cNvPr>
          <p:cNvSpPr txBox="1"/>
          <p:nvPr/>
        </p:nvSpPr>
        <p:spPr>
          <a:xfrm>
            <a:off x="10510071" y="2358038"/>
            <a:ext cx="1148966" cy="400110"/>
          </a:xfrm>
          <a:prstGeom prst="rect">
            <a:avLst/>
          </a:prstGeom>
          <a:noFill/>
        </p:spPr>
        <p:txBody>
          <a:bodyPr wrap="square">
            <a:spAutoFit/>
          </a:bodyPr>
          <a:lstStyle/>
          <a:p>
            <a:r>
              <a:rPr lang="es-ES_tradnl" sz="2000" b="1" dirty="0">
                <a:solidFill>
                  <a:srgbClr val="D7A700"/>
                </a:solidFill>
                <a:latin typeface="Century Gothic" panose="020B0502020202020204" pitchFamily="34" charset="0"/>
              </a:rPr>
              <a:t>Caso 1 </a:t>
            </a:r>
            <a:endParaRPr lang="es-CO" sz="2000" dirty="0"/>
          </a:p>
        </p:txBody>
      </p:sp>
      <p:sp>
        <p:nvSpPr>
          <p:cNvPr id="16" name="CuadroTexto 15">
            <a:extLst>
              <a:ext uri="{FF2B5EF4-FFF2-40B4-BE49-F238E27FC236}">
                <a16:creationId xmlns:a16="http://schemas.microsoft.com/office/drawing/2014/main" id="{A08CD421-B9B4-769B-18D3-81E7C3CFE361}"/>
              </a:ext>
            </a:extLst>
          </p:cNvPr>
          <p:cNvSpPr txBox="1"/>
          <p:nvPr/>
        </p:nvSpPr>
        <p:spPr>
          <a:xfrm>
            <a:off x="7514097" y="5682230"/>
            <a:ext cx="1148966" cy="400110"/>
          </a:xfrm>
          <a:prstGeom prst="rect">
            <a:avLst/>
          </a:prstGeom>
          <a:noFill/>
        </p:spPr>
        <p:txBody>
          <a:bodyPr wrap="square">
            <a:spAutoFit/>
          </a:bodyPr>
          <a:lstStyle/>
          <a:p>
            <a:r>
              <a:rPr lang="es-ES_tradnl" sz="2000" b="1" dirty="0">
                <a:solidFill>
                  <a:srgbClr val="D7A700"/>
                </a:solidFill>
                <a:latin typeface="Century Gothic" panose="020B0502020202020204" pitchFamily="34" charset="0"/>
              </a:rPr>
              <a:t>Caso 3 </a:t>
            </a:r>
            <a:endParaRPr lang="es-CO" sz="2000" dirty="0"/>
          </a:p>
        </p:txBody>
      </p:sp>
      <p:sp>
        <p:nvSpPr>
          <p:cNvPr id="13" name="CuadroTexto 12">
            <a:extLst>
              <a:ext uri="{FF2B5EF4-FFF2-40B4-BE49-F238E27FC236}">
                <a16:creationId xmlns:a16="http://schemas.microsoft.com/office/drawing/2014/main" id="{7F5E9DAD-CE19-E3D0-C4BD-B2A227D50746}"/>
              </a:ext>
            </a:extLst>
          </p:cNvPr>
          <p:cNvSpPr txBox="1"/>
          <p:nvPr/>
        </p:nvSpPr>
        <p:spPr>
          <a:xfrm>
            <a:off x="11605846" y="4947138"/>
            <a:ext cx="184731" cy="369332"/>
          </a:xfrm>
          <a:prstGeom prst="rect">
            <a:avLst/>
          </a:prstGeom>
          <a:noFill/>
        </p:spPr>
        <p:txBody>
          <a:bodyPr wrap="none" rtlCol="0">
            <a:spAutoFit/>
          </a:bodyPr>
          <a:lstStyle/>
          <a:p>
            <a:endParaRPr lang="es-CO" dirty="0"/>
          </a:p>
        </p:txBody>
      </p:sp>
      <p:sp>
        <p:nvSpPr>
          <p:cNvPr id="18" name="Rectángulo 17">
            <a:extLst>
              <a:ext uri="{FF2B5EF4-FFF2-40B4-BE49-F238E27FC236}">
                <a16:creationId xmlns:a16="http://schemas.microsoft.com/office/drawing/2014/main" id="{2E6A63CC-7B04-2968-5E03-372288C9E0AA}"/>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675794C9-4E08-5231-0D01-D4C2C44683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1" name="Rectángulo 20">
            <a:extLst>
              <a:ext uri="{FF2B5EF4-FFF2-40B4-BE49-F238E27FC236}">
                <a16:creationId xmlns:a16="http://schemas.microsoft.com/office/drawing/2014/main" id="{C8BDB80C-833E-6142-0FAB-B9B420D60AF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2" name="Rectángulo 21">
            <a:extLst>
              <a:ext uri="{FF2B5EF4-FFF2-40B4-BE49-F238E27FC236}">
                <a16:creationId xmlns:a16="http://schemas.microsoft.com/office/drawing/2014/main" id="{4E21B41F-3D79-CC8C-6D2D-835E388A3988}"/>
              </a:ext>
            </a:extLst>
          </p:cNvPr>
          <p:cNvSpPr/>
          <p:nvPr/>
        </p:nvSpPr>
        <p:spPr>
          <a:xfrm>
            <a:off x="10558300" y="4091420"/>
            <a:ext cx="1052508" cy="40011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Slide Number Placeholder 3">
            <a:extLst>
              <a:ext uri="{FF2B5EF4-FFF2-40B4-BE49-F238E27FC236}">
                <a16:creationId xmlns:a16="http://schemas.microsoft.com/office/drawing/2014/main" id="{9CFE84D5-4D89-C5E1-67CD-460D5B2C87F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4</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46709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sp>
        <p:nvSpPr>
          <p:cNvPr id="3" name="Content Placeholder 2"/>
          <p:cNvSpPr>
            <a:spLocks noGrp="1"/>
          </p:cNvSpPr>
          <p:nvPr>
            <p:ph idx="1"/>
          </p:nvPr>
        </p:nvSpPr>
        <p:spPr>
          <a:xfrm>
            <a:off x="581192" y="2080811"/>
            <a:ext cx="8576176" cy="3734157"/>
          </a:xfrm>
        </p:spPr>
        <p:txBody>
          <a:bodyPr>
            <a:noAutofit/>
          </a:bodyPr>
          <a:lstStyle/>
          <a:p>
            <a:pPr marL="0" indent="0" algn="ctr">
              <a:buNone/>
            </a:pPr>
            <a:r>
              <a:rPr lang="es-ES_tradnl" sz="2000" b="1" dirty="0">
                <a:solidFill>
                  <a:srgbClr val="C00000"/>
                </a:solidFill>
                <a:latin typeface="Century Gothic" panose="020B0502020202020204" pitchFamily="34" charset="0"/>
              </a:rPr>
              <a:t>Caso 2: </a:t>
            </a:r>
            <a:r>
              <a:rPr lang="es-ES_tradnl" sz="2000" b="1" dirty="0">
                <a:solidFill>
                  <a:schemeClr val="accent3">
                    <a:lumMod val="75000"/>
                  </a:schemeClr>
                </a:solidFill>
                <a:latin typeface="Century Gothic" panose="020B0502020202020204" pitchFamily="34" charset="0"/>
              </a:rPr>
              <a:t>Comparación de alternativas mutuamente excluyentes con vidas útiles iguales, pero inversiones iniciales diferentes.</a:t>
            </a:r>
          </a:p>
          <a:p>
            <a:pPr algn="ct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El caso que analizaremos corresponde a una situación en la cual tenemos alternativas que no se pueden tomar conjuntamente, que tienen un horizonte de tiempo igual, pero que </a:t>
            </a:r>
            <a:r>
              <a:rPr lang="es-ES_tradnl" sz="2000" b="1" dirty="0">
                <a:solidFill>
                  <a:schemeClr val="accent1"/>
                </a:solidFill>
                <a:latin typeface="Century Gothic" panose="020B0502020202020204" pitchFamily="34" charset="0"/>
              </a:rPr>
              <a:t>su inversión es diferente</a:t>
            </a:r>
            <a:r>
              <a:rPr lang="es-ES_tradnl" sz="2000" dirty="0">
                <a:solidFill>
                  <a:schemeClr val="accent1"/>
                </a:solidFill>
                <a:latin typeface="Century Gothic" panose="020B0502020202020204" pitchFamily="34" charset="0"/>
              </a:rPr>
              <a:t>.</a:t>
            </a:r>
          </a:p>
          <a:p>
            <a:pPr algn="ctr"/>
            <a:endParaRPr lang="es-ES_tradnl" sz="2000" dirty="0">
              <a:latin typeface="Century Gothic" panose="020B0502020202020204" pitchFamily="34" charset="0"/>
            </a:endParaRPr>
          </a:p>
        </p:txBody>
      </p:sp>
      <p:pic>
        <p:nvPicPr>
          <p:cNvPr id="7" name="Imagen 6">
            <a:extLst>
              <a:ext uri="{FF2B5EF4-FFF2-40B4-BE49-F238E27FC236}">
                <a16:creationId xmlns:a16="http://schemas.microsoft.com/office/drawing/2014/main" id="{78A8AD2D-9266-022E-7510-C8D6A1089600}"/>
              </a:ext>
            </a:extLst>
          </p:cNvPr>
          <p:cNvPicPr>
            <a:picLocks noChangeAspect="1"/>
          </p:cNvPicPr>
          <p:nvPr/>
        </p:nvPicPr>
        <p:blipFill rotWithShape="1">
          <a:blip r:embed="rId3"/>
          <a:srcRect b="13235"/>
          <a:stretch/>
        </p:blipFill>
        <p:spPr>
          <a:xfrm>
            <a:off x="9261433" y="3302431"/>
            <a:ext cx="2288601" cy="1514087"/>
          </a:xfrm>
          <a:prstGeom prst="rect">
            <a:avLst/>
          </a:prstGeom>
        </p:spPr>
      </p:pic>
      <p:sp>
        <p:nvSpPr>
          <p:cNvPr id="5" name="Rectángulo 4">
            <a:extLst>
              <a:ext uri="{FF2B5EF4-FFF2-40B4-BE49-F238E27FC236}">
                <a16:creationId xmlns:a16="http://schemas.microsoft.com/office/drawing/2014/main" id="{1D287040-2C4D-9F9A-9579-6B73A2EC3D09}"/>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FA584E4A-E9B1-9CDC-7FB1-2FD0066F11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51DB024-EBEA-8230-0A87-F0539F31BAB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4" name="CuadroTexto 13">
            <a:extLst>
              <a:ext uri="{FF2B5EF4-FFF2-40B4-BE49-F238E27FC236}">
                <a16:creationId xmlns:a16="http://schemas.microsoft.com/office/drawing/2014/main" id="{A997F37F-E9BC-F5D7-1B18-8157805833B4}"/>
              </a:ext>
            </a:extLst>
          </p:cNvPr>
          <p:cNvSpPr txBox="1"/>
          <p:nvPr/>
        </p:nvSpPr>
        <p:spPr>
          <a:xfrm>
            <a:off x="786571" y="5430813"/>
            <a:ext cx="8576176" cy="707886"/>
          </a:xfrm>
          <a:prstGeom prst="rect">
            <a:avLst/>
          </a:prstGeom>
          <a:noFill/>
        </p:spPr>
        <p:txBody>
          <a:bodyPr wrap="square">
            <a:spAutoFit/>
          </a:bodyPr>
          <a:lstStyle/>
          <a:p>
            <a:pPr marL="0" indent="0" algn="ctr">
              <a:buNone/>
            </a:pPr>
            <a:r>
              <a:rPr lang="es-ES_tradnl" sz="2000" b="1" dirty="0">
                <a:solidFill>
                  <a:srgbClr val="D7A700"/>
                </a:solidFill>
                <a:latin typeface="Century Gothic" panose="020B0502020202020204" pitchFamily="34" charset="0"/>
              </a:rPr>
              <a:t>¿Qué Indicadores de Bondad Financiera creen que funcionan ante los anteriores eventos?</a:t>
            </a:r>
          </a:p>
        </p:txBody>
      </p:sp>
      <p:sp>
        <p:nvSpPr>
          <p:cNvPr id="9" name="Slide Number Placeholder 3">
            <a:extLst>
              <a:ext uri="{FF2B5EF4-FFF2-40B4-BE49-F238E27FC236}">
                <a16:creationId xmlns:a16="http://schemas.microsoft.com/office/drawing/2014/main" id="{7C63CCC6-5161-A695-980D-F5878CFA0873}"/>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5</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37770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848157" y="2201302"/>
            <a:ext cx="10137000" cy="3678303"/>
          </a:xfrm>
        </p:spPr>
        <p:txBody>
          <a:bodyPr>
            <a:normAutofit/>
          </a:bodyPr>
          <a:lstStyle/>
          <a:p>
            <a:pPr marL="0" indent="0" algn="just">
              <a:buNone/>
            </a:pPr>
            <a:r>
              <a:rPr lang="es-ES" sz="2000" dirty="0">
                <a:solidFill>
                  <a:schemeClr val="accent1"/>
                </a:solidFill>
                <a:latin typeface="Century Gothic" panose="020B0502020202020204" pitchFamily="34" charset="0"/>
              </a:rPr>
              <a:t>De manera anticipada, diremos que los indicadores apropiados para evaluar alternativas de inversión con las características descritas en el caso 2 son:</a:t>
            </a:r>
          </a:p>
          <a:p>
            <a:pPr marL="0" indent="0" algn="just">
              <a:buNone/>
            </a:pPr>
            <a:endParaRPr lang="es-ES" sz="2000" dirty="0">
              <a:solidFill>
                <a:schemeClr val="accent1"/>
              </a:solidFill>
              <a:latin typeface="Century Gothic" panose="020B0502020202020204" pitchFamily="34" charset="0"/>
            </a:endParaRPr>
          </a:p>
          <a:p>
            <a:pPr lvl="1" algn="just"/>
            <a:r>
              <a:rPr lang="es-ES" sz="2000" dirty="0">
                <a:solidFill>
                  <a:schemeClr val="accent1"/>
                </a:solidFill>
                <a:latin typeface="Century Gothic" panose="020B0502020202020204" pitchFamily="34" charset="0"/>
              </a:rPr>
              <a:t>Valor Presente Neto (VPN). </a:t>
            </a:r>
          </a:p>
          <a:p>
            <a:pPr lvl="1" algn="just"/>
            <a:r>
              <a:rPr lang="es-ES" sz="2000" dirty="0">
                <a:solidFill>
                  <a:schemeClr val="accent1"/>
                </a:solidFill>
                <a:latin typeface="Century Gothic" panose="020B0502020202020204" pitchFamily="34" charset="0"/>
              </a:rPr>
              <a:t>Valor Anual Equivalente (VAE).</a:t>
            </a:r>
          </a:p>
          <a:p>
            <a:pPr lvl="1" algn="just"/>
            <a:endParaRPr lang="es-ES" sz="2000" dirty="0">
              <a:latin typeface="Century Gothic" panose="020B0502020202020204" pitchFamily="34" charset="0"/>
            </a:endParaRPr>
          </a:p>
          <a:p>
            <a:pPr marL="0" indent="0" algn="just">
              <a:buNone/>
            </a:pPr>
            <a:r>
              <a:rPr lang="es-ES" sz="2000" dirty="0">
                <a:solidFill>
                  <a:schemeClr val="accent1"/>
                </a:solidFill>
                <a:latin typeface="Century Gothic" panose="020B0502020202020204" pitchFamily="34" charset="0"/>
              </a:rPr>
              <a:t>Note que a diferencia del Caso 1, en este caso la Tasa Verdadera de Rentabilidad (</a:t>
            </a:r>
            <a:r>
              <a:rPr lang="es-ES" sz="2000" b="1" dirty="0">
                <a:solidFill>
                  <a:schemeClr val="accent3">
                    <a:lumMod val="75000"/>
                  </a:schemeClr>
                </a:solidFill>
                <a:latin typeface="Century Gothic" panose="020B0502020202020204" pitchFamily="34" charset="0"/>
              </a:rPr>
              <a:t>TVR</a:t>
            </a:r>
            <a:r>
              <a:rPr lang="es-ES" sz="2000" dirty="0">
                <a:solidFill>
                  <a:schemeClr val="accent1"/>
                </a:solidFill>
                <a:latin typeface="Century Gothic" panose="020B0502020202020204" pitchFamily="34" charset="0"/>
              </a:rPr>
              <a:t>) y la Relación Beneficio-Costo (</a:t>
            </a:r>
            <a:r>
              <a:rPr lang="es-ES" sz="2000" b="1" dirty="0">
                <a:solidFill>
                  <a:schemeClr val="accent3">
                    <a:lumMod val="75000"/>
                  </a:schemeClr>
                </a:solidFill>
                <a:latin typeface="Century Gothic" panose="020B0502020202020204" pitchFamily="34" charset="0"/>
              </a:rPr>
              <a:t>B/C</a:t>
            </a:r>
            <a:r>
              <a:rPr lang="es-ES" sz="2000" dirty="0">
                <a:solidFill>
                  <a:schemeClr val="accent1"/>
                </a:solidFill>
                <a:latin typeface="Century Gothic" panose="020B0502020202020204" pitchFamily="34" charset="0"/>
              </a:rPr>
              <a:t>)</a:t>
            </a:r>
            <a:r>
              <a:rPr lang="es-ES" sz="2000" b="1" dirty="0">
                <a:latin typeface="Century Gothic" panose="020B0502020202020204" pitchFamily="34" charset="0"/>
              </a:rPr>
              <a:t> </a:t>
            </a:r>
            <a:r>
              <a:rPr lang="es-ES" sz="2000" b="1" dirty="0">
                <a:solidFill>
                  <a:srgbClr val="C00000"/>
                </a:solidFill>
                <a:latin typeface="Century Gothic" panose="020B0502020202020204" pitchFamily="34" charset="0"/>
              </a:rPr>
              <a:t>NO son los indicadores más apropiados</a:t>
            </a:r>
            <a:r>
              <a:rPr lang="es-ES" sz="2000" dirty="0">
                <a:latin typeface="Century Gothic" panose="020B0502020202020204" pitchFamily="34" charset="0"/>
              </a:rPr>
              <a:t>.</a:t>
            </a:r>
          </a:p>
        </p:txBody>
      </p:sp>
      <p:pic>
        <p:nvPicPr>
          <p:cNvPr id="7" name="Imagen 6">
            <a:extLst>
              <a:ext uri="{FF2B5EF4-FFF2-40B4-BE49-F238E27FC236}">
                <a16:creationId xmlns:a16="http://schemas.microsoft.com/office/drawing/2014/main" id="{A37ADC7B-F99A-A371-8BA1-E472F6E347B0}"/>
              </a:ext>
            </a:extLst>
          </p:cNvPr>
          <p:cNvPicPr>
            <a:picLocks noChangeAspect="1"/>
          </p:cNvPicPr>
          <p:nvPr/>
        </p:nvPicPr>
        <p:blipFill>
          <a:blip r:embed="rId2"/>
          <a:stretch>
            <a:fillRect/>
          </a:stretch>
        </p:blipFill>
        <p:spPr>
          <a:xfrm>
            <a:off x="8721597" y="3141094"/>
            <a:ext cx="2263560" cy="1389905"/>
          </a:xfrm>
          <a:prstGeom prst="rect">
            <a:avLst/>
          </a:prstGeom>
        </p:spPr>
      </p:pic>
      <p:sp>
        <p:nvSpPr>
          <p:cNvPr id="5" name="Rectángulo 4">
            <a:extLst>
              <a:ext uri="{FF2B5EF4-FFF2-40B4-BE49-F238E27FC236}">
                <a16:creationId xmlns:a16="http://schemas.microsoft.com/office/drawing/2014/main" id="{4C3B18DC-5196-E750-827C-BE26DCA67CBE}"/>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5FC221C-260A-F227-CF74-0BB161D59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3A817E5-4D91-4429-2336-450C6E92A62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03A942DF-F5E5-D061-8CDC-501ACB33C4A7}"/>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6</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63548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843609" y="2093392"/>
            <a:ext cx="7663262" cy="4267627"/>
          </a:xfrm>
        </p:spPr>
        <p:txBody>
          <a:bodyPr>
            <a:noAutofit/>
          </a:bodyPr>
          <a:lstStyle/>
          <a:p>
            <a:pPr marL="0" indent="0" algn="ctr">
              <a:buNone/>
            </a:pPr>
            <a:r>
              <a:rPr lang="es-ES" sz="2000" b="1" dirty="0">
                <a:solidFill>
                  <a:srgbClr val="D7A700"/>
                </a:solidFill>
                <a:latin typeface="Century Gothic" panose="020B0502020202020204" pitchFamily="34" charset="0"/>
              </a:rPr>
              <a:t>¿Y qué pasará con la TIR?</a:t>
            </a:r>
          </a:p>
          <a:p>
            <a:pPr marL="0" indent="0" algn="ctr">
              <a:buNone/>
            </a:pPr>
            <a:endParaRPr lang="es-ES" sz="2000" dirty="0">
              <a:solidFill>
                <a:srgbClr val="800000"/>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Anteriormente dijimos que la TIR no es el indicador más apropiado para evaluar alternativas con inversiones iniciales iguales, por lo tanto, es razonable pensar que </a:t>
            </a:r>
            <a:r>
              <a:rPr lang="es-ES" sz="2000" b="1" dirty="0">
                <a:solidFill>
                  <a:srgbClr val="C00000"/>
                </a:solidFill>
                <a:latin typeface="Century Gothic" panose="020B0502020202020204" pitchFamily="34" charset="0"/>
              </a:rPr>
              <a:t>NO será apropiada para evaluar alternativas con inversiones diferentes</a:t>
            </a:r>
            <a:r>
              <a:rPr lang="es-ES" sz="2000" dirty="0">
                <a:solidFill>
                  <a:schemeClr val="accent1"/>
                </a:solidFill>
                <a:latin typeface="Century Gothic" panose="020B0502020202020204" pitchFamily="34" charset="0"/>
              </a:rPr>
              <a:t>, si se usa directamente en los flujos en cuestión</a:t>
            </a:r>
            <a:r>
              <a:rPr lang="es-ES" sz="2000" b="1" dirty="0">
                <a:solidFill>
                  <a:schemeClr val="accent1"/>
                </a:solidFill>
                <a:latin typeface="Century Gothic" panose="020B0502020202020204" pitchFamily="34" charset="0"/>
              </a:rPr>
              <a:t>. </a:t>
            </a:r>
          </a:p>
          <a:p>
            <a:pPr algn="just"/>
            <a:endParaRPr lang="es-ES" sz="2000" b="1"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De hacerlo, existe la posibilidad de obtener ordenamientos incorrectos.</a:t>
            </a:r>
          </a:p>
          <a:p>
            <a:pPr marL="0" indent="0" algn="just">
              <a:buNone/>
            </a:pPr>
            <a:endParaRPr lang="es-ES" sz="2000" dirty="0">
              <a:solidFill>
                <a:schemeClr val="accent1"/>
              </a:solidFill>
              <a:latin typeface="Century Gothic" panose="020B0502020202020204" pitchFamily="34" charset="0"/>
            </a:endParaRPr>
          </a:p>
        </p:txBody>
      </p:sp>
      <p:sp>
        <p:nvSpPr>
          <p:cNvPr id="5" name="Rectángulo 4">
            <a:extLst>
              <a:ext uri="{FF2B5EF4-FFF2-40B4-BE49-F238E27FC236}">
                <a16:creationId xmlns:a16="http://schemas.microsoft.com/office/drawing/2014/main" id="{869905B5-0C27-0D7A-55C8-8316B7F0E343}"/>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256ADFE-8F50-C87B-0208-653553379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962651C-849B-5C4D-1C8F-8557E3328AF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9" name="Imagen 8">
            <a:extLst>
              <a:ext uri="{FF2B5EF4-FFF2-40B4-BE49-F238E27FC236}">
                <a16:creationId xmlns:a16="http://schemas.microsoft.com/office/drawing/2014/main" id="{9C75FBB2-A0F2-7392-D6C9-F229BEA15C16}"/>
              </a:ext>
            </a:extLst>
          </p:cNvPr>
          <p:cNvPicPr>
            <a:picLocks noChangeAspect="1"/>
          </p:cNvPicPr>
          <p:nvPr/>
        </p:nvPicPr>
        <p:blipFill>
          <a:blip r:embed="rId3"/>
          <a:stretch>
            <a:fillRect/>
          </a:stretch>
        </p:blipFill>
        <p:spPr>
          <a:xfrm>
            <a:off x="8735154" y="2595375"/>
            <a:ext cx="2875654" cy="2024526"/>
          </a:xfrm>
          <a:prstGeom prst="rect">
            <a:avLst/>
          </a:prstGeom>
        </p:spPr>
      </p:pic>
      <p:sp>
        <p:nvSpPr>
          <p:cNvPr id="7" name="Slide Number Placeholder 3">
            <a:extLst>
              <a:ext uri="{FF2B5EF4-FFF2-40B4-BE49-F238E27FC236}">
                <a16:creationId xmlns:a16="http://schemas.microsoft.com/office/drawing/2014/main" id="{7D853E5D-411E-60D1-1E60-B369AF13C46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7</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60757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813108" y="1936312"/>
            <a:ext cx="10797699" cy="4946516"/>
          </a:xfrm>
        </p:spPr>
        <p:txBody>
          <a:bodyPr>
            <a:normAutofit/>
          </a:bodyPr>
          <a:lstStyle/>
          <a:p>
            <a:pPr marL="0" indent="0" algn="just">
              <a:buNone/>
            </a:pPr>
            <a:r>
              <a:rPr lang="es-ES" sz="2000" b="1" dirty="0">
                <a:solidFill>
                  <a:srgbClr val="C00000"/>
                </a:solidFill>
                <a:latin typeface="Century Gothic" panose="020B0502020202020204" pitchFamily="34" charset="0"/>
              </a:rPr>
              <a:t>Ejemplo: </a:t>
            </a:r>
            <a:r>
              <a:rPr lang="es-ES" sz="2000" dirty="0">
                <a:solidFill>
                  <a:schemeClr val="accent1"/>
                </a:solidFill>
                <a:latin typeface="Century Gothic" panose="020B0502020202020204" pitchFamily="34" charset="0"/>
              </a:rPr>
              <a:t>Suponga 2 proyectos Mutuamente Excluyentes (M.E.) con los siguientes flujos y un costo de oportunidad de 15%:</a:t>
            </a:r>
            <a:endParaRPr lang="es-ES" sz="2000" dirty="0">
              <a:latin typeface="Century Gothic" panose="020B0502020202020204" pitchFamily="34" charset="0"/>
            </a:endParaRPr>
          </a:p>
          <a:p>
            <a:endParaRPr lang="es-ES" sz="2000" dirty="0">
              <a:latin typeface="Century Gothic" panose="020B0502020202020204" pitchFamily="34" charset="0"/>
            </a:endParaRPr>
          </a:p>
          <a:p>
            <a:endParaRPr lang="es-ES" sz="2000" dirty="0">
              <a:latin typeface="Century Gothic" panose="020B0502020202020204" pitchFamily="34" charset="0"/>
            </a:endParaRPr>
          </a:p>
          <a:p>
            <a:endParaRPr lang="es-ES" sz="2000" dirty="0">
              <a:latin typeface="Century Gothic" panose="020B0502020202020204" pitchFamily="34" charset="0"/>
            </a:endParaRPr>
          </a:p>
          <a:p>
            <a:endParaRPr lang="es-ES" sz="2000" dirty="0">
              <a:latin typeface="Century Gothic" panose="020B0502020202020204" pitchFamily="34" charset="0"/>
            </a:endParaRPr>
          </a:p>
          <a:p>
            <a:endParaRPr lang="es-ES" sz="2000" dirty="0">
              <a:latin typeface="Century Gothic" panose="020B0502020202020204" pitchFamily="34" charset="0"/>
            </a:endParaRPr>
          </a:p>
          <a:p>
            <a:endParaRPr lang="es-ES" sz="2000" dirty="0">
              <a:latin typeface="Century Gothic" panose="020B0502020202020204" pitchFamily="34" charset="0"/>
            </a:endParaRPr>
          </a:p>
          <a:p>
            <a:endParaRPr lang="es-ES" sz="2000" dirty="0">
              <a:latin typeface="Century Gothic" panose="020B0502020202020204" pitchFamily="34" charset="0"/>
            </a:endParaRPr>
          </a:p>
          <a:p>
            <a:pPr marL="0" indent="0" algn="ctr">
              <a:buNone/>
            </a:pPr>
            <a:r>
              <a:rPr lang="es-ES" sz="2000" b="1" dirty="0">
                <a:solidFill>
                  <a:srgbClr val="D7A700"/>
                </a:solidFill>
                <a:latin typeface="Century Gothic" panose="020B0502020202020204" pitchFamily="34" charset="0"/>
              </a:rPr>
              <a:t>¿Cuál proyecto escogería?        </a:t>
            </a:r>
            <a:r>
              <a:rPr lang="es-ES" sz="2000" dirty="0">
                <a:solidFill>
                  <a:schemeClr val="bg1"/>
                </a:solidFill>
                <a:latin typeface="Century Gothic" panose="020B0502020202020204" pitchFamily="34" charset="0"/>
              </a:rPr>
              <a:t>..</a:t>
            </a:r>
          </a:p>
          <a:p>
            <a:endParaRPr lang="es-ES" sz="2000" dirty="0">
              <a:latin typeface="Century Gothic" panose="020B0502020202020204" pitchFamily="34" charset="0"/>
            </a:endParaRPr>
          </a:p>
        </p:txBody>
      </p:sp>
      <p:cxnSp>
        <p:nvCxnSpPr>
          <p:cNvPr id="6" name="Straight Arrow Connector 6"/>
          <p:cNvCxnSpPr/>
          <p:nvPr/>
        </p:nvCxnSpPr>
        <p:spPr>
          <a:xfrm>
            <a:off x="3278032" y="4305141"/>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7"/>
          <p:cNvCxnSpPr/>
          <p:nvPr/>
        </p:nvCxnSpPr>
        <p:spPr>
          <a:xfrm flipV="1">
            <a:off x="5275592" y="3846414"/>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12"/>
          <p:cNvSpPr>
            <a:spLocks/>
          </p:cNvSpPr>
          <p:nvPr/>
        </p:nvSpPr>
        <p:spPr bwMode="auto">
          <a:xfrm flipH="1">
            <a:off x="3230918" y="4026061"/>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1" name="Rectangle 13"/>
          <p:cNvSpPr>
            <a:spLocks/>
          </p:cNvSpPr>
          <p:nvPr/>
        </p:nvSpPr>
        <p:spPr bwMode="auto">
          <a:xfrm>
            <a:off x="5092003" y="442825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14" name="Rectangle 18"/>
          <p:cNvSpPr>
            <a:spLocks/>
          </p:cNvSpPr>
          <p:nvPr/>
        </p:nvSpPr>
        <p:spPr bwMode="auto">
          <a:xfrm>
            <a:off x="4636866" y="3479649"/>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$2</a:t>
            </a:r>
          </a:p>
        </p:txBody>
      </p:sp>
      <p:sp>
        <p:nvSpPr>
          <p:cNvPr id="17" name="Rectangle 43"/>
          <p:cNvSpPr>
            <a:spLocks/>
          </p:cNvSpPr>
          <p:nvPr/>
        </p:nvSpPr>
        <p:spPr bwMode="auto">
          <a:xfrm>
            <a:off x="2409464" y="5185861"/>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a:t>
            </a:r>
          </a:p>
        </p:txBody>
      </p:sp>
      <p:cxnSp>
        <p:nvCxnSpPr>
          <p:cNvPr id="20" name="Straight Arrow Connector 6"/>
          <p:cNvCxnSpPr/>
          <p:nvPr/>
        </p:nvCxnSpPr>
        <p:spPr>
          <a:xfrm>
            <a:off x="7462823" y="4272282"/>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7"/>
          <p:cNvCxnSpPr/>
          <p:nvPr/>
        </p:nvCxnSpPr>
        <p:spPr>
          <a:xfrm flipV="1">
            <a:off x="9460383" y="381355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12"/>
          <p:cNvSpPr>
            <a:spLocks/>
          </p:cNvSpPr>
          <p:nvPr/>
        </p:nvSpPr>
        <p:spPr bwMode="auto">
          <a:xfrm flipH="1">
            <a:off x="7415709" y="399320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23" name="Rectangle 13"/>
          <p:cNvSpPr>
            <a:spLocks/>
          </p:cNvSpPr>
          <p:nvPr/>
        </p:nvSpPr>
        <p:spPr bwMode="auto">
          <a:xfrm>
            <a:off x="9276794" y="43953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24" name="Rectangle 18"/>
          <p:cNvSpPr>
            <a:spLocks/>
          </p:cNvSpPr>
          <p:nvPr/>
        </p:nvSpPr>
        <p:spPr bwMode="auto">
          <a:xfrm>
            <a:off x="8821657" y="344679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$12.000.000</a:t>
            </a:r>
          </a:p>
        </p:txBody>
      </p:sp>
      <p:sp>
        <p:nvSpPr>
          <p:cNvPr id="25" name="Rectangle 43"/>
          <p:cNvSpPr>
            <a:spLocks/>
          </p:cNvSpPr>
          <p:nvPr/>
        </p:nvSpPr>
        <p:spPr bwMode="auto">
          <a:xfrm>
            <a:off x="6594255" y="5153002"/>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$10.000.000</a:t>
            </a:r>
          </a:p>
        </p:txBody>
      </p:sp>
      <p:sp>
        <p:nvSpPr>
          <p:cNvPr id="28" name="Rectangle 43"/>
          <p:cNvSpPr>
            <a:spLocks/>
          </p:cNvSpPr>
          <p:nvPr/>
        </p:nvSpPr>
        <p:spPr bwMode="auto">
          <a:xfrm>
            <a:off x="3376075" y="2989959"/>
            <a:ext cx="179726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dirty="0">
                <a:latin typeface="Century Gothic" panose="020B0502020202020204" pitchFamily="34" charset="0"/>
              </a:rPr>
              <a:t>PROYECTO A</a:t>
            </a:r>
          </a:p>
        </p:txBody>
      </p:sp>
      <p:sp>
        <p:nvSpPr>
          <p:cNvPr id="29" name="Rectangle 43"/>
          <p:cNvSpPr>
            <a:spLocks/>
          </p:cNvSpPr>
          <p:nvPr/>
        </p:nvSpPr>
        <p:spPr bwMode="auto">
          <a:xfrm>
            <a:off x="7736310" y="2989959"/>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dirty="0">
                <a:latin typeface="Century Gothic" panose="020B0502020202020204" pitchFamily="34" charset="0"/>
              </a:rPr>
              <a:t>PROYECTO B</a:t>
            </a:r>
          </a:p>
        </p:txBody>
      </p:sp>
      <p:sp>
        <p:nvSpPr>
          <p:cNvPr id="8" name="Rectángulo 7">
            <a:extLst>
              <a:ext uri="{FF2B5EF4-FFF2-40B4-BE49-F238E27FC236}">
                <a16:creationId xmlns:a16="http://schemas.microsoft.com/office/drawing/2014/main" id="{1FCBCF1F-58ED-5C16-7A42-C8FE51964783}"/>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AEF9670-22F3-29E9-F072-887AD6FD4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D560B66F-17F1-5102-F099-00C6C80F814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5" name="Straight Connector 5"/>
          <p:cNvCxnSpPr/>
          <p:nvPr/>
        </p:nvCxnSpPr>
        <p:spPr>
          <a:xfrm>
            <a:off x="3278033" y="4305140"/>
            <a:ext cx="199335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5"/>
          <p:cNvCxnSpPr/>
          <p:nvPr/>
        </p:nvCxnSpPr>
        <p:spPr>
          <a:xfrm>
            <a:off x="7462824" y="4272281"/>
            <a:ext cx="199335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Slide Number Placeholder 3">
            <a:extLst>
              <a:ext uri="{FF2B5EF4-FFF2-40B4-BE49-F238E27FC236}">
                <a16:creationId xmlns:a16="http://schemas.microsoft.com/office/drawing/2014/main" id="{AC936D5F-8929-419B-1BA3-448219FA3E3E}"/>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8</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5515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_tradnl" sz="3600" dirty="0">
                <a:latin typeface="Century Gothic" panose="020B0502020202020204" pitchFamily="34" charset="0"/>
              </a:rPr>
              <a:t>Proyectos Mutuamente Excluyentes – CASO 2</a:t>
            </a:r>
            <a:endParaRPr lang="es-ES" sz="3600" dirty="0">
              <a:latin typeface="Century Gothic" panose="020B0502020202020204" pitchFamily="34" charset="0"/>
            </a:endParaRPr>
          </a:p>
        </p:txBody>
      </p:sp>
      <p:sp>
        <p:nvSpPr>
          <p:cNvPr id="3" name="Marcador de contenido 2"/>
          <p:cNvSpPr>
            <a:spLocks noGrp="1"/>
          </p:cNvSpPr>
          <p:nvPr>
            <p:ph idx="1"/>
          </p:nvPr>
        </p:nvSpPr>
        <p:spPr>
          <a:xfrm>
            <a:off x="746691" y="3889180"/>
            <a:ext cx="10337863" cy="2926013"/>
          </a:xfrm>
        </p:spPr>
        <p:txBody>
          <a:bodyPr>
            <a:noAutofit/>
          </a:bodyPr>
          <a:lstStyle/>
          <a:p>
            <a:pPr algn="just"/>
            <a:r>
              <a:rPr lang="es-ES" sz="2000" dirty="0">
                <a:solidFill>
                  <a:schemeClr val="accent1"/>
                </a:solidFill>
                <a:latin typeface="Century Gothic" panose="020B0502020202020204" pitchFamily="34" charset="0"/>
              </a:rPr>
              <a:t>Claramente, aunque el proyecto A tiene una rentabilidad de 100% y el B una de 20%, ningún agente económico racional preferiría recibir $0,74 por invertir $1, a cambio de recibir $434.782,6 millones por invertir $10 millones.</a:t>
            </a:r>
          </a:p>
          <a:p>
            <a:pPr algn="just"/>
            <a:r>
              <a:rPr lang="es-ES" sz="2000" dirty="0">
                <a:solidFill>
                  <a:schemeClr val="accent1"/>
                </a:solidFill>
                <a:latin typeface="Century Gothic" panose="020B0502020202020204" pitchFamily="34" charset="0"/>
              </a:rPr>
              <a:t>Recordemos que el objeto de toda inversión es </a:t>
            </a:r>
            <a:r>
              <a:rPr lang="es-ES" sz="2000" b="1" dirty="0">
                <a:solidFill>
                  <a:srgbClr val="C00000"/>
                </a:solidFill>
                <a:latin typeface="Century Gothic" panose="020B0502020202020204" pitchFamily="34" charset="0"/>
              </a:rPr>
              <a:t>generar valor para los accionistas</a:t>
            </a:r>
            <a:r>
              <a:rPr lang="es-ES" sz="2000" dirty="0">
                <a:solidFill>
                  <a:schemeClr val="accent1"/>
                </a:solidFill>
                <a:latin typeface="Century Gothic" panose="020B0502020202020204" pitchFamily="34" charset="0"/>
              </a:rPr>
              <a:t>. Por lo tanto, la generación de valor es un criterio más importante que la rentabilidad.</a:t>
            </a:r>
          </a:p>
          <a:p>
            <a:pPr algn="just"/>
            <a:r>
              <a:rPr lang="es-ES" sz="2000" dirty="0">
                <a:solidFill>
                  <a:schemeClr val="accent1"/>
                </a:solidFill>
                <a:latin typeface="Century Gothic" panose="020B0502020202020204" pitchFamily="34" charset="0"/>
              </a:rPr>
              <a:t>Por esta razón, el VPN, indicador de generación de valor, es más conveniente que la TIR, indicador de rentabilidad.</a:t>
            </a:r>
          </a:p>
          <a:p>
            <a:pPr algn="just"/>
            <a:endParaRPr lang="es-ES" sz="2000" dirty="0">
              <a:solidFill>
                <a:schemeClr val="accent1"/>
              </a:solidFill>
              <a:latin typeface="Century Gothic" panose="020B0502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072425535"/>
              </p:ext>
            </p:extLst>
          </p:nvPr>
        </p:nvGraphicFramePr>
        <p:xfrm>
          <a:off x="3242069" y="2316480"/>
          <a:ext cx="5707857" cy="111252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tblGrid>
              <a:tr h="370840">
                <a:tc>
                  <a:txBody>
                    <a:bodyPr/>
                    <a:lstStyle/>
                    <a:p>
                      <a:pPr algn="ctr"/>
                      <a:r>
                        <a:rPr lang="es-ES_tradnl" sz="1800" noProof="0" dirty="0">
                          <a:latin typeface="Century Gothic" panose="020B0502020202020204" pitchFamily="34" charset="0"/>
                        </a:rPr>
                        <a:t>PROYECTO</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VPN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$0,74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$434.782,6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 name="Rectángulo 5">
            <a:extLst>
              <a:ext uri="{FF2B5EF4-FFF2-40B4-BE49-F238E27FC236}">
                <a16:creationId xmlns:a16="http://schemas.microsoft.com/office/drawing/2014/main" id="{9BC29E79-ABFE-3BA2-D427-BFC0AD14D6E9}"/>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959AEDEB-A56B-783F-CD23-438C185C7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FB98184-59B3-8C58-C4F4-27E83223101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04E3AE36-BA6B-1FB5-5457-0FD0D01534A4}"/>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9</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278096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866593" y="2150193"/>
            <a:ext cx="10082168" cy="3931691"/>
          </a:xfrm>
        </p:spPr>
        <p:txBody>
          <a:bodyPr>
            <a:noAutofit/>
          </a:bodyPr>
          <a:lstStyle/>
          <a:p>
            <a:r>
              <a:rPr lang="es-ES" sz="2000" dirty="0">
                <a:solidFill>
                  <a:schemeClr val="accent1"/>
                </a:solidFill>
                <a:latin typeface="Century Gothic" panose="020B0502020202020204" pitchFamily="34" charset="0"/>
              </a:rPr>
              <a:t>¿Ahora bien, qué ocurre con el ordenamiento generado por el indicador B/C ante alternativas con inversiones diferentes?</a:t>
            </a:r>
          </a:p>
          <a:p>
            <a:endParaRPr lang="es-ES" sz="2000" dirty="0">
              <a:solidFill>
                <a:schemeClr val="accent1"/>
              </a:solidFill>
              <a:latin typeface="Century Gothic" panose="020B0502020202020204" pitchFamily="34" charset="0"/>
            </a:endParaRPr>
          </a:p>
          <a:p>
            <a:r>
              <a:rPr lang="es-ES" sz="2000" dirty="0">
                <a:solidFill>
                  <a:schemeClr val="accent1"/>
                </a:solidFill>
                <a:latin typeface="Century Gothic" panose="020B0502020202020204" pitchFamily="34" charset="0"/>
              </a:rPr>
              <a:t>Continuemos con el mismo ejemplo:</a:t>
            </a:r>
          </a:p>
          <a:p>
            <a:endParaRPr lang="es-ES" sz="2000" dirty="0">
              <a:latin typeface="Century Gothic" panose="020B0502020202020204" pitchFamily="34" charset="0"/>
            </a:endParaRPr>
          </a:p>
          <a:p>
            <a:endParaRPr lang="es-ES" sz="2000" dirty="0">
              <a:latin typeface="Century Gothic" panose="020B0502020202020204" pitchFamily="34" charset="0"/>
            </a:endParaRPr>
          </a:p>
          <a:p>
            <a:endParaRPr lang="es-ES" sz="2000" dirty="0">
              <a:latin typeface="Century Gothic" panose="020B0502020202020204" pitchFamily="34" charset="0"/>
            </a:endParaRPr>
          </a:p>
          <a:p>
            <a:endParaRPr lang="es-ES" sz="2000" dirty="0">
              <a:latin typeface="Century Gothic" panose="020B0502020202020204" pitchFamily="34" charset="0"/>
            </a:endParaRPr>
          </a:p>
          <a:p>
            <a:pPr marL="0" indent="0" algn="ctr">
              <a:buNone/>
            </a:pPr>
            <a:endParaRPr lang="es-ES" sz="2000" b="1" dirty="0">
              <a:solidFill>
                <a:srgbClr val="C00000"/>
              </a:solidFill>
              <a:latin typeface="Century Gothic" panose="020B0502020202020204" pitchFamily="34" charset="0"/>
            </a:endParaRPr>
          </a:p>
          <a:p>
            <a:pPr marL="0" indent="0" algn="ctr">
              <a:buNone/>
            </a:pPr>
            <a:r>
              <a:rPr lang="es-ES" sz="2000" b="1" dirty="0">
                <a:solidFill>
                  <a:srgbClr val="C00000"/>
                </a:solidFill>
                <a:latin typeface="Century Gothic" panose="020B0502020202020204" pitchFamily="34" charset="0"/>
              </a:rPr>
              <a:t>¿Cuál proyecto escogería? </a:t>
            </a:r>
          </a:p>
        </p:txBody>
      </p:sp>
      <p:graphicFrame>
        <p:nvGraphicFramePr>
          <p:cNvPr id="5" name="Table 4"/>
          <p:cNvGraphicFramePr>
            <a:graphicFrameLocks noGrp="1"/>
          </p:cNvGraphicFramePr>
          <p:nvPr>
            <p:extLst>
              <p:ext uri="{D42A27DB-BD31-4B8C-83A1-F6EECF244321}">
                <p14:modId xmlns:p14="http://schemas.microsoft.com/office/powerpoint/2010/main" val="1960556665"/>
              </p:ext>
            </p:extLst>
          </p:nvPr>
        </p:nvGraphicFramePr>
        <p:xfrm>
          <a:off x="3242071" y="4116038"/>
          <a:ext cx="5707857" cy="111252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tblGrid>
              <a:tr h="370840">
                <a:tc>
                  <a:txBody>
                    <a:bodyPr/>
                    <a:lstStyle/>
                    <a:p>
                      <a:pPr algn="ctr"/>
                      <a:r>
                        <a:rPr lang="es-ES_tradnl" sz="1800" noProof="0" dirty="0">
                          <a:latin typeface="Century Gothic" panose="020B0502020202020204" pitchFamily="34" charset="0"/>
                        </a:rPr>
                        <a:t>PROYECTO</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B/C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VPN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$0,74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$434.782,6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 name="Rectángulo 5">
            <a:extLst>
              <a:ext uri="{FF2B5EF4-FFF2-40B4-BE49-F238E27FC236}">
                <a16:creationId xmlns:a16="http://schemas.microsoft.com/office/drawing/2014/main" id="{7D1CD3A1-A725-FFD0-45D7-1B1652AC1E5D}"/>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D352FA6C-7913-1DBC-3AD8-FA120E4EF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3D122DB-134C-E129-643F-F417113A381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BBD98BF8-EA41-29A6-6591-79B6079C03F7}"/>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10</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36369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fade">
                                      <p:cBhvr>
                                        <p:cTn id="1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85CE1-275B-EF5F-5D17-80AABC95C3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79F76E-A5ED-32A2-44C7-E2BD42E4AADB}"/>
              </a:ext>
            </a:extLst>
          </p:cNvPr>
          <p:cNvSpPr>
            <a:spLocks noGrp="1"/>
          </p:cNvSpPr>
          <p:nvPr>
            <p:ph type="title"/>
          </p:nvPr>
        </p:nvSpPr>
        <p:spPr/>
        <p:txBody>
          <a:bodyPr>
            <a:normAutofit fontScale="90000"/>
          </a:bodyPr>
          <a:lstStyle/>
          <a:p>
            <a:r>
              <a:rPr lang="es-ES_tradnl" sz="3600" dirty="0">
                <a:latin typeface="Century Gothic" panose="020B0502020202020204" pitchFamily="34" charset="0"/>
              </a:rPr>
              <a:t>Proyectos Mutuamente Excluyentes – CASO 2</a:t>
            </a:r>
            <a:endParaRPr lang="es-ES" sz="3600"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CE322525-C24F-4B0E-CA98-0F6FF0CDD62E}"/>
              </a:ext>
            </a:extLst>
          </p:cNvPr>
          <p:cNvSpPr>
            <a:spLocks noGrp="1"/>
          </p:cNvSpPr>
          <p:nvPr>
            <p:ph idx="1"/>
          </p:nvPr>
        </p:nvSpPr>
        <p:spPr>
          <a:xfrm>
            <a:off x="641965" y="3071332"/>
            <a:ext cx="8391630" cy="2926013"/>
          </a:xfrm>
        </p:spPr>
        <p:txBody>
          <a:bodyPr>
            <a:noAutofit/>
          </a:bodyPr>
          <a:lstStyle/>
          <a:p>
            <a:pPr algn="just"/>
            <a:r>
              <a:rPr lang="es-ES" sz="2000" dirty="0">
                <a:solidFill>
                  <a:schemeClr val="accent1"/>
                </a:solidFill>
                <a:latin typeface="Century Gothic" panose="020B0502020202020204" pitchFamily="34" charset="0"/>
              </a:rPr>
              <a:t>De igual forma, aunque la relación B/C de la alternativa A es mayor que la relación B/C de la B, no es más conveniente A que B (A&gt;B) </a:t>
            </a:r>
            <a:r>
              <a:rPr lang="es-ES" sz="2000" b="1" dirty="0">
                <a:solidFill>
                  <a:schemeClr val="accent1"/>
                </a:solidFill>
                <a:latin typeface="Century Gothic" panose="020B0502020202020204" pitchFamily="34" charset="0"/>
              </a:rPr>
              <a:t>puesto que B genera mayor valor que A</a:t>
            </a:r>
            <a:r>
              <a:rPr lang="es-ES" sz="2000" dirty="0">
                <a:solidFill>
                  <a:schemeClr val="accent1"/>
                </a:solidFill>
                <a:latin typeface="Century Gothic" panose="020B0502020202020204" pitchFamily="34" charset="0"/>
              </a:rPr>
              <a:t>, según el ordenamiento obtenido por VPN (B&gt;A).​</a:t>
            </a:r>
          </a:p>
          <a:p>
            <a:pPr algn="just"/>
            <a:r>
              <a:rPr lang="es-ES" sz="2000" dirty="0">
                <a:solidFill>
                  <a:schemeClr val="accent1"/>
                </a:solidFill>
                <a:latin typeface="Century Gothic" panose="020B0502020202020204" pitchFamily="34" charset="0"/>
              </a:rPr>
              <a:t>Lo anterior, nos permite concluir, que </a:t>
            </a:r>
            <a:r>
              <a:rPr lang="es-ES" sz="2000" b="1" dirty="0">
                <a:solidFill>
                  <a:schemeClr val="accent1"/>
                </a:solidFill>
                <a:latin typeface="Century Gothic" panose="020B0502020202020204" pitchFamily="34" charset="0"/>
              </a:rPr>
              <a:t>la relación B/C puede llevar a ordenamientos incorrectos</a:t>
            </a:r>
            <a:r>
              <a:rPr lang="es-ES" sz="2000" dirty="0">
                <a:solidFill>
                  <a:schemeClr val="accent1"/>
                </a:solidFill>
                <a:latin typeface="Century Gothic" panose="020B0502020202020204" pitchFamily="34" charset="0"/>
              </a:rPr>
              <a:t> si la inversión  inicial es diferente.​</a:t>
            </a:r>
          </a:p>
          <a:p>
            <a:pPr algn="just"/>
            <a:r>
              <a:rPr lang="es-ES" sz="2000" dirty="0">
                <a:solidFill>
                  <a:schemeClr val="accent1"/>
                </a:solidFill>
                <a:latin typeface="Century Gothic" panose="020B0502020202020204" pitchFamily="34" charset="0"/>
              </a:rPr>
              <a:t>Esto se debe a que su significado está más estrechamente relacionado con el </a:t>
            </a:r>
            <a:r>
              <a:rPr lang="es-ES" sz="2000" b="1" dirty="0">
                <a:solidFill>
                  <a:schemeClr val="accent1"/>
                </a:solidFill>
                <a:latin typeface="Century Gothic" panose="020B0502020202020204" pitchFamily="34" charset="0"/>
              </a:rPr>
              <a:t>concepto de rentabilidad </a:t>
            </a:r>
            <a:r>
              <a:rPr lang="es-ES" sz="2000" dirty="0">
                <a:solidFill>
                  <a:schemeClr val="accent1"/>
                </a:solidFill>
                <a:latin typeface="Century Gothic" panose="020B0502020202020204" pitchFamily="34" charset="0"/>
              </a:rPr>
              <a:t>que con el de generación de valor.​</a:t>
            </a:r>
          </a:p>
          <a:p>
            <a:pPr algn="just"/>
            <a:r>
              <a:rPr lang="es-ES" sz="2000" dirty="0">
                <a:solidFill>
                  <a:schemeClr val="accent1"/>
                </a:solidFill>
                <a:latin typeface="Century Gothic" panose="020B0502020202020204" pitchFamily="34" charset="0"/>
              </a:rPr>
              <a:t>Adicionalmente, está directamente relacionado con la inversión.</a:t>
            </a:r>
          </a:p>
          <a:p>
            <a:pPr algn="just"/>
            <a:endParaRPr lang="es-ES" sz="2000" dirty="0">
              <a:solidFill>
                <a:schemeClr val="accent1"/>
              </a:solidFill>
              <a:latin typeface="Century Gothic" panose="020B0502020202020204" pitchFamily="34" charset="0"/>
            </a:endParaRPr>
          </a:p>
        </p:txBody>
      </p:sp>
      <p:sp>
        <p:nvSpPr>
          <p:cNvPr id="6" name="Rectángulo 5">
            <a:extLst>
              <a:ext uri="{FF2B5EF4-FFF2-40B4-BE49-F238E27FC236}">
                <a16:creationId xmlns:a16="http://schemas.microsoft.com/office/drawing/2014/main" id="{318DEB77-8F54-349C-440A-31B098C075BD}"/>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06ED812-B6D2-264B-AF06-B1FF2E49B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2B70AD4-8D21-197D-8CD9-B06BD4F4210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9" name="Imagen 8">
            <a:extLst>
              <a:ext uri="{FF2B5EF4-FFF2-40B4-BE49-F238E27FC236}">
                <a16:creationId xmlns:a16="http://schemas.microsoft.com/office/drawing/2014/main" id="{BD8BDE41-757A-B77B-34E4-0A1543948356}"/>
              </a:ext>
            </a:extLst>
          </p:cNvPr>
          <p:cNvPicPr>
            <a:picLocks noChangeAspect="1"/>
          </p:cNvPicPr>
          <p:nvPr/>
        </p:nvPicPr>
        <p:blipFill rotWithShape="1">
          <a:blip r:embed="rId3"/>
          <a:srcRect b="13235"/>
          <a:stretch/>
        </p:blipFill>
        <p:spPr>
          <a:xfrm>
            <a:off x="9261434" y="3370585"/>
            <a:ext cx="2288601" cy="1514087"/>
          </a:xfrm>
          <a:prstGeom prst="rect">
            <a:avLst/>
          </a:prstGeom>
        </p:spPr>
      </p:pic>
      <p:sp>
        <p:nvSpPr>
          <p:cNvPr id="5" name="Slide Number Placeholder 3">
            <a:extLst>
              <a:ext uri="{FF2B5EF4-FFF2-40B4-BE49-F238E27FC236}">
                <a16:creationId xmlns:a16="http://schemas.microsoft.com/office/drawing/2014/main" id="{B5725079-8350-1AF9-FE8C-D3307FA0E9F2}"/>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11</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717080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848938" y="2065543"/>
            <a:ext cx="10346284" cy="4168997"/>
          </a:xfrm>
        </p:spPr>
        <p:txBody>
          <a:bodyPr>
            <a:noAutofit/>
          </a:bodyPr>
          <a:lstStyle/>
          <a:p>
            <a:pPr algn="just"/>
            <a:r>
              <a:rPr lang="es-ES" sz="2000" dirty="0">
                <a:solidFill>
                  <a:schemeClr val="accent1"/>
                </a:solidFill>
                <a:latin typeface="Century Gothic" panose="020B0502020202020204" pitchFamily="34" charset="0"/>
              </a:rPr>
              <a:t>¿Por otro lado, servirá la TVR para evaluar alternativas con inversión inicial diferente?</a:t>
            </a:r>
          </a:p>
          <a:p>
            <a:pPr algn="just"/>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Sigamos con nuestro ejemplo:</a:t>
            </a:r>
          </a:p>
          <a:p>
            <a:pPr algn="just"/>
            <a:endParaRPr lang="es-ES" sz="2000" dirty="0">
              <a:solidFill>
                <a:schemeClr val="accent1"/>
              </a:solidFill>
              <a:latin typeface="Century Gothic" panose="020B0502020202020204" pitchFamily="34" charset="0"/>
            </a:endParaRPr>
          </a:p>
          <a:p>
            <a:pPr algn="just"/>
            <a:endParaRPr lang="es-ES" sz="2000" dirty="0">
              <a:solidFill>
                <a:schemeClr val="accent1"/>
              </a:solidFill>
              <a:latin typeface="Century Gothic" panose="020B0502020202020204" pitchFamily="34" charset="0"/>
            </a:endParaRPr>
          </a:p>
          <a:p>
            <a:pPr marL="0" indent="0" algn="just">
              <a:buNone/>
            </a:pPr>
            <a:endParaRPr lang="es-ES" sz="2000" dirty="0">
              <a:solidFill>
                <a:schemeClr val="accent1"/>
              </a:solidFill>
              <a:latin typeface="Century Gothic" panose="020B0502020202020204" pitchFamily="34" charset="0"/>
            </a:endParaRPr>
          </a:p>
          <a:p>
            <a:pPr marL="0" indent="0" algn="just">
              <a:buNone/>
            </a:pPr>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Lo anterior nos lleva a concluir que </a:t>
            </a:r>
            <a:r>
              <a:rPr lang="es-ES" sz="2000" b="1" dirty="0">
                <a:solidFill>
                  <a:schemeClr val="accent1"/>
                </a:solidFill>
                <a:latin typeface="Century Gothic" panose="020B0502020202020204" pitchFamily="34" charset="0"/>
              </a:rPr>
              <a:t>la TVR tampoco es un indicador apropiado para evaluar alternativas con inversiones iniciales diferentes</a:t>
            </a:r>
            <a:r>
              <a:rPr lang="es-ES" sz="2000" dirty="0">
                <a:solidFill>
                  <a:schemeClr val="accent1"/>
                </a:solidFill>
                <a:latin typeface="Century Gothic" panose="020B0502020202020204" pitchFamily="34" charset="0"/>
              </a:rPr>
              <a:t>. Su significado también está más relacionado con el concepto de rentabilidad.</a:t>
            </a:r>
          </a:p>
        </p:txBody>
      </p:sp>
      <p:graphicFrame>
        <p:nvGraphicFramePr>
          <p:cNvPr id="5" name="Table 4"/>
          <p:cNvGraphicFramePr>
            <a:graphicFrameLocks noGrp="1"/>
          </p:cNvGraphicFramePr>
          <p:nvPr>
            <p:extLst>
              <p:ext uri="{D42A27DB-BD31-4B8C-83A1-F6EECF244321}">
                <p14:modId xmlns:p14="http://schemas.microsoft.com/office/powerpoint/2010/main" val="1874164081"/>
              </p:ext>
            </p:extLst>
          </p:nvPr>
        </p:nvGraphicFramePr>
        <p:xfrm>
          <a:off x="3242071" y="3716156"/>
          <a:ext cx="5707857" cy="111252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tblGrid>
              <a:tr h="370840">
                <a:tc>
                  <a:txBody>
                    <a:bodyPr/>
                    <a:lstStyle/>
                    <a:p>
                      <a:pPr algn="ctr"/>
                      <a:r>
                        <a:rPr lang="es-ES_tradnl" sz="1800" noProof="0" dirty="0">
                          <a:latin typeface="Century Gothic" panose="020B0502020202020204" pitchFamily="34" charset="0"/>
                        </a:rPr>
                        <a:t>PROYECTO</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TVR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VPN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$0,74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$434.782,6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 name="Rectángulo 5">
            <a:extLst>
              <a:ext uri="{FF2B5EF4-FFF2-40B4-BE49-F238E27FC236}">
                <a16:creationId xmlns:a16="http://schemas.microsoft.com/office/drawing/2014/main" id="{6B2386F6-F219-E8DF-2757-1525AEC59C82}"/>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AA196A9-397F-79B2-DF16-6A76FDDD98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150241C-689E-4F03-DCD0-95904260EEA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DCD3D672-B56F-98CA-EC5F-777042F544C4}"/>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12</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7959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040E0C9-A5B7-7F2C-698D-43333F884A11}"/>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0B1CA69E-9A0A-6B34-400A-A802B74E02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50D5627F-2EFA-53EA-C722-6DD9E6D72B7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FA6581F5-4A8B-2673-6541-8D3974415328}"/>
              </a:ext>
            </a:extLst>
          </p:cNvPr>
          <p:cNvSpPr/>
          <p:nvPr/>
        </p:nvSpPr>
        <p:spPr>
          <a:xfrm>
            <a:off x="2806200" y="277272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Proyectos Mutuamente Excluyentes.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rPr>
              <a:t>	</a:t>
            </a:r>
            <a:r>
              <a:rPr lang="es-CO" dirty="0">
                <a:solidFill>
                  <a:schemeClr val="accent3">
                    <a:lumMod val="75000"/>
                  </a:schemeClr>
                </a:solidFill>
                <a:latin typeface="Century Gothic"/>
              </a:rPr>
              <a:t>1.1. </a:t>
            </a:r>
            <a:r>
              <a:rPr lang="es-CO" dirty="0">
                <a:solidFill>
                  <a:schemeClr val="bg2">
                    <a:lumMod val="90000"/>
                  </a:schemeClr>
                </a:solidFill>
                <a:latin typeface="Century Gothic"/>
              </a:rPr>
              <a:t>Caso 2: misma vida útil, pero distinta inversión inicial.</a:t>
            </a:r>
          </a:p>
          <a:p>
            <a:pPr>
              <a:buClr>
                <a:srgbClr val="48BE7A"/>
              </a:buClr>
            </a:pPr>
            <a:endParaRPr lang="es-CO" dirty="0">
              <a:solidFill>
                <a:schemeClr val="accent1"/>
              </a:solidFill>
              <a:latin typeface="Century Gothic"/>
            </a:endParaRPr>
          </a:p>
          <a:p>
            <a:pPr>
              <a:buClr>
                <a:srgbClr val="48BE7A"/>
              </a:buClr>
            </a:pPr>
            <a:r>
              <a:rPr lang="es-CO" dirty="0">
                <a:solidFill>
                  <a:schemeClr val="accent1"/>
                </a:solidFill>
                <a:latin typeface="Century Gothic" panose="020B0502020202020204" pitchFamily="34" charset="0"/>
                <a:cs typeface="Arial"/>
              </a:rPr>
              <a:t>		</a:t>
            </a:r>
            <a:r>
              <a:rPr lang="es-CO" dirty="0">
                <a:solidFill>
                  <a:schemeClr val="accent3">
                    <a:lumMod val="75000"/>
                  </a:schemeClr>
                </a:solidFill>
                <a:latin typeface="Century Gothic" panose="020B0502020202020204" pitchFamily="34" charset="0"/>
                <a:cs typeface="Arial"/>
              </a:rPr>
              <a:t>1.1.1. </a:t>
            </a:r>
            <a:r>
              <a:rPr lang="es-CO" dirty="0">
                <a:solidFill>
                  <a:schemeClr val="accent1"/>
                </a:solidFill>
                <a:latin typeface="Century Gothic" panose="020B0502020202020204" pitchFamily="34" charset="0"/>
                <a:cs typeface="Arial"/>
              </a:rPr>
              <a:t>Análisis marginal, incremental o diferencial.</a:t>
            </a: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 typeface="+mj-lt"/>
              <a:buAutoNum type="arabicPeriod" startAt="2"/>
            </a:pPr>
            <a:r>
              <a:rPr lang="es-CO" dirty="0">
                <a:solidFill>
                  <a:schemeClr val="bg2">
                    <a:lumMod val="90000"/>
                  </a:schemeClr>
                </a:solidFill>
                <a:latin typeface="Century Gothic" panose="020B0502020202020204" pitchFamily="34" charset="0"/>
                <a:cs typeface="Arial"/>
              </a:rPr>
              <a:t>Ejercicios de Práctica.</a:t>
            </a: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75C51E1D-A33F-B41C-A7E6-74A0AA414464}"/>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13</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83661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641965" y="2166622"/>
            <a:ext cx="8267257" cy="3678303"/>
          </a:xfrm>
        </p:spPr>
        <p:txBody>
          <a:bodyPr>
            <a:normAutofit/>
          </a:bodyPr>
          <a:lstStyle/>
          <a:p>
            <a:pPr algn="just"/>
            <a:r>
              <a:rPr lang="es-ES" sz="2000" dirty="0">
                <a:solidFill>
                  <a:schemeClr val="accent1"/>
                </a:solidFill>
                <a:latin typeface="Century Gothic" panose="020B0502020202020204" pitchFamily="34" charset="0"/>
              </a:rPr>
              <a:t>Ahora bien, existe una metodología muy valiosa que permite comparar proyectos de inversión con vidas útiles iguales e inversiones iniciales diferentes y que, al ser aplicada correctamente, </a:t>
            </a:r>
            <a:r>
              <a:rPr lang="es-ES" sz="2000" b="1" dirty="0">
                <a:solidFill>
                  <a:srgbClr val="C00000"/>
                </a:solidFill>
                <a:latin typeface="Century Gothic" panose="020B0502020202020204" pitchFamily="34" charset="0"/>
              </a:rPr>
              <a:t>genera ordenamientos preferenciales perfectamente consistentes con el VPN</a:t>
            </a:r>
            <a:r>
              <a:rPr lang="es-ES" sz="2000" dirty="0">
                <a:solidFill>
                  <a:schemeClr val="accent1"/>
                </a:solidFill>
                <a:latin typeface="Century Gothic" panose="020B0502020202020204" pitchFamily="34" charset="0"/>
              </a:rPr>
              <a:t>.</a:t>
            </a:r>
          </a:p>
          <a:p>
            <a:pPr algn="just"/>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Dicha metodología es comúnmente denominada </a:t>
            </a:r>
            <a:r>
              <a:rPr lang="es-ES" sz="2000" b="1" dirty="0">
                <a:solidFill>
                  <a:srgbClr val="D7A700"/>
                </a:solidFill>
                <a:latin typeface="Century Gothic" panose="020B0502020202020204" pitchFamily="34" charset="0"/>
              </a:rPr>
              <a:t>Análisis Incremental</a:t>
            </a:r>
            <a:r>
              <a:rPr lang="es-ES" sz="2000" dirty="0">
                <a:solidFill>
                  <a:schemeClr val="accent1"/>
                </a:solidFill>
                <a:latin typeface="Century Gothic" panose="020B0502020202020204" pitchFamily="34" charset="0"/>
              </a:rPr>
              <a:t>, </a:t>
            </a:r>
            <a:r>
              <a:rPr lang="es-ES" sz="2000" b="1" dirty="0">
                <a:solidFill>
                  <a:srgbClr val="D7A700"/>
                </a:solidFill>
                <a:latin typeface="Century Gothic" panose="020B0502020202020204" pitchFamily="34" charset="0"/>
              </a:rPr>
              <a:t>Análisis Marginal</a:t>
            </a:r>
            <a:r>
              <a:rPr lang="es-ES" sz="2000" dirty="0">
                <a:solidFill>
                  <a:schemeClr val="accent1"/>
                </a:solidFill>
                <a:latin typeface="Century Gothic" panose="020B0502020202020204" pitchFamily="34" charset="0"/>
              </a:rPr>
              <a:t> o </a:t>
            </a:r>
            <a:r>
              <a:rPr lang="es-ES" sz="2000" b="1" dirty="0">
                <a:solidFill>
                  <a:srgbClr val="D7A700"/>
                </a:solidFill>
                <a:latin typeface="Century Gothic" panose="020B0502020202020204" pitchFamily="34" charset="0"/>
              </a:rPr>
              <a:t>Análisis Diferencial</a:t>
            </a:r>
            <a:r>
              <a:rPr lang="es-ES" sz="2000" dirty="0">
                <a:solidFill>
                  <a:schemeClr val="accent1"/>
                </a:solidFill>
                <a:latin typeface="Century Gothic" panose="020B0502020202020204" pitchFamily="34" charset="0"/>
              </a:rPr>
              <a:t>.</a:t>
            </a:r>
          </a:p>
        </p:txBody>
      </p:sp>
      <p:pic>
        <p:nvPicPr>
          <p:cNvPr id="1026" name="Picture 2" descr="Inversiones permanentes - Qué es, definición y concepto">
            <a:extLst>
              <a:ext uri="{FF2B5EF4-FFF2-40B4-BE49-F238E27FC236}">
                <a16:creationId xmlns:a16="http://schemas.microsoft.com/office/drawing/2014/main" id="{99B818F2-6033-F487-681F-F58541724C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9222" y="3073066"/>
            <a:ext cx="2807740" cy="186541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1FB13CE-5BF7-BFB6-6631-87E0E889D61F}"/>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261B603-D8FA-8BDE-C7D8-F93A624CE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8B687CA-DF67-0FF8-E4A0-BDA16CC35C1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74F69949-5A51-3C72-0383-95D4EFFF492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14</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48004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766731" y="2366327"/>
            <a:ext cx="7876552" cy="3678303"/>
          </a:xfrm>
        </p:spPr>
        <p:txBody>
          <a:bodyPr>
            <a:noAutofit/>
          </a:bodyPr>
          <a:lstStyle/>
          <a:p>
            <a:pPr algn="just"/>
            <a:r>
              <a:rPr lang="es-ES" sz="2000" dirty="0">
                <a:solidFill>
                  <a:schemeClr val="accent1"/>
                </a:solidFill>
                <a:latin typeface="Century Gothic" panose="020B0502020202020204" pitchFamily="34" charset="0"/>
              </a:rPr>
              <a:t>Dicha metodología consiste básicamente en comparar dos o más alternativas teniendo en cuenta las </a:t>
            </a:r>
            <a:r>
              <a:rPr lang="es-ES" sz="2000" b="1" dirty="0">
                <a:solidFill>
                  <a:srgbClr val="D7A700"/>
                </a:solidFill>
                <a:latin typeface="Century Gothic" panose="020B0502020202020204" pitchFamily="34" charset="0"/>
              </a:rPr>
              <a:t>diferencias marginales entre los proyectos</a:t>
            </a:r>
            <a:r>
              <a:rPr lang="es-ES" sz="2000" dirty="0">
                <a:solidFill>
                  <a:schemeClr val="accent1"/>
                </a:solidFill>
                <a:latin typeface="Century Gothic" panose="020B0502020202020204" pitchFamily="34" charset="0"/>
              </a:rPr>
              <a:t>. De allí el nombre de Análisis Incremental, Análisis Marginal o Análisis Diferencial.</a:t>
            </a:r>
          </a:p>
          <a:p>
            <a:pPr algn="just"/>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La metodología sugiere </a:t>
            </a:r>
            <a:r>
              <a:rPr lang="es-ES" sz="2000" b="1" dirty="0">
                <a:solidFill>
                  <a:srgbClr val="C00000"/>
                </a:solidFill>
                <a:latin typeface="Century Gothic" panose="020B0502020202020204" pitchFamily="34" charset="0"/>
              </a:rPr>
              <a:t>restar del flujo de mayor inversión el flujo de menor inversión </a:t>
            </a:r>
            <a:r>
              <a:rPr lang="es-ES" sz="2000" dirty="0">
                <a:solidFill>
                  <a:schemeClr val="accent1"/>
                </a:solidFill>
                <a:latin typeface="Century Gothic" panose="020B0502020202020204" pitchFamily="34" charset="0"/>
              </a:rPr>
              <a:t>y construir el flujo diferencia. Una vez se tenga el flujo diferencia se debe calcular el IBF de éste. </a:t>
            </a:r>
          </a:p>
          <a:p>
            <a:pPr algn="just"/>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Veamos un ejemplo.</a:t>
            </a:r>
          </a:p>
        </p:txBody>
      </p:sp>
      <p:pic>
        <p:nvPicPr>
          <p:cNvPr id="2050" name="Picture 2" descr="Página 47 | Vectores e ilustraciones de Plan inversiones para descargar  gratis | Freepik">
            <a:extLst>
              <a:ext uri="{FF2B5EF4-FFF2-40B4-BE49-F238E27FC236}">
                <a16:creationId xmlns:a16="http://schemas.microsoft.com/office/drawing/2014/main" id="{9DB48AC8-B04D-B5F5-6ACC-8D0C85F771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43" t="5373" r="6221" b="5373"/>
          <a:stretch/>
        </p:blipFill>
        <p:spPr bwMode="auto">
          <a:xfrm>
            <a:off x="8968902" y="3171693"/>
            <a:ext cx="2812900" cy="2067572"/>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A962D17-7DAD-9AD8-CC1B-57958E317B73}"/>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51450E2-B6B7-FEFA-E27B-5290B7C1C2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09EC64D-7290-1080-AE26-D2892E04FF6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3F3F3269-B7C9-F72E-39E3-CAFAD2C6799C}"/>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15</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95979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581192" y="2183042"/>
            <a:ext cx="8822300" cy="4240796"/>
          </a:xfrm>
        </p:spPr>
        <p:txBody>
          <a:bodyPr>
            <a:noAutofit/>
          </a:bodyPr>
          <a:lstStyle/>
          <a:p>
            <a:pPr marL="0" indent="0" algn="just">
              <a:buNone/>
            </a:pPr>
            <a:r>
              <a:rPr lang="es-ES" sz="2000" b="1" dirty="0">
                <a:solidFill>
                  <a:srgbClr val="C00000"/>
                </a:solidFill>
                <a:latin typeface="Century Gothic" panose="020B0502020202020204" pitchFamily="34" charset="0"/>
              </a:rPr>
              <a:t>Ejemplo 1</a:t>
            </a:r>
          </a:p>
          <a:p>
            <a:pPr marL="0" indent="0" algn="just">
              <a:buNone/>
            </a:pPr>
            <a:endParaRPr lang="es-ES" sz="2000" b="1" dirty="0">
              <a:solidFill>
                <a:schemeClr val="accent1"/>
              </a:solidFill>
              <a:latin typeface="Century Gothic" panose="020B0502020202020204" pitchFamily="34" charset="0"/>
            </a:endParaRPr>
          </a:p>
          <a:p>
            <a:pPr marL="0" indent="0" algn="just">
              <a:buNone/>
            </a:pPr>
            <a:r>
              <a:rPr lang="es-ES" sz="2000" dirty="0">
                <a:solidFill>
                  <a:schemeClr val="accent1"/>
                </a:solidFill>
                <a:latin typeface="Century Gothic" panose="020B0502020202020204" pitchFamily="34" charset="0"/>
              </a:rPr>
              <a:t>Considere los siguientes proyectos:</a:t>
            </a:r>
          </a:p>
          <a:p>
            <a:pPr marL="0" indent="0" algn="just">
              <a:buNone/>
            </a:pPr>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El </a:t>
            </a:r>
            <a:r>
              <a:rPr lang="es-ES" sz="2000" b="1" dirty="0">
                <a:solidFill>
                  <a:schemeClr val="accent3">
                    <a:lumMod val="75000"/>
                  </a:schemeClr>
                </a:solidFill>
                <a:latin typeface="Century Gothic" panose="020B0502020202020204" pitchFamily="34" charset="0"/>
              </a:rPr>
              <a:t>proyecto A </a:t>
            </a:r>
            <a:r>
              <a:rPr lang="es-ES" sz="2000" dirty="0">
                <a:solidFill>
                  <a:schemeClr val="accent1"/>
                </a:solidFill>
                <a:latin typeface="Century Gothic" panose="020B0502020202020204" pitchFamily="34" charset="0"/>
              </a:rPr>
              <a:t>requiere una inversión de 1.000 pesos y genera flujos anuales constantes de 360 pesos durante cinco años.</a:t>
            </a:r>
          </a:p>
          <a:p>
            <a:pPr algn="just"/>
            <a:r>
              <a:rPr lang="es-ES" sz="2000" dirty="0">
                <a:solidFill>
                  <a:schemeClr val="accent1"/>
                </a:solidFill>
                <a:latin typeface="Century Gothic" panose="020B0502020202020204" pitchFamily="34" charset="0"/>
              </a:rPr>
              <a:t>El </a:t>
            </a:r>
            <a:r>
              <a:rPr lang="es-ES" sz="2000" b="1" dirty="0">
                <a:solidFill>
                  <a:schemeClr val="accent3">
                    <a:lumMod val="75000"/>
                  </a:schemeClr>
                </a:solidFill>
                <a:latin typeface="Century Gothic" panose="020B0502020202020204" pitchFamily="34" charset="0"/>
              </a:rPr>
              <a:t>proyecto B </a:t>
            </a:r>
            <a:r>
              <a:rPr lang="es-ES" sz="2000" dirty="0">
                <a:solidFill>
                  <a:schemeClr val="accent1"/>
                </a:solidFill>
                <a:latin typeface="Century Gothic" panose="020B0502020202020204" pitchFamily="34" charset="0"/>
              </a:rPr>
              <a:t>exige una inversión de 1.500 pesos y asegura flujos anuales constantes de 500 pesos por cinco años.</a:t>
            </a:r>
          </a:p>
          <a:p>
            <a:pPr marL="0" indent="0" algn="just">
              <a:buNone/>
            </a:pPr>
            <a:endParaRPr lang="es-ES" sz="2000" dirty="0">
              <a:solidFill>
                <a:schemeClr val="accent1"/>
              </a:solidFill>
              <a:latin typeface="Century Gothic" panose="020B0502020202020204" pitchFamily="34" charset="0"/>
            </a:endParaRPr>
          </a:p>
          <a:p>
            <a:pPr marL="0" indent="0" algn="ctr">
              <a:buNone/>
            </a:pPr>
            <a:r>
              <a:rPr lang="es-ES" sz="2000" b="1" dirty="0">
                <a:solidFill>
                  <a:srgbClr val="D7A700"/>
                </a:solidFill>
                <a:latin typeface="Century Gothic" panose="020B0502020202020204" pitchFamily="34" charset="0"/>
              </a:rPr>
              <a:t>¿Cuál de los dos proyectos debe seleccionarse?</a:t>
            </a:r>
          </a:p>
        </p:txBody>
      </p:sp>
      <p:pic>
        <p:nvPicPr>
          <p:cNvPr id="7" name="Imagen 6">
            <a:extLst>
              <a:ext uri="{FF2B5EF4-FFF2-40B4-BE49-F238E27FC236}">
                <a16:creationId xmlns:a16="http://schemas.microsoft.com/office/drawing/2014/main" id="{91F4CE1A-8C36-90ED-8CD3-41EF9EF72319}"/>
              </a:ext>
            </a:extLst>
          </p:cNvPr>
          <p:cNvPicPr>
            <a:picLocks noChangeAspect="1"/>
          </p:cNvPicPr>
          <p:nvPr/>
        </p:nvPicPr>
        <p:blipFill rotWithShape="1">
          <a:blip r:embed="rId2"/>
          <a:srcRect b="6318"/>
          <a:stretch/>
        </p:blipFill>
        <p:spPr>
          <a:xfrm>
            <a:off x="9731349" y="3053062"/>
            <a:ext cx="1653901" cy="2114550"/>
          </a:xfrm>
          <a:prstGeom prst="rect">
            <a:avLst/>
          </a:prstGeom>
        </p:spPr>
      </p:pic>
      <p:sp>
        <p:nvSpPr>
          <p:cNvPr id="5" name="Rectángulo 4">
            <a:extLst>
              <a:ext uri="{FF2B5EF4-FFF2-40B4-BE49-F238E27FC236}">
                <a16:creationId xmlns:a16="http://schemas.microsoft.com/office/drawing/2014/main" id="{5D75B9E7-9BCE-86BC-4F5E-E4E0C6E6DDE6}"/>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0F22BD6-BFDD-8AAC-7ADC-0746E3879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B9CCEA7-0775-268C-5B8C-33C3FB07156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B1DAADE7-E89D-19D2-1A04-205B0E3C7B70}"/>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16</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422052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1448088" y="4962941"/>
            <a:ext cx="9024086" cy="1347562"/>
          </a:xfrm>
        </p:spPr>
        <p:txBody>
          <a:bodyPr>
            <a:normAutofit/>
          </a:bodyPr>
          <a:lstStyle/>
          <a:p>
            <a:pPr marL="0" indent="0" algn="ctr">
              <a:buNone/>
            </a:pPr>
            <a:r>
              <a:rPr lang="es-ES" sz="2000" dirty="0">
                <a:solidFill>
                  <a:schemeClr val="accent1"/>
                </a:solidFill>
                <a:latin typeface="Century Gothic" panose="020B0502020202020204" pitchFamily="34" charset="0"/>
              </a:rPr>
              <a:t>Siguiendo la regla establecida, de </a:t>
            </a:r>
            <a:r>
              <a:rPr lang="es-ES" sz="2000" b="1" dirty="0">
                <a:solidFill>
                  <a:srgbClr val="C00000"/>
                </a:solidFill>
                <a:latin typeface="Century Gothic" panose="020B0502020202020204" pitchFamily="34" charset="0"/>
              </a:rPr>
              <a:t>restar del flujo de mayor inversión</a:t>
            </a:r>
            <a:r>
              <a:rPr lang="es-ES" sz="2000" dirty="0">
                <a:solidFill>
                  <a:schemeClr val="accent1"/>
                </a:solidFill>
                <a:latin typeface="Century Gothic" panose="020B0502020202020204" pitchFamily="34" charset="0"/>
              </a:rPr>
              <a:t>, el de menor inversión resultaría el siguiente diagrama de flujo diferencial:</a:t>
            </a:r>
          </a:p>
        </p:txBody>
      </p:sp>
      <p:cxnSp>
        <p:nvCxnSpPr>
          <p:cNvPr id="6" name="Straight Arrow Connector 6"/>
          <p:cNvCxnSpPr/>
          <p:nvPr/>
        </p:nvCxnSpPr>
        <p:spPr>
          <a:xfrm>
            <a:off x="2520720" y="3489004"/>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7"/>
          <p:cNvCxnSpPr/>
          <p:nvPr/>
        </p:nvCxnSpPr>
        <p:spPr>
          <a:xfrm flipV="1">
            <a:off x="4931169" y="304310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12"/>
          <p:cNvSpPr>
            <a:spLocks/>
          </p:cNvSpPr>
          <p:nvPr/>
        </p:nvSpPr>
        <p:spPr bwMode="auto">
          <a:xfrm flipH="1">
            <a:off x="2473606" y="3209924"/>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9" name="Rectangle 13"/>
          <p:cNvSpPr>
            <a:spLocks/>
          </p:cNvSpPr>
          <p:nvPr/>
        </p:nvSpPr>
        <p:spPr bwMode="auto">
          <a:xfrm>
            <a:off x="2888743" y="350183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10" name="Rectangle 18"/>
          <p:cNvSpPr>
            <a:spLocks/>
          </p:cNvSpPr>
          <p:nvPr/>
        </p:nvSpPr>
        <p:spPr bwMode="auto">
          <a:xfrm>
            <a:off x="3601407" y="2786622"/>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$360</a:t>
            </a:r>
          </a:p>
        </p:txBody>
      </p:sp>
      <p:sp>
        <p:nvSpPr>
          <p:cNvPr id="11" name="Rectangle 43"/>
          <p:cNvSpPr>
            <a:spLocks/>
          </p:cNvSpPr>
          <p:nvPr/>
        </p:nvSpPr>
        <p:spPr bwMode="auto">
          <a:xfrm>
            <a:off x="1652152" y="4369724"/>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1" name="Rectangle 43"/>
          <p:cNvSpPr>
            <a:spLocks/>
          </p:cNvSpPr>
          <p:nvPr/>
        </p:nvSpPr>
        <p:spPr bwMode="auto">
          <a:xfrm>
            <a:off x="3395824" y="2228600"/>
            <a:ext cx="168861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dirty="0">
                <a:latin typeface="Century Gothic" panose="020B0502020202020204" pitchFamily="34" charset="0"/>
              </a:rPr>
              <a:t>PROYECTO A</a:t>
            </a:r>
          </a:p>
        </p:txBody>
      </p:sp>
      <p:sp>
        <p:nvSpPr>
          <p:cNvPr id="22" name="Rectangle 43"/>
          <p:cNvSpPr>
            <a:spLocks/>
          </p:cNvSpPr>
          <p:nvPr/>
        </p:nvSpPr>
        <p:spPr bwMode="auto">
          <a:xfrm>
            <a:off x="7824046" y="2228599"/>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dirty="0">
                <a:latin typeface="Century Gothic" panose="020B0502020202020204" pitchFamily="34" charset="0"/>
              </a:rPr>
              <a:t>PROYECTO B</a:t>
            </a:r>
          </a:p>
        </p:txBody>
      </p:sp>
      <p:cxnSp>
        <p:nvCxnSpPr>
          <p:cNvPr id="23" name="Straight Arrow Connector 7"/>
          <p:cNvCxnSpPr/>
          <p:nvPr/>
        </p:nvCxnSpPr>
        <p:spPr>
          <a:xfrm flipV="1">
            <a:off x="3054203" y="3042996"/>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7"/>
          <p:cNvCxnSpPr/>
          <p:nvPr/>
        </p:nvCxnSpPr>
        <p:spPr>
          <a:xfrm flipV="1">
            <a:off x="3668453" y="3042996"/>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7"/>
          <p:cNvCxnSpPr/>
          <p:nvPr/>
        </p:nvCxnSpPr>
        <p:spPr>
          <a:xfrm flipV="1">
            <a:off x="4309033" y="3042996"/>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7"/>
          <p:cNvCxnSpPr/>
          <p:nvPr/>
        </p:nvCxnSpPr>
        <p:spPr>
          <a:xfrm flipV="1">
            <a:off x="5532591" y="3030277"/>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13"/>
          <p:cNvSpPr>
            <a:spLocks/>
          </p:cNvSpPr>
          <p:nvPr/>
        </p:nvSpPr>
        <p:spPr bwMode="auto">
          <a:xfrm>
            <a:off x="3499923" y="3489004"/>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30" name="Rectangle 13"/>
          <p:cNvSpPr>
            <a:spLocks/>
          </p:cNvSpPr>
          <p:nvPr/>
        </p:nvSpPr>
        <p:spPr bwMode="auto">
          <a:xfrm>
            <a:off x="4127674" y="350172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31" name="Rectangle 13"/>
          <p:cNvSpPr>
            <a:spLocks/>
          </p:cNvSpPr>
          <p:nvPr/>
        </p:nvSpPr>
        <p:spPr bwMode="auto">
          <a:xfrm>
            <a:off x="4762639" y="3489004"/>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32" name="Rectangle 13"/>
          <p:cNvSpPr>
            <a:spLocks/>
          </p:cNvSpPr>
          <p:nvPr/>
        </p:nvSpPr>
        <p:spPr bwMode="auto">
          <a:xfrm>
            <a:off x="5364061" y="349127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33" name="Straight Arrow Connector 7"/>
          <p:cNvCxnSpPr/>
          <p:nvPr/>
        </p:nvCxnSpPr>
        <p:spPr>
          <a:xfrm>
            <a:off x="3059717" y="3072130"/>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6"/>
          <p:cNvCxnSpPr/>
          <p:nvPr/>
        </p:nvCxnSpPr>
        <p:spPr>
          <a:xfrm>
            <a:off x="6887599" y="3501833"/>
            <a:ext cx="0" cy="1043463"/>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7"/>
          <p:cNvCxnSpPr/>
          <p:nvPr/>
        </p:nvCxnSpPr>
        <p:spPr>
          <a:xfrm flipV="1">
            <a:off x="9298048" y="2924691"/>
            <a:ext cx="0" cy="589969"/>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12"/>
          <p:cNvSpPr>
            <a:spLocks/>
          </p:cNvSpPr>
          <p:nvPr/>
        </p:nvSpPr>
        <p:spPr bwMode="auto">
          <a:xfrm flipH="1">
            <a:off x="6840485" y="322275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40" name="Rectangle 13"/>
          <p:cNvSpPr>
            <a:spLocks/>
          </p:cNvSpPr>
          <p:nvPr/>
        </p:nvSpPr>
        <p:spPr bwMode="auto">
          <a:xfrm>
            <a:off x="7255622" y="351466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41" name="Rectangle 18"/>
          <p:cNvSpPr>
            <a:spLocks/>
          </p:cNvSpPr>
          <p:nvPr/>
        </p:nvSpPr>
        <p:spPr bwMode="auto">
          <a:xfrm>
            <a:off x="7968286" y="2658342"/>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$500</a:t>
            </a:r>
          </a:p>
        </p:txBody>
      </p:sp>
      <p:sp>
        <p:nvSpPr>
          <p:cNvPr id="42" name="Rectangle 43"/>
          <p:cNvSpPr>
            <a:spLocks/>
          </p:cNvSpPr>
          <p:nvPr/>
        </p:nvSpPr>
        <p:spPr bwMode="auto">
          <a:xfrm>
            <a:off x="6089500" y="4529907"/>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$1.500</a:t>
            </a:r>
          </a:p>
        </p:txBody>
      </p:sp>
      <p:cxnSp>
        <p:nvCxnSpPr>
          <p:cNvPr id="44" name="Straight Arrow Connector 7"/>
          <p:cNvCxnSpPr/>
          <p:nvPr/>
        </p:nvCxnSpPr>
        <p:spPr>
          <a:xfrm flipV="1">
            <a:off x="7421082" y="2931026"/>
            <a:ext cx="0" cy="583524"/>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7"/>
          <p:cNvCxnSpPr/>
          <p:nvPr/>
        </p:nvCxnSpPr>
        <p:spPr>
          <a:xfrm flipV="1">
            <a:off x="8035332" y="2924690"/>
            <a:ext cx="0" cy="58986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7"/>
          <p:cNvCxnSpPr/>
          <p:nvPr/>
        </p:nvCxnSpPr>
        <p:spPr>
          <a:xfrm flipV="1">
            <a:off x="8675912" y="2924690"/>
            <a:ext cx="0" cy="58986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7"/>
          <p:cNvCxnSpPr/>
          <p:nvPr/>
        </p:nvCxnSpPr>
        <p:spPr>
          <a:xfrm flipV="1">
            <a:off x="9899470" y="2919951"/>
            <a:ext cx="0" cy="58188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13"/>
          <p:cNvSpPr>
            <a:spLocks/>
          </p:cNvSpPr>
          <p:nvPr/>
        </p:nvSpPr>
        <p:spPr bwMode="auto">
          <a:xfrm>
            <a:off x="7866802" y="350183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49" name="Rectangle 13"/>
          <p:cNvSpPr>
            <a:spLocks/>
          </p:cNvSpPr>
          <p:nvPr/>
        </p:nvSpPr>
        <p:spPr bwMode="auto">
          <a:xfrm>
            <a:off x="8494553" y="351455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50" name="Rectangle 13"/>
          <p:cNvSpPr>
            <a:spLocks/>
          </p:cNvSpPr>
          <p:nvPr/>
        </p:nvSpPr>
        <p:spPr bwMode="auto">
          <a:xfrm>
            <a:off x="9129518" y="350183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51" name="Rectangle 13"/>
          <p:cNvSpPr>
            <a:spLocks/>
          </p:cNvSpPr>
          <p:nvPr/>
        </p:nvSpPr>
        <p:spPr bwMode="auto">
          <a:xfrm>
            <a:off x="9730940" y="3504104"/>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52" name="Straight Arrow Connector 7"/>
          <p:cNvCxnSpPr/>
          <p:nvPr/>
        </p:nvCxnSpPr>
        <p:spPr>
          <a:xfrm>
            <a:off x="7426596" y="2931026"/>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471A1A36-DE51-EB3A-F330-8C00A12487A9}"/>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5862D615-2D55-FCE8-DDD7-7BDD23E23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C7F6AD82-E508-7321-95D5-EDE2CD63D6C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5" name="Straight Connector 5"/>
          <p:cNvCxnSpPr/>
          <p:nvPr/>
        </p:nvCxnSpPr>
        <p:spPr>
          <a:xfrm>
            <a:off x="2520721" y="3489003"/>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5"/>
          <p:cNvCxnSpPr/>
          <p:nvPr/>
        </p:nvCxnSpPr>
        <p:spPr>
          <a:xfrm>
            <a:off x="6887600" y="3501831"/>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Slide Number Placeholder 3">
            <a:extLst>
              <a:ext uri="{FF2B5EF4-FFF2-40B4-BE49-F238E27FC236}">
                <a16:creationId xmlns:a16="http://schemas.microsoft.com/office/drawing/2014/main" id="{134C6FEC-89FA-10D9-C843-EF9800716842}"/>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17</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50853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9BB1F5-FB5A-C6C7-A588-5589C8E68E2C}"/>
              </a:ext>
            </a:extLst>
          </p:cNvPr>
          <p:cNvSpPr>
            <a:spLocks noGrp="1"/>
          </p:cNvSpPr>
          <p:nvPr>
            <p:ph type="title"/>
          </p:nvPr>
        </p:nvSpPr>
        <p:spPr/>
        <p:txBody>
          <a:bodyPr/>
          <a:lstStyle/>
          <a:p>
            <a:r>
              <a:rPr lang="es-MX" dirty="0"/>
              <a:t>REPASO</a:t>
            </a:r>
            <a:endParaRPr lang="es-CO" dirty="0"/>
          </a:p>
        </p:txBody>
      </p:sp>
      <p:pic>
        <p:nvPicPr>
          <p:cNvPr id="6" name="Marcador de contenido 5">
            <a:extLst>
              <a:ext uri="{FF2B5EF4-FFF2-40B4-BE49-F238E27FC236}">
                <a16:creationId xmlns:a16="http://schemas.microsoft.com/office/drawing/2014/main" id="{D2E439E3-C2C3-002F-26DC-398CEA860CB8}"/>
              </a:ext>
            </a:extLst>
          </p:cNvPr>
          <p:cNvPicPr>
            <a:picLocks noGrp="1" noChangeAspect="1"/>
          </p:cNvPicPr>
          <p:nvPr>
            <p:ph idx="1"/>
          </p:nvPr>
        </p:nvPicPr>
        <p:blipFill>
          <a:blip r:embed="rId2"/>
          <a:stretch>
            <a:fillRect/>
          </a:stretch>
        </p:blipFill>
        <p:spPr>
          <a:xfrm>
            <a:off x="1366611" y="2048398"/>
            <a:ext cx="4198165" cy="4205855"/>
          </a:xfrm>
          <a:prstGeom prst="rect">
            <a:avLst/>
          </a:prstGeom>
        </p:spPr>
      </p:pic>
      <p:sp>
        <p:nvSpPr>
          <p:cNvPr id="4" name="Marcador de número de diapositiva 3">
            <a:extLst>
              <a:ext uri="{FF2B5EF4-FFF2-40B4-BE49-F238E27FC236}">
                <a16:creationId xmlns:a16="http://schemas.microsoft.com/office/drawing/2014/main" id="{EDE4CD09-DB24-7A2A-4E85-1BC1F1EB9511}"/>
              </a:ext>
            </a:extLst>
          </p:cNvPr>
          <p:cNvSpPr>
            <a:spLocks noGrp="1"/>
          </p:cNvSpPr>
          <p:nvPr>
            <p:ph type="sldNum" sz="quarter" idx="12"/>
          </p:nvPr>
        </p:nvSpPr>
        <p:spPr/>
        <p:txBody>
          <a:bodyPr/>
          <a:lstStyle/>
          <a:p>
            <a:fld id="{D57F1E4F-1CFF-5643-939E-217C01CDF565}" type="slidenum">
              <a:rPr lang="en-US" smtClean="0"/>
              <a:pPr/>
              <a:t>18</a:t>
            </a:fld>
            <a:endParaRPr lang="en-US"/>
          </a:p>
        </p:txBody>
      </p:sp>
      <p:sp>
        <p:nvSpPr>
          <p:cNvPr id="8" name="CuadroTexto 7">
            <a:extLst>
              <a:ext uri="{FF2B5EF4-FFF2-40B4-BE49-F238E27FC236}">
                <a16:creationId xmlns:a16="http://schemas.microsoft.com/office/drawing/2014/main" id="{7786F526-3BF6-4DBC-E236-95C1B5DE12F1}"/>
              </a:ext>
            </a:extLst>
          </p:cNvPr>
          <p:cNvSpPr txBox="1"/>
          <p:nvPr/>
        </p:nvSpPr>
        <p:spPr>
          <a:xfrm>
            <a:off x="5896336" y="3740720"/>
            <a:ext cx="5024846" cy="646331"/>
          </a:xfrm>
          <a:prstGeom prst="rect">
            <a:avLst/>
          </a:prstGeom>
          <a:noFill/>
        </p:spPr>
        <p:txBody>
          <a:bodyPr wrap="square">
            <a:spAutoFit/>
          </a:bodyPr>
          <a:lstStyle/>
          <a:p>
            <a:r>
              <a:rPr lang="es-CO" sz="3600" dirty="0">
                <a:solidFill>
                  <a:srgbClr val="FF0000"/>
                </a:solidFill>
              </a:rPr>
              <a:t>https://shorturl.at/YdV4j</a:t>
            </a:r>
          </a:p>
        </p:txBody>
      </p:sp>
    </p:spTree>
    <p:extLst>
      <p:ext uri="{BB962C8B-B14F-4D97-AF65-F5344CB8AC3E}">
        <p14:creationId xmlns:p14="http://schemas.microsoft.com/office/powerpoint/2010/main" val="4036294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1700148" y="5050608"/>
            <a:ext cx="8421073" cy="1455948"/>
          </a:xfrm>
        </p:spPr>
        <p:txBody>
          <a:bodyPr>
            <a:noAutofit/>
          </a:bodyPr>
          <a:lstStyle/>
          <a:p>
            <a:pPr marL="0" indent="0">
              <a:buNone/>
            </a:pPr>
            <a:r>
              <a:rPr lang="es-ES" sz="2000" dirty="0">
                <a:solidFill>
                  <a:schemeClr val="accent1"/>
                </a:solidFill>
                <a:latin typeface="Century Gothic" panose="020B0502020202020204" pitchFamily="34" charset="0"/>
              </a:rPr>
              <a:t>Al calcular la TIR/TVR incremental o TIR/TVR diferencial obtenemos:</a:t>
            </a:r>
          </a:p>
          <a:p>
            <a:pPr marL="0" indent="0" algn="ctr">
              <a:buNone/>
            </a:pPr>
            <a:r>
              <a:rPr lang="es-ES" sz="2000" b="1" dirty="0">
                <a:solidFill>
                  <a:srgbClr val="C00000"/>
                </a:solidFill>
                <a:latin typeface="Century Gothic" panose="020B0502020202020204" pitchFamily="34" charset="0"/>
              </a:rPr>
              <a:t>TIR</a:t>
            </a:r>
            <a:r>
              <a:rPr lang="es-ES" sz="2000" b="1" baseline="-25000" dirty="0">
                <a:solidFill>
                  <a:srgbClr val="C00000"/>
                </a:solidFill>
                <a:latin typeface="Century Gothic" panose="020B0502020202020204" pitchFamily="34" charset="0"/>
              </a:rPr>
              <a:t>B-A</a:t>
            </a:r>
            <a:r>
              <a:rPr lang="es-ES" sz="2000" b="1" dirty="0">
                <a:solidFill>
                  <a:srgbClr val="C00000"/>
                </a:solidFill>
                <a:latin typeface="Century Gothic" panose="020B0502020202020204" pitchFamily="34" charset="0"/>
              </a:rPr>
              <a:t>=12,38%</a:t>
            </a:r>
          </a:p>
          <a:p>
            <a:pPr marL="0" indent="0" algn="ctr">
              <a:buNone/>
            </a:pPr>
            <a:r>
              <a:rPr lang="es-ES" sz="2000" b="1" dirty="0">
                <a:solidFill>
                  <a:srgbClr val="C00000"/>
                </a:solidFill>
                <a:latin typeface="Century Gothic" panose="020B0502020202020204" pitchFamily="34" charset="0"/>
              </a:rPr>
              <a:t>TVR</a:t>
            </a:r>
            <a:r>
              <a:rPr lang="es-ES" sz="2000" b="1" baseline="-25000" dirty="0">
                <a:solidFill>
                  <a:srgbClr val="C00000"/>
                </a:solidFill>
                <a:latin typeface="Century Gothic" panose="020B0502020202020204" pitchFamily="34" charset="0"/>
              </a:rPr>
              <a:t>B-A</a:t>
            </a:r>
            <a:r>
              <a:rPr lang="es-ES" sz="2000" b="1" dirty="0">
                <a:solidFill>
                  <a:srgbClr val="C00000"/>
                </a:solidFill>
                <a:latin typeface="Century Gothic" panose="020B0502020202020204" pitchFamily="34" charset="0"/>
              </a:rPr>
              <a:t>=11,32%</a:t>
            </a:r>
          </a:p>
          <a:p>
            <a:pPr marL="0" indent="0" algn="ctr">
              <a:buNone/>
            </a:pPr>
            <a:endParaRPr lang="es-ES" sz="2000" dirty="0">
              <a:solidFill>
                <a:srgbClr val="800000"/>
              </a:solidFill>
              <a:latin typeface="Century Gothic" panose="020B0502020202020204" pitchFamily="34" charset="0"/>
            </a:endParaRPr>
          </a:p>
        </p:txBody>
      </p:sp>
      <p:cxnSp>
        <p:nvCxnSpPr>
          <p:cNvPr id="6" name="Straight Arrow Connector 6"/>
          <p:cNvCxnSpPr/>
          <p:nvPr/>
        </p:nvCxnSpPr>
        <p:spPr>
          <a:xfrm>
            <a:off x="4335511" y="3383283"/>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7"/>
          <p:cNvCxnSpPr/>
          <p:nvPr/>
        </p:nvCxnSpPr>
        <p:spPr>
          <a:xfrm flipV="1">
            <a:off x="6745960" y="2937384"/>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12"/>
          <p:cNvSpPr>
            <a:spLocks/>
          </p:cNvSpPr>
          <p:nvPr/>
        </p:nvSpPr>
        <p:spPr bwMode="auto">
          <a:xfrm flipH="1">
            <a:off x="4288397" y="3104203"/>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9" name="Rectangle 13"/>
          <p:cNvSpPr>
            <a:spLocks/>
          </p:cNvSpPr>
          <p:nvPr/>
        </p:nvSpPr>
        <p:spPr bwMode="auto">
          <a:xfrm>
            <a:off x="4703534" y="339611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10" name="Rectangle 18"/>
          <p:cNvSpPr>
            <a:spLocks/>
          </p:cNvSpPr>
          <p:nvPr/>
        </p:nvSpPr>
        <p:spPr bwMode="auto">
          <a:xfrm>
            <a:off x="5416198" y="2680901"/>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$140</a:t>
            </a:r>
          </a:p>
        </p:txBody>
      </p:sp>
      <p:sp>
        <p:nvSpPr>
          <p:cNvPr id="11" name="Rectangle 43"/>
          <p:cNvSpPr>
            <a:spLocks/>
          </p:cNvSpPr>
          <p:nvPr/>
        </p:nvSpPr>
        <p:spPr bwMode="auto">
          <a:xfrm>
            <a:off x="3466943" y="4264003"/>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$500</a:t>
            </a:r>
          </a:p>
        </p:txBody>
      </p:sp>
      <p:sp>
        <p:nvSpPr>
          <p:cNvPr id="12" name="Rectangle 43"/>
          <p:cNvSpPr>
            <a:spLocks/>
          </p:cNvSpPr>
          <p:nvPr/>
        </p:nvSpPr>
        <p:spPr bwMode="auto">
          <a:xfrm>
            <a:off x="5271958" y="2194785"/>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dirty="0">
                <a:solidFill>
                  <a:srgbClr val="C00000"/>
                </a:solidFill>
                <a:latin typeface="Century Gothic" panose="020B0502020202020204" pitchFamily="34" charset="0"/>
              </a:rPr>
              <a:t>B - A </a:t>
            </a:r>
          </a:p>
        </p:txBody>
      </p:sp>
      <p:cxnSp>
        <p:nvCxnSpPr>
          <p:cNvPr id="13" name="Straight Arrow Connector 7"/>
          <p:cNvCxnSpPr/>
          <p:nvPr/>
        </p:nvCxnSpPr>
        <p:spPr>
          <a:xfrm flipV="1">
            <a:off x="4868994" y="293727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7"/>
          <p:cNvCxnSpPr/>
          <p:nvPr/>
        </p:nvCxnSpPr>
        <p:spPr>
          <a:xfrm flipV="1">
            <a:off x="5483244" y="293727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7"/>
          <p:cNvCxnSpPr/>
          <p:nvPr/>
        </p:nvCxnSpPr>
        <p:spPr>
          <a:xfrm flipV="1">
            <a:off x="6123824" y="293727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7"/>
          <p:cNvCxnSpPr/>
          <p:nvPr/>
        </p:nvCxnSpPr>
        <p:spPr>
          <a:xfrm flipV="1">
            <a:off x="7347382" y="2924556"/>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13"/>
          <p:cNvSpPr>
            <a:spLocks/>
          </p:cNvSpPr>
          <p:nvPr/>
        </p:nvSpPr>
        <p:spPr bwMode="auto">
          <a:xfrm>
            <a:off x="5314714" y="338328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18" name="Rectangle 13"/>
          <p:cNvSpPr>
            <a:spLocks/>
          </p:cNvSpPr>
          <p:nvPr/>
        </p:nvSpPr>
        <p:spPr bwMode="auto">
          <a:xfrm>
            <a:off x="5942465" y="339600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19" name="Rectangle 13"/>
          <p:cNvSpPr>
            <a:spLocks/>
          </p:cNvSpPr>
          <p:nvPr/>
        </p:nvSpPr>
        <p:spPr bwMode="auto">
          <a:xfrm>
            <a:off x="6577430" y="338328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20" name="Rectangle 13"/>
          <p:cNvSpPr>
            <a:spLocks/>
          </p:cNvSpPr>
          <p:nvPr/>
        </p:nvSpPr>
        <p:spPr bwMode="auto">
          <a:xfrm>
            <a:off x="7178852" y="338555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21" name="Straight Arrow Connector 7"/>
          <p:cNvCxnSpPr/>
          <p:nvPr/>
        </p:nvCxnSpPr>
        <p:spPr>
          <a:xfrm>
            <a:off x="4874508" y="2966409"/>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sp>
        <p:nvSpPr>
          <p:cNvPr id="22" name="Rectángulo 21">
            <a:extLst>
              <a:ext uri="{FF2B5EF4-FFF2-40B4-BE49-F238E27FC236}">
                <a16:creationId xmlns:a16="http://schemas.microsoft.com/office/drawing/2014/main" id="{BA1B067A-F1DF-9497-91F8-A4A045841C02}"/>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B2A1A257-7D7F-824F-DD7F-1AF294A7EE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41AC7F8E-6D7B-4AA2-AD2B-5A0FCABFDA5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5" name="Straight Connector 5"/>
          <p:cNvCxnSpPr/>
          <p:nvPr/>
        </p:nvCxnSpPr>
        <p:spPr>
          <a:xfrm>
            <a:off x="4335512" y="3383282"/>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Slide Number Placeholder 3">
            <a:extLst>
              <a:ext uri="{FF2B5EF4-FFF2-40B4-BE49-F238E27FC236}">
                <a16:creationId xmlns:a16="http://schemas.microsoft.com/office/drawing/2014/main" id="{014DDDBF-03BA-BEA5-3C0E-9FEDB87108DE}"/>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19</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28776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471102" y="1989939"/>
            <a:ext cx="8275333" cy="4689157"/>
          </a:xfrm>
        </p:spPr>
        <p:txBody>
          <a:bodyPr>
            <a:normAutofit/>
          </a:bodyPr>
          <a:lstStyle/>
          <a:p>
            <a:pPr marL="0" indent="0" algn="just">
              <a:buNone/>
            </a:pPr>
            <a:r>
              <a:rPr lang="es-ES" sz="2000" dirty="0">
                <a:solidFill>
                  <a:schemeClr val="accent1"/>
                </a:solidFill>
                <a:latin typeface="Century Gothic" panose="020B0502020202020204" pitchFamily="34" charset="0"/>
              </a:rPr>
              <a:t>El diagrama del flujo B-A, no representa como tal un proyecto, sino </a:t>
            </a:r>
            <a:r>
              <a:rPr lang="es-ES" sz="2000" b="1" dirty="0">
                <a:solidFill>
                  <a:srgbClr val="D7A700"/>
                </a:solidFill>
                <a:latin typeface="Century Gothic" panose="020B0502020202020204" pitchFamily="34" charset="0"/>
              </a:rPr>
              <a:t>una alternativa diferencial</a:t>
            </a:r>
            <a:r>
              <a:rPr lang="es-ES" sz="2000" dirty="0">
                <a:solidFill>
                  <a:schemeClr val="accent1"/>
                </a:solidFill>
                <a:latin typeface="Century Gothic" panose="020B0502020202020204" pitchFamily="34" charset="0"/>
              </a:rPr>
              <a:t>, </a:t>
            </a:r>
            <a:r>
              <a:rPr lang="es-ES" sz="2000" b="1" dirty="0">
                <a:solidFill>
                  <a:srgbClr val="D7A700"/>
                </a:solidFill>
                <a:latin typeface="Century Gothic" panose="020B0502020202020204" pitchFamily="34" charset="0"/>
              </a:rPr>
              <a:t>que puede ser interpretada como tal</a:t>
            </a:r>
            <a:r>
              <a:rPr lang="es-ES" sz="2000" dirty="0">
                <a:solidFill>
                  <a:schemeClr val="accent1"/>
                </a:solidFill>
                <a:latin typeface="Century Gothic" panose="020B0502020202020204" pitchFamily="34" charset="0"/>
              </a:rPr>
              <a:t>. </a:t>
            </a:r>
          </a:p>
          <a:p>
            <a:pPr marL="0" indent="0" algn="just">
              <a:buNone/>
            </a:pPr>
            <a:endParaRPr lang="es-ES" sz="2000" dirty="0">
              <a:latin typeface="Century Gothic" panose="020B0502020202020204" pitchFamily="34" charset="0"/>
            </a:endParaRPr>
          </a:p>
          <a:p>
            <a:pPr marL="0" indent="0" algn="ctr">
              <a:buNone/>
            </a:pPr>
            <a:r>
              <a:rPr lang="es-ES" sz="2000" b="1" dirty="0">
                <a:solidFill>
                  <a:srgbClr val="C00000"/>
                </a:solidFill>
                <a:latin typeface="Century Gothic" panose="020B0502020202020204" pitchFamily="34" charset="0"/>
              </a:rPr>
              <a:t>Entonces, ¿cómo interpreto los resultados?</a:t>
            </a:r>
          </a:p>
          <a:p>
            <a:pPr marL="0" indent="0" algn="ctr">
              <a:buNone/>
            </a:pPr>
            <a:endParaRPr lang="es-ES" sz="2000" b="1" dirty="0">
              <a:solidFill>
                <a:srgbClr val="C00000"/>
              </a:solidFill>
              <a:latin typeface="Century Gothic" panose="020B0502020202020204" pitchFamily="34" charset="0"/>
            </a:endParaRPr>
          </a:p>
          <a:p>
            <a:pPr marL="0" indent="0" algn="just">
              <a:buNone/>
            </a:pPr>
            <a:r>
              <a:rPr lang="es-ES" sz="2000" dirty="0">
                <a:solidFill>
                  <a:schemeClr val="accent1"/>
                </a:solidFill>
                <a:latin typeface="Century Gothic" panose="020B0502020202020204" pitchFamily="34" charset="0"/>
              </a:rPr>
              <a:t>Recordemos que para saber si un proyecto debe seleccionarse es necesario conocer el costo de oportunidad del inversionista.</a:t>
            </a:r>
          </a:p>
          <a:p>
            <a:pPr marL="0" indent="0" algn="just">
              <a:buNone/>
            </a:pPr>
            <a:r>
              <a:rPr lang="es-ES" sz="2000" dirty="0">
                <a:solidFill>
                  <a:schemeClr val="accent1"/>
                </a:solidFill>
                <a:latin typeface="Century Gothic" panose="020B0502020202020204" pitchFamily="34" charset="0"/>
              </a:rPr>
              <a:t>Con un C.O. del 10%, veamos algunos cálculos adicionales y la respectiva interpretación:</a:t>
            </a:r>
          </a:p>
        </p:txBody>
      </p:sp>
      <p:pic>
        <p:nvPicPr>
          <p:cNvPr id="7" name="Imagen 6">
            <a:extLst>
              <a:ext uri="{FF2B5EF4-FFF2-40B4-BE49-F238E27FC236}">
                <a16:creationId xmlns:a16="http://schemas.microsoft.com/office/drawing/2014/main" id="{2DEA6294-93B2-4AA0-9341-B07072F53A07}"/>
              </a:ext>
            </a:extLst>
          </p:cNvPr>
          <p:cNvPicPr>
            <a:picLocks noChangeAspect="1"/>
          </p:cNvPicPr>
          <p:nvPr/>
        </p:nvPicPr>
        <p:blipFill>
          <a:blip r:embed="rId2"/>
          <a:stretch>
            <a:fillRect/>
          </a:stretch>
        </p:blipFill>
        <p:spPr>
          <a:xfrm>
            <a:off x="8848666" y="2542403"/>
            <a:ext cx="2872232" cy="2803510"/>
          </a:xfrm>
          <a:prstGeom prst="rect">
            <a:avLst/>
          </a:prstGeom>
        </p:spPr>
      </p:pic>
      <p:sp>
        <p:nvSpPr>
          <p:cNvPr id="5" name="Rectángulo 4">
            <a:extLst>
              <a:ext uri="{FF2B5EF4-FFF2-40B4-BE49-F238E27FC236}">
                <a16:creationId xmlns:a16="http://schemas.microsoft.com/office/drawing/2014/main" id="{A547423E-B99C-1717-AEB7-C113A022E30D}"/>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AFDE6F4-ECC3-52D4-91DF-D275399918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1FB4C97-36E0-C35D-0F11-C13E6972A56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4DB35077-2723-D365-FD12-0A03C9FDEA7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20</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94827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D6A9-921B-DC2E-6587-331D369D60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DE4BE1-0F4C-5282-54B2-8B47F8CD97C4}"/>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5" name="Rectángulo 4">
            <a:extLst>
              <a:ext uri="{FF2B5EF4-FFF2-40B4-BE49-F238E27FC236}">
                <a16:creationId xmlns:a16="http://schemas.microsoft.com/office/drawing/2014/main" id="{654029C2-CB5D-188B-7F93-A5D33D64D650}"/>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9463FB2-6FFE-F10A-A5AA-FA7C9BF2A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66E65219-26BA-3470-C575-4E8B1DFEBD0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28" name="Straight Arrow Connector 6">
            <a:extLst>
              <a:ext uri="{FF2B5EF4-FFF2-40B4-BE49-F238E27FC236}">
                <a16:creationId xmlns:a16="http://schemas.microsoft.com/office/drawing/2014/main" id="{EFB4FE49-D857-419C-E5BC-3B6DF4F2CFAF}"/>
              </a:ext>
            </a:extLst>
          </p:cNvPr>
          <p:cNvCxnSpPr/>
          <p:nvPr/>
        </p:nvCxnSpPr>
        <p:spPr>
          <a:xfrm>
            <a:off x="1178970" y="3429000"/>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7">
            <a:extLst>
              <a:ext uri="{FF2B5EF4-FFF2-40B4-BE49-F238E27FC236}">
                <a16:creationId xmlns:a16="http://schemas.microsoft.com/office/drawing/2014/main" id="{3D93EA46-4953-2977-8C57-C560BA868545}"/>
              </a:ext>
            </a:extLst>
          </p:cNvPr>
          <p:cNvCxnSpPr/>
          <p:nvPr/>
        </p:nvCxnSpPr>
        <p:spPr>
          <a:xfrm flipV="1">
            <a:off x="3589419" y="2983101"/>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12">
            <a:extLst>
              <a:ext uri="{FF2B5EF4-FFF2-40B4-BE49-F238E27FC236}">
                <a16:creationId xmlns:a16="http://schemas.microsoft.com/office/drawing/2014/main" id="{9FE679E8-4EC3-1273-FF6F-8E29F354DF6C}"/>
              </a:ext>
            </a:extLst>
          </p:cNvPr>
          <p:cNvSpPr>
            <a:spLocks/>
          </p:cNvSpPr>
          <p:nvPr/>
        </p:nvSpPr>
        <p:spPr bwMode="auto">
          <a:xfrm flipH="1">
            <a:off x="1131856" y="3149920"/>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1" name="Rectangle 13">
            <a:extLst>
              <a:ext uri="{FF2B5EF4-FFF2-40B4-BE49-F238E27FC236}">
                <a16:creationId xmlns:a16="http://schemas.microsoft.com/office/drawing/2014/main" id="{4F3CC041-CCAB-1F54-B929-EC715FBB77AF}"/>
              </a:ext>
            </a:extLst>
          </p:cNvPr>
          <p:cNvSpPr>
            <a:spLocks/>
          </p:cNvSpPr>
          <p:nvPr/>
        </p:nvSpPr>
        <p:spPr bwMode="auto">
          <a:xfrm>
            <a:off x="1546993" y="344182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2" name="Rectangle 18">
            <a:extLst>
              <a:ext uri="{FF2B5EF4-FFF2-40B4-BE49-F238E27FC236}">
                <a16:creationId xmlns:a16="http://schemas.microsoft.com/office/drawing/2014/main" id="{74862794-CB97-3159-56DD-F7EC45BA838F}"/>
              </a:ext>
            </a:extLst>
          </p:cNvPr>
          <p:cNvSpPr>
            <a:spLocks/>
          </p:cNvSpPr>
          <p:nvPr/>
        </p:nvSpPr>
        <p:spPr bwMode="auto">
          <a:xfrm>
            <a:off x="2259657" y="2726618"/>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$140</a:t>
            </a:r>
          </a:p>
        </p:txBody>
      </p:sp>
      <p:sp>
        <p:nvSpPr>
          <p:cNvPr id="33" name="Rectangle 43">
            <a:extLst>
              <a:ext uri="{FF2B5EF4-FFF2-40B4-BE49-F238E27FC236}">
                <a16:creationId xmlns:a16="http://schemas.microsoft.com/office/drawing/2014/main" id="{E37963FE-6B7B-98A8-A6D9-5AD37D86B71F}"/>
              </a:ext>
            </a:extLst>
          </p:cNvPr>
          <p:cNvSpPr>
            <a:spLocks/>
          </p:cNvSpPr>
          <p:nvPr/>
        </p:nvSpPr>
        <p:spPr bwMode="auto">
          <a:xfrm>
            <a:off x="310402" y="4309720"/>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$500</a:t>
            </a:r>
          </a:p>
        </p:txBody>
      </p:sp>
      <p:sp>
        <p:nvSpPr>
          <p:cNvPr id="34" name="Rectangle 43">
            <a:extLst>
              <a:ext uri="{FF2B5EF4-FFF2-40B4-BE49-F238E27FC236}">
                <a16:creationId xmlns:a16="http://schemas.microsoft.com/office/drawing/2014/main" id="{1406E278-1389-37AA-88D2-029BA643C161}"/>
              </a:ext>
            </a:extLst>
          </p:cNvPr>
          <p:cNvSpPr>
            <a:spLocks/>
          </p:cNvSpPr>
          <p:nvPr/>
        </p:nvSpPr>
        <p:spPr bwMode="auto">
          <a:xfrm>
            <a:off x="2115417" y="2210405"/>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dirty="0">
                <a:solidFill>
                  <a:srgbClr val="C00000"/>
                </a:solidFill>
                <a:latin typeface="Century Gothic" panose="020B0502020202020204" pitchFamily="34" charset="0"/>
              </a:rPr>
              <a:t>B - A </a:t>
            </a:r>
          </a:p>
        </p:txBody>
      </p:sp>
      <p:cxnSp>
        <p:nvCxnSpPr>
          <p:cNvPr id="35" name="Straight Arrow Connector 7">
            <a:extLst>
              <a:ext uri="{FF2B5EF4-FFF2-40B4-BE49-F238E27FC236}">
                <a16:creationId xmlns:a16="http://schemas.microsoft.com/office/drawing/2014/main" id="{46643C0A-B6B2-19B5-6DA5-E37B39C82B33}"/>
              </a:ext>
            </a:extLst>
          </p:cNvPr>
          <p:cNvCxnSpPr/>
          <p:nvPr/>
        </p:nvCxnSpPr>
        <p:spPr>
          <a:xfrm flipV="1">
            <a:off x="1712453" y="2982992"/>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7">
            <a:extLst>
              <a:ext uri="{FF2B5EF4-FFF2-40B4-BE49-F238E27FC236}">
                <a16:creationId xmlns:a16="http://schemas.microsoft.com/office/drawing/2014/main" id="{81D76622-AB80-47D2-BD63-C5FE0BB56B12}"/>
              </a:ext>
            </a:extLst>
          </p:cNvPr>
          <p:cNvCxnSpPr/>
          <p:nvPr/>
        </p:nvCxnSpPr>
        <p:spPr>
          <a:xfrm flipV="1">
            <a:off x="2326703" y="2982992"/>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7">
            <a:extLst>
              <a:ext uri="{FF2B5EF4-FFF2-40B4-BE49-F238E27FC236}">
                <a16:creationId xmlns:a16="http://schemas.microsoft.com/office/drawing/2014/main" id="{716509B2-31D7-F09E-F5EC-7A6D2F981727}"/>
              </a:ext>
            </a:extLst>
          </p:cNvPr>
          <p:cNvCxnSpPr/>
          <p:nvPr/>
        </p:nvCxnSpPr>
        <p:spPr>
          <a:xfrm flipV="1">
            <a:off x="2967283" y="2982992"/>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7">
            <a:extLst>
              <a:ext uri="{FF2B5EF4-FFF2-40B4-BE49-F238E27FC236}">
                <a16:creationId xmlns:a16="http://schemas.microsoft.com/office/drawing/2014/main" id="{62129FB7-C8A9-117A-7FD9-A97FB6764C96}"/>
              </a:ext>
            </a:extLst>
          </p:cNvPr>
          <p:cNvCxnSpPr/>
          <p:nvPr/>
        </p:nvCxnSpPr>
        <p:spPr>
          <a:xfrm flipV="1">
            <a:off x="4190841" y="2970273"/>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13">
            <a:extLst>
              <a:ext uri="{FF2B5EF4-FFF2-40B4-BE49-F238E27FC236}">
                <a16:creationId xmlns:a16="http://schemas.microsoft.com/office/drawing/2014/main" id="{1FDFEFFC-BD84-BF42-A08E-D05484CBA0F3}"/>
              </a:ext>
            </a:extLst>
          </p:cNvPr>
          <p:cNvSpPr>
            <a:spLocks/>
          </p:cNvSpPr>
          <p:nvPr/>
        </p:nvSpPr>
        <p:spPr bwMode="auto">
          <a:xfrm>
            <a:off x="2158173" y="342900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40" name="Rectangle 13">
            <a:extLst>
              <a:ext uri="{FF2B5EF4-FFF2-40B4-BE49-F238E27FC236}">
                <a16:creationId xmlns:a16="http://schemas.microsoft.com/office/drawing/2014/main" id="{FAF2B8AB-2471-D5F9-813E-146F0271A471}"/>
              </a:ext>
            </a:extLst>
          </p:cNvPr>
          <p:cNvSpPr>
            <a:spLocks/>
          </p:cNvSpPr>
          <p:nvPr/>
        </p:nvSpPr>
        <p:spPr bwMode="auto">
          <a:xfrm>
            <a:off x="2785924" y="344171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41" name="Rectangle 13">
            <a:extLst>
              <a:ext uri="{FF2B5EF4-FFF2-40B4-BE49-F238E27FC236}">
                <a16:creationId xmlns:a16="http://schemas.microsoft.com/office/drawing/2014/main" id="{97CB383B-7C7F-5FFD-868E-B294E716D3F2}"/>
              </a:ext>
            </a:extLst>
          </p:cNvPr>
          <p:cNvSpPr>
            <a:spLocks/>
          </p:cNvSpPr>
          <p:nvPr/>
        </p:nvSpPr>
        <p:spPr bwMode="auto">
          <a:xfrm>
            <a:off x="3420889" y="342900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42" name="Rectangle 13">
            <a:extLst>
              <a:ext uri="{FF2B5EF4-FFF2-40B4-BE49-F238E27FC236}">
                <a16:creationId xmlns:a16="http://schemas.microsoft.com/office/drawing/2014/main" id="{4D76D0E8-A568-F194-49DF-6C36C8CCB364}"/>
              </a:ext>
            </a:extLst>
          </p:cNvPr>
          <p:cNvSpPr>
            <a:spLocks/>
          </p:cNvSpPr>
          <p:nvPr/>
        </p:nvSpPr>
        <p:spPr bwMode="auto">
          <a:xfrm>
            <a:off x="4022311" y="343127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43" name="Straight Arrow Connector 7">
            <a:extLst>
              <a:ext uri="{FF2B5EF4-FFF2-40B4-BE49-F238E27FC236}">
                <a16:creationId xmlns:a16="http://schemas.microsoft.com/office/drawing/2014/main" id="{ABBFA2FA-0958-DF16-DDA7-2AE2BB011A70}"/>
              </a:ext>
            </a:extLst>
          </p:cNvPr>
          <p:cNvCxnSpPr/>
          <p:nvPr/>
        </p:nvCxnSpPr>
        <p:spPr>
          <a:xfrm>
            <a:off x="1717967" y="3012126"/>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cxnSp>
        <p:nvCxnSpPr>
          <p:cNvPr id="44" name="Straight Connector 5">
            <a:extLst>
              <a:ext uri="{FF2B5EF4-FFF2-40B4-BE49-F238E27FC236}">
                <a16:creationId xmlns:a16="http://schemas.microsoft.com/office/drawing/2014/main" id="{FEEECAB3-B623-7EEC-2A4B-76E821FDA3D8}"/>
              </a:ext>
            </a:extLst>
          </p:cNvPr>
          <p:cNvCxnSpPr/>
          <p:nvPr/>
        </p:nvCxnSpPr>
        <p:spPr>
          <a:xfrm>
            <a:off x="1178971" y="3428999"/>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45" name="Table 4">
            <a:extLst>
              <a:ext uri="{FF2B5EF4-FFF2-40B4-BE49-F238E27FC236}">
                <a16:creationId xmlns:a16="http://schemas.microsoft.com/office/drawing/2014/main" id="{8D7566C3-2F2A-9B16-E8C9-1912F363F64D}"/>
              </a:ext>
            </a:extLst>
          </p:cNvPr>
          <p:cNvGraphicFramePr>
            <a:graphicFrameLocks noGrp="1"/>
          </p:cNvGraphicFramePr>
          <p:nvPr>
            <p:extLst>
              <p:ext uri="{D42A27DB-BD31-4B8C-83A1-F6EECF244321}">
                <p14:modId xmlns:p14="http://schemas.microsoft.com/office/powerpoint/2010/main" val="4102286275"/>
              </p:ext>
            </p:extLst>
          </p:nvPr>
        </p:nvGraphicFramePr>
        <p:xfrm>
          <a:off x="5650179" y="2151934"/>
          <a:ext cx="4215118" cy="1188720"/>
        </p:xfrm>
        <a:graphic>
          <a:graphicData uri="http://schemas.openxmlformats.org/drawingml/2006/table">
            <a:tbl>
              <a:tblPr firstRow="1" bandRow="1">
                <a:tableStyleId>{5C22544A-7EE6-4342-B048-85BDC9FD1C3A}</a:tableStyleId>
              </a:tblPr>
              <a:tblGrid>
                <a:gridCol w="2107559">
                  <a:extLst>
                    <a:ext uri="{9D8B030D-6E8A-4147-A177-3AD203B41FA5}">
                      <a16:colId xmlns:a16="http://schemas.microsoft.com/office/drawing/2014/main" val="20000"/>
                    </a:ext>
                  </a:extLst>
                </a:gridCol>
                <a:gridCol w="2107559">
                  <a:extLst>
                    <a:ext uri="{9D8B030D-6E8A-4147-A177-3AD203B41FA5}">
                      <a16:colId xmlns:a16="http://schemas.microsoft.com/office/drawing/2014/main" val="20001"/>
                    </a:ext>
                  </a:extLst>
                </a:gridCol>
              </a:tblGrid>
              <a:tr h="370840">
                <a:tc>
                  <a:txBody>
                    <a:bodyPr/>
                    <a:lstStyle/>
                    <a:p>
                      <a:pPr algn="ctr"/>
                      <a:r>
                        <a:rPr lang="es-ES_tradnl" sz="1800" noProof="0" dirty="0">
                          <a:latin typeface="Century Gothic" panose="020B0502020202020204" pitchFamily="34" charset="0"/>
                        </a:rPr>
                        <a:t>IBF</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B – A (C.O. 10%)</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TIR (B-A)</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12,38%</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(B-A)</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$ 30,71</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6" name="Rectángulo 45">
            <a:extLst>
              <a:ext uri="{FF2B5EF4-FFF2-40B4-BE49-F238E27FC236}">
                <a16:creationId xmlns:a16="http://schemas.microsoft.com/office/drawing/2014/main" id="{D4CED4D2-290C-9D01-01C8-0E598C7086F9}"/>
              </a:ext>
            </a:extLst>
          </p:cNvPr>
          <p:cNvSpPr/>
          <p:nvPr/>
        </p:nvSpPr>
        <p:spPr>
          <a:xfrm>
            <a:off x="10203051" y="2782937"/>
            <a:ext cx="1407757" cy="400110"/>
          </a:xfrm>
          <a:prstGeom prst="rect">
            <a:avLst/>
          </a:prstGeom>
        </p:spPr>
        <p:txBody>
          <a:bodyPr wrap="none">
            <a:spAutoFit/>
          </a:bodyPr>
          <a:lstStyle/>
          <a:p>
            <a:pPr algn="ctr"/>
            <a:r>
              <a:rPr lang="es-ES" sz="2000" b="1" dirty="0">
                <a:solidFill>
                  <a:srgbClr val="D7A700"/>
                </a:solidFill>
                <a:latin typeface="Century Gothic" panose="020B0502020202020204" pitchFamily="34" charset="0"/>
              </a:rPr>
              <a:t>C.O.=10%</a:t>
            </a:r>
          </a:p>
        </p:txBody>
      </p:sp>
      <p:sp>
        <p:nvSpPr>
          <p:cNvPr id="47" name="Marcador de contenido 2">
            <a:extLst>
              <a:ext uri="{FF2B5EF4-FFF2-40B4-BE49-F238E27FC236}">
                <a16:creationId xmlns:a16="http://schemas.microsoft.com/office/drawing/2014/main" id="{0285C305-CA3D-4B35-0181-C4CCB7013987}"/>
              </a:ext>
            </a:extLst>
          </p:cNvPr>
          <p:cNvSpPr>
            <a:spLocks noGrp="1"/>
          </p:cNvSpPr>
          <p:nvPr>
            <p:ph idx="1"/>
          </p:nvPr>
        </p:nvSpPr>
        <p:spPr>
          <a:xfrm>
            <a:off x="765884" y="4775899"/>
            <a:ext cx="10660231" cy="1778248"/>
          </a:xfrm>
        </p:spPr>
        <p:txBody>
          <a:bodyPr>
            <a:noAutofit/>
          </a:bodyPr>
          <a:lstStyle/>
          <a:p>
            <a:pPr marL="0" indent="0" algn="just">
              <a:buNone/>
            </a:pPr>
            <a:r>
              <a:rPr lang="es-ES" sz="2000" dirty="0">
                <a:solidFill>
                  <a:schemeClr val="accent1"/>
                </a:solidFill>
                <a:latin typeface="Century Gothic" panose="020B0502020202020204" pitchFamily="34" charset="0"/>
              </a:rPr>
              <a:t>Pues bien, </a:t>
            </a:r>
            <a:r>
              <a:rPr lang="es-ES" sz="2000" b="1" dirty="0">
                <a:solidFill>
                  <a:schemeClr val="accent3">
                    <a:lumMod val="75000"/>
                  </a:schemeClr>
                </a:solidFill>
                <a:latin typeface="Century Gothic" panose="020B0502020202020204" pitchFamily="34" charset="0"/>
              </a:rPr>
              <a:t>el VPN B-A positivo significa que la alternativa B genera mayor valor a la alternativa A</a:t>
            </a:r>
            <a:r>
              <a:rPr lang="es-ES" sz="2000" b="1" dirty="0">
                <a:solidFill>
                  <a:schemeClr val="accent1"/>
                </a:solidFill>
                <a:latin typeface="Century Gothic" panose="020B0502020202020204" pitchFamily="34" charset="0"/>
              </a:rPr>
              <a:t>.</a:t>
            </a:r>
            <a:r>
              <a:rPr lang="es-ES" sz="2000" dirty="0">
                <a:solidFill>
                  <a:schemeClr val="accent1"/>
                </a:solidFill>
                <a:latin typeface="Century Gothic" panose="020B0502020202020204" pitchFamily="34" charset="0"/>
              </a:rPr>
              <a:t> La TIR B-A mayor al costo de oportunidad por su parte, conceptualmente significa que es más conveniente invertir en B que en A.</a:t>
            </a:r>
          </a:p>
          <a:p>
            <a:pPr marL="0" indent="0" algn="just">
              <a:buNone/>
            </a:pPr>
            <a:endParaRPr lang="es-ES" sz="2000" dirty="0">
              <a:solidFill>
                <a:schemeClr val="accent1"/>
              </a:solidFill>
              <a:latin typeface="Century Gothic" panose="020B0502020202020204" pitchFamily="34" charset="0"/>
            </a:endParaRPr>
          </a:p>
          <a:p>
            <a:pPr marL="0" indent="0" algn="ctr">
              <a:buNone/>
            </a:pPr>
            <a:r>
              <a:rPr lang="es-ES" sz="2000" b="1" dirty="0">
                <a:solidFill>
                  <a:srgbClr val="C00000"/>
                </a:solidFill>
                <a:latin typeface="Century Gothic" panose="020B0502020202020204" pitchFamily="34" charset="0"/>
              </a:rPr>
              <a:t>¿Qué significaría un VPN marginal igual a cero?</a:t>
            </a:r>
          </a:p>
        </p:txBody>
      </p:sp>
      <p:sp>
        <p:nvSpPr>
          <p:cNvPr id="3" name="Slide Number Placeholder 3">
            <a:extLst>
              <a:ext uri="{FF2B5EF4-FFF2-40B4-BE49-F238E27FC236}">
                <a16:creationId xmlns:a16="http://schemas.microsoft.com/office/drawing/2014/main" id="{35411E2F-A066-AA0A-66F1-CC09F182CE5D}"/>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21</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96200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479077" y="2932632"/>
            <a:ext cx="10657005" cy="2661932"/>
          </a:xfrm>
        </p:spPr>
        <p:txBody>
          <a:bodyPr>
            <a:noAutofit/>
          </a:bodyPr>
          <a:lstStyle/>
          <a:p>
            <a:pPr marL="0" indent="0" algn="just">
              <a:buNone/>
            </a:pPr>
            <a:r>
              <a:rPr lang="es-ES" dirty="0">
                <a:solidFill>
                  <a:schemeClr val="accent1"/>
                </a:solidFill>
                <a:latin typeface="Century Gothic" panose="020B0502020202020204" pitchFamily="34" charset="0"/>
              </a:rPr>
              <a:t>Si se realiza un gráfico de las alternativas con respecto a la tasa de descuento, tenemos:</a:t>
            </a:r>
          </a:p>
          <a:p>
            <a:endParaRPr lang="es-ES" sz="2000" dirty="0">
              <a:solidFill>
                <a:schemeClr val="accent1"/>
              </a:solidFill>
              <a:latin typeface="Century Gothic" panose="020B0502020202020204" pitchFamily="34" charset="0"/>
            </a:endParaRPr>
          </a:p>
          <a:p>
            <a:endParaRPr lang="es-ES" sz="2000" dirty="0">
              <a:solidFill>
                <a:schemeClr val="accent1"/>
              </a:solidFill>
              <a:latin typeface="Century Gothic" panose="020B0502020202020204" pitchFamily="34" charset="0"/>
            </a:endParaRPr>
          </a:p>
          <a:p>
            <a:endParaRPr lang="es-ES" sz="2000" dirty="0">
              <a:solidFill>
                <a:schemeClr val="accent1"/>
              </a:solidFill>
              <a:latin typeface="Century Gothic" panose="020B0502020202020204" pitchFamily="34" charset="0"/>
            </a:endParaRPr>
          </a:p>
          <a:p>
            <a:pPr marL="0" indent="0">
              <a:buNone/>
            </a:pPr>
            <a:endParaRPr lang="es-ES" sz="2000" dirty="0">
              <a:solidFill>
                <a:schemeClr val="accent1"/>
              </a:solidFill>
              <a:latin typeface="Century Gothic" panose="020B0502020202020204" pitchFamily="34" charset="0"/>
            </a:endParaRPr>
          </a:p>
          <a:p>
            <a:pPr marL="0" indent="0">
              <a:buNone/>
            </a:pPr>
            <a:endParaRPr lang="es-ES" sz="2000" dirty="0">
              <a:solidFill>
                <a:schemeClr val="accent1"/>
              </a:solidFill>
              <a:latin typeface="Century Gothic" panose="020B0502020202020204" pitchFamily="34" charset="0"/>
            </a:endParaRPr>
          </a:p>
          <a:p>
            <a:pPr marL="0" indent="0">
              <a:buNone/>
            </a:pPr>
            <a:endParaRPr lang="es-ES" sz="2000" dirty="0">
              <a:solidFill>
                <a:schemeClr val="accent1"/>
              </a:solidFill>
              <a:latin typeface="Century Gothic" panose="020B0502020202020204" pitchFamily="34" charset="0"/>
            </a:endParaRPr>
          </a:p>
          <a:p>
            <a:pPr marL="0" indent="0">
              <a:buNone/>
            </a:pPr>
            <a:endParaRPr lang="es-ES" sz="2000" dirty="0">
              <a:solidFill>
                <a:schemeClr val="accent1"/>
              </a:solidFill>
              <a:latin typeface="Century Gothic" panose="020B0502020202020204" pitchFamily="34" charset="0"/>
            </a:endParaRPr>
          </a:p>
          <a:p>
            <a:pPr marL="0" indent="0" algn="just">
              <a:buNone/>
            </a:pPr>
            <a:r>
              <a:rPr lang="es-ES" dirty="0">
                <a:solidFill>
                  <a:schemeClr val="accent1"/>
                </a:solidFill>
                <a:latin typeface="Century Gothic" panose="020B0502020202020204" pitchFamily="34" charset="0"/>
              </a:rPr>
              <a:t>En la gráfica se observa que, dependiendo la tasa de descuento, la escogencia del mejor proyecto varía. Así, </a:t>
            </a:r>
            <a:r>
              <a:rPr lang="es-ES" b="1" dirty="0">
                <a:solidFill>
                  <a:schemeClr val="accent1"/>
                </a:solidFill>
                <a:latin typeface="Century Gothic" panose="020B0502020202020204" pitchFamily="34" charset="0"/>
              </a:rPr>
              <a:t>para valores inferiores al 12,38% B&gt;A</a:t>
            </a:r>
            <a:r>
              <a:rPr lang="es-ES" dirty="0">
                <a:solidFill>
                  <a:schemeClr val="accent1"/>
                </a:solidFill>
                <a:latin typeface="Century Gothic" panose="020B0502020202020204" pitchFamily="34" charset="0"/>
              </a:rPr>
              <a:t>, mientras que </a:t>
            </a:r>
            <a:r>
              <a:rPr lang="es-ES" b="1" dirty="0">
                <a:solidFill>
                  <a:schemeClr val="accent1"/>
                </a:solidFill>
                <a:latin typeface="Century Gothic" panose="020B0502020202020204" pitchFamily="34" charset="0"/>
              </a:rPr>
              <a:t>para valores mayores a 12,38% el mejor proyecto resulta ser A</a:t>
            </a:r>
            <a:r>
              <a:rPr lang="es-ES" dirty="0">
                <a:solidFill>
                  <a:schemeClr val="accent1"/>
                </a:solidFill>
                <a:latin typeface="Century Gothic" panose="020B0502020202020204" pitchFamily="34" charset="0"/>
              </a:rPr>
              <a:t>.  </a:t>
            </a:r>
          </a:p>
        </p:txBody>
      </p:sp>
      <p:graphicFrame>
        <p:nvGraphicFramePr>
          <p:cNvPr id="11" name="Chart 25"/>
          <p:cNvGraphicFramePr>
            <a:graphicFrameLocks/>
          </p:cNvGraphicFramePr>
          <p:nvPr>
            <p:extLst>
              <p:ext uri="{D42A27DB-BD31-4B8C-83A1-F6EECF244321}">
                <p14:modId xmlns:p14="http://schemas.microsoft.com/office/powerpoint/2010/main" val="1769980259"/>
              </p:ext>
            </p:extLst>
          </p:nvPr>
        </p:nvGraphicFramePr>
        <p:xfrm>
          <a:off x="2066341" y="2468654"/>
          <a:ext cx="8107496" cy="3190531"/>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Straight Arrow Connector 7"/>
          <p:cNvCxnSpPr/>
          <p:nvPr/>
        </p:nvCxnSpPr>
        <p:spPr>
          <a:xfrm>
            <a:off x="4930839" y="2758585"/>
            <a:ext cx="0" cy="1903114"/>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sp>
        <p:nvSpPr>
          <p:cNvPr id="12" name="CuadroTexto 11"/>
          <p:cNvSpPr txBox="1"/>
          <p:nvPr/>
        </p:nvSpPr>
        <p:spPr>
          <a:xfrm>
            <a:off x="3639159" y="2932632"/>
            <a:ext cx="628698" cy="369332"/>
          </a:xfrm>
          <a:prstGeom prst="rect">
            <a:avLst/>
          </a:prstGeom>
          <a:noFill/>
        </p:spPr>
        <p:txBody>
          <a:bodyPr wrap="none" rtlCol="0">
            <a:spAutoFit/>
          </a:bodyPr>
          <a:lstStyle/>
          <a:p>
            <a:r>
              <a:rPr lang="es-ES" b="1" dirty="0">
                <a:solidFill>
                  <a:srgbClr val="C00000"/>
                </a:solidFill>
                <a:latin typeface="Century Gothic" panose="020B0502020202020204" pitchFamily="34" charset="0"/>
              </a:rPr>
              <a:t>B&gt;A</a:t>
            </a:r>
          </a:p>
        </p:txBody>
      </p:sp>
      <p:sp>
        <p:nvSpPr>
          <p:cNvPr id="13" name="CuadroTexto 12"/>
          <p:cNvSpPr txBox="1"/>
          <p:nvPr/>
        </p:nvSpPr>
        <p:spPr>
          <a:xfrm>
            <a:off x="5805740" y="2913194"/>
            <a:ext cx="628698" cy="369332"/>
          </a:xfrm>
          <a:prstGeom prst="rect">
            <a:avLst/>
          </a:prstGeom>
          <a:noFill/>
        </p:spPr>
        <p:txBody>
          <a:bodyPr wrap="none" rtlCol="0">
            <a:spAutoFit/>
          </a:bodyPr>
          <a:lstStyle/>
          <a:p>
            <a:r>
              <a:rPr lang="es-ES" b="1" dirty="0">
                <a:solidFill>
                  <a:srgbClr val="C00000"/>
                </a:solidFill>
                <a:latin typeface="Century Gothic" panose="020B0502020202020204" pitchFamily="34" charset="0"/>
              </a:rPr>
              <a:t>B&lt;A</a:t>
            </a:r>
          </a:p>
        </p:txBody>
      </p:sp>
      <p:sp>
        <p:nvSpPr>
          <p:cNvPr id="14" name="CuadroTexto 13"/>
          <p:cNvSpPr txBox="1"/>
          <p:nvPr/>
        </p:nvSpPr>
        <p:spPr>
          <a:xfrm>
            <a:off x="4267035" y="2414721"/>
            <a:ext cx="1327608" cy="307777"/>
          </a:xfrm>
          <a:prstGeom prst="rect">
            <a:avLst/>
          </a:prstGeom>
          <a:noFill/>
        </p:spPr>
        <p:txBody>
          <a:bodyPr wrap="none" rtlCol="0">
            <a:spAutoFit/>
          </a:bodyPr>
          <a:lstStyle/>
          <a:p>
            <a:r>
              <a:rPr lang="es-ES" sz="1400" b="1" dirty="0">
                <a:solidFill>
                  <a:schemeClr val="accent1"/>
                </a:solidFill>
                <a:latin typeface="Century Gothic" panose="020B0502020202020204" pitchFamily="34" charset="0"/>
              </a:rPr>
              <a:t>TIR </a:t>
            </a:r>
            <a:r>
              <a:rPr lang="es-ES" sz="1400" b="1" baseline="-25000" dirty="0">
                <a:solidFill>
                  <a:schemeClr val="accent1"/>
                </a:solidFill>
                <a:latin typeface="Century Gothic" panose="020B0502020202020204" pitchFamily="34" charset="0"/>
              </a:rPr>
              <a:t>B-A</a:t>
            </a:r>
            <a:r>
              <a:rPr lang="es-ES" sz="1400" b="1" dirty="0">
                <a:solidFill>
                  <a:schemeClr val="accent1"/>
                </a:solidFill>
                <a:latin typeface="Century Gothic" panose="020B0502020202020204" pitchFamily="34" charset="0"/>
              </a:rPr>
              <a:t>:12,38%</a:t>
            </a:r>
          </a:p>
        </p:txBody>
      </p:sp>
      <p:sp>
        <p:nvSpPr>
          <p:cNvPr id="8" name="Rectángulo 7">
            <a:extLst>
              <a:ext uri="{FF2B5EF4-FFF2-40B4-BE49-F238E27FC236}">
                <a16:creationId xmlns:a16="http://schemas.microsoft.com/office/drawing/2014/main" id="{785F8F66-4B28-A72B-24E8-D3C3D90CEA2B}"/>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DB9FEC02-6526-F0AC-CDB7-42E0A83D2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43D907E4-18DC-32D1-0834-E9681A27984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65A80CE5-BEF2-CB92-36E7-4E319DB8FB40}"/>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22</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21291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581192" y="2277834"/>
            <a:ext cx="7833759" cy="3678303"/>
          </a:xfrm>
        </p:spPr>
        <p:txBody>
          <a:bodyPr>
            <a:normAutofit/>
          </a:bodyPr>
          <a:lstStyle/>
          <a:p>
            <a:pPr algn="just"/>
            <a:r>
              <a:rPr lang="es-ES" sz="2000" dirty="0">
                <a:solidFill>
                  <a:schemeClr val="accent1"/>
                </a:solidFill>
                <a:latin typeface="Century Gothic" panose="020B0502020202020204" pitchFamily="34" charset="0"/>
              </a:rPr>
              <a:t>Así las cosas, si por ejemplo el </a:t>
            </a:r>
            <a:r>
              <a:rPr lang="es-ES" sz="2000" b="1" dirty="0">
                <a:solidFill>
                  <a:schemeClr val="accent3">
                    <a:lumMod val="75000"/>
                  </a:schemeClr>
                </a:solidFill>
                <a:latin typeface="Century Gothic" panose="020B0502020202020204" pitchFamily="34" charset="0"/>
              </a:rPr>
              <a:t>C.O. del inversionista fuese 10%</a:t>
            </a:r>
            <a:r>
              <a:rPr lang="es-ES" sz="2000" dirty="0">
                <a:solidFill>
                  <a:schemeClr val="accent1"/>
                </a:solidFill>
                <a:latin typeface="Century Gothic" panose="020B0502020202020204" pitchFamily="34" charset="0"/>
              </a:rPr>
              <a:t>,</a:t>
            </a:r>
            <a:r>
              <a:rPr lang="es-ES" sz="2000" dirty="0">
                <a:solidFill>
                  <a:schemeClr val="accent3">
                    <a:lumMod val="75000"/>
                  </a:schemeClr>
                </a:solidFill>
                <a:latin typeface="Century Gothic" panose="020B0502020202020204" pitchFamily="34" charset="0"/>
              </a:rPr>
              <a:t> </a:t>
            </a:r>
            <a:r>
              <a:rPr lang="es-ES" sz="2000" dirty="0">
                <a:solidFill>
                  <a:schemeClr val="accent1"/>
                </a:solidFill>
                <a:latin typeface="Century Gothic" panose="020B0502020202020204" pitchFamily="34" charset="0"/>
              </a:rPr>
              <a:t>diríamos que es más conveniente invertir $500 adicionales en B a cambio de hacer el proyecto A y por lo tanto </a:t>
            </a:r>
            <a:r>
              <a:rPr lang="es-ES" sz="2000" b="1" dirty="0">
                <a:solidFill>
                  <a:srgbClr val="C00000"/>
                </a:solidFill>
                <a:latin typeface="Century Gothic" panose="020B0502020202020204" pitchFamily="34" charset="0"/>
              </a:rPr>
              <a:t>escogeríamos B</a:t>
            </a:r>
            <a:r>
              <a:rPr lang="es-ES" sz="2000" dirty="0">
                <a:solidFill>
                  <a:schemeClr val="accent1"/>
                </a:solidFill>
                <a:latin typeface="Century Gothic" panose="020B0502020202020204" pitchFamily="34" charset="0"/>
              </a:rPr>
              <a:t>.</a:t>
            </a:r>
          </a:p>
          <a:p>
            <a:pPr algn="just"/>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Por el contrario, para un </a:t>
            </a:r>
            <a:r>
              <a:rPr lang="es-ES" sz="2000" b="1" dirty="0">
                <a:solidFill>
                  <a:schemeClr val="accent3">
                    <a:lumMod val="75000"/>
                  </a:schemeClr>
                </a:solidFill>
                <a:latin typeface="Century Gothic" panose="020B0502020202020204" pitchFamily="34" charset="0"/>
              </a:rPr>
              <a:t>C.O. de por ejemplo 20%</a:t>
            </a:r>
            <a:r>
              <a:rPr lang="es-ES" sz="2000" dirty="0">
                <a:solidFill>
                  <a:schemeClr val="accent1"/>
                </a:solidFill>
                <a:latin typeface="Century Gothic" panose="020B0502020202020204" pitchFamily="34" charset="0"/>
              </a:rPr>
              <a:t>,</a:t>
            </a:r>
            <a:r>
              <a:rPr lang="es-ES" sz="2000" dirty="0">
                <a:solidFill>
                  <a:schemeClr val="accent3">
                    <a:lumMod val="75000"/>
                  </a:schemeClr>
                </a:solidFill>
                <a:latin typeface="Century Gothic" panose="020B0502020202020204" pitchFamily="34" charset="0"/>
              </a:rPr>
              <a:t> </a:t>
            </a:r>
            <a:r>
              <a:rPr lang="es-ES" sz="2000" dirty="0">
                <a:solidFill>
                  <a:schemeClr val="accent1"/>
                </a:solidFill>
                <a:latin typeface="Century Gothic" panose="020B0502020202020204" pitchFamily="34" charset="0"/>
              </a:rPr>
              <a:t>diríamos que no es conveniente invertir $500 adicionales en B y por lo tanto </a:t>
            </a:r>
            <a:r>
              <a:rPr lang="es-ES" sz="2000" b="1" dirty="0">
                <a:solidFill>
                  <a:srgbClr val="C00000"/>
                </a:solidFill>
                <a:latin typeface="Century Gothic" panose="020B0502020202020204" pitchFamily="34" charset="0"/>
              </a:rPr>
              <a:t>debe escogerse el proyecto A</a:t>
            </a:r>
            <a:r>
              <a:rPr lang="es-ES" sz="2000" dirty="0">
                <a:solidFill>
                  <a:schemeClr val="accent1"/>
                </a:solidFill>
                <a:latin typeface="Century Gothic" panose="020B0502020202020204" pitchFamily="34" charset="0"/>
              </a:rPr>
              <a:t>.</a:t>
            </a:r>
          </a:p>
        </p:txBody>
      </p:sp>
      <p:pic>
        <p:nvPicPr>
          <p:cNvPr id="7" name="Imagen 6">
            <a:extLst>
              <a:ext uri="{FF2B5EF4-FFF2-40B4-BE49-F238E27FC236}">
                <a16:creationId xmlns:a16="http://schemas.microsoft.com/office/drawing/2014/main" id="{049B3089-ED1E-8223-B07D-FB920E44D113}"/>
              </a:ext>
            </a:extLst>
          </p:cNvPr>
          <p:cNvPicPr>
            <a:picLocks noChangeAspect="1"/>
          </p:cNvPicPr>
          <p:nvPr/>
        </p:nvPicPr>
        <p:blipFill>
          <a:blip r:embed="rId2"/>
          <a:stretch>
            <a:fillRect/>
          </a:stretch>
        </p:blipFill>
        <p:spPr>
          <a:xfrm>
            <a:off x="8686800" y="3120378"/>
            <a:ext cx="2722871" cy="1671938"/>
          </a:xfrm>
          <a:prstGeom prst="rect">
            <a:avLst/>
          </a:prstGeom>
        </p:spPr>
      </p:pic>
      <p:sp>
        <p:nvSpPr>
          <p:cNvPr id="5" name="Rectángulo 4">
            <a:extLst>
              <a:ext uri="{FF2B5EF4-FFF2-40B4-BE49-F238E27FC236}">
                <a16:creationId xmlns:a16="http://schemas.microsoft.com/office/drawing/2014/main" id="{1AA527FC-984C-1DF6-BE70-DA63A2BF569C}"/>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B4B763E-2A5A-6D7F-A61C-CE750D70E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C9924D4-7573-1E61-605B-6452C6E02F6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8DC3EDE8-FF00-5BD4-3F6E-DC194BD1F60E}"/>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23</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6748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graphicFrame>
        <p:nvGraphicFramePr>
          <p:cNvPr id="63" name="Table 62"/>
          <p:cNvGraphicFramePr>
            <a:graphicFrameLocks noGrp="1"/>
          </p:cNvGraphicFramePr>
          <p:nvPr>
            <p:extLst>
              <p:ext uri="{D42A27DB-BD31-4B8C-83A1-F6EECF244321}">
                <p14:modId xmlns:p14="http://schemas.microsoft.com/office/powerpoint/2010/main" val="1331833345"/>
              </p:ext>
            </p:extLst>
          </p:nvPr>
        </p:nvGraphicFramePr>
        <p:xfrm>
          <a:off x="3512289" y="2064945"/>
          <a:ext cx="5073650" cy="2225040"/>
        </p:xfrm>
        <a:graphic>
          <a:graphicData uri="http://schemas.openxmlformats.org/drawingml/2006/table">
            <a:tbl>
              <a:tblPr firstRow="1" bandRow="1">
                <a:tableStyleId>{5C22544A-7EE6-4342-B048-85BDC9FD1C3A}</a:tableStyleId>
              </a:tblPr>
              <a:tblGrid>
                <a:gridCol w="2536825">
                  <a:extLst>
                    <a:ext uri="{9D8B030D-6E8A-4147-A177-3AD203B41FA5}">
                      <a16:colId xmlns:a16="http://schemas.microsoft.com/office/drawing/2014/main" val="20000"/>
                    </a:ext>
                  </a:extLst>
                </a:gridCol>
                <a:gridCol w="2536825">
                  <a:extLst>
                    <a:ext uri="{9D8B030D-6E8A-4147-A177-3AD203B41FA5}">
                      <a16:colId xmlns:a16="http://schemas.microsoft.com/office/drawing/2014/main" val="20001"/>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B – A (C.O.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$30,71</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782691422"/>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$8,10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987291626"/>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12,38%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11,32%</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8" name="Rectángulo 7">
            <a:extLst>
              <a:ext uri="{FF2B5EF4-FFF2-40B4-BE49-F238E27FC236}">
                <a16:creationId xmlns:a16="http://schemas.microsoft.com/office/drawing/2014/main" id="{5D566C21-6978-39A2-1983-C84346E3A3B1}"/>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81410F6-C618-0C5B-7DC6-31976EB87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04544225-E56B-BFB2-C92E-CF8D77F16EE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11" name="Straight Arrow Connector 6">
            <a:extLst>
              <a:ext uri="{FF2B5EF4-FFF2-40B4-BE49-F238E27FC236}">
                <a16:creationId xmlns:a16="http://schemas.microsoft.com/office/drawing/2014/main" id="{BA64BA5E-47B7-1B84-50DE-9D5F140F750A}"/>
              </a:ext>
            </a:extLst>
          </p:cNvPr>
          <p:cNvCxnSpPr/>
          <p:nvPr/>
        </p:nvCxnSpPr>
        <p:spPr>
          <a:xfrm>
            <a:off x="4430170" y="5580677"/>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7">
            <a:extLst>
              <a:ext uri="{FF2B5EF4-FFF2-40B4-BE49-F238E27FC236}">
                <a16:creationId xmlns:a16="http://schemas.microsoft.com/office/drawing/2014/main" id="{CBAA01BB-AEAC-E1C3-AFF0-5392DE84C397}"/>
              </a:ext>
            </a:extLst>
          </p:cNvPr>
          <p:cNvCxnSpPr/>
          <p:nvPr/>
        </p:nvCxnSpPr>
        <p:spPr>
          <a:xfrm flipV="1">
            <a:off x="6840619" y="5134778"/>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AE63BFC6-68F1-C638-27FE-B371744B2779}"/>
              </a:ext>
            </a:extLst>
          </p:cNvPr>
          <p:cNvSpPr>
            <a:spLocks/>
          </p:cNvSpPr>
          <p:nvPr/>
        </p:nvSpPr>
        <p:spPr bwMode="auto">
          <a:xfrm flipH="1">
            <a:off x="4383056" y="5301597"/>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4" name="Rectangle 13">
            <a:extLst>
              <a:ext uri="{FF2B5EF4-FFF2-40B4-BE49-F238E27FC236}">
                <a16:creationId xmlns:a16="http://schemas.microsoft.com/office/drawing/2014/main" id="{3B7FF085-DDE5-3383-B81A-67B95E86805F}"/>
              </a:ext>
            </a:extLst>
          </p:cNvPr>
          <p:cNvSpPr>
            <a:spLocks/>
          </p:cNvSpPr>
          <p:nvPr/>
        </p:nvSpPr>
        <p:spPr bwMode="auto">
          <a:xfrm>
            <a:off x="4798193" y="559350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15" name="Rectangle 18">
            <a:extLst>
              <a:ext uri="{FF2B5EF4-FFF2-40B4-BE49-F238E27FC236}">
                <a16:creationId xmlns:a16="http://schemas.microsoft.com/office/drawing/2014/main" id="{CB12F776-A337-CCDC-DFE8-F000C457BD4E}"/>
              </a:ext>
            </a:extLst>
          </p:cNvPr>
          <p:cNvSpPr>
            <a:spLocks/>
          </p:cNvSpPr>
          <p:nvPr/>
        </p:nvSpPr>
        <p:spPr bwMode="auto">
          <a:xfrm>
            <a:off x="5510857" y="4878295"/>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$140</a:t>
            </a:r>
          </a:p>
        </p:txBody>
      </p:sp>
      <p:sp>
        <p:nvSpPr>
          <p:cNvPr id="16" name="Rectangle 43">
            <a:extLst>
              <a:ext uri="{FF2B5EF4-FFF2-40B4-BE49-F238E27FC236}">
                <a16:creationId xmlns:a16="http://schemas.microsoft.com/office/drawing/2014/main" id="{243C2077-E050-CA43-4BF4-06D9DE5A7F4F}"/>
              </a:ext>
            </a:extLst>
          </p:cNvPr>
          <p:cNvSpPr>
            <a:spLocks/>
          </p:cNvSpPr>
          <p:nvPr/>
        </p:nvSpPr>
        <p:spPr bwMode="auto">
          <a:xfrm>
            <a:off x="3561602" y="6461397"/>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$500</a:t>
            </a:r>
          </a:p>
        </p:txBody>
      </p:sp>
      <p:sp>
        <p:nvSpPr>
          <p:cNvPr id="17" name="Rectangle 43">
            <a:extLst>
              <a:ext uri="{FF2B5EF4-FFF2-40B4-BE49-F238E27FC236}">
                <a16:creationId xmlns:a16="http://schemas.microsoft.com/office/drawing/2014/main" id="{18CA470B-0F25-5D82-E866-84027D34FE3F}"/>
              </a:ext>
            </a:extLst>
          </p:cNvPr>
          <p:cNvSpPr>
            <a:spLocks/>
          </p:cNvSpPr>
          <p:nvPr/>
        </p:nvSpPr>
        <p:spPr bwMode="auto">
          <a:xfrm>
            <a:off x="5435517" y="4392179"/>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dirty="0">
                <a:solidFill>
                  <a:srgbClr val="C00000"/>
                </a:solidFill>
                <a:latin typeface="Century Gothic" panose="020B0502020202020204" pitchFamily="34" charset="0"/>
              </a:rPr>
              <a:t>B - A </a:t>
            </a:r>
          </a:p>
        </p:txBody>
      </p:sp>
      <p:cxnSp>
        <p:nvCxnSpPr>
          <p:cNvPr id="18" name="Straight Arrow Connector 7">
            <a:extLst>
              <a:ext uri="{FF2B5EF4-FFF2-40B4-BE49-F238E27FC236}">
                <a16:creationId xmlns:a16="http://schemas.microsoft.com/office/drawing/2014/main" id="{4DA00696-6EF1-BF71-C726-079F5691B740}"/>
              </a:ext>
            </a:extLst>
          </p:cNvPr>
          <p:cNvCxnSpPr/>
          <p:nvPr/>
        </p:nvCxnSpPr>
        <p:spPr>
          <a:xfrm flipV="1">
            <a:off x="4963653" y="5134669"/>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7">
            <a:extLst>
              <a:ext uri="{FF2B5EF4-FFF2-40B4-BE49-F238E27FC236}">
                <a16:creationId xmlns:a16="http://schemas.microsoft.com/office/drawing/2014/main" id="{CB158F31-5D1C-ED3C-E521-6D0416714944}"/>
              </a:ext>
            </a:extLst>
          </p:cNvPr>
          <p:cNvCxnSpPr/>
          <p:nvPr/>
        </p:nvCxnSpPr>
        <p:spPr>
          <a:xfrm flipV="1">
            <a:off x="5577903" y="5134669"/>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7">
            <a:extLst>
              <a:ext uri="{FF2B5EF4-FFF2-40B4-BE49-F238E27FC236}">
                <a16:creationId xmlns:a16="http://schemas.microsoft.com/office/drawing/2014/main" id="{D7A1DDD4-55B3-7954-0C26-40AF6B237F4A}"/>
              </a:ext>
            </a:extLst>
          </p:cNvPr>
          <p:cNvCxnSpPr/>
          <p:nvPr/>
        </p:nvCxnSpPr>
        <p:spPr>
          <a:xfrm flipV="1">
            <a:off x="6218483" y="5134669"/>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7">
            <a:extLst>
              <a:ext uri="{FF2B5EF4-FFF2-40B4-BE49-F238E27FC236}">
                <a16:creationId xmlns:a16="http://schemas.microsoft.com/office/drawing/2014/main" id="{55B839E6-BBFF-F97E-FF53-BFE3A384B03E}"/>
              </a:ext>
            </a:extLst>
          </p:cNvPr>
          <p:cNvCxnSpPr/>
          <p:nvPr/>
        </p:nvCxnSpPr>
        <p:spPr>
          <a:xfrm flipV="1">
            <a:off x="7442041" y="5121950"/>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13">
            <a:extLst>
              <a:ext uri="{FF2B5EF4-FFF2-40B4-BE49-F238E27FC236}">
                <a16:creationId xmlns:a16="http://schemas.microsoft.com/office/drawing/2014/main" id="{A7B3263B-6412-C295-6651-FEF77007F504}"/>
              </a:ext>
            </a:extLst>
          </p:cNvPr>
          <p:cNvSpPr>
            <a:spLocks/>
          </p:cNvSpPr>
          <p:nvPr/>
        </p:nvSpPr>
        <p:spPr bwMode="auto">
          <a:xfrm>
            <a:off x="5409373" y="558067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23" name="Rectangle 13">
            <a:extLst>
              <a:ext uri="{FF2B5EF4-FFF2-40B4-BE49-F238E27FC236}">
                <a16:creationId xmlns:a16="http://schemas.microsoft.com/office/drawing/2014/main" id="{93E2DCCE-707C-5B23-E21E-D3D1F1FAFEE5}"/>
              </a:ext>
            </a:extLst>
          </p:cNvPr>
          <p:cNvSpPr>
            <a:spLocks/>
          </p:cNvSpPr>
          <p:nvPr/>
        </p:nvSpPr>
        <p:spPr bwMode="auto">
          <a:xfrm>
            <a:off x="6037124" y="559339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24" name="Rectangle 13">
            <a:extLst>
              <a:ext uri="{FF2B5EF4-FFF2-40B4-BE49-F238E27FC236}">
                <a16:creationId xmlns:a16="http://schemas.microsoft.com/office/drawing/2014/main" id="{B1F82433-B879-DAC4-C72B-EBD9AE5C7446}"/>
              </a:ext>
            </a:extLst>
          </p:cNvPr>
          <p:cNvSpPr>
            <a:spLocks/>
          </p:cNvSpPr>
          <p:nvPr/>
        </p:nvSpPr>
        <p:spPr bwMode="auto">
          <a:xfrm>
            <a:off x="6672089" y="558067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25" name="Rectangle 13">
            <a:extLst>
              <a:ext uri="{FF2B5EF4-FFF2-40B4-BE49-F238E27FC236}">
                <a16:creationId xmlns:a16="http://schemas.microsoft.com/office/drawing/2014/main" id="{EF588BFC-E0ED-C3D1-19B0-199548D71440}"/>
              </a:ext>
            </a:extLst>
          </p:cNvPr>
          <p:cNvSpPr>
            <a:spLocks/>
          </p:cNvSpPr>
          <p:nvPr/>
        </p:nvSpPr>
        <p:spPr bwMode="auto">
          <a:xfrm>
            <a:off x="7273511" y="558294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26" name="Straight Arrow Connector 7">
            <a:extLst>
              <a:ext uri="{FF2B5EF4-FFF2-40B4-BE49-F238E27FC236}">
                <a16:creationId xmlns:a16="http://schemas.microsoft.com/office/drawing/2014/main" id="{541A5C4D-A087-8332-33A6-05D36C28735F}"/>
              </a:ext>
            </a:extLst>
          </p:cNvPr>
          <p:cNvCxnSpPr/>
          <p:nvPr/>
        </p:nvCxnSpPr>
        <p:spPr>
          <a:xfrm>
            <a:off x="4969167" y="5163803"/>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cxnSp>
        <p:nvCxnSpPr>
          <p:cNvPr id="27" name="Straight Connector 5">
            <a:extLst>
              <a:ext uri="{FF2B5EF4-FFF2-40B4-BE49-F238E27FC236}">
                <a16:creationId xmlns:a16="http://schemas.microsoft.com/office/drawing/2014/main" id="{5C45A31F-19E8-9C4D-3B63-D4A7B5E1D083}"/>
              </a:ext>
            </a:extLst>
          </p:cNvPr>
          <p:cNvCxnSpPr/>
          <p:nvPr/>
        </p:nvCxnSpPr>
        <p:spPr>
          <a:xfrm>
            <a:off x="4430171" y="5580676"/>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lide Number Placeholder 3">
            <a:extLst>
              <a:ext uri="{FF2B5EF4-FFF2-40B4-BE49-F238E27FC236}">
                <a16:creationId xmlns:a16="http://schemas.microsoft.com/office/drawing/2014/main" id="{37BC6019-8A91-E7B2-51B6-98C9EF5D42E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24</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4092257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685857" y="2263903"/>
            <a:ext cx="7803235" cy="3678303"/>
          </a:xfrm>
        </p:spPr>
        <p:txBody>
          <a:bodyPr>
            <a:normAutofit/>
          </a:bodyPr>
          <a:lstStyle/>
          <a:p>
            <a:pPr algn="just"/>
            <a:r>
              <a:rPr lang="es-ES" sz="2000" dirty="0">
                <a:solidFill>
                  <a:schemeClr val="accent1"/>
                </a:solidFill>
                <a:latin typeface="Century Gothic" panose="020B0502020202020204" pitchFamily="34" charset="0"/>
              </a:rPr>
              <a:t>Esta metodología es muy útil en proyectos en donde los indicadores de bondad financiera </a:t>
            </a:r>
            <a:r>
              <a:rPr lang="es-ES" sz="2000" b="1" dirty="0">
                <a:solidFill>
                  <a:srgbClr val="C00000"/>
                </a:solidFill>
                <a:latin typeface="Century Gothic" panose="020B0502020202020204" pitchFamily="34" charset="0"/>
              </a:rPr>
              <a:t>carecen de significado o no se pueden calcular</a:t>
            </a:r>
            <a:r>
              <a:rPr lang="es-ES" sz="2000" dirty="0">
                <a:solidFill>
                  <a:schemeClr val="accent1"/>
                </a:solidFill>
                <a:latin typeface="Century Gothic" panose="020B0502020202020204" pitchFamily="34" charset="0"/>
              </a:rPr>
              <a:t>. </a:t>
            </a:r>
          </a:p>
          <a:p>
            <a:pPr algn="just"/>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Este es el caso de los proyectos sociales, proyectos de eficiencia, proyectos de disminución de costos, entre otros. </a:t>
            </a:r>
          </a:p>
          <a:p>
            <a:pPr algn="just"/>
            <a:endParaRPr lang="es-ES" sz="2000" dirty="0">
              <a:solidFill>
                <a:schemeClr val="accent1"/>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Veamos un ejemplo:</a:t>
            </a:r>
          </a:p>
        </p:txBody>
      </p:sp>
      <p:pic>
        <p:nvPicPr>
          <p:cNvPr id="3074" name="Picture 2" descr="Página 43 | Vectores e ilustraciones de Plan inversiones para descargar  gratis | Freepik">
            <a:extLst>
              <a:ext uri="{FF2B5EF4-FFF2-40B4-BE49-F238E27FC236}">
                <a16:creationId xmlns:a16="http://schemas.microsoft.com/office/drawing/2014/main" id="{7581C59D-66C0-4E74-1D15-066A7ED8B5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52" r="3301"/>
          <a:stretch/>
        </p:blipFill>
        <p:spPr bwMode="auto">
          <a:xfrm>
            <a:off x="8526736" y="3068726"/>
            <a:ext cx="3210637" cy="202702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4DD56D9-0973-89AD-1C96-173851827FA9}"/>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1F5D842-9F4E-36B5-4051-812E4D836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9F70B5C-3E40-7473-52CE-969C0C36918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46B835C8-EA19-80C3-7AA5-67C6301C402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25</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19144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581192" y="2384354"/>
            <a:ext cx="10863012" cy="3975348"/>
          </a:xfrm>
        </p:spPr>
        <p:txBody>
          <a:bodyPr>
            <a:noAutofit/>
          </a:bodyPr>
          <a:lstStyle/>
          <a:p>
            <a:pPr marL="0" indent="0" algn="just">
              <a:buNone/>
            </a:pPr>
            <a:r>
              <a:rPr lang="es-ES" sz="2000" b="1" dirty="0">
                <a:solidFill>
                  <a:srgbClr val="C00000"/>
                </a:solidFill>
                <a:latin typeface="Century Gothic" panose="020B0502020202020204" pitchFamily="34" charset="0"/>
              </a:rPr>
              <a:t>Ejemplo 2</a:t>
            </a:r>
          </a:p>
          <a:p>
            <a:pPr algn="just"/>
            <a:r>
              <a:rPr lang="es-ES" sz="2000" dirty="0">
                <a:solidFill>
                  <a:schemeClr val="accent1"/>
                </a:solidFill>
                <a:latin typeface="Century Gothic" panose="020B0502020202020204" pitchFamily="34" charset="0"/>
              </a:rPr>
              <a:t>Actualmente una empresa utiliza un proceso productivo que se extenderá por cinco años más, cuyos costos anuales de mantenimiento y combustible son de 25 millones de pesos.</a:t>
            </a:r>
          </a:p>
          <a:p>
            <a:pPr algn="just"/>
            <a:r>
              <a:rPr lang="es-ES" sz="2000" dirty="0">
                <a:solidFill>
                  <a:schemeClr val="accent1"/>
                </a:solidFill>
                <a:latin typeface="Century Gothic" panose="020B0502020202020204" pitchFamily="34" charset="0"/>
              </a:rPr>
              <a:t>Existe una alternativa en el mercado cuya vida útil es cinco (5) años que permite modernizar el proceso y convertir la máquina a gas natural, lo cual reduciría los costos de mantenimiento y combustible a 12 millones por año. La inversión necesaria para llevar a cabo esta alternativa es de 40 millones de pesos. </a:t>
            </a:r>
          </a:p>
          <a:p>
            <a:pPr algn="just"/>
            <a:r>
              <a:rPr lang="es-ES" sz="2000" dirty="0">
                <a:solidFill>
                  <a:schemeClr val="accent1"/>
                </a:solidFill>
                <a:latin typeface="Century Gothic" panose="020B0502020202020204" pitchFamily="34" charset="0"/>
              </a:rPr>
              <a:t>La empresa utiliza un costo de oportunidad de 10% anual para valorar sus proyectos. </a:t>
            </a:r>
          </a:p>
          <a:p>
            <a:pPr algn="just"/>
            <a:r>
              <a:rPr lang="es-ES" sz="2000" dirty="0">
                <a:solidFill>
                  <a:schemeClr val="accent1"/>
                </a:solidFill>
                <a:latin typeface="Century Gothic" panose="020B0502020202020204" pitchFamily="34" charset="0"/>
              </a:rPr>
              <a:t>Analice el problema mediante el indicador TIR o TVR.</a:t>
            </a:r>
          </a:p>
        </p:txBody>
      </p:sp>
      <p:pic>
        <p:nvPicPr>
          <p:cNvPr id="4098" name="Picture 2" descr="Icono de ilustración de dibujos animados de bombilla de vector en estilo  cómic | Vector Premium">
            <a:extLst>
              <a:ext uri="{FF2B5EF4-FFF2-40B4-BE49-F238E27FC236}">
                <a16:creationId xmlns:a16="http://schemas.microsoft.com/office/drawing/2014/main" id="{B565E2D5-7543-0F41-A14E-EE1C0CF085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377" b="11357"/>
          <a:stretch/>
        </p:blipFill>
        <p:spPr bwMode="auto">
          <a:xfrm>
            <a:off x="10453271" y="1854906"/>
            <a:ext cx="1207538" cy="93301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22BAFDB5-52AA-2459-034A-667D7CB19E40}"/>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5FD4027-A02D-5032-BFEC-F49A2E9B49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32965CF-1CBB-DAAB-B529-12B0B80C113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5AB1BDE4-8BD4-D98B-D60D-CDDF0E53B47E}"/>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26</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481502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cxnSp>
        <p:nvCxnSpPr>
          <p:cNvPr id="8" name="Straight Arrow Connector 7"/>
          <p:cNvCxnSpPr/>
          <p:nvPr/>
        </p:nvCxnSpPr>
        <p:spPr>
          <a:xfrm>
            <a:off x="4561093" y="3206288"/>
            <a:ext cx="0" cy="46618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a:spLocks/>
          </p:cNvSpPr>
          <p:nvPr/>
        </p:nvSpPr>
        <p:spPr bwMode="auto">
          <a:xfrm flipH="1">
            <a:off x="2585254" y="2863069"/>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5" name="TextBox 4"/>
          <p:cNvSpPr txBox="1"/>
          <p:nvPr/>
        </p:nvSpPr>
        <p:spPr>
          <a:xfrm>
            <a:off x="3518049" y="215910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p:cNvSpPr txBox="1"/>
          <p:nvPr/>
        </p:nvSpPr>
        <p:spPr>
          <a:xfrm>
            <a:off x="7552503" y="212981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cxnSp>
        <p:nvCxnSpPr>
          <p:cNvPr id="40" name="Straight Arrow Connector 39"/>
          <p:cNvCxnSpPr/>
          <p:nvPr/>
        </p:nvCxnSpPr>
        <p:spPr>
          <a:xfrm>
            <a:off x="3922366" y="3218828"/>
            <a:ext cx="0" cy="45364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3302396" y="3206288"/>
            <a:ext cx="0" cy="46618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44" name="Rectangle 43"/>
          <p:cNvSpPr>
            <a:spLocks/>
          </p:cNvSpPr>
          <p:nvPr/>
        </p:nvSpPr>
        <p:spPr bwMode="auto">
          <a:xfrm>
            <a:off x="2983033" y="3711811"/>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25</a:t>
            </a:r>
          </a:p>
        </p:txBody>
      </p:sp>
      <p:cxnSp>
        <p:nvCxnSpPr>
          <p:cNvPr id="45" name="Straight Arrow Connector 44"/>
          <p:cNvCxnSpPr/>
          <p:nvPr/>
        </p:nvCxnSpPr>
        <p:spPr>
          <a:xfrm>
            <a:off x="5199819" y="3201402"/>
            <a:ext cx="0" cy="471072"/>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63" name="Rectangle 62"/>
          <p:cNvSpPr>
            <a:spLocks/>
          </p:cNvSpPr>
          <p:nvPr/>
        </p:nvSpPr>
        <p:spPr bwMode="auto">
          <a:xfrm>
            <a:off x="3124548" y="287183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64" name="Rectangle 63"/>
          <p:cNvSpPr>
            <a:spLocks/>
          </p:cNvSpPr>
          <p:nvPr/>
        </p:nvSpPr>
        <p:spPr bwMode="auto">
          <a:xfrm>
            <a:off x="3753836" y="287183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65" name="Rectangle 64"/>
          <p:cNvSpPr>
            <a:spLocks/>
          </p:cNvSpPr>
          <p:nvPr/>
        </p:nvSpPr>
        <p:spPr bwMode="auto">
          <a:xfrm>
            <a:off x="4392563" y="287183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66" name="Rectangle 65"/>
          <p:cNvSpPr>
            <a:spLocks/>
          </p:cNvSpPr>
          <p:nvPr/>
        </p:nvSpPr>
        <p:spPr bwMode="auto">
          <a:xfrm>
            <a:off x="5031289" y="287183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67" name="Rectangle 66"/>
          <p:cNvSpPr>
            <a:spLocks/>
          </p:cNvSpPr>
          <p:nvPr/>
        </p:nvSpPr>
        <p:spPr bwMode="auto">
          <a:xfrm>
            <a:off x="5526969" y="285262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68" name="Straight Arrow Connector 67"/>
          <p:cNvCxnSpPr/>
          <p:nvPr/>
        </p:nvCxnSpPr>
        <p:spPr>
          <a:xfrm>
            <a:off x="5694797" y="3186993"/>
            <a:ext cx="0" cy="471072"/>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69" name="Rectangle 68"/>
          <p:cNvSpPr>
            <a:spLocks/>
          </p:cNvSpPr>
          <p:nvPr/>
        </p:nvSpPr>
        <p:spPr bwMode="auto">
          <a:xfrm>
            <a:off x="3603003" y="3723939"/>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sp>
        <p:nvSpPr>
          <p:cNvPr id="70" name="Rectangle 69"/>
          <p:cNvSpPr>
            <a:spLocks/>
          </p:cNvSpPr>
          <p:nvPr/>
        </p:nvSpPr>
        <p:spPr bwMode="auto">
          <a:xfrm>
            <a:off x="4238760" y="3700614"/>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sp>
        <p:nvSpPr>
          <p:cNvPr id="71" name="Rectangle 70"/>
          <p:cNvSpPr>
            <a:spLocks/>
          </p:cNvSpPr>
          <p:nvPr/>
        </p:nvSpPr>
        <p:spPr bwMode="auto">
          <a:xfrm>
            <a:off x="4846938" y="3689617"/>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sp>
        <p:nvSpPr>
          <p:cNvPr id="72" name="Rectangle 71"/>
          <p:cNvSpPr>
            <a:spLocks/>
          </p:cNvSpPr>
          <p:nvPr/>
        </p:nvSpPr>
        <p:spPr bwMode="auto">
          <a:xfrm>
            <a:off x="5358270" y="3697892"/>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cxnSp>
        <p:nvCxnSpPr>
          <p:cNvPr id="74" name="Straight Arrow Connector 73"/>
          <p:cNvCxnSpPr/>
          <p:nvPr/>
        </p:nvCxnSpPr>
        <p:spPr>
          <a:xfrm>
            <a:off x="6788087" y="3220698"/>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a:off x="8678325" y="3220697"/>
            <a:ext cx="0" cy="46618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76" name="Rectangle 75"/>
          <p:cNvSpPr>
            <a:spLocks/>
          </p:cNvSpPr>
          <p:nvPr/>
        </p:nvSpPr>
        <p:spPr bwMode="auto">
          <a:xfrm flipH="1">
            <a:off x="6702486" y="2877478"/>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cxnSp>
        <p:nvCxnSpPr>
          <p:cNvPr id="77" name="Straight Arrow Connector 76"/>
          <p:cNvCxnSpPr/>
          <p:nvPr/>
        </p:nvCxnSpPr>
        <p:spPr>
          <a:xfrm>
            <a:off x="8039598" y="3233237"/>
            <a:ext cx="0" cy="45364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a:off x="7419628" y="3220697"/>
            <a:ext cx="0" cy="46618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79" name="Rectangle 78"/>
          <p:cNvSpPr>
            <a:spLocks/>
          </p:cNvSpPr>
          <p:nvPr/>
        </p:nvSpPr>
        <p:spPr bwMode="auto">
          <a:xfrm>
            <a:off x="7100265" y="3726220"/>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cxnSp>
        <p:nvCxnSpPr>
          <p:cNvPr id="80" name="Straight Arrow Connector 79"/>
          <p:cNvCxnSpPr/>
          <p:nvPr/>
        </p:nvCxnSpPr>
        <p:spPr>
          <a:xfrm>
            <a:off x="9317051" y="3215811"/>
            <a:ext cx="0" cy="471072"/>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81" name="Rectangle 80"/>
          <p:cNvSpPr>
            <a:spLocks/>
          </p:cNvSpPr>
          <p:nvPr/>
        </p:nvSpPr>
        <p:spPr bwMode="auto">
          <a:xfrm>
            <a:off x="7241780" y="28862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82" name="Rectangle 81"/>
          <p:cNvSpPr>
            <a:spLocks/>
          </p:cNvSpPr>
          <p:nvPr/>
        </p:nvSpPr>
        <p:spPr bwMode="auto">
          <a:xfrm>
            <a:off x="7871068" y="28862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83" name="Rectangle 82"/>
          <p:cNvSpPr>
            <a:spLocks/>
          </p:cNvSpPr>
          <p:nvPr/>
        </p:nvSpPr>
        <p:spPr bwMode="auto">
          <a:xfrm>
            <a:off x="8509795" y="28862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84" name="Rectangle 83"/>
          <p:cNvSpPr>
            <a:spLocks/>
          </p:cNvSpPr>
          <p:nvPr/>
        </p:nvSpPr>
        <p:spPr bwMode="auto">
          <a:xfrm>
            <a:off x="9148521" y="28862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85" name="Rectangle 84"/>
          <p:cNvSpPr>
            <a:spLocks/>
          </p:cNvSpPr>
          <p:nvPr/>
        </p:nvSpPr>
        <p:spPr bwMode="auto">
          <a:xfrm>
            <a:off x="9644201" y="286703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86" name="Straight Arrow Connector 85"/>
          <p:cNvCxnSpPr/>
          <p:nvPr/>
        </p:nvCxnSpPr>
        <p:spPr>
          <a:xfrm>
            <a:off x="9812029" y="3201402"/>
            <a:ext cx="0" cy="471072"/>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87" name="Rectangle 86"/>
          <p:cNvSpPr>
            <a:spLocks/>
          </p:cNvSpPr>
          <p:nvPr/>
        </p:nvSpPr>
        <p:spPr bwMode="auto">
          <a:xfrm>
            <a:off x="7720235" y="373834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sp>
        <p:nvSpPr>
          <p:cNvPr id="88" name="Rectangle 87"/>
          <p:cNvSpPr>
            <a:spLocks/>
          </p:cNvSpPr>
          <p:nvPr/>
        </p:nvSpPr>
        <p:spPr bwMode="auto">
          <a:xfrm>
            <a:off x="8355992" y="371502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sp>
        <p:nvSpPr>
          <p:cNvPr id="89" name="Rectangle 88"/>
          <p:cNvSpPr>
            <a:spLocks/>
          </p:cNvSpPr>
          <p:nvPr/>
        </p:nvSpPr>
        <p:spPr bwMode="auto">
          <a:xfrm>
            <a:off x="8964170" y="370402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sp>
        <p:nvSpPr>
          <p:cNvPr id="90" name="Rectangle 89"/>
          <p:cNvSpPr>
            <a:spLocks/>
          </p:cNvSpPr>
          <p:nvPr/>
        </p:nvSpPr>
        <p:spPr bwMode="auto">
          <a:xfrm>
            <a:off x="9475502" y="3712301"/>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sp>
        <p:nvSpPr>
          <p:cNvPr id="91" name="Rectangle 90"/>
          <p:cNvSpPr>
            <a:spLocks/>
          </p:cNvSpPr>
          <p:nvPr/>
        </p:nvSpPr>
        <p:spPr bwMode="auto">
          <a:xfrm>
            <a:off x="5873306" y="4130935"/>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40</a:t>
            </a:r>
          </a:p>
        </p:txBody>
      </p:sp>
      <p:sp>
        <p:nvSpPr>
          <p:cNvPr id="48" name="Rectangle 47"/>
          <p:cNvSpPr>
            <a:spLocks/>
          </p:cNvSpPr>
          <p:nvPr/>
        </p:nvSpPr>
        <p:spPr bwMode="auto">
          <a:xfrm flipH="1">
            <a:off x="4460124" y="5251084"/>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cxnSp>
        <p:nvCxnSpPr>
          <p:cNvPr id="50" name="Straight Arrow Connector 49"/>
          <p:cNvCxnSpPr/>
          <p:nvPr/>
        </p:nvCxnSpPr>
        <p:spPr>
          <a:xfrm flipH="1" flipV="1">
            <a:off x="5164164" y="5015713"/>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1" name="Rectangle 50"/>
          <p:cNvSpPr>
            <a:spLocks/>
          </p:cNvSpPr>
          <p:nvPr/>
        </p:nvSpPr>
        <p:spPr bwMode="auto">
          <a:xfrm>
            <a:off x="4839146" y="4776535"/>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cxnSp>
        <p:nvCxnSpPr>
          <p:cNvPr id="58" name="Straight Arrow Connector 57"/>
          <p:cNvCxnSpPr/>
          <p:nvPr/>
        </p:nvCxnSpPr>
        <p:spPr>
          <a:xfrm flipH="1" flipV="1">
            <a:off x="7552503" y="5015713"/>
            <a:ext cx="17164" cy="55929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Rectangle 58"/>
          <p:cNvSpPr>
            <a:spLocks/>
          </p:cNvSpPr>
          <p:nvPr/>
        </p:nvSpPr>
        <p:spPr bwMode="auto">
          <a:xfrm>
            <a:off x="5459116" y="478866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60" name="Rectangle 59"/>
          <p:cNvSpPr>
            <a:spLocks/>
          </p:cNvSpPr>
          <p:nvPr/>
        </p:nvSpPr>
        <p:spPr bwMode="auto">
          <a:xfrm>
            <a:off x="6094873" y="476533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61" name="Rectangle 60"/>
          <p:cNvSpPr>
            <a:spLocks/>
          </p:cNvSpPr>
          <p:nvPr/>
        </p:nvSpPr>
        <p:spPr bwMode="auto">
          <a:xfrm>
            <a:off x="6703051" y="4754341"/>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62" name="Rectangle 61"/>
          <p:cNvSpPr>
            <a:spLocks/>
          </p:cNvSpPr>
          <p:nvPr/>
        </p:nvSpPr>
        <p:spPr bwMode="auto">
          <a:xfrm>
            <a:off x="7214383" y="476261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cxnSp>
        <p:nvCxnSpPr>
          <p:cNvPr id="93" name="Straight Arrow Connector 92"/>
          <p:cNvCxnSpPr>
            <a:cxnSpLocks/>
          </p:cNvCxnSpPr>
          <p:nvPr/>
        </p:nvCxnSpPr>
        <p:spPr>
          <a:xfrm>
            <a:off x="4552500" y="5594303"/>
            <a:ext cx="0" cy="824235"/>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flipH="1" flipV="1">
            <a:off x="5797406" y="5015713"/>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flipH="1" flipV="1">
            <a:off x="6415046" y="4996418"/>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a:cxnSpLocks/>
          </p:cNvCxnSpPr>
          <p:nvPr/>
        </p:nvCxnSpPr>
        <p:spPr>
          <a:xfrm flipV="1">
            <a:off x="7005222" y="5015713"/>
            <a:ext cx="0" cy="559295"/>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7" name="Rectangle 96"/>
          <p:cNvSpPr>
            <a:spLocks/>
          </p:cNvSpPr>
          <p:nvPr/>
        </p:nvSpPr>
        <p:spPr bwMode="auto">
          <a:xfrm>
            <a:off x="3603002" y="6403150"/>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40</a:t>
            </a:r>
          </a:p>
        </p:txBody>
      </p:sp>
      <p:sp>
        <p:nvSpPr>
          <p:cNvPr id="98" name="Rectangle 97"/>
          <p:cNvSpPr>
            <a:spLocks/>
          </p:cNvSpPr>
          <p:nvPr/>
        </p:nvSpPr>
        <p:spPr bwMode="auto">
          <a:xfrm>
            <a:off x="4995634" y="5637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99" name="Rectangle 98"/>
          <p:cNvSpPr>
            <a:spLocks/>
          </p:cNvSpPr>
          <p:nvPr/>
        </p:nvSpPr>
        <p:spPr bwMode="auto">
          <a:xfrm>
            <a:off x="5624922" y="5637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100" name="Rectangle 99"/>
          <p:cNvSpPr>
            <a:spLocks/>
          </p:cNvSpPr>
          <p:nvPr/>
        </p:nvSpPr>
        <p:spPr bwMode="auto">
          <a:xfrm>
            <a:off x="6263649" y="5637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101" name="Rectangle 100"/>
          <p:cNvSpPr>
            <a:spLocks/>
          </p:cNvSpPr>
          <p:nvPr/>
        </p:nvSpPr>
        <p:spPr bwMode="auto">
          <a:xfrm>
            <a:off x="6902375" y="5637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102" name="Rectangle 101"/>
          <p:cNvSpPr>
            <a:spLocks/>
          </p:cNvSpPr>
          <p:nvPr/>
        </p:nvSpPr>
        <p:spPr bwMode="auto">
          <a:xfrm>
            <a:off x="7398055" y="561856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sp>
        <p:nvSpPr>
          <p:cNvPr id="92" name="TextBox 4"/>
          <p:cNvSpPr txBox="1"/>
          <p:nvPr/>
        </p:nvSpPr>
        <p:spPr>
          <a:xfrm>
            <a:off x="5781127" y="4392544"/>
            <a:ext cx="630301" cy="400110"/>
          </a:xfrm>
          <a:prstGeom prst="rect">
            <a:avLst/>
          </a:prstGeom>
          <a:noFill/>
        </p:spPr>
        <p:txBody>
          <a:bodyPr wrap="none" rtlCol="0">
            <a:spAutoFit/>
          </a:bodyPr>
          <a:lstStyle/>
          <a:p>
            <a:r>
              <a:rPr lang="es-ES_tradnl" sz="2000" b="1" dirty="0">
                <a:solidFill>
                  <a:srgbClr val="C00000"/>
                </a:solidFill>
                <a:latin typeface="Century Gothic" panose="020B0502020202020204" pitchFamily="34" charset="0"/>
              </a:rPr>
              <a:t>B-A</a:t>
            </a:r>
          </a:p>
        </p:txBody>
      </p:sp>
      <p:sp>
        <p:nvSpPr>
          <p:cNvPr id="11" name="Rectángulo 10">
            <a:extLst>
              <a:ext uri="{FF2B5EF4-FFF2-40B4-BE49-F238E27FC236}">
                <a16:creationId xmlns:a16="http://schemas.microsoft.com/office/drawing/2014/main" id="{69A4BE92-CE51-8FD2-78AD-74B905884C92}"/>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D32B1F4D-1964-7E14-7984-678B03D21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09546D40-9774-8B15-9B36-F9323CB0F84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p:cNvCxnSpPr>
            <a:cxnSpLocks/>
          </p:cNvCxnSpPr>
          <p:nvPr/>
        </p:nvCxnSpPr>
        <p:spPr>
          <a:xfrm flipV="1">
            <a:off x="2670855" y="3186993"/>
            <a:ext cx="3023942" cy="192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a:cxnSpLocks/>
          </p:cNvCxnSpPr>
          <p:nvPr/>
        </p:nvCxnSpPr>
        <p:spPr>
          <a:xfrm flipV="1">
            <a:off x="6788087" y="3201402"/>
            <a:ext cx="3023942" cy="192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a:cxnSpLocks/>
          </p:cNvCxnSpPr>
          <p:nvPr/>
        </p:nvCxnSpPr>
        <p:spPr>
          <a:xfrm flipV="1">
            <a:off x="4545725" y="5575008"/>
            <a:ext cx="3033115" cy="192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lide Number Placeholder 3">
            <a:extLst>
              <a:ext uri="{FF2B5EF4-FFF2-40B4-BE49-F238E27FC236}">
                <a16:creationId xmlns:a16="http://schemas.microsoft.com/office/drawing/2014/main" id="{56140F33-6C74-7E93-42D4-F71D22C9298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27</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48380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93"/>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9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9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9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0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2"/>
                                        </p:tgtEl>
                                        <p:attrNameLst>
                                          <p:attrName>style.visibility</p:attrName>
                                        </p:attrNameLst>
                                      </p:cBhvr>
                                      <p:to>
                                        <p:strVal val="visible"/>
                                      </p:to>
                                    </p:set>
                                  </p:childTnLst>
                                </p:cTn>
                              </p:par>
                              <p:par>
                                <p:cTn id="119" presetID="10" presetClass="entr" presetSubtype="0" fill="hold" grpId="0" nodeType="withEffect">
                                  <p:stCondLst>
                                    <p:cond delay="0"/>
                                  </p:stCondLst>
                                  <p:childTnLst>
                                    <p:set>
                                      <p:cBhvr>
                                        <p:cTn id="120" dur="1" fill="hold">
                                          <p:stCondLst>
                                            <p:cond delay="0"/>
                                          </p:stCondLst>
                                        </p:cTn>
                                        <p:tgtEl>
                                          <p:spTgt spid="92"/>
                                        </p:tgtEl>
                                        <p:attrNameLst>
                                          <p:attrName>style.visibility</p:attrName>
                                        </p:attrNameLst>
                                      </p:cBhvr>
                                      <p:to>
                                        <p:strVal val="visible"/>
                                      </p:to>
                                    </p:set>
                                    <p:animEffect transition="in" filter="fade">
                                      <p:cBhvr>
                                        <p:cTn id="121"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4" grpId="0"/>
      <p:bldP spid="63" grpId="0"/>
      <p:bldP spid="64" grpId="0"/>
      <p:bldP spid="65" grpId="0"/>
      <p:bldP spid="66" grpId="0"/>
      <p:bldP spid="67" grpId="0"/>
      <p:bldP spid="69" grpId="0"/>
      <p:bldP spid="70" grpId="0"/>
      <p:bldP spid="71" grpId="0"/>
      <p:bldP spid="72" grpId="0"/>
      <p:bldP spid="76" grpId="0"/>
      <p:bldP spid="79" grpId="0"/>
      <p:bldP spid="81" grpId="0"/>
      <p:bldP spid="82" grpId="0"/>
      <p:bldP spid="83" grpId="0"/>
      <p:bldP spid="84" grpId="0"/>
      <p:bldP spid="85" grpId="0"/>
      <p:bldP spid="87" grpId="0"/>
      <p:bldP spid="88" grpId="0"/>
      <p:bldP spid="89" grpId="0"/>
      <p:bldP spid="90" grpId="0"/>
      <p:bldP spid="91" grpId="0"/>
      <p:bldP spid="48" grpId="0"/>
      <p:bldP spid="51" grpId="0"/>
      <p:bldP spid="59" grpId="0"/>
      <p:bldP spid="60" grpId="0"/>
      <p:bldP spid="61" grpId="0"/>
      <p:bldP spid="62" grpId="0"/>
      <p:bldP spid="97" grpId="0"/>
      <p:bldP spid="98" grpId="0"/>
      <p:bldP spid="99" grpId="0"/>
      <p:bldP spid="100" grpId="0"/>
      <p:bldP spid="101" grpId="0"/>
      <p:bldP spid="102" grpId="0"/>
      <p:bldP spid="9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graphicFrame>
        <p:nvGraphicFramePr>
          <p:cNvPr id="92" name="Table 91"/>
          <p:cNvGraphicFramePr>
            <a:graphicFrameLocks noGrp="1"/>
          </p:cNvGraphicFramePr>
          <p:nvPr>
            <p:extLst>
              <p:ext uri="{D42A27DB-BD31-4B8C-83A1-F6EECF244321}">
                <p14:modId xmlns:p14="http://schemas.microsoft.com/office/powerpoint/2010/main" val="3069802982"/>
              </p:ext>
            </p:extLst>
          </p:nvPr>
        </p:nvGraphicFramePr>
        <p:xfrm>
          <a:off x="3559175" y="2007969"/>
          <a:ext cx="5073650" cy="1112520"/>
        </p:xfrm>
        <a:graphic>
          <a:graphicData uri="http://schemas.openxmlformats.org/drawingml/2006/table">
            <a:tbl>
              <a:tblPr firstRow="1" bandRow="1">
                <a:tableStyleId>{5C22544A-7EE6-4342-B048-85BDC9FD1C3A}</a:tableStyleId>
              </a:tblPr>
              <a:tblGrid>
                <a:gridCol w="2536825">
                  <a:extLst>
                    <a:ext uri="{9D8B030D-6E8A-4147-A177-3AD203B41FA5}">
                      <a16:colId xmlns:a16="http://schemas.microsoft.com/office/drawing/2014/main" val="20000"/>
                    </a:ext>
                  </a:extLst>
                </a:gridCol>
                <a:gridCol w="2536825">
                  <a:extLst>
                    <a:ext uri="{9D8B030D-6E8A-4147-A177-3AD203B41FA5}">
                      <a16:colId xmlns:a16="http://schemas.microsoft.com/office/drawing/2014/main" val="20001"/>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B -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18,72%</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14,69%</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 name="Rectángulo 2"/>
          <p:cNvSpPr/>
          <p:nvPr/>
        </p:nvSpPr>
        <p:spPr>
          <a:xfrm>
            <a:off x="3996572" y="3447254"/>
            <a:ext cx="3993401" cy="369332"/>
          </a:xfrm>
          <a:prstGeom prst="rect">
            <a:avLst/>
          </a:prstGeom>
        </p:spPr>
        <p:txBody>
          <a:bodyPr wrap="none">
            <a:spAutoFit/>
          </a:bodyPr>
          <a:lstStyle/>
          <a:p>
            <a:pPr algn="ctr"/>
            <a:r>
              <a:rPr lang="es-ES_tradnl" b="1" dirty="0">
                <a:solidFill>
                  <a:srgbClr val="D7A700"/>
                </a:solidFill>
                <a:latin typeface="Century Gothic" panose="020B0502020202020204" pitchFamily="34" charset="0"/>
              </a:rPr>
              <a:t>¿Es un buen proyecto? (C.O. 10%)</a:t>
            </a:r>
          </a:p>
        </p:txBody>
      </p:sp>
      <p:sp>
        <p:nvSpPr>
          <p:cNvPr id="5" name="Rectángulo 4">
            <a:extLst>
              <a:ext uri="{FF2B5EF4-FFF2-40B4-BE49-F238E27FC236}">
                <a16:creationId xmlns:a16="http://schemas.microsoft.com/office/drawing/2014/main" id="{B904F074-5FCA-665D-DBD8-9F16C8FB0397}"/>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6FDD453-CA90-B39D-FEDF-9F3A2C8404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753C61A-901F-C125-38ED-FD731095D27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Rectangle 47">
            <a:extLst>
              <a:ext uri="{FF2B5EF4-FFF2-40B4-BE49-F238E27FC236}">
                <a16:creationId xmlns:a16="http://schemas.microsoft.com/office/drawing/2014/main" id="{49F5EB8E-E551-5668-45A1-902360BEECA0}"/>
              </a:ext>
            </a:extLst>
          </p:cNvPr>
          <p:cNvSpPr>
            <a:spLocks/>
          </p:cNvSpPr>
          <p:nvPr/>
        </p:nvSpPr>
        <p:spPr bwMode="auto">
          <a:xfrm flipH="1">
            <a:off x="4358524" y="4997084"/>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cxnSp>
        <p:nvCxnSpPr>
          <p:cNvPr id="9" name="Straight Arrow Connector 49">
            <a:extLst>
              <a:ext uri="{FF2B5EF4-FFF2-40B4-BE49-F238E27FC236}">
                <a16:creationId xmlns:a16="http://schemas.microsoft.com/office/drawing/2014/main" id="{3471AB02-CFBD-F791-7CD8-DD06EF0E34A5}"/>
              </a:ext>
            </a:extLst>
          </p:cNvPr>
          <p:cNvCxnSpPr/>
          <p:nvPr/>
        </p:nvCxnSpPr>
        <p:spPr>
          <a:xfrm flipH="1" flipV="1">
            <a:off x="5062564" y="4761713"/>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50">
            <a:extLst>
              <a:ext uri="{FF2B5EF4-FFF2-40B4-BE49-F238E27FC236}">
                <a16:creationId xmlns:a16="http://schemas.microsoft.com/office/drawing/2014/main" id="{4ACDB197-2408-2EB6-EADA-D2405F436092}"/>
              </a:ext>
            </a:extLst>
          </p:cNvPr>
          <p:cNvSpPr>
            <a:spLocks/>
          </p:cNvSpPr>
          <p:nvPr/>
        </p:nvSpPr>
        <p:spPr bwMode="auto">
          <a:xfrm>
            <a:off x="4737546" y="4522535"/>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cxnSp>
        <p:nvCxnSpPr>
          <p:cNvPr id="11" name="Straight Arrow Connector 57">
            <a:extLst>
              <a:ext uri="{FF2B5EF4-FFF2-40B4-BE49-F238E27FC236}">
                <a16:creationId xmlns:a16="http://schemas.microsoft.com/office/drawing/2014/main" id="{D58469E8-DD04-492E-854D-9330DB722AD7}"/>
              </a:ext>
            </a:extLst>
          </p:cNvPr>
          <p:cNvCxnSpPr/>
          <p:nvPr/>
        </p:nvCxnSpPr>
        <p:spPr>
          <a:xfrm flipH="1" flipV="1">
            <a:off x="7450903" y="4761713"/>
            <a:ext cx="17164" cy="55929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58">
            <a:extLst>
              <a:ext uri="{FF2B5EF4-FFF2-40B4-BE49-F238E27FC236}">
                <a16:creationId xmlns:a16="http://schemas.microsoft.com/office/drawing/2014/main" id="{0F3044ED-6FD4-62EB-9489-57563849EAED}"/>
              </a:ext>
            </a:extLst>
          </p:cNvPr>
          <p:cNvSpPr>
            <a:spLocks/>
          </p:cNvSpPr>
          <p:nvPr/>
        </p:nvSpPr>
        <p:spPr bwMode="auto">
          <a:xfrm>
            <a:off x="5357516" y="453466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13" name="Rectangle 59">
            <a:extLst>
              <a:ext uri="{FF2B5EF4-FFF2-40B4-BE49-F238E27FC236}">
                <a16:creationId xmlns:a16="http://schemas.microsoft.com/office/drawing/2014/main" id="{DEB9B91C-1308-8FC4-07C9-69F2A96415DB}"/>
              </a:ext>
            </a:extLst>
          </p:cNvPr>
          <p:cNvSpPr>
            <a:spLocks/>
          </p:cNvSpPr>
          <p:nvPr/>
        </p:nvSpPr>
        <p:spPr bwMode="auto">
          <a:xfrm>
            <a:off x="5993273" y="451133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14" name="Rectangle 60">
            <a:extLst>
              <a:ext uri="{FF2B5EF4-FFF2-40B4-BE49-F238E27FC236}">
                <a16:creationId xmlns:a16="http://schemas.microsoft.com/office/drawing/2014/main" id="{10E843E9-B914-FA7C-C198-75EEF42E566F}"/>
              </a:ext>
            </a:extLst>
          </p:cNvPr>
          <p:cNvSpPr>
            <a:spLocks/>
          </p:cNvSpPr>
          <p:nvPr/>
        </p:nvSpPr>
        <p:spPr bwMode="auto">
          <a:xfrm>
            <a:off x="6601451" y="4500341"/>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15" name="Rectangle 61">
            <a:extLst>
              <a:ext uri="{FF2B5EF4-FFF2-40B4-BE49-F238E27FC236}">
                <a16:creationId xmlns:a16="http://schemas.microsoft.com/office/drawing/2014/main" id="{8B98EB60-18FC-E385-9A89-5BA466001084}"/>
              </a:ext>
            </a:extLst>
          </p:cNvPr>
          <p:cNvSpPr>
            <a:spLocks/>
          </p:cNvSpPr>
          <p:nvPr/>
        </p:nvSpPr>
        <p:spPr bwMode="auto">
          <a:xfrm>
            <a:off x="7112783" y="450861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cxnSp>
        <p:nvCxnSpPr>
          <p:cNvPr id="16" name="Straight Arrow Connector 92">
            <a:extLst>
              <a:ext uri="{FF2B5EF4-FFF2-40B4-BE49-F238E27FC236}">
                <a16:creationId xmlns:a16="http://schemas.microsoft.com/office/drawing/2014/main" id="{874D2D29-D266-FAD1-386D-A9AEAB462531}"/>
              </a:ext>
            </a:extLst>
          </p:cNvPr>
          <p:cNvCxnSpPr>
            <a:cxnSpLocks/>
          </p:cNvCxnSpPr>
          <p:nvPr/>
        </p:nvCxnSpPr>
        <p:spPr>
          <a:xfrm>
            <a:off x="4450900" y="5340303"/>
            <a:ext cx="0" cy="824235"/>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93">
            <a:extLst>
              <a:ext uri="{FF2B5EF4-FFF2-40B4-BE49-F238E27FC236}">
                <a16:creationId xmlns:a16="http://schemas.microsoft.com/office/drawing/2014/main" id="{F52178EC-D3A5-3090-0D38-66F9D9B46DF3}"/>
              </a:ext>
            </a:extLst>
          </p:cNvPr>
          <p:cNvCxnSpPr/>
          <p:nvPr/>
        </p:nvCxnSpPr>
        <p:spPr>
          <a:xfrm flipH="1" flipV="1">
            <a:off x="5695806" y="4761713"/>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4">
            <a:extLst>
              <a:ext uri="{FF2B5EF4-FFF2-40B4-BE49-F238E27FC236}">
                <a16:creationId xmlns:a16="http://schemas.microsoft.com/office/drawing/2014/main" id="{1B07F2F4-AF72-1BDF-4EF5-884567B334A9}"/>
              </a:ext>
            </a:extLst>
          </p:cNvPr>
          <p:cNvCxnSpPr/>
          <p:nvPr/>
        </p:nvCxnSpPr>
        <p:spPr>
          <a:xfrm flipH="1" flipV="1">
            <a:off x="6313446" y="4742418"/>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5">
            <a:extLst>
              <a:ext uri="{FF2B5EF4-FFF2-40B4-BE49-F238E27FC236}">
                <a16:creationId xmlns:a16="http://schemas.microsoft.com/office/drawing/2014/main" id="{74ABFAF8-B1EE-F4DE-C108-C43AC4433A1E}"/>
              </a:ext>
            </a:extLst>
          </p:cNvPr>
          <p:cNvCxnSpPr>
            <a:cxnSpLocks/>
          </p:cNvCxnSpPr>
          <p:nvPr/>
        </p:nvCxnSpPr>
        <p:spPr>
          <a:xfrm flipV="1">
            <a:off x="6903622" y="4761713"/>
            <a:ext cx="0" cy="559295"/>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96">
            <a:extLst>
              <a:ext uri="{FF2B5EF4-FFF2-40B4-BE49-F238E27FC236}">
                <a16:creationId xmlns:a16="http://schemas.microsoft.com/office/drawing/2014/main" id="{28A40246-094F-379A-896B-D8B5C9871BEB}"/>
              </a:ext>
            </a:extLst>
          </p:cNvPr>
          <p:cNvSpPr>
            <a:spLocks/>
          </p:cNvSpPr>
          <p:nvPr/>
        </p:nvSpPr>
        <p:spPr bwMode="auto">
          <a:xfrm>
            <a:off x="3501402" y="6149150"/>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40</a:t>
            </a:r>
          </a:p>
        </p:txBody>
      </p:sp>
      <p:sp>
        <p:nvSpPr>
          <p:cNvPr id="26" name="Rectangle 97">
            <a:extLst>
              <a:ext uri="{FF2B5EF4-FFF2-40B4-BE49-F238E27FC236}">
                <a16:creationId xmlns:a16="http://schemas.microsoft.com/office/drawing/2014/main" id="{B93A4192-71B1-65AE-8241-CCF0856227ED}"/>
              </a:ext>
            </a:extLst>
          </p:cNvPr>
          <p:cNvSpPr>
            <a:spLocks/>
          </p:cNvSpPr>
          <p:nvPr/>
        </p:nvSpPr>
        <p:spPr bwMode="auto">
          <a:xfrm>
            <a:off x="4894034" y="5383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27" name="Rectangle 98">
            <a:extLst>
              <a:ext uri="{FF2B5EF4-FFF2-40B4-BE49-F238E27FC236}">
                <a16:creationId xmlns:a16="http://schemas.microsoft.com/office/drawing/2014/main" id="{627B6C7E-8F9C-AF6F-F63C-0080D50E69CB}"/>
              </a:ext>
            </a:extLst>
          </p:cNvPr>
          <p:cNvSpPr>
            <a:spLocks/>
          </p:cNvSpPr>
          <p:nvPr/>
        </p:nvSpPr>
        <p:spPr bwMode="auto">
          <a:xfrm>
            <a:off x="5523322" y="5383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28" name="Rectangle 99">
            <a:extLst>
              <a:ext uri="{FF2B5EF4-FFF2-40B4-BE49-F238E27FC236}">
                <a16:creationId xmlns:a16="http://schemas.microsoft.com/office/drawing/2014/main" id="{A35161C0-8E1C-FE4F-D476-4A1414C264AA}"/>
              </a:ext>
            </a:extLst>
          </p:cNvPr>
          <p:cNvSpPr>
            <a:spLocks/>
          </p:cNvSpPr>
          <p:nvPr/>
        </p:nvSpPr>
        <p:spPr bwMode="auto">
          <a:xfrm>
            <a:off x="6162049" y="5383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29" name="Rectangle 100">
            <a:extLst>
              <a:ext uri="{FF2B5EF4-FFF2-40B4-BE49-F238E27FC236}">
                <a16:creationId xmlns:a16="http://schemas.microsoft.com/office/drawing/2014/main" id="{B9ACF884-207E-742D-364D-21ADC57A6EF1}"/>
              </a:ext>
            </a:extLst>
          </p:cNvPr>
          <p:cNvSpPr>
            <a:spLocks/>
          </p:cNvSpPr>
          <p:nvPr/>
        </p:nvSpPr>
        <p:spPr bwMode="auto">
          <a:xfrm>
            <a:off x="6800775" y="5383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30" name="Rectangle 101">
            <a:extLst>
              <a:ext uri="{FF2B5EF4-FFF2-40B4-BE49-F238E27FC236}">
                <a16:creationId xmlns:a16="http://schemas.microsoft.com/office/drawing/2014/main" id="{949A646E-CA2F-004C-76FD-7AFCD457EAFC}"/>
              </a:ext>
            </a:extLst>
          </p:cNvPr>
          <p:cNvSpPr>
            <a:spLocks/>
          </p:cNvSpPr>
          <p:nvPr/>
        </p:nvSpPr>
        <p:spPr bwMode="auto">
          <a:xfrm>
            <a:off x="7296455" y="536456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sp>
        <p:nvSpPr>
          <p:cNvPr id="31" name="TextBox 4">
            <a:extLst>
              <a:ext uri="{FF2B5EF4-FFF2-40B4-BE49-F238E27FC236}">
                <a16:creationId xmlns:a16="http://schemas.microsoft.com/office/drawing/2014/main" id="{C422C4ED-D144-204D-96EA-110E91F8F994}"/>
              </a:ext>
            </a:extLst>
          </p:cNvPr>
          <p:cNvSpPr txBox="1"/>
          <p:nvPr/>
        </p:nvSpPr>
        <p:spPr>
          <a:xfrm>
            <a:off x="5679527" y="4138544"/>
            <a:ext cx="630301" cy="400110"/>
          </a:xfrm>
          <a:prstGeom prst="rect">
            <a:avLst/>
          </a:prstGeom>
          <a:noFill/>
        </p:spPr>
        <p:txBody>
          <a:bodyPr wrap="none" rtlCol="0">
            <a:spAutoFit/>
          </a:bodyPr>
          <a:lstStyle/>
          <a:p>
            <a:r>
              <a:rPr lang="es-ES_tradnl" sz="2000" b="1" dirty="0">
                <a:solidFill>
                  <a:srgbClr val="C00000"/>
                </a:solidFill>
                <a:latin typeface="Century Gothic" panose="020B0502020202020204" pitchFamily="34" charset="0"/>
              </a:rPr>
              <a:t>B-A</a:t>
            </a:r>
          </a:p>
        </p:txBody>
      </p:sp>
      <p:cxnSp>
        <p:nvCxnSpPr>
          <p:cNvPr id="32" name="Straight Connector 45">
            <a:extLst>
              <a:ext uri="{FF2B5EF4-FFF2-40B4-BE49-F238E27FC236}">
                <a16:creationId xmlns:a16="http://schemas.microsoft.com/office/drawing/2014/main" id="{C7768F8D-E89E-CC18-556C-7C23836FE221}"/>
              </a:ext>
            </a:extLst>
          </p:cNvPr>
          <p:cNvCxnSpPr>
            <a:cxnSpLocks/>
          </p:cNvCxnSpPr>
          <p:nvPr/>
        </p:nvCxnSpPr>
        <p:spPr>
          <a:xfrm flipV="1">
            <a:off x="4444125" y="5321008"/>
            <a:ext cx="3033115" cy="192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Slide Number Placeholder 3">
            <a:extLst>
              <a:ext uri="{FF2B5EF4-FFF2-40B4-BE49-F238E27FC236}">
                <a16:creationId xmlns:a16="http://schemas.microsoft.com/office/drawing/2014/main" id="{C1FB68B9-1778-8220-25D4-442C0317BA01}"/>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28</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585501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sp>
        <p:nvSpPr>
          <p:cNvPr id="3" name="Content Placeholder 2"/>
          <p:cNvSpPr>
            <a:spLocks noGrp="1"/>
          </p:cNvSpPr>
          <p:nvPr>
            <p:ph idx="1"/>
          </p:nvPr>
        </p:nvSpPr>
        <p:spPr>
          <a:xfrm>
            <a:off x="474853" y="501831"/>
            <a:ext cx="10909423" cy="4166523"/>
          </a:xfrm>
        </p:spPr>
        <p:txBody>
          <a:bodyPr>
            <a:normAutofit/>
          </a:bodyPr>
          <a:lstStyle/>
          <a:p>
            <a:pPr marL="0" indent="0" algn="just">
              <a:buNone/>
            </a:pPr>
            <a:r>
              <a:rPr lang="es-ES_tradnl" sz="2000" b="1" dirty="0">
                <a:solidFill>
                  <a:srgbClr val="C00000"/>
                </a:solidFill>
                <a:latin typeface="Century Gothic" panose="020B0502020202020204" pitchFamily="34" charset="0"/>
              </a:rPr>
              <a:t>Ejemplo 3: </a:t>
            </a:r>
            <a:r>
              <a:rPr lang="es-ES_tradnl" sz="2000" dirty="0">
                <a:latin typeface="Century Gothic" panose="020B0502020202020204" pitchFamily="34" charset="0"/>
              </a:rPr>
              <a:t>Dentro de su portafolio de inversiones, usted cuenta con las siguientes alternativas. Su costo de oportunidad es 20%. Realice un ordenamiento de la más conveniente a la menos conveniente.</a:t>
            </a:r>
          </a:p>
        </p:txBody>
      </p:sp>
      <p:graphicFrame>
        <p:nvGraphicFramePr>
          <p:cNvPr id="5" name="Table 4"/>
          <p:cNvGraphicFramePr>
            <a:graphicFrameLocks noGrp="1"/>
          </p:cNvGraphicFramePr>
          <p:nvPr>
            <p:extLst>
              <p:ext uri="{D42A27DB-BD31-4B8C-83A1-F6EECF244321}">
                <p14:modId xmlns:p14="http://schemas.microsoft.com/office/powerpoint/2010/main" val="1960544296"/>
              </p:ext>
            </p:extLst>
          </p:nvPr>
        </p:nvGraphicFramePr>
        <p:xfrm>
          <a:off x="662546" y="3291425"/>
          <a:ext cx="10534036" cy="2476605"/>
        </p:xfrm>
        <a:graphic>
          <a:graphicData uri="http://schemas.openxmlformats.org/drawingml/2006/table">
            <a:tbl>
              <a:tblPr firstRow="1" bandRow="1">
                <a:tableStyleId>{5C22544A-7EE6-4342-B048-85BDC9FD1C3A}</a:tableStyleId>
              </a:tblPr>
              <a:tblGrid>
                <a:gridCol w="1066838">
                  <a:extLst>
                    <a:ext uri="{9D8B030D-6E8A-4147-A177-3AD203B41FA5}">
                      <a16:colId xmlns:a16="http://schemas.microsoft.com/office/drawing/2014/main" val="20000"/>
                    </a:ext>
                  </a:extLst>
                </a:gridCol>
                <a:gridCol w="2371391">
                  <a:extLst>
                    <a:ext uri="{9D8B030D-6E8A-4147-A177-3AD203B41FA5}">
                      <a16:colId xmlns:a16="http://schemas.microsoft.com/office/drawing/2014/main" val="20001"/>
                    </a:ext>
                  </a:extLst>
                </a:gridCol>
                <a:gridCol w="2402188">
                  <a:extLst>
                    <a:ext uri="{9D8B030D-6E8A-4147-A177-3AD203B41FA5}">
                      <a16:colId xmlns:a16="http://schemas.microsoft.com/office/drawing/2014/main" val="20002"/>
                    </a:ext>
                  </a:extLst>
                </a:gridCol>
                <a:gridCol w="2448384">
                  <a:extLst>
                    <a:ext uri="{9D8B030D-6E8A-4147-A177-3AD203B41FA5}">
                      <a16:colId xmlns:a16="http://schemas.microsoft.com/office/drawing/2014/main" val="20003"/>
                    </a:ext>
                  </a:extLst>
                </a:gridCol>
                <a:gridCol w="2245235">
                  <a:extLst>
                    <a:ext uri="{9D8B030D-6E8A-4147-A177-3AD203B41FA5}">
                      <a16:colId xmlns:a16="http://schemas.microsoft.com/office/drawing/2014/main" val="20004"/>
                    </a:ext>
                  </a:extLst>
                </a:gridCol>
              </a:tblGrid>
              <a:tr h="513221">
                <a:tc>
                  <a:txBody>
                    <a:bodyPr/>
                    <a:lstStyle/>
                    <a:p>
                      <a:pPr algn="ctr"/>
                      <a:r>
                        <a:rPr lang="es-ES_tradnl" sz="1800" noProof="0" dirty="0">
                          <a:latin typeface="Century Gothic" panose="020B0502020202020204" pitchFamily="34" charset="0"/>
                        </a:rPr>
                        <a:t>T</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Finca Raíz</a:t>
                      </a:r>
                    </a:p>
                    <a:p>
                      <a:pPr algn="ctr"/>
                      <a:r>
                        <a:rPr lang="es-ES_tradnl" sz="1800" noProof="0" dirty="0">
                          <a:latin typeface="Century Gothic" panose="020B0502020202020204" pitchFamily="34" charset="0"/>
                        </a:rPr>
                        <a:t>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Acciones </a:t>
                      </a:r>
                    </a:p>
                    <a:p>
                      <a:pPr algn="ctr"/>
                      <a:r>
                        <a:rPr lang="es-ES_tradnl" sz="1800" noProof="0" dirty="0">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Índice Mercado </a:t>
                      </a:r>
                    </a:p>
                    <a:p>
                      <a:pPr algn="ctr"/>
                      <a:r>
                        <a:rPr lang="es-ES_tradnl" sz="1800" noProof="0" dirty="0">
                          <a:latin typeface="Century Gothic" panose="020B0502020202020204" pitchFamily="34" charset="0"/>
                        </a:rPr>
                        <a:t>(C)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Pensión Voluntaria </a:t>
                      </a:r>
                    </a:p>
                    <a:p>
                      <a:pPr algn="ctr"/>
                      <a:r>
                        <a:rPr lang="es-ES_tradnl" sz="1800" noProof="0" dirty="0">
                          <a:latin typeface="Century Gothic" panose="020B0502020202020204" pitchFamily="34" charset="0"/>
                        </a:rPr>
                        <a:t>(D)</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67305">
                <a:tc>
                  <a:txBody>
                    <a:bodyPr/>
                    <a:lstStyle/>
                    <a:p>
                      <a:pPr algn="ctr"/>
                      <a:r>
                        <a:rPr lang="es-ES_tradnl" sz="1800" noProof="0" dirty="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67305">
                <a:tc>
                  <a:txBody>
                    <a:bodyPr/>
                    <a:lstStyle/>
                    <a:p>
                      <a:pPr algn="ctr"/>
                      <a:r>
                        <a:rPr lang="es-ES_tradnl" sz="1800" noProof="0" dirty="0">
                          <a:solidFill>
                            <a:schemeClr val="accent1"/>
                          </a:solidFill>
                          <a:latin typeface="Century Gothic" panose="020B0502020202020204" pitchFamily="34" charset="0"/>
                        </a:rPr>
                        <a:t>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40.102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78.726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482.493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7305">
                <a:tc>
                  <a:txBody>
                    <a:bodyPr/>
                    <a:lstStyle/>
                    <a:p>
                      <a:pPr algn="ctr"/>
                      <a:r>
                        <a:rPr lang="es-ES_tradnl" sz="1800" noProof="0" dirty="0">
                          <a:solidFill>
                            <a:schemeClr val="accent1"/>
                          </a:solidFill>
                          <a:latin typeface="Century Gothic" panose="020B0502020202020204" pitchFamily="34" charset="0"/>
                        </a:rPr>
                        <a:t>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40.102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78.726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67305">
                <a:tc>
                  <a:txBody>
                    <a:bodyPr/>
                    <a:lstStyle/>
                    <a:p>
                      <a:pPr algn="ctr"/>
                      <a:r>
                        <a:rPr lang="es-ES_tradnl" sz="1800" noProof="0" dirty="0">
                          <a:solidFill>
                            <a:schemeClr val="accent1"/>
                          </a:solidFill>
                          <a:latin typeface="Century Gothic" panose="020B0502020202020204" pitchFamily="34" charset="0"/>
                        </a:rPr>
                        <a:t>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40.102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78.726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7305">
                <a:tc>
                  <a:txBody>
                    <a:bodyPr/>
                    <a:lstStyle/>
                    <a:p>
                      <a:pPr algn="ctr"/>
                      <a:r>
                        <a:rPr lang="es-ES_tradnl" sz="1800" noProof="0" dirty="0">
                          <a:solidFill>
                            <a:schemeClr val="accent1"/>
                          </a:solidFill>
                          <a:latin typeface="Century Gothic" panose="020B0502020202020204" pitchFamily="34" charset="0"/>
                        </a:rPr>
                        <a:t>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40.102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78.726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643.076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6" name="Rectángulo 5">
            <a:extLst>
              <a:ext uri="{FF2B5EF4-FFF2-40B4-BE49-F238E27FC236}">
                <a16:creationId xmlns:a16="http://schemas.microsoft.com/office/drawing/2014/main" id="{4F8F343C-D0EA-CED0-1966-3E11E2E1534E}"/>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440755C3-FC44-89C1-35F7-859F06330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C5C0F41-4F48-0FEB-4190-2390D18B007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ECBCF040-0DFB-C67B-7733-B9E668B3CF81}"/>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29</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899564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85901526"/>
              </p:ext>
            </p:extLst>
          </p:nvPr>
        </p:nvGraphicFramePr>
        <p:xfrm>
          <a:off x="890229" y="3372761"/>
          <a:ext cx="10194325" cy="2494280"/>
        </p:xfrm>
        <a:graphic>
          <a:graphicData uri="http://schemas.openxmlformats.org/drawingml/2006/table">
            <a:tbl>
              <a:tblPr firstRow="1" bandRow="1">
                <a:tableStyleId>{5C22544A-7EE6-4342-B048-85BDC9FD1C3A}</a:tableStyleId>
              </a:tblPr>
              <a:tblGrid>
                <a:gridCol w="2038865">
                  <a:extLst>
                    <a:ext uri="{9D8B030D-6E8A-4147-A177-3AD203B41FA5}">
                      <a16:colId xmlns:a16="http://schemas.microsoft.com/office/drawing/2014/main" val="20000"/>
                    </a:ext>
                  </a:extLst>
                </a:gridCol>
                <a:gridCol w="2038865">
                  <a:extLst>
                    <a:ext uri="{9D8B030D-6E8A-4147-A177-3AD203B41FA5}">
                      <a16:colId xmlns:a16="http://schemas.microsoft.com/office/drawing/2014/main" val="20001"/>
                    </a:ext>
                  </a:extLst>
                </a:gridCol>
                <a:gridCol w="2038865">
                  <a:extLst>
                    <a:ext uri="{9D8B030D-6E8A-4147-A177-3AD203B41FA5}">
                      <a16:colId xmlns:a16="http://schemas.microsoft.com/office/drawing/2014/main" val="20002"/>
                    </a:ext>
                  </a:extLst>
                </a:gridCol>
                <a:gridCol w="2038865">
                  <a:extLst>
                    <a:ext uri="{9D8B030D-6E8A-4147-A177-3AD203B41FA5}">
                      <a16:colId xmlns:a16="http://schemas.microsoft.com/office/drawing/2014/main" val="20003"/>
                    </a:ext>
                  </a:extLst>
                </a:gridCol>
                <a:gridCol w="2038865">
                  <a:extLst>
                    <a:ext uri="{9D8B030D-6E8A-4147-A177-3AD203B41FA5}">
                      <a16:colId xmlns:a16="http://schemas.microsoft.com/office/drawing/2014/main" val="20004"/>
                    </a:ext>
                  </a:extLst>
                </a:gridCol>
              </a:tblGrid>
              <a:tr h="370840">
                <a:tc>
                  <a:txBody>
                    <a:bodyPr/>
                    <a:lstStyle/>
                    <a:p>
                      <a:pPr algn="ctr"/>
                      <a:r>
                        <a:rPr lang="es-ES_tradnl" sz="1800" noProof="0" dirty="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Finca Raíz </a:t>
                      </a:r>
                    </a:p>
                    <a:p>
                      <a:pPr algn="ctr"/>
                      <a:r>
                        <a:rPr lang="es-ES_tradnl" sz="1800" noProof="0" dirty="0">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Acciones </a:t>
                      </a:r>
                    </a:p>
                    <a:p>
                      <a:pPr algn="ctr"/>
                      <a:r>
                        <a:rPr lang="es-ES_tradnl" sz="1800" noProof="0" dirty="0">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Índice Mercado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Pensión Voluntaria (D)</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091132533"/>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100132639"/>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B39D223E-4697-2B3A-4590-5F4758D26022}"/>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87B24BB-E2B7-084C-A228-68211B8A1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5E1EC10-3AE9-4CD5-DD89-B7FD61EB78B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5" name="Title 1">
            <a:extLst>
              <a:ext uri="{FF2B5EF4-FFF2-40B4-BE49-F238E27FC236}">
                <a16:creationId xmlns:a16="http://schemas.microsoft.com/office/drawing/2014/main" id="{E69EA3D7-BB95-A7F4-532F-2B6144F8B9C8}"/>
              </a:ext>
            </a:extLst>
          </p:cNvPr>
          <p:cNvSpPr>
            <a:spLocks noGrp="1"/>
          </p:cNvSpPr>
          <p:nvPr>
            <p:ph type="title"/>
          </p:nvPr>
        </p:nvSpPr>
        <p:spPr>
          <a:xfrm>
            <a:off x="581192" y="702156"/>
            <a:ext cx="11029616" cy="1013800"/>
          </a:xfrm>
        </p:spPr>
        <p:txBody>
          <a:bodyPr>
            <a:normAutofit/>
          </a:bodyPr>
          <a:lstStyle/>
          <a:p>
            <a:r>
              <a:rPr lang="es-ES_tradnl" sz="3200" dirty="0">
                <a:latin typeface="Century Gothic" panose="020B0502020202020204" pitchFamily="34" charset="0"/>
              </a:rPr>
              <a:t>Proyectos Mutuamente Excluyentes – CASO 2</a:t>
            </a:r>
          </a:p>
        </p:txBody>
      </p:sp>
      <p:sp>
        <p:nvSpPr>
          <p:cNvPr id="16" name="Content Placeholder 2">
            <a:extLst>
              <a:ext uri="{FF2B5EF4-FFF2-40B4-BE49-F238E27FC236}">
                <a16:creationId xmlns:a16="http://schemas.microsoft.com/office/drawing/2014/main" id="{3693FE16-B798-56FE-E33A-2B80F333391F}"/>
              </a:ext>
            </a:extLst>
          </p:cNvPr>
          <p:cNvSpPr>
            <a:spLocks noGrp="1"/>
          </p:cNvSpPr>
          <p:nvPr>
            <p:ph idx="1"/>
          </p:nvPr>
        </p:nvSpPr>
        <p:spPr>
          <a:xfrm>
            <a:off x="474853" y="501831"/>
            <a:ext cx="10909423" cy="4166523"/>
          </a:xfrm>
        </p:spPr>
        <p:txBody>
          <a:bodyPr>
            <a:normAutofit/>
          </a:bodyPr>
          <a:lstStyle/>
          <a:p>
            <a:pPr marL="0" indent="0" algn="just">
              <a:buNone/>
            </a:pPr>
            <a:r>
              <a:rPr lang="es-ES_tradnl" sz="2000" b="1" dirty="0">
                <a:solidFill>
                  <a:srgbClr val="C00000"/>
                </a:solidFill>
                <a:latin typeface="Century Gothic" panose="020B0502020202020204" pitchFamily="34" charset="0"/>
              </a:rPr>
              <a:t>Ejemplo 3: </a:t>
            </a:r>
            <a:r>
              <a:rPr lang="es-ES_tradnl" sz="2000" dirty="0">
                <a:latin typeface="Century Gothic" panose="020B0502020202020204" pitchFamily="34" charset="0"/>
              </a:rPr>
              <a:t>Dentro de su portafolio de inversiones, usted cuenta con las siguientes alternativas. Su costo de oportunidad es 20%. Realice un ordenamiento de la más conveniente a la menos conveniente.</a:t>
            </a:r>
          </a:p>
        </p:txBody>
      </p:sp>
      <p:sp>
        <p:nvSpPr>
          <p:cNvPr id="2" name="Slide Number Placeholder 3">
            <a:extLst>
              <a:ext uri="{FF2B5EF4-FFF2-40B4-BE49-F238E27FC236}">
                <a16:creationId xmlns:a16="http://schemas.microsoft.com/office/drawing/2014/main" id="{A52DD642-1EA3-CF10-BEC8-0A026B74F616}"/>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30</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700051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A588E-AE70-84C3-CAAE-16EF11F74DEF}"/>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3C2D16E-45F1-36DD-DBB2-48164620B7F1}"/>
              </a:ext>
            </a:extLst>
          </p:cNvPr>
          <p:cNvGraphicFramePr>
            <a:graphicFrameLocks noGrp="1"/>
          </p:cNvGraphicFramePr>
          <p:nvPr/>
        </p:nvGraphicFramePr>
        <p:xfrm>
          <a:off x="890229" y="3372761"/>
          <a:ext cx="10194325" cy="2494280"/>
        </p:xfrm>
        <a:graphic>
          <a:graphicData uri="http://schemas.openxmlformats.org/drawingml/2006/table">
            <a:tbl>
              <a:tblPr firstRow="1" bandRow="1">
                <a:tableStyleId>{5C22544A-7EE6-4342-B048-85BDC9FD1C3A}</a:tableStyleId>
              </a:tblPr>
              <a:tblGrid>
                <a:gridCol w="2038865">
                  <a:extLst>
                    <a:ext uri="{9D8B030D-6E8A-4147-A177-3AD203B41FA5}">
                      <a16:colId xmlns:a16="http://schemas.microsoft.com/office/drawing/2014/main" val="20000"/>
                    </a:ext>
                  </a:extLst>
                </a:gridCol>
                <a:gridCol w="2038865">
                  <a:extLst>
                    <a:ext uri="{9D8B030D-6E8A-4147-A177-3AD203B41FA5}">
                      <a16:colId xmlns:a16="http://schemas.microsoft.com/office/drawing/2014/main" val="20001"/>
                    </a:ext>
                  </a:extLst>
                </a:gridCol>
                <a:gridCol w="2038865">
                  <a:extLst>
                    <a:ext uri="{9D8B030D-6E8A-4147-A177-3AD203B41FA5}">
                      <a16:colId xmlns:a16="http://schemas.microsoft.com/office/drawing/2014/main" val="20002"/>
                    </a:ext>
                  </a:extLst>
                </a:gridCol>
                <a:gridCol w="2038865">
                  <a:extLst>
                    <a:ext uri="{9D8B030D-6E8A-4147-A177-3AD203B41FA5}">
                      <a16:colId xmlns:a16="http://schemas.microsoft.com/office/drawing/2014/main" val="20003"/>
                    </a:ext>
                  </a:extLst>
                </a:gridCol>
                <a:gridCol w="2038865">
                  <a:extLst>
                    <a:ext uri="{9D8B030D-6E8A-4147-A177-3AD203B41FA5}">
                      <a16:colId xmlns:a16="http://schemas.microsoft.com/office/drawing/2014/main" val="20004"/>
                    </a:ext>
                  </a:extLst>
                </a:gridCol>
              </a:tblGrid>
              <a:tr h="370840">
                <a:tc>
                  <a:txBody>
                    <a:bodyPr/>
                    <a:lstStyle/>
                    <a:p>
                      <a:pPr algn="ctr"/>
                      <a:r>
                        <a:rPr lang="es-ES_tradnl" sz="1800" noProof="0" dirty="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Finca Raíz </a:t>
                      </a:r>
                    </a:p>
                    <a:p>
                      <a:pPr algn="ctr"/>
                      <a:r>
                        <a:rPr lang="es-ES_tradnl" sz="1800" noProof="0" dirty="0">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Acciones </a:t>
                      </a:r>
                    </a:p>
                    <a:p>
                      <a:pPr algn="ctr"/>
                      <a:r>
                        <a:rPr lang="es-ES_tradnl" sz="1800" noProof="0" dirty="0">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Índice Mercado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Pensión Voluntaria (D)</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3.813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3.801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10.125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6.900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1.473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1.468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3.911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2.665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091132533"/>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22,00%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22,14%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21,13%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20,57%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20,51%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100132639"/>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r>
                        <a:rPr lang="es-ES_tradnl" sz="1800" noProof="0" dirty="0">
                          <a:solidFill>
                            <a:schemeClr val="accent1"/>
                          </a:solidFill>
                          <a:latin typeface="Century Gothic" panose="020B0502020202020204" pitchFamily="34" charset="0"/>
                        </a:rPr>
                        <a:t>1,038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r>
                        <a:rPr lang="es-ES_tradnl" sz="1800" noProof="0" dirty="0">
                          <a:solidFill>
                            <a:schemeClr val="accent1"/>
                          </a:solidFill>
                          <a:latin typeface="Century Gothic" panose="020B0502020202020204" pitchFamily="34" charset="0"/>
                        </a:rPr>
                        <a:t>1,019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r>
                        <a:rPr lang="es-ES_tradnl" sz="1800" noProof="0" dirty="0">
                          <a:solidFill>
                            <a:schemeClr val="accent1"/>
                          </a:solidFill>
                          <a:latin typeface="Century Gothic" panose="020B0502020202020204" pitchFamily="34" charset="0"/>
                        </a:rPr>
                        <a:t>1,034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r>
                        <a:rPr lang="es-ES_tradnl" sz="1800" noProof="0" dirty="0">
                          <a:solidFill>
                            <a:schemeClr val="accent1"/>
                          </a:solidFill>
                          <a:latin typeface="Century Gothic" panose="020B0502020202020204" pitchFamily="34" charset="0"/>
                        </a:rPr>
                        <a:t>1,017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24FEFAA2-0A2F-A429-A1AA-B26688930475}"/>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4BA2161-BA6A-55E0-981C-F5A0EC71E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5BFDA64-98D5-7C89-EB96-847BFB03FE6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5" name="Title 1">
            <a:extLst>
              <a:ext uri="{FF2B5EF4-FFF2-40B4-BE49-F238E27FC236}">
                <a16:creationId xmlns:a16="http://schemas.microsoft.com/office/drawing/2014/main" id="{20D34100-C0AB-695E-D1A9-44DFCBE1E518}"/>
              </a:ext>
            </a:extLst>
          </p:cNvPr>
          <p:cNvSpPr>
            <a:spLocks noGrp="1"/>
          </p:cNvSpPr>
          <p:nvPr>
            <p:ph type="title"/>
          </p:nvPr>
        </p:nvSpPr>
        <p:spPr>
          <a:xfrm>
            <a:off x="581192" y="702156"/>
            <a:ext cx="11029616" cy="1013800"/>
          </a:xfrm>
        </p:spPr>
        <p:txBody>
          <a:bodyPr>
            <a:normAutofit/>
          </a:bodyPr>
          <a:lstStyle/>
          <a:p>
            <a:r>
              <a:rPr lang="es-ES_tradnl" sz="3200" dirty="0">
                <a:latin typeface="Century Gothic" panose="020B0502020202020204" pitchFamily="34" charset="0"/>
              </a:rPr>
              <a:t>Proyectos Mutuamente Excluyentes – CASO 2</a:t>
            </a:r>
          </a:p>
        </p:txBody>
      </p:sp>
      <p:sp>
        <p:nvSpPr>
          <p:cNvPr id="16" name="Content Placeholder 2">
            <a:extLst>
              <a:ext uri="{FF2B5EF4-FFF2-40B4-BE49-F238E27FC236}">
                <a16:creationId xmlns:a16="http://schemas.microsoft.com/office/drawing/2014/main" id="{E4F22503-3995-8BD6-3330-3430DF9214F0}"/>
              </a:ext>
            </a:extLst>
          </p:cNvPr>
          <p:cNvSpPr>
            <a:spLocks noGrp="1"/>
          </p:cNvSpPr>
          <p:nvPr>
            <p:ph idx="1"/>
          </p:nvPr>
        </p:nvSpPr>
        <p:spPr>
          <a:xfrm>
            <a:off x="474853" y="501831"/>
            <a:ext cx="10909423" cy="4166523"/>
          </a:xfrm>
        </p:spPr>
        <p:txBody>
          <a:bodyPr>
            <a:normAutofit/>
          </a:bodyPr>
          <a:lstStyle/>
          <a:p>
            <a:pPr marL="0" indent="0" algn="just">
              <a:buNone/>
            </a:pPr>
            <a:r>
              <a:rPr lang="es-ES_tradnl" sz="2000" b="1" dirty="0">
                <a:solidFill>
                  <a:srgbClr val="C00000"/>
                </a:solidFill>
                <a:latin typeface="Century Gothic" panose="020B0502020202020204" pitchFamily="34" charset="0"/>
              </a:rPr>
              <a:t>Ejemplo 3: </a:t>
            </a:r>
            <a:r>
              <a:rPr lang="es-ES_tradnl" sz="2000" dirty="0">
                <a:latin typeface="Century Gothic" panose="020B0502020202020204" pitchFamily="34" charset="0"/>
              </a:rPr>
              <a:t>Dentro de su portafolio de inversiones, usted cuenta con las siguientes alternativas. Su costo de oportunidad es 20%. Realice un ordenamiento de la más conveniente a la menos conveniente.</a:t>
            </a:r>
          </a:p>
        </p:txBody>
      </p:sp>
      <p:sp>
        <p:nvSpPr>
          <p:cNvPr id="2" name="Slide Number Placeholder 3">
            <a:extLst>
              <a:ext uri="{FF2B5EF4-FFF2-40B4-BE49-F238E27FC236}">
                <a16:creationId xmlns:a16="http://schemas.microsoft.com/office/drawing/2014/main" id="{BFA0F6BF-902C-16C5-56E6-14FCDA235EDC}"/>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31</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30109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sp>
        <p:nvSpPr>
          <p:cNvPr id="3" name="CuadroTexto 2"/>
          <p:cNvSpPr txBox="1"/>
          <p:nvPr/>
        </p:nvSpPr>
        <p:spPr>
          <a:xfrm>
            <a:off x="4445000" y="2374900"/>
            <a:ext cx="3136900" cy="400110"/>
          </a:xfrm>
          <a:prstGeom prst="rect">
            <a:avLst/>
          </a:prstGeom>
          <a:noFill/>
        </p:spPr>
        <p:txBody>
          <a:bodyPr wrap="square" rtlCol="0">
            <a:spAutoFit/>
          </a:bodyPr>
          <a:lstStyle/>
          <a:p>
            <a:r>
              <a:rPr lang="es-CO" sz="2000" b="1" dirty="0">
                <a:solidFill>
                  <a:srgbClr val="C00000"/>
                </a:solidFill>
                <a:latin typeface="Century Gothic" panose="020B0502020202020204" pitchFamily="34" charset="0"/>
              </a:rPr>
              <a:t>C &gt; D</a:t>
            </a:r>
          </a:p>
        </p:txBody>
      </p:sp>
      <p:sp>
        <p:nvSpPr>
          <p:cNvPr id="6" name="Rectángulo 5">
            <a:extLst>
              <a:ext uri="{FF2B5EF4-FFF2-40B4-BE49-F238E27FC236}">
                <a16:creationId xmlns:a16="http://schemas.microsoft.com/office/drawing/2014/main" id="{04F070F4-1CB3-2EF3-5930-36A40E137271}"/>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385CCA9-C2BB-AAD2-0A97-45269A3D0C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467CE2E-A06C-B45F-6497-D416F995B74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4" name="CuadroTexto 13">
            <a:extLst>
              <a:ext uri="{FF2B5EF4-FFF2-40B4-BE49-F238E27FC236}">
                <a16:creationId xmlns:a16="http://schemas.microsoft.com/office/drawing/2014/main" id="{A4E2A320-D333-BA5E-82C1-EA5FB832D539}"/>
              </a:ext>
            </a:extLst>
          </p:cNvPr>
          <p:cNvSpPr txBox="1"/>
          <p:nvPr/>
        </p:nvSpPr>
        <p:spPr>
          <a:xfrm>
            <a:off x="4445000" y="2750676"/>
            <a:ext cx="3136900" cy="400110"/>
          </a:xfrm>
          <a:prstGeom prst="rect">
            <a:avLst/>
          </a:prstGeom>
          <a:noFill/>
        </p:spPr>
        <p:txBody>
          <a:bodyPr wrap="square" rtlCol="0">
            <a:spAutoFit/>
          </a:bodyPr>
          <a:lstStyle/>
          <a:p>
            <a:r>
              <a:rPr lang="es-CO" sz="2000" b="1" dirty="0">
                <a:solidFill>
                  <a:srgbClr val="C00000"/>
                </a:solidFill>
                <a:latin typeface="Century Gothic" panose="020B0502020202020204" pitchFamily="34" charset="0"/>
              </a:rPr>
              <a:t>C &gt; B</a:t>
            </a:r>
          </a:p>
        </p:txBody>
      </p:sp>
      <p:sp>
        <p:nvSpPr>
          <p:cNvPr id="16" name="CuadroTexto 15">
            <a:extLst>
              <a:ext uri="{FF2B5EF4-FFF2-40B4-BE49-F238E27FC236}">
                <a16:creationId xmlns:a16="http://schemas.microsoft.com/office/drawing/2014/main" id="{B5027FFC-6212-6072-DE77-53304728713D}"/>
              </a:ext>
            </a:extLst>
          </p:cNvPr>
          <p:cNvSpPr txBox="1"/>
          <p:nvPr/>
        </p:nvSpPr>
        <p:spPr>
          <a:xfrm>
            <a:off x="4445000" y="3120008"/>
            <a:ext cx="3136900" cy="400110"/>
          </a:xfrm>
          <a:prstGeom prst="rect">
            <a:avLst/>
          </a:prstGeom>
          <a:noFill/>
        </p:spPr>
        <p:txBody>
          <a:bodyPr wrap="square" rtlCol="0">
            <a:spAutoFit/>
          </a:bodyPr>
          <a:lstStyle/>
          <a:p>
            <a:r>
              <a:rPr lang="es-CO" sz="2000" b="1" dirty="0">
                <a:solidFill>
                  <a:srgbClr val="C00000"/>
                </a:solidFill>
                <a:latin typeface="Century Gothic" panose="020B0502020202020204" pitchFamily="34" charset="0"/>
              </a:rPr>
              <a:t>C &gt; A</a:t>
            </a:r>
          </a:p>
        </p:txBody>
      </p:sp>
      <p:sp>
        <p:nvSpPr>
          <p:cNvPr id="18" name="CuadroTexto 17">
            <a:extLst>
              <a:ext uri="{FF2B5EF4-FFF2-40B4-BE49-F238E27FC236}">
                <a16:creationId xmlns:a16="http://schemas.microsoft.com/office/drawing/2014/main" id="{20094CF1-2605-7FA4-629C-2B4F28FA45CB}"/>
              </a:ext>
            </a:extLst>
          </p:cNvPr>
          <p:cNvSpPr txBox="1"/>
          <p:nvPr/>
        </p:nvSpPr>
        <p:spPr>
          <a:xfrm>
            <a:off x="7037641" y="2384440"/>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D &gt; A</a:t>
            </a:r>
          </a:p>
        </p:txBody>
      </p:sp>
      <p:graphicFrame>
        <p:nvGraphicFramePr>
          <p:cNvPr id="10" name="Table 4">
            <a:extLst>
              <a:ext uri="{FF2B5EF4-FFF2-40B4-BE49-F238E27FC236}">
                <a16:creationId xmlns:a16="http://schemas.microsoft.com/office/drawing/2014/main" id="{AD7AC79E-EF11-F9FD-E436-9315A76549C9}"/>
              </a:ext>
            </a:extLst>
          </p:cNvPr>
          <p:cNvGraphicFramePr>
            <a:graphicFrameLocks noGrp="1"/>
          </p:cNvGraphicFramePr>
          <p:nvPr>
            <p:extLst>
              <p:ext uri="{D42A27DB-BD31-4B8C-83A1-F6EECF244321}">
                <p14:modId xmlns:p14="http://schemas.microsoft.com/office/powerpoint/2010/main" val="2582212327"/>
              </p:ext>
            </p:extLst>
          </p:nvPr>
        </p:nvGraphicFramePr>
        <p:xfrm>
          <a:off x="1876982" y="3645985"/>
          <a:ext cx="8272936"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0000"/>
                    </a:ext>
                  </a:extLst>
                </a:gridCol>
                <a:gridCol w="1181848">
                  <a:extLst>
                    <a:ext uri="{9D8B030D-6E8A-4147-A177-3AD203B41FA5}">
                      <a16:colId xmlns:a16="http://schemas.microsoft.com/office/drawing/2014/main" val="20001"/>
                    </a:ext>
                  </a:extLst>
                </a:gridCol>
                <a:gridCol w="1181848">
                  <a:extLst>
                    <a:ext uri="{9D8B030D-6E8A-4147-A177-3AD203B41FA5}">
                      <a16:colId xmlns:a16="http://schemas.microsoft.com/office/drawing/2014/main" val="20002"/>
                    </a:ext>
                  </a:extLst>
                </a:gridCol>
                <a:gridCol w="1181848">
                  <a:extLst>
                    <a:ext uri="{9D8B030D-6E8A-4147-A177-3AD203B41FA5}">
                      <a16:colId xmlns:a16="http://schemas.microsoft.com/office/drawing/2014/main" val="20003"/>
                    </a:ext>
                  </a:extLst>
                </a:gridCol>
                <a:gridCol w="1181848">
                  <a:extLst>
                    <a:ext uri="{9D8B030D-6E8A-4147-A177-3AD203B41FA5}">
                      <a16:colId xmlns:a16="http://schemas.microsoft.com/office/drawing/2014/main" val="20004"/>
                    </a:ext>
                  </a:extLst>
                </a:gridCol>
                <a:gridCol w="1181848">
                  <a:extLst>
                    <a:ext uri="{9D8B030D-6E8A-4147-A177-3AD203B41FA5}">
                      <a16:colId xmlns:a16="http://schemas.microsoft.com/office/drawing/2014/main" val="20005"/>
                    </a:ext>
                  </a:extLst>
                </a:gridCol>
                <a:gridCol w="1181848">
                  <a:extLst>
                    <a:ext uri="{9D8B030D-6E8A-4147-A177-3AD203B41FA5}">
                      <a16:colId xmlns:a16="http://schemas.microsoft.com/office/drawing/2014/main" val="20006"/>
                    </a:ext>
                  </a:extLst>
                </a:gridCol>
              </a:tblGrid>
              <a:tr h="370840">
                <a:tc>
                  <a:txBody>
                    <a:bodyPr/>
                    <a:lstStyle/>
                    <a:p>
                      <a:pPr algn="ctr"/>
                      <a:r>
                        <a:rPr lang="es-ES_tradnl" sz="1800" noProof="0" dirty="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dirty="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dirty="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dirty="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dirty="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dirty="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-3.225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-1.246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885964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rgbClr val="C00000"/>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rgbClr val="C00000"/>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68228432"/>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6362838"/>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0,992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933760327"/>
                  </a:ext>
                </a:extLst>
              </a:tr>
            </a:tbl>
          </a:graphicData>
        </a:graphic>
      </p:graphicFrame>
      <p:graphicFrame>
        <p:nvGraphicFramePr>
          <p:cNvPr id="11" name="Tabla 10">
            <a:extLst>
              <a:ext uri="{FF2B5EF4-FFF2-40B4-BE49-F238E27FC236}">
                <a16:creationId xmlns:a16="http://schemas.microsoft.com/office/drawing/2014/main" id="{A2C2C42E-A2A5-E741-D221-F610B69077D0}"/>
              </a:ext>
            </a:extLst>
          </p:cNvPr>
          <p:cNvGraphicFramePr>
            <a:graphicFrameLocks noGrp="1"/>
          </p:cNvGraphicFramePr>
          <p:nvPr>
            <p:extLst>
              <p:ext uri="{D42A27DB-BD31-4B8C-83A1-F6EECF244321}">
                <p14:modId xmlns:p14="http://schemas.microsoft.com/office/powerpoint/2010/main" val="273058385"/>
              </p:ext>
            </p:extLst>
          </p:nvPr>
        </p:nvGraphicFramePr>
        <p:xfrm>
          <a:off x="4244602" y="364598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1779235413"/>
                    </a:ext>
                  </a:extLst>
                </a:gridCol>
              </a:tblGrid>
              <a:tr h="370840">
                <a:tc>
                  <a:txBody>
                    <a:bodyPr/>
                    <a:lstStyle/>
                    <a:p>
                      <a:pPr algn="ctr"/>
                      <a:r>
                        <a:rPr lang="es-ES_tradnl" sz="1800" noProof="0" dirty="0">
                          <a:latin typeface="Century Gothic" panose="020B0502020202020204" pitchFamily="34" charset="0"/>
                        </a:rPr>
                        <a:t>C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845260837"/>
                  </a:ext>
                </a:extLst>
              </a:tr>
              <a:tr h="370840">
                <a:tc>
                  <a:txBody>
                    <a:bodyPr/>
                    <a:lstStyle/>
                    <a:p>
                      <a:pPr algn="ctr"/>
                      <a:r>
                        <a:rPr lang="es-ES_tradnl" sz="1800" noProof="0" dirty="0">
                          <a:solidFill>
                            <a:schemeClr val="accent1"/>
                          </a:solidFill>
                          <a:latin typeface="Century Gothic" panose="020B0502020202020204" pitchFamily="34" charset="0"/>
                        </a:rPr>
                        <a:t>6.325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427194572"/>
                  </a:ext>
                </a:extLst>
              </a:tr>
              <a:tr h="370840">
                <a:tc>
                  <a:txBody>
                    <a:bodyPr/>
                    <a:lstStyle/>
                    <a:p>
                      <a:pPr algn="ctr"/>
                      <a:r>
                        <a:rPr lang="es-ES_tradnl" sz="1800" noProof="0" dirty="0">
                          <a:solidFill>
                            <a:schemeClr val="accent1"/>
                          </a:solidFill>
                          <a:latin typeface="Century Gothic" panose="020B0502020202020204" pitchFamily="34" charset="0"/>
                        </a:rPr>
                        <a:t>2.443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337964510"/>
                  </a:ext>
                </a:extLst>
              </a:tr>
              <a:tr h="370840">
                <a:tc>
                  <a:txBody>
                    <a:bodyPr/>
                    <a:lstStyle/>
                    <a:p>
                      <a:pPr algn="ctr"/>
                      <a:r>
                        <a:rPr lang="es-ES_tradnl" sz="1800" noProof="0" dirty="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373719909"/>
                  </a:ext>
                </a:extLst>
              </a:tr>
              <a:tr h="370840">
                <a:tc>
                  <a:txBody>
                    <a:bodyPr/>
                    <a:lstStyle/>
                    <a:p>
                      <a:pPr algn="ctr"/>
                      <a:r>
                        <a:rPr lang="es-ES_tradnl" sz="1800" noProof="0" dirty="0">
                          <a:solidFill>
                            <a:schemeClr val="accent1"/>
                          </a:solidFill>
                          <a:latin typeface="Century Gothic" panose="020B0502020202020204" pitchFamily="34" charset="0"/>
                        </a:rPr>
                        <a:t>20,71%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646199439"/>
                  </a:ext>
                </a:extLst>
              </a:tr>
              <a:tr h="370840">
                <a:tc>
                  <a:txBody>
                    <a:bodyPr/>
                    <a:lstStyle/>
                    <a:p>
                      <a:pPr algn="ctr"/>
                      <a:r>
                        <a:rPr lang="es-ES_tradnl" sz="1800" noProof="0" dirty="0">
                          <a:solidFill>
                            <a:schemeClr val="accent1"/>
                          </a:solidFill>
                          <a:latin typeface="Century Gothic" panose="020B0502020202020204" pitchFamily="34" charset="0"/>
                        </a:rPr>
                        <a:t>1,024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200737741"/>
                  </a:ext>
                </a:extLst>
              </a:tr>
            </a:tbl>
          </a:graphicData>
        </a:graphic>
      </p:graphicFrame>
      <p:graphicFrame>
        <p:nvGraphicFramePr>
          <p:cNvPr id="12" name="Tabla 11">
            <a:extLst>
              <a:ext uri="{FF2B5EF4-FFF2-40B4-BE49-F238E27FC236}">
                <a16:creationId xmlns:a16="http://schemas.microsoft.com/office/drawing/2014/main" id="{F8727F7C-3BA1-C469-101A-02DCF9D592C5}"/>
              </a:ext>
            </a:extLst>
          </p:cNvPr>
          <p:cNvGraphicFramePr>
            <a:graphicFrameLocks noGrp="1"/>
          </p:cNvGraphicFramePr>
          <p:nvPr>
            <p:extLst>
              <p:ext uri="{D42A27DB-BD31-4B8C-83A1-F6EECF244321}">
                <p14:modId xmlns:p14="http://schemas.microsoft.com/office/powerpoint/2010/main" val="1458459200"/>
              </p:ext>
            </p:extLst>
          </p:nvPr>
        </p:nvGraphicFramePr>
        <p:xfrm>
          <a:off x="5432426" y="364598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330172126"/>
                    </a:ext>
                  </a:extLst>
                </a:gridCol>
              </a:tblGrid>
              <a:tr h="370840">
                <a:tc>
                  <a:txBody>
                    <a:bodyPr/>
                    <a:lstStyle/>
                    <a:p>
                      <a:pPr algn="ctr"/>
                      <a:r>
                        <a:rPr lang="es-ES_tradnl" sz="1800" noProof="0" dirty="0">
                          <a:latin typeface="Century Gothic" panose="020B0502020202020204" pitchFamily="34" charset="0"/>
                        </a:rPr>
                        <a:t>C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2154697949"/>
                  </a:ext>
                </a:extLst>
              </a:tr>
              <a:tr h="370840">
                <a:tc>
                  <a:txBody>
                    <a:bodyPr/>
                    <a:lstStyle/>
                    <a:p>
                      <a:pPr algn="ctr"/>
                      <a:r>
                        <a:rPr lang="es-ES_tradnl" sz="1800" noProof="0" dirty="0">
                          <a:solidFill>
                            <a:schemeClr val="accent1"/>
                          </a:solidFill>
                          <a:latin typeface="Century Gothic" panose="020B0502020202020204" pitchFamily="34" charset="0"/>
                        </a:rPr>
                        <a:t>6.312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406299992"/>
                  </a:ext>
                </a:extLst>
              </a:tr>
              <a:tr h="370840">
                <a:tc>
                  <a:txBody>
                    <a:bodyPr/>
                    <a:lstStyle/>
                    <a:p>
                      <a:pPr algn="ctr"/>
                      <a:r>
                        <a:rPr lang="es-ES_tradnl" sz="1800" noProof="0" dirty="0">
                          <a:solidFill>
                            <a:schemeClr val="accent1"/>
                          </a:solidFill>
                          <a:latin typeface="Century Gothic" panose="020B0502020202020204" pitchFamily="34" charset="0"/>
                        </a:rPr>
                        <a:t>2438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864914915"/>
                  </a:ext>
                </a:extLst>
              </a:tr>
              <a:tr h="370840">
                <a:tc>
                  <a:txBody>
                    <a:bodyPr/>
                    <a:lstStyle/>
                    <a:p>
                      <a:pPr algn="ctr"/>
                      <a:r>
                        <a:rPr lang="es-ES_tradnl" sz="1800" noProof="0" dirty="0">
                          <a:solidFill>
                            <a:schemeClr val="accent1"/>
                          </a:solidFill>
                          <a:latin typeface="Century Gothic" panose="020B0502020202020204" pitchFamily="34" charset="0"/>
                        </a:rPr>
                        <a:t>20,77%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599052277"/>
                  </a:ext>
                </a:extLst>
              </a:tr>
              <a:tr h="370840">
                <a:tc>
                  <a:txBody>
                    <a:bodyPr/>
                    <a:lstStyle/>
                    <a:p>
                      <a:pPr algn="ctr"/>
                      <a:r>
                        <a:rPr lang="es-ES_tradnl" sz="1800" noProof="0" dirty="0">
                          <a:solidFill>
                            <a:schemeClr val="accent1"/>
                          </a:solidFill>
                          <a:latin typeface="Century Gothic" panose="020B0502020202020204" pitchFamily="34" charset="0"/>
                        </a:rPr>
                        <a:t>20,66%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34929059"/>
                  </a:ext>
                </a:extLst>
              </a:tr>
              <a:tr h="370840">
                <a:tc>
                  <a:txBody>
                    <a:bodyPr/>
                    <a:lstStyle/>
                    <a:p>
                      <a:pPr algn="ctr"/>
                      <a:r>
                        <a:rPr lang="es-ES_tradnl" sz="1800" noProof="0" dirty="0">
                          <a:solidFill>
                            <a:schemeClr val="accent1"/>
                          </a:solidFill>
                          <a:latin typeface="Century Gothic" panose="020B0502020202020204" pitchFamily="34" charset="0"/>
                        </a:rPr>
                        <a:t>1,022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015949546"/>
                  </a:ext>
                </a:extLst>
              </a:tr>
            </a:tbl>
          </a:graphicData>
        </a:graphic>
      </p:graphicFrame>
      <p:graphicFrame>
        <p:nvGraphicFramePr>
          <p:cNvPr id="13" name="Tabla 12">
            <a:extLst>
              <a:ext uri="{FF2B5EF4-FFF2-40B4-BE49-F238E27FC236}">
                <a16:creationId xmlns:a16="http://schemas.microsoft.com/office/drawing/2014/main" id="{BC0E5835-1411-0B33-B2F9-0D5FE81996F5}"/>
              </a:ext>
            </a:extLst>
          </p:cNvPr>
          <p:cNvGraphicFramePr>
            <a:graphicFrameLocks noGrp="1"/>
          </p:cNvGraphicFramePr>
          <p:nvPr>
            <p:extLst>
              <p:ext uri="{D42A27DB-BD31-4B8C-83A1-F6EECF244321}">
                <p14:modId xmlns:p14="http://schemas.microsoft.com/office/powerpoint/2010/main" val="3652933635"/>
              </p:ext>
            </p:extLst>
          </p:nvPr>
        </p:nvGraphicFramePr>
        <p:xfrm>
          <a:off x="6609324" y="365552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3455010919"/>
                    </a:ext>
                  </a:extLst>
                </a:gridCol>
              </a:tblGrid>
              <a:tr h="370840">
                <a:tc>
                  <a:txBody>
                    <a:bodyPr/>
                    <a:lstStyle/>
                    <a:p>
                      <a:pPr algn="ctr"/>
                      <a:r>
                        <a:rPr lang="es-ES_tradnl" sz="1800" noProof="0" dirty="0">
                          <a:latin typeface="Century Gothic" panose="020B0502020202020204" pitchFamily="34" charset="0"/>
                        </a:rPr>
                        <a:t>D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58092437"/>
                  </a:ext>
                </a:extLst>
              </a:tr>
              <a:tr h="370840">
                <a:tc>
                  <a:txBody>
                    <a:bodyPr/>
                    <a:lstStyle/>
                    <a:p>
                      <a:pPr algn="ctr"/>
                      <a:r>
                        <a:rPr lang="es-ES_tradnl" sz="1800" noProof="0" dirty="0">
                          <a:solidFill>
                            <a:schemeClr val="accent1"/>
                          </a:solidFill>
                          <a:latin typeface="Century Gothic" panose="020B0502020202020204" pitchFamily="34" charset="0"/>
                        </a:rPr>
                        <a:t>3.087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21443309"/>
                  </a:ext>
                </a:extLst>
              </a:tr>
              <a:tr h="370840">
                <a:tc>
                  <a:txBody>
                    <a:bodyPr/>
                    <a:lstStyle/>
                    <a:p>
                      <a:pPr algn="ctr"/>
                      <a:r>
                        <a:rPr lang="es-ES_tradnl" sz="1800" noProof="0" dirty="0">
                          <a:solidFill>
                            <a:schemeClr val="accent1"/>
                          </a:solidFill>
                          <a:latin typeface="Century Gothic" panose="020B0502020202020204" pitchFamily="34" charset="0"/>
                        </a:rPr>
                        <a:t>1.192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192796132"/>
                  </a:ext>
                </a:extLst>
              </a:tr>
              <a:tr h="370840">
                <a:tc>
                  <a:txBody>
                    <a:bodyPr/>
                    <a:lstStyle/>
                    <a:p>
                      <a:pPr algn="ctr"/>
                      <a:r>
                        <a:rPr lang="es-ES_tradnl" sz="1800" noProof="0" dirty="0">
                          <a:solidFill>
                            <a:schemeClr val="accent1"/>
                          </a:solidFill>
                          <a:latin typeface="Century Gothic" panose="020B0502020202020204" pitchFamily="34" charset="0"/>
                        </a:rPr>
                        <a:t>22,35%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extLst>
                  <a:ext uri="{0D108BD9-81ED-4DB2-BD59-A6C34878D82A}">
                    <a16:rowId xmlns:a16="http://schemas.microsoft.com/office/drawing/2014/main" val="1635392882"/>
                  </a:ext>
                </a:extLst>
              </a:tr>
              <a:tr h="370840">
                <a:tc>
                  <a:txBody>
                    <a:bodyPr/>
                    <a:lstStyle/>
                    <a:p>
                      <a:pPr algn="ctr"/>
                      <a:r>
                        <a:rPr lang="es-ES_tradnl" sz="1800" noProof="0" dirty="0">
                          <a:solidFill>
                            <a:schemeClr val="accent1"/>
                          </a:solidFill>
                          <a:latin typeface="Century Gothic" panose="020B0502020202020204" pitchFamily="34" charset="0"/>
                        </a:rPr>
                        <a:t>20,25%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82445596"/>
                  </a:ext>
                </a:extLst>
              </a:tr>
              <a:tr h="370840">
                <a:tc>
                  <a:txBody>
                    <a:bodyPr/>
                    <a:lstStyle/>
                    <a:p>
                      <a:pPr algn="ctr"/>
                      <a:r>
                        <a:rPr lang="es-ES_tradnl" sz="1800" noProof="0" dirty="0">
                          <a:solidFill>
                            <a:schemeClr val="accent1"/>
                          </a:solidFill>
                          <a:latin typeface="Century Gothic" panose="020B0502020202020204" pitchFamily="34" charset="0"/>
                        </a:rPr>
                        <a:t>1,008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8337925"/>
                  </a:ext>
                </a:extLst>
              </a:tr>
            </a:tbl>
          </a:graphicData>
        </a:graphic>
      </p:graphicFrame>
      <p:sp>
        <p:nvSpPr>
          <p:cNvPr id="5" name="Slide Number Placeholder 3">
            <a:extLst>
              <a:ext uri="{FF2B5EF4-FFF2-40B4-BE49-F238E27FC236}">
                <a16:creationId xmlns:a16="http://schemas.microsoft.com/office/drawing/2014/main" id="{3EB4073E-1287-ADBC-E20C-73BF627D5687}"/>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32</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27623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6" grpId="0"/>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CEFEB-43B5-9850-D194-66CF4A696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27601-F905-BE8A-A86D-9ACF50593C06}"/>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sp>
        <p:nvSpPr>
          <p:cNvPr id="6" name="Rectángulo 5">
            <a:extLst>
              <a:ext uri="{FF2B5EF4-FFF2-40B4-BE49-F238E27FC236}">
                <a16:creationId xmlns:a16="http://schemas.microsoft.com/office/drawing/2014/main" id="{E12D5C2F-5724-5176-25DF-D48DA3C95DE5}"/>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6898BA8-7BD0-3E03-BBC2-65ADC49C0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746948C-1A03-4B60-F9EC-F1514DD6CC2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CuadroTexto 9">
            <a:extLst>
              <a:ext uri="{FF2B5EF4-FFF2-40B4-BE49-F238E27FC236}">
                <a16:creationId xmlns:a16="http://schemas.microsoft.com/office/drawing/2014/main" id="{BB8ED296-B9A8-A90E-899B-C4730537E90B}"/>
              </a:ext>
            </a:extLst>
          </p:cNvPr>
          <p:cNvSpPr txBox="1"/>
          <p:nvPr/>
        </p:nvSpPr>
        <p:spPr>
          <a:xfrm>
            <a:off x="4445000" y="2374900"/>
            <a:ext cx="3136900" cy="400110"/>
          </a:xfrm>
          <a:prstGeom prst="rect">
            <a:avLst/>
          </a:prstGeom>
          <a:noFill/>
        </p:spPr>
        <p:txBody>
          <a:bodyPr wrap="square" rtlCol="0">
            <a:spAutoFit/>
          </a:bodyPr>
          <a:lstStyle/>
          <a:p>
            <a:r>
              <a:rPr lang="es-CO" sz="2000" b="1" dirty="0">
                <a:solidFill>
                  <a:srgbClr val="C00000"/>
                </a:solidFill>
                <a:latin typeface="Century Gothic" panose="020B0502020202020204" pitchFamily="34" charset="0"/>
              </a:rPr>
              <a:t>C &gt; D &gt; A</a:t>
            </a:r>
          </a:p>
        </p:txBody>
      </p:sp>
      <p:sp>
        <p:nvSpPr>
          <p:cNvPr id="11" name="CuadroTexto 10">
            <a:extLst>
              <a:ext uri="{FF2B5EF4-FFF2-40B4-BE49-F238E27FC236}">
                <a16:creationId xmlns:a16="http://schemas.microsoft.com/office/drawing/2014/main" id="{D4E4D6F0-C152-A5A3-B983-4C3F8AC7393A}"/>
              </a:ext>
            </a:extLst>
          </p:cNvPr>
          <p:cNvSpPr txBox="1"/>
          <p:nvPr/>
        </p:nvSpPr>
        <p:spPr>
          <a:xfrm>
            <a:off x="4445000" y="2750676"/>
            <a:ext cx="3136900" cy="400110"/>
          </a:xfrm>
          <a:prstGeom prst="rect">
            <a:avLst/>
          </a:prstGeom>
          <a:noFill/>
        </p:spPr>
        <p:txBody>
          <a:bodyPr wrap="square" rtlCol="0">
            <a:spAutoFit/>
          </a:bodyPr>
          <a:lstStyle/>
          <a:p>
            <a:r>
              <a:rPr lang="es-CO" sz="2000" b="1" dirty="0">
                <a:solidFill>
                  <a:srgbClr val="C00000"/>
                </a:solidFill>
                <a:latin typeface="Century Gothic" panose="020B0502020202020204" pitchFamily="34" charset="0"/>
              </a:rPr>
              <a:t>C &gt; B</a:t>
            </a:r>
          </a:p>
        </p:txBody>
      </p:sp>
      <p:sp>
        <p:nvSpPr>
          <p:cNvPr id="13" name="CuadroTexto 12">
            <a:extLst>
              <a:ext uri="{FF2B5EF4-FFF2-40B4-BE49-F238E27FC236}">
                <a16:creationId xmlns:a16="http://schemas.microsoft.com/office/drawing/2014/main" id="{9779A7EC-A76D-F6FA-4F98-F2FA12549C27}"/>
              </a:ext>
            </a:extLst>
          </p:cNvPr>
          <p:cNvSpPr txBox="1"/>
          <p:nvPr/>
        </p:nvSpPr>
        <p:spPr>
          <a:xfrm>
            <a:off x="4445000" y="3118976"/>
            <a:ext cx="3136900" cy="400110"/>
          </a:xfrm>
          <a:prstGeom prst="rect">
            <a:avLst/>
          </a:prstGeom>
          <a:noFill/>
        </p:spPr>
        <p:txBody>
          <a:bodyPr wrap="square" rtlCol="0">
            <a:spAutoFit/>
          </a:bodyPr>
          <a:lstStyle/>
          <a:p>
            <a:r>
              <a:rPr lang="es-CO" sz="2000" b="1" dirty="0">
                <a:solidFill>
                  <a:srgbClr val="C00000"/>
                </a:solidFill>
                <a:latin typeface="Century Gothic" panose="020B0502020202020204" pitchFamily="34" charset="0"/>
              </a:rPr>
              <a:t>D &gt; B</a:t>
            </a:r>
          </a:p>
        </p:txBody>
      </p:sp>
      <p:graphicFrame>
        <p:nvGraphicFramePr>
          <p:cNvPr id="9" name="Table 4">
            <a:extLst>
              <a:ext uri="{FF2B5EF4-FFF2-40B4-BE49-F238E27FC236}">
                <a16:creationId xmlns:a16="http://schemas.microsoft.com/office/drawing/2014/main" id="{C6D8E18A-138F-71FC-6210-50B5DF2AB4F8}"/>
              </a:ext>
            </a:extLst>
          </p:cNvPr>
          <p:cNvGraphicFramePr>
            <a:graphicFrameLocks noGrp="1"/>
          </p:cNvGraphicFramePr>
          <p:nvPr>
            <p:extLst>
              <p:ext uri="{D42A27DB-BD31-4B8C-83A1-F6EECF244321}">
                <p14:modId xmlns:p14="http://schemas.microsoft.com/office/powerpoint/2010/main" val="1095710764"/>
              </p:ext>
            </p:extLst>
          </p:nvPr>
        </p:nvGraphicFramePr>
        <p:xfrm>
          <a:off x="1876982" y="3645985"/>
          <a:ext cx="8272936"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0000"/>
                    </a:ext>
                  </a:extLst>
                </a:gridCol>
                <a:gridCol w="1181848">
                  <a:extLst>
                    <a:ext uri="{9D8B030D-6E8A-4147-A177-3AD203B41FA5}">
                      <a16:colId xmlns:a16="http://schemas.microsoft.com/office/drawing/2014/main" val="20001"/>
                    </a:ext>
                  </a:extLst>
                </a:gridCol>
                <a:gridCol w="1181848">
                  <a:extLst>
                    <a:ext uri="{9D8B030D-6E8A-4147-A177-3AD203B41FA5}">
                      <a16:colId xmlns:a16="http://schemas.microsoft.com/office/drawing/2014/main" val="20002"/>
                    </a:ext>
                  </a:extLst>
                </a:gridCol>
                <a:gridCol w="1181848">
                  <a:extLst>
                    <a:ext uri="{9D8B030D-6E8A-4147-A177-3AD203B41FA5}">
                      <a16:colId xmlns:a16="http://schemas.microsoft.com/office/drawing/2014/main" val="20003"/>
                    </a:ext>
                  </a:extLst>
                </a:gridCol>
                <a:gridCol w="1181848">
                  <a:extLst>
                    <a:ext uri="{9D8B030D-6E8A-4147-A177-3AD203B41FA5}">
                      <a16:colId xmlns:a16="http://schemas.microsoft.com/office/drawing/2014/main" val="20004"/>
                    </a:ext>
                  </a:extLst>
                </a:gridCol>
                <a:gridCol w="1181848">
                  <a:extLst>
                    <a:ext uri="{9D8B030D-6E8A-4147-A177-3AD203B41FA5}">
                      <a16:colId xmlns:a16="http://schemas.microsoft.com/office/drawing/2014/main" val="20005"/>
                    </a:ext>
                  </a:extLst>
                </a:gridCol>
                <a:gridCol w="1181848">
                  <a:extLst>
                    <a:ext uri="{9D8B030D-6E8A-4147-A177-3AD203B41FA5}">
                      <a16:colId xmlns:a16="http://schemas.microsoft.com/office/drawing/2014/main" val="20006"/>
                    </a:ext>
                  </a:extLst>
                </a:gridCol>
              </a:tblGrid>
              <a:tr h="370840">
                <a:tc>
                  <a:txBody>
                    <a:bodyPr/>
                    <a:lstStyle/>
                    <a:p>
                      <a:pPr algn="ctr"/>
                      <a:r>
                        <a:rPr lang="es-ES_tradnl" sz="1800" noProof="0" dirty="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C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C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dirty="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dirty="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-3.225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6.325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6.312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3.087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-1.246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2.443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2438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885964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dirty="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22,35%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alpha val="40000"/>
                      </a:schemeClr>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68228432"/>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20,71%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20,66%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6362838"/>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0,992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1,022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1,008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933760327"/>
                  </a:ext>
                </a:extLst>
              </a:tr>
            </a:tbl>
          </a:graphicData>
        </a:graphic>
      </p:graphicFrame>
      <p:graphicFrame>
        <p:nvGraphicFramePr>
          <p:cNvPr id="14" name="Tabla 13">
            <a:extLst>
              <a:ext uri="{FF2B5EF4-FFF2-40B4-BE49-F238E27FC236}">
                <a16:creationId xmlns:a16="http://schemas.microsoft.com/office/drawing/2014/main" id="{8D7E4870-2E1C-4C2D-D30E-C17C303DE8E9}"/>
              </a:ext>
            </a:extLst>
          </p:cNvPr>
          <p:cNvGraphicFramePr>
            <a:graphicFrameLocks noGrp="1"/>
          </p:cNvGraphicFramePr>
          <p:nvPr>
            <p:extLst>
              <p:ext uri="{D42A27DB-BD31-4B8C-83A1-F6EECF244321}">
                <p14:modId xmlns:p14="http://schemas.microsoft.com/office/powerpoint/2010/main" val="4247776998"/>
              </p:ext>
            </p:extLst>
          </p:nvPr>
        </p:nvGraphicFramePr>
        <p:xfrm>
          <a:off x="7796973" y="364598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926446197"/>
                    </a:ext>
                  </a:extLst>
                </a:gridCol>
              </a:tblGrid>
              <a:tr h="370840">
                <a:tc>
                  <a:txBody>
                    <a:bodyPr/>
                    <a:lstStyle/>
                    <a:p>
                      <a:pPr algn="ctr"/>
                      <a:r>
                        <a:rPr lang="es-ES_tradnl" sz="1800" noProof="0" dirty="0">
                          <a:latin typeface="Century Gothic" panose="020B0502020202020204" pitchFamily="34" charset="0"/>
                        </a:rPr>
                        <a:t>D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82906699"/>
                  </a:ext>
                </a:extLst>
              </a:tr>
              <a:tr h="370840">
                <a:tc>
                  <a:txBody>
                    <a:bodyPr/>
                    <a:lstStyle/>
                    <a:p>
                      <a:pPr algn="ctr"/>
                      <a:r>
                        <a:rPr lang="es-ES_tradnl" sz="1800" noProof="0" dirty="0">
                          <a:solidFill>
                            <a:schemeClr val="accent1"/>
                          </a:solidFill>
                          <a:latin typeface="Century Gothic" panose="020B0502020202020204" pitchFamily="34" charset="0"/>
                        </a:rPr>
                        <a:t>3.099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285370020"/>
                  </a:ext>
                </a:extLst>
              </a:tr>
              <a:tr h="370840">
                <a:tc>
                  <a:txBody>
                    <a:bodyPr/>
                    <a:lstStyle/>
                    <a:p>
                      <a:pPr algn="ctr"/>
                      <a:r>
                        <a:rPr lang="es-ES_tradnl" sz="1800" noProof="0" dirty="0">
                          <a:solidFill>
                            <a:schemeClr val="accent1"/>
                          </a:solidFill>
                          <a:latin typeface="Century Gothic" panose="020B0502020202020204" pitchFamily="34" charset="0"/>
                        </a:rPr>
                        <a:t>1.197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277101410"/>
                  </a:ext>
                </a:extLst>
              </a:tr>
              <a:tr h="370840">
                <a:tc>
                  <a:txBody>
                    <a:bodyPr/>
                    <a:lstStyle/>
                    <a:p>
                      <a:pPr algn="ctr"/>
                      <a:r>
                        <a:rPr lang="es-ES_tradnl" sz="1800" noProof="0" dirty="0">
                          <a:solidFill>
                            <a:schemeClr val="accent1"/>
                          </a:solidFill>
                          <a:latin typeface="Century Gothic" panose="020B0502020202020204" pitchFamily="34" charset="0"/>
                        </a:rPr>
                        <a:t>15,88%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extLst>
                  <a:ext uri="{0D108BD9-81ED-4DB2-BD59-A6C34878D82A}">
                    <a16:rowId xmlns:a16="http://schemas.microsoft.com/office/drawing/2014/main" val="2532909460"/>
                  </a:ext>
                </a:extLst>
              </a:tr>
              <a:tr h="370840">
                <a:tc>
                  <a:txBody>
                    <a:bodyPr/>
                    <a:lstStyle/>
                    <a:p>
                      <a:pPr algn="ctr"/>
                      <a:r>
                        <a:rPr lang="es-ES_tradnl" sz="1800" noProof="0" dirty="0">
                          <a:solidFill>
                            <a:schemeClr val="accent1"/>
                          </a:solidFill>
                          <a:latin typeface="Century Gothic" panose="020B0502020202020204" pitchFamily="34" charset="0"/>
                        </a:rPr>
                        <a:t>20,27%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677786984"/>
                  </a:ext>
                </a:extLst>
              </a:tr>
              <a:tr h="370840">
                <a:tc>
                  <a:txBody>
                    <a:bodyPr/>
                    <a:lstStyle/>
                    <a:p>
                      <a:pPr algn="ctr"/>
                      <a:r>
                        <a:rPr lang="es-ES_tradnl" sz="1800" noProof="0" dirty="0">
                          <a:solidFill>
                            <a:schemeClr val="accent1"/>
                          </a:solidFill>
                          <a:latin typeface="Century Gothic" panose="020B0502020202020204" pitchFamily="34" charset="0"/>
                        </a:rPr>
                        <a:t>1,009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378233362"/>
                  </a:ext>
                </a:extLst>
              </a:tr>
            </a:tbl>
          </a:graphicData>
        </a:graphic>
      </p:graphicFrame>
      <p:sp>
        <p:nvSpPr>
          <p:cNvPr id="3" name="Slide Number Placeholder 3">
            <a:extLst>
              <a:ext uri="{FF2B5EF4-FFF2-40B4-BE49-F238E27FC236}">
                <a16:creationId xmlns:a16="http://schemas.microsoft.com/office/drawing/2014/main" id="{836D2700-67F3-3CC6-EEE6-4C820F2DF52D}"/>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33</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92609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1C613-A19A-7D9F-A72A-118C63ADE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E981A-BD2F-142B-E184-3D11EC05178A}"/>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sp>
        <p:nvSpPr>
          <p:cNvPr id="6" name="Rectángulo 5">
            <a:extLst>
              <a:ext uri="{FF2B5EF4-FFF2-40B4-BE49-F238E27FC236}">
                <a16:creationId xmlns:a16="http://schemas.microsoft.com/office/drawing/2014/main" id="{661AC568-8298-3F3D-7151-013F3AC3BCB0}"/>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795D88EF-410D-0338-1D60-DD17B199BD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F8EBE7C-C8CB-FA32-5B38-F08788695D2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CuadroTexto 2">
            <a:extLst>
              <a:ext uri="{FF2B5EF4-FFF2-40B4-BE49-F238E27FC236}">
                <a16:creationId xmlns:a16="http://schemas.microsoft.com/office/drawing/2014/main" id="{470B1604-2F48-1C80-D011-FBD799E54056}"/>
              </a:ext>
            </a:extLst>
          </p:cNvPr>
          <p:cNvSpPr txBox="1"/>
          <p:nvPr/>
        </p:nvSpPr>
        <p:spPr>
          <a:xfrm>
            <a:off x="4445000" y="2374900"/>
            <a:ext cx="3136900" cy="400110"/>
          </a:xfrm>
          <a:prstGeom prst="rect">
            <a:avLst/>
          </a:prstGeom>
          <a:noFill/>
        </p:spPr>
        <p:txBody>
          <a:bodyPr wrap="square" rtlCol="0">
            <a:spAutoFit/>
          </a:bodyPr>
          <a:lstStyle/>
          <a:p>
            <a:r>
              <a:rPr lang="es-CO" sz="2000" b="1" dirty="0">
                <a:solidFill>
                  <a:srgbClr val="C00000"/>
                </a:solidFill>
                <a:latin typeface="Century Gothic" panose="020B0502020202020204" pitchFamily="34" charset="0"/>
              </a:rPr>
              <a:t>C &gt; D &gt; A</a:t>
            </a:r>
          </a:p>
        </p:txBody>
      </p:sp>
      <p:sp>
        <p:nvSpPr>
          <p:cNvPr id="14" name="CuadroTexto 13">
            <a:extLst>
              <a:ext uri="{FF2B5EF4-FFF2-40B4-BE49-F238E27FC236}">
                <a16:creationId xmlns:a16="http://schemas.microsoft.com/office/drawing/2014/main" id="{0F003DB9-49EF-0B63-1626-0AB73F7287A9}"/>
              </a:ext>
            </a:extLst>
          </p:cNvPr>
          <p:cNvSpPr txBox="1"/>
          <p:nvPr/>
        </p:nvSpPr>
        <p:spPr>
          <a:xfrm>
            <a:off x="4445000" y="2750676"/>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C &gt; D &gt; B</a:t>
            </a:r>
          </a:p>
        </p:txBody>
      </p:sp>
      <p:sp>
        <p:nvSpPr>
          <p:cNvPr id="18" name="CuadroTexto 17">
            <a:extLst>
              <a:ext uri="{FF2B5EF4-FFF2-40B4-BE49-F238E27FC236}">
                <a16:creationId xmlns:a16="http://schemas.microsoft.com/office/drawing/2014/main" id="{D254EAFD-CDDB-C1F2-414A-30638F1315FE}"/>
              </a:ext>
            </a:extLst>
          </p:cNvPr>
          <p:cNvSpPr txBox="1"/>
          <p:nvPr/>
        </p:nvSpPr>
        <p:spPr>
          <a:xfrm>
            <a:off x="6843713" y="2381860"/>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A &gt; B</a:t>
            </a:r>
          </a:p>
        </p:txBody>
      </p:sp>
      <p:graphicFrame>
        <p:nvGraphicFramePr>
          <p:cNvPr id="9" name="Table 4">
            <a:extLst>
              <a:ext uri="{FF2B5EF4-FFF2-40B4-BE49-F238E27FC236}">
                <a16:creationId xmlns:a16="http://schemas.microsoft.com/office/drawing/2014/main" id="{F8602137-1A57-647C-0D58-74B2544573FA}"/>
              </a:ext>
            </a:extLst>
          </p:cNvPr>
          <p:cNvGraphicFramePr>
            <a:graphicFrameLocks noGrp="1"/>
          </p:cNvGraphicFramePr>
          <p:nvPr>
            <p:extLst>
              <p:ext uri="{D42A27DB-BD31-4B8C-83A1-F6EECF244321}">
                <p14:modId xmlns:p14="http://schemas.microsoft.com/office/powerpoint/2010/main" val="3764174534"/>
              </p:ext>
            </p:extLst>
          </p:nvPr>
        </p:nvGraphicFramePr>
        <p:xfrm>
          <a:off x="1876982" y="3645985"/>
          <a:ext cx="8272936"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0000"/>
                    </a:ext>
                  </a:extLst>
                </a:gridCol>
                <a:gridCol w="1181848">
                  <a:extLst>
                    <a:ext uri="{9D8B030D-6E8A-4147-A177-3AD203B41FA5}">
                      <a16:colId xmlns:a16="http://schemas.microsoft.com/office/drawing/2014/main" val="20001"/>
                    </a:ext>
                  </a:extLst>
                </a:gridCol>
                <a:gridCol w="1181848">
                  <a:extLst>
                    <a:ext uri="{9D8B030D-6E8A-4147-A177-3AD203B41FA5}">
                      <a16:colId xmlns:a16="http://schemas.microsoft.com/office/drawing/2014/main" val="20002"/>
                    </a:ext>
                  </a:extLst>
                </a:gridCol>
                <a:gridCol w="1181848">
                  <a:extLst>
                    <a:ext uri="{9D8B030D-6E8A-4147-A177-3AD203B41FA5}">
                      <a16:colId xmlns:a16="http://schemas.microsoft.com/office/drawing/2014/main" val="20003"/>
                    </a:ext>
                  </a:extLst>
                </a:gridCol>
                <a:gridCol w="1181848">
                  <a:extLst>
                    <a:ext uri="{9D8B030D-6E8A-4147-A177-3AD203B41FA5}">
                      <a16:colId xmlns:a16="http://schemas.microsoft.com/office/drawing/2014/main" val="20004"/>
                    </a:ext>
                  </a:extLst>
                </a:gridCol>
                <a:gridCol w="1181848">
                  <a:extLst>
                    <a:ext uri="{9D8B030D-6E8A-4147-A177-3AD203B41FA5}">
                      <a16:colId xmlns:a16="http://schemas.microsoft.com/office/drawing/2014/main" val="20005"/>
                    </a:ext>
                  </a:extLst>
                </a:gridCol>
                <a:gridCol w="1181848">
                  <a:extLst>
                    <a:ext uri="{9D8B030D-6E8A-4147-A177-3AD203B41FA5}">
                      <a16:colId xmlns:a16="http://schemas.microsoft.com/office/drawing/2014/main" val="20006"/>
                    </a:ext>
                  </a:extLst>
                </a:gridCol>
              </a:tblGrid>
              <a:tr h="370840">
                <a:tc>
                  <a:txBody>
                    <a:bodyPr/>
                    <a:lstStyle/>
                    <a:p>
                      <a:pPr algn="ctr"/>
                      <a:r>
                        <a:rPr lang="es-ES_tradnl" sz="1800" noProof="0" dirty="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C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C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dirty="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-3.225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6.325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6.312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3.087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3.099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-1.246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2.443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2438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1.197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885964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dirty="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22,35%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dirty="0">
                          <a:solidFill>
                            <a:schemeClr val="accent1"/>
                          </a:solidFill>
                          <a:latin typeface="Century Gothic" panose="020B0502020202020204" pitchFamily="34" charset="0"/>
                        </a:rPr>
                        <a:t>15,88%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68228432"/>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20,71%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20,66%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20,27%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6362838"/>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0,992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1,022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1,008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1,009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933760327"/>
                  </a:ext>
                </a:extLst>
              </a:tr>
            </a:tbl>
          </a:graphicData>
        </a:graphic>
      </p:graphicFrame>
      <p:graphicFrame>
        <p:nvGraphicFramePr>
          <p:cNvPr id="10" name="Tabla 9">
            <a:extLst>
              <a:ext uri="{FF2B5EF4-FFF2-40B4-BE49-F238E27FC236}">
                <a16:creationId xmlns:a16="http://schemas.microsoft.com/office/drawing/2014/main" id="{B6B63C48-CDA8-42E3-3034-D3AE96A82FB9}"/>
              </a:ext>
            </a:extLst>
          </p:cNvPr>
          <p:cNvGraphicFramePr>
            <a:graphicFrameLocks noGrp="1"/>
          </p:cNvGraphicFramePr>
          <p:nvPr>
            <p:extLst>
              <p:ext uri="{D42A27DB-BD31-4B8C-83A1-F6EECF244321}">
                <p14:modId xmlns:p14="http://schemas.microsoft.com/office/powerpoint/2010/main" val="992039077"/>
              </p:ext>
            </p:extLst>
          </p:nvPr>
        </p:nvGraphicFramePr>
        <p:xfrm>
          <a:off x="8968070" y="364598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729821970"/>
                    </a:ext>
                  </a:extLst>
                </a:gridCol>
              </a:tblGrid>
              <a:tr h="370840">
                <a:tc>
                  <a:txBody>
                    <a:bodyPr/>
                    <a:lstStyle/>
                    <a:p>
                      <a:pPr algn="ctr"/>
                      <a:r>
                        <a:rPr lang="es-ES_tradnl" sz="1800" noProof="0" dirty="0">
                          <a:latin typeface="Century Gothic" panose="020B0502020202020204" pitchFamily="34" charset="0"/>
                        </a:rPr>
                        <a:t>B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892730100"/>
                  </a:ext>
                </a:extLst>
              </a:tr>
              <a:tr h="370840">
                <a:tc>
                  <a:txBody>
                    <a:bodyPr/>
                    <a:lstStyle/>
                    <a:p>
                      <a:pPr algn="ctr"/>
                      <a:r>
                        <a:rPr lang="es-ES_tradnl" sz="1800" noProof="0" dirty="0">
                          <a:solidFill>
                            <a:schemeClr val="accent1"/>
                          </a:solidFill>
                          <a:latin typeface="Century Gothic" panose="020B0502020202020204" pitchFamily="34" charset="0"/>
                        </a:rPr>
                        <a:t>-13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596206070"/>
                  </a:ext>
                </a:extLst>
              </a:tr>
              <a:tr h="370840">
                <a:tc>
                  <a:txBody>
                    <a:bodyPr/>
                    <a:lstStyle/>
                    <a:p>
                      <a:pPr algn="ctr"/>
                      <a:r>
                        <a:rPr lang="es-ES_tradnl" sz="1800" noProof="0" dirty="0">
                          <a:solidFill>
                            <a:schemeClr val="accent1"/>
                          </a:solidFill>
                          <a:latin typeface="Century Gothic" panose="020B0502020202020204" pitchFamily="34" charset="0"/>
                        </a:rPr>
                        <a:t>-5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326766966"/>
                  </a:ext>
                </a:extLst>
              </a:tr>
              <a:tr h="370840">
                <a:tc>
                  <a:txBody>
                    <a:bodyPr/>
                    <a:lstStyle/>
                    <a:p>
                      <a:pPr algn="ctr"/>
                      <a:r>
                        <a:rPr lang="es-ES_tradnl" sz="1800" noProof="0" dirty="0">
                          <a:solidFill>
                            <a:schemeClr val="accent1"/>
                          </a:solidFill>
                          <a:latin typeface="Century Gothic" panose="020B0502020202020204" pitchFamily="34" charset="0"/>
                        </a:rPr>
                        <a:t>19,99%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15132090"/>
                  </a:ext>
                </a:extLst>
              </a:tr>
              <a:tr h="370840">
                <a:tc>
                  <a:txBody>
                    <a:bodyPr/>
                    <a:lstStyle/>
                    <a:p>
                      <a:pPr algn="ctr"/>
                      <a:r>
                        <a:rPr lang="es-ES_tradnl" sz="1800" noProof="0" dirty="0">
                          <a:solidFill>
                            <a:schemeClr val="accent1"/>
                          </a:solidFill>
                          <a:latin typeface="Century Gothic" panose="020B0502020202020204" pitchFamily="34" charset="0"/>
                        </a:rPr>
                        <a:t>19,99%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2490180"/>
                  </a:ext>
                </a:extLst>
              </a:tr>
              <a:tr h="370840">
                <a:tc>
                  <a:txBody>
                    <a:bodyPr/>
                    <a:lstStyle/>
                    <a:p>
                      <a:pPr algn="ctr"/>
                      <a:r>
                        <a:rPr lang="es-ES_tradnl" sz="1800" noProof="0" dirty="0">
                          <a:solidFill>
                            <a:schemeClr val="accent1"/>
                          </a:solidFill>
                          <a:latin typeface="Century Gothic" panose="020B0502020202020204" pitchFamily="34" charset="0"/>
                        </a:rPr>
                        <a:t>0,999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641108507"/>
                  </a:ext>
                </a:extLst>
              </a:tr>
            </a:tbl>
          </a:graphicData>
        </a:graphic>
      </p:graphicFrame>
      <p:sp>
        <p:nvSpPr>
          <p:cNvPr id="5" name="Slide Number Placeholder 3">
            <a:extLst>
              <a:ext uri="{FF2B5EF4-FFF2-40B4-BE49-F238E27FC236}">
                <a16:creationId xmlns:a16="http://schemas.microsoft.com/office/drawing/2014/main" id="{C635E494-2950-C805-CF5D-FB361D8B79BA}"/>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34</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7297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01AA5-592E-1AFB-E7D7-A1C555CD0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56B1A-3675-6024-4FF2-A2BD674AA770}"/>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graphicFrame>
        <p:nvGraphicFramePr>
          <p:cNvPr id="5" name="Table 4">
            <a:extLst>
              <a:ext uri="{FF2B5EF4-FFF2-40B4-BE49-F238E27FC236}">
                <a16:creationId xmlns:a16="http://schemas.microsoft.com/office/drawing/2014/main" id="{32478E5E-0C3B-18A9-5DF4-D10210D0953B}"/>
              </a:ext>
            </a:extLst>
          </p:cNvPr>
          <p:cNvGraphicFramePr>
            <a:graphicFrameLocks noGrp="1"/>
          </p:cNvGraphicFramePr>
          <p:nvPr>
            <p:extLst>
              <p:ext uri="{D42A27DB-BD31-4B8C-83A1-F6EECF244321}">
                <p14:modId xmlns:p14="http://schemas.microsoft.com/office/powerpoint/2010/main" val="1140516074"/>
              </p:ext>
            </p:extLst>
          </p:nvPr>
        </p:nvGraphicFramePr>
        <p:xfrm>
          <a:off x="1876982" y="3645985"/>
          <a:ext cx="8272936"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0000"/>
                    </a:ext>
                  </a:extLst>
                </a:gridCol>
                <a:gridCol w="1181848">
                  <a:extLst>
                    <a:ext uri="{9D8B030D-6E8A-4147-A177-3AD203B41FA5}">
                      <a16:colId xmlns:a16="http://schemas.microsoft.com/office/drawing/2014/main" val="20001"/>
                    </a:ext>
                  </a:extLst>
                </a:gridCol>
                <a:gridCol w="1181848">
                  <a:extLst>
                    <a:ext uri="{9D8B030D-6E8A-4147-A177-3AD203B41FA5}">
                      <a16:colId xmlns:a16="http://schemas.microsoft.com/office/drawing/2014/main" val="20002"/>
                    </a:ext>
                  </a:extLst>
                </a:gridCol>
                <a:gridCol w="1181848">
                  <a:extLst>
                    <a:ext uri="{9D8B030D-6E8A-4147-A177-3AD203B41FA5}">
                      <a16:colId xmlns:a16="http://schemas.microsoft.com/office/drawing/2014/main" val="20003"/>
                    </a:ext>
                  </a:extLst>
                </a:gridCol>
                <a:gridCol w="1181848">
                  <a:extLst>
                    <a:ext uri="{9D8B030D-6E8A-4147-A177-3AD203B41FA5}">
                      <a16:colId xmlns:a16="http://schemas.microsoft.com/office/drawing/2014/main" val="20004"/>
                    </a:ext>
                  </a:extLst>
                </a:gridCol>
                <a:gridCol w="1181848">
                  <a:extLst>
                    <a:ext uri="{9D8B030D-6E8A-4147-A177-3AD203B41FA5}">
                      <a16:colId xmlns:a16="http://schemas.microsoft.com/office/drawing/2014/main" val="20005"/>
                    </a:ext>
                  </a:extLst>
                </a:gridCol>
                <a:gridCol w="1181848">
                  <a:extLst>
                    <a:ext uri="{9D8B030D-6E8A-4147-A177-3AD203B41FA5}">
                      <a16:colId xmlns:a16="http://schemas.microsoft.com/office/drawing/2014/main" val="20006"/>
                    </a:ext>
                  </a:extLst>
                </a:gridCol>
              </a:tblGrid>
              <a:tr h="370840">
                <a:tc>
                  <a:txBody>
                    <a:bodyPr/>
                    <a:lstStyle/>
                    <a:p>
                      <a:pPr algn="ctr"/>
                      <a:r>
                        <a:rPr lang="es-ES_tradnl" sz="1800" noProof="0" dirty="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C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C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D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B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-3.225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6.325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6.312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3.087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3.099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-1.246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2.443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2438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1.197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885964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dirty="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22,35%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dirty="0">
                          <a:solidFill>
                            <a:schemeClr val="accent1"/>
                          </a:solidFill>
                          <a:latin typeface="Century Gothic" panose="020B0502020202020204" pitchFamily="34" charset="0"/>
                        </a:rPr>
                        <a:t>15,88%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dirty="0">
                          <a:solidFill>
                            <a:schemeClr val="accent1"/>
                          </a:solidFill>
                          <a:latin typeface="Century Gothic" panose="020B0502020202020204" pitchFamily="34" charset="0"/>
                        </a:rPr>
                        <a:t>19,99%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68228432"/>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20,71%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20,66%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20,27%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6362838"/>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0,992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1,022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1,008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1,009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0,999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933760327"/>
                  </a:ext>
                </a:extLst>
              </a:tr>
            </a:tbl>
          </a:graphicData>
        </a:graphic>
      </p:graphicFrame>
      <p:sp>
        <p:nvSpPr>
          <p:cNvPr id="6" name="Rectángulo 5">
            <a:extLst>
              <a:ext uri="{FF2B5EF4-FFF2-40B4-BE49-F238E27FC236}">
                <a16:creationId xmlns:a16="http://schemas.microsoft.com/office/drawing/2014/main" id="{7A1FE51B-31B7-0E47-C4CB-576050F8AA54}"/>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A39F48FC-3D35-3A66-A9D9-8592AAD89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A4E65E6-CC7C-1D14-7464-DB5291BE89D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extBox 8">
            <a:extLst>
              <a:ext uri="{FF2B5EF4-FFF2-40B4-BE49-F238E27FC236}">
                <a16:creationId xmlns:a16="http://schemas.microsoft.com/office/drawing/2014/main" id="{E02D4843-7BFC-D493-F78A-5525DF41AEBC}"/>
              </a:ext>
            </a:extLst>
          </p:cNvPr>
          <p:cNvSpPr txBox="1"/>
          <p:nvPr/>
        </p:nvSpPr>
        <p:spPr>
          <a:xfrm>
            <a:off x="5176487" y="2780096"/>
            <a:ext cx="1797287" cy="400110"/>
          </a:xfrm>
          <a:prstGeom prst="rect">
            <a:avLst/>
          </a:prstGeom>
          <a:noFill/>
        </p:spPr>
        <p:txBody>
          <a:bodyPr wrap="none" rtlCol="0">
            <a:spAutoFit/>
          </a:bodyPr>
          <a:lstStyle/>
          <a:p>
            <a:r>
              <a:rPr lang="en-US" sz="2000" b="1" dirty="0">
                <a:solidFill>
                  <a:srgbClr val="C00000"/>
                </a:solidFill>
                <a:latin typeface="Century Gothic" panose="020B0502020202020204" pitchFamily="34" charset="0"/>
              </a:rPr>
              <a:t>C &gt; D &gt; A &gt; B</a:t>
            </a:r>
          </a:p>
        </p:txBody>
      </p:sp>
      <p:sp>
        <p:nvSpPr>
          <p:cNvPr id="3" name="Slide Number Placeholder 3">
            <a:extLst>
              <a:ext uri="{FF2B5EF4-FFF2-40B4-BE49-F238E27FC236}">
                <a16:creationId xmlns:a16="http://schemas.microsoft.com/office/drawing/2014/main" id="{E39B18BD-CF2C-0927-2ADE-E934D946FC6A}"/>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35</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0847653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2</a:t>
            </a:r>
          </a:p>
        </p:txBody>
      </p:sp>
      <p:sp>
        <p:nvSpPr>
          <p:cNvPr id="3" name="Content Placeholder 2"/>
          <p:cNvSpPr>
            <a:spLocks noGrp="1"/>
          </p:cNvSpPr>
          <p:nvPr>
            <p:ph idx="1"/>
          </p:nvPr>
        </p:nvSpPr>
        <p:spPr>
          <a:xfrm>
            <a:off x="1037858" y="2169275"/>
            <a:ext cx="10116284" cy="4166523"/>
          </a:xfrm>
        </p:spPr>
        <p:txBody>
          <a:bodyPr>
            <a:normAutofit/>
          </a:bodyPr>
          <a:lstStyle/>
          <a:p>
            <a:pPr marL="0" indent="0" algn="ctr">
              <a:buNone/>
            </a:pPr>
            <a:r>
              <a:rPr lang="es-ES_tradnl" sz="2000" b="1" dirty="0">
                <a:solidFill>
                  <a:srgbClr val="C00000"/>
                </a:solidFill>
                <a:latin typeface="Century Gothic" panose="020B0502020202020204" pitchFamily="34" charset="0"/>
              </a:rPr>
              <a:t>Caso 2: </a:t>
            </a:r>
            <a:r>
              <a:rPr lang="es-ES_tradnl" sz="2000" b="1" dirty="0">
                <a:solidFill>
                  <a:schemeClr val="accent3">
                    <a:lumMod val="75000"/>
                  </a:schemeClr>
                </a:solidFill>
                <a:latin typeface="Century Gothic" panose="020B0502020202020204" pitchFamily="34" charset="0"/>
              </a:rPr>
              <a:t>Comparación de alternativas mutuamente excluyentes con vidas útiles iguales e inversiones iniciales distintas.</a:t>
            </a:r>
          </a:p>
          <a:p>
            <a:pPr marL="0" indent="0" algn="just">
              <a:buNone/>
            </a:pPr>
            <a:endParaRPr lang="es-ES_tradnl" sz="2000" dirty="0">
              <a:latin typeface="Century Gothic" panose="020B0502020202020204" pitchFamily="34" charset="0"/>
            </a:endParaRPr>
          </a:p>
          <a:p>
            <a:pPr marL="0" indent="0" algn="just">
              <a:buNone/>
            </a:pPr>
            <a:endParaRPr lang="es-ES_tradnl" sz="2000" dirty="0">
              <a:latin typeface="Century Gothic" panose="020B0502020202020204" pitchFamily="34" charset="0"/>
            </a:endParaRPr>
          </a:p>
          <a:p>
            <a:pPr marL="0" indent="0" algn="just">
              <a:buNone/>
            </a:pPr>
            <a:r>
              <a:rPr lang="es-ES_tradnl" sz="2000" dirty="0">
                <a:latin typeface="Century Gothic" panose="020B0502020202020204" pitchFamily="34" charset="0"/>
              </a:rPr>
              <a:t>En este caso, se pueden usar los siguientes IBF:</a:t>
            </a:r>
          </a:p>
          <a:p>
            <a:pPr marL="0" indent="0" algn="just">
              <a:buNone/>
            </a:pPr>
            <a:endParaRPr lang="es-ES_tradnl" sz="2000" dirty="0">
              <a:latin typeface="Century Gothic" panose="020B0502020202020204" pitchFamily="34" charset="0"/>
            </a:endParaRPr>
          </a:p>
          <a:p>
            <a:pPr marL="0" indent="0" algn="ctr">
              <a:buNone/>
            </a:pPr>
            <a:r>
              <a:rPr lang="es-ES_tradnl" sz="2000" b="1" dirty="0">
                <a:solidFill>
                  <a:srgbClr val="D7A700"/>
                </a:solidFill>
                <a:latin typeface="Century Gothic" panose="020B0502020202020204" pitchFamily="34" charset="0"/>
              </a:rPr>
              <a:t>VPN*</a:t>
            </a:r>
          </a:p>
          <a:p>
            <a:pPr marL="0" indent="0" algn="ctr">
              <a:buNone/>
            </a:pPr>
            <a:r>
              <a:rPr lang="es-ES_tradnl" sz="2000" b="1" dirty="0">
                <a:solidFill>
                  <a:srgbClr val="D7A700"/>
                </a:solidFill>
                <a:latin typeface="Century Gothic" panose="020B0502020202020204" pitchFamily="34" charset="0"/>
              </a:rPr>
              <a:t>VAE*</a:t>
            </a:r>
          </a:p>
          <a:p>
            <a:pPr marL="0" indent="0" algn="ctr">
              <a:buNone/>
            </a:pPr>
            <a:r>
              <a:rPr lang="es-ES_tradnl" sz="2000" b="1" dirty="0">
                <a:solidFill>
                  <a:srgbClr val="D7A700"/>
                </a:solidFill>
                <a:latin typeface="Century Gothic" panose="020B0502020202020204" pitchFamily="34" charset="0"/>
              </a:rPr>
              <a:t>Análisis Incremental (Marginal / Diferencial)**</a:t>
            </a:r>
          </a:p>
          <a:p>
            <a:pPr marL="0" indent="0" algn="ctr">
              <a:buNone/>
            </a:pPr>
            <a:endParaRPr lang="es-ES_tradnl" sz="2000" b="1" dirty="0">
              <a:solidFill>
                <a:srgbClr val="D7A700"/>
              </a:solidFill>
              <a:latin typeface="Century Gothic" panose="020B0502020202020204" pitchFamily="34" charset="0"/>
            </a:endParaRPr>
          </a:p>
        </p:txBody>
      </p:sp>
      <p:pic>
        <p:nvPicPr>
          <p:cNvPr id="7" name="Imagen 6">
            <a:extLst>
              <a:ext uri="{FF2B5EF4-FFF2-40B4-BE49-F238E27FC236}">
                <a16:creationId xmlns:a16="http://schemas.microsoft.com/office/drawing/2014/main" id="{6180914D-C1DD-64EF-368D-9225CFA681D1}"/>
              </a:ext>
            </a:extLst>
          </p:cNvPr>
          <p:cNvPicPr>
            <a:picLocks noChangeAspect="1"/>
          </p:cNvPicPr>
          <p:nvPr/>
        </p:nvPicPr>
        <p:blipFill rotWithShape="1">
          <a:blip r:embed="rId2"/>
          <a:srcRect l="5684" t="7625" r="5764" b="8432"/>
          <a:stretch/>
        </p:blipFill>
        <p:spPr>
          <a:xfrm>
            <a:off x="7868099" y="3041297"/>
            <a:ext cx="3286043" cy="2250564"/>
          </a:xfrm>
          <a:prstGeom prst="rect">
            <a:avLst/>
          </a:prstGeom>
        </p:spPr>
      </p:pic>
      <p:sp>
        <p:nvSpPr>
          <p:cNvPr id="5" name="Rectángulo 4">
            <a:extLst>
              <a:ext uri="{FF2B5EF4-FFF2-40B4-BE49-F238E27FC236}">
                <a16:creationId xmlns:a16="http://schemas.microsoft.com/office/drawing/2014/main" id="{3E21F746-81B6-96A2-892B-238378117DE8}"/>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99B918B-B0AE-1C6E-8B23-BE5196133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A391E71-004A-A71E-017C-937B3EFC852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4" name="CuadroTexto 13">
            <a:extLst>
              <a:ext uri="{FF2B5EF4-FFF2-40B4-BE49-F238E27FC236}">
                <a16:creationId xmlns:a16="http://schemas.microsoft.com/office/drawing/2014/main" id="{335C1AAA-E1C5-3CEA-21B1-792694DA3D5C}"/>
              </a:ext>
            </a:extLst>
          </p:cNvPr>
          <p:cNvSpPr txBox="1"/>
          <p:nvPr/>
        </p:nvSpPr>
        <p:spPr>
          <a:xfrm>
            <a:off x="717166" y="6050453"/>
            <a:ext cx="10436976" cy="738664"/>
          </a:xfrm>
          <a:prstGeom prst="rect">
            <a:avLst/>
          </a:prstGeom>
          <a:noFill/>
        </p:spPr>
        <p:txBody>
          <a:bodyPr wrap="square">
            <a:spAutoFit/>
          </a:bodyPr>
          <a:lstStyle/>
          <a:p>
            <a:pPr marL="0" indent="0" algn="just">
              <a:buNone/>
            </a:pPr>
            <a:r>
              <a:rPr lang="es-ES" sz="1400" dirty="0">
                <a:solidFill>
                  <a:srgbClr val="FF0000"/>
                </a:solidFill>
                <a:latin typeface="Century Gothic" panose="020B0502020202020204" pitchFamily="34" charset="0"/>
              </a:rPr>
              <a:t>*IBF de los FCL de los proyectos.</a:t>
            </a:r>
          </a:p>
          <a:p>
            <a:pPr marL="0" indent="0" algn="just">
              <a:buNone/>
            </a:pPr>
            <a:r>
              <a:rPr lang="es-ES" sz="1400" dirty="0">
                <a:solidFill>
                  <a:srgbClr val="FF0000"/>
                </a:solidFill>
                <a:latin typeface="Century Gothic" panose="020B0502020202020204" pitchFamily="34" charset="0"/>
              </a:rPr>
              <a:t>**Se puede usar todos los indicadores marginales, no olvidar validar que haya un solo cambio de signo en los FCL Marginales para TIR marginal.</a:t>
            </a:r>
            <a:endParaRPr lang="es-ES_tradnl" sz="1400" dirty="0">
              <a:solidFill>
                <a:srgbClr val="FF0000"/>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09185AFF-FBA0-54E0-8BBD-89FB29099EB6}"/>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36</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01509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A98C5-CE25-79C8-5233-312BAD82F0D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2F0DA3-0238-540F-A5BC-82963A920029}"/>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AB15E076-A03B-DD76-0E16-94C12BE6739D}"/>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FC1A168-3BE7-A68C-A7AD-064691BD60E3}"/>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A94420A-8796-920C-7160-FCF196B83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2E6CCFF-8ABD-BE60-E319-D721CFC8767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DBD7B39B-DB1F-B694-FF19-268E87E2D7E9}"/>
              </a:ext>
            </a:extLst>
          </p:cNvPr>
          <p:cNvSpPr/>
          <p:nvPr/>
        </p:nvSpPr>
        <p:spPr>
          <a:xfrm>
            <a:off x="2806200" y="277272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Proyectos Mutuamente Excluyentes.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rPr>
              <a:t>	</a:t>
            </a:r>
            <a:r>
              <a:rPr lang="es-CO" dirty="0">
                <a:solidFill>
                  <a:schemeClr val="accent3">
                    <a:lumMod val="75000"/>
                  </a:schemeClr>
                </a:solidFill>
                <a:latin typeface="Century Gothic"/>
              </a:rPr>
              <a:t>1.1. </a:t>
            </a:r>
            <a:r>
              <a:rPr lang="es-CO" dirty="0">
                <a:solidFill>
                  <a:schemeClr val="bg2">
                    <a:lumMod val="90000"/>
                  </a:schemeClr>
                </a:solidFill>
                <a:latin typeface="Century Gothic"/>
              </a:rPr>
              <a:t>Caso 2: misma vida útil, pero distinta inversión inicial.</a:t>
            </a:r>
          </a:p>
          <a:p>
            <a:pPr>
              <a:buClr>
                <a:srgbClr val="48BE7A"/>
              </a:buClr>
            </a:pPr>
            <a:endParaRPr lang="es-CO" dirty="0">
              <a:solidFill>
                <a:schemeClr val="accent1"/>
              </a:solidFill>
              <a:latin typeface="Century Gothic"/>
            </a:endParaRPr>
          </a:p>
          <a:p>
            <a:pPr>
              <a:buClr>
                <a:srgbClr val="48BE7A"/>
              </a:buClr>
            </a:pPr>
            <a:r>
              <a:rPr lang="es-CO" dirty="0">
                <a:solidFill>
                  <a:schemeClr val="accent1"/>
                </a:solidFill>
                <a:latin typeface="Century Gothic" panose="020B0502020202020204" pitchFamily="34" charset="0"/>
                <a:cs typeface="Arial"/>
              </a:rPr>
              <a:t>		</a:t>
            </a:r>
            <a:r>
              <a:rPr lang="es-CO" dirty="0">
                <a:solidFill>
                  <a:schemeClr val="accent3">
                    <a:lumMod val="75000"/>
                  </a:schemeClr>
                </a:solidFill>
                <a:latin typeface="Century Gothic" panose="020B0502020202020204" pitchFamily="34" charset="0"/>
                <a:cs typeface="Arial"/>
              </a:rPr>
              <a:t>1.1.1. </a:t>
            </a:r>
            <a:r>
              <a:rPr lang="es-CO" dirty="0">
                <a:solidFill>
                  <a:schemeClr val="bg2">
                    <a:lumMod val="90000"/>
                  </a:schemeClr>
                </a:solidFill>
                <a:latin typeface="Century Gothic" panose="020B0502020202020204" pitchFamily="34" charset="0"/>
                <a:cs typeface="Arial"/>
              </a:rPr>
              <a:t>Análisis marginal, incremental o diferencial.</a:t>
            </a: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 typeface="+mj-lt"/>
              <a:buAutoNum type="arabicPeriod" startAt="2"/>
            </a:pPr>
            <a:r>
              <a:rPr lang="es-CO" dirty="0">
                <a:solidFill>
                  <a:schemeClr val="accent1"/>
                </a:solidFill>
                <a:latin typeface="Century Gothic" panose="020B0502020202020204" pitchFamily="34" charset="0"/>
                <a:cs typeface="Arial"/>
              </a:rPr>
              <a:t>Ejercicios de Práctica.</a:t>
            </a: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5548AF99-E77F-8BB8-7D9B-E1C3EA1BBA36}"/>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37</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68698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3224A-0523-F384-2329-43A4DAB90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B7C81-2C4A-4F3B-8C3B-A864B464AEC9}"/>
              </a:ext>
            </a:extLst>
          </p:cNvPr>
          <p:cNvSpPr>
            <a:spLocks noGrp="1"/>
          </p:cNvSpPr>
          <p:nvPr>
            <p:ph type="title"/>
          </p:nvPr>
        </p:nvSpPr>
        <p:spPr/>
        <p:txBody>
          <a:bodyPr>
            <a:normAutofit/>
          </a:bodyPr>
          <a:lstStyle/>
          <a:p>
            <a:r>
              <a:rPr lang="es-ES_tradnl" sz="3200" dirty="0">
                <a:latin typeface="Century Gothic" panose="020B0502020202020204" pitchFamily="34" charset="0"/>
              </a:rPr>
              <a:t>PREGUNTA 1 (4 MINUTOS)</a:t>
            </a:r>
          </a:p>
        </p:txBody>
      </p:sp>
      <p:pic>
        <p:nvPicPr>
          <p:cNvPr id="13" name="Imagen 12">
            <a:extLst>
              <a:ext uri="{FF2B5EF4-FFF2-40B4-BE49-F238E27FC236}">
                <a16:creationId xmlns:a16="http://schemas.microsoft.com/office/drawing/2014/main" id="{49987BC1-6B9C-E28B-2BE7-C6E942474AB0}"/>
              </a:ext>
            </a:extLst>
          </p:cNvPr>
          <p:cNvPicPr>
            <a:picLocks noChangeAspect="1"/>
          </p:cNvPicPr>
          <p:nvPr/>
        </p:nvPicPr>
        <p:blipFill>
          <a:blip r:embed="rId2"/>
          <a:srcRect b="50222"/>
          <a:stretch/>
        </p:blipFill>
        <p:spPr>
          <a:xfrm>
            <a:off x="454627" y="2862073"/>
            <a:ext cx="5670376" cy="2748765"/>
          </a:xfrm>
          <a:prstGeom prst="rect">
            <a:avLst/>
          </a:prstGeom>
        </p:spPr>
      </p:pic>
      <p:pic>
        <p:nvPicPr>
          <p:cNvPr id="14" name="Imagen 13">
            <a:extLst>
              <a:ext uri="{FF2B5EF4-FFF2-40B4-BE49-F238E27FC236}">
                <a16:creationId xmlns:a16="http://schemas.microsoft.com/office/drawing/2014/main" id="{26A28E07-599E-F2AF-FBDF-EB1146A2F1F6}"/>
              </a:ext>
            </a:extLst>
          </p:cNvPr>
          <p:cNvPicPr>
            <a:picLocks noChangeAspect="1"/>
          </p:cNvPicPr>
          <p:nvPr/>
        </p:nvPicPr>
        <p:blipFill>
          <a:blip r:embed="rId2"/>
          <a:srcRect t="49779"/>
          <a:stretch/>
        </p:blipFill>
        <p:spPr>
          <a:xfrm>
            <a:off x="6066997" y="2140091"/>
            <a:ext cx="5670376" cy="2773216"/>
          </a:xfrm>
          <a:prstGeom prst="rect">
            <a:avLst/>
          </a:prstGeom>
        </p:spPr>
      </p:pic>
      <p:sp>
        <p:nvSpPr>
          <p:cNvPr id="3" name="Rectángulo 2">
            <a:extLst>
              <a:ext uri="{FF2B5EF4-FFF2-40B4-BE49-F238E27FC236}">
                <a16:creationId xmlns:a16="http://schemas.microsoft.com/office/drawing/2014/main" id="{C1D30AFE-9639-367B-5D6C-99483929A216}"/>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B4C6CDB5-A938-32E6-3309-E7E3F4BE0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4ED4E26-BEEA-BBA2-F41B-B77C2E51ABE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7" name="Gráfico 6" descr="Badge Tick1 con relleno sólido">
            <a:extLst>
              <a:ext uri="{FF2B5EF4-FFF2-40B4-BE49-F238E27FC236}">
                <a16:creationId xmlns:a16="http://schemas.microsoft.com/office/drawing/2014/main" id="{A6B07F62-C88B-6136-A687-677B480026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61002" y="4204705"/>
            <a:ext cx="253604" cy="253604"/>
          </a:xfrm>
          <a:prstGeom prst="rect">
            <a:avLst/>
          </a:prstGeom>
        </p:spPr>
      </p:pic>
      <p:pic>
        <p:nvPicPr>
          <p:cNvPr id="8" name="Picture 2" descr="Tendencias ineficaces a la hora de resolver problemas">
            <a:extLst>
              <a:ext uri="{FF2B5EF4-FFF2-40B4-BE49-F238E27FC236}">
                <a16:creationId xmlns:a16="http://schemas.microsoft.com/office/drawing/2014/main" id="{7372864E-D9E1-AC42-EBF8-ABF01BE047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99206" y="4913307"/>
            <a:ext cx="2891043" cy="1754001"/>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3">
            <a:extLst>
              <a:ext uri="{FF2B5EF4-FFF2-40B4-BE49-F238E27FC236}">
                <a16:creationId xmlns:a16="http://schemas.microsoft.com/office/drawing/2014/main" id="{8ACEDC2F-4456-4505-415A-00BFF8AC0D5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38</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103083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6578-F2B0-7638-CF1E-64270F5D3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6BE50-F64E-4F60-087C-3711190FC98B}"/>
              </a:ext>
            </a:extLst>
          </p:cNvPr>
          <p:cNvSpPr>
            <a:spLocks noGrp="1"/>
          </p:cNvSpPr>
          <p:nvPr>
            <p:ph type="title"/>
          </p:nvPr>
        </p:nvSpPr>
        <p:spPr/>
        <p:txBody>
          <a:bodyPr>
            <a:normAutofit/>
          </a:bodyPr>
          <a:lstStyle/>
          <a:p>
            <a:r>
              <a:rPr lang="es-ES_tradnl" sz="3200" dirty="0">
                <a:latin typeface="Century Gothic" panose="020B0502020202020204" pitchFamily="34" charset="0"/>
              </a:rPr>
              <a:t>PREGUNTA 2 (8 MINUTOS)</a:t>
            </a:r>
          </a:p>
        </p:txBody>
      </p:sp>
      <p:sp>
        <p:nvSpPr>
          <p:cNvPr id="3" name="Rectángulo 2">
            <a:extLst>
              <a:ext uri="{FF2B5EF4-FFF2-40B4-BE49-F238E27FC236}">
                <a16:creationId xmlns:a16="http://schemas.microsoft.com/office/drawing/2014/main" id="{8B5AD8A0-BC14-5C4C-0406-29B489968CD1}"/>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2C631BB6-BB11-E079-7F4A-6663CF3DA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7DC9A6A-E120-8805-A4A3-1EB0C0840CA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Content Placeholder 2">
            <a:extLst>
              <a:ext uri="{FF2B5EF4-FFF2-40B4-BE49-F238E27FC236}">
                <a16:creationId xmlns:a16="http://schemas.microsoft.com/office/drawing/2014/main" id="{9C727225-DB8F-7269-8640-CA365A576C6A}"/>
              </a:ext>
            </a:extLst>
          </p:cNvPr>
          <p:cNvSpPr>
            <a:spLocks noGrp="1"/>
          </p:cNvSpPr>
          <p:nvPr>
            <p:ph idx="1"/>
          </p:nvPr>
        </p:nvSpPr>
        <p:spPr>
          <a:xfrm>
            <a:off x="508930" y="1926333"/>
            <a:ext cx="7368542" cy="3419610"/>
          </a:xfrm>
        </p:spPr>
        <p:txBody>
          <a:bodyPr>
            <a:normAutofit/>
          </a:bodyPr>
          <a:lstStyle/>
          <a:p>
            <a:pPr marL="0" indent="0" algn="just">
              <a:buNone/>
            </a:pPr>
            <a:r>
              <a:rPr lang="es-ES" sz="1600" dirty="0">
                <a:latin typeface="Century Gothic" panose="020B0502020202020204" pitchFamily="34" charset="0"/>
              </a:rPr>
              <a:t>Hace dos años usted adquirió un vehículo por un valor de $45.000.000. Hoy tuvo un choque contra un poste que dejó su vehículo fuera de servicio. Ahora usted debe decidir si realiza el arreglo con el seguro todo riesgo que viene pagando (Alternativa A) o si hace las reparaciones por su cuenta (Alternativa B). Para ello, dispone de la siguiente información:</a:t>
            </a:r>
          </a:p>
          <a:p>
            <a:pPr algn="just"/>
            <a:r>
              <a:rPr lang="es-ES" sz="1600" dirty="0">
                <a:latin typeface="Century Gothic" panose="020B0502020202020204" pitchFamily="34" charset="0"/>
              </a:rPr>
              <a:t>La póliza de seguro original del vehículo tiene un valor mensual total de $210.000 que usted siempre ha pagado y seguirá pagando. Sin embargo, dado que usted nunca ha hecho reclamaciones al seguro desde la adquisición del vehículo, usted hoy en día tiene un descuento del 30% sobre el valor de la póliza que se prolongará por dos años más. </a:t>
            </a:r>
          </a:p>
        </p:txBody>
      </p:sp>
      <p:pic>
        <p:nvPicPr>
          <p:cNvPr id="10" name="Imagen 9">
            <a:extLst>
              <a:ext uri="{FF2B5EF4-FFF2-40B4-BE49-F238E27FC236}">
                <a16:creationId xmlns:a16="http://schemas.microsoft.com/office/drawing/2014/main" id="{098F084E-1AE1-8B19-2183-8F13A7B959D6}"/>
              </a:ext>
            </a:extLst>
          </p:cNvPr>
          <p:cNvPicPr>
            <a:picLocks noChangeAspect="1"/>
          </p:cNvPicPr>
          <p:nvPr/>
        </p:nvPicPr>
        <p:blipFill>
          <a:blip r:embed="rId3"/>
          <a:stretch>
            <a:fillRect/>
          </a:stretch>
        </p:blipFill>
        <p:spPr>
          <a:xfrm>
            <a:off x="8001175" y="2382493"/>
            <a:ext cx="3548860" cy="2505697"/>
          </a:xfrm>
          <a:prstGeom prst="rect">
            <a:avLst/>
          </a:prstGeom>
        </p:spPr>
      </p:pic>
      <p:sp>
        <p:nvSpPr>
          <p:cNvPr id="12" name="CuadroTexto 11">
            <a:extLst>
              <a:ext uri="{FF2B5EF4-FFF2-40B4-BE49-F238E27FC236}">
                <a16:creationId xmlns:a16="http://schemas.microsoft.com/office/drawing/2014/main" id="{FEBF260B-26FF-F566-B8EA-818645F80E15}"/>
              </a:ext>
            </a:extLst>
          </p:cNvPr>
          <p:cNvSpPr txBox="1"/>
          <p:nvPr/>
        </p:nvSpPr>
        <p:spPr>
          <a:xfrm>
            <a:off x="508930" y="5142045"/>
            <a:ext cx="10350280" cy="1323439"/>
          </a:xfrm>
          <a:prstGeom prst="rect">
            <a:avLst/>
          </a:prstGeom>
          <a:noFill/>
        </p:spPr>
        <p:txBody>
          <a:bodyPr wrap="square" lIns="91440" tIns="45720" rIns="91440" bIns="45720" anchor="t">
            <a:spAutoFit/>
          </a:bodyPr>
          <a:lstStyle/>
          <a:p>
            <a:pPr marL="285750" indent="-285750" algn="just">
              <a:buClr>
                <a:schemeClr val="accent2"/>
              </a:buClr>
              <a:buFont typeface="Wingdings" panose="05000000000000000000" pitchFamily="2" charset="2"/>
              <a:buChar char="§"/>
            </a:pPr>
            <a:r>
              <a:rPr lang="es-ES" sz="1600" dirty="0">
                <a:latin typeface="Century Gothic"/>
              </a:rPr>
              <a:t>Adicionalmente usted sabe, por cotizaciones en su taller de confianza (no el taller del seguro) que </a:t>
            </a:r>
            <a:r>
              <a:rPr lang="es-ES" sz="1600">
                <a:latin typeface="Century Gothic"/>
              </a:rPr>
              <a:t>el arreglo de su vehículo tiene un valor de $2.700.000. Si decide hacer la reparación en el taller del </a:t>
            </a:r>
            <a:r>
              <a:rPr lang="es-ES" sz="1600" dirty="0">
                <a:latin typeface="Century Gothic"/>
              </a:rPr>
              <a:t>seguro, la reparación tendrá un costo de $3.500.000. En dado caso, usted deberá cancelar al seguro el deducible que corresponde al salario mínimo mensual legal vigente sin auxilio de transporte. </a:t>
            </a:r>
          </a:p>
        </p:txBody>
      </p:sp>
      <p:sp>
        <p:nvSpPr>
          <p:cNvPr id="7" name="Slide Number Placeholder 3">
            <a:extLst>
              <a:ext uri="{FF2B5EF4-FFF2-40B4-BE49-F238E27FC236}">
                <a16:creationId xmlns:a16="http://schemas.microsoft.com/office/drawing/2014/main" id="{0D14D91B-6A7F-26B5-C40C-02DE8A1E12DF}"/>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39</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23215930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778AC-7E94-18CD-04CD-3DF6A9919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18968-1D6E-6FA5-A4C7-E9743BAA791A}"/>
              </a:ext>
            </a:extLst>
          </p:cNvPr>
          <p:cNvSpPr>
            <a:spLocks noGrp="1"/>
          </p:cNvSpPr>
          <p:nvPr>
            <p:ph type="title"/>
          </p:nvPr>
        </p:nvSpPr>
        <p:spPr/>
        <p:txBody>
          <a:bodyPr>
            <a:normAutofit/>
          </a:bodyPr>
          <a:lstStyle/>
          <a:p>
            <a:r>
              <a:rPr lang="es-ES_tradnl" sz="3200" dirty="0">
                <a:latin typeface="Century Gothic" panose="020B0502020202020204" pitchFamily="34" charset="0"/>
              </a:rPr>
              <a:t>PREGUNTA 2 (8 MINUTOS)</a:t>
            </a:r>
          </a:p>
        </p:txBody>
      </p:sp>
      <p:sp>
        <p:nvSpPr>
          <p:cNvPr id="3" name="Rectángulo 2">
            <a:extLst>
              <a:ext uri="{FF2B5EF4-FFF2-40B4-BE49-F238E27FC236}">
                <a16:creationId xmlns:a16="http://schemas.microsoft.com/office/drawing/2014/main" id="{497EB7FA-D8E5-E759-8319-C94E540B7688}"/>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0AD84AD5-67AE-8406-ECAB-D31AF98FD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AC213DA-213F-8102-77B0-DF873EB0A18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10" name="Imagen 9">
            <a:extLst>
              <a:ext uri="{FF2B5EF4-FFF2-40B4-BE49-F238E27FC236}">
                <a16:creationId xmlns:a16="http://schemas.microsoft.com/office/drawing/2014/main" id="{33A2DEB5-914C-3325-631F-A57C509E0D8E}"/>
              </a:ext>
            </a:extLst>
          </p:cNvPr>
          <p:cNvPicPr>
            <a:picLocks noChangeAspect="1"/>
          </p:cNvPicPr>
          <p:nvPr/>
        </p:nvPicPr>
        <p:blipFill>
          <a:blip r:embed="rId3"/>
          <a:stretch>
            <a:fillRect/>
          </a:stretch>
        </p:blipFill>
        <p:spPr>
          <a:xfrm>
            <a:off x="7898943" y="2376814"/>
            <a:ext cx="3548860" cy="2505697"/>
          </a:xfrm>
          <a:prstGeom prst="rect">
            <a:avLst/>
          </a:prstGeom>
        </p:spPr>
      </p:pic>
      <p:sp>
        <p:nvSpPr>
          <p:cNvPr id="11" name="Content Placeholder 2">
            <a:extLst>
              <a:ext uri="{FF2B5EF4-FFF2-40B4-BE49-F238E27FC236}">
                <a16:creationId xmlns:a16="http://schemas.microsoft.com/office/drawing/2014/main" id="{7C189C36-69E3-8142-C501-15825B0CA68A}"/>
              </a:ext>
            </a:extLst>
          </p:cNvPr>
          <p:cNvSpPr>
            <a:spLocks noGrp="1"/>
          </p:cNvSpPr>
          <p:nvPr>
            <p:ph idx="1"/>
          </p:nvPr>
        </p:nvSpPr>
        <p:spPr>
          <a:xfrm>
            <a:off x="531647" y="1964053"/>
            <a:ext cx="7101605" cy="3331218"/>
          </a:xfrm>
        </p:spPr>
        <p:txBody>
          <a:bodyPr>
            <a:normAutofit/>
          </a:bodyPr>
          <a:lstStyle/>
          <a:p>
            <a:pPr algn="just"/>
            <a:r>
              <a:rPr lang="es-ES" sz="1700" dirty="0">
                <a:latin typeface="Century Gothic" panose="020B0502020202020204" pitchFamily="34" charset="0"/>
              </a:rPr>
              <a:t>Si usted hace la reclamación al seguro pierde automáticamente el descuento del 30% en el valor de la póliza y su cuota mensual de hoy en adelante durante los siguientes dos años sería de $210.000. Si usted hace las reparaciones por su cuenta, conservará el descuento del 30%.</a:t>
            </a:r>
          </a:p>
          <a:p>
            <a:pPr algn="just"/>
            <a:endParaRPr lang="es-ES" sz="1700" b="1" dirty="0">
              <a:solidFill>
                <a:srgbClr val="D7A700"/>
              </a:solidFill>
              <a:latin typeface="Century Gothic" panose="020B0502020202020204" pitchFamily="34" charset="0"/>
            </a:endParaRPr>
          </a:p>
          <a:p>
            <a:pPr marL="0" indent="0" algn="just">
              <a:buNone/>
            </a:pPr>
            <a:r>
              <a:rPr lang="es-ES" sz="1700" b="1" dirty="0">
                <a:solidFill>
                  <a:srgbClr val="D7A700"/>
                </a:solidFill>
                <a:latin typeface="Century Gothic" panose="020B0502020202020204" pitchFamily="34" charset="0"/>
              </a:rPr>
              <a:t>¿</a:t>
            </a:r>
            <a:r>
              <a:rPr lang="es-ES" sz="1700" dirty="0">
                <a:latin typeface="Century Gothic" panose="020B0502020202020204" pitchFamily="34" charset="0"/>
              </a:rPr>
              <a:t>Cuál es la decisión más acertada desde el punto de vista económico si su costo de oportunidad actual es del 13% EA</a:t>
            </a:r>
            <a:r>
              <a:rPr lang="es-ES" sz="1700" b="1" dirty="0">
                <a:solidFill>
                  <a:srgbClr val="D7A700"/>
                </a:solidFill>
                <a:latin typeface="Century Gothic" panose="020B0502020202020204" pitchFamily="34" charset="0"/>
              </a:rPr>
              <a:t>?</a:t>
            </a:r>
            <a:r>
              <a:rPr lang="es-ES" sz="1700" dirty="0">
                <a:latin typeface="Century Gothic" panose="020B0502020202020204" pitchFamily="34" charset="0"/>
              </a:rPr>
              <a:t> Se pide hacer el ejercicio mediante el criterio de TIR.</a:t>
            </a:r>
            <a:endParaRPr lang="es-ES_tradnl" sz="17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6BE1025-3226-CB5A-1EBA-82DB4AFF4E3F}"/>
                  </a:ext>
                </a:extLst>
              </p:cNvPr>
              <p:cNvSpPr txBox="1"/>
              <p:nvPr/>
            </p:nvSpPr>
            <p:spPr>
              <a:xfrm>
                <a:off x="4273324" y="5618074"/>
                <a:ext cx="364535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b="1" i="1" smtClean="0">
                          <a:solidFill>
                            <a:srgbClr val="D7A700"/>
                          </a:solidFill>
                          <a:latin typeface="Cambria Math" panose="02040503050406030204" pitchFamily="18" charset="0"/>
                        </a:rPr>
                        <m:t>𝑻𝑰</m:t>
                      </m:r>
                      <m:sSub>
                        <m:sSubPr>
                          <m:ctrlPr>
                            <a:rPr lang="es-ES" b="1" i="1" smtClean="0">
                              <a:solidFill>
                                <a:srgbClr val="D7A700"/>
                              </a:solidFill>
                              <a:latin typeface="Cambria Math" panose="02040503050406030204" pitchFamily="18" charset="0"/>
                            </a:rPr>
                          </m:ctrlPr>
                        </m:sSubPr>
                        <m:e>
                          <m:r>
                            <a:rPr lang="es-ES" b="1" i="1" smtClean="0">
                              <a:solidFill>
                                <a:srgbClr val="D7A700"/>
                              </a:solidFill>
                              <a:latin typeface="Cambria Math" panose="02040503050406030204" pitchFamily="18" charset="0"/>
                            </a:rPr>
                            <m:t>𝑹</m:t>
                          </m:r>
                        </m:e>
                        <m:sub>
                          <m:r>
                            <a:rPr lang="es-ES" b="1" i="1" smtClean="0">
                              <a:solidFill>
                                <a:srgbClr val="D7A700"/>
                              </a:solidFill>
                              <a:latin typeface="Cambria Math" panose="02040503050406030204" pitchFamily="18" charset="0"/>
                            </a:rPr>
                            <m:t>𝑩</m:t>
                          </m:r>
                          <m:r>
                            <a:rPr lang="es-ES" b="1" i="1" smtClean="0">
                              <a:solidFill>
                                <a:srgbClr val="D7A700"/>
                              </a:solidFill>
                              <a:latin typeface="Cambria Math" panose="02040503050406030204" pitchFamily="18" charset="0"/>
                            </a:rPr>
                            <m:t> −</m:t>
                          </m:r>
                          <m:r>
                            <a:rPr lang="es-ES" b="1" i="1" smtClean="0">
                              <a:solidFill>
                                <a:srgbClr val="D7A700"/>
                              </a:solidFill>
                              <a:latin typeface="Cambria Math" panose="02040503050406030204" pitchFamily="18" charset="0"/>
                            </a:rPr>
                            <m:t>𝑨</m:t>
                          </m:r>
                        </m:sub>
                      </m:sSub>
                      <m:r>
                        <a:rPr lang="es-ES" b="1" i="1" smtClean="0">
                          <a:solidFill>
                            <a:srgbClr val="D7A700"/>
                          </a:solidFill>
                          <a:latin typeface="Cambria Math" panose="02040503050406030204" pitchFamily="18" charset="0"/>
                        </a:rPr>
                        <m:t>=</m:t>
                      </m:r>
                      <m:r>
                        <a:rPr lang="es-ES" b="1" i="1" smtClean="0">
                          <a:solidFill>
                            <a:srgbClr val="D7A700"/>
                          </a:solidFill>
                          <a:latin typeface="Cambria Math" panose="02040503050406030204" pitchFamily="18" charset="0"/>
                        </a:rPr>
                        <m:t>𝟒</m:t>
                      </m:r>
                      <m:r>
                        <a:rPr lang="es-ES" b="1" i="1" smtClean="0">
                          <a:solidFill>
                            <a:srgbClr val="D7A700"/>
                          </a:solidFill>
                          <a:latin typeface="Cambria Math" panose="02040503050406030204" pitchFamily="18" charset="0"/>
                        </a:rPr>
                        <m:t>,</m:t>
                      </m:r>
                      <m:r>
                        <a:rPr lang="es-CO" b="1" i="1" smtClean="0">
                          <a:solidFill>
                            <a:srgbClr val="D7A700"/>
                          </a:solidFill>
                          <a:latin typeface="Cambria Math" panose="02040503050406030204" pitchFamily="18" charset="0"/>
                        </a:rPr>
                        <m:t>𝟏</m:t>
                      </m:r>
                      <m:r>
                        <a:rPr lang="es-ES" b="1" i="1" smtClean="0">
                          <a:solidFill>
                            <a:srgbClr val="D7A700"/>
                          </a:solidFill>
                          <a:latin typeface="Cambria Math" panose="02040503050406030204" pitchFamily="18" charset="0"/>
                        </a:rPr>
                        <m:t>𝟐</m:t>
                      </m:r>
                      <m:r>
                        <a:rPr lang="es-ES" b="1" i="1" smtClean="0">
                          <a:solidFill>
                            <a:srgbClr val="D7A700"/>
                          </a:solidFill>
                          <a:latin typeface="Cambria Math" panose="02040503050406030204" pitchFamily="18" charset="0"/>
                        </a:rPr>
                        <m:t>% </m:t>
                      </m:r>
                      <m:r>
                        <a:rPr lang="es-ES" b="1" i="1" smtClean="0">
                          <a:solidFill>
                            <a:srgbClr val="D7A700"/>
                          </a:solidFill>
                          <a:latin typeface="Cambria Math" panose="02040503050406030204" pitchFamily="18" charset="0"/>
                        </a:rPr>
                        <m:t>𝑴𝑽</m:t>
                      </m:r>
                      <m:r>
                        <a:rPr lang="es-ES" b="1" i="1" smtClean="0">
                          <a:solidFill>
                            <a:srgbClr val="D7A700"/>
                          </a:solidFill>
                          <a:latin typeface="Cambria Math" panose="02040503050406030204" pitchFamily="18" charset="0"/>
                        </a:rPr>
                        <m:t>&gt;</m:t>
                      </m:r>
                      <m:r>
                        <a:rPr lang="es-ES" b="1" i="1" smtClean="0">
                          <a:solidFill>
                            <a:srgbClr val="D7A700"/>
                          </a:solidFill>
                          <a:latin typeface="Cambria Math" panose="02040503050406030204" pitchFamily="18" charset="0"/>
                        </a:rPr>
                        <m:t>𝑪𝑶</m:t>
                      </m:r>
                    </m:oMath>
                  </m:oMathPara>
                </a14:m>
                <a:endParaRPr lang="es-ES" b="1" i="1" dirty="0">
                  <a:solidFill>
                    <a:srgbClr val="D7A700"/>
                  </a:solidFill>
                  <a:latin typeface="Cambria Math" panose="02040503050406030204" pitchFamily="18" charset="0"/>
                </a:endParaRPr>
              </a:p>
            </p:txBody>
          </p:sp>
        </mc:Choice>
        <mc:Fallback xmlns="">
          <p:sp>
            <p:nvSpPr>
              <p:cNvPr id="7" name="CuadroTexto 6">
                <a:extLst>
                  <a:ext uri="{FF2B5EF4-FFF2-40B4-BE49-F238E27FC236}">
                    <a16:creationId xmlns:a16="http://schemas.microsoft.com/office/drawing/2014/main" id="{16BE1025-3226-CB5A-1EBA-82DB4AFF4E3F}"/>
                  </a:ext>
                </a:extLst>
              </p:cNvPr>
              <p:cNvSpPr txBox="1">
                <a:spLocks noRot="1" noChangeAspect="1" noMove="1" noResize="1" noEditPoints="1" noAdjustHandles="1" noChangeArrowheads="1" noChangeShapeType="1" noTextEdit="1"/>
              </p:cNvSpPr>
              <p:nvPr/>
            </p:nvSpPr>
            <p:spPr>
              <a:xfrm>
                <a:off x="4273324" y="5618074"/>
                <a:ext cx="3645351" cy="276999"/>
              </a:xfrm>
              <a:prstGeom prst="rect">
                <a:avLst/>
              </a:prstGeom>
              <a:blipFill>
                <a:blip r:embed="rId4"/>
                <a:stretch>
                  <a:fillRect b="-17778"/>
                </a:stretch>
              </a:blipFill>
            </p:spPr>
            <p:txBody>
              <a:bodyPr/>
              <a:lstStyle/>
              <a:p>
                <a:r>
                  <a:rPr lang="es-CO">
                    <a:noFill/>
                  </a:rPr>
                  <a:t> </a:t>
                </a:r>
              </a:p>
            </p:txBody>
          </p:sp>
        </mc:Fallback>
      </mc:AlternateContent>
      <p:sp>
        <p:nvSpPr>
          <p:cNvPr id="8" name="Slide Number Placeholder 3">
            <a:extLst>
              <a:ext uri="{FF2B5EF4-FFF2-40B4-BE49-F238E27FC236}">
                <a16:creationId xmlns:a16="http://schemas.microsoft.com/office/drawing/2014/main" id="{5097BFE1-2E2A-1A95-88C8-E56C11175932}"/>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40</a:t>
            </a:fld>
            <a:endParaRPr lang="en-US" sz="1800" b="1" dirty="0">
              <a:latin typeface="Century Gothic" panose="020B0502020202020204" pitchFamily="34" charset="0"/>
            </a:endParaRPr>
          </a:p>
        </p:txBody>
      </p:sp>
    </p:spTree>
    <p:extLst>
      <p:ext uri="{BB962C8B-B14F-4D97-AF65-F5344CB8AC3E}">
        <p14:creationId xmlns:p14="http://schemas.microsoft.com/office/powerpoint/2010/main" val="32777699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7" name="Título 1">
            <a:extLst>
              <a:ext uri="{FF2B5EF4-FFF2-40B4-BE49-F238E27FC236}">
                <a16:creationId xmlns:a16="http://schemas.microsoft.com/office/drawing/2014/main" id="{19B3DBF7-E883-DD2B-88E5-ABF043B8C785}"/>
              </a:ext>
            </a:extLst>
          </p:cNvPr>
          <p:cNvSpPr>
            <a:spLocks noGrp="1"/>
          </p:cNvSpPr>
          <p:nvPr>
            <p:ph type="ctrTitle"/>
          </p:nvPr>
        </p:nvSpPr>
        <p:spPr>
          <a:xfrm>
            <a:off x="470868" y="1814732"/>
            <a:ext cx="10687556" cy="826833"/>
          </a:xfrm>
        </p:spPr>
        <p:txBody>
          <a:bodyPr>
            <a:noAutofit/>
          </a:bodyPr>
          <a:lstStyle/>
          <a:p>
            <a:r>
              <a:rPr lang="es-CO" sz="3000">
                <a:latin typeface="Century Gothic"/>
              </a:rPr>
              <a:t>COMPARACIÓN Y SELECCIÓN DE PROYECTOS (</a:t>
            </a:r>
            <a:r>
              <a:rPr lang="es-CO" sz="3000">
                <a:solidFill>
                  <a:srgbClr val="D7A700"/>
                </a:solidFill>
                <a:latin typeface="Century Gothic"/>
              </a:rPr>
              <a:t>PARTE II</a:t>
            </a:r>
            <a:r>
              <a:rPr lang="es-CO" sz="3000">
                <a:latin typeface="Century Gothic"/>
              </a:rPr>
              <a:t>)</a:t>
            </a:r>
            <a:endParaRPr lang="es-CO" sz="3000">
              <a:latin typeface="Century Gothic" panose="020B0502020202020204" pitchFamily="34" charset="0"/>
            </a:endParaRPr>
          </a:p>
        </p:txBody>
      </p:sp>
      <p:sp>
        <p:nvSpPr>
          <p:cNvPr id="2" name="Rectángulo 1">
            <a:extLst>
              <a:ext uri="{FF2B5EF4-FFF2-40B4-BE49-F238E27FC236}">
                <a16:creationId xmlns:a16="http://schemas.microsoft.com/office/drawing/2014/main" id="{4A4F07AF-AF3C-470C-D0EC-37DE8F11ADD2}"/>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A272E49C-3B76-2338-2F45-A554634109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0CEFADF-0F60-35C0-C0D1-B1843C0AC10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CuadroTexto 9">
            <a:extLst>
              <a:ext uri="{FF2B5EF4-FFF2-40B4-BE49-F238E27FC236}">
                <a16:creationId xmlns:a16="http://schemas.microsoft.com/office/drawing/2014/main" id="{31927E9E-BC22-929C-F20C-BCCB857C00E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Dividend</Template>
  <TotalTime>1893</TotalTime>
  <Words>3353</Words>
  <Application>Microsoft Office PowerPoint</Application>
  <PresentationFormat>Panorámica</PresentationFormat>
  <Paragraphs>738</Paragraphs>
  <Slides>41</Slides>
  <Notes>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41</vt:i4>
      </vt:variant>
    </vt:vector>
  </HeadingPairs>
  <TitlesOfParts>
    <vt:vector size="48" baseType="lpstr">
      <vt:lpstr>Calibri</vt:lpstr>
      <vt:lpstr>Cambria Math</vt:lpstr>
      <vt:lpstr>Century Gothic</vt:lpstr>
      <vt:lpstr>Gill Sans MT</vt:lpstr>
      <vt:lpstr>Wingdings</vt:lpstr>
      <vt:lpstr>Wingdings 2</vt:lpstr>
      <vt:lpstr>Dividendo</vt:lpstr>
      <vt:lpstr>COMPARACIÓN Y SELECCIÓN DE PROYECTOS (PARTE II)</vt:lpstr>
      <vt:lpstr>AGENDA PROPUESTA</vt:lpstr>
      <vt:lpstr>AGENDA PROPUESTA</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AGENDA PROPUESTA</vt:lpstr>
      <vt:lpstr>Proyectos Mutuamente Excluyentes – CASO 2</vt:lpstr>
      <vt:lpstr>Proyectos Mutuamente Excluyentes – CASO 2</vt:lpstr>
      <vt:lpstr>Proyectos Mutuamente Excluyentes – CASO 2</vt:lpstr>
      <vt:lpstr>Proyectos Mutuamente Excluyentes – CASO 2</vt:lpstr>
      <vt:lpstr>REPASO</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AGENDA PROPUESTA</vt:lpstr>
      <vt:lpstr>PREGUNTA 1 (4 MINUTOS)</vt:lpstr>
      <vt:lpstr>PREGUNTA 2 (8 MINUTOS)</vt:lpstr>
      <vt:lpstr>PREGUNTA 2 (8 MINUTOS)</vt:lpstr>
      <vt:lpstr>COMPARACIÓN Y SELECCIÓN DE PROYECTOS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 Rodriguez</cp:lastModifiedBy>
  <cp:revision>6</cp:revision>
  <dcterms:created xsi:type="dcterms:W3CDTF">2019-06-20T04:25:04Z</dcterms:created>
  <dcterms:modified xsi:type="dcterms:W3CDTF">2026-03-26T15:45:40Z</dcterms:modified>
</cp:coreProperties>
</file>