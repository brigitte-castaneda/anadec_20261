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32" r:id="rId1"/>
  </p:sldMasterIdLst>
  <p:notesMasterIdLst>
    <p:notesMasterId r:id="rId66"/>
  </p:notesMasterIdLst>
  <p:handoutMasterIdLst>
    <p:handoutMasterId r:id="rId67"/>
  </p:handoutMasterIdLst>
  <p:sldIdLst>
    <p:sldId id="577" r:id="rId2"/>
    <p:sldId id="624" r:id="rId3"/>
    <p:sldId id="502" r:id="rId4"/>
    <p:sldId id="579" r:id="rId5"/>
    <p:sldId id="580" r:id="rId6"/>
    <p:sldId id="581" r:id="rId7"/>
    <p:sldId id="582" r:id="rId8"/>
    <p:sldId id="583" r:id="rId9"/>
    <p:sldId id="584" r:id="rId10"/>
    <p:sldId id="585" r:id="rId11"/>
    <p:sldId id="586" r:id="rId12"/>
    <p:sldId id="587" r:id="rId13"/>
    <p:sldId id="588" r:id="rId14"/>
    <p:sldId id="589" r:id="rId15"/>
    <p:sldId id="590" r:id="rId16"/>
    <p:sldId id="591" r:id="rId17"/>
    <p:sldId id="592" r:id="rId18"/>
    <p:sldId id="593" r:id="rId19"/>
    <p:sldId id="610" r:id="rId20"/>
    <p:sldId id="622" r:id="rId21"/>
    <p:sldId id="611" r:id="rId22"/>
    <p:sldId id="612" r:id="rId23"/>
    <p:sldId id="613" r:id="rId24"/>
    <p:sldId id="595" r:id="rId25"/>
    <p:sldId id="596" r:id="rId26"/>
    <p:sldId id="597" r:id="rId27"/>
    <p:sldId id="598" r:id="rId28"/>
    <p:sldId id="599" r:id="rId29"/>
    <p:sldId id="600" r:id="rId30"/>
    <p:sldId id="601" r:id="rId31"/>
    <p:sldId id="602" r:id="rId32"/>
    <p:sldId id="603" r:id="rId33"/>
    <p:sldId id="604" r:id="rId34"/>
    <p:sldId id="605" r:id="rId35"/>
    <p:sldId id="606" r:id="rId36"/>
    <p:sldId id="607" r:id="rId37"/>
    <p:sldId id="608" r:id="rId38"/>
    <p:sldId id="609" r:id="rId39"/>
    <p:sldId id="614" r:id="rId40"/>
    <p:sldId id="615" r:id="rId41"/>
    <p:sldId id="616" r:id="rId42"/>
    <p:sldId id="621" r:id="rId43"/>
    <p:sldId id="398" r:id="rId44"/>
    <p:sldId id="541" r:id="rId45"/>
    <p:sldId id="542" r:id="rId46"/>
    <p:sldId id="544" r:id="rId47"/>
    <p:sldId id="546" r:id="rId48"/>
    <p:sldId id="547" r:id="rId49"/>
    <p:sldId id="548" r:id="rId50"/>
    <p:sldId id="550" r:id="rId51"/>
    <p:sldId id="553" r:id="rId52"/>
    <p:sldId id="559" r:id="rId53"/>
    <p:sldId id="554" r:id="rId54"/>
    <p:sldId id="556" r:id="rId55"/>
    <p:sldId id="555" r:id="rId56"/>
    <p:sldId id="560" r:id="rId57"/>
    <p:sldId id="557" r:id="rId58"/>
    <p:sldId id="561" r:id="rId59"/>
    <p:sldId id="562" r:id="rId60"/>
    <p:sldId id="571" r:id="rId61"/>
    <p:sldId id="573" r:id="rId62"/>
    <p:sldId id="575" r:id="rId63"/>
    <p:sldId id="576" r:id="rId64"/>
    <p:sldId id="623" r:id="rId6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E6CB"/>
    <a:srgbClr val="48BE7A"/>
    <a:srgbClr val="FFFFFF"/>
    <a:srgbClr val="D7A700"/>
    <a:srgbClr val="6666FF"/>
    <a:srgbClr val="FFF4E6"/>
    <a:srgbClr val="002F90"/>
    <a:srgbClr val="E8F8FA"/>
    <a:srgbClr val="DFFFFF"/>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58D0EF-7513-364D-A8C4-213096384E5E}" v="49" dt="2026-05-05T15:35:36.814"/>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5BE263C-DBD7-4A20-BB59-AAB30ACAA65A}" styleName="Estilo medio 3 - Énfasis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48"/>
    <p:restoredTop sz="94632"/>
  </p:normalViewPr>
  <p:slideViewPr>
    <p:cSldViewPr snapToGrid="0">
      <p:cViewPr varScale="1">
        <p:scale>
          <a:sx n="166" d="100"/>
          <a:sy n="166" d="100"/>
        </p:scale>
        <p:origin x="192" y="3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5/05/26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5/05/26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387179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091938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F2C1E-888C-1DEC-FADD-ABFFDEA67E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A615A05-C551-F640-D624-7E99B33289A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8071C6B-32B2-E316-2CD8-18F307EAC79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983133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4087E-19CF-D51D-BFC5-79DC49D2EB2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4604A6D-65D9-3CA0-FCB8-B54CCC41844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016A4C2-72F3-EF13-0F99-CDB71098611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001045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a:p>
        </p:txBody>
      </p:sp>
    </p:spTree>
    <p:extLst>
      <p:ext uri="{BB962C8B-B14F-4D97-AF65-F5344CB8AC3E}">
        <p14:creationId xmlns:p14="http://schemas.microsoft.com/office/powerpoint/2010/main" val="37207611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5/5/26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5749103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A523018D-1CC0-468E-BE3B-579A148A0691}" type="datetime1">
              <a:rPr lang="en-US" smtClean="0"/>
              <a:t>5/5/26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447048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5/5/26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1353225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C51F0D08-E4F7-43DB-810A-34BADF6468F7}" type="datetime1">
              <a:rPr lang="en-US" smtClean="0"/>
              <a:t>5/5/26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405511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ADFE1DAC-EC09-4DEA-BBB4-788DDBA09515}" type="datetime1">
              <a:rPr lang="en-US" smtClean="0"/>
              <a:t>5/5/26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003113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A9BFF582-E74C-4A8A-87B2-214B0CF47F99}" type="datetime1">
              <a:rPr lang="en-US" smtClean="0"/>
              <a:t>5/5/26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34406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5/5/26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364556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5/5/26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199962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5/5/26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709094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5326DF8C-FC0D-41BB-BB53-20BBB44E4230}" type="datetime1">
              <a:rPr lang="en-US" smtClean="0"/>
              <a:t>5/5/26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526860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5/5/26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1011622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5/5/26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571083776"/>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0.png"/></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2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10.png"/></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30.png"/></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80.png"/></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00.png"/></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30.png"/></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30.png"/></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6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5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5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8.sv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hyperlink" Target="https://creativecommons.org/licenses/by-nc-nd/3.0/"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inlucro.org/numeros-imaginarios/" TargetMode="External"/><Relationship Id="rId5" Type="http://schemas.openxmlformats.org/officeDocument/2006/relationships/image" Target="../media/image20.jpeg"/><Relationship Id="rId4" Type="http://schemas.openxmlformats.org/officeDocument/2006/relationships/image" Target="../media/image18.svg"/></Relationships>
</file>

<file path=ppt/slides/_rels/slide6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6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7" y="1814732"/>
            <a:ext cx="11079167" cy="826833"/>
          </a:xfrm>
        </p:spPr>
        <p:txBody>
          <a:bodyPr>
            <a:noAutofit/>
          </a:bodyPr>
          <a:lstStyle/>
          <a:p>
            <a:r>
              <a:rPr lang="es-CO" sz="3200" dirty="0">
                <a:latin typeface="Century Gothic"/>
              </a:rPr>
              <a:t>INFLACIÓN y SU IMPACTO EN EL FLUJO DE CAJA DE UN PROYECTO (</a:t>
            </a:r>
            <a:r>
              <a:rPr lang="es-CO" sz="3200" dirty="0">
                <a:solidFill>
                  <a:srgbClr val="D7A700"/>
                </a:solidFill>
                <a:latin typeface="Century Gothic"/>
              </a:rPr>
              <a:t>PARTE I</a:t>
            </a:r>
            <a:r>
              <a:rPr lang="es-CO" sz="3200" dirty="0">
                <a:latin typeface="Century Gothic"/>
              </a:rPr>
              <a:t>)</a:t>
            </a:r>
            <a:endParaRPr lang="es-CO" sz="3200" dirty="0">
              <a:latin typeface="Century Gothic" panose="020B0502020202020204" pitchFamily="34" charset="0"/>
            </a:endParaRPr>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2E3B9B72-D13E-2CBF-D0CA-6E449C2508E1}"/>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00A2076B-5CA2-165C-9873-6BBE655A1318}"/>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dirty="0">
                <a:solidFill>
                  <a:schemeClr val="bg1"/>
                </a:solidFill>
                <a:latin typeface="Century Gothic"/>
              </a:rPr>
              <a:t>													</a:t>
            </a:r>
            <a:endParaRPr lang="es-CO" sz="2000" b="1" u="sng" dirty="0">
              <a:solidFill>
                <a:schemeClr val="bg1"/>
              </a:solidFill>
              <a:latin typeface="Century Gothic"/>
            </a:endParaRPr>
          </a:p>
          <a:p>
            <a:endParaRPr lang="es-CO" sz="1000" b="1" dirty="0">
              <a:solidFill>
                <a:schemeClr val="bg1"/>
              </a:solidFill>
              <a:latin typeface="Century Gothic" panose="020B0502020202020204" pitchFamily="34" charset="0"/>
            </a:endParaRPr>
          </a:p>
          <a:p>
            <a:r>
              <a:rPr lang="es-CO" sz="2000" b="1" dirty="0">
                <a:solidFill>
                  <a:schemeClr val="bg1"/>
                </a:solidFill>
                <a:latin typeface="Century Gothic"/>
              </a:rPr>
              <a:t>DEPARTAMENTO DE INGENIERÍA INDUSTRIAL</a:t>
            </a:r>
          </a:p>
          <a:p>
            <a:r>
              <a:rPr lang="es-CO" sz="2000" b="1" dirty="0">
                <a:solidFill>
                  <a:schemeClr val="bg1"/>
                </a:solidFill>
                <a:latin typeface="Century Gothic"/>
              </a:rPr>
              <a:t>FACULTAD DE INGENIERÍA</a:t>
            </a:r>
          </a:p>
          <a:p>
            <a:r>
              <a:rPr lang="es-CO" sz="1000" b="1" u="sng" dirty="0">
                <a:solidFill>
                  <a:schemeClr val="bg1"/>
                </a:solidFill>
                <a:latin typeface="Century Gothic"/>
              </a:rPr>
              <a:t>													</a:t>
            </a:r>
          </a:p>
          <a:p>
            <a:endParaRPr lang="es-CO" sz="2000" b="1" dirty="0">
              <a:solidFill>
                <a:schemeClr val="bg1"/>
              </a:solidFill>
              <a:latin typeface="Century Gothic" panose="020B0502020202020204" pitchFamily="34" charset="0"/>
            </a:endParaRPr>
          </a:p>
          <a:p>
            <a:r>
              <a:rPr lang="es-CO" sz="2000" b="1" dirty="0">
                <a:solidFill>
                  <a:schemeClr val="bg1"/>
                </a:solidFill>
                <a:latin typeface="Century Gothic"/>
              </a:rPr>
              <a:t>Curso       </a:t>
            </a:r>
            <a:r>
              <a:rPr lang="es-CO" sz="2000" dirty="0">
                <a:solidFill>
                  <a:schemeClr val="bg1"/>
                </a:solidFill>
                <a:latin typeface="Century Gothic"/>
              </a:rPr>
              <a:t>ANÁLISIS DE DECISIONES DE INVERSIÓN</a:t>
            </a:r>
          </a:p>
          <a:p>
            <a:r>
              <a:rPr lang="es-CO" sz="2000" b="1" dirty="0">
                <a:solidFill>
                  <a:schemeClr val="bg1"/>
                </a:solidFill>
                <a:latin typeface="Century Gothic"/>
              </a:rPr>
              <a:t>Correo     </a:t>
            </a:r>
            <a:r>
              <a:rPr lang="es-CO" sz="2000" dirty="0">
                <a:solidFill>
                  <a:schemeClr val="bg1"/>
                </a:solidFill>
                <a:latin typeface="Century Gothic"/>
              </a:rPr>
              <a:t>cursoanadec@uniandes.edu.co</a:t>
            </a:r>
          </a:p>
          <a:p>
            <a:endParaRPr lang="es-CO" sz="2000" b="1"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28151452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39F67-AEAA-5313-CB98-B0DFE539A05C}"/>
              </a:ext>
            </a:extLst>
          </p:cNvPr>
          <p:cNvSpPr>
            <a:spLocks noGrp="1"/>
          </p:cNvSpPr>
          <p:nvPr>
            <p:ph type="title"/>
          </p:nvPr>
        </p:nvSpPr>
        <p:spPr/>
        <p:txBody>
          <a:bodyPr/>
          <a:lstStyle/>
          <a:p>
            <a:r>
              <a:rPr lang="es-ES_tradnl" dirty="0" err="1"/>
              <a:t>eCUACIONES</a:t>
            </a:r>
            <a:r>
              <a:rPr lang="es-ES_tradnl" dirty="0"/>
              <a:t> RESUMEN</a:t>
            </a:r>
          </a:p>
        </p:txBody>
      </p:sp>
      <p:sp>
        <p:nvSpPr>
          <p:cNvPr id="4" name="Slide Number Placeholder 3">
            <a:extLst>
              <a:ext uri="{FF2B5EF4-FFF2-40B4-BE49-F238E27FC236}">
                <a16:creationId xmlns:a16="http://schemas.microsoft.com/office/drawing/2014/main" id="{19A766B1-12BB-3F23-9B9C-55C16C8FA875}"/>
              </a:ext>
            </a:extLst>
          </p:cNvPr>
          <p:cNvSpPr>
            <a:spLocks noGrp="1"/>
          </p:cNvSpPr>
          <p:nvPr>
            <p:ph type="sldNum" sz="quarter" idx="12"/>
          </p:nvPr>
        </p:nvSpPr>
        <p:spPr/>
        <p:txBody>
          <a:bodyPr/>
          <a:lstStyle/>
          <a:p>
            <a:fld id="{D57F1E4F-1CFF-5643-939E-217C01CDF565}" type="slidenum">
              <a:rPr lang="en-US" smtClean="0"/>
              <a:pPr/>
              <a:t>2</a:t>
            </a:fld>
            <a:endParaRPr lang="en-US"/>
          </a:p>
        </p:txBody>
      </p:sp>
      <p:sp>
        <p:nvSpPr>
          <p:cNvPr id="5" name="CuadroTexto 14">
            <a:extLst>
              <a:ext uri="{FF2B5EF4-FFF2-40B4-BE49-F238E27FC236}">
                <a16:creationId xmlns:a16="http://schemas.microsoft.com/office/drawing/2014/main" id="{50674D3D-671E-F752-5996-DC9E4BA18E2F}"/>
              </a:ext>
            </a:extLst>
          </p:cNvPr>
          <p:cNvSpPr txBox="1"/>
          <p:nvPr/>
        </p:nvSpPr>
        <p:spPr>
          <a:xfrm>
            <a:off x="1787747" y="2315360"/>
            <a:ext cx="2435282" cy="369332"/>
          </a:xfrm>
          <a:prstGeom prst="rect">
            <a:avLst/>
          </a:prstGeom>
          <a:noFill/>
        </p:spPr>
        <p:txBody>
          <a:bodyPr wrap="none" rtlCol="0">
            <a:spAutoFit/>
          </a:bodyPr>
          <a:lstStyle/>
          <a:p>
            <a:r>
              <a:rPr lang="es-CO" b="1" dirty="0">
                <a:solidFill>
                  <a:srgbClr val="C00000"/>
                </a:solidFill>
                <a:latin typeface="Century Gothic" panose="020B0502020202020204" pitchFamily="34" charset="0"/>
              </a:rPr>
              <a:t>Deflactor de Precios</a:t>
            </a:r>
          </a:p>
        </p:txBody>
      </p:sp>
      <mc:AlternateContent xmlns:mc="http://schemas.openxmlformats.org/markup-compatibility/2006">
        <mc:Choice xmlns:a14="http://schemas.microsoft.com/office/drawing/2010/main" Requires="a14">
          <p:sp>
            <p:nvSpPr>
              <p:cNvPr id="6" name="CuadroTexto 15">
                <a:extLst>
                  <a:ext uri="{FF2B5EF4-FFF2-40B4-BE49-F238E27FC236}">
                    <a16:creationId xmlns:a16="http://schemas.microsoft.com/office/drawing/2014/main" id="{183D7161-C341-9EEE-2EC3-8BA27D034A58}"/>
                  </a:ext>
                </a:extLst>
              </p:cNvPr>
              <p:cNvSpPr txBox="1"/>
              <p:nvPr/>
            </p:nvSpPr>
            <p:spPr>
              <a:xfrm>
                <a:off x="1430886" y="2781995"/>
                <a:ext cx="3149004" cy="575094"/>
              </a:xfrm>
              <a:prstGeom prst="rect">
                <a:avLst/>
              </a:prstGeom>
              <a:solidFill>
                <a:schemeClr val="accent2">
                  <a:lumMod val="40000"/>
                  <a:lumOff val="60000"/>
                </a:scheme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419" b="0" i="1" smtClean="0">
                          <a:latin typeface="Cambria Math" panose="02040503050406030204" pitchFamily="18" charset="0"/>
                        </a:rPr>
                        <m:t>𝑃𝑟𝑒𝑐𝑖𝑜</m:t>
                      </m:r>
                      <m:r>
                        <a:rPr lang="es-419" b="0" i="1" smtClean="0">
                          <a:latin typeface="Cambria Math" panose="02040503050406030204" pitchFamily="18" charset="0"/>
                        </a:rPr>
                        <m:t> </m:t>
                      </m:r>
                      <m:r>
                        <a:rPr lang="es-419" b="0" i="1" smtClean="0">
                          <a:latin typeface="Cambria Math" panose="02040503050406030204" pitchFamily="18" charset="0"/>
                        </a:rPr>
                        <m:t>𝑟𝑒𝑎𝑙</m:t>
                      </m:r>
                      <m:r>
                        <a:rPr lang="es-419" b="0" i="1" smtClean="0">
                          <a:latin typeface="Cambria Math" panose="02040503050406030204" pitchFamily="18" charset="0"/>
                        </a:rPr>
                        <m:t>=</m:t>
                      </m:r>
                      <m:f>
                        <m:fPr>
                          <m:ctrlPr>
                            <a:rPr lang="es-419" b="0" i="1" smtClean="0">
                              <a:latin typeface="Cambria Math" panose="02040503050406030204" pitchFamily="18" charset="0"/>
                            </a:rPr>
                          </m:ctrlPr>
                        </m:fPr>
                        <m:num>
                          <m:r>
                            <a:rPr lang="es-419" b="0" i="1" smtClean="0">
                              <a:latin typeface="Cambria Math" panose="02040503050406030204" pitchFamily="18" charset="0"/>
                            </a:rPr>
                            <m:t>𝑃𝑟𝑒𝑐𝑖𝑜</m:t>
                          </m:r>
                          <m:r>
                            <a:rPr lang="es-419" b="0" i="1" smtClean="0">
                              <a:latin typeface="Cambria Math" panose="02040503050406030204" pitchFamily="18" charset="0"/>
                            </a:rPr>
                            <m:t> </m:t>
                          </m:r>
                          <m:r>
                            <a:rPr lang="es-419" b="0" i="1" smtClean="0">
                              <a:latin typeface="Cambria Math" panose="02040503050406030204" pitchFamily="18" charset="0"/>
                            </a:rPr>
                            <m:t>𝑁𝑜𝑚𝑖𝑛𝑎𝑙</m:t>
                          </m:r>
                        </m:num>
                        <m:den>
                          <m:sSup>
                            <m:sSupPr>
                              <m:ctrlPr>
                                <a:rPr lang="es-419" b="0" i="1" smtClean="0">
                                  <a:latin typeface="Cambria Math" panose="02040503050406030204" pitchFamily="18" charset="0"/>
                                </a:rPr>
                              </m:ctrlPr>
                            </m:sSupPr>
                            <m:e>
                              <m:r>
                                <a:rPr lang="es-419" b="0" i="1" smtClean="0">
                                  <a:latin typeface="Cambria Math" panose="02040503050406030204" pitchFamily="18" charset="0"/>
                                </a:rPr>
                                <m:t>(1+</m:t>
                              </m:r>
                              <m:r>
                                <a:rPr lang="es-419" b="0" i="1" smtClean="0">
                                  <a:latin typeface="Cambria Math" panose="02040503050406030204" pitchFamily="18" charset="0"/>
                                  <a:ea typeface="Cambria Math" panose="02040503050406030204" pitchFamily="18" charset="0"/>
                                </a:rPr>
                                <m:t>𝜋</m:t>
                              </m:r>
                              <m:r>
                                <a:rPr lang="es-419" b="0" i="1" smtClean="0">
                                  <a:latin typeface="Cambria Math" panose="02040503050406030204" pitchFamily="18" charset="0"/>
                                </a:rPr>
                                <m:t>)</m:t>
                              </m:r>
                            </m:e>
                            <m:sup>
                              <m:r>
                                <a:rPr lang="es-419" b="0" i="1" smtClean="0">
                                  <a:latin typeface="Cambria Math" panose="02040503050406030204" pitchFamily="18" charset="0"/>
                                </a:rPr>
                                <m:t>𝑡</m:t>
                              </m:r>
                            </m:sup>
                          </m:sSup>
                        </m:den>
                      </m:f>
                    </m:oMath>
                  </m:oMathPara>
                </a14:m>
                <a:endParaRPr lang="es-CO" dirty="0">
                  <a:latin typeface="Century Gothic" panose="020B0502020202020204" pitchFamily="34" charset="0"/>
                </a:endParaRPr>
              </a:p>
            </p:txBody>
          </p:sp>
        </mc:Choice>
        <mc:Fallback>
          <p:sp>
            <p:nvSpPr>
              <p:cNvPr id="6" name="CuadroTexto 15">
                <a:extLst>
                  <a:ext uri="{FF2B5EF4-FFF2-40B4-BE49-F238E27FC236}">
                    <a16:creationId xmlns:a16="http://schemas.microsoft.com/office/drawing/2014/main" id="{183D7161-C341-9EEE-2EC3-8BA27D034A58}"/>
                  </a:ext>
                </a:extLst>
              </p:cNvPr>
              <p:cNvSpPr txBox="1">
                <a:spLocks noRot="1" noChangeAspect="1" noMove="1" noResize="1" noEditPoints="1" noAdjustHandles="1" noChangeArrowheads="1" noChangeShapeType="1" noTextEdit="1"/>
              </p:cNvSpPr>
              <p:nvPr/>
            </p:nvSpPr>
            <p:spPr>
              <a:xfrm>
                <a:off x="1430886" y="2781995"/>
                <a:ext cx="3149004" cy="575094"/>
              </a:xfrm>
              <a:prstGeom prst="rect">
                <a:avLst/>
              </a:prstGeom>
              <a:blipFill>
                <a:blip r:embed="rId2"/>
                <a:stretch>
                  <a:fillRect l="-1205" t="-6383" r="-803" b="-17021"/>
                </a:stretch>
              </a:blipFill>
            </p:spPr>
            <p:txBody>
              <a:bodyPr/>
              <a:lstStyle/>
              <a:p>
                <a:r>
                  <a:rPr lang="es-ES_tradnl">
                    <a:noFill/>
                  </a:rPr>
                  <a:t> </a:t>
                </a:r>
              </a:p>
            </p:txBody>
          </p:sp>
        </mc:Fallback>
      </mc:AlternateContent>
      <mc:AlternateContent xmlns:mc="http://schemas.openxmlformats.org/markup-compatibility/2006">
        <mc:Choice xmlns:a14="http://schemas.microsoft.com/office/drawing/2010/main" Requires="a14">
          <p:sp>
            <p:nvSpPr>
              <p:cNvPr id="7" name="CuadroTexto 16">
                <a:extLst>
                  <a:ext uri="{FF2B5EF4-FFF2-40B4-BE49-F238E27FC236}">
                    <a16:creationId xmlns:a16="http://schemas.microsoft.com/office/drawing/2014/main" id="{41521915-445E-3D93-B02F-6EA6538271D2}"/>
                  </a:ext>
                </a:extLst>
              </p:cNvPr>
              <p:cNvSpPr txBox="1"/>
              <p:nvPr/>
            </p:nvSpPr>
            <p:spPr>
              <a:xfrm>
                <a:off x="404459" y="3405525"/>
                <a:ext cx="5633433" cy="646331"/>
              </a:xfrm>
              <a:prstGeom prst="rect">
                <a:avLst/>
              </a:prstGeom>
              <a:noFill/>
            </p:spPr>
            <p:txBody>
              <a:bodyPr wrap="square" rtlCol="0">
                <a:spAutoFit/>
              </a:bodyPr>
              <a:lstStyle/>
              <a:p>
                <a:pPr algn="ctr"/>
                <a:r>
                  <a:rPr lang="es-CO" dirty="0">
                    <a:solidFill>
                      <a:schemeClr val="accent1"/>
                    </a:solidFill>
                    <a:latin typeface="Century Gothic" panose="020B0502020202020204" pitchFamily="34" charset="0"/>
                  </a:rPr>
                  <a:t>Donde </a:t>
                </a:r>
                <a14:m>
                  <m:oMath xmlns:m="http://schemas.openxmlformats.org/officeDocument/2006/math">
                    <m:r>
                      <a:rPr lang="es-CO" i="1" smtClean="0">
                        <a:solidFill>
                          <a:schemeClr val="accent1"/>
                        </a:solidFill>
                        <a:latin typeface="Cambria Math" panose="02040503050406030204" pitchFamily="18" charset="0"/>
                        <a:ea typeface="Cambria Math" panose="02040503050406030204" pitchFamily="18" charset="0"/>
                      </a:rPr>
                      <m:t>𝜋</m:t>
                    </m:r>
                  </m:oMath>
                </a14:m>
                <a:r>
                  <a:rPr lang="es-CO" dirty="0">
                    <a:solidFill>
                      <a:schemeClr val="accent1"/>
                    </a:solidFill>
                    <a:latin typeface="Century Gothic" panose="020B0502020202020204" pitchFamily="34" charset="0"/>
                  </a:rPr>
                  <a:t> es la tasa de </a:t>
                </a:r>
                <a:r>
                  <a:rPr lang="es-CO" b="1" dirty="0">
                    <a:solidFill>
                      <a:schemeClr val="accent1"/>
                    </a:solidFill>
                    <a:latin typeface="Century Gothic" panose="020B0502020202020204" pitchFamily="34" charset="0"/>
                  </a:rPr>
                  <a:t>inflación</a:t>
                </a:r>
                <a:r>
                  <a:rPr lang="es-CO" dirty="0">
                    <a:solidFill>
                      <a:schemeClr val="accent1"/>
                    </a:solidFill>
                    <a:latin typeface="Century Gothic" panose="020B0502020202020204" pitchFamily="34" charset="0"/>
                  </a:rPr>
                  <a:t>. </a:t>
                </a:r>
              </a:p>
              <a:p>
                <a:pPr algn="ctr"/>
                <a14:m>
                  <m:oMath xmlns:m="http://schemas.openxmlformats.org/officeDocument/2006/math">
                    <m:sSup>
                      <m:sSupPr>
                        <m:ctrlPr>
                          <a:rPr lang="es-419" i="1">
                            <a:solidFill>
                              <a:schemeClr val="accent1"/>
                            </a:solidFill>
                            <a:latin typeface="Cambria Math" panose="02040503050406030204" pitchFamily="18" charset="0"/>
                          </a:rPr>
                        </m:ctrlPr>
                      </m:sSupPr>
                      <m:e>
                        <m:r>
                          <a:rPr lang="es-419" i="1">
                            <a:solidFill>
                              <a:schemeClr val="accent1"/>
                            </a:solidFill>
                            <a:latin typeface="Cambria Math" panose="02040503050406030204" pitchFamily="18" charset="0"/>
                          </a:rPr>
                          <m:t>(1+</m:t>
                        </m:r>
                        <m:r>
                          <a:rPr lang="es-419" i="1">
                            <a:solidFill>
                              <a:schemeClr val="accent1"/>
                            </a:solidFill>
                            <a:latin typeface="Cambria Math" panose="02040503050406030204" pitchFamily="18" charset="0"/>
                            <a:ea typeface="Cambria Math" panose="02040503050406030204" pitchFamily="18" charset="0"/>
                          </a:rPr>
                          <m:t>𝜋</m:t>
                        </m:r>
                        <m:r>
                          <a:rPr lang="es-419" i="1">
                            <a:solidFill>
                              <a:schemeClr val="accent1"/>
                            </a:solidFill>
                            <a:latin typeface="Cambria Math" panose="02040503050406030204" pitchFamily="18" charset="0"/>
                          </a:rPr>
                          <m:t>)</m:t>
                        </m:r>
                      </m:e>
                      <m:sup>
                        <m:r>
                          <a:rPr lang="es-419" i="1">
                            <a:solidFill>
                              <a:schemeClr val="accent1"/>
                            </a:solidFill>
                            <a:latin typeface="Cambria Math" panose="02040503050406030204" pitchFamily="18" charset="0"/>
                          </a:rPr>
                          <m:t>𝑡</m:t>
                        </m:r>
                      </m:sup>
                    </m:sSup>
                    <m:r>
                      <a:rPr lang="es-419" b="0" i="1" smtClean="0">
                        <a:solidFill>
                          <a:schemeClr val="accent1"/>
                        </a:solidFill>
                        <a:latin typeface="Cambria Math" panose="02040503050406030204" pitchFamily="18" charset="0"/>
                      </a:rPr>
                      <m:t>:  </m:t>
                    </m:r>
                  </m:oMath>
                </a14:m>
                <a:r>
                  <a:rPr lang="es-CO" b="1" dirty="0">
                    <a:solidFill>
                      <a:schemeClr val="accent1"/>
                    </a:solidFill>
                    <a:latin typeface="Century Gothic" panose="020B0502020202020204" pitchFamily="34" charset="0"/>
                  </a:rPr>
                  <a:t>Factor Inflacionario</a:t>
                </a:r>
              </a:p>
            </p:txBody>
          </p:sp>
        </mc:Choice>
        <mc:Fallback>
          <p:sp>
            <p:nvSpPr>
              <p:cNvPr id="7" name="CuadroTexto 16">
                <a:extLst>
                  <a:ext uri="{FF2B5EF4-FFF2-40B4-BE49-F238E27FC236}">
                    <a16:creationId xmlns:a16="http://schemas.microsoft.com/office/drawing/2014/main" id="{41521915-445E-3D93-B02F-6EA6538271D2}"/>
                  </a:ext>
                </a:extLst>
              </p:cNvPr>
              <p:cNvSpPr txBox="1">
                <a:spLocks noRot="1" noChangeAspect="1" noMove="1" noResize="1" noEditPoints="1" noAdjustHandles="1" noChangeArrowheads="1" noChangeShapeType="1" noTextEdit="1"/>
              </p:cNvSpPr>
              <p:nvPr/>
            </p:nvSpPr>
            <p:spPr>
              <a:xfrm>
                <a:off x="404459" y="3405525"/>
                <a:ext cx="5633433" cy="646331"/>
              </a:xfrm>
              <a:prstGeom prst="rect">
                <a:avLst/>
              </a:prstGeom>
              <a:blipFill>
                <a:blip r:embed="rId3"/>
                <a:stretch>
                  <a:fillRect t="-5769" b="-11538"/>
                </a:stretch>
              </a:blipFill>
            </p:spPr>
            <p:txBody>
              <a:bodyPr/>
              <a:lstStyle/>
              <a:p>
                <a:r>
                  <a:rPr lang="es-ES_tradnl">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CC5D98B7-CA1A-41AC-EB36-A34B23FE4784}"/>
                  </a:ext>
                </a:extLst>
              </p:cNvPr>
              <p:cNvSpPr txBox="1"/>
              <p:nvPr/>
            </p:nvSpPr>
            <p:spPr>
              <a:xfrm>
                <a:off x="5787527" y="2781995"/>
                <a:ext cx="6097280" cy="1294009"/>
              </a:xfrm>
              <a:prstGeom prst="rect">
                <a:avLst/>
              </a:prstGeom>
              <a:noFill/>
            </p:spPr>
            <p:txBody>
              <a:bodyPr wrap="square">
                <a:spAutoFit/>
              </a:bodyPr>
              <a:lstStyle/>
              <a:p>
                <a:pPr marL="0" indent="0">
                  <a:buNone/>
                </a:pPr>
                <a14:m>
                  <m:oMathPara xmlns:m="http://schemas.openxmlformats.org/officeDocument/2006/math">
                    <m:oMathParaPr>
                      <m:jc m:val="center"/>
                    </m:oMathParaPr>
                    <m:oMath xmlns:m="http://schemas.openxmlformats.org/officeDocument/2006/math">
                      <m:d>
                        <m:dPr>
                          <m:ctrlPr>
                            <a:rPr lang="es-ES_tradnl" sz="1800" b="0" i="1" noProof="0" smtClean="0">
                              <a:latin typeface="Cambria Math" panose="02040503050406030204" pitchFamily="18" charset="0"/>
                            </a:rPr>
                          </m:ctrlPr>
                        </m:dPr>
                        <m:e>
                          <m:r>
                            <a:rPr lang="es-ES_tradnl" sz="1800" b="0" i="1" noProof="0" smtClean="0">
                              <a:latin typeface="Cambria Math" panose="02040503050406030204" pitchFamily="18" charset="0"/>
                            </a:rPr>
                            <m:t>1+</m:t>
                          </m:r>
                          <m:sSub>
                            <m:sSubPr>
                              <m:ctrlPr>
                                <a:rPr lang="es-ES_tradnl" sz="1800" b="0" i="1" noProof="0" smtClean="0">
                                  <a:latin typeface="Cambria Math" panose="02040503050406030204" pitchFamily="18" charset="0"/>
                                </a:rPr>
                              </m:ctrlPr>
                            </m:sSubPr>
                            <m:e>
                              <m:r>
                                <a:rPr lang="es-ES_tradnl" sz="1800" b="0" i="1" noProof="0" smtClean="0">
                                  <a:latin typeface="Cambria Math" panose="02040503050406030204" pitchFamily="18" charset="0"/>
                                </a:rPr>
                                <m:t>𝑖</m:t>
                              </m:r>
                            </m:e>
                            <m:sub>
                              <m:r>
                                <a:rPr lang="es-ES_tradnl" sz="1800" b="0" i="1" noProof="0" smtClean="0">
                                  <a:latin typeface="Cambria Math" panose="02040503050406030204" pitchFamily="18" charset="0"/>
                                </a:rPr>
                                <m:t>𝑛𝑜𝑚</m:t>
                              </m:r>
                            </m:sub>
                          </m:sSub>
                        </m:e>
                      </m:d>
                      <m:r>
                        <a:rPr lang="es-ES_tradnl" sz="1800" b="0" i="1" noProof="0" smtClean="0">
                          <a:latin typeface="Cambria Math" panose="02040503050406030204" pitchFamily="18" charset="0"/>
                        </a:rPr>
                        <m:t>=</m:t>
                      </m:r>
                      <m:d>
                        <m:dPr>
                          <m:ctrlPr>
                            <a:rPr lang="es-ES_tradnl" sz="1800" b="0" i="1" noProof="0" smtClean="0">
                              <a:latin typeface="Cambria Math" panose="02040503050406030204" pitchFamily="18" charset="0"/>
                            </a:rPr>
                          </m:ctrlPr>
                        </m:dPr>
                        <m:e>
                          <m:r>
                            <a:rPr lang="es-ES_tradnl" sz="1800" b="0" i="1" noProof="0" smtClean="0">
                              <a:latin typeface="Cambria Math" panose="02040503050406030204" pitchFamily="18" charset="0"/>
                            </a:rPr>
                            <m:t>1+</m:t>
                          </m:r>
                          <m:sSub>
                            <m:sSubPr>
                              <m:ctrlPr>
                                <a:rPr lang="es-ES_tradnl" sz="1800" b="0" i="1" noProof="0" smtClean="0">
                                  <a:latin typeface="Cambria Math" panose="02040503050406030204" pitchFamily="18" charset="0"/>
                                </a:rPr>
                              </m:ctrlPr>
                            </m:sSubPr>
                            <m:e>
                              <m:r>
                                <a:rPr lang="es-ES_tradnl" sz="1800" b="0" i="1" noProof="0" smtClean="0">
                                  <a:latin typeface="Cambria Math" panose="02040503050406030204" pitchFamily="18" charset="0"/>
                                </a:rPr>
                                <m:t>𝑖</m:t>
                              </m:r>
                            </m:e>
                            <m:sub>
                              <m:r>
                                <a:rPr lang="es-ES_tradnl" sz="1800" b="0" i="1" noProof="0" smtClean="0">
                                  <a:latin typeface="Cambria Math" panose="02040503050406030204" pitchFamily="18" charset="0"/>
                                </a:rPr>
                                <m:t>𝑟𝑒𝑎𝑙</m:t>
                              </m:r>
                            </m:sub>
                          </m:sSub>
                        </m:e>
                      </m:d>
                      <m:d>
                        <m:dPr>
                          <m:ctrlPr>
                            <a:rPr lang="es-ES_tradnl" sz="1800" b="0" i="1" noProof="0" smtClean="0">
                              <a:latin typeface="Cambria Math" panose="02040503050406030204" pitchFamily="18" charset="0"/>
                            </a:rPr>
                          </m:ctrlPr>
                        </m:dPr>
                        <m:e>
                          <m:r>
                            <a:rPr lang="es-ES_tradnl" sz="1800" b="0" i="1" noProof="0" smtClean="0">
                              <a:latin typeface="Cambria Math" panose="02040503050406030204" pitchFamily="18" charset="0"/>
                            </a:rPr>
                            <m:t>1+</m:t>
                          </m:r>
                          <m:sSub>
                            <m:sSubPr>
                              <m:ctrlPr>
                                <a:rPr lang="es-ES_tradnl" sz="1800" b="0" i="1" noProof="0" smtClean="0">
                                  <a:latin typeface="Cambria Math" panose="02040503050406030204" pitchFamily="18" charset="0"/>
                                  <a:ea typeface="Cambria Math" panose="02040503050406030204" pitchFamily="18" charset="0"/>
                                </a:rPr>
                              </m:ctrlPr>
                            </m:sSubPr>
                            <m:e>
                              <m:r>
                                <a:rPr lang="es-ES_tradnl" sz="1800" b="0" i="1" noProof="0" smtClean="0">
                                  <a:latin typeface="Cambria Math" panose="02040503050406030204" pitchFamily="18" charset="0"/>
                                  <a:ea typeface="Cambria Math" panose="02040503050406030204" pitchFamily="18" charset="0"/>
                                </a:rPr>
                                <m:t>𝜋</m:t>
                              </m:r>
                            </m:e>
                            <m:sub>
                              <m:r>
                                <a:rPr lang="es-ES_tradnl" sz="1800" b="0" i="1" noProof="0" smtClean="0">
                                  <a:latin typeface="Cambria Math" panose="02040503050406030204" pitchFamily="18" charset="0"/>
                                  <a:ea typeface="Cambria Math" panose="02040503050406030204" pitchFamily="18" charset="0"/>
                                </a:rPr>
                                <m:t>𝑖𝑛𝑓𝑙𝑎𝑐𝑖</m:t>
                              </m:r>
                              <m:r>
                                <a:rPr lang="es-ES_tradnl" sz="1800" i="1" noProof="0" smtClean="0">
                                  <a:latin typeface="Cambria Math" panose="02040503050406030204" pitchFamily="18" charset="0"/>
                                  <a:ea typeface="Cambria Math" panose="02040503050406030204" pitchFamily="18" charset="0"/>
                                </a:rPr>
                                <m:t>ó</m:t>
                              </m:r>
                              <m:r>
                                <a:rPr lang="es-ES_tradnl" sz="1800" b="0" i="1" noProof="0" smtClean="0">
                                  <a:latin typeface="Cambria Math" panose="02040503050406030204" pitchFamily="18" charset="0"/>
                                  <a:ea typeface="Cambria Math" panose="02040503050406030204" pitchFamily="18" charset="0"/>
                                </a:rPr>
                                <m:t>𝑛</m:t>
                              </m:r>
                            </m:sub>
                          </m:sSub>
                        </m:e>
                      </m:d>
                    </m:oMath>
                  </m:oMathPara>
                </a14:m>
                <a:endParaRPr lang="es-ES_tradnl" sz="1800" b="0" i="1" noProof="0" dirty="0">
                  <a:latin typeface="Cambria Math" panose="02040503050406030204" pitchFamily="18" charset="0"/>
                </a:endParaRPr>
              </a:p>
              <a:p>
                <a:pPr marL="0" indent="0">
                  <a:buNone/>
                </a:pPr>
                <a:endParaRPr lang="es-ES_tradnl" sz="1800" b="0" i="1" noProof="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s-ES_tradnl" sz="1800" i="1" noProof="0" smtClean="0">
                              <a:latin typeface="Cambria Math" panose="02040503050406030204" pitchFamily="18" charset="0"/>
                            </a:rPr>
                          </m:ctrlPr>
                        </m:sSubPr>
                        <m:e>
                          <m:r>
                            <a:rPr lang="es-ES_tradnl" sz="1800" noProof="0" smtClean="0">
                              <a:latin typeface="Cambria Math" panose="02040503050406030204" pitchFamily="18" charset="0"/>
                            </a:rPr>
                            <m:t>𝑖</m:t>
                          </m:r>
                        </m:e>
                        <m:sub>
                          <m:r>
                            <a:rPr lang="es-ES_tradnl" sz="1800" noProof="0" smtClean="0">
                              <a:latin typeface="Cambria Math" panose="02040503050406030204" pitchFamily="18" charset="0"/>
                            </a:rPr>
                            <m:t>𝑟𝑒𝑎𝑙</m:t>
                          </m:r>
                        </m:sub>
                      </m:sSub>
                      <m:r>
                        <a:rPr lang="es-ES_tradnl" sz="1800" noProof="0" smtClean="0">
                          <a:latin typeface="Cambria Math" panose="02040503050406030204" pitchFamily="18" charset="0"/>
                        </a:rPr>
                        <m:t>= </m:t>
                      </m:r>
                      <m:f>
                        <m:fPr>
                          <m:ctrlPr>
                            <a:rPr lang="es-ES_tradnl" sz="1800" i="1" noProof="0" smtClean="0">
                              <a:latin typeface="Cambria Math" panose="02040503050406030204" pitchFamily="18" charset="0"/>
                            </a:rPr>
                          </m:ctrlPr>
                        </m:fPr>
                        <m:num>
                          <m:r>
                            <a:rPr lang="es-ES_tradnl" sz="1800" noProof="0" smtClean="0">
                              <a:latin typeface="Cambria Math" panose="02040503050406030204" pitchFamily="18" charset="0"/>
                            </a:rPr>
                            <m:t>(1+</m:t>
                          </m:r>
                          <m:sSub>
                            <m:sSubPr>
                              <m:ctrlPr>
                                <a:rPr lang="es-ES_tradnl" sz="1800" i="1" noProof="0" smtClean="0">
                                  <a:latin typeface="Cambria Math" panose="02040503050406030204" pitchFamily="18" charset="0"/>
                                </a:rPr>
                              </m:ctrlPr>
                            </m:sSubPr>
                            <m:e>
                              <m:r>
                                <a:rPr lang="es-ES_tradnl" sz="1800" noProof="0" smtClean="0">
                                  <a:latin typeface="Cambria Math" panose="02040503050406030204" pitchFamily="18" charset="0"/>
                                </a:rPr>
                                <m:t>𝑖</m:t>
                              </m:r>
                            </m:e>
                            <m:sub>
                              <m:r>
                                <a:rPr lang="es-ES_tradnl" sz="1800" noProof="0" smtClean="0">
                                  <a:latin typeface="Cambria Math" panose="02040503050406030204" pitchFamily="18" charset="0"/>
                                </a:rPr>
                                <m:t>𝑛𝑜𝑚𝑖𝑛𝑎𝑙</m:t>
                              </m:r>
                            </m:sub>
                          </m:sSub>
                          <m:r>
                            <a:rPr lang="es-ES_tradnl" sz="1800" noProof="0" smtClean="0">
                              <a:latin typeface="Cambria Math" panose="02040503050406030204" pitchFamily="18" charset="0"/>
                            </a:rPr>
                            <m:t>)</m:t>
                          </m:r>
                        </m:num>
                        <m:den>
                          <m:r>
                            <a:rPr lang="es-ES_tradnl" sz="1800" noProof="0" smtClean="0">
                              <a:latin typeface="Cambria Math" panose="02040503050406030204" pitchFamily="18" charset="0"/>
                            </a:rPr>
                            <m:t>(1+</m:t>
                          </m:r>
                          <m:sSub>
                            <m:sSubPr>
                              <m:ctrlPr>
                                <a:rPr lang="es-ES_tradnl" sz="1800" i="1" noProof="0" smtClean="0">
                                  <a:latin typeface="Cambria Math" panose="02040503050406030204" pitchFamily="18" charset="0"/>
                                  <a:ea typeface="Cambria Math" panose="02040503050406030204" pitchFamily="18" charset="0"/>
                                </a:rPr>
                              </m:ctrlPr>
                            </m:sSubPr>
                            <m:e>
                              <m:r>
                                <a:rPr lang="es-ES_tradnl" sz="1800" i="1" noProof="0" smtClean="0">
                                  <a:latin typeface="Cambria Math" panose="02040503050406030204" pitchFamily="18" charset="0"/>
                                  <a:ea typeface="Cambria Math" panose="02040503050406030204" pitchFamily="18" charset="0"/>
                                </a:rPr>
                                <m:t>𝜋</m:t>
                              </m:r>
                            </m:e>
                            <m:sub>
                              <m:r>
                                <a:rPr lang="es-ES_tradnl" sz="1800" i="1" noProof="0" smtClean="0">
                                  <a:latin typeface="Cambria Math" panose="02040503050406030204" pitchFamily="18" charset="0"/>
                                  <a:ea typeface="Cambria Math" panose="02040503050406030204" pitchFamily="18" charset="0"/>
                                </a:rPr>
                                <m:t>𝑖𝑛𝑓𝑙𝑎𝑐𝑖</m:t>
                              </m:r>
                              <m:r>
                                <a:rPr lang="es-ES_tradnl" sz="1800" i="1" noProof="0" smtClean="0">
                                  <a:latin typeface="Cambria Math" panose="02040503050406030204" pitchFamily="18" charset="0"/>
                                  <a:ea typeface="Cambria Math" panose="02040503050406030204" pitchFamily="18" charset="0"/>
                                </a:rPr>
                                <m:t>ó</m:t>
                              </m:r>
                              <m:r>
                                <a:rPr lang="es-ES_tradnl" sz="1800" i="1" noProof="0" smtClean="0">
                                  <a:latin typeface="Cambria Math" panose="02040503050406030204" pitchFamily="18" charset="0"/>
                                  <a:ea typeface="Cambria Math" panose="02040503050406030204" pitchFamily="18" charset="0"/>
                                </a:rPr>
                                <m:t>𝑛</m:t>
                              </m:r>
                            </m:sub>
                          </m:sSub>
                          <m:r>
                            <a:rPr lang="es-ES_tradnl" sz="1800" noProof="0" smtClean="0">
                              <a:latin typeface="Cambria Math" panose="02040503050406030204" pitchFamily="18" charset="0"/>
                            </a:rPr>
                            <m:t>)</m:t>
                          </m:r>
                        </m:den>
                      </m:f>
                      <m:r>
                        <a:rPr lang="es-ES_tradnl" sz="1800" noProof="0" smtClean="0">
                          <a:latin typeface="Cambria Math" panose="02040503050406030204" pitchFamily="18" charset="0"/>
                        </a:rPr>
                        <m:t>−1</m:t>
                      </m:r>
                    </m:oMath>
                  </m:oMathPara>
                </a14:m>
                <a:endParaRPr lang="es-ES_tradnl" sz="1800" noProof="0" dirty="0">
                  <a:latin typeface="Century Gothic" panose="020B0502020202020204" pitchFamily="34" charset="0"/>
                </a:endParaRPr>
              </a:p>
            </p:txBody>
          </p:sp>
        </mc:Choice>
        <mc:Fallback>
          <p:sp>
            <p:nvSpPr>
              <p:cNvPr id="9" name="TextBox 8">
                <a:extLst>
                  <a:ext uri="{FF2B5EF4-FFF2-40B4-BE49-F238E27FC236}">
                    <a16:creationId xmlns:a16="http://schemas.microsoft.com/office/drawing/2014/main" id="{CC5D98B7-CA1A-41AC-EB36-A34B23FE4784}"/>
                  </a:ext>
                </a:extLst>
              </p:cNvPr>
              <p:cNvSpPr txBox="1">
                <a:spLocks noRot="1" noChangeAspect="1" noMove="1" noResize="1" noEditPoints="1" noAdjustHandles="1" noChangeArrowheads="1" noChangeShapeType="1" noTextEdit="1"/>
              </p:cNvSpPr>
              <p:nvPr/>
            </p:nvSpPr>
            <p:spPr>
              <a:xfrm>
                <a:off x="5787527" y="2781995"/>
                <a:ext cx="6097280" cy="1294009"/>
              </a:xfrm>
              <a:prstGeom prst="rect">
                <a:avLst/>
              </a:prstGeom>
              <a:blipFill>
                <a:blip r:embed="rId4"/>
                <a:stretch>
                  <a:fillRect b="-962"/>
                </a:stretch>
              </a:blipFill>
            </p:spPr>
            <p:txBody>
              <a:bodyPr/>
              <a:lstStyle/>
              <a:p>
                <a:r>
                  <a:rPr lang="es-ES_tradnl">
                    <a:noFill/>
                  </a:rPr>
                  <a:t> </a:t>
                </a:r>
              </a:p>
            </p:txBody>
          </p:sp>
        </mc:Fallback>
      </mc:AlternateContent>
      <p:sp>
        <p:nvSpPr>
          <p:cNvPr id="11" name="TextBox 10">
            <a:extLst>
              <a:ext uri="{FF2B5EF4-FFF2-40B4-BE49-F238E27FC236}">
                <a16:creationId xmlns:a16="http://schemas.microsoft.com/office/drawing/2014/main" id="{5D022453-029E-891E-E198-362B0BE4CC42}"/>
              </a:ext>
            </a:extLst>
          </p:cNvPr>
          <p:cNvSpPr txBox="1"/>
          <p:nvPr/>
        </p:nvSpPr>
        <p:spPr>
          <a:xfrm>
            <a:off x="7565418" y="2343266"/>
            <a:ext cx="2983323" cy="369332"/>
          </a:xfrm>
          <a:prstGeom prst="rect">
            <a:avLst/>
          </a:prstGeom>
          <a:noFill/>
        </p:spPr>
        <p:txBody>
          <a:bodyPr wrap="square">
            <a:spAutoFit/>
          </a:bodyPr>
          <a:lstStyle/>
          <a:p>
            <a:r>
              <a:rPr lang="es-CO" b="1" dirty="0">
                <a:solidFill>
                  <a:srgbClr val="C00000"/>
                </a:solidFill>
                <a:latin typeface="Century Gothic" panose="020B0502020202020204" pitchFamily="34" charset="0"/>
              </a:rPr>
              <a:t>Ecuación de Fisher</a:t>
            </a:r>
          </a:p>
        </p:txBody>
      </p:sp>
      <mc:AlternateContent xmlns:mc="http://schemas.openxmlformats.org/markup-compatibility/2006">
        <mc:Choice xmlns:a14="http://schemas.microsoft.com/office/drawing/2010/main" Requires="a14">
          <p:sp>
            <p:nvSpPr>
              <p:cNvPr id="14" name="CuadroTexto 5">
                <a:extLst>
                  <a:ext uri="{FF2B5EF4-FFF2-40B4-BE49-F238E27FC236}">
                    <a16:creationId xmlns:a16="http://schemas.microsoft.com/office/drawing/2014/main" id="{DE3C8B31-AFEA-DF6C-0863-B70CB5259572}"/>
                  </a:ext>
                </a:extLst>
              </p:cNvPr>
              <p:cNvSpPr txBox="1"/>
              <p:nvPr/>
            </p:nvSpPr>
            <p:spPr>
              <a:xfrm>
                <a:off x="2842590" y="5105648"/>
                <a:ext cx="6188764" cy="80637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s-419" sz="2000" b="0" i="1" smtClean="0">
                              <a:latin typeface="Cambria Math" panose="02040503050406030204" pitchFamily="18" charset="0"/>
                            </a:rPr>
                          </m:ctrlPr>
                        </m:sSubPr>
                        <m:e>
                          <m:r>
                            <a:rPr lang="es-419" sz="2000" b="0" i="1" smtClean="0">
                              <a:latin typeface="Cambria Math" panose="02040503050406030204" pitchFamily="18" charset="0"/>
                            </a:rPr>
                            <m:t>𝑖</m:t>
                          </m:r>
                        </m:e>
                        <m:sub>
                          <m:r>
                            <a:rPr lang="es-419" sz="2000" b="0" i="1" smtClean="0">
                              <a:latin typeface="Cambria Math" panose="02040503050406030204" pitchFamily="18" charset="0"/>
                            </a:rPr>
                            <m:t>𝑅𝑒𝑎𝑙</m:t>
                          </m:r>
                          <m:r>
                            <a:rPr lang="es-419" sz="2000" b="0" i="1" smtClean="0">
                              <a:latin typeface="Cambria Math" panose="02040503050406030204" pitchFamily="18" charset="0"/>
                            </a:rPr>
                            <m:t> </m:t>
                          </m:r>
                          <m:r>
                            <a:rPr lang="es-419" sz="2000" b="0" i="1" smtClean="0">
                              <a:latin typeface="Cambria Math" panose="02040503050406030204" pitchFamily="18" charset="0"/>
                            </a:rPr>
                            <m:t>𝐴𝑛𝑢𝑎𝑙</m:t>
                          </m:r>
                        </m:sub>
                      </m:sSub>
                      <m:r>
                        <a:rPr lang="es-419" sz="2000" i="1">
                          <a:latin typeface="Cambria Math" panose="02040503050406030204" pitchFamily="18" charset="0"/>
                        </a:rPr>
                        <m:t>=</m:t>
                      </m:r>
                      <m:sSup>
                        <m:sSupPr>
                          <m:ctrlPr>
                            <a:rPr lang="es-419" sz="2000" i="1" smtClean="0">
                              <a:latin typeface="Cambria Math" panose="02040503050406030204" pitchFamily="18" charset="0"/>
                            </a:rPr>
                          </m:ctrlPr>
                        </m:sSupPr>
                        <m:e>
                          <m:d>
                            <m:dPr>
                              <m:begChr m:val="["/>
                              <m:endChr m:val="]"/>
                              <m:ctrlPr>
                                <a:rPr lang="es-419" sz="2000" i="1" smtClean="0">
                                  <a:latin typeface="Cambria Math" panose="02040503050406030204" pitchFamily="18" charset="0"/>
                                </a:rPr>
                              </m:ctrlPr>
                            </m:dPr>
                            <m:e>
                              <m:f>
                                <m:fPr>
                                  <m:ctrlPr>
                                    <a:rPr lang="es-419" sz="2000" i="1">
                                      <a:latin typeface="Cambria Math" panose="02040503050406030204" pitchFamily="18" charset="0"/>
                                    </a:rPr>
                                  </m:ctrlPr>
                                </m:fPr>
                                <m:num>
                                  <m:r>
                                    <a:rPr lang="es-419" sz="2000" i="1">
                                      <a:latin typeface="Cambria Math" panose="02040503050406030204" pitchFamily="18" charset="0"/>
                                    </a:rPr>
                                    <m:t>(1+</m:t>
                                  </m:r>
                                  <m:sSub>
                                    <m:sSubPr>
                                      <m:ctrlPr>
                                        <a:rPr lang="es-419" sz="2000" i="1">
                                          <a:latin typeface="Cambria Math" panose="02040503050406030204" pitchFamily="18" charset="0"/>
                                        </a:rPr>
                                      </m:ctrlPr>
                                    </m:sSubPr>
                                    <m:e>
                                      <m:r>
                                        <a:rPr lang="es-419" sz="2000" i="1">
                                          <a:latin typeface="Cambria Math" panose="02040503050406030204" pitchFamily="18" charset="0"/>
                                        </a:rPr>
                                        <m:t>𝑖</m:t>
                                      </m:r>
                                    </m:e>
                                    <m:sub>
                                      <m:r>
                                        <a:rPr lang="es-419" sz="2000" i="1">
                                          <a:latin typeface="Cambria Math" panose="02040503050406030204" pitchFamily="18" charset="0"/>
                                        </a:rPr>
                                        <m:t>𝑛𝑜𝑚</m:t>
                                      </m:r>
                                      <m:r>
                                        <a:rPr lang="es-419" sz="2000" i="1">
                                          <a:latin typeface="Cambria Math" panose="02040503050406030204" pitchFamily="18" charset="0"/>
                                        </a:rPr>
                                        <m:t> </m:t>
                                      </m:r>
                                      <m:r>
                                        <a:rPr lang="es-419" sz="2000" i="1">
                                          <a:latin typeface="Cambria Math" panose="02040503050406030204" pitchFamily="18" charset="0"/>
                                        </a:rPr>
                                        <m:t>𝑎𝑐𝑢𝑚𝑢𝑙𝑎𝑑𝑎</m:t>
                                      </m:r>
                                    </m:sub>
                                  </m:sSub>
                                  <m:r>
                                    <a:rPr lang="es-419" sz="2000" i="1">
                                      <a:latin typeface="Cambria Math" panose="02040503050406030204" pitchFamily="18" charset="0"/>
                                    </a:rPr>
                                    <m:t>)</m:t>
                                  </m:r>
                                </m:num>
                                <m:den>
                                  <m:r>
                                    <a:rPr lang="es-419" sz="2000" i="1">
                                      <a:latin typeface="Cambria Math" panose="02040503050406030204" pitchFamily="18" charset="0"/>
                                    </a:rPr>
                                    <m:t>(1+</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𝜋</m:t>
                                      </m:r>
                                    </m:e>
                                    <m:sub>
                                      <m:r>
                                        <a:rPr lang="es-419" sz="2000" i="1">
                                          <a:latin typeface="Cambria Math" panose="02040503050406030204" pitchFamily="18" charset="0"/>
                                        </a:rPr>
                                        <m:t>𝑎𝑐𝑢𝑚𝑢𝑙𝑎𝑑𝑎</m:t>
                                      </m:r>
                                    </m:sub>
                                  </m:sSub>
                                  <m:r>
                                    <a:rPr lang="es-419" sz="2000" i="1">
                                      <a:latin typeface="Cambria Math" panose="02040503050406030204" pitchFamily="18" charset="0"/>
                                    </a:rPr>
                                    <m:t>)</m:t>
                                  </m:r>
                                </m:den>
                              </m:f>
                            </m:e>
                          </m:d>
                        </m:e>
                        <m:sup>
                          <m:r>
                            <a:rPr lang="es-419" sz="2000" b="0" i="1" smtClean="0">
                              <a:latin typeface="Cambria Math" panose="02040503050406030204" pitchFamily="18" charset="0"/>
                            </a:rPr>
                            <m:t>1/</m:t>
                          </m:r>
                          <m:r>
                            <a:rPr lang="es-419" sz="2000" b="0" i="1" smtClean="0">
                              <a:latin typeface="Cambria Math" panose="02040503050406030204" pitchFamily="18" charset="0"/>
                            </a:rPr>
                            <m:t>𝑛</m:t>
                          </m:r>
                        </m:sup>
                      </m:sSup>
                      <m:r>
                        <a:rPr lang="es-419" sz="2000" b="0" i="1" smtClean="0">
                          <a:latin typeface="Cambria Math" panose="02040503050406030204" pitchFamily="18" charset="0"/>
                        </a:rPr>
                        <m:t>−1</m:t>
                      </m:r>
                    </m:oMath>
                  </m:oMathPara>
                </a14:m>
                <a:endParaRPr lang="es-419" sz="2000" dirty="0">
                  <a:latin typeface="Century Gothic" panose="020B0502020202020204" pitchFamily="34" charset="0"/>
                </a:endParaRPr>
              </a:p>
            </p:txBody>
          </p:sp>
        </mc:Choice>
        <mc:Fallback>
          <p:sp>
            <p:nvSpPr>
              <p:cNvPr id="14" name="CuadroTexto 5">
                <a:extLst>
                  <a:ext uri="{FF2B5EF4-FFF2-40B4-BE49-F238E27FC236}">
                    <a16:creationId xmlns:a16="http://schemas.microsoft.com/office/drawing/2014/main" id="{DE3C8B31-AFEA-DF6C-0863-B70CB5259572}"/>
                  </a:ext>
                </a:extLst>
              </p:cNvPr>
              <p:cNvSpPr txBox="1">
                <a:spLocks noRot="1" noChangeAspect="1" noMove="1" noResize="1" noEditPoints="1" noAdjustHandles="1" noChangeArrowheads="1" noChangeShapeType="1" noTextEdit="1"/>
              </p:cNvSpPr>
              <p:nvPr/>
            </p:nvSpPr>
            <p:spPr>
              <a:xfrm>
                <a:off x="2842590" y="5105648"/>
                <a:ext cx="6188764" cy="806375"/>
              </a:xfrm>
              <a:prstGeom prst="rect">
                <a:avLst/>
              </a:prstGeom>
              <a:blipFill>
                <a:blip r:embed="rId5"/>
                <a:stretch>
                  <a:fillRect b="-7813"/>
                </a:stretch>
              </a:blipFill>
            </p:spPr>
            <p:txBody>
              <a:bodyPr/>
              <a:lstStyle/>
              <a:p>
                <a:r>
                  <a:rPr lang="es-ES_tradnl">
                    <a:noFill/>
                  </a:rPr>
                  <a:t> </a:t>
                </a:r>
              </a:p>
            </p:txBody>
          </p:sp>
        </mc:Fallback>
      </mc:AlternateContent>
      <p:sp>
        <p:nvSpPr>
          <p:cNvPr id="15" name="TextBox 14">
            <a:extLst>
              <a:ext uri="{FF2B5EF4-FFF2-40B4-BE49-F238E27FC236}">
                <a16:creationId xmlns:a16="http://schemas.microsoft.com/office/drawing/2014/main" id="{51F63D69-9C71-9CB5-ABCB-3579E2450CF8}"/>
              </a:ext>
            </a:extLst>
          </p:cNvPr>
          <p:cNvSpPr txBox="1"/>
          <p:nvPr/>
        </p:nvSpPr>
        <p:spPr>
          <a:xfrm>
            <a:off x="3568440" y="4677326"/>
            <a:ext cx="5014626" cy="369332"/>
          </a:xfrm>
          <a:prstGeom prst="rect">
            <a:avLst/>
          </a:prstGeom>
          <a:noFill/>
        </p:spPr>
        <p:txBody>
          <a:bodyPr wrap="square">
            <a:spAutoFit/>
          </a:bodyPr>
          <a:lstStyle/>
          <a:p>
            <a:r>
              <a:rPr lang="es-CO" b="1" dirty="0">
                <a:solidFill>
                  <a:srgbClr val="C00000"/>
                </a:solidFill>
                <a:latin typeface="Century Gothic" panose="020B0502020202020204" pitchFamily="34" charset="0"/>
              </a:rPr>
              <a:t>Cálculo de la Tasa Real Anualizada</a:t>
            </a:r>
          </a:p>
        </p:txBody>
      </p:sp>
    </p:spTree>
    <p:extLst>
      <p:ext uri="{BB962C8B-B14F-4D97-AF65-F5344CB8AC3E}">
        <p14:creationId xmlns:p14="http://schemas.microsoft.com/office/powerpoint/2010/main" val="831008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linds(horizontal)">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linds(horizontal)">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A06CE-B751-0773-3EC2-081F835E2B3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D6D61C4-3DBC-5242-1B50-C1645D6D1A6C}"/>
              </a:ext>
            </a:extLst>
          </p:cNvPr>
          <p:cNvSpPr>
            <a:spLocks noGrp="1"/>
          </p:cNvSpPr>
          <p:nvPr>
            <p:ph type="title"/>
          </p:nvPr>
        </p:nvSpPr>
        <p:spPr/>
        <p:txBody>
          <a:bodyPr>
            <a:normAutofit/>
          </a:bodyPr>
          <a:lstStyle/>
          <a:p>
            <a:r>
              <a:rPr lang="es-CO" sz="3200" dirty="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C8FE4252-244D-CF99-9058-C967CD71A833}"/>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A53F40E8-38FF-C63E-C084-A715B85127EC}"/>
              </a:ext>
            </a:extLst>
          </p:cNvPr>
          <p:cNvSpPr/>
          <p:nvPr/>
        </p:nvSpPr>
        <p:spPr>
          <a:xfrm>
            <a:off x="2806200" y="2772729"/>
            <a:ext cx="8540907" cy="3693319"/>
          </a:xfrm>
          <a:prstGeom prst="rect">
            <a:avLst/>
          </a:prstGeom>
        </p:spPr>
        <p:txBody>
          <a:bodyPr wrap="square" lIns="91440" tIns="45720" rIns="91440" bIns="45720" anchor="t">
            <a:spAutoFit/>
          </a:bodyPr>
          <a:lstStyle/>
          <a:p>
            <a:pPr marL="257175" indent="-257175">
              <a:buClr>
                <a:schemeClr val="accent3">
                  <a:lumMod val="75000"/>
                </a:schemeClr>
              </a:buClr>
              <a:buFont typeface="Gill Sans MT" panose="020B0502020104020203"/>
              <a:buAutoNum type="arabicPeriod"/>
            </a:pPr>
            <a:r>
              <a:rPr lang="es-CO" dirty="0">
                <a:solidFill>
                  <a:schemeClr val="bg1">
                    <a:lumMod val="75000"/>
                  </a:schemeClr>
                </a:solidFill>
                <a:latin typeface="Century Gothic"/>
                <a:cs typeface="Arial"/>
              </a:rPr>
              <a:t>Introducción</a:t>
            </a:r>
          </a:p>
          <a:p>
            <a:pPr marL="257175" indent="-257175">
              <a:buClr>
                <a:schemeClr val="accent3">
                  <a:lumMod val="75000"/>
                </a:schemeClr>
              </a:buClr>
              <a:buFont typeface="Gill Sans MT" panose="020B0502020104020203"/>
              <a:buAutoNum type="arabicPeriod"/>
            </a:pPr>
            <a:endParaRPr lang="es-CO" dirty="0">
              <a:solidFill>
                <a:schemeClr val="accent1"/>
              </a:solidFill>
              <a:latin typeface="Century Gothic"/>
              <a:cs typeface="Arial"/>
            </a:endParaRPr>
          </a:p>
          <a:p>
            <a:pPr marL="257175" indent="-257175">
              <a:buClr>
                <a:schemeClr val="accent3">
                  <a:lumMod val="75000"/>
                </a:schemeClr>
              </a:buClr>
              <a:buFont typeface="Gill Sans MT" panose="020B0502020104020203"/>
              <a:buAutoNum type="arabicPeriod"/>
            </a:pPr>
            <a:r>
              <a:rPr lang="es-CO" dirty="0">
                <a:solidFill>
                  <a:schemeClr val="accent1"/>
                </a:solidFill>
                <a:latin typeface="Century Gothic"/>
                <a:cs typeface="Arial"/>
              </a:rPr>
              <a:t>Precios Corrientes</a:t>
            </a:r>
          </a:p>
          <a:p>
            <a:pPr marL="257175" indent="-257175">
              <a:buClr>
                <a:schemeClr val="accent3">
                  <a:lumMod val="75000"/>
                </a:schemeClr>
              </a:buClr>
              <a:buFont typeface="Gill Sans MT" panose="020B0502020104020203"/>
              <a:buAutoNum type="arabicPeriod"/>
            </a:pPr>
            <a:endParaRPr lang="es-CO" dirty="0">
              <a:solidFill>
                <a:schemeClr val="accent1"/>
              </a:solidFill>
              <a:latin typeface="Century Gothic"/>
              <a:cs typeface="Arial"/>
            </a:endParaRPr>
          </a:p>
          <a:p>
            <a:pPr marL="257175" indent="-257175">
              <a:buClr>
                <a:schemeClr val="accent3">
                  <a:lumMod val="75000"/>
                </a:schemeClr>
              </a:buClr>
              <a:buFont typeface="Gill Sans MT" panose="020B0502020104020203"/>
              <a:buAutoNum type="arabicPeriod"/>
            </a:pPr>
            <a:r>
              <a:rPr lang="es-CO" dirty="0">
                <a:solidFill>
                  <a:schemeClr val="bg1">
                    <a:lumMod val="75000"/>
                  </a:schemeClr>
                </a:solidFill>
                <a:latin typeface="Century Gothic"/>
                <a:cs typeface="Arial"/>
              </a:rPr>
              <a:t>Precios constantes</a:t>
            </a:r>
          </a:p>
          <a:p>
            <a:pPr marL="257175" indent="-257175">
              <a:buClr>
                <a:schemeClr val="accent3">
                  <a:lumMod val="75000"/>
                </a:schemeClr>
              </a:buClr>
              <a:buFont typeface="Gill Sans MT" panose="020B0502020104020203"/>
              <a:buAutoNum type="arabicPeriod"/>
            </a:pPr>
            <a:endParaRPr lang="es-CO" dirty="0">
              <a:solidFill>
                <a:schemeClr val="bg1">
                  <a:lumMod val="75000"/>
                </a:schemeClr>
              </a:solidFill>
              <a:latin typeface="Century Gothic"/>
              <a:cs typeface="Arial"/>
            </a:endParaRPr>
          </a:p>
          <a:p>
            <a:pPr marL="257175" indent="-257175">
              <a:buClr>
                <a:schemeClr val="accent3">
                  <a:lumMod val="75000"/>
                </a:schemeClr>
              </a:buClr>
              <a:buFont typeface="Gill Sans MT" panose="020B0502020104020203"/>
              <a:buAutoNum type="arabicPeriod"/>
            </a:pPr>
            <a:r>
              <a:rPr lang="es-CO" dirty="0">
                <a:solidFill>
                  <a:schemeClr val="bg1">
                    <a:lumMod val="75000"/>
                  </a:schemeClr>
                </a:solidFill>
                <a:latin typeface="Century Gothic"/>
                <a:cs typeface="Arial"/>
              </a:rPr>
              <a:t>Inflación variable</a:t>
            </a:r>
          </a:p>
          <a:p>
            <a:pPr marL="257175" indent="-257175">
              <a:buClr>
                <a:schemeClr val="accent3">
                  <a:lumMod val="75000"/>
                </a:schemeClr>
              </a:buClr>
              <a:buFont typeface="Gill Sans MT" panose="020B0502020104020203"/>
              <a:buAutoNum type="arabicPeriod"/>
            </a:pPr>
            <a:endParaRPr lang="es-CO" dirty="0">
              <a:solidFill>
                <a:schemeClr val="bg1">
                  <a:lumMod val="75000"/>
                </a:schemeClr>
              </a:solidFill>
              <a:latin typeface="Century Gothic"/>
              <a:cs typeface="Arial"/>
            </a:endParaRPr>
          </a:p>
          <a:p>
            <a:pPr marL="257175" indent="-257175">
              <a:buClr>
                <a:schemeClr val="accent3">
                  <a:lumMod val="75000"/>
                </a:schemeClr>
              </a:buClr>
              <a:buFont typeface="Gill Sans MT" panose="020B0502020104020203"/>
              <a:buAutoNum type="arabicPeriod"/>
            </a:pPr>
            <a:r>
              <a:rPr lang="es-CO" dirty="0">
                <a:solidFill>
                  <a:schemeClr val="bg1">
                    <a:lumMod val="75000"/>
                  </a:schemeClr>
                </a:solidFill>
                <a:latin typeface="Century Gothic"/>
                <a:cs typeface="Arial"/>
              </a:rPr>
              <a:t>Ejercicios</a:t>
            </a:r>
          </a:p>
          <a:p>
            <a:pPr marL="342900" indent="-342900">
              <a:buClr>
                <a:srgbClr val="48BE7A"/>
              </a:buClr>
              <a:buAutoNum type="arabicPeriod" startAt="5"/>
            </a:pPr>
            <a:endParaRPr lang="es-CO" dirty="0">
              <a:solidFill>
                <a:schemeClr val="accent1"/>
              </a:solidFill>
              <a:latin typeface="Century Gothic" panose="020B0502020202020204" pitchFamily="34" charset="0"/>
              <a:cs typeface="Arial"/>
            </a:endParaRPr>
          </a:p>
          <a:p>
            <a:pPr>
              <a:buClr>
                <a:srgbClr val="48BE7A"/>
              </a:buClr>
            </a:pPr>
            <a:r>
              <a:rPr lang="es-CO" dirty="0">
                <a:solidFill>
                  <a:schemeClr val="accent1"/>
                </a:solidFill>
                <a:latin typeface="Century Gothic"/>
                <a:cs typeface="Arial"/>
              </a:rPr>
              <a:t>	</a:t>
            </a: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a:buClr>
                <a:schemeClr val="accent3">
                  <a:lumMod val="75000"/>
                </a:schemeClr>
              </a:buClr>
            </a:pPr>
            <a:endParaRPr lang="es-CO" dirty="0">
              <a:solidFill>
                <a:schemeClr val="accent1"/>
              </a:solidFill>
              <a:latin typeface="Century Gothic" panose="020B0502020202020204" pitchFamily="34" charset="0"/>
            </a:endParaRPr>
          </a:p>
        </p:txBody>
      </p:sp>
      <p:sp>
        <p:nvSpPr>
          <p:cNvPr id="7" name="Rectángulo 6">
            <a:extLst>
              <a:ext uri="{FF2B5EF4-FFF2-40B4-BE49-F238E27FC236}">
                <a16:creationId xmlns:a16="http://schemas.microsoft.com/office/drawing/2014/main" id="{CB2A0002-8295-FCDA-8EF4-D160E01D4CA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A7185984-9C36-CC27-23ED-8E81FE1557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41E89569-3781-8533-637F-B0D34D32F24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3" name="Slide Number Placeholder 3">
            <a:extLst>
              <a:ext uri="{FF2B5EF4-FFF2-40B4-BE49-F238E27FC236}">
                <a16:creationId xmlns:a16="http://schemas.microsoft.com/office/drawing/2014/main" id="{DBD6B0EC-AAD2-FBCE-1E24-178EB6553E99}"/>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smtClean="0"/>
              <a:t>3</a:t>
            </a:fld>
            <a:endParaRPr lang="en-US" sz="1800" dirty="0"/>
          </a:p>
        </p:txBody>
      </p:sp>
    </p:spTree>
    <p:extLst>
      <p:ext uri="{BB962C8B-B14F-4D97-AF65-F5344CB8AC3E}">
        <p14:creationId xmlns:p14="http://schemas.microsoft.com/office/powerpoint/2010/main" val="3415353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sz="3200" dirty="0">
                <a:latin typeface="Century Gothic" panose="020B0502020202020204" pitchFamily="34" charset="0"/>
              </a:rPr>
              <a:t>EJEMPLO 5</a:t>
            </a:r>
          </a:p>
        </p:txBody>
      </p:sp>
      <p:sp>
        <p:nvSpPr>
          <p:cNvPr id="3" name="Marcador de contenido 2"/>
          <p:cNvSpPr>
            <a:spLocks noGrp="1"/>
          </p:cNvSpPr>
          <p:nvPr>
            <p:ph idx="1"/>
          </p:nvPr>
        </p:nvSpPr>
        <p:spPr>
          <a:xfrm>
            <a:off x="522189" y="1989939"/>
            <a:ext cx="6982198" cy="4458158"/>
          </a:xfrm>
        </p:spPr>
        <p:txBody>
          <a:bodyPr anchor="t">
            <a:noAutofit/>
          </a:bodyPr>
          <a:lstStyle/>
          <a:p>
            <a:pPr marL="0" indent="0" algn="just">
              <a:buNone/>
            </a:pPr>
            <a:r>
              <a:rPr lang="es-ES_tradnl" sz="2000" b="1" dirty="0">
                <a:solidFill>
                  <a:srgbClr val="C00000"/>
                </a:solidFill>
                <a:latin typeface="Century Gothic" panose="020B0502020202020204" pitchFamily="34" charset="0"/>
              </a:rPr>
              <a:t>Ejemplo</a:t>
            </a:r>
            <a:r>
              <a:rPr lang="es-ES_tradnl" sz="2000" dirty="0">
                <a:solidFill>
                  <a:srgbClr val="C00000"/>
                </a:solidFill>
                <a:latin typeface="Century Gothic" panose="020B0502020202020204" pitchFamily="34" charset="0"/>
              </a:rPr>
              <a:t>: </a:t>
            </a:r>
          </a:p>
          <a:p>
            <a:pPr marL="0" indent="0" algn="just">
              <a:buNone/>
            </a:pPr>
            <a:r>
              <a:rPr lang="es-ES_tradnl" dirty="0">
                <a:solidFill>
                  <a:schemeClr val="accent1"/>
                </a:solidFill>
                <a:latin typeface="Century Gothic" panose="020B0502020202020204" pitchFamily="34" charset="0"/>
              </a:rPr>
              <a:t>Una compañía de insumos químicos está evaluando un nuevo proyecto de inversión que consiste en producir y distribuir un nuevo tipo de producto personal (cremas dentales).</a:t>
            </a:r>
          </a:p>
          <a:p>
            <a:pPr marL="0" indent="0" algn="just">
              <a:buNone/>
            </a:pPr>
            <a:r>
              <a:rPr lang="es-ES_tradnl" dirty="0">
                <a:solidFill>
                  <a:schemeClr val="accent1"/>
                </a:solidFill>
                <a:latin typeface="Century Gothic" panose="020B0502020202020204" pitchFamily="34" charset="0"/>
              </a:rPr>
              <a:t>La inversión en maquinaria es de </a:t>
            </a:r>
            <a:r>
              <a:rPr lang="es-ES_tradnl" b="1" dirty="0">
                <a:solidFill>
                  <a:schemeClr val="accent1"/>
                </a:solidFill>
                <a:latin typeface="Century Gothic" panose="020B0502020202020204" pitchFamily="34" charset="0"/>
              </a:rPr>
              <a:t>20 millones</a:t>
            </a:r>
            <a:r>
              <a:rPr lang="es-ES_tradnl" dirty="0">
                <a:solidFill>
                  <a:schemeClr val="accent1"/>
                </a:solidFill>
                <a:latin typeface="Century Gothic" panose="020B0502020202020204" pitchFamily="34" charset="0"/>
              </a:rPr>
              <a:t>, depreciable a </a:t>
            </a:r>
            <a:r>
              <a:rPr lang="es-ES_tradnl" b="1" dirty="0">
                <a:solidFill>
                  <a:schemeClr val="accent1"/>
                </a:solidFill>
                <a:latin typeface="Century Gothic" panose="020B0502020202020204" pitchFamily="34" charset="0"/>
              </a:rPr>
              <a:t>5 años en línea recta y sin valor de salvamento</a:t>
            </a:r>
            <a:r>
              <a:rPr lang="es-ES_tradnl" dirty="0">
                <a:solidFill>
                  <a:schemeClr val="accent1"/>
                </a:solidFill>
                <a:latin typeface="Century Gothic" panose="020B0502020202020204" pitchFamily="34" charset="0"/>
              </a:rPr>
              <a:t>.</a:t>
            </a:r>
          </a:p>
          <a:p>
            <a:pPr marL="0" indent="0" algn="just">
              <a:buNone/>
            </a:pPr>
            <a:r>
              <a:rPr lang="es-ES_tradnl" dirty="0">
                <a:solidFill>
                  <a:schemeClr val="accent1"/>
                </a:solidFill>
                <a:latin typeface="Century Gothic" panose="020B0502020202020204" pitchFamily="34" charset="0"/>
              </a:rPr>
              <a:t>Se esperan tener ventas de </a:t>
            </a:r>
            <a:r>
              <a:rPr lang="es-ES_tradnl" b="1" dirty="0">
                <a:solidFill>
                  <a:schemeClr val="accent1"/>
                </a:solidFill>
                <a:latin typeface="Century Gothic" panose="020B0502020202020204" pitchFamily="34" charset="0"/>
              </a:rPr>
              <a:t>1.000 unidades (constantes todo el proyecto). </a:t>
            </a:r>
            <a:r>
              <a:rPr lang="es-ES_tradnl" dirty="0">
                <a:solidFill>
                  <a:schemeClr val="accent1"/>
                </a:solidFill>
                <a:latin typeface="Century Gothic" panose="020B0502020202020204" pitchFamily="34" charset="0"/>
              </a:rPr>
              <a:t>Actualmente, las cremas tienen un precio de </a:t>
            </a:r>
            <a:r>
              <a:rPr lang="es-ES_tradnl" b="1" dirty="0">
                <a:solidFill>
                  <a:schemeClr val="accent1"/>
                </a:solidFill>
                <a:latin typeface="Century Gothic" panose="020B0502020202020204" pitchFamily="34" charset="0"/>
              </a:rPr>
              <a:t>10.000 COP</a:t>
            </a:r>
            <a:r>
              <a:rPr lang="es-ES_tradnl" dirty="0">
                <a:solidFill>
                  <a:schemeClr val="accent1"/>
                </a:solidFill>
                <a:latin typeface="Century Gothic" panose="020B0502020202020204" pitchFamily="34" charset="0"/>
              </a:rPr>
              <a:t>. Los costos totales son el </a:t>
            </a:r>
            <a:r>
              <a:rPr lang="es-ES_tradnl" b="1" dirty="0">
                <a:solidFill>
                  <a:schemeClr val="accent1"/>
                </a:solidFill>
                <a:latin typeface="Century Gothic" panose="020B0502020202020204" pitchFamily="34" charset="0"/>
              </a:rPr>
              <a:t>25% de las ventas</a:t>
            </a:r>
            <a:r>
              <a:rPr lang="es-ES_tradnl" dirty="0">
                <a:solidFill>
                  <a:schemeClr val="accent1"/>
                </a:solidFill>
                <a:latin typeface="Century Gothic" panose="020B0502020202020204" pitchFamily="34" charset="0"/>
              </a:rPr>
              <a:t>. </a:t>
            </a:r>
          </a:p>
          <a:p>
            <a:pPr marL="0" indent="0" algn="just">
              <a:buNone/>
            </a:pPr>
            <a:r>
              <a:rPr lang="es-ES_tradnl" dirty="0">
                <a:solidFill>
                  <a:schemeClr val="accent1"/>
                </a:solidFill>
                <a:latin typeface="Century Gothic"/>
              </a:rPr>
              <a:t>El </a:t>
            </a:r>
            <a:r>
              <a:rPr lang="es-ES_tradnl" err="1">
                <a:solidFill>
                  <a:schemeClr val="accent1"/>
                </a:solidFill>
                <a:latin typeface="Century Gothic"/>
              </a:rPr>
              <a:t>WACC</a:t>
            </a:r>
            <a:r>
              <a:rPr lang="es-ES_tradnl" dirty="0">
                <a:solidFill>
                  <a:schemeClr val="accent1"/>
                </a:solidFill>
                <a:latin typeface="Century Gothic"/>
              </a:rPr>
              <a:t> de la compañía es del </a:t>
            </a:r>
            <a:r>
              <a:rPr lang="es-ES_tradnl" b="1" dirty="0">
                <a:solidFill>
                  <a:schemeClr val="accent1"/>
                </a:solidFill>
                <a:latin typeface="Century Gothic"/>
              </a:rPr>
              <a:t>15% </a:t>
            </a:r>
            <a:r>
              <a:rPr lang="es-ES_tradnl" b="1" err="1">
                <a:solidFill>
                  <a:schemeClr val="accent1"/>
                </a:solidFill>
                <a:latin typeface="Century Gothic"/>
              </a:rPr>
              <a:t>E.A</a:t>
            </a:r>
            <a:r>
              <a:rPr lang="es-ES_tradnl" dirty="0">
                <a:solidFill>
                  <a:schemeClr val="accent1"/>
                </a:solidFill>
                <a:latin typeface="Century Gothic"/>
              </a:rPr>
              <a:t>. La inflación anual es el </a:t>
            </a:r>
            <a:r>
              <a:rPr lang="es-ES_tradnl" b="1">
                <a:solidFill>
                  <a:schemeClr val="accent1"/>
                </a:solidFill>
                <a:latin typeface="Century Gothic"/>
              </a:rPr>
              <a:t>6% </a:t>
            </a:r>
            <a:r>
              <a:rPr lang="es-ES_tradnl" dirty="0">
                <a:solidFill>
                  <a:schemeClr val="accent1"/>
                </a:solidFill>
                <a:latin typeface="Century Gothic"/>
              </a:rPr>
              <a:t>y la tasa de impuestos es del </a:t>
            </a:r>
            <a:r>
              <a:rPr lang="es-ES_tradnl" b="1" dirty="0">
                <a:solidFill>
                  <a:schemeClr val="accent1"/>
                </a:solidFill>
                <a:latin typeface="Century Gothic"/>
              </a:rPr>
              <a:t>33%.</a:t>
            </a:r>
          </a:p>
        </p:txBody>
      </p:sp>
      <p:sp>
        <p:nvSpPr>
          <p:cNvPr id="4" name="Marcador de número de diapositiva 3"/>
          <p:cNvSpPr>
            <a:spLocks noGrp="1"/>
          </p:cNvSpPr>
          <p:nvPr>
            <p:ph type="sldNum" sz="quarter" idx="12"/>
          </p:nvPr>
        </p:nvSpPr>
        <p:spPr/>
        <p:txBody>
          <a:bodyPr/>
          <a:lstStyle/>
          <a:p>
            <a:fld id="{5E3E23BA-6E79-2442-BA73-D218A5E297C3}" type="slidenum">
              <a:rPr lang="en-US" sz="1800" smtClean="0"/>
              <a:t>4</a:t>
            </a:fld>
            <a:endParaRPr lang="en-US" sz="1800" dirty="0"/>
          </a:p>
        </p:txBody>
      </p:sp>
      <p:sp>
        <p:nvSpPr>
          <p:cNvPr id="5" name="Rectángulo 4">
            <a:extLst>
              <a:ext uri="{FF2B5EF4-FFF2-40B4-BE49-F238E27FC236}">
                <a16:creationId xmlns:a16="http://schemas.microsoft.com/office/drawing/2014/main" id="{148A15CE-2EB9-961C-83BC-05B52564978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48BE75B0-2524-0C43-A847-011EECCE07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94526344-BD67-551F-5EB7-FD4FD8FD793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pic>
        <p:nvPicPr>
          <p:cNvPr id="9" name="Imagen 8">
            <a:extLst>
              <a:ext uri="{FF2B5EF4-FFF2-40B4-BE49-F238E27FC236}">
                <a16:creationId xmlns:a16="http://schemas.microsoft.com/office/drawing/2014/main" id="{66F8BC46-6E3B-A8AF-5D6D-0802997A9DFD}"/>
              </a:ext>
            </a:extLst>
          </p:cNvPr>
          <p:cNvPicPr>
            <a:picLocks noChangeAspect="1"/>
          </p:cNvPicPr>
          <p:nvPr/>
        </p:nvPicPr>
        <p:blipFill>
          <a:blip r:embed="rId3"/>
          <a:stretch>
            <a:fillRect/>
          </a:stretch>
        </p:blipFill>
        <p:spPr>
          <a:xfrm>
            <a:off x="7844044" y="2038392"/>
            <a:ext cx="3825767" cy="3917745"/>
          </a:xfrm>
          <a:prstGeom prst="rect">
            <a:avLst/>
          </a:prstGeom>
        </p:spPr>
      </p:pic>
    </p:spTree>
    <p:extLst>
      <p:ext uri="{BB962C8B-B14F-4D97-AF65-F5344CB8AC3E}">
        <p14:creationId xmlns:p14="http://schemas.microsoft.com/office/powerpoint/2010/main" val="421005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 sz="3200">
                <a:latin typeface="Century Gothic" panose="020B0502020202020204" pitchFamily="34" charset="0"/>
              </a:rPr>
              <a:t>EJEMPLO 5</a:t>
            </a:r>
            <a:endParaRPr lang="es-ES_tradnl" sz="3200" dirty="0">
              <a:latin typeface="Century Gothic" panose="020B0502020202020204" pitchFamily="34" charset="0"/>
            </a:endParaRPr>
          </a:p>
        </p:txBody>
      </p:sp>
      <p:sp>
        <p:nvSpPr>
          <p:cNvPr id="3" name="Content Placeholder 2"/>
          <p:cNvSpPr>
            <a:spLocks noGrp="1"/>
          </p:cNvSpPr>
          <p:nvPr>
            <p:ph idx="1"/>
          </p:nvPr>
        </p:nvSpPr>
        <p:spPr>
          <a:xfrm>
            <a:off x="641965" y="2154740"/>
            <a:ext cx="10371622" cy="2117716"/>
          </a:xfrm>
        </p:spPr>
        <p:txBody>
          <a:bodyPr>
            <a:noAutofit/>
          </a:bodyPr>
          <a:lstStyle/>
          <a:p>
            <a:pPr marL="0" indent="0" algn="ctr">
              <a:buNone/>
            </a:pPr>
            <a:r>
              <a:rPr lang="es-ES_tradnl" sz="2400" dirty="0">
                <a:solidFill>
                  <a:schemeClr val="accent1"/>
                </a:solidFill>
                <a:latin typeface="Century Gothic" panose="020B0502020202020204" pitchFamily="34" charset="0"/>
              </a:rPr>
              <a:t>Note que todas las cifras están expresadas en precios de hoy (corrientes  o nominales de 2025). </a:t>
            </a:r>
          </a:p>
          <a:p>
            <a:pPr marL="0" indent="0" algn="ctr">
              <a:buNone/>
            </a:pPr>
            <a:r>
              <a:rPr lang="es-ES_tradnl" sz="2400" dirty="0">
                <a:solidFill>
                  <a:schemeClr val="accent1"/>
                </a:solidFill>
                <a:latin typeface="Century Gothic" panose="020B0502020202020204" pitchFamily="34" charset="0"/>
              </a:rPr>
              <a:t>Además, el </a:t>
            </a:r>
            <a:r>
              <a:rPr lang="es-ES_tradnl" sz="2400" dirty="0" err="1">
                <a:solidFill>
                  <a:schemeClr val="accent1"/>
                </a:solidFill>
                <a:latin typeface="Century Gothic" panose="020B0502020202020204" pitchFamily="34" charset="0"/>
              </a:rPr>
              <a:t>WACC</a:t>
            </a:r>
            <a:r>
              <a:rPr lang="es-ES_tradnl" sz="2400" dirty="0">
                <a:solidFill>
                  <a:schemeClr val="accent1"/>
                </a:solidFill>
                <a:latin typeface="Century Gothic" panose="020B0502020202020204" pitchFamily="34" charset="0"/>
              </a:rPr>
              <a:t> está expresado en </a:t>
            </a:r>
            <a:r>
              <a:rPr lang="es-ES_tradnl" sz="2400" b="1" dirty="0">
                <a:solidFill>
                  <a:srgbClr val="C00000"/>
                </a:solidFill>
                <a:latin typeface="Century Gothic" panose="020B0502020202020204" pitchFamily="34" charset="0"/>
              </a:rPr>
              <a:t>términos nominales</a:t>
            </a:r>
          </a:p>
        </p:txBody>
      </p:sp>
      <p:sp>
        <p:nvSpPr>
          <p:cNvPr id="4" name="Slide Number Placeholder 3"/>
          <p:cNvSpPr>
            <a:spLocks noGrp="1"/>
          </p:cNvSpPr>
          <p:nvPr>
            <p:ph type="sldNum" sz="quarter" idx="12"/>
          </p:nvPr>
        </p:nvSpPr>
        <p:spPr/>
        <p:txBody>
          <a:bodyPr/>
          <a:lstStyle/>
          <a:p>
            <a:fld id="{5E3E23BA-6E79-2442-BA73-D218A5E297C3}" type="slidenum">
              <a:rPr lang="en-US" sz="1800" smtClean="0"/>
              <a:t>5</a:t>
            </a:fld>
            <a:endParaRPr lang="en-US" sz="1800"/>
          </a:p>
        </p:txBody>
      </p:sp>
      <p:sp>
        <p:nvSpPr>
          <p:cNvPr id="5" name="Rectángulo 4">
            <a:extLst>
              <a:ext uri="{FF2B5EF4-FFF2-40B4-BE49-F238E27FC236}">
                <a16:creationId xmlns:a16="http://schemas.microsoft.com/office/drawing/2014/main" id="{1B16C4BD-2F94-BF8B-4E7C-8E0CA7854E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D67907AE-B19F-6281-195D-FDAC7E6A47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1B31DE06-2C43-239E-FC7B-F75C8E85275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pic>
        <p:nvPicPr>
          <p:cNvPr id="8" name="Picture 2" descr="Dibujos Animados Brillante Bombilla De Luz Amarilla. Idea Creativa.  Concepto De Inspiración. Ilustración De Vector Dibujado A Mano Aislada  Sobre Fondo Blanco. Ilustraciones svg, vectoriales, clip art vectorizado  libre de derechos. Image">
            <a:extLst>
              <a:ext uri="{FF2B5EF4-FFF2-40B4-BE49-F238E27FC236}">
                <a16:creationId xmlns:a16="http://schemas.microsoft.com/office/drawing/2014/main" id="{901B9BD2-F205-5514-9996-7475BE67A608}"/>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857771" y="4017856"/>
            <a:ext cx="2142117" cy="21421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5131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 sz="3200" dirty="0">
                <a:latin typeface="Century Gothic" panose="020B0502020202020204" pitchFamily="34" charset="0"/>
              </a:rPr>
              <a:t>Precios corrientes</a:t>
            </a:r>
            <a:endParaRPr lang="es-ES_tradnl" sz="3200" dirty="0">
              <a:latin typeface="Century Gothic" panose="020B0502020202020204" pitchFamily="34" charset="0"/>
            </a:endParaRPr>
          </a:p>
        </p:txBody>
      </p:sp>
      <p:sp>
        <p:nvSpPr>
          <p:cNvPr id="4" name="Slide Number Placeholder 3"/>
          <p:cNvSpPr>
            <a:spLocks noGrp="1"/>
          </p:cNvSpPr>
          <p:nvPr>
            <p:ph type="sldNum" sz="quarter" idx="12"/>
          </p:nvPr>
        </p:nvSpPr>
        <p:spPr>
          <a:xfrm>
            <a:off x="10558300" y="6276768"/>
            <a:ext cx="1052508" cy="365125"/>
          </a:xfrm>
        </p:spPr>
        <p:txBody>
          <a:bodyPr/>
          <a:lstStyle/>
          <a:p>
            <a:fld id="{5E3E23BA-6E79-2442-BA73-D218A5E297C3}" type="slidenum">
              <a:rPr lang="en-US" sz="1800" smtClean="0"/>
              <a:t>6</a:t>
            </a:fld>
            <a:endParaRPr lang="en-US" sz="1800" dirty="0"/>
          </a:p>
        </p:txBody>
      </p:sp>
      <p:sp>
        <p:nvSpPr>
          <p:cNvPr id="5" name="Rectángulo 4">
            <a:extLst>
              <a:ext uri="{FF2B5EF4-FFF2-40B4-BE49-F238E27FC236}">
                <a16:creationId xmlns:a16="http://schemas.microsoft.com/office/drawing/2014/main" id="{67D08D61-CF5D-5316-5125-7A6422CF891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2948DE3F-105D-49F4-8031-BADBF80890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032B4ADA-9601-AD16-F3DC-134698D6BE7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11" name="Table 24">
            <a:extLst>
              <a:ext uri="{FF2B5EF4-FFF2-40B4-BE49-F238E27FC236}">
                <a16:creationId xmlns:a16="http://schemas.microsoft.com/office/drawing/2014/main" id="{21D91CE6-0181-A527-AC00-BF5DDD724EE5}"/>
              </a:ext>
            </a:extLst>
          </p:cNvPr>
          <p:cNvGraphicFramePr>
            <a:graphicFrameLocks noGrp="1"/>
          </p:cNvGraphicFramePr>
          <p:nvPr/>
        </p:nvGraphicFramePr>
        <p:xfrm>
          <a:off x="581192" y="1989939"/>
          <a:ext cx="11029618" cy="3915940"/>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11660">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11660">
                <a:tc>
                  <a:txBody>
                    <a:bodyPr/>
                    <a:lstStyle/>
                    <a:p>
                      <a:pPr algn="l"/>
                      <a:r>
                        <a:rPr lang="es-ES_tradnl" sz="13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11660">
                <a:tc>
                  <a:txBody>
                    <a:bodyPr/>
                    <a:lstStyle/>
                    <a:p>
                      <a:pPr algn="l"/>
                      <a:r>
                        <a:rPr lang="es-ES_tradnl" sz="13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11660">
                <a:tc>
                  <a:txBody>
                    <a:bodyPr/>
                    <a:lstStyle/>
                    <a:p>
                      <a:pPr algn="l"/>
                      <a:r>
                        <a:rPr lang="es-ES_tradnl" sz="13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11660">
                <a:tc>
                  <a:txBody>
                    <a:bodyPr/>
                    <a:lstStyle/>
                    <a:p>
                      <a:pPr algn="l"/>
                      <a:r>
                        <a:rPr lang="es-ES_tradnl" sz="13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11660">
                <a:tc>
                  <a:txBody>
                    <a:bodyPr/>
                    <a:lstStyle/>
                    <a:p>
                      <a:pPr algn="l"/>
                      <a:r>
                        <a:rPr lang="es-ES_tradnl" sz="13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11660">
                <a:tc>
                  <a:txBody>
                    <a:bodyPr/>
                    <a:lstStyle/>
                    <a:p>
                      <a:pPr algn="l"/>
                      <a:r>
                        <a:rPr lang="es-ES_tradnl" sz="13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11660">
                <a:tc>
                  <a:txBody>
                    <a:bodyPr/>
                    <a:lstStyle/>
                    <a:p>
                      <a:pPr algn="l"/>
                      <a:r>
                        <a:rPr lang="es-ES_tradnl" sz="13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11660">
                <a:tc>
                  <a:txBody>
                    <a:bodyPr/>
                    <a:lstStyle/>
                    <a:p>
                      <a:pPr algn="l"/>
                      <a:r>
                        <a:rPr lang="es-ES_tradnl" sz="13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11660">
                <a:tc>
                  <a:txBody>
                    <a:bodyPr/>
                    <a:lstStyle/>
                    <a:p>
                      <a:pPr algn="l"/>
                      <a:r>
                        <a:rPr lang="es-ES_tradnl" sz="13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69351">
                <a:tc>
                  <a:txBody>
                    <a:bodyPr/>
                    <a:lstStyle/>
                    <a:p>
                      <a:pPr algn="l"/>
                      <a:r>
                        <a:rPr lang="es-ES_tradnl" sz="13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11660">
                <a:tc>
                  <a:txBody>
                    <a:bodyPr/>
                    <a:lstStyle/>
                    <a:p>
                      <a:pPr algn="l"/>
                      <a:r>
                        <a:rPr lang="es-ES_tradnl" sz="1300" noProof="0" dirty="0" err="1">
                          <a:solidFill>
                            <a:schemeClr val="accent1"/>
                          </a:solidFill>
                          <a:latin typeface="Century Gothic" panose="020B0502020202020204" pitchFamily="34" charset="0"/>
                        </a:rPr>
                        <a:t>FCL</a:t>
                      </a: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p:spTree>
    <p:extLst>
      <p:ext uri="{BB962C8B-B14F-4D97-AF65-F5344CB8AC3E}">
        <p14:creationId xmlns:p14="http://schemas.microsoft.com/office/powerpoint/2010/main" val="143201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8DE2A-047D-93C7-7CEF-086BDA9E2B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A7D41F-0FE8-3859-CB15-31426F125F46}"/>
              </a:ext>
            </a:extLst>
          </p:cNvPr>
          <p:cNvSpPr>
            <a:spLocks noGrp="1"/>
          </p:cNvSpPr>
          <p:nvPr>
            <p:ph type="title"/>
          </p:nvPr>
        </p:nvSpPr>
        <p:spPr/>
        <p:txBody>
          <a:bodyPr>
            <a:normAutofit/>
          </a:bodyPr>
          <a:lstStyle/>
          <a:p>
            <a:r>
              <a:rPr lang="es-ES" sz="3200" dirty="0">
                <a:latin typeface="Century Gothic" panose="020B0502020202020204" pitchFamily="34" charset="0"/>
              </a:rPr>
              <a:t>Precios corrientes</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9559BFAE-CB81-899E-1AC3-08BC6F8B59C7}"/>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7</a:t>
            </a:fld>
            <a:endParaRPr lang="en-US" sz="1800" dirty="0"/>
          </a:p>
        </p:txBody>
      </p:sp>
      <p:sp>
        <p:nvSpPr>
          <p:cNvPr id="5" name="Rectángulo 4">
            <a:extLst>
              <a:ext uri="{FF2B5EF4-FFF2-40B4-BE49-F238E27FC236}">
                <a16:creationId xmlns:a16="http://schemas.microsoft.com/office/drawing/2014/main" id="{39C32042-ADF3-AF75-DBB8-4ED77279837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14489CA0-0E06-72D0-EC99-278644E279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4EB358DE-716D-8AFF-DE2E-EEF75D37D46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11" name="Table 24">
            <a:extLst>
              <a:ext uri="{FF2B5EF4-FFF2-40B4-BE49-F238E27FC236}">
                <a16:creationId xmlns:a16="http://schemas.microsoft.com/office/drawing/2014/main" id="{33A663F7-C0D9-5684-60D6-DF605DB9FA40}"/>
              </a:ext>
            </a:extLst>
          </p:cNvPr>
          <p:cNvGraphicFramePr>
            <a:graphicFrameLocks noGrp="1"/>
          </p:cNvGraphicFramePr>
          <p:nvPr/>
        </p:nvGraphicFramePr>
        <p:xfrm>
          <a:off x="581192" y="1989939"/>
          <a:ext cx="11029618" cy="3915940"/>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11660">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11660">
                <a:tc>
                  <a:txBody>
                    <a:bodyPr/>
                    <a:lstStyle/>
                    <a:p>
                      <a:pPr algn="l"/>
                      <a:r>
                        <a:rPr lang="es-ES_tradnl" sz="13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11660">
                <a:tc>
                  <a:txBody>
                    <a:bodyPr/>
                    <a:lstStyle/>
                    <a:p>
                      <a:pPr algn="l"/>
                      <a:r>
                        <a:rPr lang="es-ES_tradnl" sz="13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11660">
                <a:tc>
                  <a:txBody>
                    <a:bodyPr/>
                    <a:lstStyle/>
                    <a:p>
                      <a:pPr algn="l"/>
                      <a:r>
                        <a:rPr lang="es-ES_tradnl" sz="13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11660">
                <a:tc>
                  <a:txBody>
                    <a:bodyPr/>
                    <a:lstStyle/>
                    <a:p>
                      <a:pPr algn="l"/>
                      <a:r>
                        <a:rPr lang="es-ES_tradnl" sz="13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11660">
                <a:tc>
                  <a:txBody>
                    <a:bodyPr/>
                    <a:lstStyle/>
                    <a:p>
                      <a:pPr algn="l"/>
                      <a:r>
                        <a:rPr lang="es-ES_tradnl" sz="13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11660">
                <a:tc>
                  <a:txBody>
                    <a:bodyPr/>
                    <a:lstStyle/>
                    <a:p>
                      <a:pPr algn="l"/>
                      <a:r>
                        <a:rPr lang="es-ES_tradnl" sz="13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11660">
                <a:tc>
                  <a:txBody>
                    <a:bodyPr/>
                    <a:lstStyle/>
                    <a:p>
                      <a:pPr algn="l"/>
                      <a:r>
                        <a:rPr lang="es-ES_tradnl" sz="13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11660">
                <a:tc>
                  <a:txBody>
                    <a:bodyPr/>
                    <a:lstStyle/>
                    <a:p>
                      <a:pPr algn="l"/>
                      <a:r>
                        <a:rPr lang="es-ES_tradnl" sz="13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11660">
                <a:tc>
                  <a:txBody>
                    <a:bodyPr/>
                    <a:lstStyle/>
                    <a:p>
                      <a:pPr algn="l"/>
                      <a:r>
                        <a:rPr lang="es-ES_tradnl" sz="13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69351">
                <a:tc>
                  <a:txBody>
                    <a:bodyPr/>
                    <a:lstStyle/>
                    <a:p>
                      <a:pPr algn="l"/>
                      <a:r>
                        <a:rPr lang="es-ES_tradnl" sz="13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11660">
                <a:tc>
                  <a:txBody>
                    <a:bodyPr/>
                    <a:lstStyle/>
                    <a:p>
                      <a:pPr algn="l"/>
                      <a:r>
                        <a:rPr lang="es-ES_tradnl" sz="1300" noProof="0" dirty="0" err="1">
                          <a:solidFill>
                            <a:schemeClr val="accent1"/>
                          </a:solidFill>
                          <a:latin typeface="Century Gothic" panose="020B0502020202020204" pitchFamily="34" charset="0"/>
                        </a:rPr>
                        <a:t>FCL</a:t>
                      </a: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p:spTree>
    <p:extLst>
      <p:ext uri="{BB962C8B-B14F-4D97-AF65-F5344CB8AC3E}">
        <p14:creationId xmlns:p14="http://schemas.microsoft.com/office/powerpoint/2010/main" val="1336353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79BC9-ED59-D8AF-8887-7331674859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DB84F1-72E9-E460-BCB0-B78A03B67FE5}"/>
              </a:ext>
            </a:extLst>
          </p:cNvPr>
          <p:cNvSpPr>
            <a:spLocks noGrp="1"/>
          </p:cNvSpPr>
          <p:nvPr>
            <p:ph type="title"/>
          </p:nvPr>
        </p:nvSpPr>
        <p:spPr/>
        <p:txBody>
          <a:bodyPr>
            <a:normAutofit/>
          </a:bodyPr>
          <a:lstStyle/>
          <a:p>
            <a:r>
              <a:rPr lang="es-ES" sz="3200" dirty="0">
                <a:latin typeface="Century Gothic" panose="020B0502020202020204" pitchFamily="34" charset="0"/>
              </a:rPr>
              <a:t>Precios corrientes</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2E7A9450-C583-4FE4-93BE-24F21D64F13E}"/>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8</a:t>
            </a:fld>
            <a:endParaRPr lang="en-US" sz="1800" dirty="0"/>
          </a:p>
        </p:txBody>
      </p:sp>
      <p:sp>
        <p:nvSpPr>
          <p:cNvPr id="5" name="Rectángulo 4">
            <a:extLst>
              <a:ext uri="{FF2B5EF4-FFF2-40B4-BE49-F238E27FC236}">
                <a16:creationId xmlns:a16="http://schemas.microsoft.com/office/drawing/2014/main" id="{98978C04-A2E5-BD97-73F3-0B9D67C2D19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34FCC276-4823-C93F-4CEE-E7F8B24E86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BCBDB10E-9B34-D49E-5B67-2A5ED6C3FF2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11" name="Table 24">
            <a:extLst>
              <a:ext uri="{FF2B5EF4-FFF2-40B4-BE49-F238E27FC236}">
                <a16:creationId xmlns:a16="http://schemas.microsoft.com/office/drawing/2014/main" id="{735DD1CF-6DE0-462E-79E1-0C630465FF61}"/>
              </a:ext>
            </a:extLst>
          </p:cNvPr>
          <p:cNvGraphicFramePr>
            <a:graphicFrameLocks noGrp="1"/>
          </p:cNvGraphicFramePr>
          <p:nvPr/>
        </p:nvGraphicFramePr>
        <p:xfrm>
          <a:off x="581192" y="1989939"/>
          <a:ext cx="11029618" cy="3915940"/>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11660">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11660">
                <a:tc>
                  <a:txBody>
                    <a:bodyPr/>
                    <a:lstStyle/>
                    <a:p>
                      <a:pPr algn="l"/>
                      <a:r>
                        <a:rPr lang="es-ES_tradnl" sz="13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$10.600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11660">
                <a:tc>
                  <a:txBody>
                    <a:bodyPr/>
                    <a:lstStyle/>
                    <a:p>
                      <a:pPr algn="l"/>
                      <a:r>
                        <a:rPr lang="es-ES_tradnl" sz="13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11660">
                <a:tc>
                  <a:txBody>
                    <a:bodyPr/>
                    <a:lstStyle/>
                    <a:p>
                      <a:pPr algn="l"/>
                      <a:r>
                        <a:rPr lang="es-ES_tradnl" sz="13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11660">
                <a:tc>
                  <a:txBody>
                    <a:bodyPr/>
                    <a:lstStyle/>
                    <a:p>
                      <a:pPr algn="l"/>
                      <a:r>
                        <a:rPr lang="es-ES_tradnl" sz="13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11660">
                <a:tc>
                  <a:txBody>
                    <a:bodyPr/>
                    <a:lstStyle/>
                    <a:p>
                      <a:pPr algn="l"/>
                      <a:r>
                        <a:rPr lang="es-ES_tradnl" sz="13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11660">
                <a:tc>
                  <a:txBody>
                    <a:bodyPr/>
                    <a:lstStyle/>
                    <a:p>
                      <a:pPr algn="l"/>
                      <a:r>
                        <a:rPr lang="es-ES_tradnl" sz="13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11660">
                <a:tc>
                  <a:txBody>
                    <a:bodyPr/>
                    <a:lstStyle/>
                    <a:p>
                      <a:pPr algn="l"/>
                      <a:r>
                        <a:rPr lang="es-ES_tradnl" sz="13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11660">
                <a:tc>
                  <a:txBody>
                    <a:bodyPr/>
                    <a:lstStyle/>
                    <a:p>
                      <a:pPr algn="l"/>
                      <a:r>
                        <a:rPr lang="es-ES_tradnl" sz="13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11660">
                <a:tc>
                  <a:txBody>
                    <a:bodyPr/>
                    <a:lstStyle/>
                    <a:p>
                      <a:pPr algn="l"/>
                      <a:r>
                        <a:rPr lang="es-ES_tradnl" sz="13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69351">
                <a:tc>
                  <a:txBody>
                    <a:bodyPr/>
                    <a:lstStyle/>
                    <a:p>
                      <a:pPr algn="l"/>
                      <a:r>
                        <a:rPr lang="es-ES_tradnl" sz="13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11660">
                <a:tc>
                  <a:txBody>
                    <a:bodyPr/>
                    <a:lstStyle/>
                    <a:p>
                      <a:pPr algn="l"/>
                      <a:r>
                        <a:rPr lang="es-ES_tradnl" sz="1300" noProof="0" dirty="0" err="1">
                          <a:solidFill>
                            <a:schemeClr val="accent1"/>
                          </a:solidFill>
                          <a:latin typeface="Century Gothic" panose="020B0502020202020204" pitchFamily="34" charset="0"/>
                        </a:rPr>
                        <a:t>FCL</a:t>
                      </a: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p:spTree>
    <p:extLst>
      <p:ext uri="{BB962C8B-B14F-4D97-AF65-F5344CB8AC3E}">
        <p14:creationId xmlns:p14="http://schemas.microsoft.com/office/powerpoint/2010/main" val="6982564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12C76-C291-5631-5CFB-DCAE30149C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ECD55E-EDE9-1A2E-9689-E130246071AD}"/>
              </a:ext>
            </a:extLst>
          </p:cNvPr>
          <p:cNvSpPr>
            <a:spLocks noGrp="1"/>
          </p:cNvSpPr>
          <p:nvPr>
            <p:ph type="title"/>
          </p:nvPr>
        </p:nvSpPr>
        <p:spPr/>
        <p:txBody>
          <a:bodyPr>
            <a:normAutofit/>
          </a:bodyPr>
          <a:lstStyle/>
          <a:p>
            <a:r>
              <a:rPr lang="es-ES" sz="3200" dirty="0">
                <a:latin typeface="Century Gothic" panose="020B0502020202020204" pitchFamily="34" charset="0"/>
              </a:rPr>
              <a:t>Precios corrientes</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33CF65F3-A3EE-E464-0791-EDE8F8B18DC0}"/>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9</a:t>
            </a:fld>
            <a:endParaRPr lang="en-US" sz="1800" dirty="0"/>
          </a:p>
        </p:txBody>
      </p:sp>
      <p:sp>
        <p:nvSpPr>
          <p:cNvPr id="5" name="Rectángulo 4">
            <a:extLst>
              <a:ext uri="{FF2B5EF4-FFF2-40B4-BE49-F238E27FC236}">
                <a16:creationId xmlns:a16="http://schemas.microsoft.com/office/drawing/2014/main" id="{C2BAF056-75D8-7F31-F8A3-AB9661CC511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6E613E62-FDDB-FF65-CE66-BCA3DB7590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07DE9157-800D-409F-5C8F-52C2B027902A}"/>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11" name="Table 24">
            <a:extLst>
              <a:ext uri="{FF2B5EF4-FFF2-40B4-BE49-F238E27FC236}">
                <a16:creationId xmlns:a16="http://schemas.microsoft.com/office/drawing/2014/main" id="{FF4D4EBE-A25D-B660-C30D-3006C3C13089}"/>
              </a:ext>
            </a:extLst>
          </p:cNvPr>
          <p:cNvGraphicFramePr>
            <a:graphicFrameLocks noGrp="1"/>
          </p:cNvGraphicFramePr>
          <p:nvPr/>
        </p:nvGraphicFramePr>
        <p:xfrm>
          <a:off x="581192" y="1989939"/>
          <a:ext cx="11029618" cy="3915940"/>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11660">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11660">
                <a:tc>
                  <a:txBody>
                    <a:bodyPr/>
                    <a:lstStyle/>
                    <a:p>
                      <a:pPr algn="l"/>
                      <a:r>
                        <a:rPr lang="es-ES_tradnl" sz="13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$10.600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$11.236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11660">
                <a:tc>
                  <a:txBody>
                    <a:bodyPr/>
                    <a:lstStyle/>
                    <a:p>
                      <a:pPr algn="l"/>
                      <a:r>
                        <a:rPr lang="es-ES_tradnl" sz="13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11660">
                <a:tc>
                  <a:txBody>
                    <a:bodyPr/>
                    <a:lstStyle/>
                    <a:p>
                      <a:pPr algn="l"/>
                      <a:r>
                        <a:rPr lang="es-ES_tradnl" sz="13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11660">
                <a:tc>
                  <a:txBody>
                    <a:bodyPr/>
                    <a:lstStyle/>
                    <a:p>
                      <a:pPr algn="l"/>
                      <a:r>
                        <a:rPr lang="es-ES_tradnl" sz="13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11660">
                <a:tc>
                  <a:txBody>
                    <a:bodyPr/>
                    <a:lstStyle/>
                    <a:p>
                      <a:pPr algn="l"/>
                      <a:r>
                        <a:rPr lang="es-ES_tradnl" sz="13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11660">
                <a:tc>
                  <a:txBody>
                    <a:bodyPr/>
                    <a:lstStyle/>
                    <a:p>
                      <a:pPr algn="l"/>
                      <a:r>
                        <a:rPr lang="es-ES_tradnl" sz="13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11660">
                <a:tc>
                  <a:txBody>
                    <a:bodyPr/>
                    <a:lstStyle/>
                    <a:p>
                      <a:pPr algn="l"/>
                      <a:r>
                        <a:rPr lang="es-ES_tradnl" sz="13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11660">
                <a:tc>
                  <a:txBody>
                    <a:bodyPr/>
                    <a:lstStyle/>
                    <a:p>
                      <a:pPr algn="l"/>
                      <a:r>
                        <a:rPr lang="es-ES_tradnl" sz="13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11660">
                <a:tc>
                  <a:txBody>
                    <a:bodyPr/>
                    <a:lstStyle/>
                    <a:p>
                      <a:pPr algn="l"/>
                      <a:r>
                        <a:rPr lang="es-ES_tradnl" sz="13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69351">
                <a:tc>
                  <a:txBody>
                    <a:bodyPr/>
                    <a:lstStyle/>
                    <a:p>
                      <a:pPr algn="l"/>
                      <a:r>
                        <a:rPr lang="es-ES_tradnl" sz="13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11660">
                <a:tc>
                  <a:txBody>
                    <a:bodyPr/>
                    <a:lstStyle/>
                    <a:p>
                      <a:pPr algn="l"/>
                      <a:r>
                        <a:rPr lang="es-ES_tradnl" sz="1300" noProof="0" dirty="0" err="1">
                          <a:solidFill>
                            <a:schemeClr val="accent1"/>
                          </a:solidFill>
                          <a:latin typeface="Century Gothic" panose="020B0502020202020204" pitchFamily="34" charset="0"/>
                        </a:rPr>
                        <a:t>FCL</a:t>
                      </a: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p:spTree>
    <p:extLst>
      <p:ext uri="{BB962C8B-B14F-4D97-AF65-F5344CB8AC3E}">
        <p14:creationId xmlns:p14="http://schemas.microsoft.com/office/powerpoint/2010/main" val="4730438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2CD1F-C20B-FF71-AE4C-9610166CCA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FEE5A5-7752-046D-F1AD-E5740AF75519}"/>
              </a:ext>
            </a:extLst>
          </p:cNvPr>
          <p:cNvSpPr>
            <a:spLocks noGrp="1"/>
          </p:cNvSpPr>
          <p:nvPr>
            <p:ph type="title"/>
          </p:nvPr>
        </p:nvSpPr>
        <p:spPr/>
        <p:txBody>
          <a:bodyPr>
            <a:normAutofit/>
          </a:bodyPr>
          <a:lstStyle/>
          <a:p>
            <a:r>
              <a:rPr lang="es-ES" sz="3200" dirty="0">
                <a:latin typeface="Century Gothic" panose="020B0502020202020204" pitchFamily="34" charset="0"/>
              </a:rPr>
              <a:t>Precios corrientes</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BE4D8645-495D-DA46-8C83-761AEB46FA66}"/>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10</a:t>
            </a:fld>
            <a:endParaRPr lang="en-US" sz="1800" dirty="0"/>
          </a:p>
        </p:txBody>
      </p:sp>
      <p:sp>
        <p:nvSpPr>
          <p:cNvPr id="5" name="Rectángulo 4">
            <a:extLst>
              <a:ext uri="{FF2B5EF4-FFF2-40B4-BE49-F238E27FC236}">
                <a16:creationId xmlns:a16="http://schemas.microsoft.com/office/drawing/2014/main" id="{37861484-D20F-4CC6-F634-EABFD8D4C18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511089CF-0AF6-A864-336C-5151DA0E52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F149BA03-DBD5-00BB-1759-A209F39E245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11" name="Table 24">
            <a:extLst>
              <a:ext uri="{FF2B5EF4-FFF2-40B4-BE49-F238E27FC236}">
                <a16:creationId xmlns:a16="http://schemas.microsoft.com/office/drawing/2014/main" id="{1A7F5F08-268B-F1D6-4A34-1E013C927860}"/>
              </a:ext>
            </a:extLst>
          </p:cNvPr>
          <p:cNvGraphicFramePr>
            <a:graphicFrameLocks noGrp="1"/>
          </p:cNvGraphicFramePr>
          <p:nvPr/>
        </p:nvGraphicFramePr>
        <p:xfrm>
          <a:off x="581192" y="1989939"/>
          <a:ext cx="11029618" cy="3915940"/>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11660">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11660">
                <a:tc>
                  <a:txBody>
                    <a:bodyPr/>
                    <a:lstStyle/>
                    <a:p>
                      <a:pPr algn="l"/>
                      <a:r>
                        <a:rPr lang="es-ES_tradnl" sz="13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$10.600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$11.236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$11.910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$12.625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$13.382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11660">
                <a:tc>
                  <a:txBody>
                    <a:bodyPr/>
                    <a:lstStyle/>
                    <a:p>
                      <a:pPr algn="l"/>
                      <a:r>
                        <a:rPr lang="es-ES_tradnl" sz="13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11660">
                <a:tc>
                  <a:txBody>
                    <a:bodyPr/>
                    <a:lstStyle/>
                    <a:p>
                      <a:pPr algn="l"/>
                      <a:r>
                        <a:rPr lang="es-ES_tradnl" sz="13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11660">
                <a:tc>
                  <a:txBody>
                    <a:bodyPr/>
                    <a:lstStyle/>
                    <a:p>
                      <a:pPr algn="l"/>
                      <a:r>
                        <a:rPr lang="es-ES_tradnl" sz="13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11660">
                <a:tc>
                  <a:txBody>
                    <a:bodyPr/>
                    <a:lstStyle/>
                    <a:p>
                      <a:pPr algn="l"/>
                      <a:r>
                        <a:rPr lang="es-ES_tradnl" sz="13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11660">
                <a:tc>
                  <a:txBody>
                    <a:bodyPr/>
                    <a:lstStyle/>
                    <a:p>
                      <a:pPr algn="l"/>
                      <a:r>
                        <a:rPr lang="es-ES_tradnl" sz="13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11660">
                <a:tc>
                  <a:txBody>
                    <a:bodyPr/>
                    <a:lstStyle/>
                    <a:p>
                      <a:pPr algn="l"/>
                      <a:r>
                        <a:rPr lang="es-ES_tradnl" sz="13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11660">
                <a:tc>
                  <a:txBody>
                    <a:bodyPr/>
                    <a:lstStyle/>
                    <a:p>
                      <a:pPr algn="l"/>
                      <a:r>
                        <a:rPr lang="es-ES_tradnl" sz="13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11660">
                <a:tc>
                  <a:txBody>
                    <a:bodyPr/>
                    <a:lstStyle/>
                    <a:p>
                      <a:pPr algn="l"/>
                      <a:r>
                        <a:rPr lang="es-ES_tradnl" sz="13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69351">
                <a:tc>
                  <a:txBody>
                    <a:bodyPr/>
                    <a:lstStyle/>
                    <a:p>
                      <a:pPr algn="l"/>
                      <a:r>
                        <a:rPr lang="es-ES_tradnl" sz="13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11660">
                <a:tc>
                  <a:txBody>
                    <a:bodyPr/>
                    <a:lstStyle/>
                    <a:p>
                      <a:pPr algn="l"/>
                      <a:r>
                        <a:rPr lang="es-ES_tradnl" sz="1300" noProof="0" dirty="0" err="1">
                          <a:solidFill>
                            <a:schemeClr val="accent1"/>
                          </a:solidFill>
                          <a:latin typeface="Century Gothic" panose="020B0502020202020204" pitchFamily="34" charset="0"/>
                        </a:rPr>
                        <a:t>FCL</a:t>
                      </a: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p:spTree>
    <p:extLst>
      <p:ext uri="{BB962C8B-B14F-4D97-AF65-F5344CB8AC3E}">
        <p14:creationId xmlns:p14="http://schemas.microsoft.com/office/powerpoint/2010/main" val="4022916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69236-2A42-9916-90D7-8B07224EB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12C29-1388-6F6B-91AD-09A6B5C8ACAD}"/>
              </a:ext>
            </a:extLst>
          </p:cNvPr>
          <p:cNvSpPr>
            <a:spLocks noGrp="1"/>
          </p:cNvSpPr>
          <p:nvPr>
            <p:ph type="title"/>
          </p:nvPr>
        </p:nvSpPr>
        <p:spPr/>
        <p:txBody>
          <a:bodyPr>
            <a:normAutofit/>
          </a:bodyPr>
          <a:lstStyle/>
          <a:p>
            <a:r>
              <a:rPr lang="es-ES" sz="3200" dirty="0">
                <a:latin typeface="Century Gothic" panose="020B0502020202020204" pitchFamily="34" charset="0"/>
              </a:rPr>
              <a:t>Precios corrientes</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5054AED7-7ADD-EBC6-FC6E-19AF090CF91D}"/>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11</a:t>
            </a:fld>
            <a:endParaRPr lang="en-US" sz="1800" dirty="0"/>
          </a:p>
        </p:txBody>
      </p:sp>
      <p:sp>
        <p:nvSpPr>
          <p:cNvPr id="5" name="Rectángulo 4">
            <a:extLst>
              <a:ext uri="{FF2B5EF4-FFF2-40B4-BE49-F238E27FC236}">
                <a16:creationId xmlns:a16="http://schemas.microsoft.com/office/drawing/2014/main" id="{F77782BB-D11C-C60D-8E00-862018E01FB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2AA6FD5D-D4FA-5F79-8EEB-02F0B98342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17886F68-A198-E7A9-AFA2-A99F4D4F3B7E}"/>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11" name="Table 24">
            <a:extLst>
              <a:ext uri="{FF2B5EF4-FFF2-40B4-BE49-F238E27FC236}">
                <a16:creationId xmlns:a16="http://schemas.microsoft.com/office/drawing/2014/main" id="{58B97BEA-60F8-8469-1238-295F9EA212C5}"/>
              </a:ext>
            </a:extLst>
          </p:cNvPr>
          <p:cNvGraphicFramePr>
            <a:graphicFrameLocks noGrp="1"/>
          </p:cNvGraphicFramePr>
          <p:nvPr/>
        </p:nvGraphicFramePr>
        <p:xfrm>
          <a:off x="581192" y="1989939"/>
          <a:ext cx="11029618" cy="3915940"/>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11660">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11660">
                <a:tc>
                  <a:txBody>
                    <a:bodyPr/>
                    <a:lstStyle/>
                    <a:p>
                      <a:pPr algn="l"/>
                      <a:r>
                        <a:rPr lang="es-ES_tradnl" sz="13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$10.600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$11.236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$11.910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$12.625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$13.382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11660">
                <a:tc>
                  <a:txBody>
                    <a:bodyPr/>
                    <a:lstStyle/>
                    <a:p>
                      <a:pPr algn="l"/>
                      <a:r>
                        <a:rPr lang="es-ES_tradnl" sz="13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11660">
                <a:tc>
                  <a:txBody>
                    <a:bodyPr/>
                    <a:lstStyle/>
                    <a:p>
                      <a:pPr algn="l"/>
                      <a:r>
                        <a:rPr lang="es-ES_tradnl" sz="13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$10.600.00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$11.236.000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$11.910.160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$12.624.770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$13.382.256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11660">
                <a:tc>
                  <a:txBody>
                    <a:bodyPr/>
                    <a:lstStyle/>
                    <a:p>
                      <a:pPr algn="l"/>
                      <a:r>
                        <a:rPr lang="es-ES_tradnl" sz="13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11660">
                <a:tc>
                  <a:txBody>
                    <a:bodyPr/>
                    <a:lstStyle/>
                    <a:p>
                      <a:pPr algn="l"/>
                      <a:r>
                        <a:rPr lang="es-ES_tradnl" sz="13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11660">
                <a:tc>
                  <a:txBody>
                    <a:bodyPr/>
                    <a:lstStyle/>
                    <a:p>
                      <a:pPr algn="l"/>
                      <a:r>
                        <a:rPr lang="es-ES_tradnl" sz="13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11660">
                <a:tc>
                  <a:txBody>
                    <a:bodyPr/>
                    <a:lstStyle/>
                    <a:p>
                      <a:pPr algn="l"/>
                      <a:r>
                        <a:rPr lang="es-ES_tradnl" sz="13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11660">
                <a:tc>
                  <a:txBody>
                    <a:bodyPr/>
                    <a:lstStyle/>
                    <a:p>
                      <a:pPr algn="l"/>
                      <a:r>
                        <a:rPr lang="es-ES_tradnl" sz="13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11660">
                <a:tc>
                  <a:txBody>
                    <a:bodyPr/>
                    <a:lstStyle/>
                    <a:p>
                      <a:pPr algn="l"/>
                      <a:r>
                        <a:rPr lang="es-ES_tradnl" sz="13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69351">
                <a:tc>
                  <a:txBody>
                    <a:bodyPr/>
                    <a:lstStyle/>
                    <a:p>
                      <a:pPr algn="l"/>
                      <a:r>
                        <a:rPr lang="es-ES_tradnl" sz="13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11660">
                <a:tc>
                  <a:txBody>
                    <a:bodyPr/>
                    <a:lstStyle/>
                    <a:p>
                      <a:pPr algn="l"/>
                      <a:r>
                        <a:rPr lang="es-ES_tradnl" sz="1300" noProof="0" dirty="0" err="1">
                          <a:solidFill>
                            <a:schemeClr val="accent1"/>
                          </a:solidFill>
                          <a:latin typeface="Century Gothic" panose="020B0502020202020204" pitchFamily="34" charset="0"/>
                        </a:rPr>
                        <a:t>FCL</a:t>
                      </a: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p:spTree>
    <p:extLst>
      <p:ext uri="{BB962C8B-B14F-4D97-AF65-F5344CB8AC3E}">
        <p14:creationId xmlns:p14="http://schemas.microsoft.com/office/powerpoint/2010/main" val="3739517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97962-16FC-8884-1593-6BC7F3B708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979413-828F-B008-EF95-10A8E7F31E15}"/>
              </a:ext>
            </a:extLst>
          </p:cNvPr>
          <p:cNvSpPr>
            <a:spLocks noGrp="1"/>
          </p:cNvSpPr>
          <p:nvPr>
            <p:ph type="title"/>
          </p:nvPr>
        </p:nvSpPr>
        <p:spPr/>
        <p:txBody>
          <a:bodyPr>
            <a:normAutofit/>
          </a:bodyPr>
          <a:lstStyle/>
          <a:p>
            <a:r>
              <a:rPr lang="es-ES" sz="3200" dirty="0">
                <a:latin typeface="Century Gothic" panose="020B0502020202020204" pitchFamily="34" charset="0"/>
              </a:rPr>
              <a:t>Precios corrientes</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13B01ED0-1A26-983F-4273-0FE188EC8C9F}"/>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12</a:t>
            </a:fld>
            <a:endParaRPr lang="en-US" sz="1800" dirty="0"/>
          </a:p>
        </p:txBody>
      </p:sp>
      <p:sp>
        <p:nvSpPr>
          <p:cNvPr id="5" name="Rectángulo 4">
            <a:extLst>
              <a:ext uri="{FF2B5EF4-FFF2-40B4-BE49-F238E27FC236}">
                <a16:creationId xmlns:a16="http://schemas.microsoft.com/office/drawing/2014/main" id="{8DAB63F4-E496-A7B1-7D2E-AEC2863976A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B057291A-446D-4141-FF82-DB70DC26A2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438E455F-6508-0EC9-6F88-090E089D874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11" name="Table 24">
            <a:extLst>
              <a:ext uri="{FF2B5EF4-FFF2-40B4-BE49-F238E27FC236}">
                <a16:creationId xmlns:a16="http://schemas.microsoft.com/office/drawing/2014/main" id="{A04379FB-E204-6292-424C-21ADB83983D7}"/>
              </a:ext>
            </a:extLst>
          </p:cNvPr>
          <p:cNvGraphicFramePr>
            <a:graphicFrameLocks noGrp="1"/>
          </p:cNvGraphicFramePr>
          <p:nvPr/>
        </p:nvGraphicFramePr>
        <p:xfrm>
          <a:off x="581192" y="1989939"/>
          <a:ext cx="11029618" cy="3915940"/>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11660">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11660">
                <a:tc>
                  <a:txBody>
                    <a:bodyPr/>
                    <a:lstStyle/>
                    <a:p>
                      <a:pPr algn="l"/>
                      <a:r>
                        <a:rPr lang="es-ES_tradnl" sz="13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$10.600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$11.236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$11.910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$12.625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$13.382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11660">
                <a:tc>
                  <a:txBody>
                    <a:bodyPr/>
                    <a:lstStyle/>
                    <a:p>
                      <a:pPr algn="l"/>
                      <a:r>
                        <a:rPr lang="es-ES_tradnl" sz="13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11660">
                <a:tc>
                  <a:txBody>
                    <a:bodyPr/>
                    <a:lstStyle/>
                    <a:p>
                      <a:pPr algn="l"/>
                      <a:r>
                        <a:rPr lang="es-ES_tradnl" sz="13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$10.600.00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$11.236.000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$11.910.160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$12.624.770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$13.382.256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11660">
                <a:tc>
                  <a:txBody>
                    <a:bodyPr/>
                    <a:lstStyle/>
                    <a:p>
                      <a:pPr algn="l"/>
                      <a:r>
                        <a:rPr lang="es-ES_tradnl" sz="13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$2.650.000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$2.809.000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$2.977.540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$3.156.192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$3.345.564</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11660">
                <a:tc>
                  <a:txBody>
                    <a:bodyPr/>
                    <a:lstStyle/>
                    <a:p>
                      <a:pPr algn="l"/>
                      <a:r>
                        <a:rPr lang="es-ES_tradnl" sz="13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$7.950.000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$8.427.000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$8.932.620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$9.468.577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$10.036.692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11660">
                <a:tc>
                  <a:txBody>
                    <a:bodyPr/>
                    <a:lstStyle/>
                    <a:p>
                      <a:pPr algn="l"/>
                      <a:r>
                        <a:rPr lang="es-ES_tradnl" sz="13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11660">
                <a:tc>
                  <a:txBody>
                    <a:bodyPr/>
                    <a:lstStyle/>
                    <a:p>
                      <a:pPr algn="l"/>
                      <a:r>
                        <a:rPr lang="es-ES_tradnl" sz="13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11660">
                <a:tc>
                  <a:txBody>
                    <a:bodyPr/>
                    <a:lstStyle/>
                    <a:p>
                      <a:pPr algn="l"/>
                      <a:r>
                        <a:rPr lang="es-ES_tradnl" sz="13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11660">
                <a:tc>
                  <a:txBody>
                    <a:bodyPr/>
                    <a:lstStyle/>
                    <a:p>
                      <a:pPr algn="l"/>
                      <a:r>
                        <a:rPr lang="es-ES_tradnl" sz="13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69351">
                <a:tc>
                  <a:txBody>
                    <a:bodyPr/>
                    <a:lstStyle/>
                    <a:p>
                      <a:pPr algn="l"/>
                      <a:r>
                        <a:rPr lang="es-ES_tradnl" sz="13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11660">
                <a:tc>
                  <a:txBody>
                    <a:bodyPr/>
                    <a:lstStyle/>
                    <a:p>
                      <a:pPr algn="l"/>
                      <a:r>
                        <a:rPr lang="es-ES_tradnl" sz="1300" noProof="0" dirty="0" err="1">
                          <a:solidFill>
                            <a:schemeClr val="accent1"/>
                          </a:solidFill>
                          <a:latin typeface="Century Gothic" panose="020B0502020202020204" pitchFamily="34" charset="0"/>
                        </a:rPr>
                        <a:t>FCL</a:t>
                      </a: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p:spTree>
    <p:extLst>
      <p:ext uri="{BB962C8B-B14F-4D97-AF65-F5344CB8AC3E}">
        <p14:creationId xmlns:p14="http://schemas.microsoft.com/office/powerpoint/2010/main" val="3310821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EE7EB-5958-D515-0B4A-697BF41A0B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3CF9F5-5A7C-0B71-9A00-CB6CDB72D4E5}"/>
              </a:ext>
            </a:extLst>
          </p:cNvPr>
          <p:cNvSpPr>
            <a:spLocks noGrp="1"/>
          </p:cNvSpPr>
          <p:nvPr>
            <p:ph type="title"/>
          </p:nvPr>
        </p:nvSpPr>
        <p:spPr/>
        <p:txBody>
          <a:bodyPr>
            <a:normAutofit/>
          </a:bodyPr>
          <a:lstStyle/>
          <a:p>
            <a:r>
              <a:rPr lang="es-ES" sz="3200" dirty="0">
                <a:latin typeface="Century Gothic" panose="020B0502020202020204" pitchFamily="34" charset="0"/>
              </a:rPr>
              <a:t>Precios corrientes</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2DF32440-AD62-62F6-D94B-718727329B60}"/>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13</a:t>
            </a:fld>
            <a:endParaRPr lang="en-US" sz="1800" dirty="0"/>
          </a:p>
        </p:txBody>
      </p:sp>
      <p:sp>
        <p:nvSpPr>
          <p:cNvPr id="5" name="Rectángulo 4">
            <a:extLst>
              <a:ext uri="{FF2B5EF4-FFF2-40B4-BE49-F238E27FC236}">
                <a16:creationId xmlns:a16="http://schemas.microsoft.com/office/drawing/2014/main" id="{4F25943E-EDE0-ED75-093A-887C25A53AC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39060319-97DB-FEB5-0CC1-69C9C30AA8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2EE85D00-2FE8-6EA6-ABA3-0B86AA232290}"/>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11" name="Table 24">
            <a:extLst>
              <a:ext uri="{FF2B5EF4-FFF2-40B4-BE49-F238E27FC236}">
                <a16:creationId xmlns:a16="http://schemas.microsoft.com/office/drawing/2014/main" id="{CD87A4D4-1CC6-C582-FE10-12E89E0A3F24}"/>
              </a:ext>
            </a:extLst>
          </p:cNvPr>
          <p:cNvGraphicFramePr>
            <a:graphicFrameLocks noGrp="1"/>
          </p:cNvGraphicFramePr>
          <p:nvPr/>
        </p:nvGraphicFramePr>
        <p:xfrm>
          <a:off x="581192" y="1989939"/>
          <a:ext cx="11029618" cy="3915940"/>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11660">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11660">
                <a:tc>
                  <a:txBody>
                    <a:bodyPr/>
                    <a:lstStyle/>
                    <a:p>
                      <a:pPr algn="l"/>
                      <a:r>
                        <a:rPr lang="es-ES_tradnl" sz="13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$10.600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$11.236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$11.910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$12.625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$13.382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11660">
                <a:tc>
                  <a:txBody>
                    <a:bodyPr/>
                    <a:lstStyle/>
                    <a:p>
                      <a:pPr algn="l"/>
                      <a:r>
                        <a:rPr lang="es-ES_tradnl" sz="13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11660">
                <a:tc>
                  <a:txBody>
                    <a:bodyPr/>
                    <a:lstStyle/>
                    <a:p>
                      <a:pPr algn="l"/>
                      <a:r>
                        <a:rPr lang="es-ES_tradnl" sz="13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$10.600.00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$11.236.000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$11.910.160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$12.624.770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$13.382.256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11660">
                <a:tc>
                  <a:txBody>
                    <a:bodyPr/>
                    <a:lstStyle/>
                    <a:p>
                      <a:pPr algn="l"/>
                      <a:r>
                        <a:rPr lang="es-ES_tradnl" sz="13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$2.650.000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$2.809.000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$2.977.540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$3.156.192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$3.345.564</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11660">
                <a:tc>
                  <a:txBody>
                    <a:bodyPr/>
                    <a:lstStyle/>
                    <a:p>
                      <a:pPr algn="l"/>
                      <a:r>
                        <a:rPr lang="es-ES_tradnl" sz="13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$7.950.000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$8.427.000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$8.932.620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$9.468.577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$10.036.692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11660">
                <a:tc>
                  <a:txBody>
                    <a:bodyPr/>
                    <a:lstStyle/>
                    <a:p>
                      <a:pPr algn="l"/>
                      <a:r>
                        <a:rPr lang="es-ES_tradnl" sz="13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11660">
                <a:tc>
                  <a:txBody>
                    <a:bodyPr/>
                    <a:lstStyle/>
                    <a:p>
                      <a:pPr algn="l"/>
                      <a:r>
                        <a:rPr lang="es-ES_tradnl" sz="13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$3.950.000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$4.427.000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$4.932.620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$5.468.577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$6.036.692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11660">
                <a:tc>
                  <a:txBody>
                    <a:bodyPr/>
                    <a:lstStyle/>
                    <a:p>
                      <a:pPr algn="l"/>
                      <a:r>
                        <a:rPr lang="es-ES_tradnl" sz="13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11660">
                <a:tc>
                  <a:txBody>
                    <a:bodyPr/>
                    <a:lstStyle/>
                    <a:p>
                      <a:pPr algn="l"/>
                      <a:r>
                        <a:rPr lang="es-ES_tradnl" sz="13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69351">
                <a:tc>
                  <a:txBody>
                    <a:bodyPr/>
                    <a:lstStyle/>
                    <a:p>
                      <a:pPr algn="l"/>
                      <a:r>
                        <a:rPr lang="es-ES_tradnl" sz="13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11660">
                <a:tc>
                  <a:txBody>
                    <a:bodyPr/>
                    <a:lstStyle/>
                    <a:p>
                      <a:pPr algn="l"/>
                      <a:r>
                        <a:rPr lang="es-ES_tradnl" sz="1300" noProof="0" dirty="0" err="1">
                          <a:solidFill>
                            <a:schemeClr val="accent1"/>
                          </a:solidFill>
                          <a:latin typeface="Century Gothic" panose="020B0502020202020204" pitchFamily="34" charset="0"/>
                        </a:rPr>
                        <a:t>FCL</a:t>
                      </a: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p:spTree>
    <p:extLst>
      <p:ext uri="{BB962C8B-B14F-4D97-AF65-F5344CB8AC3E}">
        <p14:creationId xmlns:p14="http://schemas.microsoft.com/office/powerpoint/2010/main" val="50078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9FB5C-9DB9-E642-A1F0-E615603394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C8269F-76FF-AB43-E1E4-2CFEDCB83FBC}"/>
              </a:ext>
            </a:extLst>
          </p:cNvPr>
          <p:cNvSpPr>
            <a:spLocks noGrp="1"/>
          </p:cNvSpPr>
          <p:nvPr>
            <p:ph type="title"/>
          </p:nvPr>
        </p:nvSpPr>
        <p:spPr/>
        <p:txBody>
          <a:bodyPr>
            <a:normAutofit/>
          </a:bodyPr>
          <a:lstStyle/>
          <a:p>
            <a:r>
              <a:rPr lang="es-ES" sz="3200" dirty="0">
                <a:latin typeface="Century Gothic" panose="020B0502020202020204" pitchFamily="34" charset="0"/>
              </a:rPr>
              <a:t>Precios corrientes</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491D0EC3-4D85-E1B5-9F70-F8C3B9DD730A}"/>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14</a:t>
            </a:fld>
            <a:endParaRPr lang="en-US" sz="1800" dirty="0"/>
          </a:p>
        </p:txBody>
      </p:sp>
      <p:sp>
        <p:nvSpPr>
          <p:cNvPr id="5" name="Rectángulo 4">
            <a:extLst>
              <a:ext uri="{FF2B5EF4-FFF2-40B4-BE49-F238E27FC236}">
                <a16:creationId xmlns:a16="http://schemas.microsoft.com/office/drawing/2014/main" id="{9CCC6A30-A286-2F83-75FD-6405EB7E6E1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C9545CAE-7569-1B57-A5EF-60A9752FDD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2C6B398B-2AEA-881F-52FA-0D15E153747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11" name="Table 24">
            <a:extLst>
              <a:ext uri="{FF2B5EF4-FFF2-40B4-BE49-F238E27FC236}">
                <a16:creationId xmlns:a16="http://schemas.microsoft.com/office/drawing/2014/main" id="{7F8DF6D9-7B19-E2A8-7318-42F0F6194228}"/>
              </a:ext>
            </a:extLst>
          </p:cNvPr>
          <p:cNvGraphicFramePr>
            <a:graphicFrameLocks noGrp="1"/>
          </p:cNvGraphicFramePr>
          <p:nvPr/>
        </p:nvGraphicFramePr>
        <p:xfrm>
          <a:off x="581192" y="1989939"/>
          <a:ext cx="11029618" cy="3915940"/>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11660">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11660">
                <a:tc>
                  <a:txBody>
                    <a:bodyPr/>
                    <a:lstStyle/>
                    <a:p>
                      <a:pPr algn="l"/>
                      <a:r>
                        <a:rPr lang="es-ES_tradnl" sz="13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$10.600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$11.236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$11.910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$12.625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$13.382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11660">
                <a:tc>
                  <a:txBody>
                    <a:bodyPr/>
                    <a:lstStyle/>
                    <a:p>
                      <a:pPr algn="l"/>
                      <a:r>
                        <a:rPr lang="es-ES_tradnl" sz="13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11660">
                <a:tc>
                  <a:txBody>
                    <a:bodyPr/>
                    <a:lstStyle/>
                    <a:p>
                      <a:pPr algn="l"/>
                      <a:r>
                        <a:rPr lang="es-ES_tradnl" sz="13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$10.600.00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$11.236.000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$11.910.160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$12.624.770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$13.382.256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11660">
                <a:tc>
                  <a:txBody>
                    <a:bodyPr/>
                    <a:lstStyle/>
                    <a:p>
                      <a:pPr algn="l"/>
                      <a:r>
                        <a:rPr lang="es-ES_tradnl" sz="13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$2.650.000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$2.809.000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$2.977.540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$3.156.192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$3.345.564</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11660">
                <a:tc>
                  <a:txBody>
                    <a:bodyPr/>
                    <a:lstStyle/>
                    <a:p>
                      <a:pPr algn="l"/>
                      <a:r>
                        <a:rPr lang="es-ES_tradnl" sz="13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$7.950.000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$8.427.000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$8.932.620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$9.468.577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$10.036.692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11660">
                <a:tc>
                  <a:txBody>
                    <a:bodyPr/>
                    <a:lstStyle/>
                    <a:p>
                      <a:pPr algn="l"/>
                      <a:r>
                        <a:rPr lang="es-ES_tradnl" sz="13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11660">
                <a:tc>
                  <a:txBody>
                    <a:bodyPr/>
                    <a:lstStyle/>
                    <a:p>
                      <a:pPr algn="l"/>
                      <a:r>
                        <a:rPr lang="es-ES_tradnl" sz="13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$3.950.000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$4.427.000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$4.932.620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$5.468.577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$6.036.692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11660">
                <a:tc>
                  <a:txBody>
                    <a:bodyPr/>
                    <a:lstStyle/>
                    <a:p>
                      <a:pPr algn="l"/>
                      <a:r>
                        <a:rPr lang="es-ES_tradnl" sz="13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11660">
                <a:tc>
                  <a:txBody>
                    <a:bodyPr/>
                    <a:lstStyle/>
                    <a:p>
                      <a:pPr algn="l"/>
                      <a:r>
                        <a:rPr lang="es-ES_tradnl" sz="13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69351">
                <a:tc>
                  <a:txBody>
                    <a:bodyPr/>
                    <a:lstStyle/>
                    <a:p>
                      <a:pPr algn="l"/>
                      <a:r>
                        <a:rPr lang="es-ES_tradnl" sz="13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11660">
                <a:tc>
                  <a:txBody>
                    <a:bodyPr/>
                    <a:lstStyle/>
                    <a:p>
                      <a:pPr algn="l"/>
                      <a:r>
                        <a:rPr lang="es-ES_tradnl" sz="1300" noProof="0" dirty="0" err="1">
                          <a:solidFill>
                            <a:schemeClr val="accent1"/>
                          </a:solidFill>
                          <a:latin typeface="Century Gothic" panose="020B0502020202020204" pitchFamily="34" charset="0"/>
                        </a:rPr>
                        <a:t>FCL</a:t>
                      </a: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p:spTree>
    <p:extLst>
      <p:ext uri="{BB962C8B-B14F-4D97-AF65-F5344CB8AC3E}">
        <p14:creationId xmlns:p14="http://schemas.microsoft.com/office/powerpoint/2010/main" val="10885377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C7B4C-7DF9-E40B-CBF1-B6884153FD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13CE29-A6EA-3632-4351-8F524DBA8A2A}"/>
              </a:ext>
            </a:extLst>
          </p:cNvPr>
          <p:cNvSpPr>
            <a:spLocks noGrp="1"/>
          </p:cNvSpPr>
          <p:nvPr>
            <p:ph type="title"/>
          </p:nvPr>
        </p:nvSpPr>
        <p:spPr/>
        <p:txBody>
          <a:bodyPr>
            <a:normAutofit/>
          </a:bodyPr>
          <a:lstStyle/>
          <a:p>
            <a:r>
              <a:rPr lang="es-ES" sz="3200" dirty="0">
                <a:latin typeface="Century Gothic" panose="020B0502020202020204" pitchFamily="34" charset="0"/>
              </a:rPr>
              <a:t>Precios corrientes</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A46EEE00-6C5E-1971-D9DA-B2A5922B01BA}"/>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15</a:t>
            </a:fld>
            <a:endParaRPr lang="en-US" sz="1800" dirty="0"/>
          </a:p>
        </p:txBody>
      </p:sp>
      <p:sp>
        <p:nvSpPr>
          <p:cNvPr id="5" name="Rectángulo 4">
            <a:extLst>
              <a:ext uri="{FF2B5EF4-FFF2-40B4-BE49-F238E27FC236}">
                <a16:creationId xmlns:a16="http://schemas.microsoft.com/office/drawing/2014/main" id="{87870D04-A2F0-F582-D166-B1D94A45F7C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B1DDB04B-249B-D408-9FAB-5DD44E7A9D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772EE2B5-11BA-0F92-CE12-B5B5F0419FEA}"/>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11" name="Table 24">
            <a:extLst>
              <a:ext uri="{FF2B5EF4-FFF2-40B4-BE49-F238E27FC236}">
                <a16:creationId xmlns:a16="http://schemas.microsoft.com/office/drawing/2014/main" id="{33743C62-13FF-D45C-D257-2EF43FC0417C}"/>
              </a:ext>
            </a:extLst>
          </p:cNvPr>
          <p:cNvGraphicFramePr>
            <a:graphicFrameLocks noGrp="1"/>
          </p:cNvGraphicFramePr>
          <p:nvPr/>
        </p:nvGraphicFramePr>
        <p:xfrm>
          <a:off x="581192" y="1989939"/>
          <a:ext cx="11029618" cy="3915940"/>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11660">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11660">
                <a:tc>
                  <a:txBody>
                    <a:bodyPr/>
                    <a:lstStyle/>
                    <a:p>
                      <a:pPr algn="l"/>
                      <a:r>
                        <a:rPr lang="es-ES_tradnl" sz="13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$10.600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$11.236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$11.910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$12.625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$13.382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11660">
                <a:tc>
                  <a:txBody>
                    <a:bodyPr/>
                    <a:lstStyle/>
                    <a:p>
                      <a:pPr algn="l"/>
                      <a:r>
                        <a:rPr lang="es-ES_tradnl" sz="13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11660">
                <a:tc>
                  <a:txBody>
                    <a:bodyPr/>
                    <a:lstStyle/>
                    <a:p>
                      <a:pPr algn="l"/>
                      <a:r>
                        <a:rPr lang="es-ES_tradnl" sz="13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$10.600.00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$11.236.000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$11.910.160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$12.624.770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$13.382.256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11660">
                <a:tc>
                  <a:txBody>
                    <a:bodyPr/>
                    <a:lstStyle/>
                    <a:p>
                      <a:pPr algn="l"/>
                      <a:r>
                        <a:rPr lang="es-ES_tradnl" sz="13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$2.650.000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$2.809.000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$2.977.540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$3.156.192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$3.345.564</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11660">
                <a:tc>
                  <a:txBody>
                    <a:bodyPr/>
                    <a:lstStyle/>
                    <a:p>
                      <a:pPr algn="l"/>
                      <a:r>
                        <a:rPr lang="es-ES_tradnl" sz="13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$7.950.000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$8.427.000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$8.932.620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$9.468.577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$10.036.692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11660">
                <a:tc>
                  <a:txBody>
                    <a:bodyPr/>
                    <a:lstStyle/>
                    <a:p>
                      <a:pPr algn="l"/>
                      <a:r>
                        <a:rPr lang="es-ES_tradnl" sz="13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11660">
                <a:tc>
                  <a:txBody>
                    <a:bodyPr/>
                    <a:lstStyle/>
                    <a:p>
                      <a:pPr algn="l"/>
                      <a:r>
                        <a:rPr lang="es-ES_tradnl" sz="13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$3.950.000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$4.427.000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$4.932.620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$5.468.577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$6.036.692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11660">
                <a:tc>
                  <a:txBody>
                    <a:bodyPr/>
                    <a:lstStyle/>
                    <a:p>
                      <a:pPr algn="l"/>
                      <a:r>
                        <a:rPr lang="es-ES_tradnl" sz="13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11660">
                <a:tc>
                  <a:txBody>
                    <a:bodyPr/>
                    <a:lstStyle/>
                    <a:p>
                      <a:pPr algn="l"/>
                      <a:r>
                        <a:rPr lang="es-ES_tradnl" sz="13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_tradnl" sz="1300" noProof="0" dirty="0">
                          <a:solidFill>
                            <a:schemeClr val="accent1"/>
                          </a:solidFill>
                          <a:latin typeface="Century Gothic" panose="020B0502020202020204" pitchFamily="34" charset="0"/>
                        </a:rPr>
                        <a:t>$20.000.000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69351">
                <a:tc>
                  <a:txBody>
                    <a:bodyPr/>
                    <a:lstStyle/>
                    <a:p>
                      <a:pPr algn="l"/>
                      <a:r>
                        <a:rPr lang="es-ES_tradnl" sz="13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11660">
                <a:tc>
                  <a:txBody>
                    <a:bodyPr/>
                    <a:lstStyle/>
                    <a:p>
                      <a:pPr algn="l"/>
                      <a:r>
                        <a:rPr lang="es-ES_tradnl" sz="1300" noProof="0" dirty="0" err="1">
                          <a:solidFill>
                            <a:schemeClr val="accent1"/>
                          </a:solidFill>
                          <a:latin typeface="Century Gothic" panose="020B0502020202020204" pitchFamily="34" charset="0"/>
                        </a:rPr>
                        <a:t>FCL</a:t>
                      </a: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p:spTree>
    <p:extLst>
      <p:ext uri="{BB962C8B-B14F-4D97-AF65-F5344CB8AC3E}">
        <p14:creationId xmlns:p14="http://schemas.microsoft.com/office/powerpoint/2010/main" val="40002034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61C26-16DE-1268-9FA9-3203BF62E9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1C5593-53A3-7F65-333D-EABF92093385}"/>
              </a:ext>
            </a:extLst>
          </p:cNvPr>
          <p:cNvSpPr>
            <a:spLocks noGrp="1"/>
          </p:cNvSpPr>
          <p:nvPr>
            <p:ph type="title"/>
          </p:nvPr>
        </p:nvSpPr>
        <p:spPr/>
        <p:txBody>
          <a:bodyPr>
            <a:normAutofit/>
          </a:bodyPr>
          <a:lstStyle/>
          <a:p>
            <a:r>
              <a:rPr lang="es-ES" sz="3200" dirty="0">
                <a:latin typeface="Century Gothic" panose="020B0502020202020204" pitchFamily="34" charset="0"/>
              </a:rPr>
              <a:t>Precios corrientes</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54D007EA-7D2C-5BC8-D690-43D5EDC679BC}"/>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16</a:t>
            </a:fld>
            <a:endParaRPr lang="en-US" sz="1800" dirty="0"/>
          </a:p>
        </p:txBody>
      </p:sp>
      <p:sp>
        <p:nvSpPr>
          <p:cNvPr id="5" name="Rectángulo 4">
            <a:extLst>
              <a:ext uri="{FF2B5EF4-FFF2-40B4-BE49-F238E27FC236}">
                <a16:creationId xmlns:a16="http://schemas.microsoft.com/office/drawing/2014/main" id="{78538FDD-E34F-E510-B63B-F119AD1049D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684489C7-AC8A-BDAF-A7B6-3991CAD45C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1E9537AC-F4D0-E094-D824-FF52E680E60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11" name="Table 24">
            <a:extLst>
              <a:ext uri="{FF2B5EF4-FFF2-40B4-BE49-F238E27FC236}">
                <a16:creationId xmlns:a16="http://schemas.microsoft.com/office/drawing/2014/main" id="{EDEFB697-A83C-5441-CC57-ABD695FA6A6C}"/>
              </a:ext>
            </a:extLst>
          </p:cNvPr>
          <p:cNvGraphicFramePr>
            <a:graphicFrameLocks noGrp="1"/>
          </p:cNvGraphicFramePr>
          <p:nvPr/>
        </p:nvGraphicFramePr>
        <p:xfrm>
          <a:off x="581192" y="1989939"/>
          <a:ext cx="11029618" cy="3915940"/>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11660">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11660">
                <a:tc>
                  <a:txBody>
                    <a:bodyPr/>
                    <a:lstStyle/>
                    <a:p>
                      <a:pPr algn="l"/>
                      <a:r>
                        <a:rPr lang="es-ES_tradnl" sz="13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$10.600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$11.236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$11.910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$12.625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$13.382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11660">
                <a:tc>
                  <a:txBody>
                    <a:bodyPr/>
                    <a:lstStyle/>
                    <a:p>
                      <a:pPr algn="l"/>
                      <a:r>
                        <a:rPr lang="es-ES_tradnl" sz="13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11660">
                <a:tc>
                  <a:txBody>
                    <a:bodyPr/>
                    <a:lstStyle/>
                    <a:p>
                      <a:pPr algn="l"/>
                      <a:r>
                        <a:rPr lang="es-ES_tradnl" sz="13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$10.600.00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$11.236.000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$11.910.160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$12.624.770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$13.382.256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11660">
                <a:tc>
                  <a:txBody>
                    <a:bodyPr/>
                    <a:lstStyle/>
                    <a:p>
                      <a:pPr algn="l"/>
                      <a:r>
                        <a:rPr lang="es-ES_tradnl" sz="13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$2.650.000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$2.809.000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$2.977.540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$3.156.192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$3.345.564</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11660">
                <a:tc>
                  <a:txBody>
                    <a:bodyPr/>
                    <a:lstStyle/>
                    <a:p>
                      <a:pPr algn="l"/>
                      <a:r>
                        <a:rPr lang="es-ES_tradnl" sz="13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$7.950.000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$8.427.000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$8.932.620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$9.468.577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$10.036.692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11660">
                <a:tc>
                  <a:txBody>
                    <a:bodyPr/>
                    <a:lstStyle/>
                    <a:p>
                      <a:pPr algn="l"/>
                      <a:r>
                        <a:rPr lang="es-ES_tradnl" sz="13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11660">
                <a:tc>
                  <a:txBody>
                    <a:bodyPr/>
                    <a:lstStyle/>
                    <a:p>
                      <a:pPr algn="l"/>
                      <a:r>
                        <a:rPr lang="es-ES_tradnl" sz="13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$3.950.000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$4.427.000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$4.932.620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$5.468.577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$6.036.692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11660">
                <a:tc>
                  <a:txBody>
                    <a:bodyPr/>
                    <a:lstStyle/>
                    <a:p>
                      <a:pPr algn="l"/>
                      <a:r>
                        <a:rPr lang="es-ES_tradnl" sz="13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11660">
                <a:tc>
                  <a:txBody>
                    <a:bodyPr/>
                    <a:lstStyle/>
                    <a:p>
                      <a:pPr algn="l"/>
                      <a:r>
                        <a:rPr lang="es-ES_tradnl" sz="13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_tradnl" sz="1300" noProof="0" dirty="0">
                          <a:solidFill>
                            <a:schemeClr val="accent1"/>
                          </a:solidFill>
                          <a:latin typeface="Century Gothic" panose="020B0502020202020204" pitchFamily="34" charset="0"/>
                        </a:rPr>
                        <a:t>$20.000.000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69351">
                <a:tc>
                  <a:txBody>
                    <a:bodyPr/>
                    <a:lstStyle/>
                    <a:p>
                      <a:pPr algn="l"/>
                      <a:r>
                        <a:rPr lang="es-ES_tradnl" sz="13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$1.303.500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$1.460.910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$1.627.765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$1.804.630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$1.992.108</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11660">
                <a:tc>
                  <a:txBody>
                    <a:bodyPr/>
                    <a:lstStyle/>
                    <a:p>
                      <a:pPr algn="l"/>
                      <a:r>
                        <a:rPr lang="es-ES_tradnl" sz="1300" noProof="0" dirty="0" err="1">
                          <a:solidFill>
                            <a:schemeClr val="accent1"/>
                          </a:solidFill>
                          <a:latin typeface="Century Gothic" panose="020B0502020202020204" pitchFamily="34" charset="0"/>
                        </a:rPr>
                        <a:t>FCL</a:t>
                      </a: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-$20.000.000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$6.646.500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$6.966.090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$7.304.855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$7.663.947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$8.044.584</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p:spTree>
    <p:extLst>
      <p:ext uri="{BB962C8B-B14F-4D97-AF65-F5344CB8AC3E}">
        <p14:creationId xmlns:p14="http://schemas.microsoft.com/office/powerpoint/2010/main" val="7174336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8926E-536D-ABCE-39CB-86FF71B67D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156F6C-BEDD-0372-497F-CAB241D6E7AC}"/>
              </a:ext>
            </a:extLst>
          </p:cNvPr>
          <p:cNvSpPr>
            <a:spLocks noGrp="1"/>
          </p:cNvSpPr>
          <p:nvPr>
            <p:ph type="title"/>
          </p:nvPr>
        </p:nvSpPr>
        <p:spPr/>
        <p:txBody>
          <a:bodyPr>
            <a:normAutofit/>
          </a:bodyPr>
          <a:lstStyle/>
          <a:p>
            <a:r>
              <a:rPr lang="es-ES" sz="3200" dirty="0">
                <a:latin typeface="Century Gothic" panose="020B0502020202020204" pitchFamily="34" charset="0"/>
              </a:rPr>
              <a:t>Precios corrientes</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CDD456EC-AD61-4BDF-91BD-CDBFEDD85D80}"/>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17</a:t>
            </a:fld>
            <a:endParaRPr lang="en-US" sz="1800" dirty="0"/>
          </a:p>
        </p:txBody>
      </p:sp>
      <p:sp>
        <p:nvSpPr>
          <p:cNvPr id="5" name="Rectángulo 4">
            <a:extLst>
              <a:ext uri="{FF2B5EF4-FFF2-40B4-BE49-F238E27FC236}">
                <a16:creationId xmlns:a16="http://schemas.microsoft.com/office/drawing/2014/main" id="{1D165F0C-BBB4-06D2-9C7E-C223F894B79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088FF801-A20E-FB9B-49CA-1A120AD5F8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772D714A-1077-A129-A67E-E3004D1A3AC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11" name="Table 24">
            <a:extLst>
              <a:ext uri="{FF2B5EF4-FFF2-40B4-BE49-F238E27FC236}">
                <a16:creationId xmlns:a16="http://schemas.microsoft.com/office/drawing/2014/main" id="{1D531876-8AE6-B3B2-F670-23E4E4C547F8}"/>
              </a:ext>
            </a:extLst>
          </p:cNvPr>
          <p:cNvGraphicFramePr>
            <a:graphicFrameLocks noGrp="1"/>
          </p:cNvGraphicFramePr>
          <p:nvPr/>
        </p:nvGraphicFramePr>
        <p:xfrm>
          <a:off x="581192" y="1989939"/>
          <a:ext cx="11029618" cy="3915940"/>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11660">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11660">
                <a:tc>
                  <a:txBody>
                    <a:bodyPr/>
                    <a:lstStyle/>
                    <a:p>
                      <a:pPr algn="l"/>
                      <a:r>
                        <a:rPr lang="es-ES_tradnl" sz="13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$10.600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$11.236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$11.910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$12.625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$13.382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11660">
                <a:tc>
                  <a:txBody>
                    <a:bodyPr/>
                    <a:lstStyle/>
                    <a:p>
                      <a:pPr algn="l"/>
                      <a:r>
                        <a:rPr lang="es-ES_tradnl" sz="13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11660">
                <a:tc>
                  <a:txBody>
                    <a:bodyPr/>
                    <a:lstStyle/>
                    <a:p>
                      <a:pPr algn="l"/>
                      <a:r>
                        <a:rPr lang="es-ES_tradnl" sz="13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$10.600.00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$11.236.000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$11.910.160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$12.624.770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$13.382.256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11660">
                <a:tc>
                  <a:txBody>
                    <a:bodyPr/>
                    <a:lstStyle/>
                    <a:p>
                      <a:pPr algn="l"/>
                      <a:r>
                        <a:rPr lang="es-ES_tradnl" sz="13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$2.650.000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$2.809.000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$2.977.540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$3.156.192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$3.345.564</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11660">
                <a:tc>
                  <a:txBody>
                    <a:bodyPr/>
                    <a:lstStyle/>
                    <a:p>
                      <a:pPr algn="l"/>
                      <a:r>
                        <a:rPr lang="es-ES_tradnl" sz="13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$7.950.000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$8.427.000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$8.932.620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$9.468.577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$10.036.692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11660">
                <a:tc>
                  <a:txBody>
                    <a:bodyPr/>
                    <a:lstStyle/>
                    <a:p>
                      <a:pPr algn="l"/>
                      <a:r>
                        <a:rPr lang="es-ES_tradnl" sz="13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11660">
                <a:tc>
                  <a:txBody>
                    <a:bodyPr/>
                    <a:lstStyle/>
                    <a:p>
                      <a:pPr algn="l"/>
                      <a:r>
                        <a:rPr lang="es-ES_tradnl" sz="13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$3.950.000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$4.427.000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$4.932.620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$5.468.577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$6.036.692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11660">
                <a:tc>
                  <a:txBody>
                    <a:bodyPr/>
                    <a:lstStyle/>
                    <a:p>
                      <a:pPr algn="l"/>
                      <a:r>
                        <a:rPr lang="es-ES_tradnl" sz="13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11660">
                <a:tc>
                  <a:txBody>
                    <a:bodyPr/>
                    <a:lstStyle/>
                    <a:p>
                      <a:pPr algn="l"/>
                      <a:r>
                        <a:rPr lang="es-ES_tradnl" sz="13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_tradnl" sz="1300" noProof="0" dirty="0">
                          <a:solidFill>
                            <a:schemeClr val="accent1"/>
                          </a:solidFill>
                          <a:latin typeface="Century Gothic" panose="020B0502020202020204" pitchFamily="34" charset="0"/>
                        </a:rPr>
                        <a:t>$20.000.000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69351">
                <a:tc>
                  <a:txBody>
                    <a:bodyPr/>
                    <a:lstStyle/>
                    <a:p>
                      <a:pPr algn="l"/>
                      <a:r>
                        <a:rPr lang="es-ES_tradnl" sz="13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$1.303.500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$1.460.910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$1.627.765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$1.804.630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$1.992.108</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11660">
                <a:tc>
                  <a:txBody>
                    <a:bodyPr/>
                    <a:lstStyle/>
                    <a:p>
                      <a:pPr algn="l"/>
                      <a:r>
                        <a:rPr lang="es-ES_tradnl" sz="1300" noProof="0" dirty="0" err="1">
                          <a:solidFill>
                            <a:schemeClr val="accent1"/>
                          </a:solidFill>
                          <a:latin typeface="Century Gothic" panose="020B0502020202020204" pitchFamily="34" charset="0"/>
                        </a:rPr>
                        <a:t>FCL</a:t>
                      </a: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-$20.000.000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$6.646.500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$6.966.090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$7.304.855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$7.663.947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$8.044.584</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p:graphicFrame>
        <p:nvGraphicFramePr>
          <p:cNvPr id="15" name="Tabla 14">
            <a:extLst>
              <a:ext uri="{FF2B5EF4-FFF2-40B4-BE49-F238E27FC236}">
                <a16:creationId xmlns:a16="http://schemas.microsoft.com/office/drawing/2014/main" id="{3DE647C6-D4E0-55C9-4355-4310B70439E5}"/>
              </a:ext>
            </a:extLst>
          </p:cNvPr>
          <p:cNvGraphicFramePr>
            <a:graphicFrameLocks noGrp="1"/>
          </p:cNvGraphicFramePr>
          <p:nvPr/>
        </p:nvGraphicFramePr>
        <p:xfrm>
          <a:off x="581190" y="5905879"/>
          <a:ext cx="3468993" cy="623320"/>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179332490"/>
                    </a:ext>
                  </a:extLst>
                </a:gridCol>
                <a:gridCol w="1512125">
                  <a:extLst>
                    <a:ext uri="{9D8B030D-6E8A-4147-A177-3AD203B41FA5}">
                      <a16:colId xmlns:a16="http://schemas.microsoft.com/office/drawing/2014/main" val="3892199838"/>
                    </a:ext>
                  </a:extLst>
                </a:gridCol>
              </a:tblGrid>
              <a:tr h="311660">
                <a:tc>
                  <a:txBody>
                    <a:bodyPr/>
                    <a:lstStyle/>
                    <a:p>
                      <a:pPr algn="l"/>
                      <a:r>
                        <a:rPr lang="es-ES_tradnl" sz="1300" noProof="0" dirty="0">
                          <a:solidFill>
                            <a:schemeClr val="accent1"/>
                          </a:solidFill>
                          <a:latin typeface="Century Gothic" panose="020B0502020202020204" pitchFamily="34" charset="0"/>
                        </a:rPr>
                        <a:t>TIR</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23,32%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2706829573"/>
                  </a:ext>
                </a:extLst>
              </a:tr>
              <a:tr h="311660">
                <a:tc>
                  <a:txBody>
                    <a:bodyPr/>
                    <a:lstStyle/>
                    <a:p>
                      <a:pPr algn="l"/>
                      <a:r>
                        <a:rPr lang="es-ES_tradnl" sz="1300" noProof="0" dirty="0">
                          <a:solidFill>
                            <a:schemeClr val="accent1"/>
                          </a:solidFill>
                          <a:latin typeface="Century Gothic" panose="020B0502020202020204" pitchFamily="34" charset="0"/>
                        </a:rPr>
                        <a:t>VPN Corriente/</a:t>
                      </a:r>
                      <a:r>
                        <a:rPr lang="es-ES_tradnl" sz="1300" noProof="0" dirty="0" err="1">
                          <a:solidFill>
                            <a:schemeClr val="accent1"/>
                          </a:solidFill>
                          <a:latin typeface="Century Gothic" panose="020B0502020202020204" pitchFamily="34" charset="0"/>
                        </a:rPr>
                        <a:t>Nom</a:t>
                      </a: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$4.231.457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630373977"/>
                  </a:ext>
                </a:extLst>
              </a:tr>
            </a:tbl>
          </a:graphicData>
        </a:graphic>
      </p:graphicFrame>
      <p:sp>
        <p:nvSpPr>
          <p:cNvPr id="16" name="CuadroTexto 15">
            <a:extLst>
              <a:ext uri="{FF2B5EF4-FFF2-40B4-BE49-F238E27FC236}">
                <a16:creationId xmlns:a16="http://schemas.microsoft.com/office/drawing/2014/main" id="{8186AF4F-C57B-A594-3451-FD918B85684C}"/>
              </a:ext>
            </a:extLst>
          </p:cNvPr>
          <p:cNvSpPr txBox="1"/>
          <p:nvPr/>
        </p:nvSpPr>
        <p:spPr>
          <a:xfrm>
            <a:off x="5708608" y="6155844"/>
            <a:ext cx="2846812" cy="307777"/>
          </a:xfrm>
          <a:prstGeom prst="rect">
            <a:avLst/>
          </a:prstGeom>
          <a:noFill/>
        </p:spPr>
        <p:txBody>
          <a:bodyPr wrap="square" rtlCol="0">
            <a:spAutoFit/>
          </a:bodyPr>
          <a:lstStyle/>
          <a:p>
            <a:pPr algn="ctr"/>
            <a:r>
              <a:rPr lang="en-US" sz="1400" b="1" dirty="0">
                <a:latin typeface="Century Gothic" panose="020B0502020202020204" pitchFamily="34" charset="0"/>
              </a:rPr>
              <a:t>WACC 15%</a:t>
            </a:r>
          </a:p>
        </p:txBody>
      </p:sp>
    </p:spTree>
    <p:extLst>
      <p:ext uri="{BB962C8B-B14F-4D97-AF65-F5344CB8AC3E}">
        <p14:creationId xmlns:p14="http://schemas.microsoft.com/office/powerpoint/2010/main" val="26334976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D3AA6-FA22-3925-8503-DCC8F53AAA2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4A9CE06-F033-416A-DBA8-5A360F3E6EF9}"/>
              </a:ext>
            </a:extLst>
          </p:cNvPr>
          <p:cNvSpPr>
            <a:spLocks noGrp="1"/>
          </p:cNvSpPr>
          <p:nvPr>
            <p:ph type="title"/>
          </p:nvPr>
        </p:nvSpPr>
        <p:spPr/>
        <p:txBody>
          <a:bodyPr>
            <a:normAutofit/>
          </a:bodyPr>
          <a:lstStyle/>
          <a:p>
            <a:r>
              <a:rPr lang="es-CO" sz="3200" dirty="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32DB813C-D508-E8CE-53A6-1D71AAF9D84B}"/>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F8F3A497-989F-BA5B-B933-48C140BCA53E}"/>
              </a:ext>
            </a:extLst>
          </p:cNvPr>
          <p:cNvSpPr/>
          <p:nvPr/>
        </p:nvSpPr>
        <p:spPr>
          <a:xfrm>
            <a:off x="2806200" y="2772729"/>
            <a:ext cx="8540907" cy="3693319"/>
          </a:xfrm>
          <a:prstGeom prst="rect">
            <a:avLst/>
          </a:prstGeom>
        </p:spPr>
        <p:txBody>
          <a:bodyPr wrap="square" lIns="91440" tIns="45720" rIns="91440" bIns="45720" anchor="t">
            <a:spAutoFit/>
          </a:bodyPr>
          <a:lstStyle/>
          <a:p>
            <a:pPr marL="257175" indent="-257175">
              <a:buClr>
                <a:schemeClr val="accent3">
                  <a:lumMod val="75000"/>
                </a:schemeClr>
              </a:buClr>
              <a:buFont typeface="Gill Sans MT" panose="020B0502020104020203"/>
              <a:buAutoNum type="arabicPeriod"/>
            </a:pPr>
            <a:r>
              <a:rPr lang="es-CO" dirty="0">
                <a:solidFill>
                  <a:schemeClr val="bg1">
                    <a:lumMod val="75000"/>
                  </a:schemeClr>
                </a:solidFill>
                <a:latin typeface="Century Gothic"/>
                <a:cs typeface="Arial"/>
              </a:rPr>
              <a:t>Introducción</a:t>
            </a:r>
          </a:p>
          <a:p>
            <a:pPr marL="257175" indent="-257175">
              <a:buClr>
                <a:schemeClr val="accent3">
                  <a:lumMod val="75000"/>
                </a:schemeClr>
              </a:buClr>
              <a:buFont typeface="Gill Sans MT" panose="020B0502020104020203"/>
              <a:buAutoNum type="arabicPeriod"/>
            </a:pPr>
            <a:endParaRPr lang="es-CO" dirty="0">
              <a:solidFill>
                <a:schemeClr val="accent1"/>
              </a:solidFill>
              <a:latin typeface="Century Gothic"/>
              <a:cs typeface="Arial"/>
            </a:endParaRPr>
          </a:p>
          <a:p>
            <a:pPr marL="257175" indent="-257175">
              <a:buClr>
                <a:schemeClr val="accent3">
                  <a:lumMod val="75000"/>
                </a:schemeClr>
              </a:buClr>
              <a:buFont typeface="Gill Sans MT" panose="020B0502020104020203"/>
              <a:buAutoNum type="arabicPeriod"/>
            </a:pPr>
            <a:r>
              <a:rPr lang="es-CO" dirty="0">
                <a:solidFill>
                  <a:schemeClr val="bg1">
                    <a:lumMod val="75000"/>
                  </a:schemeClr>
                </a:solidFill>
                <a:latin typeface="Century Gothic"/>
                <a:cs typeface="Arial"/>
              </a:rPr>
              <a:t>Precios Corrientes</a:t>
            </a:r>
          </a:p>
          <a:p>
            <a:pPr marL="257175" indent="-257175">
              <a:buClr>
                <a:schemeClr val="accent3">
                  <a:lumMod val="75000"/>
                </a:schemeClr>
              </a:buClr>
              <a:buFont typeface="Gill Sans MT" panose="020B0502020104020203"/>
              <a:buAutoNum type="arabicPeriod"/>
            </a:pPr>
            <a:endParaRPr lang="es-CO" dirty="0">
              <a:solidFill>
                <a:schemeClr val="accent1"/>
              </a:solidFill>
              <a:latin typeface="Century Gothic"/>
              <a:cs typeface="Arial"/>
            </a:endParaRPr>
          </a:p>
          <a:p>
            <a:pPr marL="257175" indent="-257175">
              <a:buClr>
                <a:schemeClr val="accent3">
                  <a:lumMod val="75000"/>
                </a:schemeClr>
              </a:buClr>
              <a:buFont typeface="Gill Sans MT" panose="020B0502020104020203"/>
              <a:buAutoNum type="arabicPeriod"/>
            </a:pPr>
            <a:r>
              <a:rPr lang="es-CO" dirty="0">
                <a:solidFill>
                  <a:schemeClr val="accent1"/>
                </a:solidFill>
                <a:latin typeface="Century Gothic"/>
                <a:cs typeface="Arial"/>
              </a:rPr>
              <a:t>Precios constantes</a:t>
            </a:r>
          </a:p>
          <a:p>
            <a:pPr marL="257175" indent="-257175">
              <a:buClr>
                <a:schemeClr val="accent3">
                  <a:lumMod val="75000"/>
                </a:schemeClr>
              </a:buClr>
              <a:buFont typeface="Gill Sans MT" panose="020B0502020104020203"/>
              <a:buAutoNum type="arabicPeriod"/>
            </a:pPr>
            <a:endParaRPr lang="es-CO" dirty="0">
              <a:solidFill>
                <a:schemeClr val="bg1">
                  <a:lumMod val="75000"/>
                </a:schemeClr>
              </a:solidFill>
              <a:latin typeface="Century Gothic"/>
              <a:cs typeface="Arial"/>
            </a:endParaRPr>
          </a:p>
          <a:p>
            <a:pPr marL="257175" indent="-257175">
              <a:buClr>
                <a:schemeClr val="accent3">
                  <a:lumMod val="75000"/>
                </a:schemeClr>
              </a:buClr>
              <a:buFont typeface="Gill Sans MT" panose="020B0502020104020203"/>
              <a:buAutoNum type="arabicPeriod"/>
            </a:pPr>
            <a:r>
              <a:rPr lang="es-CO" dirty="0">
                <a:solidFill>
                  <a:schemeClr val="bg1">
                    <a:lumMod val="75000"/>
                  </a:schemeClr>
                </a:solidFill>
                <a:latin typeface="Century Gothic"/>
                <a:cs typeface="Arial"/>
              </a:rPr>
              <a:t>Inflación variable</a:t>
            </a:r>
          </a:p>
          <a:p>
            <a:pPr marL="257175" indent="-257175">
              <a:buClr>
                <a:schemeClr val="accent3">
                  <a:lumMod val="75000"/>
                </a:schemeClr>
              </a:buClr>
              <a:buFont typeface="Gill Sans MT" panose="020B0502020104020203"/>
              <a:buAutoNum type="arabicPeriod"/>
            </a:pPr>
            <a:endParaRPr lang="es-CO" dirty="0">
              <a:solidFill>
                <a:schemeClr val="bg1">
                  <a:lumMod val="75000"/>
                </a:schemeClr>
              </a:solidFill>
              <a:latin typeface="Century Gothic"/>
              <a:cs typeface="Arial"/>
            </a:endParaRPr>
          </a:p>
          <a:p>
            <a:pPr marL="257175" indent="-257175">
              <a:buClr>
                <a:schemeClr val="accent3">
                  <a:lumMod val="75000"/>
                </a:schemeClr>
              </a:buClr>
              <a:buFont typeface="Gill Sans MT" panose="020B0502020104020203"/>
              <a:buAutoNum type="arabicPeriod"/>
            </a:pPr>
            <a:r>
              <a:rPr lang="es-CO" dirty="0">
                <a:solidFill>
                  <a:schemeClr val="bg1">
                    <a:lumMod val="75000"/>
                  </a:schemeClr>
                </a:solidFill>
                <a:latin typeface="Century Gothic"/>
                <a:cs typeface="Arial"/>
              </a:rPr>
              <a:t>Ejercicios</a:t>
            </a:r>
          </a:p>
          <a:p>
            <a:pPr marL="342900" indent="-342900">
              <a:buClr>
                <a:srgbClr val="48BE7A"/>
              </a:buClr>
              <a:buAutoNum type="arabicPeriod" startAt="5"/>
            </a:pPr>
            <a:endParaRPr lang="es-CO" dirty="0">
              <a:solidFill>
                <a:schemeClr val="accent1"/>
              </a:solidFill>
              <a:latin typeface="Century Gothic" panose="020B0502020202020204" pitchFamily="34" charset="0"/>
              <a:cs typeface="Arial"/>
            </a:endParaRPr>
          </a:p>
          <a:p>
            <a:pPr>
              <a:buClr>
                <a:srgbClr val="48BE7A"/>
              </a:buClr>
            </a:pPr>
            <a:r>
              <a:rPr lang="es-CO" dirty="0">
                <a:solidFill>
                  <a:schemeClr val="accent1"/>
                </a:solidFill>
                <a:latin typeface="Century Gothic"/>
                <a:cs typeface="Arial"/>
              </a:rPr>
              <a:t>	</a:t>
            </a: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a:buClr>
                <a:schemeClr val="accent3">
                  <a:lumMod val="75000"/>
                </a:schemeClr>
              </a:buClr>
            </a:pPr>
            <a:endParaRPr lang="es-CO" dirty="0">
              <a:solidFill>
                <a:schemeClr val="accent1"/>
              </a:solidFill>
              <a:latin typeface="Century Gothic" panose="020B0502020202020204" pitchFamily="34" charset="0"/>
            </a:endParaRPr>
          </a:p>
        </p:txBody>
      </p:sp>
      <p:sp>
        <p:nvSpPr>
          <p:cNvPr id="7" name="Rectángulo 6">
            <a:extLst>
              <a:ext uri="{FF2B5EF4-FFF2-40B4-BE49-F238E27FC236}">
                <a16:creationId xmlns:a16="http://schemas.microsoft.com/office/drawing/2014/main" id="{CD4679C8-371A-2B8A-F356-69BFA639C95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B3FBA869-60F5-CF16-6FC0-10084137F1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7A2B610E-9C36-4342-1231-1744DBCB208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3" name="Slide Number Placeholder 3">
            <a:extLst>
              <a:ext uri="{FF2B5EF4-FFF2-40B4-BE49-F238E27FC236}">
                <a16:creationId xmlns:a16="http://schemas.microsoft.com/office/drawing/2014/main" id="{51D0B002-50A5-5A60-8637-8DFF16B3D9F8}"/>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smtClean="0"/>
              <a:t>18</a:t>
            </a:fld>
            <a:endParaRPr lang="en-US" sz="1800" dirty="0"/>
          </a:p>
        </p:txBody>
      </p:sp>
    </p:spTree>
    <p:extLst>
      <p:ext uri="{BB962C8B-B14F-4D97-AF65-F5344CB8AC3E}">
        <p14:creationId xmlns:p14="http://schemas.microsoft.com/office/powerpoint/2010/main" val="3730646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B2447-3493-0DEA-E72E-CAF8A4B62D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22AC51-E332-9D52-21DD-637ABA1331DF}"/>
              </a:ext>
            </a:extLst>
          </p:cNvPr>
          <p:cNvSpPr>
            <a:spLocks noGrp="1"/>
          </p:cNvSpPr>
          <p:nvPr>
            <p:ph type="title"/>
          </p:nvPr>
        </p:nvSpPr>
        <p:spPr/>
        <p:txBody>
          <a:bodyPr>
            <a:normAutofit/>
          </a:bodyPr>
          <a:lstStyle/>
          <a:p>
            <a:r>
              <a:rPr lang="es-ES" sz="3200" dirty="0">
                <a:latin typeface="Century Gothic" panose="020B0502020202020204" pitchFamily="34" charset="0"/>
              </a:rPr>
              <a:t>Precios constantes (REALES)</a:t>
            </a:r>
            <a:endParaRPr lang="es-ES_tradnl" sz="3200" dirty="0">
              <a:latin typeface="Century Gothic" panose="020B0502020202020204" pitchFamily="34" charset="0"/>
            </a:endParaRPr>
          </a:p>
        </p:txBody>
      </p:sp>
      <p:sp>
        <p:nvSpPr>
          <p:cNvPr id="3" name="Content Placeholder 2">
            <a:extLst>
              <a:ext uri="{FF2B5EF4-FFF2-40B4-BE49-F238E27FC236}">
                <a16:creationId xmlns:a16="http://schemas.microsoft.com/office/drawing/2014/main" id="{A41541D7-D5B2-E9A0-DADB-849D0AE8636B}"/>
              </a:ext>
            </a:extLst>
          </p:cNvPr>
          <p:cNvSpPr>
            <a:spLocks noGrp="1"/>
          </p:cNvSpPr>
          <p:nvPr>
            <p:ph idx="1"/>
          </p:nvPr>
        </p:nvSpPr>
        <p:spPr>
          <a:xfrm>
            <a:off x="641965" y="2154740"/>
            <a:ext cx="10908070" cy="2117716"/>
          </a:xfrm>
        </p:spPr>
        <p:txBody>
          <a:bodyPr>
            <a:noAutofit/>
          </a:bodyPr>
          <a:lstStyle/>
          <a:p>
            <a:pPr marL="0" indent="0">
              <a:buNone/>
            </a:pPr>
            <a:r>
              <a:rPr lang="es-MX" sz="2400" b="1" dirty="0">
                <a:solidFill>
                  <a:schemeClr val="accent1"/>
                </a:solidFill>
                <a:latin typeface="Century Gothic" panose="020B0502020202020204" pitchFamily="34" charset="0"/>
              </a:rPr>
              <a:t>Métodos:</a:t>
            </a:r>
          </a:p>
          <a:p>
            <a:pPr>
              <a:buFont typeface="Wingdings" panose="05000000000000000000" pitchFamily="2" charset="2"/>
              <a:buChar char="§"/>
            </a:pPr>
            <a:r>
              <a:rPr lang="es-MX" sz="2400" dirty="0">
                <a:solidFill>
                  <a:schemeClr val="accent1"/>
                </a:solidFill>
                <a:latin typeface="Century Gothic" panose="020B0502020202020204" pitchFamily="34" charset="0"/>
              </a:rPr>
              <a:t>Deflactando cada cuenta del </a:t>
            </a:r>
            <a:r>
              <a:rPr lang="es-MX" sz="2400" dirty="0" err="1">
                <a:solidFill>
                  <a:schemeClr val="accent1"/>
                </a:solidFill>
                <a:latin typeface="Century Gothic" panose="020B0502020202020204" pitchFamily="34" charset="0"/>
              </a:rPr>
              <a:t>FCL</a:t>
            </a:r>
            <a:r>
              <a:rPr lang="es-MX" sz="2400" dirty="0">
                <a:solidFill>
                  <a:schemeClr val="accent1"/>
                </a:solidFill>
                <a:latin typeface="Century Gothic" panose="020B0502020202020204" pitchFamily="34" charset="0"/>
              </a:rPr>
              <a:t> mediante el Factor Inflacionario</a:t>
            </a:r>
          </a:p>
          <a:p>
            <a:pPr>
              <a:buFont typeface="Wingdings" panose="05000000000000000000" pitchFamily="2" charset="2"/>
              <a:buChar char="§"/>
            </a:pPr>
            <a:r>
              <a:rPr lang="es-MX" sz="2400" b="1" dirty="0">
                <a:solidFill>
                  <a:schemeClr val="accent1"/>
                </a:solidFill>
                <a:latin typeface="Century Gothic" panose="020B0502020202020204" pitchFamily="34" charset="0"/>
              </a:rPr>
              <a:t>Aplicando el Factor inflacionario directamente al </a:t>
            </a:r>
            <a:r>
              <a:rPr lang="es-MX" sz="2400" b="1" dirty="0" err="1">
                <a:solidFill>
                  <a:schemeClr val="accent1"/>
                </a:solidFill>
                <a:latin typeface="Century Gothic" panose="020B0502020202020204" pitchFamily="34" charset="0"/>
              </a:rPr>
              <a:t>FCL</a:t>
            </a:r>
            <a:r>
              <a:rPr lang="es-MX" sz="2400" b="1" dirty="0">
                <a:solidFill>
                  <a:schemeClr val="accent1"/>
                </a:solidFill>
                <a:latin typeface="Century Gothic" panose="020B0502020202020204" pitchFamily="34" charset="0"/>
              </a:rPr>
              <a:t> </a:t>
            </a:r>
          </a:p>
        </p:txBody>
      </p:sp>
      <p:sp>
        <p:nvSpPr>
          <p:cNvPr id="4" name="Slide Number Placeholder 3">
            <a:extLst>
              <a:ext uri="{FF2B5EF4-FFF2-40B4-BE49-F238E27FC236}">
                <a16:creationId xmlns:a16="http://schemas.microsoft.com/office/drawing/2014/main" id="{6054E4A1-E5D8-4F26-8300-A0CE1BA9146E}"/>
              </a:ext>
            </a:extLst>
          </p:cNvPr>
          <p:cNvSpPr>
            <a:spLocks noGrp="1"/>
          </p:cNvSpPr>
          <p:nvPr>
            <p:ph type="sldNum" sz="quarter" idx="12"/>
          </p:nvPr>
        </p:nvSpPr>
        <p:spPr/>
        <p:txBody>
          <a:bodyPr/>
          <a:lstStyle/>
          <a:p>
            <a:fld id="{5E3E23BA-6E79-2442-BA73-D218A5E297C3}" type="slidenum">
              <a:rPr lang="en-US" sz="1800" smtClean="0"/>
              <a:t>19</a:t>
            </a:fld>
            <a:endParaRPr lang="en-US" sz="1800"/>
          </a:p>
        </p:txBody>
      </p:sp>
      <p:sp>
        <p:nvSpPr>
          <p:cNvPr id="5" name="Rectángulo 4">
            <a:extLst>
              <a:ext uri="{FF2B5EF4-FFF2-40B4-BE49-F238E27FC236}">
                <a16:creationId xmlns:a16="http://schemas.microsoft.com/office/drawing/2014/main" id="{A191C0D5-4328-8FF1-EF86-8A1787C2437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A9DA0839-FBFC-6B43-3BFD-084DD5E6AE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46823FE0-0414-583E-359F-BD32CC581BC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pic>
        <p:nvPicPr>
          <p:cNvPr id="8" name="Picture 2" descr="Dibujos Animados Brillante Bombilla De Luz Amarilla. Idea Creativa.  Concepto De Inspiración. Ilustración De Vector Dibujado A Mano Aislada  Sobre Fondo Blanco. Ilustraciones svg, vectoriales, clip art vectorizado  libre de derechos. Image">
            <a:extLst>
              <a:ext uri="{FF2B5EF4-FFF2-40B4-BE49-F238E27FC236}">
                <a16:creationId xmlns:a16="http://schemas.microsoft.com/office/drawing/2014/main" id="{61431812-21FE-135A-836A-72C9DE0D2F6F}"/>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857771" y="4017856"/>
            <a:ext cx="2142117" cy="21421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88109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DBEB5-4CA6-546E-0C38-2C53DB4EB7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9CBB0E-CF82-8FE0-A3E5-DFAE9DE8C0A3}"/>
              </a:ext>
            </a:extLst>
          </p:cNvPr>
          <p:cNvSpPr>
            <a:spLocks noGrp="1"/>
          </p:cNvSpPr>
          <p:nvPr>
            <p:ph type="title"/>
          </p:nvPr>
        </p:nvSpPr>
        <p:spPr/>
        <p:txBody>
          <a:bodyPr/>
          <a:lstStyle/>
          <a:p>
            <a:r>
              <a:rPr lang="es-ES_tradnl" dirty="0"/>
              <a:t>Excel repaso</a:t>
            </a:r>
          </a:p>
        </p:txBody>
      </p:sp>
      <p:sp>
        <p:nvSpPr>
          <p:cNvPr id="3" name="Content Placeholder 2">
            <a:extLst>
              <a:ext uri="{FF2B5EF4-FFF2-40B4-BE49-F238E27FC236}">
                <a16:creationId xmlns:a16="http://schemas.microsoft.com/office/drawing/2014/main" id="{EAAD27F4-5E22-E69E-3663-4E8D3FCFE98E}"/>
              </a:ext>
            </a:extLst>
          </p:cNvPr>
          <p:cNvSpPr>
            <a:spLocks noGrp="1"/>
          </p:cNvSpPr>
          <p:nvPr>
            <p:ph idx="1"/>
          </p:nvPr>
        </p:nvSpPr>
        <p:spPr/>
        <p:txBody>
          <a:bodyPr>
            <a:normAutofit/>
          </a:bodyPr>
          <a:lstStyle/>
          <a:p>
            <a:r>
              <a:rPr lang="es-ES_tradnl" sz="3200" dirty="0">
                <a:solidFill>
                  <a:srgbClr val="FF0000"/>
                </a:solidFill>
              </a:rPr>
              <a:t>https://</a:t>
            </a:r>
            <a:r>
              <a:rPr lang="es-ES_tradnl" sz="3200" dirty="0" err="1">
                <a:solidFill>
                  <a:srgbClr val="FF0000"/>
                </a:solidFill>
              </a:rPr>
              <a:t>shorturl.at</a:t>
            </a:r>
            <a:r>
              <a:rPr lang="es-ES_tradnl" sz="3200" dirty="0">
                <a:solidFill>
                  <a:srgbClr val="FF0000"/>
                </a:solidFill>
              </a:rPr>
              <a:t>/</a:t>
            </a:r>
            <a:r>
              <a:rPr lang="es-ES_tradnl" sz="3200" dirty="0" err="1">
                <a:solidFill>
                  <a:srgbClr val="FF0000"/>
                </a:solidFill>
              </a:rPr>
              <a:t>yEPBT</a:t>
            </a:r>
            <a:endParaRPr lang="es-ES_tradnl" sz="3200" dirty="0">
              <a:solidFill>
                <a:srgbClr val="FF0000"/>
              </a:solidFill>
            </a:endParaRPr>
          </a:p>
        </p:txBody>
      </p:sp>
      <p:sp>
        <p:nvSpPr>
          <p:cNvPr id="4" name="Slide Number Placeholder 3">
            <a:extLst>
              <a:ext uri="{FF2B5EF4-FFF2-40B4-BE49-F238E27FC236}">
                <a16:creationId xmlns:a16="http://schemas.microsoft.com/office/drawing/2014/main" id="{F96B5605-A95D-E468-937D-0ED7AF936CAB}"/>
              </a:ext>
            </a:extLst>
          </p:cNvPr>
          <p:cNvSpPr>
            <a:spLocks noGrp="1"/>
          </p:cNvSpPr>
          <p:nvPr>
            <p:ph type="sldNum" sz="quarter" idx="12"/>
          </p:nvPr>
        </p:nvSpPr>
        <p:spPr/>
        <p:txBody>
          <a:bodyPr/>
          <a:lstStyle/>
          <a:p>
            <a:fld id="{D57F1E4F-1CFF-5643-939E-217C01CDF565}" type="slidenum">
              <a:rPr lang="en-US" smtClean="0"/>
              <a:pPr/>
              <a:t>20</a:t>
            </a:fld>
            <a:endParaRPr lang="en-US"/>
          </a:p>
        </p:txBody>
      </p:sp>
      <p:pic>
        <p:nvPicPr>
          <p:cNvPr id="5" name="Picture 4">
            <a:extLst>
              <a:ext uri="{FF2B5EF4-FFF2-40B4-BE49-F238E27FC236}">
                <a16:creationId xmlns:a16="http://schemas.microsoft.com/office/drawing/2014/main" id="{74EC1496-98A4-E9AC-890C-6157E1FC6D1A}"/>
              </a:ext>
            </a:extLst>
          </p:cNvPr>
          <p:cNvPicPr>
            <a:picLocks noChangeAspect="1"/>
          </p:cNvPicPr>
          <p:nvPr/>
        </p:nvPicPr>
        <p:blipFill>
          <a:blip r:embed="rId2"/>
          <a:stretch>
            <a:fillRect/>
          </a:stretch>
        </p:blipFill>
        <p:spPr>
          <a:xfrm>
            <a:off x="7704207" y="1981846"/>
            <a:ext cx="3721100" cy="3708400"/>
          </a:xfrm>
          <a:prstGeom prst="rect">
            <a:avLst/>
          </a:prstGeom>
        </p:spPr>
      </p:pic>
    </p:spTree>
    <p:extLst>
      <p:ext uri="{BB962C8B-B14F-4D97-AF65-F5344CB8AC3E}">
        <p14:creationId xmlns:p14="http://schemas.microsoft.com/office/powerpoint/2010/main" val="20425864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225F5-9C00-49F9-8D31-5359080A6A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E5B5A2-37FD-3B7D-D3BD-A6BBF463E469}"/>
              </a:ext>
            </a:extLst>
          </p:cNvPr>
          <p:cNvSpPr>
            <a:spLocks noGrp="1"/>
          </p:cNvSpPr>
          <p:nvPr>
            <p:ph type="title"/>
          </p:nvPr>
        </p:nvSpPr>
        <p:spPr/>
        <p:txBody>
          <a:bodyPr>
            <a:normAutofit/>
          </a:bodyPr>
          <a:lstStyle/>
          <a:p>
            <a:r>
              <a:rPr lang="es-ES" sz="3200" dirty="0">
                <a:latin typeface="Century Gothic" panose="020B0502020202020204" pitchFamily="34" charset="0"/>
              </a:rPr>
              <a:t>Precios constantes (REALES)</a:t>
            </a:r>
            <a:endParaRPr lang="es-ES_tradnl" sz="3200" dirty="0">
              <a:latin typeface="Century Gothic" panose="020B0502020202020204" pitchFamily="34" charset="0"/>
            </a:endParaRPr>
          </a:p>
        </p:txBody>
      </p:sp>
      <p:sp>
        <p:nvSpPr>
          <p:cNvPr id="3" name="Content Placeholder 2">
            <a:extLst>
              <a:ext uri="{FF2B5EF4-FFF2-40B4-BE49-F238E27FC236}">
                <a16:creationId xmlns:a16="http://schemas.microsoft.com/office/drawing/2014/main" id="{34C069E6-167E-BA32-6948-029E95B66F51}"/>
              </a:ext>
            </a:extLst>
          </p:cNvPr>
          <p:cNvSpPr>
            <a:spLocks noGrp="1"/>
          </p:cNvSpPr>
          <p:nvPr>
            <p:ph idx="1"/>
          </p:nvPr>
        </p:nvSpPr>
        <p:spPr>
          <a:xfrm>
            <a:off x="641965" y="2305032"/>
            <a:ext cx="10908070" cy="792000"/>
          </a:xfrm>
        </p:spPr>
        <p:txBody>
          <a:bodyPr>
            <a:noAutofit/>
          </a:bodyPr>
          <a:lstStyle/>
          <a:p>
            <a:r>
              <a:rPr lang="es-CO" sz="2000" dirty="0">
                <a:latin typeface="Century Gothic" panose="020B0502020202020204" pitchFamily="34" charset="0"/>
              </a:rPr>
              <a:t>Partimos del resultado del FCL del modelo Nominal y aplicamos el Factor Inflacionario.</a:t>
            </a:r>
          </a:p>
        </p:txBody>
      </p:sp>
      <p:sp>
        <p:nvSpPr>
          <p:cNvPr id="4" name="Slide Number Placeholder 3">
            <a:extLst>
              <a:ext uri="{FF2B5EF4-FFF2-40B4-BE49-F238E27FC236}">
                <a16:creationId xmlns:a16="http://schemas.microsoft.com/office/drawing/2014/main" id="{3C6ED0EA-6C3E-106D-16BE-E1E79ECE0EBE}"/>
              </a:ext>
            </a:extLst>
          </p:cNvPr>
          <p:cNvSpPr>
            <a:spLocks noGrp="1"/>
          </p:cNvSpPr>
          <p:nvPr>
            <p:ph type="sldNum" sz="quarter" idx="12"/>
          </p:nvPr>
        </p:nvSpPr>
        <p:spPr/>
        <p:txBody>
          <a:bodyPr/>
          <a:lstStyle/>
          <a:p>
            <a:fld id="{5E3E23BA-6E79-2442-BA73-D218A5E297C3}" type="slidenum">
              <a:rPr lang="en-US" sz="1800" smtClean="0"/>
              <a:t>21</a:t>
            </a:fld>
            <a:endParaRPr lang="en-US" sz="1800"/>
          </a:p>
        </p:txBody>
      </p:sp>
      <p:sp>
        <p:nvSpPr>
          <p:cNvPr id="5" name="Rectángulo 4">
            <a:extLst>
              <a:ext uri="{FF2B5EF4-FFF2-40B4-BE49-F238E27FC236}">
                <a16:creationId xmlns:a16="http://schemas.microsoft.com/office/drawing/2014/main" id="{5EEB6737-F338-AE31-8E6C-7F0159B3FDD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DEEE1272-A163-B7FE-A29D-60DCF76974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B5489872-FAC7-4809-594A-C311ECD501D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9F527E0-94FD-E83B-3F36-DB8AE1A2FE90}"/>
                  </a:ext>
                </a:extLst>
              </p:cNvPr>
              <p:cNvSpPr txBox="1"/>
              <p:nvPr/>
            </p:nvSpPr>
            <p:spPr>
              <a:xfrm>
                <a:off x="1045026" y="3337354"/>
                <a:ext cx="5450146" cy="792000"/>
              </a:xfrm>
              <a:prstGeom prst="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419" sz="2400" b="0" i="1" smtClean="0">
                          <a:latin typeface="Cambria Math" panose="02040503050406030204" pitchFamily="18" charset="0"/>
                        </a:rPr>
                        <m:t>𝑃𝑟𝑒𝑐𝑖𝑜</m:t>
                      </m:r>
                      <m:r>
                        <a:rPr lang="es-419" sz="2400" b="0" i="1" smtClean="0">
                          <a:latin typeface="Cambria Math" panose="02040503050406030204" pitchFamily="18" charset="0"/>
                        </a:rPr>
                        <m:t> </m:t>
                      </m:r>
                      <m:r>
                        <a:rPr lang="es-419" sz="2400" b="0" i="1" smtClean="0">
                          <a:latin typeface="Cambria Math" panose="02040503050406030204" pitchFamily="18" charset="0"/>
                        </a:rPr>
                        <m:t>𝑟𝑒𝑎</m:t>
                      </m:r>
                      <m:sSub>
                        <m:sSubPr>
                          <m:ctrlPr>
                            <a:rPr lang="es-419" sz="2400" b="0" i="1" smtClean="0">
                              <a:latin typeface="Cambria Math" panose="02040503050406030204" pitchFamily="18" charset="0"/>
                            </a:rPr>
                          </m:ctrlPr>
                        </m:sSubPr>
                        <m:e>
                          <m:r>
                            <a:rPr lang="es-419" sz="2400" b="0" i="1" smtClean="0">
                              <a:latin typeface="Cambria Math" panose="02040503050406030204" pitchFamily="18" charset="0"/>
                            </a:rPr>
                            <m:t>𝑙</m:t>
                          </m:r>
                        </m:e>
                        <m:sub>
                          <m:r>
                            <a:rPr lang="es-419" sz="2400" b="0" i="1" smtClean="0">
                              <a:latin typeface="Cambria Math" panose="02040503050406030204" pitchFamily="18" charset="0"/>
                            </a:rPr>
                            <m:t>𝑡</m:t>
                          </m:r>
                        </m:sub>
                      </m:sSub>
                      <m:r>
                        <a:rPr lang="es-419" sz="2400" b="0" i="1" smtClean="0">
                          <a:latin typeface="Cambria Math" panose="02040503050406030204" pitchFamily="18" charset="0"/>
                        </a:rPr>
                        <m:t>=</m:t>
                      </m:r>
                      <m:f>
                        <m:fPr>
                          <m:ctrlPr>
                            <a:rPr lang="es-419" sz="2400" b="0" i="1" smtClean="0">
                              <a:latin typeface="Cambria Math" panose="02040503050406030204" pitchFamily="18" charset="0"/>
                            </a:rPr>
                          </m:ctrlPr>
                        </m:fPr>
                        <m:num>
                          <m:r>
                            <a:rPr lang="es-419" sz="2400" b="0" i="1" smtClean="0">
                              <a:latin typeface="Cambria Math" panose="02040503050406030204" pitchFamily="18" charset="0"/>
                            </a:rPr>
                            <m:t>𝑃𝑟𝑒𝑐𝑖𝑜</m:t>
                          </m:r>
                          <m:r>
                            <a:rPr lang="es-419" sz="2400" b="0" i="1" smtClean="0">
                              <a:latin typeface="Cambria Math" panose="02040503050406030204" pitchFamily="18" charset="0"/>
                            </a:rPr>
                            <m:t> </m:t>
                          </m:r>
                          <m:r>
                            <a:rPr lang="es-419" sz="2400" b="0" i="1" smtClean="0">
                              <a:latin typeface="Cambria Math" panose="02040503050406030204" pitchFamily="18" charset="0"/>
                            </a:rPr>
                            <m:t>𝑁𝑜𝑚𝑖𝑛𝑎</m:t>
                          </m:r>
                          <m:sSub>
                            <m:sSubPr>
                              <m:ctrlPr>
                                <a:rPr lang="es-419" sz="2400" b="0" i="1" smtClean="0">
                                  <a:latin typeface="Cambria Math" panose="02040503050406030204" pitchFamily="18" charset="0"/>
                                </a:rPr>
                              </m:ctrlPr>
                            </m:sSubPr>
                            <m:e>
                              <m:r>
                                <a:rPr lang="es-419" sz="2400" b="0" i="1" smtClean="0">
                                  <a:latin typeface="Cambria Math" panose="02040503050406030204" pitchFamily="18" charset="0"/>
                                </a:rPr>
                                <m:t>𝑙</m:t>
                              </m:r>
                            </m:e>
                            <m:sub>
                              <m:r>
                                <a:rPr lang="es-419" sz="2400" b="0" i="1" smtClean="0">
                                  <a:latin typeface="Cambria Math" panose="02040503050406030204" pitchFamily="18" charset="0"/>
                                </a:rPr>
                                <m:t>𝑡</m:t>
                              </m:r>
                            </m:sub>
                          </m:sSub>
                        </m:num>
                        <m:den>
                          <m:r>
                            <a:rPr lang="es-419" sz="2400" b="1" i="1" smtClean="0">
                              <a:solidFill>
                                <a:srgbClr val="FF0000"/>
                              </a:solidFill>
                              <a:latin typeface="Cambria Math" panose="02040503050406030204" pitchFamily="18" charset="0"/>
                            </a:rPr>
                            <m:t>𝑭𝒂𝒄𝒕𝒐𝒓</m:t>
                          </m:r>
                          <m:r>
                            <a:rPr lang="es-419" sz="2400" b="1" i="1" smtClean="0">
                              <a:solidFill>
                                <a:srgbClr val="FF0000"/>
                              </a:solidFill>
                              <a:latin typeface="Cambria Math" panose="02040503050406030204" pitchFamily="18" charset="0"/>
                            </a:rPr>
                            <m:t> </m:t>
                          </m:r>
                          <m:r>
                            <a:rPr lang="es-419" sz="2400" b="1" i="1" smtClean="0">
                              <a:solidFill>
                                <a:srgbClr val="FF0000"/>
                              </a:solidFill>
                              <a:latin typeface="Cambria Math" panose="02040503050406030204" pitchFamily="18" charset="0"/>
                            </a:rPr>
                            <m:t>𝑰𝒏𝒇𝒍𝒂𝒄𝒊𝒐𝒏𝒂𝒓𝒊</m:t>
                          </m:r>
                          <m:sSub>
                            <m:sSubPr>
                              <m:ctrlPr>
                                <a:rPr lang="es-419" sz="2400" b="0" i="1" smtClean="0">
                                  <a:solidFill>
                                    <a:srgbClr val="FF0000"/>
                                  </a:solidFill>
                                  <a:latin typeface="Cambria Math" panose="02040503050406030204" pitchFamily="18" charset="0"/>
                                </a:rPr>
                              </m:ctrlPr>
                            </m:sSubPr>
                            <m:e>
                              <m:r>
                                <a:rPr lang="es-419" sz="2400" b="1" i="1" smtClean="0">
                                  <a:solidFill>
                                    <a:srgbClr val="FF0000"/>
                                  </a:solidFill>
                                  <a:latin typeface="Cambria Math" panose="02040503050406030204" pitchFamily="18" charset="0"/>
                                </a:rPr>
                                <m:t>𝒐</m:t>
                              </m:r>
                            </m:e>
                            <m:sub>
                              <m:r>
                                <a:rPr lang="es-419" sz="2400" b="0" i="1" smtClean="0">
                                  <a:solidFill>
                                    <a:srgbClr val="FF0000"/>
                                  </a:solidFill>
                                  <a:latin typeface="Cambria Math" panose="02040503050406030204" pitchFamily="18" charset="0"/>
                                </a:rPr>
                                <m:t>𝑡</m:t>
                              </m:r>
                            </m:sub>
                          </m:sSub>
                        </m:den>
                      </m:f>
                    </m:oMath>
                  </m:oMathPara>
                </a14:m>
                <a:endParaRPr lang="es-CO" sz="2400" dirty="0">
                  <a:latin typeface="Century Gothic" panose="020B0502020202020204" pitchFamily="34" charset="0"/>
                </a:endParaRPr>
              </a:p>
            </p:txBody>
          </p:sp>
        </mc:Choice>
        <mc:Fallback xmlns="">
          <p:sp>
            <p:nvSpPr>
              <p:cNvPr id="9" name="CuadroTexto 8">
                <a:extLst>
                  <a:ext uri="{FF2B5EF4-FFF2-40B4-BE49-F238E27FC236}">
                    <a16:creationId xmlns:a16="http://schemas.microsoft.com/office/drawing/2014/main" id="{DF8E5D4F-3D61-4BCE-473B-E33E44DB76B3}"/>
                  </a:ext>
                </a:extLst>
              </p:cNvPr>
              <p:cNvSpPr txBox="1">
                <a:spLocks noRot="1" noChangeAspect="1" noMove="1" noResize="1" noEditPoints="1" noAdjustHandles="1" noChangeArrowheads="1" noChangeShapeType="1" noTextEdit="1"/>
              </p:cNvSpPr>
              <p:nvPr/>
            </p:nvSpPr>
            <p:spPr>
              <a:xfrm>
                <a:off x="1045026" y="3337354"/>
                <a:ext cx="5450146" cy="792000"/>
              </a:xfrm>
              <a:prstGeom prst="rect">
                <a:avLst/>
              </a:prstGeom>
              <a:blipFill>
                <a:blip r:embed="rId3"/>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9695E86-6BAE-9506-9A5A-963468A51754}"/>
                  </a:ext>
                </a:extLst>
              </p:cNvPr>
              <p:cNvSpPr txBox="1"/>
              <p:nvPr/>
            </p:nvSpPr>
            <p:spPr>
              <a:xfrm>
                <a:off x="7350998" y="3337354"/>
                <a:ext cx="3356688" cy="738664"/>
              </a:xfrm>
              <a:prstGeom prst="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419" sz="2400" b="1" i="1" smtClean="0">
                          <a:solidFill>
                            <a:srgbClr val="FF0000"/>
                          </a:solidFill>
                          <a:latin typeface="Cambria Math" panose="02040503050406030204" pitchFamily="18" charset="0"/>
                        </a:rPr>
                        <m:t>𝑭𝒂𝒄𝒕𝒐𝒓</m:t>
                      </m:r>
                      <m:r>
                        <a:rPr lang="es-419" sz="2400" b="1" i="1" smtClean="0">
                          <a:solidFill>
                            <a:srgbClr val="FF0000"/>
                          </a:solidFill>
                          <a:latin typeface="Cambria Math" panose="02040503050406030204" pitchFamily="18" charset="0"/>
                        </a:rPr>
                        <m:t> </m:t>
                      </m:r>
                      <m:r>
                        <a:rPr lang="es-419" sz="2400" b="1" i="1" smtClean="0">
                          <a:solidFill>
                            <a:srgbClr val="FF0000"/>
                          </a:solidFill>
                          <a:latin typeface="Cambria Math" panose="02040503050406030204" pitchFamily="18" charset="0"/>
                        </a:rPr>
                        <m:t>𝑰𝒏𝒇𝒍𝒂𝒄𝒊𝒐𝒏𝒂𝒓𝒊𝒐</m:t>
                      </m:r>
                    </m:oMath>
                  </m:oMathPara>
                </a14:m>
                <a:endParaRPr lang="es-CO" sz="2400" b="1" dirty="0">
                  <a:solidFill>
                    <a:srgbClr val="0070C0"/>
                  </a:solidFill>
                  <a:latin typeface="Century Gothic" panose="020B0502020202020204" pitchFamily="34" charset="0"/>
                </a:endParaRPr>
              </a:p>
              <a:p>
                <a:pPr/>
                <a14:m>
                  <m:oMathPara xmlns:m="http://schemas.openxmlformats.org/officeDocument/2006/math">
                    <m:oMathParaPr>
                      <m:jc m:val="centerGroup"/>
                    </m:oMathParaPr>
                    <m:oMath xmlns:m="http://schemas.openxmlformats.org/officeDocument/2006/math">
                      <m:r>
                        <a:rPr lang="es-419" sz="2400" b="0" i="1" smtClean="0">
                          <a:latin typeface="Cambria Math" panose="02040503050406030204" pitchFamily="18" charset="0"/>
                        </a:rPr>
                        <m:t>𝐹</m:t>
                      </m:r>
                      <m:sSub>
                        <m:sSubPr>
                          <m:ctrlPr>
                            <a:rPr lang="es-419" sz="2400" b="0" i="1" smtClean="0">
                              <a:latin typeface="Cambria Math" panose="02040503050406030204" pitchFamily="18" charset="0"/>
                            </a:rPr>
                          </m:ctrlPr>
                        </m:sSubPr>
                        <m:e>
                          <m:r>
                            <a:rPr lang="es-419" sz="2400" b="0" i="1" smtClean="0">
                              <a:latin typeface="Cambria Math" panose="02040503050406030204" pitchFamily="18" charset="0"/>
                            </a:rPr>
                            <m:t>𝐼</m:t>
                          </m:r>
                        </m:e>
                        <m:sub>
                          <m:r>
                            <a:rPr lang="es-419" sz="2400" b="0" i="1" smtClean="0">
                              <a:latin typeface="Cambria Math" panose="02040503050406030204" pitchFamily="18" charset="0"/>
                            </a:rPr>
                            <m:t>𝑡</m:t>
                          </m:r>
                        </m:sub>
                      </m:sSub>
                      <m:r>
                        <a:rPr lang="es-419" sz="2400" b="0" i="1" smtClean="0">
                          <a:latin typeface="Cambria Math" panose="02040503050406030204" pitchFamily="18" charset="0"/>
                        </a:rPr>
                        <m:t>=</m:t>
                      </m:r>
                      <m:r>
                        <a:rPr lang="es-419" sz="2400" b="0" i="1" smtClean="0">
                          <a:latin typeface="Cambria Math" panose="02040503050406030204" pitchFamily="18" charset="0"/>
                        </a:rPr>
                        <m:t>𝐹</m:t>
                      </m:r>
                      <m:sSub>
                        <m:sSubPr>
                          <m:ctrlPr>
                            <a:rPr lang="es-419" sz="2400" b="0" i="1" smtClean="0">
                              <a:latin typeface="Cambria Math" panose="02040503050406030204" pitchFamily="18" charset="0"/>
                            </a:rPr>
                          </m:ctrlPr>
                        </m:sSubPr>
                        <m:e>
                          <m:r>
                            <a:rPr lang="es-419" sz="2400" b="0" i="1" smtClean="0">
                              <a:latin typeface="Cambria Math" panose="02040503050406030204" pitchFamily="18" charset="0"/>
                            </a:rPr>
                            <m:t>𝐼</m:t>
                          </m:r>
                        </m:e>
                        <m:sub>
                          <m:r>
                            <a:rPr lang="es-419" sz="2400" b="0" i="1" smtClean="0">
                              <a:latin typeface="Cambria Math" panose="02040503050406030204" pitchFamily="18" charset="0"/>
                            </a:rPr>
                            <m:t>𝑡</m:t>
                          </m:r>
                          <m:r>
                            <a:rPr lang="es-419" sz="2400" b="0" i="1" smtClean="0">
                              <a:latin typeface="Cambria Math" panose="02040503050406030204" pitchFamily="18" charset="0"/>
                            </a:rPr>
                            <m:t>−1</m:t>
                          </m:r>
                        </m:sub>
                      </m:sSub>
                      <m:r>
                        <a:rPr lang="es-419" sz="2400" b="0" i="1" smtClean="0">
                          <a:latin typeface="Cambria Math" panose="02040503050406030204" pitchFamily="18" charset="0"/>
                          <a:ea typeface="Cambria Math" panose="02040503050406030204" pitchFamily="18" charset="0"/>
                        </a:rPr>
                        <m:t>∙(1+</m:t>
                      </m:r>
                      <m:sSub>
                        <m:sSubPr>
                          <m:ctrlPr>
                            <a:rPr lang="es-419" sz="2400" b="0" i="1" smtClean="0">
                              <a:latin typeface="Cambria Math" panose="02040503050406030204" pitchFamily="18" charset="0"/>
                              <a:ea typeface="Cambria Math" panose="02040503050406030204" pitchFamily="18" charset="0"/>
                            </a:rPr>
                          </m:ctrlPr>
                        </m:sSubPr>
                        <m:e>
                          <m:r>
                            <a:rPr lang="es-419" sz="2400" b="0" i="1" smtClean="0">
                              <a:latin typeface="Cambria Math" panose="02040503050406030204" pitchFamily="18" charset="0"/>
                              <a:ea typeface="Cambria Math" panose="02040503050406030204" pitchFamily="18" charset="0"/>
                            </a:rPr>
                            <m:t>𝜋</m:t>
                          </m:r>
                        </m:e>
                        <m:sub>
                          <m:r>
                            <a:rPr lang="es-419" sz="2400" b="0" i="1" smtClean="0">
                              <a:latin typeface="Cambria Math" panose="02040503050406030204" pitchFamily="18" charset="0"/>
                              <a:ea typeface="Cambria Math" panose="02040503050406030204" pitchFamily="18" charset="0"/>
                            </a:rPr>
                            <m:t>𝑡</m:t>
                          </m:r>
                        </m:sub>
                      </m:sSub>
                      <m:r>
                        <a:rPr lang="es-419" sz="2400" b="0" i="1" smtClean="0">
                          <a:latin typeface="Cambria Math" panose="02040503050406030204" pitchFamily="18" charset="0"/>
                          <a:ea typeface="Cambria Math" panose="02040503050406030204" pitchFamily="18" charset="0"/>
                        </a:rPr>
                        <m:t>)</m:t>
                      </m:r>
                    </m:oMath>
                  </m:oMathPara>
                </a14:m>
                <a:endParaRPr lang="es-419" sz="2400" b="0" dirty="0">
                  <a:latin typeface="Century Gothic" panose="020B0502020202020204" pitchFamily="34" charset="0"/>
                </a:endParaRPr>
              </a:p>
            </p:txBody>
          </p:sp>
        </mc:Choice>
        <mc:Fallback xmlns="">
          <p:sp>
            <p:nvSpPr>
              <p:cNvPr id="10" name="CuadroTexto 9">
                <a:extLst>
                  <a:ext uri="{FF2B5EF4-FFF2-40B4-BE49-F238E27FC236}">
                    <a16:creationId xmlns:a16="http://schemas.microsoft.com/office/drawing/2014/main" id="{905A3F0E-ACFE-AB14-BF30-697F53A7DD40}"/>
                  </a:ext>
                </a:extLst>
              </p:cNvPr>
              <p:cNvSpPr txBox="1">
                <a:spLocks noRot="1" noChangeAspect="1" noMove="1" noResize="1" noEditPoints="1" noAdjustHandles="1" noChangeArrowheads="1" noChangeShapeType="1" noTextEdit="1"/>
              </p:cNvSpPr>
              <p:nvPr/>
            </p:nvSpPr>
            <p:spPr>
              <a:xfrm>
                <a:off x="7350998" y="3337354"/>
                <a:ext cx="3356688" cy="738664"/>
              </a:xfrm>
              <a:prstGeom prst="rect">
                <a:avLst/>
              </a:prstGeom>
              <a:blipFill>
                <a:blip r:embed="rId4"/>
                <a:stretch>
                  <a:fillRect r="-1081" b="-15873"/>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DA2D2973-CD86-9F2C-D991-7EA48FCF9C3C}"/>
                  </a:ext>
                </a:extLst>
              </p:cNvPr>
              <p:cNvSpPr txBox="1"/>
              <p:nvPr/>
            </p:nvSpPr>
            <p:spPr>
              <a:xfrm>
                <a:off x="581192" y="4382570"/>
                <a:ext cx="9838466" cy="1267014"/>
              </a:xfrm>
              <a:prstGeom prst="rect">
                <a:avLst/>
              </a:prstGeom>
              <a:noFill/>
            </p:spPr>
            <p:txBody>
              <a:bodyPr wrap="square">
                <a:spAutoFit/>
              </a:bodyPr>
              <a:lstStyle/>
              <a:p>
                <a:pPr defTabSz="342900">
                  <a:spcBef>
                    <a:spcPct val="20000"/>
                  </a:spcBef>
                  <a:spcAft>
                    <a:spcPts val="450"/>
                  </a:spcAft>
                  <a:buClr>
                    <a:schemeClr val="accent2"/>
                  </a:buClr>
                  <a:buSzPct val="92000"/>
                </a:pPr>
                <a:r>
                  <a:rPr lang="es-CO" sz="2000" dirty="0">
                    <a:solidFill>
                      <a:schemeClr val="tx2"/>
                    </a:solidFill>
                    <a:latin typeface="Century Gothic" panose="020B0502020202020204" pitchFamily="34" charset="0"/>
                  </a:rPr>
                  <a:t>Donde: </a:t>
                </a:r>
              </a:p>
              <a:p>
                <a:pPr marL="229500" indent="-229500" defTabSz="342900">
                  <a:spcBef>
                    <a:spcPct val="20000"/>
                  </a:spcBef>
                  <a:spcAft>
                    <a:spcPts val="450"/>
                  </a:spcAft>
                  <a:buClr>
                    <a:schemeClr val="accent2"/>
                  </a:buClr>
                  <a:buSzPct val="92000"/>
                  <a:buFont typeface="Wingdings 2" panose="05020102010507070707" pitchFamily="18" charset="2"/>
                  <a:buChar char=""/>
                </a:pPr>
                <a14:m>
                  <m:oMath xmlns:m="http://schemas.openxmlformats.org/officeDocument/2006/math">
                    <m:sSub>
                      <m:sSubPr>
                        <m:ctrlPr>
                          <a:rPr lang="es-419" sz="2000" i="1">
                            <a:latin typeface="Cambria Math" panose="02040503050406030204" pitchFamily="18" charset="0"/>
                            <a:ea typeface="Cambria Math" panose="02040503050406030204" pitchFamily="18" charset="0"/>
                          </a:rPr>
                        </m:ctrlPr>
                      </m:sSubPr>
                      <m:e>
                        <m:r>
                          <a:rPr lang="es-419" sz="2000" i="1">
                            <a:latin typeface="Cambria Math" panose="02040503050406030204" pitchFamily="18" charset="0"/>
                            <a:ea typeface="Cambria Math" panose="02040503050406030204" pitchFamily="18" charset="0"/>
                          </a:rPr>
                          <m:t>𝜋</m:t>
                        </m:r>
                      </m:e>
                      <m:sub>
                        <m:r>
                          <a:rPr lang="es-419" sz="2000" i="1">
                            <a:latin typeface="Cambria Math" panose="02040503050406030204" pitchFamily="18" charset="0"/>
                            <a:ea typeface="Cambria Math" panose="02040503050406030204" pitchFamily="18" charset="0"/>
                          </a:rPr>
                          <m:t>𝑡</m:t>
                        </m:r>
                      </m:sub>
                    </m:sSub>
                  </m:oMath>
                </a14:m>
                <a:r>
                  <a:rPr lang="es-CO" sz="2000" dirty="0">
                    <a:solidFill>
                      <a:schemeClr val="tx2"/>
                    </a:solidFill>
                    <a:latin typeface="Century Gothic" panose="020B0502020202020204" pitchFamily="34" charset="0"/>
                  </a:rPr>
                  <a:t> es la inflación del periodo </a:t>
                </a:r>
                <a:r>
                  <a:rPr lang="es-CO" sz="2000" i="1" dirty="0">
                    <a:solidFill>
                      <a:schemeClr val="tx2"/>
                    </a:solidFill>
                    <a:latin typeface="Century Gothic" panose="020B0502020202020204" pitchFamily="34" charset="0"/>
                  </a:rPr>
                  <a:t>t</a:t>
                </a:r>
                <a:r>
                  <a:rPr lang="es-CO" sz="2000" dirty="0">
                    <a:solidFill>
                      <a:schemeClr val="tx2"/>
                    </a:solidFill>
                    <a:latin typeface="Century Gothic" panose="020B0502020202020204" pitchFamily="34" charset="0"/>
                  </a:rPr>
                  <a:t>.</a:t>
                </a:r>
              </a:p>
              <a:p>
                <a:pPr marL="229500" indent="-229500" defTabSz="342900">
                  <a:spcBef>
                    <a:spcPct val="20000"/>
                  </a:spcBef>
                  <a:spcAft>
                    <a:spcPts val="450"/>
                  </a:spcAft>
                  <a:buClr>
                    <a:schemeClr val="accent2"/>
                  </a:buClr>
                  <a:buSzPct val="92000"/>
                  <a:buFont typeface="Wingdings 2" panose="05020102010507070707" pitchFamily="18" charset="2"/>
                  <a:buChar char=""/>
                </a:pPr>
                <a:r>
                  <a:rPr lang="es-CO" sz="2000" dirty="0">
                    <a:solidFill>
                      <a:schemeClr val="tx2"/>
                    </a:solidFill>
                    <a:latin typeface="Century Gothic" panose="020B0502020202020204" pitchFamily="34" charset="0"/>
                  </a:rPr>
                  <a:t>Factor Inflacionario en el periodo de referencia es uno.</a:t>
                </a:r>
              </a:p>
            </p:txBody>
          </p:sp>
        </mc:Choice>
        <mc:Fallback xmlns="">
          <p:sp>
            <p:nvSpPr>
              <p:cNvPr id="11" name="CuadroTexto 10">
                <a:extLst>
                  <a:ext uri="{FF2B5EF4-FFF2-40B4-BE49-F238E27FC236}">
                    <a16:creationId xmlns:a16="http://schemas.microsoft.com/office/drawing/2014/main" id="{DF222C40-7A0E-94B8-33D7-A6FCE2F181B9}"/>
                  </a:ext>
                </a:extLst>
              </p:cNvPr>
              <p:cNvSpPr txBox="1">
                <a:spLocks noRot="1" noChangeAspect="1" noMove="1" noResize="1" noEditPoints="1" noAdjustHandles="1" noChangeArrowheads="1" noChangeShapeType="1" noTextEdit="1"/>
              </p:cNvSpPr>
              <p:nvPr/>
            </p:nvSpPr>
            <p:spPr>
              <a:xfrm>
                <a:off x="581192" y="4382570"/>
                <a:ext cx="9838466" cy="1267014"/>
              </a:xfrm>
              <a:prstGeom prst="rect">
                <a:avLst/>
              </a:prstGeom>
              <a:blipFill>
                <a:blip r:embed="rId5"/>
                <a:stretch>
                  <a:fillRect l="-620" t="-2885" b="-7692"/>
                </a:stretch>
              </a:blipFill>
            </p:spPr>
            <p:txBody>
              <a:bodyPr/>
              <a:lstStyle/>
              <a:p>
                <a:r>
                  <a:rPr lang="en-US">
                    <a:noFill/>
                  </a:rPr>
                  <a:t> </a:t>
                </a:r>
              </a:p>
            </p:txBody>
          </p:sp>
        </mc:Fallback>
      </mc:AlternateContent>
    </p:spTree>
    <p:extLst>
      <p:ext uri="{BB962C8B-B14F-4D97-AF65-F5344CB8AC3E}">
        <p14:creationId xmlns:p14="http://schemas.microsoft.com/office/powerpoint/2010/main" val="3511420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35D90-918B-62C7-E99D-85EEE5A03D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9D6F67-E316-45FF-C304-6C65753474BB}"/>
              </a:ext>
            </a:extLst>
          </p:cNvPr>
          <p:cNvSpPr>
            <a:spLocks noGrp="1"/>
          </p:cNvSpPr>
          <p:nvPr>
            <p:ph type="title"/>
          </p:nvPr>
        </p:nvSpPr>
        <p:spPr/>
        <p:txBody>
          <a:bodyPr>
            <a:normAutofit/>
          </a:bodyPr>
          <a:lstStyle/>
          <a:p>
            <a:r>
              <a:rPr lang="es-ES" sz="3200" dirty="0">
                <a:latin typeface="Century Gothic" panose="020B0502020202020204" pitchFamily="34" charset="0"/>
              </a:rPr>
              <a:t>Precios corrientes</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26047EE9-BC38-0DB8-0E7A-3F730A0DD124}"/>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22</a:t>
            </a:fld>
            <a:endParaRPr lang="en-US" sz="1800" dirty="0"/>
          </a:p>
        </p:txBody>
      </p:sp>
      <p:sp>
        <p:nvSpPr>
          <p:cNvPr id="5" name="Rectángulo 4">
            <a:extLst>
              <a:ext uri="{FF2B5EF4-FFF2-40B4-BE49-F238E27FC236}">
                <a16:creationId xmlns:a16="http://schemas.microsoft.com/office/drawing/2014/main" id="{53D5D33C-F11F-61CE-44D7-67ED28ED8AF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6230CA03-21EC-3177-8CBA-8AFCC4F992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8E0D8654-8F66-A5EA-1BC0-D232504B078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11" name="Table 24">
            <a:extLst>
              <a:ext uri="{FF2B5EF4-FFF2-40B4-BE49-F238E27FC236}">
                <a16:creationId xmlns:a16="http://schemas.microsoft.com/office/drawing/2014/main" id="{BBD78769-4679-7793-FE1B-B6F32924A414}"/>
              </a:ext>
            </a:extLst>
          </p:cNvPr>
          <p:cNvGraphicFramePr>
            <a:graphicFrameLocks noGrp="1"/>
          </p:cNvGraphicFramePr>
          <p:nvPr/>
        </p:nvGraphicFramePr>
        <p:xfrm>
          <a:off x="581191" y="2219278"/>
          <a:ext cx="11029618" cy="3672840"/>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281425">
                <a:tc>
                  <a:txBody>
                    <a:bodyPr/>
                    <a:lstStyle/>
                    <a:p>
                      <a:pPr algn="ctr"/>
                      <a:r>
                        <a:rPr lang="es-ES_tradnl" sz="13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3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3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3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3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3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3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281425">
                <a:tc>
                  <a:txBody>
                    <a:bodyPr/>
                    <a:lstStyle/>
                    <a:p>
                      <a:pPr algn="l"/>
                      <a:r>
                        <a:rPr lang="es-ES_tradnl" sz="13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$10.600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$11.236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$11.910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$12.625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$13.382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81425">
                <a:tc>
                  <a:txBody>
                    <a:bodyPr/>
                    <a:lstStyle/>
                    <a:p>
                      <a:pPr algn="l"/>
                      <a:r>
                        <a:rPr lang="es-ES_tradnl" sz="13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81425">
                <a:tc>
                  <a:txBody>
                    <a:bodyPr/>
                    <a:lstStyle/>
                    <a:p>
                      <a:pPr algn="l"/>
                      <a:r>
                        <a:rPr lang="es-ES_tradnl" sz="13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$10.600.00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$11.236.000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$11.910.160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$12.624.770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300" noProof="0" dirty="0">
                          <a:solidFill>
                            <a:schemeClr val="accent1"/>
                          </a:solidFill>
                          <a:latin typeface="Century Gothic" panose="020B0502020202020204" pitchFamily="34" charset="0"/>
                        </a:rPr>
                        <a:t>$13.382.256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281425">
                <a:tc>
                  <a:txBody>
                    <a:bodyPr/>
                    <a:lstStyle/>
                    <a:p>
                      <a:pPr algn="l"/>
                      <a:r>
                        <a:rPr lang="es-ES_tradnl" sz="13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$2.650.000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$2.809.000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$2.977.540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$3.156.192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$3.345.564</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81425">
                <a:tc>
                  <a:txBody>
                    <a:bodyPr/>
                    <a:lstStyle/>
                    <a:p>
                      <a:pPr algn="l"/>
                      <a:r>
                        <a:rPr lang="es-ES_tradnl" sz="13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$7.950.000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$8.427.000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$8.932.620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$9.468.577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$10.036.692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281425">
                <a:tc>
                  <a:txBody>
                    <a:bodyPr/>
                    <a:lstStyle/>
                    <a:p>
                      <a:pPr algn="l"/>
                      <a:r>
                        <a:rPr lang="es-ES_tradnl" sz="13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281425">
                <a:tc>
                  <a:txBody>
                    <a:bodyPr/>
                    <a:lstStyle/>
                    <a:p>
                      <a:pPr algn="l"/>
                      <a:r>
                        <a:rPr lang="es-ES_tradnl" sz="13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$3.950.000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$4.427.000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$4.932.620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$5.468.577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$6.036.692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281425">
                <a:tc>
                  <a:txBody>
                    <a:bodyPr/>
                    <a:lstStyle/>
                    <a:p>
                      <a:pPr algn="l"/>
                      <a:r>
                        <a:rPr lang="es-ES_tradnl" sz="13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3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281425">
                <a:tc>
                  <a:txBody>
                    <a:bodyPr/>
                    <a:lstStyle/>
                    <a:p>
                      <a:pPr algn="l"/>
                      <a:r>
                        <a:rPr lang="es-ES_tradnl" sz="13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_tradnl" sz="1300" noProof="0" dirty="0">
                          <a:solidFill>
                            <a:schemeClr val="accent1"/>
                          </a:solidFill>
                          <a:latin typeface="Century Gothic" panose="020B0502020202020204" pitchFamily="34" charset="0"/>
                        </a:rPr>
                        <a:t>$20.000.000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463863">
                <a:tc>
                  <a:txBody>
                    <a:bodyPr/>
                    <a:lstStyle/>
                    <a:p>
                      <a:pPr algn="l"/>
                      <a:r>
                        <a:rPr lang="es-ES_tradnl" sz="13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$1.303.500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$1.460.910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$1.627.765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$1.804.630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$1.992.108</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281425">
                <a:tc>
                  <a:txBody>
                    <a:bodyPr/>
                    <a:lstStyle/>
                    <a:p>
                      <a:pPr algn="l"/>
                      <a:r>
                        <a:rPr lang="es-ES_tradnl" sz="1300" noProof="0" dirty="0" err="1">
                          <a:solidFill>
                            <a:schemeClr val="accent1"/>
                          </a:solidFill>
                          <a:latin typeface="Century Gothic" panose="020B0502020202020204" pitchFamily="34" charset="0"/>
                        </a:rPr>
                        <a:t>FCL</a:t>
                      </a: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-$20.000.000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$6.646.500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$6.966.090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$7.304.855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$7.663.947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300" noProof="0" dirty="0">
                          <a:solidFill>
                            <a:schemeClr val="accent1"/>
                          </a:solidFill>
                          <a:latin typeface="Century Gothic" panose="020B0502020202020204" pitchFamily="34" charset="0"/>
                        </a:rPr>
                        <a:t>$8.044.584</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p:graphicFrame>
        <p:nvGraphicFramePr>
          <p:cNvPr id="15" name="Tabla 14">
            <a:extLst>
              <a:ext uri="{FF2B5EF4-FFF2-40B4-BE49-F238E27FC236}">
                <a16:creationId xmlns:a16="http://schemas.microsoft.com/office/drawing/2014/main" id="{3362E1EA-9448-FE20-F98D-0FB4B4048BD9}"/>
              </a:ext>
            </a:extLst>
          </p:cNvPr>
          <p:cNvGraphicFramePr>
            <a:graphicFrameLocks noGrp="1"/>
          </p:cNvGraphicFramePr>
          <p:nvPr/>
        </p:nvGraphicFramePr>
        <p:xfrm>
          <a:off x="581188" y="5892118"/>
          <a:ext cx="3468993" cy="601220"/>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179332490"/>
                    </a:ext>
                  </a:extLst>
                </a:gridCol>
                <a:gridCol w="1512125">
                  <a:extLst>
                    <a:ext uri="{9D8B030D-6E8A-4147-A177-3AD203B41FA5}">
                      <a16:colId xmlns:a16="http://schemas.microsoft.com/office/drawing/2014/main" val="3892199838"/>
                    </a:ext>
                  </a:extLst>
                </a:gridCol>
              </a:tblGrid>
              <a:tr h="311660">
                <a:tc>
                  <a:txBody>
                    <a:bodyPr/>
                    <a:lstStyle/>
                    <a:p>
                      <a:pPr algn="l"/>
                      <a:r>
                        <a:rPr lang="es-ES_tradnl" sz="1300" noProof="0" dirty="0">
                          <a:solidFill>
                            <a:schemeClr val="accent1"/>
                          </a:solidFill>
                          <a:latin typeface="Century Gothic" panose="020B0502020202020204" pitchFamily="34" charset="0"/>
                        </a:rPr>
                        <a:t>TIR</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23,32%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2706829573"/>
                  </a:ext>
                </a:extLst>
              </a:tr>
              <a:tr h="0">
                <a:tc>
                  <a:txBody>
                    <a:bodyPr/>
                    <a:lstStyle/>
                    <a:p>
                      <a:pPr algn="l"/>
                      <a:r>
                        <a:rPr lang="es-ES_tradnl" sz="1300" noProof="0" dirty="0">
                          <a:solidFill>
                            <a:schemeClr val="accent1"/>
                          </a:solidFill>
                          <a:latin typeface="Century Gothic" panose="020B0502020202020204" pitchFamily="34" charset="0"/>
                        </a:rPr>
                        <a:t>VPN Corriente/</a:t>
                      </a:r>
                      <a:r>
                        <a:rPr lang="es-ES_tradnl" sz="1300" noProof="0" dirty="0" err="1">
                          <a:solidFill>
                            <a:schemeClr val="accent1"/>
                          </a:solidFill>
                          <a:latin typeface="Century Gothic" panose="020B0502020202020204" pitchFamily="34" charset="0"/>
                        </a:rPr>
                        <a:t>Nom</a:t>
                      </a: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$4.231.457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630373977"/>
                  </a:ext>
                </a:extLst>
              </a:tr>
            </a:tbl>
          </a:graphicData>
        </a:graphic>
      </p:graphicFrame>
      <p:sp>
        <p:nvSpPr>
          <p:cNvPr id="16" name="CuadroTexto 15">
            <a:extLst>
              <a:ext uri="{FF2B5EF4-FFF2-40B4-BE49-F238E27FC236}">
                <a16:creationId xmlns:a16="http://schemas.microsoft.com/office/drawing/2014/main" id="{9C959051-349F-D1BA-60EE-FF30DC300A87}"/>
              </a:ext>
            </a:extLst>
          </p:cNvPr>
          <p:cNvSpPr txBox="1"/>
          <p:nvPr/>
        </p:nvSpPr>
        <p:spPr>
          <a:xfrm>
            <a:off x="4592376" y="6122879"/>
            <a:ext cx="1656024" cy="307777"/>
          </a:xfrm>
          <a:prstGeom prst="rect">
            <a:avLst/>
          </a:prstGeom>
          <a:noFill/>
        </p:spPr>
        <p:txBody>
          <a:bodyPr wrap="square" rtlCol="0">
            <a:spAutoFit/>
          </a:bodyPr>
          <a:lstStyle/>
          <a:p>
            <a:pPr algn="ctr"/>
            <a:r>
              <a:rPr lang="en-US" sz="1400" b="1" dirty="0">
                <a:latin typeface="Century Gothic" panose="020B0502020202020204" pitchFamily="34" charset="0"/>
              </a:rPr>
              <a:t>WACC 15%</a:t>
            </a:r>
          </a:p>
        </p:txBody>
      </p:sp>
      <p:sp>
        <p:nvSpPr>
          <p:cNvPr id="7" name="CuadroTexto 6">
            <a:extLst>
              <a:ext uri="{FF2B5EF4-FFF2-40B4-BE49-F238E27FC236}">
                <a16:creationId xmlns:a16="http://schemas.microsoft.com/office/drawing/2014/main" id="{01C3E03B-1FAA-631C-E07D-5A1234F1BF40}"/>
              </a:ext>
            </a:extLst>
          </p:cNvPr>
          <p:cNvSpPr txBox="1"/>
          <p:nvPr/>
        </p:nvSpPr>
        <p:spPr>
          <a:xfrm>
            <a:off x="581188" y="1831900"/>
            <a:ext cx="6096000" cy="369332"/>
          </a:xfrm>
          <a:prstGeom prst="rect">
            <a:avLst/>
          </a:prstGeom>
          <a:noFill/>
        </p:spPr>
        <p:txBody>
          <a:bodyPr wrap="square">
            <a:spAutoFit/>
          </a:bodyPr>
          <a:lstStyle/>
          <a:p>
            <a:r>
              <a:rPr lang="es-CO" dirty="0">
                <a:solidFill>
                  <a:schemeClr val="accent1"/>
                </a:solidFill>
                <a:latin typeface="Century Gothic" panose="020B0502020202020204" pitchFamily="34" charset="0"/>
              </a:rPr>
              <a:t>FCL nominal o corriente ya construido</a:t>
            </a:r>
            <a:endParaRPr lang="en-US" dirty="0">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5C55F23D-710F-F08F-AC82-00AA4C5F8B7E}"/>
                  </a:ext>
                </a:extLst>
              </p:cNvPr>
              <p:cNvSpPr txBox="1"/>
              <p:nvPr/>
            </p:nvSpPr>
            <p:spPr>
              <a:xfrm>
                <a:off x="6947731" y="6030545"/>
                <a:ext cx="2046393" cy="492443"/>
              </a:xfrm>
              <a:prstGeom prst="rect">
                <a:avLst/>
              </a:prstGeom>
              <a:solidFill>
                <a:schemeClr val="accent2">
                  <a:lumMod val="20000"/>
                  <a:lumOff val="80000"/>
                </a:scheme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419" sz="1600" b="0" i="1" smtClean="0">
                          <a:latin typeface="Cambria Math" panose="02040503050406030204" pitchFamily="18" charset="0"/>
                        </a:rPr>
                        <m:t>𝐹𝑎𝑐𝑡𝑜𝑟</m:t>
                      </m:r>
                      <m:r>
                        <a:rPr lang="es-419" sz="1600" b="0" i="1" smtClean="0">
                          <a:latin typeface="Cambria Math" panose="02040503050406030204" pitchFamily="18" charset="0"/>
                        </a:rPr>
                        <m:t> </m:t>
                      </m:r>
                      <m:r>
                        <a:rPr lang="es-419" sz="1600" b="0" i="1" smtClean="0">
                          <a:latin typeface="Cambria Math" panose="02040503050406030204" pitchFamily="18" charset="0"/>
                        </a:rPr>
                        <m:t>𝐼𝑛𝑓𝑙𝑎𝑐𝑖𝑜𝑛𝑎𝑟𝑖𝑜</m:t>
                      </m:r>
                      <m:r>
                        <a:rPr lang="es-419" sz="1600" b="0" i="1" smtClean="0">
                          <a:latin typeface="Cambria Math" panose="02040503050406030204" pitchFamily="18" charset="0"/>
                        </a:rPr>
                        <m:t>:</m:t>
                      </m:r>
                    </m:oMath>
                  </m:oMathPara>
                </a14:m>
                <a:endParaRPr lang="es-CO" sz="1600" b="0" dirty="0"/>
              </a:p>
              <a:p>
                <a:pPr/>
                <a14:m>
                  <m:oMathPara xmlns:m="http://schemas.openxmlformats.org/officeDocument/2006/math">
                    <m:oMathParaPr>
                      <m:jc m:val="centerGroup"/>
                    </m:oMathParaPr>
                    <m:oMath xmlns:m="http://schemas.openxmlformats.org/officeDocument/2006/math">
                      <m:r>
                        <a:rPr lang="es-419" sz="1600" b="0" i="1" smtClean="0">
                          <a:latin typeface="Cambria Math" panose="02040503050406030204" pitchFamily="18" charset="0"/>
                        </a:rPr>
                        <m:t>𝐹</m:t>
                      </m:r>
                      <m:sSub>
                        <m:sSubPr>
                          <m:ctrlPr>
                            <a:rPr lang="es-419" sz="1600" b="0" i="1" smtClean="0">
                              <a:latin typeface="Cambria Math" panose="02040503050406030204" pitchFamily="18" charset="0"/>
                            </a:rPr>
                          </m:ctrlPr>
                        </m:sSubPr>
                        <m:e>
                          <m:r>
                            <a:rPr lang="es-419" sz="1600" b="0" i="1" smtClean="0">
                              <a:latin typeface="Cambria Math" panose="02040503050406030204" pitchFamily="18" charset="0"/>
                            </a:rPr>
                            <m:t>𝐼</m:t>
                          </m:r>
                        </m:e>
                        <m:sub>
                          <m:r>
                            <a:rPr lang="es-419" sz="1600" b="0" i="1" smtClean="0">
                              <a:latin typeface="Cambria Math" panose="02040503050406030204" pitchFamily="18" charset="0"/>
                            </a:rPr>
                            <m:t>𝑡</m:t>
                          </m:r>
                        </m:sub>
                      </m:sSub>
                      <m:r>
                        <a:rPr lang="es-419" sz="1600" b="0" i="1" smtClean="0">
                          <a:latin typeface="Cambria Math" panose="02040503050406030204" pitchFamily="18" charset="0"/>
                        </a:rPr>
                        <m:t>=</m:t>
                      </m:r>
                      <m:r>
                        <a:rPr lang="es-419" sz="1600" b="0" i="1" smtClean="0">
                          <a:latin typeface="Cambria Math" panose="02040503050406030204" pitchFamily="18" charset="0"/>
                        </a:rPr>
                        <m:t>𝐹</m:t>
                      </m:r>
                      <m:sSub>
                        <m:sSubPr>
                          <m:ctrlPr>
                            <a:rPr lang="es-419" sz="1600" b="0" i="1" smtClean="0">
                              <a:latin typeface="Cambria Math" panose="02040503050406030204" pitchFamily="18" charset="0"/>
                            </a:rPr>
                          </m:ctrlPr>
                        </m:sSubPr>
                        <m:e>
                          <m:r>
                            <a:rPr lang="es-419" sz="1600" b="0" i="1" smtClean="0">
                              <a:latin typeface="Cambria Math" panose="02040503050406030204" pitchFamily="18" charset="0"/>
                            </a:rPr>
                            <m:t>𝐼</m:t>
                          </m:r>
                        </m:e>
                        <m:sub>
                          <m:r>
                            <a:rPr lang="es-419" sz="1600" b="0" i="1" smtClean="0">
                              <a:latin typeface="Cambria Math" panose="02040503050406030204" pitchFamily="18" charset="0"/>
                            </a:rPr>
                            <m:t>𝑡</m:t>
                          </m:r>
                          <m:r>
                            <a:rPr lang="es-419" sz="1600" b="0" i="1" smtClean="0">
                              <a:latin typeface="Cambria Math" panose="02040503050406030204" pitchFamily="18" charset="0"/>
                            </a:rPr>
                            <m:t>−1</m:t>
                          </m:r>
                        </m:sub>
                      </m:sSub>
                      <m:r>
                        <a:rPr lang="es-419" sz="1600" b="0" i="1" smtClean="0">
                          <a:latin typeface="Cambria Math" panose="02040503050406030204" pitchFamily="18" charset="0"/>
                          <a:ea typeface="Cambria Math" panose="02040503050406030204" pitchFamily="18" charset="0"/>
                        </a:rPr>
                        <m:t>∙(1+</m:t>
                      </m:r>
                      <m:sSub>
                        <m:sSubPr>
                          <m:ctrlPr>
                            <a:rPr lang="es-419" sz="1600" b="0" i="1" smtClean="0">
                              <a:latin typeface="Cambria Math" panose="02040503050406030204" pitchFamily="18" charset="0"/>
                              <a:ea typeface="Cambria Math" panose="02040503050406030204" pitchFamily="18" charset="0"/>
                            </a:rPr>
                          </m:ctrlPr>
                        </m:sSubPr>
                        <m:e>
                          <m:r>
                            <a:rPr lang="es-419" sz="1600" b="0" i="1" smtClean="0">
                              <a:latin typeface="Cambria Math" panose="02040503050406030204" pitchFamily="18" charset="0"/>
                              <a:ea typeface="Cambria Math" panose="02040503050406030204" pitchFamily="18" charset="0"/>
                            </a:rPr>
                            <m:t>𝜋</m:t>
                          </m:r>
                        </m:e>
                        <m:sub>
                          <m:r>
                            <a:rPr lang="es-419" sz="1600" b="0" i="1" smtClean="0">
                              <a:latin typeface="Cambria Math" panose="02040503050406030204" pitchFamily="18" charset="0"/>
                              <a:ea typeface="Cambria Math" panose="02040503050406030204" pitchFamily="18" charset="0"/>
                            </a:rPr>
                            <m:t>𝑡</m:t>
                          </m:r>
                        </m:sub>
                      </m:sSub>
                      <m:r>
                        <a:rPr lang="es-419" sz="1600" b="0" i="1" smtClean="0">
                          <a:latin typeface="Cambria Math" panose="02040503050406030204" pitchFamily="18" charset="0"/>
                          <a:ea typeface="Cambria Math" panose="02040503050406030204" pitchFamily="18" charset="0"/>
                        </a:rPr>
                        <m:t>)</m:t>
                      </m:r>
                    </m:oMath>
                  </m:oMathPara>
                </a14:m>
                <a:endParaRPr lang="es-419" sz="1600" b="0" dirty="0"/>
              </a:p>
            </p:txBody>
          </p:sp>
        </mc:Choice>
        <mc:Fallback xmlns="">
          <p:sp>
            <p:nvSpPr>
              <p:cNvPr id="9" name="CuadroTexto 8">
                <a:extLst>
                  <a:ext uri="{FF2B5EF4-FFF2-40B4-BE49-F238E27FC236}">
                    <a16:creationId xmlns:a16="http://schemas.microsoft.com/office/drawing/2014/main" id="{A3A1BCD0-23A1-4D64-139E-25DEDAA6D647}"/>
                  </a:ext>
                </a:extLst>
              </p:cNvPr>
              <p:cNvSpPr txBox="1">
                <a:spLocks noRot="1" noChangeAspect="1" noMove="1" noResize="1" noEditPoints="1" noAdjustHandles="1" noChangeArrowheads="1" noChangeShapeType="1" noTextEdit="1"/>
              </p:cNvSpPr>
              <p:nvPr/>
            </p:nvSpPr>
            <p:spPr>
              <a:xfrm>
                <a:off x="6947731" y="6030545"/>
                <a:ext cx="2046393" cy="492443"/>
              </a:xfrm>
              <a:prstGeom prst="rect">
                <a:avLst/>
              </a:prstGeom>
              <a:blipFill>
                <a:blip r:embed="rId3"/>
                <a:stretch>
                  <a:fillRect l="-1791" r="-896" b="-17284"/>
                </a:stretch>
              </a:blipFill>
            </p:spPr>
            <p:txBody>
              <a:bodyPr/>
              <a:lstStyle/>
              <a:p>
                <a:r>
                  <a:rPr lang="en-US">
                    <a:noFill/>
                  </a:rPr>
                  <a:t> </a:t>
                </a:r>
              </a:p>
            </p:txBody>
          </p:sp>
        </mc:Fallback>
      </mc:AlternateContent>
    </p:spTree>
    <p:extLst>
      <p:ext uri="{BB962C8B-B14F-4D97-AF65-F5344CB8AC3E}">
        <p14:creationId xmlns:p14="http://schemas.microsoft.com/office/powerpoint/2010/main" val="69914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05623-EE07-131B-1873-7BEE54AC1C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47EEE7-290E-384F-4ED9-959877613B4E}"/>
              </a:ext>
            </a:extLst>
          </p:cNvPr>
          <p:cNvSpPr>
            <a:spLocks noGrp="1"/>
          </p:cNvSpPr>
          <p:nvPr>
            <p:ph type="title"/>
          </p:nvPr>
        </p:nvSpPr>
        <p:spPr/>
        <p:txBody>
          <a:bodyPr>
            <a:normAutofit/>
          </a:bodyPr>
          <a:lstStyle/>
          <a:p>
            <a:r>
              <a:rPr lang="es-ES" sz="3200" dirty="0">
                <a:latin typeface="Century Gothic" panose="020B0502020202020204" pitchFamily="34" charset="0"/>
              </a:rPr>
              <a:t>Precios corrientes</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7AC74FAA-8ECB-0979-2E11-2E8B91306982}"/>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23</a:t>
            </a:fld>
            <a:endParaRPr lang="en-US" sz="1800" dirty="0"/>
          </a:p>
        </p:txBody>
      </p:sp>
      <p:sp>
        <p:nvSpPr>
          <p:cNvPr id="5" name="Rectángulo 4">
            <a:extLst>
              <a:ext uri="{FF2B5EF4-FFF2-40B4-BE49-F238E27FC236}">
                <a16:creationId xmlns:a16="http://schemas.microsoft.com/office/drawing/2014/main" id="{4A0B6FE6-029D-74EF-352A-017A0DCE396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E6A05A2E-A254-6F1C-E0B4-81B683ED7D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B0556FC9-EE8B-76C6-0BED-D9654F02C91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graphicFrame>
            <p:nvGraphicFramePr>
              <p:cNvPr id="11" name="Table 24">
                <a:extLst>
                  <a:ext uri="{FF2B5EF4-FFF2-40B4-BE49-F238E27FC236}">
                    <a16:creationId xmlns:a16="http://schemas.microsoft.com/office/drawing/2014/main" id="{26B61A97-0EC6-2B70-1535-4DBABF314D8B}"/>
                  </a:ext>
                </a:extLst>
              </p:cNvPr>
              <p:cNvGraphicFramePr>
                <a:graphicFrameLocks noGrp="1"/>
              </p:cNvGraphicFramePr>
              <p:nvPr/>
            </p:nvGraphicFramePr>
            <p:xfrm>
              <a:off x="581185" y="2325196"/>
              <a:ext cx="11029618" cy="1173283"/>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281425">
                    <a:tc>
                      <a:txBody>
                        <a:bodyPr/>
                        <a:lstStyle/>
                        <a:p>
                          <a:pPr algn="ctr"/>
                          <a:r>
                            <a:rPr lang="es-ES_tradnl" sz="13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3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3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3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3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3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3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281425">
                    <a:tc rowSpan="2">
                      <a:txBody>
                        <a:bodyPr/>
                        <a:lstStyle/>
                        <a:p>
                          <a:pPr algn="ctr"/>
                          <a:r>
                            <a:rPr lang="es-ES_tradnl" sz="1400" b="1" noProof="0" dirty="0">
                              <a:solidFill>
                                <a:schemeClr val="accent1"/>
                              </a:solidFill>
                              <a:latin typeface="Century Gothic" panose="020B0502020202020204" pitchFamily="34" charset="0"/>
                            </a:rPr>
                            <a:t>Factor inflacionario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400" b="1" noProof="0" dirty="0">
                              <a:solidFill>
                                <a:schemeClr val="accent1"/>
                              </a:solidFill>
                              <a:latin typeface="Century Gothic" panose="020B0502020202020204" pitchFamily="34" charset="0"/>
                            </a:rPr>
                            <a:t>1</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s-ES_tradnl" sz="1400" b="1" i="1" noProof="0" dirty="0" smtClean="0">
                                    <a:solidFill>
                                      <a:schemeClr val="accent1"/>
                                    </a:solidFill>
                                    <a:latin typeface="Cambria Math" panose="02040503050406030204" pitchFamily="18" charset="0"/>
                                  </a:rPr>
                                  <m:t>𝟏</m:t>
                                </m:r>
                                <m:r>
                                  <a:rPr lang="es-ES_tradnl" sz="1400" b="1" i="1" noProof="0" dirty="0" smtClean="0">
                                    <a:solidFill>
                                      <a:schemeClr val="accent1"/>
                                    </a:solidFill>
                                    <a:latin typeface="Cambria Math" panose="02040503050406030204" pitchFamily="18" charset="0"/>
                                    <a:ea typeface="Cambria Math" panose="02040503050406030204" pitchFamily="18" charset="0"/>
                                  </a:rPr>
                                  <m:t>×(</m:t>
                                </m:r>
                                <m:r>
                                  <a:rPr lang="es-ES_tradnl" sz="1400" b="1" i="1" noProof="0" dirty="0" smtClean="0">
                                    <a:solidFill>
                                      <a:schemeClr val="accent1"/>
                                    </a:solidFill>
                                    <a:latin typeface="Cambria Math" panose="02040503050406030204" pitchFamily="18" charset="0"/>
                                    <a:ea typeface="Cambria Math" panose="02040503050406030204" pitchFamily="18" charset="0"/>
                                  </a:rPr>
                                  <m:t>𝟏</m:t>
                                </m:r>
                                <m:r>
                                  <a:rPr lang="es-ES_tradnl" sz="1400" b="1" i="1" noProof="0" dirty="0" smtClean="0">
                                    <a:solidFill>
                                      <a:schemeClr val="accent1"/>
                                    </a:solidFill>
                                    <a:latin typeface="Cambria Math" panose="02040503050406030204" pitchFamily="18" charset="0"/>
                                    <a:ea typeface="Cambria Math" panose="02040503050406030204" pitchFamily="18" charset="0"/>
                                  </a:rPr>
                                  <m:t>+</m:t>
                                </m:r>
                                <m:r>
                                  <a:rPr lang="es-ES_tradnl" sz="1400" b="1" i="1" noProof="0" dirty="0" smtClean="0">
                                    <a:solidFill>
                                      <a:schemeClr val="accent1"/>
                                    </a:solidFill>
                                    <a:latin typeface="Cambria Math" panose="02040503050406030204" pitchFamily="18" charset="0"/>
                                    <a:ea typeface="Cambria Math" panose="02040503050406030204" pitchFamily="18" charset="0"/>
                                  </a:rPr>
                                  <m:t>𝟔</m:t>
                                </m:r>
                                <m:r>
                                  <a:rPr lang="es-ES_tradnl" sz="1400" b="1" i="1" noProof="0" dirty="0" smtClean="0">
                                    <a:solidFill>
                                      <a:schemeClr val="accent1"/>
                                    </a:solidFill>
                                    <a:latin typeface="Cambria Math" panose="02040503050406030204" pitchFamily="18" charset="0"/>
                                    <a:ea typeface="Cambria Math" panose="02040503050406030204" pitchFamily="18" charset="0"/>
                                  </a:rPr>
                                  <m:t>%)</m:t>
                                </m:r>
                              </m:oMath>
                            </m:oMathPara>
                          </a14:m>
                          <a:endParaRPr lang="es-ES_tradnl" sz="1400" b="1"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accent1"/>
                                        </a:solidFill>
                                        <a:latin typeface="Cambria Math" panose="02040503050406030204" pitchFamily="18" charset="0"/>
                                      </a:rPr>
                                    </m:ctrlPr>
                                  </m:sSupPr>
                                  <m:e>
                                    <m:r>
                                      <a:rPr lang="es-CO" sz="1400" b="1" i="1" noProof="0" dirty="0" smtClean="0">
                                        <a:solidFill>
                                          <a:schemeClr val="accent1"/>
                                        </a:solidFill>
                                        <a:latin typeface="Cambria Math" panose="02040503050406030204" pitchFamily="18" charset="0"/>
                                      </a:rPr>
                                      <m:t>(</m:t>
                                    </m:r>
                                    <m:r>
                                      <a:rPr lang="es-CO" sz="1400" b="1" i="1" noProof="0" dirty="0" smtClean="0">
                                        <a:solidFill>
                                          <a:schemeClr val="accent1"/>
                                        </a:solidFill>
                                        <a:latin typeface="Cambria Math" panose="02040503050406030204" pitchFamily="18" charset="0"/>
                                      </a:rPr>
                                      <m:t>𝟏</m:t>
                                    </m:r>
                                    <m:r>
                                      <a:rPr lang="es-CO" sz="1400" b="1" i="1" noProof="0" dirty="0" smtClean="0">
                                        <a:solidFill>
                                          <a:schemeClr val="accent1"/>
                                        </a:solidFill>
                                        <a:latin typeface="Cambria Math" panose="02040503050406030204" pitchFamily="18" charset="0"/>
                                      </a:rPr>
                                      <m:t>+</m:t>
                                    </m:r>
                                    <m:r>
                                      <a:rPr lang="es-CO" sz="1400" b="1" i="1" noProof="0" dirty="0" smtClean="0">
                                        <a:solidFill>
                                          <a:schemeClr val="accent1"/>
                                        </a:solidFill>
                                        <a:latin typeface="Cambria Math" panose="02040503050406030204" pitchFamily="18" charset="0"/>
                                      </a:rPr>
                                      <m:t>𝟔</m:t>
                                    </m:r>
                                    <m:r>
                                      <a:rPr lang="es-CO" sz="1400" b="1" i="1" noProof="0" dirty="0" smtClean="0">
                                        <a:solidFill>
                                          <a:schemeClr val="accent1"/>
                                        </a:solidFill>
                                        <a:latin typeface="Cambria Math" panose="02040503050406030204" pitchFamily="18" charset="0"/>
                                      </a:rPr>
                                      <m:t>%)</m:t>
                                    </m:r>
                                  </m:e>
                                  <m:sup>
                                    <m:r>
                                      <a:rPr lang="es-CO" sz="1400" b="1" i="1" noProof="0" dirty="0" smtClean="0">
                                        <a:solidFill>
                                          <a:schemeClr val="accent1"/>
                                        </a:solidFill>
                                        <a:latin typeface="Cambria Math" panose="02040503050406030204" pitchFamily="18" charset="0"/>
                                      </a:rPr>
                                      <m:t>𝟐</m:t>
                                    </m:r>
                                  </m:sup>
                                </m:sSup>
                              </m:oMath>
                            </m:oMathPara>
                          </a14:m>
                          <a:endParaRPr lang="es-CO" sz="1400" b="1"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accent1"/>
                                        </a:solidFill>
                                        <a:latin typeface="Cambria Math" panose="02040503050406030204" pitchFamily="18" charset="0"/>
                                      </a:rPr>
                                    </m:ctrlPr>
                                  </m:sSupPr>
                                  <m:e>
                                    <m:r>
                                      <a:rPr lang="es-CO" sz="1400" b="1" i="1" noProof="0" dirty="0" smtClean="0">
                                        <a:solidFill>
                                          <a:schemeClr val="accent1"/>
                                        </a:solidFill>
                                        <a:latin typeface="Cambria Math" panose="02040503050406030204" pitchFamily="18" charset="0"/>
                                      </a:rPr>
                                      <m:t>(</m:t>
                                    </m:r>
                                    <m:r>
                                      <a:rPr lang="es-CO" sz="1400" b="1" i="1" noProof="0" dirty="0" smtClean="0">
                                        <a:solidFill>
                                          <a:schemeClr val="accent1"/>
                                        </a:solidFill>
                                        <a:latin typeface="Cambria Math" panose="02040503050406030204" pitchFamily="18" charset="0"/>
                                      </a:rPr>
                                      <m:t>𝟏</m:t>
                                    </m:r>
                                    <m:r>
                                      <a:rPr lang="es-CO" sz="1400" b="1" i="1" noProof="0" dirty="0" smtClean="0">
                                        <a:solidFill>
                                          <a:schemeClr val="accent1"/>
                                        </a:solidFill>
                                        <a:latin typeface="Cambria Math" panose="02040503050406030204" pitchFamily="18" charset="0"/>
                                      </a:rPr>
                                      <m:t>+</m:t>
                                    </m:r>
                                    <m:r>
                                      <a:rPr lang="es-CO" sz="1400" b="1" i="1" noProof="0" dirty="0" smtClean="0">
                                        <a:solidFill>
                                          <a:schemeClr val="accent1"/>
                                        </a:solidFill>
                                        <a:latin typeface="Cambria Math" panose="02040503050406030204" pitchFamily="18" charset="0"/>
                                      </a:rPr>
                                      <m:t>𝟔</m:t>
                                    </m:r>
                                    <m:r>
                                      <a:rPr lang="es-CO" sz="1400" b="1" i="1" noProof="0" dirty="0" smtClean="0">
                                        <a:solidFill>
                                          <a:schemeClr val="accent1"/>
                                        </a:solidFill>
                                        <a:latin typeface="Cambria Math" panose="02040503050406030204" pitchFamily="18" charset="0"/>
                                      </a:rPr>
                                      <m:t>%)</m:t>
                                    </m:r>
                                  </m:e>
                                  <m:sup>
                                    <m:r>
                                      <a:rPr lang="es-CO" sz="1400" b="1" i="1" noProof="0" dirty="0" smtClean="0">
                                        <a:solidFill>
                                          <a:schemeClr val="accent1"/>
                                        </a:solidFill>
                                        <a:latin typeface="Cambria Math" panose="02040503050406030204" pitchFamily="18" charset="0"/>
                                      </a:rPr>
                                      <m:t>𝟑</m:t>
                                    </m:r>
                                  </m:sup>
                                </m:sSup>
                              </m:oMath>
                            </m:oMathPara>
                          </a14:m>
                          <a:endParaRPr lang="es-CO" sz="1400" b="1"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accent1"/>
                                        </a:solidFill>
                                        <a:latin typeface="Cambria Math" panose="02040503050406030204" pitchFamily="18" charset="0"/>
                                      </a:rPr>
                                    </m:ctrlPr>
                                  </m:sSupPr>
                                  <m:e>
                                    <m:r>
                                      <a:rPr lang="es-CO" sz="1400" b="1" i="1" noProof="0" dirty="0" smtClean="0">
                                        <a:solidFill>
                                          <a:schemeClr val="accent1"/>
                                        </a:solidFill>
                                        <a:latin typeface="Cambria Math" panose="02040503050406030204" pitchFamily="18" charset="0"/>
                                      </a:rPr>
                                      <m:t>(</m:t>
                                    </m:r>
                                    <m:r>
                                      <a:rPr lang="es-CO" sz="1400" b="1" i="1" noProof="0" dirty="0" smtClean="0">
                                        <a:solidFill>
                                          <a:schemeClr val="accent1"/>
                                        </a:solidFill>
                                        <a:latin typeface="Cambria Math" panose="02040503050406030204" pitchFamily="18" charset="0"/>
                                      </a:rPr>
                                      <m:t>𝟏</m:t>
                                    </m:r>
                                    <m:r>
                                      <a:rPr lang="es-CO" sz="1400" b="1" i="1" noProof="0" dirty="0" smtClean="0">
                                        <a:solidFill>
                                          <a:schemeClr val="accent1"/>
                                        </a:solidFill>
                                        <a:latin typeface="Cambria Math" panose="02040503050406030204" pitchFamily="18" charset="0"/>
                                      </a:rPr>
                                      <m:t>+</m:t>
                                    </m:r>
                                    <m:r>
                                      <a:rPr lang="es-CO" sz="1400" b="1" i="1" noProof="0" dirty="0" smtClean="0">
                                        <a:solidFill>
                                          <a:schemeClr val="accent1"/>
                                        </a:solidFill>
                                        <a:latin typeface="Cambria Math" panose="02040503050406030204" pitchFamily="18" charset="0"/>
                                      </a:rPr>
                                      <m:t>𝟔</m:t>
                                    </m:r>
                                    <m:r>
                                      <a:rPr lang="es-CO" sz="1400" b="1" i="1" noProof="0" dirty="0" smtClean="0">
                                        <a:solidFill>
                                          <a:schemeClr val="accent1"/>
                                        </a:solidFill>
                                        <a:latin typeface="Cambria Math" panose="02040503050406030204" pitchFamily="18" charset="0"/>
                                      </a:rPr>
                                      <m:t>%)</m:t>
                                    </m:r>
                                  </m:e>
                                  <m:sup>
                                    <m:r>
                                      <a:rPr lang="es-CO" sz="1400" b="1" i="1" noProof="0" dirty="0" smtClean="0">
                                        <a:solidFill>
                                          <a:schemeClr val="accent1"/>
                                        </a:solidFill>
                                        <a:latin typeface="Cambria Math" panose="02040503050406030204" pitchFamily="18" charset="0"/>
                                      </a:rPr>
                                      <m:t>𝟒</m:t>
                                    </m:r>
                                  </m:sup>
                                </m:sSup>
                              </m:oMath>
                            </m:oMathPara>
                          </a14:m>
                          <a:endParaRPr lang="es-CO" sz="1400" b="1"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accent1"/>
                                        </a:solidFill>
                                        <a:latin typeface="Cambria Math" panose="02040503050406030204" pitchFamily="18" charset="0"/>
                                      </a:rPr>
                                    </m:ctrlPr>
                                  </m:sSupPr>
                                  <m:e>
                                    <m:r>
                                      <a:rPr lang="es-CO" sz="1400" b="1" i="1" noProof="0" dirty="0" smtClean="0">
                                        <a:solidFill>
                                          <a:schemeClr val="accent1"/>
                                        </a:solidFill>
                                        <a:latin typeface="Cambria Math" panose="02040503050406030204" pitchFamily="18" charset="0"/>
                                      </a:rPr>
                                      <m:t>(</m:t>
                                    </m:r>
                                    <m:r>
                                      <a:rPr lang="es-CO" sz="1400" b="1" i="1" noProof="0" dirty="0" smtClean="0">
                                        <a:solidFill>
                                          <a:schemeClr val="accent1"/>
                                        </a:solidFill>
                                        <a:latin typeface="Cambria Math" panose="02040503050406030204" pitchFamily="18" charset="0"/>
                                      </a:rPr>
                                      <m:t>𝟏</m:t>
                                    </m:r>
                                    <m:r>
                                      <a:rPr lang="es-CO" sz="1400" b="1" i="1" noProof="0" dirty="0" smtClean="0">
                                        <a:solidFill>
                                          <a:schemeClr val="accent1"/>
                                        </a:solidFill>
                                        <a:latin typeface="Cambria Math" panose="02040503050406030204" pitchFamily="18" charset="0"/>
                                      </a:rPr>
                                      <m:t>+</m:t>
                                    </m:r>
                                    <m:r>
                                      <a:rPr lang="es-CO" sz="1400" b="1" i="1" noProof="0" dirty="0" smtClean="0">
                                        <a:solidFill>
                                          <a:schemeClr val="accent1"/>
                                        </a:solidFill>
                                        <a:latin typeface="Cambria Math" panose="02040503050406030204" pitchFamily="18" charset="0"/>
                                      </a:rPr>
                                      <m:t>𝟔</m:t>
                                    </m:r>
                                    <m:r>
                                      <a:rPr lang="es-CO" sz="1400" b="1" i="1" noProof="0" dirty="0" smtClean="0">
                                        <a:solidFill>
                                          <a:schemeClr val="accent1"/>
                                        </a:solidFill>
                                        <a:latin typeface="Cambria Math" panose="02040503050406030204" pitchFamily="18" charset="0"/>
                                      </a:rPr>
                                      <m:t>%)</m:t>
                                    </m:r>
                                  </m:e>
                                  <m:sup>
                                    <m:r>
                                      <a:rPr lang="es-CO" sz="1400" b="1" i="1" noProof="0" dirty="0" smtClean="0">
                                        <a:solidFill>
                                          <a:schemeClr val="accent1"/>
                                        </a:solidFill>
                                        <a:latin typeface="Cambria Math" panose="02040503050406030204" pitchFamily="18" charset="0"/>
                                      </a:rPr>
                                      <m:t>𝟓</m:t>
                                    </m:r>
                                  </m:sup>
                                </m:sSup>
                              </m:oMath>
                            </m:oMathPara>
                          </a14:m>
                          <a:endParaRPr lang="es-CO" sz="1400" b="1"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587449290"/>
                      </a:ext>
                    </a:extLst>
                  </a:tr>
                  <a:tr h="281425">
                    <a:tc vMerge="1">
                      <a:txBody>
                        <a:bodyPr/>
                        <a:lstStyle/>
                        <a:p>
                          <a:pPr algn="l"/>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rtl="0" fontAlgn="b"/>
                          <a:r>
                            <a:rPr lang="es-CO" sz="1400" b="1" i="0" u="none" strike="noStrike" dirty="0">
                              <a:solidFill>
                                <a:schemeClr val="accent1"/>
                              </a:solidFill>
                              <a:effectLst/>
                              <a:latin typeface="Century Gothic" panose="020B0502020202020204" pitchFamily="34" charset="0"/>
                            </a:rPr>
                            <a:t>1</a:t>
                          </a:r>
                        </a:p>
                      </a:txBody>
                      <a:tcPr marL="9525" marR="9525" marT="9525"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rtl="0" fontAlgn="b"/>
                          <a:r>
                            <a:rPr lang="es-CO" sz="1400" b="1" i="0" u="none" strike="noStrike" dirty="0">
                              <a:solidFill>
                                <a:schemeClr val="accent1"/>
                              </a:solidFill>
                              <a:effectLst/>
                              <a:latin typeface="Century Gothic" panose="020B0502020202020204" pitchFamily="34" charset="0"/>
                            </a:rPr>
                            <a:t>1,06</a:t>
                          </a:r>
                        </a:p>
                      </a:txBody>
                      <a:tcPr marL="9525" marR="9525" marT="9525"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rtl="0" fontAlgn="b"/>
                          <a:r>
                            <a:rPr lang="es-CO" sz="1400" b="1" i="0" u="none" strike="noStrike" dirty="0">
                              <a:solidFill>
                                <a:schemeClr val="accent1"/>
                              </a:solidFill>
                              <a:effectLst/>
                              <a:latin typeface="Century Gothic" panose="020B0502020202020204" pitchFamily="34" charset="0"/>
                            </a:rPr>
                            <a:t>1,1236</a:t>
                          </a:r>
                        </a:p>
                      </a:txBody>
                      <a:tcPr marL="9525" marR="9525" marT="9525"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rtl="0" fontAlgn="b"/>
                          <a:r>
                            <a:rPr lang="es-CO" sz="1400" b="1" i="0" u="none" strike="noStrike" dirty="0">
                              <a:solidFill>
                                <a:schemeClr val="accent1"/>
                              </a:solidFill>
                              <a:effectLst/>
                              <a:latin typeface="Century Gothic" panose="020B0502020202020204" pitchFamily="34" charset="0"/>
                            </a:rPr>
                            <a:t>1,1910</a:t>
                          </a:r>
                        </a:p>
                      </a:txBody>
                      <a:tcPr marL="9525" marR="9525" marT="9525"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rtl="0" fontAlgn="b"/>
                          <a:r>
                            <a:rPr lang="es-CO" sz="1400" b="1" i="0" u="none" strike="noStrike" dirty="0">
                              <a:solidFill>
                                <a:schemeClr val="accent1"/>
                              </a:solidFill>
                              <a:effectLst/>
                              <a:latin typeface="Century Gothic" panose="020B0502020202020204" pitchFamily="34" charset="0"/>
                            </a:rPr>
                            <a:t>1,2624</a:t>
                          </a:r>
                        </a:p>
                      </a:txBody>
                      <a:tcPr marL="9525" marR="9525" marT="9525"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rtl="0" fontAlgn="b"/>
                          <a:r>
                            <a:rPr lang="es-CO" sz="1400" b="1" i="0" u="none" strike="noStrike" dirty="0">
                              <a:solidFill>
                                <a:schemeClr val="accent1"/>
                              </a:solidFill>
                              <a:effectLst/>
                              <a:latin typeface="Century Gothic" panose="020B0502020202020204" pitchFamily="34" charset="0"/>
                            </a:rPr>
                            <a:t>1,3382</a:t>
                          </a:r>
                        </a:p>
                      </a:txBody>
                      <a:tcPr marL="9525" marR="9525" marT="9525"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456247086"/>
                      </a:ext>
                    </a:extLst>
                  </a:tr>
                  <a:tr h="281425">
                    <a:tc>
                      <a:txBody>
                        <a:bodyPr/>
                        <a:lstStyle/>
                        <a:p>
                          <a:pPr algn="l"/>
                          <a:r>
                            <a:rPr lang="es-ES_tradnl" sz="1300" noProof="0" dirty="0" err="1">
                              <a:solidFill>
                                <a:schemeClr val="accent1"/>
                              </a:solidFill>
                              <a:latin typeface="Century Gothic" panose="020B0502020202020204" pitchFamily="34" charset="0"/>
                            </a:rPr>
                            <a:t>FCL</a:t>
                          </a:r>
                          <a:r>
                            <a:rPr lang="es-ES_tradnl" sz="1300" noProof="0" dirty="0">
                              <a:solidFill>
                                <a:schemeClr val="accent1"/>
                              </a:solidFill>
                              <a:latin typeface="Century Gothic" panose="020B0502020202020204" pitchFamily="34" charset="0"/>
                            </a:rPr>
                            <a:t> Nominal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B8E6CB"/>
                        </a:solidFill>
                      </a:tcPr>
                    </a:tc>
                    <a:tc>
                      <a:txBody>
                        <a:bodyPr/>
                        <a:lstStyle/>
                        <a:p>
                          <a:pPr algn="ctr"/>
                          <a:r>
                            <a:rPr lang="es-ES_tradnl" sz="1300" noProof="0" dirty="0">
                              <a:solidFill>
                                <a:schemeClr val="accent1"/>
                              </a:solidFill>
                              <a:latin typeface="Century Gothic" panose="020B0502020202020204" pitchFamily="34" charset="0"/>
                            </a:rPr>
                            <a:t>-$20.000.000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B8E6CB"/>
                        </a:solidFill>
                      </a:tcPr>
                    </a:tc>
                    <a:tc>
                      <a:txBody>
                        <a:bodyPr/>
                        <a:lstStyle/>
                        <a:p>
                          <a:pPr algn="ctr"/>
                          <a:r>
                            <a:rPr lang="es-ES_tradnl" sz="1300" noProof="0" dirty="0">
                              <a:solidFill>
                                <a:schemeClr val="accent1"/>
                              </a:solidFill>
                              <a:latin typeface="Century Gothic" panose="020B0502020202020204" pitchFamily="34" charset="0"/>
                            </a:rPr>
                            <a:t>$6.646.500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B8E6CB"/>
                        </a:solidFill>
                      </a:tcPr>
                    </a:tc>
                    <a:tc>
                      <a:txBody>
                        <a:bodyPr/>
                        <a:lstStyle/>
                        <a:p>
                          <a:pPr algn="ctr"/>
                          <a:r>
                            <a:rPr lang="es-ES_tradnl" sz="1300" noProof="0" dirty="0">
                              <a:solidFill>
                                <a:schemeClr val="accent1"/>
                              </a:solidFill>
                              <a:latin typeface="Century Gothic" panose="020B0502020202020204" pitchFamily="34" charset="0"/>
                            </a:rPr>
                            <a:t>$6.966.090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B8E6CB"/>
                        </a:solidFill>
                      </a:tcPr>
                    </a:tc>
                    <a:tc>
                      <a:txBody>
                        <a:bodyPr/>
                        <a:lstStyle/>
                        <a:p>
                          <a:pPr algn="ctr"/>
                          <a:r>
                            <a:rPr lang="es-ES_tradnl" sz="1300" noProof="0" dirty="0">
                              <a:solidFill>
                                <a:schemeClr val="accent1"/>
                              </a:solidFill>
                              <a:latin typeface="Century Gothic" panose="020B0502020202020204" pitchFamily="34" charset="0"/>
                            </a:rPr>
                            <a:t>$7.304.855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B8E6CB"/>
                        </a:solidFill>
                      </a:tcPr>
                    </a:tc>
                    <a:tc>
                      <a:txBody>
                        <a:bodyPr/>
                        <a:lstStyle/>
                        <a:p>
                          <a:pPr algn="ctr"/>
                          <a:r>
                            <a:rPr lang="es-ES_tradnl" sz="1300" noProof="0" dirty="0">
                              <a:solidFill>
                                <a:schemeClr val="accent1"/>
                              </a:solidFill>
                              <a:latin typeface="Century Gothic" panose="020B0502020202020204" pitchFamily="34" charset="0"/>
                            </a:rPr>
                            <a:t>$7.663.947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B8E6CB"/>
                        </a:solidFill>
                      </a:tcPr>
                    </a:tc>
                    <a:tc>
                      <a:txBody>
                        <a:bodyPr/>
                        <a:lstStyle/>
                        <a:p>
                          <a:pPr algn="ctr"/>
                          <a:r>
                            <a:rPr lang="es-ES_tradnl" sz="1300" noProof="0" dirty="0">
                              <a:solidFill>
                                <a:schemeClr val="accent1"/>
                              </a:solidFill>
                              <a:latin typeface="Century Gothic" panose="020B0502020202020204" pitchFamily="34" charset="0"/>
                            </a:rPr>
                            <a:t>$8.044.584</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B8E6CB"/>
                        </a:solidFill>
                      </a:tcPr>
                    </a:tc>
                    <a:extLst>
                      <a:ext uri="{0D108BD9-81ED-4DB2-BD59-A6C34878D82A}">
                        <a16:rowId xmlns:a16="http://schemas.microsoft.com/office/drawing/2014/main" val="1965172336"/>
                      </a:ext>
                    </a:extLst>
                  </a:tr>
                </a:tbl>
              </a:graphicData>
            </a:graphic>
          </p:graphicFrame>
        </mc:Choice>
        <mc:Fallback xmlns="">
          <p:graphicFrame>
            <p:nvGraphicFramePr>
              <p:cNvPr id="11" name="Table 24">
                <a:extLst>
                  <a:ext uri="{FF2B5EF4-FFF2-40B4-BE49-F238E27FC236}">
                    <a16:creationId xmlns:a16="http://schemas.microsoft.com/office/drawing/2014/main" id="{708798C5-C830-E122-A648-4BE76749FFAD}"/>
                  </a:ext>
                </a:extLst>
              </p:cNvPr>
              <p:cNvGraphicFramePr>
                <a:graphicFrameLocks noGrp="1"/>
              </p:cNvGraphicFramePr>
              <p:nvPr>
                <p:extLst>
                  <p:ext uri="{D42A27DB-BD31-4B8C-83A1-F6EECF244321}">
                    <p14:modId xmlns:p14="http://schemas.microsoft.com/office/powerpoint/2010/main" val="1112636596"/>
                  </p:ext>
                </p:extLst>
              </p:nvPr>
            </p:nvGraphicFramePr>
            <p:xfrm>
              <a:off x="581185" y="2325196"/>
              <a:ext cx="11029618" cy="1173283"/>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289560">
                    <a:tc>
                      <a:txBody>
                        <a:bodyPr/>
                        <a:lstStyle/>
                        <a:p>
                          <a:pPr algn="ctr"/>
                          <a:r>
                            <a:rPr lang="es-ES_tradnl" sz="13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3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3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3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3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3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3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12738">
                    <a:tc rowSpan="2">
                      <a:txBody>
                        <a:bodyPr/>
                        <a:lstStyle/>
                        <a:p>
                          <a:pPr algn="ctr"/>
                          <a:r>
                            <a:rPr lang="es-ES_tradnl" sz="1400" b="1" noProof="0" dirty="0">
                              <a:solidFill>
                                <a:schemeClr val="accent1"/>
                              </a:solidFill>
                              <a:latin typeface="Century Gothic" panose="020B0502020202020204" pitchFamily="34" charset="0"/>
                            </a:rPr>
                            <a:t>Factor inflacionario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400" b="1" noProof="0" dirty="0">
                              <a:solidFill>
                                <a:schemeClr val="accent1"/>
                              </a:solidFill>
                              <a:latin typeface="Century Gothic" panose="020B0502020202020204" pitchFamily="34" charset="0"/>
                            </a:rPr>
                            <a:t>1</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endParaRPr lang="es-CO"/>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231092" t="-100000" r="-401681" b="-200000"/>
                          </a:stretch>
                        </a:blipFill>
                      </a:tcPr>
                    </a:tc>
                    <a:tc>
                      <a:txBody>
                        <a:bodyPr/>
                        <a:lstStyle/>
                        <a:p>
                          <a:endParaRPr lang="es-CO"/>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331092" t="-100000" r="-301681" b="-200000"/>
                          </a:stretch>
                        </a:blipFill>
                      </a:tcPr>
                    </a:tc>
                    <a:tc>
                      <a:txBody>
                        <a:bodyPr/>
                        <a:lstStyle/>
                        <a:p>
                          <a:endParaRPr lang="es-CO"/>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431092" t="-100000" r="-201681" b="-200000"/>
                          </a:stretch>
                        </a:blipFill>
                      </a:tcPr>
                    </a:tc>
                    <a:tc>
                      <a:txBody>
                        <a:bodyPr/>
                        <a:lstStyle/>
                        <a:p>
                          <a:endParaRPr lang="es-CO"/>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526667" t="-100000" r="-100000" b="-200000"/>
                          </a:stretch>
                        </a:blipFill>
                      </a:tcPr>
                    </a:tc>
                    <a:tc>
                      <a:txBody>
                        <a:bodyPr/>
                        <a:lstStyle/>
                        <a:p>
                          <a:endParaRPr lang="es-CO"/>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631933" t="-100000" r="-840" b="-200000"/>
                          </a:stretch>
                        </a:blipFill>
                      </a:tcPr>
                    </a:tc>
                    <a:extLst>
                      <a:ext uri="{0D108BD9-81ED-4DB2-BD59-A6C34878D82A}">
                        <a16:rowId xmlns:a16="http://schemas.microsoft.com/office/drawing/2014/main" val="3587449290"/>
                      </a:ext>
                    </a:extLst>
                  </a:tr>
                  <a:tr h="281425">
                    <a:tc vMerge="1">
                      <a:txBody>
                        <a:bodyPr/>
                        <a:lstStyle/>
                        <a:p>
                          <a:pPr algn="l"/>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rtl="0" fontAlgn="b"/>
                          <a:r>
                            <a:rPr lang="es-CO" sz="1400" b="1" i="0" u="none" strike="noStrike" dirty="0">
                              <a:solidFill>
                                <a:schemeClr val="accent1"/>
                              </a:solidFill>
                              <a:effectLst/>
                              <a:latin typeface="Century Gothic" panose="020B0502020202020204" pitchFamily="34" charset="0"/>
                            </a:rPr>
                            <a:t>1</a:t>
                          </a:r>
                        </a:p>
                      </a:txBody>
                      <a:tcPr marL="9525" marR="9525" marT="9525"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rtl="0" fontAlgn="b"/>
                          <a:r>
                            <a:rPr lang="es-CO" sz="1400" b="1" i="0" u="none" strike="noStrike" dirty="0">
                              <a:solidFill>
                                <a:schemeClr val="accent1"/>
                              </a:solidFill>
                              <a:effectLst/>
                              <a:latin typeface="Century Gothic" panose="020B0502020202020204" pitchFamily="34" charset="0"/>
                            </a:rPr>
                            <a:t>1,06</a:t>
                          </a:r>
                        </a:p>
                      </a:txBody>
                      <a:tcPr marL="9525" marR="9525" marT="9525"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rtl="0" fontAlgn="b"/>
                          <a:r>
                            <a:rPr lang="es-CO" sz="1400" b="1" i="0" u="none" strike="noStrike" dirty="0">
                              <a:solidFill>
                                <a:schemeClr val="accent1"/>
                              </a:solidFill>
                              <a:effectLst/>
                              <a:latin typeface="Century Gothic" panose="020B0502020202020204" pitchFamily="34" charset="0"/>
                            </a:rPr>
                            <a:t>1,1236</a:t>
                          </a:r>
                        </a:p>
                      </a:txBody>
                      <a:tcPr marL="9525" marR="9525" marT="9525"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rtl="0" fontAlgn="b"/>
                          <a:r>
                            <a:rPr lang="es-CO" sz="1400" b="1" i="0" u="none" strike="noStrike" dirty="0">
                              <a:solidFill>
                                <a:schemeClr val="accent1"/>
                              </a:solidFill>
                              <a:effectLst/>
                              <a:latin typeface="Century Gothic" panose="020B0502020202020204" pitchFamily="34" charset="0"/>
                            </a:rPr>
                            <a:t>1,1910</a:t>
                          </a:r>
                        </a:p>
                      </a:txBody>
                      <a:tcPr marL="9525" marR="9525" marT="9525"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rtl="0" fontAlgn="b"/>
                          <a:r>
                            <a:rPr lang="es-CO" sz="1400" b="1" i="0" u="none" strike="noStrike" dirty="0">
                              <a:solidFill>
                                <a:schemeClr val="accent1"/>
                              </a:solidFill>
                              <a:effectLst/>
                              <a:latin typeface="Century Gothic" panose="020B0502020202020204" pitchFamily="34" charset="0"/>
                            </a:rPr>
                            <a:t>1,2624</a:t>
                          </a:r>
                        </a:p>
                      </a:txBody>
                      <a:tcPr marL="9525" marR="9525" marT="9525"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rtl="0" fontAlgn="b"/>
                          <a:r>
                            <a:rPr lang="es-CO" sz="1400" b="1" i="0" u="none" strike="noStrike" dirty="0">
                              <a:solidFill>
                                <a:schemeClr val="accent1"/>
                              </a:solidFill>
                              <a:effectLst/>
                              <a:latin typeface="Century Gothic" panose="020B0502020202020204" pitchFamily="34" charset="0"/>
                            </a:rPr>
                            <a:t>1,3382</a:t>
                          </a:r>
                        </a:p>
                      </a:txBody>
                      <a:tcPr marL="9525" marR="9525" marT="9525"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456247086"/>
                      </a:ext>
                    </a:extLst>
                  </a:tr>
                  <a:tr h="289560">
                    <a:tc>
                      <a:txBody>
                        <a:bodyPr/>
                        <a:lstStyle/>
                        <a:p>
                          <a:pPr algn="l"/>
                          <a:r>
                            <a:rPr lang="es-ES_tradnl" sz="1300" noProof="0" dirty="0" err="1">
                              <a:solidFill>
                                <a:schemeClr val="accent1"/>
                              </a:solidFill>
                              <a:latin typeface="Century Gothic" panose="020B0502020202020204" pitchFamily="34" charset="0"/>
                            </a:rPr>
                            <a:t>FCL</a:t>
                          </a:r>
                          <a:r>
                            <a:rPr lang="es-ES_tradnl" sz="1300" noProof="0" dirty="0">
                              <a:solidFill>
                                <a:schemeClr val="accent1"/>
                              </a:solidFill>
                              <a:latin typeface="Century Gothic" panose="020B0502020202020204" pitchFamily="34" charset="0"/>
                            </a:rPr>
                            <a:t> Nominal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B8E6CB"/>
                        </a:solidFill>
                      </a:tcPr>
                    </a:tc>
                    <a:tc>
                      <a:txBody>
                        <a:bodyPr/>
                        <a:lstStyle/>
                        <a:p>
                          <a:pPr algn="ctr"/>
                          <a:r>
                            <a:rPr lang="es-ES_tradnl" sz="1300" noProof="0" dirty="0">
                              <a:solidFill>
                                <a:schemeClr val="accent1"/>
                              </a:solidFill>
                              <a:latin typeface="Century Gothic" panose="020B0502020202020204" pitchFamily="34" charset="0"/>
                            </a:rPr>
                            <a:t>-$20.000.000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B8E6CB"/>
                        </a:solidFill>
                      </a:tcPr>
                    </a:tc>
                    <a:tc>
                      <a:txBody>
                        <a:bodyPr/>
                        <a:lstStyle/>
                        <a:p>
                          <a:pPr algn="ctr"/>
                          <a:r>
                            <a:rPr lang="es-ES_tradnl" sz="1300" noProof="0" dirty="0">
                              <a:solidFill>
                                <a:schemeClr val="accent1"/>
                              </a:solidFill>
                              <a:latin typeface="Century Gothic" panose="020B0502020202020204" pitchFamily="34" charset="0"/>
                            </a:rPr>
                            <a:t>$6.646.500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B8E6CB"/>
                        </a:solidFill>
                      </a:tcPr>
                    </a:tc>
                    <a:tc>
                      <a:txBody>
                        <a:bodyPr/>
                        <a:lstStyle/>
                        <a:p>
                          <a:pPr algn="ctr"/>
                          <a:r>
                            <a:rPr lang="es-ES_tradnl" sz="1300" noProof="0" dirty="0">
                              <a:solidFill>
                                <a:schemeClr val="accent1"/>
                              </a:solidFill>
                              <a:latin typeface="Century Gothic" panose="020B0502020202020204" pitchFamily="34" charset="0"/>
                            </a:rPr>
                            <a:t>$6.966.090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B8E6CB"/>
                        </a:solidFill>
                      </a:tcPr>
                    </a:tc>
                    <a:tc>
                      <a:txBody>
                        <a:bodyPr/>
                        <a:lstStyle/>
                        <a:p>
                          <a:pPr algn="ctr"/>
                          <a:r>
                            <a:rPr lang="es-ES_tradnl" sz="1300" noProof="0" dirty="0">
                              <a:solidFill>
                                <a:schemeClr val="accent1"/>
                              </a:solidFill>
                              <a:latin typeface="Century Gothic" panose="020B0502020202020204" pitchFamily="34" charset="0"/>
                            </a:rPr>
                            <a:t>$7.304.855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B8E6CB"/>
                        </a:solidFill>
                      </a:tcPr>
                    </a:tc>
                    <a:tc>
                      <a:txBody>
                        <a:bodyPr/>
                        <a:lstStyle/>
                        <a:p>
                          <a:pPr algn="ctr"/>
                          <a:r>
                            <a:rPr lang="es-ES_tradnl" sz="1300" noProof="0" dirty="0">
                              <a:solidFill>
                                <a:schemeClr val="accent1"/>
                              </a:solidFill>
                              <a:latin typeface="Century Gothic" panose="020B0502020202020204" pitchFamily="34" charset="0"/>
                            </a:rPr>
                            <a:t>$7.663.947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B8E6CB"/>
                        </a:solidFill>
                      </a:tcPr>
                    </a:tc>
                    <a:tc>
                      <a:txBody>
                        <a:bodyPr/>
                        <a:lstStyle/>
                        <a:p>
                          <a:pPr algn="ctr"/>
                          <a:r>
                            <a:rPr lang="es-ES_tradnl" sz="1300" noProof="0" dirty="0">
                              <a:solidFill>
                                <a:schemeClr val="accent1"/>
                              </a:solidFill>
                              <a:latin typeface="Century Gothic" panose="020B0502020202020204" pitchFamily="34" charset="0"/>
                            </a:rPr>
                            <a:t>$8.044.584</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B8E6CB"/>
                        </a:solidFill>
                      </a:tcPr>
                    </a:tc>
                    <a:extLst>
                      <a:ext uri="{0D108BD9-81ED-4DB2-BD59-A6C34878D82A}">
                        <a16:rowId xmlns:a16="http://schemas.microsoft.com/office/drawing/2014/main" val="1965172336"/>
                      </a:ext>
                    </a:extLst>
                  </a:tr>
                </a:tbl>
              </a:graphicData>
            </a:graphic>
          </p:graphicFrame>
        </mc:Fallback>
      </mc:AlternateContent>
      <p:graphicFrame>
        <p:nvGraphicFramePr>
          <p:cNvPr id="15" name="Tabla 14">
            <a:extLst>
              <a:ext uri="{FF2B5EF4-FFF2-40B4-BE49-F238E27FC236}">
                <a16:creationId xmlns:a16="http://schemas.microsoft.com/office/drawing/2014/main" id="{4E0C97FF-2157-D581-F6C4-58D347A0C5BD}"/>
              </a:ext>
            </a:extLst>
          </p:cNvPr>
          <p:cNvGraphicFramePr>
            <a:graphicFrameLocks noGrp="1"/>
          </p:cNvGraphicFramePr>
          <p:nvPr/>
        </p:nvGraphicFramePr>
        <p:xfrm>
          <a:off x="581184" y="5543635"/>
          <a:ext cx="3468993" cy="890780"/>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179332490"/>
                    </a:ext>
                  </a:extLst>
                </a:gridCol>
                <a:gridCol w="1512125">
                  <a:extLst>
                    <a:ext uri="{9D8B030D-6E8A-4147-A177-3AD203B41FA5}">
                      <a16:colId xmlns:a16="http://schemas.microsoft.com/office/drawing/2014/main" val="3892199838"/>
                    </a:ext>
                  </a:extLst>
                </a:gridCol>
              </a:tblGrid>
              <a:tr h="311660">
                <a:tc>
                  <a:txBody>
                    <a:bodyPr/>
                    <a:lstStyle/>
                    <a:p>
                      <a:pPr algn="l"/>
                      <a:r>
                        <a:rPr lang="es-ES_tradnl" sz="1300" noProof="0" dirty="0">
                          <a:solidFill>
                            <a:schemeClr val="accent1"/>
                          </a:solidFill>
                          <a:latin typeface="Century Gothic" panose="020B0502020202020204" pitchFamily="34" charset="0"/>
                        </a:rPr>
                        <a:t>TIR</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16,34%</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2706829573"/>
                  </a:ext>
                </a:extLst>
              </a:tr>
              <a:tr h="0">
                <a:tc>
                  <a:txBody>
                    <a:bodyPr/>
                    <a:lstStyle/>
                    <a:p>
                      <a:pPr algn="l"/>
                      <a:r>
                        <a:rPr lang="es-ES_tradnl" sz="1300" noProof="0" dirty="0">
                          <a:solidFill>
                            <a:schemeClr val="accent1"/>
                          </a:solidFill>
                          <a:latin typeface="Century Gothic" panose="020B0502020202020204" pitchFamily="34" charset="0"/>
                        </a:rPr>
                        <a:t>VPN Corriente/</a:t>
                      </a:r>
                      <a:r>
                        <a:rPr lang="es-ES_tradnl" sz="1300" noProof="0" dirty="0" err="1">
                          <a:solidFill>
                            <a:schemeClr val="accent1"/>
                          </a:solidFill>
                          <a:latin typeface="Century Gothic" panose="020B0502020202020204" pitchFamily="34" charset="0"/>
                        </a:rPr>
                        <a:t>Nom</a:t>
                      </a: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$4.231.457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630373977"/>
                  </a:ext>
                </a:extLst>
              </a:tr>
              <a:tr h="0">
                <a:tc>
                  <a:txBody>
                    <a:bodyPr/>
                    <a:lstStyle/>
                    <a:p>
                      <a:pPr algn="l"/>
                      <a:r>
                        <a:rPr lang="es-ES_tradnl" sz="1300" noProof="0" dirty="0">
                          <a:solidFill>
                            <a:schemeClr val="accent1"/>
                          </a:solidFill>
                          <a:latin typeface="Century Gothic" panose="020B0502020202020204" pitchFamily="34" charset="0"/>
                        </a:rPr>
                        <a:t>VPN Constante/Real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_tradnl" sz="1300" noProof="0" dirty="0">
                          <a:solidFill>
                            <a:schemeClr val="accent1"/>
                          </a:solidFill>
                          <a:latin typeface="Century Gothic" panose="020B0502020202020204" pitchFamily="34" charset="0"/>
                        </a:rPr>
                        <a:t>$4.231.457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362042503"/>
                  </a:ext>
                </a:extLst>
              </a:tr>
            </a:tbl>
          </a:graphicData>
        </a:graphic>
      </p:graphicFrame>
      <p:sp>
        <p:nvSpPr>
          <p:cNvPr id="16" name="CuadroTexto 15">
            <a:extLst>
              <a:ext uri="{FF2B5EF4-FFF2-40B4-BE49-F238E27FC236}">
                <a16:creationId xmlns:a16="http://schemas.microsoft.com/office/drawing/2014/main" id="{2DCAB2D8-6042-0C50-ACBA-F4B097623596}"/>
              </a:ext>
            </a:extLst>
          </p:cNvPr>
          <p:cNvSpPr txBox="1"/>
          <p:nvPr/>
        </p:nvSpPr>
        <p:spPr>
          <a:xfrm>
            <a:off x="4196966" y="5963635"/>
            <a:ext cx="2846812" cy="307777"/>
          </a:xfrm>
          <a:prstGeom prst="rect">
            <a:avLst/>
          </a:prstGeom>
          <a:noFill/>
        </p:spPr>
        <p:txBody>
          <a:bodyPr wrap="square" rtlCol="0">
            <a:spAutoFit/>
          </a:bodyPr>
          <a:lstStyle/>
          <a:p>
            <a:pPr algn="ctr"/>
            <a:r>
              <a:rPr lang="en-US" sz="1400" b="1" dirty="0">
                <a:latin typeface="Century Gothic" panose="020B0502020202020204" pitchFamily="34" charset="0"/>
              </a:rPr>
              <a:t>WACC Real 8,49%</a:t>
            </a:r>
          </a:p>
        </p:txBody>
      </p:sp>
      <p:sp>
        <p:nvSpPr>
          <p:cNvPr id="7" name="CuadroTexto 6">
            <a:extLst>
              <a:ext uri="{FF2B5EF4-FFF2-40B4-BE49-F238E27FC236}">
                <a16:creationId xmlns:a16="http://schemas.microsoft.com/office/drawing/2014/main" id="{821C5682-E47F-A773-F971-E7DCCCDBA6DE}"/>
              </a:ext>
            </a:extLst>
          </p:cNvPr>
          <p:cNvSpPr txBox="1"/>
          <p:nvPr/>
        </p:nvSpPr>
        <p:spPr>
          <a:xfrm>
            <a:off x="581188" y="1900884"/>
            <a:ext cx="11029615" cy="369332"/>
          </a:xfrm>
          <a:prstGeom prst="rect">
            <a:avLst/>
          </a:prstGeom>
          <a:noFill/>
        </p:spPr>
        <p:txBody>
          <a:bodyPr wrap="square">
            <a:spAutoFit/>
          </a:bodyPr>
          <a:lstStyle/>
          <a:p>
            <a:r>
              <a:rPr lang="es-MX" dirty="0">
                <a:solidFill>
                  <a:schemeClr val="accent1"/>
                </a:solidFill>
                <a:latin typeface="Century Gothic" panose="020B0502020202020204" pitchFamily="34" charset="0"/>
              </a:rPr>
              <a:t>Retomamos el Factor Inflacionario. Recordar que es un escenario con Inflación constante</a:t>
            </a:r>
            <a:endParaRPr lang="en-US" dirty="0">
              <a:latin typeface="Century Gothic" panose="020B0502020202020204" pitchFamily="34" charset="0"/>
            </a:endParaRPr>
          </a:p>
        </p:txBody>
      </p:sp>
      <p:graphicFrame>
        <p:nvGraphicFramePr>
          <p:cNvPr id="3" name="Table 24">
            <a:extLst>
              <a:ext uri="{FF2B5EF4-FFF2-40B4-BE49-F238E27FC236}">
                <a16:creationId xmlns:a16="http://schemas.microsoft.com/office/drawing/2014/main" id="{D7744134-3C87-846A-2D8C-75194FA2EE1A}"/>
              </a:ext>
            </a:extLst>
          </p:cNvPr>
          <p:cNvGraphicFramePr>
            <a:graphicFrameLocks noGrp="1"/>
          </p:cNvGraphicFramePr>
          <p:nvPr/>
        </p:nvGraphicFramePr>
        <p:xfrm>
          <a:off x="581185" y="4981059"/>
          <a:ext cx="11029618" cy="579120"/>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281425">
                <a:tc>
                  <a:txBody>
                    <a:bodyPr/>
                    <a:lstStyle/>
                    <a:p>
                      <a:pPr algn="ctr"/>
                      <a:r>
                        <a:rPr lang="es-ES_tradnl" sz="13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3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3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3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3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3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3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281425">
                <a:tc>
                  <a:txBody>
                    <a:bodyPr/>
                    <a:lstStyle/>
                    <a:p>
                      <a:pPr algn="l"/>
                      <a:r>
                        <a:rPr lang="es-ES_tradnl" sz="1300" noProof="0" dirty="0" err="1">
                          <a:solidFill>
                            <a:schemeClr val="accent1"/>
                          </a:solidFill>
                          <a:latin typeface="Century Gothic" panose="020B0502020202020204" pitchFamily="34" charset="0"/>
                        </a:rPr>
                        <a:t>FCL</a:t>
                      </a: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rtl="0" fontAlgn="b"/>
                      <a:r>
                        <a:rPr lang="es-CO" sz="1400" b="0" i="0" u="none" strike="noStrike" dirty="0">
                          <a:solidFill>
                            <a:schemeClr val="accent1"/>
                          </a:solidFill>
                          <a:effectLst/>
                          <a:latin typeface="Century Gothic" panose="020B0502020202020204" pitchFamily="34" charset="0"/>
                        </a:rPr>
                        <a:t>-$20.000.000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rtl="0" fontAlgn="b"/>
                      <a:r>
                        <a:rPr lang="es-CO" sz="1400" b="0" i="0" u="none" strike="noStrike" dirty="0">
                          <a:solidFill>
                            <a:schemeClr val="accent1"/>
                          </a:solidFill>
                          <a:effectLst/>
                          <a:latin typeface="Century Gothic" panose="020B0502020202020204" pitchFamily="34" charset="0"/>
                        </a:rPr>
                        <a:t>$6.270.283</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rtl="0" fontAlgn="b"/>
                      <a:r>
                        <a:rPr lang="es-CO" sz="1400" b="0" i="0" u="none" strike="noStrike" dirty="0">
                          <a:solidFill>
                            <a:schemeClr val="accent1"/>
                          </a:solidFill>
                          <a:effectLst/>
                          <a:latin typeface="Century Gothic" panose="020B0502020202020204" pitchFamily="34" charset="0"/>
                        </a:rPr>
                        <a:t>$6.199.795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rtl="0" fontAlgn="b"/>
                      <a:r>
                        <a:rPr lang="es-CO" sz="1400" b="0" i="0" u="none" strike="noStrike" dirty="0">
                          <a:solidFill>
                            <a:schemeClr val="accent1"/>
                          </a:solidFill>
                          <a:effectLst/>
                          <a:latin typeface="Century Gothic" panose="020B0502020202020204" pitchFamily="34" charset="0"/>
                        </a:rPr>
                        <a:t>$6.133.297</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rtl="0" fontAlgn="b"/>
                      <a:r>
                        <a:rPr lang="es-CO" sz="1400" b="0" i="0" u="none" strike="noStrike" dirty="0">
                          <a:solidFill>
                            <a:schemeClr val="accent1"/>
                          </a:solidFill>
                          <a:effectLst/>
                          <a:latin typeface="Century Gothic" panose="020B0502020202020204" pitchFamily="34" charset="0"/>
                        </a:rPr>
                        <a:t>$6.070.564</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rtl="0" fontAlgn="b"/>
                      <a:r>
                        <a:rPr lang="es-CO" sz="1400" b="0" i="0" u="none" strike="noStrike" dirty="0">
                          <a:solidFill>
                            <a:schemeClr val="accent1"/>
                          </a:solidFill>
                          <a:effectLst/>
                          <a:latin typeface="Century Gothic" panose="020B0502020202020204" pitchFamily="34" charset="0"/>
                        </a:rPr>
                        <a:t>$6.011.381</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p:sp>
        <p:nvSpPr>
          <p:cNvPr id="10" name="CuadroTexto 9">
            <a:extLst>
              <a:ext uri="{FF2B5EF4-FFF2-40B4-BE49-F238E27FC236}">
                <a16:creationId xmlns:a16="http://schemas.microsoft.com/office/drawing/2014/main" id="{08C5B422-57F1-3454-3C42-F9EEFA7CC649}"/>
              </a:ext>
            </a:extLst>
          </p:cNvPr>
          <p:cNvSpPr txBox="1"/>
          <p:nvPr/>
        </p:nvSpPr>
        <p:spPr>
          <a:xfrm>
            <a:off x="641965" y="3670523"/>
            <a:ext cx="6096000" cy="369332"/>
          </a:xfrm>
          <a:prstGeom prst="rect">
            <a:avLst/>
          </a:prstGeom>
          <a:noFill/>
        </p:spPr>
        <p:txBody>
          <a:bodyPr wrap="square">
            <a:spAutoFit/>
          </a:bodyPr>
          <a:lstStyle/>
          <a:p>
            <a:r>
              <a:rPr lang="es-CO" dirty="0">
                <a:solidFill>
                  <a:schemeClr val="accent1"/>
                </a:solidFill>
                <a:latin typeface="Century Gothic" panose="020B0502020202020204" pitchFamily="34" charset="0"/>
              </a:rPr>
              <a:t>Calculamos el FCL real o constante.</a:t>
            </a:r>
            <a:endParaRPr lang="en-US" dirty="0">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C0262A8E-3817-26F7-9C6E-38B8F1743853}"/>
                  </a:ext>
                </a:extLst>
              </p:cNvPr>
              <p:cNvSpPr txBox="1"/>
              <p:nvPr/>
            </p:nvSpPr>
            <p:spPr>
              <a:xfrm>
                <a:off x="6808125" y="4106823"/>
                <a:ext cx="3608617" cy="4936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419" sz="1600" b="0" i="1" smtClean="0">
                          <a:latin typeface="Cambria Math" panose="02040503050406030204" pitchFamily="18" charset="0"/>
                        </a:rPr>
                        <m:t>𝑃𝑟𝑒𝑐𝑖𝑜</m:t>
                      </m:r>
                      <m:r>
                        <a:rPr lang="es-419" sz="1600" b="0" i="1" smtClean="0">
                          <a:latin typeface="Cambria Math" panose="02040503050406030204" pitchFamily="18" charset="0"/>
                        </a:rPr>
                        <m:t> </m:t>
                      </m:r>
                      <m:r>
                        <a:rPr lang="es-419" sz="1600" b="0" i="1" smtClean="0">
                          <a:latin typeface="Cambria Math" panose="02040503050406030204" pitchFamily="18" charset="0"/>
                        </a:rPr>
                        <m:t>𝑟𝑒𝑎</m:t>
                      </m:r>
                      <m:sSub>
                        <m:sSubPr>
                          <m:ctrlPr>
                            <a:rPr lang="es-419" sz="1600" b="0" i="1" smtClean="0">
                              <a:latin typeface="Cambria Math" panose="02040503050406030204" pitchFamily="18" charset="0"/>
                            </a:rPr>
                          </m:ctrlPr>
                        </m:sSubPr>
                        <m:e>
                          <m:r>
                            <a:rPr lang="es-419" sz="1600" b="0" i="1" smtClean="0">
                              <a:latin typeface="Cambria Math" panose="02040503050406030204" pitchFamily="18" charset="0"/>
                            </a:rPr>
                            <m:t>𝑙</m:t>
                          </m:r>
                        </m:e>
                        <m:sub>
                          <m:r>
                            <a:rPr lang="es-419" sz="1600" b="0" i="1" smtClean="0">
                              <a:latin typeface="Cambria Math" panose="02040503050406030204" pitchFamily="18" charset="0"/>
                            </a:rPr>
                            <m:t>1</m:t>
                          </m:r>
                        </m:sub>
                      </m:sSub>
                      <m:r>
                        <a:rPr lang="es-419" sz="1600" b="0" i="1" smtClean="0">
                          <a:latin typeface="Cambria Math" panose="02040503050406030204" pitchFamily="18" charset="0"/>
                        </a:rPr>
                        <m:t>=</m:t>
                      </m:r>
                      <m:f>
                        <m:fPr>
                          <m:ctrlPr>
                            <a:rPr lang="es-419" sz="1600" b="0" i="1" smtClean="0">
                              <a:latin typeface="Cambria Math" panose="02040503050406030204" pitchFamily="18" charset="0"/>
                            </a:rPr>
                          </m:ctrlPr>
                        </m:fPr>
                        <m:num>
                          <m:r>
                            <a:rPr lang="es-419" sz="1600" b="0" i="1" smtClean="0">
                              <a:latin typeface="Cambria Math" panose="02040503050406030204" pitchFamily="18" charset="0"/>
                            </a:rPr>
                            <m:t>6.646.500</m:t>
                          </m:r>
                        </m:num>
                        <m:den>
                          <m:r>
                            <a:rPr lang="es-419" sz="1600" b="0" i="1" smtClean="0">
                              <a:latin typeface="Cambria Math" panose="02040503050406030204" pitchFamily="18" charset="0"/>
                            </a:rPr>
                            <m:t>1,06</m:t>
                          </m:r>
                        </m:den>
                      </m:f>
                      <m:r>
                        <a:rPr lang="es-419" sz="1600" b="0" i="1" smtClean="0">
                          <a:latin typeface="Cambria Math" panose="02040503050406030204" pitchFamily="18" charset="0"/>
                        </a:rPr>
                        <m:t>=</m:t>
                      </m:r>
                      <m:r>
                        <a:rPr lang="es-419" sz="1600" b="1" i="1" smtClean="0">
                          <a:solidFill>
                            <a:srgbClr val="C00000"/>
                          </a:solidFill>
                          <a:latin typeface="Cambria Math" panose="02040503050406030204" pitchFamily="18" charset="0"/>
                        </a:rPr>
                        <m:t>𝟔</m:t>
                      </m:r>
                      <m:r>
                        <a:rPr lang="es-419" sz="1600" b="1" i="1" smtClean="0">
                          <a:solidFill>
                            <a:srgbClr val="C00000"/>
                          </a:solidFill>
                          <a:latin typeface="Cambria Math" panose="02040503050406030204" pitchFamily="18" charset="0"/>
                        </a:rPr>
                        <m:t>.</m:t>
                      </m:r>
                      <m:r>
                        <a:rPr lang="es-419" sz="1600" b="1" i="1" smtClean="0">
                          <a:solidFill>
                            <a:srgbClr val="C00000"/>
                          </a:solidFill>
                          <a:latin typeface="Cambria Math" panose="02040503050406030204" pitchFamily="18" charset="0"/>
                        </a:rPr>
                        <m:t>𝟐𝟕𝟎</m:t>
                      </m:r>
                      <m:r>
                        <a:rPr lang="es-419" sz="1600" b="1" i="1" smtClean="0">
                          <a:solidFill>
                            <a:srgbClr val="C00000"/>
                          </a:solidFill>
                          <a:latin typeface="Cambria Math" panose="02040503050406030204" pitchFamily="18" charset="0"/>
                        </a:rPr>
                        <m:t>.</m:t>
                      </m:r>
                      <m:r>
                        <a:rPr lang="es-419" sz="1600" b="1" i="1" smtClean="0">
                          <a:solidFill>
                            <a:srgbClr val="C00000"/>
                          </a:solidFill>
                          <a:latin typeface="Cambria Math" panose="02040503050406030204" pitchFamily="18" charset="0"/>
                        </a:rPr>
                        <m:t>𝟐𝟖𝟑</m:t>
                      </m:r>
                    </m:oMath>
                  </m:oMathPara>
                </a14:m>
                <a:endParaRPr lang="es-CO" sz="1600" b="1" dirty="0"/>
              </a:p>
            </p:txBody>
          </p:sp>
        </mc:Choice>
        <mc:Fallback xmlns="">
          <p:sp>
            <p:nvSpPr>
              <p:cNvPr id="12" name="CuadroTexto 11">
                <a:extLst>
                  <a:ext uri="{FF2B5EF4-FFF2-40B4-BE49-F238E27FC236}">
                    <a16:creationId xmlns:a16="http://schemas.microsoft.com/office/drawing/2014/main" id="{2E0D655B-F8A8-CC93-9805-68BD71C5966B}"/>
                  </a:ext>
                </a:extLst>
              </p:cNvPr>
              <p:cNvSpPr txBox="1">
                <a:spLocks noRot="1" noChangeAspect="1" noMove="1" noResize="1" noEditPoints="1" noAdjustHandles="1" noChangeArrowheads="1" noChangeShapeType="1" noTextEdit="1"/>
              </p:cNvSpPr>
              <p:nvPr/>
            </p:nvSpPr>
            <p:spPr>
              <a:xfrm>
                <a:off x="6808125" y="4106823"/>
                <a:ext cx="3608617" cy="49366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87269286-C45D-6E18-D8B9-6F2AE04054D8}"/>
                  </a:ext>
                </a:extLst>
              </p:cNvPr>
              <p:cNvSpPr txBox="1"/>
              <p:nvPr/>
            </p:nvSpPr>
            <p:spPr>
              <a:xfrm>
                <a:off x="1448088" y="4102210"/>
                <a:ext cx="3644780" cy="510653"/>
              </a:xfrm>
              <a:prstGeom prst="rect">
                <a:avLst/>
              </a:prstGeom>
              <a:solidFill>
                <a:srgbClr val="FFFFFF"/>
              </a:solidFill>
              <a:ln>
                <a:solidFill>
                  <a:schemeClr val="bg1"/>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419" sz="1600" b="0" i="1" smtClean="0">
                          <a:latin typeface="Cambria Math" panose="02040503050406030204" pitchFamily="18" charset="0"/>
                        </a:rPr>
                        <m:t>𝑃𝑟𝑒𝑐𝑖𝑜</m:t>
                      </m:r>
                      <m:r>
                        <a:rPr lang="es-419" sz="1600" b="0" i="1" smtClean="0">
                          <a:latin typeface="Cambria Math" panose="02040503050406030204" pitchFamily="18" charset="0"/>
                        </a:rPr>
                        <m:t> </m:t>
                      </m:r>
                      <m:r>
                        <a:rPr lang="es-419" sz="1600" b="0" i="1" smtClean="0">
                          <a:latin typeface="Cambria Math" panose="02040503050406030204" pitchFamily="18" charset="0"/>
                        </a:rPr>
                        <m:t>𝑟𝑒𝑎</m:t>
                      </m:r>
                      <m:sSub>
                        <m:sSubPr>
                          <m:ctrlPr>
                            <a:rPr lang="es-419" sz="1600" b="0" i="1" smtClean="0">
                              <a:latin typeface="Cambria Math" panose="02040503050406030204" pitchFamily="18" charset="0"/>
                            </a:rPr>
                          </m:ctrlPr>
                        </m:sSubPr>
                        <m:e>
                          <m:r>
                            <a:rPr lang="es-419" sz="1600" b="0" i="1" smtClean="0">
                              <a:latin typeface="Cambria Math" panose="02040503050406030204" pitchFamily="18" charset="0"/>
                            </a:rPr>
                            <m:t>𝑙</m:t>
                          </m:r>
                        </m:e>
                        <m:sub>
                          <m:r>
                            <a:rPr lang="es-419" sz="1600" b="0" i="1" smtClean="0">
                              <a:latin typeface="Cambria Math" panose="02040503050406030204" pitchFamily="18" charset="0"/>
                            </a:rPr>
                            <m:t>𝑡</m:t>
                          </m:r>
                        </m:sub>
                      </m:sSub>
                      <m:r>
                        <a:rPr lang="es-419" sz="1600" b="0" i="1" smtClean="0">
                          <a:latin typeface="Cambria Math" panose="02040503050406030204" pitchFamily="18" charset="0"/>
                        </a:rPr>
                        <m:t>=</m:t>
                      </m:r>
                      <m:f>
                        <m:fPr>
                          <m:ctrlPr>
                            <a:rPr lang="es-419" sz="1600" b="0" i="1" smtClean="0">
                              <a:latin typeface="Cambria Math" panose="02040503050406030204" pitchFamily="18" charset="0"/>
                            </a:rPr>
                          </m:ctrlPr>
                        </m:fPr>
                        <m:num>
                          <m:r>
                            <a:rPr lang="es-419" sz="1600" b="0" i="1" smtClean="0">
                              <a:latin typeface="Cambria Math" panose="02040503050406030204" pitchFamily="18" charset="0"/>
                            </a:rPr>
                            <m:t>𝑃𝑟𝑒𝑐𝑖𝑜</m:t>
                          </m:r>
                          <m:r>
                            <a:rPr lang="es-419" sz="1600" b="0" i="1" smtClean="0">
                              <a:latin typeface="Cambria Math" panose="02040503050406030204" pitchFamily="18" charset="0"/>
                            </a:rPr>
                            <m:t> </m:t>
                          </m:r>
                          <m:r>
                            <a:rPr lang="es-419" sz="1600" b="0" i="1" smtClean="0">
                              <a:latin typeface="Cambria Math" panose="02040503050406030204" pitchFamily="18" charset="0"/>
                            </a:rPr>
                            <m:t>𝑁𝑜𝑚𝑖𝑛𝑎</m:t>
                          </m:r>
                          <m:sSub>
                            <m:sSubPr>
                              <m:ctrlPr>
                                <a:rPr lang="es-419" sz="1600" b="0" i="1" smtClean="0">
                                  <a:latin typeface="Cambria Math" panose="02040503050406030204" pitchFamily="18" charset="0"/>
                                </a:rPr>
                              </m:ctrlPr>
                            </m:sSubPr>
                            <m:e>
                              <m:r>
                                <a:rPr lang="es-419" sz="1600" b="0" i="1" smtClean="0">
                                  <a:latin typeface="Cambria Math" panose="02040503050406030204" pitchFamily="18" charset="0"/>
                                </a:rPr>
                                <m:t>𝑙</m:t>
                              </m:r>
                            </m:e>
                            <m:sub>
                              <m:r>
                                <a:rPr lang="es-419" sz="1600" b="0" i="1" smtClean="0">
                                  <a:latin typeface="Cambria Math" panose="02040503050406030204" pitchFamily="18" charset="0"/>
                                </a:rPr>
                                <m:t>𝑡</m:t>
                              </m:r>
                            </m:sub>
                          </m:sSub>
                        </m:num>
                        <m:den>
                          <m:r>
                            <a:rPr lang="es-419" sz="1600" b="1" i="1" smtClean="0">
                              <a:solidFill>
                                <a:srgbClr val="C00000"/>
                              </a:solidFill>
                              <a:latin typeface="Cambria Math" panose="02040503050406030204" pitchFamily="18" charset="0"/>
                            </a:rPr>
                            <m:t>𝑭𝒂𝒄𝒕𝒐𝒓</m:t>
                          </m:r>
                          <m:r>
                            <a:rPr lang="es-419" sz="1600" b="1" i="1" smtClean="0">
                              <a:solidFill>
                                <a:srgbClr val="C00000"/>
                              </a:solidFill>
                              <a:latin typeface="Cambria Math" panose="02040503050406030204" pitchFamily="18" charset="0"/>
                            </a:rPr>
                            <m:t> </m:t>
                          </m:r>
                          <m:r>
                            <a:rPr lang="es-419" sz="1600" b="1" i="1" smtClean="0">
                              <a:solidFill>
                                <a:srgbClr val="C00000"/>
                              </a:solidFill>
                              <a:latin typeface="Cambria Math" panose="02040503050406030204" pitchFamily="18" charset="0"/>
                            </a:rPr>
                            <m:t>𝑰𝒏𝒇𝒍𝒂𝒄𝒊𝒐𝒏𝒂𝒓𝒊</m:t>
                          </m:r>
                          <m:sSub>
                            <m:sSubPr>
                              <m:ctrlPr>
                                <a:rPr lang="es-419" sz="1600" b="0" i="1" smtClean="0">
                                  <a:solidFill>
                                    <a:srgbClr val="C00000"/>
                                  </a:solidFill>
                                  <a:latin typeface="Cambria Math" panose="02040503050406030204" pitchFamily="18" charset="0"/>
                                </a:rPr>
                              </m:ctrlPr>
                            </m:sSubPr>
                            <m:e>
                              <m:r>
                                <a:rPr lang="es-419" sz="1600" b="1" i="1" smtClean="0">
                                  <a:solidFill>
                                    <a:srgbClr val="C00000"/>
                                  </a:solidFill>
                                  <a:latin typeface="Cambria Math" panose="02040503050406030204" pitchFamily="18" charset="0"/>
                                </a:rPr>
                                <m:t>𝒐</m:t>
                              </m:r>
                            </m:e>
                            <m:sub>
                              <m:r>
                                <a:rPr lang="es-419" sz="1600" b="0" i="1" smtClean="0">
                                  <a:solidFill>
                                    <a:srgbClr val="C00000"/>
                                  </a:solidFill>
                                  <a:latin typeface="Cambria Math" panose="02040503050406030204" pitchFamily="18" charset="0"/>
                                </a:rPr>
                                <m:t>𝑡</m:t>
                              </m:r>
                            </m:sub>
                          </m:sSub>
                        </m:den>
                      </m:f>
                    </m:oMath>
                  </m:oMathPara>
                </a14:m>
                <a:endParaRPr lang="es-CO" sz="1600" dirty="0"/>
              </a:p>
            </p:txBody>
          </p:sp>
        </mc:Choice>
        <mc:Fallback xmlns="">
          <p:sp>
            <p:nvSpPr>
              <p:cNvPr id="13" name="CuadroTexto 12">
                <a:extLst>
                  <a:ext uri="{FF2B5EF4-FFF2-40B4-BE49-F238E27FC236}">
                    <a16:creationId xmlns:a16="http://schemas.microsoft.com/office/drawing/2014/main" id="{DE4B2C6D-83FF-B761-F40D-364AE09354FF}"/>
                  </a:ext>
                </a:extLst>
              </p:cNvPr>
              <p:cNvSpPr txBox="1">
                <a:spLocks noRot="1" noChangeAspect="1" noMove="1" noResize="1" noEditPoints="1" noAdjustHandles="1" noChangeArrowheads="1" noChangeShapeType="1" noTextEdit="1"/>
              </p:cNvSpPr>
              <p:nvPr/>
            </p:nvSpPr>
            <p:spPr>
              <a:xfrm>
                <a:off x="1448088" y="4102210"/>
                <a:ext cx="3644780" cy="510653"/>
              </a:xfrm>
              <a:prstGeom prst="rect">
                <a:avLst/>
              </a:prstGeom>
              <a:blipFill>
                <a:blip r:embed="rId5"/>
                <a:stretch>
                  <a:fillRect/>
                </a:stretch>
              </a:blipFill>
              <a:ln>
                <a:solidFill>
                  <a:schemeClr val="bg1"/>
                </a:solidFill>
              </a:ln>
            </p:spPr>
            <p:txBody>
              <a:bodyPr/>
              <a:lstStyle/>
              <a:p>
                <a:r>
                  <a:rPr lang="en-US">
                    <a:noFill/>
                  </a:rPr>
                  <a:t> </a:t>
                </a:r>
              </a:p>
            </p:txBody>
          </p:sp>
        </mc:Fallback>
      </mc:AlternateContent>
      <p:sp>
        <p:nvSpPr>
          <p:cNvPr id="14" name="Flecha abajo 25">
            <a:extLst>
              <a:ext uri="{FF2B5EF4-FFF2-40B4-BE49-F238E27FC236}">
                <a16:creationId xmlns:a16="http://schemas.microsoft.com/office/drawing/2014/main" id="{4805683A-5EE3-A21D-CDDE-19A0B3A5B259}"/>
              </a:ext>
            </a:extLst>
          </p:cNvPr>
          <p:cNvSpPr/>
          <p:nvPr/>
        </p:nvSpPr>
        <p:spPr>
          <a:xfrm rot="16200000">
            <a:off x="5701440" y="4035392"/>
            <a:ext cx="498111" cy="641972"/>
          </a:xfrm>
          <a:prstGeom prst="downArrow">
            <a:avLst>
              <a:gd name="adj1" fmla="val 50000"/>
              <a:gd name="adj2" fmla="val 4902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24" name="Conector: angular 23">
            <a:extLst>
              <a:ext uri="{FF2B5EF4-FFF2-40B4-BE49-F238E27FC236}">
                <a16:creationId xmlns:a16="http://schemas.microsoft.com/office/drawing/2014/main" id="{DA0316EC-9441-19D4-6374-34B29457DBBD}"/>
              </a:ext>
            </a:extLst>
          </p:cNvPr>
          <p:cNvCxnSpPr>
            <a:cxnSpLocks/>
            <a:stCxn id="12" idx="3"/>
            <a:endCxn id="26" idx="0"/>
          </p:cNvCxnSpPr>
          <p:nvPr/>
        </p:nvCxnSpPr>
        <p:spPr>
          <a:xfrm flipH="1">
            <a:off x="4794058" y="4353654"/>
            <a:ext cx="5622684" cy="905391"/>
          </a:xfrm>
          <a:prstGeom prst="bentConnector4">
            <a:avLst>
              <a:gd name="adj1" fmla="val -4066"/>
              <a:gd name="adj2" fmla="val 46798"/>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ángulo 25">
            <a:extLst>
              <a:ext uri="{FF2B5EF4-FFF2-40B4-BE49-F238E27FC236}">
                <a16:creationId xmlns:a16="http://schemas.microsoft.com/office/drawing/2014/main" id="{BAE7D961-0EDD-E45E-E906-42D1C598A16F}"/>
              </a:ext>
            </a:extLst>
          </p:cNvPr>
          <p:cNvSpPr/>
          <p:nvPr/>
        </p:nvSpPr>
        <p:spPr>
          <a:xfrm>
            <a:off x="4196966" y="5259045"/>
            <a:ext cx="1194184" cy="294115"/>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33" name="Conector: angular 32">
            <a:extLst>
              <a:ext uri="{FF2B5EF4-FFF2-40B4-BE49-F238E27FC236}">
                <a16:creationId xmlns:a16="http://schemas.microsoft.com/office/drawing/2014/main" id="{627F74A2-18E1-D467-FCBA-D9A2DE74D2FE}"/>
              </a:ext>
            </a:extLst>
          </p:cNvPr>
          <p:cNvCxnSpPr>
            <a:cxnSpLocks/>
            <a:stCxn id="34" idx="2"/>
            <a:endCxn id="12" idx="0"/>
          </p:cNvCxnSpPr>
          <p:nvPr/>
        </p:nvCxnSpPr>
        <p:spPr>
          <a:xfrm rot="16200000" flipH="1">
            <a:off x="6399074" y="1893463"/>
            <a:ext cx="608344" cy="381837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Rectángulo 33">
            <a:extLst>
              <a:ext uri="{FF2B5EF4-FFF2-40B4-BE49-F238E27FC236}">
                <a16:creationId xmlns:a16="http://schemas.microsoft.com/office/drawing/2014/main" id="{15CA871C-95C9-E1A6-F593-D7B56865599E}"/>
              </a:ext>
            </a:extLst>
          </p:cNvPr>
          <p:cNvSpPr/>
          <p:nvPr/>
        </p:nvSpPr>
        <p:spPr>
          <a:xfrm>
            <a:off x="4196966" y="2925484"/>
            <a:ext cx="1194184" cy="572995"/>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2737805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blinds(horizontal)">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4"/>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3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24"/>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26"/>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0" grpId="0"/>
      <p:bldP spid="12" grpId="0"/>
      <p:bldP spid="13" grpId="0" animBg="1"/>
      <p:bldP spid="14" grpId="0" animBg="1"/>
      <p:bldP spid="26" grpId="0" animBg="1"/>
      <p:bldP spid="3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2AD3F-A752-7EDA-8024-B38C58BFE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8CFBA9-CE3A-12DD-4454-B84297F32E28}"/>
              </a:ext>
            </a:extLst>
          </p:cNvPr>
          <p:cNvSpPr>
            <a:spLocks noGrp="1"/>
          </p:cNvSpPr>
          <p:nvPr>
            <p:ph type="title"/>
          </p:nvPr>
        </p:nvSpPr>
        <p:spPr/>
        <p:txBody>
          <a:bodyPr>
            <a:normAutofit/>
          </a:bodyPr>
          <a:lstStyle/>
          <a:p>
            <a:r>
              <a:rPr lang="es-ES" sz="3200" dirty="0">
                <a:latin typeface="Century Gothic" panose="020B0502020202020204" pitchFamily="34" charset="0"/>
              </a:rPr>
              <a:t>Precios constantes (REALES)</a:t>
            </a:r>
            <a:endParaRPr lang="es-ES_tradnl" sz="3200" dirty="0">
              <a:latin typeface="Century Gothic" panose="020B0502020202020204" pitchFamily="34" charset="0"/>
            </a:endParaRPr>
          </a:p>
        </p:txBody>
      </p:sp>
      <p:sp>
        <p:nvSpPr>
          <p:cNvPr id="3" name="Content Placeholder 2">
            <a:extLst>
              <a:ext uri="{FF2B5EF4-FFF2-40B4-BE49-F238E27FC236}">
                <a16:creationId xmlns:a16="http://schemas.microsoft.com/office/drawing/2014/main" id="{5D072E21-9464-7749-E4E6-6EB9475AF80E}"/>
              </a:ext>
            </a:extLst>
          </p:cNvPr>
          <p:cNvSpPr>
            <a:spLocks noGrp="1"/>
          </p:cNvSpPr>
          <p:nvPr>
            <p:ph idx="1"/>
          </p:nvPr>
        </p:nvSpPr>
        <p:spPr>
          <a:xfrm>
            <a:off x="641965" y="2154740"/>
            <a:ext cx="10908070" cy="2117716"/>
          </a:xfrm>
        </p:spPr>
        <p:txBody>
          <a:bodyPr>
            <a:noAutofit/>
          </a:bodyPr>
          <a:lstStyle/>
          <a:p>
            <a:pPr marL="0" indent="0">
              <a:buNone/>
            </a:pPr>
            <a:r>
              <a:rPr lang="es-MX" sz="2400" b="1" dirty="0">
                <a:solidFill>
                  <a:schemeClr val="accent1"/>
                </a:solidFill>
                <a:latin typeface="Century Gothic" panose="020B0502020202020204" pitchFamily="34" charset="0"/>
              </a:rPr>
              <a:t>Métodos:</a:t>
            </a:r>
          </a:p>
          <a:p>
            <a:pPr>
              <a:buFont typeface="Wingdings" panose="05000000000000000000" pitchFamily="2" charset="2"/>
              <a:buChar char="§"/>
            </a:pPr>
            <a:r>
              <a:rPr lang="es-MX" sz="2400" b="1" dirty="0">
                <a:solidFill>
                  <a:schemeClr val="accent1"/>
                </a:solidFill>
                <a:latin typeface="Century Gothic" panose="020B0502020202020204" pitchFamily="34" charset="0"/>
              </a:rPr>
              <a:t>Deflactando cada cuenta del </a:t>
            </a:r>
            <a:r>
              <a:rPr lang="es-MX" sz="2400" b="1" dirty="0" err="1">
                <a:solidFill>
                  <a:schemeClr val="accent1"/>
                </a:solidFill>
                <a:latin typeface="Century Gothic" panose="020B0502020202020204" pitchFamily="34" charset="0"/>
              </a:rPr>
              <a:t>FCL</a:t>
            </a:r>
            <a:r>
              <a:rPr lang="es-MX" sz="2400" b="1" dirty="0">
                <a:solidFill>
                  <a:schemeClr val="accent1"/>
                </a:solidFill>
                <a:latin typeface="Century Gothic" panose="020B0502020202020204" pitchFamily="34" charset="0"/>
              </a:rPr>
              <a:t> mediante el Factor Inflacionario</a:t>
            </a:r>
          </a:p>
          <a:p>
            <a:pPr>
              <a:buFont typeface="Wingdings" panose="05000000000000000000" pitchFamily="2" charset="2"/>
              <a:buChar char="§"/>
            </a:pPr>
            <a:r>
              <a:rPr lang="es-MX" sz="2400" dirty="0">
                <a:solidFill>
                  <a:schemeClr val="accent1"/>
                </a:solidFill>
                <a:latin typeface="Century Gothic" panose="020B0502020202020204" pitchFamily="34" charset="0"/>
              </a:rPr>
              <a:t>Aplicando el Factor inflacionario directamente al </a:t>
            </a:r>
            <a:r>
              <a:rPr lang="es-MX" sz="2400" dirty="0" err="1">
                <a:solidFill>
                  <a:schemeClr val="accent1"/>
                </a:solidFill>
                <a:latin typeface="Century Gothic" panose="020B0502020202020204" pitchFamily="34" charset="0"/>
              </a:rPr>
              <a:t>FCL</a:t>
            </a:r>
            <a:r>
              <a:rPr lang="es-MX" sz="2400" dirty="0">
                <a:solidFill>
                  <a:schemeClr val="accent1"/>
                </a:solidFill>
                <a:latin typeface="Century Gothic" panose="020B0502020202020204" pitchFamily="34" charset="0"/>
              </a:rPr>
              <a:t> </a:t>
            </a:r>
          </a:p>
        </p:txBody>
      </p:sp>
      <p:sp>
        <p:nvSpPr>
          <p:cNvPr id="4" name="Slide Number Placeholder 3">
            <a:extLst>
              <a:ext uri="{FF2B5EF4-FFF2-40B4-BE49-F238E27FC236}">
                <a16:creationId xmlns:a16="http://schemas.microsoft.com/office/drawing/2014/main" id="{8272F940-37C9-0BDE-9FBD-4BC69F802B1D}"/>
              </a:ext>
            </a:extLst>
          </p:cNvPr>
          <p:cNvSpPr>
            <a:spLocks noGrp="1"/>
          </p:cNvSpPr>
          <p:nvPr>
            <p:ph type="sldNum" sz="quarter" idx="12"/>
          </p:nvPr>
        </p:nvSpPr>
        <p:spPr/>
        <p:txBody>
          <a:bodyPr/>
          <a:lstStyle/>
          <a:p>
            <a:fld id="{5E3E23BA-6E79-2442-BA73-D218A5E297C3}" type="slidenum">
              <a:rPr lang="en-US" sz="1800" smtClean="0"/>
              <a:t>24</a:t>
            </a:fld>
            <a:endParaRPr lang="en-US" sz="1800"/>
          </a:p>
        </p:txBody>
      </p:sp>
      <p:sp>
        <p:nvSpPr>
          <p:cNvPr id="5" name="Rectángulo 4">
            <a:extLst>
              <a:ext uri="{FF2B5EF4-FFF2-40B4-BE49-F238E27FC236}">
                <a16:creationId xmlns:a16="http://schemas.microsoft.com/office/drawing/2014/main" id="{F140E284-B598-40A9-9C6A-E00246E9092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B8DCEF57-C8B4-0336-B6F4-AA3ED6D114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C486B79C-AF6A-423C-EAFE-F27751818B4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pic>
        <p:nvPicPr>
          <p:cNvPr id="8" name="Picture 2" descr="Dibujos Animados Brillante Bombilla De Luz Amarilla. Idea Creativa.  Concepto De Inspiración. Ilustración De Vector Dibujado A Mano Aislada  Sobre Fondo Blanco. Ilustraciones svg, vectoriales, clip art vectorizado  libre de derechos. Image">
            <a:extLst>
              <a:ext uri="{FF2B5EF4-FFF2-40B4-BE49-F238E27FC236}">
                <a16:creationId xmlns:a16="http://schemas.microsoft.com/office/drawing/2014/main" id="{76941373-0E4F-37F6-EBD1-342138F763CD}"/>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857771" y="4017856"/>
            <a:ext cx="2142117" cy="21421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11982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5987F-75C1-4BEF-8C9C-79B841C9F0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19D85A-55C9-178E-139A-2DCF11820DD6}"/>
              </a:ext>
            </a:extLst>
          </p:cNvPr>
          <p:cNvSpPr>
            <a:spLocks noGrp="1"/>
          </p:cNvSpPr>
          <p:nvPr>
            <p:ph type="title"/>
          </p:nvPr>
        </p:nvSpPr>
        <p:spPr/>
        <p:txBody>
          <a:bodyPr>
            <a:normAutofit/>
          </a:bodyPr>
          <a:lstStyle/>
          <a:p>
            <a:r>
              <a:rPr lang="es-ES" sz="3200" dirty="0">
                <a:latin typeface="Century Gothic" panose="020B0502020202020204" pitchFamily="34" charset="0"/>
              </a:rPr>
              <a:t>Precios constantes – factor inflacionario </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2BD84D69-89D9-8645-70C9-7E40FDEE15B5}"/>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25</a:t>
            </a:fld>
            <a:endParaRPr lang="en-US" sz="1800" dirty="0"/>
          </a:p>
        </p:txBody>
      </p:sp>
      <p:sp>
        <p:nvSpPr>
          <p:cNvPr id="5" name="Rectángulo 4">
            <a:extLst>
              <a:ext uri="{FF2B5EF4-FFF2-40B4-BE49-F238E27FC236}">
                <a16:creationId xmlns:a16="http://schemas.microsoft.com/office/drawing/2014/main" id="{A9047000-8B71-DEE0-51D3-027050247A7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1312C1D2-B84A-F067-BDFF-2DCDAFF879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9D048F3A-395A-04B7-D436-9D50C79F634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mc:AlternateContent xmlns:mc="http://schemas.openxmlformats.org/markup-compatibility/2006">
        <mc:Choice xmlns:a14="http://schemas.microsoft.com/office/drawing/2010/main" Requires="a14">
          <p:graphicFrame>
            <p:nvGraphicFramePr>
              <p:cNvPr id="11" name="Table 24">
                <a:extLst>
                  <a:ext uri="{FF2B5EF4-FFF2-40B4-BE49-F238E27FC236}">
                    <a16:creationId xmlns:a16="http://schemas.microsoft.com/office/drawing/2014/main" id="{20A99D74-2C94-B0CA-75A0-A307C65E40D1}"/>
                  </a:ext>
                </a:extLst>
              </p:cNvPr>
              <p:cNvGraphicFramePr>
                <a:graphicFrameLocks noGrp="1"/>
              </p:cNvGraphicFramePr>
              <p:nvPr/>
            </p:nvGraphicFramePr>
            <p:xfrm>
              <a:off x="581192" y="1928244"/>
              <a:ext cx="11029618" cy="3980509"/>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09039">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00286">
                    <a:tc>
                      <a:txBody>
                        <a:bodyPr/>
                        <a:lstStyle/>
                        <a:p>
                          <a:pPr algn="ctr"/>
                          <a:r>
                            <a:rPr lang="es-ES_tradnl" sz="1400" b="1" noProof="0" dirty="0">
                              <a:solidFill>
                                <a:schemeClr val="bg1"/>
                              </a:solidFill>
                              <a:latin typeface="Century Gothic" panose="020B0502020202020204" pitchFamily="34" charset="0"/>
                            </a:rPr>
                            <a:t>Factor inflacionario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14:m>
                            <m:oMathPara xmlns:m="http://schemas.openxmlformats.org/officeDocument/2006/math">
                              <m:oMathParaPr>
                                <m:jc m:val="centerGroup"/>
                              </m:oMathParaPr>
                              <m:oMath xmlns:m="http://schemas.openxmlformats.org/officeDocument/2006/math">
                                <m:r>
                                  <a:rPr lang="es-ES_tradnl" sz="1400" b="1" i="1" noProof="0" dirty="0" smtClean="0">
                                    <a:solidFill>
                                      <a:schemeClr val="bg1"/>
                                    </a:solidFill>
                                    <a:latin typeface="Cambria Math" panose="02040503050406030204" pitchFamily="18" charset="0"/>
                                  </a:rPr>
                                  <m:t>𝟏</m:t>
                                </m:r>
                                <m:r>
                                  <a:rPr lang="es-ES_tradnl" sz="1400" b="1" i="1" noProof="0" dirty="0" smtClean="0">
                                    <a:solidFill>
                                      <a:schemeClr val="bg1"/>
                                    </a:solidFill>
                                    <a:latin typeface="Cambria Math" panose="02040503050406030204" pitchFamily="18" charset="0"/>
                                    <a:ea typeface="Cambria Math" panose="02040503050406030204" pitchFamily="18" charset="0"/>
                                  </a:rPr>
                                  <m:t>×</m:t>
                                </m:r>
                                <m:r>
                                  <a:rPr lang="es-ES_tradnl" sz="1400" b="1" i="1" noProof="0" dirty="0" smtClean="0">
                                    <a:solidFill>
                                      <a:schemeClr val="bg1"/>
                                    </a:solidFill>
                                    <a:latin typeface="Cambria Math" panose="02040503050406030204" pitchFamily="18" charset="0"/>
                                    <a:ea typeface="Cambria Math" panose="02040503050406030204" pitchFamily="18" charset="0"/>
                                  </a:rPr>
                                  <m:t>(</m:t>
                                </m:r>
                                <m:r>
                                  <a:rPr lang="es-ES_tradnl" sz="1400" b="1" i="1" noProof="0" dirty="0" smtClean="0">
                                    <a:solidFill>
                                      <a:schemeClr val="bg1"/>
                                    </a:solidFill>
                                    <a:latin typeface="Cambria Math" panose="02040503050406030204" pitchFamily="18" charset="0"/>
                                    <a:ea typeface="Cambria Math" panose="02040503050406030204" pitchFamily="18" charset="0"/>
                                  </a:rPr>
                                  <m:t>𝟏</m:t>
                                </m:r>
                                <m:r>
                                  <a:rPr lang="es-ES_tradnl" sz="1400" b="1" i="1" noProof="0" dirty="0" smtClean="0">
                                    <a:solidFill>
                                      <a:schemeClr val="bg1"/>
                                    </a:solidFill>
                                    <a:latin typeface="Cambria Math" panose="02040503050406030204" pitchFamily="18" charset="0"/>
                                    <a:ea typeface="Cambria Math" panose="02040503050406030204" pitchFamily="18" charset="0"/>
                                  </a:rPr>
                                  <m:t>+</m:t>
                                </m:r>
                                <m:r>
                                  <a:rPr lang="es-ES_tradnl" sz="1400" b="1" i="1" noProof="0" dirty="0" smtClean="0">
                                    <a:solidFill>
                                      <a:schemeClr val="bg1"/>
                                    </a:solidFill>
                                    <a:latin typeface="Cambria Math" panose="02040503050406030204" pitchFamily="18" charset="0"/>
                                    <a:ea typeface="Cambria Math" panose="02040503050406030204" pitchFamily="18" charset="0"/>
                                  </a:rPr>
                                  <m:t>𝟔</m:t>
                                </m:r>
                                <m:r>
                                  <a:rPr lang="es-ES_tradnl" sz="1400" b="1" i="1" noProof="0" dirty="0" smtClean="0">
                                    <a:solidFill>
                                      <a:schemeClr val="bg1"/>
                                    </a:solidFill>
                                    <a:latin typeface="Cambria Math" panose="02040503050406030204" pitchFamily="18" charset="0"/>
                                    <a:ea typeface="Cambria Math" panose="02040503050406030204" pitchFamily="18" charset="0"/>
                                  </a:rPr>
                                  <m:t>%)</m:t>
                                </m:r>
                              </m:oMath>
                            </m:oMathPara>
                          </a14:m>
                          <a:endParaRPr lang="es-ES_tradnl" sz="1400" b="1"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𝟐</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𝟑</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𝟒</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𝟓</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697468560"/>
                      </a:ext>
                    </a:extLst>
                  </a:tr>
                  <a:tr h="300286">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0286">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0286">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00286">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0286">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00286">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00286">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00286">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00286">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55872">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00286">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mc:Choice>
        <mc:Fallback>
          <p:graphicFrame>
            <p:nvGraphicFramePr>
              <p:cNvPr id="11" name="Table 24">
                <a:extLst>
                  <a:ext uri="{FF2B5EF4-FFF2-40B4-BE49-F238E27FC236}">
                    <a16:creationId xmlns:a16="http://schemas.microsoft.com/office/drawing/2014/main" id="{20A99D74-2C94-B0CA-75A0-A307C65E40D1}"/>
                  </a:ext>
                </a:extLst>
              </p:cNvPr>
              <p:cNvGraphicFramePr>
                <a:graphicFrameLocks noGrp="1"/>
              </p:cNvGraphicFramePr>
              <p:nvPr/>
            </p:nvGraphicFramePr>
            <p:xfrm>
              <a:off x="581192" y="1928244"/>
              <a:ext cx="11029618" cy="3980509"/>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09039">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12738">
                    <a:tc>
                      <a:txBody>
                        <a:bodyPr/>
                        <a:lstStyle/>
                        <a:p>
                          <a:pPr algn="ctr"/>
                          <a:r>
                            <a:rPr lang="es-ES_tradnl" sz="1400" b="1" noProof="0" dirty="0">
                              <a:solidFill>
                                <a:schemeClr val="bg1"/>
                              </a:solidFill>
                              <a:latin typeface="Century Gothic" panose="020B0502020202020204" pitchFamily="34" charset="0"/>
                            </a:rPr>
                            <a:t>Factor inflacionario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endParaRPr lang="en-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231092" t="-100000" r="-401681" b="-1076000"/>
                          </a:stretch>
                        </a:blipFill>
                      </a:tcPr>
                    </a:tc>
                    <a:tc>
                      <a:txBody>
                        <a:bodyPr/>
                        <a:lstStyle/>
                        <a:p>
                          <a:endParaRPr lang="en-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331092" t="-100000" r="-301681" b="-1076000"/>
                          </a:stretch>
                        </a:blipFill>
                      </a:tcPr>
                    </a:tc>
                    <a:tc>
                      <a:txBody>
                        <a:bodyPr/>
                        <a:lstStyle/>
                        <a:p>
                          <a:endParaRPr lang="en-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431092" t="-100000" r="-201681" b="-1076000"/>
                          </a:stretch>
                        </a:blipFill>
                      </a:tcPr>
                    </a:tc>
                    <a:tc>
                      <a:txBody>
                        <a:bodyPr/>
                        <a:lstStyle/>
                        <a:p>
                          <a:endParaRPr lang="en-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526667" t="-100000" r="-100000" b="-1076000"/>
                          </a:stretch>
                        </a:blipFill>
                      </a:tcPr>
                    </a:tc>
                    <a:tc>
                      <a:txBody>
                        <a:bodyPr/>
                        <a:lstStyle/>
                        <a:p>
                          <a:endParaRPr lang="en-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631933" t="-100000" r="-840" b="-1076000"/>
                          </a:stretch>
                        </a:blipFill>
                      </a:tcPr>
                    </a:tc>
                    <a:extLst>
                      <a:ext uri="{0D108BD9-81ED-4DB2-BD59-A6C34878D82A}">
                        <a16:rowId xmlns:a16="http://schemas.microsoft.com/office/drawing/2014/main" val="697468560"/>
                      </a:ext>
                    </a:extLst>
                  </a:tr>
                  <a:tr h="300286">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0286">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0286">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00286">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0286">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00286">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00286">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00286">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00286">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55872">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00286">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mc:Fallback>
      </mc:AlternateContent>
    </p:spTree>
    <p:extLst>
      <p:ext uri="{BB962C8B-B14F-4D97-AF65-F5344CB8AC3E}">
        <p14:creationId xmlns:p14="http://schemas.microsoft.com/office/powerpoint/2010/main" val="23831089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F0172-146F-7E82-4CF6-EC2025809F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016E2A-8A15-201D-85A6-1E4DE729D2D3}"/>
              </a:ext>
            </a:extLst>
          </p:cNvPr>
          <p:cNvSpPr>
            <a:spLocks noGrp="1"/>
          </p:cNvSpPr>
          <p:nvPr>
            <p:ph type="title"/>
          </p:nvPr>
        </p:nvSpPr>
        <p:spPr/>
        <p:txBody>
          <a:bodyPr>
            <a:normAutofit/>
          </a:bodyPr>
          <a:lstStyle/>
          <a:p>
            <a:r>
              <a:rPr lang="es-ES" sz="3200" dirty="0">
                <a:latin typeface="Century Gothic" panose="020B0502020202020204" pitchFamily="34" charset="0"/>
              </a:rPr>
              <a:t>Precios constantes – inflación 6% </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0BD3ABF4-89CB-A8E4-55A5-27DA842669AB}"/>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26</a:t>
            </a:fld>
            <a:endParaRPr lang="en-US" sz="1800" dirty="0"/>
          </a:p>
        </p:txBody>
      </p:sp>
      <p:sp>
        <p:nvSpPr>
          <p:cNvPr id="5" name="Rectángulo 4">
            <a:extLst>
              <a:ext uri="{FF2B5EF4-FFF2-40B4-BE49-F238E27FC236}">
                <a16:creationId xmlns:a16="http://schemas.microsoft.com/office/drawing/2014/main" id="{E6E40BF5-D4EA-D799-4308-0E8C1982272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1C0A0723-C940-D579-0962-2FAA358A13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91B657EE-BC4D-9742-3193-3FDDCF784ED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graphicFrame>
            <p:nvGraphicFramePr>
              <p:cNvPr id="11" name="Table 24">
                <a:extLst>
                  <a:ext uri="{FF2B5EF4-FFF2-40B4-BE49-F238E27FC236}">
                    <a16:creationId xmlns:a16="http://schemas.microsoft.com/office/drawing/2014/main" id="{B71605F4-1CCE-2FCD-93C3-0BAC78C8DCFA}"/>
                  </a:ext>
                </a:extLst>
              </p:cNvPr>
              <p:cNvGraphicFramePr>
                <a:graphicFrameLocks noGrp="1"/>
              </p:cNvGraphicFramePr>
              <p:nvPr/>
            </p:nvGraphicFramePr>
            <p:xfrm>
              <a:off x="581192" y="1928244"/>
              <a:ext cx="11029618" cy="3980509"/>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09039">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00286">
                    <a:tc>
                      <a:txBody>
                        <a:bodyPr/>
                        <a:lstStyle/>
                        <a:p>
                          <a:pPr algn="ctr"/>
                          <a:r>
                            <a:rPr lang="es-ES_tradnl" sz="1400" b="1" noProof="0" dirty="0">
                              <a:solidFill>
                                <a:schemeClr val="bg1"/>
                              </a:solidFill>
                              <a:latin typeface="Century Gothic" panose="020B0502020202020204" pitchFamily="34" charset="0"/>
                            </a:rPr>
                            <a:t>Factor inflacionario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14:m>
                            <m:oMathPara xmlns:m="http://schemas.openxmlformats.org/officeDocument/2006/math">
                              <m:oMathParaPr>
                                <m:jc m:val="centerGroup"/>
                              </m:oMathParaPr>
                              <m:oMath xmlns:m="http://schemas.openxmlformats.org/officeDocument/2006/math">
                                <m:r>
                                  <a:rPr lang="es-ES_tradnl" sz="1400" b="1" i="1" noProof="0" dirty="0" smtClean="0">
                                    <a:solidFill>
                                      <a:schemeClr val="bg1"/>
                                    </a:solidFill>
                                    <a:latin typeface="Cambria Math" panose="02040503050406030204" pitchFamily="18" charset="0"/>
                                  </a:rPr>
                                  <m:t>𝟏</m:t>
                                </m:r>
                                <m:r>
                                  <a:rPr lang="es-ES_tradnl" sz="1400" b="1" i="1" noProof="0" dirty="0" smtClean="0">
                                    <a:solidFill>
                                      <a:schemeClr val="bg1"/>
                                    </a:solidFill>
                                    <a:latin typeface="Cambria Math" panose="02040503050406030204" pitchFamily="18" charset="0"/>
                                    <a:ea typeface="Cambria Math" panose="02040503050406030204" pitchFamily="18" charset="0"/>
                                  </a:rPr>
                                  <m:t>×(</m:t>
                                </m:r>
                                <m:r>
                                  <a:rPr lang="es-ES_tradnl" sz="1400" b="1" i="1" noProof="0" dirty="0" smtClean="0">
                                    <a:solidFill>
                                      <a:schemeClr val="bg1"/>
                                    </a:solidFill>
                                    <a:latin typeface="Cambria Math" panose="02040503050406030204" pitchFamily="18" charset="0"/>
                                    <a:ea typeface="Cambria Math" panose="02040503050406030204" pitchFamily="18" charset="0"/>
                                  </a:rPr>
                                  <m:t>𝟏</m:t>
                                </m:r>
                                <m:r>
                                  <a:rPr lang="es-ES_tradnl" sz="1400" b="1" i="1" noProof="0" dirty="0" smtClean="0">
                                    <a:solidFill>
                                      <a:schemeClr val="bg1"/>
                                    </a:solidFill>
                                    <a:latin typeface="Cambria Math" panose="02040503050406030204" pitchFamily="18" charset="0"/>
                                    <a:ea typeface="Cambria Math" panose="02040503050406030204" pitchFamily="18" charset="0"/>
                                  </a:rPr>
                                  <m:t>+</m:t>
                                </m:r>
                                <m:r>
                                  <a:rPr lang="es-ES_tradnl" sz="1400" b="1" i="1" noProof="0" dirty="0" smtClean="0">
                                    <a:solidFill>
                                      <a:schemeClr val="bg1"/>
                                    </a:solidFill>
                                    <a:latin typeface="Cambria Math" panose="02040503050406030204" pitchFamily="18" charset="0"/>
                                    <a:ea typeface="Cambria Math" panose="02040503050406030204" pitchFamily="18" charset="0"/>
                                  </a:rPr>
                                  <m:t>𝟔</m:t>
                                </m:r>
                                <m:r>
                                  <a:rPr lang="es-ES_tradnl" sz="1400" b="1" i="1" noProof="0" dirty="0" smtClean="0">
                                    <a:solidFill>
                                      <a:schemeClr val="bg1"/>
                                    </a:solidFill>
                                    <a:latin typeface="Cambria Math" panose="02040503050406030204" pitchFamily="18" charset="0"/>
                                    <a:ea typeface="Cambria Math" panose="02040503050406030204" pitchFamily="18" charset="0"/>
                                  </a:rPr>
                                  <m:t>%)</m:t>
                                </m:r>
                              </m:oMath>
                            </m:oMathPara>
                          </a14:m>
                          <a:endParaRPr lang="es-ES_tradnl" sz="1400" b="1"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𝟐</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𝟑</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𝟒</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𝟓</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697468560"/>
                      </a:ext>
                    </a:extLst>
                  </a:tr>
                  <a:tr h="300286">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0286">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0286">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00286">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0286">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00286">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00286">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00286">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00286">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55872">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00286">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mc:Choice>
        <mc:Fallback xmlns="">
          <p:graphicFrame>
            <p:nvGraphicFramePr>
              <p:cNvPr id="11" name="Table 24">
                <a:extLst>
                  <a:ext uri="{FF2B5EF4-FFF2-40B4-BE49-F238E27FC236}">
                    <a16:creationId xmlns:a16="http://schemas.microsoft.com/office/drawing/2014/main" id="{B71605F4-1CCE-2FCD-93C3-0BAC78C8DCFA}"/>
                  </a:ext>
                </a:extLst>
              </p:cNvPr>
              <p:cNvGraphicFramePr>
                <a:graphicFrameLocks noGrp="1"/>
              </p:cNvGraphicFramePr>
              <p:nvPr>
                <p:extLst>
                  <p:ext uri="{D42A27DB-BD31-4B8C-83A1-F6EECF244321}">
                    <p14:modId xmlns:p14="http://schemas.microsoft.com/office/powerpoint/2010/main" val="1928817251"/>
                  </p:ext>
                </p:extLst>
              </p:nvPr>
            </p:nvGraphicFramePr>
            <p:xfrm>
              <a:off x="581192" y="1928244"/>
              <a:ext cx="11029618" cy="3980509"/>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09039">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12738">
                    <a:tc>
                      <a:txBody>
                        <a:bodyPr/>
                        <a:lstStyle/>
                        <a:p>
                          <a:pPr algn="ctr"/>
                          <a:r>
                            <a:rPr lang="es-ES_tradnl" sz="1400" b="1" noProof="0" dirty="0">
                              <a:solidFill>
                                <a:schemeClr val="bg1"/>
                              </a:solidFill>
                              <a:latin typeface="Century Gothic" panose="020B0502020202020204" pitchFamily="34" charset="0"/>
                            </a:rPr>
                            <a:t>Factor inflacionario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231092" t="-100000" r="-401681"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331092" t="-100000" r="-301681"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431092" t="-100000" r="-201681"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526667" t="-100000" r="-100000"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631933" t="-100000" r="-840" b="-1076000"/>
                          </a:stretch>
                        </a:blipFill>
                      </a:tcPr>
                    </a:tc>
                    <a:extLst>
                      <a:ext uri="{0D108BD9-81ED-4DB2-BD59-A6C34878D82A}">
                        <a16:rowId xmlns:a16="http://schemas.microsoft.com/office/drawing/2014/main" val="697468560"/>
                      </a:ext>
                    </a:extLst>
                  </a:tr>
                  <a:tr h="300286">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0286">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0286">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00286">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0286">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00286">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00286">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00286">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00286">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55872">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00286">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mc:Fallback>
      </mc:AlternateContent>
      <p:cxnSp>
        <p:nvCxnSpPr>
          <p:cNvPr id="9" name="Conector angular 14">
            <a:extLst>
              <a:ext uri="{FF2B5EF4-FFF2-40B4-BE49-F238E27FC236}">
                <a16:creationId xmlns:a16="http://schemas.microsoft.com/office/drawing/2014/main" id="{41E5A3AC-07E1-EF6E-7442-E4E3811E54CA}"/>
              </a:ext>
            </a:extLst>
          </p:cNvPr>
          <p:cNvCxnSpPr>
            <a:cxnSpLocks/>
            <a:stCxn id="23" idx="1"/>
            <a:endCxn id="16" idx="1"/>
          </p:cNvCxnSpPr>
          <p:nvPr/>
        </p:nvCxnSpPr>
        <p:spPr>
          <a:xfrm rot="10800000" flipH="1" flipV="1">
            <a:off x="4196966" y="2395728"/>
            <a:ext cx="1824357" cy="3881040"/>
          </a:xfrm>
          <a:prstGeom prst="bentConnector3">
            <a:avLst>
              <a:gd name="adj1" fmla="val -12530"/>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56BE7CE7-47B8-417F-C66F-F90F6E0E89B1}"/>
                  </a:ext>
                </a:extLst>
              </p:cNvPr>
              <p:cNvSpPr txBox="1"/>
              <p:nvPr/>
            </p:nvSpPr>
            <p:spPr>
              <a:xfrm>
                <a:off x="6021324" y="6040645"/>
                <a:ext cx="1591781" cy="4722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CO" sz="1600" b="0" i="1" smtClean="0">
                              <a:latin typeface="Cambria Math" panose="02040503050406030204" pitchFamily="18" charset="0"/>
                            </a:rPr>
                          </m:ctrlPr>
                        </m:fPr>
                        <m:num>
                          <m:r>
                            <a:rPr lang="es-CO" sz="1600" b="0" i="1" smtClean="0">
                              <a:latin typeface="Cambria Math" panose="02040503050406030204" pitchFamily="18" charset="0"/>
                            </a:rPr>
                            <m:t>10.600</m:t>
                          </m:r>
                        </m:num>
                        <m:den>
                          <m:r>
                            <a:rPr lang="es-CO" sz="1600" b="0" i="1" smtClean="0">
                              <a:latin typeface="Cambria Math" panose="02040503050406030204" pitchFamily="18" charset="0"/>
                            </a:rPr>
                            <m:t>1+6%</m:t>
                          </m:r>
                        </m:den>
                      </m:f>
                      <m:r>
                        <a:rPr lang="es-CO" sz="1600" b="0" i="1" smtClean="0">
                          <a:latin typeface="Cambria Math" panose="02040503050406030204" pitchFamily="18" charset="0"/>
                        </a:rPr>
                        <m:t>=10.000</m:t>
                      </m:r>
                    </m:oMath>
                  </m:oMathPara>
                </a14:m>
                <a:endParaRPr lang="en-US" sz="1600" dirty="0"/>
              </a:p>
            </p:txBody>
          </p:sp>
        </mc:Choice>
        <mc:Fallback xmlns="">
          <p:sp>
            <p:nvSpPr>
              <p:cNvPr id="16" name="CuadroTexto 15">
                <a:extLst>
                  <a:ext uri="{FF2B5EF4-FFF2-40B4-BE49-F238E27FC236}">
                    <a16:creationId xmlns:a16="http://schemas.microsoft.com/office/drawing/2014/main" id="{56BE7CE7-47B8-417F-C66F-F90F6E0E89B1}"/>
                  </a:ext>
                </a:extLst>
              </p:cNvPr>
              <p:cNvSpPr txBox="1">
                <a:spLocks noRot="1" noChangeAspect="1" noMove="1" noResize="1" noEditPoints="1" noAdjustHandles="1" noChangeArrowheads="1" noChangeShapeType="1" noTextEdit="1"/>
              </p:cNvSpPr>
              <p:nvPr/>
            </p:nvSpPr>
            <p:spPr>
              <a:xfrm>
                <a:off x="6021324" y="6040645"/>
                <a:ext cx="1591781" cy="472245"/>
              </a:xfrm>
              <a:prstGeom prst="rect">
                <a:avLst/>
              </a:prstGeom>
              <a:blipFill>
                <a:blip r:embed="rId4"/>
                <a:stretch>
                  <a:fillRect/>
                </a:stretch>
              </a:blipFill>
            </p:spPr>
            <p:txBody>
              <a:bodyPr/>
              <a:lstStyle/>
              <a:p>
                <a:r>
                  <a:rPr lang="en-US">
                    <a:noFill/>
                  </a:rPr>
                  <a:t> </a:t>
                </a:r>
              </a:p>
            </p:txBody>
          </p:sp>
        </mc:Fallback>
      </mc:AlternateContent>
      <p:cxnSp>
        <p:nvCxnSpPr>
          <p:cNvPr id="18" name="Conector angular 14">
            <a:extLst>
              <a:ext uri="{FF2B5EF4-FFF2-40B4-BE49-F238E27FC236}">
                <a16:creationId xmlns:a16="http://schemas.microsoft.com/office/drawing/2014/main" id="{E6259BB2-ABE5-50C1-1F37-ED3B918FC03E}"/>
              </a:ext>
            </a:extLst>
          </p:cNvPr>
          <p:cNvCxnSpPr>
            <a:cxnSpLocks/>
            <a:stCxn id="16" idx="3"/>
            <a:endCxn id="22" idx="3"/>
          </p:cNvCxnSpPr>
          <p:nvPr/>
        </p:nvCxnSpPr>
        <p:spPr>
          <a:xfrm flipH="1" flipV="1">
            <a:off x="5367529" y="2688256"/>
            <a:ext cx="2245576" cy="3588512"/>
          </a:xfrm>
          <a:prstGeom prst="bentConnector3">
            <a:avLst>
              <a:gd name="adj1" fmla="val -10180"/>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ángulo 21">
            <a:extLst>
              <a:ext uri="{FF2B5EF4-FFF2-40B4-BE49-F238E27FC236}">
                <a16:creationId xmlns:a16="http://schemas.microsoft.com/office/drawing/2014/main" id="{6FA9A39F-DF09-1B21-6433-14F3F33F3FEF}"/>
              </a:ext>
            </a:extLst>
          </p:cNvPr>
          <p:cNvSpPr/>
          <p:nvPr/>
        </p:nvSpPr>
        <p:spPr>
          <a:xfrm>
            <a:off x="4196965" y="2545734"/>
            <a:ext cx="1170564" cy="285043"/>
          </a:xfrm>
          <a:prstGeom prst="rect">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3" name="Rectángulo 22">
            <a:extLst>
              <a:ext uri="{FF2B5EF4-FFF2-40B4-BE49-F238E27FC236}">
                <a16:creationId xmlns:a16="http://schemas.microsoft.com/office/drawing/2014/main" id="{70644C8D-5DC6-E0CB-3180-A699722C6006}"/>
              </a:ext>
            </a:extLst>
          </p:cNvPr>
          <p:cNvSpPr/>
          <p:nvPr/>
        </p:nvSpPr>
        <p:spPr>
          <a:xfrm>
            <a:off x="4196967" y="2253206"/>
            <a:ext cx="1170562" cy="285043"/>
          </a:xfrm>
          <a:prstGeom prst="rect">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6019024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02E5D-3C18-0497-F2A2-4BF1850436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45387-14D1-97A0-3DBE-3D46C776699E}"/>
              </a:ext>
            </a:extLst>
          </p:cNvPr>
          <p:cNvSpPr>
            <a:spLocks noGrp="1"/>
          </p:cNvSpPr>
          <p:nvPr>
            <p:ph type="title"/>
          </p:nvPr>
        </p:nvSpPr>
        <p:spPr/>
        <p:txBody>
          <a:bodyPr>
            <a:normAutofit/>
          </a:bodyPr>
          <a:lstStyle/>
          <a:p>
            <a:r>
              <a:rPr lang="es-ES" sz="3200" dirty="0">
                <a:latin typeface="Century Gothic" panose="020B0502020202020204" pitchFamily="34" charset="0"/>
              </a:rPr>
              <a:t>Precios constantes – inflación 6%</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8873BB4B-13A5-5307-8343-BF60236CBDAC}"/>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27</a:t>
            </a:fld>
            <a:endParaRPr lang="en-US" sz="1800" dirty="0"/>
          </a:p>
        </p:txBody>
      </p:sp>
      <p:sp>
        <p:nvSpPr>
          <p:cNvPr id="5" name="Rectángulo 4">
            <a:extLst>
              <a:ext uri="{FF2B5EF4-FFF2-40B4-BE49-F238E27FC236}">
                <a16:creationId xmlns:a16="http://schemas.microsoft.com/office/drawing/2014/main" id="{A4E5B26D-BB6D-735A-7AF2-8B92A4233A9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CC80E2DC-C63A-3312-E149-EB11B7D01C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C3D92878-F2B2-9BDE-4252-D679F92D7040}"/>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graphicFrame>
            <p:nvGraphicFramePr>
              <p:cNvPr id="11" name="Table 24">
                <a:extLst>
                  <a:ext uri="{FF2B5EF4-FFF2-40B4-BE49-F238E27FC236}">
                    <a16:creationId xmlns:a16="http://schemas.microsoft.com/office/drawing/2014/main" id="{77A8974A-17DB-6447-D14C-750F45433EE1}"/>
                  </a:ext>
                </a:extLst>
              </p:cNvPr>
              <p:cNvGraphicFramePr>
                <a:graphicFrameLocks noGrp="1"/>
              </p:cNvGraphicFramePr>
              <p:nvPr/>
            </p:nvGraphicFramePr>
            <p:xfrm>
              <a:off x="581192" y="1928244"/>
              <a:ext cx="11029618" cy="3980509"/>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09039">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00286">
                    <a:tc>
                      <a:txBody>
                        <a:bodyPr/>
                        <a:lstStyle/>
                        <a:p>
                          <a:pPr algn="ctr"/>
                          <a:r>
                            <a:rPr lang="es-ES_tradnl" sz="1400" b="1" noProof="0" dirty="0">
                              <a:solidFill>
                                <a:schemeClr val="bg1"/>
                              </a:solidFill>
                              <a:latin typeface="Century Gothic" panose="020B0502020202020204" pitchFamily="34" charset="0"/>
                            </a:rPr>
                            <a:t>Factor inflacionario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14:m>
                            <m:oMathPara xmlns:m="http://schemas.openxmlformats.org/officeDocument/2006/math">
                              <m:oMathParaPr>
                                <m:jc m:val="centerGroup"/>
                              </m:oMathParaPr>
                              <m:oMath xmlns:m="http://schemas.openxmlformats.org/officeDocument/2006/math">
                                <m:r>
                                  <a:rPr lang="es-ES_tradnl" sz="1400" b="1" i="1" noProof="0" dirty="0" smtClean="0">
                                    <a:solidFill>
                                      <a:schemeClr val="bg1"/>
                                    </a:solidFill>
                                    <a:latin typeface="Cambria Math" panose="02040503050406030204" pitchFamily="18" charset="0"/>
                                  </a:rPr>
                                  <m:t>𝟏</m:t>
                                </m:r>
                                <m:r>
                                  <a:rPr lang="es-ES_tradnl" sz="1400" b="1" i="1" noProof="0" dirty="0" smtClean="0">
                                    <a:solidFill>
                                      <a:schemeClr val="bg1"/>
                                    </a:solidFill>
                                    <a:latin typeface="Cambria Math" panose="02040503050406030204" pitchFamily="18" charset="0"/>
                                    <a:ea typeface="Cambria Math" panose="02040503050406030204" pitchFamily="18" charset="0"/>
                                  </a:rPr>
                                  <m:t>×(</m:t>
                                </m:r>
                                <m:r>
                                  <a:rPr lang="es-ES_tradnl" sz="1400" b="1" i="1" noProof="0" dirty="0" smtClean="0">
                                    <a:solidFill>
                                      <a:schemeClr val="bg1"/>
                                    </a:solidFill>
                                    <a:latin typeface="Cambria Math" panose="02040503050406030204" pitchFamily="18" charset="0"/>
                                    <a:ea typeface="Cambria Math" panose="02040503050406030204" pitchFamily="18" charset="0"/>
                                  </a:rPr>
                                  <m:t>𝟏</m:t>
                                </m:r>
                                <m:r>
                                  <a:rPr lang="es-ES_tradnl" sz="1400" b="1" i="1" noProof="0" dirty="0" smtClean="0">
                                    <a:solidFill>
                                      <a:schemeClr val="bg1"/>
                                    </a:solidFill>
                                    <a:latin typeface="Cambria Math" panose="02040503050406030204" pitchFamily="18" charset="0"/>
                                    <a:ea typeface="Cambria Math" panose="02040503050406030204" pitchFamily="18" charset="0"/>
                                  </a:rPr>
                                  <m:t>+</m:t>
                                </m:r>
                                <m:r>
                                  <a:rPr lang="es-ES_tradnl" sz="1400" b="1" i="1" noProof="0" dirty="0" smtClean="0">
                                    <a:solidFill>
                                      <a:schemeClr val="bg1"/>
                                    </a:solidFill>
                                    <a:latin typeface="Cambria Math" panose="02040503050406030204" pitchFamily="18" charset="0"/>
                                    <a:ea typeface="Cambria Math" panose="02040503050406030204" pitchFamily="18" charset="0"/>
                                  </a:rPr>
                                  <m:t>𝟔</m:t>
                                </m:r>
                                <m:r>
                                  <a:rPr lang="es-ES_tradnl" sz="1400" b="1" i="1" noProof="0" dirty="0" smtClean="0">
                                    <a:solidFill>
                                      <a:schemeClr val="bg1"/>
                                    </a:solidFill>
                                    <a:latin typeface="Cambria Math" panose="02040503050406030204" pitchFamily="18" charset="0"/>
                                    <a:ea typeface="Cambria Math" panose="02040503050406030204" pitchFamily="18" charset="0"/>
                                  </a:rPr>
                                  <m:t>%)</m:t>
                                </m:r>
                              </m:oMath>
                            </m:oMathPara>
                          </a14:m>
                          <a:endParaRPr lang="es-ES_tradnl" sz="1400" b="1"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𝟐</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𝟑</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𝟒</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𝟓</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697468560"/>
                      </a:ext>
                    </a:extLst>
                  </a:tr>
                  <a:tr h="300286">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0286">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0286">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00286">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0286">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00286">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00286">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00286">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00286">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55872">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00286">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mc:Choice>
        <mc:Fallback xmlns="">
          <p:graphicFrame>
            <p:nvGraphicFramePr>
              <p:cNvPr id="11" name="Table 24">
                <a:extLst>
                  <a:ext uri="{FF2B5EF4-FFF2-40B4-BE49-F238E27FC236}">
                    <a16:creationId xmlns:a16="http://schemas.microsoft.com/office/drawing/2014/main" id="{77A8974A-17DB-6447-D14C-750F45433EE1}"/>
                  </a:ext>
                </a:extLst>
              </p:cNvPr>
              <p:cNvGraphicFramePr>
                <a:graphicFrameLocks noGrp="1"/>
              </p:cNvGraphicFramePr>
              <p:nvPr>
                <p:extLst>
                  <p:ext uri="{D42A27DB-BD31-4B8C-83A1-F6EECF244321}">
                    <p14:modId xmlns:p14="http://schemas.microsoft.com/office/powerpoint/2010/main" val="3694097589"/>
                  </p:ext>
                </p:extLst>
              </p:nvPr>
            </p:nvGraphicFramePr>
            <p:xfrm>
              <a:off x="581192" y="1928244"/>
              <a:ext cx="11029618" cy="3980509"/>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09039">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12738">
                    <a:tc>
                      <a:txBody>
                        <a:bodyPr/>
                        <a:lstStyle/>
                        <a:p>
                          <a:pPr algn="ctr"/>
                          <a:r>
                            <a:rPr lang="es-ES_tradnl" sz="1400" b="1" noProof="0" dirty="0">
                              <a:solidFill>
                                <a:schemeClr val="bg1"/>
                              </a:solidFill>
                              <a:latin typeface="Century Gothic" panose="020B0502020202020204" pitchFamily="34" charset="0"/>
                            </a:rPr>
                            <a:t>Factor inflacionario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231092" t="-100000" r="-401681"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331092" t="-100000" r="-301681"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431092" t="-100000" r="-201681"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526667" t="-100000" r="-100000"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631933" t="-100000" r="-840" b="-1076000"/>
                          </a:stretch>
                        </a:blipFill>
                      </a:tcPr>
                    </a:tc>
                    <a:extLst>
                      <a:ext uri="{0D108BD9-81ED-4DB2-BD59-A6C34878D82A}">
                        <a16:rowId xmlns:a16="http://schemas.microsoft.com/office/drawing/2014/main" val="697468560"/>
                      </a:ext>
                    </a:extLst>
                  </a:tr>
                  <a:tr h="300286">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0286">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0286">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00286">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0286">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00286">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00286">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00286">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00286">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55872">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00286">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mc:Fallback>
      </mc:AlternateContent>
      <p:cxnSp>
        <p:nvCxnSpPr>
          <p:cNvPr id="9" name="Conector angular 14">
            <a:extLst>
              <a:ext uri="{FF2B5EF4-FFF2-40B4-BE49-F238E27FC236}">
                <a16:creationId xmlns:a16="http://schemas.microsoft.com/office/drawing/2014/main" id="{2787BEA3-4497-4C14-5A27-344CD9B8CF1D}"/>
              </a:ext>
            </a:extLst>
          </p:cNvPr>
          <p:cNvCxnSpPr>
            <a:cxnSpLocks/>
            <a:stCxn id="10" idx="3"/>
            <a:endCxn id="22" idx="3"/>
          </p:cNvCxnSpPr>
          <p:nvPr/>
        </p:nvCxnSpPr>
        <p:spPr>
          <a:xfrm flipH="1" flipV="1">
            <a:off x="6885429" y="2684927"/>
            <a:ext cx="1513828" cy="3521257"/>
          </a:xfrm>
          <a:prstGeom prst="bentConnector3">
            <a:avLst>
              <a:gd name="adj1" fmla="val -1510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C936F1C4-885B-2864-E79D-7FCB32AF1167}"/>
                  </a:ext>
                </a:extLst>
              </p:cNvPr>
              <p:cNvSpPr txBox="1"/>
              <p:nvPr/>
            </p:nvSpPr>
            <p:spPr>
              <a:xfrm>
                <a:off x="6373861" y="5953038"/>
                <a:ext cx="2025396" cy="50629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CO" sz="1600" b="0" i="1" smtClean="0">
                              <a:latin typeface="Cambria Math" panose="02040503050406030204" pitchFamily="18" charset="0"/>
                            </a:rPr>
                          </m:ctrlPr>
                        </m:fPr>
                        <m:num>
                          <m:r>
                            <a:rPr lang="es-CO" sz="1600" b="0" i="1" smtClean="0">
                              <a:latin typeface="Cambria Math" panose="02040503050406030204" pitchFamily="18" charset="0"/>
                            </a:rPr>
                            <m:t>11.236</m:t>
                          </m:r>
                        </m:num>
                        <m:den>
                          <m:sSup>
                            <m:sSupPr>
                              <m:ctrlPr>
                                <a:rPr lang="es-CO" sz="1600" b="0" i="1" smtClean="0">
                                  <a:latin typeface="Cambria Math" panose="02040503050406030204" pitchFamily="18" charset="0"/>
                                </a:rPr>
                              </m:ctrlPr>
                            </m:sSupPr>
                            <m:e>
                              <m:r>
                                <a:rPr lang="es-CO" sz="1600" b="0" i="1" smtClean="0">
                                  <a:latin typeface="Cambria Math" panose="02040503050406030204" pitchFamily="18" charset="0"/>
                                </a:rPr>
                                <m:t>(</m:t>
                              </m:r>
                              <m:r>
                                <a:rPr lang="es-CO" sz="1600" i="1">
                                  <a:latin typeface="Cambria Math" panose="02040503050406030204" pitchFamily="18" charset="0"/>
                                </a:rPr>
                                <m:t>1+6%</m:t>
                              </m:r>
                              <m:r>
                                <a:rPr lang="es-CO" sz="1600" b="0" i="1" smtClean="0">
                                  <a:latin typeface="Cambria Math" panose="02040503050406030204" pitchFamily="18" charset="0"/>
                                </a:rPr>
                                <m:t>)</m:t>
                              </m:r>
                            </m:e>
                            <m:sup>
                              <m:r>
                                <a:rPr lang="es-CO" sz="1600" b="0" i="1" smtClean="0">
                                  <a:latin typeface="Cambria Math" panose="02040503050406030204" pitchFamily="18" charset="0"/>
                                </a:rPr>
                                <m:t>2</m:t>
                              </m:r>
                            </m:sup>
                          </m:sSup>
                        </m:den>
                      </m:f>
                      <m:r>
                        <a:rPr lang="es-CO" sz="1600" b="0" i="1" smtClean="0">
                          <a:latin typeface="Cambria Math" panose="02040503050406030204" pitchFamily="18" charset="0"/>
                        </a:rPr>
                        <m:t>=10.000</m:t>
                      </m:r>
                    </m:oMath>
                  </m:oMathPara>
                </a14:m>
                <a:endParaRPr lang="en-US" sz="1600" dirty="0"/>
              </a:p>
            </p:txBody>
          </p:sp>
        </mc:Choice>
        <mc:Fallback xmlns="">
          <p:sp>
            <p:nvSpPr>
              <p:cNvPr id="10" name="CuadroTexto 9">
                <a:extLst>
                  <a:ext uri="{FF2B5EF4-FFF2-40B4-BE49-F238E27FC236}">
                    <a16:creationId xmlns:a16="http://schemas.microsoft.com/office/drawing/2014/main" id="{C936F1C4-885B-2864-E79D-7FCB32AF1167}"/>
                  </a:ext>
                </a:extLst>
              </p:cNvPr>
              <p:cNvSpPr txBox="1">
                <a:spLocks noRot="1" noChangeAspect="1" noMove="1" noResize="1" noEditPoints="1" noAdjustHandles="1" noChangeArrowheads="1" noChangeShapeType="1" noTextEdit="1"/>
              </p:cNvSpPr>
              <p:nvPr/>
            </p:nvSpPr>
            <p:spPr>
              <a:xfrm>
                <a:off x="6373861" y="5953038"/>
                <a:ext cx="2025396" cy="506292"/>
              </a:xfrm>
              <a:prstGeom prst="rect">
                <a:avLst/>
              </a:prstGeom>
              <a:blipFill>
                <a:blip r:embed="rId4"/>
                <a:stretch>
                  <a:fillRect/>
                </a:stretch>
              </a:blipFill>
            </p:spPr>
            <p:txBody>
              <a:bodyPr/>
              <a:lstStyle/>
              <a:p>
                <a:r>
                  <a:rPr lang="en-US">
                    <a:noFill/>
                  </a:rPr>
                  <a:t> </a:t>
                </a:r>
              </a:p>
            </p:txBody>
          </p:sp>
        </mc:Fallback>
      </mc:AlternateContent>
      <p:cxnSp>
        <p:nvCxnSpPr>
          <p:cNvPr id="12" name="Conector angular 14">
            <a:extLst>
              <a:ext uri="{FF2B5EF4-FFF2-40B4-BE49-F238E27FC236}">
                <a16:creationId xmlns:a16="http://schemas.microsoft.com/office/drawing/2014/main" id="{BEBF1E0E-AD79-486D-C682-04B96B1A1FCA}"/>
              </a:ext>
            </a:extLst>
          </p:cNvPr>
          <p:cNvCxnSpPr>
            <a:cxnSpLocks/>
            <a:stCxn id="21" idx="1"/>
            <a:endCxn id="10" idx="2"/>
          </p:cNvCxnSpPr>
          <p:nvPr/>
        </p:nvCxnSpPr>
        <p:spPr>
          <a:xfrm rot="10800000" flipH="1" flipV="1">
            <a:off x="5702531" y="2393252"/>
            <a:ext cx="1684027" cy="4066077"/>
          </a:xfrm>
          <a:prstGeom prst="bentConnector4">
            <a:avLst>
              <a:gd name="adj1" fmla="val -13575"/>
              <a:gd name="adj2" fmla="val 105622"/>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ctángulo 20">
            <a:extLst>
              <a:ext uri="{FF2B5EF4-FFF2-40B4-BE49-F238E27FC236}">
                <a16:creationId xmlns:a16="http://schemas.microsoft.com/office/drawing/2014/main" id="{F9E571C9-04FE-C233-F252-EEE0AD4EE262}"/>
              </a:ext>
            </a:extLst>
          </p:cNvPr>
          <p:cNvSpPr/>
          <p:nvPr/>
        </p:nvSpPr>
        <p:spPr>
          <a:xfrm>
            <a:off x="5702532" y="2250731"/>
            <a:ext cx="1182898" cy="285043"/>
          </a:xfrm>
          <a:prstGeom prst="rect">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2" name="Rectángulo 21">
            <a:extLst>
              <a:ext uri="{FF2B5EF4-FFF2-40B4-BE49-F238E27FC236}">
                <a16:creationId xmlns:a16="http://schemas.microsoft.com/office/drawing/2014/main" id="{F8F3B550-20E6-D098-1267-E0E1BF486BF2}"/>
              </a:ext>
            </a:extLst>
          </p:cNvPr>
          <p:cNvSpPr/>
          <p:nvPr/>
        </p:nvSpPr>
        <p:spPr>
          <a:xfrm>
            <a:off x="5702530" y="2542405"/>
            <a:ext cx="1182899" cy="285043"/>
          </a:xfrm>
          <a:prstGeom prst="rect">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8369238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96939-8400-D1FE-9088-2EE331961C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0D52E0-B292-A7B0-8E63-BD60A56E7723}"/>
              </a:ext>
            </a:extLst>
          </p:cNvPr>
          <p:cNvSpPr>
            <a:spLocks noGrp="1"/>
          </p:cNvSpPr>
          <p:nvPr>
            <p:ph type="title"/>
          </p:nvPr>
        </p:nvSpPr>
        <p:spPr/>
        <p:txBody>
          <a:bodyPr>
            <a:normAutofit/>
          </a:bodyPr>
          <a:lstStyle/>
          <a:p>
            <a:r>
              <a:rPr lang="es-ES" sz="3200" dirty="0">
                <a:latin typeface="Century Gothic" panose="020B0502020202020204" pitchFamily="34" charset="0"/>
              </a:rPr>
              <a:t>Precios constantes – inflación 6%</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E691FF80-BEFD-8377-F1CB-6DA3245DB3E5}"/>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28</a:t>
            </a:fld>
            <a:endParaRPr lang="en-US" sz="1800" dirty="0"/>
          </a:p>
        </p:txBody>
      </p:sp>
      <p:sp>
        <p:nvSpPr>
          <p:cNvPr id="5" name="Rectángulo 4">
            <a:extLst>
              <a:ext uri="{FF2B5EF4-FFF2-40B4-BE49-F238E27FC236}">
                <a16:creationId xmlns:a16="http://schemas.microsoft.com/office/drawing/2014/main" id="{AC3E4FCF-EA87-3152-A29E-94338B0394F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0A0CB365-7D05-00C5-C119-94BC8E4153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7BCDCD95-C89B-C165-D5AF-0D243366067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graphicFrame>
            <p:nvGraphicFramePr>
              <p:cNvPr id="11" name="Table 24">
                <a:extLst>
                  <a:ext uri="{FF2B5EF4-FFF2-40B4-BE49-F238E27FC236}">
                    <a16:creationId xmlns:a16="http://schemas.microsoft.com/office/drawing/2014/main" id="{47FF5DF1-B3AD-5EE5-14B9-95A939D6F836}"/>
                  </a:ext>
                </a:extLst>
              </p:cNvPr>
              <p:cNvGraphicFramePr>
                <a:graphicFrameLocks noGrp="1"/>
              </p:cNvGraphicFramePr>
              <p:nvPr/>
            </p:nvGraphicFramePr>
            <p:xfrm>
              <a:off x="581192" y="1928244"/>
              <a:ext cx="11029618" cy="3980509"/>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09039">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00286">
                    <a:tc>
                      <a:txBody>
                        <a:bodyPr/>
                        <a:lstStyle/>
                        <a:p>
                          <a:pPr algn="ctr"/>
                          <a:r>
                            <a:rPr lang="es-ES_tradnl" sz="1400" b="1" noProof="0" dirty="0">
                              <a:solidFill>
                                <a:schemeClr val="bg1"/>
                              </a:solidFill>
                              <a:latin typeface="Century Gothic" panose="020B0502020202020204" pitchFamily="34" charset="0"/>
                            </a:rPr>
                            <a:t>Factor inflacionario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14:m>
                            <m:oMathPara xmlns:m="http://schemas.openxmlformats.org/officeDocument/2006/math">
                              <m:oMathParaPr>
                                <m:jc m:val="centerGroup"/>
                              </m:oMathParaPr>
                              <m:oMath xmlns:m="http://schemas.openxmlformats.org/officeDocument/2006/math">
                                <m:r>
                                  <a:rPr lang="es-ES_tradnl" sz="1400" b="1" i="1" noProof="0" dirty="0" smtClean="0">
                                    <a:solidFill>
                                      <a:schemeClr val="bg1"/>
                                    </a:solidFill>
                                    <a:latin typeface="Cambria Math" panose="02040503050406030204" pitchFamily="18" charset="0"/>
                                  </a:rPr>
                                  <m:t>𝟏</m:t>
                                </m:r>
                                <m:r>
                                  <a:rPr lang="es-ES_tradnl" sz="1400" b="1" i="1" noProof="0" dirty="0" smtClean="0">
                                    <a:solidFill>
                                      <a:schemeClr val="bg1"/>
                                    </a:solidFill>
                                    <a:latin typeface="Cambria Math" panose="02040503050406030204" pitchFamily="18" charset="0"/>
                                    <a:ea typeface="Cambria Math" panose="02040503050406030204" pitchFamily="18" charset="0"/>
                                  </a:rPr>
                                  <m:t>×(</m:t>
                                </m:r>
                                <m:r>
                                  <a:rPr lang="es-ES_tradnl" sz="1400" b="1" i="1" noProof="0" dirty="0" smtClean="0">
                                    <a:solidFill>
                                      <a:schemeClr val="bg1"/>
                                    </a:solidFill>
                                    <a:latin typeface="Cambria Math" panose="02040503050406030204" pitchFamily="18" charset="0"/>
                                    <a:ea typeface="Cambria Math" panose="02040503050406030204" pitchFamily="18" charset="0"/>
                                  </a:rPr>
                                  <m:t>𝟏</m:t>
                                </m:r>
                                <m:r>
                                  <a:rPr lang="es-ES_tradnl" sz="1400" b="1" i="1" noProof="0" dirty="0" smtClean="0">
                                    <a:solidFill>
                                      <a:schemeClr val="bg1"/>
                                    </a:solidFill>
                                    <a:latin typeface="Cambria Math" panose="02040503050406030204" pitchFamily="18" charset="0"/>
                                    <a:ea typeface="Cambria Math" panose="02040503050406030204" pitchFamily="18" charset="0"/>
                                  </a:rPr>
                                  <m:t>+</m:t>
                                </m:r>
                                <m:r>
                                  <a:rPr lang="es-ES_tradnl" sz="1400" b="1" i="1" noProof="0" dirty="0" smtClean="0">
                                    <a:solidFill>
                                      <a:schemeClr val="bg1"/>
                                    </a:solidFill>
                                    <a:latin typeface="Cambria Math" panose="02040503050406030204" pitchFamily="18" charset="0"/>
                                    <a:ea typeface="Cambria Math" panose="02040503050406030204" pitchFamily="18" charset="0"/>
                                  </a:rPr>
                                  <m:t>𝟔</m:t>
                                </m:r>
                                <m:r>
                                  <a:rPr lang="es-ES_tradnl" sz="1400" b="1" i="1" noProof="0" dirty="0" smtClean="0">
                                    <a:solidFill>
                                      <a:schemeClr val="bg1"/>
                                    </a:solidFill>
                                    <a:latin typeface="Cambria Math" panose="02040503050406030204" pitchFamily="18" charset="0"/>
                                    <a:ea typeface="Cambria Math" panose="02040503050406030204" pitchFamily="18" charset="0"/>
                                  </a:rPr>
                                  <m:t>%)</m:t>
                                </m:r>
                              </m:oMath>
                            </m:oMathPara>
                          </a14:m>
                          <a:endParaRPr lang="es-ES_tradnl" sz="1400" b="1"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𝟐</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𝟑</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𝟒</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𝟓</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697468560"/>
                      </a:ext>
                    </a:extLst>
                  </a:tr>
                  <a:tr h="300286">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0286">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0286">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00286">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0286">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00286">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00286">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00286">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00286">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55872">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00286">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mc:Choice>
        <mc:Fallback xmlns="">
          <p:graphicFrame>
            <p:nvGraphicFramePr>
              <p:cNvPr id="11" name="Table 24">
                <a:extLst>
                  <a:ext uri="{FF2B5EF4-FFF2-40B4-BE49-F238E27FC236}">
                    <a16:creationId xmlns:a16="http://schemas.microsoft.com/office/drawing/2014/main" id="{47FF5DF1-B3AD-5EE5-14B9-95A939D6F836}"/>
                  </a:ext>
                </a:extLst>
              </p:cNvPr>
              <p:cNvGraphicFramePr>
                <a:graphicFrameLocks noGrp="1"/>
              </p:cNvGraphicFramePr>
              <p:nvPr>
                <p:extLst>
                  <p:ext uri="{D42A27DB-BD31-4B8C-83A1-F6EECF244321}">
                    <p14:modId xmlns:p14="http://schemas.microsoft.com/office/powerpoint/2010/main" val="3802492208"/>
                  </p:ext>
                </p:extLst>
              </p:nvPr>
            </p:nvGraphicFramePr>
            <p:xfrm>
              <a:off x="581192" y="1928244"/>
              <a:ext cx="11029618" cy="3980509"/>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09039">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12738">
                    <a:tc>
                      <a:txBody>
                        <a:bodyPr/>
                        <a:lstStyle/>
                        <a:p>
                          <a:pPr algn="ctr"/>
                          <a:r>
                            <a:rPr lang="es-ES_tradnl" sz="1400" b="1" noProof="0" dirty="0">
                              <a:solidFill>
                                <a:schemeClr val="bg1"/>
                              </a:solidFill>
                              <a:latin typeface="Century Gothic" panose="020B0502020202020204" pitchFamily="34" charset="0"/>
                            </a:rPr>
                            <a:t>Factor inflacionario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231092" t="-100000" r="-401681"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331092" t="-100000" r="-301681"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431092" t="-100000" r="-201681"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526667" t="-100000" r="-100000"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631933" t="-100000" r="-840" b="-1076000"/>
                          </a:stretch>
                        </a:blipFill>
                      </a:tcPr>
                    </a:tc>
                    <a:extLst>
                      <a:ext uri="{0D108BD9-81ED-4DB2-BD59-A6C34878D82A}">
                        <a16:rowId xmlns:a16="http://schemas.microsoft.com/office/drawing/2014/main" val="697468560"/>
                      </a:ext>
                    </a:extLst>
                  </a:tr>
                  <a:tr h="300286">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0286">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0286">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00286">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0286">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00286">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00286">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00286">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00286">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55872">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00286">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mc:Fallback>
      </mc:AlternateContent>
    </p:spTree>
    <p:extLst>
      <p:ext uri="{BB962C8B-B14F-4D97-AF65-F5344CB8AC3E}">
        <p14:creationId xmlns:p14="http://schemas.microsoft.com/office/powerpoint/2010/main" val="23298251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E2A8E-4F6E-56F1-3469-7959818446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8C36AD-7118-DB88-0FAC-B2E40CB601A8}"/>
              </a:ext>
            </a:extLst>
          </p:cNvPr>
          <p:cNvSpPr>
            <a:spLocks noGrp="1"/>
          </p:cNvSpPr>
          <p:nvPr>
            <p:ph type="title"/>
          </p:nvPr>
        </p:nvSpPr>
        <p:spPr/>
        <p:txBody>
          <a:bodyPr>
            <a:normAutofit/>
          </a:bodyPr>
          <a:lstStyle/>
          <a:p>
            <a:r>
              <a:rPr lang="es-ES" sz="3200" dirty="0">
                <a:latin typeface="Century Gothic" panose="020B0502020202020204" pitchFamily="34" charset="0"/>
              </a:rPr>
              <a:t>Precios constantes – inflación 6%</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3E7DC762-C65D-CA7D-C3E4-7FFA6F204E3F}"/>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29</a:t>
            </a:fld>
            <a:endParaRPr lang="en-US" sz="1800" dirty="0"/>
          </a:p>
        </p:txBody>
      </p:sp>
      <p:sp>
        <p:nvSpPr>
          <p:cNvPr id="5" name="Rectángulo 4">
            <a:extLst>
              <a:ext uri="{FF2B5EF4-FFF2-40B4-BE49-F238E27FC236}">
                <a16:creationId xmlns:a16="http://schemas.microsoft.com/office/drawing/2014/main" id="{205BE62A-A29F-B30B-353E-D9845EFDB75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FDB7B224-878F-DD2A-385E-F545CB4163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35CDC928-D5A5-1096-8281-355E424D5C6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graphicFrame>
            <p:nvGraphicFramePr>
              <p:cNvPr id="11" name="Table 24">
                <a:extLst>
                  <a:ext uri="{FF2B5EF4-FFF2-40B4-BE49-F238E27FC236}">
                    <a16:creationId xmlns:a16="http://schemas.microsoft.com/office/drawing/2014/main" id="{DEC4461B-0954-BB24-CA7C-7ABAEDF94AB2}"/>
                  </a:ext>
                </a:extLst>
              </p:cNvPr>
              <p:cNvGraphicFramePr>
                <a:graphicFrameLocks noGrp="1"/>
              </p:cNvGraphicFramePr>
              <p:nvPr/>
            </p:nvGraphicFramePr>
            <p:xfrm>
              <a:off x="581192" y="1928244"/>
              <a:ext cx="11029618" cy="3980509"/>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09039">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00286">
                    <a:tc>
                      <a:txBody>
                        <a:bodyPr/>
                        <a:lstStyle/>
                        <a:p>
                          <a:pPr algn="ctr"/>
                          <a:r>
                            <a:rPr lang="es-ES_tradnl" sz="1400" noProof="0" dirty="0">
                              <a:solidFill>
                                <a:schemeClr val="bg1"/>
                              </a:solidFill>
                              <a:latin typeface="Century Gothic" panose="020B0502020202020204" pitchFamily="34" charset="0"/>
                            </a:rPr>
                            <a:t>Factor inflacionario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14:m>
                            <m:oMathPara xmlns:m="http://schemas.openxmlformats.org/officeDocument/2006/math">
                              <m:oMathParaPr>
                                <m:jc m:val="centerGroup"/>
                              </m:oMathParaPr>
                              <m:oMath xmlns:m="http://schemas.openxmlformats.org/officeDocument/2006/math">
                                <m:r>
                                  <a:rPr lang="es-ES_tradnl" sz="1400" b="1" i="1" noProof="0" dirty="0" smtClean="0">
                                    <a:solidFill>
                                      <a:schemeClr val="bg1"/>
                                    </a:solidFill>
                                    <a:latin typeface="Cambria Math" panose="02040503050406030204" pitchFamily="18" charset="0"/>
                                  </a:rPr>
                                  <m:t>𝟏</m:t>
                                </m:r>
                                <m:r>
                                  <a:rPr lang="es-ES_tradnl" sz="1400" b="1" i="1" noProof="0" dirty="0" smtClean="0">
                                    <a:solidFill>
                                      <a:schemeClr val="bg1"/>
                                    </a:solidFill>
                                    <a:latin typeface="Cambria Math" panose="02040503050406030204" pitchFamily="18" charset="0"/>
                                    <a:ea typeface="Cambria Math" panose="02040503050406030204" pitchFamily="18" charset="0"/>
                                  </a:rPr>
                                  <m:t>×(</m:t>
                                </m:r>
                                <m:r>
                                  <a:rPr lang="es-ES_tradnl" sz="1400" b="1" i="1" noProof="0" dirty="0" smtClean="0">
                                    <a:solidFill>
                                      <a:schemeClr val="bg1"/>
                                    </a:solidFill>
                                    <a:latin typeface="Cambria Math" panose="02040503050406030204" pitchFamily="18" charset="0"/>
                                    <a:ea typeface="Cambria Math" panose="02040503050406030204" pitchFamily="18" charset="0"/>
                                  </a:rPr>
                                  <m:t>𝟏</m:t>
                                </m:r>
                                <m:r>
                                  <a:rPr lang="es-ES_tradnl" sz="1400" b="1" i="1" noProof="0" dirty="0" smtClean="0">
                                    <a:solidFill>
                                      <a:schemeClr val="bg1"/>
                                    </a:solidFill>
                                    <a:latin typeface="Cambria Math" panose="02040503050406030204" pitchFamily="18" charset="0"/>
                                    <a:ea typeface="Cambria Math" panose="02040503050406030204" pitchFamily="18" charset="0"/>
                                  </a:rPr>
                                  <m:t>+</m:t>
                                </m:r>
                                <m:r>
                                  <a:rPr lang="es-ES_tradnl" sz="1400" b="1" i="1" noProof="0" dirty="0" smtClean="0">
                                    <a:solidFill>
                                      <a:schemeClr val="bg1"/>
                                    </a:solidFill>
                                    <a:latin typeface="Cambria Math" panose="02040503050406030204" pitchFamily="18" charset="0"/>
                                    <a:ea typeface="Cambria Math" panose="02040503050406030204" pitchFamily="18" charset="0"/>
                                  </a:rPr>
                                  <m:t>𝟔</m:t>
                                </m:r>
                                <m:r>
                                  <a:rPr lang="es-ES_tradnl" sz="1400" b="1" i="1" noProof="0" dirty="0" smtClean="0">
                                    <a:solidFill>
                                      <a:schemeClr val="bg1"/>
                                    </a:solidFill>
                                    <a:latin typeface="Cambria Math" panose="02040503050406030204" pitchFamily="18" charset="0"/>
                                    <a:ea typeface="Cambria Math" panose="02040503050406030204" pitchFamily="18" charset="0"/>
                                  </a:rPr>
                                  <m:t>%)</m:t>
                                </m:r>
                              </m:oMath>
                            </m:oMathPara>
                          </a14:m>
                          <a:endParaRPr lang="es-ES_tradnl" sz="1400" b="1"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𝟐</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𝟑</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𝟒</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𝟓</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697468560"/>
                      </a:ext>
                    </a:extLst>
                  </a:tr>
                  <a:tr h="300286">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0286">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0286">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00286">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0286">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00286">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00286">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00286">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00286">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55872">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00286">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mc:Choice>
        <mc:Fallback xmlns="">
          <p:graphicFrame>
            <p:nvGraphicFramePr>
              <p:cNvPr id="11" name="Table 24">
                <a:extLst>
                  <a:ext uri="{FF2B5EF4-FFF2-40B4-BE49-F238E27FC236}">
                    <a16:creationId xmlns:a16="http://schemas.microsoft.com/office/drawing/2014/main" id="{DEC4461B-0954-BB24-CA7C-7ABAEDF94AB2}"/>
                  </a:ext>
                </a:extLst>
              </p:cNvPr>
              <p:cNvGraphicFramePr>
                <a:graphicFrameLocks noGrp="1"/>
              </p:cNvGraphicFramePr>
              <p:nvPr>
                <p:extLst>
                  <p:ext uri="{D42A27DB-BD31-4B8C-83A1-F6EECF244321}">
                    <p14:modId xmlns:p14="http://schemas.microsoft.com/office/powerpoint/2010/main" val="198957348"/>
                  </p:ext>
                </p:extLst>
              </p:nvPr>
            </p:nvGraphicFramePr>
            <p:xfrm>
              <a:off x="581192" y="1928244"/>
              <a:ext cx="11029618" cy="3980509"/>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09039">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12738">
                    <a:tc>
                      <a:txBody>
                        <a:bodyPr/>
                        <a:lstStyle/>
                        <a:p>
                          <a:pPr algn="ctr"/>
                          <a:r>
                            <a:rPr lang="es-ES_tradnl" sz="1400" noProof="0" dirty="0">
                              <a:solidFill>
                                <a:schemeClr val="bg1"/>
                              </a:solidFill>
                              <a:latin typeface="Century Gothic" panose="020B0502020202020204" pitchFamily="34" charset="0"/>
                            </a:rPr>
                            <a:t>Factor inflacionario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4"/>
                          <a:stretch>
                            <a:fillRect l="-231092" t="-100000" r="-401681"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4"/>
                          <a:stretch>
                            <a:fillRect l="-331092" t="-100000" r="-301681"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4"/>
                          <a:stretch>
                            <a:fillRect l="-431092" t="-100000" r="-201681"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4"/>
                          <a:stretch>
                            <a:fillRect l="-526667" t="-100000" r="-100000"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4"/>
                          <a:stretch>
                            <a:fillRect l="-631933" t="-100000" r="-840" b="-1076000"/>
                          </a:stretch>
                        </a:blipFill>
                      </a:tcPr>
                    </a:tc>
                    <a:extLst>
                      <a:ext uri="{0D108BD9-81ED-4DB2-BD59-A6C34878D82A}">
                        <a16:rowId xmlns:a16="http://schemas.microsoft.com/office/drawing/2014/main" val="697468560"/>
                      </a:ext>
                    </a:extLst>
                  </a:tr>
                  <a:tr h="300286">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0286">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0286">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00286">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0286">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00286">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00286">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00286">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00286">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55872">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00286">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mc:Fallback>
      </mc:AlternateContent>
    </p:spTree>
    <p:extLst>
      <p:ext uri="{BB962C8B-B14F-4D97-AF65-F5344CB8AC3E}">
        <p14:creationId xmlns:p14="http://schemas.microsoft.com/office/powerpoint/2010/main" val="15387415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60227-7609-3C5A-DD45-DDD31CDBF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7A1F06-2DCC-80C9-DC32-370D5E52C9AC}"/>
              </a:ext>
            </a:extLst>
          </p:cNvPr>
          <p:cNvSpPr>
            <a:spLocks noGrp="1"/>
          </p:cNvSpPr>
          <p:nvPr>
            <p:ph type="title"/>
          </p:nvPr>
        </p:nvSpPr>
        <p:spPr/>
        <p:txBody>
          <a:bodyPr>
            <a:normAutofit/>
          </a:bodyPr>
          <a:lstStyle/>
          <a:p>
            <a:r>
              <a:rPr lang="es-ES" sz="3200" dirty="0">
                <a:latin typeface="Century Gothic" panose="020B0502020202020204" pitchFamily="34" charset="0"/>
              </a:rPr>
              <a:t>Precios constantes – inflación 6%</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6CCE5A9F-F31A-252B-ACA1-8B85829CF53A}"/>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30</a:t>
            </a:fld>
            <a:endParaRPr lang="en-US" sz="1800" dirty="0"/>
          </a:p>
        </p:txBody>
      </p:sp>
      <p:sp>
        <p:nvSpPr>
          <p:cNvPr id="5" name="Rectángulo 4">
            <a:extLst>
              <a:ext uri="{FF2B5EF4-FFF2-40B4-BE49-F238E27FC236}">
                <a16:creationId xmlns:a16="http://schemas.microsoft.com/office/drawing/2014/main" id="{1308705A-FD19-9258-C91F-F18D4C52964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70885092-76DD-58ED-ED02-4000207D79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999C0A88-274D-E64B-D318-43C28230F3A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graphicFrame>
            <p:nvGraphicFramePr>
              <p:cNvPr id="11" name="Table 24">
                <a:extLst>
                  <a:ext uri="{FF2B5EF4-FFF2-40B4-BE49-F238E27FC236}">
                    <a16:creationId xmlns:a16="http://schemas.microsoft.com/office/drawing/2014/main" id="{758FD637-A691-F1DD-A154-6A76D92A0899}"/>
                  </a:ext>
                </a:extLst>
              </p:cNvPr>
              <p:cNvGraphicFramePr>
                <a:graphicFrameLocks noGrp="1"/>
              </p:cNvGraphicFramePr>
              <p:nvPr/>
            </p:nvGraphicFramePr>
            <p:xfrm>
              <a:off x="581192" y="1928244"/>
              <a:ext cx="11029618" cy="3980509"/>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09039">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00286">
                    <a:tc>
                      <a:txBody>
                        <a:bodyPr/>
                        <a:lstStyle/>
                        <a:p>
                          <a:pPr algn="ctr"/>
                          <a:r>
                            <a:rPr lang="es-ES_tradnl" sz="1400" b="1" noProof="0" dirty="0">
                              <a:solidFill>
                                <a:schemeClr val="bg1"/>
                              </a:solidFill>
                              <a:latin typeface="Century Gothic" panose="020B0502020202020204" pitchFamily="34" charset="0"/>
                            </a:rPr>
                            <a:t>Factor inflacionario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14:m>
                            <m:oMathPara xmlns:m="http://schemas.openxmlformats.org/officeDocument/2006/math">
                              <m:oMathParaPr>
                                <m:jc m:val="centerGroup"/>
                              </m:oMathParaPr>
                              <m:oMath xmlns:m="http://schemas.openxmlformats.org/officeDocument/2006/math">
                                <m:r>
                                  <a:rPr lang="es-ES_tradnl" sz="1400" b="1" i="1" noProof="0" dirty="0" smtClean="0">
                                    <a:solidFill>
                                      <a:schemeClr val="bg1"/>
                                    </a:solidFill>
                                    <a:latin typeface="Cambria Math" panose="02040503050406030204" pitchFamily="18" charset="0"/>
                                  </a:rPr>
                                  <m:t>𝟏</m:t>
                                </m:r>
                                <m:r>
                                  <a:rPr lang="es-ES_tradnl" sz="1400" b="1" i="1" noProof="0" dirty="0" smtClean="0">
                                    <a:solidFill>
                                      <a:schemeClr val="bg1"/>
                                    </a:solidFill>
                                    <a:latin typeface="Cambria Math" panose="02040503050406030204" pitchFamily="18" charset="0"/>
                                    <a:ea typeface="Cambria Math" panose="02040503050406030204" pitchFamily="18" charset="0"/>
                                  </a:rPr>
                                  <m:t>×(</m:t>
                                </m:r>
                                <m:r>
                                  <a:rPr lang="es-ES_tradnl" sz="1400" b="1" i="1" noProof="0" dirty="0" smtClean="0">
                                    <a:solidFill>
                                      <a:schemeClr val="bg1"/>
                                    </a:solidFill>
                                    <a:latin typeface="Cambria Math" panose="02040503050406030204" pitchFamily="18" charset="0"/>
                                    <a:ea typeface="Cambria Math" panose="02040503050406030204" pitchFamily="18" charset="0"/>
                                  </a:rPr>
                                  <m:t>𝟏</m:t>
                                </m:r>
                                <m:r>
                                  <a:rPr lang="es-ES_tradnl" sz="1400" b="1" i="1" noProof="0" dirty="0" smtClean="0">
                                    <a:solidFill>
                                      <a:schemeClr val="bg1"/>
                                    </a:solidFill>
                                    <a:latin typeface="Cambria Math" panose="02040503050406030204" pitchFamily="18" charset="0"/>
                                    <a:ea typeface="Cambria Math" panose="02040503050406030204" pitchFamily="18" charset="0"/>
                                  </a:rPr>
                                  <m:t>+</m:t>
                                </m:r>
                                <m:r>
                                  <a:rPr lang="es-ES_tradnl" sz="1400" b="1" i="1" noProof="0" dirty="0" smtClean="0">
                                    <a:solidFill>
                                      <a:schemeClr val="bg1"/>
                                    </a:solidFill>
                                    <a:latin typeface="Cambria Math" panose="02040503050406030204" pitchFamily="18" charset="0"/>
                                    <a:ea typeface="Cambria Math" panose="02040503050406030204" pitchFamily="18" charset="0"/>
                                  </a:rPr>
                                  <m:t>𝟔</m:t>
                                </m:r>
                                <m:r>
                                  <a:rPr lang="es-ES_tradnl" sz="1400" b="1" i="1" noProof="0" dirty="0" smtClean="0">
                                    <a:solidFill>
                                      <a:schemeClr val="bg1"/>
                                    </a:solidFill>
                                    <a:latin typeface="Cambria Math" panose="02040503050406030204" pitchFamily="18" charset="0"/>
                                    <a:ea typeface="Cambria Math" panose="02040503050406030204" pitchFamily="18" charset="0"/>
                                  </a:rPr>
                                  <m:t>%)</m:t>
                                </m:r>
                              </m:oMath>
                            </m:oMathPara>
                          </a14:m>
                          <a:endParaRPr lang="es-ES_tradnl" sz="1400" b="1"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𝟐</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𝟑</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𝟒</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𝟓</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697468560"/>
                      </a:ext>
                    </a:extLst>
                  </a:tr>
                  <a:tr h="300286">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0286">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0286">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00286">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0286">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00286">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b="1" noProof="0" dirty="0">
                              <a:solidFill>
                                <a:srgbClr val="C00000"/>
                              </a:solidFill>
                              <a:latin typeface="Century Gothic" panose="020B0502020202020204" pitchFamily="34" charset="0"/>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00286">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00286">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00286">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55872">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00286">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mc:Choice>
        <mc:Fallback xmlns="">
          <p:graphicFrame>
            <p:nvGraphicFramePr>
              <p:cNvPr id="11" name="Table 24">
                <a:extLst>
                  <a:ext uri="{FF2B5EF4-FFF2-40B4-BE49-F238E27FC236}">
                    <a16:creationId xmlns:a16="http://schemas.microsoft.com/office/drawing/2014/main" id="{758FD637-A691-F1DD-A154-6A76D92A0899}"/>
                  </a:ext>
                </a:extLst>
              </p:cNvPr>
              <p:cNvGraphicFramePr>
                <a:graphicFrameLocks noGrp="1"/>
              </p:cNvGraphicFramePr>
              <p:nvPr>
                <p:extLst>
                  <p:ext uri="{D42A27DB-BD31-4B8C-83A1-F6EECF244321}">
                    <p14:modId xmlns:p14="http://schemas.microsoft.com/office/powerpoint/2010/main" val="1138249954"/>
                  </p:ext>
                </p:extLst>
              </p:nvPr>
            </p:nvGraphicFramePr>
            <p:xfrm>
              <a:off x="581192" y="1928244"/>
              <a:ext cx="11029618" cy="3980509"/>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09039">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12738">
                    <a:tc>
                      <a:txBody>
                        <a:bodyPr/>
                        <a:lstStyle/>
                        <a:p>
                          <a:pPr algn="ctr"/>
                          <a:r>
                            <a:rPr lang="es-ES_tradnl" sz="1400" b="1" noProof="0" dirty="0">
                              <a:solidFill>
                                <a:schemeClr val="bg1"/>
                              </a:solidFill>
                              <a:latin typeface="Century Gothic" panose="020B0502020202020204" pitchFamily="34" charset="0"/>
                            </a:rPr>
                            <a:t>Factor inflacionario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231092" t="-100000" r="-401681"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331092" t="-100000" r="-301681"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431092" t="-100000" r="-201681"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526667" t="-100000" r="-100000"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631933" t="-100000" r="-840" b="-1076000"/>
                          </a:stretch>
                        </a:blipFill>
                      </a:tcPr>
                    </a:tc>
                    <a:extLst>
                      <a:ext uri="{0D108BD9-81ED-4DB2-BD59-A6C34878D82A}">
                        <a16:rowId xmlns:a16="http://schemas.microsoft.com/office/drawing/2014/main" val="697468560"/>
                      </a:ext>
                    </a:extLst>
                  </a:tr>
                  <a:tr h="300286">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0286">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0286">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00286">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0286">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00286">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b="1" noProof="0" dirty="0">
                              <a:solidFill>
                                <a:srgbClr val="C00000"/>
                              </a:solidFill>
                              <a:latin typeface="Century Gothic" panose="020B0502020202020204" pitchFamily="34" charset="0"/>
                            </a:rPr>
                            <a:t>$4.000.000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00286">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00286">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00286">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55872">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00286">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mc:Fallback>
      </mc:AlternateContent>
    </p:spTree>
    <p:extLst>
      <p:ext uri="{BB962C8B-B14F-4D97-AF65-F5344CB8AC3E}">
        <p14:creationId xmlns:p14="http://schemas.microsoft.com/office/powerpoint/2010/main" val="16993674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906F1-F823-24C9-21D6-A4D860B2E9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02F8ED-9956-71C7-8A14-595F31D47CED}"/>
              </a:ext>
            </a:extLst>
          </p:cNvPr>
          <p:cNvSpPr>
            <a:spLocks noGrp="1"/>
          </p:cNvSpPr>
          <p:nvPr>
            <p:ph type="title"/>
          </p:nvPr>
        </p:nvSpPr>
        <p:spPr/>
        <p:txBody>
          <a:bodyPr>
            <a:normAutofit/>
          </a:bodyPr>
          <a:lstStyle/>
          <a:p>
            <a:r>
              <a:rPr lang="es-ES" sz="3200" dirty="0">
                <a:latin typeface="Century Gothic" panose="020B0502020202020204" pitchFamily="34" charset="0"/>
              </a:rPr>
              <a:t>Precios constantes – inflación 6%</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957AAC21-7266-4298-50B9-762E501AD236}"/>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31</a:t>
            </a:fld>
            <a:endParaRPr lang="en-US" sz="1800" dirty="0"/>
          </a:p>
        </p:txBody>
      </p:sp>
      <p:sp>
        <p:nvSpPr>
          <p:cNvPr id="5" name="Rectángulo 4">
            <a:extLst>
              <a:ext uri="{FF2B5EF4-FFF2-40B4-BE49-F238E27FC236}">
                <a16:creationId xmlns:a16="http://schemas.microsoft.com/office/drawing/2014/main" id="{84693BAC-BA76-593F-A7CA-0D1028E457D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4D293A47-4354-B8D5-31AE-13D7AC28ED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5664EB8B-C19E-3FAD-3B43-5CE54F5E9250}"/>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graphicFrame>
            <p:nvGraphicFramePr>
              <p:cNvPr id="11" name="Table 24">
                <a:extLst>
                  <a:ext uri="{FF2B5EF4-FFF2-40B4-BE49-F238E27FC236}">
                    <a16:creationId xmlns:a16="http://schemas.microsoft.com/office/drawing/2014/main" id="{7C1A1A6D-62A0-3D08-3353-7A80103B17E3}"/>
                  </a:ext>
                </a:extLst>
              </p:cNvPr>
              <p:cNvGraphicFramePr>
                <a:graphicFrameLocks noGrp="1"/>
              </p:cNvGraphicFramePr>
              <p:nvPr/>
            </p:nvGraphicFramePr>
            <p:xfrm>
              <a:off x="581192" y="1928244"/>
              <a:ext cx="11029618" cy="3980509"/>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09039">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00286">
                    <a:tc>
                      <a:txBody>
                        <a:bodyPr/>
                        <a:lstStyle/>
                        <a:p>
                          <a:pPr algn="ctr"/>
                          <a:r>
                            <a:rPr lang="es-ES_tradnl" sz="1400" b="1" noProof="0" dirty="0">
                              <a:solidFill>
                                <a:schemeClr val="bg1"/>
                              </a:solidFill>
                              <a:latin typeface="Century Gothic" panose="020B0502020202020204" pitchFamily="34" charset="0"/>
                            </a:rPr>
                            <a:t>Factor inflacionario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14:m>
                            <m:oMathPara xmlns:m="http://schemas.openxmlformats.org/officeDocument/2006/math">
                              <m:oMathParaPr>
                                <m:jc m:val="centerGroup"/>
                              </m:oMathParaPr>
                              <m:oMath xmlns:m="http://schemas.openxmlformats.org/officeDocument/2006/math">
                                <m:r>
                                  <a:rPr lang="es-ES_tradnl" sz="1400" b="1" i="1" noProof="0" dirty="0" smtClean="0">
                                    <a:solidFill>
                                      <a:schemeClr val="bg1"/>
                                    </a:solidFill>
                                    <a:latin typeface="Cambria Math" panose="02040503050406030204" pitchFamily="18" charset="0"/>
                                  </a:rPr>
                                  <m:t>𝟏</m:t>
                                </m:r>
                                <m:r>
                                  <a:rPr lang="es-ES_tradnl" sz="1400" b="1" i="1" noProof="0" dirty="0" smtClean="0">
                                    <a:solidFill>
                                      <a:schemeClr val="bg1"/>
                                    </a:solidFill>
                                    <a:latin typeface="Cambria Math" panose="02040503050406030204" pitchFamily="18" charset="0"/>
                                    <a:ea typeface="Cambria Math" panose="02040503050406030204" pitchFamily="18" charset="0"/>
                                  </a:rPr>
                                  <m:t>×(</m:t>
                                </m:r>
                                <m:r>
                                  <a:rPr lang="es-ES_tradnl" sz="1400" b="1" i="1" noProof="0" dirty="0" smtClean="0">
                                    <a:solidFill>
                                      <a:schemeClr val="bg1"/>
                                    </a:solidFill>
                                    <a:latin typeface="Cambria Math" panose="02040503050406030204" pitchFamily="18" charset="0"/>
                                    <a:ea typeface="Cambria Math" panose="02040503050406030204" pitchFamily="18" charset="0"/>
                                  </a:rPr>
                                  <m:t>𝟏</m:t>
                                </m:r>
                                <m:r>
                                  <a:rPr lang="es-ES_tradnl" sz="1400" b="1" i="1" noProof="0" dirty="0" smtClean="0">
                                    <a:solidFill>
                                      <a:schemeClr val="bg1"/>
                                    </a:solidFill>
                                    <a:latin typeface="Cambria Math" panose="02040503050406030204" pitchFamily="18" charset="0"/>
                                    <a:ea typeface="Cambria Math" panose="02040503050406030204" pitchFamily="18" charset="0"/>
                                  </a:rPr>
                                  <m:t>+</m:t>
                                </m:r>
                                <m:r>
                                  <a:rPr lang="es-ES_tradnl" sz="1400" b="1" i="1" noProof="0" dirty="0" smtClean="0">
                                    <a:solidFill>
                                      <a:schemeClr val="bg1"/>
                                    </a:solidFill>
                                    <a:latin typeface="Cambria Math" panose="02040503050406030204" pitchFamily="18" charset="0"/>
                                    <a:ea typeface="Cambria Math" panose="02040503050406030204" pitchFamily="18" charset="0"/>
                                  </a:rPr>
                                  <m:t>𝟔</m:t>
                                </m:r>
                                <m:r>
                                  <a:rPr lang="es-ES_tradnl" sz="1400" b="1" i="1" noProof="0" dirty="0" smtClean="0">
                                    <a:solidFill>
                                      <a:schemeClr val="bg1"/>
                                    </a:solidFill>
                                    <a:latin typeface="Cambria Math" panose="02040503050406030204" pitchFamily="18" charset="0"/>
                                    <a:ea typeface="Cambria Math" panose="02040503050406030204" pitchFamily="18" charset="0"/>
                                  </a:rPr>
                                  <m:t>%)</m:t>
                                </m:r>
                              </m:oMath>
                            </m:oMathPara>
                          </a14:m>
                          <a:endParaRPr lang="es-ES_tradnl" sz="1400" b="1"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𝟐</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𝟑</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𝟒</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𝟓</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697468560"/>
                      </a:ext>
                    </a:extLst>
                  </a:tr>
                  <a:tr h="300286">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0286">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0286">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00286">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0286">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00286">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b="1" noProof="0" dirty="0">
                              <a:solidFill>
                                <a:srgbClr val="C00000"/>
                              </a:solidFill>
                              <a:latin typeface="Century Gothic" panose="020B0502020202020204" pitchFamily="34" charset="0"/>
                            </a:rPr>
                            <a:t>$3.773.585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FFFF0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$3.559.986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$4.358.477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$3.168.375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$2.989.033</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00286">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00286">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00286">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55872">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00286">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mc:Choice>
        <mc:Fallback xmlns="">
          <p:graphicFrame>
            <p:nvGraphicFramePr>
              <p:cNvPr id="11" name="Table 24">
                <a:extLst>
                  <a:ext uri="{FF2B5EF4-FFF2-40B4-BE49-F238E27FC236}">
                    <a16:creationId xmlns:a16="http://schemas.microsoft.com/office/drawing/2014/main" id="{7C1A1A6D-62A0-3D08-3353-7A80103B17E3}"/>
                  </a:ext>
                </a:extLst>
              </p:cNvPr>
              <p:cNvGraphicFramePr>
                <a:graphicFrameLocks noGrp="1"/>
              </p:cNvGraphicFramePr>
              <p:nvPr>
                <p:extLst>
                  <p:ext uri="{D42A27DB-BD31-4B8C-83A1-F6EECF244321}">
                    <p14:modId xmlns:p14="http://schemas.microsoft.com/office/powerpoint/2010/main" val="4149624515"/>
                  </p:ext>
                </p:extLst>
              </p:nvPr>
            </p:nvGraphicFramePr>
            <p:xfrm>
              <a:off x="581192" y="1928244"/>
              <a:ext cx="11029618" cy="3980509"/>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09039">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12738">
                    <a:tc>
                      <a:txBody>
                        <a:bodyPr/>
                        <a:lstStyle/>
                        <a:p>
                          <a:pPr algn="ctr"/>
                          <a:r>
                            <a:rPr lang="es-ES_tradnl" sz="1400" b="1" noProof="0" dirty="0">
                              <a:solidFill>
                                <a:schemeClr val="bg1"/>
                              </a:solidFill>
                              <a:latin typeface="Century Gothic" panose="020B0502020202020204" pitchFamily="34" charset="0"/>
                            </a:rPr>
                            <a:t>Factor inflacionario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231092" t="-100000" r="-401681"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331092" t="-100000" r="-301681"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431092" t="-100000" r="-201681"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526667" t="-100000" r="-100000"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631933" t="-100000" r="-840" b="-1076000"/>
                          </a:stretch>
                        </a:blipFill>
                      </a:tcPr>
                    </a:tc>
                    <a:extLst>
                      <a:ext uri="{0D108BD9-81ED-4DB2-BD59-A6C34878D82A}">
                        <a16:rowId xmlns:a16="http://schemas.microsoft.com/office/drawing/2014/main" val="697468560"/>
                      </a:ext>
                    </a:extLst>
                  </a:tr>
                  <a:tr h="300286">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0286">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0286">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00286">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0286">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00286">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b="1" noProof="0" dirty="0">
                              <a:solidFill>
                                <a:srgbClr val="C00000"/>
                              </a:solidFill>
                              <a:latin typeface="Century Gothic" panose="020B0502020202020204" pitchFamily="34" charset="0"/>
                            </a:rPr>
                            <a:t>$3.773.585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FFFF0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$3.559.986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$4.358.477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$3.168.375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$2.989.033</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00286">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00286">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00286">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55872">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00286">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mc:Fallback>
      </mc:AlternateContent>
      <p:cxnSp>
        <p:nvCxnSpPr>
          <p:cNvPr id="3" name="Conector angular 14">
            <a:extLst>
              <a:ext uri="{FF2B5EF4-FFF2-40B4-BE49-F238E27FC236}">
                <a16:creationId xmlns:a16="http://schemas.microsoft.com/office/drawing/2014/main" id="{9F554E2B-AC0B-D9F9-CDCD-BD5AC097CFA1}"/>
              </a:ext>
            </a:extLst>
          </p:cNvPr>
          <p:cNvCxnSpPr>
            <a:cxnSpLocks/>
            <a:stCxn id="7" idx="3"/>
            <a:endCxn id="21" idx="2"/>
          </p:cNvCxnSpPr>
          <p:nvPr/>
        </p:nvCxnSpPr>
        <p:spPr>
          <a:xfrm flipH="1" flipV="1">
            <a:off x="4809744" y="4343399"/>
            <a:ext cx="3813047" cy="1933369"/>
          </a:xfrm>
          <a:prstGeom prst="bentConnector4">
            <a:avLst>
              <a:gd name="adj1" fmla="val -5995"/>
              <a:gd name="adj2" fmla="val 6211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CB72B5D0-BB8E-07A2-99EC-C8876C6A1688}"/>
                  </a:ext>
                </a:extLst>
              </p:cNvPr>
              <p:cNvSpPr txBox="1"/>
              <p:nvPr/>
            </p:nvSpPr>
            <p:spPr>
              <a:xfrm>
                <a:off x="6597395" y="6023622"/>
                <a:ext cx="2025396" cy="50629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CO" sz="1600" b="0" i="1" smtClean="0">
                              <a:latin typeface="Cambria Math" panose="02040503050406030204" pitchFamily="18" charset="0"/>
                            </a:rPr>
                          </m:ctrlPr>
                        </m:fPr>
                        <m:num>
                          <m:r>
                            <a:rPr lang="es-CO" sz="1600" b="0" i="1" smtClean="0">
                              <a:latin typeface="Cambria Math" panose="02040503050406030204" pitchFamily="18" charset="0"/>
                            </a:rPr>
                            <m:t>4.000.000</m:t>
                          </m:r>
                        </m:num>
                        <m:den>
                          <m:r>
                            <a:rPr lang="es-CO" sz="1600" b="0" i="1" smtClean="0">
                              <a:latin typeface="Cambria Math" panose="02040503050406030204" pitchFamily="18" charset="0"/>
                            </a:rPr>
                            <m:t>(1+6%)</m:t>
                          </m:r>
                        </m:den>
                      </m:f>
                      <m:r>
                        <a:rPr lang="es-CO" sz="1600" b="0" i="1" smtClean="0">
                          <a:latin typeface="Cambria Math" panose="02040503050406030204" pitchFamily="18" charset="0"/>
                        </a:rPr>
                        <m:t>=3.773.585</m:t>
                      </m:r>
                    </m:oMath>
                  </m:oMathPara>
                </a14:m>
                <a:endParaRPr lang="en-US" sz="1600" dirty="0"/>
              </a:p>
            </p:txBody>
          </p:sp>
        </mc:Choice>
        <mc:Fallback xmlns="">
          <p:sp>
            <p:nvSpPr>
              <p:cNvPr id="7" name="CuadroTexto 6">
                <a:extLst>
                  <a:ext uri="{FF2B5EF4-FFF2-40B4-BE49-F238E27FC236}">
                    <a16:creationId xmlns:a16="http://schemas.microsoft.com/office/drawing/2014/main" id="{CB72B5D0-BB8E-07A2-99EC-C8876C6A1688}"/>
                  </a:ext>
                </a:extLst>
              </p:cNvPr>
              <p:cNvSpPr txBox="1">
                <a:spLocks noRot="1" noChangeAspect="1" noMove="1" noResize="1" noEditPoints="1" noAdjustHandles="1" noChangeArrowheads="1" noChangeShapeType="1" noTextEdit="1"/>
              </p:cNvSpPr>
              <p:nvPr/>
            </p:nvSpPr>
            <p:spPr>
              <a:xfrm>
                <a:off x="6597395" y="6023622"/>
                <a:ext cx="2025396" cy="506292"/>
              </a:xfrm>
              <a:prstGeom prst="rect">
                <a:avLst/>
              </a:prstGeom>
              <a:blipFill>
                <a:blip r:embed="rId4"/>
                <a:stretch>
                  <a:fillRect/>
                </a:stretch>
              </a:blipFill>
            </p:spPr>
            <p:txBody>
              <a:bodyPr/>
              <a:lstStyle/>
              <a:p>
                <a:r>
                  <a:rPr lang="en-US">
                    <a:noFill/>
                  </a:rPr>
                  <a:t> </a:t>
                </a:r>
              </a:p>
            </p:txBody>
          </p:sp>
        </mc:Fallback>
      </mc:AlternateContent>
      <p:cxnSp>
        <p:nvCxnSpPr>
          <p:cNvPr id="9" name="Conector angular 14">
            <a:extLst>
              <a:ext uri="{FF2B5EF4-FFF2-40B4-BE49-F238E27FC236}">
                <a16:creationId xmlns:a16="http://schemas.microsoft.com/office/drawing/2014/main" id="{20F0DA31-9E8D-AC40-D1BD-6800A2B42145}"/>
              </a:ext>
            </a:extLst>
          </p:cNvPr>
          <p:cNvCxnSpPr>
            <a:cxnSpLocks/>
            <a:stCxn id="22" idx="1"/>
            <a:endCxn id="7" idx="2"/>
          </p:cNvCxnSpPr>
          <p:nvPr/>
        </p:nvCxnSpPr>
        <p:spPr>
          <a:xfrm rot="10800000" flipH="1" flipV="1">
            <a:off x="4233671" y="2376230"/>
            <a:ext cx="3376422" cy="4153683"/>
          </a:xfrm>
          <a:prstGeom prst="bentConnector4">
            <a:avLst>
              <a:gd name="adj1" fmla="val -6770"/>
              <a:gd name="adj2" fmla="val 105504"/>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ctángulo 20">
            <a:extLst>
              <a:ext uri="{FF2B5EF4-FFF2-40B4-BE49-F238E27FC236}">
                <a16:creationId xmlns:a16="http://schemas.microsoft.com/office/drawing/2014/main" id="{EC06903D-2A87-0D3E-3222-E8FC84BEBFC6}"/>
              </a:ext>
            </a:extLst>
          </p:cNvPr>
          <p:cNvSpPr/>
          <p:nvPr/>
        </p:nvSpPr>
        <p:spPr>
          <a:xfrm>
            <a:off x="4261103" y="4058356"/>
            <a:ext cx="1097281" cy="285043"/>
          </a:xfrm>
          <a:prstGeom prst="rect">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2" name="Rectángulo 21">
            <a:extLst>
              <a:ext uri="{FF2B5EF4-FFF2-40B4-BE49-F238E27FC236}">
                <a16:creationId xmlns:a16="http://schemas.microsoft.com/office/drawing/2014/main" id="{B5CAE380-01AD-BCF9-1F89-1688185F02ED}"/>
              </a:ext>
            </a:extLst>
          </p:cNvPr>
          <p:cNvSpPr/>
          <p:nvPr/>
        </p:nvSpPr>
        <p:spPr>
          <a:xfrm>
            <a:off x="4233671" y="2233709"/>
            <a:ext cx="1097281" cy="285043"/>
          </a:xfrm>
          <a:prstGeom prst="rect">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7421299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045D8-3227-1280-BAB2-204CD70063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6B25B7-58D5-7B19-2B03-747EADAA965C}"/>
              </a:ext>
            </a:extLst>
          </p:cNvPr>
          <p:cNvSpPr>
            <a:spLocks noGrp="1"/>
          </p:cNvSpPr>
          <p:nvPr>
            <p:ph type="title"/>
          </p:nvPr>
        </p:nvSpPr>
        <p:spPr/>
        <p:txBody>
          <a:bodyPr>
            <a:normAutofit/>
          </a:bodyPr>
          <a:lstStyle/>
          <a:p>
            <a:r>
              <a:rPr lang="es-ES" sz="3200" dirty="0">
                <a:latin typeface="Century Gothic" panose="020B0502020202020204" pitchFamily="34" charset="0"/>
              </a:rPr>
              <a:t>Precios constantes – inflación 6%</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71A8F9B1-F86A-84FA-EA6B-A6D2077940E7}"/>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32</a:t>
            </a:fld>
            <a:endParaRPr lang="en-US" sz="1800" dirty="0"/>
          </a:p>
        </p:txBody>
      </p:sp>
      <p:sp>
        <p:nvSpPr>
          <p:cNvPr id="5" name="Rectángulo 4">
            <a:extLst>
              <a:ext uri="{FF2B5EF4-FFF2-40B4-BE49-F238E27FC236}">
                <a16:creationId xmlns:a16="http://schemas.microsoft.com/office/drawing/2014/main" id="{79F6C9C3-0D56-6F4D-4C69-CB5F8C315DC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76309C0B-3877-87C6-1777-8F1B7D9958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F00AD430-1459-B747-CCB0-40D7A7DAA8AE}"/>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graphicFrame>
            <p:nvGraphicFramePr>
              <p:cNvPr id="11" name="Table 24">
                <a:extLst>
                  <a:ext uri="{FF2B5EF4-FFF2-40B4-BE49-F238E27FC236}">
                    <a16:creationId xmlns:a16="http://schemas.microsoft.com/office/drawing/2014/main" id="{D98C1BBF-D208-AB5E-57E6-402743D3FC67}"/>
                  </a:ext>
                </a:extLst>
              </p:cNvPr>
              <p:cNvGraphicFramePr>
                <a:graphicFrameLocks noGrp="1"/>
              </p:cNvGraphicFramePr>
              <p:nvPr/>
            </p:nvGraphicFramePr>
            <p:xfrm>
              <a:off x="581192" y="1928244"/>
              <a:ext cx="11029618" cy="3980509"/>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09039">
                    <a:tc>
                      <a:txBody>
                        <a:bodyPr/>
                        <a:lstStyle/>
                        <a:p>
                          <a:pPr algn="ctr"/>
                          <a:r>
                            <a:rPr lang="es-ES_tradnl" sz="1400" b="1" noProof="0" dirty="0">
                              <a:solidFill>
                                <a:schemeClr val="bg1"/>
                              </a:solidFill>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00286">
                    <a:tc>
                      <a:txBody>
                        <a:bodyPr/>
                        <a:lstStyle/>
                        <a:p>
                          <a:pPr algn="ctr"/>
                          <a:r>
                            <a:rPr lang="es-ES_tradnl" sz="1400" b="1" noProof="0" dirty="0">
                              <a:solidFill>
                                <a:schemeClr val="bg1"/>
                              </a:solidFill>
                              <a:latin typeface="Century Gothic" panose="020B0502020202020204" pitchFamily="34" charset="0"/>
                            </a:rPr>
                            <a:t>Factor inflacionario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14:m>
                            <m:oMathPara xmlns:m="http://schemas.openxmlformats.org/officeDocument/2006/math">
                              <m:oMathParaPr>
                                <m:jc m:val="centerGroup"/>
                              </m:oMathParaPr>
                              <m:oMath xmlns:m="http://schemas.openxmlformats.org/officeDocument/2006/math">
                                <m:r>
                                  <a:rPr lang="es-ES_tradnl" sz="1400" b="1" i="1" noProof="0" dirty="0" smtClean="0">
                                    <a:solidFill>
                                      <a:schemeClr val="bg1"/>
                                    </a:solidFill>
                                    <a:latin typeface="Cambria Math" panose="02040503050406030204" pitchFamily="18" charset="0"/>
                                  </a:rPr>
                                  <m:t>𝟏</m:t>
                                </m:r>
                                <m:r>
                                  <a:rPr lang="es-ES_tradnl" sz="1400" b="1" i="1" noProof="0" dirty="0" smtClean="0">
                                    <a:solidFill>
                                      <a:schemeClr val="bg1"/>
                                    </a:solidFill>
                                    <a:latin typeface="Cambria Math" panose="02040503050406030204" pitchFamily="18" charset="0"/>
                                    <a:ea typeface="Cambria Math" panose="02040503050406030204" pitchFamily="18" charset="0"/>
                                  </a:rPr>
                                  <m:t>×(</m:t>
                                </m:r>
                                <m:r>
                                  <a:rPr lang="es-ES_tradnl" sz="1400" b="1" i="1" noProof="0" dirty="0" smtClean="0">
                                    <a:solidFill>
                                      <a:schemeClr val="bg1"/>
                                    </a:solidFill>
                                    <a:latin typeface="Cambria Math" panose="02040503050406030204" pitchFamily="18" charset="0"/>
                                    <a:ea typeface="Cambria Math" panose="02040503050406030204" pitchFamily="18" charset="0"/>
                                  </a:rPr>
                                  <m:t>𝟏</m:t>
                                </m:r>
                                <m:r>
                                  <a:rPr lang="es-ES_tradnl" sz="1400" b="1" i="1" noProof="0" dirty="0" smtClean="0">
                                    <a:solidFill>
                                      <a:schemeClr val="bg1"/>
                                    </a:solidFill>
                                    <a:latin typeface="Cambria Math" panose="02040503050406030204" pitchFamily="18" charset="0"/>
                                    <a:ea typeface="Cambria Math" panose="02040503050406030204" pitchFamily="18" charset="0"/>
                                  </a:rPr>
                                  <m:t>+</m:t>
                                </m:r>
                                <m:r>
                                  <a:rPr lang="es-ES_tradnl" sz="1400" b="1" i="1" noProof="0" dirty="0" smtClean="0">
                                    <a:solidFill>
                                      <a:schemeClr val="bg1"/>
                                    </a:solidFill>
                                    <a:latin typeface="Cambria Math" panose="02040503050406030204" pitchFamily="18" charset="0"/>
                                    <a:ea typeface="Cambria Math" panose="02040503050406030204" pitchFamily="18" charset="0"/>
                                  </a:rPr>
                                  <m:t>𝟔</m:t>
                                </m:r>
                                <m:r>
                                  <a:rPr lang="es-ES_tradnl" sz="1400" b="1" i="1" noProof="0" dirty="0" smtClean="0">
                                    <a:solidFill>
                                      <a:schemeClr val="bg1"/>
                                    </a:solidFill>
                                    <a:latin typeface="Cambria Math" panose="02040503050406030204" pitchFamily="18" charset="0"/>
                                    <a:ea typeface="Cambria Math" panose="02040503050406030204" pitchFamily="18" charset="0"/>
                                  </a:rPr>
                                  <m:t>%)</m:t>
                                </m:r>
                              </m:oMath>
                            </m:oMathPara>
                          </a14:m>
                          <a:endParaRPr lang="es-ES_tradnl" sz="1400" b="1"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𝟐</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𝟑</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𝟒</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𝟓</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697468560"/>
                      </a:ext>
                    </a:extLst>
                  </a:tr>
                  <a:tr h="300286">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0286">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0286">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00286">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0286">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00286">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b="1" noProof="0" dirty="0">
                              <a:solidFill>
                                <a:srgbClr val="C00000"/>
                              </a:solidFill>
                              <a:latin typeface="Century Gothic" panose="020B0502020202020204" pitchFamily="34" charset="0"/>
                            </a:rPr>
                            <a:t>$3.773.585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$3.559.986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$4.358.477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$3.168.375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$2.989.033</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00286">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00286">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00286">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55872">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00286">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mc:Choice>
        <mc:Fallback xmlns="">
          <p:graphicFrame>
            <p:nvGraphicFramePr>
              <p:cNvPr id="11" name="Table 24">
                <a:extLst>
                  <a:ext uri="{FF2B5EF4-FFF2-40B4-BE49-F238E27FC236}">
                    <a16:creationId xmlns:a16="http://schemas.microsoft.com/office/drawing/2014/main" id="{D98C1BBF-D208-AB5E-57E6-402743D3FC67}"/>
                  </a:ext>
                </a:extLst>
              </p:cNvPr>
              <p:cNvGraphicFramePr>
                <a:graphicFrameLocks noGrp="1"/>
              </p:cNvGraphicFramePr>
              <p:nvPr>
                <p:extLst>
                  <p:ext uri="{D42A27DB-BD31-4B8C-83A1-F6EECF244321}">
                    <p14:modId xmlns:p14="http://schemas.microsoft.com/office/powerpoint/2010/main" val="2320014152"/>
                  </p:ext>
                </p:extLst>
              </p:nvPr>
            </p:nvGraphicFramePr>
            <p:xfrm>
              <a:off x="581192" y="1928244"/>
              <a:ext cx="11029618" cy="3980509"/>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09039">
                    <a:tc>
                      <a:txBody>
                        <a:bodyPr/>
                        <a:lstStyle/>
                        <a:p>
                          <a:pPr algn="ctr"/>
                          <a:r>
                            <a:rPr lang="es-ES_tradnl" sz="1400" b="1" noProof="0" dirty="0">
                              <a:solidFill>
                                <a:schemeClr val="bg1"/>
                              </a:solidFill>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12738">
                    <a:tc>
                      <a:txBody>
                        <a:bodyPr/>
                        <a:lstStyle/>
                        <a:p>
                          <a:pPr algn="ctr"/>
                          <a:r>
                            <a:rPr lang="es-ES_tradnl" sz="1400" b="1" noProof="0" dirty="0">
                              <a:solidFill>
                                <a:schemeClr val="bg1"/>
                              </a:solidFill>
                              <a:latin typeface="Century Gothic" panose="020B0502020202020204" pitchFamily="34" charset="0"/>
                            </a:rPr>
                            <a:t>Factor inflacionario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231092" t="-100000" r="-401681"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331092" t="-100000" r="-301681"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431092" t="-100000" r="-201681"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526667" t="-100000" r="-100000"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631933" t="-100000" r="-840" b="-1076000"/>
                          </a:stretch>
                        </a:blipFill>
                      </a:tcPr>
                    </a:tc>
                    <a:extLst>
                      <a:ext uri="{0D108BD9-81ED-4DB2-BD59-A6C34878D82A}">
                        <a16:rowId xmlns:a16="http://schemas.microsoft.com/office/drawing/2014/main" val="697468560"/>
                      </a:ext>
                    </a:extLst>
                  </a:tr>
                  <a:tr h="300286">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0286">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0286">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00286">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0286">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00286">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b="1" noProof="0" dirty="0">
                              <a:solidFill>
                                <a:srgbClr val="C00000"/>
                              </a:solidFill>
                              <a:latin typeface="Century Gothic" panose="020B0502020202020204" pitchFamily="34" charset="0"/>
                            </a:rPr>
                            <a:t>$3.773.585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$3.559.986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$4.358.477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$3.168.375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$2.989.033</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00286">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00286">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00286">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55872">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00286">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mc:Fallback>
      </mc:AlternateContent>
      <p:cxnSp>
        <p:nvCxnSpPr>
          <p:cNvPr id="3" name="Conector angular 14">
            <a:extLst>
              <a:ext uri="{FF2B5EF4-FFF2-40B4-BE49-F238E27FC236}">
                <a16:creationId xmlns:a16="http://schemas.microsoft.com/office/drawing/2014/main" id="{9A308B2F-A620-A6EB-A18B-B967EC9B71A6}"/>
              </a:ext>
            </a:extLst>
          </p:cNvPr>
          <p:cNvCxnSpPr>
            <a:cxnSpLocks/>
            <a:stCxn id="7" idx="3"/>
            <a:endCxn id="26" idx="2"/>
          </p:cNvCxnSpPr>
          <p:nvPr/>
        </p:nvCxnSpPr>
        <p:spPr>
          <a:xfrm flipH="1" flipV="1">
            <a:off x="6300216" y="4335829"/>
            <a:ext cx="2761488" cy="2073161"/>
          </a:xfrm>
          <a:prstGeom prst="bentConnector4">
            <a:avLst>
              <a:gd name="adj1" fmla="val -113"/>
              <a:gd name="adj2" fmla="val 47042"/>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E0790210-76C8-1D49-F791-460CB3CAEA6A}"/>
                  </a:ext>
                </a:extLst>
              </p:cNvPr>
              <p:cNvSpPr txBox="1"/>
              <p:nvPr/>
            </p:nvSpPr>
            <p:spPr>
              <a:xfrm>
                <a:off x="6597396" y="6155844"/>
                <a:ext cx="2464308" cy="50629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CO" sz="1600" b="0" i="1" smtClean="0">
                              <a:latin typeface="Cambria Math" panose="02040503050406030204" pitchFamily="18" charset="0"/>
                            </a:rPr>
                          </m:ctrlPr>
                        </m:fPr>
                        <m:num>
                          <m:r>
                            <a:rPr lang="es-CO" sz="1600" b="0" i="1" smtClean="0">
                              <a:latin typeface="Cambria Math" panose="02040503050406030204" pitchFamily="18" charset="0"/>
                            </a:rPr>
                            <m:t>4.000.000</m:t>
                          </m:r>
                        </m:num>
                        <m:den>
                          <m:sSup>
                            <m:sSupPr>
                              <m:ctrlPr>
                                <a:rPr lang="es-CO" sz="1600" b="0" i="1" smtClean="0">
                                  <a:latin typeface="Cambria Math" panose="02040503050406030204" pitchFamily="18" charset="0"/>
                                </a:rPr>
                              </m:ctrlPr>
                            </m:sSupPr>
                            <m:e>
                              <m:r>
                                <a:rPr lang="es-CO" sz="1600" b="0" i="1" smtClean="0">
                                  <a:latin typeface="Cambria Math" panose="02040503050406030204" pitchFamily="18" charset="0"/>
                                </a:rPr>
                                <m:t>(1+6%)</m:t>
                              </m:r>
                            </m:e>
                            <m:sup>
                              <m:r>
                                <a:rPr lang="es-CO" sz="1600" b="0" i="1" smtClean="0">
                                  <a:latin typeface="Cambria Math" panose="02040503050406030204" pitchFamily="18" charset="0"/>
                                </a:rPr>
                                <m:t>2</m:t>
                              </m:r>
                            </m:sup>
                          </m:sSup>
                        </m:den>
                      </m:f>
                      <m:r>
                        <a:rPr lang="es-CO" sz="1600" b="0" i="1" smtClean="0">
                          <a:latin typeface="Cambria Math" panose="02040503050406030204" pitchFamily="18" charset="0"/>
                        </a:rPr>
                        <m:t>=3.559.986</m:t>
                      </m:r>
                    </m:oMath>
                  </m:oMathPara>
                </a14:m>
                <a:endParaRPr lang="en-US" sz="1600" dirty="0"/>
              </a:p>
            </p:txBody>
          </p:sp>
        </mc:Choice>
        <mc:Fallback xmlns="">
          <p:sp>
            <p:nvSpPr>
              <p:cNvPr id="7" name="CuadroTexto 6">
                <a:extLst>
                  <a:ext uri="{FF2B5EF4-FFF2-40B4-BE49-F238E27FC236}">
                    <a16:creationId xmlns:a16="http://schemas.microsoft.com/office/drawing/2014/main" id="{E0790210-76C8-1D49-F791-460CB3CAEA6A}"/>
                  </a:ext>
                </a:extLst>
              </p:cNvPr>
              <p:cNvSpPr txBox="1">
                <a:spLocks noRot="1" noChangeAspect="1" noMove="1" noResize="1" noEditPoints="1" noAdjustHandles="1" noChangeArrowheads="1" noChangeShapeType="1" noTextEdit="1"/>
              </p:cNvSpPr>
              <p:nvPr/>
            </p:nvSpPr>
            <p:spPr>
              <a:xfrm>
                <a:off x="6597396" y="6155844"/>
                <a:ext cx="2464308" cy="506292"/>
              </a:xfrm>
              <a:prstGeom prst="rect">
                <a:avLst/>
              </a:prstGeom>
              <a:blipFill>
                <a:blip r:embed="rId4"/>
                <a:stretch>
                  <a:fillRect/>
                </a:stretch>
              </a:blipFill>
            </p:spPr>
            <p:txBody>
              <a:bodyPr/>
              <a:lstStyle/>
              <a:p>
                <a:r>
                  <a:rPr lang="en-US">
                    <a:noFill/>
                  </a:rPr>
                  <a:t> </a:t>
                </a:r>
              </a:p>
            </p:txBody>
          </p:sp>
        </mc:Fallback>
      </mc:AlternateContent>
      <p:cxnSp>
        <p:nvCxnSpPr>
          <p:cNvPr id="9" name="Conector angular 14">
            <a:extLst>
              <a:ext uri="{FF2B5EF4-FFF2-40B4-BE49-F238E27FC236}">
                <a16:creationId xmlns:a16="http://schemas.microsoft.com/office/drawing/2014/main" id="{B4E2ED3E-13C9-DDD8-CAB3-D8AD92B4D254}"/>
              </a:ext>
            </a:extLst>
          </p:cNvPr>
          <p:cNvCxnSpPr>
            <a:cxnSpLocks/>
            <a:stCxn id="25" idx="1"/>
            <a:endCxn id="7" idx="1"/>
          </p:cNvCxnSpPr>
          <p:nvPr/>
        </p:nvCxnSpPr>
        <p:spPr>
          <a:xfrm rot="10800000" flipH="1" flipV="1">
            <a:off x="5704402" y="2389970"/>
            <a:ext cx="892993" cy="4019020"/>
          </a:xfrm>
          <a:prstGeom prst="bentConnector3">
            <a:avLst>
              <a:gd name="adj1" fmla="val -25599"/>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ángulo 24">
            <a:extLst>
              <a:ext uri="{FF2B5EF4-FFF2-40B4-BE49-F238E27FC236}">
                <a16:creationId xmlns:a16="http://schemas.microsoft.com/office/drawing/2014/main" id="{1284D46E-A6B9-D86E-EC4F-3E647FF456B2}"/>
              </a:ext>
            </a:extLst>
          </p:cNvPr>
          <p:cNvSpPr/>
          <p:nvPr/>
        </p:nvSpPr>
        <p:spPr>
          <a:xfrm>
            <a:off x="5704403" y="2247345"/>
            <a:ext cx="1192959" cy="285249"/>
          </a:xfrm>
          <a:prstGeom prst="rect">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6" name="Rectángulo 25">
            <a:extLst>
              <a:ext uri="{FF2B5EF4-FFF2-40B4-BE49-F238E27FC236}">
                <a16:creationId xmlns:a16="http://schemas.microsoft.com/office/drawing/2014/main" id="{A3A01344-B6E4-952F-0719-25B56CEDEFDB}"/>
              </a:ext>
            </a:extLst>
          </p:cNvPr>
          <p:cNvSpPr/>
          <p:nvPr/>
        </p:nvSpPr>
        <p:spPr>
          <a:xfrm>
            <a:off x="5751575" y="4050786"/>
            <a:ext cx="1097281" cy="285043"/>
          </a:xfrm>
          <a:prstGeom prst="rect">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339113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9E3B9-A4A4-0A84-EEF1-86964EC845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D3B174-1EB9-18E5-BEDC-8EF78D2811EE}"/>
              </a:ext>
            </a:extLst>
          </p:cNvPr>
          <p:cNvSpPr>
            <a:spLocks noGrp="1"/>
          </p:cNvSpPr>
          <p:nvPr>
            <p:ph type="title"/>
          </p:nvPr>
        </p:nvSpPr>
        <p:spPr/>
        <p:txBody>
          <a:bodyPr>
            <a:normAutofit/>
          </a:bodyPr>
          <a:lstStyle/>
          <a:p>
            <a:r>
              <a:rPr lang="es-ES" sz="3200" dirty="0">
                <a:latin typeface="Century Gothic" panose="020B0502020202020204" pitchFamily="34" charset="0"/>
              </a:rPr>
              <a:t>Precios constantes – inflación 6%</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70BAA820-4358-59FA-2FC4-980625AAD1A5}"/>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33</a:t>
            </a:fld>
            <a:endParaRPr lang="en-US" sz="1800" dirty="0"/>
          </a:p>
        </p:txBody>
      </p:sp>
      <p:sp>
        <p:nvSpPr>
          <p:cNvPr id="5" name="Rectángulo 4">
            <a:extLst>
              <a:ext uri="{FF2B5EF4-FFF2-40B4-BE49-F238E27FC236}">
                <a16:creationId xmlns:a16="http://schemas.microsoft.com/office/drawing/2014/main" id="{4563A8F0-AE72-66F5-4A5C-79C61BC8BF0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4C00CF14-FB9B-3227-2CCB-81CD3103DF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99B39086-7F3F-721F-EA41-3F0D1F55CB1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graphicFrame>
            <p:nvGraphicFramePr>
              <p:cNvPr id="11" name="Table 24">
                <a:extLst>
                  <a:ext uri="{FF2B5EF4-FFF2-40B4-BE49-F238E27FC236}">
                    <a16:creationId xmlns:a16="http://schemas.microsoft.com/office/drawing/2014/main" id="{89C8D256-4133-315C-16EA-9E9C7232FA35}"/>
                  </a:ext>
                </a:extLst>
              </p:cNvPr>
              <p:cNvGraphicFramePr>
                <a:graphicFrameLocks noGrp="1"/>
              </p:cNvGraphicFramePr>
              <p:nvPr/>
            </p:nvGraphicFramePr>
            <p:xfrm>
              <a:off x="581192" y="1928244"/>
              <a:ext cx="11029618" cy="3980509"/>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09039">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00286">
                    <a:tc>
                      <a:txBody>
                        <a:bodyPr/>
                        <a:lstStyle/>
                        <a:p>
                          <a:pPr algn="ctr"/>
                          <a:r>
                            <a:rPr lang="es-ES_tradnl" sz="1400" b="1" noProof="0" dirty="0">
                              <a:solidFill>
                                <a:schemeClr val="bg1"/>
                              </a:solidFill>
                              <a:latin typeface="Century Gothic" panose="020B0502020202020204" pitchFamily="34" charset="0"/>
                            </a:rPr>
                            <a:t>Factor inflacionario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14:m>
                            <m:oMathPara xmlns:m="http://schemas.openxmlformats.org/officeDocument/2006/math">
                              <m:oMathParaPr>
                                <m:jc m:val="centerGroup"/>
                              </m:oMathParaPr>
                              <m:oMath xmlns:m="http://schemas.openxmlformats.org/officeDocument/2006/math">
                                <m:r>
                                  <a:rPr lang="es-ES_tradnl" sz="1400" b="1" i="1" noProof="0" dirty="0" smtClean="0">
                                    <a:solidFill>
                                      <a:schemeClr val="bg1"/>
                                    </a:solidFill>
                                    <a:latin typeface="Cambria Math" panose="02040503050406030204" pitchFamily="18" charset="0"/>
                                  </a:rPr>
                                  <m:t>𝟏</m:t>
                                </m:r>
                                <m:r>
                                  <a:rPr lang="es-ES_tradnl" sz="1400" b="1" i="1" noProof="0" dirty="0" smtClean="0">
                                    <a:solidFill>
                                      <a:schemeClr val="bg1"/>
                                    </a:solidFill>
                                    <a:latin typeface="Cambria Math" panose="02040503050406030204" pitchFamily="18" charset="0"/>
                                    <a:ea typeface="Cambria Math" panose="02040503050406030204" pitchFamily="18" charset="0"/>
                                  </a:rPr>
                                  <m:t>×(</m:t>
                                </m:r>
                                <m:r>
                                  <a:rPr lang="es-ES_tradnl" sz="1400" b="1" i="1" noProof="0" dirty="0" smtClean="0">
                                    <a:solidFill>
                                      <a:schemeClr val="bg1"/>
                                    </a:solidFill>
                                    <a:latin typeface="Cambria Math" panose="02040503050406030204" pitchFamily="18" charset="0"/>
                                    <a:ea typeface="Cambria Math" panose="02040503050406030204" pitchFamily="18" charset="0"/>
                                  </a:rPr>
                                  <m:t>𝟏</m:t>
                                </m:r>
                                <m:r>
                                  <a:rPr lang="es-ES_tradnl" sz="1400" b="1" i="1" noProof="0" dirty="0" smtClean="0">
                                    <a:solidFill>
                                      <a:schemeClr val="bg1"/>
                                    </a:solidFill>
                                    <a:latin typeface="Cambria Math" panose="02040503050406030204" pitchFamily="18" charset="0"/>
                                    <a:ea typeface="Cambria Math" panose="02040503050406030204" pitchFamily="18" charset="0"/>
                                  </a:rPr>
                                  <m:t>+</m:t>
                                </m:r>
                                <m:r>
                                  <a:rPr lang="es-ES_tradnl" sz="1400" b="1" i="1" noProof="0" dirty="0" smtClean="0">
                                    <a:solidFill>
                                      <a:schemeClr val="bg1"/>
                                    </a:solidFill>
                                    <a:latin typeface="Cambria Math" panose="02040503050406030204" pitchFamily="18" charset="0"/>
                                    <a:ea typeface="Cambria Math" panose="02040503050406030204" pitchFamily="18" charset="0"/>
                                  </a:rPr>
                                  <m:t>𝟔</m:t>
                                </m:r>
                                <m:r>
                                  <a:rPr lang="es-ES_tradnl" sz="1400" b="1" i="1" noProof="0" dirty="0" smtClean="0">
                                    <a:solidFill>
                                      <a:schemeClr val="bg1"/>
                                    </a:solidFill>
                                    <a:latin typeface="Cambria Math" panose="02040503050406030204" pitchFamily="18" charset="0"/>
                                    <a:ea typeface="Cambria Math" panose="02040503050406030204" pitchFamily="18" charset="0"/>
                                  </a:rPr>
                                  <m:t>%)</m:t>
                                </m:r>
                              </m:oMath>
                            </m:oMathPara>
                          </a14:m>
                          <a:endParaRPr lang="es-ES_tradnl" sz="1400" b="1"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𝟐</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𝟑</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𝟒</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𝟓</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697468560"/>
                      </a:ext>
                    </a:extLst>
                  </a:tr>
                  <a:tr h="300286">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0286">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0286">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00286">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0286">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00286">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b="1" noProof="0" dirty="0">
                              <a:solidFill>
                                <a:srgbClr val="C00000"/>
                              </a:solidFill>
                              <a:latin typeface="Century Gothic" panose="020B0502020202020204" pitchFamily="34" charset="0"/>
                            </a:rPr>
                            <a:t>$3.773.585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$3.559.986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$4.358.477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$3.168.375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$2.989.033</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00286">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00286">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00286">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55872">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00286">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mc:Choice>
        <mc:Fallback xmlns="">
          <p:graphicFrame>
            <p:nvGraphicFramePr>
              <p:cNvPr id="11" name="Table 24">
                <a:extLst>
                  <a:ext uri="{FF2B5EF4-FFF2-40B4-BE49-F238E27FC236}">
                    <a16:creationId xmlns:a16="http://schemas.microsoft.com/office/drawing/2014/main" id="{89C8D256-4133-315C-16EA-9E9C7232FA35}"/>
                  </a:ext>
                </a:extLst>
              </p:cNvPr>
              <p:cNvGraphicFramePr>
                <a:graphicFrameLocks noGrp="1"/>
              </p:cNvGraphicFramePr>
              <p:nvPr>
                <p:extLst>
                  <p:ext uri="{D42A27DB-BD31-4B8C-83A1-F6EECF244321}">
                    <p14:modId xmlns:p14="http://schemas.microsoft.com/office/powerpoint/2010/main" val="3847439343"/>
                  </p:ext>
                </p:extLst>
              </p:nvPr>
            </p:nvGraphicFramePr>
            <p:xfrm>
              <a:off x="581192" y="1928244"/>
              <a:ext cx="11029618" cy="3980509"/>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09039">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12738">
                    <a:tc>
                      <a:txBody>
                        <a:bodyPr/>
                        <a:lstStyle/>
                        <a:p>
                          <a:pPr algn="ctr"/>
                          <a:r>
                            <a:rPr lang="es-ES_tradnl" sz="1400" b="1" noProof="0" dirty="0">
                              <a:solidFill>
                                <a:schemeClr val="bg1"/>
                              </a:solidFill>
                              <a:latin typeface="Century Gothic" panose="020B0502020202020204" pitchFamily="34" charset="0"/>
                            </a:rPr>
                            <a:t>Factor inflacionario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231092" t="-100000" r="-401681"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331092" t="-100000" r="-301681"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431092" t="-100000" r="-201681"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526667" t="-100000" r="-100000"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631933" t="-100000" r="-840" b="-1076000"/>
                          </a:stretch>
                        </a:blipFill>
                      </a:tcPr>
                    </a:tc>
                    <a:extLst>
                      <a:ext uri="{0D108BD9-81ED-4DB2-BD59-A6C34878D82A}">
                        <a16:rowId xmlns:a16="http://schemas.microsoft.com/office/drawing/2014/main" val="697468560"/>
                      </a:ext>
                    </a:extLst>
                  </a:tr>
                  <a:tr h="300286">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0286">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0286">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00286">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0286">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00286">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b="1" noProof="0" dirty="0">
                              <a:solidFill>
                                <a:srgbClr val="C00000"/>
                              </a:solidFill>
                              <a:latin typeface="Century Gothic" panose="020B0502020202020204" pitchFamily="34" charset="0"/>
                            </a:rPr>
                            <a:t>$3.773.585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$3.559.986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$4.358.477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$3.168.375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$2.989.033</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00286">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00286">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00286">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55872">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00286">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mc:Fallback>
      </mc:AlternateContent>
      <p:sp>
        <p:nvSpPr>
          <p:cNvPr id="3" name="Rectángulo 2">
            <a:extLst>
              <a:ext uri="{FF2B5EF4-FFF2-40B4-BE49-F238E27FC236}">
                <a16:creationId xmlns:a16="http://schemas.microsoft.com/office/drawing/2014/main" id="{313103DC-C0D5-302F-EA57-46843F75A30F}"/>
              </a:ext>
            </a:extLst>
          </p:cNvPr>
          <p:cNvSpPr/>
          <p:nvPr/>
        </p:nvSpPr>
        <p:spPr>
          <a:xfrm>
            <a:off x="581191" y="4050786"/>
            <a:ext cx="11029616" cy="295746"/>
          </a:xfrm>
          <a:prstGeom prst="rect">
            <a:avLst/>
          </a:prstGeom>
          <a:no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0962104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ADF06-8F14-BAEE-83F4-823BA41D39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CA7604-7D64-0B4A-C1A1-1FC84F8A8A0E}"/>
              </a:ext>
            </a:extLst>
          </p:cNvPr>
          <p:cNvSpPr>
            <a:spLocks noGrp="1"/>
          </p:cNvSpPr>
          <p:nvPr>
            <p:ph type="title"/>
          </p:nvPr>
        </p:nvSpPr>
        <p:spPr/>
        <p:txBody>
          <a:bodyPr>
            <a:normAutofit/>
          </a:bodyPr>
          <a:lstStyle/>
          <a:p>
            <a:r>
              <a:rPr lang="es-ES" sz="3200" dirty="0">
                <a:latin typeface="Century Gothic" panose="020B0502020202020204" pitchFamily="34" charset="0"/>
              </a:rPr>
              <a:t>Precios constantes – inflación 6%</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DA4112F4-A3A5-50BA-2B74-30DF7A70EEEE}"/>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34</a:t>
            </a:fld>
            <a:endParaRPr lang="en-US" sz="1800" dirty="0"/>
          </a:p>
        </p:txBody>
      </p:sp>
      <p:sp>
        <p:nvSpPr>
          <p:cNvPr id="5" name="Rectángulo 4">
            <a:extLst>
              <a:ext uri="{FF2B5EF4-FFF2-40B4-BE49-F238E27FC236}">
                <a16:creationId xmlns:a16="http://schemas.microsoft.com/office/drawing/2014/main" id="{C7C98E68-8297-5C1C-3200-85AEEA3069D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B9EDAAE1-E997-C8FD-C5BB-FAD349C24E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68E088A2-6F42-A96E-C1AC-EA2F3522B6A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graphicFrame>
            <p:nvGraphicFramePr>
              <p:cNvPr id="11" name="Table 24">
                <a:extLst>
                  <a:ext uri="{FF2B5EF4-FFF2-40B4-BE49-F238E27FC236}">
                    <a16:creationId xmlns:a16="http://schemas.microsoft.com/office/drawing/2014/main" id="{5D86BF4D-BEBC-D390-CB09-3D59DD09F351}"/>
                  </a:ext>
                </a:extLst>
              </p:cNvPr>
              <p:cNvGraphicFramePr>
                <a:graphicFrameLocks noGrp="1"/>
              </p:cNvGraphicFramePr>
              <p:nvPr/>
            </p:nvGraphicFramePr>
            <p:xfrm>
              <a:off x="581192" y="1928244"/>
              <a:ext cx="11029618" cy="3980509"/>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09039">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00286">
                    <a:tc>
                      <a:txBody>
                        <a:bodyPr/>
                        <a:lstStyle/>
                        <a:p>
                          <a:pPr algn="ctr"/>
                          <a:r>
                            <a:rPr lang="es-ES_tradnl" sz="1400" b="1" noProof="0" dirty="0">
                              <a:solidFill>
                                <a:schemeClr val="bg1"/>
                              </a:solidFill>
                              <a:latin typeface="Century Gothic" panose="020B0502020202020204" pitchFamily="34" charset="0"/>
                            </a:rPr>
                            <a:t>Factor inflacionario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14:m>
                            <m:oMathPara xmlns:m="http://schemas.openxmlformats.org/officeDocument/2006/math">
                              <m:oMathParaPr>
                                <m:jc m:val="centerGroup"/>
                              </m:oMathParaPr>
                              <m:oMath xmlns:m="http://schemas.openxmlformats.org/officeDocument/2006/math">
                                <m:r>
                                  <a:rPr lang="es-ES_tradnl" sz="1400" b="1" i="1" noProof="0" dirty="0" smtClean="0">
                                    <a:solidFill>
                                      <a:schemeClr val="bg1"/>
                                    </a:solidFill>
                                    <a:latin typeface="Cambria Math" panose="02040503050406030204" pitchFamily="18" charset="0"/>
                                  </a:rPr>
                                  <m:t>𝟏</m:t>
                                </m:r>
                                <m:r>
                                  <a:rPr lang="es-ES_tradnl" sz="1400" b="1" i="1" noProof="0" dirty="0" smtClean="0">
                                    <a:solidFill>
                                      <a:schemeClr val="bg1"/>
                                    </a:solidFill>
                                    <a:latin typeface="Cambria Math" panose="02040503050406030204" pitchFamily="18" charset="0"/>
                                    <a:ea typeface="Cambria Math" panose="02040503050406030204" pitchFamily="18" charset="0"/>
                                  </a:rPr>
                                  <m:t>×(</m:t>
                                </m:r>
                                <m:r>
                                  <a:rPr lang="es-ES_tradnl" sz="1400" b="1" i="1" noProof="0" dirty="0" smtClean="0">
                                    <a:solidFill>
                                      <a:schemeClr val="bg1"/>
                                    </a:solidFill>
                                    <a:latin typeface="Cambria Math" panose="02040503050406030204" pitchFamily="18" charset="0"/>
                                    <a:ea typeface="Cambria Math" panose="02040503050406030204" pitchFamily="18" charset="0"/>
                                  </a:rPr>
                                  <m:t>𝟏</m:t>
                                </m:r>
                                <m:r>
                                  <a:rPr lang="es-ES_tradnl" sz="1400" b="1" i="1" noProof="0" dirty="0" smtClean="0">
                                    <a:solidFill>
                                      <a:schemeClr val="bg1"/>
                                    </a:solidFill>
                                    <a:latin typeface="Cambria Math" panose="02040503050406030204" pitchFamily="18" charset="0"/>
                                    <a:ea typeface="Cambria Math" panose="02040503050406030204" pitchFamily="18" charset="0"/>
                                  </a:rPr>
                                  <m:t>+</m:t>
                                </m:r>
                                <m:r>
                                  <a:rPr lang="es-ES_tradnl" sz="1400" b="1" i="1" noProof="0" dirty="0" smtClean="0">
                                    <a:solidFill>
                                      <a:schemeClr val="bg1"/>
                                    </a:solidFill>
                                    <a:latin typeface="Cambria Math" panose="02040503050406030204" pitchFamily="18" charset="0"/>
                                    <a:ea typeface="Cambria Math" panose="02040503050406030204" pitchFamily="18" charset="0"/>
                                  </a:rPr>
                                  <m:t>𝟔</m:t>
                                </m:r>
                                <m:r>
                                  <a:rPr lang="es-ES_tradnl" sz="1400" b="1" i="1" noProof="0" dirty="0" smtClean="0">
                                    <a:solidFill>
                                      <a:schemeClr val="bg1"/>
                                    </a:solidFill>
                                    <a:latin typeface="Cambria Math" panose="02040503050406030204" pitchFamily="18" charset="0"/>
                                    <a:ea typeface="Cambria Math" panose="02040503050406030204" pitchFamily="18" charset="0"/>
                                  </a:rPr>
                                  <m:t>%)</m:t>
                                </m:r>
                              </m:oMath>
                            </m:oMathPara>
                          </a14:m>
                          <a:endParaRPr lang="es-ES_tradnl" sz="1400" b="1"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𝟐</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𝟑</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𝟒</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𝟓</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697468560"/>
                      </a:ext>
                    </a:extLst>
                  </a:tr>
                  <a:tr h="300286">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0286">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0286">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00286">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0286">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00286">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b="1" noProof="0" dirty="0">
                              <a:solidFill>
                                <a:srgbClr val="C00000"/>
                              </a:solidFill>
                              <a:latin typeface="Century Gothic" panose="020B0502020202020204" pitchFamily="34" charset="0"/>
                            </a:rPr>
                            <a:t>$3.773.585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$3.559.986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$4.358.477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$3.168.375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$2.989.033</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00286">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$3.726.415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$3.940.014</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$4.141.523</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$4.331.625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$4.510.967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00286">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00286">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55872">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00286">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mc:Choice>
        <mc:Fallback xmlns="">
          <p:graphicFrame>
            <p:nvGraphicFramePr>
              <p:cNvPr id="11" name="Table 24">
                <a:extLst>
                  <a:ext uri="{FF2B5EF4-FFF2-40B4-BE49-F238E27FC236}">
                    <a16:creationId xmlns:a16="http://schemas.microsoft.com/office/drawing/2014/main" id="{5D86BF4D-BEBC-D390-CB09-3D59DD09F351}"/>
                  </a:ext>
                </a:extLst>
              </p:cNvPr>
              <p:cNvGraphicFramePr>
                <a:graphicFrameLocks noGrp="1"/>
              </p:cNvGraphicFramePr>
              <p:nvPr>
                <p:extLst>
                  <p:ext uri="{D42A27DB-BD31-4B8C-83A1-F6EECF244321}">
                    <p14:modId xmlns:p14="http://schemas.microsoft.com/office/powerpoint/2010/main" val="1913589675"/>
                  </p:ext>
                </p:extLst>
              </p:nvPr>
            </p:nvGraphicFramePr>
            <p:xfrm>
              <a:off x="581192" y="1928244"/>
              <a:ext cx="11029618" cy="3980509"/>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09039">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12738">
                    <a:tc>
                      <a:txBody>
                        <a:bodyPr/>
                        <a:lstStyle/>
                        <a:p>
                          <a:pPr algn="ctr"/>
                          <a:r>
                            <a:rPr lang="es-ES_tradnl" sz="1400" b="1" noProof="0" dirty="0">
                              <a:solidFill>
                                <a:schemeClr val="bg1"/>
                              </a:solidFill>
                              <a:latin typeface="Century Gothic" panose="020B0502020202020204" pitchFamily="34" charset="0"/>
                            </a:rPr>
                            <a:t>Factor inflacionario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231092" t="-100000" r="-401681"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331092" t="-100000" r="-301681"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431092" t="-100000" r="-201681"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526667" t="-100000" r="-100000" b="-1076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631933" t="-100000" r="-840" b="-1076000"/>
                          </a:stretch>
                        </a:blipFill>
                      </a:tcPr>
                    </a:tc>
                    <a:extLst>
                      <a:ext uri="{0D108BD9-81ED-4DB2-BD59-A6C34878D82A}">
                        <a16:rowId xmlns:a16="http://schemas.microsoft.com/office/drawing/2014/main" val="697468560"/>
                      </a:ext>
                    </a:extLst>
                  </a:tr>
                  <a:tr h="300286">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0286">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0286">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00286">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0286">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00286">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b="1" noProof="0" dirty="0">
                              <a:solidFill>
                                <a:srgbClr val="C00000"/>
                              </a:solidFill>
                              <a:latin typeface="Century Gothic" panose="020B0502020202020204" pitchFamily="34" charset="0"/>
                            </a:rPr>
                            <a:t>$3.773.585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$3.559.986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$4.358.477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$3.168.375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$2.989.033</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00286">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$3.726.415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$3.940.014</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$4.141.523</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$4.331.625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$4.510.967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00286">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00286">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55872">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00286">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mc:Fallback>
      </mc:AlternateContent>
    </p:spTree>
    <p:extLst>
      <p:ext uri="{BB962C8B-B14F-4D97-AF65-F5344CB8AC3E}">
        <p14:creationId xmlns:p14="http://schemas.microsoft.com/office/powerpoint/2010/main" val="6111325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A6440-067D-E666-ABAA-6B46C5C416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096342-A6A3-D4A2-3C0E-5D9B70F3160C}"/>
              </a:ext>
            </a:extLst>
          </p:cNvPr>
          <p:cNvSpPr>
            <a:spLocks noGrp="1"/>
          </p:cNvSpPr>
          <p:nvPr>
            <p:ph type="title"/>
          </p:nvPr>
        </p:nvSpPr>
        <p:spPr/>
        <p:txBody>
          <a:bodyPr>
            <a:normAutofit/>
          </a:bodyPr>
          <a:lstStyle/>
          <a:p>
            <a:r>
              <a:rPr lang="es-ES" sz="3200" dirty="0">
                <a:latin typeface="Century Gothic" panose="020B0502020202020204" pitchFamily="34" charset="0"/>
              </a:rPr>
              <a:t>Precios constantes – inflación 6%</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EB3EFA3A-1DCF-D912-457E-F76C24C5C5AA}"/>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35</a:t>
            </a:fld>
            <a:endParaRPr lang="en-US" sz="1800" dirty="0"/>
          </a:p>
        </p:txBody>
      </p:sp>
      <p:sp>
        <p:nvSpPr>
          <p:cNvPr id="5" name="Rectángulo 4">
            <a:extLst>
              <a:ext uri="{FF2B5EF4-FFF2-40B4-BE49-F238E27FC236}">
                <a16:creationId xmlns:a16="http://schemas.microsoft.com/office/drawing/2014/main" id="{7209F247-8BC7-95C8-4084-AFF856ADEED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0C5CCC9A-5284-62A4-961E-AC3045B1D9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63BD0574-63D5-442C-C945-AC7ABDB0703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graphicFrame>
            <p:nvGraphicFramePr>
              <p:cNvPr id="11" name="Table 24">
                <a:extLst>
                  <a:ext uri="{FF2B5EF4-FFF2-40B4-BE49-F238E27FC236}">
                    <a16:creationId xmlns:a16="http://schemas.microsoft.com/office/drawing/2014/main" id="{36AA77C5-305E-3E53-923C-08E46006BF60}"/>
                  </a:ext>
                </a:extLst>
              </p:cNvPr>
              <p:cNvGraphicFramePr>
                <a:graphicFrameLocks noGrp="1"/>
              </p:cNvGraphicFramePr>
              <p:nvPr/>
            </p:nvGraphicFramePr>
            <p:xfrm>
              <a:off x="581192" y="1928244"/>
              <a:ext cx="11029618" cy="3954543"/>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09039">
                    <a:tc>
                      <a:txBody>
                        <a:bodyPr/>
                        <a:lstStyle/>
                        <a:p>
                          <a:pPr algn="ctr"/>
                          <a:r>
                            <a:rPr lang="es-ES_tradnl" sz="1400" b="1" noProof="0" dirty="0">
                              <a:solidFill>
                                <a:schemeClr val="bg1"/>
                              </a:solidFill>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00286">
                    <a:tc>
                      <a:txBody>
                        <a:bodyPr/>
                        <a:lstStyle/>
                        <a:p>
                          <a:pPr algn="ctr"/>
                          <a:r>
                            <a:rPr lang="es-ES_tradnl" sz="1400" b="1" noProof="0" dirty="0">
                              <a:solidFill>
                                <a:schemeClr val="bg1"/>
                              </a:solidFill>
                              <a:latin typeface="Century Gothic" panose="020B0502020202020204" pitchFamily="34" charset="0"/>
                            </a:rPr>
                            <a:t>Factor inflacionario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14:m>
                            <m:oMathPara xmlns:m="http://schemas.openxmlformats.org/officeDocument/2006/math">
                              <m:oMathParaPr>
                                <m:jc m:val="centerGroup"/>
                              </m:oMathParaPr>
                              <m:oMath xmlns:m="http://schemas.openxmlformats.org/officeDocument/2006/math">
                                <m:r>
                                  <a:rPr lang="es-ES_tradnl" sz="1400" b="1" i="1" noProof="0" dirty="0" smtClean="0">
                                    <a:solidFill>
                                      <a:schemeClr val="bg1"/>
                                    </a:solidFill>
                                    <a:latin typeface="Cambria Math" panose="02040503050406030204" pitchFamily="18" charset="0"/>
                                  </a:rPr>
                                  <m:t>𝟏</m:t>
                                </m:r>
                                <m:r>
                                  <a:rPr lang="es-ES_tradnl" sz="1400" b="1" i="1" noProof="0" dirty="0" smtClean="0">
                                    <a:solidFill>
                                      <a:schemeClr val="bg1"/>
                                    </a:solidFill>
                                    <a:latin typeface="Cambria Math" panose="02040503050406030204" pitchFamily="18" charset="0"/>
                                    <a:ea typeface="Cambria Math" panose="02040503050406030204" pitchFamily="18" charset="0"/>
                                  </a:rPr>
                                  <m:t>×(</m:t>
                                </m:r>
                                <m:r>
                                  <a:rPr lang="es-ES_tradnl" sz="1400" b="1" i="1" noProof="0" dirty="0" smtClean="0">
                                    <a:solidFill>
                                      <a:schemeClr val="bg1"/>
                                    </a:solidFill>
                                    <a:latin typeface="Cambria Math" panose="02040503050406030204" pitchFamily="18" charset="0"/>
                                    <a:ea typeface="Cambria Math" panose="02040503050406030204" pitchFamily="18" charset="0"/>
                                  </a:rPr>
                                  <m:t>𝟏</m:t>
                                </m:r>
                                <m:r>
                                  <a:rPr lang="es-ES_tradnl" sz="1400" b="1" i="1" noProof="0" dirty="0" smtClean="0">
                                    <a:solidFill>
                                      <a:schemeClr val="bg1"/>
                                    </a:solidFill>
                                    <a:latin typeface="Cambria Math" panose="02040503050406030204" pitchFamily="18" charset="0"/>
                                    <a:ea typeface="Cambria Math" panose="02040503050406030204" pitchFamily="18" charset="0"/>
                                  </a:rPr>
                                  <m:t>+</m:t>
                                </m:r>
                                <m:r>
                                  <a:rPr lang="es-ES_tradnl" sz="1400" b="1" i="1" noProof="0" dirty="0" smtClean="0">
                                    <a:solidFill>
                                      <a:schemeClr val="bg1"/>
                                    </a:solidFill>
                                    <a:latin typeface="Cambria Math" panose="02040503050406030204" pitchFamily="18" charset="0"/>
                                    <a:ea typeface="Cambria Math" panose="02040503050406030204" pitchFamily="18" charset="0"/>
                                  </a:rPr>
                                  <m:t>𝟔</m:t>
                                </m:r>
                                <m:r>
                                  <a:rPr lang="es-ES_tradnl" sz="1400" b="1" i="1" noProof="0" dirty="0" smtClean="0">
                                    <a:solidFill>
                                      <a:schemeClr val="bg1"/>
                                    </a:solidFill>
                                    <a:latin typeface="Cambria Math" panose="02040503050406030204" pitchFamily="18" charset="0"/>
                                    <a:ea typeface="Cambria Math" panose="02040503050406030204" pitchFamily="18" charset="0"/>
                                  </a:rPr>
                                  <m:t>%)</m:t>
                                </m:r>
                              </m:oMath>
                            </m:oMathPara>
                          </a14:m>
                          <a:endParaRPr lang="es-ES_tradnl" sz="1400" b="1"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𝟐</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𝟑</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𝟒</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𝟓</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697468560"/>
                      </a:ext>
                    </a:extLst>
                  </a:tr>
                  <a:tr h="300286">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0286">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0286">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00286">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0286">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00286">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b="1" noProof="0" dirty="0">
                              <a:solidFill>
                                <a:srgbClr val="C00000"/>
                              </a:solidFill>
                              <a:latin typeface="Century Gothic" panose="020B0502020202020204" pitchFamily="34" charset="0"/>
                            </a:rPr>
                            <a:t>$3.773.585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$3.559.986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$4.358.477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$3.168.375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$2.989.033</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00286">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$3.726.415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$3.940.014</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$4.141.523</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$4.331.625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$4.510.967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00286">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$ 3.773.585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$ 3.559.986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$ 3.358.477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$ 3.168.375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$ 2.989.033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00286">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$20.000.000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55872">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$ 1.229.717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$ 1.300.205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$ 1.366.703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$ 1.429.436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$ 1.488.619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236804">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-20.000.000</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$ 6.270.283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$ 6.199.795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$ 6.133.297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$ 6.070.564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$ 6.011.381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mc:Choice>
        <mc:Fallback xmlns="">
          <p:graphicFrame>
            <p:nvGraphicFramePr>
              <p:cNvPr id="11" name="Table 24">
                <a:extLst>
                  <a:ext uri="{FF2B5EF4-FFF2-40B4-BE49-F238E27FC236}">
                    <a16:creationId xmlns:a16="http://schemas.microsoft.com/office/drawing/2014/main" id="{36AA77C5-305E-3E53-923C-08E46006BF60}"/>
                  </a:ext>
                </a:extLst>
              </p:cNvPr>
              <p:cNvGraphicFramePr>
                <a:graphicFrameLocks noGrp="1"/>
              </p:cNvGraphicFramePr>
              <p:nvPr>
                <p:extLst>
                  <p:ext uri="{D42A27DB-BD31-4B8C-83A1-F6EECF244321}">
                    <p14:modId xmlns:p14="http://schemas.microsoft.com/office/powerpoint/2010/main" val="278194901"/>
                  </p:ext>
                </p:extLst>
              </p:nvPr>
            </p:nvGraphicFramePr>
            <p:xfrm>
              <a:off x="581192" y="1928244"/>
              <a:ext cx="11029618" cy="3954543"/>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09039">
                    <a:tc>
                      <a:txBody>
                        <a:bodyPr/>
                        <a:lstStyle/>
                        <a:p>
                          <a:pPr algn="ctr"/>
                          <a:r>
                            <a:rPr lang="es-ES_tradnl" sz="1400" b="1" noProof="0" dirty="0">
                              <a:solidFill>
                                <a:schemeClr val="bg1"/>
                              </a:solidFill>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12738">
                    <a:tc>
                      <a:txBody>
                        <a:bodyPr/>
                        <a:lstStyle/>
                        <a:p>
                          <a:pPr algn="ctr"/>
                          <a:r>
                            <a:rPr lang="es-ES_tradnl" sz="1400" b="1" noProof="0" dirty="0">
                              <a:solidFill>
                                <a:schemeClr val="bg1"/>
                              </a:solidFill>
                              <a:latin typeface="Century Gothic" panose="020B0502020202020204" pitchFamily="34" charset="0"/>
                            </a:rPr>
                            <a:t>Factor inflacionario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231092" t="-100000" r="-401681" b="-1072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331092" t="-100000" r="-301681" b="-1072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431092" t="-100000" r="-201681" b="-1072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526667" t="-100000" r="-100000" b="-1072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631933" t="-100000" r="-840" b="-1072000"/>
                          </a:stretch>
                        </a:blipFill>
                      </a:tcPr>
                    </a:tc>
                    <a:extLst>
                      <a:ext uri="{0D108BD9-81ED-4DB2-BD59-A6C34878D82A}">
                        <a16:rowId xmlns:a16="http://schemas.microsoft.com/office/drawing/2014/main" val="697468560"/>
                      </a:ext>
                    </a:extLst>
                  </a:tr>
                  <a:tr h="300286">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0286">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0286">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00286">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0286">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00286">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b="1" noProof="0" dirty="0">
                              <a:solidFill>
                                <a:srgbClr val="C00000"/>
                              </a:solidFill>
                              <a:latin typeface="Century Gothic" panose="020B0502020202020204" pitchFamily="34" charset="0"/>
                            </a:rPr>
                            <a:t>$3.773.585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$3.559.986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$4.358.477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$3.168.375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$2.989.033</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00286">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$3.726.415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$3.940.014</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$4.141.523</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$4.331.625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$4.510.967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00286">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$ 3.773.585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$ 3.559.986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$ 3.358.477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$ 3.168.375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$ 2.989.033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00286">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$20.000.000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55872">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$ 1.229.717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$ 1.300.205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$ 1.366.703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$ 1.429.436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$ 1.488.619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274320">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-20.000.000</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$ 6.270.283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$ 6.199.795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$ 6.133.297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$ 6.070.564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$ 6.011.381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mc:Fallback>
      </mc:AlternateContent>
    </p:spTree>
    <p:extLst>
      <p:ext uri="{BB962C8B-B14F-4D97-AF65-F5344CB8AC3E}">
        <p14:creationId xmlns:p14="http://schemas.microsoft.com/office/powerpoint/2010/main" val="24090120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7ED05-8AC8-0103-0D84-7886EAC91E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67987-35B3-D0C8-55AF-55103E42DBE6}"/>
              </a:ext>
            </a:extLst>
          </p:cNvPr>
          <p:cNvSpPr>
            <a:spLocks noGrp="1"/>
          </p:cNvSpPr>
          <p:nvPr>
            <p:ph type="title"/>
          </p:nvPr>
        </p:nvSpPr>
        <p:spPr/>
        <p:txBody>
          <a:bodyPr>
            <a:normAutofit/>
          </a:bodyPr>
          <a:lstStyle/>
          <a:p>
            <a:r>
              <a:rPr lang="es-ES" sz="3200" dirty="0">
                <a:latin typeface="Century Gothic" panose="020B0502020202020204" pitchFamily="34" charset="0"/>
              </a:rPr>
              <a:t>Precios constantes – inflación 6%</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731E3DCC-B9F5-45C7-716B-AFEF9B30BAD0}"/>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36</a:t>
            </a:fld>
            <a:endParaRPr lang="en-US" sz="1800" dirty="0"/>
          </a:p>
        </p:txBody>
      </p:sp>
      <p:sp>
        <p:nvSpPr>
          <p:cNvPr id="5" name="Rectángulo 4">
            <a:extLst>
              <a:ext uri="{FF2B5EF4-FFF2-40B4-BE49-F238E27FC236}">
                <a16:creationId xmlns:a16="http://schemas.microsoft.com/office/drawing/2014/main" id="{D0638DEC-CD6B-489F-AC74-FFFD817C07A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1F8CE213-908E-B2BF-D873-2C7FE8EBBB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C854F2DB-F4A1-7647-18AB-B004CB08DD4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graphicFrame>
            <p:nvGraphicFramePr>
              <p:cNvPr id="11" name="Table 24">
                <a:extLst>
                  <a:ext uri="{FF2B5EF4-FFF2-40B4-BE49-F238E27FC236}">
                    <a16:creationId xmlns:a16="http://schemas.microsoft.com/office/drawing/2014/main" id="{29741BDB-EBB3-25B1-4F25-5444CC9A0D3A}"/>
                  </a:ext>
                </a:extLst>
              </p:cNvPr>
              <p:cNvGraphicFramePr>
                <a:graphicFrameLocks noGrp="1"/>
              </p:cNvGraphicFramePr>
              <p:nvPr/>
            </p:nvGraphicFramePr>
            <p:xfrm>
              <a:off x="581192" y="1928244"/>
              <a:ext cx="11029618" cy="3954543"/>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09039">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00286">
                    <a:tc>
                      <a:txBody>
                        <a:bodyPr/>
                        <a:lstStyle/>
                        <a:p>
                          <a:pPr algn="ctr"/>
                          <a:r>
                            <a:rPr lang="es-ES_tradnl" sz="1400" b="1" noProof="0" dirty="0">
                              <a:solidFill>
                                <a:schemeClr val="bg1"/>
                              </a:solidFill>
                              <a:latin typeface="Century Gothic" panose="020B0502020202020204" pitchFamily="34" charset="0"/>
                            </a:rPr>
                            <a:t>Factor inflacionario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14:m>
                            <m:oMathPara xmlns:m="http://schemas.openxmlformats.org/officeDocument/2006/math">
                              <m:oMathParaPr>
                                <m:jc m:val="centerGroup"/>
                              </m:oMathParaPr>
                              <m:oMath xmlns:m="http://schemas.openxmlformats.org/officeDocument/2006/math">
                                <m:r>
                                  <a:rPr lang="es-ES_tradnl" sz="1400" b="1" i="1" noProof="0" dirty="0" smtClean="0">
                                    <a:solidFill>
                                      <a:schemeClr val="bg1"/>
                                    </a:solidFill>
                                    <a:latin typeface="Cambria Math" panose="02040503050406030204" pitchFamily="18" charset="0"/>
                                  </a:rPr>
                                  <m:t>𝟏</m:t>
                                </m:r>
                                <m:r>
                                  <a:rPr lang="es-ES_tradnl" sz="1400" b="1" i="1" noProof="0" dirty="0" smtClean="0">
                                    <a:solidFill>
                                      <a:schemeClr val="bg1"/>
                                    </a:solidFill>
                                    <a:latin typeface="Cambria Math" panose="02040503050406030204" pitchFamily="18" charset="0"/>
                                    <a:ea typeface="Cambria Math" panose="02040503050406030204" pitchFamily="18" charset="0"/>
                                  </a:rPr>
                                  <m:t>×(</m:t>
                                </m:r>
                                <m:r>
                                  <a:rPr lang="es-ES_tradnl" sz="1400" b="1" i="1" noProof="0" dirty="0" smtClean="0">
                                    <a:solidFill>
                                      <a:schemeClr val="bg1"/>
                                    </a:solidFill>
                                    <a:latin typeface="Cambria Math" panose="02040503050406030204" pitchFamily="18" charset="0"/>
                                    <a:ea typeface="Cambria Math" panose="02040503050406030204" pitchFamily="18" charset="0"/>
                                  </a:rPr>
                                  <m:t>𝟏</m:t>
                                </m:r>
                                <m:r>
                                  <a:rPr lang="es-ES_tradnl" sz="1400" b="1" i="1" noProof="0" dirty="0" smtClean="0">
                                    <a:solidFill>
                                      <a:schemeClr val="bg1"/>
                                    </a:solidFill>
                                    <a:latin typeface="Cambria Math" panose="02040503050406030204" pitchFamily="18" charset="0"/>
                                    <a:ea typeface="Cambria Math" panose="02040503050406030204" pitchFamily="18" charset="0"/>
                                  </a:rPr>
                                  <m:t>+</m:t>
                                </m:r>
                                <m:r>
                                  <a:rPr lang="es-ES_tradnl" sz="1400" b="1" i="1" noProof="0" dirty="0" smtClean="0">
                                    <a:solidFill>
                                      <a:schemeClr val="bg1"/>
                                    </a:solidFill>
                                    <a:latin typeface="Cambria Math" panose="02040503050406030204" pitchFamily="18" charset="0"/>
                                    <a:ea typeface="Cambria Math" panose="02040503050406030204" pitchFamily="18" charset="0"/>
                                  </a:rPr>
                                  <m:t>𝟔</m:t>
                                </m:r>
                                <m:r>
                                  <a:rPr lang="es-ES_tradnl" sz="1400" b="1" i="1" noProof="0" dirty="0" smtClean="0">
                                    <a:solidFill>
                                      <a:schemeClr val="bg1"/>
                                    </a:solidFill>
                                    <a:latin typeface="Cambria Math" panose="02040503050406030204" pitchFamily="18" charset="0"/>
                                    <a:ea typeface="Cambria Math" panose="02040503050406030204" pitchFamily="18" charset="0"/>
                                  </a:rPr>
                                  <m:t>%)</m:t>
                                </m:r>
                              </m:oMath>
                            </m:oMathPara>
                          </a14:m>
                          <a:endParaRPr lang="es-ES_tradnl" sz="1400" b="1"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𝟐</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𝟑</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𝟒</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𝟓</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697468560"/>
                      </a:ext>
                    </a:extLst>
                  </a:tr>
                  <a:tr h="300286">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0286">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0286">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00286">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0286">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00286">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b="1" noProof="0" dirty="0">
                              <a:solidFill>
                                <a:srgbClr val="C00000"/>
                              </a:solidFill>
                              <a:latin typeface="Century Gothic" panose="020B0502020202020204" pitchFamily="34" charset="0"/>
                            </a:rPr>
                            <a:t>$3.773.585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$3.559.986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$4.358.477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$3.168.375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$2.989.033</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00286">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$3.726.415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$3.940.014</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$4.141.523</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$4.331.625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$4.510.967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00286">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$ 3.773.585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$ 3.559.986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$ 3.358.477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$ 3.168.375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$ 2.989.033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00286">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$20.000.000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55872">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$ 1.229.717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$ 1.300.205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$ 1.366.703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$ 1.429.436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$ 1.488.619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236804">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-20.000.000</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$ 6.270.283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$ 6.199.795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$ 6.133.297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$ 6.070.564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$ 6.011.381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mc:Choice>
        <mc:Fallback xmlns="">
          <p:graphicFrame>
            <p:nvGraphicFramePr>
              <p:cNvPr id="11" name="Table 24">
                <a:extLst>
                  <a:ext uri="{FF2B5EF4-FFF2-40B4-BE49-F238E27FC236}">
                    <a16:creationId xmlns:a16="http://schemas.microsoft.com/office/drawing/2014/main" id="{29741BDB-EBB3-25B1-4F25-5444CC9A0D3A}"/>
                  </a:ext>
                </a:extLst>
              </p:cNvPr>
              <p:cNvGraphicFramePr>
                <a:graphicFrameLocks noGrp="1"/>
              </p:cNvGraphicFramePr>
              <p:nvPr>
                <p:extLst>
                  <p:ext uri="{D42A27DB-BD31-4B8C-83A1-F6EECF244321}">
                    <p14:modId xmlns:p14="http://schemas.microsoft.com/office/powerpoint/2010/main" val="3234674440"/>
                  </p:ext>
                </p:extLst>
              </p:nvPr>
            </p:nvGraphicFramePr>
            <p:xfrm>
              <a:off x="581192" y="1928244"/>
              <a:ext cx="11029618" cy="3954543"/>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09039">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12738">
                    <a:tc>
                      <a:txBody>
                        <a:bodyPr/>
                        <a:lstStyle/>
                        <a:p>
                          <a:pPr algn="ctr"/>
                          <a:r>
                            <a:rPr lang="es-ES_tradnl" sz="1400" b="1" noProof="0" dirty="0">
                              <a:solidFill>
                                <a:schemeClr val="bg1"/>
                              </a:solidFill>
                              <a:latin typeface="Century Gothic" panose="020B0502020202020204" pitchFamily="34" charset="0"/>
                            </a:rPr>
                            <a:t>Factor inflacionario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231092" t="-100000" r="-401681" b="-1072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331092" t="-100000" r="-301681" b="-1072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431092" t="-100000" r="-201681" b="-1072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526667" t="-100000" r="-100000" b="-1072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631933" t="-100000" r="-840" b="-1072000"/>
                          </a:stretch>
                        </a:blipFill>
                      </a:tcPr>
                    </a:tc>
                    <a:extLst>
                      <a:ext uri="{0D108BD9-81ED-4DB2-BD59-A6C34878D82A}">
                        <a16:rowId xmlns:a16="http://schemas.microsoft.com/office/drawing/2014/main" val="697468560"/>
                      </a:ext>
                    </a:extLst>
                  </a:tr>
                  <a:tr h="300286">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0286">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0286">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00286">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0286">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00286">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b="1" noProof="0" dirty="0">
                              <a:solidFill>
                                <a:srgbClr val="C00000"/>
                              </a:solidFill>
                              <a:latin typeface="Century Gothic" panose="020B0502020202020204" pitchFamily="34" charset="0"/>
                            </a:rPr>
                            <a:t>$3.773.585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$3.559.986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$4.358.477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$3.168.375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$2.989.033</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00286">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$3.726.415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$3.940.014</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$4.141.523</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$4.331.625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$4.510.967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00286">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$ 3.773.585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$ 3.559.986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$ 3.358.477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$ 3.168.375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$ 2.989.033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00286">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$20.000.000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55872">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$ 1.229.717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$ 1.300.205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$ 1.366.703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$ 1.429.436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$ 1.488.619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274320">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-20.000.000</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$ 6.270.283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$ 6.199.795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$ 6.133.297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$ 6.070.564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$ 6.011.381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mc:Fallback>
      </mc:AlternateContent>
      <p:graphicFrame>
        <p:nvGraphicFramePr>
          <p:cNvPr id="3" name="Tabla 2">
            <a:extLst>
              <a:ext uri="{FF2B5EF4-FFF2-40B4-BE49-F238E27FC236}">
                <a16:creationId xmlns:a16="http://schemas.microsoft.com/office/drawing/2014/main" id="{64E87BB4-6D51-94A9-4213-65F4CF8D7F40}"/>
              </a:ext>
            </a:extLst>
          </p:cNvPr>
          <p:cNvGraphicFramePr>
            <a:graphicFrameLocks noGrp="1"/>
          </p:cNvGraphicFramePr>
          <p:nvPr/>
        </p:nvGraphicFramePr>
        <p:xfrm>
          <a:off x="581190" y="5870335"/>
          <a:ext cx="3468993" cy="623320"/>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179332490"/>
                    </a:ext>
                  </a:extLst>
                </a:gridCol>
                <a:gridCol w="1512125">
                  <a:extLst>
                    <a:ext uri="{9D8B030D-6E8A-4147-A177-3AD203B41FA5}">
                      <a16:colId xmlns:a16="http://schemas.microsoft.com/office/drawing/2014/main" val="3892199838"/>
                    </a:ext>
                  </a:extLst>
                </a:gridCol>
              </a:tblGrid>
              <a:tr h="311660">
                <a:tc>
                  <a:txBody>
                    <a:bodyPr/>
                    <a:lstStyle/>
                    <a:p>
                      <a:pPr algn="l"/>
                      <a:r>
                        <a:rPr lang="es-ES_tradnl" sz="1300" noProof="0" dirty="0">
                          <a:solidFill>
                            <a:schemeClr val="accent1"/>
                          </a:solidFill>
                          <a:latin typeface="Century Gothic" panose="020B0502020202020204" pitchFamily="34" charset="0"/>
                        </a:rPr>
                        <a:t>TIR</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16,34%</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2706829573"/>
                  </a:ext>
                </a:extLst>
              </a:tr>
              <a:tr h="311660">
                <a:tc>
                  <a:txBody>
                    <a:bodyPr/>
                    <a:lstStyle/>
                    <a:p>
                      <a:pPr algn="l"/>
                      <a:r>
                        <a:rPr lang="es-ES_tradnl" sz="1300" noProof="0" dirty="0">
                          <a:solidFill>
                            <a:schemeClr val="accent1"/>
                          </a:solidFill>
                          <a:latin typeface="Century Gothic" panose="020B0502020202020204" pitchFamily="34" charset="0"/>
                        </a:rPr>
                        <a:t>VPN Constante/Real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3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630373977"/>
                  </a:ext>
                </a:extLst>
              </a:tr>
            </a:tbl>
          </a:graphicData>
        </a:graphic>
      </p:graphicFrame>
      <p:sp>
        <p:nvSpPr>
          <p:cNvPr id="7" name="CuadroTexto 6">
            <a:extLst>
              <a:ext uri="{FF2B5EF4-FFF2-40B4-BE49-F238E27FC236}">
                <a16:creationId xmlns:a16="http://schemas.microsoft.com/office/drawing/2014/main" id="{9ECECAC4-89BC-8FFE-9F73-E06920D46A33}"/>
              </a:ext>
            </a:extLst>
          </p:cNvPr>
          <p:cNvSpPr txBox="1"/>
          <p:nvPr/>
        </p:nvSpPr>
        <p:spPr>
          <a:xfrm>
            <a:off x="4453951" y="6131274"/>
            <a:ext cx="2075818" cy="307777"/>
          </a:xfrm>
          <a:prstGeom prst="rect">
            <a:avLst/>
          </a:prstGeom>
          <a:noFill/>
        </p:spPr>
        <p:txBody>
          <a:bodyPr wrap="square" rtlCol="0">
            <a:spAutoFit/>
          </a:bodyPr>
          <a:lstStyle/>
          <a:p>
            <a:pPr algn="ctr"/>
            <a:r>
              <a:rPr lang="en-US" sz="1400" b="1" dirty="0" err="1">
                <a:latin typeface="Century Gothic" panose="020B0502020202020204" pitchFamily="34" charset="0"/>
              </a:rPr>
              <a:t>Wacc</a:t>
            </a:r>
            <a:r>
              <a:rPr lang="en-US" sz="1400" b="1" dirty="0">
                <a:latin typeface="Century Gothic" panose="020B0502020202020204" pitchFamily="34" charset="0"/>
              </a:rPr>
              <a:t> real = 8,49%</a:t>
            </a:r>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666797A7-6504-F9A8-3381-876D871B3844}"/>
                  </a:ext>
                </a:extLst>
              </p:cNvPr>
              <p:cNvSpPr txBox="1"/>
              <p:nvPr/>
            </p:nvSpPr>
            <p:spPr>
              <a:xfrm>
                <a:off x="6933537" y="5999603"/>
                <a:ext cx="4019754" cy="57111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CO" sz="1400" i="1" smtClean="0">
                              <a:latin typeface="Cambria Math" panose="02040503050406030204" pitchFamily="18" charset="0"/>
                            </a:rPr>
                          </m:ctrlPr>
                        </m:sSubPr>
                        <m:e>
                          <m:r>
                            <a:rPr lang="es-CO" sz="1400" b="0" i="1" smtClean="0">
                              <a:latin typeface="Cambria Math" panose="02040503050406030204" pitchFamily="18" charset="0"/>
                            </a:rPr>
                            <m:t>𝑖</m:t>
                          </m:r>
                        </m:e>
                        <m:sub>
                          <m:r>
                            <a:rPr lang="es-CO" sz="1400" b="0" i="1" smtClean="0">
                              <a:latin typeface="Cambria Math" panose="02040503050406030204" pitchFamily="18" charset="0"/>
                            </a:rPr>
                            <m:t>𝑟𝑒𝑎𝑙</m:t>
                          </m:r>
                        </m:sub>
                      </m:sSub>
                      <m:r>
                        <a:rPr lang="es-CO" sz="1400" b="0" i="1" smtClean="0">
                          <a:latin typeface="Cambria Math" panose="02040503050406030204" pitchFamily="18" charset="0"/>
                        </a:rPr>
                        <m:t>=</m:t>
                      </m:r>
                      <m:f>
                        <m:fPr>
                          <m:ctrlPr>
                            <a:rPr lang="es-CO" sz="1400" b="0" i="1" smtClean="0">
                              <a:latin typeface="Cambria Math" panose="02040503050406030204" pitchFamily="18" charset="0"/>
                            </a:rPr>
                          </m:ctrlPr>
                        </m:fPr>
                        <m:num>
                          <m:r>
                            <a:rPr lang="es-CO" sz="1400" b="0" i="1" smtClean="0">
                              <a:latin typeface="Cambria Math" panose="02040503050406030204" pitchFamily="18" charset="0"/>
                            </a:rPr>
                            <m:t>(1+</m:t>
                          </m:r>
                          <m:sSub>
                            <m:sSubPr>
                              <m:ctrlPr>
                                <a:rPr lang="es-CO" sz="1400" b="0" i="1" smtClean="0">
                                  <a:latin typeface="Cambria Math" panose="02040503050406030204" pitchFamily="18" charset="0"/>
                                </a:rPr>
                              </m:ctrlPr>
                            </m:sSubPr>
                            <m:e>
                              <m:r>
                                <a:rPr lang="es-CO" sz="1400" b="0" i="1" smtClean="0">
                                  <a:latin typeface="Cambria Math" panose="02040503050406030204" pitchFamily="18" charset="0"/>
                                </a:rPr>
                                <m:t>𝑖</m:t>
                              </m:r>
                            </m:e>
                            <m:sub>
                              <m:r>
                                <a:rPr lang="es-CO" sz="1400" b="0" i="1" smtClean="0">
                                  <a:latin typeface="Cambria Math" panose="02040503050406030204" pitchFamily="18" charset="0"/>
                                </a:rPr>
                                <m:t>𝑛𝑜𝑚𝑖𝑛𝑎𝑙</m:t>
                              </m:r>
                            </m:sub>
                          </m:sSub>
                          <m:r>
                            <a:rPr lang="es-CO" sz="1400" b="0" i="1" smtClean="0">
                              <a:latin typeface="Cambria Math" panose="02040503050406030204" pitchFamily="18" charset="0"/>
                            </a:rPr>
                            <m:t>)</m:t>
                          </m:r>
                        </m:num>
                        <m:den>
                          <m:r>
                            <a:rPr lang="es-CO" sz="1400" b="0" i="1" smtClean="0">
                              <a:latin typeface="Cambria Math" panose="02040503050406030204" pitchFamily="18" charset="0"/>
                            </a:rPr>
                            <m:t>(1+</m:t>
                          </m:r>
                          <m:sSub>
                            <m:sSubPr>
                              <m:ctrlPr>
                                <a:rPr lang="es-CO" sz="1400" i="1">
                                  <a:latin typeface="Cambria Math" panose="02040503050406030204" pitchFamily="18" charset="0"/>
                                </a:rPr>
                              </m:ctrlPr>
                            </m:sSubPr>
                            <m:e>
                              <m:r>
                                <a:rPr lang="es-CO" sz="1400" i="1">
                                  <a:latin typeface="Cambria Math" panose="02040503050406030204" pitchFamily="18" charset="0"/>
                                </a:rPr>
                                <m:t>𝑖</m:t>
                              </m:r>
                            </m:e>
                            <m:sub>
                              <m:r>
                                <a:rPr lang="es-CO" sz="1400" b="0" i="1" smtClean="0">
                                  <a:latin typeface="Cambria Math" panose="02040503050406030204" pitchFamily="18" charset="0"/>
                                </a:rPr>
                                <m:t>𝑖𝑛𝑓𝑙𝑎𝑐𝑖𝑜𝑛</m:t>
                              </m:r>
                            </m:sub>
                          </m:sSub>
                          <m:r>
                            <a:rPr lang="es-CO" sz="1400" i="1">
                              <a:latin typeface="Cambria Math" panose="02040503050406030204" pitchFamily="18" charset="0"/>
                            </a:rPr>
                            <m:t>)</m:t>
                          </m:r>
                        </m:den>
                      </m:f>
                      <m:r>
                        <a:rPr lang="es-CO" sz="1400" b="0" i="1" smtClean="0">
                          <a:latin typeface="Cambria Math" panose="02040503050406030204" pitchFamily="18" charset="0"/>
                        </a:rPr>
                        <m:t>−1=</m:t>
                      </m:r>
                      <m:f>
                        <m:fPr>
                          <m:ctrlPr>
                            <a:rPr lang="es-CO" sz="1400" i="1">
                              <a:latin typeface="Cambria Math" panose="02040503050406030204" pitchFamily="18" charset="0"/>
                            </a:rPr>
                          </m:ctrlPr>
                        </m:fPr>
                        <m:num>
                          <m:d>
                            <m:dPr>
                              <m:ctrlPr>
                                <a:rPr lang="es-CO" sz="1400" b="0" i="1" smtClean="0">
                                  <a:latin typeface="Cambria Math" panose="02040503050406030204" pitchFamily="18" charset="0"/>
                                </a:rPr>
                              </m:ctrlPr>
                            </m:dPr>
                            <m:e>
                              <m:r>
                                <a:rPr lang="es-CO" sz="1400" b="0" i="1" smtClean="0">
                                  <a:latin typeface="Cambria Math" panose="02040503050406030204" pitchFamily="18" charset="0"/>
                                </a:rPr>
                                <m:t>1.15</m:t>
                              </m:r>
                            </m:e>
                          </m:d>
                        </m:num>
                        <m:den>
                          <m:d>
                            <m:dPr>
                              <m:ctrlPr>
                                <a:rPr lang="es-CO" sz="1400" i="1">
                                  <a:latin typeface="Cambria Math" panose="02040503050406030204" pitchFamily="18" charset="0"/>
                                </a:rPr>
                              </m:ctrlPr>
                            </m:dPr>
                            <m:e>
                              <m:r>
                                <a:rPr lang="es-CO" sz="1400" i="1">
                                  <a:latin typeface="Cambria Math" panose="02040503050406030204" pitchFamily="18" charset="0"/>
                                </a:rPr>
                                <m:t>1</m:t>
                              </m:r>
                              <m:r>
                                <a:rPr lang="es-CO" sz="1400" b="0" i="1" smtClean="0">
                                  <a:latin typeface="Cambria Math" panose="02040503050406030204" pitchFamily="18" charset="0"/>
                                </a:rPr>
                                <m:t>.06</m:t>
                              </m:r>
                            </m:e>
                          </m:d>
                        </m:den>
                      </m:f>
                      <m:r>
                        <a:rPr lang="es-CO" sz="1400" i="1">
                          <a:latin typeface="Cambria Math" panose="02040503050406030204" pitchFamily="18" charset="0"/>
                        </a:rPr>
                        <m:t>−1</m:t>
                      </m:r>
                      <m:r>
                        <a:rPr lang="es-CO" sz="1400" b="0" i="1" smtClean="0">
                          <a:latin typeface="Cambria Math" panose="02040503050406030204" pitchFamily="18" charset="0"/>
                        </a:rPr>
                        <m:t>=8.49%</m:t>
                      </m:r>
                    </m:oMath>
                  </m:oMathPara>
                </a14:m>
                <a:endParaRPr lang="es-CO" sz="1400" dirty="0"/>
              </a:p>
            </p:txBody>
          </p:sp>
        </mc:Choice>
        <mc:Fallback xmlns="">
          <p:sp>
            <p:nvSpPr>
              <p:cNvPr id="9" name="CuadroTexto 8">
                <a:extLst>
                  <a:ext uri="{FF2B5EF4-FFF2-40B4-BE49-F238E27FC236}">
                    <a16:creationId xmlns:a16="http://schemas.microsoft.com/office/drawing/2014/main" id="{666797A7-6504-F9A8-3381-876D871B3844}"/>
                  </a:ext>
                </a:extLst>
              </p:cNvPr>
              <p:cNvSpPr txBox="1">
                <a:spLocks noRot="1" noChangeAspect="1" noMove="1" noResize="1" noEditPoints="1" noAdjustHandles="1" noChangeArrowheads="1" noChangeShapeType="1" noTextEdit="1"/>
              </p:cNvSpPr>
              <p:nvPr/>
            </p:nvSpPr>
            <p:spPr>
              <a:xfrm>
                <a:off x="6933537" y="5999603"/>
                <a:ext cx="4019754" cy="571118"/>
              </a:xfrm>
              <a:prstGeom prst="rect">
                <a:avLst/>
              </a:prstGeom>
              <a:blipFill>
                <a:blip r:embed="rId4"/>
                <a:stretch>
                  <a:fillRect/>
                </a:stretch>
              </a:blipFill>
            </p:spPr>
            <p:txBody>
              <a:bodyPr/>
              <a:lstStyle/>
              <a:p>
                <a:r>
                  <a:rPr lang="en-US">
                    <a:noFill/>
                  </a:rPr>
                  <a:t> </a:t>
                </a:r>
              </a:p>
            </p:txBody>
          </p:sp>
        </mc:Fallback>
      </mc:AlternateContent>
      <p:sp>
        <p:nvSpPr>
          <p:cNvPr id="10" name="Flecha abajo 25">
            <a:extLst>
              <a:ext uri="{FF2B5EF4-FFF2-40B4-BE49-F238E27FC236}">
                <a16:creationId xmlns:a16="http://schemas.microsoft.com/office/drawing/2014/main" id="{88302835-9D02-80B6-8BC6-BD231770907F}"/>
              </a:ext>
            </a:extLst>
          </p:cNvPr>
          <p:cNvSpPr/>
          <p:nvPr/>
        </p:nvSpPr>
        <p:spPr>
          <a:xfrm rot="16200000">
            <a:off x="6557804" y="6092694"/>
            <a:ext cx="347698" cy="384938"/>
          </a:xfrm>
          <a:prstGeom prst="downArrow">
            <a:avLst>
              <a:gd name="adj1" fmla="val 50000"/>
              <a:gd name="adj2" fmla="val 4902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2824899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A6CDD-37C0-F0E9-F4DD-BCB0A623B6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C8D5D1-BD86-5DE5-F648-65276020FFCD}"/>
              </a:ext>
            </a:extLst>
          </p:cNvPr>
          <p:cNvSpPr>
            <a:spLocks noGrp="1"/>
          </p:cNvSpPr>
          <p:nvPr>
            <p:ph type="title"/>
          </p:nvPr>
        </p:nvSpPr>
        <p:spPr/>
        <p:txBody>
          <a:bodyPr>
            <a:normAutofit/>
          </a:bodyPr>
          <a:lstStyle/>
          <a:p>
            <a:r>
              <a:rPr lang="es-ES" sz="3200" dirty="0">
                <a:latin typeface="Century Gothic" panose="020B0502020202020204" pitchFamily="34" charset="0"/>
              </a:rPr>
              <a:t>Precios constantes – inflación 6%</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D4A030DD-8853-2412-2526-738D48757512}"/>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37</a:t>
            </a:fld>
            <a:endParaRPr lang="en-US" sz="1800" dirty="0"/>
          </a:p>
        </p:txBody>
      </p:sp>
      <p:sp>
        <p:nvSpPr>
          <p:cNvPr id="5" name="Rectángulo 4">
            <a:extLst>
              <a:ext uri="{FF2B5EF4-FFF2-40B4-BE49-F238E27FC236}">
                <a16:creationId xmlns:a16="http://schemas.microsoft.com/office/drawing/2014/main" id="{F8F63DCD-94EB-5022-D6BD-BF02638ECC4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4822A826-B2E0-0B89-ADBA-404BA6E0A2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06AB9DE2-7EB6-80D7-2492-6FE4D50FDC6A}"/>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graphicFrame>
            <p:nvGraphicFramePr>
              <p:cNvPr id="11" name="Table 24">
                <a:extLst>
                  <a:ext uri="{FF2B5EF4-FFF2-40B4-BE49-F238E27FC236}">
                    <a16:creationId xmlns:a16="http://schemas.microsoft.com/office/drawing/2014/main" id="{B3E2ABB7-129B-8672-1E7E-43E9D75AF603}"/>
                  </a:ext>
                </a:extLst>
              </p:cNvPr>
              <p:cNvGraphicFramePr>
                <a:graphicFrameLocks noGrp="1"/>
              </p:cNvGraphicFramePr>
              <p:nvPr/>
            </p:nvGraphicFramePr>
            <p:xfrm>
              <a:off x="581192" y="1928244"/>
              <a:ext cx="11029618" cy="3954543"/>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09039">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00286">
                    <a:tc>
                      <a:txBody>
                        <a:bodyPr/>
                        <a:lstStyle/>
                        <a:p>
                          <a:pPr algn="ctr"/>
                          <a:r>
                            <a:rPr lang="es-ES_tradnl" sz="1400" b="1" noProof="0" dirty="0">
                              <a:solidFill>
                                <a:schemeClr val="bg1"/>
                              </a:solidFill>
                              <a:latin typeface="Century Gothic" panose="020B0502020202020204" pitchFamily="34" charset="0"/>
                            </a:rPr>
                            <a:t>Factor inflacionario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14:m>
                            <m:oMathPara xmlns:m="http://schemas.openxmlformats.org/officeDocument/2006/math">
                              <m:oMathParaPr>
                                <m:jc m:val="centerGroup"/>
                              </m:oMathParaPr>
                              <m:oMath xmlns:m="http://schemas.openxmlformats.org/officeDocument/2006/math">
                                <m:r>
                                  <a:rPr lang="es-ES_tradnl" sz="1400" b="1" i="1" noProof="0" dirty="0" smtClean="0">
                                    <a:solidFill>
                                      <a:schemeClr val="bg1"/>
                                    </a:solidFill>
                                    <a:latin typeface="Cambria Math" panose="02040503050406030204" pitchFamily="18" charset="0"/>
                                  </a:rPr>
                                  <m:t>𝟏</m:t>
                                </m:r>
                                <m:r>
                                  <a:rPr lang="es-ES_tradnl" sz="1400" b="1" i="1" noProof="0" dirty="0" smtClean="0">
                                    <a:solidFill>
                                      <a:schemeClr val="bg1"/>
                                    </a:solidFill>
                                    <a:latin typeface="Cambria Math" panose="02040503050406030204" pitchFamily="18" charset="0"/>
                                    <a:ea typeface="Cambria Math" panose="02040503050406030204" pitchFamily="18" charset="0"/>
                                  </a:rPr>
                                  <m:t>×(</m:t>
                                </m:r>
                                <m:r>
                                  <a:rPr lang="es-ES_tradnl" sz="1400" b="1" i="1" noProof="0" dirty="0" smtClean="0">
                                    <a:solidFill>
                                      <a:schemeClr val="bg1"/>
                                    </a:solidFill>
                                    <a:latin typeface="Cambria Math" panose="02040503050406030204" pitchFamily="18" charset="0"/>
                                    <a:ea typeface="Cambria Math" panose="02040503050406030204" pitchFamily="18" charset="0"/>
                                  </a:rPr>
                                  <m:t>𝟏</m:t>
                                </m:r>
                                <m:r>
                                  <a:rPr lang="es-ES_tradnl" sz="1400" b="1" i="1" noProof="0" dirty="0" smtClean="0">
                                    <a:solidFill>
                                      <a:schemeClr val="bg1"/>
                                    </a:solidFill>
                                    <a:latin typeface="Cambria Math" panose="02040503050406030204" pitchFamily="18" charset="0"/>
                                    <a:ea typeface="Cambria Math" panose="02040503050406030204" pitchFamily="18" charset="0"/>
                                  </a:rPr>
                                  <m:t>+</m:t>
                                </m:r>
                                <m:r>
                                  <a:rPr lang="es-ES_tradnl" sz="1400" b="1" i="1" noProof="0" dirty="0" smtClean="0">
                                    <a:solidFill>
                                      <a:schemeClr val="bg1"/>
                                    </a:solidFill>
                                    <a:latin typeface="Cambria Math" panose="02040503050406030204" pitchFamily="18" charset="0"/>
                                    <a:ea typeface="Cambria Math" panose="02040503050406030204" pitchFamily="18" charset="0"/>
                                  </a:rPr>
                                  <m:t>𝟔</m:t>
                                </m:r>
                                <m:r>
                                  <a:rPr lang="es-ES_tradnl" sz="1400" b="1" i="1" noProof="0" dirty="0" smtClean="0">
                                    <a:solidFill>
                                      <a:schemeClr val="bg1"/>
                                    </a:solidFill>
                                    <a:latin typeface="Cambria Math" panose="02040503050406030204" pitchFamily="18" charset="0"/>
                                    <a:ea typeface="Cambria Math" panose="02040503050406030204" pitchFamily="18" charset="0"/>
                                  </a:rPr>
                                  <m:t>%)</m:t>
                                </m:r>
                              </m:oMath>
                            </m:oMathPara>
                          </a14:m>
                          <a:endParaRPr lang="es-ES_tradnl" sz="1400" b="1"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𝟐</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𝟑</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𝟒</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𝟓</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697468560"/>
                      </a:ext>
                    </a:extLst>
                  </a:tr>
                  <a:tr h="300286">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0286">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0286">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00286">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0286">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00286">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b="1" noProof="0" dirty="0">
                              <a:solidFill>
                                <a:srgbClr val="C00000"/>
                              </a:solidFill>
                              <a:latin typeface="Century Gothic" panose="020B0502020202020204" pitchFamily="34" charset="0"/>
                            </a:rPr>
                            <a:t>$3.773.585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$3.559.986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$4.358.477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$3.168.375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$2.989.033</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00286">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$3.726.415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$3.940.014</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$4.141.523</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$4.331.625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$4.510.967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00286">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$ 3.773.585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$ 3.559.986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$ 3.358.477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$ 3.168.375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$ 2.989.033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00286">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$20.000.000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55872">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$ 1.229.717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$ 1.300.205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$ 1.366.703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$ 1.429.436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$ 1.488.619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236804">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-20.000.000</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$ 6.270.283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$ 6.199.795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$ 6.133.297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$ 6.070.564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$ 6.011.381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mc:Choice>
        <mc:Fallback xmlns="">
          <p:graphicFrame>
            <p:nvGraphicFramePr>
              <p:cNvPr id="11" name="Table 24">
                <a:extLst>
                  <a:ext uri="{FF2B5EF4-FFF2-40B4-BE49-F238E27FC236}">
                    <a16:creationId xmlns:a16="http://schemas.microsoft.com/office/drawing/2014/main" id="{B3E2ABB7-129B-8672-1E7E-43E9D75AF603}"/>
                  </a:ext>
                </a:extLst>
              </p:cNvPr>
              <p:cNvGraphicFramePr>
                <a:graphicFrameLocks noGrp="1"/>
              </p:cNvGraphicFramePr>
              <p:nvPr>
                <p:extLst>
                  <p:ext uri="{D42A27DB-BD31-4B8C-83A1-F6EECF244321}">
                    <p14:modId xmlns:p14="http://schemas.microsoft.com/office/powerpoint/2010/main" val="1775548600"/>
                  </p:ext>
                </p:extLst>
              </p:nvPr>
            </p:nvGraphicFramePr>
            <p:xfrm>
              <a:off x="581192" y="1928244"/>
              <a:ext cx="11029618" cy="3954543"/>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09039">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12738">
                    <a:tc>
                      <a:txBody>
                        <a:bodyPr/>
                        <a:lstStyle/>
                        <a:p>
                          <a:pPr algn="ctr"/>
                          <a:r>
                            <a:rPr lang="es-ES_tradnl" sz="1400" b="1" noProof="0" dirty="0">
                              <a:solidFill>
                                <a:schemeClr val="bg1"/>
                              </a:solidFill>
                              <a:latin typeface="Century Gothic" panose="020B0502020202020204" pitchFamily="34" charset="0"/>
                            </a:rPr>
                            <a:t>Factor inflacionario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231092" t="-100000" r="-401681" b="-1072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331092" t="-100000" r="-301681" b="-1072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431092" t="-100000" r="-201681" b="-1072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526667" t="-100000" r="-100000" b="-1072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631933" t="-100000" r="-840" b="-1072000"/>
                          </a:stretch>
                        </a:blipFill>
                      </a:tcPr>
                    </a:tc>
                    <a:extLst>
                      <a:ext uri="{0D108BD9-81ED-4DB2-BD59-A6C34878D82A}">
                        <a16:rowId xmlns:a16="http://schemas.microsoft.com/office/drawing/2014/main" val="697468560"/>
                      </a:ext>
                    </a:extLst>
                  </a:tr>
                  <a:tr h="300286">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0286">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0286">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00286">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0286">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00286">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b="1" noProof="0" dirty="0">
                              <a:solidFill>
                                <a:srgbClr val="C00000"/>
                              </a:solidFill>
                              <a:latin typeface="Century Gothic" panose="020B0502020202020204" pitchFamily="34" charset="0"/>
                            </a:rPr>
                            <a:t>$3.773.585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$3.559.986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$4.358.477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$3.168.375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$2.989.033</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00286">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$3.726.415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$3.940.014</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$4.141.523</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$4.331.625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$4.510.967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00286">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$ 3.773.585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$ 3.559.986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$ 3.358.477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$ 3.168.375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$ 2.989.033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00286">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$20.000.000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55872">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$ 1.229.717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$ 1.300.205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$ 1.366.703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$ 1.429.436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$ 1.488.619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274320">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-20.000.000</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$ 6.270.283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$ 6.199.795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$ 6.133.297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$ 6.070.564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$ 6.011.381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mc:Fallback>
      </mc:AlternateContent>
      <p:graphicFrame>
        <p:nvGraphicFramePr>
          <p:cNvPr id="3" name="Tabla 2">
            <a:extLst>
              <a:ext uri="{FF2B5EF4-FFF2-40B4-BE49-F238E27FC236}">
                <a16:creationId xmlns:a16="http://schemas.microsoft.com/office/drawing/2014/main" id="{A3B4CAD8-D5BD-FBA3-BF9B-0EA890E50B5F}"/>
              </a:ext>
            </a:extLst>
          </p:cNvPr>
          <p:cNvGraphicFramePr>
            <a:graphicFrameLocks noGrp="1"/>
          </p:cNvGraphicFramePr>
          <p:nvPr/>
        </p:nvGraphicFramePr>
        <p:xfrm>
          <a:off x="581190" y="5870335"/>
          <a:ext cx="3468993" cy="623320"/>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179332490"/>
                    </a:ext>
                  </a:extLst>
                </a:gridCol>
                <a:gridCol w="1512125">
                  <a:extLst>
                    <a:ext uri="{9D8B030D-6E8A-4147-A177-3AD203B41FA5}">
                      <a16:colId xmlns:a16="http://schemas.microsoft.com/office/drawing/2014/main" val="3892199838"/>
                    </a:ext>
                  </a:extLst>
                </a:gridCol>
              </a:tblGrid>
              <a:tr h="311660">
                <a:tc>
                  <a:txBody>
                    <a:bodyPr/>
                    <a:lstStyle/>
                    <a:p>
                      <a:pPr algn="l"/>
                      <a:r>
                        <a:rPr lang="es-ES_tradnl" sz="1300" noProof="0" dirty="0">
                          <a:solidFill>
                            <a:schemeClr val="accent1"/>
                          </a:solidFill>
                          <a:latin typeface="Century Gothic" panose="020B0502020202020204" pitchFamily="34" charset="0"/>
                        </a:rPr>
                        <a:t>TIR</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16,34%</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2706829573"/>
                  </a:ext>
                </a:extLst>
              </a:tr>
              <a:tr h="311660">
                <a:tc>
                  <a:txBody>
                    <a:bodyPr/>
                    <a:lstStyle/>
                    <a:p>
                      <a:pPr algn="l"/>
                      <a:r>
                        <a:rPr lang="es-ES_tradnl" sz="1300" noProof="0" dirty="0">
                          <a:solidFill>
                            <a:schemeClr val="accent1"/>
                          </a:solidFill>
                          <a:latin typeface="Century Gothic" panose="020B0502020202020204" pitchFamily="34" charset="0"/>
                        </a:rPr>
                        <a:t>VPN Constante/Real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$4.231.457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630373977"/>
                  </a:ext>
                </a:extLst>
              </a:tr>
            </a:tbl>
          </a:graphicData>
        </a:graphic>
      </p:graphicFrame>
      <p:sp>
        <p:nvSpPr>
          <p:cNvPr id="7" name="CuadroTexto 6">
            <a:extLst>
              <a:ext uri="{FF2B5EF4-FFF2-40B4-BE49-F238E27FC236}">
                <a16:creationId xmlns:a16="http://schemas.microsoft.com/office/drawing/2014/main" id="{83EEB617-ECDC-4330-42DA-A7333E350A09}"/>
              </a:ext>
            </a:extLst>
          </p:cNvPr>
          <p:cNvSpPr txBox="1"/>
          <p:nvPr/>
        </p:nvSpPr>
        <p:spPr>
          <a:xfrm>
            <a:off x="4453951" y="6131274"/>
            <a:ext cx="2075818" cy="307777"/>
          </a:xfrm>
          <a:prstGeom prst="rect">
            <a:avLst/>
          </a:prstGeom>
          <a:noFill/>
        </p:spPr>
        <p:txBody>
          <a:bodyPr wrap="square" rtlCol="0">
            <a:spAutoFit/>
          </a:bodyPr>
          <a:lstStyle/>
          <a:p>
            <a:pPr algn="ctr"/>
            <a:r>
              <a:rPr lang="en-US" sz="1400" b="1" dirty="0" err="1">
                <a:latin typeface="Century Gothic" panose="020B0502020202020204" pitchFamily="34" charset="0"/>
              </a:rPr>
              <a:t>Wacc</a:t>
            </a:r>
            <a:r>
              <a:rPr lang="en-US" sz="1400" b="1" dirty="0">
                <a:latin typeface="Century Gothic" panose="020B0502020202020204" pitchFamily="34" charset="0"/>
              </a:rPr>
              <a:t> real = 8,49%</a:t>
            </a:r>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DA87018-F184-D888-C1ED-513E9E7C32C4}"/>
                  </a:ext>
                </a:extLst>
              </p:cNvPr>
              <p:cNvSpPr txBox="1"/>
              <p:nvPr/>
            </p:nvSpPr>
            <p:spPr>
              <a:xfrm>
                <a:off x="6933537" y="5999603"/>
                <a:ext cx="4019754" cy="57111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CO" sz="1400" i="1" smtClean="0">
                              <a:latin typeface="Cambria Math" panose="02040503050406030204" pitchFamily="18" charset="0"/>
                            </a:rPr>
                          </m:ctrlPr>
                        </m:sSubPr>
                        <m:e>
                          <m:r>
                            <a:rPr lang="es-CO" sz="1400" b="0" i="1" smtClean="0">
                              <a:latin typeface="Cambria Math" panose="02040503050406030204" pitchFamily="18" charset="0"/>
                            </a:rPr>
                            <m:t>𝑖</m:t>
                          </m:r>
                        </m:e>
                        <m:sub>
                          <m:r>
                            <a:rPr lang="es-CO" sz="1400" b="0" i="1" smtClean="0">
                              <a:latin typeface="Cambria Math" panose="02040503050406030204" pitchFamily="18" charset="0"/>
                            </a:rPr>
                            <m:t>𝑟𝑒𝑎𝑙</m:t>
                          </m:r>
                        </m:sub>
                      </m:sSub>
                      <m:r>
                        <a:rPr lang="es-CO" sz="1400" b="0" i="1" smtClean="0">
                          <a:latin typeface="Cambria Math" panose="02040503050406030204" pitchFamily="18" charset="0"/>
                        </a:rPr>
                        <m:t>=</m:t>
                      </m:r>
                      <m:f>
                        <m:fPr>
                          <m:ctrlPr>
                            <a:rPr lang="es-CO" sz="1400" b="0" i="1" smtClean="0">
                              <a:latin typeface="Cambria Math" panose="02040503050406030204" pitchFamily="18" charset="0"/>
                            </a:rPr>
                          </m:ctrlPr>
                        </m:fPr>
                        <m:num>
                          <m:r>
                            <a:rPr lang="es-CO" sz="1400" b="0" i="1" smtClean="0">
                              <a:latin typeface="Cambria Math" panose="02040503050406030204" pitchFamily="18" charset="0"/>
                            </a:rPr>
                            <m:t>(1+</m:t>
                          </m:r>
                          <m:sSub>
                            <m:sSubPr>
                              <m:ctrlPr>
                                <a:rPr lang="es-CO" sz="1400" b="0" i="1" smtClean="0">
                                  <a:latin typeface="Cambria Math" panose="02040503050406030204" pitchFamily="18" charset="0"/>
                                </a:rPr>
                              </m:ctrlPr>
                            </m:sSubPr>
                            <m:e>
                              <m:r>
                                <a:rPr lang="es-CO" sz="1400" b="0" i="1" smtClean="0">
                                  <a:latin typeface="Cambria Math" panose="02040503050406030204" pitchFamily="18" charset="0"/>
                                </a:rPr>
                                <m:t>𝑖</m:t>
                              </m:r>
                            </m:e>
                            <m:sub>
                              <m:r>
                                <a:rPr lang="es-CO" sz="1400" b="0" i="1" smtClean="0">
                                  <a:latin typeface="Cambria Math" panose="02040503050406030204" pitchFamily="18" charset="0"/>
                                </a:rPr>
                                <m:t>𝑛𝑜𝑚𝑖𝑛𝑎𝑙</m:t>
                              </m:r>
                            </m:sub>
                          </m:sSub>
                          <m:r>
                            <a:rPr lang="es-CO" sz="1400" b="0" i="1" smtClean="0">
                              <a:latin typeface="Cambria Math" panose="02040503050406030204" pitchFamily="18" charset="0"/>
                            </a:rPr>
                            <m:t>)</m:t>
                          </m:r>
                        </m:num>
                        <m:den>
                          <m:r>
                            <a:rPr lang="es-CO" sz="1400" b="0" i="1" smtClean="0">
                              <a:latin typeface="Cambria Math" panose="02040503050406030204" pitchFamily="18" charset="0"/>
                            </a:rPr>
                            <m:t>(1+</m:t>
                          </m:r>
                          <m:sSub>
                            <m:sSubPr>
                              <m:ctrlPr>
                                <a:rPr lang="es-CO" sz="1400" i="1">
                                  <a:latin typeface="Cambria Math" panose="02040503050406030204" pitchFamily="18" charset="0"/>
                                </a:rPr>
                              </m:ctrlPr>
                            </m:sSubPr>
                            <m:e>
                              <m:r>
                                <a:rPr lang="es-CO" sz="1400" i="1">
                                  <a:latin typeface="Cambria Math" panose="02040503050406030204" pitchFamily="18" charset="0"/>
                                </a:rPr>
                                <m:t>𝑖</m:t>
                              </m:r>
                            </m:e>
                            <m:sub>
                              <m:r>
                                <a:rPr lang="es-CO" sz="1400" b="0" i="1" smtClean="0">
                                  <a:latin typeface="Cambria Math" panose="02040503050406030204" pitchFamily="18" charset="0"/>
                                </a:rPr>
                                <m:t>𝑖𝑛𝑓𝑙𝑎𝑐𝑖𝑜𝑛</m:t>
                              </m:r>
                            </m:sub>
                          </m:sSub>
                          <m:r>
                            <a:rPr lang="es-CO" sz="1400" i="1">
                              <a:latin typeface="Cambria Math" panose="02040503050406030204" pitchFamily="18" charset="0"/>
                            </a:rPr>
                            <m:t>)</m:t>
                          </m:r>
                        </m:den>
                      </m:f>
                      <m:r>
                        <a:rPr lang="es-CO" sz="1400" b="0" i="1" smtClean="0">
                          <a:latin typeface="Cambria Math" panose="02040503050406030204" pitchFamily="18" charset="0"/>
                        </a:rPr>
                        <m:t>−1=</m:t>
                      </m:r>
                      <m:f>
                        <m:fPr>
                          <m:ctrlPr>
                            <a:rPr lang="es-CO" sz="1400" i="1">
                              <a:latin typeface="Cambria Math" panose="02040503050406030204" pitchFamily="18" charset="0"/>
                            </a:rPr>
                          </m:ctrlPr>
                        </m:fPr>
                        <m:num>
                          <m:d>
                            <m:dPr>
                              <m:ctrlPr>
                                <a:rPr lang="es-CO" sz="1400" b="0" i="1" smtClean="0">
                                  <a:latin typeface="Cambria Math" panose="02040503050406030204" pitchFamily="18" charset="0"/>
                                </a:rPr>
                              </m:ctrlPr>
                            </m:dPr>
                            <m:e>
                              <m:r>
                                <a:rPr lang="es-CO" sz="1400" b="0" i="1" smtClean="0">
                                  <a:latin typeface="Cambria Math" panose="02040503050406030204" pitchFamily="18" charset="0"/>
                                </a:rPr>
                                <m:t>1.15</m:t>
                              </m:r>
                            </m:e>
                          </m:d>
                        </m:num>
                        <m:den>
                          <m:d>
                            <m:dPr>
                              <m:ctrlPr>
                                <a:rPr lang="es-CO" sz="1400" i="1">
                                  <a:latin typeface="Cambria Math" panose="02040503050406030204" pitchFamily="18" charset="0"/>
                                </a:rPr>
                              </m:ctrlPr>
                            </m:dPr>
                            <m:e>
                              <m:r>
                                <a:rPr lang="es-CO" sz="1400" i="1">
                                  <a:latin typeface="Cambria Math" panose="02040503050406030204" pitchFamily="18" charset="0"/>
                                </a:rPr>
                                <m:t>1</m:t>
                              </m:r>
                              <m:r>
                                <a:rPr lang="es-CO" sz="1400" b="0" i="1" smtClean="0">
                                  <a:latin typeface="Cambria Math" panose="02040503050406030204" pitchFamily="18" charset="0"/>
                                </a:rPr>
                                <m:t>.06</m:t>
                              </m:r>
                            </m:e>
                          </m:d>
                        </m:den>
                      </m:f>
                      <m:r>
                        <a:rPr lang="es-CO" sz="1400" i="1">
                          <a:latin typeface="Cambria Math" panose="02040503050406030204" pitchFamily="18" charset="0"/>
                        </a:rPr>
                        <m:t>−1</m:t>
                      </m:r>
                      <m:r>
                        <a:rPr lang="es-CO" sz="1400" b="0" i="1" smtClean="0">
                          <a:latin typeface="Cambria Math" panose="02040503050406030204" pitchFamily="18" charset="0"/>
                        </a:rPr>
                        <m:t>=8.49%</m:t>
                      </m:r>
                    </m:oMath>
                  </m:oMathPara>
                </a14:m>
                <a:endParaRPr lang="es-CO" sz="1400" dirty="0"/>
              </a:p>
            </p:txBody>
          </p:sp>
        </mc:Choice>
        <mc:Fallback xmlns="">
          <p:sp>
            <p:nvSpPr>
              <p:cNvPr id="9" name="CuadroTexto 8">
                <a:extLst>
                  <a:ext uri="{FF2B5EF4-FFF2-40B4-BE49-F238E27FC236}">
                    <a16:creationId xmlns:a16="http://schemas.microsoft.com/office/drawing/2014/main" id="{CDA87018-F184-D888-C1ED-513E9E7C32C4}"/>
                  </a:ext>
                </a:extLst>
              </p:cNvPr>
              <p:cNvSpPr txBox="1">
                <a:spLocks noRot="1" noChangeAspect="1" noMove="1" noResize="1" noEditPoints="1" noAdjustHandles="1" noChangeArrowheads="1" noChangeShapeType="1" noTextEdit="1"/>
              </p:cNvSpPr>
              <p:nvPr/>
            </p:nvSpPr>
            <p:spPr>
              <a:xfrm>
                <a:off x="6933537" y="5999603"/>
                <a:ext cx="4019754" cy="571118"/>
              </a:xfrm>
              <a:prstGeom prst="rect">
                <a:avLst/>
              </a:prstGeom>
              <a:blipFill>
                <a:blip r:embed="rId4"/>
                <a:stretch>
                  <a:fillRect/>
                </a:stretch>
              </a:blipFill>
            </p:spPr>
            <p:txBody>
              <a:bodyPr/>
              <a:lstStyle/>
              <a:p>
                <a:r>
                  <a:rPr lang="en-US">
                    <a:noFill/>
                  </a:rPr>
                  <a:t> </a:t>
                </a:r>
              </a:p>
            </p:txBody>
          </p:sp>
        </mc:Fallback>
      </mc:AlternateContent>
      <p:sp>
        <p:nvSpPr>
          <p:cNvPr id="10" name="Flecha abajo 25">
            <a:extLst>
              <a:ext uri="{FF2B5EF4-FFF2-40B4-BE49-F238E27FC236}">
                <a16:creationId xmlns:a16="http://schemas.microsoft.com/office/drawing/2014/main" id="{A07712BB-7D95-34C7-F4A4-EE63BFF0A328}"/>
              </a:ext>
            </a:extLst>
          </p:cNvPr>
          <p:cNvSpPr/>
          <p:nvPr/>
        </p:nvSpPr>
        <p:spPr>
          <a:xfrm rot="16200000">
            <a:off x="6557804" y="6092694"/>
            <a:ext cx="347698" cy="384938"/>
          </a:xfrm>
          <a:prstGeom prst="downArrow">
            <a:avLst>
              <a:gd name="adj1" fmla="val 50000"/>
              <a:gd name="adj2" fmla="val 4902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70629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672D1-53F4-B878-C00E-6C7CA05C4A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45C6C8-F451-8FBA-B0D8-DF9D38370E03}"/>
              </a:ext>
            </a:extLst>
          </p:cNvPr>
          <p:cNvSpPr>
            <a:spLocks noGrp="1"/>
          </p:cNvSpPr>
          <p:nvPr>
            <p:ph type="title"/>
          </p:nvPr>
        </p:nvSpPr>
        <p:spPr/>
        <p:txBody>
          <a:bodyPr>
            <a:normAutofit/>
          </a:bodyPr>
          <a:lstStyle/>
          <a:p>
            <a:r>
              <a:rPr lang="es-ES" sz="3200" dirty="0">
                <a:latin typeface="Century Gothic" panose="020B0502020202020204" pitchFamily="34" charset="0"/>
              </a:rPr>
              <a:t>Precios constantes – inflación 6%</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D21954CE-D272-6861-12E0-EB79F4CB3902}"/>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38</a:t>
            </a:fld>
            <a:endParaRPr lang="en-US" sz="1800" dirty="0"/>
          </a:p>
        </p:txBody>
      </p:sp>
      <p:sp>
        <p:nvSpPr>
          <p:cNvPr id="5" name="Rectángulo 4">
            <a:extLst>
              <a:ext uri="{FF2B5EF4-FFF2-40B4-BE49-F238E27FC236}">
                <a16:creationId xmlns:a16="http://schemas.microsoft.com/office/drawing/2014/main" id="{6D2E8300-7F69-0756-2614-4403F7540ED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DD25E901-6C66-2860-4356-B86F2CC316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441AD7FE-0250-CDF2-7C00-610429BE841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graphicFrame>
            <p:nvGraphicFramePr>
              <p:cNvPr id="11" name="Table 24">
                <a:extLst>
                  <a:ext uri="{FF2B5EF4-FFF2-40B4-BE49-F238E27FC236}">
                    <a16:creationId xmlns:a16="http://schemas.microsoft.com/office/drawing/2014/main" id="{92DCB61D-092A-C7DA-1F0A-E83297BDE30C}"/>
                  </a:ext>
                </a:extLst>
              </p:cNvPr>
              <p:cNvGraphicFramePr>
                <a:graphicFrameLocks noGrp="1"/>
              </p:cNvGraphicFramePr>
              <p:nvPr/>
            </p:nvGraphicFramePr>
            <p:xfrm>
              <a:off x="581192" y="1928244"/>
              <a:ext cx="11029618" cy="3954543"/>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09039">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00286">
                    <a:tc>
                      <a:txBody>
                        <a:bodyPr/>
                        <a:lstStyle/>
                        <a:p>
                          <a:pPr algn="ctr"/>
                          <a:r>
                            <a:rPr lang="es-ES_tradnl" sz="1400" b="1" noProof="0" dirty="0">
                              <a:solidFill>
                                <a:schemeClr val="bg1"/>
                              </a:solidFill>
                              <a:latin typeface="Century Gothic" panose="020B0502020202020204" pitchFamily="34" charset="0"/>
                            </a:rPr>
                            <a:t>Factor inflacionario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14:m>
                            <m:oMathPara xmlns:m="http://schemas.openxmlformats.org/officeDocument/2006/math">
                              <m:oMathParaPr>
                                <m:jc m:val="centerGroup"/>
                              </m:oMathParaPr>
                              <m:oMath xmlns:m="http://schemas.openxmlformats.org/officeDocument/2006/math">
                                <m:r>
                                  <a:rPr lang="es-ES_tradnl" sz="1400" b="1" i="1" noProof="0" dirty="0" smtClean="0">
                                    <a:solidFill>
                                      <a:schemeClr val="bg1"/>
                                    </a:solidFill>
                                    <a:latin typeface="Cambria Math" panose="02040503050406030204" pitchFamily="18" charset="0"/>
                                  </a:rPr>
                                  <m:t>𝟏</m:t>
                                </m:r>
                                <m:r>
                                  <a:rPr lang="es-ES_tradnl" sz="1400" b="1" i="1" noProof="0" dirty="0" smtClean="0">
                                    <a:solidFill>
                                      <a:schemeClr val="bg1"/>
                                    </a:solidFill>
                                    <a:latin typeface="Cambria Math" panose="02040503050406030204" pitchFamily="18" charset="0"/>
                                    <a:ea typeface="Cambria Math" panose="02040503050406030204" pitchFamily="18" charset="0"/>
                                  </a:rPr>
                                  <m:t>×(</m:t>
                                </m:r>
                                <m:r>
                                  <a:rPr lang="es-ES_tradnl" sz="1400" b="1" i="1" noProof="0" dirty="0" smtClean="0">
                                    <a:solidFill>
                                      <a:schemeClr val="bg1"/>
                                    </a:solidFill>
                                    <a:latin typeface="Cambria Math" panose="02040503050406030204" pitchFamily="18" charset="0"/>
                                    <a:ea typeface="Cambria Math" panose="02040503050406030204" pitchFamily="18" charset="0"/>
                                  </a:rPr>
                                  <m:t>𝟏</m:t>
                                </m:r>
                                <m:r>
                                  <a:rPr lang="es-ES_tradnl" sz="1400" b="1" i="1" noProof="0" dirty="0" smtClean="0">
                                    <a:solidFill>
                                      <a:schemeClr val="bg1"/>
                                    </a:solidFill>
                                    <a:latin typeface="Cambria Math" panose="02040503050406030204" pitchFamily="18" charset="0"/>
                                    <a:ea typeface="Cambria Math" panose="02040503050406030204" pitchFamily="18" charset="0"/>
                                  </a:rPr>
                                  <m:t>+</m:t>
                                </m:r>
                                <m:r>
                                  <a:rPr lang="es-ES_tradnl" sz="1400" b="1" i="1" noProof="0" dirty="0" smtClean="0">
                                    <a:solidFill>
                                      <a:schemeClr val="bg1"/>
                                    </a:solidFill>
                                    <a:latin typeface="Cambria Math" panose="02040503050406030204" pitchFamily="18" charset="0"/>
                                    <a:ea typeface="Cambria Math" panose="02040503050406030204" pitchFamily="18" charset="0"/>
                                  </a:rPr>
                                  <m:t>𝟔</m:t>
                                </m:r>
                                <m:r>
                                  <a:rPr lang="es-ES_tradnl" sz="1400" b="1" i="1" noProof="0" dirty="0" smtClean="0">
                                    <a:solidFill>
                                      <a:schemeClr val="bg1"/>
                                    </a:solidFill>
                                    <a:latin typeface="Cambria Math" panose="02040503050406030204" pitchFamily="18" charset="0"/>
                                    <a:ea typeface="Cambria Math" panose="02040503050406030204" pitchFamily="18" charset="0"/>
                                  </a:rPr>
                                  <m:t>%)</m:t>
                                </m:r>
                              </m:oMath>
                            </m:oMathPara>
                          </a14:m>
                          <a:endParaRPr lang="es-ES_tradnl" sz="1400" b="1"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𝟐</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𝟑</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𝟒</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s-ES_tradnl" sz="1400" b="1" i="1" noProof="0" dirty="0" smtClean="0">
                                        <a:solidFill>
                                          <a:schemeClr val="bg1"/>
                                        </a:solidFill>
                                        <a:latin typeface="Cambria Math" panose="02040503050406030204" pitchFamily="18" charset="0"/>
                                      </a:rPr>
                                    </m:ctrlPr>
                                  </m:sSupPr>
                                  <m:e>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𝟏</m:t>
                                    </m:r>
                                    <m:r>
                                      <a:rPr lang="es-CO" sz="1400" b="1" i="1" noProof="0" dirty="0" smtClean="0">
                                        <a:solidFill>
                                          <a:schemeClr val="bg1"/>
                                        </a:solidFill>
                                        <a:latin typeface="Cambria Math" panose="02040503050406030204" pitchFamily="18" charset="0"/>
                                      </a:rPr>
                                      <m:t>+</m:t>
                                    </m:r>
                                    <m:r>
                                      <a:rPr lang="es-CO" sz="1400" b="1" i="1" noProof="0" dirty="0" smtClean="0">
                                        <a:solidFill>
                                          <a:schemeClr val="bg1"/>
                                        </a:solidFill>
                                        <a:latin typeface="Cambria Math" panose="02040503050406030204" pitchFamily="18" charset="0"/>
                                      </a:rPr>
                                      <m:t>𝟔</m:t>
                                    </m:r>
                                    <m:r>
                                      <a:rPr lang="es-CO" sz="1400" b="1" i="1" noProof="0" dirty="0" smtClean="0">
                                        <a:solidFill>
                                          <a:schemeClr val="bg1"/>
                                        </a:solidFill>
                                        <a:latin typeface="Cambria Math" panose="02040503050406030204" pitchFamily="18" charset="0"/>
                                      </a:rPr>
                                      <m:t>%)</m:t>
                                    </m:r>
                                  </m:e>
                                  <m:sup>
                                    <m:r>
                                      <a:rPr lang="es-CO" sz="1400" b="1" i="1" noProof="0" dirty="0" smtClean="0">
                                        <a:solidFill>
                                          <a:schemeClr val="bg1"/>
                                        </a:solidFill>
                                        <a:latin typeface="Cambria Math" panose="02040503050406030204" pitchFamily="18" charset="0"/>
                                      </a:rPr>
                                      <m:t>𝟓</m:t>
                                    </m:r>
                                  </m:sup>
                                </m:sSup>
                              </m:oMath>
                            </m:oMathPara>
                          </a14:m>
                          <a:endParaRPr lang="es-CO" sz="1400" b="1" noProof="0" dirty="0">
                            <a:solidFill>
                              <a:schemeClr val="bg1"/>
                            </a:solidFill>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697468560"/>
                      </a:ext>
                    </a:extLst>
                  </a:tr>
                  <a:tr h="300286">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0286">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0286">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00286">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0286">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00286">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b="1" noProof="0" dirty="0">
                              <a:solidFill>
                                <a:srgbClr val="C00000"/>
                              </a:solidFill>
                              <a:latin typeface="Century Gothic" panose="020B0502020202020204" pitchFamily="34" charset="0"/>
                            </a:rPr>
                            <a:t>$3.773.585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$3.559.986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$4.358.477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$3.168.375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$2.989.033</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00286">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$3.726.415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$3.940.014</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$4.141.523</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$4.331.625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$4.510.967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00286">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$ 3.773.585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$ 3.559.986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$ 3.358.477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$ 3.168.375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$ 2.989.033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00286">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$20.000.000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55872">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$ 1.229.717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$ 1.300.205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$ 1.366.703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$ 1.429.436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$ 1.488.619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236804">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-20.000.000</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$ 6.270.283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$ 6.199.795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$ 6.133.297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$ 6.070.564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$ 6.011.381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mc:Choice>
        <mc:Fallback xmlns="">
          <p:graphicFrame>
            <p:nvGraphicFramePr>
              <p:cNvPr id="11" name="Table 24">
                <a:extLst>
                  <a:ext uri="{FF2B5EF4-FFF2-40B4-BE49-F238E27FC236}">
                    <a16:creationId xmlns:a16="http://schemas.microsoft.com/office/drawing/2014/main" id="{92DCB61D-092A-C7DA-1F0A-E83297BDE30C}"/>
                  </a:ext>
                </a:extLst>
              </p:cNvPr>
              <p:cNvGraphicFramePr>
                <a:graphicFrameLocks noGrp="1"/>
              </p:cNvGraphicFramePr>
              <p:nvPr>
                <p:extLst>
                  <p:ext uri="{D42A27DB-BD31-4B8C-83A1-F6EECF244321}">
                    <p14:modId xmlns:p14="http://schemas.microsoft.com/office/powerpoint/2010/main" val="2909809231"/>
                  </p:ext>
                </p:extLst>
              </p:nvPr>
            </p:nvGraphicFramePr>
            <p:xfrm>
              <a:off x="581192" y="1928244"/>
              <a:ext cx="11029618" cy="3954543"/>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309039">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12738">
                    <a:tc>
                      <a:txBody>
                        <a:bodyPr/>
                        <a:lstStyle/>
                        <a:p>
                          <a:pPr algn="ctr"/>
                          <a:r>
                            <a:rPr lang="es-ES_tradnl" sz="1400" b="1" noProof="0" dirty="0">
                              <a:solidFill>
                                <a:schemeClr val="bg1"/>
                              </a:solidFill>
                              <a:latin typeface="Century Gothic" panose="020B0502020202020204" pitchFamily="34" charset="0"/>
                            </a:rPr>
                            <a:t>Factor inflacionario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b="1" noProof="0" dirty="0">
                              <a:solidFill>
                                <a:schemeClr val="bg1"/>
                              </a:solidFill>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231092" t="-100000" r="-401681" b="-1072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331092" t="-100000" r="-301681" b="-1072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431092" t="-100000" r="-201681" b="-1072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526667" t="-100000" r="-100000" b="-1072000"/>
                          </a:stretch>
                        </a:blipFill>
                      </a:tcPr>
                    </a:tc>
                    <a:tc>
                      <a:txBody>
                        <a:bodyPr/>
                        <a:lstStyle/>
                        <a:p>
                          <a:endParaRPr lang="es-CO"/>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blipFill>
                          <a:blip r:embed="rId3"/>
                          <a:stretch>
                            <a:fillRect l="-631933" t="-100000" r="-840" b="-1072000"/>
                          </a:stretch>
                        </a:blipFill>
                      </a:tcPr>
                    </a:tc>
                    <a:extLst>
                      <a:ext uri="{0D108BD9-81ED-4DB2-BD59-A6C34878D82A}">
                        <a16:rowId xmlns:a16="http://schemas.microsoft.com/office/drawing/2014/main" val="697468560"/>
                      </a:ext>
                    </a:extLst>
                  </a:tr>
                  <a:tr h="300286">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0286">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0286">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200" noProof="0" dirty="0">
                              <a:solidFill>
                                <a:schemeClr val="accent1"/>
                              </a:solidFill>
                              <a:latin typeface="Century Gothic" panose="020B0502020202020204" pitchFamily="34" charset="0"/>
                            </a:rPr>
                            <a:t>$10.000.00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00286">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$2.500.000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0286">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$7.500.000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00286">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b="1" noProof="0" dirty="0">
                              <a:solidFill>
                                <a:srgbClr val="C00000"/>
                              </a:solidFill>
                              <a:latin typeface="Century Gothic" panose="020B0502020202020204" pitchFamily="34" charset="0"/>
                            </a:rPr>
                            <a:t>$3.773.585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$3.559.986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$4.358.477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$3.168.375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$2.989.033</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00286">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$3.726.415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$3.940.014</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$4.141.523</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$4.331.625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algn="ctr"/>
                          <a:r>
                            <a:rPr lang="es-ES_tradnl" sz="1200" noProof="0" dirty="0">
                              <a:solidFill>
                                <a:schemeClr val="accent1"/>
                              </a:solidFill>
                              <a:latin typeface="Century Gothic" panose="020B0502020202020204" pitchFamily="34" charset="0"/>
                            </a:rPr>
                            <a:t>$4.510.967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00286">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$ 3.773.585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$ 3.559.986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$ 3.358.477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$ 3.168.375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$ 2.989.033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00286">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$20.000.000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55872">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$ 1.229.717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$ 1.300.205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$ 1.366.703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$ 1.429.436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366658"/>
                              </a:solidFill>
                              <a:effectLst/>
                              <a:uLnTx/>
                              <a:uFillTx/>
                              <a:latin typeface="Century Gothic" panose="020B0502020202020204" pitchFamily="34" charset="0"/>
                              <a:ea typeface="+mn-ea"/>
                              <a:cs typeface="+mn-cs"/>
                            </a:rPr>
                            <a:t>$ 1.488.619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274320">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-20.000.000</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$ 6.270.283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$ 6.199.795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$ 6.133.297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$ 6.070.564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n-US" sz="1200" kern="1200" dirty="0">
                              <a:solidFill>
                                <a:schemeClr val="accent1"/>
                              </a:solidFill>
                              <a:latin typeface="Century Gothic" panose="020B0502020202020204" pitchFamily="34" charset="0"/>
                              <a:ea typeface="+mn-ea"/>
                              <a:cs typeface="+mn-cs"/>
                            </a:rPr>
                            <a:t>$ 6.011.381 </a:t>
                          </a:r>
                        </a:p>
                      </a:txBody>
                      <a:tcPr marL="12700" marR="12700" marT="1270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mc:Fallback>
      </mc:AlternateContent>
      <p:graphicFrame>
        <p:nvGraphicFramePr>
          <p:cNvPr id="3" name="Tabla 2">
            <a:extLst>
              <a:ext uri="{FF2B5EF4-FFF2-40B4-BE49-F238E27FC236}">
                <a16:creationId xmlns:a16="http://schemas.microsoft.com/office/drawing/2014/main" id="{A662424F-A015-F4CE-01A6-E65B9ECBC2C8}"/>
              </a:ext>
            </a:extLst>
          </p:cNvPr>
          <p:cNvGraphicFramePr>
            <a:graphicFrameLocks noGrp="1"/>
          </p:cNvGraphicFramePr>
          <p:nvPr/>
        </p:nvGraphicFramePr>
        <p:xfrm>
          <a:off x="581190" y="5880403"/>
          <a:ext cx="3468993" cy="623320"/>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179332490"/>
                    </a:ext>
                  </a:extLst>
                </a:gridCol>
                <a:gridCol w="1512125">
                  <a:extLst>
                    <a:ext uri="{9D8B030D-6E8A-4147-A177-3AD203B41FA5}">
                      <a16:colId xmlns:a16="http://schemas.microsoft.com/office/drawing/2014/main" val="3892199838"/>
                    </a:ext>
                  </a:extLst>
                </a:gridCol>
              </a:tblGrid>
              <a:tr h="311660">
                <a:tc>
                  <a:txBody>
                    <a:bodyPr/>
                    <a:lstStyle/>
                    <a:p>
                      <a:pPr algn="l"/>
                      <a:r>
                        <a:rPr lang="es-ES_tradnl" sz="1300" noProof="0" dirty="0">
                          <a:solidFill>
                            <a:schemeClr val="accent1"/>
                          </a:solidFill>
                          <a:latin typeface="Century Gothic" panose="020B0502020202020204" pitchFamily="34" charset="0"/>
                        </a:rPr>
                        <a:t>TIR</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16,34%</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2706829573"/>
                  </a:ext>
                </a:extLst>
              </a:tr>
              <a:tr h="311660">
                <a:tc>
                  <a:txBody>
                    <a:bodyPr/>
                    <a:lstStyle/>
                    <a:p>
                      <a:pPr algn="l"/>
                      <a:r>
                        <a:rPr lang="es-ES_tradnl" sz="1300" noProof="0" dirty="0">
                          <a:solidFill>
                            <a:schemeClr val="accent1"/>
                          </a:solidFill>
                          <a:latin typeface="Century Gothic" panose="020B0502020202020204" pitchFamily="34" charset="0"/>
                        </a:rPr>
                        <a:t>VPN Constante/Real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highlight>
                            <a:srgbClr val="FFFF00"/>
                          </a:highlight>
                          <a:latin typeface="Century Gothic" panose="020B0502020202020204" pitchFamily="34" charset="0"/>
                        </a:rPr>
                        <a:t>$4.231.457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FFFF00"/>
                    </a:solidFill>
                  </a:tcPr>
                </a:tc>
                <a:extLst>
                  <a:ext uri="{0D108BD9-81ED-4DB2-BD59-A6C34878D82A}">
                    <a16:rowId xmlns:a16="http://schemas.microsoft.com/office/drawing/2014/main" val="630373977"/>
                  </a:ext>
                </a:extLst>
              </a:tr>
            </a:tbl>
          </a:graphicData>
        </a:graphic>
      </p:graphicFrame>
      <p:sp>
        <p:nvSpPr>
          <p:cNvPr id="7" name="CuadroTexto 6">
            <a:extLst>
              <a:ext uri="{FF2B5EF4-FFF2-40B4-BE49-F238E27FC236}">
                <a16:creationId xmlns:a16="http://schemas.microsoft.com/office/drawing/2014/main" id="{63DA6377-CF3B-84C0-95E8-1A6682B212EA}"/>
              </a:ext>
            </a:extLst>
          </p:cNvPr>
          <p:cNvSpPr txBox="1"/>
          <p:nvPr/>
        </p:nvSpPr>
        <p:spPr>
          <a:xfrm>
            <a:off x="4341217" y="5980503"/>
            <a:ext cx="2880000" cy="523220"/>
          </a:xfrm>
          <a:prstGeom prst="rect">
            <a:avLst/>
          </a:prstGeom>
          <a:noFill/>
        </p:spPr>
        <p:txBody>
          <a:bodyPr wrap="square" rtlCol="0">
            <a:spAutoFit/>
          </a:bodyPr>
          <a:lstStyle/>
          <a:p>
            <a:pPr algn="ctr"/>
            <a:r>
              <a:rPr lang="en-US" sz="1400" b="1" dirty="0">
                <a:latin typeface="Century Gothic" panose="020B0502020202020204" pitchFamily="34" charset="0"/>
              </a:rPr>
              <a:t>VPN CORRIENTE/NOMINAL</a:t>
            </a:r>
          </a:p>
          <a:p>
            <a:pPr algn="ctr"/>
            <a:r>
              <a:rPr lang="es-ES_tradnl" sz="1400" b="1" dirty="0">
                <a:solidFill>
                  <a:srgbClr val="C00000"/>
                </a:solidFill>
                <a:latin typeface="Century Gothic" panose="020B0502020202020204" pitchFamily="34" charset="0"/>
              </a:rPr>
              <a:t>$4.231.457</a:t>
            </a:r>
            <a:r>
              <a:rPr lang="en-US" sz="1400" b="1" dirty="0">
                <a:solidFill>
                  <a:srgbClr val="C00000"/>
                </a:solidFill>
                <a:latin typeface="Century Gothic" panose="020B0502020202020204" pitchFamily="34" charset="0"/>
              </a:rPr>
              <a:t> </a:t>
            </a:r>
          </a:p>
        </p:txBody>
      </p:sp>
      <p:sp>
        <p:nvSpPr>
          <p:cNvPr id="12" name="CuadroTexto 11">
            <a:extLst>
              <a:ext uri="{FF2B5EF4-FFF2-40B4-BE49-F238E27FC236}">
                <a16:creationId xmlns:a16="http://schemas.microsoft.com/office/drawing/2014/main" id="{267AFEC5-5668-01DF-8B4F-7EDEE7385775}"/>
              </a:ext>
            </a:extLst>
          </p:cNvPr>
          <p:cNvSpPr txBox="1"/>
          <p:nvPr/>
        </p:nvSpPr>
        <p:spPr>
          <a:xfrm>
            <a:off x="7518367" y="5980503"/>
            <a:ext cx="2880000" cy="523220"/>
          </a:xfrm>
          <a:prstGeom prst="rect">
            <a:avLst/>
          </a:prstGeom>
          <a:noFill/>
        </p:spPr>
        <p:txBody>
          <a:bodyPr wrap="square" rtlCol="0">
            <a:spAutoFit/>
          </a:bodyPr>
          <a:lstStyle/>
          <a:p>
            <a:pPr algn="ctr"/>
            <a:r>
              <a:rPr lang="en-US" sz="1400" b="1" dirty="0">
                <a:latin typeface="Century Gothic" panose="020B0502020202020204" pitchFamily="34" charset="0"/>
              </a:rPr>
              <a:t>VPN CONSTANTE/REAL</a:t>
            </a:r>
          </a:p>
          <a:p>
            <a:pPr algn="ctr"/>
            <a:r>
              <a:rPr lang="es-ES_tradnl" sz="1400" b="1" dirty="0">
                <a:solidFill>
                  <a:srgbClr val="C00000"/>
                </a:solidFill>
                <a:latin typeface="Century Gothic" panose="020B0502020202020204" pitchFamily="34" charset="0"/>
              </a:rPr>
              <a:t>$4.231.457</a:t>
            </a:r>
            <a:r>
              <a:rPr lang="en-US" sz="1400" b="1" dirty="0">
                <a:solidFill>
                  <a:srgbClr val="C00000"/>
                </a:solidFill>
                <a:latin typeface="Century Gothic" panose="020B0502020202020204" pitchFamily="34" charset="0"/>
              </a:rPr>
              <a:t> </a:t>
            </a:r>
          </a:p>
        </p:txBody>
      </p:sp>
      <p:sp>
        <p:nvSpPr>
          <p:cNvPr id="14" name="CuadroTexto 13">
            <a:extLst>
              <a:ext uri="{FF2B5EF4-FFF2-40B4-BE49-F238E27FC236}">
                <a16:creationId xmlns:a16="http://schemas.microsoft.com/office/drawing/2014/main" id="{37C52E88-5613-ACF3-DE7E-CFFF44248AA9}"/>
              </a:ext>
            </a:extLst>
          </p:cNvPr>
          <p:cNvSpPr txBox="1"/>
          <p:nvPr/>
        </p:nvSpPr>
        <p:spPr>
          <a:xfrm>
            <a:off x="7066355" y="6057447"/>
            <a:ext cx="891791" cy="369332"/>
          </a:xfrm>
          <a:prstGeom prst="rect">
            <a:avLst/>
          </a:prstGeom>
          <a:noFill/>
        </p:spPr>
        <p:txBody>
          <a:bodyPr wrap="square">
            <a:spAutoFit/>
          </a:bodyPr>
          <a:lstStyle/>
          <a:p>
            <a:pPr algn="ctr"/>
            <a:r>
              <a:rPr lang="en-US" sz="1800" b="1" dirty="0">
                <a:latin typeface="Century Gothic" panose="020B0502020202020204" pitchFamily="34" charset="0"/>
              </a:rPr>
              <a:t>=</a:t>
            </a:r>
          </a:p>
        </p:txBody>
      </p:sp>
    </p:spTree>
    <p:extLst>
      <p:ext uri="{BB962C8B-B14F-4D97-AF65-F5344CB8AC3E}">
        <p14:creationId xmlns:p14="http://schemas.microsoft.com/office/powerpoint/2010/main" val="145108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P spid="1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FD8E8-3133-9EFC-719A-BE248829A1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DF1F03-3686-58C5-853D-1C7F34F913B1}"/>
              </a:ext>
            </a:extLst>
          </p:cNvPr>
          <p:cNvSpPr>
            <a:spLocks noGrp="1"/>
          </p:cNvSpPr>
          <p:nvPr>
            <p:ph type="title"/>
          </p:nvPr>
        </p:nvSpPr>
        <p:spPr/>
        <p:txBody>
          <a:bodyPr>
            <a:normAutofit/>
          </a:bodyPr>
          <a:lstStyle/>
          <a:p>
            <a:r>
              <a:rPr lang="es-ES" sz="3200" dirty="0">
                <a:latin typeface="Century Gothic" panose="020B0502020202020204" pitchFamily="34" charset="0"/>
              </a:rPr>
              <a:t>Precios constantes (REALES)</a:t>
            </a:r>
            <a:endParaRPr lang="es-ES_tradnl" sz="3200" dirty="0">
              <a:latin typeface="Century Gothic" panose="020B0502020202020204" pitchFamily="34" charset="0"/>
            </a:endParaRPr>
          </a:p>
        </p:txBody>
      </p:sp>
      <p:sp>
        <p:nvSpPr>
          <p:cNvPr id="3" name="Content Placeholder 2">
            <a:extLst>
              <a:ext uri="{FF2B5EF4-FFF2-40B4-BE49-F238E27FC236}">
                <a16:creationId xmlns:a16="http://schemas.microsoft.com/office/drawing/2014/main" id="{23472291-294A-5F72-5434-0015F993A683}"/>
              </a:ext>
            </a:extLst>
          </p:cNvPr>
          <p:cNvSpPr>
            <a:spLocks noGrp="1"/>
          </p:cNvSpPr>
          <p:nvPr>
            <p:ph idx="1"/>
          </p:nvPr>
        </p:nvSpPr>
        <p:spPr>
          <a:xfrm>
            <a:off x="641965" y="1923548"/>
            <a:ext cx="10908070" cy="2835059"/>
          </a:xfrm>
        </p:spPr>
        <p:txBody>
          <a:bodyPr>
            <a:noAutofit/>
          </a:bodyPr>
          <a:lstStyle/>
          <a:p>
            <a:pPr marL="0" indent="0" algn="ctr">
              <a:buNone/>
            </a:pPr>
            <a:r>
              <a:rPr lang="es-ES_tradnl" sz="2400" b="1" dirty="0">
                <a:solidFill>
                  <a:srgbClr val="FF0000"/>
                </a:solidFill>
                <a:latin typeface="Century Gothic" panose="020B0502020202020204" pitchFamily="34" charset="0"/>
              </a:rPr>
              <a:t>Conclusiones</a:t>
            </a:r>
          </a:p>
          <a:p>
            <a:pPr algn="just"/>
            <a:r>
              <a:rPr lang="es-ES_tradnl" sz="2000" dirty="0">
                <a:solidFill>
                  <a:schemeClr val="tx1"/>
                </a:solidFill>
                <a:latin typeface="Century Gothic" panose="020B0502020202020204" pitchFamily="34" charset="0"/>
              </a:rPr>
              <a:t>Sin importar  la metodología empleada, siempre que sea consistente, el resultado en ambos casos será idéntico.</a:t>
            </a:r>
          </a:p>
          <a:p>
            <a:pPr algn="just"/>
            <a:r>
              <a:rPr lang="es-ES_tradnl" sz="2000" dirty="0">
                <a:solidFill>
                  <a:schemeClr val="tx1"/>
                </a:solidFill>
                <a:latin typeface="Century Gothic" panose="020B0502020202020204" pitchFamily="34" charset="0"/>
              </a:rPr>
              <a:t>En el ejemplo, se concluye que se debe realizar el proyecto porque éste genera valor. Nótese que la metodología utilizada no afecta la viabilidad financiera del proyecto.</a:t>
            </a:r>
          </a:p>
        </p:txBody>
      </p:sp>
      <p:sp>
        <p:nvSpPr>
          <p:cNvPr id="4" name="Slide Number Placeholder 3">
            <a:extLst>
              <a:ext uri="{FF2B5EF4-FFF2-40B4-BE49-F238E27FC236}">
                <a16:creationId xmlns:a16="http://schemas.microsoft.com/office/drawing/2014/main" id="{E443A79D-F96B-E10F-313F-D44A53A5DD50}"/>
              </a:ext>
            </a:extLst>
          </p:cNvPr>
          <p:cNvSpPr>
            <a:spLocks noGrp="1"/>
          </p:cNvSpPr>
          <p:nvPr>
            <p:ph type="sldNum" sz="quarter" idx="12"/>
          </p:nvPr>
        </p:nvSpPr>
        <p:spPr/>
        <p:txBody>
          <a:bodyPr/>
          <a:lstStyle/>
          <a:p>
            <a:fld id="{5E3E23BA-6E79-2442-BA73-D218A5E297C3}" type="slidenum">
              <a:rPr lang="en-US" sz="1800" smtClean="0"/>
              <a:t>39</a:t>
            </a:fld>
            <a:endParaRPr lang="en-US" sz="1800"/>
          </a:p>
        </p:txBody>
      </p:sp>
      <p:sp>
        <p:nvSpPr>
          <p:cNvPr id="5" name="Rectángulo 4">
            <a:extLst>
              <a:ext uri="{FF2B5EF4-FFF2-40B4-BE49-F238E27FC236}">
                <a16:creationId xmlns:a16="http://schemas.microsoft.com/office/drawing/2014/main" id="{BA379AB5-4C4A-570A-EB7E-17F43CC6C10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6E3E8477-9759-A3FA-967D-AB64FD2A45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51697C8F-78CF-A071-2C09-30B49718810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pic>
        <p:nvPicPr>
          <p:cNvPr id="8" name="Imagen 7">
            <a:extLst>
              <a:ext uri="{FF2B5EF4-FFF2-40B4-BE49-F238E27FC236}">
                <a16:creationId xmlns:a16="http://schemas.microsoft.com/office/drawing/2014/main" id="{2B70E643-B32E-25DD-D151-D78EE1429A29}"/>
              </a:ext>
            </a:extLst>
          </p:cNvPr>
          <p:cNvPicPr>
            <a:picLocks noChangeAspect="1"/>
          </p:cNvPicPr>
          <p:nvPr/>
        </p:nvPicPr>
        <p:blipFill>
          <a:blip r:embed="rId3"/>
          <a:stretch>
            <a:fillRect/>
          </a:stretch>
        </p:blipFill>
        <p:spPr>
          <a:xfrm>
            <a:off x="5259055" y="4758607"/>
            <a:ext cx="1673890" cy="1673890"/>
          </a:xfrm>
          <a:prstGeom prst="rect">
            <a:avLst/>
          </a:prstGeom>
        </p:spPr>
      </p:pic>
    </p:spTree>
    <p:extLst>
      <p:ext uri="{BB962C8B-B14F-4D97-AF65-F5344CB8AC3E}">
        <p14:creationId xmlns:p14="http://schemas.microsoft.com/office/powerpoint/2010/main" val="9590586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CD93B-7D79-3A10-0996-4E0C49033B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6CBA17-DCA3-3882-CA19-750ACE029131}"/>
              </a:ext>
            </a:extLst>
          </p:cNvPr>
          <p:cNvSpPr>
            <a:spLocks noGrp="1"/>
          </p:cNvSpPr>
          <p:nvPr>
            <p:ph type="title"/>
          </p:nvPr>
        </p:nvSpPr>
        <p:spPr/>
        <p:txBody>
          <a:bodyPr>
            <a:normAutofit/>
          </a:bodyPr>
          <a:lstStyle/>
          <a:p>
            <a:r>
              <a:rPr lang="es-ES" sz="3200" dirty="0">
                <a:latin typeface="Century Gothic" panose="020B0502020202020204" pitchFamily="34" charset="0"/>
              </a:rPr>
              <a:t>Precios constantes (REALES)</a:t>
            </a:r>
            <a:endParaRPr lang="es-ES_tradnl" sz="3200" dirty="0">
              <a:latin typeface="Century Gothic" panose="020B0502020202020204" pitchFamily="34" charset="0"/>
            </a:endParaRPr>
          </a:p>
        </p:txBody>
      </p:sp>
      <p:sp>
        <p:nvSpPr>
          <p:cNvPr id="3" name="Content Placeholder 2">
            <a:extLst>
              <a:ext uri="{FF2B5EF4-FFF2-40B4-BE49-F238E27FC236}">
                <a16:creationId xmlns:a16="http://schemas.microsoft.com/office/drawing/2014/main" id="{79E2472E-7853-8413-4C2B-77051198DAD0}"/>
              </a:ext>
            </a:extLst>
          </p:cNvPr>
          <p:cNvSpPr>
            <a:spLocks noGrp="1"/>
          </p:cNvSpPr>
          <p:nvPr>
            <p:ph idx="1"/>
          </p:nvPr>
        </p:nvSpPr>
        <p:spPr>
          <a:xfrm>
            <a:off x="581193" y="1838848"/>
            <a:ext cx="8964742" cy="4316996"/>
          </a:xfrm>
        </p:spPr>
        <p:txBody>
          <a:bodyPr>
            <a:noAutofit/>
          </a:bodyPr>
          <a:lstStyle/>
          <a:p>
            <a:pPr marL="0" indent="0">
              <a:buNone/>
            </a:pPr>
            <a:r>
              <a:rPr lang="es-ES_tradnl" sz="2400" b="1" dirty="0">
                <a:solidFill>
                  <a:srgbClr val="FF0000"/>
                </a:solidFill>
                <a:latin typeface="Century Gothic" panose="020B0502020202020204" pitchFamily="34" charset="0"/>
              </a:rPr>
              <a:t>¿Cuáles son los supuestos de la valoración en precios constantes?</a:t>
            </a:r>
          </a:p>
          <a:p>
            <a:pPr marL="0" indent="0">
              <a:buNone/>
            </a:pPr>
            <a:endParaRPr lang="es-ES_tradnl" b="1" dirty="0">
              <a:solidFill>
                <a:srgbClr val="FF0000"/>
              </a:solidFill>
              <a:latin typeface="Century Gothic" panose="020B0502020202020204" pitchFamily="34" charset="0"/>
            </a:endParaRPr>
          </a:p>
          <a:p>
            <a:pPr marL="457200" indent="-457200" algn="just">
              <a:buFont typeface="+mj-lt"/>
              <a:buAutoNum type="arabicPeriod"/>
            </a:pPr>
            <a:r>
              <a:rPr lang="es-ES_tradnl" sz="2000" dirty="0">
                <a:solidFill>
                  <a:schemeClr val="accent1"/>
                </a:solidFill>
                <a:latin typeface="Century Gothic" panose="020B0502020202020204" pitchFamily="34" charset="0"/>
              </a:rPr>
              <a:t>Se deben deflactar los precios corrientes.</a:t>
            </a:r>
          </a:p>
          <a:p>
            <a:pPr marL="457200" indent="-457200" algn="just">
              <a:buFont typeface="+mj-lt"/>
              <a:buAutoNum type="arabicPeriod"/>
            </a:pPr>
            <a:r>
              <a:rPr lang="es-ES_tradnl" sz="2000" dirty="0">
                <a:solidFill>
                  <a:schemeClr val="accent1"/>
                </a:solidFill>
                <a:latin typeface="Century Gothic" panose="020B0502020202020204" pitchFamily="34" charset="0"/>
              </a:rPr>
              <a:t>Se deben deflactar las depreciaciones.</a:t>
            </a:r>
          </a:p>
          <a:p>
            <a:pPr marL="457200" indent="-457200" algn="just">
              <a:buFont typeface="+mj-lt"/>
              <a:buAutoNum type="arabicPeriod"/>
            </a:pPr>
            <a:r>
              <a:rPr lang="es-ES_tradnl" sz="2000" dirty="0">
                <a:solidFill>
                  <a:schemeClr val="accent1"/>
                </a:solidFill>
                <a:latin typeface="Century Gothic" panose="020B0502020202020204" pitchFamily="34" charset="0"/>
              </a:rPr>
              <a:t>Si la inflación cambia en el tiempo, igualmente lo hará la tasa de descuento y los precios.</a:t>
            </a:r>
          </a:p>
          <a:p>
            <a:pPr marL="1008000" lvl="3" indent="0" algn="just">
              <a:buNone/>
            </a:pPr>
            <a:r>
              <a:rPr lang="es-ES_tradnl" sz="1800" b="1" dirty="0">
                <a:solidFill>
                  <a:schemeClr val="accent1"/>
                </a:solidFill>
                <a:latin typeface="Century Gothic" panose="020B0502020202020204" pitchFamily="34" charset="0"/>
              </a:rPr>
              <a:t>La tasa WACC debe ser ajustada con la inflación empleando la fórmula de Fisher.</a:t>
            </a:r>
          </a:p>
          <a:p>
            <a:pPr marL="457200" indent="-457200" algn="just">
              <a:buFont typeface="+mj-lt"/>
              <a:buAutoNum type="arabicPeriod"/>
            </a:pPr>
            <a:r>
              <a:rPr lang="es-ES_tradnl" sz="2000" dirty="0">
                <a:solidFill>
                  <a:schemeClr val="accent1"/>
                </a:solidFill>
                <a:latin typeface="Century Gothic" panose="020B0502020202020204" pitchFamily="34" charset="0"/>
              </a:rPr>
              <a:t>No existe valor del salvamento del proyecto (si lo hay, se debe deflactar)</a:t>
            </a:r>
          </a:p>
        </p:txBody>
      </p:sp>
      <p:sp>
        <p:nvSpPr>
          <p:cNvPr id="4" name="Slide Number Placeholder 3">
            <a:extLst>
              <a:ext uri="{FF2B5EF4-FFF2-40B4-BE49-F238E27FC236}">
                <a16:creationId xmlns:a16="http://schemas.microsoft.com/office/drawing/2014/main" id="{0930D155-0707-47E3-2117-F276A1959BA2}"/>
              </a:ext>
            </a:extLst>
          </p:cNvPr>
          <p:cNvSpPr>
            <a:spLocks noGrp="1"/>
          </p:cNvSpPr>
          <p:nvPr>
            <p:ph type="sldNum" sz="quarter" idx="12"/>
          </p:nvPr>
        </p:nvSpPr>
        <p:spPr/>
        <p:txBody>
          <a:bodyPr/>
          <a:lstStyle/>
          <a:p>
            <a:fld id="{5E3E23BA-6E79-2442-BA73-D218A5E297C3}" type="slidenum">
              <a:rPr lang="en-US" sz="1800" smtClean="0"/>
              <a:t>40</a:t>
            </a:fld>
            <a:endParaRPr lang="en-US" sz="1800"/>
          </a:p>
        </p:txBody>
      </p:sp>
      <p:sp>
        <p:nvSpPr>
          <p:cNvPr id="5" name="Rectángulo 4">
            <a:extLst>
              <a:ext uri="{FF2B5EF4-FFF2-40B4-BE49-F238E27FC236}">
                <a16:creationId xmlns:a16="http://schemas.microsoft.com/office/drawing/2014/main" id="{6884D309-49CA-9E8D-DEAD-F8BD2E0BFD8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DDC2403C-8630-CAE1-650A-E0D2C4FDA0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8293BF08-C656-FC78-906B-9F2A46692CE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pic>
        <p:nvPicPr>
          <p:cNvPr id="8" name="Imagen 7">
            <a:extLst>
              <a:ext uri="{FF2B5EF4-FFF2-40B4-BE49-F238E27FC236}">
                <a16:creationId xmlns:a16="http://schemas.microsoft.com/office/drawing/2014/main" id="{1311463B-DA2A-660D-48F5-02BAFED55C74}"/>
              </a:ext>
            </a:extLst>
          </p:cNvPr>
          <p:cNvPicPr>
            <a:picLocks noChangeAspect="1"/>
          </p:cNvPicPr>
          <p:nvPr/>
        </p:nvPicPr>
        <p:blipFill rotWithShape="1">
          <a:blip r:embed="rId3"/>
          <a:srcRect b="6318"/>
          <a:stretch/>
        </p:blipFill>
        <p:spPr>
          <a:xfrm>
            <a:off x="9794984" y="3094133"/>
            <a:ext cx="1755051" cy="2224216"/>
          </a:xfrm>
          <a:prstGeom prst="rect">
            <a:avLst/>
          </a:prstGeom>
        </p:spPr>
      </p:pic>
    </p:spTree>
    <p:extLst>
      <p:ext uri="{BB962C8B-B14F-4D97-AF65-F5344CB8AC3E}">
        <p14:creationId xmlns:p14="http://schemas.microsoft.com/office/powerpoint/2010/main" val="36700646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D9F0C-F535-4ABD-AFAD-7432501604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A534BA-9C0F-0030-3393-7A1A532194FF}"/>
              </a:ext>
            </a:extLst>
          </p:cNvPr>
          <p:cNvSpPr>
            <a:spLocks noGrp="1"/>
          </p:cNvSpPr>
          <p:nvPr>
            <p:ph type="title"/>
          </p:nvPr>
        </p:nvSpPr>
        <p:spPr/>
        <p:txBody>
          <a:bodyPr>
            <a:normAutofit/>
          </a:bodyPr>
          <a:lstStyle/>
          <a:p>
            <a:r>
              <a:rPr lang="es-ES" sz="3200" dirty="0">
                <a:latin typeface="Century Gothic" panose="020B0502020202020204" pitchFamily="34" charset="0"/>
              </a:rPr>
              <a:t>INFLACIÓN</a:t>
            </a:r>
            <a:endParaRPr lang="es-ES_tradnl" sz="3200" dirty="0">
              <a:latin typeface="Century Gothic" panose="020B0502020202020204" pitchFamily="34" charset="0"/>
            </a:endParaRPr>
          </a:p>
        </p:txBody>
      </p:sp>
      <p:sp>
        <p:nvSpPr>
          <p:cNvPr id="3" name="Content Placeholder 2">
            <a:extLst>
              <a:ext uri="{FF2B5EF4-FFF2-40B4-BE49-F238E27FC236}">
                <a16:creationId xmlns:a16="http://schemas.microsoft.com/office/drawing/2014/main" id="{FB994676-D6CD-3F5C-89BD-604328859429}"/>
              </a:ext>
            </a:extLst>
          </p:cNvPr>
          <p:cNvSpPr>
            <a:spLocks noGrp="1"/>
          </p:cNvSpPr>
          <p:nvPr>
            <p:ph idx="1"/>
          </p:nvPr>
        </p:nvSpPr>
        <p:spPr>
          <a:xfrm>
            <a:off x="581193" y="1838848"/>
            <a:ext cx="5771982" cy="4316996"/>
          </a:xfrm>
        </p:spPr>
        <p:txBody>
          <a:bodyPr>
            <a:noAutofit/>
          </a:bodyPr>
          <a:lstStyle/>
          <a:p>
            <a:pPr marL="0" indent="0">
              <a:buNone/>
            </a:pPr>
            <a:r>
              <a:rPr lang="es-CO" sz="2400" b="1" dirty="0">
                <a:solidFill>
                  <a:schemeClr val="accent1"/>
                </a:solidFill>
                <a:latin typeface="Century Gothic" panose="020B0502020202020204" pitchFamily="34" charset="0"/>
              </a:rPr>
              <a:t>Cálculo con Deflactores</a:t>
            </a:r>
          </a:p>
          <a:p>
            <a:r>
              <a:rPr lang="es-CO" dirty="0">
                <a:solidFill>
                  <a:schemeClr val="accent1"/>
                </a:solidFill>
                <a:latin typeface="Century Gothic" panose="020B0502020202020204" pitchFamily="34" charset="0"/>
              </a:rPr>
              <a:t>Es posible derivar los diferentes Flujos de Caja a partir de Factores Inflacionarios o Coeficientes Deflactores.</a:t>
            </a:r>
          </a:p>
          <a:p>
            <a:r>
              <a:rPr lang="es-CO" dirty="0">
                <a:solidFill>
                  <a:schemeClr val="accent1"/>
                </a:solidFill>
                <a:latin typeface="Century Gothic" panose="020B0502020202020204" pitchFamily="34" charset="0"/>
              </a:rPr>
              <a:t>Este planteamiento surge de la variación del IPC; que al igual que la definición de la inflación, genera un factor. </a:t>
            </a:r>
          </a:p>
          <a:p>
            <a:r>
              <a:rPr lang="es-CO" dirty="0">
                <a:solidFill>
                  <a:schemeClr val="accent1"/>
                </a:solidFill>
                <a:latin typeface="Century Gothic" panose="020B0502020202020204" pitchFamily="34" charset="0"/>
              </a:rPr>
              <a:t>Este método genera el mismo resultado que emplear el Factor Inflacionario.</a:t>
            </a:r>
          </a:p>
        </p:txBody>
      </p:sp>
      <p:sp>
        <p:nvSpPr>
          <p:cNvPr id="4" name="Slide Number Placeholder 3">
            <a:extLst>
              <a:ext uri="{FF2B5EF4-FFF2-40B4-BE49-F238E27FC236}">
                <a16:creationId xmlns:a16="http://schemas.microsoft.com/office/drawing/2014/main" id="{4BAB26E5-B29B-7EA4-B850-476AB8D82492}"/>
              </a:ext>
            </a:extLst>
          </p:cNvPr>
          <p:cNvSpPr>
            <a:spLocks noGrp="1"/>
          </p:cNvSpPr>
          <p:nvPr>
            <p:ph type="sldNum" sz="quarter" idx="12"/>
          </p:nvPr>
        </p:nvSpPr>
        <p:spPr/>
        <p:txBody>
          <a:bodyPr/>
          <a:lstStyle/>
          <a:p>
            <a:fld id="{5E3E23BA-6E79-2442-BA73-D218A5E297C3}" type="slidenum">
              <a:rPr lang="en-US" sz="1800" smtClean="0"/>
              <a:t>41</a:t>
            </a:fld>
            <a:endParaRPr lang="en-US" sz="1800"/>
          </a:p>
        </p:txBody>
      </p:sp>
      <p:sp>
        <p:nvSpPr>
          <p:cNvPr id="5" name="Rectángulo 4">
            <a:extLst>
              <a:ext uri="{FF2B5EF4-FFF2-40B4-BE49-F238E27FC236}">
                <a16:creationId xmlns:a16="http://schemas.microsoft.com/office/drawing/2014/main" id="{C9E5D841-BA38-D5A1-6805-71818FEC0BC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497EC5FE-DB49-0714-5753-24A58FBAD0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55321983-2022-D81D-F1A1-BFDA38A3A1C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pic>
        <p:nvPicPr>
          <p:cNvPr id="9" name="Picture 35" descr="https://yirepa.es/____impro/1/onewebmedia/TABLA%20NOMINALES%20REALES%20y%20variacion%20reales%20base%202016_edited1.jpg?etag=W%2F%2243d92-58ac9747%22&amp;sourceContentType=image%2Fjpeg&amp;ignoreAspectRatio&amp;resize=506%2B336&amp;quality=85">
            <a:extLst>
              <a:ext uri="{FF2B5EF4-FFF2-40B4-BE49-F238E27FC236}">
                <a16:creationId xmlns:a16="http://schemas.microsoft.com/office/drawing/2014/main" id="{4B33D3BE-1EA7-1863-92A1-AC9DFB8BD8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3739" y="1922884"/>
            <a:ext cx="4373935" cy="290443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37" descr="https://yirepa.es/____impro/1/onewebmedia/coeficiente%20deflactor_edited1.JPG?etag=W%2F%221deaf-58653882%22&amp;sourceContentType=image%2Fjpeg&amp;ignoreAspectRatio&amp;resize=370%2B65&amp;quality=85">
            <a:extLst>
              <a:ext uri="{FF2B5EF4-FFF2-40B4-BE49-F238E27FC236}">
                <a16:creationId xmlns:a16="http://schemas.microsoft.com/office/drawing/2014/main" id="{F6A79F84-66B3-CD61-C233-A284BC4EDB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8582" y="4997214"/>
            <a:ext cx="3524250" cy="619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17716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7" y="1814732"/>
            <a:ext cx="11079167" cy="826833"/>
          </a:xfrm>
        </p:spPr>
        <p:txBody>
          <a:bodyPr>
            <a:noAutofit/>
          </a:bodyPr>
          <a:lstStyle/>
          <a:p>
            <a:r>
              <a:rPr lang="es-CO" sz="3200" dirty="0">
                <a:latin typeface="Century Gothic"/>
              </a:rPr>
              <a:t>INFLACIÓN y SU IMPACTO EN EL FLUJO DE CAJA DE UN PROYECTO (</a:t>
            </a:r>
            <a:r>
              <a:rPr lang="es-CO" sz="3200" dirty="0">
                <a:solidFill>
                  <a:srgbClr val="D7A700"/>
                </a:solidFill>
                <a:latin typeface="Century Gothic"/>
              </a:rPr>
              <a:t>PARTE I</a:t>
            </a:r>
            <a:r>
              <a:rPr lang="es-CO" sz="3200" dirty="0">
                <a:latin typeface="Century Gothic"/>
              </a:rPr>
              <a:t>)</a:t>
            </a:r>
            <a:endParaRPr lang="es-CO" sz="3200" dirty="0">
              <a:latin typeface="Century Gothic" panose="020B0502020202020204" pitchFamily="34" charset="0"/>
            </a:endParaRPr>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2E3B9B72-D13E-2CBF-D0CA-6E449C2508E1}"/>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00A2076B-5CA2-165C-9873-6BBE655A1318}"/>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dirty="0">
                <a:solidFill>
                  <a:schemeClr val="bg1"/>
                </a:solidFill>
                <a:latin typeface="Century Gothic"/>
              </a:rPr>
              <a:t>													</a:t>
            </a:r>
            <a:endParaRPr lang="es-CO" sz="2000" b="1" u="sng" dirty="0">
              <a:solidFill>
                <a:schemeClr val="bg1"/>
              </a:solidFill>
              <a:latin typeface="Century Gothic"/>
            </a:endParaRPr>
          </a:p>
          <a:p>
            <a:endParaRPr lang="es-CO" sz="1000" b="1" dirty="0">
              <a:solidFill>
                <a:schemeClr val="bg1"/>
              </a:solidFill>
              <a:latin typeface="Century Gothic" panose="020B0502020202020204" pitchFamily="34" charset="0"/>
            </a:endParaRPr>
          </a:p>
          <a:p>
            <a:r>
              <a:rPr lang="es-CO" sz="2000" b="1" dirty="0">
                <a:solidFill>
                  <a:schemeClr val="bg1"/>
                </a:solidFill>
                <a:latin typeface="Century Gothic"/>
              </a:rPr>
              <a:t>DEPARTAMENTO DE INGENIERÍA INDUSTRIAL</a:t>
            </a:r>
          </a:p>
          <a:p>
            <a:r>
              <a:rPr lang="es-CO" sz="2000" b="1" dirty="0">
                <a:solidFill>
                  <a:schemeClr val="bg1"/>
                </a:solidFill>
                <a:latin typeface="Century Gothic"/>
              </a:rPr>
              <a:t>FACULTAD DE INGENIERÍA</a:t>
            </a:r>
          </a:p>
          <a:p>
            <a:r>
              <a:rPr lang="es-CO" sz="1000" b="1" u="sng" dirty="0">
                <a:solidFill>
                  <a:schemeClr val="bg1"/>
                </a:solidFill>
                <a:latin typeface="Century Gothic"/>
              </a:rPr>
              <a:t>													</a:t>
            </a:r>
          </a:p>
          <a:p>
            <a:endParaRPr lang="es-CO" sz="2000" b="1" dirty="0">
              <a:solidFill>
                <a:schemeClr val="bg1"/>
              </a:solidFill>
              <a:latin typeface="Century Gothic" panose="020B0502020202020204" pitchFamily="34" charset="0"/>
            </a:endParaRPr>
          </a:p>
          <a:p>
            <a:r>
              <a:rPr lang="es-CO" sz="2000" b="1" dirty="0">
                <a:solidFill>
                  <a:schemeClr val="bg1"/>
                </a:solidFill>
                <a:latin typeface="Century Gothic"/>
              </a:rPr>
              <a:t>Curso       </a:t>
            </a:r>
            <a:r>
              <a:rPr lang="es-CO" sz="2000" dirty="0">
                <a:solidFill>
                  <a:schemeClr val="bg1"/>
                </a:solidFill>
                <a:latin typeface="Century Gothic"/>
              </a:rPr>
              <a:t>ANÁLISIS DE DECISIONES DE INVERSIÓN</a:t>
            </a:r>
          </a:p>
          <a:p>
            <a:r>
              <a:rPr lang="es-CO" sz="2000" b="1" dirty="0">
                <a:solidFill>
                  <a:schemeClr val="bg1"/>
                </a:solidFill>
                <a:latin typeface="Century Gothic"/>
              </a:rPr>
              <a:t>Correo     </a:t>
            </a:r>
            <a:r>
              <a:rPr lang="es-CO" sz="2000" dirty="0">
                <a:solidFill>
                  <a:schemeClr val="bg1"/>
                </a:solidFill>
                <a:latin typeface="Century Gothic"/>
              </a:rPr>
              <a:t>cursoanadec@uniandes.edu.co</a:t>
            </a:r>
          </a:p>
          <a:p>
            <a:endParaRPr lang="es-CO" sz="2000" b="1"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1580817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7" y="1814732"/>
            <a:ext cx="11079167" cy="826833"/>
          </a:xfrm>
        </p:spPr>
        <p:txBody>
          <a:bodyPr>
            <a:noAutofit/>
          </a:bodyPr>
          <a:lstStyle/>
          <a:p>
            <a:r>
              <a:rPr lang="es-CO" sz="3200" dirty="0">
                <a:latin typeface="Century Gothic"/>
              </a:rPr>
              <a:t>INFLACIÓN y SU IMPACTO EN EL FLUJO DE CAJA DE UN PROYECTO (</a:t>
            </a:r>
            <a:r>
              <a:rPr lang="es-CO" sz="3200" dirty="0">
                <a:solidFill>
                  <a:srgbClr val="D7A700"/>
                </a:solidFill>
                <a:latin typeface="Century Gothic"/>
              </a:rPr>
              <a:t>PARTE II</a:t>
            </a:r>
            <a:r>
              <a:rPr lang="es-CO" sz="3200" dirty="0">
                <a:latin typeface="Century Gothic"/>
              </a:rPr>
              <a:t>)</a:t>
            </a:r>
            <a:endParaRPr lang="es-CO" sz="3200" dirty="0">
              <a:latin typeface="Century Gothic" panose="020B0502020202020204" pitchFamily="34" charset="0"/>
            </a:endParaRPr>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2E3B9B72-D13E-2CBF-D0CA-6E449C2508E1}"/>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00A2076B-5CA2-165C-9873-6BBE655A1318}"/>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dirty="0">
                <a:solidFill>
                  <a:schemeClr val="bg1"/>
                </a:solidFill>
                <a:latin typeface="Century Gothic"/>
              </a:rPr>
              <a:t>													</a:t>
            </a:r>
            <a:endParaRPr lang="es-CO" sz="2000" b="1" u="sng" dirty="0">
              <a:solidFill>
                <a:schemeClr val="bg1"/>
              </a:solidFill>
              <a:latin typeface="Century Gothic"/>
            </a:endParaRPr>
          </a:p>
          <a:p>
            <a:endParaRPr lang="es-CO" sz="1000" b="1" dirty="0">
              <a:solidFill>
                <a:schemeClr val="bg1"/>
              </a:solidFill>
              <a:latin typeface="Century Gothic" panose="020B0502020202020204" pitchFamily="34" charset="0"/>
            </a:endParaRPr>
          </a:p>
          <a:p>
            <a:r>
              <a:rPr lang="es-CO" sz="2000" b="1" dirty="0">
                <a:solidFill>
                  <a:schemeClr val="bg1"/>
                </a:solidFill>
                <a:latin typeface="Century Gothic"/>
              </a:rPr>
              <a:t>DEPARTAMENTO DE INGENIERÍA INDUSTRIAL</a:t>
            </a:r>
          </a:p>
          <a:p>
            <a:r>
              <a:rPr lang="es-CO" sz="2000" b="1" dirty="0">
                <a:solidFill>
                  <a:schemeClr val="bg1"/>
                </a:solidFill>
                <a:latin typeface="Century Gothic"/>
              </a:rPr>
              <a:t>FACULTAD DE INGENIERÍA</a:t>
            </a:r>
          </a:p>
          <a:p>
            <a:r>
              <a:rPr lang="es-CO" sz="1000" b="1" u="sng" dirty="0">
                <a:solidFill>
                  <a:schemeClr val="bg1"/>
                </a:solidFill>
                <a:latin typeface="Century Gothic"/>
              </a:rPr>
              <a:t>													</a:t>
            </a:r>
          </a:p>
          <a:p>
            <a:endParaRPr lang="es-CO" sz="2000" b="1" dirty="0">
              <a:solidFill>
                <a:schemeClr val="bg1"/>
              </a:solidFill>
              <a:latin typeface="Century Gothic" panose="020B0502020202020204" pitchFamily="34" charset="0"/>
            </a:endParaRPr>
          </a:p>
          <a:p>
            <a:r>
              <a:rPr lang="es-CO" sz="2000" b="1" dirty="0">
                <a:solidFill>
                  <a:schemeClr val="bg1"/>
                </a:solidFill>
                <a:latin typeface="Century Gothic"/>
              </a:rPr>
              <a:t>Curso       </a:t>
            </a:r>
            <a:r>
              <a:rPr lang="es-CO" sz="2000" dirty="0">
                <a:solidFill>
                  <a:schemeClr val="bg1"/>
                </a:solidFill>
                <a:latin typeface="Century Gothic"/>
              </a:rPr>
              <a:t>ANÁLISIS DE DECISIONES DE INVERSIÓN</a:t>
            </a:r>
          </a:p>
          <a:p>
            <a:r>
              <a:rPr lang="es-CO" sz="2000" b="1" dirty="0">
                <a:solidFill>
                  <a:schemeClr val="bg1"/>
                </a:solidFill>
                <a:latin typeface="Century Gothic"/>
              </a:rPr>
              <a:t>Correo     </a:t>
            </a:r>
            <a:r>
              <a:rPr lang="es-CO" sz="2000" dirty="0">
                <a:solidFill>
                  <a:schemeClr val="bg1"/>
                </a:solidFill>
                <a:latin typeface="Century Gothic"/>
              </a:rPr>
              <a:t>cursoanadec@uniandes.edu.co</a:t>
            </a:r>
          </a:p>
          <a:p>
            <a:endParaRPr lang="es-CO" sz="2000" b="1"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11426745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02554-6D7F-61DC-2791-CAD3DCB886E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1C368F6-61BC-F577-FA96-7A0725FF8E4C}"/>
              </a:ext>
            </a:extLst>
          </p:cNvPr>
          <p:cNvSpPr>
            <a:spLocks noGrp="1"/>
          </p:cNvSpPr>
          <p:nvPr>
            <p:ph type="title"/>
          </p:nvPr>
        </p:nvSpPr>
        <p:spPr/>
        <p:txBody>
          <a:bodyPr>
            <a:normAutofit/>
          </a:bodyPr>
          <a:lstStyle/>
          <a:p>
            <a:r>
              <a:rPr lang="es-CO" sz="3200" dirty="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5ED99EBD-7641-3811-449B-3440F835E3C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1B6B07C4-447C-CCE4-0651-995A9F221735}"/>
              </a:ext>
            </a:extLst>
          </p:cNvPr>
          <p:cNvSpPr/>
          <p:nvPr/>
        </p:nvSpPr>
        <p:spPr>
          <a:xfrm>
            <a:off x="2806200" y="2772729"/>
            <a:ext cx="8540907" cy="2585323"/>
          </a:xfrm>
          <a:prstGeom prst="rect">
            <a:avLst/>
          </a:prstGeom>
        </p:spPr>
        <p:txBody>
          <a:bodyPr wrap="square" lIns="91440" tIns="45720" rIns="91440" bIns="45720" anchor="t">
            <a:spAutoFit/>
          </a:bodyPr>
          <a:lstStyle/>
          <a:p>
            <a:pPr>
              <a:buClr>
                <a:schemeClr val="accent3">
                  <a:lumMod val="75000"/>
                </a:schemeClr>
              </a:buClr>
            </a:pPr>
            <a:endParaRPr lang="es-CO" dirty="0">
              <a:solidFill>
                <a:schemeClr val="bg1">
                  <a:lumMod val="75000"/>
                </a:schemeClr>
              </a:solidFill>
              <a:latin typeface="Century Gothic"/>
              <a:cs typeface="Arial"/>
            </a:endParaRPr>
          </a:p>
          <a:p>
            <a:pPr marL="257175" indent="-257175">
              <a:buClr>
                <a:schemeClr val="accent3">
                  <a:lumMod val="75000"/>
                </a:schemeClr>
              </a:buClr>
              <a:buFont typeface="Gill Sans MT" panose="020B0502020104020203"/>
              <a:buAutoNum type="arabicPeriod"/>
            </a:pPr>
            <a:endParaRPr lang="es-CO" dirty="0">
              <a:solidFill>
                <a:schemeClr val="bg1">
                  <a:lumMod val="75000"/>
                </a:schemeClr>
              </a:solidFill>
              <a:latin typeface="Century Gothic"/>
              <a:cs typeface="Arial"/>
            </a:endParaRPr>
          </a:p>
          <a:p>
            <a:pPr marL="257175" indent="-257175">
              <a:buClr>
                <a:schemeClr val="accent3">
                  <a:lumMod val="75000"/>
                </a:schemeClr>
              </a:buClr>
              <a:buFont typeface="Gill Sans MT" panose="020B0502020104020203"/>
              <a:buAutoNum type="arabicPeriod"/>
            </a:pPr>
            <a:r>
              <a:rPr lang="es-CO" dirty="0">
                <a:solidFill>
                  <a:schemeClr val="accent1"/>
                </a:solidFill>
                <a:latin typeface="Century Gothic"/>
                <a:cs typeface="Arial"/>
              </a:rPr>
              <a:t>Inflación variable</a:t>
            </a:r>
          </a:p>
          <a:p>
            <a:pPr marL="257175" indent="-257175">
              <a:buClr>
                <a:schemeClr val="accent3">
                  <a:lumMod val="75000"/>
                </a:schemeClr>
              </a:buClr>
              <a:buFont typeface="Gill Sans MT" panose="020B0502020104020203"/>
              <a:buAutoNum type="arabicPeriod"/>
            </a:pPr>
            <a:endParaRPr lang="es-CO" dirty="0">
              <a:solidFill>
                <a:schemeClr val="bg1">
                  <a:lumMod val="75000"/>
                </a:schemeClr>
              </a:solidFill>
              <a:latin typeface="Century Gothic"/>
              <a:cs typeface="Arial"/>
            </a:endParaRPr>
          </a:p>
          <a:p>
            <a:pPr marL="257175" indent="-257175">
              <a:buClr>
                <a:schemeClr val="accent3">
                  <a:lumMod val="75000"/>
                </a:schemeClr>
              </a:buClr>
              <a:buFont typeface="Gill Sans MT" panose="020B0502020104020203"/>
              <a:buAutoNum type="arabicPeriod"/>
            </a:pPr>
            <a:r>
              <a:rPr lang="es-CO" dirty="0">
                <a:solidFill>
                  <a:schemeClr val="bg1">
                    <a:lumMod val="75000"/>
                  </a:schemeClr>
                </a:solidFill>
                <a:latin typeface="Century Gothic"/>
                <a:cs typeface="Arial"/>
              </a:rPr>
              <a:t>Ejercicios</a:t>
            </a:r>
          </a:p>
          <a:p>
            <a:pPr marL="342900" indent="-342900">
              <a:buClr>
                <a:srgbClr val="48BE7A"/>
              </a:buClr>
              <a:buAutoNum type="arabicPeriod" startAt="5"/>
            </a:pPr>
            <a:endParaRPr lang="es-CO" dirty="0">
              <a:solidFill>
                <a:schemeClr val="accent1"/>
              </a:solidFill>
              <a:latin typeface="Century Gothic" panose="020B0502020202020204" pitchFamily="34" charset="0"/>
              <a:cs typeface="Arial"/>
            </a:endParaRPr>
          </a:p>
          <a:p>
            <a:pPr>
              <a:buClr>
                <a:srgbClr val="48BE7A"/>
              </a:buClr>
            </a:pPr>
            <a:r>
              <a:rPr lang="es-CO" dirty="0">
                <a:solidFill>
                  <a:schemeClr val="accent1"/>
                </a:solidFill>
                <a:latin typeface="Century Gothic"/>
                <a:cs typeface="Arial"/>
              </a:rPr>
              <a:t>	</a:t>
            </a: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a:buClr>
                <a:schemeClr val="accent3">
                  <a:lumMod val="75000"/>
                </a:schemeClr>
              </a:buClr>
            </a:pPr>
            <a:endParaRPr lang="es-CO" dirty="0">
              <a:solidFill>
                <a:schemeClr val="accent1"/>
              </a:solidFill>
              <a:latin typeface="Century Gothic" panose="020B0502020202020204" pitchFamily="34" charset="0"/>
            </a:endParaRPr>
          </a:p>
        </p:txBody>
      </p:sp>
      <p:sp>
        <p:nvSpPr>
          <p:cNvPr id="7" name="Rectángulo 6">
            <a:extLst>
              <a:ext uri="{FF2B5EF4-FFF2-40B4-BE49-F238E27FC236}">
                <a16:creationId xmlns:a16="http://schemas.microsoft.com/office/drawing/2014/main" id="{EC4E3687-44B0-2984-3524-525CBF89A8C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35F69131-DA4C-C9D8-473F-8516A2B5CD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F7E3BB8F-32DF-73B1-9E0D-1180DF695131}"/>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3" name="Slide Number Placeholder 3">
            <a:extLst>
              <a:ext uri="{FF2B5EF4-FFF2-40B4-BE49-F238E27FC236}">
                <a16:creationId xmlns:a16="http://schemas.microsoft.com/office/drawing/2014/main" id="{96DD215E-90A4-CE47-52AD-2F69358EF910}"/>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smtClean="0"/>
              <a:t>44</a:t>
            </a:fld>
            <a:endParaRPr lang="en-US" sz="1800" dirty="0"/>
          </a:p>
        </p:txBody>
      </p:sp>
    </p:spTree>
    <p:extLst>
      <p:ext uri="{BB962C8B-B14F-4D97-AF65-F5344CB8AC3E}">
        <p14:creationId xmlns:p14="http://schemas.microsoft.com/office/powerpoint/2010/main" val="1254657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52E00-D75E-0776-F112-396817386F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A27A0D-EDF3-C495-25E2-D250483FDEEA}"/>
              </a:ext>
            </a:extLst>
          </p:cNvPr>
          <p:cNvSpPr>
            <a:spLocks noGrp="1"/>
          </p:cNvSpPr>
          <p:nvPr>
            <p:ph type="title"/>
          </p:nvPr>
        </p:nvSpPr>
        <p:spPr/>
        <p:txBody>
          <a:bodyPr>
            <a:normAutofit/>
          </a:bodyPr>
          <a:lstStyle/>
          <a:p>
            <a:r>
              <a:rPr lang="es-ES" sz="3200" dirty="0">
                <a:latin typeface="Century Gothic" panose="020B0502020202020204" pitchFamily="34" charset="0"/>
              </a:rPr>
              <a:t>INFLACIÓN VARIABLE - PROCESO</a:t>
            </a:r>
            <a:endParaRPr lang="es-ES_tradnl" sz="3200" dirty="0">
              <a:latin typeface="Century Gothic" panose="020B0502020202020204" pitchFamily="34" charset="0"/>
            </a:endParaRPr>
          </a:p>
        </p:txBody>
      </p:sp>
      <p:sp>
        <p:nvSpPr>
          <p:cNvPr id="3" name="Content Placeholder 2">
            <a:extLst>
              <a:ext uri="{FF2B5EF4-FFF2-40B4-BE49-F238E27FC236}">
                <a16:creationId xmlns:a16="http://schemas.microsoft.com/office/drawing/2014/main" id="{C495B457-AE9A-18F0-5B1C-BB65AD2F7E4D}"/>
              </a:ext>
            </a:extLst>
          </p:cNvPr>
          <p:cNvSpPr>
            <a:spLocks noGrp="1"/>
          </p:cNvSpPr>
          <p:nvPr>
            <p:ph idx="1"/>
          </p:nvPr>
        </p:nvSpPr>
        <p:spPr>
          <a:xfrm>
            <a:off x="581193" y="1838848"/>
            <a:ext cx="8964742" cy="4316996"/>
          </a:xfrm>
        </p:spPr>
        <p:txBody>
          <a:bodyPr>
            <a:noAutofit/>
          </a:bodyPr>
          <a:lstStyle/>
          <a:p>
            <a:pPr marL="0" indent="0">
              <a:buNone/>
            </a:pPr>
            <a:r>
              <a:rPr lang="es-CO" sz="2000" dirty="0">
                <a:solidFill>
                  <a:schemeClr val="accent1"/>
                </a:solidFill>
                <a:latin typeface="Century Gothic" panose="020B0502020202020204" pitchFamily="34" charset="0"/>
              </a:rPr>
              <a:t>El proceso para el análisis de escenarios de inflación variable son muy comunes. Debemos retomar el proceso inicial donde se debe:</a:t>
            </a:r>
          </a:p>
          <a:p>
            <a:pPr marL="342900" indent="-342900">
              <a:buAutoNum type="arabicParenR"/>
            </a:pPr>
            <a:r>
              <a:rPr lang="es-CO" sz="2000" dirty="0">
                <a:solidFill>
                  <a:schemeClr val="accent1"/>
                </a:solidFill>
                <a:latin typeface="Century Gothic" panose="020B0502020202020204" pitchFamily="34" charset="0"/>
              </a:rPr>
              <a:t>Realizar el escenario tradicional, con pesos nominales</a:t>
            </a:r>
          </a:p>
          <a:p>
            <a:pPr marL="342900" indent="-342900">
              <a:buAutoNum type="arabicParenR"/>
            </a:pPr>
            <a:r>
              <a:rPr lang="es-CO" sz="2000" dirty="0">
                <a:solidFill>
                  <a:schemeClr val="accent1"/>
                </a:solidFill>
                <a:latin typeface="Century Gothic" panose="020B0502020202020204" pitchFamily="34" charset="0"/>
              </a:rPr>
              <a:t>Obtener los FCL en precios nominales y calcular los </a:t>
            </a:r>
            <a:r>
              <a:rPr lang="es-CO" sz="2000" dirty="0" err="1">
                <a:solidFill>
                  <a:schemeClr val="accent1"/>
                </a:solidFill>
                <a:latin typeface="Century Gothic" panose="020B0502020202020204" pitchFamily="34" charset="0"/>
              </a:rPr>
              <a:t>IBF</a:t>
            </a:r>
            <a:r>
              <a:rPr lang="es-CO" sz="2000" dirty="0">
                <a:solidFill>
                  <a:schemeClr val="accent1"/>
                </a:solidFill>
                <a:latin typeface="Century Gothic" panose="020B0502020202020204" pitchFamily="34" charset="0"/>
              </a:rPr>
              <a:t> pertinentes.</a:t>
            </a:r>
          </a:p>
          <a:p>
            <a:pPr marL="342900" indent="-342900">
              <a:buAutoNum type="arabicParenR"/>
            </a:pPr>
            <a:r>
              <a:rPr lang="es-CO" sz="2000" dirty="0">
                <a:solidFill>
                  <a:schemeClr val="accent1"/>
                </a:solidFill>
                <a:latin typeface="Century Gothic" panose="020B0502020202020204" pitchFamily="34" charset="0"/>
              </a:rPr>
              <a:t>Deflactar los precios nominales.</a:t>
            </a:r>
          </a:p>
          <a:p>
            <a:pPr marL="342900" indent="-342900">
              <a:buAutoNum type="arabicParenR"/>
            </a:pPr>
            <a:r>
              <a:rPr lang="es-CO" sz="2000" dirty="0">
                <a:solidFill>
                  <a:schemeClr val="accent1"/>
                </a:solidFill>
                <a:latin typeface="Century Gothic" panose="020B0502020202020204" pitchFamily="34" charset="0"/>
              </a:rPr>
              <a:t>Obtener las tasas constantes o corrientes del </a:t>
            </a:r>
            <a:r>
              <a:rPr lang="es-CO" sz="2000" dirty="0" err="1">
                <a:solidFill>
                  <a:schemeClr val="accent1"/>
                </a:solidFill>
                <a:latin typeface="Century Gothic" panose="020B0502020202020204" pitchFamily="34" charset="0"/>
              </a:rPr>
              <a:t>WACC</a:t>
            </a:r>
            <a:r>
              <a:rPr lang="es-CO" sz="2000" dirty="0">
                <a:solidFill>
                  <a:schemeClr val="accent1"/>
                </a:solidFill>
                <a:latin typeface="Century Gothic" panose="020B0502020202020204" pitchFamily="34" charset="0"/>
              </a:rPr>
              <a:t> para cada periodo.</a:t>
            </a:r>
          </a:p>
          <a:p>
            <a:pPr marL="342900" indent="-342900">
              <a:buAutoNum type="arabicParenR"/>
            </a:pPr>
            <a:r>
              <a:rPr lang="es-CO" sz="2000" dirty="0">
                <a:solidFill>
                  <a:schemeClr val="accent1"/>
                </a:solidFill>
                <a:latin typeface="Century Gothic" panose="020B0502020202020204" pitchFamily="34" charset="0"/>
              </a:rPr>
              <a:t>Determinar el VPN o el indicador propicio del FCL.</a:t>
            </a:r>
          </a:p>
        </p:txBody>
      </p:sp>
      <p:sp>
        <p:nvSpPr>
          <p:cNvPr id="4" name="Slide Number Placeholder 3">
            <a:extLst>
              <a:ext uri="{FF2B5EF4-FFF2-40B4-BE49-F238E27FC236}">
                <a16:creationId xmlns:a16="http://schemas.microsoft.com/office/drawing/2014/main" id="{9159B57F-F210-63DD-89CD-8826C488FB9C}"/>
              </a:ext>
            </a:extLst>
          </p:cNvPr>
          <p:cNvSpPr>
            <a:spLocks noGrp="1"/>
          </p:cNvSpPr>
          <p:nvPr>
            <p:ph type="sldNum" sz="quarter" idx="12"/>
          </p:nvPr>
        </p:nvSpPr>
        <p:spPr/>
        <p:txBody>
          <a:bodyPr/>
          <a:lstStyle/>
          <a:p>
            <a:fld id="{5E3E23BA-6E79-2442-BA73-D218A5E297C3}" type="slidenum">
              <a:rPr lang="en-US" sz="1800" smtClean="0"/>
              <a:t>45</a:t>
            </a:fld>
            <a:endParaRPr lang="en-US" sz="1800"/>
          </a:p>
        </p:txBody>
      </p:sp>
      <p:sp>
        <p:nvSpPr>
          <p:cNvPr id="5" name="Rectángulo 4">
            <a:extLst>
              <a:ext uri="{FF2B5EF4-FFF2-40B4-BE49-F238E27FC236}">
                <a16:creationId xmlns:a16="http://schemas.microsoft.com/office/drawing/2014/main" id="{B41B16EA-3A08-A29A-F325-5AA4E67E11D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0E777E13-06FA-F361-2056-E22FDFB46A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6918BB45-1BD4-98EB-A55F-8FF2B75A74B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5116855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C9B9F-87DB-AB18-340D-7A3B77E745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C52B17-883E-2DB8-5752-078976C76DC2}"/>
              </a:ext>
            </a:extLst>
          </p:cNvPr>
          <p:cNvSpPr>
            <a:spLocks noGrp="1"/>
          </p:cNvSpPr>
          <p:nvPr>
            <p:ph type="title"/>
          </p:nvPr>
        </p:nvSpPr>
        <p:spPr/>
        <p:txBody>
          <a:bodyPr>
            <a:normAutofit/>
          </a:bodyPr>
          <a:lstStyle/>
          <a:p>
            <a:r>
              <a:rPr lang="es-ES" sz="3200" dirty="0">
                <a:latin typeface="Century Gothic" panose="020B0502020202020204" pitchFamily="34" charset="0"/>
              </a:rPr>
              <a:t>INFLACIÓN VARIABLE - PROCESO</a:t>
            </a:r>
            <a:endParaRPr lang="es-ES_tradnl" sz="3200" dirty="0">
              <a:latin typeface="Century Gothic" panose="020B0502020202020204" pitchFamily="34" charset="0"/>
            </a:endParaRPr>
          </a:p>
        </p:txBody>
      </p:sp>
      <p:sp>
        <p:nvSpPr>
          <p:cNvPr id="3" name="Content Placeholder 2">
            <a:extLst>
              <a:ext uri="{FF2B5EF4-FFF2-40B4-BE49-F238E27FC236}">
                <a16:creationId xmlns:a16="http://schemas.microsoft.com/office/drawing/2014/main" id="{E0F2940D-226E-5819-CF06-23B5ECBCB6CB}"/>
              </a:ext>
            </a:extLst>
          </p:cNvPr>
          <p:cNvSpPr>
            <a:spLocks noGrp="1"/>
          </p:cNvSpPr>
          <p:nvPr>
            <p:ph idx="1"/>
          </p:nvPr>
        </p:nvSpPr>
        <p:spPr>
          <a:xfrm>
            <a:off x="581192" y="1961740"/>
            <a:ext cx="10828930" cy="2242822"/>
          </a:xfrm>
        </p:spPr>
        <p:txBody>
          <a:bodyPr>
            <a:noAutofit/>
          </a:bodyPr>
          <a:lstStyle/>
          <a:p>
            <a:pPr marL="0" indent="0">
              <a:buNone/>
            </a:pPr>
            <a:r>
              <a:rPr lang="es-CO" sz="2400" b="1" dirty="0">
                <a:solidFill>
                  <a:srgbClr val="C00000"/>
                </a:solidFill>
                <a:latin typeface="Century Gothic" panose="020B0502020202020204" pitchFamily="34" charset="0"/>
              </a:rPr>
              <a:t>Ejemplo:</a:t>
            </a:r>
          </a:p>
          <a:p>
            <a:pPr marL="0" indent="0">
              <a:buNone/>
            </a:pPr>
            <a:r>
              <a:rPr lang="es-CO" sz="2000" dirty="0">
                <a:solidFill>
                  <a:schemeClr val="accent1"/>
                </a:solidFill>
                <a:latin typeface="Century Gothic" panose="020B0502020202020204" pitchFamily="34" charset="0"/>
              </a:rPr>
              <a:t>Suponga que el en ejercicio anterior se tiene un escenario con inflación variable. Un ejemplo sería considerar otra economía donde llevar a cabo el análisis y desarrollo del proyecto. En esta situación, supongamos que los precios se proyectan con el incremento inflacionario*, tomando de referencia el año t=0.</a:t>
            </a:r>
          </a:p>
          <a:p>
            <a:pPr marL="0" indent="0">
              <a:buNone/>
            </a:pPr>
            <a:endParaRPr lang="es-CO" sz="20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650F3ED6-508C-BC8B-AE78-23653EADF0E7}"/>
              </a:ext>
            </a:extLst>
          </p:cNvPr>
          <p:cNvSpPr>
            <a:spLocks noGrp="1"/>
          </p:cNvSpPr>
          <p:nvPr>
            <p:ph type="sldNum" sz="quarter" idx="12"/>
          </p:nvPr>
        </p:nvSpPr>
        <p:spPr/>
        <p:txBody>
          <a:bodyPr/>
          <a:lstStyle/>
          <a:p>
            <a:fld id="{5E3E23BA-6E79-2442-BA73-D218A5E297C3}" type="slidenum">
              <a:rPr lang="en-US" sz="1800" smtClean="0"/>
              <a:t>46</a:t>
            </a:fld>
            <a:endParaRPr lang="en-US" sz="1800"/>
          </a:p>
        </p:txBody>
      </p:sp>
      <p:sp>
        <p:nvSpPr>
          <p:cNvPr id="5" name="Rectángulo 4">
            <a:extLst>
              <a:ext uri="{FF2B5EF4-FFF2-40B4-BE49-F238E27FC236}">
                <a16:creationId xmlns:a16="http://schemas.microsoft.com/office/drawing/2014/main" id="{7E43E429-E846-5407-1CB9-580A2EA35B1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54FE543A-1D45-E20F-608E-AB58F5E754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4570F22C-6DE4-3AA2-A80E-51ED98DB2A6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8" name="CuadroTexto 7">
            <a:extLst>
              <a:ext uri="{FF2B5EF4-FFF2-40B4-BE49-F238E27FC236}">
                <a16:creationId xmlns:a16="http://schemas.microsoft.com/office/drawing/2014/main" id="{E26DD935-8C46-7D83-3702-8D81D078A8C5}"/>
              </a:ext>
            </a:extLst>
          </p:cNvPr>
          <p:cNvSpPr txBox="1"/>
          <p:nvPr/>
        </p:nvSpPr>
        <p:spPr>
          <a:xfrm>
            <a:off x="539834" y="5718993"/>
            <a:ext cx="10684758" cy="646331"/>
          </a:xfrm>
          <a:prstGeom prst="rect">
            <a:avLst/>
          </a:prstGeom>
          <a:noFill/>
        </p:spPr>
        <p:txBody>
          <a:bodyPr wrap="square" rtlCol="0">
            <a:spAutoFit/>
          </a:bodyPr>
          <a:lstStyle/>
          <a:p>
            <a:pPr algn="ctr"/>
            <a:r>
              <a:rPr lang="es-CO" dirty="0">
                <a:solidFill>
                  <a:schemeClr val="accent1"/>
                </a:solidFill>
                <a:latin typeface="Century Gothic" panose="020B0502020202020204" pitchFamily="34" charset="0"/>
              </a:rPr>
              <a:t>*Otra situación usual es proyectar los precios con tasas por arriba de las tasas inflacionarias, en cuyo caso, el proceso es el mismo que el acá ilustrado.</a:t>
            </a:r>
          </a:p>
        </p:txBody>
      </p:sp>
      <p:graphicFrame>
        <p:nvGraphicFramePr>
          <p:cNvPr id="10" name="Tabla 9">
            <a:extLst>
              <a:ext uri="{FF2B5EF4-FFF2-40B4-BE49-F238E27FC236}">
                <a16:creationId xmlns:a16="http://schemas.microsoft.com/office/drawing/2014/main" id="{B2FED732-4E12-E612-CA94-ABD0FD2124D5}"/>
              </a:ext>
            </a:extLst>
          </p:cNvPr>
          <p:cNvGraphicFramePr>
            <a:graphicFrameLocks noGrp="1"/>
          </p:cNvGraphicFramePr>
          <p:nvPr/>
        </p:nvGraphicFramePr>
        <p:xfrm>
          <a:off x="1878115" y="4593477"/>
          <a:ext cx="8435770" cy="736600"/>
        </p:xfrm>
        <a:graphic>
          <a:graphicData uri="http://schemas.openxmlformats.org/drawingml/2006/table">
            <a:tbl>
              <a:tblPr firstRow="1" bandRow="1">
                <a:tableStyleId>{5C22544A-7EE6-4342-B048-85BDC9FD1C3A}</a:tableStyleId>
              </a:tblPr>
              <a:tblGrid>
                <a:gridCol w="1205110">
                  <a:extLst>
                    <a:ext uri="{9D8B030D-6E8A-4147-A177-3AD203B41FA5}">
                      <a16:colId xmlns:a16="http://schemas.microsoft.com/office/drawing/2014/main" val="3448071219"/>
                    </a:ext>
                  </a:extLst>
                </a:gridCol>
                <a:gridCol w="1205110">
                  <a:extLst>
                    <a:ext uri="{9D8B030D-6E8A-4147-A177-3AD203B41FA5}">
                      <a16:colId xmlns:a16="http://schemas.microsoft.com/office/drawing/2014/main" val="3756713326"/>
                    </a:ext>
                  </a:extLst>
                </a:gridCol>
                <a:gridCol w="1205110">
                  <a:extLst>
                    <a:ext uri="{9D8B030D-6E8A-4147-A177-3AD203B41FA5}">
                      <a16:colId xmlns:a16="http://schemas.microsoft.com/office/drawing/2014/main" val="438723783"/>
                    </a:ext>
                  </a:extLst>
                </a:gridCol>
                <a:gridCol w="1205110">
                  <a:extLst>
                    <a:ext uri="{9D8B030D-6E8A-4147-A177-3AD203B41FA5}">
                      <a16:colId xmlns:a16="http://schemas.microsoft.com/office/drawing/2014/main" val="3901456325"/>
                    </a:ext>
                  </a:extLst>
                </a:gridCol>
                <a:gridCol w="1205110">
                  <a:extLst>
                    <a:ext uri="{9D8B030D-6E8A-4147-A177-3AD203B41FA5}">
                      <a16:colId xmlns:a16="http://schemas.microsoft.com/office/drawing/2014/main" val="3023400028"/>
                    </a:ext>
                  </a:extLst>
                </a:gridCol>
                <a:gridCol w="1205110">
                  <a:extLst>
                    <a:ext uri="{9D8B030D-6E8A-4147-A177-3AD203B41FA5}">
                      <a16:colId xmlns:a16="http://schemas.microsoft.com/office/drawing/2014/main" val="1895589594"/>
                    </a:ext>
                  </a:extLst>
                </a:gridCol>
                <a:gridCol w="1205110">
                  <a:extLst>
                    <a:ext uri="{9D8B030D-6E8A-4147-A177-3AD203B41FA5}">
                      <a16:colId xmlns:a16="http://schemas.microsoft.com/office/drawing/2014/main" val="3832064755"/>
                    </a:ext>
                  </a:extLst>
                </a:gridCol>
              </a:tblGrid>
              <a:tr h="0">
                <a:tc>
                  <a:txBody>
                    <a:bodyPr/>
                    <a:lstStyle/>
                    <a:p>
                      <a:pPr algn="ctr"/>
                      <a:r>
                        <a:rPr lang="es-ES_tradnl" sz="1800" noProof="0" dirty="0">
                          <a:latin typeface="Century Gothic" panose="020B0502020202020204" pitchFamily="34" charset="0"/>
                        </a:rPr>
                        <a:t>Periodo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1</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3</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4</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2070343139"/>
                  </a:ext>
                </a:extLst>
              </a:tr>
              <a:tr h="370840">
                <a:tc>
                  <a:txBody>
                    <a:bodyPr/>
                    <a:lstStyle/>
                    <a:p>
                      <a:pPr algn="ctr"/>
                      <a:r>
                        <a:rPr lang="es-ES_tradnl" sz="1800" noProof="0" dirty="0">
                          <a:solidFill>
                            <a:schemeClr val="accent1"/>
                          </a:solidFill>
                          <a:latin typeface="Century Gothic" panose="020B0502020202020204" pitchFamily="34" charset="0"/>
                        </a:rPr>
                        <a:t>Inflación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fontAlgn="b"/>
                      <a:r>
                        <a:rPr lang="es-CO" sz="1800" b="1" i="0" u="none" strike="noStrike" dirty="0">
                          <a:solidFill>
                            <a:schemeClr val="accent1"/>
                          </a:solidFill>
                          <a:effectLst/>
                          <a:latin typeface="Century Gothic" panose="020B0502020202020204" pitchFamily="34" charset="0"/>
                        </a:rPr>
                        <a:t>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fontAlgn="b"/>
                      <a:r>
                        <a:rPr lang="es-CO" sz="1800" b="1" i="0" u="none" strike="noStrike" dirty="0">
                          <a:solidFill>
                            <a:schemeClr val="accent1"/>
                          </a:solidFill>
                          <a:effectLst/>
                          <a:latin typeface="Century Gothic" panose="020B0502020202020204" pitchFamily="34" charset="0"/>
                        </a:rPr>
                        <a:t>4,5%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fontAlgn="b"/>
                      <a:r>
                        <a:rPr lang="es-CO" sz="1800" b="1" i="0" u="none" strike="noStrike" dirty="0">
                          <a:solidFill>
                            <a:schemeClr val="accent1"/>
                          </a:solidFill>
                          <a:effectLst/>
                          <a:latin typeface="Century Gothic" panose="020B0502020202020204" pitchFamily="34" charset="0"/>
                        </a:rPr>
                        <a:t>3,5%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fontAlgn="b"/>
                      <a:r>
                        <a:rPr lang="es-CO" sz="1800" b="1" i="0" u="none" strike="noStrike" dirty="0">
                          <a:solidFill>
                            <a:schemeClr val="accent1"/>
                          </a:solidFill>
                          <a:effectLst/>
                          <a:latin typeface="Century Gothic" panose="020B0502020202020204" pitchFamily="34" charset="0"/>
                        </a:rPr>
                        <a:t>6,0%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algn="ctr" fontAlgn="b"/>
                      <a:r>
                        <a:rPr lang="es-CO" sz="1800" b="1" i="0" u="none" strike="noStrike" dirty="0">
                          <a:solidFill>
                            <a:schemeClr val="accent1"/>
                          </a:solidFill>
                          <a:effectLst/>
                          <a:latin typeface="Century Gothic" panose="020B0502020202020204" pitchFamily="34" charset="0"/>
                        </a:rPr>
                        <a:t>5,5%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3259957484"/>
                  </a:ext>
                </a:extLst>
              </a:tr>
            </a:tbl>
          </a:graphicData>
        </a:graphic>
      </p:graphicFrame>
      <p:sp>
        <p:nvSpPr>
          <p:cNvPr id="11" name="CuadroTexto 10">
            <a:extLst>
              <a:ext uri="{FF2B5EF4-FFF2-40B4-BE49-F238E27FC236}">
                <a16:creationId xmlns:a16="http://schemas.microsoft.com/office/drawing/2014/main" id="{A523F5BE-0045-01F4-155C-38A1D79C6AF5}"/>
              </a:ext>
            </a:extLst>
          </p:cNvPr>
          <p:cNvSpPr txBox="1"/>
          <p:nvPr/>
        </p:nvSpPr>
        <p:spPr>
          <a:xfrm>
            <a:off x="4479083" y="3998909"/>
            <a:ext cx="3233834" cy="400110"/>
          </a:xfrm>
          <a:prstGeom prst="rect">
            <a:avLst/>
          </a:prstGeom>
          <a:noFill/>
        </p:spPr>
        <p:txBody>
          <a:bodyPr wrap="square" rtlCol="0">
            <a:spAutoFit/>
          </a:bodyPr>
          <a:lstStyle/>
          <a:p>
            <a:pPr algn="ctr"/>
            <a:r>
              <a:rPr lang="es-CO" sz="2000" b="1" dirty="0">
                <a:solidFill>
                  <a:schemeClr val="accent1"/>
                </a:solidFill>
                <a:latin typeface="Century Gothic" panose="020B0502020202020204" pitchFamily="34" charset="0"/>
              </a:rPr>
              <a:t>Inflación Variable</a:t>
            </a:r>
          </a:p>
        </p:txBody>
      </p:sp>
    </p:spTree>
    <p:extLst>
      <p:ext uri="{BB962C8B-B14F-4D97-AF65-F5344CB8AC3E}">
        <p14:creationId xmlns:p14="http://schemas.microsoft.com/office/powerpoint/2010/main" val="29710106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5B45E-95CC-4EC9-C6E1-D3E687A6E6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DC0BAD-25D9-66C1-DC30-DE6ED22A0A77}"/>
              </a:ext>
            </a:extLst>
          </p:cNvPr>
          <p:cNvSpPr>
            <a:spLocks noGrp="1"/>
          </p:cNvSpPr>
          <p:nvPr>
            <p:ph type="title"/>
          </p:nvPr>
        </p:nvSpPr>
        <p:spPr/>
        <p:txBody>
          <a:bodyPr>
            <a:normAutofit/>
          </a:bodyPr>
          <a:lstStyle/>
          <a:p>
            <a:r>
              <a:rPr lang="es-ES" sz="3200" dirty="0">
                <a:latin typeface="Century Gothic" panose="020B0502020202020204" pitchFamily="34" charset="0"/>
              </a:rPr>
              <a:t>Precios corrientes</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21B6592E-F1A2-B8FF-788F-5DA8C5908542}"/>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47</a:t>
            </a:fld>
            <a:endParaRPr lang="en-US" sz="1800" dirty="0"/>
          </a:p>
        </p:txBody>
      </p:sp>
      <p:sp>
        <p:nvSpPr>
          <p:cNvPr id="5" name="Rectángulo 4">
            <a:extLst>
              <a:ext uri="{FF2B5EF4-FFF2-40B4-BE49-F238E27FC236}">
                <a16:creationId xmlns:a16="http://schemas.microsoft.com/office/drawing/2014/main" id="{330C6318-FAE1-2853-75BD-EE15554D776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BEC12262-E336-745B-E31A-FA88D58C9F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24762E8F-CD24-F3BA-CF2B-1D46DCA742FE}"/>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11" name="Table 24">
            <a:extLst>
              <a:ext uri="{FF2B5EF4-FFF2-40B4-BE49-F238E27FC236}">
                <a16:creationId xmlns:a16="http://schemas.microsoft.com/office/drawing/2014/main" id="{B53CB9A8-4C4E-B7DF-3060-0B1DD7120D3E}"/>
              </a:ext>
            </a:extLst>
          </p:cNvPr>
          <p:cNvGraphicFramePr>
            <a:graphicFrameLocks noGrp="1"/>
          </p:cNvGraphicFramePr>
          <p:nvPr/>
        </p:nvGraphicFramePr>
        <p:xfrm>
          <a:off x="520417" y="2181217"/>
          <a:ext cx="11029618" cy="4095551"/>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228980">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174180">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Inflación</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endParaRPr lang="es-ES_tradnl" sz="1400" b="1" kern="1200" noProof="0" dirty="0">
                        <a:solidFill>
                          <a:schemeClr val="lt1"/>
                        </a:solidFill>
                        <a:latin typeface="Century Gothic" panose="020B0502020202020204" pitchFamily="34" charset="0"/>
                        <a:ea typeface="+mn-ea"/>
                        <a:cs typeface="+mn-cs"/>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4,5%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3,5%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6%</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5,5%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435524051"/>
                  </a:ext>
                </a:extLst>
              </a:tr>
              <a:tr h="311660">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$10.500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11660">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11660">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11660">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11660">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11660">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11660">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11660">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11660">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69351">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11660">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p:sp>
        <p:nvSpPr>
          <p:cNvPr id="3" name="CuadroTexto 2">
            <a:extLst>
              <a:ext uri="{FF2B5EF4-FFF2-40B4-BE49-F238E27FC236}">
                <a16:creationId xmlns:a16="http://schemas.microsoft.com/office/drawing/2014/main" id="{0009C6DA-7398-CEB2-CE35-134271B2D076}"/>
              </a:ext>
            </a:extLst>
          </p:cNvPr>
          <p:cNvSpPr txBox="1"/>
          <p:nvPr/>
        </p:nvSpPr>
        <p:spPr>
          <a:xfrm>
            <a:off x="520417" y="1805273"/>
            <a:ext cx="8570574" cy="338554"/>
          </a:xfrm>
          <a:prstGeom prst="rect">
            <a:avLst/>
          </a:prstGeom>
          <a:noFill/>
        </p:spPr>
        <p:txBody>
          <a:bodyPr wrap="square">
            <a:spAutoFit/>
          </a:bodyPr>
          <a:lstStyle/>
          <a:p>
            <a:pPr defTabSz="342900">
              <a:spcBef>
                <a:spcPct val="20000"/>
              </a:spcBef>
              <a:spcAft>
                <a:spcPts val="450"/>
              </a:spcAft>
              <a:buClr>
                <a:schemeClr val="accent2"/>
              </a:buClr>
              <a:buSzPct val="92000"/>
            </a:pPr>
            <a:r>
              <a:rPr lang="es-CO" sz="1600" dirty="0">
                <a:solidFill>
                  <a:schemeClr val="accent1"/>
                </a:solidFill>
                <a:latin typeface="Century Gothic" panose="020B0502020202020204" pitchFamily="34" charset="0"/>
              </a:rPr>
              <a:t>1. Realizar el escenario tradicional o con pesos nominales</a:t>
            </a:r>
          </a:p>
        </p:txBody>
      </p:sp>
    </p:spTree>
    <p:extLst>
      <p:ext uri="{BB962C8B-B14F-4D97-AF65-F5344CB8AC3E}">
        <p14:creationId xmlns:p14="http://schemas.microsoft.com/office/powerpoint/2010/main" val="37289893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FEC12-D272-73D9-68BF-E339A446C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291E8F-6125-3755-487F-F6CBEC5EAEB1}"/>
              </a:ext>
            </a:extLst>
          </p:cNvPr>
          <p:cNvSpPr>
            <a:spLocks noGrp="1"/>
          </p:cNvSpPr>
          <p:nvPr>
            <p:ph type="title"/>
          </p:nvPr>
        </p:nvSpPr>
        <p:spPr/>
        <p:txBody>
          <a:bodyPr>
            <a:normAutofit/>
          </a:bodyPr>
          <a:lstStyle/>
          <a:p>
            <a:r>
              <a:rPr lang="es-ES" sz="3200" dirty="0">
                <a:latin typeface="Century Gothic" panose="020B0502020202020204" pitchFamily="34" charset="0"/>
              </a:rPr>
              <a:t>Precios corrientes</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438011E8-D1C3-072D-9C34-12258AF1DB0D}"/>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48</a:t>
            </a:fld>
            <a:endParaRPr lang="en-US" sz="1800" dirty="0"/>
          </a:p>
        </p:txBody>
      </p:sp>
      <p:sp>
        <p:nvSpPr>
          <p:cNvPr id="5" name="Rectángulo 4">
            <a:extLst>
              <a:ext uri="{FF2B5EF4-FFF2-40B4-BE49-F238E27FC236}">
                <a16:creationId xmlns:a16="http://schemas.microsoft.com/office/drawing/2014/main" id="{F5729794-04DF-DC33-B77E-CF11B67C1FB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D1FAAECB-397E-69CB-1083-092D480394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35043613-9E0C-C44F-40A2-CFAC97C6FB5B}"/>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11" name="Table 24">
            <a:extLst>
              <a:ext uri="{FF2B5EF4-FFF2-40B4-BE49-F238E27FC236}">
                <a16:creationId xmlns:a16="http://schemas.microsoft.com/office/drawing/2014/main" id="{06A8BCEA-EF97-83A5-5AD6-61698D8E3E15}"/>
              </a:ext>
            </a:extLst>
          </p:cNvPr>
          <p:cNvGraphicFramePr>
            <a:graphicFrameLocks noGrp="1"/>
          </p:cNvGraphicFramePr>
          <p:nvPr/>
        </p:nvGraphicFramePr>
        <p:xfrm>
          <a:off x="520417" y="2181217"/>
          <a:ext cx="11029618" cy="4095551"/>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228980">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174180">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Inflación</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endParaRPr lang="es-ES_tradnl" sz="1400" b="1" kern="1200" noProof="0" dirty="0">
                        <a:solidFill>
                          <a:schemeClr val="lt1"/>
                        </a:solidFill>
                        <a:latin typeface="Century Gothic" panose="020B0502020202020204" pitchFamily="34" charset="0"/>
                        <a:ea typeface="+mn-ea"/>
                        <a:cs typeface="+mn-cs"/>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4,5%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3,5%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6%</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5,5%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435524051"/>
                  </a:ext>
                </a:extLst>
              </a:tr>
              <a:tr h="311660">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$10.500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$10.973</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$11.357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$12.038</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$12.700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11660">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11660">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11660">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11660">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311660">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a:solidFill>
                            <a:schemeClr val="accent1"/>
                          </a:solidFill>
                          <a:latin typeface="Century Gothic" panose="020B0502020202020204" pitchFamily="34" charset="0"/>
                          <a:ea typeface="+mn-ea"/>
                          <a:cs typeface="+mn-cs"/>
                        </a:rPr>
                        <a:t>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311660">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311660">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311660">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69351">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311660">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p:sp>
        <p:nvSpPr>
          <p:cNvPr id="3" name="CuadroTexto 2">
            <a:extLst>
              <a:ext uri="{FF2B5EF4-FFF2-40B4-BE49-F238E27FC236}">
                <a16:creationId xmlns:a16="http://schemas.microsoft.com/office/drawing/2014/main" id="{60664F55-EDDD-B982-2E93-603E70766A5C}"/>
              </a:ext>
            </a:extLst>
          </p:cNvPr>
          <p:cNvSpPr txBox="1"/>
          <p:nvPr/>
        </p:nvSpPr>
        <p:spPr>
          <a:xfrm>
            <a:off x="520417" y="1805273"/>
            <a:ext cx="8570574" cy="338554"/>
          </a:xfrm>
          <a:prstGeom prst="rect">
            <a:avLst/>
          </a:prstGeom>
          <a:noFill/>
        </p:spPr>
        <p:txBody>
          <a:bodyPr wrap="square">
            <a:spAutoFit/>
          </a:bodyPr>
          <a:lstStyle/>
          <a:p>
            <a:pPr defTabSz="342900">
              <a:spcBef>
                <a:spcPct val="20000"/>
              </a:spcBef>
              <a:spcAft>
                <a:spcPts val="450"/>
              </a:spcAft>
              <a:buClr>
                <a:schemeClr val="accent2"/>
              </a:buClr>
              <a:buSzPct val="92000"/>
            </a:pPr>
            <a:r>
              <a:rPr lang="es-CO" sz="1600" dirty="0">
                <a:solidFill>
                  <a:schemeClr val="accent1"/>
                </a:solidFill>
                <a:latin typeface="Century Gothic" panose="020B0502020202020204" pitchFamily="34" charset="0"/>
              </a:rPr>
              <a:t>1. Realizar el escenario tradicional o con pesos nominales</a:t>
            </a:r>
          </a:p>
        </p:txBody>
      </p:sp>
    </p:spTree>
    <p:extLst>
      <p:ext uri="{BB962C8B-B14F-4D97-AF65-F5344CB8AC3E}">
        <p14:creationId xmlns:p14="http://schemas.microsoft.com/office/powerpoint/2010/main" val="21204003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64045-8D15-013A-9F7A-BDAC3FBC11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E251C6-E73B-BD5F-E600-C7ABB83CA199}"/>
              </a:ext>
            </a:extLst>
          </p:cNvPr>
          <p:cNvSpPr>
            <a:spLocks noGrp="1"/>
          </p:cNvSpPr>
          <p:nvPr>
            <p:ph type="title"/>
          </p:nvPr>
        </p:nvSpPr>
        <p:spPr/>
        <p:txBody>
          <a:bodyPr>
            <a:normAutofit/>
          </a:bodyPr>
          <a:lstStyle/>
          <a:p>
            <a:r>
              <a:rPr lang="es-ES" sz="3200" dirty="0">
                <a:latin typeface="Century Gothic" panose="020B0502020202020204" pitchFamily="34" charset="0"/>
              </a:rPr>
              <a:t>Precios corrientes</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F84A678D-09CA-C628-A02F-B824B98A3EFC}"/>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49</a:t>
            </a:fld>
            <a:endParaRPr lang="en-US" sz="1800" dirty="0"/>
          </a:p>
        </p:txBody>
      </p:sp>
      <p:sp>
        <p:nvSpPr>
          <p:cNvPr id="5" name="Rectángulo 4">
            <a:extLst>
              <a:ext uri="{FF2B5EF4-FFF2-40B4-BE49-F238E27FC236}">
                <a16:creationId xmlns:a16="http://schemas.microsoft.com/office/drawing/2014/main" id="{FDFAFAF9-7343-B6E4-295A-19041CDB72D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57C8F40C-3EA8-477D-74E9-5E8821232A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DFBC443F-053C-8684-5FB3-0487DBD3738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11" name="Table 24">
            <a:extLst>
              <a:ext uri="{FF2B5EF4-FFF2-40B4-BE49-F238E27FC236}">
                <a16:creationId xmlns:a16="http://schemas.microsoft.com/office/drawing/2014/main" id="{D626AB27-515C-81C1-8686-464D8C0CEC70}"/>
              </a:ext>
            </a:extLst>
          </p:cNvPr>
          <p:cNvGraphicFramePr>
            <a:graphicFrameLocks noGrp="1"/>
          </p:cNvGraphicFramePr>
          <p:nvPr/>
        </p:nvGraphicFramePr>
        <p:xfrm>
          <a:off x="520418" y="2212241"/>
          <a:ext cx="11029618" cy="3779996"/>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277209">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277209">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Inflación</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endParaRPr lang="es-ES_tradnl" sz="1400" b="1" kern="1200" noProof="0" dirty="0">
                        <a:solidFill>
                          <a:schemeClr val="lt1"/>
                        </a:solidFill>
                        <a:latin typeface="Century Gothic" panose="020B0502020202020204" pitchFamily="34" charset="0"/>
                        <a:ea typeface="+mn-ea"/>
                        <a:cs typeface="+mn-cs"/>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4,5%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3,5%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6%</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5,5%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435524051"/>
                  </a:ext>
                </a:extLst>
              </a:tr>
              <a:tr h="283448">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$10.500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$10.973</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$11.357</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$12.038</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$12.700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83448">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200" noProof="0" dirty="0">
                          <a:solidFill>
                            <a:schemeClr val="accent1"/>
                          </a:solidFill>
                          <a:latin typeface="Century Gothic" panose="020B0502020202020204" pitchFamily="34" charset="0"/>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1.000</a:t>
                      </a:r>
                      <a:endPar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1.000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83448">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$ 10.500.000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$ 10.972.500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$ 11.356.538</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$ 12.037.930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$ 12.700.016</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283448">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$ 2.625.000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$ 2.743.125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$ 2.839.134</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$ 3.009.482</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$ 3.175.004</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83448">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$ 7.875.000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$ 8.229.375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$ 8.517.403</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$ 9.028.447</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$ 9.525.012</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283448">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$ 4.000.000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$ 4.000.000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$ 4.000.000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$ 4.000.000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$ 4.000.000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283448">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$ 3.875.000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$ 4.229.375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$ 4.517.403</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$ 5.028.447</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$ 5.525.012</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283448">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$ 4.000.000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$ 4.000.000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$ 4.000.000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$ 4.000.000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$ 4.000.000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283448">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20.000.000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335916">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a:solidFill>
                            <a:schemeClr val="accent1"/>
                          </a:solidFill>
                          <a:latin typeface="Century Gothic" panose="020B0502020202020204" pitchFamily="34" charset="0"/>
                          <a:ea typeface="+mn-ea"/>
                          <a:cs typeface="+mn-cs"/>
                        </a:rPr>
                        <a:t>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$1.278.750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$1.395.694</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$1.490.743</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$1.659.388</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$1.823.254</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283448">
                <a:tc>
                  <a:txBody>
                    <a:bodyPr/>
                    <a:lstStyle/>
                    <a:p>
                      <a:pPr algn="l"/>
                      <a:r>
                        <a:rPr lang="es-ES_tradnl" sz="1200" noProof="0" dirty="0" err="1">
                          <a:solidFill>
                            <a:schemeClr val="accent1"/>
                          </a:solidFill>
                          <a:latin typeface="Century Gothic" panose="020B0502020202020204" pitchFamily="34" charset="0"/>
                        </a:rPr>
                        <a:t>FCL</a:t>
                      </a:r>
                      <a:endParaRPr lang="es-ES_tradnl" sz="1200" noProof="0" dirty="0">
                        <a:solidFill>
                          <a:schemeClr val="accent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$-20.000.000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$ 6.596.250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$ 6.833.681</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$ 7.026.660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$ 7.369.060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$ 7.701.758</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p:graphicFrame>
        <p:nvGraphicFramePr>
          <p:cNvPr id="9" name="Tabla 8">
            <a:extLst>
              <a:ext uri="{FF2B5EF4-FFF2-40B4-BE49-F238E27FC236}">
                <a16:creationId xmlns:a16="http://schemas.microsoft.com/office/drawing/2014/main" id="{A60836FC-51CF-F282-03D6-E918AE359EA8}"/>
              </a:ext>
            </a:extLst>
          </p:cNvPr>
          <p:cNvGraphicFramePr>
            <a:graphicFrameLocks noGrp="1"/>
          </p:cNvGraphicFramePr>
          <p:nvPr/>
        </p:nvGraphicFramePr>
        <p:xfrm>
          <a:off x="520418" y="6000014"/>
          <a:ext cx="3459400" cy="623320"/>
        </p:xfrm>
        <a:graphic>
          <a:graphicData uri="http://schemas.openxmlformats.org/drawingml/2006/table">
            <a:tbl>
              <a:tblPr firstRow="1" bandRow="1">
                <a:tableStyleId>{5C22544A-7EE6-4342-B048-85BDC9FD1C3A}</a:tableStyleId>
              </a:tblPr>
              <a:tblGrid>
                <a:gridCol w="1951456">
                  <a:extLst>
                    <a:ext uri="{9D8B030D-6E8A-4147-A177-3AD203B41FA5}">
                      <a16:colId xmlns:a16="http://schemas.microsoft.com/office/drawing/2014/main" val="2179332490"/>
                    </a:ext>
                  </a:extLst>
                </a:gridCol>
                <a:gridCol w="1507944">
                  <a:extLst>
                    <a:ext uri="{9D8B030D-6E8A-4147-A177-3AD203B41FA5}">
                      <a16:colId xmlns:a16="http://schemas.microsoft.com/office/drawing/2014/main" val="3892199838"/>
                    </a:ext>
                  </a:extLst>
                </a:gridCol>
              </a:tblGrid>
              <a:tr h="311660">
                <a:tc>
                  <a:txBody>
                    <a:bodyPr/>
                    <a:lstStyle/>
                    <a:p>
                      <a:pPr algn="l"/>
                      <a:r>
                        <a:rPr lang="es-ES_tradnl" sz="1300" noProof="0" dirty="0">
                          <a:solidFill>
                            <a:schemeClr val="accent1"/>
                          </a:solidFill>
                          <a:latin typeface="Century Gothic" panose="020B0502020202020204" pitchFamily="34" charset="0"/>
                        </a:rPr>
                        <a:t>TIR Nominal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22,10%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2706829573"/>
                  </a:ext>
                </a:extLst>
              </a:tr>
              <a:tr h="311660">
                <a:tc>
                  <a:txBody>
                    <a:bodyPr/>
                    <a:lstStyle/>
                    <a:p>
                      <a:pPr algn="l"/>
                      <a:r>
                        <a:rPr lang="es-ES_tradnl" sz="1300" b="1" noProof="0" dirty="0">
                          <a:solidFill>
                            <a:schemeClr val="accent1"/>
                          </a:solidFill>
                          <a:latin typeface="Century Gothic" panose="020B0502020202020204" pitchFamily="34" charset="0"/>
                        </a:rPr>
                        <a:t>VPN Nominal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CO" sz="1400" b="1" i="0" u="none" strike="noStrike" dirty="0">
                          <a:solidFill>
                            <a:schemeClr val="accent1"/>
                          </a:solidFill>
                          <a:effectLst/>
                          <a:latin typeface="Calibri" panose="020F0502020204030204" pitchFamily="34" charset="0"/>
                        </a:rPr>
                        <a:t>$ 3.565.676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4101263349"/>
                  </a:ext>
                </a:extLst>
              </a:tr>
            </a:tbl>
          </a:graphicData>
        </a:graphic>
      </p:graphicFrame>
      <p:sp>
        <p:nvSpPr>
          <p:cNvPr id="10" name="CuadroTexto 9">
            <a:extLst>
              <a:ext uri="{FF2B5EF4-FFF2-40B4-BE49-F238E27FC236}">
                <a16:creationId xmlns:a16="http://schemas.microsoft.com/office/drawing/2014/main" id="{E208B217-1EDA-4DCE-95F6-B63426603654}"/>
              </a:ext>
            </a:extLst>
          </p:cNvPr>
          <p:cNvSpPr txBox="1"/>
          <p:nvPr/>
        </p:nvSpPr>
        <p:spPr>
          <a:xfrm>
            <a:off x="4127458" y="6188521"/>
            <a:ext cx="2846812" cy="307777"/>
          </a:xfrm>
          <a:prstGeom prst="rect">
            <a:avLst/>
          </a:prstGeom>
          <a:noFill/>
        </p:spPr>
        <p:txBody>
          <a:bodyPr wrap="square" rtlCol="0">
            <a:spAutoFit/>
          </a:bodyPr>
          <a:lstStyle/>
          <a:p>
            <a:pPr algn="ctr"/>
            <a:r>
              <a:rPr lang="en-US" sz="1400" b="1" dirty="0">
                <a:latin typeface="Century Gothic" panose="020B0502020202020204" pitchFamily="34" charset="0"/>
              </a:rPr>
              <a:t>WACC Nominal 15%</a:t>
            </a:r>
          </a:p>
        </p:txBody>
      </p:sp>
      <p:sp>
        <p:nvSpPr>
          <p:cNvPr id="12" name="CuadroTexto 11">
            <a:extLst>
              <a:ext uri="{FF2B5EF4-FFF2-40B4-BE49-F238E27FC236}">
                <a16:creationId xmlns:a16="http://schemas.microsoft.com/office/drawing/2014/main" id="{FBB58F09-E05B-E6AA-ED97-0C88619C12F6}"/>
              </a:ext>
            </a:extLst>
          </p:cNvPr>
          <p:cNvSpPr txBox="1"/>
          <p:nvPr/>
        </p:nvSpPr>
        <p:spPr>
          <a:xfrm>
            <a:off x="520417" y="1805273"/>
            <a:ext cx="8570574" cy="338554"/>
          </a:xfrm>
          <a:prstGeom prst="rect">
            <a:avLst/>
          </a:prstGeom>
          <a:noFill/>
        </p:spPr>
        <p:txBody>
          <a:bodyPr wrap="square">
            <a:spAutoFit/>
          </a:bodyPr>
          <a:lstStyle/>
          <a:p>
            <a:pPr defTabSz="342900">
              <a:spcBef>
                <a:spcPct val="20000"/>
              </a:spcBef>
              <a:spcAft>
                <a:spcPts val="450"/>
              </a:spcAft>
              <a:buClr>
                <a:schemeClr val="accent2"/>
              </a:buClr>
              <a:buSzPct val="92000"/>
            </a:pPr>
            <a:r>
              <a:rPr lang="es-CO" sz="1600" dirty="0">
                <a:solidFill>
                  <a:schemeClr val="accent1"/>
                </a:solidFill>
                <a:latin typeface="Century Gothic" panose="020B0502020202020204" pitchFamily="34" charset="0"/>
              </a:rPr>
              <a:t>2. </a:t>
            </a:r>
            <a:r>
              <a:rPr lang="es-MX" sz="1600" dirty="0">
                <a:solidFill>
                  <a:schemeClr val="accent1"/>
                </a:solidFill>
                <a:latin typeface="Century Gothic" panose="020B0502020202020204" pitchFamily="34" charset="0"/>
              </a:rPr>
              <a:t>Obtener los </a:t>
            </a:r>
            <a:r>
              <a:rPr lang="es-MX" sz="1600" dirty="0" err="1">
                <a:solidFill>
                  <a:schemeClr val="accent1"/>
                </a:solidFill>
                <a:latin typeface="Century Gothic" panose="020B0502020202020204" pitchFamily="34" charset="0"/>
              </a:rPr>
              <a:t>FCL</a:t>
            </a:r>
            <a:r>
              <a:rPr lang="es-MX" sz="1600" dirty="0">
                <a:solidFill>
                  <a:schemeClr val="accent1"/>
                </a:solidFill>
                <a:latin typeface="Century Gothic" panose="020B0502020202020204" pitchFamily="34" charset="0"/>
              </a:rPr>
              <a:t> en precios nominales y cálculo de los </a:t>
            </a:r>
            <a:r>
              <a:rPr lang="es-MX" sz="1600" dirty="0" err="1">
                <a:solidFill>
                  <a:schemeClr val="accent1"/>
                </a:solidFill>
                <a:latin typeface="Century Gothic" panose="020B0502020202020204" pitchFamily="34" charset="0"/>
              </a:rPr>
              <a:t>IBF</a:t>
            </a:r>
            <a:r>
              <a:rPr lang="es-MX" sz="1600" dirty="0">
                <a:solidFill>
                  <a:schemeClr val="accent1"/>
                </a:solidFill>
                <a:latin typeface="Century Gothic" panose="020B0502020202020204" pitchFamily="34" charset="0"/>
              </a:rPr>
              <a:t> pertinentes</a:t>
            </a:r>
          </a:p>
        </p:txBody>
      </p:sp>
    </p:spTree>
    <p:extLst>
      <p:ext uri="{BB962C8B-B14F-4D97-AF65-F5344CB8AC3E}">
        <p14:creationId xmlns:p14="http://schemas.microsoft.com/office/powerpoint/2010/main" val="3036817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90355-26BA-424E-1146-CAAF0EDCA3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2724E5-1F9E-2187-EFA2-B521E2A76097}"/>
              </a:ext>
            </a:extLst>
          </p:cNvPr>
          <p:cNvSpPr>
            <a:spLocks noGrp="1"/>
          </p:cNvSpPr>
          <p:nvPr>
            <p:ph type="title"/>
          </p:nvPr>
        </p:nvSpPr>
        <p:spPr/>
        <p:txBody>
          <a:bodyPr>
            <a:normAutofit/>
          </a:bodyPr>
          <a:lstStyle/>
          <a:p>
            <a:r>
              <a:rPr lang="es-ES" sz="3200" dirty="0">
                <a:latin typeface="Century Gothic" panose="020B0502020202020204" pitchFamily="34" charset="0"/>
              </a:rPr>
              <a:t>INFLACIÓN VARIABLE - PROCESO</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7DB507F6-1D1A-BC61-5BB6-6C3503C8B6C6}"/>
              </a:ext>
            </a:extLst>
          </p:cNvPr>
          <p:cNvSpPr>
            <a:spLocks noGrp="1"/>
          </p:cNvSpPr>
          <p:nvPr>
            <p:ph type="sldNum" sz="quarter" idx="12"/>
          </p:nvPr>
        </p:nvSpPr>
        <p:spPr/>
        <p:txBody>
          <a:bodyPr/>
          <a:lstStyle/>
          <a:p>
            <a:fld id="{5E3E23BA-6E79-2442-BA73-D218A5E297C3}" type="slidenum">
              <a:rPr lang="en-US" sz="1800" smtClean="0"/>
              <a:t>50</a:t>
            </a:fld>
            <a:endParaRPr lang="en-US" sz="1800" dirty="0"/>
          </a:p>
        </p:txBody>
      </p:sp>
      <p:sp>
        <p:nvSpPr>
          <p:cNvPr id="5" name="Rectángulo 4">
            <a:extLst>
              <a:ext uri="{FF2B5EF4-FFF2-40B4-BE49-F238E27FC236}">
                <a16:creationId xmlns:a16="http://schemas.microsoft.com/office/drawing/2014/main" id="{BD7CF7FB-2EC5-6101-DED7-9C510D844A2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31A9992D-CA8C-DC60-CC33-1B8E923213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1FE3D32C-6B80-D4C1-2066-E8A6C5A63E5A}"/>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CuadroTexto 11">
            <a:extLst>
              <a:ext uri="{FF2B5EF4-FFF2-40B4-BE49-F238E27FC236}">
                <a16:creationId xmlns:a16="http://schemas.microsoft.com/office/drawing/2014/main" id="{F52627C2-E3E1-8928-5A50-59177928F093}"/>
              </a:ext>
            </a:extLst>
          </p:cNvPr>
          <p:cNvSpPr txBox="1"/>
          <p:nvPr/>
        </p:nvSpPr>
        <p:spPr>
          <a:xfrm>
            <a:off x="539834" y="1912531"/>
            <a:ext cx="6096000" cy="369332"/>
          </a:xfrm>
          <a:prstGeom prst="rect">
            <a:avLst/>
          </a:prstGeom>
          <a:noFill/>
        </p:spPr>
        <p:txBody>
          <a:bodyPr wrap="square">
            <a:spAutoFit/>
          </a:bodyPr>
          <a:lstStyle/>
          <a:p>
            <a:r>
              <a:rPr lang="es-CO" dirty="0">
                <a:solidFill>
                  <a:schemeClr val="accent1"/>
                </a:solidFill>
                <a:latin typeface="Century Gothic" panose="020B0502020202020204" pitchFamily="34" charset="0"/>
              </a:rPr>
              <a:t>3. Deflactar los precios nominales o corrientes</a:t>
            </a:r>
            <a:endParaRPr lang="en-US" dirty="0">
              <a:solidFill>
                <a:schemeClr val="accent1"/>
              </a:solidFill>
              <a:latin typeface="Century Gothic" panose="020B0502020202020204" pitchFamily="34" charset="0"/>
            </a:endParaRPr>
          </a:p>
        </p:txBody>
      </p:sp>
      <p:graphicFrame>
        <p:nvGraphicFramePr>
          <p:cNvPr id="13" name="Table 24">
            <a:extLst>
              <a:ext uri="{FF2B5EF4-FFF2-40B4-BE49-F238E27FC236}">
                <a16:creationId xmlns:a16="http://schemas.microsoft.com/office/drawing/2014/main" id="{05D62A68-D4F3-69F2-3CB7-B83CB442FA8B}"/>
              </a:ext>
            </a:extLst>
          </p:cNvPr>
          <p:cNvGraphicFramePr>
            <a:graphicFrameLocks noGrp="1"/>
          </p:cNvGraphicFramePr>
          <p:nvPr/>
        </p:nvGraphicFramePr>
        <p:xfrm>
          <a:off x="517693" y="2309027"/>
          <a:ext cx="11029618" cy="921260"/>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228980">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174180">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Inflación</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endParaRPr lang="es-ES_tradnl" sz="1400" b="1" kern="1200" noProof="0" dirty="0">
                        <a:solidFill>
                          <a:schemeClr val="lt1"/>
                        </a:solidFill>
                        <a:latin typeface="Century Gothic" panose="020B0502020202020204" pitchFamily="34" charset="0"/>
                        <a:ea typeface="+mn-ea"/>
                        <a:cs typeface="+mn-cs"/>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4,5%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3,5%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6%</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5,5%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435524051"/>
                  </a:ext>
                </a:extLst>
              </a:tr>
              <a:tr h="311660">
                <a:tc>
                  <a:txBody>
                    <a:bodyPr/>
                    <a:lstStyle/>
                    <a:p>
                      <a:pPr algn="l"/>
                      <a:r>
                        <a:rPr lang="es-ES_tradnl" sz="1400" noProof="0" dirty="0" err="1">
                          <a:solidFill>
                            <a:schemeClr val="accent1"/>
                          </a:solidFill>
                          <a:latin typeface="Century Gothic" panose="020B0502020202020204" pitchFamily="34" charset="0"/>
                        </a:rPr>
                        <a:t>FCL</a:t>
                      </a:r>
                      <a:r>
                        <a:rPr lang="es-ES_tradnl" sz="1400" noProof="0" dirty="0">
                          <a:solidFill>
                            <a:schemeClr val="accent1"/>
                          </a:solidFill>
                          <a:latin typeface="Century Gothic" panose="020B0502020202020204" pitchFamily="34" charset="0"/>
                        </a:rPr>
                        <a:t> Nominal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400" kern="1200" dirty="0">
                          <a:solidFill>
                            <a:schemeClr val="accent1"/>
                          </a:solidFill>
                          <a:latin typeface="Century Gothic" panose="020B0502020202020204" pitchFamily="34" charset="0"/>
                          <a:ea typeface="+mn-ea"/>
                          <a:cs typeface="+mn-cs"/>
                        </a:rPr>
                        <a:t>$-20.000.000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400" kern="1200" dirty="0">
                          <a:solidFill>
                            <a:schemeClr val="accent1"/>
                          </a:solidFill>
                          <a:latin typeface="Century Gothic" panose="020B0502020202020204" pitchFamily="34" charset="0"/>
                          <a:ea typeface="+mn-ea"/>
                          <a:cs typeface="+mn-cs"/>
                        </a:rPr>
                        <a:t>$ 6.596.250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400" kern="1200" dirty="0">
                          <a:solidFill>
                            <a:schemeClr val="accent1"/>
                          </a:solidFill>
                          <a:latin typeface="Century Gothic" panose="020B0502020202020204" pitchFamily="34" charset="0"/>
                          <a:ea typeface="+mn-ea"/>
                          <a:cs typeface="+mn-cs"/>
                        </a:rPr>
                        <a:t>$ 6.833.681</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400" kern="1200" dirty="0">
                          <a:solidFill>
                            <a:schemeClr val="accent1"/>
                          </a:solidFill>
                          <a:latin typeface="Century Gothic" panose="020B0502020202020204" pitchFamily="34" charset="0"/>
                          <a:ea typeface="+mn-ea"/>
                          <a:cs typeface="+mn-cs"/>
                        </a:rPr>
                        <a:t>$ 7.026.660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400" kern="1200" dirty="0">
                          <a:solidFill>
                            <a:schemeClr val="accent1"/>
                          </a:solidFill>
                          <a:latin typeface="Century Gothic" panose="020B0502020202020204" pitchFamily="34" charset="0"/>
                          <a:ea typeface="+mn-ea"/>
                          <a:cs typeface="+mn-cs"/>
                        </a:rPr>
                        <a:t>$ 7.369.060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400" kern="1200" dirty="0">
                          <a:solidFill>
                            <a:schemeClr val="accent1"/>
                          </a:solidFill>
                          <a:latin typeface="Century Gothic" panose="020B0502020202020204" pitchFamily="34" charset="0"/>
                          <a:ea typeface="+mn-ea"/>
                          <a:cs typeface="+mn-cs"/>
                        </a:rPr>
                        <a:t>$ 7.701.758</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587449290"/>
                  </a:ext>
                </a:extLst>
              </a:tr>
            </a:tbl>
          </a:graphicData>
        </a:graphic>
      </p:graphicFrame>
      <p:graphicFrame>
        <p:nvGraphicFramePr>
          <p:cNvPr id="14" name="Tabla 13">
            <a:extLst>
              <a:ext uri="{FF2B5EF4-FFF2-40B4-BE49-F238E27FC236}">
                <a16:creationId xmlns:a16="http://schemas.microsoft.com/office/drawing/2014/main" id="{003BDE77-6446-3EBE-8168-1162489AEBE1}"/>
              </a:ext>
            </a:extLst>
          </p:cNvPr>
          <p:cNvGraphicFramePr>
            <a:graphicFrameLocks noGrp="1"/>
          </p:cNvGraphicFramePr>
          <p:nvPr/>
        </p:nvGraphicFramePr>
        <p:xfrm>
          <a:off x="517693" y="3240368"/>
          <a:ext cx="3466109" cy="623320"/>
        </p:xfrm>
        <a:graphic>
          <a:graphicData uri="http://schemas.openxmlformats.org/drawingml/2006/table">
            <a:tbl>
              <a:tblPr firstRow="1" bandRow="1">
                <a:tableStyleId>{5C22544A-7EE6-4342-B048-85BDC9FD1C3A}</a:tableStyleId>
              </a:tblPr>
              <a:tblGrid>
                <a:gridCol w="1955241">
                  <a:extLst>
                    <a:ext uri="{9D8B030D-6E8A-4147-A177-3AD203B41FA5}">
                      <a16:colId xmlns:a16="http://schemas.microsoft.com/office/drawing/2014/main" val="2179332490"/>
                    </a:ext>
                  </a:extLst>
                </a:gridCol>
                <a:gridCol w="1510868">
                  <a:extLst>
                    <a:ext uri="{9D8B030D-6E8A-4147-A177-3AD203B41FA5}">
                      <a16:colId xmlns:a16="http://schemas.microsoft.com/office/drawing/2014/main" val="3892199838"/>
                    </a:ext>
                  </a:extLst>
                </a:gridCol>
              </a:tblGrid>
              <a:tr h="311660">
                <a:tc>
                  <a:txBody>
                    <a:bodyPr/>
                    <a:lstStyle/>
                    <a:p>
                      <a:pPr algn="l"/>
                      <a:r>
                        <a:rPr lang="es-ES_tradnl" sz="1300" noProof="0" dirty="0">
                          <a:solidFill>
                            <a:schemeClr val="accent1"/>
                          </a:solidFill>
                          <a:latin typeface="Century Gothic" panose="020B0502020202020204" pitchFamily="34" charset="0"/>
                        </a:rPr>
                        <a:t>TIR</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22,10%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2706829573"/>
                  </a:ext>
                </a:extLst>
              </a:tr>
              <a:tr h="311660">
                <a:tc>
                  <a:txBody>
                    <a:bodyPr/>
                    <a:lstStyle/>
                    <a:p>
                      <a:pPr algn="l"/>
                      <a:r>
                        <a:rPr lang="es-ES_tradnl" sz="1300" b="1" noProof="0" dirty="0">
                          <a:solidFill>
                            <a:schemeClr val="accent1"/>
                          </a:solidFill>
                          <a:latin typeface="Century Gothic" panose="020B0502020202020204" pitchFamily="34" charset="0"/>
                        </a:rPr>
                        <a:t>VPN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CO" sz="1400" b="1" i="0" u="none" strike="noStrike" dirty="0">
                          <a:solidFill>
                            <a:schemeClr val="accent1"/>
                          </a:solidFill>
                          <a:effectLst/>
                          <a:latin typeface="Calibri" panose="020F0502020204030204" pitchFamily="34" charset="0"/>
                        </a:rPr>
                        <a:t>$ 3.565.676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4101263349"/>
                  </a:ext>
                </a:extLst>
              </a:tr>
            </a:tbl>
          </a:graphicData>
        </a:graphic>
      </p:graphicFrame>
      <p:sp>
        <p:nvSpPr>
          <p:cNvPr id="16" name="CuadroTexto 15">
            <a:extLst>
              <a:ext uri="{FF2B5EF4-FFF2-40B4-BE49-F238E27FC236}">
                <a16:creationId xmlns:a16="http://schemas.microsoft.com/office/drawing/2014/main" id="{E6D57402-2A1F-55A1-2670-5EBC1E883201}"/>
              </a:ext>
            </a:extLst>
          </p:cNvPr>
          <p:cNvSpPr txBox="1"/>
          <p:nvPr/>
        </p:nvSpPr>
        <p:spPr>
          <a:xfrm>
            <a:off x="1814857" y="4029513"/>
            <a:ext cx="8562285" cy="646331"/>
          </a:xfrm>
          <a:prstGeom prst="rect">
            <a:avLst/>
          </a:prstGeom>
          <a:noFill/>
        </p:spPr>
        <p:txBody>
          <a:bodyPr wrap="square" rtlCol="0">
            <a:spAutoFit/>
          </a:bodyPr>
          <a:lstStyle/>
          <a:p>
            <a:pPr algn="ctr"/>
            <a:r>
              <a:rPr lang="es-CO" dirty="0">
                <a:solidFill>
                  <a:schemeClr val="accent1"/>
                </a:solidFill>
                <a:latin typeface="Century Gothic" panose="020B0502020202020204" pitchFamily="34" charset="0"/>
              </a:rPr>
              <a:t>Usemos el enfoque de convertir directamente los FCL nominales o corrientes a reales o constantes mediante el Factor Inflacionario.</a:t>
            </a:r>
          </a:p>
        </p:txBody>
      </p:sp>
      <p:graphicFrame>
        <p:nvGraphicFramePr>
          <p:cNvPr id="17" name="Table 24">
            <a:extLst>
              <a:ext uri="{FF2B5EF4-FFF2-40B4-BE49-F238E27FC236}">
                <a16:creationId xmlns:a16="http://schemas.microsoft.com/office/drawing/2014/main" id="{DE3D4628-1D71-EC4A-D91F-1F5AC1FE5865}"/>
              </a:ext>
            </a:extLst>
          </p:cNvPr>
          <p:cNvGraphicFramePr>
            <a:graphicFrameLocks noGrp="1"/>
          </p:cNvGraphicFramePr>
          <p:nvPr/>
        </p:nvGraphicFramePr>
        <p:xfrm>
          <a:off x="517693" y="4841669"/>
          <a:ext cx="11029618" cy="921260"/>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228980">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174180">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Factor inflacionario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fontAlgn="b"/>
                      <a:r>
                        <a:rPr lang="es-CO" sz="1400" b="1" i="0" u="none" strike="noStrike" dirty="0">
                          <a:solidFill>
                            <a:schemeClr val="bg1"/>
                          </a:solidFill>
                          <a:effectLst/>
                          <a:latin typeface="Century Gothic" panose="020B0502020202020204" pitchFamily="34" charset="0"/>
                        </a:rPr>
                        <a:t>1</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fontAlgn="b"/>
                      <a:r>
                        <a:rPr lang="es-CO" sz="1400" b="1" i="0" u="none" strike="noStrike" dirty="0">
                          <a:solidFill>
                            <a:schemeClr val="bg1"/>
                          </a:solidFill>
                          <a:effectLst/>
                          <a:latin typeface="Century Gothic" panose="020B0502020202020204" pitchFamily="34" charset="0"/>
                        </a:rPr>
                        <a:t>1,05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fontAlgn="b"/>
                      <a:r>
                        <a:rPr lang="es-CO" sz="1400" b="1" i="0" u="none" strike="noStrike" dirty="0">
                          <a:solidFill>
                            <a:schemeClr val="bg1"/>
                          </a:solidFill>
                          <a:effectLst/>
                          <a:latin typeface="Century Gothic" panose="020B0502020202020204" pitchFamily="34" charset="0"/>
                        </a:rPr>
                        <a:t>1,097</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fontAlgn="b"/>
                      <a:r>
                        <a:rPr lang="es-CO" sz="1400" b="1" i="0" u="none" strike="noStrike" dirty="0">
                          <a:solidFill>
                            <a:schemeClr val="bg1"/>
                          </a:solidFill>
                          <a:effectLst/>
                          <a:latin typeface="Century Gothic" panose="020B0502020202020204" pitchFamily="34" charset="0"/>
                        </a:rPr>
                        <a:t>1,135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fontAlgn="b"/>
                      <a:r>
                        <a:rPr lang="es-CO" sz="1400" b="1" i="0" u="none" strike="noStrike" dirty="0">
                          <a:solidFill>
                            <a:schemeClr val="bg1"/>
                          </a:solidFill>
                          <a:effectLst/>
                          <a:latin typeface="Century Gothic" panose="020B0502020202020204" pitchFamily="34" charset="0"/>
                        </a:rPr>
                        <a:t>1,203</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fontAlgn="b"/>
                      <a:r>
                        <a:rPr lang="es-CO" sz="1400" b="1" i="0" u="none" strike="noStrike" dirty="0">
                          <a:solidFill>
                            <a:schemeClr val="bg1"/>
                          </a:solidFill>
                          <a:effectLst/>
                          <a:latin typeface="Century Gothic" panose="020B0502020202020204" pitchFamily="34" charset="0"/>
                        </a:rPr>
                        <a:t>1,270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435524051"/>
                  </a:ext>
                </a:extLst>
              </a:tr>
              <a:tr h="311660">
                <a:tc>
                  <a:txBody>
                    <a:bodyPr/>
                    <a:lstStyle/>
                    <a:p>
                      <a:pPr algn="l"/>
                      <a:r>
                        <a:rPr lang="es-ES_tradnl" sz="1400" b="1" noProof="0" dirty="0" err="1">
                          <a:solidFill>
                            <a:schemeClr val="accent1"/>
                          </a:solidFill>
                          <a:latin typeface="Century Gothic" panose="020B0502020202020204" pitchFamily="34" charset="0"/>
                        </a:rPr>
                        <a:t>FCL</a:t>
                      </a:r>
                      <a:r>
                        <a:rPr lang="es-ES_tradnl" sz="1400" b="1" noProof="0" dirty="0">
                          <a:solidFill>
                            <a:schemeClr val="accent1"/>
                          </a:solidFill>
                          <a:latin typeface="Century Gothic" panose="020B0502020202020204" pitchFamily="34" charset="0"/>
                        </a:rPr>
                        <a:t> Real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400" kern="1200" dirty="0">
                          <a:solidFill>
                            <a:schemeClr val="accent1"/>
                          </a:solidFill>
                          <a:latin typeface="Century Gothic" panose="020B0502020202020204" pitchFamily="34" charset="0"/>
                          <a:ea typeface="+mn-ea"/>
                          <a:cs typeface="+mn-cs"/>
                        </a:rPr>
                        <a:t>$-20.000.000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400" kern="1200" dirty="0">
                          <a:solidFill>
                            <a:schemeClr val="accent1"/>
                          </a:solidFill>
                          <a:latin typeface="Century Gothic" panose="020B0502020202020204" pitchFamily="34" charset="0"/>
                          <a:ea typeface="+mn-ea"/>
                          <a:cs typeface="+mn-cs"/>
                        </a:rPr>
                        <a:t>$6.282.143</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400" kern="1200" dirty="0">
                          <a:solidFill>
                            <a:schemeClr val="accent1"/>
                          </a:solidFill>
                          <a:latin typeface="Century Gothic" panose="020B0502020202020204" pitchFamily="34" charset="0"/>
                          <a:ea typeface="+mn-ea"/>
                          <a:cs typeface="+mn-cs"/>
                        </a:rPr>
                        <a:t>$6.228.008</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400" kern="1200" dirty="0">
                          <a:solidFill>
                            <a:schemeClr val="accent1"/>
                          </a:solidFill>
                          <a:latin typeface="Century Gothic" panose="020B0502020202020204" pitchFamily="34" charset="0"/>
                          <a:ea typeface="+mn-ea"/>
                          <a:cs typeface="+mn-cs"/>
                        </a:rPr>
                        <a:t>$6.187.326</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400" kern="1200" dirty="0">
                          <a:solidFill>
                            <a:schemeClr val="accent1"/>
                          </a:solidFill>
                          <a:latin typeface="Century Gothic" panose="020B0502020202020204" pitchFamily="34" charset="0"/>
                          <a:ea typeface="+mn-ea"/>
                          <a:cs typeface="+mn-cs"/>
                        </a:rPr>
                        <a:t>$6.121.534</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400" kern="1200" dirty="0">
                          <a:solidFill>
                            <a:schemeClr val="accent1"/>
                          </a:solidFill>
                          <a:latin typeface="Century Gothic" panose="020B0502020202020204" pitchFamily="34" charset="0"/>
                          <a:ea typeface="+mn-ea"/>
                          <a:cs typeface="+mn-cs"/>
                        </a:rPr>
                        <a:t>$6.064.369</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587449290"/>
                  </a:ext>
                </a:extLst>
              </a:tr>
            </a:tbl>
          </a:graphicData>
        </a:graphic>
      </p:graphicFrame>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B7F38895-1AC6-CE57-6830-078AD4D7C9DE}"/>
                  </a:ext>
                </a:extLst>
              </p:cNvPr>
              <p:cNvSpPr txBox="1"/>
              <p:nvPr/>
            </p:nvSpPr>
            <p:spPr>
              <a:xfrm>
                <a:off x="6635834" y="5883718"/>
                <a:ext cx="3239605" cy="544252"/>
              </a:xfrm>
              <a:prstGeom prst="rect">
                <a:avLst/>
              </a:prstGeom>
              <a:noFill/>
            </p:spPr>
            <p:txBody>
              <a:bodyPr wrap="none" lIns="0" tIns="0" rIns="0" bIns="0" rtlCol="0" anchor="ctr">
                <a:spAutoFit/>
              </a:bodyPr>
              <a:lstStyle/>
              <a:p>
                <a:pPr/>
                <a14:m>
                  <m:oMathPara xmlns:m="http://schemas.openxmlformats.org/officeDocument/2006/math">
                    <m:oMathParaPr>
                      <m:jc m:val="centerGroup"/>
                    </m:oMathParaPr>
                    <m:oMath xmlns:m="http://schemas.openxmlformats.org/officeDocument/2006/math">
                      <m:r>
                        <m:rPr>
                          <m:sty m:val="p"/>
                        </m:rPr>
                        <a:rPr lang="es-419" b="0" i="0" smtClean="0">
                          <a:latin typeface="Cambria Math" panose="02040503050406030204" pitchFamily="18" charset="0"/>
                        </a:rPr>
                        <m:t>FC</m:t>
                      </m:r>
                      <m:sSub>
                        <m:sSubPr>
                          <m:ctrlPr>
                            <a:rPr lang="es-419" b="0" i="1" smtClean="0">
                              <a:latin typeface="Cambria Math" panose="02040503050406030204" pitchFamily="18" charset="0"/>
                            </a:rPr>
                          </m:ctrlPr>
                        </m:sSubPr>
                        <m:e>
                          <m:r>
                            <m:rPr>
                              <m:sty m:val="p"/>
                            </m:rPr>
                            <a:rPr lang="es-419" b="0" i="0" smtClean="0">
                              <a:latin typeface="Cambria Math" panose="02040503050406030204" pitchFamily="18" charset="0"/>
                            </a:rPr>
                            <m:t>L</m:t>
                          </m:r>
                        </m:e>
                        <m:sub>
                          <m:r>
                            <a:rPr lang="es-419" b="0" i="0" smtClean="0">
                              <a:latin typeface="Cambria Math" panose="02040503050406030204" pitchFamily="18" charset="0"/>
                            </a:rPr>
                            <m:t>2</m:t>
                          </m:r>
                        </m:sub>
                      </m:sSub>
                      <m:r>
                        <a:rPr lang="es-419" b="0" i="0" smtClean="0">
                          <a:latin typeface="Cambria Math" panose="02040503050406030204" pitchFamily="18" charset="0"/>
                        </a:rPr>
                        <m:t>=</m:t>
                      </m:r>
                      <m:f>
                        <m:fPr>
                          <m:ctrlPr>
                            <a:rPr lang="es-419" b="0" i="1" smtClean="0">
                              <a:latin typeface="Cambria Math" panose="02040503050406030204" pitchFamily="18" charset="0"/>
                            </a:rPr>
                          </m:ctrlPr>
                        </m:fPr>
                        <m:num>
                          <m:r>
                            <m:rPr>
                              <m:nor/>
                            </m:rPr>
                            <a:rPr lang="es-CO" b="1" dirty="0">
                              <a:solidFill>
                                <a:srgbClr val="000000"/>
                              </a:solidFill>
                              <a:latin typeface="Calibri" panose="020F0502020204030204" pitchFamily="34" charset="0"/>
                            </a:rPr>
                            <m:t>6.833.681 </m:t>
                          </m:r>
                        </m:num>
                        <m:den>
                          <m:r>
                            <m:rPr>
                              <m:nor/>
                            </m:rPr>
                            <a:rPr lang="es-CO" b="1" dirty="0">
                              <a:solidFill>
                                <a:schemeClr val="accent1"/>
                              </a:solidFill>
                              <a:latin typeface="Calibri" panose="020F0502020204030204" pitchFamily="34" charset="0"/>
                            </a:rPr>
                            <m:t>1,097 </m:t>
                          </m:r>
                        </m:den>
                      </m:f>
                      <m:r>
                        <a:rPr lang="es-419" b="0" i="0" smtClean="0">
                          <a:latin typeface="Cambria Math" panose="02040503050406030204" pitchFamily="18" charset="0"/>
                        </a:rPr>
                        <m:t>=</m:t>
                      </m:r>
                      <m:r>
                        <m:rPr>
                          <m:nor/>
                        </m:rPr>
                        <a:rPr lang="es-419" b="1" smtClean="0">
                          <a:solidFill>
                            <a:schemeClr val="accent1"/>
                          </a:solidFill>
                          <a:latin typeface="Cambria Math" panose="02040503050406030204" pitchFamily="18" charset="0"/>
                        </a:rPr>
                        <m:t>$</m:t>
                      </m:r>
                      <m:r>
                        <m:rPr>
                          <m:nor/>
                        </m:rPr>
                        <a:rPr lang="es-419" b="1" smtClean="0">
                          <a:latin typeface="Cambria Math" panose="02040503050406030204" pitchFamily="18" charset="0"/>
                        </a:rPr>
                        <m:t> </m:t>
                      </m:r>
                      <m:r>
                        <m:rPr>
                          <m:nor/>
                        </m:rPr>
                        <a:rPr lang="es-CO" b="1" dirty="0" smtClean="0">
                          <a:solidFill>
                            <a:schemeClr val="accent1"/>
                          </a:solidFill>
                          <a:latin typeface="Calibri" panose="020F0502020204030204" pitchFamily="34" charset="0"/>
                        </a:rPr>
                        <m:t>6.228.008</m:t>
                      </m:r>
                    </m:oMath>
                  </m:oMathPara>
                </a14:m>
                <a:endParaRPr lang="es-CO" b="1" dirty="0">
                  <a:solidFill>
                    <a:srgbClr val="000000"/>
                  </a:solidFill>
                  <a:latin typeface="Calibri" panose="020F0502020204030204" pitchFamily="34" charset="0"/>
                </a:endParaRPr>
              </a:p>
            </p:txBody>
          </p:sp>
        </mc:Choice>
        <mc:Fallback xmlns="">
          <p:sp>
            <p:nvSpPr>
              <p:cNvPr id="18" name="CuadroTexto 17">
                <a:extLst>
                  <a:ext uri="{FF2B5EF4-FFF2-40B4-BE49-F238E27FC236}">
                    <a16:creationId xmlns:a16="http://schemas.microsoft.com/office/drawing/2014/main" id="{B7F38895-1AC6-CE57-6830-078AD4D7C9DE}"/>
                  </a:ext>
                </a:extLst>
              </p:cNvPr>
              <p:cNvSpPr txBox="1">
                <a:spLocks noRot="1" noChangeAspect="1" noMove="1" noResize="1" noEditPoints="1" noAdjustHandles="1" noChangeArrowheads="1" noChangeShapeType="1" noTextEdit="1"/>
              </p:cNvSpPr>
              <p:nvPr/>
            </p:nvSpPr>
            <p:spPr>
              <a:xfrm>
                <a:off x="6635834" y="5883718"/>
                <a:ext cx="3239605" cy="544252"/>
              </a:xfrm>
              <a:prstGeom prst="rect">
                <a:avLst/>
              </a:prstGeom>
              <a:blipFill>
                <a:blip r:embed="rId3"/>
                <a:stretch>
                  <a:fillRect b="-1124"/>
                </a:stretch>
              </a:blipFill>
            </p:spPr>
            <p:txBody>
              <a:bodyPr/>
              <a:lstStyle/>
              <a:p>
                <a:r>
                  <a:rPr lang="en-US">
                    <a:noFill/>
                  </a:rPr>
                  <a:t> </a:t>
                </a:r>
              </a:p>
            </p:txBody>
          </p:sp>
        </mc:Fallback>
      </mc:AlternateContent>
      <p:cxnSp>
        <p:nvCxnSpPr>
          <p:cNvPr id="19" name="Conector curvado 3">
            <a:extLst>
              <a:ext uri="{FF2B5EF4-FFF2-40B4-BE49-F238E27FC236}">
                <a16:creationId xmlns:a16="http://schemas.microsoft.com/office/drawing/2014/main" id="{49D68AB2-53CA-3553-BB14-75DE11C06BE8}"/>
              </a:ext>
            </a:extLst>
          </p:cNvPr>
          <p:cNvCxnSpPr>
            <a:cxnSpLocks/>
            <a:stCxn id="17" idx="2"/>
            <a:endCxn id="18" idx="1"/>
          </p:cNvCxnSpPr>
          <p:nvPr/>
        </p:nvCxnSpPr>
        <p:spPr>
          <a:xfrm rot="16200000" flipH="1">
            <a:off x="6137711" y="5657720"/>
            <a:ext cx="392915" cy="603332"/>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CuadroTexto 22">
            <a:extLst>
              <a:ext uri="{FF2B5EF4-FFF2-40B4-BE49-F238E27FC236}">
                <a16:creationId xmlns:a16="http://schemas.microsoft.com/office/drawing/2014/main" id="{7CBF4454-C9F1-265B-4678-9C0E73FE2ECA}"/>
              </a:ext>
            </a:extLst>
          </p:cNvPr>
          <p:cNvSpPr txBox="1"/>
          <p:nvPr/>
        </p:nvSpPr>
        <p:spPr>
          <a:xfrm>
            <a:off x="4672593" y="3398139"/>
            <a:ext cx="2846812" cy="307777"/>
          </a:xfrm>
          <a:prstGeom prst="rect">
            <a:avLst/>
          </a:prstGeom>
          <a:noFill/>
        </p:spPr>
        <p:txBody>
          <a:bodyPr wrap="square" rtlCol="0">
            <a:spAutoFit/>
          </a:bodyPr>
          <a:lstStyle/>
          <a:p>
            <a:pPr algn="ctr"/>
            <a:r>
              <a:rPr lang="en-US" sz="1400" b="1" dirty="0">
                <a:latin typeface="Century Gothic" panose="020B0502020202020204" pitchFamily="34" charset="0"/>
              </a:rPr>
              <a:t>WACC Nominal = 15%</a:t>
            </a:r>
          </a:p>
        </p:txBody>
      </p:sp>
    </p:spTree>
    <p:extLst>
      <p:ext uri="{BB962C8B-B14F-4D97-AF65-F5344CB8AC3E}">
        <p14:creationId xmlns:p14="http://schemas.microsoft.com/office/powerpoint/2010/main" val="3217036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blinds(horizontal)">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 calcmode="lin" valueType="num">
                                      <p:cBhvr additive="base">
                                        <p:cTn id="22" dur="500" fill="hold"/>
                                        <p:tgtEl>
                                          <p:spTgt spid="19"/>
                                        </p:tgtEl>
                                        <p:attrNameLst>
                                          <p:attrName>ppt_x</p:attrName>
                                        </p:attrNameLst>
                                      </p:cBhvr>
                                      <p:tavLst>
                                        <p:tav tm="0">
                                          <p:val>
                                            <p:strVal val="#ppt_x"/>
                                          </p:val>
                                        </p:tav>
                                        <p:tav tm="100000">
                                          <p:val>
                                            <p:strVal val="#ppt_x"/>
                                          </p:val>
                                        </p:tav>
                                      </p:tavLst>
                                    </p:anim>
                                    <p:anim calcmode="lin" valueType="num">
                                      <p:cBhvr additive="base">
                                        <p:cTn id="23" dur="500" fill="hold"/>
                                        <p:tgtEl>
                                          <p:spTgt spid="19"/>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 calcmode="lin" valueType="num">
                                      <p:cBhvr additive="base">
                                        <p:cTn id="26" dur="500" fill="hold"/>
                                        <p:tgtEl>
                                          <p:spTgt spid="18"/>
                                        </p:tgtEl>
                                        <p:attrNameLst>
                                          <p:attrName>ppt_x</p:attrName>
                                        </p:attrNameLst>
                                      </p:cBhvr>
                                      <p:tavLst>
                                        <p:tav tm="0">
                                          <p:val>
                                            <p:strVal val="#ppt_x"/>
                                          </p:val>
                                        </p:tav>
                                        <p:tav tm="100000">
                                          <p:val>
                                            <p:strVal val="#ppt_x"/>
                                          </p:val>
                                        </p:tav>
                                      </p:tavLst>
                                    </p:anim>
                                    <p:anim calcmode="lin" valueType="num">
                                      <p:cBhvr additive="base">
                                        <p:cTn id="27"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2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5C7F7-8060-B000-429D-35C6F98351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5A270E-7CAB-30CD-8067-3D2B153FC4C4}"/>
              </a:ext>
            </a:extLst>
          </p:cNvPr>
          <p:cNvSpPr>
            <a:spLocks noGrp="1"/>
          </p:cNvSpPr>
          <p:nvPr>
            <p:ph type="title"/>
          </p:nvPr>
        </p:nvSpPr>
        <p:spPr/>
        <p:txBody>
          <a:bodyPr>
            <a:normAutofit/>
          </a:bodyPr>
          <a:lstStyle/>
          <a:p>
            <a:r>
              <a:rPr lang="es-ES" sz="3200" dirty="0">
                <a:latin typeface="Century Gothic" panose="020B0502020202020204" pitchFamily="34" charset="0"/>
              </a:rPr>
              <a:t>INFLACIÓN VARIABLE - PROCESO</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5FD698E3-6E83-903C-E054-470E0479DACF}"/>
              </a:ext>
            </a:extLst>
          </p:cNvPr>
          <p:cNvSpPr>
            <a:spLocks noGrp="1"/>
          </p:cNvSpPr>
          <p:nvPr>
            <p:ph type="sldNum" sz="quarter" idx="12"/>
          </p:nvPr>
        </p:nvSpPr>
        <p:spPr/>
        <p:txBody>
          <a:bodyPr/>
          <a:lstStyle/>
          <a:p>
            <a:fld id="{5E3E23BA-6E79-2442-BA73-D218A5E297C3}" type="slidenum">
              <a:rPr lang="en-US" sz="1800" smtClean="0"/>
              <a:t>51</a:t>
            </a:fld>
            <a:endParaRPr lang="en-US" sz="1800" dirty="0"/>
          </a:p>
        </p:txBody>
      </p:sp>
      <p:sp>
        <p:nvSpPr>
          <p:cNvPr id="5" name="Rectángulo 4">
            <a:extLst>
              <a:ext uri="{FF2B5EF4-FFF2-40B4-BE49-F238E27FC236}">
                <a16:creationId xmlns:a16="http://schemas.microsoft.com/office/drawing/2014/main" id="{FEADABB7-4C66-228B-2644-6FAE0124E53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BE33198C-2C88-9E0B-C6BF-70239823B7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BB709B3D-78D9-2B48-6A17-0E0A3AAEAD1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CuadroTexto 11">
            <a:extLst>
              <a:ext uri="{FF2B5EF4-FFF2-40B4-BE49-F238E27FC236}">
                <a16:creationId xmlns:a16="http://schemas.microsoft.com/office/drawing/2014/main" id="{508E4AB5-264B-6E60-1992-88194C2B8102}"/>
              </a:ext>
            </a:extLst>
          </p:cNvPr>
          <p:cNvSpPr txBox="1"/>
          <p:nvPr/>
        </p:nvSpPr>
        <p:spPr>
          <a:xfrm>
            <a:off x="539834" y="1978060"/>
            <a:ext cx="10018466" cy="369332"/>
          </a:xfrm>
          <a:prstGeom prst="rect">
            <a:avLst/>
          </a:prstGeom>
          <a:noFill/>
        </p:spPr>
        <p:txBody>
          <a:bodyPr wrap="square">
            <a:spAutoFit/>
          </a:bodyPr>
          <a:lstStyle/>
          <a:p>
            <a:r>
              <a:rPr lang="es-MX" dirty="0">
                <a:solidFill>
                  <a:schemeClr val="accent1"/>
                </a:solidFill>
                <a:latin typeface="Century Gothic" panose="020B0502020202020204" pitchFamily="34" charset="0"/>
              </a:rPr>
              <a:t>4. Obtener las tasas constantes o reales del </a:t>
            </a:r>
            <a:r>
              <a:rPr lang="es-MX" dirty="0" err="1">
                <a:solidFill>
                  <a:schemeClr val="accent1"/>
                </a:solidFill>
                <a:latin typeface="Century Gothic" panose="020B0502020202020204" pitchFamily="34" charset="0"/>
              </a:rPr>
              <a:t>WACC</a:t>
            </a:r>
            <a:r>
              <a:rPr lang="es-MX" dirty="0">
                <a:solidFill>
                  <a:schemeClr val="accent1"/>
                </a:solidFill>
                <a:latin typeface="Century Gothic" panose="020B0502020202020204" pitchFamily="34" charset="0"/>
              </a:rPr>
              <a:t> usando la ecuación de Fisher.</a:t>
            </a:r>
          </a:p>
        </p:txBody>
      </p:sp>
      <p:sp>
        <p:nvSpPr>
          <p:cNvPr id="15" name="CuadroTexto 14">
            <a:extLst>
              <a:ext uri="{FF2B5EF4-FFF2-40B4-BE49-F238E27FC236}">
                <a16:creationId xmlns:a16="http://schemas.microsoft.com/office/drawing/2014/main" id="{C1B32A6F-A765-C1A8-E37F-0BEFCF537C35}"/>
              </a:ext>
            </a:extLst>
          </p:cNvPr>
          <p:cNvSpPr txBox="1"/>
          <p:nvPr/>
        </p:nvSpPr>
        <p:spPr>
          <a:xfrm>
            <a:off x="4692014" y="3318643"/>
            <a:ext cx="2846812" cy="338554"/>
          </a:xfrm>
          <a:prstGeom prst="rect">
            <a:avLst/>
          </a:prstGeom>
          <a:noFill/>
        </p:spPr>
        <p:txBody>
          <a:bodyPr wrap="square" rtlCol="0">
            <a:spAutoFit/>
          </a:bodyPr>
          <a:lstStyle/>
          <a:p>
            <a:pPr algn="ctr"/>
            <a:r>
              <a:rPr lang="en-US" sz="1600" b="1" dirty="0">
                <a:latin typeface="Century Gothic" panose="020B0502020202020204" pitchFamily="34" charset="0"/>
              </a:rPr>
              <a:t>WACC Nominal = 15%</a:t>
            </a:r>
          </a:p>
        </p:txBody>
      </p:sp>
      <p:graphicFrame>
        <p:nvGraphicFramePr>
          <p:cNvPr id="17" name="Table 24">
            <a:extLst>
              <a:ext uri="{FF2B5EF4-FFF2-40B4-BE49-F238E27FC236}">
                <a16:creationId xmlns:a16="http://schemas.microsoft.com/office/drawing/2014/main" id="{F9C117F9-8065-AB63-A529-BC3ECA5E9BB4}"/>
              </a:ext>
            </a:extLst>
          </p:cNvPr>
          <p:cNvGraphicFramePr>
            <a:graphicFrameLocks noGrp="1"/>
          </p:cNvGraphicFramePr>
          <p:nvPr/>
        </p:nvGraphicFramePr>
        <p:xfrm>
          <a:off x="539834" y="3909125"/>
          <a:ext cx="11029618" cy="1232920"/>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226011">
                <a:tc>
                  <a:txBody>
                    <a:bodyPr/>
                    <a:lstStyle/>
                    <a:p>
                      <a:pPr algn="ctr"/>
                      <a:r>
                        <a:rPr lang="es-ES_tradnl" sz="14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4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174180">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Inflación</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fontAlgn="b"/>
                      <a:endParaRPr lang="es-CO" sz="1400" b="1" i="0" u="none" strike="noStrike" dirty="0">
                        <a:solidFill>
                          <a:schemeClr val="bg1"/>
                        </a:solidFill>
                        <a:effectLst/>
                        <a:latin typeface="Calibri" panose="020F0502020204030204" pitchFamily="34" charset="0"/>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4,5%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3,5%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6%</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r>
                        <a:rPr lang="es-ES_tradnl" sz="1400" b="1" kern="1200" noProof="0" dirty="0">
                          <a:solidFill>
                            <a:schemeClr val="lt1"/>
                          </a:solidFill>
                          <a:latin typeface="Century Gothic" panose="020B0502020202020204" pitchFamily="34" charset="0"/>
                          <a:ea typeface="+mn-ea"/>
                          <a:cs typeface="+mn-cs"/>
                        </a:rPr>
                        <a:t>5,5%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435524051"/>
                  </a:ext>
                </a:extLst>
              </a:tr>
              <a:tr h="311660">
                <a:tc>
                  <a:txBody>
                    <a:bodyPr/>
                    <a:lstStyle/>
                    <a:p>
                      <a:pPr algn="l"/>
                      <a:r>
                        <a:rPr lang="es-ES_tradnl" sz="1400" b="1" noProof="0" dirty="0" err="1">
                          <a:solidFill>
                            <a:schemeClr val="accent1"/>
                          </a:solidFill>
                          <a:latin typeface="Century Gothic" panose="020B0502020202020204" pitchFamily="34" charset="0"/>
                        </a:rPr>
                        <a:t>FCL</a:t>
                      </a:r>
                      <a:r>
                        <a:rPr lang="es-ES_tradnl" sz="1400" b="1" noProof="0" dirty="0">
                          <a:solidFill>
                            <a:schemeClr val="accent1"/>
                          </a:solidFill>
                          <a:latin typeface="Century Gothic" panose="020B0502020202020204" pitchFamily="34" charset="0"/>
                        </a:rPr>
                        <a:t> Real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400" kern="1200" dirty="0">
                          <a:solidFill>
                            <a:schemeClr val="accent1"/>
                          </a:solidFill>
                          <a:latin typeface="Century Gothic" panose="020B0502020202020204" pitchFamily="34" charset="0"/>
                          <a:ea typeface="+mn-ea"/>
                          <a:cs typeface="+mn-cs"/>
                        </a:rPr>
                        <a:t>$-20.000.000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400" kern="1200" dirty="0">
                          <a:solidFill>
                            <a:schemeClr val="accent1"/>
                          </a:solidFill>
                          <a:latin typeface="Century Gothic" panose="020B0502020202020204" pitchFamily="34" charset="0"/>
                          <a:ea typeface="+mn-ea"/>
                          <a:cs typeface="+mn-cs"/>
                        </a:rPr>
                        <a:t>$6.282.143</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400" kern="1200" dirty="0">
                          <a:solidFill>
                            <a:schemeClr val="accent1"/>
                          </a:solidFill>
                          <a:latin typeface="Century Gothic" panose="020B0502020202020204" pitchFamily="34" charset="0"/>
                          <a:ea typeface="+mn-ea"/>
                          <a:cs typeface="+mn-cs"/>
                        </a:rPr>
                        <a:t>$6.228.008</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400" kern="1200" dirty="0">
                          <a:solidFill>
                            <a:schemeClr val="accent1"/>
                          </a:solidFill>
                          <a:latin typeface="Century Gothic" panose="020B0502020202020204" pitchFamily="34" charset="0"/>
                          <a:ea typeface="+mn-ea"/>
                          <a:cs typeface="+mn-cs"/>
                        </a:rPr>
                        <a:t>$6.187.326</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400" kern="1200" dirty="0">
                          <a:solidFill>
                            <a:schemeClr val="accent1"/>
                          </a:solidFill>
                          <a:latin typeface="Century Gothic" panose="020B0502020202020204" pitchFamily="34" charset="0"/>
                          <a:ea typeface="+mn-ea"/>
                          <a:cs typeface="+mn-cs"/>
                        </a:rPr>
                        <a:t>$6.121.534</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400" kern="1200" dirty="0">
                          <a:solidFill>
                            <a:schemeClr val="accent1"/>
                          </a:solidFill>
                          <a:latin typeface="Century Gothic" panose="020B0502020202020204" pitchFamily="34" charset="0"/>
                          <a:ea typeface="+mn-ea"/>
                          <a:cs typeface="+mn-cs"/>
                        </a:rPr>
                        <a:t>$6.064.369</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587449290"/>
                  </a:ext>
                </a:extLst>
              </a:tr>
              <a:tr h="311660">
                <a:tc>
                  <a:txBody>
                    <a:bodyPr/>
                    <a:lstStyle/>
                    <a:p>
                      <a:pPr algn="l"/>
                      <a:r>
                        <a:rPr lang="es-ES_tradnl" sz="1400" b="1" noProof="0" dirty="0" err="1">
                          <a:solidFill>
                            <a:schemeClr val="accent1"/>
                          </a:solidFill>
                          <a:latin typeface="Century Gothic" panose="020B0502020202020204" pitchFamily="34" charset="0"/>
                        </a:rPr>
                        <a:t>WACC</a:t>
                      </a:r>
                      <a:r>
                        <a:rPr lang="es-ES_tradnl" sz="1400" b="1" noProof="0" dirty="0">
                          <a:solidFill>
                            <a:schemeClr val="accent1"/>
                          </a:solidFill>
                          <a:latin typeface="Century Gothic" panose="020B0502020202020204" pitchFamily="34" charset="0"/>
                        </a:rPr>
                        <a:t> Real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4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rtl="0" fontAlgn="b"/>
                      <a:r>
                        <a:rPr lang="es-CO" sz="1600" b="0" i="0" u="none" strike="noStrike" dirty="0">
                          <a:solidFill>
                            <a:schemeClr val="accent1"/>
                          </a:solidFill>
                          <a:effectLst/>
                          <a:latin typeface="Calibri" panose="020F0502020204030204" pitchFamily="34" charset="0"/>
                        </a:rPr>
                        <a:t>9,52%</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rtl="0" fontAlgn="b"/>
                      <a:r>
                        <a:rPr lang="es-CO" sz="1600" b="0" i="0" u="none" strike="noStrike" dirty="0">
                          <a:solidFill>
                            <a:schemeClr val="accent1"/>
                          </a:solidFill>
                          <a:effectLst/>
                          <a:latin typeface="Calibri" panose="020F0502020204030204" pitchFamily="34" charset="0"/>
                        </a:rPr>
                        <a:t>10,05%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rtl="0" fontAlgn="b"/>
                      <a:r>
                        <a:rPr lang="es-CO" sz="1600" b="0" i="0" u="none" strike="noStrike" dirty="0">
                          <a:solidFill>
                            <a:schemeClr val="accent1"/>
                          </a:solidFill>
                          <a:effectLst/>
                          <a:latin typeface="Calibri" panose="020F0502020204030204" pitchFamily="34" charset="0"/>
                        </a:rPr>
                        <a:t>11,11%</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rtl="0" fontAlgn="b"/>
                      <a:r>
                        <a:rPr lang="es-CO" sz="1600" b="0" i="0" u="none" strike="noStrike" dirty="0">
                          <a:solidFill>
                            <a:schemeClr val="accent1"/>
                          </a:solidFill>
                          <a:effectLst/>
                          <a:latin typeface="Calibri" panose="020F0502020204030204" pitchFamily="34" charset="0"/>
                        </a:rPr>
                        <a:t>8,49%</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rtl="0" fontAlgn="b"/>
                      <a:r>
                        <a:rPr lang="es-CO" sz="1600" b="0" i="0" u="none" strike="noStrike" dirty="0">
                          <a:solidFill>
                            <a:schemeClr val="accent1"/>
                          </a:solidFill>
                          <a:effectLst/>
                          <a:latin typeface="Calibri" panose="020F0502020204030204" pitchFamily="34" charset="0"/>
                        </a:rPr>
                        <a:t>9,00%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4043519238"/>
                  </a:ext>
                </a:extLst>
              </a:tr>
            </a:tbl>
          </a:graphicData>
        </a:graphic>
      </p:graphicFrame>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D91B4BE4-C64A-608A-FD85-1EB81FBCD66B}"/>
                  </a:ext>
                </a:extLst>
              </p:cNvPr>
              <p:cNvSpPr txBox="1"/>
              <p:nvPr/>
            </p:nvSpPr>
            <p:spPr>
              <a:xfrm>
                <a:off x="1770004" y="5464151"/>
                <a:ext cx="2300630" cy="536750"/>
              </a:xfrm>
              <a:prstGeom prst="rect">
                <a:avLst/>
              </a:prstGeom>
              <a:noFill/>
            </p:spPr>
            <p:txBody>
              <a:bodyPr wrap="non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es-419" i="1" smtClean="0">
                              <a:latin typeface="Cambria Math" panose="02040503050406030204" pitchFamily="18" charset="0"/>
                              <a:ea typeface="Cambria Math" panose="02040503050406030204" pitchFamily="18" charset="0"/>
                            </a:rPr>
                          </m:ctrlPr>
                        </m:sSubPr>
                        <m:e>
                          <m:r>
                            <a:rPr lang="es-CO" b="0" i="1" smtClean="0">
                              <a:latin typeface="Cambria Math" panose="02040503050406030204" pitchFamily="18" charset="0"/>
                              <a:ea typeface="Cambria Math" panose="02040503050406030204" pitchFamily="18" charset="0"/>
                            </a:rPr>
                            <m:t>𝑊𝐴𝐶𝐶</m:t>
                          </m:r>
                        </m:e>
                        <m:sub>
                          <m:r>
                            <a:rPr lang="es-CO" b="0" i="1" smtClean="0">
                              <a:latin typeface="Cambria Math" panose="02040503050406030204" pitchFamily="18" charset="0"/>
                              <a:ea typeface="Cambria Math" panose="02040503050406030204" pitchFamily="18" charset="0"/>
                            </a:rPr>
                            <m:t>1</m:t>
                          </m:r>
                        </m:sub>
                      </m:sSub>
                      <m:r>
                        <a:rPr lang="es-419" b="0" i="0" smtClean="0">
                          <a:latin typeface="Cambria Math" panose="02040503050406030204" pitchFamily="18" charset="0"/>
                          <a:ea typeface="Cambria Math" panose="02040503050406030204" pitchFamily="18" charset="0"/>
                        </a:rPr>
                        <m:t>=</m:t>
                      </m:r>
                      <m:f>
                        <m:fPr>
                          <m:ctrlPr>
                            <a:rPr lang="es-419" i="1" smtClean="0">
                              <a:latin typeface="Cambria Math" panose="02040503050406030204" pitchFamily="18" charset="0"/>
                              <a:ea typeface="Cambria Math" panose="02040503050406030204" pitchFamily="18" charset="0"/>
                            </a:rPr>
                          </m:ctrlPr>
                        </m:fPr>
                        <m:num>
                          <m:r>
                            <m:rPr>
                              <m:nor/>
                            </m:rPr>
                            <a:rPr lang="es-CO" i="0" dirty="0" smtClean="0">
                              <a:solidFill>
                                <a:srgbClr val="000000"/>
                              </a:solidFill>
                              <a:latin typeface="Cambria Math" panose="02040503050406030204" pitchFamily="18" charset="0"/>
                              <a:ea typeface="Cambria Math" panose="02040503050406030204" pitchFamily="18" charset="0"/>
                            </a:rPr>
                            <m:t>1+15%</m:t>
                          </m:r>
                          <m:r>
                            <m:rPr>
                              <m:nor/>
                            </m:rPr>
                            <a:rPr lang="es-CO" dirty="0">
                              <a:solidFill>
                                <a:srgbClr val="000000"/>
                              </a:solidFill>
                              <a:latin typeface="Cambria Math" panose="02040503050406030204" pitchFamily="18" charset="0"/>
                              <a:ea typeface="Cambria Math" panose="02040503050406030204" pitchFamily="18" charset="0"/>
                            </a:rPr>
                            <m:t> </m:t>
                          </m:r>
                        </m:num>
                        <m:den>
                          <m:r>
                            <m:rPr>
                              <m:nor/>
                            </m:rPr>
                            <a:rPr lang="es-CO" i="0" dirty="0" smtClean="0">
                              <a:solidFill>
                                <a:srgbClr val="000000"/>
                              </a:solidFill>
                              <a:latin typeface="Cambria Math" panose="02040503050406030204" pitchFamily="18" charset="0"/>
                              <a:ea typeface="Cambria Math" panose="02040503050406030204" pitchFamily="18" charset="0"/>
                            </a:rPr>
                            <m:t>1+5%</m:t>
                          </m:r>
                        </m:den>
                      </m:f>
                      <m:r>
                        <a:rPr lang="es-CO" b="0" i="1" dirty="0" smtClean="0">
                          <a:solidFill>
                            <a:schemeClr val="accent1"/>
                          </a:solidFill>
                          <a:latin typeface="Cambria Math" panose="02040503050406030204" pitchFamily="18" charset="0"/>
                          <a:ea typeface="Cambria Math" panose="02040503050406030204" pitchFamily="18" charset="0"/>
                        </a:rPr>
                        <m:t>−1</m:t>
                      </m:r>
                    </m:oMath>
                  </m:oMathPara>
                </a14:m>
                <a:endParaRPr lang="es-CO" dirty="0">
                  <a:solidFill>
                    <a:srgbClr val="000000"/>
                  </a:solidFill>
                  <a:latin typeface="Cambria Math" panose="02040503050406030204" pitchFamily="18" charset="0"/>
                  <a:ea typeface="Cambria Math" panose="02040503050406030204" pitchFamily="18" charset="0"/>
                </a:endParaRPr>
              </a:p>
            </p:txBody>
          </p:sp>
        </mc:Choice>
        <mc:Fallback xmlns="">
          <p:sp>
            <p:nvSpPr>
              <p:cNvPr id="18" name="CuadroTexto 17">
                <a:extLst>
                  <a:ext uri="{FF2B5EF4-FFF2-40B4-BE49-F238E27FC236}">
                    <a16:creationId xmlns:a16="http://schemas.microsoft.com/office/drawing/2014/main" id="{D91B4BE4-C64A-608A-FD85-1EB81FBCD66B}"/>
                  </a:ext>
                </a:extLst>
              </p:cNvPr>
              <p:cNvSpPr txBox="1">
                <a:spLocks noRot="1" noChangeAspect="1" noMove="1" noResize="1" noEditPoints="1" noAdjustHandles="1" noChangeArrowheads="1" noChangeShapeType="1" noTextEdit="1"/>
              </p:cNvSpPr>
              <p:nvPr/>
            </p:nvSpPr>
            <p:spPr>
              <a:xfrm>
                <a:off x="1770004" y="5464151"/>
                <a:ext cx="2300630" cy="536750"/>
              </a:xfrm>
              <a:prstGeom prst="rect">
                <a:avLst/>
              </a:prstGeom>
              <a:blipFill>
                <a:blip r:embed="rId3"/>
                <a:stretch>
                  <a:fillRect/>
                </a:stretch>
              </a:blipFill>
            </p:spPr>
            <p:txBody>
              <a:bodyPr/>
              <a:lstStyle/>
              <a:p>
                <a:r>
                  <a:rPr lang="en-US">
                    <a:noFill/>
                  </a:rPr>
                  <a:t> </a:t>
                </a:r>
              </a:p>
            </p:txBody>
          </p:sp>
        </mc:Fallback>
      </mc:AlternateContent>
      <p:cxnSp>
        <p:nvCxnSpPr>
          <p:cNvPr id="19" name="Conector curvado 3">
            <a:extLst>
              <a:ext uri="{FF2B5EF4-FFF2-40B4-BE49-F238E27FC236}">
                <a16:creationId xmlns:a16="http://schemas.microsoft.com/office/drawing/2014/main" id="{A3339C1B-022B-B337-247C-7DBF11179DE0}"/>
              </a:ext>
            </a:extLst>
          </p:cNvPr>
          <p:cNvCxnSpPr>
            <a:cxnSpLocks/>
            <a:endCxn id="18" idx="3"/>
          </p:cNvCxnSpPr>
          <p:nvPr/>
        </p:nvCxnSpPr>
        <p:spPr>
          <a:xfrm rot="10800000" flipV="1">
            <a:off x="4070634" y="5142044"/>
            <a:ext cx="621380" cy="590482"/>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20275CD0-4B03-F620-A8E5-D6A0AD2AEC2B}"/>
                  </a:ext>
                </a:extLst>
              </p:cNvPr>
              <p:cNvSpPr txBox="1"/>
              <p:nvPr/>
            </p:nvSpPr>
            <p:spPr>
              <a:xfrm>
                <a:off x="2198010" y="2568542"/>
                <a:ext cx="7674429" cy="4517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CO" sz="2000" b="1" i="1" smtClean="0">
                              <a:solidFill>
                                <a:schemeClr val="tx1"/>
                              </a:solidFill>
                              <a:latin typeface="Cambria Math" panose="02040503050406030204" pitchFamily="18" charset="0"/>
                            </a:rPr>
                          </m:ctrlPr>
                        </m:sSubPr>
                        <m:e>
                          <m:r>
                            <a:rPr lang="es-ES_tradnl" sz="2000" b="1" i="1">
                              <a:solidFill>
                                <a:schemeClr val="tx1"/>
                              </a:solidFill>
                              <a:latin typeface="Cambria Math" panose="02040503050406030204" pitchFamily="18" charset="0"/>
                            </a:rPr>
                            <m:t>𝒊</m:t>
                          </m:r>
                        </m:e>
                        <m:sub>
                          <m:r>
                            <a:rPr lang="es-ES_tradnl" sz="2000" b="1" i="1">
                              <a:solidFill>
                                <a:schemeClr val="tx1"/>
                              </a:solidFill>
                              <a:latin typeface="Cambria Math" panose="02040503050406030204" pitchFamily="18" charset="0"/>
                            </a:rPr>
                            <m:t>𝒏𝒐𝒎𝒊𝒏𝒂𝒍</m:t>
                          </m:r>
                          <m:r>
                            <a:rPr lang="es-ES_tradnl" sz="2000" b="1" i="1">
                              <a:solidFill>
                                <a:schemeClr val="tx1"/>
                              </a:solidFill>
                              <a:latin typeface="Cambria Math" panose="02040503050406030204" pitchFamily="18" charset="0"/>
                            </a:rPr>
                            <m:t> (</m:t>
                          </m:r>
                          <m:r>
                            <a:rPr lang="es-ES_tradnl" sz="2000" b="1" i="1">
                              <a:solidFill>
                                <a:schemeClr val="tx1"/>
                              </a:solidFill>
                              <a:latin typeface="Cambria Math" panose="02040503050406030204" pitchFamily="18" charset="0"/>
                            </a:rPr>
                            <m:t>𝒄𝒐𝒓𝒓𝒊𝒆𝒏𝒕𝒆</m:t>
                          </m:r>
                          <m:r>
                            <a:rPr lang="es-ES_tradnl" sz="2000" b="1" i="1">
                              <a:solidFill>
                                <a:schemeClr val="tx1"/>
                              </a:solidFill>
                              <a:latin typeface="Cambria Math" panose="02040503050406030204" pitchFamily="18" charset="0"/>
                            </a:rPr>
                            <m:t>)</m:t>
                          </m:r>
                        </m:sub>
                      </m:sSub>
                      <m:r>
                        <a:rPr lang="es-ES_tradnl" sz="2000" b="1" i="1">
                          <a:solidFill>
                            <a:schemeClr val="tx1"/>
                          </a:solidFill>
                          <a:latin typeface="Cambria Math" panose="02040503050406030204" pitchFamily="18" charset="0"/>
                        </a:rPr>
                        <m:t>=</m:t>
                      </m:r>
                      <m:d>
                        <m:dPr>
                          <m:ctrlPr>
                            <a:rPr lang="es-CO" sz="2000" b="1" i="1">
                              <a:solidFill>
                                <a:schemeClr val="tx1"/>
                              </a:solidFill>
                              <a:latin typeface="Cambria Math" panose="02040503050406030204" pitchFamily="18" charset="0"/>
                            </a:rPr>
                          </m:ctrlPr>
                        </m:dPr>
                        <m:e>
                          <m:r>
                            <a:rPr lang="es-ES_tradnl" sz="2000" b="1" i="1">
                              <a:solidFill>
                                <a:schemeClr val="tx1"/>
                              </a:solidFill>
                              <a:latin typeface="Cambria Math" panose="02040503050406030204" pitchFamily="18" charset="0"/>
                            </a:rPr>
                            <m:t>𝟏</m:t>
                          </m:r>
                          <m:r>
                            <a:rPr lang="es-ES_tradnl" sz="2000" b="1" i="1">
                              <a:solidFill>
                                <a:schemeClr val="tx1"/>
                              </a:solidFill>
                              <a:latin typeface="Cambria Math" panose="02040503050406030204" pitchFamily="18" charset="0"/>
                            </a:rPr>
                            <m:t>+</m:t>
                          </m:r>
                          <m:sSub>
                            <m:sSubPr>
                              <m:ctrlPr>
                                <a:rPr lang="es-CO" sz="2000" b="1" i="1">
                                  <a:solidFill>
                                    <a:schemeClr val="tx1"/>
                                  </a:solidFill>
                                  <a:latin typeface="Cambria Math" panose="02040503050406030204" pitchFamily="18" charset="0"/>
                                </a:rPr>
                              </m:ctrlPr>
                            </m:sSubPr>
                            <m:e>
                              <m:r>
                                <a:rPr lang="es-ES_tradnl" sz="2000" b="1" i="1">
                                  <a:solidFill>
                                    <a:schemeClr val="tx1"/>
                                  </a:solidFill>
                                  <a:latin typeface="Cambria Math" panose="02040503050406030204" pitchFamily="18" charset="0"/>
                                </a:rPr>
                                <m:t>𝒊</m:t>
                              </m:r>
                            </m:e>
                            <m:sub>
                              <m:r>
                                <a:rPr lang="es-ES_tradnl" sz="2000" b="1" i="1">
                                  <a:solidFill>
                                    <a:schemeClr val="tx1"/>
                                  </a:solidFill>
                                  <a:latin typeface="Cambria Math" panose="02040503050406030204" pitchFamily="18" charset="0"/>
                                </a:rPr>
                                <m:t>𝒓𝒆𝒂𝒍</m:t>
                              </m:r>
                              <m:r>
                                <a:rPr lang="es-ES_tradnl" sz="2000" b="1" i="1">
                                  <a:solidFill>
                                    <a:schemeClr val="tx1"/>
                                  </a:solidFill>
                                  <a:latin typeface="Cambria Math" panose="02040503050406030204" pitchFamily="18" charset="0"/>
                                </a:rPr>
                                <m:t> </m:t>
                              </m:r>
                              <m:d>
                                <m:dPr>
                                  <m:ctrlPr>
                                    <a:rPr lang="es-CO" sz="2000" b="1" i="1">
                                      <a:solidFill>
                                        <a:schemeClr val="tx1"/>
                                      </a:solidFill>
                                      <a:latin typeface="Cambria Math" panose="02040503050406030204" pitchFamily="18" charset="0"/>
                                    </a:rPr>
                                  </m:ctrlPr>
                                </m:dPr>
                                <m:e>
                                  <m:r>
                                    <a:rPr lang="es-ES_tradnl" sz="2000" b="1" i="1">
                                      <a:solidFill>
                                        <a:schemeClr val="tx1"/>
                                      </a:solidFill>
                                      <a:latin typeface="Cambria Math" panose="02040503050406030204" pitchFamily="18" charset="0"/>
                                    </a:rPr>
                                    <m:t>𝒄𝒐𝒏𝒔𝒕𝒂𝒏𝒕𝒆</m:t>
                                  </m:r>
                                </m:e>
                              </m:d>
                            </m:sub>
                          </m:sSub>
                        </m:e>
                      </m:d>
                      <m:d>
                        <m:dPr>
                          <m:ctrlPr>
                            <a:rPr lang="es-CO" sz="2000" b="1" i="1">
                              <a:solidFill>
                                <a:schemeClr val="tx1"/>
                              </a:solidFill>
                              <a:latin typeface="Cambria Math" panose="02040503050406030204" pitchFamily="18" charset="0"/>
                            </a:rPr>
                          </m:ctrlPr>
                        </m:dPr>
                        <m:e>
                          <m:r>
                            <a:rPr lang="es-ES_tradnl" sz="2000" b="1" i="1">
                              <a:solidFill>
                                <a:schemeClr val="tx1"/>
                              </a:solidFill>
                              <a:latin typeface="Cambria Math" panose="02040503050406030204" pitchFamily="18" charset="0"/>
                            </a:rPr>
                            <m:t>𝟏</m:t>
                          </m:r>
                          <m:r>
                            <a:rPr lang="es-ES_tradnl" sz="2000" b="1" i="1">
                              <a:solidFill>
                                <a:schemeClr val="tx1"/>
                              </a:solidFill>
                              <a:latin typeface="Cambria Math" panose="02040503050406030204" pitchFamily="18" charset="0"/>
                            </a:rPr>
                            <m:t>+</m:t>
                          </m:r>
                          <m:sSub>
                            <m:sSubPr>
                              <m:ctrlPr>
                                <a:rPr lang="es-CO" sz="2000" b="1" i="1">
                                  <a:solidFill>
                                    <a:schemeClr val="tx1"/>
                                  </a:solidFill>
                                  <a:latin typeface="Cambria Math" panose="02040503050406030204" pitchFamily="18" charset="0"/>
                                </a:rPr>
                              </m:ctrlPr>
                            </m:sSubPr>
                            <m:e>
                              <m:r>
                                <a:rPr lang="es-ES_tradnl" sz="2000" b="1" i="1">
                                  <a:solidFill>
                                    <a:schemeClr val="tx1"/>
                                  </a:solidFill>
                                  <a:latin typeface="Cambria Math" panose="02040503050406030204" pitchFamily="18" charset="0"/>
                                </a:rPr>
                                <m:t>𝒊</m:t>
                              </m:r>
                            </m:e>
                            <m:sub>
                              <m:r>
                                <a:rPr lang="es-ES_tradnl" sz="2000" b="1" i="1">
                                  <a:solidFill>
                                    <a:schemeClr val="tx1"/>
                                  </a:solidFill>
                                  <a:latin typeface="Cambria Math" panose="02040503050406030204" pitchFamily="18" charset="0"/>
                                </a:rPr>
                                <m:t>𝒊𝒏𝒇𝒍𝒂𝒄𝒊</m:t>
                              </m:r>
                              <m:r>
                                <a:rPr lang="es-ES_tradnl" sz="2000" b="1" i="1">
                                  <a:solidFill>
                                    <a:schemeClr val="tx1"/>
                                  </a:solidFill>
                                  <a:latin typeface="Cambria Math" panose="02040503050406030204" pitchFamily="18" charset="0"/>
                                </a:rPr>
                                <m:t>ó</m:t>
                              </m:r>
                              <m:r>
                                <a:rPr lang="es-ES_tradnl" sz="2000" b="1" i="1">
                                  <a:solidFill>
                                    <a:schemeClr val="tx1"/>
                                  </a:solidFill>
                                  <a:latin typeface="Cambria Math" panose="02040503050406030204" pitchFamily="18" charset="0"/>
                                </a:rPr>
                                <m:t>𝒏</m:t>
                              </m:r>
                            </m:sub>
                          </m:sSub>
                        </m:e>
                      </m:d>
                    </m:oMath>
                  </m:oMathPara>
                </a14:m>
                <a:endParaRPr lang="es-CO" sz="2000" b="1" dirty="0">
                  <a:solidFill>
                    <a:schemeClr val="tx1"/>
                  </a:solidFill>
                </a:endParaRPr>
              </a:p>
            </p:txBody>
          </p:sp>
        </mc:Choice>
        <mc:Fallback xmlns="">
          <p:sp>
            <p:nvSpPr>
              <p:cNvPr id="3" name="CuadroTexto 2">
                <a:extLst>
                  <a:ext uri="{FF2B5EF4-FFF2-40B4-BE49-F238E27FC236}">
                    <a16:creationId xmlns:a16="http://schemas.microsoft.com/office/drawing/2014/main" id="{20275CD0-4B03-F620-A8E5-D6A0AD2AEC2B}"/>
                  </a:ext>
                </a:extLst>
              </p:cNvPr>
              <p:cNvSpPr txBox="1">
                <a:spLocks noRot="1" noChangeAspect="1" noMove="1" noResize="1" noEditPoints="1" noAdjustHandles="1" noChangeArrowheads="1" noChangeShapeType="1" noTextEdit="1"/>
              </p:cNvSpPr>
              <p:nvPr/>
            </p:nvSpPr>
            <p:spPr>
              <a:xfrm>
                <a:off x="2198010" y="2568542"/>
                <a:ext cx="7674429" cy="451790"/>
              </a:xfrm>
              <a:prstGeom prst="rect">
                <a:avLst/>
              </a:prstGeom>
              <a:blipFill>
                <a:blip r:embed="rId4"/>
                <a:stretch>
                  <a:fillRect b="-94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F5E22A9B-E595-E397-0943-B39223C0CC5B}"/>
                  </a:ext>
                </a:extLst>
              </p:cNvPr>
              <p:cNvSpPr txBox="1"/>
              <p:nvPr/>
            </p:nvSpPr>
            <p:spPr>
              <a:xfrm>
                <a:off x="6702924" y="5445749"/>
                <a:ext cx="2384294" cy="555408"/>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sSub>
                        <m:sSubPr>
                          <m:ctrlPr>
                            <a:rPr lang="es-419" i="1" smtClean="0">
                              <a:latin typeface="Cambria Math" panose="02040503050406030204" pitchFamily="18" charset="0"/>
                              <a:ea typeface="Cambria Math" panose="02040503050406030204" pitchFamily="18" charset="0"/>
                            </a:rPr>
                          </m:ctrlPr>
                        </m:sSubPr>
                        <m:e>
                          <m:r>
                            <a:rPr lang="es-CO" b="0" i="1" smtClean="0">
                              <a:latin typeface="Cambria Math" panose="02040503050406030204" pitchFamily="18" charset="0"/>
                              <a:ea typeface="Cambria Math" panose="02040503050406030204" pitchFamily="18" charset="0"/>
                            </a:rPr>
                            <m:t>𝑊𝐴𝐶𝐶</m:t>
                          </m:r>
                        </m:e>
                        <m:sub>
                          <m:r>
                            <a:rPr lang="es-CO" b="0" i="1" smtClean="0">
                              <a:latin typeface="Cambria Math" panose="02040503050406030204" pitchFamily="18" charset="0"/>
                              <a:ea typeface="Cambria Math" panose="02040503050406030204" pitchFamily="18" charset="0"/>
                            </a:rPr>
                            <m:t>2</m:t>
                          </m:r>
                        </m:sub>
                      </m:sSub>
                      <m:r>
                        <a:rPr lang="es-419" b="0" i="0" smtClean="0">
                          <a:latin typeface="Cambria Math" panose="02040503050406030204" pitchFamily="18" charset="0"/>
                          <a:ea typeface="Cambria Math" panose="02040503050406030204" pitchFamily="18" charset="0"/>
                        </a:rPr>
                        <m:t>=</m:t>
                      </m:r>
                      <m:f>
                        <m:fPr>
                          <m:ctrlPr>
                            <a:rPr lang="es-419" i="1" smtClean="0">
                              <a:latin typeface="Cambria Math" panose="02040503050406030204" pitchFamily="18" charset="0"/>
                              <a:ea typeface="Cambria Math" panose="02040503050406030204" pitchFamily="18" charset="0"/>
                            </a:rPr>
                          </m:ctrlPr>
                        </m:fPr>
                        <m:num>
                          <m:r>
                            <m:rPr>
                              <m:nor/>
                            </m:rPr>
                            <a:rPr lang="es-CO" i="0" dirty="0" smtClean="0">
                              <a:solidFill>
                                <a:srgbClr val="000000"/>
                              </a:solidFill>
                              <a:latin typeface="Cambria Math" panose="02040503050406030204" pitchFamily="18" charset="0"/>
                              <a:ea typeface="Cambria Math" panose="02040503050406030204" pitchFamily="18" charset="0"/>
                            </a:rPr>
                            <m:t>1+15%</m:t>
                          </m:r>
                          <m:r>
                            <m:rPr>
                              <m:nor/>
                            </m:rPr>
                            <a:rPr lang="es-CO" dirty="0">
                              <a:solidFill>
                                <a:srgbClr val="000000"/>
                              </a:solidFill>
                              <a:latin typeface="Cambria Math" panose="02040503050406030204" pitchFamily="18" charset="0"/>
                              <a:ea typeface="Cambria Math" panose="02040503050406030204" pitchFamily="18" charset="0"/>
                            </a:rPr>
                            <m:t> </m:t>
                          </m:r>
                        </m:num>
                        <m:den>
                          <m:r>
                            <m:rPr>
                              <m:nor/>
                            </m:rPr>
                            <a:rPr lang="es-CO" i="0" dirty="0" smtClean="0">
                              <a:solidFill>
                                <a:srgbClr val="000000"/>
                              </a:solidFill>
                              <a:latin typeface="Cambria Math" panose="02040503050406030204" pitchFamily="18" charset="0"/>
                              <a:ea typeface="Cambria Math" panose="02040503050406030204" pitchFamily="18" charset="0"/>
                            </a:rPr>
                            <m:t>1+4,5%</m:t>
                          </m:r>
                        </m:den>
                      </m:f>
                      <m:r>
                        <a:rPr lang="es-CO" b="0" i="1" dirty="0" smtClean="0">
                          <a:solidFill>
                            <a:schemeClr val="accent1"/>
                          </a:solidFill>
                          <a:latin typeface="Cambria Math" panose="02040503050406030204" pitchFamily="18" charset="0"/>
                          <a:ea typeface="Cambria Math" panose="02040503050406030204" pitchFamily="18" charset="0"/>
                        </a:rPr>
                        <m:t>−1</m:t>
                      </m:r>
                    </m:oMath>
                  </m:oMathPara>
                </a14:m>
                <a:endParaRPr lang="es-CO" dirty="0">
                  <a:solidFill>
                    <a:srgbClr val="000000"/>
                  </a:solidFill>
                  <a:latin typeface="Cambria Math" panose="02040503050406030204" pitchFamily="18" charset="0"/>
                  <a:ea typeface="Cambria Math" panose="02040503050406030204" pitchFamily="18" charset="0"/>
                </a:endParaRPr>
              </a:p>
            </p:txBody>
          </p:sp>
        </mc:Choice>
        <mc:Fallback xmlns="">
          <p:sp>
            <p:nvSpPr>
              <p:cNvPr id="23" name="CuadroTexto 22">
                <a:extLst>
                  <a:ext uri="{FF2B5EF4-FFF2-40B4-BE49-F238E27FC236}">
                    <a16:creationId xmlns:a16="http://schemas.microsoft.com/office/drawing/2014/main" id="{F5E22A9B-E595-E397-0943-B39223C0CC5B}"/>
                  </a:ext>
                </a:extLst>
              </p:cNvPr>
              <p:cNvSpPr txBox="1">
                <a:spLocks noRot="1" noChangeAspect="1" noMove="1" noResize="1" noEditPoints="1" noAdjustHandles="1" noChangeArrowheads="1" noChangeShapeType="1" noTextEdit="1"/>
              </p:cNvSpPr>
              <p:nvPr/>
            </p:nvSpPr>
            <p:spPr>
              <a:xfrm>
                <a:off x="6702924" y="5445749"/>
                <a:ext cx="2384294" cy="555408"/>
              </a:xfrm>
              <a:prstGeom prst="rect">
                <a:avLst/>
              </a:prstGeom>
              <a:blipFill>
                <a:blip r:embed="rId5"/>
                <a:stretch>
                  <a:fillRect/>
                </a:stretch>
              </a:blipFill>
            </p:spPr>
            <p:txBody>
              <a:bodyPr/>
              <a:lstStyle/>
              <a:p>
                <a:r>
                  <a:rPr lang="en-US">
                    <a:noFill/>
                  </a:rPr>
                  <a:t> </a:t>
                </a:r>
              </a:p>
            </p:txBody>
          </p:sp>
        </mc:Fallback>
      </mc:AlternateContent>
      <p:cxnSp>
        <p:nvCxnSpPr>
          <p:cNvPr id="24" name="Conector curvado 3">
            <a:extLst>
              <a:ext uri="{FF2B5EF4-FFF2-40B4-BE49-F238E27FC236}">
                <a16:creationId xmlns:a16="http://schemas.microsoft.com/office/drawing/2014/main" id="{B0D327B0-3ECD-DC04-73C8-517833B6E448}"/>
              </a:ext>
            </a:extLst>
          </p:cNvPr>
          <p:cNvCxnSpPr>
            <a:cxnSpLocks/>
            <a:stCxn id="17" idx="2"/>
            <a:endCxn id="23" idx="1"/>
          </p:cNvCxnSpPr>
          <p:nvPr/>
        </p:nvCxnSpPr>
        <p:spPr>
          <a:xfrm rot="16200000" flipH="1">
            <a:off x="6088079" y="5108608"/>
            <a:ext cx="581408" cy="648281"/>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3893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ppt_x"/>
                                          </p:val>
                                        </p:tav>
                                        <p:tav tm="100000">
                                          <p:val>
                                            <p:strVal val="#ppt_x"/>
                                          </p:val>
                                        </p:tav>
                                      </p:tavLst>
                                    </p:anim>
                                    <p:anim calcmode="lin" valueType="num">
                                      <p:cBhvr additive="base">
                                        <p:cTn id="1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fill="hold"/>
                                        <p:tgtEl>
                                          <p:spTgt spid="24"/>
                                        </p:tgtEl>
                                        <p:attrNameLst>
                                          <p:attrName>ppt_x</p:attrName>
                                        </p:attrNameLst>
                                      </p:cBhvr>
                                      <p:tavLst>
                                        <p:tav tm="0">
                                          <p:val>
                                            <p:strVal val="#ppt_x"/>
                                          </p:val>
                                        </p:tav>
                                        <p:tav tm="100000">
                                          <p:val>
                                            <p:strVal val="#ppt_x"/>
                                          </p:val>
                                        </p:tav>
                                      </p:tavLst>
                                    </p:anim>
                                    <p:anim calcmode="lin" valueType="num">
                                      <p:cBhvr additive="base">
                                        <p:cTn id="22" dur="500" fill="hold"/>
                                        <p:tgtEl>
                                          <p:spTgt spid="24"/>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anim calcmode="lin" valueType="num">
                                      <p:cBhvr additive="base">
                                        <p:cTn id="25" dur="500" fill="hold"/>
                                        <p:tgtEl>
                                          <p:spTgt spid="23"/>
                                        </p:tgtEl>
                                        <p:attrNameLst>
                                          <p:attrName>ppt_x</p:attrName>
                                        </p:attrNameLst>
                                      </p:cBhvr>
                                      <p:tavLst>
                                        <p:tav tm="0">
                                          <p:val>
                                            <p:strVal val="#ppt_x"/>
                                          </p:val>
                                        </p:tav>
                                        <p:tav tm="100000">
                                          <p:val>
                                            <p:strVal val="#ppt_x"/>
                                          </p:val>
                                        </p:tav>
                                      </p:tavLst>
                                    </p:anim>
                                    <p:anim calcmode="lin" valueType="num">
                                      <p:cBhvr additive="base">
                                        <p:cTn id="26"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EAEEC-1F60-DBCE-BBB8-64E6FE4D8D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B83363-1E23-923F-4E54-16C327A043C2}"/>
              </a:ext>
            </a:extLst>
          </p:cNvPr>
          <p:cNvSpPr>
            <a:spLocks noGrp="1"/>
          </p:cNvSpPr>
          <p:nvPr>
            <p:ph type="title"/>
          </p:nvPr>
        </p:nvSpPr>
        <p:spPr/>
        <p:txBody>
          <a:bodyPr>
            <a:normAutofit/>
          </a:bodyPr>
          <a:lstStyle/>
          <a:p>
            <a:r>
              <a:rPr lang="es-ES" sz="3200" dirty="0">
                <a:latin typeface="Century Gothic" panose="020B0502020202020204" pitchFamily="34" charset="0"/>
              </a:rPr>
              <a:t>INFLACIÓN VARIABLE - PROCESO</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354363D6-A3B6-05EB-CEC3-F4E3426979B5}"/>
              </a:ext>
            </a:extLst>
          </p:cNvPr>
          <p:cNvSpPr>
            <a:spLocks noGrp="1"/>
          </p:cNvSpPr>
          <p:nvPr>
            <p:ph type="sldNum" sz="quarter" idx="12"/>
          </p:nvPr>
        </p:nvSpPr>
        <p:spPr/>
        <p:txBody>
          <a:bodyPr/>
          <a:lstStyle/>
          <a:p>
            <a:fld id="{5E3E23BA-6E79-2442-BA73-D218A5E297C3}" type="slidenum">
              <a:rPr lang="en-US" sz="1800" smtClean="0"/>
              <a:t>52</a:t>
            </a:fld>
            <a:endParaRPr lang="en-US" sz="1800" dirty="0"/>
          </a:p>
        </p:txBody>
      </p:sp>
      <p:sp>
        <p:nvSpPr>
          <p:cNvPr id="5" name="Rectángulo 4">
            <a:extLst>
              <a:ext uri="{FF2B5EF4-FFF2-40B4-BE49-F238E27FC236}">
                <a16:creationId xmlns:a16="http://schemas.microsoft.com/office/drawing/2014/main" id="{D6B58C80-7DCF-EA00-D815-9CC08988A0A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7730685A-3E0C-AD8A-59AF-5D70F71907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5AD979BF-D2D5-D318-85CC-8B3D86FBA29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CuadroTexto 11">
            <a:extLst>
              <a:ext uri="{FF2B5EF4-FFF2-40B4-BE49-F238E27FC236}">
                <a16:creationId xmlns:a16="http://schemas.microsoft.com/office/drawing/2014/main" id="{4A945F08-A515-31D5-7D39-5F35235910BC}"/>
              </a:ext>
            </a:extLst>
          </p:cNvPr>
          <p:cNvSpPr txBox="1"/>
          <p:nvPr/>
        </p:nvSpPr>
        <p:spPr>
          <a:xfrm>
            <a:off x="539834" y="1978060"/>
            <a:ext cx="10018466" cy="369332"/>
          </a:xfrm>
          <a:prstGeom prst="rect">
            <a:avLst/>
          </a:prstGeom>
          <a:noFill/>
        </p:spPr>
        <p:txBody>
          <a:bodyPr wrap="square">
            <a:spAutoFit/>
          </a:bodyPr>
          <a:lstStyle/>
          <a:p>
            <a:r>
              <a:rPr lang="es-MX" dirty="0">
                <a:solidFill>
                  <a:schemeClr val="accent1"/>
                </a:solidFill>
                <a:latin typeface="Century Gothic" panose="020B0502020202020204" pitchFamily="34" charset="0"/>
              </a:rPr>
              <a:t>5. Determinar el VPN o el indicador propicio del </a:t>
            </a:r>
            <a:r>
              <a:rPr lang="es-MX" dirty="0" err="1">
                <a:solidFill>
                  <a:schemeClr val="accent1"/>
                </a:solidFill>
                <a:latin typeface="Century Gothic" panose="020B0502020202020204" pitchFamily="34" charset="0"/>
              </a:rPr>
              <a:t>FCL</a:t>
            </a:r>
            <a:r>
              <a:rPr lang="es-MX" dirty="0">
                <a:solidFill>
                  <a:schemeClr val="accent1"/>
                </a:solidFill>
                <a:latin typeface="Century Gothic" panose="020B0502020202020204" pitchFamily="34" charset="0"/>
              </a:rPr>
              <a:t>.</a:t>
            </a:r>
          </a:p>
        </p:txBody>
      </p:sp>
      <p:sp>
        <p:nvSpPr>
          <p:cNvPr id="8" name="CuadroTexto 7">
            <a:extLst>
              <a:ext uri="{FF2B5EF4-FFF2-40B4-BE49-F238E27FC236}">
                <a16:creationId xmlns:a16="http://schemas.microsoft.com/office/drawing/2014/main" id="{1C4BF142-7D46-5A6E-477A-E8531F216ADC}"/>
              </a:ext>
            </a:extLst>
          </p:cNvPr>
          <p:cNvSpPr txBox="1"/>
          <p:nvPr/>
        </p:nvSpPr>
        <p:spPr>
          <a:xfrm>
            <a:off x="597628" y="2375622"/>
            <a:ext cx="11029615" cy="646331"/>
          </a:xfrm>
          <a:prstGeom prst="rect">
            <a:avLst/>
          </a:prstGeom>
          <a:noFill/>
        </p:spPr>
        <p:txBody>
          <a:bodyPr wrap="square" rtlCol="0">
            <a:spAutoFit/>
          </a:bodyPr>
          <a:lstStyle/>
          <a:p>
            <a:r>
              <a:rPr lang="es-CO" dirty="0">
                <a:solidFill>
                  <a:schemeClr val="accent1"/>
                </a:solidFill>
                <a:latin typeface="Century Gothic" panose="020B0502020202020204" pitchFamily="34" charset="0"/>
              </a:rPr>
              <a:t>Calculamos los VPN, descontando cada FCL por periodo en función de su WACC y sumándole el FCL del periodo anterior. Comenzamos con el último periodo.</a:t>
            </a:r>
          </a:p>
        </p:txBody>
      </p:sp>
      <p:graphicFrame>
        <p:nvGraphicFramePr>
          <p:cNvPr id="9" name="Table 24">
            <a:extLst>
              <a:ext uri="{FF2B5EF4-FFF2-40B4-BE49-F238E27FC236}">
                <a16:creationId xmlns:a16="http://schemas.microsoft.com/office/drawing/2014/main" id="{8D0056E0-4E19-45D8-0BCE-9826459C0287}"/>
              </a:ext>
            </a:extLst>
          </p:cNvPr>
          <p:cNvGraphicFramePr>
            <a:graphicFrameLocks noGrp="1"/>
          </p:cNvGraphicFramePr>
          <p:nvPr/>
        </p:nvGraphicFramePr>
        <p:xfrm>
          <a:off x="597628" y="3139523"/>
          <a:ext cx="11029618" cy="1368977"/>
        </p:xfrm>
        <a:graphic>
          <a:graphicData uri="http://schemas.openxmlformats.org/drawingml/2006/table">
            <a:tbl>
              <a:tblPr firstRow="1" bandRow="1">
                <a:tableStyleId>{5C22544A-7EE6-4342-B048-85BDC9FD1C3A}</a:tableStyleId>
              </a:tblPr>
              <a:tblGrid>
                <a:gridCol w="1956868">
                  <a:extLst>
                    <a:ext uri="{9D8B030D-6E8A-4147-A177-3AD203B41FA5}">
                      <a16:colId xmlns:a16="http://schemas.microsoft.com/office/drawing/2014/main" val="20000"/>
                    </a:ext>
                  </a:extLst>
                </a:gridCol>
                <a:gridCol w="1512125">
                  <a:extLst>
                    <a:ext uri="{9D8B030D-6E8A-4147-A177-3AD203B41FA5}">
                      <a16:colId xmlns:a16="http://schemas.microsoft.com/office/drawing/2014/main" val="462233394"/>
                    </a:ext>
                  </a:extLst>
                </a:gridCol>
                <a:gridCol w="1512125">
                  <a:extLst>
                    <a:ext uri="{9D8B030D-6E8A-4147-A177-3AD203B41FA5}">
                      <a16:colId xmlns:a16="http://schemas.microsoft.com/office/drawing/2014/main" val="20001"/>
                    </a:ext>
                  </a:extLst>
                </a:gridCol>
                <a:gridCol w="1512125">
                  <a:extLst>
                    <a:ext uri="{9D8B030D-6E8A-4147-A177-3AD203B41FA5}">
                      <a16:colId xmlns:a16="http://schemas.microsoft.com/office/drawing/2014/main" val="20002"/>
                    </a:ext>
                  </a:extLst>
                </a:gridCol>
                <a:gridCol w="1512125">
                  <a:extLst>
                    <a:ext uri="{9D8B030D-6E8A-4147-A177-3AD203B41FA5}">
                      <a16:colId xmlns:a16="http://schemas.microsoft.com/office/drawing/2014/main" val="2283629264"/>
                    </a:ext>
                  </a:extLst>
                </a:gridCol>
                <a:gridCol w="1512125">
                  <a:extLst>
                    <a:ext uri="{9D8B030D-6E8A-4147-A177-3AD203B41FA5}">
                      <a16:colId xmlns:a16="http://schemas.microsoft.com/office/drawing/2014/main" val="4093278982"/>
                    </a:ext>
                  </a:extLst>
                </a:gridCol>
                <a:gridCol w="1512125">
                  <a:extLst>
                    <a:ext uri="{9D8B030D-6E8A-4147-A177-3AD203B41FA5}">
                      <a16:colId xmlns:a16="http://schemas.microsoft.com/office/drawing/2014/main" val="837620919"/>
                    </a:ext>
                  </a:extLst>
                </a:gridCol>
              </a:tblGrid>
              <a:tr h="247747">
                <a:tc>
                  <a:txBody>
                    <a:bodyPr/>
                    <a:lstStyle/>
                    <a:p>
                      <a:pPr algn="ctr"/>
                      <a:r>
                        <a:rPr lang="es-ES_tradnl" sz="12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2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2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2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2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2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2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247747">
                <a:tc>
                  <a:txBody>
                    <a:bodyPr/>
                    <a:lstStyle/>
                    <a:p>
                      <a:pPr marL="0" algn="ctr" defTabSz="457200" rtl="0" eaLnBrk="1" latinLnBrk="0" hangingPunct="1"/>
                      <a:r>
                        <a:rPr lang="es-ES_tradnl" sz="1200" b="1" kern="1200" noProof="0" dirty="0">
                          <a:solidFill>
                            <a:schemeClr val="lt1"/>
                          </a:solidFill>
                          <a:latin typeface="Century Gothic" panose="020B0502020202020204" pitchFamily="34" charset="0"/>
                          <a:ea typeface="+mn-ea"/>
                          <a:cs typeface="+mn-cs"/>
                        </a:rPr>
                        <a:t>Inflación</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fontAlgn="b"/>
                      <a:endParaRPr lang="es-CO" sz="1200" b="1" i="0" u="none" strike="noStrike" dirty="0">
                        <a:solidFill>
                          <a:schemeClr val="bg1"/>
                        </a:solidFill>
                        <a:effectLst/>
                        <a:latin typeface="Century Gothic" panose="020B0502020202020204" pitchFamily="34" charset="0"/>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r>
                        <a:rPr lang="es-ES_tradnl" sz="1200" b="1" kern="1200" noProof="0" dirty="0">
                          <a:solidFill>
                            <a:schemeClr val="lt1"/>
                          </a:solidFill>
                          <a:latin typeface="Century Gothic" panose="020B0502020202020204" pitchFamily="34" charset="0"/>
                          <a:ea typeface="+mn-ea"/>
                          <a:cs typeface="+mn-cs"/>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r>
                        <a:rPr lang="es-ES_tradnl" sz="1200" b="1" kern="1200" noProof="0" dirty="0">
                          <a:solidFill>
                            <a:schemeClr val="lt1"/>
                          </a:solidFill>
                          <a:latin typeface="Century Gothic" panose="020B0502020202020204" pitchFamily="34" charset="0"/>
                          <a:ea typeface="+mn-ea"/>
                          <a:cs typeface="+mn-cs"/>
                        </a:rPr>
                        <a:t>4,5%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r>
                        <a:rPr lang="es-ES_tradnl" sz="1200" b="1" kern="1200" noProof="0" dirty="0">
                          <a:solidFill>
                            <a:schemeClr val="lt1"/>
                          </a:solidFill>
                          <a:latin typeface="Century Gothic" panose="020B0502020202020204" pitchFamily="34" charset="0"/>
                          <a:ea typeface="+mn-ea"/>
                          <a:cs typeface="+mn-cs"/>
                        </a:rPr>
                        <a:t>3,5%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r>
                        <a:rPr lang="es-ES_tradnl" sz="1200" b="1" kern="1200" noProof="0" dirty="0">
                          <a:solidFill>
                            <a:schemeClr val="lt1"/>
                          </a:solidFill>
                          <a:latin typeface="Century Gothic" panose="020B0502020202020204" pitchFamily="34" charset="0"/>
                          <a:ea typeface="+mn-ea"/>
                          <a:cs typeface="+mn-cs"/>
                        </a:rPr>
                        <a:t>6%</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latinLnBrk="0" hangingPunct="1"/>
                      <a:r>
                        <a:rPr lang="es-ES_tradnl" sz="1200" b="1" kern="1200" noProof="0" dirty="0">
                          <a:solidFill>
                            <a:schemeClr val="lt1"/>
                          </a:solidFill>
                          <a:latin typeface="Century Gothic" panose="020B0502020202020204" pitchFamily="34" charset="0"/>
                          <a:ea typeface="+mn-ea"/>
                          <a:cs typeface="+mn-cs"/>
                        </a:rPr>
                        <a:t>5,5%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435524051"/>
                  </a:ext>
                </a:extLst>
              </a:tr>
              <a:tr h="281470">
                <a:tc>
                  <a:txBody>
                    <a:bodyPr/>
                    <a:lstStyle/>
                    <a:p>
                      <a:pPr algn="l"/>
                      <a:r>
                        <a:rPr lang="es-ES_tradnl" sz="1200" b="1" noProof="0" dirty="0" err="1">
                          <a:solidFill>
                            <a:schemeClr val="accent1"/>
                          </a:solidFill>
                          <a:latin typeface="Century Gothic" panose="020B0502020202020204" pitchFamily="34" charset="0"/>
                        </a:rPr>
                        <a:t>FCL</a:t>
                      </a:r>
                      <a:r>
                        <a:rPr lang="es-ES_tradnl" sz="1200" b="1" noProof="0" dirty="0">
                          <a:solidFill>
                            <a:schemeClr val="accent1"/>
                          </a:solidFill>
                          <a:latin typeface="Century Gothic" panose="020B0502020202020204" pitchFamily="34" charset="0"/>
                        </a:rPr>
                        <a:t> Real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$-20.000.000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$6.282.143</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$6.228.008</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$6.187.326</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b="1" kern="1200" dirty="0">
                          <a:solidFill>
                            <a:srgbClr val="0070C0"/>
                          </a:solidFill>
                          <a:latin typeface="Century Gothic" panose="020B0502020202020204" pitchFamily="34" charset="0"/>
                          <a:ea typeface="+mn-ea"/>
                          <a:cs typeface="+mn-cs"/>
                        </a:rPr>
                        <a:t>$6.121.534</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$6.064.369</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587449290"/>
                  </a:ext>
                </a:extLst>
              </a:tr>
              <a:tr h="281470">
                <a:tc>
                  <a:txBody>
                    <a:bodyPr/>
                    <a:lstStyle/>
                    <a:p>
                      <a:pPr algn="l"/>
                      <a:r>
                        <a:rPr lang="es-ES_tradnl" sz="1200" b="1" noProof="0" dirty="0" err="1">
                          <a:solidFill>
                            <a:schemeClr val="accent1"/>
                          </a:solidFill>
                          <a:latin typeface="Century Gothic" panose="020B0502020202020204" pitchFamily="34" charset="0"/>
                        </a:rPr>
                        <a:t>WACC</a:t>
                      </a:r>
                      <a:r>
                        <a:rPr lang="es-ES_tradnl" sz="1200" b="1" noProof="0" dirty="0">
                          <a:solidFill>
                            <a:schemeClr val="accent1"/>
                          </a:solidFill>
                          <a:latin typeface="Century Gothic" panose="020B0502020202020204" pitchFamily="34" charset="0"/>
                        </a:rPr>
                        <a:t> Real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rtl="0" fontAlgn="b"/>
                      <a:r>
                        <a:rPr lang="es-CO" sz="1200" b="0" i="0" u="none" strike="noStrike" dirty="0">
                          <a:solidFill>
                            <a:schemeClr val="accent1"/>
                          </a:solidFill>
                          <a:effectLst/>
                          <a:latin typeface="Century Gothic" panose="020B0502020202020204" pitchFamily="34" charset="0"/>
                        </a:rPr>
                        <a:t>9,52%</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rtl="0" fontAlgn="b"/>
                      <a:r>
                        <a:rPr lang="es-CO" sz="1200" b="0" i="0" u="none" strike="noStrike" dirty="0">
                          <a:solidFill>
                            <a:schemeClr val="accent1"/>
                          </a:solidFill>
                          <a:effectLst/>
                          <a:latin typeface="Century Gothic" panose="020B0502020202020204" pitchFamily="34" charset="0"/>
                        </a:rPr>
                        <a:t>10,05%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rtl="0" fontAlgn="b"/>
                      <a:r>
                        <a:rPr lang="es-CO" sz="1200" b="0" i="0" u="none" strike="noStrike" dirty="0">
                          <a:solidFill>
                            <a:schemeClr val="accent1"/>
                          </a:solidFill>
                          <a:effectLst/>
                          <a:latin typeface="Century Gothic" panose="020B0502020202020204" pitchFamily="34" charset="0"/>
                        </a:rPr>
                        <a:t>11,11%</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rtl="0" fontAlgn="b"/>
                      <a:r>
                        <a:rPr lang="es-CO" sz="1200" b="0" i="0" u="none" strike="noStrike" dirty="0">
                          <a:solidFill>
                            <a:schemeClr val="accent1"/>
                          </a:solidFill>
                          <a:effectLst/>
                          <a:latin typeface="Century Gothic" panose="020B0502020202020204" pitchFamily="34" charset="0"/>
                        </a:rPr>
                        <a:t>8,49%</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rtl="0" fontAlgn="b"/>
                      <a:r>
                        <a:rPr lang="es-CO" sz="1200" b="0" i="0" u="none" strike="noStrike" dirty="0">
                          <a:solidFill>
                            <a:schemeClr val="accent1"/>
                          </a:solidFill>
                          <a:effectLst/>
                          <a:latin typeface="Century Gothic" panose="020B0502020202020204" pitchFamily="34" charset="0"/>
                        </a:rPr>
                        <a:t>9,00%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4043519238"/>
                  </a:ext>
                </a:extLst>
              </a:tr>
              <a:tr h="257397">
                <a:tc>
                  <a:txBody>
                    <a:bodyPr/>
                    <a:lstStyle/>
                    <a:p>
                      <a:pPr marL="0" algn="l" defTabSz="457200" rtl="0" eaLnBrk="1" fontAlgn="b" latinLnBrk="0" hangingPunct="1"/>
                      <a:r>
                        <a:rPr lang="es-CO" sz="1200" kern="1200" dirty="0">
                          <a:solidFill>
                            <a:schemeClr val="accent1"/>
                          </a:solidFill>
                          <a:latin typeface="Century Gothic" panose="020B0502020202020204" pitchFamily="34" charset="0"/>
                          <a:ea typeface="+mn-ea"/>
                          <a:cs typeface="+mn-cs"/>
                        </a:rPr>
                        <a:t>  </a:t>
                      </a:r>
                      <a:r>
                        <a:rPr lang="es-CO" sz="1400" b="1" kern="1200" dirty="0">
                          <a:solidFill>
                            <a:schemeClr val="accent1"/>
                          </a:solidFill>
                          <a:latin typeface="Century Gothic" panose="020B0502020202020204" pitchFamily="34" charset="0"/>
                          <a:ea typeface="+mn-ea"/>
                          <a:cs typeface="+mn-cs"/>
                        </a:rPr>
                        <a:t>VPN Real</a:t>
                      </a:r>
                      <a:endParaRPr lang="es-CO" sz="1200" b="1"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b="1" kern="1200" dirty="0">
                          <a:solidFill>
                            <a:srgbClr val="C00000"/>
                          </a:solidFill>
                          <a:latin typeface="Century Gothic" panose="020B0502020202020204" pitchFamily="34" charset="0"/>
                          <a:ea typeface="+mn-ea"/>
                          <a:cs typeface="+mn-cs"/>
                        </a:rPr>
                        <a:t>$ 3.565.676</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$25.810.026</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$21.490.015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$16.957.786</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b="1" kern="1200" dirty="0">
                          <a:solidFill>
                            <a:schemeClr val="accent1"/>
                          </a:solidFill>
                          <a:latin typeface="Century Gothic" panose="020B0502020202020204" pitchFamily="34" charset="0"/>
                          <a:ea typeface="+mn-ea"/>
                          <a:cs typeface="+mn-cs"/>
                        </a:rPr>
                        <a:t>$11.684.933</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b="1" kern="1200" dirty="0">
                          <a:solidFill>
                            <a:schemeClr val="tx1"/>
                          </a:solidFill>
                          <a:latin typeface="Century Gothic" panose="020B0502020202020204" pitchFamily="34" charset="0"/>
                          <a:ea typeface="+mn-ea"/>
                          <a:cs typeface="+mn-cs"/>
                        </a:rPr>
                        <a:t>$6.064.368</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586364196"/>
                  </a:ext>
                </a:extLst>
              </a:tr>
            </a:tbl>
          </a:graphicData>
        </a:graphic>
      </p:graphicFrame>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F041D8DE-76F6-9275-B737-A623FA6E024C}"/>
                  </a:ext>
                </a:extLst>
              </p:cNvPr>
              <p:cNvSpPr txBox="1"/>
              <p:nvPr/>
            </p:nvSpPr>
            <p:spPr>
              <a:xfrm>
                <a:off x="6754904" y="4677782"/>
                <a:ext cx="4320991" cy="697883"/>
              </a:xfrm>
              <a:prstGeom prst="rect">
                <a:avLst/>
              </a:prstGeom>
              <a:noFill/>
            </p:spPr>
            <p:txBody>
              <a:bodyPr wrap="none" lIns="0" tIns="0" rIns="0" bIns="0" rtlCol="0">
                <a:spAutoFit/>
              </a:bodyPr>
              <a:lstStyle/>
              <a:p>
                <a14:m>
                  <m:oMath xmlns:m="http://schemas.openxmlformats.org/officeDocument/2006/math">
                    <m:r>
                      <m:rPr>
                        <m:sty m:val="p"/>
                      </m:rPr>
                      <a:rPr lang="es-419" sz="1600" b="0" i="0" smtClean="0">
                        <a:latin typeface="Cambria Math" panose="02040503050406030204" pitchFamily="18" charset="0"/>
                        <a:ea typeface="Cambria Math" panose="02040503050406030204" pitchFamily="18" charset="0"/>
                      </a:rPr>
                      <m:t>V</m:t>
                    </m:r>
                    <m:sSub>
                      <m:sSubPr>
                        <m:ctrlPr>
                          <a:rPr lang="es-419" sz="1600" b="0" i="1" smtClean="0">
                            <a:latin typeface="Cambria Math" panose="02040503050406030204" pitchFamily="18" charset="0"/>
                            <a:ea typeface="Cambria Math" panose="02040503050406030204" pitchFamily="18" charset="0"/>
                          </a:rPr>
                        </m:ctrlPr>
                      </m:sSubPr>
                      <m:e>
                        <m:r>
                          <m:rPr>
                            <m:sty m:val="p"/>
                          </m:rPr>
                          <a:rPr lang="es-419" sz="1600" b="0" i="0" smtClean="0">
                            <a:latin typeface="Cambria Math" panose="02040503050406030204" pitchFamily="18" charset="0"/>
                            <a:ea typeface="Cambria Math" panose="02040503050406030204" pitchFamily="18" charset="0"/>
                          </a:rPr>
                          <m:t>P</m:t>
                        </m:r>
                      </m:e>
                      <m:sub>
                        <m:r>
                          <a:rPr lang="es-419" sz="1600" b="0" i="0" smtClean="0">
                            <a:latin typeface="Cambria Math" panose="02040503050406030204" pitchFamily="18" charset="0"/>
                            <a:ea typeface="Cambria Math" panose="02040503050406030204" pitchFamily="18" charset="0"/>
                          </a:rPr>
                          <m:t>4</m:t>
                        </m:r>
                      </m:sub>
                    </m:sSub>
                    <m:r>
                      <a:rPr lang="es-419" sz="1600" b="0" i="0" smtClean="0">
                        <a:latin typeface="Cambria Math" panose="02040503050406030204" pitchFamily="18" charset="0"/>
                        <a:ea typeface="Cambria Math" panose="02040503050406030204" pitchFamily="18" charset="0"/>
                      </a:rPr>
                      <m:t>=</m:t>
                    </m:r>
                    <m:d>
                      <m:dPr>
                        <m:ctrlPr>
                          <a:rPr lang="es-419" sz="1600" b="0" i="1" smtClean="0">
                            <a:latin typeface="Cambria Math" panose="02040503050406030204" pitchFamily="18" charset="0"/>
                            <a:ea typeface="Cambria Math" panose="02040503050406030204" pitchFamily="18" charset="0"/>
                          </a:rPr>
                        </m:ctrlPr>
                      </m:dPr>
                      <m:e>
                        <m:f>
                          <m:fPr>
                            <m:ctrlPr>
                              <a:rPr lang="es-419" sz="1600" i="1">
                                <a:latin typeface="Cambria Math" panose="02040503050406030204" pitchFamily="18" charset="0"/>
                                <a:ea typeface="Cambria Math" panose="02040503050406030204" pitchFamily="18" charset="0"/>
                              </a:rPr>
                            </m:ctrlPr>
                          </m:fPr>
                          <m:num>
                            <m:r>
                              <m:rPr>
                                <m:nor/>
                              </m:rPr>
                              <a:rPr lang="es-419" sz="1600" b="1" smtClean="0">
                                <a:latin typeface="Cambria Math" panose="02040503050406030204" pitchFamily="18" charset="0"/>
                                <a:ea typeface="Cambria Math" panose="02040503050406030204" pitchFamily="18" charset="0"/>
                              </a:rPr>
                              <m:t>$</m:t>
                            </m:r>
                            <m:r>
                              <m:rPr>
                                <m:nor/>
                              </m:rPr>
                              <a:rPr lang="es-CO" sz="1600" b="1" dirty="0">
                                <a:solidFill>
                                  <a:srgbClr val="000000"/>
                                </a:solidFill>
                                <a:latin typeface="Cambria Math" panose="02040503050406030204" pitchFamily="18" charset="0"/>
                                <a:ea typeface="Cambria Math" panose="02040503050406030204" pitchFamily="18" charset="0"/>
                              </a:rPr>
                              <m:t>6.064.368 </m:t>
                            </m:r>
                          </m:num>
                          <m:den>
                            <m:r>
                              <a:rPr lang="es-419" sz="1600" i="0">
                                <a:latin typeface="Cambria Math" panose="02040503050406030204" pitchFamily="18" charset="0"/>
                                <a:ea typeface="Cambria Math" panose="02040503050406030204" pitchFamily="18" charset="0"/>
                              </a:rPr>
                              <m:t>1+9%</m:t>
                            </m:r>
                          </m:den>
                        </m:f>
                      </m:e>
                    </m:d>
                    <m:r>
                      <a:rPr lang="es-419" sz="1600" b="0" i="0" smtClean="0">
                        <a:latin typeface="Cambria Math" panose="02040503050406030204" pitchFamily="18" charset="0"/>
                        <a:ea typeface="Cambria Math" panose="02040503050406030204" pitchFamily="18" charset="0"/>
                      </a:rPr>
                      <m:t>+</m:t>
                    </m:r>
                    <m:r>
                      <m:rPr>
                        <m:nor/>
                      </m:rPr>
                      <a:rPr lang="es-419" sz="1600" b="1" smtClean="0">
                        <a:solidFill>
                          <a:srgbClr val="0070C0"/>
                        </a:solidFill>
                        <a:latin typeface="Cambria Math" panose="02040503050406030204" pitchFamily="18" charset="0"/>
                        <a:ea typeface="Cambria Math" panose="02040503050406030204" pitchFamily="18" charset="0"/>
                      </a:rPr>
                      <m:t>$</m:t>
                    </m:r>
                    <m:r>
                      <m:rPr>
                        <m:nor/>
                      </m:rPr>
                      <a:rPr lang="es-CO" sz="1600" b="1" dirty="0" smtClean="0">
                        <a:solidFill>
                          <a:srgbClr val="0070C0"/>
                        </a:solidFill>
                        <a:latin typeface="Cambria Math" panose="02040503050406030204" pitchFamily="18" charset="0"/>
                        <a:ea typeface="Cambria Math" panose="02040503050406030204" pitchFamily="18" charset="0"/>
                      </a:rPr>
                      <m:t>6.121.534</m:t>
                    </m:r>
                  </m:oMath>
                </a14:m>
                <a:r>
                  <a:rPr lang="es-CO" sz="1400" b="1" dirty="0">
                    <a:solidFill>
                      <a:schemeClr val="accent1"/>
                    </a:solidFill>
                    <a:latin typeface="Cambria Math" panose="02040503050406030204" pitchFamily="18" charset="0"/>
                    <a:ea typeface="Cambria Math" panose="02040503050406030204" pitchFamily="18" charset="0"/>
                  </a:rPr>
                  <a:t> </a:t>
                </a:r>
                <a:r>
                  <a:rPr lang="es-CO" sz="1400" b="1" dirty="0">
                    <a:solidFill>
                      <a:srgbClr val="0070C0"/>
                    </a:solidFill>
                    <a:latin typeface="Cambria Math" panose="02040503050406030204" pitchFamily="18" charset="0"/>
                    <a:ea typeface="Cambria Math" panose="02040503050406030204" pitchFamily="18" charset="0"/>
                  </a:rPr>
                  <a:t>= </a:t>
                </a:r>
                <a:r>
                  <a:rPr lang="es-CO" sz="1400" b="1" dirty="0">
                    <a:latin typeface="Cambria Math" panose="02040503050406030204" pitchFamily="18" charset="0"/>
                    <a:ea typeface="Cambria Math" panose="02040503050406030204" pitchFamily="18" charset="0"/>
                  </a:rPr>
                  <a:t>$11.684.933</a:t>
                </a:r>
                <a:endParaRPr lang="es-CO" sz="1600" b="1" dirty="0">
                  <a:latin typeface="Cambria Math" panose="02040503050406030204" pitchFamily="18" charset="0"/>
                  <a:ea typeface="Cambria Math" panose="02040503050406030204" pitchFamily="18" charset="0"/>
                </a:endParaRPr>
              </a:p>
              <a:p>
                <a:endParaRPr lang="es-CO" sz="1600" dirty="0">
                  <a:latin typeface="Cambria Math" panose="02040503050406030204" pitchFamily="18" charset="0"/>
                  <a:ea typeface="Cambria Math" panose="02040503050406030204" pitchFamily="18" charset="0"/>
                </a:endParaRPr>
              </a:p>
            </p:txBody>
          </p:sp>
        </mc:Choice>
        <mc:Fallback xmlns="">
          <p:sp>
            <p:nvSpPr>
              <p:cNvPr id="10" name="CuadroTexto 9">
                <a:extLst>
                  <a:ext uri="{FF2B5EF4-FFF2-40B4-BE49-F238E27FC236}">
                    <a16:creationId xmlns:a16="http://schemas.microsoft.com/office/drawing/2014/main" id="{F041D8DE-76F6-9275-B737-A623FA6E024C}"/>
                  </a:ext>
                </a:extLst>
              </p:cNvPr>
              <p:cNvSpPr txBox="1">
                <a:spLocks noRot="1" noChangeAspect="1" noMove="1" noResize="1" noEditPoints="1" noAdjustHandles="1" noChangeArrowheads="1" noChangeShapeType="1" noTextEdit="1"/>
              </p:cNvSpPr>
              <p:nvPr/>
            </p:nvSpPr>
            <p:spPr>
              <a:xfrm>
                <a:off x="6754904" y="4677782"/>
                <a:ext cx="4320991" cy="697883"/>
              </a:xfrm>
              <a:prstGeom prst="rect">
                <a:avLst/>
              </a:prstGeom>
              <a:blipFill>
                <a:blip r:embed="rId3"/>
                <a:stretch>
                  <a:fillRect l="-1462" t="-3571" r="-1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6D1B7FF3-FEE8-2649-41E9-96598D2C2378}"/>
                  </a:ext>
                </a:extLst>
              </p:cNvPr>
              <p:cNvSpPr txBox="1"/>
              <p:nvPr/>
            </p:nvSpPr>
            <p:spPr>
              <a:xfrm>
                <a:off x="651001" y="4649570"/>
                <a:ext cx="5057988" cy="754309"/>
              </a:xfrm>
              <a:prstGeom prst="rect">
                <a:avLst/>
              </a:prstGeom>
              <a:noFill/>
            </p:spPr>
            <p:txBody>
              <a:bodyPr wrap="none" lIns="0" tIns="0" rIns="0" bIns="0" rtlCol="0">
                <a:spAutoFit/>
              </a:bodyPr>
              <a:lstStyle/>
              <a:p>
                <a14:m>
                  <m:oMath xmlns:m="http://schemas.openxmlformats.org/officeDocument/2006/math">
                    <m:r>
                      <m:rPr>
                        <m:sty m:val="p"/>
                      </m:rPr>
                      <a:rPr lang="es-419" b="0" i="0" smtClean="0">
                        <a:latin typeface="Cambria Math" panose="02040503050406030204" pitchFamily="18" charset="0"/>
                        <a:ea typeface="Cambria Math" panose="02040503050406030204" pitchFamily="18" charset="0"/>
                      </a:rPr>
                      <m:t>VPN</m:t>
                    </m:r>
                    <m:r>
                      <a:rPr lang="es-419" b="0" i="0" smtClean="0">
                        <a:latin typeface="Cambria Math" panose="02040503050406030204" pitchFamily="18" charset="0"/>
                        <a:ea typeface="Cambria Math" panose="02040503050406030204" pitchFamily="18" charset="0"/>
                      </a:rPr>
                      <m:t>=</m:t>
                    </m:r>
                    <m:d>
                      <m:dPr>
                        <m:ctrlPr>
                          <a:rPr lang="es-419" b="0" i="1" smtClean="0">
                            <a:latin typeface="Cambria Math" panose="02040503050406030204" pitchFamily="18" charset="0"/>
                            <a:ea typeface="Cambria Math" panose="02040503050406030204" pitchFamily="18" charset="0"/>
                          </a:rPr>
                        </m:ctrlPr>
                      </m:dPr>
                      <m:e>
                        <m:f>
                          <m:fPr>
                            <m:ctrlPr>
                              <a:rPr lang="es-419" i="1">
                                <a:latin typeface="Cambria Math" panose="02040503050406030204" pitchFamily="18" charset="0"/>
                                <a:ea typeface="Cambria Math" panose="02040503050406030204" pitchFamily="18" charset="0"/>
                              </a:rPr>
                            </m:ctrlPr>
                          </m:fPr>
                          <m:num>
                            <m:r>
                              <m:rPr>
                                <m:nor/>
                              </m:rPr>
                              <a:rPr lang="es-419" b="1" smtClean="0">
                                <a:solidFill>
                                  <a:schemeClr val="accent1"/>
                                </a:solidFill>
                                <a:latin typeface="Cambria Math" panose="02040503050406030204" pitchFamily="18" charset="0"/>
                                <a:ea typeface="Cambria Math" panose="02040503050406030204" pitchFamily="18" charset="0"/>
                              </a:rPr>
                              <m:t>$ </m:t>
                            </m:r>
                            <m:r>
                              <m:rPr>
                                <m:nor/>
                              </m:rPr>
                              <a:rPr lang="es-419" b="1" dirty="0" smtClean="0">
                                <a:solidFill>
                                  <a:schemeClr val="accent1"/>
                                </a:solidFill>
                                <a:latin typeface="Cambria Math" panose="02040503050406030204" pitchFamily="18" charset="0"/>
                                <a:ea typeface="Cambria Math" panose="02040503050406030204" pitchFamily="18" charset="0"/>
                              </a:rPr>
                              <m:t>25.810.026</m:t>
                            </m:r>
                            <m:r>
                              <m:rPr>
                                <m:nor/>
                              </m:rPr>
                              <a:rPr lang="es-CO" b="1" dirty="0">
                                <a:solidFill>
                                  <a:srgbClr val="000000"/>
                                </a:solidFill>
                                <a:latin typeface="Cambria Math" panose="02040503050406030204" pitchFamily="18" charset="0"/>
                                <a:ea typeface="Cambria Math" panose="02040503050406030204" pitchFamily="18" charset="0"/>
                              </a:rPr>
                              <m:t> </m:t>
                            </m:r>
                          </m:num>
                          <m:den>
                            <m:r>
                              <a:rPr lang="es-419" i="0">
                                <a:latin typeface="Cambria Math" panose="02040503050406030204" pitchFamily="18" charset="0"/>
                                <a:ea typeface="Cambria Math" panose="02040503050406030204" pitchFamily="18" charset="0"/>
                              </a:rPr>
                              <m:t>1+9</m:t>
                            </m:r>
                            <m:r>
                              <a:rPr lang="es-419" b="0" i="0" smtClean="0">
                                <a:latin typeface="Cambria Math" panose="02040503050406030204" pitchFamily="18" charset="0"/>
                                <a:ea typeface="Cambria Math" panose="02040503050406030204" pitchFamily="18" charset="0"/>
                              </a:rPr>
                              <m:t>,62</m:t>
                            </m:r>
                            <m:r>
                              <a:rPr lang="es-419" i="0">
                                <a:latin typeface="Cambria Math" panose="02040503050406030204" pitchFamily="18" charset="0"/>
                                <a:ea typeface="Cambria Math" panose="02040503050406030204" pitchFamily="18" charset="0"/>
                              </a:rPr>
                              <m:t>%</m:t>
                            </m:r>
                          </m:den>
                        </m:f>
                      </m:e>
                    </m:d>
                    <m:r>
                      <a:rPr lang="es-419" b="0" i="0" smtClean="0">
                        <a:latin typeface="Cambria Math" panose="02040503050406030204" pitchFamily="18" charset="0"/>
                        <a:ea typeface="Cambria Math" panose="02040503050406030204" pitchFamily="18" charset="0"/>
                      </a:rPr>
                      <m:t>−20.000.000</m:t>
                    </m:r>
                  </m:oMath>
                </a14:m>
                <a:r>
                  <a:rPr lang="es-CO" sz="1600" b="1" dirty="0">
                    <a:solidFill>
                      <a:srgbClr val="0070C0"/>
                    </a:solidFill>
                    <a:latin typeface="Cambria Math" panose="02040503050406030204" pitchFamily="18" charset="0"/>
                    <a:ea typeface="Cambria Math" panose="02040503050406030204" pitchFamily="18" charset="0"/>
                  </a:rPr>
                  <a:t> </a:t>
                </a:r>
                <a:r>
                  <a:rPr lang="es-CO" sz="1600" b="1" dirty="0">
                    <a:latin typeface="Cambria Math" panose="02040503050406030204" pitchFamily="18" charset="0"/>
                    <a:ea typeface="Cambria Math" panose="02040503050406030204" pitchFamily="18" charset="0"/>
                  </a:rPr>
                  <a:t>= </a:t>
                </a:r>
                <a:r>
                  <a:rPr lang="es-CO" sz="1600" b="1" dirty="0">
                    <a:solidFill>
                      <a:srgbClr val="C00000"/>
                    </a:solidFill>
                    <a:latin typeface="Cambria Math" panose="02040503050406030204" pitchFamily="18" charset="0"/>
                    <a:ea typeface="Cambria Math" panose="02040503050406030204" pitchFamily="18" charset="0"/>
                  </a:rPr>
                  <a:t>$ 3.565.676</a:t>
                </a:r>
              </a:p>
              <a:p>
                <a:endParaRPr lang="es-CO" sz="1600" dirty="0">
                  <a:latin typeface="Cambria Math" panose="02040503050406030204" pitchFamily="18" charset="0"/>
                  <a:ea typeface="Cambria Math" panose="02040503050406030204" pitchFamily="18" charset="0"/>
                </a:endParaRPr>
              </a:p>
            </p:txBody>
          </p:sp>
        </mc:Choice>
        <mc:Fallback xmlns="">
          <p:sp>
            <p:nvSpPr>
              <p:cNvPr id="11" name="CuadroTexto 10">
                <a:extLst>
                  <a:ext uri="{FF2B5EF4-FFF2-40B4-BE49-F238E27FC236}">
                    <a16:creationId xmlns:a16="http://schemas.microsoft.com/office/drawing/2014/main" id="{6D1B7FF3-FEE8-2649-41E9-96598D2C2378}"/>
                  </a:ext>
                </a:extLst>
              </p:cNvPr>
              <p:cNvSpPr txBox="1">
                <a:spLocks noRot="1" noChangeAspect="1" noMove="1" noResize="1" noEditPoints="1" noAdjustHandles="1" noChangeArrowheads="1" noChangeShapeType="1" noTextEdit="1"/>
              </p:cNvSpPr>
              <p:nvPr/>
            </p:nvSpPr>
            <p:spPr>
              <a:xfrm>
                <a:off x="651001" y="4649570"/>
                <a:ext cx="5057988" cy="754309"/>
              </a:xfrm>
              <a:prstGeom prst="rect">
                <a:avLst/>
              </a:prstGeom>
              <a:blipFill>
                <a:blip r:embed="rId4"/>
                <a:stretch>
                  <a:fillRect l="-1504" t="-5000" r="-1504"/>
                </a:stretch>
              </a:blipFill>
            </p:spPr>
            <p:txBody>
              <a:bodyPr/>
              <a:lstStyle/>
              <a:p>
                <a:r>
                  <a:rPr lang="en-US">
                    <a:noFill/>
                  </a:rPr>
                  <a:t> </a:t>
                </a:r>
              </a:p>
            </p:txBody>
          </p:sp>
        </mc:Fallback>
      </mc:AlternateContent>
      <p:sp>
        <p:nvSpPr>
          <p:cNvPr id="13" name="CuadroTexto 12">
            <a:extLst>
              <a:ext uri="{FF2B5EF4-FFF2-40B4-BE49-F238E27FC236}">
                <a16:creationId xmlns:a16="http://schemas.microsoft.com/office/drawing/2014/main" id="{D5DFF881-166B-87CE-183C-C2C35932D047}"/>
              </a:ext>
            </a:extLst>
          </p:cNvPr>
          <p:cNvSpPr txBox="1"/>
          <p:nvPr/>
        </p:nvSpPr>
        <p:spPr>
          <a:xfrm>
            <a:off x="1651514" y="5278249"/>
            <a:ext cx="8888972" cy="369332"/>
          </a:xfrm>
          <a:prstGeom prst="rect">
            <a:avLst/>
          </a:prstGeom>
          <a:noFill/>
        </p:spPr>
        <p:txBody>
          <a:bodyPr wrap="none" rtlCol="0">
            <a:spAutoFit/>
          </a:bodyPr>
          <a:lstStyle/>
          <a:p>
            <a:r>
              <a:rPr lang="es-CO" dirty="0">
                <a:solidFill>
                  <a:schemeClr val="accent1"/>
                </a:solidFill>
                <a:latin typeface="Century Gothic" panose="020B0502020202020204" pitchFamily="34" charset="0"/>
              </a:rPr>
              <a:t>Como podemos ver, el VPN ante el escenario nominal y real son consistentes.</a:t>
            </a:r>
          </a:p>
        </p:txBody>
      </p:sp>
      <p:grpSp>
        <p:nvGrpSpPr>
          <p:cNvPr id="14" name="Grupo 13">
            <a:extLst>
              <a:ext uri="{FF2B5EF4-FFF2-40B4-BE49-F238E27FC236}">
                <a16:creationId xmlns:a16="http://schemas.microsoft.com/office/drawing/2014/main" id="{CE221944-90C1-AAF8-7F2B-9AB3B658A29D}"/>
              </a:ext>
            </a:extLst>
          </p:cNvPr>
          <p:cNvGrpSpPr/>
          <p:nvPr/>
        </p:nvGrpSpPr>
        <p:grpSpPr>
          <a:xfrm>
            <a:off x="3067425" y="5843448"/>
            <a:ext cx="6057150" cy="523220"/>
            <a:chOff x="3492241" y="5891452"/>
            <a:chExt cx="6057150" cy="523220"/>
          </a:xfrm>
        </p:grpSpPr>
        <p:sp>
          <p:nvSpPr>
            <p:cNvPr id="16" name="CuadroTexto 15">
              <a:extLst>
                <a:ext uri="{FF2B5EF4-FFF2-40B4-BE49-F238E27FC236}">
                  <a16:creationId xmlns:a16="http://schemas.microsoft.com/office/drawing/2014/main" id="{20E266C3-EC36-8EA5-7973-AA0E3339D6BE}"/>
                </a:ext>
              </a:extLst>
            </p:cNvPr>
            <p:cNvSpPr txBox="1"/>
            <p:nvPr/>
          </p:nvSpPr>
          <p:spPr>
            <a:xfrm>
              <a:off x="3492241" y="5891452"/>
              <a:ext cx="2880000" cy="523220"/>
            </a:xfrm>
            <a:prstGeom prst="rect">
              <a:avLst/>
            </a:prstGeom>
            <a:noFill/>
          </p:spPr>
          <p:txBody>
            <a:bodyPr wrap="square" rtlCol="0">
              <a:spAutoFit/>
            </a:bodyPr>
            <a:lstStyle/>
            <a:p>
              <a:pPr algn="ctr"/>
              <a:r>
                <a:rPr lang="en-US" sz="1400" b="1" dirty="0">
                  <a:latin typeface="Century Gothic" panose="020B0502020202020204" pitchFamily="34" charset="0"/>
                </a:rPr>
                <a:t>VPN CORRIENTE/NOMINAL</a:t>
              </a:r>
            </a:p>
            <a:p>
              <a:pPr algn="ctr"/>
              <a:r>
                <a:rPr lang="es-ES_tradnl" sz="1400" b="1" dirty="0">
                  <a:solidFill>
                    <a:srgbClr val="C00000"/>
                  </a:solidFill>
                  <a:latin typeface="Century Gothic" panose="020B0502020202020204" pitchFamily="34" charset="0"/>
                </a:rPr>
                <a:t>$3.565.676</a:t>
              </a:r>
              <a:endParaRPr lang="en-US" sz="1400" b="1" dirty="0">
                <a:solidFill>
                  <a:srgbClr val="C00000"/>
                </a:solidFill>
                <a:latin typeface="Century Gothic" panose="020B0502020202020204" pitchFamily="34" charset="0"/>
              </a:endParaRPr>
            </a:p>
          </p:txBody>
        </p:sp>
        <p:sp>
          <p:nvSpPr>
            <p:cNvPr id="20" name="CuadroTexto 19">
              <a:extLst>
                <a:ext uri="{FF2B5EF4-FFF2-40B4-BE49-F238E27FC236}">
                  <a16:creationId xmlns:a16="http://schemas.microsoft.com/office/drawing/2014/main" id="{4B471471-8A16-FF15-2F5D-23DC7ACAFB76}"/>
                </a:ext>
              </a:extLst>
            </p:cNvPr>
            <p:cNvSpPr txBox="1"/>
            <p:nvPr/>
          </p:nvSpPr>
          <p:spPr>
            <a:xfrm>
              <a:off x="6669391" y="5891452"/>
              <a:ext cx="2880000" cy="523220"/>
            </a:xfrm>
            <a:prstGeom prst="rect">
              <a:avLst/>
            </a:prstGeom>
            <a:noFill/>
          </p:spPr>
          <p:txBody>
            <a:bodyPr wrap="square" rtlCol="0">
              <a:spAutoFit/>
            </a:bodyPr>
            <a:lstStyle/>
            <a:p>
              <a:pPr algn="ctr"/>
              <a:r>
                <a:rPr lang="en-US" sz="1400" b="1" dirty="0">
                  <a:latin typeface="Century Gothic" panose="020B0502020202020204" pitchFamily="34" charset="0"/>
                </a:rPr>
                <a:t>VPN CONSTANTE/REAL</a:t>
              </a:r>
            </a:p>
            <a:p>
              <a:pPr algn="ctr"/>
              <a:r>
                <a:rPr lang="es-ES_tradnl" sz="1400" b="1" dirty="0">
                  <a:solidFill>
                    <a:srgbClr val="C00000"/>
                  </a:solidFill>
                  <a:latin typeface="Century Gothic" panose="020B0502020202020204" pitchFamily="34" charset="0"/>
                </a:rPr>
                <a:t>$3.565.676</a:t>
              </a:r>
              <a:endParaRPr lang="en-US" sz="1400" b="1" dirty="0">
                <a:solidFill>
                  <a:srgbClr val="C00000"/>
                </a:solidFill>
                <a:latin typeface="Century Gothic" panose="020B0502020202020204" pitchFamily="34" charset="0"/>
              </a:endParaRPr>
            </a:p>
          </p:txBody>
        </p:sp>
        <p:sp>
          <p:nvSpPr>
            <p:cNvPr id="21" name="CuadroTexto 20">
              <a:extLst>
                <a:ext uri="{FF2B5EF4-FFF2-40B4-BE49-F238E27FC236}">
                  <a16:creationId xmlns:a16="http://schemas.microsoft.com/office/drawing/2014/main" id="{B4C199CB-80E8-7CF3-413C-FAEA327673AC}"/>
                </a:ext>
              </a:extLst>
            </p:cNvPr>
            <p:cNvSpPr txBox="1"/>
            <p:nvPr/>
          </p:nvSpPr>
          <p:spPr>
            <a:xfrm>
              <a:off x="6217379" y="5968396"/>
              <a:ext cx="891791" cy="369332"/>
            </a:xfrm>
            <a:prstGeom prst="rect">
              <a:avLst/>
            </a:prstGeom>
            <a:noFill/>
          </p:spPr>
          <p:txBody>
            <a:bodyPr wrap="square">
              <a:spAutoFit/>
            </a:bodyPr>
            <a:lstStyle/>
            <a:p>
              <a:pPr algn="ctr"/>
              <a:r>
                <a:rPr lang="en-US" sz="1800" b="1" dirty="0">
                  <a:latin typeface="Century Gothic" panose="020B0502020202020204" pitchFamily="34" charset="0"/>
                </a:rPr>
                <a:t>=</a:t>
              </a:r>
            </a:p>
          </p:txBody>
        </p:sp>
      </p:grpSp>
      <p:sp>
        <p:nvSpPr>
          <p:cNvPr id="22" name="Rectángulo 21">
            <a:extLst>
              <a:ext uri="{FF2B5EF4-FFF2-40B4-BE49-F238E27FC236}">
                <a16:creationId xmlns:a16="http://schemas.microsoft.com/office/drawing/2014/main" id="{465C8D3C-FFA8-ADF5-5B53-A003C58BCF06}"/>
              </a:ext>
            </a:extLst>
          </p:cNvPr>
          <p:cNvSpPr/>
          <p:nvPr/>
        </p:nvSpPr>
        <p:spPr>
          <a:xfrm>
            <a:off x="3276600" y="5724525"/>
            <a:ext cx="5638800" cy="75645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Conector curvado 14">
            <a:extLst>
              <a:ext uri="{FF2B5EF4-FFF2-40B4-BE49-F238E27FC236}">
                <a16:creationId xmlns:a16="http://schemas.microsoft.com/office/drawing/2014/main" id="{AF914FD8-2D0D-A425-9495-45271D3C3175}"/>
              </a:ext>
            </a:extLst>
          </p:cNvPr>
          <p:cNvCxnSpPr/>
          <p:nvPr/>
        </p:nvCxnSpPr>
        <p:spPr>
          <a:xfrm>
            <a:off x="3378200" y="4532573"/>
            <a:ext cx="1397000" cy="242627"/>
          </a:xfrm>
          <a:prstGeom prst="curvedConnector3">
            <a:avLst>
              <a:gd name="adj1" fmla="val 10090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ector curvado 17">
            <a:extLst>
              <a:ext uri="{FF2B5EF4-FFF2-40B4-BE49-F238E27FC236}">
                <a16:creationId xmlns:a16="http://schemas.microsoft.com/office/drawing/2014/main" id="{FCC7DBEE-DEAF-7753-6D8E-F944E9AFA777}"/>
              </a:ext>
            </a:extLst>
          </p:cNvPr>
          <p:cNvCxnSpPr>
            <a:cxnSpLocks/>
          </p:cNvCxnSpPr>
          <p:nvPr/>
        </p:nvCxnSpPr>
        <p:spPr>
          <a:xfrm>
            <a:off x="9385300" y="4532573"/>
            <a:ext cx="850900" cy="242627"/>
          </a:xfrm>
          <a:prstGeom prst="curvedConnector3">
            <a:avLst>
              <a:gd name="adj1" fmla="val 102239"/>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1407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par>
                                <p:cTn id="12" presetID="5" presetClass="entr" presetSubtype="1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checkerboard(across)">
                                      <p:cBhvr>
                                        <p:cTn id="14" dur="500"/>
                                        <p:tgtEl>
                                          <p:spTgt spid="11"/>
                                        </p:tgtEl>
                                      </p:cBhvr>
                                    </p:animEffect>
                                  </p:childTnLst>
                                </p:cTn>
                              </p:par>
                              <p:par>
                                <p:cTn id="15" presetID="2" presetClass="entr" presetSubtype="4"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500" fill="hold"/>
                                        <p:tgtEl>
                                          <p:spTgt spid="15"/>
                                        </p:tgtEl>
                                        <p:attrNameLst>
                                          <p:attrName>ppt_x</p:attrName>
                                        </p:attrNameLst>
                                      </p:cBhvr>
                                      <p:tavLst>
                                        <p:tav tm="0">
                                          <p:val>
                                            <p:strVal val="#ppt_x"/>
                                          </p:val>
                                        </p:tav>
                                        <p:tav tm="100000">
                                          <p:val>
                                            <p:strVal val="#ppt_x"/>
                                          </p:val>
                                        </p:tav>
                                      </p:tavLst>
                                    </p:anim>
                                    <p:anim calcmode="lin" valueType="num">
                                      <p:cBhvr additive="base">
                                        <p:cTn id="18" dur="500" fill="hold"/>
                                        <p:tgtEl>
                                          <p:spTgt spid="15"/>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additive="base">
                                        <p:cTn id="21" dur="500" fill="hold"/>
                                        <p:tgtEl>
                                          <p:spTgt spid="18"/>
                                        </p:tgtEl>
                                        <p:attrNameLst>
                                          <p:attrName>ppt_x</p:attrName>
                                        </p:attrNameLst>
                                      </p:cBhvr>
                                      <p:tavLst>
                                        <p:tav tm="0">
                                          <p:val>
                                            <p:strVal val="#ppt_x"/>
                                          </p:val>
                                        </p:tav>
                                        <p:tav tm="100000">
                                          <p:val>
                                            <p:strVal val="#ppt_x"/>
                                          </p:val>
                                        </p:tav>
                                      </p:tavLst>
                                    </p:anim>
                                    <p:anim calcmode="lin" valueType="num">
                                      <p:cBhvr additive="base">
                                        <p:cTn id="22" dur="500" fill="hold"/>
                                        <p:tgtEl>
                                          <p:spTgt spid="18"/>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checkerboard(across)">
                                      <p:cBhvr>
                                        <p:cTn id="31" dur="5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22"/>
                                        </p:tgtEl>
                                        <p:attrNameLst>
                                          <p:attrName>style.visibility</p:attrName>
                                        </p:attrNameLst>
                                      </p:cBhvr>
                                      <p:to>
                                        <p:strVal val="visible"/>
                                      </p:to>
                                    </p:set>
                                    <p:anim calcmode="lin" valueType="num">
                                      <p:cBhvr additive="base">
                                        <p:cTn id="36" dur="500" fill="hold"/>
                                        <p:tgtEl>
                                          <p:spTgt spid="22"/>
                                        </p:tgtEl>
                                        <p:attrNameLst>
                                          <p:attrName>ppt_x</p:attrName>
                                        </p:attrNameLst>
                                      </p:cBhvr>
                                      <p:tavLst>
                                        <p:tav tm="0">
                                          <p:val>
                                            <p:strVal val="#ppt_x"/>
                                          </p:val>
                                        </p:tav>
                                        <p:tav tm="100000">
                                          <p:val>
                                            <p:strVal val="#ppt_x"/>
                                          </p:val>
                                        </p:tav>
                                      </p:tavLst>
                                    </p:anim>
                                    <p:anim calcmode="lin" valueType="num">
                                      <p:cBhvr additive="base">
                                        <p:cTn id="37" dur="500" fill="hold"/>
                                        <p:tgtEl>
                                          <p:spTgt spid="22"/>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anim calcmode="lin" valueType="num">
                                      <p:cBhvr additive="base">
                                        <p:cTn id="40" dur="500" fill="hold"/>
                                        <p:tgtEl>
                                          <p:spTgt spid="14"/>
                                        </p:tgtEl>
                                        <p:attrNameLst>
                                          <p:attrName>ppt_x</p:attrName>
                                        </p:attrNameLst>
                                      </p:cBhvr>
                                      <p:tavLst>
                                        <p:tav tm="0">
                                          <p:val>
                                            <p:strVal val="#ppt_x"/>
                                          </p:val>
                                        </p:tav>
                                        <p:tav tm="100000">
                                          <p:val>
                                            <p:strVal val="#ppt_x"/>
                                          </p:val>
                                        </p:tav>
                                      </p:tavLst>
                                    </p:anim>
                                    <p:anim calcmode="lin" valueType="num">
                                      <p:cBhvr additive="base">
                                        <p:cTn id="41"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P spid="13" grpId="0"/>
      <p:bldP spid="22"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D834F-A9A8-9654-AC3E-622B06C4F9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FD30FB-FC8A-5309-EC96-B85184C43440}"/>
              </a:ext>
            </a:extLst>
          </p:cNvPr>
          <p:cNvSpPr>
            <a:spLocks noGrp="1"/>
          </p:cNvSpPr>
          <p:nvPr>
            <p:ph type="title"/>
          </p:nvPr>
        </p:nvSpPr>
        <p:spPr/>
        <p:txBody>
          <a:bodyPr>
            <a:normAutofit/>
          </a:bodyPr>
          <a:lstStyle/>
          <a:p>
            <a:r>
              <a:rPr lang="es-ES" sz="3200" dirty="0">
                <a:latin typeface="Century Gothic" panose="020B0502020202020204" pitchFamily="34" charset="0"/>
              </a:rPr>
              <a:t>INFLACIÓN</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E118E3B7-C083-78E8-DCCA-913FB088E3C8}"/>
              </a:ext>
            </a:extLst>
          </p:cNvPr>
          <p:cNvSpPr>
            <a:spLocks noGrp="1"/>
          </p:cNvSpPr>
          <p:nvPr>
            <p:ph type="sldNum" sz="quarter" idx="12"/>
          </p:nvPr>
        </p:nvSpPr>
        <p:spPr/>
        <p:txBody>
          <a:bodyPr/>
          <a:lstStyle/>
          <a:p>
            <a:fld id="{5E3E23BA-6E79-2442-BA73-D218A5E297C3}" type="slidenum">
              <a:rPr lang="en-US" sz="1800" smtClean="0"/>
              <a:t>53</a:t>
            </a:fld>
            <a:endParaRPr lang="en-US" sz="1800" dirty="0"/>
          </a:p>
        </p:txBody>
      </p:sp>
      <p:sp>
        <p:nvSpPr>
          <p:cNvPr id="5" name="Rectángulo 4">
            <a:extLst>
              <a:ext uri="{FF2B5EF4-FFF2-40B4-BE49-F238E27FC236}">
                <a16:creationId xmlns:a16="http://schemas.microsoft.com/office/drawing/2014/main" id="{3AF82B5C-DDA3-5C56-91DF-4017903AF8D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B2DDAE02-E425-5EE8-DC9A-BA153305C6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EACD69A0-B024-D685-CD2B-467FC44AE6A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CuadroTexto 11">
            <a:extLst>
              <a:ext uri="{FF2B5EF4-FFF2-40B4-BE49-F238E27FC236}">
                <a16:creationId xmlns:a16="http://schemas.microsoft.com/office/drawing/2014/main" id="{DF039CA1-6828-1C37-DD44-CCF5FF00F8FE}"/>
              </a:ext>
            </a:extLst>
          </p:cNvPr>
          <p:cNvSpPr txBox="1"/>
          <p:nvPr/>
        </p:nvSpPr>
        <p:spPr>
          <a:xfrm>
            <a:off x="641965" y="5032807"/>
            <a:ext cx="10899691" cy="923330"/>
          </a:xfrm>
          <a:prstGeom prst="rect">
            <a:avLst/>
          </a:prstGeom>
          <a:noFill/>
        </p:spPr>
        <p:txBody>
          <a:bodyPr wrap="square">
            <a:spAutoFit/>
          </a:bodyPr>
          <a:lstStyle/>
          <a:p>
            <a:r>
              <a:rPr lang="es-CO" dirty="0">
                <a:solidFill>
                  <a:schemeClr val="accent1"/>
                </a:solidFill>
                <a:latin typeface="Century Gothic" panose="020B0502020202020204" pitchFamily="34" charset="0"/>
              </a:rPr>
              <a:t>Recordando, el VPN del escenario de inflación constante (Escenario 1)es mayor, por lo que, en la selección de la economía (país) a desarrollar el proyecto, se elegiría aquél que permita maximizar el valor del mismo, dadas las condiciones económicas en el cual se desarrollará.</a:t>
            </a:r>
          </a:p>
        </p:txBody>
      </p:sp>
      <p:graphicFrame>
        <p:nvGraphicFramePr>
          <p:cNvPr id="33" name="Tabla 32">
            <a:extLst>
              <a:ext uri="{FF2B5EF4-FFF2-40B4-BE49-F238E27FC236}">
                <a16:creationId xmlns:a16="http://schemas.microsoft.com/office/drawing/2014/main" id="{2A511B3C-627A-62FC-45EB-A401BB02FC7F}"/>
              </a:ext>
            </a:extLst>
          </p:cNvPr>
          <p:cNvGraphicFramePr>
            <a:graphicFrameLocks noGrp="1"/>
          </p:cNvGraphicFramePr>
          <p:nvPr/>
        </p:nvGraphicFramePr>
        <p:xfrm>
          <a:off x="1689100" y="1949918"/>
          <a:ext cx="7431690" cy="2920612"/>
        </p:xfrm>
        <a:graphic>
          <a:graphicData uri="http://schemas.openxmlformats.org/drawingml/2006/table">
            <a:tbl>
              <a:tblPr firstRow="1" bandRow="1">
                <a:tableStyleId>{5C22544A-7EE6-4342-B048-85BDC9FD1C3A}</a:tableStyleId>
              </a:tblPr>
              <a:tblGrid>
                <a:gridCol w="2477230">
                  <a:extLst>
                    <a:ext uri="{9D8B030D-6E8A-4147-A177-3AD203B41FA5}">
                      <a16:colId xmlns:a16="http://schemas.microsoft.com/office/drawing/2014/main" val="1547052318"/>
                    </a:ext>
                  </a:extLst>
                </a:gridCol>
                <a:gridCol w="2477230">
                  <a:extLst>
                    <a:ext uri="{9D8B030D-6E8A-4147-A177-3AD203B41FA5}">
                      <a16:colId xmlns:a16="http://schemas.microsoft.com/office/drawing/2014/main" val="1629281632"/>
                    </a:ext>
                  </a:extLst>
                </a:gridCol>
                <a:gridCol w="2477230">
                  <a:extLst>
                    <a:ext uri="{9D8B030D-6E8A-4147-A177-3AD203B41FA5}">
                      <a16:colId xmlns:a16="http://schemas.microsoft.com/office/drawing/2014/main" val="730417682"/>
                    </a:ext>
                  </a:extLst>
                </a:gridCol>
              </a:tblGrid>
              <a:tr h="393603">
                <a:tc>
                  <a:txBody>
                    <a:bodyPr/>
                    <a:lstStyle/>
                    <a:p>
                      <a:r>
                        <a:rPr lang="es-CO" dirty="0">
                          <a:latin typeface="Century Gothic" panose="020B0502020202020204" pitchFamily="34" charset="0"/>
                        </a:rPr>
                        <a:t>Escenario</a:t>
                      </a:r>
                    </a:p>
                  </a:txBody>
                  <a:tcPr>
                    <a:solidFill>
                      <a:schemeClr val="accent3">
                        <a:lumMod val="75000"/>
                      </a:schemeClr>
                    </a:solidFill>
                  </a:tcPr>
                </a:tc>
                <a:tc gridSpan="2">
                  <a:txBody>
                    <a:bodyPr/>
                    <a:lstStyle/>
                    <a:p>
                      <a:pPr algn="ctr"/>
                      <a:r>
                        <a:rPr lang="es-CO" dirty="0">
                          <a:latin typeface="Century Gothic" panose="020B0502020202020204" pitchFamily="34" charset="0"/>
                        </a:rPr>
                        <a:t>Método / VPN</a:t>
                      </a:r>
                    </a:p>
                  </a:txBody>
                  <a:tcPr>
                    <a:solidFill>
                      <a:schemeClr val="accent3">
                        <a:lumMod val="75000"/>
                      </a:schemeClr>
                    </a:solidFill>
                  </a:tcPr>
                </a:tc>
                <a:tc hMerge="1">
                  <a:txBody>
                    <a:bodyPr/>
                    <a:lstStyle/>
                    <a:p>
                      <a:endParaRPr lang="es-CO" dirty="0"/>
                    </a:p>
                  </a:txBody>
                  <a:tcPr/>
                </a:tc>
                <a:extLst>
                  <a:ext uri="{0D108BD9-81ED-4DB2-BD59-A6C34878D82A}">
                    <a16:rowId xmlns:a16="http://schemas.microsoft.com/office/drawing/2014/main" val="2455585473"/>
                  </a:ext>
                </a:extLst>
              </a:tr>
              <a:tr h="653679">
                <a:tc rowSpan="2">
                  <a:txBody>
                    <a:bodyPr/>
                    <a:lstStyle/>
                    <a:p>
                      <a:r>
                        <a:rPr lang="es-CO" b="1" dirty="0">
                          <a:latin typeface="Century Gothic" panose="020B0502020202020204" pitchFamily="34" charset="0"/>
                        </a:rPr>
                        <a:t>1: Inflación constante</a:t>
                      </a:r>
                    </a:p>
                  </a:txBody>
                  <a:tcPr anchor="ctr"/>
                </a:tc>
                <a:tc>
                  <a:txBody>
                    <a:bodyPr/>
                    <a:lstStyle/>
                    <a:p>
                      <a:r>
                        <a:rPr lang="es-CO" dirty="0">
                          <a:latin typeface="Century Gothic" panose="020B0502020202020204" pitchFamily="34" charset="0"/>
                        </a:rPr>
                        <a:t>Corriente o Nominal:</a:t>
                      </a:r>
                    </a:p>
                  </a:txBody>
                  <a:tcPr anchor="ctr"/>
                </a:tc>
                <a:tc rowSpan="2">
                  <a:txBody>
                    <a:bodyPr/>
                    <a:lstStyle/>
                    <a:p>
                      <a:r>
                        <a:rPr lang="en-US" sz="1800" b="1" i="0" u="none" strike="noStrike" dirty="0">
                          <a:solidFill>
                            <a:schemeClr val="accent1"/>
                          </a:solidFill>
                          <a:effectLst/>
                          <a:latin typeface="Century Gothic" panose="020B0502020202020204" pitchFamily="34" charset="0"/>
                        </a:rPr>
                        <a:t>$ 4.231.457 </a:t>
                      </a:r>
                      <a:endParaRPr lang="es-CO" sz="1600" dirty="0">
                        <a:latin typeface="Century Gothic" panose="020B0502020202020204" pitchFamily="34" charset="0"/>
                      </a:endParaRPr>
                    </a:p>
                  </a:txBody>
                  <a:tcPr anchor="ctr"/>
                </a:tc>
                <a:extLst>
                  <a:ext uri="{0D108BD9-81ED-4DB2-BD59-A6C34878D82A}">
                    <a16:rowId xmlns:a16="http://schemas.microsoft.com/office/drawing/2014/main" val="2945881481"/>
                  </a:ext>
                </a:extLst>
              </a:tr>
              <a:tr h="609600">
                <a:tc vMerge="1">
                  <a:txBody>
                    <a:bodyPr/>
                    <a:lstStyle/>
                    <a:p>
                      <a:endParaRPr lang="es-CO" dirty="0"/>
                    </a:p>
                  </a:txBody>
                  <a:tcPr/>
                </a:tc>
                <a:tc>
                  <a:txBody>
                    <a:bodyPr/>
                    <a:lstStyle/>
                    <a:p>
                      <a:r>
                        <a:rPr lang="es-CO" dirty="0">
                          <a:latin typeface="Century Gothic" panose="020B0502020202020204" pitchFamily="34" charset="0"/>
                        </a:rPr>
                        <a:t>Constante o Real:</a:t>
                      </a:r>
                    </a:p>
                  </a:txBody>
                  <a:tcPr anchor="ctr"/>
                </a:tc>
                <a:tc vMerge="1">
                  <a:txBody>
                    <a:bodyPr/>
                    <a:lstStyle/>
                    <a:p>
                      <a:endParaRPr lang="es-CO" dirty="0"/>
                    </a:p>
                  </a:txBody>
                  <a:tcPr/>
                </a:tc>
                <a:extLst>
                  <a:ext uri="{0D108BD9-81ED-4DB2-BD59-A6C34878D82A}">
                    <a16:rowId xmlns:a16="http://schemas.microsoft.com/office/drawing/2014/main" val="2003882657"/>
                  </a:ext>
                </a:extLst>
              </a:tr>
              <a:tr h="679530">
                <a:tc rowSpan="2">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s-CO" b="1" dirty="0">
                          <a:latin typeface="Century Gothic" panose="020B0502020202020204" pitchFamily="34" charset="0"/>
                        </a:rPr>
                        <a:t>2: Inflación variable</a:t>
                      </a:r>
                    </a:p>
                    <a:p>
                      <a:endParaRPr lang="es-CO" b="1" dirty="0">
                        <a:latin typeface="Century Gothic" panose="020B0502020202020204" pitchFamily="34" charset="0"/>
                      </a:endParaRPr>
                    </a:p>
                  </a:txBody>
                  <a:tcPr anchor="ct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s-CO" dirty="0">
                          <a:latin typeface="Century Gothic" panose="020B0502020202020204" pitchFamily="34" charset="0"/>
                        </a:rPr>
                        <a:t>Corriente o Nominal:</a:t>
                      </a:r>
                    </a:p>
                  </a:txBody>
                  <a:tcPr anchor="ctr"/>
                </a:tc>
                <a:tc rowSpan="2">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s-CO" sz="1800" b="1" i="0" u="none" strike="noStrike" dirty="0">
                          <a:solidFill>
                            <a:srgbClr val="000000"/>
                          </a:solidFill>
                          <a:effectLst/>
                          <a:latin typeface="Century Gothic" panose="020B0502020202020204" pitchFamily="34" charset="0"/>
                        </a:rPr>
                        <a:t>$ 3.565.676</a:t>
                      </a:r>
                    </a:p>
                  </a:txBody>
                  <a:tcPr anchor="ctr"/>
                </a:tc>
                <a:extLst>
                  <a:ext uri="{0D108BD9-81ED-4DB2-BD59-A6C34878D82A}">
                    <a16:rowId xmlns:a16="http://schemas.microsoft.com/office/drawing/2014/main" val="3765912442"/>
                  </a:ext>
                </a:extLst>
              </a:tr>
              <a:tr h="584200">
                <a:tc vMerge="1">
                  <a:txBody>
                    <a:bodyPr/>
                    <a:lstStyle/>
                    <a:p>
                      <a:endParaRPr dirty="0"/>
                    </a:p>
                  </a:txBody>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s-CO" dirty="0">
                          <a:latin typeface="Century Gothic" panose="020B0502020202020204" pitchFamily="34" charset="0"/>
                        </a:rPr>
                        <a:t>Constante o Real:</a:t>
                      </a:r>
                      <a:endParaRPr lang="es-CO" sz="1400" b="1" i="0" u="none" strike="noStrike" dirty="0">
                        <a:solidFill>
                          <a:srgbClr val="000000"/>
                        </a:solidFill>
                        <a:effectLst/>
                        <a:latin typeface="Century Gothic" panose="020B0502020202020204" pitchFamily="34" charset="0"/>
                      </a:endParaRPr>
                    </a:p>
                  </a:txBody>
                  <a:tcPr/>
                </a:tc>
                <a:tc vMerge="1">
                  <a:txBody>
                    <a:bodyPr/>
                    <a:lstStyle/>
                    <a:p>
                      <a:endParaRPr dirty="0"/>
                    </a:p>
                  </a:txBody>
                  <a:tcPr/>
                </a:tc>
                <a:extLst>
                  <a:ext uri="{0D108BD9-81ED-4DB2-BD59-A6C34878D82A}">
                    <a16:rowId xmlns:a16="http://schemas.microsoft.com/office/drawing/2014/main" val="4251596012"/>
                  </a:ext>
                </a:extLst>
              </a:tr>
            </a:tbl>
          </a:graphicData>
        </a:graphic>
      </p:graphicFrame>
      <p:pic>
        <p:nvPicPr>
          <p:cNvPr id="34" name="Gráfico 33" descr="Badge Tick1 con relleno sólido">
            <a:extLst>
              <a:ext uri="{FF2B5EF4-FFF2-40B4-BE49-F238E27FC236}">
                <a16:creationId xmlns:a16="http://schemas.microsoft.com/office/drawing/2014/main" id="{9ED121E9-0EB1-8924-B481-EA49723CEA6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20790" y="2636758"/>
            <a:ext cx="568430" cy="568430"/>
          </a:xfrm>
          <a:prstGeom prst="rect">
            <a:avLst/>
          </a:prstGeom>
        </p:spPr>
      </p:pic>
    </p:spTree>
    <p:extLst>
      <p:ext uri="{BB962C8B-B14F-4D97-AF65-F5344CB8AC3E}">
        <p14:creationId xmlns:p14="http://schemas.microsoft.com/office/powerpoint/2010/main" val="2382977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checkerboard(across)">
                                      <p:cBhvr>
                                        <p:cTn id="1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6AA42-BA51-976B-9EC5-A7E5CAC0C1A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2A78B3C-7E28-81A2-FBB9-11060163BC79}"/>
              </a:ext>
            </a:extLst>
          </p:cNvPr>
          <p:cNvSpPr>
            <a:spLocks noGrp="1"/>
          </p:cNvSpPr>
          <p:nvPr>
            <p:ph type="title"/>
          </p:nvPr>
        </p:nvSpPr>
        <p:spPr/>
        <p:txBody>
          <a:bodyPr>
            <a:normAutofit/>
          </a:bodyPr>
          <a:lstStyle/>
          <a:p>
            <a:r>
              <a:rPr lang="es-CO" sz="3200" dirty="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671F9A0B-C404-FE96-9228-87740D6BFB69}"/>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75096837-BC9D-1A2B-6A0D-39E0CC403B9B}"/>
              </a:ext>
            </a:extLst>
          </p:cNvPr>
          <p:cNvSpPr/>
          <p:nvPr/>
        </p:nvSpPr>
        <p:spPr>
          <a:xfrm>
            <a:off x="2806200" y="2772729"/>
            <a:ext cx="8540907" cy="2585323"/>
          </a:xfrm>
          <a:prstGeom prst="rect">
            <a:avLst/>
          </a:prstGeom>
        </p:spPr>
        <p:txBody>
          <a:bodyPr wrap="square" lIns="91440" tIns="45720" rIns="91440" bIns="45720" anchor="t">
            <a:spAutoFit/>
          </a:bodyPr>
          <a:lstStyle/>
          <a:p>
            <a:pPr>
              <a:buClr>
                <a:schemeClr val="accent3">
                  <a:lumMod val="75000"/>
                </a:schemeClr>
              </a:buClr>
            </a:pPr>
            <a:endParaRPr lang="es-CO" dirty="0">
              <a:solidFill>
                <a:schemeClr val="bg1">
                  <a:lumMod val="75000"/>
                </a:schemeClr>
              </a:solidFill>
              <a:latin typeface="Century Gothic"/>
              <a:cs typeface="Arial"/>
            </a:endParaRPr>
          </a:p>
          <a:p>
            <a:pPr marL="257175" indent="-257175">
              <a:buClr>
                <a:schemeClr val="accent3">
                  <a:lumMod val="75000"/>
                </a:schemeClr>
              </a:buClr>
              <a:buFont typeface="Gill Sans MT" panose="020B0502020104020203"/>
              <a:buAutoNum type="arabicPeriod"/>
            </a:pPr>
            <a:endParaRPr lang="es-CO" dirty="0">
              <a:solidFill>
                <a:schemeClr val="bg1">
                  <a:lumMod val="75000"/>
                </a:schemeClr>
              </a:solidFill>
              <a:latin typeface="Century Gothic"/>
              <a:cs typeface="Arial"/>
            </a:endParaRPr>
          </a:p>
          <a:p>
            <a:pPr marL="257175" indent="-257175">
              <a:buClr>
                <a:schemeClr val="accent3">
                  <a:lumMod val="75000"/>
                </a:schemeClr>
              </a:buClr>
              <a:buFont typeface="Gill Sans MT" panose="020B0502020104020203"/>
              <a:buAutoNum type="arabicPeriod"/>
            </a:pPr>
            <a:r>
              <a:rPr lang="es-CO" dirty="0">
                <a:solidFill>
                  <a:schemeClr val="bg1">
                    <a:lumMod val="75000"/>
                  </a:schemeClr>
                </a:solidFill>
                <a:latin typeface="Century Gothic"/>
                <a:cs typeface="Arial"/>
              </a:rPr>
              <a:t>Inflación variable</a:t>
            </a:r>
          </a:p>
          <a:p>
            <a:pPr marL="257175" indent="-257175">
              <a:buClr>
                <a:schemeClr val="accent3">
                  <a:lumMod val="75000"/>
                </a:schemeClr>
              </a:buClr>
              <a:buFont typeface="Gill Sans MT" panose="020B0502020104020203"/>
              <a:buAutoNum type="arabicPeriod"/>
            </a:pPr>
            <a:endParaRPr lang="es-CO" dirty="0">
              <a:solidFill>
                <a:schemeClr val="bg1">
                  <a:lumMod val="75000"/>
                </a:schemeClr>
              </a:solidFill>
              <a:latin typeface="Century Gothic"/>
              <a:cs typeface="Arial"/>
            </a:endParaRPr>
          </a:p>
          <a:p>
            <a:pPr marL="257175" indent="-257175">
              <a:buClr>
                <a:schemeClr val="accent3">
                  <a:lumMod val="75000"/>
                </a:schemeClr>
              </a:buClr>
              <a:buFont typeface="Gill Sans MT" panose="020B0502020104020203"/>
              <a:buAutoNum type="arabicPeriod"/>
            </a:pPr>
            <a:r>
              <a:rPr lang="es-CO" dirty="0">
                <a:solidFill>
                  <a:schemeClr val="accent1"/>
                </a:solidFill>
                <a:latin typeface="Century Gothic"/>
                <a:cs typeface="Arial"/>
              </a:rPr>
              <a:t>Ejercicios</a:t>
            </a:r>
          </a:p>
          <a:p>
            <a:pPr marL="342900" indent="-342900">
              <a:buClr>
                <a:srgbClr val="48BE7A"/>
              </a:buClr>
              <a:buAutoNum type="arabicPeriod" startAt="5"/>
            </a:pPr>
            <a:endParaRPr lang="es-CO" dirty="0">
              <a:solidFill>
                <a:schemeClr val="accent1"/>
              </a:solidFill>
              <a:latin typeface="Century Gothic" panose="020B0502020202020204" pitchFamily="34" charset="0"/>
              <a:cs typeface="Arial"/>
            </a:endParaRPr>
          </a:p>
          <a:p>
            <a:pPr>
              <a:buClr>
                <a:srgbClr val="48BE7A"/>
              </a:buClr>
            </a:pPr>
            <a:r>
              <a:rPr lang="es-CO" dirty="0">
                <a:solidFill>
                  <a:schemeClr val="accent1"/>
                </a:solidFill>
                <a:latin typeface="Century Gothic"/>
                <a:cs typeface="Arial"/>
              </a:rPr>
              <a:t>	</a:t>
            </a: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a:buClr>
                <a:schemeClr val="accent3">
                  <a:lumMod val="75000"/>
                </a:schemeClr>
              </a:buClr>
            </a:pPr>
            <a:endParaRPr lang="es-CO" dirty="0">
              <a:solidFill>
                <a:schemeClr val="accent1"/>
              </a:solidFill>
              <a:latin typeface="Century Gothic" panose="020B0502020202020204" pitchFamily="34" charset="0"/>
            </a:endParaRPr>
          </a:p>
        </p:txBody>
      </p:sp>
      <p:sp>
        <p:nvSpPr>
          <p:cNvPr id="7" name="Rectángulo 6">
            <a:extLst>
              <a:ext uri="{FF2B5EF4-FFF2-40B4-BE49-F238E27FC236}">
                <a16:creationId xmlns:a16="http://schemas.microsoft.com/office/drawing/2014/main" id="{8069763C-C459-7167-0484-2E01031C13D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78D2F523-3F47-B126-772D-CA33676941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FDB68756-AA2B-A8DA-35A7-1F480683278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3" name="Slide Number Placeholder 3">
            <a:extLst>
              <a:ext uri="{FF2B5EF4-FFF2-40B4-BE49-F238E27FC236}">
                <a16:creationId xmlns:a16="http://schemas.microsoft.com/office/drawing/2014/main" id="{D69FEBB6-A068-B876-57A0-4019C127A45F}"/>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smtClean="0"/>
              <a:t>54</a:t>
            </a:fld>
            <a:endParaRPr lang="en-US" sz="1800" dirty="0"/>
          </a:p>
        </p:txBody>
      </p:sp>
    </p:spTree>
    <p:extLst>
      <p:ext uri="{BB962C8B-B14F-4D97-AF65-F5344CB8AC3E}">
        <p14:creationId xmlns:p14="http://schemas.microsoft.com/office/powerpoint/2010/main" val="1983337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148B2-2B5A-B8A9-3B6E-66C88D3E4F6C}"/>
            </a:ext>
          </a:extLst>
        </p:cNvPr>
        <p:cNvGrpSpPr/>
        <p:nvPr/>
      </p:nvGrpSpPr>
      <p:grpSpPr>
        <a:xfrm>
          <a:off x="0" y="0"/>
          <a:ext cx="0" cy="0"/>
          <a:chOff x="0" y="0"/>
          <a:chExt cx="0" cy="0"/>
        </a:xfrm>
      </p:grpSpPr>
      <p:pic>
        <p:nvPicPr>
          <p:cNvPr id="8" name="Picture 2" descr="Tendencias ineficaces a la hora de resolver problemas">
            <a:extLst>
              <a:ext uri="{FF2B5EF4-FFF2-40B4-BE49-F238E27FC236}">
                <a16:creationId xmlns:a16="http://schemas.microsoft.com/office/drawing/2014/main" id="{832308F3-A519-44DD-47EB-0DB305E2C8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89774" y="4985889"/>
            <a:ext cx="2523921" cy="153126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23B993D-A2FD-21A7-B96A-4718A5897931}"/>
              </a:ext>
            </a:extLst>
          </p:cNvPr>
          <p:cNvSpPr>
            <a:spLocks noGrp="1"/>
          </p:cNvSpPr>
          <p:nvPr>
            <p:ph type="title"/>
          </p:nvPr>
        </p:nvSpPr>
        <p:spPr/>
        <p:txBody>
          <a:bodyPr>
            <a:normAutofit/>
          </a:bodyPr>
          <a:lstStyle/>
          <a:p>
            <a:r>
              <a:rPr lang="es-ES" sz="3200" dirty="0">
                <a:latin typeface="Century Gothic" panose="020B0502020202020204" pitchFamily="34" charset="0"/>
              </a:rPr>
              <a:t>Ejercicio 1</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9B6D3D83-9E4E-D6E6-15C6-36AE84943C3B}"/>
              </a:ext>
            </a:extLst>
          </p:cNvPr>
          <p:cNvSpPr>
            <a:spLocks noGrp="1"/>
          </p:cNvSpPr>
          <p:nvPr>
            <p:ph type="sldNum" sz="quarter" idx="12"/>
          </p:nvPr>
        </p:nvSpPr>
        <p:spPr/>
        <p:txBody>
          <a:bodyPr/>
          <a:lstStyle/>
          <a:p>
            <a:fld id="{5E3E23BA-6E79-2442-BA73-D218A5E297C3}" type="slidenum">
              <a:rPr lang="en-US" sz="1800" smtClean="0"/>
              <a:t>55</a:t>
            </a:fld>
            <a:endParaRPr lang="en-US" sz="1800" dirty="0"/>
          </a:p>
        </p:txBody>
      </p:sp>
      <p:sp>
        <p:nvSpPr>
          <p:cNvPr id="5" name="Rectángulo 4">
            <a:extLst>
              <a:ext uri="{FF2B5EF4-FFF2-40B4-BE49-F238E27FC236}">
                <a16:creationId xmlns:a16="http://schemas.microsoft.com/office/drawing/2014/main" id="{1A2E04FB-748F-9C23-07A3-F9DF0E13425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3735381C-18E1-778E-8DB8-03CAFE21AC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181E8960-EBE2-E349-B48F-01283F83D18B}"/>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3" name="Content Placeholder 2">
            <a:extLst>
              <a:ext uri="{FF2B5EF4-FFF2-40B4-BE49-F238E27FC236}">
                <a16:creationId xmlns:a16="http://schemas.microsoft.com/office/drawing/2014/main" id="{A47EB2E7-669B-C1B5-91C1-0BAB846BD81F}"/>
              </a:ext>
            </a:extLst>
          </p:cNvPr>
          <p:cNvSpPr>
            <a:spLocks noGrp="1"/>
          </p:cNvSpPr>
          <p:nvPr>
            <p:ph idx="1"/>
          </p:nvPr>
        </p:nvSpPr>
        <p:spPr>
          <a:xfrm>
            <a:off x="509252" y="1713713"/>
            <a:ext cx="11096458" cy="4607549"/>
          </a:xfrm>
        </p:spPr>
        <p:txBody>
          <a:bodyPr>
            <a:normAutofit/>
          </a:bodyPr>
          <a:lstStyle/>
          <a:p>
            <a:pPr marL="0" indent="0" algn="just">
              <a:buNone/>
            </a:pPr>
            <a:r>
              <a:rPr lang="es-ES_tradnl" sz="1800" dirty="0">
                <a:solidFill>
                  <a:schemeClr val="accent1"/>
                </a:solidFill>
                <a:latin typeface="Century Gothic" panose="020B0502020202020204" pitchFamily="34" charset="0"/>
              </a:rPr>
              <a:t>Una empresa comenzó su proceso de evaluación de expansión en un cierto país, mediante el análisis de un proyecto de inversión el cuál consiste en producir cámaras de reciclaje de aguas grises para la industria alimentaria.</a:t>
            </a:r>
          </a:p>
          <a:p>
            <a:pPr marL="0" indent="0" algn="just">
              <a:buNone/>
            </a:pPr>
            <a:r>
              <a:rPr lang="es-ES_tradnl" sz="1800" dirty="0">
                <a:solidFill>
                  <a:schemeClr val="accent1"/>
                </a:solidFill>
                <a:latin typeface="Century Gothic" panose="020B0502020202020204" pitchFamily="34" charset="0"/>
              </a:rPr>
              <a:t>La inversión en maquinaria es de 36 millones de UM (unidades Monetarias), depreciable a 6 años en línea recta y sin valor de salvamento.</a:t>
            </a:r>
          </a:p>
          <a:p>
            <a:pPr marL="0" indent="0" algn="just">
              <a:buNone/>
            </a:pPr>
            <a:r>
              <a:rPr lang="es-ES_tradnl" sz="1800" dirty="0">
                <a:solidFill>
                  <a:schemeClr val="accent1"/>
                </a:solidFill>
                <a:latin typeface="Century Gothic" panose="020B0502020202020204" pitchFamily="34" charset="0"/>
              </a:rPr>
              <a:t>Se esperan tener ventas de 800 unidades (constantes todo el proyecto). Actualmente (t=0), las cámaras poseen un precio de 20 mil UM, donde cada año crecerá a la tasa de inflación. Los costos y gastos totales son el 20% de las ventas. </a:t>
            </a:r>
          </a:p>
          <a:p>
            <a:pPr marL="0" indent="0" algn="just">
              <a:buNone/>
            </a:pPr>
            <a:r>
              <a:rPr lang="es-ES_tradnl" sz="1800" dirty="0">
                <a:solidFill>
                  <a:schemeClr val="accent1"/>
                </a:solidFill>
                <a:latin typeface="Century Gothic" panose="020B0502020202020204" pitchFamily="34" charset="0"/>
              </a:rPr>
              <a:t>El WACC de la compañía es del 13% E.A. La inflación anual de ese país se considera estable, con un valor del 5% a lo largo del proyecto y la tasa de impuestos es del 33%.</a:t>
            </a:r>
          </a:p>
          <a:p>
            <a:pPr marL="0" indent="0" algn="just">
              <a:buNone/>
            </a:pPr>
            <a:r>
              <a:rPr lang="es-ES_tradnl" sz="1800" b="1" dirty="0">
                <a:solidFill>
                  <a:schemeClr val="accent1"/>
                </a:solidFill>
                <a:latin typeface="Century Gothic" panose="020B0502020202020204" pitchFamily="34" charset="0"/>
              </a:rPr>
              <a:t>Determine FCL, VPN y  TIR mediante precios nominales y reales. </a:t>
            </a:r>
          </a:p>
          <a:p>
            <a:pPr marL="0" indent="0" algn="just">
              <a:buNone/>
            </a:pPr>
            <a:endParaRPr lang="es-ES_tradnl" sz="1800" dirty="0">
              <a:solidFill>
                <a:schemeClr val="tx1"/>
              </a:solidFill>
              <a:latin typeface="Century Gothic" panose="020B0502020202020204" pitchFamily="34" charset="0"/>
            </a:endParaRPr>
          </a:p>
        </p:txBody>
      </p:sp>
    </p:spTree>
    <p:extLst>
      <p:ext uri="{BB962C8B-B14F-4D97-AF65-F5344CB8AC3E}">
        <p14:creationId xmlns:p14="http://schemas.microsoft.com/office/powerpoint/2010/main" val="26591731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1D691-4E60-FFC2-F1D5-4C31E2DC89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796F23-03F3-D2E7-C612-5506DBAE3402}"/>
              </a:ext>
            </a:extLst>
          </p:cNvPr>
          <p:cNvSpPr>
            <a:spLocks noGrp="1"/>
          </p:cNvSpPr>
          <p:nvPr>
            <p:ph type="title"/>
          </p:nvPr>
        </p:nvSpPr>
        <p:spPr/>
        <p:txBody>
          <a:bodyPr>
            <a:normAutofit/>
          </a:bodyPr>
          <a:lstStyle/>
          <a:p>
            <a:r>
              <a:rPr lang="es-ES" sz="3200" dirty="0">
                <a:latin typeface="Century Gothic" panose="020B0502020202020204" pitchFamily="34" charset="0"/>
              </a:rPr>
              <a:t>Ejercicio 1 – inflación constante 5%</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D9277B4D-5F2D-32D9-585B-2B0D7264A8A6}"/>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56</a:t>
            </a:fld>
            <a:endParaRPr lang="en-US" sz="1800" dirty="0"/>
          </a:p>
        </p:txBody>
      </p:sp>
      <p:sp>
        <p:nvSpPr>
          <p:cNvPr id="5" name="Rectángulo 4">
            <a:extLst>
              <a:ext uri="{FF2B5EF4-FFF2-40B4-BE49-F238E27FC236}">
                <a16:creationId xmlns:a16="http://schemas.microsoft.com/office/drawing/2014/main" id="{483B991A-0BA0-C4D3-0F1D-AC1E4372CCD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4305AA11-338B-4C39-881F-B24BA7083A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7C68E4B3-019A-2D1F-484D-753B9699634B}"/>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11" name="Table 24">
            <a:extLst>
              <a:ext uri="{FF2B5EF4-FFF2-40B4-BE49-F238E27FC236}">
                <a16:creationId xmlns:a16="http://schemas.microsoft.com/office/drawing/2014/main" id="{DED015BF-AD7B-86D5-E87E-75DF3A528E08}"/>
              </a:ext>
            </a:extLst>
          </p:cNvPr>
          <p:cNvGraphicFramePr>
            <a:graphicFrameLocks noGrp="1"/>
          </p:cNvGraphicFramePr>
          <p:nvPr/>
        </p:nvGraphicFramePr>
        <p:xfrm>
          <a:off x="520417" y="1887019"/>
          <a:ext cx="11029618" cy="4023360"/>
        </p:xfrm>
        <a:graphic>
          <a:graphicData uri="http://schemas.openxmlformats.org/drawingml/2006/table">
            <a:tbl>
              <a:tblPr firstRow="1" bandRow="1">
                <a:tableStyleId>{5C22544A-7EE6-4342-B048-85BDC9FD1C3A}</a:tableStyleId>
              </a:tblPr>
              <a:tblGrid>
                <a:gridCol w="1720934">
                  <a:extLst>
                    <a:ext uri="{9D8B030D-6E8A-4147-A177-3AD203B41FA5}">
                      <a16:colId xmlns:a16="http://schemas.microsoft.com/office/drawing/2014/main" val="20000"/>
                    </a:ext>
                  </a:extLst>
                </a:gridCol>
                <a:gridCol w="1329812">
                  <a:extLst>
                    <a:ext uri="{9D8B030D-6E8A-4147-A177-3AD203B41FA5}">
                      <a16:colId xmlns:a16="http://schemas.microsoft.com/office/drawing/2014/main" val="462233394"/>
                    </a:ext>
                  </a:extLst>
                </a:gridCol>
                <a:gridCol w="1329812">
                  <a:extLst>
                    <a:ext uri="{9D8B030D-6E8A-4147-A177-3AD203B41FA5}">
                      <a16:colId xmlns:a16="http://schemas.microsoft.com/office/drawing/2014/main" val="20001"/>
                    </a:ext>
                  </a:extLst>
                </a:gridCol>
                <a:gridCol w="1329812">
                  <a:extLst>
                    <a:ext uri="{9D8B030D-6E8A-4147-A177-3AD203B41FA5}">
                      <a16:colId xmlns:a16="http://schemas.microsoft.com/office/drawing/2014/main" val="20002"/>
                    </a:ext>
                  </a:extLst>
                </a:gridCol>
                <a:gridCol w="1329812">
                  <a:extLst>
                    <a:ext uri="{9D8B030D-6E8A-4147-A177-3AD203B41FA5}">
                      <a16:colId xmlns:a16="http://schemas.microsoft.com/office/drawing/2014/main" val="2283629264"/>
                    </a:ext>
                  </a:extLst>
                </a:gridCol>
                <a:gridCol w="1329812">
                  <a:extLst>
                    <a:ext uri="{9D8B030D-6E8A-4147-A177-3AD203B41FA5}">
                      <a16:colId xmlns:a16="http://schemas.microsoft.com/office/drawing/2014/main" val="4093278982"/>
                    </a:ext>
                  </a:extLst>
                </a:gridCol>
                <a:gridCol w="1329812">
                  <a:extLst>
                    <a:ext uri="{9D8B030D-6E8A-4147-A177-3AD203B41FA5}">
                      <a16:colId xmlns:a16="http://schemas.microsoft.com/office/drawing/2014/main" val="837620919"/>
                    </a:ext>
                  </a:extLst>
                </a:gridCol>
                <a:gridCol w="1329812">
                  <a:extLst>
                    <a:ext uri="{9D8B030D-6E8A-4147-A177-3AD203B41FA5}">
                      <a16:colId xmlns:a16="http://schemas.microsoft.com/office/drawing/2014/main" val="1412943964"/>
                    </a:ext>
                  </a:extLst>
                </a:gridCol>
              </a:tblGrid>
              <a:tr h="249451">
                <a:tc>
                  <a:txBody>
                    <a:bodyPr/>
                    <a:lstStyle/>
                    <a:p>
                      <a:pPr algn="ctr"/>
                      <a:r>
                        <a:rPr lang="es-ES_tradnl" sz="12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2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2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2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2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2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2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200" noProof="0" dirty="0">
                          <a:latin typeface="Century Gothic" panose="020B0502020202020204" pitchFamily="34" charset="0"/>
                        </a:rPr>
                        <a:t>6</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251734">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$20.000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$21.000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$22.050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$23.153</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$24.310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$25.526</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$26.802</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1734">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800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800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800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800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800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800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51734">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$16.800.000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$1.7640.000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$18.522.000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$19.448.100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$20.420.505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$21.441.530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251734">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$3.360.000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$3.528.000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$3.704.400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$3.889.620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$4.084.101</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$4.288.306</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51734">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$13.440.000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$14.112.000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$14.817.600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$15.558.480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$16.336.404</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$17.153.224</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251734">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$6.000.000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$6.000.000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$6.000.000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$6.000.000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$6.000.000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$6.000.000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251734">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a:solidFill>
                            <a:schemeClr val="accent1"/>
                          </a:solidFill>
                          <a:latin typeface="Century Gothic" panose="020B0502020202020204" pitchFamily="34" charset="0"/>
                          <a:ea typeface="+mn-ea"/>
                          <a:cs typeface="+mn-cs"/>
                        </a:rPr>
                        <a:t> -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$7.440.000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$8.112.000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$8.817.600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$9.558.480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$10.336.404</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$11.153.224</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251734">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$6.000.000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$6.000.000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$6.000.000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$6.000.000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$6.000.000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$6.000.000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251734">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$36.000.000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a:solidFill>
                            <a:schemeClr val="accent1"/>
                          </a:solidFill>
                          <a:latin typeface="Century Gothic" panose="020B0502020202020204" pitchFamily="34" charset="0"/>
                          <a:ea typeface="+mn-ea"/>
                          <a:cs typeface="+mn-cs"/>
                        </a:rPr>
                        <a:t> -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a:solidFill>
                            <a:schemeClr val="accent1"/>
                          </a:solidFill>
                          <a:latin typeface="Century Gothic" panose="020B0502020202020204" pitchFamily="34" charset="0"/>
                          <a:ea typeface="+mn-ea"/>
                          <a:cs typeface="+mn-cs"/>
                        </a:rPr>
                        <a:t> -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a:solidFill>
                            <a:schemeClr val="accent1"/>
                          </a:solidFill>
                          <a:latin typeface="Century Gothic" panose="020B0502020202020204" pitchFamily="34" charset="0"/>
                          <a:ea typeface="+mn-ea"/>
                          <a:cs typeface="+mn-cs"/>
                        </a:rPr>
                        <a:t> -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415751">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$2.455.200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$2.676.960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$2.909.808</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$31.54.298</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$3.411.013</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3.680.564</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251734">
                <a:tc>
                  <a:txBody>
                    <a:bodyPr/>
                    <a:lstStyle/>
                    <a:p>
                      <a:pPr algn="l"/>
                      <a:r>
                        <a:rPr lang="es-ES_tradnl" sz="1200" noProof="0" dirty="0" err="1">
                          <a:solidFill>
                            <a:schemeClr val="accent1"/>
                          </a:solidFill>
                          <a:latin typeface="Century Gothic" panose="020B0502020202020204" pitchFamily="34" charset="0"/>
                        </a:rPr>
                        <a:t>FCL</a:t>
                      </a:r>
                      <a:r>
                        <a:rPr lang="es-ES_tradnl" sz="1200" noProof="0" dirty="0">
                          <a:solidFill>
                            <a:schemeClr val="accent1"/>
                          </a:solidFill>
                          <a:latin typeface="Century Gothic" panose="020B0502020202020204" pitchFamily="34" charset="0"/>
                        </a:rPr>
                        <a:t> Nominal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-$36.000.000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$10.984.800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$11.435.040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$11.907.792</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$12.404.182</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$12.925.391</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$13.472.660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r h="251734">
                <a:tc>
                  <a:txBody>
                    <a:bodyPr/>
                    <a:lstStyle/>
                    <a:p>
                      <a:pPr marL="0" algn="ctr" defTabSz="457200" rtl="0" eaLnBrk="1" latinLnBrk="0" hangingPunct="1"/>
                      <a:r>
                        <a:rPr lang="es-ES_tradnl" sz="1200" b="1" kern="1200" noProof="0" dirty="0">
                          <a:solidFill>
                            <a:schemeClr val="lt1"/>
                          </a:solidFill>
                          <a:latin typeface="Century Gothic" panose="020B0502020202020204" pitchFamily="34" charset="0"/>
                          <a:ea typeface="+mn-ea"/>
                          <a:cs typeface="+mn-cs"/>
                        </a:rPr>
                        <a:t>Factor Inflacionario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48BE7A"/>
                    </a:solidFill>
                  </a:tcPr>
                </a:tc>
                <a:tc>
                  <a:txBody>
                    <a:bodyPr/>
                    <a:lstStyle/>
                    <a:p>
                      <a:pPr marL="0" algn="ctr" defTabSz="457200" rtl="0" eaLnBrk="1" latinLnBrk="0" hangingPunct="1"/>
                      <a:r>
                        <a:rPr lang="es-ES_tradnl" sz="1200" b="1" kern="1200" noProof="0" dirty="0">
                          <a:solidFill>
                            <a:schemeClr val="lt1"/>
                          </a:solidFill>
                          <a:latin typeface="Century Gothic" panose="020B0502020202020204" pitchFamily="34" charset="0"/>
                          <a:ea typeface="+mn-ea"/>
                          <a:cs typeface="+mn-cs"/>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48BE7A"/>
                    </a:solidFill>
                  </a:tcPr>
                </a:tc>
                <a:tc>
                  <a:txBody>
                    <a:bodyPr/>
                    <a:lstStyle/>
                    <a:p>
                      <a:pPr algn="ctr" fontAlgn="b"/>
                      <a:r>
                        <a:rPr lang="es-CO" sz="1200" b="1" i="0" u="none" strike="noStrike" dirty="0">
                          <a:solidFill>
                            <a:schemeClr val="bg1"/>
                          </a:solidFill>
                          <a:effectLst/>
                          <a:latin typeface="Century Gothic" panose="020B0502020202020204" pitchFamily="34" charset="0"/>
                        </a:rPr>
                        <a:t>1,05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48BE7A"/>
                    </a:solidFill>
                  </a:tcPr>
                </a:tc>
                <a:tc>
                  <a:txBody>
                    <a:bodyPr/>
                    <a:lstStyle/>
                    <a:p>
                      <a:pPr algn="ctr" fontAlgn="b"/>
                      <a:r>
                        <a:rPr lang="es-CO" sz="1200" b="1" i="0" u="none" strike="noStrike" dirty="0">
                          <a:solidFill>
                            <a:schemeClr val="bg1"/>
                          </a:solidFill>
                          <a:effectLst/>
                          <a:latin typeface="Century Gothic" panose="020B0502020202020204" pitchFamily="34" charset="0"/>
                        </a:rPr>
                        <a:t>1,10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48BE7A"/>
                    </a:solidFill>
                  </a:tcPr>
                </a:tc>
                <a:tc>
                  <a:txBody>
                    <a:bodyPr/>
                    <a:lstStyle/>
                    <a:p>
                      <a:pPr algn="ctr" fontAlgn="b"/>
                      <a:r>
                        <a:rPr lang="es-CO" sz="1200" b="1" i="0" u="none" strike="noStrike" dirty="0">
                          <a:solidFill>
                            <a:schemeClr val="bg1"/>
                          </a:solidFill>
                          <a:effectLst/>
                          <a:latin typeface="Century Gothic" panose="020B0502020202020204" pitchFamily="34" charset="0"/>
                        </a:rPr>
                        <a:t>1,16</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48BE7A"/>
                    </a:solidFill>
                  </a:tcPr>
                </a:tc>
                <a:tc>
                  <a:txBody>
                    <a:bodyPr/>
                    <a:lstStyle/>
                    <a:p>
                      <a:pPr algn="ctr" fontAlgn="b"/>
                      <a:r>
                        <a:rPr lang="es-CO" sz="1200" b="1" i="0" u="none" strike="noStrike" dirty="0">
                          <a:solidFill>
                            <a:schemeClr val="bg1"/>
                          </a:solidFill>
                          <a:effectLst/>
                          <a:latin typeface="Century Gothic" panose="020B0502020202020204" pitchFamily="34" charset="0"/>
                        </a:rPr>
                        <a:t>1,22</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48BE7A"/>
                    </a:solidFill>
                  </a:tcPr>
                </a:tc>
                <a:tc>
                  <a:txBody>
                    <a:bodyPr/>
                    <a:lstStyle/>
                    <a:p>
                      <a:pPr algn="ctr" fontAlgn="b"/>
                      <a:r>
                        <a:rPr lang="es-CO" sz="1200" b="1" i="0" u="none" strike="noStrike" dirty="0">
                          <a:solidFill>
                            <a:schemeClr val="bg1"/>
                          </a:solidFill>
                          <a:effectLst/>
                          <a:latin typeface="Century Gothic" panose="020B0502020202020204" pitchFamily="34" charset="0"/>
                        </a:rPr>
                        <a:t>1,28</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48BE7A"/>
                    </a:solidFill>
                  </a:tcPr>
                </a:tc>
                <a:tc>
                  <a:txBody>
                    <a:bodyPr/>
                    <a:lstStyle/>
                    <a:p>
                      <a:pPr algn="ctr" fontAlgn="b"/>
                      <a:r>
                        <a:rPr lang="es-CO" sz="1200" b="1" i="0" u="none" strike="noStrike" dirty="0">
                          <a:solidFill>
                            <a:schemeClr val="bg1"/>
                          </a:solidFill>
                          <a:effectLst/>
                          <a:latin typeface="Century Gothic" panose="020B0502020202020204" pitchFamily="34" charset="0"/>
                        </a:rPr>
                        <a:t>1,34</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48BE7A"/>
                    </a:solidFill>
                  </a:tcPr>
                </a:tc>
                <a:extLst>
                  <a:ext uri="{0D108BD9-81ED-4DB2-BD59-A6C34878D82A}">
                    <a16:rowId xmlns:a16="http://schemas.microsoft.com/office/drawing/2014/main" val="1605670447"/>
                  </a:ext>
                </a:extLst>
              </a:tr>
              <a:tr h="251734">
                <a:tc>
                  <a:txBody>
                    <a:bodyPr/>
                    <a:lstStyle/>
                    <a:p>
                      <a:pPr algn="l"/>
                      <a:r>
                        <a:rPr lang="es-ES_tradnl" sz="1200" noProof="0" dirty="0" err="1">
                          <a:solidFill>
                            <a:schemeClr val="accent1"/>
                          </a:solidFill>
                          <a:latin typeface="Century Gothic" panose="020B0502020202020204" pitchFamily="34" charset="0"/>
                        </a:rPr>
                        <a:t>FCL</a:t>
                      </a:r>
                      <a:r>
                        <a:rPr lang="es-ES_tradnl" sz="1200" noProof="0" dirty="0">
                          <a:solidFill>
                            <a:schemeClr val="accent1"/>
                          </a:solidFill>
                          <a:latin typeface="Century Gothic" panose="020B0502020202020204" pitchFamily="34" charset="0"/>
                        </a:rPr>
                        <a:t> Real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B8E6CB"/>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-$36.000.000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B8E6CB"/>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$10.461.714</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B8E6CB"/>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$10.371.918</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B8E6CB"/>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$10.286.398</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B8E6CB"/>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$10.204.951</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B8E6CB"/>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$10.127.382</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B8E6CB"/>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$10.053.506</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rgbClr val="B8E6CB"/>
                    </a:solidFill>
                  </a:tcPr>
                </a:tc>
                <a:extLst>
                  <a:ext uri="{0D108BD9-81ED-4DB2-BD59-A6C34878D82A}">
                    <a16:rowId xmlns:a16="http://schemas.microsoft.com/office/drawing/2014/main" val="2166955529"/>
                  </a:ext>
                </a:extLst>
              </a:tr>
            </a:tbl>
          </a:graphicData>
        </a:graphic>
      </p:graphicFrame>
      <p:graphicFrame>
        <p:nvGraphicFramePr>
          <p:cNvPr id="10" name="Tabla 9">
            <a:extLst>
              <a:ext uri="{FF2B5EF4-FFF2-40B4-BE49-F238E27FC236}">
                <a16:creationId xmlns:a16="http://schemas.microsoft.com/office/drawing/2014/main" id="{5573AF06-C88B-041A-E972-63E919877A16}"/>
              </a:ext>
            </a:extLst>
          </p:cNvPr>
          <p:cNvGraphicFramePr>
            <a:graphicFrameLocks noGrp="1"/>
          </p:cNvGraphicFramePr>
          <p:nvPr/>
        </p:nvGraphicFramePr>
        <p:xfrm>
          <a:off x="520417" y="5910379"/>
          <a:ext cx="5716755" cy="623320"/>
        </p:xfrm>
        <a:graphic>
          <a:graphicData uri="http://schemas.openxmlformats.org/drawingml/2006/table">
            <a:tbl>
              <a:tblPr firstRow="1" bandRow="1">
                <a:tableStyleId>{5C22544A-7EE6-4342-B048-85BDC9FD1C3A}</a:tableStyleId>
              </a:tblPr>
              <a:tblGrid>
                <a:gridCol w="1721394">
                  <a:extLst>
                    <a:ext uri="{9D8B030D-6E8A-4147-A177-3AD203B41FA5}">
                      <a16:colId xmlns:a16="http://schemas.microsoft.com/office/drawing/2014/main" val="2179332490"/>
                    </a:ext>
                  </a:extLst>
                </a:gridCol>
                <a:gridCol w="1331787">
                  <a:extLst>
                    <a:ext uri="{9D8B030D-6E8A-4147-A177-3AD203B41FA5}">
                      <a16:colId xmlns:a16="http://schemas.microsoft.com/office/drawing/2014/main" val="3892199838"/>
                    </a:ext>
                  </a:extLst>
                </a:gridCol>
                <a:gridCol w="1331787">
                  <a:extLst>
                    <a:ext uri="{9D8B030D-6E8A-4147-A177-3AD203B41FA5}">
                      <a16:colId xmlns:a16="http://schemas.microsoft.com/office/drawing/2014/main" val="342163960"/>
                    </a:ext>
                  </a:extLst>
                </a:gridCol>
                <a:gridCol w="1331787">
                  <a:extLst>
                    <a:ext uri="{9D8B030D-6E8A-4147-A177-3AD203B41FA5}">
                      <a16:colId xmlns:a16="http://schemas.microsoft.com/office/drawing/2014/main" val="1710923137"/>
                    </a:ext>
                  </a:extLst>
                </a:gridCol>
              </a:tblGrid>
              <a:tr h="311660">
                <a:tc>
                  <a:txBody>
                    <a:bodyPr/>
                    <a:lstStyle/>
                    <a:p>
                      <a:pPr algn="l"/>
                      <a:r>
                        <a:rPr lang="es-ES_tradnl" sz="1300" noProof="0" dirty="0">
                          <a:solidFill>
                            <a:schemeClr val="accent1"/>
                          </a:solidFill>
                          <a:latin typeface="Century Gothic" panose="020B0502020202020204" pitchFamily="34" charset="0"/>
                        </a:rPr>
                        <a:t>TIR Nominal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23,89%</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TIR Real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17,99%</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2706829573"/>
                  </a:ext>
                </a:extLst>
              </a:tr>
              <a:tr h="311660">
                <a:tc>
                  <a:txBody>
                    <a:bodyPr/>
                    <a:lstStyle/>
                    <a:p>
                      <a:pPr algn="l"/>
                      <a:r>
                        <a:rPr lang="es-ES_tradnl" sz="1300" b="1" noProof="0" dirty="0">
                          <a:solidFill>
                            <a:schemeClr val="accent1"/>
                          </a:solidFill>
                          <a:latin typeface="Century Gothic" panose="020B0502020202020204" pitchFamily="34" charset="0"/>
                        </a:rPr>
                        <a:t>VPN Nominal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CO" sz="1400" b="1" i="0" u="none" strike="noStrike" dirty="0">
                          <a:solidFill>
                            <a:schemeClr val="accent1"/>
                          </a:solidFill>
                          <a:effectLst/>
                          <a:highlight>
                            <a:srgbClr val="FFFF00"/>
                          </a:highlight>
                          <a:latin typeface="Calibri" panose="020F0502020204030204" pitchFamily="34" charset="0"/>
                        </a:rPr>
                        <a:t>$ 12.023.342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CO" sz="1300" b="1" kern="1200" dirty="0">
                          <a:solidFill>
                            <a:schemeClr val="accent1"/>
                          </a:solidFill>
                          <a:latin typeface="Century Gothic" panose="020B0502020202020204" pitchFamily="34" charset="0"/>
                          <a:ea typeface="+mn-ea"/>
                          <a:cs typeface="+mn-cs"/>
                        </a:rPr>
                        <a:t>VPN Real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CO" sz="1400" b="1" i="0" u="none" strike="noStrike" dirty="0">
                          <a:solidFill>
                            <a:schemeClr val="accent1"/>
                          </a:solidFill>
                          <a:effectLst/>
                          <a:highlight>
                            <a:srgbClr val="FFFF00"/>
                          </a:highlight>
                          <a:latin typeface="Calibri" panose="020F0502020204030204" pitchFamily="34" charset="0"/>
                        </a:rPr>
                        <a:t>$12.023.342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4101263349"/>
                  </a:ext>
                </a:extLst>
              </a:tr>
            </a:tbl>
          </a:graphicData>
        </a:graphic>
      </p:graphicFrame>
    </p:spTree>
    <p:extLst>
      <p:ext uri="{BB962C8B-B14F-4D97-AF65-F5344CB8AC3E}">
        <p14:creationId xmlns:p14="http://schemas.microsoft.com/office/powerpoint/2010/main" val="3991178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F15B7-DABA-2DA2-2A53-F5465C8A56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CC7168-9A0B-C899-2256-34988EE0E431}"/>
              </a:ext>
            </a:extLst>
          </p:cNvPr>
          <p:cNvSpPr>
            <a:spLocks noGrp="1"/>
          </p:cNvSpPr>
          <p:nvPr>
            <p:ph type="title"/>
          </p:nvPr>
        </p:nvSpPr>
        <p:spPr/>
        <p:txBody>
          <a:bodyPr>
            <a:normAutofit/>
          </a:bodyPr>
          <a:lstStyle/>
          <a:p>
            <a:r>
              <a:rPr lang="es-ES" sz="3200" dirty="0">
                <a:latin typeface="Century Gothic" panose="020B0502020202020204" pitchFamily="34" charset="0"/>
              </a:rPr>
              <a:t>Ejercicio 2</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A1E8BCAA-C137-DF38-38CA-854143EF31E4}"/>
              </a:ext>
            </a:extLst>
          </p:cNvPr>
          <p:cNvSpPr>
            <a:spLocks noGrp="1"/>
          </p:cNvSpPr>
          <p:nvPr>
            <p:ph type="sldNum" sz="quarter" idx="12"/>
          </p:nvPr>
        </p:nvSpPr>
        <p:spPr/>
        <p:txBody>
          <a:bodyPr/>
          <a:lstStyle/>
          <a:p>
            <a:fld id="{5E3E23BA-6E79-2442-BA73-D218A5E297C3}" type="slidenum">
              <a:rPr lang="en-US" sz="1800" smtClean="0"/>
              <a:t>57</a:t>
            </a:fld>
            <a:endParaRPr lang="en-US" sz="1800" dirty="0"/>
          </a:p>
        </p:txBody>
      </p:sp>
      <p:sp>
        <p:nvSpPr>
          <p:cNvPr id="5" name="Rectángulo 4">
            <a:extLst>
              <a:ext uri="{FF2B5EF4-FFF2-40B4-BE49-F238E27FC236}">
                <a16:creationId xmlns:a16="http://schemas.microsoft.com/office/drawing/2014/main" id="{8EA35E5D-F537-C64C-8DF6-5773CBC3FD6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C600152D-DD89-8A1E-54F7-D50E8F23BB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777FEE95-A81D-3A7B-7830-51498E1D252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3" name="Content Placeholder 2">
            <a:extLst>
              <a:ext uri="{FF2B5EF4-FFF2-40B4-BE49-F238E27FC236}">
                <a16:creationId xmlns:a16="http://schemas.microsoft.com/office/drawing/2014/main" id="{CDED147A-DE7F-FFA3-670B-0CD7A20B3CA9}"/>
              </a:ext>
            </a:extLst>
          </p:cNvPr>
          <p:cNvSpPr>
            <a:spLocks noGrp="1"/>
          </p:cNvSpPr>
          <p:nvPr>
            <p:ph idx="1"/>
          </p:nvPr>
        </p:nvSpPr>
        <p:spPr>
          <a:xfrm>
            <a:off x="453577" y="1403038"/>
            <a:ext cx="11096458" cy="4553099"/>
          </a:xfrm>
        </p:spPr>
        <p:txBody>
          <a:bodyPr>
            <a:normAutofit/>
          </a:bodyPr>
          <a:lstStyle/>
          <a:p>
            <a:pPr marL="0" indent="0" algn="just">
              <a:buNone/>
            </a:pPr>
            <a:r>
              <a:rPr lang="es-MX" dirty="0">
                <a:solidFill>
                  <a:schemeClr val="accent1"/>
                </a:solidFill>
                <a:latin typeface="Century Gothic" panose="020B0502020202020204" pitchFamily="34" charset="0"/>
              </a:rPr>
              <a:t>En el anterior análisis, se tiene la posibilidad de llevar a cabo el proyecto en otro país. En dicha economía, las tasas de inflación se pronostican serán del: </a:t>
            </a:r>
          </a:p>
          <a:p>
            <a:pPr marL="0" indent="0" algn="just">
              <a:buNone/>
            </a:pPr>
            <a:endParaRPr lang="es-MX" dirty="0">
              <a:solidFill>
                <a:schemeClr val="accent1"/>
              </a:solidFill>
              <a:latin typeface="Century Gothic" panose="020B0502020202020204" pitchFamily="34" charset="0"/>
            </a:endParaRPr>
          </a:p>
          <a:p>
            <a:pPr marL="0" indent="0" algn="just">
              <a:buNone/>
            </a:pPr>
            <a:endParaRPr lang="es-MX" dirty="0">
              <a:solidFill>
                <a:schemeClr val="accent1"/>
              </a:solidFill>
              <a:latin typeface="Century Gothic" panose="020B0502020202020204" pitchFamily="34" charset="0"/>
            </a:endParaRPr>
          </a:p>
          <a:p>
            <a:pPr marL="0" indent="0" algn="just">
              <a:buNone/>
            </a:pPr>
            <a:endParaRPr lang="es-MX" dirty="0">
              <a:solidFill>
                <a:schemeClr val="accent1"/>
              </a:solidFill>
              <a:latin typeface="Century Gothic" panose="020B0502020202020204" pitchFamily="34" charset="0"/>
            </a:endParaRPr>
          </a:p>
          <a:p>
            <a:pPr marL="0" indent="0" algn="just">
              <a:buNone/>
            </a:pPr>
            <a:r>
              <a:rPr lang="es-MX" dirty="0">
                <a:solidFill>
                  <a:schemeClr val="accent1"/>
                </a:solidFill>
                <a:latin typeface="Century Gothic" panose="020B0502020202020204" pitchFamily="34" charset="0"/>
              </a:rPr>
              <a:t>Calcule el FLC y TIR, para pesos constantes y corrientes.</a:t>
            </a:r>
          </a:p>
          <a:p>
            <a:pPr marL="0" indent="0" algn="just">
              <a:buNone/>
            </a:pPr>
            <a:r>
              <a:rPr lang="es-MX" dirty="0">
                <a:solidFill>
                  <a:schemeClr val="accent1"/>
                </a:solidFill>
                <a:latin typeface="Century Gothic" panose="020B0502020202020204" pitchFamily="34" charset="0"/>
              </a:rPr>
              <a:t>Determine el VPN de los escenarios.</a:t>
            </a:r>
          </a:p>
          <a:p>
            <a:pPr algn="just">
              <a:buFont typeface="Wingdings" panose="05000000000000000000" pitchFamily="2" charset="2"/>
              <a:buChar char="§"/>
            </a:pPr>
            <a:r>
              <a:rPr lang="es-MX" dirty="0">
                <a:solidFill>
                  <a:schemeClr val="accent1"/>
                </a:solidFill>
                <a:latin typeface="Century Gothic" panose="020B0502020202020204" pitchFamily="34" charset="0"/>
              </a:rPr>
              <a:t>¿Cómo es el VPN en ambos escenarios?</a:t>
            </a:r>
          </a:p>
          <a:p>
            <a:pPr algn="just">
              <a:buFont typeface="Wingdings" panose="05000000000000000000" pitchFamily="2" charset="2"/>
              <a:buChar char="§"/>
            </a:pPr>
            <a:r>
              <a:rPr lang="es-MX" dirty="0">
                <a:solidFill>
                  <a:schemeClr val="accent1"/>
                </a:solidFill>
                <a:latin typeface="Century Gothic" panose="020B0502020202020204" pitchFamily="34" charset="0"/>
              </a:rPr>
              <a:t>¿En qué economía es más recomendable llevar a cabo la inversión, porqué?</a:t>
            </a:r>
          </a:p>
          <a:p>
            <a:pPr marL="0" indent="0" algn="just">
              <a:buNone/>
            </a:pPr>
            <a:endParaRPr lang="es-ES_tradnl" sz="1800" dirty="0">
              <a:solidFill>
                <a:schemeClr val="tx1"/>
              </a:solidFill>
              <a:latin typeface="Century Gothic" panose="020B0502020202020204" pitchFamily="34" charset="0"/>
            </a:endParaRPr>
          </a:p>
        </p:txBody>
      </p:sp>
      <p:pic>
        <p:nvPicPr>
          <p:cNvPr id="8" name="Picture 2" descr="Tendencias ineficaces a la hora de resolver problemas">
            <a:extLst>
              <a:ext uri="{FF2B5EF4-FFF2-40B4-BE49-F238E27FC236}">
                <a16:creationId xmlns:a16="http://schemas.microsoft.com/office/drawing/2014/main" id="{66283A5D-9C6A-4066-38C1-293B676270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00433" y="5125752"/>
            <a:ext cx="2523921" cy="153126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Tabla 8">
            <a:extLst>
              <a:ext uri="{FF2B5EF4-FFF2-40B4-BE49-F238E27FC236}">
                <a16:creationId xmlns:a16="http://schemas.microsoft.com/office/drawing/2014/main" id="{3F257761-79F7-7260-DC41-9E1039925316}"/>
              </a:ext>
            </a:extLst>
          </p:cNvPr>
          <p:cNvGraphicFramePr>
            <a:graphicFrameLocks noGrp="1"/>
          </p:cNvGraphicFramePr>
          <p:nvPr/>
        </p:nvGraphicFramePr>
        <p:xfrm>
          <a:off x="1045026" y="2639209"/>
          <a:ext cx="8128001" cy="74168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3335313636"/>
                    </a:ext>
                  </a:extLst>
                </a:gridCol>
                <a:gridCol w="1161143">
                  <a:extLst>
                    <a:ext uri="{9D8B030D-6E8A-4147-A177-3AD203B41FA5}">
                      <a16:colId xmlns:a16="http://schemas.microsoft.com/office/drawing/2014/main" val="297474052"/>
                    </a:ext>
                  </a:extLst>
                </a:gridCol>
                <a:gridCol w="1161143">
                  <a:extLst>
                    <a:ext uri="{9D8B030D-6E8A-4147-A177-3AD203B41FA5}">
                      <a16:colId xmlns:a16="http://schemas.microsoft.com/office/drawing/2014/main" val="3058557703"/>
                    </a:ext>
                  </a:extLst>
                </a:gridCol>
                <a:gridCol w="1161143">
                  <a:extLst>
                    <a:ext uri="{9D8B030D-6E8A-4147-A177-3AD203B41FA5}">
                      <a16:colId xmlns:a16="http://schemas.microsoft.com/office/drawing/2014/main" val="665044171"/>
                    </a:ext>
                  </a:extLst>
                </a:gridCol>
                <a:gridCol w="1161143">
                  <a:extLst>
                    <a:ext uri="{9D8B030D-6E8A-4147-A177-3AD203B41FA5}">
                      <a16:colId xmlns:a16="http://schemas.microsoft.com/office/drawing/2014/main" val="508332166"/>
                    </a:ext>
                  </a:extLst>
                </a:gridCol>
                <a:gridCol w="1161143">
                  <a:extLst>
                    <a:ext uri="{9D8B030D-6E8A-4147-A177-3AD203B41FA5}">
                      <a16:colId xmlns:a16="http://schemas.microsoft.com/office/drawing/2014/main" val="1545750450"/>
                    </a:ext>
                  </a:extLst>
                </a:gridCol>
                <a:gridCol w="1161143">
                  <a:extLst>
                    <a:ext uri="{9D8B030D-6E8A-4147-A177-3AD203B41FA5}">
                      <a16:colId xmlns:a16="http://schemas.microsoft.com/office/drawing/2014/main" val="3471596115"/>
                    </a:ext>
                  </a:extLst>
                </a:gridCol>
              </a:tblGrid>
              <a:tr h="370840">
                <a:tc>
                  <a:txBody>
                    <a:bodyPr/>
                    <a:lstStyle/>
                    <a:p>
                      <a:pPr algn="ctr"/>
                      <a:r>
                        <a:rPr lang="en-US" dirty="0"/>
                        <a:t>t</a:t>
                      </a:r>
                    </a:p>
                  </a:txBody>
                  <a:tcPr>
                    <a:solidFill>
                      <a:schemeClr val="accent3">
                        <a:lumMod val="75000"/>
                      </a:schemeClr>
                    </a:solidFill>
                  </a:tcPr>
                </a:tc>
                <a:tc>
                  <a:txBody>
                    <a:bodyPr/>
                    <a:lstStyle/>
                    <a:p>
                      <a:pPr algn="ctr"/>
                      <a:r>
                        <a:rPr lang="en-US" dirty="0"/>
                        <a:t>1</a:t>
                      </a:r>
                    </a:p>
                  </a:txBody>
                  <a:tcPr>
                    <a:solidFill>
                      <a:schemeClr val="accent3">
                        <a:lumMod val="75000"/>
                      </a:schemeClr>
                    </a:solidFill>
                  </a:tcPr>
                </a:tc>
                <a:tc>
                  <a:txBody>
                    <a:bodyPr/>
                    <a:lstStyle/>
                    <a:p>
                      <a:pPr algn="ctr"/>
                      <a:r>
                        <a:rPr lang="en-US" dirty="0"/>
                        <a:t>2</a:t>
                      </a:r>
                    </a:p>
                  </a:txBody>
                  <a:tcPr>
                    <a:solidFill>
                      <a:schemeClr val="accent3">
                        <a:lumMod val="75000"/>
                      </a:schemeClr>
                    </a:solidFill>
                  </a:tcPr>
                </a:tc>
                <a:tc>
                  <a:txBody>
                    <a:bodyPr/>
                    <a:lstStyle/>
                    <a:p>
                      <a:pPr algn="ctr"/>
                      <a:r>
                        <a:rPr lang="en-US" dirty="0"/>
                        <a:t>3</a:t>
                      </a:r>
                    </a:p>
                  </a:txBody>
                  <a:tcPr>
                    <a:solidFill>
                      <a:schemeClr val="accent3">
                        <a:lumMod val="75000"/>
                      </a:schemeClr>
                    </a:solidFill>
                  </a:tcPr>
                </a:tc>
                <a:tc>
                  <a:txBody>
                    <a:bodyPr/>
                    <a:lstStyle/>
                    <a:p>
                      <a:pPr algn="ctr"/>
                      <a:r>
                        <a:rPr lang="en-US" dirty="0"/>
                        <a:t>4</a:t>
                      </a:r>
                    </a:p>
                  </a:txBody>
                  <a:tcPr>
                    <a:solidFill>
                      <a:schemeClr val="accent3">
                        <a:lumMod val="75000"/>
                      </a:schemeClr>
                    </a:solidFill>
                  </a:tcPr>
                </a:tc>
                <a:tc>
                  <a:txBody>
                    <a:bodyPr/>
                    <a:lstStyle/>
                    <a:p>
                      <a:pPr algn="ctr"/>
                      <a:r>
                        <a:rPr lang="en-US" dirty="0"/>
                        <a:t>5</a:t>
                      </a:r>
                    </a:p>
                  </a:txBody>
                  <a:tcPr>
                    <a:solidFill>
                      <a:schemeClr val="accent3">
                        <a:lumMod val="75000"/>
                      </a:schemeClr>
                    </a:solidFill>
                  </a:tcPr>
                </a:tc>
                <a:tc>
                  <a:txBody>
                    <a:bodyPr/>
                    <a:lstStyle/>
                    <a:p>
                      <a:pPr algn="ctr"/>
                      <a:r>
                        <a:rPr lang="en-US" dirty="0"/>
                        <a:t>6</a:t>
                      </a:r>
                    </a:p>
                  </a:txBody>
                  <a:tcPr>
                    <a:solidFill>
                      <a:schemeClr val="accent3">
                        <a:lumMod val="75000"/>
                      </a:schemeClr>
                    </a:solidFill>
                  </a:tcPr>
                </a:tc>
                <a:extLst>
                  <a:ext uri="{0D108BD9-81ED-4DB2-BD59-A6C34878D82A}">
                    <a16:rowId xmlns:a16="http://schemas.microsoft.com/office/drawing/2014/main" val="1743081072"/>
                  </a:ext>
                </a:extLst>
              </a:tr>
              <a:tr h="370840">
                <a:tc>
                  <a:txBody>
                    <a:bodyPr/>
                    <a:lstStyle/>
                    <a:p>
                      <a:pPr algn="ctr"/>
                      <a:r>
                        <a:rPr lang="en-US" dirty="0"/>
                        <a:t>0</a:t>
                      </a:r>
                    </a:p>
                  </a:txBody>
                  <a:tcPr/>
                </a:tc>
                <a:tc>
                  <a:txBody>
                    <a:bodyPr/>
                    <a:lstStyle/>
                    <a:p>
                      <a:pPr algn="ctr"/>
                      <a:r>
                        <a:rPr lang="en-US" dirty="0"/>
                        <a:t>5%</a:t>
                      </a:r>
                    </a:p>
                  </a:txBody>
                  <a:tcPr/>
                </a:tc>
                <a:tc>
                  <a:txBody>
                    <a:bodyPr/>
                    <a:lstStyle/>
                    <a:p>
                      <a:pPr algn="ctr"/>
                      <a:r>
                        <a:rPr lang="en-US" dirty="0"/>
                        <a:t>4,5%</a:t>
                      </a:r>
                    </a:p>
                  </a:txBody>
                  <a:tcPr/>
                </a:tc>
                <a:tc>
                  <a:txBody>
                    <a:bodyPr/>
                    <a:lstStyle/>
                    <a:p>
                      <a:pPr algn="ctr"/>
                      <a:r>
                        <a:rPr lang="en-US" dirty="0"/>
                        <a:t>3,5%</a:t>
                      </a:r>
                    </a:p>
                  </a:txBody>
                  <a:tcPr/>
                </a:tc>
                <a:tc>
                  <a:txBody>
                    <a:bodyPr/>
                    <a:lstStyle/>
                    <a:p>
                      <a:pPr algn="ctr"/>
                      <a:r>
                        <a:rPr lang="en-US" dirty="0"/>
                        <a:t>6%</a:t>
                      </a:r>
                    </a:p>
                  </a:txBody>
                  <a:tcPr/>
                </a:tc>
                <a:tc>
                  <a:txBody>
                    <a:bodyPr/>
                    <a:lstStyle/>
                    <a:p>
                      <a:pPr algn="ctr"/>
                      <a:r>
                        <a:rPr lang="en-US" dirty="0"/>
                        <a:t>5,5%</a:t>
                      </a:r>
                    </a:p>
                  </a:txBody>
                  <a:tcPr/>
                </a:tc>
                <a:tc>
                  <a:txBody>
                    <a:bodyPr/>
                    <a:lstStyle/>
                    <a:p>
                      <a:pPr algn="ctr"/>
                      <a:r>
                        <a:rPr lang="en-US" dirty="0"/>
                        <a:t>6,5%</a:t>
                      </a:r>
                    </a:p>
                  </a:txBody>
                  <a:tcPr/>
                </a:tc>
                <a:extLst>
                  <a:ext uri="{0D108BD9-81ED-4DB2-BD59-A6C34878D82A}">
                    <a16:rowId xmlns:a16="http://schemas.microsoft.com/office/drawing/2014/main" val="3209907941"/>
                  </a:ext>
                </a:extLst>
              </a:tr>
            </a:tbl>
          </a:graphicData>
        </a:graphic>
      </p:graphicFrame>
    </p:spTree>
    <p:extLst>
      <p:ext uri="{BB962C8B-B14F-4D97-AF65-F5344CB8AC3E}">
        <p14:creationId xmlns:p14="http://schemas.microsoft.com/office/powerpoint/2010/main" val="22251151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A3670-E049-7268-E1A7-0F528A5BB3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7BED4E-CB98-8E2A-B323-721EB7C60EE2}"/>
              </a:ext>
            </a:extLst>
          </p:cNvPr>
          <p:cNvSpPr>
            <a:spLocks noGrp="1"/>
          </p:cNvSpPr>
          <p:nvPr>
            <p:ph type="title"/>
          </p:nvPr>
        </p:nvSpPr>
        <p:spPr/>
        <p:txBody>
          <a:bodyPr>
            <a:normAutofit/>
          </a:bodyPr>
          <a:lstStyle/>
          <a:p>
            <a:r>
              <a:rPr lang="es-ES" sz="3200" dirty="0">
                <a:latin typeface="Century Gothic" panose="020B0502020202020204" pitchFamily="34" charset="0"/>
              </a:rPr>
              <a:t>Ejercicio 2 – inflación variable</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10DEEFC3-7AC9-0F97-221B-368666F72C94}"/>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58</a:t>
            </a:fld>
            <a:endParaRPr lang="en-US" sz="1800" dirty="0"/>
          </a:p>
        </p:txBody>
      </p:sp>
      <p:sp>
        <p:nvSpPr>
          <p:cNvPr id="5" name="Rectángulo 4">
            <a:extLst>
              <a:ext uri="{FF2B5EF4-FFF2-40B4-BE49-F238E27FC236}">
                <a16:creationId xmlns:a16="http://schemas.microsoft.com/office/drawing/2014/main" id="{4E39E917-96B2-59C8-A402-C89B634ABED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E4CB8684-E06A-5E32-25A4-9805B929CD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B9B0A7C0-EEBF-A845-054C-5617936FABB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11" name="Table 24">
            <a:extLst>
              <a:ext uri="{FF2B5EF4-FFF2-40B4-BE49-F238E27FC236}">
                <a16:creationId xmlns:a16="http://schemas.microsoft.com/office/drawing/2014/main" id="{7271D6E1-E781-93FD-6BCF-789476B34C7E}"/>
              </a:ext>
            </a:extLst>
          </p:cNvPr>
          <p:cNvGraphicFramePr>
            <a:graphicFrameLocks noGrp="1"/>
          </p:cNvGraphicFramePr>
          <p:nvPr/>
        </p:nvGraphicFramePr>
        <p:xfrm>
          <a:off x="520417" y="1887019"/>
          <a:ext cx="11029618" cy="3749040"/>
        </p:xfrm>
        <a:graphic>
          <a:graphicData uri="http://schemas.openxmlformats.org/drawingml/2006/table">
            <a:tbl>
              <a:tblPr firstRow="1" bandRow="1">
                <a:tableStyleId>{5C22544A-7EE6-4342-B048-85BDC9FD1C3A}</a:tableStyleId>
              </a:tblPr>
              <a:tblGrid>
                <a:gridCol w="1720934">
                  <a:extLst>
                    <a:ext uri="{9D8B030D-6E8A-4147-A177-3AD203B41FA5}">
                      <a16:colId xmlns:a16="http://schemas.microsoft.com/office/drawing/2014/main" val="20000"/>
                    </a:ext>
                  </a:extLst>
                </a:gridCol>
                <a:gridCol w="1329812">
                  <a:extLst>
                    <a:ext uri="{9D8B030D-6E8A-4147-A177-3AD203B41FA5}">
                      <a16:colId xmlns:a16="http://schemas.microsoft.com/office/drawing/2014/main" val="462233394"/>
                    </a:ext>
                  </a:extLst>
                </a:gridCol>
                <a:gridCol w="1329812">
                  <a:extLst>
                    <a:ext uri="{9D8B030D-6E8A-4147-A177-3AD203B41FA5}">
                      <a16:colId xmlns:a16="http://schemas.microsoft.com/office/drawing/2014/main" val="20001"/>
                    </a:ext>
                  </a:extLst>
                </a:gridCol>
                <a:gridCol w="1329812">
                  <a:extLst>
                    <a:ext uri="{9D8B030D-6E8A-4147-A177-3AD203B41FA5}">
                      <a16:colId xmlns:a16="http://schemas.microsoft.com/office/drawing/2014/main" val="20002"/>
                    </a:ext>
                  </a:extLst>
                </a:gridCol>
                <a:gridCol w="1329812">
                  <a:extLst>
                    <a:ext uri="{9D8B030D-6E8A-4147-A177-3AD203B41FA5}">
                      <a16:colId xmlns:a16="http://schemas.microsoft.com/office/drawing/2014/main" val="2283629264"/>
                    </a:ext>
                  </a:extLst>
                </a:gridCol>
                <a:gridCol w="1329812">
                  <a:extLst>
                    <a:ext uri="{9D8B030D-6E8A-4147-A177-3AD203B41FA5}">
                      <a16:colId xmlns:a16="http://schemas.microsoft.com/office/drawing/2014/main" val="4093278982"/>
                    </a:ext>
                  </a:extLst>
                </a:gridCol>
                <a:gridCol w="1329812">
                  <a:extLst>
                    <a:ext uri="{9D8B030D-6E8A-4147-A177-3AD203B41FA5}">
                      <a16:colId xmlns:a16="http://schemas.microsoft.com/office/drawing/2014/main" val="837620919"/>
                    </a:ext>
                  </a:extLst>
                </a:gridCol>
                <a:gridCol w="1329812">
                  <a:extLst>
                    <a:ext uri="{9D8B030D-6E8A-4147-A177-3AD203B41FA5}">
                      <a16:colId xmlns:a16="http://schemas.microsoft.com/office/drawing/2014/main" val="1412943964"/>
                    </a:ext>
                  </a:extLst>
                </a:gridCol>
              </a:tblGrid>
              <a:tr h="249451">
                <a:tc>
                  <a:txBody>
                    <a:bodyPr/>
                    <a:lstStyle/>
                    <a:p>
                      <a:pPr algn="ctr"/>
                      <a:r>
                        <a:rPr lang="es-ES_tradnl" sz="1200" noProof="0" dirty="0">
                          <a:latin typeface="Century Gothic" panose="020B0502020202020204" pitchFamily="34" charset="0"/>
                        </a:rPr>
                        <a:t>Periodo</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200" noProof="0" dirty="0">
                          <a:latin typeface="Century Gothic" panose="020B0502020202020204" pitchFamily="34" charset="0"/>
                        </a:rPr>
                        <a:t>0</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200" noProof="0" dirty="0">
                          <a:latin typeface="Century Gothic" panose="020B0502020202020204" pitchFamily="34" charset="0"/>
                        </a:rPr>
                        <a:t>1</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200" noProof="0" dirty="0">
                          <a:latin typeface="Century Gothic" panose="020B0502020202020204" pitchFamily="34" charset="0"/>
                        </a:rPr>
                        <a:t>2</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200" noProof="0" dirty="0">
                          <a:latin typeface="Century Gothic" panose="020B0502020202020204" pitchFamily="34" charset="0"/>
                        </a:rPr>
                        <a:t>3</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200" noProof="0" dirty="0">
                          <a:latin typeface="Century Gothic" panose="020B0502020202020204" pitchFamily="34" charset="0"/>
                        </a:rPr>
                        <a:t>4</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200" noProof="0" dirty="0">
                          <a:latin typeface="Century Gothic" panose="020B0502020202020204" pitchFamily="34" charset="0"/>
                        </a:rPr>
                        <a:t>5</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200" noProof="0" dirty="0">
                          <a:latin typeface="Century Gothic" panose="020B0502020202020204" pitchFamily="34" charset="0"/>
                        </a:rPr>
                        <a:t>6</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249451">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_tradnl" sz="1200" b="1" kern="1200" noProof="0" dirty="0">
                          <a:solidFill>
                            <a:schemeClr val="lt1"/>
                          </a:solidFill>
                          <a:latin typeface="Century Gothic" panose="020B0502020202020204" pitchFamily="34" charset="0"/>
                          <a:ea typeface="+mn-ea"/>
                          <a:cs typeface="+mn-cs"/>
                        </a:rPr>
                        <a:t>Inflación</a:t>
                      </a: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endParaRPr lang="es-ES_tradnl" sz="1200" noProof="0" dirty="0">
                        <a:latin typeface="Century Gothic" panose="020B0502020202020204" pitchFamily="34" charset="0"/>
                      </a:endParaRPr>
                    </a:p>
                  </a:txBody>
                  <a:tcP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fontAlgn="b" latinLnBrk="0" hangingPunct="1"/>
                      <a:r>
                        <a:rPr lang="es-CO" sz="1200" b="1" i="0" u="none" strike="noStrike" kern="1200" dirty="0">
                          <a:solidFill>
                            <a:schemeClr val="bg1"/>
                          </a:solidFill>
                          <a:effectLst/>
                          <a:latin typeface="Century Gothic" panose="020B0502020202020204" pitchFamily="34" charset="0"/>
                          <a:ea typeface="+mn-ea"/>
                          <a:cs typeface="+mn-cs"/>
                        </a:rPr>
                        <a:t>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fontAlgn="b" latinLnBrk="0" hangingPunct="1"/>
                      <a:r>
                        <a:rPr lang="es-CO" sz="1200" b="1" i="0" u="none" strike="noStrike" kern="1200" dirty="0">
                          <a:solidFill>
                            <a:schemeClr val="bg1"/>
                          </a:solidFill>
                          <a:effectLst/>
                          <a:latin typeface="Century Gothic" panose="020B0502020202020204" pitchFamily="34" charset="0"/>
                          <a:ea typeface="+mn-ea"/>
                          <a:cs typeface="+mn-cs"/>
                        </a:rPr>
                        <a:t>4,5%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fontAlgn="b" latinLnBrk="0" hangingPunct="1"/>
                      <a:r>
                        <a:rPr lang="es-CO" sz="1200" b="1" i="0" u="none" strike="noStrike" kern="1200" dirty="0">
                          <a:solidFill>
                            <a:schemeClr val="bg1"/>
                          </a:solidFill>
                          <a:effectLst/>
                          <a:latin typeface="Century Gothic" panose="020B0502020202020204" pitchFamily="34" charset="0"/>
                          <a:ea typeface="+mn-ea"/>
                          <a:cs typeface="+mn-cs"/>
                        </a:rPr>
                        <a:t>3,5%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fontAlgn="b" latinLnBrk="0" hangingPunct="1"/>
                      <a:r>
                        <a:rPr lang="es-CO" sz="1200" b="1" i="0" u="none" strike="noStrike" kern="1200" dirty="0">
                          <a:solidFill>
                            <a:schemeClr val="bg1"/>
                          </a:solidFill>
                          <a:effectLst/>
                          <a:latin typeface="Century Gothic" panose="020B0502020202020204" pitchFamily="34" charset="0"/>
                          <a:ea typeface="+mn-ea"/>
                          <a:cs typeface="+mn-cs"/>
                        </a:rPr>
                        <a:t>6,0%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fontAlgn="b" latinLnBrk="0" hangingPunct="1"/>
                      <a:r>
                        <a:rPr lang="es-CO" sz="1200" b="1" i="0" u="none" strike="noStrike" kern="1200" dirty="0">
                          <a:solidFill>
                            <a:schemeClr val="bg1"/>
                          </a:solidFill>
                          <a:effectLst/>
                          <a:latin typeface="Century Gothic" panose="020B0502020202020204" pitchFamily="34" charset="0"/>
                          <a:ea typeface="+mn-ea"/>
                          <a:cs typeface="+mn-cs"/>
                        </a:rPr>
                        <a:t>5,5%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algn="ctr" defTabSz="457200" rtl="0" eaLnBrk="1" fontAlgn="b" latinLnBrk="0" hangingPunct="1"/>
                      <a:r>
                        <a:rPr lang="es-CO" sz="1200" b="1" i="0" u="none" strike="noStrike" kern="1200" dirty="0">
                          <a:solidFill>
                            <a:schemeClr val="bg1"/>
                          </a:solidFill>
                          <a:effectLst/>
                          <a:latin typeface="Century Gothic" panose="020B0502020202020204" pitchFamily="34" charset="0"/>
                          <a:ea typeface="+mn-ea"/>
                          <a:cs typeface="+mn-cs"/>
                        </a:rPr>
                        <a:t>6,5%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2584871843"/>
                  </a:ext>
                </a:extLst>
              </a:tr>
              <a:tr h="251734">
                <a:tc>
                  <a:txBody>
                    <a:bodyPr/>
                    <a:lstStyle/>
                    <a:p>
                      <a:pPr algn="l"/>
                      <a:r>
                        <a:rPr lang="es-ES_tradnl" sz="1200" noProof="0" dirty="0">
                          <a:solidFill>
                            <a:schemeClr val="accent1"/>
                          </a:solidFill>
                          <a:latin typeface="Century Gothic" panose="020B0502020202020204" pitchFamily="34" charset="0"/>
                        </a:rPr>
                        <a:t>Precio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$20.000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$21.000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$21945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$22.713</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$24.076</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$25.400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$27.051</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1734">
                <a:tc>
                  <a:txBody>
                    <a:bodyPr/>
                    <a:lstStyle/>
                    <a:p>
                      <a:pPr algn="l"/>
                      <a:r>
                        <a:rPr lang="es-ES_tradnl" sz="1200" noProof="0" dirty="0">
                          <a:solidFill>
                            <a:schemeClr val="accent1"/>
                          </a:solidFill>
                          <a:latin typeface="Century Gothic" panose="020B0502020202020204" pitchFamily="34" charset="0"/>
                        </a:rPr>
                        <a:t>Cantidades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800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a:solidFill>
                            <a:schemeClr val="accent1"/>
                          </a:solidFill>
                          <a:latin typeface="Century Gothic" panose="020B0502020202020204" pitchFamily="34" charset="0"/>
                          <a:ea typeface="+mn-ea"/>
                          <a:cs typeface="+mn-cs"/>
                        </a:rPr>
                        <a:t>800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a:solidFill>
                            <a:schemeClr val="accent1"/>
                          </a:solidFill>
                          <a:latin typeface="Century Gothic" panose="020B0502020202020204" pitchFamily="34" charset="0"/>
                          <a:ea typeface="+mn-ea"/>
                          <a:cs typeface="+mn-cs"/>
                        </a:rPr>
                        <a:t>800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a:solidFill>
                            <a:schemeClr val="accent1"/>
                          </a:solidFill>
                          <a:latin typeface="Century Gothic" panose="020B0502020202020204" pitchFamily="34" charset="0"/>
                          <a:ea typeface="+mn-ea"/>
                          <a:cs typeface="+mn-cs"/>
                        </a:rPr>
                        <a:t>800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800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a:solidFill>
                            <a:schemeClr val="accent1"/>
                          </a:solidFill>
                          <a:latin typeface="Century Gothic" panose="020B0502020202020204" pitchFamily="34" charset="0"/>
                          <a:ea typeface="+mn-ea"/>
                          <a:cs typeface="+mn-cs"/>
                        </a:rPr>
                        <a:t>800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51734">
                <a:tc>
                  <a:txBody>
                    <a:bodyPr/>
                    <a:lstStyle/>
                    <a:p>
                      <a:pPr algn="l"/>
                      <a:r>
                        <a:rPr lang="es-ES_tradnl" sz="1200" noProof="0" dirty="0">
                          <a:solidFill>
                            <a:schemeClr val="accent1"/>
                          </a:solidFill>
                          <a:latin typeface="Century Gothic" panose="020B0502020202020204" pitchFamily="34" charset="0"/>
                        </a:rPr>
                        <a:t>Ingreso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$16.800.000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$17.556.000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$18.170.460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$19.260.688</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$20.320.025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$21.640.827</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251734">
                <a:tc>
                  <a:txBody>
                    <a:bodyPr/>
                    <a:lstStyle/>
                    <a:p>
                      <a:pPr algn="l"/>
                      <a:r>
                        <a:rPr lang="es-ES_tradnl" sz="1200" noProof="0" dirty="0">
                          <a:solidFill>
                            <a:schemeClr val="accent1"/>
                          </a:solidFill>
                          <a:latin typeface="Century Gothic" panose="020B0502020202020204" pitchFamily="34" charset="0"/>
                        </a:rPr>
                        <a:t>-Costos</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$3.360.000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$3.511.200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$3.634.092</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$3.852.138</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$4.064.005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$4.328.165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51734">
                <a:tc>
                  <a:txBody>
                    <a:bodyPr/>
                    <a:lstStyle/>
                    <a:p>
                      <a:pPr algn="l"/>
                      <a:r>
                        <a:rPr lang="es-ES_tradnl" sz="1200" noProof="0" dirty="0">
                          <a:solidFill>
                            <a:schemeClr val="accent1"/>
                          </a:solidFill>
                          <a:latin typeface="Century Gothic" panose="020B0502020202020204" pitchFamily="34" charset="0"/>
                        </a:rPr>
                        <a:t>=Utilidad Bruta</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a:solidFill>
                            <a:schemeClr val="accent1"/>
                          </a:solidFill>
                          <a:latin typeface="Century Gothic" panose="020B0502020202020204" pitchFamily="34" charset="0"/>
                          <a:ea typeface="+mn-ea"/>
                          <a:cs typeface="+mn-cs"/>
                        </a:rPr>
                        <a:t> -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$1.3440.000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$14.044.800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$14.536.368</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$15.408.550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$16.256.020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$17.312.662</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521986843"/>
                  </a:ext>
                </a:extLst>
              </a:tr>
              <a:tr h="251734">
                <a:tc>
                  <a:txBody>
                    <a:bodyPr/>
                    <a:lstStyle/>
                    <a:p>
                      <a:pPr algn="l"/>
                      <a:r>
                        <a:rPr lang="es-ES_tradnl" sz="1200" noProof="0" dirty="0">
                          <a:solidFill>
                            <a:schemeClr val="accent1"/>
                          </a:solidFill>
                          <a:latin typeface="Century Gothic" panose="020B0502020202020204" pitchFamily="34" charset="0"/>
                        </a:rPr>
                        <a:t>-Depreciación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b"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$6.000.000</a:t>
                      </a:r>
                      <a:endParaRPr kumimoji="0" lang="es-CO"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b"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$6.000.000</a:t>
                      </a:r>
                      <a:endParaRPr kumimoji="0" lang="es-CO"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b"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$6.000.000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b"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$6.000.000</a:t>
                      </a:r>
                      <a:endParaRPr kumimoji="0" lang="es-CO"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b"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$6.000.000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b"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$6.000.000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81278799"/>
                  </a:ext>
                </a:extLst>
              </a:tr>
              <a:tr h="251734">
                <a:tc>
                  <a:txBody>
                    <a:bodyPr/>
                    <a:lstStyle/>
                    <a:p>
                      <a:pPr algn="l"/>
                      <a:r>
                        <a:rPr lang="es-ES_tradnl" sz="1200" noProof="0" dirty="0">
                          <a:solidFill>
                            <a:schemeClr val="accent1"/>
                          </a:solidFill>
                          <a:latin typeface="Century Gothic" panose="020B0502020202020204" pitchFamily="34" charset="0"/>
                        </a:rPr>
                        <a:t>=EBIT</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$7.440.000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$8.044.800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$8.536.368</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$9.408.550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$10.256.020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$11.312.662</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724920421"/>
                  </a:ext>
                </a:extLst>
              </a:tr>
              <a:tr h="251734">
                <a:tc>
                  <a:txBody>
                    <a:bodyPr/>
                    <a:lstStyle/>
                    <a:p>
                      <a:pPr algn="l"/>
                      <a:r>
                        <a:rPr lang="es-ES_tradnl" sz="1200" noProof="0" dirty="0">
                          <a:solidFill>
                            <a:schemeClr val="accent1"/>
                          </a:solidFill>
                          <a:latin typeface="Century Gothic" panose="020B0502020202020204" pitchFamily="34" charset="0"/>
                        </a:rPr>
                        <a:t>+ Depreciación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b"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$6.000.000</a:t>
                      </a:r>
                      <a:endParaRPr kumimoji="0" lang="es-CO"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b"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a:ln>
                            <a:noFill/>
                          </a:ln>
                          <a:solidFill>
                            <a:srgbClr val="366658"/>
                          </a:solidFill>
                          <a:effectLst/>
                          <a:uLnTx/>
                          <a:uFillTx/>
                          <a:latin typeface="Century Gothic" panose="020B0502020202020204" pitchFamily="34" charset="0"/>
                          <a:ea typeface="+mn-ea"/>
                          <a:cs typeface="+mn-cs"/>
                        </a:rPr>
                        <a:t>$6.000.000</a:t>
                      </a:r>
                      <a:endParaRPr kumimoji="0" lang="es-CO"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b"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66658"/>
                          </a:solidFill>
                          <a:effectLst/>
                          <a:uLnTx/>
                          <a:uFillTx/>
                          <a:latin typeface="Century Gothic" panose="020B0502020202020204" pitchFamily="34" charset="0"/>
                          <a:ea typeface="+mn-ea"/>
                          <a:cs typeface="+mn-cs"/>
                        </a:rPr>
                        <a:t>$6.000.000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$6.000.000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$6.000.000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$6.000.000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51782396"/>
                  </a:ext>
                </a:extLst>
              </a:tr>
              <a:tr h="251734">
                <a:tc>
                  <a:txBody>
                    <a:bodyPr/>
                    <a:lstStyle/>
                    <a:p>
                      <a:pPr algn="l"/>
                      <a:r>
                        <a:rPr lang="es-ES_tradnl" sz="1200" noProof="0" dirty="0">
                          <a:solidFill>
                            <a:schemeClr val="accent1"/>
                          </a:solidFill>
                          <a:latin typeface="Century Gothic" panose="020B0502020202020204" pitchFamily="34" charset="0"/>
                        </a:rPr>
                        <a:t>- CAPEX</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$36.000.000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a:solidFill>
                            <a:schemeClr val="accent1"/>
                          </a:solidFill>
                          <a:latin typeface="Century Gothic" panose="020B0502020202020204" pitchFamily="34" charset="0"/>
                          <a:ea typeface="+mn-ea"/>
                          <a:cs typeface="+mn-cs"/>
                        </a:rPr>
                        <a:t> -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a:solidFill>
                            <a:schemeClr val="accent1"/>
                          </a:solidFill>
                          <a:latin typeface="Century Gothic" panose="020B0502020202020204" pitchFamily="34" charset="0"/>
                          <a:ea typeface="+mn-ea"/>
                          <a:cs typeface="+mn-cs"/>
                        </a:rPr>
                        <a:t> -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21079164"/>
                  </a:ext>
                </a:extLst>
              </a:tr>
              <a:tr h="415751">
                <a:tc>
                  <a:txBody>
                    <a:bodyPr/>
                    <a:lstStyle/>
                    <a:p>
                      <a:pPr algn="l"/>
                      <a:r>
                        <a:rPr lang="es-ES_tradnl" sz="1200" noProof="0" dirty="0">
                          <a:solidFill>
                            <a:schemeClr val="accent1"/>
                          </a:solidFill>
                          <a:latin typeface="Century Gothic" panose="020B0502020202020204" pitchFamily="34" charset="0"/>
                        </a:rPr>
                        <a:t>- Impuesto Operacional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$2455200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$2.654.784</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$2.817.001</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$3104.822</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$3.384.487</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$3.733.178</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68299066"/>
                  </a:ext>
                </a:extLst>
              </a:tr>
              <a:tr h="251734">
                <a:tc>
                  <a:txBody>
                    <a:bodyPr/>
                    <a:lstStyle/>
                    <a:p>
                      <a:pPr algn="l"/>
                      <a:r>
                        <a:rPr lang="es-ES_tradnl" sz="1200" noProof="0" dirty="0" err="1">
                          <a:solidFill>
                            <a:schemeClr val="accent1"/>
                          </a:solidFill>
                          <a:latin typeface="Century Gothic" panose="020B0502020202020204" pitchFamily="34" charset="0"/>
                        </a:rPr>
                        <a:t>FCL</a:t>
                      </a:r>
                      <a:r>
                        <a:rPr lang="es-ES_tradnl" sz="1200" noProof="0" dirty="0">
                          <a:solidFill>
                            <a:schemeClr val="accent1"/>
                          </a:solidFill>
                          <a:latin typeface="Century Gothic" panose="020B0502020202020204" pitchFamily="34" charset="0"/>
                        </a:rPr>
                        <a:t> Nominal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-$36.000.000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$10.984.800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$11.390.016</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11.719.367</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12.303.729</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$12.871.534</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$13.579.483</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bl>
          </a:graphicData>
        </a:graphic>
      </p:graphicFrame>
      <p:graphicFrame>
        <p:nvGraphicFramePr>
          <p:cNvPr id="10" name="Tabla 9">
            <a:extLst>
              <a:ext uri="{FF2B5EF4-FFF2-40B4-BE49-F238E27FC236}">
                <a16:creationId xmlns:a16="http://schemas.microsoft.com/office/drawing/2014/main" id="{C7608233-4BCF-8181-53B8-6F27224BEDA8}"/>
              </a:ext>
            </a:extLst>
          </p:cNvPr>
          <p:cNvGraphicFramePr>
            <a:graphicFrameLocks noGrp="1"/>
          </p:cNvGraphicFramePr>
          <p:nvPr/>
        </p:nvGraphicFramePr>
        <p:xfrm>
          <a:off x="520417" y="5636059"/>
          <a:ext cx="3053181" cy="623320"/>
        </p:xfrm>
        <a:graphic>
          <a:graphicData uri="http://schemas.openxmlformats.org/drawingml/2006/table">
            <a:tbl>
              <a:tblPr firstRow="1" bandRow="1">
                <a:tableStyleId>{5C22544A-7EE6-4342-B048-85BDC9FD1C3A}</a:tableStyleId>
              </a:tblPr>
              <a:tblGrid>
                <a:gridCol w="1721394">
                  <a:extLst>
                    <a:ext uri="{9D8B030D-6E8A-4147-A177-3AD203B41FA5}">
                      <a16:colId xmlns:a16="http://schemas.microsoft.com/office/drawing/2014/main" val="2179332490"/>
                    </a:ext>
                  </a:extLst>
                </a:gridCol>
                <a:gridCol w="1331787">
                  <a:extLst>
                    <a:ext uri="{9D8B030D-6E8A-4147-A177-3AD203B41FA5}">
                      <a16:colId xmlns:a16="http://schemas.microsoft.com/office/drawing/2014/main" val="3892199838"/>
                    </a:ext>
                  </a:extLst>
                </a:gridCol>
              </a:tblGrid>
              <a:tr h="311660">
                <a:tc>
                  <a:txBody>
                    <a:bodyPr/>
                    <a:lstStyle/>
                    <a:p>
                      <a:pPr algn="l"/>
                      <a:r>
                        <a:rPr lang="es-ES_tradnl" sz="1300" noProof="0" dirty="0">
                          <a:solidFill>
                            <a:schemeClr val="accent1"/>
                          </a:solidFill>
                          <a:latin typeface="Century Gothic" panose="020B0502020202020204" pitchFamily="34" charset="0"/>
                        </a:rPr>
                        <a:t>TIR Nominal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300" noProof="0" dirty="0">
                          <a:solidFill>
                            <a:schemeClr val="accent1"/>
                          </a:solidFill>
                          <a:latin typeface="Century Gothic" panose="020B0502020202020204" pitchFamily="34" charset="0"/>
                        </a:rPr>
                        <a:t>23,71%</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2706829573"/>
                  </a:ext>
                </a:extLst>
              </a:tr>
              <a:tr h="311660">
                <a:tc>
                  <a:txBody>
                    <a:bodyPr/>
                    <a:lstStyle/>
                    <a:p>
                      <a:pPr algn="l"/>
                      <a:r>
                        <a:rPr lang="es-ES_tradnl" sz="1300" b="1" noProof="0" dirty="0">
                          <a:solidFill>
                            <a:schemeClr val="accent1"/>
                          </a:solidFill>
                          <a:latin typeface="Century Gothic" panose="020B0502020202020204" pitchFamily="34" charset="0"/>
                        </a:rPr>
                        <a:t>VPN Nominal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CO" sz="1400" b="1" i="0" u="none" strike="noStrike" dirty="0">
                          <a:solidFill>
                            <a:schemeClr val="accent1"/>
                          </a:solidFill>
                          <a:effectLst/>
                          <a:latin typeface="Calibri" panose="020F0502020204030204" pitchFamily="34" charset="0"/>
                        </a:rPr>
                        <a:t>$ 11.817.961</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4101263349"/>
                  </a:ext>
                </a:extLst>
              </a:tr>
            </a:tbl>
          </a:graphicData>
        </a:graphic>
      </p:graphicFrame>
      <p:sp>
        <p:nvSpPr>
          <p:cNvPr id="3" name="CuadroTexto 2">
            <a:extLst>
              <a:ext uri="{FF2B5EF4-FFF2-40B4-BE49-F238E27FC236}">
                <a16:creationId xmlns:a16="http://schemas.microsoft.com/office/drawing/2014/main" id="{738F5194-C117-3A30-2E48-6F1D96FDF5BA}"/>
              </a:ext>
            </a:extLst>
          </p:cNvPr>
          <p:cNvSpPr txBox="1"/>
          <p:nvPr/>
        </p:nvSpPr>
        <p:spPr>
          <a:xfrm>
            <a:off x="4070308" y="5947719"/>
            <a:ext cx="2846812" cy="307777"/>
          </a:xfrm>
          <a:prstGeom prst="rect">
            <a:avLst/>
          </a:prstGeom>
          <a:noFill/>
        </p:spPr>
        <p:txBody>
          <a:bodyPr wrap="square" rtlCol="0">
            <a:spAutoFit/>
          </a:bodyPr>
          <a:lstStyle/>
          <a:p>
            <a:pPr algn="ctr"/>
            <a:r>
              <a:rPr lang="en-US" sz="1400" b="1" dirty="0">
                <a:latin typeface="Century Gothic" panose="020B0502020202020204" pitchFamily="34" charset="0"/>
              </a:rPr>
              <a:t>WACC Nominal 13%</a:t>
            </a:r>
          </a:p>
        </p:txBody>
      </p:sp>
    </p:spTree>
    <p:extLst>
      <p:ext uri="{BB962C8B-B14F-4D97-AF65-F5344CB8AC3E}">
        <p14:creationId xmlns:p14="http://schemas.microsoft.com/office/powerpoint/2010/main" val="4171896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12724-0D4E-E23A-4744-6AEE250581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B863F4-B4E4-E98B-AF6B-D4FB4EA2ECC9}"/>
              </a:ext>
            </a:extLst>
          </p:cNvPr>
          <p:cNvSpPr>
            <a:spLocks noGrp="1"/>
          </p:cNvSpPr>
          <p:nvPr>
            <p:ph type="title"/>
          </p:nvPr>
        </p:nvSpPr>
        <p:spPr/>
        <p:txBody>
          <a:bodyPr>
            <a:normAutofit/>
          </a:bodyPr>
          <a:lstStyle/>
          <a:p>
            <a:r>
              <a:rPr lang="es-ES" sz="3200">
                <a:latin typeface="Century Gothic" panose="020B0502020202020204" pitchFamily="34" charset="0"/>
              </a:rPr>
              <a:t>Ejercicio 2 </a:t>
            </a:r>
            <a:r>
              <a:rPr lang="es-ES" sz="3200" dirty="0">
                <a:latin typeface="Century Gothic" panose="020B0502020202020204" pitchFamily="34" charset="0"/>
              </a:rPr>
              <a:t>– inflación variable</a:t>
            </a:r>
            <a:endParaRPr lang="es-ES_tradnl" sz="32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6576A551-8E54-1D81-9D5E-E3DB4E511AA7}"/>
              </a:ext>
            </a:extLst>
          </p:cNvPr>
          <p:cNvSpPr>
            <a:spLocks noGrp="1"/>
          </p:cNvSpPr>
          <p:nvPr>
            <p:ph type="sldNum" sz="quarter" idx="12"/>
          </p:nvPr>
        </p:nvSpPr>
        <p:spPr>
          <a:xfrm>
            <a:off x="10558300" y="6276768"/>
            <a:ext cx="1052508" cy="365125"/>
          </a:xfrm>
        </p:spPr>
        <p:txBody>
          <a:bodyPr/>
          <a:lstStyle/>
          <a:p>
            <a:fld id="{5E3E23BA-6E79-2442-BA73-D218A5E297C3}" type="slidenum">
              <a:rPr lang="en-US" sz="1800" smtClean="0"/>
              <a:t>59</a:t>
            </a:fld>
            <a:endParaRPr lang="en-US" sz="1800" dirty="0"/>
          </a:p>
        </p:txBody>
      </p:sp>
      <p:sp>
        <p:nvSpPr>
          <p:cNvPr id="5" name="Rectángulo 4">
            <a:extLst>
              <a:ext uri="{FF2B5EF4-FFF2-40B4-BE49-F238E27FC236}">
                <a16:creationId xmlns:a16="http://schemas.microsoft.com/office/drawing/2014/main" id="{BE516A06-8E25-86B4-9960-BEF113D6C89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6631C51A-E813-8FB0-32F7-689CF6AAEA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35A27651-88FA-7136-4C9F-B561D550861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11" name="Table 24">
            <a:extLst>
              <a:ext uri="{FF2B5EF4-FFF2-40B4-BE49-F238E27FC236}">
                <a16:creationId xmlns:a16="http://schemas.microsoft.com/office/drawing/2014/main" id="{F41B55A5-53A9-EE36-BC37-A2B9294E127E}"/>
              </a:ext>
            </a:extLst>
          </p:cNvPr>
          <p:cNvGraphicFramePr>
            <a:graphicFrameLocks noGrp="1"/>
          </p:cNvGraphicFramePr>
          <p:nvPr/>
        </p:nvGraphicFramePr>
        <p:xfrm>
          <a:off x="520417" y="1887019"/>
          <a:ext cx="11029618" cy="2324274"/>
        </p:xfrm>
        <a:graphic>
          <a:graphicData uri="http://schemas.openxmlformats.org/drawingml/2006/table">
            <a:tbl>
              <a:tblPr firstRow="1" bandRow="1">
                <a:tableStyleId>{5C22544A-7EE6-4342-B048-85BDC9FD1C3A}</a:tableStyleId>
              </a:tblPr>
              <a:tblGrid>
                <a:gridCol w="1720934">
                  <a:extLst>
                    <a:ext uri="{9D8B030D-6E8A-4147-A177-3AD203B41FA5}">
                      <a16:colId xmlns:a16="http://schemas.microsoft.com/office/drawing/2014/main" val="20000"/>
                    </a:ext>
                  </a:extLst>
                </a:gridCol>
                <a:gridCol w="1329812">
                  <a:extLst>
                    <a:ext uri="{9D8B030D-6E8A-4147-A177-3AD203B41FA5}">
                      <a16:colId xmlns:a16="http://schemas.microsoft.com/office/drawing/2014/main" val="462233394"/>
                    </a:ext>
                  </a:extLst>
                </a:gridCol>
                <a:gridCol w="1329812">
                  <a:extLst>
                    <a:ext uri="{9D8B030D-6E8A-4147-A177-3AD203B41FA5}">
                      <a16:colId xmlns:a16="http://schemas.microsoft.com/office/drawing/2014/main" val="20001"/>
                    </a:ext>
                  </a:extLst>
                </a:gridCol>
                <a:gridCol w="1329812">
                  <a:extLst>
                    <a:ext uri="{9D8B030D-6E8A-4147-A177-3AD203B41FA5}">
                      <a16:colId xmlns:a16="http://schemas.microsoft.com/office/drawing/2014/main" val="20002"/>
                    </a:ext>
                  </a:extLst>
                </a:gridCol>
                <a:gridCol w="1329812">
                  <a:extLst>
                    <a:ext uri="{9D8B030D-6E8A-4147-A177-3AD203B41FA5}">
                      <a16:colId xmlns:a16="http://schemas.microsoft.com/office/drawing/2014/main" val="2283629264"/>
                    </a:ext>
                  </a:extLst>
                </a:gridCol>
                <a:gridCol w="1329812">
                  <a:extLst>
                    <a:ext uri="{9D8B030D-6E8A-4147-A177-3AD203B41FA5}">
                      <a16:colId xmlns:a16="http://schemas.microsoft.com/office/drawing/2014/main" val="4093278982"/>
                    </a:ext>
                  </a:extLst>
                </a:gridCol>
                <a:gridCol w="1329812">
                  <a:extLst>
                    <a:ext uri="{9D8B030D-6E8A-4147-A177-3AD203B41FA5}">
                      <a16:colId xmlns:a16="http://schemas.microsoft.com/office/drawing/2014/main" val="837620919"/>
                    </a:ext>
                  </a:extLst>
                </a:gridCol>
                <a:gridCol w="1329812">
                  <a:extLst>
                    <a:ext uri="{9D8B030D-6E8A-4147-A177-3AD203B41FA5}">
                      <a16:colId xmlns:a16="http://schemas.microsoft.com/office/drawing/2014/main" val="1412943964"/>
                    </a:ext>
                  </a:extLst>
                </a:gridCol>
              </a:tblGrid>
              <a:tr h="326419">
                <a:tc>
                  <a:txBody>
                    <a:bodyPr/>
                    <a:lstStyle/>
                    <a:p>
                      <a:pPr algn="ctr"/>
                      <a:r>
                        <a:rPr lang="es-ES_tradnl" sz="1200" noProof="0" dirty="0">
                          <a:latin typeface="Century Gothic" panose="020B0502020202020204" pitchFamily="34" charset="0"/>
                        </a:rPr>
                        <a:t>Periodo</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200" noProof="0" dirty="0">
                          <a:latin typeface="Century Gothic" panose="020B0502020202020204" pitchFamily="34" charset="0"/>
                        </a:rPr>
                        <a:t>0</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200" noProof="0" dirty="0">
                          <a:latin typeface="Century Gothic" panose="020B0502020202020204" pitchFamily="34" charset="0"/>
                        </a:rPr>
                        <a:t>1</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200" noProof="0" dirty="0">
                          <a:latin typeface="Century Gothic" panose="020B0502020202020204" pitchFamily="34" charset="0"/>
                        </a:rPr>
                        <a:t>2</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200" noProof="0" dirty="0">
                          <a:latin typeface="Century Gothic" panose="020B0502020202020204" pitchFamily="34" charset="0"/>
                        </a:rPr>
                        <a:t>3</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200" noProof="0" dirty="0">
                          <a:latin typeface="Century Gothic" panose="020B0502020202020204" pitchFamily="34" charset="0"/>
                        </a:rPr>
                        <a:t>4</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200" noProof="0" dirty="0">
                          <a:latin typeface="Century Gothic" panose="020B0502020202020204" pitchFamily="34" charset="0"/>
                        </a:rPr>
                        <a:t>5</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200" noProof="0" dirty="0">
                          <a:latin typeface="Century Gothic" panose="020B0502020202020204" pitchFamily="34" charset="0"/>
                        </a:rPr>
                        <a:t>6</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2641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_tradnl" sz="1200" b="1" kern="1200" noProof="0" dirty="0">
                          <a:solidFill>
                            <a:schemeClr val="accent1"/>
                          </a:solidFill>
                          <a:latin typeface="Century Gothic" panose="020B0502020202020204" pitchFamily="34" charset="0"/>
                          <a:ea typeface="+mn-ea"/>
                          <a:cs typeface="+mn-cs"/>
                        </a:rPr>
                        <a:t>Inflación</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200" noProof="0" dirty="0">
                        <a:solidFill>
                          <a:schemeClr val="tx1"/>
                        </a:solidFill>
                        <a:latin typeface="Century Gothic" panose="020B0502020202020204" pitchFamily="34" charset="0"/>
                      </a:endParaRP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b="1" i="0" u="none" strike="noStrike" kern="1200" dirty="0">
                          <a:solidFill>
                            <a:schemeClr val="tx1"/>
                          </a:solidFill>
                          <a:effectLst/>
                          <a:latin typeface="Century Gothic" panose="020B0502020202020204" pitchFamily="34" charset="0"/>
                          <a:ea typeface="+mn-ea"/>
                          <a:cs typeface="+mn-cs"/>
                        </a:rPr>
                        <a:t>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b="1" i="0" u="none" strike="noStrike" kern="1200" dirty="0">
                          <a:solidFill>
                            <a:schemeClr val="tx1"/>
                          </a:solidFill>
                          <a:effectLst/>
                          <a:latin typeface="Century Gothic" panose="020B0502020202020204" pitchFamily="34" charset="0"/>
                          <a:ea typeface="+mn-ea"/>
                          <a:cs typeface="+mn-cs"/>
                        </a:rPr>
                        <a:t>4,5%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b="1" i="0" u="none" strike="noStrike" kern="1200" dirty="0">
                          <a:solidFill>
                            <a:schemeClr val="tx1"/>
                          </a:solidFill>
                          <a:effectLst/>
                          <a:latin typeface="Century Gothic" panose="020B0502020202020204" pitchFamily="34" charset="0"/>
                          <a:ea typeface="+mn-ea"/>
                          <a:cs typeface="+mn-cs"/>
                        </a:rPr>
                        <a:t>3,5%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b="1" i="0" u="none" strike="noStrike" kern="1200" dirty="0">
                          <a:solidFill>
                            <a:schemeClr val="tx1"/>
                          </a:solidFill>
                          <a:effectLst/>
                          <a:latin typeface="Century Gothic" panose="020B0502020202020204" pitchFamily="34" charset="0"/>
                          <a:ea typeface="+mn-ea"/>
                          <a:cs typeface="+mn-cs"/>
                        </a:rPr>
                        <a:t>6,0%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b="1" i="0" u="none" strike="noStrike" kern="1200" dirty="0">
                          <a:solidFill>
                            <a:schemeClr val="tx1"/>
                          </a:solidFill>
                          <a:effectLst/>
                          <a:latin typeface="Century Gothic" panose="020B0502020202020204" pitchFamily="34" charset="0"/>
                          <a:ea typeface="+mn-ea"/>
                          <a:cs typeface="+mn-cs"/>
                        </a:rPr>
                        <a:t>5,5%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b="1" i="0" u="none" strike="noStrike" kern="1200" dirty="0">
                          <a:solidFill>
                            <a:schemeClr val="tx1"/>
                          </a:solidFill>
                          <a:effectLst/>
                          <a:latin typeface="Century Gothic" panose="020B0502020202020204" pitchFamily="34" charset="0"/>
                          <a:ea typeface="+mn-ea"/>
                          <a:cs typeface="+mn-cs"/>
                        </a:rPr>
                        <a:t>6,5%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2584871843"/>
                  </a:ext>
                </a:extLst>
              </a:tr>
              <a:tr h="326419">
                <a:tc>
                  <a:txBody>
                    <a:bodyPr/>
                    <a:lstStyle/>
                    <a:p>
                      <a:pPr algn="l"/>
                      <a:r>
                        <a:rPr lang="es-ES_tradnl" sz="1200" b="1" noProof="0" dirty="0" err="1">
                          <a:solidFill>
                            <a:schemeClr val="accent1"/>
                          </a:solidFill>
                          <a:latin typeface="Century Gothic" panose="020B0502020202020204" pitchFamily="34" charset="0"/>
                        </a:rPr>
                        <a:t>FCL</a:t>
                      </a:r>
                      <a:r>
                        <a:rPr lang="es-ES_tradnl" sz="1200" b="1" noProof="0" dirty="0">
                          <a:solidFill>
                            <a:schemeClr val="accent1"/>
                          </a:solidFill>
                          <a:latin typeface="Century Gothic" panose="020B0502020202020204" pitchFamily="34" charset="0"/>
                        </a:rPr>
                        <a:t> Nominal</a:t>
                      </a:r>
                    </a:p>
                  </a:txBody>
                  <a:tcPr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-$36.000.000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$10.984.800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$11.390.016</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$11.719.367</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$12.303.729</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$12.871.534</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$13.579.483</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587449290"/>
                  </a:ext>
                </a:extLst>
              </a:tr>
              <a:tr h="32641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CO" sz="1200" b="1" kern="1200" dirty="0">
                          <a:solidFill>
                            <a:schemeClr val="accent1"/>
                          </a:solidFill>
                          <a:latin typeface="Century Gothic" panose="020B0502020202020204" pitchFamily="34" charset="0"/>
                          <a:ea typeface="+mn-ea"/>
                          <a:cs typeface="+mn-cs"/>
                        </a:rPr>
                        <a:t>  Factor Inflacionario</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CO" sz="1200" b="1" kern="1200" dirty="0">
                          <a:solidFill>
                            <a:schemeClr val="tx1"/>
                          </a:solidFill>
                          <a:latin typeface="Century Gothic" panose="020B0502020202020204" pitchFamily="34" charset="0"/>
                          <a:ea typeface="+mn-ea"/>
                          <a:cs typeface="+mn-cs"/>
                        </a:rPr>
                        <a:t>1,00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CO" sz="1200" b="1" kern="1200" dirty="0">
                          <a:solidFill>
                            <a:schemeClr val="tx1"/>
                          </a:solidFill>
                          <a:latin typeface="Century Gothic" panose="020B0502020202020204" pitchFamily="34" charset="0"/>
                          <a:ea typeface="+mn-ea"/>
                          <a:cs typeface="+mn-cs"/>
                        </a:rPr>
                        <a:t>1,05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CO" sz="1200" b="1" kern="1200" dirty="0">
                          <a:solidFill>
                            <a:schemeClr val="tx1"/>
                          </a:solidFill>
                          <a:latin typeface="Century Gothic" panose="020B0502020202020204" pitchFamily="34" charset="0"/>
                          <a:ea typeface="+mn-ea"/>
                          <a:cs typeface="+mn-cs"/>
                        </a:rPr>
                        <a:t>1,10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CO" sz="1200" b="1" kern="1200" dirty="0">
                          <a:solidFill>
                            <a:schemeClr val="tx1"/>
                          </a:solidFill>
                          <a:latin typeface="Century Gothic" panose="020B0502020202020204" pitchFamily="34" charset="0"/>
                          <a:ea typeface="+mn-ea"/>
                          <a:cs typeface="+mn-cs"/>
                        </a:rPr>
                        <a:t>1,14</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CO" sz="1200" b="1" kern="1200" dirty="0">
                          <a:solidFill>
                            <a:schemeClr val="tx1"/>
                          </a:solidFill>
                          <a:latin typeface="Century Gothic" panose="020B0502020202020204" pitchFamily="34" charset="0"/>
                          <a:ea typeface="+mn-ea"/>
                          <a:cs typeface="+mn-cs"/>
                        </a:rPr>
                        <a:t>1,20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CO" sz="1200" b="1" kern="1200" dirty="0">
                          <a:solidFill>
                            <a:schemeClr val="tx1"/>
                          </a:solidFill>
                          <a:latin typeface="Century Gothic" panose="020B0502020202020204" pitchFamily="34" charset="0"/>
                          <a:ea typeface="+mn-ea"/>
                          <a:cs typeface="+mn-cs"/>
                        </a:rPr>
                        <a:t>1,27</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CO" sz="1200" b="1" kern="1200" dirty="0">
                          <a:solidFill>
                            <a:schemeClr val="tx1"/>
                          </a:solidFill>
                          <a:latin typeface="Century Gothic" panose="020B0502020202020204" pitchFamily="34" charset="0"/>
                          <a:ea typeface="+mn-ea"/>
                          <a:cs typeface="+mn-cs"/>
                        </a:rPr>
                        <a:t>1,35</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2882303809"/>
                  </a:ext>
                </a:extLst>
              </a:tr>
              <a:tr h="32641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_tradnl" sz="1200" b="1" noProof="0" dirty="0">
                          <a:solidFill>
                            <a:schemeClr val="accent1"/>
                          </a:solidFill>
                          <a:latin typeface="Century Gothic" panose="020B0502020202020204" pitchFamily="34" charset="0"/>
                        </a:rPr>
                        <a:t>   </a:t>
                      </a:r>
                      <a:r>
                        <a:rPr lang="es-ES_tradnl" sz="1200" b="1" noProof="0" dirty="0" err="1">
                          <a:solidFill>
                            <a:schemeClr val="accent1"/>
                          </a:solidFill>
                          <a:latin typeface="Century Gothic" panose="020B0502020202020204" pitchFamily="34" charset="0"/>
                        </a:rPr>
                        <a:t>FCL</a:t>
                      </a:r>
                      <a:r>
                        <a:rPr lang="es-ES_tradnl" sz="1200" b="1" noProof="0" dirty="0">
                          <a:solidFill>
                            <a:schemeClr val="accent1"/>
                          </a:solidFill>
                          <a:latin typeface="Century Gothic" panose="020B0502020202020204" pitchFamily="34" charset="0"/>
                        </a:rPr>
                        <a:t> Real</a:t>
                      </a:r>
                    </a:p>
                    <a:p>
                      <a:pPr marL="0" marR="0" lvl="0" indent="0" algn="l" defTabSz="457200" rtl="0" eaLnBrk="1" fontAlgn="auto" latinLnBrk="0" hangingPunct="1">
                        <a:lnSpc>
                          <a:spcPct val="100000"/>
                        </a:lnSpc>
                        <a:spcBef>
                          <a:spcPts val="0"/>
                        </a:spcBef>
                        <a:spcAft>
                          <a:spcPts val="0"/>
                        </a:spcAft>
                        <a:buClrTx/>
                        <a:buSzTx/>
                        <a:buFontTx/>
                        <a:buNone/>
                        <a:tabLst/>
                        <a:defRPr/>
                      </a:pPr>
                      <a:endParaRPr lang="es-CO" sz="1200" b="1"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-$36.000.000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$10.461.714</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$10.380.511</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$10.319.489</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$10.220.801</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$10.135.053</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$10.039.900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806914874"/>
                  </a:ext>
                </a:extLst>
              </a:tr>
              <a:tr h="32641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CO" sz="1200" b="1" kern="1200" dirty="0">
                          <a:solidFill>
                            <a:schemeClr val="accent1"/>
                          </a:solidFill>
                          <a:latin typeface="Century Gothic" panose="020B0502020202020204" pitchFamily="34" charset="0"/>
                          <a:ea typeface="+mn-ea"/>
                          <a:cs typeface="+mn-cs"/>
                        </a:rPr>
                        <a:t>  </a:t>
                      </a:r>
                      <a:r>
                        <a:rPr lang="es-CO" sz="1200" b="1" kern="1200" dirty="0" err="1">
                          <a:solidFill>
                            <a:schemeClr val="accent1"/>
                          </a:solidFill>
                          <a:latin typeface="Century Gothic" panose="020B0502020202020204" pitchFamily="34" charset="0"/>
                          <a:ea typeface="+mn-ea"/>
                          <a:cs typeface="+mn-cs"/>
                        </a:rPr>
                        <a:t>WACC</a:t>
                      </a:r>
                      <a:r>
                        <a:rPr lang="es-CO" sz="1200" b="1" kern="1200" dirty="0">
                          <a:solidFill>
                            <a:schemeClr val="accent1"/>
                          </a:solidFill>
                          <a:latin typeface="Century Gothic" panose="020B0502020202020204" pitchFamily="34" charset="0"/>
                          <a:ea typeface="+mn-ea"/>
                          <a:cs typeface="+mn-cs"/>
                        </a:rPr>
                        <a:t> Real </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endParaRPr lang="es-CO" sz="1200" kern="1200" dirty="0">
                        <a:solidFill>
                          <a:schemeClr val="accent1"/>
                        </a:solidFill>
                        <a:latin typeface="Century Gothic" panose="020B0502020202020204" pitchFamily="34" charset="0"/>
                        <a:ea typeface="+mn-ea"/>
                        <a:cs typeface="+mn-cs"/>
                      </a:endParaRP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b="1" kern="1200" dirty="0">
                          <a:solidFill>
                            <a:schemeClr val="tx1"/>
                          </a:solidFill>
                          <a:latin typeface="Century Gothic" panose="020B0502020202020204" pitchFamily="34" charset="0"/>
                          <a:ea typeface="+mn-ea"/>
                          <a:cs typeface="+mn-cs"/>
                        </a:rPr>
                        <a:t>7,62%</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b="1" kern="1200" dirty="0">
                          <a:solidFill>
                            <a:schemeClr val="tx1"/>
                          </a:solidFill>
                          <a:latin typeface="Century Gothic" panose="020B0502020202020204" pitchFamily="34" charset="0"/>
                          <a:ea typeface="+mn-ea"/>
                          <a:cs typeface="+mn-cs"/>
                        </a:rPr>
                        <a:t>8,13%</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b="1" kern="1200" dirty="0">
                          <a:solidFill>
                            <a:schemeClr val="tx1"/>
                          </a:solidFill>
                          <a:latin typeface="Century Gothic" panose="020B0502020202020204" pitchFamily="34" charset="0"/>
                          <a:ea typeface="+mn-ea"/>
                          <a:cs typeface="+mn-cs"/>
                        </a:rPr>
                        <a:t>9,18%</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b="1" kern="1200" dirty="0">
                          <a:solidFill>
                            <a:schemeClr val="tx1"/>
                          </a:solidFill>
                          <a:latin typeface="Century Gothic" panose="020B0502020202020204" pitchFamily="34" charset="0"/>
                          <a:ea typeface="+mn-ea"/>
                          <a:cs typeface="+mn-cs"/>
                        </a:rPr>
                        <a:t>6,60%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b="1" kern="1200" dirty="0">
                          <a:solidFill>
                            <a:schemeClr val="tx1"/>
                          </a:solidFill>
                          <a:latin typeface="Century Gothic" panose="020B0502020202020204" pitchFamily="34" charset="0"/>
                          <a:ea typeface="+mn-ea"/>
                          <a:cs typeface="+mn-cs"/>
                        </a:rPr>
                        <a:t>7,11%</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tc>
                  <a:txBody>
                    <a:bodyPr/>
                    <a:lstStyle/>
                    <a:p>
                      <a:pPr marL="0" algn="ctr" defTabSz="457200" rtl="0" eaLnBrk="1" fontAlgn="b" latinLnBrk="0" hangingPunct="1"/>
                      <a:r>
                        <a:rPr lang="es-CO" sz="1200" b="1" kern="1200" dirty="0">
                          <a:solidFill>
                            <a:schemeClr val="tx1"/>
                          </a:solidFill>
                          <a:latin typeface="Century Gothic" panose="020B0502020202020204" pitchFamily="34" charset="0"/>
                          <a:ea typeface="+mn-ea"/>
                          <a:cs typeface="+mn-cs"/>
                        </a:rPr>
                        <a:t>6,10%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2520766198"/>
                  </a:ext>
                </a:extLst>
              </a:tr>
              <a:tr h="32641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CO" sz="1200" b="1" kern="1200" dirty="0">
                          <a:solidFill>
                            <a:schemeClr val="accent1"/>
                          </a:solidFill>
                          <a:latin typeface="Century Gothic" panose="020B0502020202020204" pitchFamily="34" charset="0"/>
                          <a:ea typeface="+mn-ea"/>
                          <a:cs typeface="+mn-cs"/>
                        </a:rPr>
                        <a:t>  VPN Real</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$ 11.817.961</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$51.461.234,68</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$44.334.409,62</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$37.070.439,73</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$28.517.522,78</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$19.597.436,50</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tc>
                  <a:txBody>
                    <a:bodyPr/>
                    <a:lstStyle/>
                    <a:p>
                      <a:pPr marL="0" algn="ctr" defTabSz="457200" rtl="0" eaLnBrk="1" fontAlgn="b" latinLnBrk="0" hangingPunct="1"/>
                      <a:r>
                        <a:rPr lang="es-CO" sz="1200" kern="1200" dirty="0">
                          <a:solidFill>
                            <a:schemeClr val="accent1"/>
                          </a:solidFill>
                          <a:latin typeface="Century Gothic" panose="020B0502020202020204" pitchFamily="34" charset="0"/>
                          <a:ea typeface="+mn-ea"/>
                          <a:cs typeface="+mn-cs"/>
                        </a:rPr>
                        <a:t>$10.039.899,69</a:t>
                      </a:r>
                    </a:p>
                  </a:txBody>
                  <a:tcPr marL="0" marR="0" marT="0" marB="0" anchor="ctr">
                    <a:lnL w="19050" cap="flat" cmpd="sng" algn="ctr">
                      <a:solidFill>
                        <a:srgbClr val="D7A700"/>
                      </a:solidFill>
                      <a:prstDash val="solid"/>
                      <a:round/>
                      <a:headEnd type="none" w="med" len="med"/>
                      <a:tailEnd type="none" w="med" len="med"/>
                    </a:lnL>
                    <a:lnR w="19050" cap="flat" cmpd="sng" algn="ctr">
                      <a:solidFill>
                        <a:srgbClr val="D7A700"/>
                      </a:solidFill>
                      <a:prstDash val="solid"/>
                      <a:round/>
                      <a:headEnd type="none" w="med" len="med"/>
                      <a:tailEnd type="none" w="med" len="med"/>
                    </a:lnR>
                    <a:lnT w="19050" cap="flat" cmpd="sng" algn="ctr">
                      <a:solidFill>
                        <a:srgbClr val="D7A700"/>
                      </a:solidFill>
                      <a:prstDash val="solid"/>
                      <a:round/>
                      <a:headEnd type="none" w="med" len="med"/>
                      <a:tailEnd type="none" w="med" len="med"/>
                    </a:lnT>
                    <a:lnB w="19050" cap="flat" cmpd="sng" algn="ctr">
                      <a:solidFill>
                        <a:srgbClr val="D7A7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048622664"/>
                  </a:ext>
                </a:extLst>
              </a:tr>
            </a:tbl>
          </a:graphicData>
        </a:graphic>
      </p:graphicFrame>
      <p:grpSp>
        <p:nvGrpSpPr>
          <p:cNvPr id="9" name="Grupo 8">
            <a:extLst>
              <a:ext uri="{FF2B5EF4-FFF2-40B4-BE49-F238E27FC236}">
                <a16:creationId xmlns:a16="http://schemas.microsoft.com/office/drawing/2014/main" id="{A5178428-C2E6-F065-BF4A-046F1EE5D2E2}"/>
              </a:ext>
            </a:extLst>
          </p:cNvPr>
          <p:cNvGrpSpPr/>
          <p:nvPr/>
        </p:nvGrpSpPr>
        <p:grpSpPr>
          <a:xfrm>
            <a:off x="2928633" y="4984727"/>
            <a:ext cx="6057150" cy="523220"/>
            <a:chOff x="3492241" y="5891452"/>
            <a:chExt cx="6057150" cy="523220"/>
          </a:xfrm>
        </p:grpSpPr>
        <p:sp>
          <p:nvSpPr>
            <p:cNvPr id="12" name="CuadroTexto 11">
              <a:extLst>
                <a:ext uri="{FF2B5EF4-FFF2-40B4-BE49-F238E27FC236}">
                  <a16:creationId xmlns:a16="http://schemas.microsoft.com/office/drawing/2014/main" id="{1F77E7EE-98DF-A081-8129-37E53A53390C}"/>
                </a:ext>
              </a:extLst>
            </p:cNvPr>
            <p:cNvSpPr txBox="1"/>
            <p:nvPr/>
          </p:nvSpPr>
          <p:spPr>
            <a:xfrm>
              <a:off x="3492241" y="5891452"/>
              <a:ext cx="2880000" cy="523220"/>
            </a:xfrm>
            <a:prstGeom prst="rect">
              <a:avLst/>
            </a:prstGeom>
            <a:noFill/>
          </p:spPr>
          <p:txBody>
            <a:bodyPr wrap="square" rtlCol="0">
              <a:spAutoFit/>
            </a:bodyPr>
            <a:lstStyle/>
            <a:p>
              <a:pPr algn="ctr"/>
              <a:r>
                <a:rPr lang="en-US" sz="1400" b="1" dirty="0">
                  <a:latin typeface="Century Gothic" panose="020B0502020202020204" pitchFamily="34" charset="0"/>
                </a:rPr>
                <a:t>VPN CORRIENTE/NOMINAL</a:t>
              </a:r>
            </a:p>
            <a:p>
              <a:pPr algn="ctr"/>
              <a:r>
                <a:rPr lang="es-ES_tradnl" sz="1400" b="1" dirty="0">
                  <a:solidFill>
                    <a:srgbClr val="C00000"/>
                  </a:solidFill>
                  <a:latin typeface="Century Gothic" panose="020B0502020202020204" pitchFamily="34" charset="0"/>
                </a:rPr>
                <a:t>$11.817.961</a:t>
              </a:r>
              <a:endParaRPr lang="en-US" sz="1400" b="1" dirty="0">
                <a:solidFill>
                  <a:srgbClr val="C00000"/>
                </a:solidFill>
                <a:latin typeface="Century Gothic" panose="020B0502020202020204" pitchFamily="34" charset="0"/>
              </a:endParaRPr>
            </a:p>
          </p:txBody>
        </p:sp>
        <p:sp>
          <p:nvSpPr>
            <p:cNvPr id="13" name="CuadroTexto 12">
              <a:extLst>
                <a:ext uri="{FF2B5EF4-FFF2-40B4-BE49-F238E27FC236}">
                  <a16:creationId xmlns:a16="http://schemas.microsoft.com/office/drawing/2014/main" id="{217DF8A0-38E0-73A9-018F-EDB89A77E874}"/>
                </a:ext>
              </a:extLst>
            </p:cNvPr>
            <p:cNvSpPr txBox="1"/>
            <p:nvPr/>
          </p:nvSpPr>
          <p:spPr>
            <a:xfrm>
              <a:off x="6669391" y="5891452"/>
              <a:ext cx="2880000" cy="523220"/>
            </a:xfrm>
            <a:prstGeom prst="rect">
              <a:avLst/>
            </a:prstGeom>
            <a:noFill/>
          </p:spPr>
          <p:txBody>
            <a:bodyPr wrap="square" rtlCol="0">
              <a:spAutoFit/>
            </a:bodyPr>
            <a:lstStyle/>
            <a:p>
              <a:pPr algn="ctr"/>
              <a:r>
                <a:rPr lang="en-US" sz="1400" b="1" dirty="0">
                  <a:latin typeface="Century Gothic" panose="020B0502020202020204" pitchFamily="34" charset="0"/>
                </a:rPr>
                <a:t>VPN CONSTANTE/REAL</a:t>
              </a:r>
            </a:p>
            <a:p>
              <a:pPr algn="ctr"/>
              <a:r>
                <a:rPr lang="es-ES_tradnl" sz="1400" b="1" dirty="0">
                  <a:solidFill>
                    <a:srgbClr val="C00000"/>
                  </a:solidFill>
                  <a:latin typeface="Century Gothic" panose="020B0502020202020204" pitchFamily="34" charset="0"/>
                </a:rPr>
                <a:t>$11.817.961</a:t>
              </a:r>
              <a:endParaRPr lang="en-US" sz="1400" b="1" dirty="0">
                <a:solidFill>
                  <a:srgbClr val="C00000"/>
                </a:solidFill>
                <a:latin typeface="Century Gothic" panose="020B0502020202020204" pitchFamily="34" charset="0"/>
              </a:endParaRPr>
            </a:p>
          </p:txBody>
        </p:sp>
        <p:sp>
          <p:nvSpPr>
            <p:cNvPr id="14" name="CuadroTexto 13">
              <a:extLst>
                <a:ext uri="{FF2B5EF4-FFF2-40B4-BE49-F238E27FC236}">
                  <a16:creationId xmlns:a16="http://schemas.microsoft.com/office/drawing/2014/main" id="{3F98F096-7218-106B-13B5-537C98EFCF56}"/>
                </a:ext>
              </a:extLst>
            </p:cNvPr>
            <p:cNvSpPr txBox="1"/>
            <p:nvPr/>
          </p:nvSpPr>
          <p:spPr>
            <a:xfrm>
              <a:off x="6217379" y="5968396"/>
              <a:ext cx="891791" cy="369332"/>
            </a:xfrm>
            <a:prstGeom prst="rect">
              <a:avLst/>
            </a:prstGeom>
            <a:noFill/>
          </p:spPr>
          <p:txBody>
            <a:bodyPr wrap="square">
              <a:spAutoFit/>
            </a:bodyPr>
            <a:lstStyle/>
            <a:p>
              <a:pPr algn="ctr"/>
              <a:r>
                <a:rPr lang="en-US" sz="1800" b="1" dirty="0">
                  <a:latin typeface="Century Gothic" panose="020B0502020202020204" pitchFamily="34" charset="0"/>
                </a:rPr>
                <a:t>=</a:t>
              </a:r>
            </a:p>
          </p:txBody>
        </p:sp>
      </p:grpSp>
      <p:sp>
        <p:nvSpPr>
          <p:cNvPr id="15" name="Rectángulo 14">
            <a:extLst>
              <a:ext uri="{FF2B5EF4-FFF2-40B4-BE49-F238E27FC236}">
                <a16:creationId xmlns:a16="http://schemas.microsoft.com/office/drawing/2014/main" id="{2DA5D396-6E02-AECB-EA2C-CC73B23DD23E}"/>
              </a:ext>
            </a:extLst>
          </p:cNvPr>
          <p:cNvSpPr/>
          <p:nvPr/>
        </p:nvSpPr>
        <p:spPr>
          <a:xfrm>
            <a:off x="3137808" y="4865804"/>
            <a:ext cx="5638800" cy="75645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upo 2">
            <a:extLst>
              <a:ext uri="{FF2B5EF4-FFF2-40B4-BE49-F238E27FC236}">
                <a16:creationId xmlns:a16="http://schemas.microsoft.com/office/drawing/2014/main" id="{F9EDD4F9-AD14-E026-D9D4-5E5780DC4B28}"/>
              </a:ext>
            </a:extLst>
          </p:cNvPr>
          <p:cNvGrpSpPr/>
          <p:nvPr/>
        </p:nvGrpSpPr>
        <p:grpSpPr>
          <a:xfrm>
            <a:off x="2928633" y="6015158"/>
            <a:ext cx="6057150" cy="738664"/>
            <a:chOff x="3492241" y="5891452"/>
            <a:chExt cx="6057150" cy="738664"/>
          </a:xfrm>
        </p:grpSpPr>
        <p:sp>
          <p:nvSpPr>
            <p:cNvPr id="7" name="CuadroTexto 6">
              <a:extLst>
                <a:ext uri="{FF2B5EF4-FFF2-40B4-BE49-F238E27FC236}">
                  <a16:creationId xmlns:a16="http://schemas.microsoft.com/office/drawing/2014/main" id="{AA57308C-31EC-A170-129D-3BCBB959746D}"/>
                </a:ext>
              </a:extLst>
            </p:cNvPr>
            <p:cNvSpPr txBox="1"/>
            <p:nvPr/>
          </p:nvSpPr>
          <p:spPr>
            <a:xfrm>
              <a:off x="3492241" y="5891452"/>
              <a:ext cx="2880000" cy="738664"/>
            </a:xfrm>
            <a:prstGeom prst="rect">
              <a:avLst/>
            </a:prstGeom>
            <a:noFill/>
          </p:spPr>
          <p:txBody>
            <a:bodyPr wrap="square" rtlCol="0">
              <a:spAutoFit/>
            </a:bodyPr>
            <a:lstStyle/>
            <a:p>
              <a:pPr algn="ctr"/>
              <a:r>
                <a:rPr lang="en-US" sz="1400" b="1" dirty="0">
                  <a:latin typeface="Century Gothic" panose="020B0502020202020204" pitchFamily="34" charset="0"/>
                </a:rPr>
                <a:t>VPN CORRIENTE/NOMINAL</a:t>
              </a:r>
            </a:p>
            <a:p>
              <a:pPr algn="ctr"/>
              <a:r>
                <a:rPr lang="es-ES_tradnl" sz="1400" b="1" dirty="0">
                  <a:solidFill>
                    <a:srgbClr val="C00000"/>
                  </a:solidFill>
                  <a:latin typeface="Century Gothic" panose="020B0502020202020204" pitchFamily="34" charset="0"/>
                </a:rPr>
                <a:t>$</a:t>
              </a:r>
              <a:r>
                <a:rPr lang="es-CO" sz="1400" b="1" dirty="0">
                  <a:solidFill>
                    <a:srgbClr val="C00000"/>
                  </a:solidFill>
                  <a:latin typeface="Century Gothic" panose="020B0502020202020204" pitchFamily="34" charset="0"/>
                </a:rPr>
                <a:t>12.023.342</a:t>
              </a:r>
            </a:p>
            <a:p>
              <a:pPr algn="ctr"/>
              <a:endParaRPr lang="en-US" sz="1400" b="1" dirty="0">
                <a:solidFill>
                  <a:srgbClr val="C00000"/>
                </a:solidFill>
                <a:latin typeface="Century Gothic" panose="020B0502020202020204" pitchFamily="34" charset="0"/>
              </a:endParaRPr>
            </a:p>
          </p:txBody>
        </p:sp>
        <p:sp>
          <p:nvSpPr>
            <p:cNvPr id="10" name="CuadroTexto 9">
              <a:extLst>
                <a:ext uri="{FF2B5EF4-FFF2-40B4-BE49-F238E27FC236}">
                  <a16:creationId xmlns:a16="http://schemas.microsoft.com/office/drawing/2014/main" id="{66127E49-3177-0BAB-5B10-7743A272EAB3}"/>
                </a:ext>
              </a:extLst>
            </p:cNvPr>
            <p:cNvSpPr txBox="1"/>
            <p:nvPr/>
          </p:nvSpPr>
          <p:spPr>
            <a:xfrm>
              <a:off x="6669391" y="5891452"/>
              <a:ext cx="2880000" cy="523220"/>
            </a:xfrm>
            <a:prstGeom prst="rect">
              <a:avLst/>
            </a:prstGeom>
            <a:noFill/>
          </p:spPr>
          <p:txBody>
            <a:bodyPr wrap="square" rtlCol="0">
              <a:spAutoFit/>
            </a:bodyPr>
            <a:lstStyle/>
            <a:p>
              <a:pPr algn="ctr"/>
              <a:r>
                <a:rPr lang="en-US" sz="1400" b="1" dirty="0">
                  <a:latin typeface="Century Gothic" panose="020B0502020202020204" pitchFamily="34" charset="0"/>
                </a:rPr>
                <a:t>VPN CONSTANTE/REAL</a:t>
              </a:r>
            </a:p>
            <a:p>
              <a:pPr algn="ctr"/>
              <a:r>
                <a:rPr lang="es-ES_tradnl" sz="1400" b="1" dirty="0">
                  <a:solidFill>
                    <a:srgbClr val="C00000"/>
                  </a:solidFill>
                  <a:latin typeface="Century Gothic" panose="020B0502020202020204" pitchFamily="34" charset="0"/>
                </a:rPr>
                <a:t>$</a:t>
              </a:r>
              <a:r>
                <a:rPr lang="es-CO" sz="1400" b="1" dirty="0">
                  <a:solidFill>
                    <a:srgbClr val="C00000"/>
                  </a:solidFill>
                  <a:latin typeface="Century Gothic" panose="020B0502020202020204" pitchFamily="34" charset="0"/>
                </a:rPr>
                <a:t>12.023.342</a:t>
              </a:r>
            </a:p>
          </p:txBody>
        </p:sp>
        <p:sp>
          <p:nvSpPr>
            <p:cNvPr id="16" name="CuadroTexto 15">
              <a:extLst>
                <a:ext uri="{FF2B5EF4-FFF2-40B4-BE49-F238E27FC236}">
                  <a16:creationId xmlns:a16="http://schemas.microsoft.com/office/drawing/2014/main" id="{742348E5-066A-7F2E-6031-217BE2FEE8E2}"/>
                </a:ext>
              </a:extLst>
            </p:cNvPr>
            <p:cNvSpPr txBox="1"/>
            <p:nvPr/>
          </p:nvSpPr>
          <p:spPr>
            <a:xfrm>
              <a:off x="6217379" y="5968396"/>
              <a:ext cx="891791" cy="369332"/>
            </a:xfrm>
            <a:prstGeom prst="rect">
              <a:avLst/>
            </a:prstGeom>
            <a:noFill/>
          </p:spPr>
          <p:txBody>
            <a:bodyPr wrap="square">
              <a:spAutoFit/>
            </a:bodyPr>
            <a:lstStyle/>
            <a:p>
              <a:pPr algn="ctr"/>
              <a:r>
                <a:rPr lang="en-US" sz="1800" b="1" dirty="0">
                  <a:latin typeface="Century Gothic" panose="020B0502020202020204" pitchFamily="34" charset="0"/>
                </a:rPr>
                <a:t>=</a:t>
              </a:r>
            </a:p>
          </p:txBody>
        </p:sp>
      </p:grpSp>
      <p:sp>
        <p:nvSpPr>
          <p:cNvPr id="17" name="Rectángulo 16">
            <a:extLst>
              <a:ext uri="{FF2B5EF4-FFF2-40B4-BE49-F238E27FC236}">
                <a16:creationId xmlns:a16="http://schemas.microsoft.com/office/drawing/2014/main" id="{5ABEEE19-1C19-679E-544F-4F6A2A5D185C}"/>
              </a:ext>
            </a:extLst>
          </p:cNvPr>
          <p:cNvSpPr/>
          <p:nvPr/>
        </p:nvSpPr>
        <p:spPr>
          <a:xfrm>
            <a:off x="3137808" y="5896235"/>
            <a:ext cx="5638800" cy="75645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CuadroTexto 17">
            <a:extLst>
              <a:ext uri="{FF2B5EF4-FFF2-40B4-BE49-F238E27FC236}">
                <a16:creationId xmlns:a16="http://schemas.microsoft.com/office/drawing/2014/main" id="{92460E0B-D896-A5D9-E639-333270DA865D}"/>
              </a:ext>
            </a:extLst>
          </p:cNvPr>
          <p:cNvSpPr txBox="1"/>
          <p:nvPr/>
        </p:nvSpPr>
        <p:spPr>
          <a:xfrm>
            <a:off x="887896" y="4972241"/>
            <a:ext cx="2249912" cy="646331"/>
          </a:xfrm>
          <a:prstGeom prst="rect">
            <a:avLst/>
          </a:prstGeom>
          <a:noFill/>
        </p:spPr>
        <p:txBody>
          <a:bodyPr wrap="square" rtlCol="0">
            <a:spAutoFit/>
          </a:bodyPr>
          <a:lstStyle/>
          <a:p>
            <a:r>
              <a:rPr lang="en-US" dirty="0" err="1">
                <a:solidFill>
                  <a:schemeClr val="accent3">
                    <a:lumMod val="75000"/>
                  </a:schemeClr>
                </a:solidFill>
              </a:rPr>
              <a:t>Escenario</a:t>
            </a:r>
            <a:r>
              <a:rPr lang="en-US" dirty="0">
                <a:solidFill>
                  <a:schemeClr val="accent3">
                    <a:lumMod val="75000"/>
                  </a:schemeClr>
                </a:solidFill>
              </a:rPr>
              <a:t> </a:t>
            </a:r>
            <a:r>
              <a:rPr lang="en-US" dirty="0" err="1">
                <a:solidFill>
                  <a:schemeClr val="accent3">
                    <a:lumMod val="75000"/>
                  </a:schemeClr>
                </a:solidFill>
              </a:rPr>
              <a:t>Inflación</a:t>
            </a:r>
            <a:r>
              <a:rPr lang="en-US" dirty="0">
                <a:solidFill>
                  <a:schemeClr val="accent3">
                    <a:lumMod val="75000"/>
                  </a:schemeClr>
                </a:solidFill>
              </a:rPr>
              <a:t> Variable</a:t>
            </a:r>
          </a:p>
        </p:txBody>
      </p:sp>
      <p:sp>
        <p:nvSpPr>
          <p:cNvPr id="19" name="CuadroTexto 18">
            <a:extLst>
              <a:ext uri="{FF2B5EF4-FFF2-40B4-BE49-F238E27FC236}">
                <a16:creationId xmlns:a16="http://schemas.microsoft.com/office/drawing/2014/main" id="{11FC2E22-108C-CA5F-D6AB-132E1CA7B2C9}"/>
              </a:ext>
            </a:extLst>
          </p:cNvPr>
          <p:cNvSpPr txBox="1"/>
          <p:nvPr/>
        </p:nvSpPr>
        <p:spPr>
          <a:xfrm>
            <a:off x="1017419" y="5951295"/>
            <a:ext cx="2249912" cy="646331"/>
          </a:xfrm>
          <a:prstGeom prst="rect">
            <a:avLst/>
          </a:prstGeom>
          <a:noFill/>
        </p:spPr>
        <p:txBody>
          <a:bodyPr wrap="square" rtlCol="0">
            <a:spAutoFit/>
          </a:bodyPr>
          <a:lstStyle/>
          <a:p>
            <a:r>
              <a:rPr lang="en-US" dirty="0" err="1">
                <a:solidFill>
                  <a:schemeClr val="accent3">
                    <a:lumMod val="75000"/>
                  </a:schemeClr>
                </a:solidFill>
              </a:rPr>
              <a:t>Escenario</a:t>
            </a:r>
            <a:r>
              <a:rPr lang="en-US" dirty="0">
                <a:solidFill>
                  <a:schemeClr val="accent3">
                    <a:lumMod val="75000"/>
                  </a:schemeClr>
                </a:solidFill>
              </a:rPr>
              <a:t> </a:t>
            </a:r>
            <a:r>
              <a:rPr lang="en-US" dirty="0" err="1">
                <a:solidFill>
                  <a:schemeClr val="accent3">
                    <a:lumMod val="75000"/>
                  </a:schemeClr>
                </a:solidFill>
              </a:rPr>
              <a:t>Inflación</a:t>
            </a:r>
            <a:r>
              <a:rPr lang="en-US" dirty="0">
                <a:solidFill>
                  <a:schemeClr val="accent3">
                    <a:lumMod val="75000"/>
                  </a:schemeClr>
                </a:solidFill>
              </a:rPr>
              <a:t> Constante</a:t>
            </a:r>
          </a:p>
        </p:txBody>
      </p:sp>
    </p:spTree>
    <p:extLst>
      <p:ext uri="{BB962C8B-B14F-4D97-AF65-F5344CB8AC3E}">
        <p14:creationId xmlns:p14="http://schemas.microsoft.com/office/powerpoint/2010/main" val="3014625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ppt_x"/>
                                          </p:val>
                                        </p:tav>
                                        <p:tav tm="100000">
                                          <p:val>
                                            <p:strVal val="#ppt_x"/>
                                          </p:val>
                                        </p:tav>
                                      </p:tavLst>
                                    </p:anim>
                                    <p:anim calcmode="lin" valueType="num">
                                      <p:cBhvr additive="base">
                                        <p:cTn id="18" dur="500" fill="hold"/>
                                        <p:tgtEl>
                                          <p:spTgt spid="17"/>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blinds(horizontal)">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blinds(horizontal)">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1"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checkerboard(across)">
                                      <p:cBhvr>
                                        <p:cTn id="3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7" grpId="1" animBg="1"/>
      <p:bldP spid="18" grpId="0"/>
      <p:bldP spid="19"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DFEC47-D642-DDBB-8CF7-66641BA06A3D}"/>
              </a:ext>
            </a:extLst>
          </p:cNvPr>
          <p:cNvSpPr>
            <a:spLocks noGrp="1"/>
          </p:cNvSpPr>
          <p:nvPr>
            <p:ph type="title"/>
          </p:nvPr>
        </p:nvSpPr>
        <p:spPr/>
        <p:txBody>
          <a:bodyPr/>
          <a:lstStyle/>
          <a:p>
            <a:r>
              <a:rPr lang="en-US" err="1"/>
              <a:t>EjeRCICIO</a:t>
            </a:r>
            <a:r>
              <a:rPr lang="en-US"/>
              <a:t> 1</a:t>
            </a:r>
          </a:p>
        </p:txBody>
      </p:sp>
      <p:sp>
        <p:nvSpPr>
          <p:cNvPr id="3" name="Marcador de contenido 2">
            <a:extLst>
              <a:ext uri="{FF2B5EF4-FFF2-40B4-BE49-F238E27FC236}">
                <a16:creationId xmlns:a16="http://schemas.microsoft.com/office/drawing/2014/main" id="{6D6B364B-0D62-45B7-902B-C7606BB7D4DA}"/>
              </a:ext>
            </a:extLst>
          </p:cNvPr>
          <p:cNvSpPr>
            <a:spLocks noGrp="1"/>
          </p:cNvSpPr>
          <p:nvPr>
            <p:ph idx="1"/>
          </p:nvPr>
        </p:nvSpPr>
        <p:spPr>
          <a:xfrm>
            <a:off x="581190" y="1940377"/>
            <a:ext cx="11029615" cy="1703971"/>
          </a:xfrm>
        </p:spPr>
        <p:txBody>
          <a:bodyPr>
            <a:normAutofit/>
          </a:bodyPr>
          <a:lstStyle/>
          <a:p>
            <a:pPr marL="0" indent="0" algn="just">
              <a:buNone/>
            </a:pPr>
            <a:r>
              <a:rPr lang="es-CO" sz="2000" dirty="0"/>
              <a:t>Un fondo obtiene una </a:t>
            </a:r>
            <a:r>
              <a:rPr lang="es-CO" sz="2000" b="1" dirty="0"/>
              <a:t>tasa nominal efectiva anual (EA)</a:t>
            </a:r>
            <a:r>
              <a:rPr lang="es-CO" sz="2000" dirty="0"/>
              <a:t> fija de </a:t>
            </a:r>
            <a:r>
              <a:rPr lang="es-CO" sz="2000" b="1" dirty="0"/>
              <a:t>10,8%</a:t>
            </a:r>
            <a:r>
              <a:rPr lang="es-CO" sz="2000" dirty="0"/>
              <a:t> durante </a:t>
            </a:r>
            <a:r>
              <a:rPr lang="es-CO" sz="2000" b="1" dirty="0"/>
              <a:t>3 años</a:t>
            </a:r>
            <a:r>
              <a:rPr lang="es-CO" sz="2000" dirty="0"/>
              <a:t> en el País X. Las inflaciones esperadas para los próximos tres años son: </a:t>
            </a:r>
            <a:r>
              <a:rPr lang="es-CO" sz="2000" b="1" dirty="0"/>
              <a:t>3,4%</a:t>
            </a:r>
            <a:r>
              <a:rPr lang="es-CO" sz="2000" dirty="0"/>
              <a:t>, </a:t>
            </a:r>
            <a:r>
              <a:rPr lang="es-CO" sz="2000" b="1" dirty="0"/>
              <a:t>2,8%</a:t>
            </a:r>
            <a:r>
              <a:rPr lang="es-CO" sz="2000" dirty="0"/>
              <a:t> y </a:t>
            </a:r>
            <a:r>
              <a:rPr lang="es-CO" sz="2000" b="1" dirty="0"/>
              <a:t>3,1%</a:t>
            </a:r>
            <a:r>
              <a:rPr lang="es-CO" sz="2000" dirty="0"/>
              <a:t>.</a:t>
            </a:r>
          </a:p>
          <a:p>
            <a:pPr marL="0" indent="0" algn="just">
              <a:buNone/>
            </a:pPr>
            <a:r>
              <a:rPr lang="es-CO" sz="2000" dirty="0"/>
              <a:t>Calcule la tasa real anualizada.</a:t>
            </a:r>
          </a:p>
        </p:txBody>
      </p:sp>
      <p:sp>
        <p:nvSpPr>
          <p:cNvPr id="4" name="Marcador de número de diapositiva 3">
            <a:extLst>
              <a:ext uri="{FF2B5EF4-FFF2-40B4-BE49-F238E27FC236}">
                <a16:creationId xmlns:a16="http://schemas.microsoft.com/office/drawing/2014/main" id="{6373B7AB-2A3C-ECDC-15AD-06E92A7705A4}"/>
              </a:ext>
            </a:extLst>
          </p:cNvPr>
          <p:cNvSpPr>
            <a:spLocks noGrp="1"/>
          </p:cNvSpPr>
          <p:nvPr>
            <p:ph type="sldNum" sz="quarter" idx="12"/>
          </p:nvPr>
        </p:nvSpPr>
        <p:spPr/>
        <p:txBody>
          <a:bodyPr/>
          <a:lstStyle/>
          <a:p>
            <a:fld id="{D57F1E4F-1CFF-5643-939E-217C01CDF565}" type="slidenum">
              <a:rPr lang="en-US" smtClean="0"/>
              <a:pPr/>
              <a:t>60</a:t>
            </a:fld>
            <a:endParaRPr lang="en-US"/>
          </a:p>
        </p:txBody>
      </p:sp>
      <p:sp>
        <p:nvSpPr>
          <p:cNvPr id="6" name="CuadroTexto 5">
            <a:extLst>
              <a:ext uri="{FF2B5EF4-FFF2-40B4-BE49-F238E27FC236}">
                <a16:creationId xmlns:a16="http://schemas.microsoft.com/office/drawing/2014/main" id="{EAF5134C-DDAE-662E-AC9D-24F4AC2EC1B5}"/>
              </a:ext>
            </a:extLst>
          </p:cNvPr>
          <p:cNvSpPr txBox="1"/>
          <p:nvPr/>
        </p:nvSpPr>
        <p:spPr>
          <a:xfrm>
            <a:off x="901147" y="3857901"/>
            <a:ext cx="1298713" cy="1746184"/>
          </a:xfrm>
          <a:prstGeom prst="rect">
            <a:avLst/>
          </a:prstGeom>
          <a:noFill/>
        </p:spPr>
        <p:txBody>
          <a:bodyPr wrap="square">
            <a:spAutoFit/>
          </a:bodyPr>
          <a:lstStyle/>
          <a:p>
            <a:pPr marL="342900" indent="-342900">
              <a:lnSpc>
                <a:spcPct val="150000"/>
              </a:lnSpc>
              <a:buClr>
                <a:schemeClr val="accent3">
                  <a:lumMod val="75000"/>
                </a:schemeClr>
              </a:buClr>
              <a:buFont typeface="+mj-lt"/>
              <a:buAutoNum type="alphaLcParenR"/>
            </a:pPr>
            <a:r>
              <a:rPr lang="es-CO"/>
              <a:t>6,90%</a:t>
            </a:r>
          </a:p>
          <a:p>
            <a:pPr marL="342900" indent="-342900">
              <a:lnSpc>
                <a:spcPct val="150000"/>
              </a:lnSpc>
              <a:buClr>
                <a:schemeClr val="accent3">
                  <a:lumMod val="75000"/>
                </a:schemeClr>
              </a:buClr>
              <a:buFont typeface="+mj-lt"/>
              <a:buAutoNum type="alphaLcParenR"/>
            </a:pPr>
            <a:r>
              <a:rPr lang="es-CO"/>
              <a:t>7,47%</a:t>
            </a:r>
          </a:p>
          <a:p>
            <a:pPr marL="342900" indent="-342900">
              <a:lnSpc>
                <a:spcPct val="150000"/>
              </a:lnSpc>
              <a:buClr>
                <a:schemeClr val="accent3">
                  <a:lumMod val="75000"/>
                </a:schemeClr>
              </a:buClr>
              <a:buFont typeface="+mj-lt"/>
              <a:buAutoNum type="alphaLcParenR"/>
            </a:pPr>
            <a:r>
              <a:rPr lang="es-CO"/>
              <a:t>7,90%</a:t>
            </a:r>
          </a:p>
          <a:p>
            <a:pPr marL="342900" indent="-342900">
              <a:lnSpc>
                <a:spcPct val="150000"/>
              </a:lnSpc>
              <a:buClr>
                <a:schemeClr val="accent3">
                  <a:lumMod val="75000"/>
                </a:schemeClr>
              </a:buClr>
              <a:buFont typeface="+mj-lt"/>
              <a:buAutoNum type="alphaLcParenR"/>
            </a:pPr>
            <a:r>
              <a:rPr lang="es-CO"/>
              <a:t>8,10</a:t>
            </a:r>
            <a:r>
              <a:rPr lang="es-CO" sz="2000"/>
              <a:t>%</a:t>
            </a:r>
          </a:p>
        </p:txBody>
      </p:sp>
      <p:pic>
        <p:nvPicPr>
          <p:cNvPr id="8" name="Gráfico 7" descr="Badge Tick1 con relleno sólido">
            <a:extLst>
              <a:ext uri="{FF2B5EF4-FFF2-40B4-BE49-F238E27FC236}">
                <a16:creationId xmlns:a16="http://schemas.microsoft.com/office/drawing/2014/main" id="{2337BBCB-DFFA-20B0-B5D9-6A0F4A45997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1125" y="4377277"/>
            <a:ext cx="397565" cy="397565"/>
          </a:xfrm>
          <a:prstGeom prst="rect">
            <a:avLst/>
          </a:prstGeom>
        </p:spPr>
      </p:pic>
      <p:pic>
        <p:nvPicPr>
          <p:cNvPr id="16" name="Imagen 15">
            <a:extLst>
              <a:ext uri="{FF2B5EF4-FFF2-40B4-BE49-F238E27FC236}">
                <a16:creationId xmlns:a16="http://schemas.microsoft.com/office/drawing/2014/main" id="{823C6569-772A-14CE-D145-EB26B746A3D3}"/>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6402261" y="3437961"/>
            <a:ext cx="5208544" cy="2883301"/>
          </a:xfrm>
          <a:prstGeom prst="rect">
            <a:avLst/>
          </a:prstGeom>
        </p:spPr>
      </p:pic>
      <p:sp>
        <p:nvSpPr>
          <p:cNvPr id="17" name="CuadroTexto 16">
            <a:extLst>
              <a:ext uri="{FF2B5EF4-FFF2-40B4-BE49-F238E27FC236}">
                <a16:creationId xmlns:a16="http://schemas.microsoft.com/office/drawing/2014/main" id="{25B3DE59-A9D9-A438-EA11-402FD6410783}"/>
              </a:ext>
            </a:extLst>
          </p:cNvPr>
          <p:cNvSpPr txBox="1"/>
          <p:nvPr/>
        </p:nvSpPr>
        <p:spPr>
          <a:xfrm>
            <a:off x="6095997" y="5634743"/>
            <a:ext cx="4267200" cy="230832"/>
          </a:xfrm>
          <a:prstGeom prst="rect">
            <a:avLst/>
          </a:prstGeom>
          <a:noFill/>
        </p:spPr>
        <p:txBody>
          <a:bodyPr wrap="square" rtlCol="0">
            <a:spAutoFit/>
          </a:bodyPr>
          <a:lstStyle/>
          <a:p>
            <a:r>
              <a:rPr lang="en-US" sz="900">
                <a:hlinkClick r:id="rId6" tooltip="https://inlucro.org/numeros-imaginarios/"/>
              </a:rPr>
              <a:t>Esta foto</a:t>
            </a:r>
            <a:r>
              <a:rPr lang="en-US" sz="900"/>
              <a:t> de Autor desconocido está bajo licencia </a:t>
            </a:r>
            <a:r>
              <a:rPr lang="en-US" sz="900">
                <a:hlinkClick r:id="rId7" tooltip="https://creativecommons.org/licenses/by-nc-nd/3.0/"/>
              </a:rPr>
              <a:t>CC BY-NC-ND</a:t>
            </a:r>
            <a:endParaRPr lang="en-US" sz="900"/>
          </a:p>
        </p:txBody>
      </p:sp>
    </p:spTree>
    <p:extLst>
      <p:ext uri="{BB962C8B-B14F-4D97-AF65-F5344CB8AC3E}">
        <p14:creationId xmlns:p14="http://schemas.microsoft.com/office/powerpoint/2010/main" val="724989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F3141C-2696-4BBD-9E81-0E9E4CAC6C5B}"/>
              </a:ext>
            </a:extLst>
          </p:cNvPr>
          <p:cNvSpPr>
            <a:spLocks noGrp="1"/>
          </p:cNvSpPr>
          <p:nvPr>
            <p:ph type="title"/>
          </p:nvPr>
        </p:nvSpPr>
        <p:spPr/>
        <p:txBody>
          <a:bodyPr/>
          <a:lstStyle/>
          <a:p>
            <a:r>
              <a:rPr lang="en-US" err="1"/>
              <a:t>EjERCICIO</a:t>
            </a:r>
            <a:r>
              <a:rPr lang="en-US"/>
              <a:t> 2</a:t>
            </a:r>
          </a:p>
        </p:txBody>
      </p:sp>
      <p:sp>
        <p:nvSpPr>
          <p:cNvPr id="3" name="Marcador de contenido 2">
            <a:extLst>
              <a:ext uri="{FF2B5EF4-FFF2-40B4-BE49-F238E27FC236}">
                <a16:creationId xmlns:a16="http://schemas.microsoft.com/office/drawing/2014/main" id="{3CC6DF50-AF30-3FD1-A7D3-C2F0A4735825}"/>
              </a:ext>
            </a:extLst>
          </p:cNvPr>
          <p:cNvSpPr>
            <a:spLocks noGrp="1"/>
          </p:cNvSpPr>
          <p:nvPr>
            <p:ph idx="1"/>
          </p:nvPr>
        </p:nvSpPr>
        <p:spPr>
          <a:xfrm>
            <a:off x="581192" y="1868556"/>
            <a:ext cx="11029615" cy="2981739"/>
          </a:xfrm>
        </p:spPr>
        <p:txBody>
          <a:bodyPr>
            <a:normAutofit/>
          </a:bodyPr>
          <a:lstStyle/>
          <a:p>
            <a:pPr marL="0" indent="0">
              <a:buNone/>
            </a:pPr>
            <a:r>
              <a:rPr lang="es-CO"/>
              <a:t>Un proyecto independiente promete una tasa de rentabilidad nominal EA = 12% durante 3 años tanto en Perú como en Ecuador.</a:t>
            </a:r>
          </a:p>
          <a:p>
            <a:pPr marL="0" indent="0">
              <a:buNone/>
            </a:pPr>
            <a:r>
              <a:rPr lang="es-CO"/>
              <a:t>Se cuentan con las proyecciones de inflación (tres años):</a:t>
            </a:r>
          </a:p>
          <a:p>
            <a:r>
              <a:rPr lang="es-CO" b="1"/>
              <a:t>Perú:   3,2%;   2,7%;   2,5%</a:t>
            </a:r>
          </a:p>
          <a:p>
            <a:r>
              <a:rPr lang="es-CO" b="1"/>
              <a:t>Ecuador: 2,5%;  3,8%;  3,6%</a:t>
            </a:r>
            <a:endParaRPr lang="es-CO"/>
          </a:p>
          <a:p>
            <a:pPr marL="0" indent="0">
              <a:buNone/>
            </a:pPr>
            <a:r>
              <a:rPr lang="es-CO"/>
              <a:t>Calcular la tasa real anualizada en cada país con Fisher.</a:t>
            </a:r>
          </a:p>
          <a:p>
            <a:pPr marL="0" indent="0">
              <a:buNone/>
            </a:pPr>
            <a:r>
              <a:rPr lang="es-CO"/>
              <a:t>Concluir </a:t>
            </a:r>
            <a:r>
              <a:rPr lang="es-CO" b="1"/>
              <a:t>dónde conviene invertir</a:t>
            </a:r>
            <a:r>
              <a:rPr lang="es-CO"/>
              <a:t> si nos guiamos por la </a:t>
            </a:r>
            <a:r>
              <a:rPr lang="es-CO" b="1"/>
              <a:t>TIR real</a:t>
            </a:r>
            <a:r>
              <a:rPr lang="es-CO"/>
              <a:t>.</a:t>
            </a:r>
          </a:p>
          <a:p>
            <a:pPr marL="0" indent="0">
              <a:buNone/>
            </a:pPr>
            <a:endParaRPr lang="es-CO"/>
          </a:p>
        </p:txBody>
      </p:sp>
      <p:sp>
        <p:nvSpPr>
          <p:cNvPr id="4" name="Marcador de número de diapositiva 3">
            <a:extLst>
              <a:ext uri="{FF2B5EF4-FFF2-40B4-BE49-F238E27FC236}">
                <a16:creationId xmlns:a16="http://schemas.microsoft.com/office/drawing/2014/main" id="{44BAC8BD-9289-478E-C684-A5D21312C0F5}"/>
              </a:ext>
            </a:extLst>
          </p:cNvPr>
          <p:cNvSpPr>
            <a:spLocks noGrp="1"/>
          </p:cNvSpPr>
          <p:nvPr>
            <p:ph type="sldNum" sz="quarter" idx="12"/>
          </p:nvPr>
        </p:nvSpPr>
        <p:spPr/>
        <p:txBody>
          <a:bodyPr/>
          <a:lstStyle/>
          <a:p>
            <a:fld id="{D57F1E4F-1CFF-5643-939E-217C01CDF565}" type="slidenum">
              <a:rPr lang="en-US" smtClean="0"/>
              <a:pPr/>
              <a:t>61</a:t>
            </a:fld>
            <a:endParaRPr lang="en-US"/>
          </a:p>
        </p:txBody>
      </p:sp>
      <p:sp>
        <p:nvSpPr>
          <p:cNvPr id="6" name="CuadroTexto 5">
            <a:extLst>
              <a:ext uri="{FF2B5EF4-FFF2-40B4-BE49-F238E27FC236}">
                <a16:creationId xmlns:a16="http://schemas.microsoft.com/office/drawing/2014/main" id="{F78FD647-5B8A-AAF5-7ABE-6D89E8B99751}"/>
              </a:ext>
            </a:extLst>
          </p:cNvPr>
          <p:cNvSpPr txBox="1"/>
          <p:nvPr/>
        </p:nvSpPr>
        <p:spPr>
          <a:xfrm>
            <a:off x="755373" y="4651513"/>
            <a:ext cx="7832036" cy="1705467"/>
          </a:xfrm>
          <a:prstGeom prst="rect">
            <a:avLst/>
          </a:prstGeom>
          <a:noFill/>
        </p:spPr>
        <p:txBody>
          <a:bodyPr wrap="square">
            <a:spAutoFit/>
          </a:bodyPr>
          <a:lstStyle/>
          <a:p>
            <a:pPr marL="342900" indent="-342900">
              <a:lnSpc>
                <a:spcPct val="150000"/>
              </a:lnSpc>
              <a:buClr>
                <a:schemeClr val="accent3">
                  <a:lumMod val="75000"/>
                </a:schemeClr>
              </a:buClr>
              <a:buFont typeface="+mj-lt"/>
              <a:buAutoNum type="alphaLcParenR"/>
            </a:pPr>
            <a:r>
              <a:rPr lang="es-CO"/>
              <a:t>Perú: 8,42% EA &lt; Ecuador: 8,95% EA, por lo tanto conviene Ecuador</a:t>
            </a:r>
          </a:p>
          <a:p>
            <a:pPr marL="342900" indent="-342900">
              <a:lnSpc>
                <a:spcPct val="150000"/>
              </a:lnSpc>
              <a:buClr>
                <a:schemeClr val="accent3">
                  <a:lumMod val="75000"/>
                </a:schemeClr>
              </a:buClr>
              <a:buFont typeface="+mj-lt"/>
              <a:buAutoNum type="alphaLcParenR"/>
            </a:pPr>
            <a:r>
              <a:rPr lang="es-CO"/>
              <a:t>Perú: 8,20% EA ≈ Ecuador: 8,20% EA, por lo tanto es Indiferente</a:t>
            </a:r>
          </a:p>
          <a:p>
            <a:pPr marL="342900" indent="-342900">
              <a:lnSpc>
                <a:spcPct val="150000"/>
              </a:lnSpc>
              <a:buClr>
                <a:schemeClr val="accent3">
                  <a:lumMod val="75000"/>
                </a:schemeClr>
              </a:buClr>
              <a:buFont typeface="+mj-lt"/>
              <a:buAutoNum type="alphaLcParenR"/>
            </a:pPr>
            <a:r>
              <a:rPr lang="es-CO"/>
              <a:t>Ambas reales &lt; 8%, por lo tanto rechazar ambos</a:t>
            </a:r>
          </a:p>
          <a:p>
            <a:pPr marL="342900" indent="-342900">
              <a:lnSpc>
                <a:spcPct val="150000"/>
              </a:lnSpc>
              <a:buClr>
                <a:schemeClr val="accent3">
                  <a:lumMod val="75000"/>
                </a:schemeClr>
              </a:buClr>
              <a:buFont typeface="+mj-lt"/>
              <a:buAutoNum type="alphaLcParenR"/>
            </a:pPr>
            <a:r>
              <a:rPr lang="es-CO"/>
              <a:t>Perú: 8,95% EA &gt; Ecuador: 8,42% EA, por lo tanto conviene Perú</a:t>
            </a:r>
          </a:p>
        </p:txBody>
      </p:sp>
      <p:pic>
        <p:nvPicPr>
          <p:cNvPr id="7" name="Gráfico 6" descr="Badge Tick1 con relleno sólido">
            <a:extLst>
              <a:ext uri="{FF2B5EF4-FFF2-40B4-BE49-F238E27FC236}">
                <a16:creationId xmlns:a16="http://schemas.microsoft.com/office/drawing/2014/main" id="{E5ACEE12-0AF6-FC8B-3988-4D9AE384888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2211" y="5959415"/>
            <a:ext cx="397565" cy="397565"/>
          </a:xfrm>
          <a:prstGeom prst="rect">
            <a:avLst/>
          </a:prstGeom>
        </p:spPr>
      </p:pic>
      <p:pic>
        <p:nvPicPr>
          <p:cNvPr id="10" name="Picture 2" descr="Aprender a resolver problemas | PressCoaching">
            <a:extLst>
              <a:ext uri="{FF2B5EF4-FFF2-40B4-BE49-F238E27FC236}">
                <a16:creationId xmlns:a16="http://schemas.microsoft.com/office/drawing/2014/main" id="{32458EDF-FE19-17CC-6D19-4E9E68FAD5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46486" y="4517514"/>
            <a:ext cx="2423627" cy="18037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6533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91084-E4AE-FFD3-FC24-14601D270C1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8770406-830F-0EC3-0C85-B62B0496000D}"/>
              </a:ext>
            </a:extLst>
          </p:cNvPr>
          <p:cNvSpPr>
            <a:spLocks noGrp="1"/>
          </p:cNvSpPr>
          <p:nvPr>
            <p:ph type="title"/>
          </p:nvPr>
        </p:nvSpPr>
        <p:spPr/>
        <p:txBody>
          <a:bodyPr/>
          <a:lstStyle/>
          <a:p>
            <a:r>
              <a:rPr lang="en-US"/>
              <a:t>EJERCICIO 3</a:t>
            </a:r>
          </a:p>
        </p:txBody>
      </p:sp>
      <p:sp>
        <p:nvSpPr>
          <p:cNvPr id="3" name="Marcador de contenido 2">
            <a:extLst>
              <a:ext uri="{FF2B5EF4-FFF2-40B4-BE49-F238E27FC236}">
                <a16:creationId xmlns:a16="http://schemas.microsoft.com/office/drawing/2014/main" id="{B9553867-A1D4-565F-F6EA-582238394061}"/>
              </a:ext>
            </a:extLst>
          </p:cNvPr>
          <p:cNvSpPr>
            <a:spLocks noGrp="1"/>
          </p:cNvSpPr>
          <p:nvPr>
            <p:ph idx="1"/>
          </p:nvPr>
        </p:nvSpPr>
        <p:spPr>
          <a:xfrm>
            <a:off x="481800" y="1907546"/>
            <a:ext cx="11228399" cy="1391752"/>
          </a:xfrm>
        </p:spPr>
        <p:txBody>
          <a:bodyPr>
            <a:normAutofit lnSpcReduction="10000"/>
          </a:bodyPr>
          <a:lstStyle/>
          <a:p>
            <a:pPr marL="0" indent="0">
              <a:buNone/>
            </a:pPr>
            <a:r>
              <a:rPr lang="es-CO"/>
              <a:t>La siguiente tabla muestra el historial de ingresos en denominación nominal de un trabajador en un cierto país, donde es de interés conocer qué año es donde tuvo un mayor y menor ingreso real, tomando de referencia la fecha que empezó a colaborar en la empresa, que fue el año 2019. </a:t>
            </a:r>
          </a:p>
          <a:p>
            <a:pPr marL="0" indent="0">
              <a:buNone/>
            </a:pPr>
            <a:r>
              <a:rPr lang="es-CO"/>
              <a:t>Determine: a) Ingreso real o constante, la variación nominal y la variación real y concluya.</a:t>
            </a:r>
          </a:p>
          <a:p>
            <a:pPr marL="0" indent="0">
              <a:buNone/>
            </a:pPr>
            <a:endParaRPr lang="es-CO"/>
          </a:p>
        </p:txBody>
      </p:sp>
      <p:sp>
        <p:nvSpPr>
          <p:cNvPr id="4" name="Marcador de número de diapositiva 3">
            <a:extLst>
              <a:ext uri="{FF2B5EF4-FFF2-40B4-BE49-F238E27FC236}">
                <a16:creationId xmlns:a16="http://schemas.microsoft.com/office/drawing/2014/main" id="{E44B3A88-AA53-9749-D084-7ED2A10F4081}"/>
              </a:ext>
            </a:extLst>
          </p:cNvPr>
          <p:cNvSpPr>
            <a:spLocks noGrp="1"/>
          </p:cNvSpPr>
          <p:nvPr>
            <p:ph type="sldNum" sz="quarter" idx="12"/>
          </p:nvPr>
        </p:nvSpPr>
        <p:spPr/>
        <p:txBody>
          <a:bodyPr/>
          <a:lstStyle/>
          <a:p>
            <a:fld id="{D57F1E4F-1CFF-5643-939E-217C01CDF565}" type="slidenum">
              <a:rPr lang="en-US" smtClean="0"/>
              <a:pPr/>
              <a:t>62</a:t>
            </a:fld>
            <a:endParaRPr lang="en-US"/>
          </a:p>
        </p:txBody>
      </p:sp>
      <p:sp>
        <p:nvSpPr>
          <p:cNvPr id="6" name="CuadroTexto 5">
            <a:extLst>
              <a:ext uri="{FF2B5EF4-FFF2-40B4-BE49-F238E27FC236}">
                <a16:creationId xmlns:a16="http://schemas.microsoft.com/office/drawing/2014/main" id="{09846952-1808-A02A-8A85-EB7E59826133}"/>
              </a:ext>
            </a:extLst>
          </p:cNvPr>
          <p:cNvSpPr txBox="1"/>
          <p:nvPr/>
        </p:nvSpPr>
        <p:spPr>
          <a:xfrm>
            <a:off x="779974" y="5203828"/>
            <a:ext cx="11021665" cy="1815882"/>
          </a:xfrm>
          <a:prstGeom prst="rect">
            <a:avLst/>
          </a:prstGeom>
          <a:noFill/>
        </p:spPr>
        <p:txBody>
          <a:bodyPr wrap="square">
            <a:spAutoFit/>
          </a:bodyPr>
          <a:lstStyle/>
          <a:p>
            <a:pPr marL="342900" indent="-342900">
              <a:lnSpc>
                <a:spcPct val="150000"/>
              </a:lnSpc>
              <a:buClr>
                <a:schemeClr val="accent3">
                  <a:lumMod val="75000"/>
                </a:schemeClr>
              </a:buClr>
              <a:buFont typeface="+mj-lt"/>
              <a:buAutoNum type="alphaLcParenR"/>
            </a:pPr>
            <a:r>
              <a:rPr lang="es-CO" sz="1600"/>
              <a:t>La mayor variación real la tuvo en el 2020 respecto al 2019, donde su variación nominal fue también la mayor. </a:t>
            </a:r>
          </a:p>
          <a:p>
            <a:pPr marL="342900" indent="-342900">
              <a:lnSpc>
                <a:spcPct val="150000"/>
              </a:lnSpc>
              <a:buClr>
                <a:schemeClr val="accent3">
                  <a:lumMod val="75000"/>
                </a:schemeClr>
              </a:buClr>
              <a:buFont typeface="+mj-lt"/>
              <a:buAutoNum type="alphaLcParenR"/>
            </a:pPr>
            <a:r>
              <a:rPr lang="es-CO" sz="1600"/>
              <a:t>El mayor ingreso real fue en 2020, ya que su variación nominal fue también la más alta.</a:t>
            </a:r>
          </a:p>
          <a:p>
            <a:pPr marL="342900" indent="-342900">
              <a:lnSpc>
                <a:spcPct val="150000"/>
              </a:lnSpc>
              <a:buClr>
                <a:schemeClr val="accent3">
                  <a:lumMod val="75000"/>
                </a:schemeClr>
              </a:buClr>
              <a:buFont typeface="+mj-lt"/>
              <a:buAutoNum type="alphaLcParenR"/>
            </a:pPr>
            <a:r>
              <a:rPr lang="es-CO" sz="1600"/>
              <a:t>La mayor variación real la tuvo en el 2022 respecto al 2021 a pesar que la mayor variación nominal no fue en ese mismo año.</a:t>
            </a:r>
          </a:p>
          <a:p>
            <a:pPr marL="342900" indent="-342900">
              <a:lnSpc>
                <a:spcPct val="150000"/>
              </a:lnSpc>
              <a:buClr>
                <a:schemeClr val="accent3">
                  <a:lumMod val="75000"/>
                </a:schemeClr>
              </a:buClr>
              <a:buFont typeface="+mj-lt"/>
              <a:buAutoNum type="alphaLcParenR"/>
            </a:pPr>
            <a:r>
              <a:rPr lang="es-CO" sz="1600"/>
              <a:t>El menor ingreso real fue en el 2024, pues fue el año con la menor tasa de inflación.</a:t>
            </a:r>
          </a:p>
          <a:p>
            <a:pPr marL="342900" indent="-342900">
              <a:buClr>
                <a:schemeClr val="accent3">
                  <a:lumMod val="75000"/>
                </a:schemeClr>
              </a:buClr>
              <a:buFont typeface="+mj-lt"/>
              <a:buAutoNum type="alphaLcParenR"/>
            </a:pPr>
            <a:endParaRPr lang="es-CO" sz="1600"/>
          </a:p>
        </p:txBody>
      </p:sp>
      <p:graphicFrame>
        <p:nvGraphicFramePr>
          <p:cNvPr id="9" name="Tabla 8">
            <a:extLst>
              <a:ext uri="{FF2B5EF4-FFF2-40B4-BE49-F238E27FC236}">
                <a16:creationId xmlns:a16="http://schemas.microsoft.com/office/drawing/2014/main" id="{D084DB3F-9F85-E8CA-C7DF-361179455953}"/>
              </a:ext>
            </a:extLst>
          </p:cNvPr>
          <p:cNvGraphicFramePr>
            <a:graphicFrameLocks noGrp="1"/>
          </p:cNvGraphicFramePr>
          <p:nvPr/>
        </p:nvGraphicFramePr>
        <p:xfrm>
          <a:off x="688534" y="3048863"/>
          <a:ext cx="3007538" cy="2044700"/>
        </p:xfrm>
        <a:graphic>
          <a:graphicData uri="http://schemas.openxmlformats.org/drawingml/2006/table">
            <a:tbl>
              <a:tblPr/>
              <a:tblGrid>
                <a:gridCol w="827152">
                  <a:extLst>
                    <a:ext uri="{9D8B030D-6E8A-4147-A177-3AD203B41FA5}">
                      <a16:colId xmlns:a16="http://schemas.microsoft.com/office/drawing/2014/main" val="3694429581"/>
                    </a:ext>
                  </a:extLst>
                </a:gridCol>
                <a:gridCol w="1254990">
                  <a:extLst>
                    <a:ext uri="{9D8B030D-6E8A-4147-A177-3AD203B41FA5}">
                      <a16:colId xmlns:a16="http://schemas.microsoft.com/office/drawing/2014/main" val="3613375473"/>
                    </a:ext>
                  </a:extLst>
                </a:gridCol>
                <a:gridCol w="925396">
                  <a:extLst>
                    <a:ext uri="{9D8B030D-6E8A-4147-A177-3AD203B41FA5}">
                      <a16:colId xmlns:a16="http://schemas.microsoft.com/office/drawing/2014/main" val="3193286854"/>
                    </a:ext>
                  </a:extLst>
                </a:gridCol>
              </a:tblGrid>
              <a:tr h="520700">
                <a:tc>
                  <a:txBody>
                    <a:bodyPr/>
                    <a:lstStyle/>
                    <a:p>
                      <a:pPr algn="ctr" fontAlgn="b"/>
                      <a:r>
                        <a:rPr lang="es-CO" sz="1400" b="1" i="0" u="none" strike="noStrike">
                          <a:solidFill>
                            <a:srgbClr val="FFFFFF"/>
                          </a:solidFill>
                          <a:effectLst/>
                          <a:latin typeface="Calibri" panose="020F0502020204030204" pitchFamily="34" charset="0"/>
                        </a:rPr>
                        <a:t>Año</a:t>
                      </a:r>
                    </a:p>
                  </a:txBody>
                  <a:tcPr marL="0" marR="0" marT="0" marB="0" anchor="b">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solidFill>
                      <a:srgbClr val="375623"/>
                    </a:solidFill>
                  </a:tcPr>
                </a:tc>
                <a:tc>
                  <a:txBody>
                    <a:bodyPr/>
                    <a:lstStyle/>
                    <a:p>
                      <a:pPr algn="ctr" fontAlgn="b"/>
                      <a:r>
                        <a:rPr lang="es-CO" sz="1400" b="1" i="0" u="none" strike="noStrike">
                          <a:solidFill>
                            <a:srgbClr val="FFFFFF"/>
                          </a:solidFill>
                          <a:effectLst/>
                          <a:latin typeface="Calibri" panose="020F0502020204030204" pitchFamily="34" charset="0"/>
                        </a:rPr>
                        <a:t>Ingreso Nominal</a:t>
                      </a:r>
                    </a:p>
                  </a:txBody>
                  <a:tcPr marL="0" marR="0" marT="0" marB="0" anchor="b">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solidFill>
                      <a:srgbClr val="375623"/>
                    </a:solidFill>
                  </a:tcPr>
                </a:tc>
                <a:tc>
                  <a:txBody>
                    <a:bodyPr/>
                    <a:lstStyle/>
                    <a:p>
                      <a:pPr algn="ctr" fontAlgn="b"/>
                      <a:r>
                        <a:rPr lang="es-CO" sz="1400" b="1" i="0" u="none" strike="noStrike">
                          <a:solidFill>
                            <a:srgbClr val="FFFFFF"/>
                          </a:solidFill>
                          <a:effectLst/>
                          <a:latin typeface="Calibri" panose="020F0502020204030204" pitchFamily="34" charset="0"/>
                        </a:rPr>
                        <a:t>IPC</a:t>
                      </a:r>
                    </a:p>
                  </a:txBody>
                  <a:tcPr marL="0" marR="0" marT="0" marB="0" anchor="b">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solidFill>
                      <a:srgbClr val="375623"/>
                    </a:solidFill>
                  </a:tcPr>
                </a:tc>
                <a:extLst>
                  <a:ext uri="{0D108BD9-81ED-4DB2-BD59-A6C34878D82A}">
                    <a16:rowId xmlns:a16="http://schemas.microsoft.com/office/drawing/2014/main" val="3836700307"/>
                  </a:ext>
                </a:extLst>
              </a:tr>
              <a:tr h="254000">
                <a:tc>
                  <a:txBody>
                    <a:bodyPr/>
                    <a:lstStyle/>
                    <a:p>
                      <a:pPr algn="ctr" fontAlgn="b"/>
                      <a:r>
                        <a:rPr lang="es-CO" sz="1400" b="1" i="0" u="none" strike="noStrike">
                          <a:solidFill>
                            <a:srgbClr val="FFFFFF"/>
                          </a:solidFill>
                          <a:effectLst/>
                          <a:latin typeface="Calibri" panose="020F0502020204030204" pitchFamily="34" charset="0"/>
                        </a:rPr>
                        <a:t>2019</a:t>
                      </a:r>
                    </a:p>
                  </a:txBody>
                  <a:tcPr marL="0" marR="0" marT="0" marB="0" anchor="b">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solidFill>
                      <a:srgbClr val="375623"/>
                    </a:solidFill>
                  </a:tcPr>
                </a:tc>
                <a:tc>
                  <a:txBody>
                    <a:bodyPr/>
                    <a:lstStyle/>
                    <a:p>
                      <a:pPr algn="ctr" fontAlgn="ctr"/>
                      <a:r>
                        <a:rPr lang="es-CO" sz="1400" b="0" i="0" u="none" strike="noStrike">
                          <a:solidFill>
                            <a:srgbClr val="000000"/>
                          </a:solidFill>
                          <a:effectLst/>
                          <a:latin typeface="Calibri" panose="020F0502020204030204" pitchFamily="34" charset="0"/>
                        </a:rPr>
                        <a:t> $        100.000,0 </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93358</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extLst>
                  <a:ext uri="{0D108BD9-81ED-4DB2-BD59-A6C34878D82A}">
                    <a16:rowId xmlns:a16="http://schemas.microsoft.com/office/drawing/2014/main" val="3578534633"/>
                  </a:ext>
                </a:extLst>
              </a:tr>
              <a:tr h="254000">
                <a:tc>
                  <a:txBody>
                    <a:bodyPr/>
                    <a:lstStyle/>
                    <a:p>
                      <a:pPr algn="ctr" fontAlgn="b"/>
                      <a:r>
                        <a:rPr lang="es-CO" sz="1400" b="1" i="0" u="none" strike="noStrike">
                          <a:solidFill>
                            <a:srgbClr val="FFFFFF"/>
                          </a:solidFill>
                          <a:effectLst/>
                          <a:latin typeface="Calibri" panose="020F0502020204030204" pitchFamily="34" charset="0"/>
                        </a:rPr>
                        <a:t>2020</a:t>
                      </a:r>
                    </a:p>
                  </a:txBody>
                  <a:tcPr marL="0" marR="0" marT="0" marB="0" anchor="b">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solidFill>
                      <a:srgbClr val="375623"/>
                    </a:solidFill>
                  </a:tcPr>
                </a:tc>
                <a:tc>
                  <a:txBody>
                    <a:bodyPr/>
                    <a:lstStyle/>
                    <a:p>
                      <a:pPr algn="ctr" fontAlgn="ctr"/>
                      <a:r>
                        <a:rPr lang="es-CO" sz="1400" b="0" i="0" u="none" strike="noStrike">
                          <a:solidFill>
                            <a:srgbClr val="000000"/>
                          </a:solidFill>
                          <a:effectLst/>
                          <a:latin typeface="Calibri" panose="020F0502020204030204" pitchFamily="34" charset="0"/>
                        </a:rPr>
                        <a:t> $        105.048,0 </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96148</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extLst>
                  <a:ext uri="{0D108BD9-81ED-4DB2-BD59-A6C34878D82A}">
                    <a16:rowId xmlns:a16="http://schemas.microsoft.com/office/drawing/2014/main" val="1623448063"/>
                  </a:ext>
                </a:extLst>
              </a:tr>
              <a:tr h="254000">
                <a:tc>
                  <a:txBody>
                    <a:bodyPr/>
                    <a:lstStyle/>
                    <a:p>
                      <a:pPr algn="ctr" fontAlgn="b"/>
                      <a:r>
                        <a:rPr lang="es-CO" sz="1400" b="1" i="0" u="none" strike="noStrike">
                          <a:solidFill>
                            <a:srgbClr val="FFFFFF"/>
                          </a:solidFill>
                          <a:effectLst/>
                          <a:latin typeface="Calibri" panose="020F0502020204030204" pitchFamily="34" charset="0"/>
                        </a:rPr>
                        <a:t>2021</a:t>
                      </a:r>
                    </a:p>
                  </a:txBody>
                  <a:tcPr marL="0" marR="0" marT="0" marB="0" anchor="b">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solidFill>
                      <a:srgbClr val="375623"/>
                    </a:solidFill>
                  </a:tcPr>
                </a:tc>
                <a:tc>
                  <a:txBody>
                    <a:bodyPr/>
                    <a:lstStyle/>
                    <a:p>
                      <a:pPr algn="ctr" fontAlgn="ctr"/>
                      <a:r>
                        <a:rPr lang="es-CO" sz="1400" b="0" i="0" u="none" strike="noStrike">
                          <a:solidFill>
                            <a:srgbClr val="000000"/>
                          </a:solidFill>
                          <a:effectLst/>
                          <a:latin typeface="Calibri" panose="020F0502020204030204" pitchFamily="34" charset="0"/>
                        </a:rPr>
                        <a:t> $        109.655,0 </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99434</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extLst>
                  <a:ext uri="{0D108BD9-81ED-4DB2-BD59-A6C34878D82A}">
                    <a16:rowId xmlns:a16="http://schemas.microsoft.com/office/drawing/2014/main" val="53789261"/>
                  </a:ext>
                </a:extLst>
              </a:tr>
              <a:tr h="254000">
                <a:tc>
                  <a:txBody>
                    <a:bodyPr/>
                    <a:lstStyle/>
                    <a:p>
                      <a:pPr algn="ctr" fontAlgn="b"/>
                      <a:r>
                        <a:rPr lang="es-CO" sz="1400" b="1" i="0" u="none" strike="noStrike">
                          <a:solidFill>
                            <a:srgbClr val="FFFFFF"/>
                          </a:solidFill>
                          <a:effectLst/>
                          <a:latin typeface="Calibri" panose="020F0502020204030204" pitchFamily="34" charset="0"/>
                        </a:rPr>
                        <a:t>2022</a:t>
                      </a:r>
                    </a:p>
                  </a:txBody>
                  <a:tcPr marL="0" marR="0" marT="0" marB="0" anchor="b">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solidFill>
                      <a:srgbClr val="375623"/>
                    </a:solidFill>
                  </a:tcPr>
                </a:tc>
                <a:tc>
                  <a:txBody>
                    <a:bodyPr/>
                    <a:lstStyle/>
                    <a:p>
                      <a:pPr algn="ctr" fontAlgn="ctr"/>
                      <a:r>
                        <a:rPr lang="es-CO" sz="1400" b="0" i="0" u="none" strike="noStrike">
                          <a:solidFill>
                            <a:srgbClr val="000000"/>
                          </a:solidFill>
                          <a:effectLst/>
                          <a:latin typeface="Calibri" panose="020F0502020204030204" pitchFamily="34" charset="0"/>
                        </a:rPr>
                        <a:t> $        115.077,0 </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101257</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extLst>
                  <a:ext uri="{0D108BD9-81ED-4DB2-BD59-A6C34878D82A}">
                    <a16:rowId xmlns:a16="http://schemas.microsoft.com/office/drawing/2014/main" val="2352758670"/>
                  </a:ext>
                </a:extLst>
              </a:tr>
              <a:tr h="254000">
                <a:tc>
                  <a:txBody>
                    <a:bodyPr/>
                    <a:lstStyle/>
                    <a:p>
                      <a:pPr algn="ctr" fontAlgn="b"/>
                      <a:r>
                        <a:rPr lang="es-CO" sz="1400" b="1" i="0" u="none" strike="noStrike">
                          <a:solidFill>
                            <a:srgbClr val="FFFFFF"/>
                          </a:solidFill>
                          <a:effectLst/>
                          <a:latin typeface="Calibri" panose="020F0502020204030204" pitchFamily="34" charset="0"/>
                        </a:rPr>
                        <a:t>2023</a:t>
                      </a:r>
                    </a:p>
                  </a:txBody>
                  <a:tcPr marL="0" marR="0" marT="0" marB="0" anchor="b">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solidFill>
                      <a:srgbClr val="375623"/>
                    </a:solidFill>
                  </a:tcPr>
                </a:tc>
                <a:tc>
                  <a:txBody>
                    <a:bodyPr/>
                    <a:lstStyle/>
                    <a:p>
                      <a:pPr algn="ctr" fontAlgn="ctr"/>
                      <a:r>
                        <a:rPr lang="es-CO" sz="1400" b="0" i="0" u="none" strike="noStrike">
                          <a:solidFill>
                            <a:srgbClr val="000000"/>
                          </a:solidFill>
                          <a:effectLst/>
                          <a:latin typeface="Calibri" panose="020F0502020204030204" pitchFamily="34" charset="0"/>
                        </a:rPr>
                        <a:t> $        117.650,0 </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101512</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extLst>
                  <a:ext uri="{0D108BD9-81ED-4DB2-BD59-A6C34878D82A}">
                    <a16:rowId xmlns:a16="http://schemas.microsoft.com/office/drawing/2014/main" val="3076030984"/>
                  </a:ext>
                </a:extLst>
              </a:tr>
              <a:tr h="254000">
                <a:tc>
                  <a:txBody>
                    <a:bodyPr/>
                    <a:lstStyle/>
                    <a:p>
                      <a:pPr algn="ctr" fontAlgn="b"/>
                      <a:r>
                        <a:rPr lang="es-CO" sz="1400" b="1" i="0" u="none" strike="noStrike">
                          <a:solidFill>
                            <a:srgbClr val="FFFFFF"/>
                          </a:solidFill>
                          <a:effectLst/>
                          <a:latin typeface="Calibri" panose="020F0502020204030204" pitchFamily="34" charset="0"/>
                        </a:rPr>
                        <a:t>2024</a:t>
                      </a:r>
                    </a:p>
                  </a:txBody>
                  <a:tcPr marL="0" marR="0" marT="0" marB="0" anchor="b">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a:noFill/>
                    </a:lnB>
                    <a:solidFill>
                      <a:srgbClr val="375623"/>
                    </a:solidFill>
                  </a:tcPr>
                </a:tc>
                <a:tc>
                  <a:txBody>
                    <a:bodyPr/>
                    <a:lstStyle/>
                    <a:p>
                      <a:pPr algn="ctr" fontAlgn="ctr"/>
                      <a:r>
                        <a:rPr lang="es-CO" sz="1400" b="0" i="0" u="none" strike="noStrike">
                          <a:solidFill>
                            <a:srgbClr val="000000"/>
                          </a:solidFill>
                          <a:effectLst/>
                          <a:latin typeface="Calibri" panose="020F0502020204030204" pitchFamily="34" charset="0"/>
                        </a:rPr>
                        <a:t> $        118.793,0 </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101555</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extLst>
                  <a:ext uri="{0D108BD9-81ED-4DB2-BD59-A6C34878D82A}">
                    <a16:rowId xmlns:a16="http://schemas.microsoft.com/office/drawing/2014/main" val="3760393329"/>
                  </a:ext>
                </a:extLst>
              </a:tr>
            </a:tbl>
          </a:graphicData>
        </a:graphic>
      </p:graphicFrame>
      <p:pic>
        <p:nvPicPr>
          <p:cNvPr id="5" name="Imagen 4">
            <a:extLst>
              <a:ext uri="{FF2B5EF4-FFF2-40B4-BE49-F238E27FC236}">
                <a16:creationId xmlns:a16="http://schemas.microsoft.com/office/drawing/2014/main" id="{1C9E7EC3-49D7-5E94-23BE-249E00AE25A0}"/>
              </a:ext>
            </a:extLst>
          </p:cNvPr>
          <p:cNvPicPr>
            <a:picLocks noChangeAspect="1"/>
          </p:cNvPicPr>
          <p:nvPr/>
        </p:nvPicPr>
        <p:blipFill rotWithShape="1">
          <a:blip r:embed="rId2"/>
          <a:srcRect b="6318"/>
          <a:stretch/>
        </p:blipFill>
        <p:spPr>
          <a:xfrm>
            <a:off x="9329503" y="3731921"/>
            <a:ext cx="1755051" cy="2224216"/>
          </a:xfrm>
          <a:prstGeom prst="rect">
            <a:avLst/>
          </a:prstGeom>
        </p:spPr>
      </p:pic>
    </p:spTree>
    <p:extLst>
      <p:ext uri="{BB962C8B-B14F-4D97-AF65-F5344CB8AC3E}">
        <p14:creationId xmlns:p14="http://schemas.microsoft.com/office/powerpoint/2010/main" val="104239219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1D51D-5C8F-AF56-88DE-E462E65C127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F85651C-3D69-8677-42B4-CAC55BAFA8EA}"/>
              </a:ext>
            </a:extLst>
          </p:cNvPr>
          <p:cNvSpPr>
            <a:spLocks noGrp="1"/>
          </p:cNvSpPr>
          <p:nvPr>
            <p:ph type="title"/>
          </p:nvPr>
        </p:nvSpPr>
        <p:spPr/>
        <p:txBody>
          <a:bodyPr/>
          <a:lstStyle/>
          <a:p>
            <a:r>
              <a:rPr lang="en-US"/>
              <a:t>EJERCICIO 3</a:t>
            </a:r>
          </a:p>
        </p:txBody>
      </p:sp>
      <p:sp>
        <p:nvSpPr>
          <p:cNvPr id="3" name="Marcador de contenido 2">
            <a:extLst>
              <a:ext uri="{FF2B5EF4-FFF2-40B4-BE49-F238E27FC236}">
                <a16:creationId xmlns:a16="http://schemas.microsoft.com/office/drawing/2014/main" id="{2CE5D308-908F-2B49-972D-51A08071BAFD}"/>
              </a:ext>
            </a:extLst>
          </p:cNvPr>
          <p:cNvSpPr>
            <a:spLocks noGrp="1"/>
          </p:cNvSpPr>
          <p:nvPr>
            <p:ph idx="1"/>
          </p:nvPr>
        </p:nvSpPr>
        <p:spPr>
          <a:xfrm>
            <a:off x="481800" y="1907546"/>
            <a:ext cx="11228399" cy="1391752"/>
          </a:xfrm>
        </p:spPr>
        <p:txBody>
          <a:bodyPr>
            <a:normAutofit lnSpcReduction="10000"/>
          </a:bodyPr>
          <a:lstStyle/>
          <a:p>
            <a:pPr marL="0" indent="0">
              <a:buNone/>
            </a:pPr>
            <a:r>
              <a:rPr lang="es-CO"/>
              <a:t>La siguiente tabla muestra el historial de ingresos en denominación nominal de un trabajador en un cierto país, donde es de interés conocer qué año es donde tuvo un mayor y menor ingreso real, tomando de referencia la fecha que empezó a colaborar en la empresa, que fue el año 2019. </a:t>
            </a:r>
          </a:p>
          <a:p>
            <a:pPr marL="0" indent="0">
              <a:buNone/>
            </a:pPr>
            <a:r>
              <a:rPr lang="es-CO"/>
              <a:t>Determine: a) Ingreso real o constante, la variación nominal y la variación real y concluya.</a:t>
            </a:r>
          </a:p>
          <a:p>
            <a:pPr marL="0" indent="0">
              <a:buNone/>
            </a:pPr>
            <a:endParaRPr lang="es-CO"/>
          </a:p>
        </p:txBody>
      </p:sp>
      <p:sp>
        <p:nvSpPr>
          <p:cNvPr id="4" name="Marcador de número de diapositiva 3">
            <a:extLst>
              <a:ext uri="{FF2B5EF4-FFF2-40B4-BE49-F238E27FC236}">
                <a16:creationId xmlns:a16="http://schemas.microsoft.com/office/drawing/2014/main" id="{6713AD72-BB8D-B699-1EE6-E1DCDBAC9DAD}"/>
              </a:ext>
            </a:extLst>
          </p:cNvPr>
          <p:cNvSpPr>
            <a:spLocks noGrp="1"/>
          </p:cNvSpPr>
          <p:nvPr>
            <p:ph type="sldNum" sz="quarter" idx="12"/>
          </p:nvPr>
        </p:nvSpPr>
        <p:spPr/>
        <p:txBody>
          <a:bodyPr/>
          <a:lstStyle/>
          <a:p>
            <a:fld id="{D57F1E4F-1CFF-5643-939E-217C01CDF565}" type="slidenum">
              <a:rPr lang="en-US" smtClean="0"/>
              <a:pPr/>
              <a:t>63</a:t>
            </a:fld>
            <a:endParaRPr lang="en-US"/>
          </a:p>
        </p:txBody>
      </p:sp>
      <p:sp>
        <p:nvSpPr>
          <p:cNvPr id="6" name="CuadroTexto 5">
            <a:extLst>
              <a:ext uri="{FF2B5EF4-FFF2-40B4-BE49-F238E27FC236}">
                <a16:creationId xmlns:a16="http://schemas.microsoft.com/office/drawing/2014/main" id="{E292BC59-F498-FC96-22C6-0C9A7C9462B7}"/>
              </a:ext>
            </a:extLst>
          </p:cNvPr>
          <p:cNvSpPr txBox="1"/>
          <p:nvPr/>
        </p:nvSpPr>
        <p:spPr>
          <a:xfrm>
            <a:off x="779974" y="5203828"/>
            <a:ext cx="11021665" cy="1526252"/>
          </a:xfrm>
          <a:prstGeom prst="rect">
            <a:avLst/>
          </a:prstGeom>
          <a:noFill/>
        </p:spPr>
        <p:txBody>
          <a:bodyPr wrap="square">
            <a:spAutoFit/>
          </a:bodyPr>
          <a:lstStyle/>
          <a:p>
            <a:pPr marL="342900" indent="-342900">
              <a:lnSpc>
                <a:spcPct val="150000"/>
              </a:lnSpc>
              <a:buClr>
                <a:schemeClr val="accent3">
                  <a:lumMod val="75000"/>
                </a:schemeClr>
              </a:buClr>
              <a:buFont typeface="+mj-lt"/>
              <a:buAutoNum type="alphaLcParenR"/>
            </a:pPr>
            <a:r>
              <a:rPr lang="es-CO" sz="1600"/>
              <a:t>La mayor variación real la tuvo en el 2020 respecto al 2019, donde su variación nominal fue también la mayor. </a:t>
            </a:r>
          </a:p>
          <a:p>
            <a:pPr marL="342900" indent="-342900">
              <a:lnSpc>
                <a:spcPct val="150000"/>
              </a:lnSpc>
              <a:buClr>
                <a:schemeClr val="accent3">
                  <a:lumMod val="75000"/>
                </a:schemeClr>
              </a:buClr>
              <a:buFont typeface="+mj-lt"/>
              <a:buAutoNum type="alphaLcParenR"/>
            </a:pPr>
            <a:r>
              <a:rPr lang="es-CO" sz="1600"/>
              <a:t>El mayor ingreso real fue en 2020, ya que su variación nominal fue también la más alta.</a:t>
            </a:r>
          </a:p>
          <a:p>
            <a:pPr marL="342900" indent="-342900">
              <a:lnSpc>
                <a:spcPct val="150000"/>
              </a:lnSpc>
              <a:buClr>
                <a:schemeClr val="accent3">
                  <a:lumMod val="75000"/>
                </a:schemeClr>
              </a:buClr>
              <a:buFont typeface="+mj-lt"/>
              <a:buAutoNum type="alphaLcParenR"/>
            </a:pPr>
            <a:r>
              <a:rPr lang="es-CO" sz="1600"/>
              <a:t>La mayor variación real la tuvo en el 2022 respecto al 2021 a pesar que la mayor variación nominal no fue en ese mismo año.</a:t>
            </a:r>
          </a:p>
          <a:p>
            <a:pPr marL="342900" indent="-342900">
              <a:lnSpc>
                <a:spcPct val="150000"/>
              </a:lnSpc>
              <a:buClr>
                <a:schemeClr val="accent3">
                  <a:lumMod val="75000"/>
                </a:schemeClr>
              </a:buClr>
              <a:buFont typeface="+mj-lt"/>
              <a:buAutoNum type="alphaLcParenR"/>
            </a:pPr>
            <a:r>
              <a:rPr lang="es-CO" sz="1600"/>
              <a:t>El menor ingreso real fue en el 2024, pues fue el año con la menor tasa de inflación.</a:t>
            </a:r>
          </a:p>
        </p:txBody>
      </p:sp>
      <p:pic>
        <p:nvPicPr>
          <p:cNvPr id="7" name="Gráfico 6" descr="Badge Tick1 con relleno sólido">
            <a:extLst>
              <a:ext uri="{FF2B5EF4-FFF2-40B4-BE49-F238E27FC236}">
                <a16:creationId xmlns:a16="http://schemas.microsoft.com/office/drawing/2014/main" id="{387E26A6-6136-A0E1-0D94-2248647257C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3061" y="5995161"/>
            <a:ext cx="397565" cy="397565"/>
          </a:xfrm>
          <a:prstGeom prst="rect">
            <a:avLst/>
          </a:prstGeom>
        </p:spPr>
      </p:pic>
      <p:graphicFrame>
        <p:nvGraphicFramePr>
          <p:cNvPr id="9" name="Tabla 8">
            <a:extLst>
              <a:ext uri="{FF2B5EF4-FFF2-40B4-BE49-F238E27FC236}">
                <a16:creationId xmlns:a16="http://schemas.microsoft.com/office/drawing/2014/main" id="{CC711AAA-F4C2-E526-B545-2C33D316EF8B}"/>
              </a:ext>
            </a:extLst>
          </p:cNvPr>
          <p:cNvGraphicFramePr>
            <a:graphicFrameLocks noGrp="1"/>
          </p:cNvGraphicFramePr>
          <p:nvPr/>
        </p:nvGraphicFramePr>
        <p:xfrm>
          <a:off x="688534" y="3048863"/>
          <a:ext cx="8623298" cy="2044700"/>
        </p:xfrm>
        <a:graphic>
          <a:graphicData uri="http://schemas.openxmlformats.org/drawingml/2006/table">
            <a:tbl>
              <a:tblPr/>
              <a:tblGrid>
                <a:gridCol w="827152">
                  <a:extLst>
                    <a:ext uri="{9D8B030D-6E8A-4147-A177-3AD203B41FA5}">
                      <a16:colId xmlns:a16="http://schemas.microsoft.com/office/drawing/2014/main" val="3694429581"/>
                    </a:ext>
                  </a:extLst>
                </a:gridCol>
                <a:gridCol w="1254990">
                  <a:extLst>
                    <a:ext uri="{9D8B030D-6E8A-4147-A177-3AD203B41FA5}">
                      <a16:colId xmlns:a16="http://schemas.microsoft.com/office/drawing/2014/main" val="3613375473"/>
                    </a:ext>
                  </a:extLst>
                </a:gridCol>
                <a:gridCol w="925396">
                  <a:extLst>
                    <a:ext uri="{9D8B030D-6E8A-4147-A177-3AD203B41FA5}">
                      <a16:colId xmlns:a16="http://schemas.microsoft.com/office/drawing/2014/main" val="3193286854"/>
                    </a:ext>
                  </a:extLst>
                </a:gridCol>
                <a:gridCol w="827152">
                  <a:extLst>
                    <a:ext uri="{9D8B030D-6E8A-4147-A177-3AD203B41FA5}">
                      <a16:colId xmlns:a16="http://schemas.microsoft.com/office/drawing/2014/main" val="2898773250"/>
                    </a:ext>
                  </a:extLst>
                </a:gridCol>
                <a:gridCol w="979272">
                  <a:extLst>
                    <a:ext uri="{9D8B030D-6E8A-4147-A177-3AD203B41FA5}">
                      <a16:colId xmlns:a16="http://schemas.microsoft.com/office/drawing/2014/main" val="2963037612"/>
                    </a:ext>
                  </a:extLst>
                </a:gridCol>
                <a:gridCol w="1039486">
                  <a:extLst>
                    <a:ext uri="{9D8B030D-6E8A-4147-A177-3AD203B41FA5}">
                      <a16:colId xmlns:a16="http://schemas.microsoft.com/office/drawing/2014/main" val="79063114"/>
                    </a:ext>
                  </a:extLst>
                </a:gridCol>
                <a:gridCol w="1115546">
                  <a:extLst>
                    <a:ext uri="{9D8B030D-6E8A-4147-A177-3AD203B41FA5}">
                      <a16:colId xmlns:a16="http://schemas.microsoft.com/office/drawing/2014/main" val="42746960"/>
                    </a:ext>
                  </a:extLst>
                </a:gridCol>
                <a:gridCol w="827152">
                  <a:extLst>
                    <a:ext uri="{9D8B030D-6E8A-4147-A177-3AD203B41FA5}">
                      <a16:colId xmlns:a16="http://schemas.microsoft.com/office/drawing/2014/main" val="830884177"/>
                    </a:ext>
                  </a:extLst>
                </a:gridCol>
                <a:gridCol w="827152">
                  <a:extLst>
                    <a:ext uri="{9D8B030D-6E8A-4147-A177-3AD203B41FA5}">
                      <a16:colId xmlns:a16="http://schemas.microsoft.com/office/drawing/2014/main" val="2966592820"/>
                    </a:ext>
                  </a:extLst>
                </a:gridCol>
              </a:tblGrid>
              <a:tr h="520700">
                <a:tc>
                  <a:txBody>
                    <a:bodyPr/>
                    <a:lstStyle/>
                    <a:p>
                      <a:pPr algn="ctr" fontAlgn="b"/>
                      <a:r>
                        <a:rPr lang="es-CO" sz="1400" b="1" i="0" u="none" strike="noStrike">
                          <a:solidFill>
                            <a:srgbClr val="FFFFFF"/>
                          </a:solidFill>
                          <a:effectLst/>
                          <a:latin typeface="Calibri" panose="020F0502020204030204" pitchFamily="34" charset="0"/>
                        </a:rPr>
                        <a:t>Año</a:t>
                      </a:r>
                    </a:p>
                  </a:txBody>
                  <a:tcPr marL="0" marR="0" marT="0" marB="0" anchor="b">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solidFill>
                      <a:srgbClr val="375623"/>
                    </a:solidFill>
                  </a:tcPr>
                </a:tc>
                <a:tc>
                  <a:txBody>
                    <a:bodyPr/>
                    <a:lstStyle/>
                    <a:p>
                      <a:pPr algn="ctr" fontAlgn="b"/>
                      <a:r>
                        <a:rPr lang="es-CO" sz="1400" b="1" i="0" u="none" strike="noStrike">
                          <a:solidFill>
                            <a:srgbClr val="FFFFFF"/>
                          </a:solidFill>
                          <a:effectLst/>
                          <a:latin typeface="Calibri" panose="020F0502020204030204" pitchFamily="34" charset="0"/>
                        </a:rPr>
                        <a:t>Ingreso Nominal</a:t>
                      </a:r>
                    </a:p>
                  </a:txBody>
                  <a:tcPr marL="0" marR="0" marT="0" marB="0" anchor="b">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solidFill>
                      <a:srgbClr val="375623"/>
                    </a:solidFill>
                  </a:tcPr>
                </a:tc>
                <a:tc>
                  <a:txBody>
                    <a:bodyPr/>
                    <a:lstStyle/>
                    <a:p>
                      <a:pPr algn="ctr" fontAlgn="b"/>
                      <a:r>
                        <a:rPr lang="es-CO" sz="1400" b="1" i="0" u="none" strike="noStrike">
                          <a:solidFill>
                            <a:srgbClr val="FFFFFF"/>
                          </a:solidFill>
                          <a:effectLst/>
                          <a:latin typeface="Calibri" panose="020F0502020204030204" pitchFamily="34" charset="0"/>
                        </a:rPr>
                        <a:t>IPC</a:t>
                      </a:r>
                    </a:p>
                  </a:txBody>
                  <a:tcPr marL="0" marR="0" marT="0" marB="0" anchor="b">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solidFill>
                      <a:srgbClr val="375623"/>
                    </a:solidFill>
                  </a:tcPr>
                </a:tc>
                <a:tc>
                  <a:txBody>
                    <a:bodyPr/>
                    <a:lstStyle/>
                    <a:p>
                      <a:pPr algn="ctr" fontAlgn="b"/>
                      <a:r>
                        <a:rPr lang="es-CO" sz="1400" b="1" i="0" u="none" strike="noStrike">
                          <a:solidFill>
                            <a:srgbClr val="FFFFFF"/>
                          </a:solidFill>
                          <a:effectLst/>
                          <a:latin typeface="Calibri" panose="020F0502020204030204" pitchFamily="34" charset="0"/>
                        </a:rPr>
                        <a:t>Inflación</a:t>
                      </a:r>
                    </a:p>
                  </a:txBody>
                  <a:tcPr marL="0" marR="0" marT="0" marB="0" anchor="b">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solidFill>
                      <a:srgbClr val="375623"/>
                    </a:solidFill>
                  </a:tcPr>
                </a:tc>
                <a:tc>
                  <a:txBody>
                    <a:bodyPr/>
                    <a:lstStyle/>
                    <a:p>
                      <a:pPr algn="ctr" fontAlgn="b"/>
                      <a:r>
                        <a:rPr lang="es-CO" sz="1400" b="1" i="0" u="none" strike="noStrike">
                          <a:solidFill>
                            <a:srgbClr val="FFFFFF"/>
                          </a:solidFill>
                          <a:effectLst/>
                          <a:latin typeface="Calibri" panose="020F0502020204030204" pitchFamily="34" charset="0"/>
                        </a:rPr>
                        <a:t>Coeficiente Deflactor</a:t>
                      </a:r>
                    </a:p>
                  </a:txBody>
                  <a:tcPr marL="0" marR="0" marT="0" marB="0" anchor="b">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solidFill>
                      <a:srgbClr val="375623"/>
                    </a:solidFill>
                  </a:tcPr>
                </a:tc>
                <a:tc>
                  <a:txBody>
                    <a:bodyPr/>
                    <a:lstStyle/>
                    <a:p>
                      <a:pPr algn="ctr" fontAlgn="b"/>
                      <a:r>
                        <a:rPr lang="es-CO" sz="1400" b="1" i="0" u="none" strike="noStrike">
                          <a:solidFill>
                            <a:srgbClr val="FFFFFF"/>
                          </a:solidFill>
                          <a:effectLst/>
                          <a:latin typeface="Calibri" panose="020F0502020204030204" pitchFamily="34" charset="0"/>
                        </a:rPr>
                        <a:t>Factor Inflacionario</a:t>
                      </a:r>
                    </a:p>
                  </a:txBody>
                  <a:tcPr marL="0" marR="0" marT="0" marB="0" anchor="b">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solidFill>
                      <a:srgbClr val="375623"/>
                    </a:solidFill>
                  </a:tcPr>
                </a:tc>
                <a:tc>
                  <a:txBody>
                    <a:bodyPr/>
                    <a:lstStyle/>
                    <a:p>
                      <a:pPr algn="ctr" fontAlgn="b"/>
                      <a:r>
                        <a:rPr lang="es-CO" sz="1400" b="1" i="0" u="none" strike="noStrike">
                          <a:solidFill>
                            <a:srgbClr val="FFFFFF"/>
                          </a:solidFill>
                          <a:effectLst/>
                          <a:latin typeface="Calibri" panose="020F0502020204030204" pitchFamily="34" charset="0"/>
                        </a:rPr>
                        <a:t>Ingreso Real</a:t>
                      </a:r>
                    </a:p>
                  </a:txBody>
                  <a:tcPr marL="0" marR="0" marT="0" marB="0" anchor="b">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solidFill>
                      <a:srgbClr val="375623"/>
                    </a:solidFill>
                  </a:tcPr>
                </a:tc>
                <a:tc>
                  <a:txBody>
                    <a:bodyPr/>
                    <a:lstStyle/>
                    <a:p>
                      <a:pPr algn="ctr" fontAlgn="b"/>
                      <a:r>
                        <a:rPr lang="es-CO" sz="1400" b="1" i="0" u="none" strike="noStrike">
                          <a:solidFill>
                            <a:srgbClr val="FFFFFF"/>
                          </a:solidFill>
                          <a:effectLst/>
                          <a:latin typeface="Calibri" panose="020F0502020204030204" pitchFamily="34" charset="0"/>
                        </a:rPr>
                        <a:t>Variación Nominal</a:t>
                      </a:r>
                    </a:p>
                  </a:txBody>
                  <a:tcPr marL="0" marR="0" marT="0" marB="0" anchor="b">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solidFill>
                      <a:srgbClr val="375623"/>
                    </a:solidFill>
                  </a:tcPr>
                </a:tc>
                <a:tc>
                  <a:txBody>
                    <a:bodyPr/>
                    <a:lstStyle/>
                    <a:p>
                      <a:pPr algn="ctr" fontAlgn="b"/>
                      <a:r>
                        <a:rPr lang="es-CO" sz="1400" b="1" i="0" u="none" strike="noStrike">
                          <a:solidFill>
                            <a:srgbClr val="FFFFFF"/>
                          </a:solidFill>
                          <a:effectLst/>
                          <a:latin typeface="Calibri" panose="020F0502020204030204" pitchFamily="34" charset="0"/>
                        </a:rPr>
                        <a:t>Variación Real</a:t>
                      </a:r>
                    </a:p>
                  </a:txBody>
                  <a:tcPr marL="0" marR="0" marT="0" marB="0" anchor="b">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solidFill>
                      <a:srgbClr val="375623"/>
                    </a:solidFill>
                  </a:tcPr>
                </a:tc>
                <a:extLst>
                  <a:ext uri="{0D108BD9-81ED-4DB2-BD59-A6C34878D82A}">
                    <a16:rowId xmlns:a16="http://schemas.microsoft.com/office/drawing/2014/main" val="3836700307"/>
                  </a:ext>
                </a:extLst>
              </a:tr>
              <a:tr h="254000">
                <a:tc>
                  <a:txBody>
                    <a:bodyPr/>
                    <a:lstStyle/>
                    <a:p>
                      <a:pPr algn="ctr" fontAlgn="b"/>
                      <a:r>
                        <a:rPr lang="es-CO" sz="1400" b="1" i="0" u="none" strike="noStrike">
                          <a:solidFill>
                            <a:srgbClr val="FFFFFF"/>
                          </a:solidFill>
                          <a:effectLst/>
                          <a:latin typeface="Calibri" panose="020F0502020204030204" pitchFamily="34" charset="0"/>
                        </a:rPr>
                        <a:t>2019</a:t>
                      </a:r>
                    </a:p>
                  </a:txBody>
                  <a:tcPr marL="0" marR="0" marT="0" marB="0" anchor="b">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solidFill>
                      <a:srgbClr val="375623"/>
                    </a:solidFill>
                  </a:tcPr>
                </a:tc>
                <a:tc>
                  <a:txBody>
                    <a:bodyPr/>
                    <a:lstStyle/>
                    <a:p>
                      <a:pPr algn="ctr" fontAlgn="ctr"/>
                      <a:r>
                        <a:rPr lang="es-CO" sz="1400" b="0" i="0" u="none" strike="noStrike">
                          <a:solidFill>
                            <a:srgbClr val="000000"/>
                          </a:solidFill>
                          <a:effectLst/>
                          <a:latin typeface="Calibri" panose="020F0502020204030204" pitchFamily="34" charset="0"/>
                        </a:rPr>
                        <a:t> $        100.000,0 </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93358</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 </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1,000</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1,000</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 </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 </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 </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extLst>
                  <a:ext uri="{0D108BD9-81ED-4DB2-BD59-A6C34878D82A}">
                    <a16:rowId xmlns:a16="http://schemas.microsoft.com/office/drawing/2014/main" val="3578534633"/>
                  </a:ext>
                </a:extLst>
              </a:tr>
              <a:tr h="254000">
                <a:tc>
                  <a:txBody>
                    <a:bodyPr/>
                    <a:lstStyle/>
                    <a:p>
                      <a:pPr algn="ctr" fontAlgn="b"/>
                      <a:r>
                        <a:rPr lang="es-CO" sz="1400" b="1" i="0" u="none" strike="noStrike">
                          <a:solidFill>
                            <a:srgbClr val="FFFFFF"/>
                          </a:solidFill>
                          <a:effectLst/>
                          <a:latin typeface="Calibri" panose="020F0502020204030204" pitchFamily="34" charset="0"/>
                        </a:rPr>
                        <a:t>2020</a:t>
                      </a:r>
                    </a:p>
                  </a:txBody>
                  <a:tcPr marL="0" marR="0" marT="0" marB="0" anchor="b">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solidFill>
                      <a:srgbClr val="375623"/>
                    </a:solidFill>
                  </a:tcPr>
                </a:tc>
                <a:tc>
                  <a:txBody>
                    <a:bodyPr/>
                    <a:lstStyle/>
                    <a:p>
                      <a:pPr algn="ctr" fontAlgn="ctr"/>
                      <a:r>
                        <a:rPr lang="es-CO" sz="1400" b="0" i="0" u="none" strike="noStrike">
                          <a:solidFill>
                            <a:srgbClr val="000000"/>
                          </a:solidFill>
                          <a:effectLst/>
                          <a:latin typeface="Calibri" panose="020F0502020204030204" pitchFamily="34" charset="0"/>
                        </a:rPr>
                        <a:t> $        105.048,0 </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96148</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2,99%</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1,030</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1,030</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 $        102.000 </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5,05%</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2,00%</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extLst>
                  <a:ext uri="{0D108BD9-81ED-4DB2-BD59-A6C34878D82A}">
                    <a16:rowId xmlns:a16="http://schemas.microsoft.com/office/drawing/2014/main" val="1623448063"/>
                  </a:ext>
                </a:extLst>
              </a:tr>
              <a:tr h="254000">
                <a:tc>
                  <a:txBody>
                    <a:bodyPr/>
                    <a:lstStyle/>
                    <a:p>
                      <a:pPr algn="ctr" fontAlgn="b"/>
                      <a:r>
                        <a:rPr lang="es-CO" sz="1400" b="1" i="0" u="none" strike="noStrike">
                          <a:solidFill>
                            <a:srgbClr val="FFFFFF"/>
                          </a:solidFill>
                          <a:effectLst/>
                          <a:latin typeface="Calibri" panose="020F0502020204030204" pitchFamily="34" charset="0"/>
                        </a:rPr>
                        <a:t>2021</a:t>
                      </a:r>
                    </a:p>
                  </a:txBody>
                  <a:tcPr marL="0" marR="0" marT="0" marB="0" anchor="b">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solidFill>
                      <a:srgbClr val="375623"/>
                    </a:solidFill>
                  </a:tcPr>
                </a:tc>
                <a:tc>
                  <a:txBody>
                    <a:bodyPr/>
                    <a:lstStyle/>
                    <a:p>
                      <a:pPr algn="ctr" fontAlgn="ctr"/>
                      <a:r>
                        <a:rPr lang="es-CO" sz="1400" b="0" i="0" u="none" strike="noStrike">
                          <a:solidFill>
                            <a:srgbClr val="000000"/>
                          </a:solidFill>
                          <a:effectLst/>
                          <a:latin typeface="Calibri" panose="020F0502020204030204" pitchFamily="34" charset="0"/>
                        </a:rPr>
                        <a:t> $        109.655,0 </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99434</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3,42%</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1,065</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1,065</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 $        102.954 </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4,39%</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0,94%</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extLst>
                  <a:ext uri="{0D108BD9-81ED-4DB2-BD59-A6C34878D82A}">
                    <a16:rowId xmlns:a16="http://schemas.microsoft.com/office/drawing/2014/main" val="53789261"/>
                  </a:ext>
                </a:extLst>
              </a:tr>
              <a:tr h="254000">
                <a:tc>
                  <a:txBody>
                    <a:bodyPr/>
                    <a:lstStyle/>
                    <a:p>
                      <a:pPr algn="ctr" fontAlgn="b"/>
                      <a:r>
                        <a:rPr lang="es-CO" sz="1400" b="1" i="0" u="none" strike="noStrike">
                          <a:solidFill>
                            <a:srgbClr val="FFFFFF"/>
                          </a:solidFill>
                          <a:effectLst/>
                          <a:latin typeface="Calibri" panose="020F0502020204030204" pitchFamily="34" charset="0"/>
                        </a:rPr>
                        <a:t>2022</a:t>
                      </a:r>
                    </a:p>
                  </a:txBody>
                  <a:tcPr marL="0" marR="0" marT="0" marB="0" anchor="b">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solidFill>
                      <a:srgbClr val="375623"/>
                    </a:solidFill>
                  </a:tcPr>
                </a:tc>
                <a:tc>
                  <a:txBody>
                    <a:bodyPr/>
                    <a:lstStyle/>
                    <a:p>
                      <a:pPr algn="ctr" fontAlgn="ctr"/>
                      <a:r>
                        <a:rPr lang="es-CO" sz="1400" b="0" i="0" u="none" strike="noStrike">
                          <a:solidFill>
                            <a:srgbClr val="000000"/>
                          </a:solidFill>
                          <a:effectLst/>
                          <a:latin typeface="Calibri" panose="020F0502020204030204" pitchFamily="34" charset="0"/>
                        </a:rPr>
                        <a:t> $        115.077,0 </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101257</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1,83%</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1,085</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1,085</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 $        106.100 </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4,94%</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3,06%</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extLst>
                  <a:ext uri="{0D108BD9-81ED-4DB2-BD59-A6C34878D82A}">
                    <a16:rowId xmlns:a16="http://schemas.microsoft.com/office/drawing/2014/main" val="2352758670"/>
                  </a:ext>
                </a:extLst>
              </a:tr>
              <a:tr h="254000">
                <a:tc>
                  <a:txBody>
                    <a:bodyPr/>
                    <a:lstStyle/>
                    <a:p>
                      <a:pPr algn="ctr" fontAlgn="b"/>
                      <a:r>
                        <a:rPr lang="es-CO" sz="1400" b="1" i="0" u="none" strike="noStrike">
                          <a:solidFill>
                            <a:srgbClr val="FFFFFF"/>
                          </a:solidFill>
                          <a:effectLst/>
                          <a:latin typeface="Calibri" panose="020F0502020204030204" pitchFamily="34" charset="0"/>
                        </a:rPr>
                        <a:t>2023</a:t>
                      </a:r>
                    </a:p>
                  </a:txBody>
                  <a:tcPr marL="0" marR="0" marT="0" marB="0" anchor="b">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solidFill>
                      <a:srgbClr val="375623"/>
                    </a:solidFill>
                  </a:tcPr>
                </a:tc>
                <a:tc>
                  <a:txBody>
                    <a:bodyPr/>
                    <a:lstStyle/>
                    <a:p>
                      <a:pPr algn="ctr" fontAlgn="ctr"/>
                      <a:r>
                        <a:rPr lang="es-CO" sz="1400" b="0" i="0" u="none" strike="noStrike">
                          <a:solidFill>
                            <a:srgbClr val="000000"/>
                          </a:solidFill>
                          <a:effectLst/>
                          <a:latin typeface="Calibri" panose="020F0502020204030204" pitchFamily="34" charset="0"/>
                        </a:rPr>
                        <a:t> $        117.650,0 </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101512</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0,25%</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1,087</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1,087</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 $        108.200 </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2,24%</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1,98%</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extLst>
                  <a:ext uri="{0D108BD9-81ED-4DB2-BD59-A6C34878D82A}">
                    <a16:rowId xmlns:a16="http://schemas.microsoft.com/office/drawing/2014/main" val="3076030984"/>
                  </a:ext>
                </a:extLst>
              </a:tr>
              <a:tr h="254000">
                <a:tc>
                  <a:txBody>
                    <a:bodyPr/>
                    <a:lstStyle/>
                    <a:p>
                      <a:pPr algn="ctr" fontAlgn="b"/>
                      <a:r>
                        <a:rPr lang="es-CO" sz="1400" b="1" i="0" u="none" strike="noStrike">
                          <a:solidFill>
                            <a:srgbClr val="FFFFFF"/>
                          </a:solidFill>
                          <a:effectLst/>
                          <a:latin typeface="Calibri" panose="020F0502020204030204" pitchFamily="34" charset="0"/>
                        </a:rPr>
                        <a:t>2024</a:t>
                      </a:r>
                    </a:p>
                  </a:txBody>
                  <a:tcPr marL="0" marR="0" marT="0" marB="0" anchor="b">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a:noFill/>
                    </a:lnB>
                    <a:solidFill>
                      <a:srgbClr val="375623"/>
                    </a:solidFill>
                  </a:tcPr>
                </a:tc>
                <a:tc>
                  <a:txBody>
                    <a:bodyPr/>
                    <a:lstStyle/>
                    <a:p>
                      <a:pPr algn="ctr" fontAlgn="ctr"/>
                      <a:r>
                        <a:rPr lang="es-CO" sz="1400" b="0" i="0" u="none" strike="noStrike">
                          <a:solidFill>
                            <a:srgbClr val="000000"/>
                          </a:solidFill>
                          <a:effectLst/>
                          <a:latin typeface="Calibri" panose="020F0502020204030204" pitchFamily="34" charset="0"/>
                        </a:rPr>
                        <a:t> $        118.793,0 </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101555</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0,04%</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1,088</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1,088</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 $        109.205 </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0,97%</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tc>
                  <a:txBody>
                    <a:bodyPr/>
                    <a:lstStyle/>
                    <a:p>
                      <a:pPr algn="ctr" fontAlgn="ctr"/>
                      <a:r>
                        <a:rPr lang="es-CO" sz="1400" b="0" i="0" u="none" strike="noStrike">
                          <a:solidFill>
                            <a:srgbClr val="000000"/>
                          </a:solidFill>
                          <a:effectLst/>
                          <a:latin typeface="Calibri" panose="020F0502020204030204" pitchFamily="34" charset="0"/>
                        </a:rPr>
                        <a:t>0,93%</a:t>
                      </a:r>
                    </a:p>
                  </a:txBody>
                  <a:tcPr marL="0" marR="0" marT="0" marB="0" anchor="ctr">
                    <a:lnL w="12700" cap="flat" cmpd="sng" algn="ctr">
                      <a:solidFill>
                        <a:srgbClr val="BF8F00"/>
                      </a:solidFill>
                      <a:prstDash val="solid"/>
                      <a:round/>
                      <a:headEnd type="none" w="med" len="med"/>
                      <a:tailEnd type="none" w="med" len="med"/>
                    </a:lnL>
                    <a:lnR w="12700" cap="flat" cmpd="sng" algn="ctr">
                      <a:solidFill>
                        <a:srgbClr val="BF8F00"/>
                      </a:solidFill>
                      <a:prstDash val="solid"/>
                      <a:round/>
                      <a:headEnd type="none" w="med" len="med"/>
                      <a:tailEnd type="none" w="med" len="med"/>
                    </a:lnR>
                    <a:lnT w="12700" cap="flat" cmpd="sng" algn="ctr">
                      <a:solidFill>
                        <a:srgbClr val="BF8F00"/>
                      </a:solidFill>
                      <a:prstDash val="solid"/>
                      <a:round/>
                      <a:headEnd type="none" w="med" len="med"/>
                      <a:tailEnd type="none" w="med" len="med"/>
                    </a:lnT>
                    <a:lnB w="12700" cap="flat" cmpd="sng" algn="ctr">
                      <a:solidFill>
                        <a:srgbClr val="BF8F00"/>
                      </a:solidFill>
                      <a:prstDash val="solid"/>
                      <a:round/>
                      <a:headEnd type="none" w="med" len="med"/>
                      <a:tailEnd type="none" w="med" len="med"/>
                    </a:lnB>
                    <a:noFill/>
                  </a:tcPr>
                </a:tc>
                <a:extLst>
                  <a:ext uri="{0D108BD9-81ED-4DB2-BD59-A6C34878D82A}">
                    <a16:rowId xmlns:a16="http://schemas.microsoft.com/office/drawing/2014/main" val="3760393329"/>
                  </a:ext>
                </a:extLst>
              </a:tr>
            </a:tbl>
          </a:graphicData>
        </a:graphic>
      </p:graphicFrame>
    </p:spTree>
    <p:extLst>
      <p:ext uri="{BB962C8B-B14F-4D97-AF65-F5344CB8AC3E}">
        <p14:creationId xmlns:p14="http://schemas.microsoft.com/office/powerpoint/2010/main" val="1083588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7DCCA-5DB6-5E9B-94B4-CBF783541EA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C83CCDA-B0DC-3774-A0CC-EF43F1E22D66}"/>
              </a:ext>
            </a:extLst>
          </p:cNvPr>
          <p:cNvSpPr>
            <a:spLocks noGrp="1"/>
          </p:cNvSpPr>
          <p:nvPr>
            <p:ph type="ctrTitle"/>
          </p:nvPr>
        </p:nvSpPr>
        <p:spPr>
          <a:xfrm>
            <a:off x="470867" y="1814732"/>
            <a:ext cx="11079167" cy="826833"/>
          </a:xfrm>
        </p:spPr>
        <p:txBody>
          <a:bodyPr>
            <a:noAutofit/>
          </a:bodyPr>
          <a:lstStyle/>
          <a:p>
            <a:r>
              <a:rPr lang="es-CO" sz="3200" dirty="0">
                <a:latin typeface="Century Gothic"/>
              </a:rPr>
              <a:t>INFLACIÓN y SU IMPACTO EN EL FLUJO DE CAJA DE UN PROYECTO (</a:t>
            </a:r>
            <a:r>
              <a:rPr lang="es-CO" sz="3200" dirty="0">
                <a:solidFill>
                  <a:srgbClr val="D7A700"/>
                </a:solidFill>
                <a:latin typeface="Century Gothic"/>
              </a:rPr>
              <a:t>PARTE II</a:t>
            </a:r>
            <a:r>
              <a:rPr lang="es-CO" sz="3200" dirty="0">
                <a:latin typeface="Century Gothic"/>
              </a:rPr>
              <a:t>)</a:t>
            </a:r>
            <a:endParaRPr lang="es-CO" sz="3200" dirty="0">
              <a:latin typeface="Century Gothic" panose="020B0502020202020204" pitchFamily="34" charset="0"/>
            </a:endParaRPr>
          </a:p>
        </p:txBody>
      </p:sp>
      <p:sp>
        <p:nvSpPr>
          <p:cNvPr id="8" name="Rectángulo 7">
            <a:extLst>
              <a:ext uri="{FF2B5EF4-FFF2-40B4-BE49-F238E27FC236}">
                <a16:creationId xmlns:a16="http://schemas.microsoft.com/office/drawing/2014/main" id="{230A05B0-BDA8-C706-7E9A-BCE24DABF2F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2679DFB6-5931-BB62-76F1-7570AF2BE5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D0FFA625-37E0-7672-3B61-DB05FD4880E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157AB3F8-EEFE-B8EF-DF18-C81F969310C0}"/>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9422D6A0-B396-BE36-122E-EB3AC36FCE49}"/>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dirty="0">
                <a:solidFill>
                  <a:schemeClr val="bg1"/>
                </a:solidFill>
                <a:latin typeface="Century Gothic"/>
              </a:rPr>
              <a:t>													</a:t>
            </a:r>
            <a:endParaRPr lang="es-CO" sz="2000" b="1" u="sng" dirty="0">
              <a:solidFill>
                <a:schemeClr val="bg1"/>
              </a:solidFill>
              <a:latin typeface="Century Gothic"/>
            </a:endParaRPr>
          </a:p>
          <a:p>
            <a:endParaRPr lang="es-CO" sz="1000" b="1" dirty="0">
              <a:solidFill>
                <a:schemeClr val="bg1"/>
              </a:solidFill>
              <a:latin typeface="Century Gothic" panose="020B0502020202020204" pitchFamily="34" charset="0"/>
            </a:endParaRPr>
          </a:p>
          <a:p>
            <a:r>
              <a:rPr lang="es-CO" sz="2000" b="1" dirty="0">
                <a:solidFill>
                  <a:schemeClr val="bg1"/>
                </a:solidFill>
                <a:latin typeface="Century Gothic"/>
              </a:rPr>
              <a:t>DEPARTAMENTO DE INGENIERÍA INDUSTRIAL</a:t>
            </a:r>
          </a:p>
          <a:p>
            <a:r>
              <a:rPr lang="es-CO" sz="2000" b="1" dirty="0">
                <a:solidFill>
                  <a:schemeClr val="bg1"/>
                </a:solidFill>
                <a:latin typeface="Century Gothic"/>
              </a:rPr>
              <a:t>FACULTAD DE INGENIERÍA</a:t>
            </a:r>
          </a:p>
          <a:p>
            <a:r>
              <a:rPr lang="es-CO" sz="1000" b="1" u="sng" dirty="0">
                <a:solidFill>
                  <a:schemeClr val="bg1"/>
                </a:solidFill>
                <a:latin typeface="Century Gothic"/>
              </a:rPr>
              <a:t>													</a:t>
            </a:r>
          </a:p>
          <a:p>
            <a:endParaRPr lang="es-CO" sz="2000" b="1" dirty="0">
              <a:solidFill>
                <a:schemeClr val="bg1"/>
              </a:solidFill>
              <a:latin typeface="Century Gothic" panose="020B0502020202020204" pitchFamily="34" charset="0"/>
            </a:endParaRPr>
          </a:p>
          <a:p>
            <a:r>
              <a:rPr lang="es-CO" sz="2000" b="1" dirty="0">
                <a:solidFill>
                  <a:schemeClr val="bg1"/>
                </a:solidFill>
                <a:latin typeface="Century Gothic"/>
              </a:rPr>
              <a:t>Curso       </a:t>
            </a:r>
            <a:r>
              <a:rPr lang="es-CO" sz="2000" dirty="0">
                <a:solidFill>
                  <a:schemeClr val="bg1"/>
                </a:solidFill>
                <a:latin typeface="Century Gothic"/>
              </a:rPr>
              <a:t>ANÁLISIS DE DECISIONES DE INVERSIÓN</a:t>
            </a:r>
          </a:p>
          <a:p>
            <a:r>
              <a:rPr lang="es-CO" sz="2000" b="1" dirty="0">
                <a:solidFill>
                  <a:schemeClr val="bg1"/>
                </a:solidFill>
                <a:latin typeface="Century Gothic"/>
              </a:rPr>
              <a:t>Correo     </a:t>
            </a:r>
            <a:r>
              <a:rPr lang="es-CO" sz="2000" dirty="0">
                <a:solidFill>
                  <a:schemeClr val="bg1"/>
                </a:solidFill>
                <a:latin typeface="Century Gothic"/>
              </a:rPr>
              <a:t>cursoanadec@uniandes.edu.co</a:t>
            </a:r>
          </a:p>
          <a:p>
            <a:endParaRPr lang="es-CO" sz="2000" b="1"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4218707216"/>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3936</TotalTime>
  <Words>6621</Words>
  <Application>Microsoft Macintosh PowerPoint</Application>
  <PresentationFormat>Widescreen</PresentationFormat>
  <Paragraphs>2608</Paragraphs>
  <Slides>64</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64</vt:i4>
      </vt:variant>
    </vt:vector>
  </HeadingPairs>
  <TitlesOfParts>
    <vt:vector size="72" baseType="lpstr">
      <vt:lpstr>Arial</vt:lpstr>
      <vt:lpstr>Calibri</vt:lpstr>
      <vt:lpstr>Cambria Math</vt:lpstr>
      <vt:lpstr>Century Gothic</vt:lpstr>
      <vt:lpstr>Gill Sans MT</vt:lpstr>
      <vt:lpstr>Wingdings</vt:lpstr>
      <vt:lpstr>Wingdings 2</vt:lpstr>
      <vt:lpstr>Dividendo</vt:lpstr>
      <vt:lpstr>INFLACIÓN y SU IMPACTO EN EL FLUJO DE CAJA DE UN PROYECTO (PARTE I)</vt:lpstr>
      <vt:lpstr>eCUACIONES RESUMEN</vt:lpstr>
      <vt:lpstr>AGENDA PROPUESTA</vt:lpstr>
      <vt:lpstr>EJEMPLO 5</vt:lpstr>
      <vt:lpstr>EJEMPLO 5</vt:lpstr>
      <vt:lpstr>Precios corrientes</vt:lpstr>
      <vt:lpstr>Precios corrientes</vt:lpstr>
      <vt:lpstr>Precios corrientes</vt:lpstr>
      <vt:lpstr>Precios corrientes</vt:lpstr>
      <vt:lpstr>Precios corrientes</vt:lpstr>
      <vt:lpstr>Precios corrientes</vt:lpstr>
      <vt:lpstr>Precios corrientes</vt:lpstr>
      <vt:lpstr>Precios corrientes</vt:lpstr>
      <vt:lpstr>Precios corrientes</vt:lpstr>
      <vt:lpstr>Precios corrientes</vt:lpstr>
      <vt:lpstr>Precios corrientes</vt:lpstr>
      <vt:lpstr>Precios corrientes</vt:lpstr>
      <vt:lpstr>AGENDA PROPUESTA</vt:lpstr>
      <vt:lpstr>Precios constantes (REALES)</vt:lpstr>
      <vt:lpstr>Excel repaso</vt:lpstr>
      <vt:lpstr>Precios constantes (REALES)</vt:lpstr>
      <vt:lpstr>Precios corrientes</vt:lpstr>
      <vt:lpstr>Precios corrientes</vt:lpstr>
      <vt:lpstr>Precios constantes (REALES)</vt:lpstr>
      <vt:lpstr>Precios constantes – factor inflacionario </vt:lpstr>
      <vt:lpstr>Precios constantes – inflación 6% </vt:lpstr>
      <vt:lpstr>Precios constantes – inflación 6%</vt:lpstr>
      <vt:lpstr>Precios constantes – inflación 6%</vt:lpstr>
      <vt:lpstr>Precios constantes – inflación 6%</vt:lpstr>
      <vt:lpstr>Precios constantes – inflación 6%</vt:lpstr>
      <vt:lpstr>Precios constantes – inflación 6%</vt:lpstr>
      <vt:lpstr>Precios constantes – inflación 6%</vt:lpstr>
      <vt:lpstr>Precios constantes – inflación 6%</vt:lpstr>
      <vt:lpstr>Precios constantes – inflación 6%</vt:lpstr>
      <vt:lpstr>Precios constantes – inflación 6%</vt:lpstr>
      <vt:lpstr>Precios constantes – inflación 6%</vt:lpstr>
      <vt:lpstr>Precios constantes – inflación 6%</vt:lpstr>
      <vt:lpstr>Precios constantes – inflación 6%</vt:lpstr>
      <vt:lpstr>Precios constantes (REALES)</vt:lpstr>
      <vt:lpstr>Precios constantes (REALES)</vt:lpstr>
      <vt:lpstr>INFLACIÓN</vt:lpstr>
      <vt:lpstr>INFLACIÓN y SU IMPACTO EN EL FLUJO DE CAJA DE UN PROYECTO (PARTE I)</vt:lpstr>
      <vt:lpstr>INFLACIÓN y SU IMPACTO EN EL FLUJO DE CAJA DE UN PROYECTO (PARTE II)</vt:lpstr>
      <vt:lpstr>AGENDA PROPUESTA</vt:lpstr>
      <vt:lpstr>INFLACIÓN VARIABLE - PROCESO</vt:lpstr>
      <vt:lpstr>INFLACIÓN VARIABLE - PROCESO</vt:lpstr>
      <vt:lpstr>Precios corrientes</vt:lpstr>
      <vt:lpstr>Precios corrientes</vt:lpstr>
      <vt:lpstr>Precios corrientes</vt:lpstr>
      <vt:lpstr>INFLACIÓN VARIABLE - PROCESO</vt:lpstr>
      <vt:lpstr>INFLACIÓN VARIABLE - PROCESO</vt:lpstr>
      <vt:lpstr>INFLACIÓN VARIABLE - PROCESO</vt:lpstr>
      <vt:lpstr>INFLACIÓN</vt:lpstr>
      <vt:lpstr>AGENDA PROPUESTA</vt:lpstr>
      <vt:lpstr>Ejercicio 1</vt:lpstr>
      <vt:lpstr>Ejercicio 1 – inflación constante 5%</vt:lpstr>
      <vt:lpstr>Ejercicio 2</vt:lpstr>
      <vt:lpstr>Ejercicio 2 – inflación variable</vt:lpstr>
      <vt:lpstr>Ejercicio 2 – inflación variable</vt:lpstr>
      <vt:lpstr>EjeRCICIO 1</vt:lpstr>
      <vt:lpstr>EjERCICIO 2</vt:lpstr>
      <vt:lpstr>EJERCICIO 3</vt:lpstr>
      <vt:lpstr>EJERCICIO 3</vt:lpstr>
      <vt:lpstr>INFLACIÓN y SU IMPACTO EN EL FLUJO DE CAJA DE UN PROYECTO (PARTE II)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Brigitte Castañeda</cp:lastModifiedBy>
  <cp:revision>90</cp:revision>
  <dcterms:created xsi:type="dcterms:W3CDTF">2019-06-20T04:25:04Z</dcterms:created>
  <dcterms:modified xsi:type="dcterms:W3CDTF">2026-05-05T15:35:48Z</dcterms:modified>
</cp:coreProperties>
</file>