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32" r:id="rId1"/>
  </p:sldMasterIdLst>
  <p:notesMasterIdLst>
    <p:notesMasterId r:id="rId27"/>
  </p:notesMasterIdLst>
  <p:handoutMasterIdLst>
    <p:handoutMasterId r:id="rId28"/>
  </p:handoutMasterIdLst>
  <p:sldIdLst>
    <p:sldId id="398" r:id="rId2"/>
    <p:sldId id="354" r:id="rId3"/>
    <p:sldId id="600" r:id="rId4"/>
    <p:sldId id="418" r:id="rId5"/>
    <p:sldId id="266" r:id="rId6"/>
    <p:sldId id="370" r:id="rId7"/>
    <p:sldId id="268" r:id="rId8"/>
    <p:sldId id="269" r:id="rId9"/>
    <p:sldId id="425" r:id="rId10"/>
    <p:sldId id="580" r:id="rId11"/>
    <p:sldId id="601" r:id="rId12"/>
    <p:sldId id="581" r:id="rId13"/>
    <p:sldId id="491" r:id="rId14"/>
    <p:sldId id="562" r:id="rId15"/>
    <p:sldId id="603" r:id="rId16"/>
    <p:sldId id="404" r:id="rId17"/>
    <p:sldId id="488" r:id="rId18"/>
    <p:sldId id="604" r:id="rId19"/>
    <p:sldId id="405" r:id="rId20"/>
    <p:sldId id="489" r:id="rId21"/>
    <p:sldId id="605" r:id="rId22"/>
    <p:sldId id="594" r:id="rId23"/>
    <p:sldId id="595" r:id="rId24"/>
    <p:sldId id="606" r:id="rId25"/>
    <p:sldId id="403"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Joseph Sanchez Oyola" initials="SJSO" lastIdx="1" clrIdx="0">
    <p:extLst>
      <p:ext uri="{19B8F6BF-5375-455C-9EA6-DF929625EA0E}">
        <p15:presenceInfo xmlns:p15="http://schemas.microsoft.com/office/powerpoint/2012/main" userId="Sebastian Joseph Sanchez Oy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A700"/>
    <a:srgbClr val="FFF4E6"/>
    <a:srgbClr val="002F90"/>
    <a:srgbClr val="E8F8FA"/>
    <a:srgbClr val="DFFFFF"/>
    <a:srgbClr val="FF6600"/>
    <a:srgbClr val="33CC33"/>
    <a:srgbClr val="6666FF"/>
    <a:srgbClr val="FF505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C6AE38-BF12-F745-B519-F3C120679EA4}" v="29" dt="2026-02-27T23:47:42.726"/>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43"/>
  </p:normalViewPr>
  <p:slideViewPr>
    <p:cSldViewPr snapToGrid="0">
      <p:cViewPr varScale="1">
        <p:scale>
          <a:sx n="105" d="100"/>
          <a:sy n="105" d="100"/>
        </p:scale>
        <p:origin x="74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a Yohana Cortes Mojica" userId="3b47afde-b427-4a15-a20d-d0a4df45be35" providerId="ADAL" clId="{301344BA-98AF-57C8-8621-F88E4D1A30F3}"/>
    <pc:docChg chg="custSel delSld modSld">
      <pc:chgData name="Andrea Yohana Cortes Mojica" userId="3b47afde-b427-4a15-a20d-d0a4df45be35" providerId="ADAL" clId="{301344BA-98AF-57C8-8621-F88E4D1A30F3}" dt="2026-02-27T23:48:41.423" v="54" actId="2696"/>
      <pc:docMkLst>
        <pc:docMk/>
      </pc:docMkLst>
      <pc:sldChg chg="addSp delSp modSp mod">
        <pc:chgData name="Andrea Yohana Cortes Mojica" userId="3b47afde-b427-4a15-a20d-d0a4df45be35" providerId="ADAL" clId="{301344BA-98AF-57C8-8621-F88E4D1A30F3}" dt="2026-02-27T23:45:40.883" v="13"/>
        <pc:sldMkLst>
          <pc:docMk/>
          <pc:sldMk cId="3307971550" sldId="266"/>
        </pc:sldMkLst>
        <pc:spChg chg="del">
          <ac:chgData name="Andrea Yohana Cortes Mojica" userId="3b47afde-b427-4a15-a20d-d0a4df45be35" providerId="ADAL" clId="{301344BA-98AF-57C8-8621-F88E4D1A30F3}" dt="2026-02-27T23:45:39.647" v="12" actId="478"/>
          <ac:spMkLst>
            <pc:docMk/>
            <pc:sldMk cId="3307971550" sldId="266"/>
            <ac:spMk id="4" creationId="{00000000-0000-0000-0000-000000000000}"/>
          </ac:spMkLst>
        </pc:spChg>
        <pc:spChg chg="add mod">
          <ac:chgData name="Andrea Yohana Cortes Mojica" userId="3b47afde-b427-4a15-a20d-d0a4df45be35" providerId="ADAL" clId="{301344BA-98AF-57C8-8621-F88E4D1A30F3}" dt="2026-02-27T23:45:40.883" v="13"/>
          <ac:spMkLst>
            <pc:docMk/>
            <pc:sldMk cId="3307971550" sldId="266"/>
            <ac:spMk id="5" creationId="{2AF5EB8A-F152-F369-6BA7-71AC6FC48274}"/>
          </ac:spMkLst>
        </pc:spChg>
      </pc:sldChg>
      <pc:sldChg chg="addSp delSp modSp mod">
        <pc:chgData name="Andrea Yohana Cortes Mojica" userId="3b47afde-b427-4a15-a20d-d0a4df45be35" providerId="ADAL" clId="{301344BA-98AF-57C8-8621-F88E4D1A30F3}" dt="2026-02-27T23:45:54.528" v="17"/>
        <pc:sldMkLst>
          <pc:docMk/>
          <pc:sldMk cId="2702106260" sldId="268"/>
        </pc:sldMkLst>
        <pc:spChg chg="del">
          <ac:chgData name="Andrea Yohana Cortes Mojica" userId="3b47afde-b427-4a15-a20d-d0a4df45be35" providerId="ADAL" clId="{301344BA-98AF-57C8-8621-F88E4D1A30F3}" dt="2026-02-27T23:45:53.065" v="16" actId="478"/>
          <ac:spMkLst>
            <pc:docMk/>
            <pc:sldMk cId="2702106260" sldId="268"/>
            <ac:spMk id="4" creationId="{00000000-0000-0000-0000-000000000000}"/>
          </ac:spMkLst>
        </pc:spChg>
        <pc:spChg chg="add mod">
          <ac:chgData name="Andrea Yohana Cortes Mojica" userId="3b47afde-b427-4a15-a20d-d0a4df45be35" providerId="ADAL" clId="{301344BA-98AF-57C8-8621-F88E4D1A30F3}" dt="2026-02-27T23:45:54.528" v="17"/>
          <ac:spMkLst>
            <pc:docMk/>
            <pc:sldMk cId="2702106260" sldId="268"/>
            <ac:spMk id="5" creationId="{21A9C1D9-D45A-001D-065A-8568218E0A99}"/>
          </ac:spMkLst>
        </pc:spChg>
      </pc:sldChg>
      <pc:sldChg chg="addSp delSp modSp mod">
        <pc:chgData name="Andrea Yohana Cortes Mojica" userId="3b47afde-b427-4a15-a20d-d0a4df45be35" providerId="ADAL" clId="{301344BA-98AF-57C8-8621-F88E4D1A30F3}" dt="2026-02-27T23:46:00.495" v="19"/>
        <pc:sldMkLst>
          <pc:docMk/>
          <pc:sldMk cId="943378874" sldId="269"/>
        </pc:sldMkLst>
        <pc:spChg chg="del">
          <ac:chgData name="Andrea Yohana Cortes Mojica" userId="3b47afde-b427-4a15-a20d-d0a4df45be35" providerId="ADAL" clId="{301344BA-98AF-57C8-8621-F88E4D1A30F3}" dt="2026-02-27T23:45:59.202" v="18" actId="478"/>
          <ac:spMkLst>
            <pc:docMk/>
            <pc:sldMk cId="943378874" sldId="269"/>
            <ac:spMk id="4" creationId="{00000000-0000-0000-0000-000000000000}"/>
          </ac:spMkLst>
        </pc:spChg>
        <pc:spChg chg="add mod">
          <ac:chgData name="Andrea Yohana Cortes Mojica" userId="3b47afde-b427-4a15-a20d-d0a4df45be35" providerId="ADAL" clId="{301344BA-98AF-57C8-8621-F88E4D1A30F3}" dt="2026-02-27T23:46:00.495" v="19"/>
          <ac:spMkLst>
            <pc:docMk/>
            <pc:sldMk cId="943378874" sldId="269"/>
            <ac:spMk id="5" creationId="{2B92E1D2-5B58-4262-5B32-D6B1E20BBED9}"/>
          </ac:spMkLst>
        </pc:spChg>
      </pc:sldChg>
      <pc:sldChg chg="modSp mod">
        <pc:chgData name="Andrea Yohana Cortes Mojica" userId="3b47afde-b427-4a15-a20d-d0a4df45be35" providerId="ADAL" clId="{301344BA-98AF-57C8-8621-F88E4D1A30F3}" dt="2026-02-27T23:45:22.143" v="7" actId="255"/>
        <pc:sldMkLst>
          <pc:docMk/>
          <pc:sldMk cId="3254971150" sldId="354"/>
        </pc:sldMkLst>
        <pc:spChg chg="mod">
          <ac:chgData name="Andrea Yohana Cortes Mojica" userId="3b47afde-b427-4a15-a20d-d0a4df45be35" providerId="ADAL" clId="{301344BA-98AF-57C8-8621-F88E4D1A30F3}" dt="2026-02-27T23:45:22.143" v="7" actId="255"/>
          <ac:spMkLst>
            <pc:docMk/>
            <pc:sldMk cId="3254971150" sldId="354"/>
            <ac:spMk id="4" creationId="{00000000-0000-0000-0000-000000000000}"/>
          </ac:spMkLst>
        </pc:spChg>
      </pc:sldChg>
      <pc:sldChg chg="addSp delSp modSp mod">
        <pc:chgData name="Andrea Yohana Cortes Mojica" userId="3b47afde-b427-4a15-a20d-d0a4df45be35" providerId="ADAL" clId="{301344BA-98AF-57C8-8621-F88E4D1A30F3}" dt="2026-02-27T23:45:46.978" v="15"/>
        <pc:sldMkLst>
          <pc:docMk/>
          <pc:sldMk cId="259539191" sldId="370"/>
        </pc:sldMkLst>
        <pc:spChg chg="del">
          <ac:chgData name="Andrea Yohana Cortes Mojica" userId="3b47afde-b427-4a15-a20d-d0a4df45be35" providerId="ADAL" clId="{301344BA-98AF-57C8-8621-F88E4D1A30F3}" dt="2026-02-27T23:45:45.758" v="14" actId="478"/>
          <ac:spMkLst>
            <pc:docMk/>
            <pc:sldMk cId="259539191" sldId="370"/>
            <ac:spMk id="4" creationId="{00000000-0000-0000-0000-000000000000}"/>
          </ac:spMkLst>
        </pc:spChg>
        <pc:spChg chg="add mod">
          <ac:chgData name="Andrea Yohana Cortes Mojica" userId="3b47afde-b427-4a15-a20d-d0a4df45be35" providerId="ADAL" clId="{301344BA-98AF-57C8-8621-F88E4D1A30F3}" dt="2026-02-27T23:45:46.978" v="15"/>
          <ac:spMkLst>
            <pc:docMk/>
            <pc:sldMk cId="259539191" sldId="370"/>
            <ac:spMk id="5" creationId="{CBCF4A8D-026B-35CD-FEA2-0BA6D7C28287}"/>
          </ac:spMkLst>
        </pc:spChg>
      </pc:sldChg>
      <pc:sldChg chg="addSp delSp modSp mod">
        <pc:chgData name="Andrea Yohana Cortes Mojica" userId="3b47afde-b427-4a15-a20d-d0a4df45be35" providerId="ADAL" clId="{301344BA-98AF-57C8-8621-F88E4D1A30F3}" dt="2026-02-27T23:46:50.204" v="35"/>
        <pc:sldMkLst>
          <pc:docMk/>
          <pc:sldMk cId="214518177" sldId="404"/>
        </pc:sldMkLst>
        <pc:spChg chg="del">
          <ac:chgData name="Andrea Yohana Cortes Mojica" userId="3b47afde-b427-4a15-a20d-d0a4df45be35" providerId="ADAL" clId="{301344BA-98AF-57C8-8621-F88E4D1A30F3}" dt="2026-02-27T23:46:49.184" v="34" actId="478"/>
          <ac:spMkLst>
            <pc:docMk/>
            <pc:sldMk cId="214518177" sldId="404"/>
            <ac:spMk id="4" creationId="{00000000-0000-0000-0000-000000000000}"/>
          </ac:spMkLst>
        </pc:spChg>
        <pc:spChg chg="add mod">
          <ac:chgData name="Andrea Yohana Cortes Mojica" userId="3b47afde-b427-4a15-a20d-d0a4df45be35" providerId="ADAL" clId="{301344BA-98AF-57C8-8621-F88E4D1A30F3}" dt="2026-02-27T23:46:50.204" v="35"/>
          <ac:spMkLst>
            <pc:docMk/>
            <pc:sldMk cId="214518177" sldId="404"/>
            <ac:spMk id="7" creationId="{0AB1ED46-6EE6-BF79-5BE8-D8085D9E64FB}"/>
          </ac:spMkLst>
        </pc:spChg>
      </pc:sldChg>
      <pc:sldChg chg="addSp delSp modSp mod">
        <pc:chgData name="Andrea Yohana Cortes Mojica" userId="3b47afde-b427-4a15-a20d-d0a4df45be35" providerId="ADAL" clId="{301344BA-98AF-57C8-8621-F88E4D1A30F3}" dt="2026-02-27T23:47:08.481" v="41"/>
        <pc:sldMkLst>
          <pc:docMk/>
          <pc:sldMk cId="1441309838" sldId="405"/>
        </pc:sldMkLst>
        <pc:spChg chg="del">
          <ac:chgData name="Andrea Yohana Cortes Mojica" userId="3b47afde-b427-4a15-a20d-d0a4df45be35" providerId="ADAL" clId="{301344BA-98AF-57C8-8621-F88E4D1A30F3}" dt="2026-02-27T23:47:07.196" v="40" actId="478"/>
          <ac:spMkLst>
            <pc:docMk/>
            <pc:sldMk cId="1441309838" sldId="405"/>
            <ac:spMk id="4" creationId="{00000000-0000-0000-0000-000000000000}"/>
          </ac:spMkLst>
        </pc:spChg>
        <pc:spChg chg="add mod">
          <ac:chgData name="Andrea Yohana Cortes Mojica" userId="3b47afde-b427-4a15-a20d-d0a4df45be35" providerId="ADAL" clId="{301344BA-98AF-57C8-8621-F88E4D1A30F3}" dt="2026-02-27T23:47:08.481" v="41"/>
          <ac:spMkLst>
            <pc:docMk/>
            <pc:sldMk cId="1441309838" sldId="405"/>
            <ac:spMk id="7" creationId="{C1CE2F8D-BCE1-82D1-F97E-63CBD0D9B291}"/>
          </ac:spMkLst>
        </pc:spChg>
      </pc:sldChg>
      <pc:sldChg chg="addSp delSp modSp mod">
        <pc:chgData name="Andrea Yohana Cortes Mojica" userId="3b47afde-b427-4a15-a20d-d0a4df45be35" providerId="ADAL" clId="{301344BA-98AF-57C8-8621-F88E4D1A30F3}" dt="2026-02-27T23:45:35.019" v="11"/>
        <pc:sldMkLst>
          <pc:docMk/>
          <pc:sldMk cId="2390111519" sldId="418"/>
        </pc:sldMkLst>
        <pc:spChg chg="del">
          <ac:chgData name="Andrea Yohana Cortes Mojica" userId="3b47afde-b427-4a15-a20d-d0a4df45be35" providerId="ADAL" clId="{301344BA-98AF-57C8-8621-F88E4D1A30F3}" dt="2026-02-27T23:45:33.834" v="10" actId="478"/>
          <ac:spMkLst>
            <pc:docMk/>
            <pc:sldMk cId="2390111519" sldId="418"/>
            <ac:spMk id="4" creationId="{00000000-0000-0000-0000-000000000000}"/>
          </ac:spMkLst>
        </pc:spChg>
        <pc:spChg chg="add mod">
          <ac:chgData name="Andrea Yohana Cortes Mojica" userId="3b47afde-b427-4a15-a20d-d0a4df45be35" providerId="ADAL" clId="{301344BA-98AF-57C8-8621-F88E4D1A30F3}" dt="2026-02-27T23:45:35.019" v="11"/>
          <ac:spMkLst>
            <pc:docMk/>
            <pc:sldMk cId="2390111519" sldId="418"/>
            <ac:spMk id="7" creationId="{797E0012-8F9F-DF83-7051-C01C92212825}"/>
          </ac:spMkLst>
        </pc:spChg>
      </pc:sldChg>
      <pc:sldChg chg="addSp delSp modSp mod">
        <pc:chgData name="Andrea Yohana Cortes Mojica" userId="3b47afde-b427-4a15-a20d-d0a4df45be35" providerId="ADAL" clId="{301344BA-98AF-57C8-8621-F88E4D1A30F3}" dt="2026-02-27T23:46:08.636" v="21"/>
        <pc:sldMkLst>
          <pc:docMk/>
          <pc:sldMk cId="1517493351" sldId="425"/>
        </pc:sldMkLst>
        <pc:spChg chg="del">
          <ac:chgData name="Andrea Yohana Cortes Mojica" userId="3b47afde-b427-4a15-a20d-d0a4df45be35" providerId="ADAL" clId="{301344BA-98AF-57C8-8621-F88E4D1A30F3}" dt="2026-02-27T23:46:07.235" v="20" actId="478"/>
          <ac:spMkLst>
            <pc:docMk/>
            <pc:sldMk cId="1517493351" sldId="425"/>
            <ac:spMk id="4" creationId="{00000000-0000-0000-0000-000000000000}"/>
          </ac:spMkLst>
        </pc:spChg>
        <pc:spChg chg="add mod">
          <ac:chgData name="Andrea Yohana Cortes Mojica" userId="3b47afde-b427-4a15-a20d-d0a4df45be35" providerId="ADAL" clId="{301344BA-98AF-57C8-8621-F88E4D1A30F3}" dt="2026-02-27T23:46:08.636" v="21"/>
          <ac:spMkLst>
            <pc:docMk/>
            <pc:sldMk cId="1517493351" sldId="425"/>
            <ac:spMk id="7" creationId="{1690AEC7-5A95-C382-2ED7-5BB03CCDEC99}"/>
          </ac:spMkLst>
        </pc:spChg>
      </pc:sldChg>
      <pc:sldChg chg="addSp delSp modSp mod">
        <pc:chgData name="Andrea Yohana Cortes Mojica" userId="3b47afde-b427-4a15-a20d-d0a4df45be35" providerId="ADAL" clId="{301344BA-98AF-57C8-8621-F88E4D1A30F3}" dt="2026-02-27T23:46:58.556" v="37"/>
        <pc:sldMkLst>
          <pc:docMk/>
          <pc:sldMk cId="2557121279" sldId="488"/>
        </pc:sldMkLst>
        <pc:spChg chg="del">
          <ac:chgData name="Andrea Yohana Cortes Mojica" userId="3b47afde-b427-4a15-a20d-d0a4df45be35" providerId="ADAL" clId="{301344BA-98AF-57C8-8621-F88E4D1A30F3}" dt="2026-02-27T23:46:57.379" v="36" actId="478"/>
          <ac:spMkLst>
            <pc:docMk/>
            <pc:sldMk cId="2557121279" sldId="488"/>
            <ac:spMk id="4" creationId="{00000000-0000-0000-0000-000000000000}"/>
          </ac:spMkLst>
        </pc:spChg>
        <pc:spChg chg="add mod">
          <ac:chgData name="Andrea Yohana Cortes Mojica" userId="3b47afde-b427-4a15-a20d-d0a4df45be35" providerId="ADAL" clId="{301344BA-98AF-57C8-8621-F88E4D1A30F3}" dt="2026-02-27T23:46:58.556" v="37"/>
          <ac:spMkLst>
            <pc:docMk/>
            <pc:sldMk cId="2557121279" sldId="488"/>
            <ac:spMk id="7" creationId="{8FE217E4-0D28-47B9-33A9-53C825250D1B}"/>
          </ac:spMkLst>
        </pc:spChg>
      </pc:sldChg>
      <pc:sldChg chg="addSp delSp modSp mod">
        <pc:chgData name="Andrea Yohana Cortes Mojica" userId="3b47afde-b427-4a15-a20d-d0a4df45be35" providerId="ADAL" clId="{301344BA-98AF-57C8-8621-F88E4D1A30F3}" dt="2026-02-27T23:47:13.280" v="43"/>
        <pc:sldMkLst>
          <pc:docMk/>
          <pc:sldMk cId="2959629263" sldId="489"/>
        </pc:sldMkLst>
        <pc:spChg chg="del">
          <ac:chgData name="Andrea Yohana Cortes Mojica" userId="3b47afde-b427-4a15-a20d-d0a4df45be35" providerId="ADAL" clId="{301344BA-98AF-57C8-8621-F88E4D1A30F3}" dt="2026-02-27T23:47:11.972" v="42" actId="478"/>
          <ac:spMkLst>
            <pc:docMk/>
            <pc:sldMk cId="2959629263" sldId="489"/>
            <ac:spMk id="4" creationId="{00000000-0000-0000-0000-000000000000}"/>
          </ac:spMkLst>
        </pc:spChg>
        <pc:spChg chg="add mod">
          <ac:chgData name="Andrea Yohana Cortes Mojica" userId="3b47afde-b427-4a15-a20d-d0a4df45be35" providerId="ADAL" clId="{301344BA-98AF-57C8-8621-F88E4D1A30F3}" dt="2026-02-27T23:47:13.280" v="43"/>
          <ac:spMkLst>
            <pc:docMk/>
            <pc:sldMk cId="2959629263" sldId="489"/>
            <ac:spMk id="5" creationId="{C52E08DC-E642-4E20-933D-F6AC5319EA61}"/>
          </ac:spMkLst>
        </pc:spChg>
      </pc:sldChg>
      <pc:sldChg chg="addSp delSp modSp mod">
        <pc:chgData name="Andrea Yohana Cortes Mojica" userId="3b47afde-b427-4a15-a20d-d0a4df45be35" providerId="ADAL" clId="{301344BA-98AF-57C8-8621-F88E4D1A30F3}" dt="2026-02-27T23:46:34.042" v="29"/>
        <pc:sldMkLst>
          <pc:docMk/>
          <pc:sldMk cId="3446104140" sldId="491"/>
        </pc:sldMkLst>
        <pc:spChg chg="del">
          <ac:chgData name="Andrea Yohana Cortes Mojica" userId="3b47afde-b427-4a15-a20d-d0a4df45be35" providerId="ADAL" clId="{301344BA-98AF-57C8-8621-F88E4D1A30F3}" dt="2026-02-27T23:46:32.791" v="28" actId="478"/>
          <ac:spMkLst>
            <pc:docMk/>
            <pc:sldMk cId="3446104140" sldId="491"/>
            <ac:spMk id="4" creationId="{00000000-0000-0000-0000-000000000000}"/>
          </ac:spMkLst>
        </pc:spChg>
        <pc:spChg chg="add mod">
          <ac:chgData name="Andrea Yohana Cortes Mojica" userId="3b47afde-b427-4a15-a20d-d0a4df45be35" providerId="ADAL" clId="{301344BA-98AF-57C8-8621-F88E4D1A30F3}" dt="2026-02-27T23:46:34.042" v="29"/>
          <ac:spMkLst>
            <pc:docMk/>
            <pc:sldMk cId="3446104140" sldId="491"/>
            <ac:spMk id="7" creationId="{E8B42C50-E3A8-0EB4-CE9C-07C6F0C6D4D4}"/>
          </ac:spMkLst>
        </pc:spChg>
      </pc:sldChg>
      <pc:sldChg chg="addSp delSp modSp mod">
        <pc:chgData name="Andrea Yohana Cortes Mojica" userId="3b47afde-b427-4a15-a20d-d0a4df45be35" providerId="ADAL" clId="{301344BA-98AF-57C8-8621-F88E4D1A30F3}" dt="2026-02-27T23:46:39.226" v="31"/>
        <pc:sldMkLst>
          <pc:docMk/>
          <pc:sldMk cId="1258680022" sldId="562"/>
        </pc:sldMkLst>
        <pc:spChg chg="del">
          <ac:chgData name="Andrea Yohana Cortes Mojica" userId="3b47afde-b427-4a15-a20d-d0a4df45be35" providerId="ADAL" clId="{301344BA-98AF-57C8-8621-F88E4D1A30F3}" dt="2026-02-27T23:46:37.909" v="30" actId="478"/>
          <ac:spMkLst>
            <pc:docMk/>
            <pc:sldMk cId="1258680022" sldId="562"/>
            <ac:spMk id="4" creationId="{00000000-0000-0000-0000-000000000000}"/>
          </ac:spMkLst>
        </pc:spChg>
        <pc:spChg chg="add mod">
          <ac:chgData name="Andrea Yohana Cortes Mojica" userId="3b47afde-b427-4a15-a20d-d0a4df45be35" providerId="ADAL" clId="{301344BA-98AF-57C8-8621-F88E4D1A30F3}" dt="2026-02-27T23:46:39.226" v="31"/>
          <ac:spMkLst>
            <pc:docMk/>
            <pc:sldMk cId="1258680022" sldId="562"/>
            <ac:spMk id="7" creationId="{03F19048-FC94-B741-73B7-B1DBD5B0F008}"/>
          </ac:spMkLst>
        </pc:spChg>
      </pc:sldChg>
      <pc:sldChg chg="addSp delSp modSp mod">
        <pc:chgData name="Andrea Yohana Cortes Mojica" userId="3b47afde-b427-4a15-a20d-d0a4df45be35" providerId="ADAL" clId="{301344BA-98AF-57C8-8621-F88E4D1A30F3}" dt="2026-02-27T23:46:14.839" v="23"/>
        <pc:sldMkLst>
          <pc:docMk/>
          <pc:sldMk cId="2986848020" sldId="580"/>
        </pc:sldMkLst>
        <pc:spChg chg="mod">
          <ac:chgData name="Andrea Yohana Cortes Mojica" userId="3b47afde-b427-4a15-a20d-d0a4df45be35" providerId="ADAL" clId="{301344BA-98AF-57C8-8621-F88E4D1A30F3}" dt="2026-02-27T23:44:37.196" v="5" actId="20577"/>
          <ac:spMkLst>
            <pc:docMk/>
            <pc:sldMk cId="2986848020" sldId="580"/>
            <ac:spMk id="3" creationId="{00000000-0000-0000-0000-000000000000}"/>
          </ac:spMkLst>
        </pc:spChg>
        <pc:spChg chg="del">
          <ac:chgData name="Andrea Yohana Cortes Mojica" userId="3b47afde-b427-4a15-a20d-d0a4df45be35" providerId="ADAL" clId="{301344BA-98AF-57C8-8621-F88E4D1A30F3}" dt="2026-02-27T23:46:13.587" v="22" actId="478"/>
          <ac:spMkLst>
            <pc:docMk/>
            <pc:sldMk cId="2986848020" sldId="580"/>
            <ac:spMk id="4" creationId="{00000000-0000-0000-0000-000000000000}"/>
          </ac:spMkLst>
        </pc:spChg>
        <pc:spChg chg="add mod">
          <ac:chgData name="Andrea Yohana Cortes Mojica" userId="3b47afde-b427-4a15-a20d-d0a4df45be35" providerId="ADAL" clId="{301344BA-98AF-57C8-8621-F88E4D1A30F3}" dt="2026-02-27T23:46:14.839" v="23"/>
          <ac:spMkLst>
            <pc:docMk/>
            <pc:sldMk cId="2986848020" sldId="580"/>
            <ac:spMk id="7" creationId="{AB03B0E5-0F2C-2BFE-0E5C-2DFF2A2A71BD}"/>
          </ac:spMkLst>
        </pc:spChg>
      </pc:sldChg>
      <pc:sldChg chg="addSp delSp modSp mod">
        <pc:chgData name="Andrea Yohana Cortes Mojica" userId="3b47afde-b427-4a15-a20d-d0a4df45be35" providerId="ADAL" clId="{301344BA-98AF-57C8-8621-F88E4D1A30F3}" dt="2026-02-27T23:46:28.148" v="27"/>
        <pc:sldMkLst>
          <pc:docMk/>
          <pc:sldMk cId="2570951215" sldId="581"/>
        </pc:sldMkLst>
        <pc:spChg chg="del">
          <ac:chgData name="Andrea Yohana Cortes Mojica" userId="3b47afde-b427-4a15-a20d-d0a4df45be35" providerId="ADAL" clId="{301344BA-98AF-57C8-8621-F88E4D1A30F3}" dt="2026-02-27T23:46:26.980" v="26" actId="478"/>
          <ac:spMkLst>
            <pc:docMk/>
            <pc:sldMk cId="2570951215" sldId="581"/>
            <ac:spMk id="4" creationId="{00000000-0000-0000-0000-000000000000}"/>
          </ac:spMkLst>
        </pc:spChg>
        <pc:spChg chg="add mod">
          <ac:chgData name="Andrea Yohana Cortes Mojica" userId="3b47afde-b427-4a15-a20d-d0a4df45be35" providerId="ADAL" clId="{301344BA-98AF-57C8-8621-F88E4D1A30F3}" dt="2026-02-27T23:46:28.148" v="27"/>
          <ac:spMkLst>
            <pc:docMk/>
            <pc:sldMk cId="2570951215" sldId="581"/>
            <ac:spMk id="7" creationId="{E421A058-F4C4-DBF1-2C7B-5CAAA7D53965}"/>
          </ac:spMkLst>
        </pc:spChg>
      </pc:sldChg>
      <pc:sldChg chg="addSp delSp modSp mod">
        <pc:chgData name="Andrea Yohana Cortes Mojica" userId="3b47afde-b427-4a15-a20d-d0a4df45be35" providerId="ADAL" clId="{301344BA-98AF-57C8-8621-F88E4D1A30F3}" dt="2026-02-27T23:47:24.467" v="47"/>
        <pc:sldMkLst>
          <pc:docMk/>
          <pc:sldMk cId="1206319590" sldId="594"/>
        </pc:sldMkLst>
        <pc:spChg chg="del">
          <ac:chgData name="Andrea Yohana Cortes Mojica" userId="3b47afde-b427-4a15-a20d-d0a4df45be35" providerId="ADAL" clId="{301344BA-98AF-57C8-8621-F88E4D1A30F3}" dt="2026-02-27T23:47:23.195" v="46" actId="478"/>
          <ac:spMkLst>
            <pc:docMk/>
            <pc:sldMk cId="1206319590" sldId="594"/>
            <ac:spMk id="4" creationId="{00000000-0000-0000-0000-000000000000}"/>
          </ac:spMkLst>
        </pc:spChg>
        <pc:spChg chg="add mod">
          <ac:chgData name="Andrea Yohana Cortes Mojica" userId="3b47afde-b427-4a15-a20d-d0a4df45be35" providerId="ADAL" clId="{301344BA-98AF-57C8-8621-F88E4D1A30F3}" dt="2026-02-27T23:47:24.467" v="47"/>
          <ac:spMkLst>
            <pc:docMk/>
            <pc:sldMk cId="1206319590" sldId="594"/>
            <ac:spMk id="7" creationId="{01496BE9-6F06-D301-E21B-21E86E83BE30}"/>
          </ac:spMkLst>
        </pc:spChg>
      </pc:sldChg>
      <pc:sldChg chg="addSp delSp modSp mod">
        <pc:chgData name="Andrea Yohana Cortes Mojica" userId="3b47afde-b427-4a15-a20d-d0a4df45be35" providerId="ADAL" clId="{301344BA-98AF-57C8-8621-F88E4D1A30F3}" dt="2026-02-27T23:47:31.194" v="49"/>
        <pc:sldMkLst>
          <pc:docMk/>
          <pc:sldMk cId="1521903875" sldId="595"/>
        </pc:sldMkLst>
        <pc:spChg chg="del">
          <ac:chgData name="Andrea Yohana Cortes Mojica" userId="3b47afde-b427-4a15-a20d-d0a4df45be35" providerId="ADAL" clId="{301344BA-98AF-57C8-8621-F88E4D1A30F3}" dt="2026-02-27T23:47:29.535" v="48" actId="478"/>
          <ac:spMkLst>
            <pc:docMk/>
            <pc:sldMk cId="1521903875" sldId="595"/>
            <ac:spMk id="4" creationId="{00000000-0000-0000-0000-000000000000}"/>
          </ac:spMkLst>
        </pc:spChg>
        <pc:spChg chg="add mod">
          <ac:chgData name="Andrea Yohana Cortes Mojica" userId="3b47afde-b427-4a15-a20d-d0a4df45be35" providerId="ADAL" clId="{301344BA-98AF-57C8-8621-F88E4D1A30F3}" dt="2026-02-27T23:47:31.194" v="49"/>
          <ac:spMkLst>
            <pc:docMk/>
            <pc:sldMk cId="1521903875" sldId="595"/>
            <ac:spMk id="8" creationId="{D24A23D0-02E6-58AC-45C1-4489A2B7CFC7}"/>
          </ac:spMkLst>
        </pc:spChg>
      </pc:sldChg>
      <pc:sldChg chg="addSp delSp modSp mod">
        <pc:chgData name="Andrea Yohana Cortes Mojica" userId="3b47afde-b427-4a15-a20d-d0a4df45be35" providerId="ADAL" clId="{301344BA-98AF-57C8-8621-F88E4D1A30F3}" dt="2026-02-27T23:45:29.661" v="9"/>
        <pc:sldMkLst>
          <pc:docMk/>
          <pc:sldMk cId="2219990151" sldId="600"/>
        </pc:sldMkLst>
        <pc:spChg chg="del">
          <ac:chgData name="Andrea Yohana Cortes Mojica" userId="3b47afde-b427-4a15-a20d-d0a4df45be35" providerId="ADAL" clId="{301344BA-98AF-57C8-8621-F88E4D1A30F3}" dt="2026-02-27T23:45:27.925" v="8" actId="478"/>
          <ac:spMkLst>
            <pc:docMk/>
            <pc:sldMk cId="2219990151" sldId="600"/>
            <ac:spMk id="4" creationId="{00000000-0000-0000-0000-000000000000}"/>
          </ac:spMkLst>
        </pc:spChg>
        <pc:spChg chg="add mod">
          <ac:chgData name="Andrea Yohana Cortes Mojica" userId="3b47afde-b427-4a15-a20d-d0a4df45be35" providerId="ADAL" clId="{301344BA-98AF-57C8-8621-F88E4D1A30F3}" dt="2026-02-27T23:45:29.661" v="9"/>
          <ac:spMkLst>
            <pc:docMk/>
            <pc:sldMk cId="2219990151" sldId="600"/>
            <ac:spMk id="5" creationId="{3CA76498-34DC-FE39-7752-4E5E9544629C}"/>
          </ac:spMkLst>
        </pc:spChg>
      </pc:sldChg>
      <pc:sldChg chg="addSp delSp modSp mod">
        <pc:chgData name="Andrea Yohana Cortes Mojica" userId="3b47afde-b427-4a15-a20d-d0a4df45be35" providerId="ADAL" clId="{301344BA-98AF-57C8-8621-F88E4D1A30F3}" dt="2026-02-27T23:46:23.440" v="25"/>
        <pc:sldMkLst>
          <pc:docMk/>
          <pc:sldMk cId="2016188895" sldId="601"/>
        </pc:sldMkLst>
        <pc:spChg chg="del">
          <ac:chgData name="Andrea Yohana Cortes Mojica" userId="3b47afde-b427-4a15-a20d-d0a4df45be35" providerId="ADAL" clId="{301344BA-98AF-57C8-8621-F88E4D1A30F3}" dt="2026-02-27T23:46:22.395" v="24" actId="478"/>
          <ac:spMkLst>
            <pc:docMk/>
            <pc:sldMk cId="2016188895" sldId="601"/>
            <ac:spMk id="4" creationId="{00000000-0000-0000-0000-000000000000}"/>
          </ac:spMkLst>
        </pc:spChg>
        <pc:spChg chg="add mod">
          <ac:chgData name="Andrea Yohana Cortes Mojica" userId="3b47afde-b427-4a15-a20d-d0a4df45be35" providerId="ADAL" clId="{301344BA-98AF-57C8-8621-F88E4D1A30F3}" dt="2026-02-27T23:46:23.440" v="25"/>
          <ac:spMkLst>
            <pc:docMk/>
            <pc:sldMk cId="2016188895" sldId="601"/>
            <ac:spMk id="5" creationId="{006F22D2-55A6-281E-1156-E7314C437CAB}"/>
          </ac:spMkLst>
        </pc:spChg>
      </pc:sldChg>
      <pc:sldChg chg="addSp delSp modSp mod">
        <pc:chgData name="Andrea Yohana Cortes Mojica" userId="3b47afde-b427-4a15-a20d-d0a4df45be35" providerId="ADAL" clId="{301344BA-98AF-57C8-8621-F88E4D1A30F3}" dt="2026-02-27T23:46:44.898" v="33"/>
        <pc:sldMkLst>
          <pc:docMk/>
          <pc:sldMk cId="2580651105" sldId="603"/>
        </pc:sldMkLst>
        <pc:spChg chg="del">
          <ac:chgData name="Andrea Yohana Cortes Mojica" userId="3b47afde-b427-4a15-a20d-d0a4df45be35" providerId="ADAL" clId="{301344BA-98AF-57C8-8621-F88E4D1A30F3}" dt="2026-02-27T23:46:43.676" v="32" actId="478"/>
          <ac:spMkLst>
            <pc:docMk/>
            <pc:sldMk cId="2580651105" sldId="603"/>
            <ac:spMk id="4" creationId="{00000000-0000-0000-0000-000000000000}"/>
          </ac:spMkLst>
        </pc:spChg>
        <pc:spChg chg="add mod">
          <ac:chgData name="Andrea Yohana Cortes Mojica" userId="3b47afde-b427-4a15-a20d-d0a4df45be35" providerId="ADAL" clId="{301344BA-98AF-57C8-8621-F88E4D1A30F3}" dt="2026-02-27T23:46:44.898" v="33"/>
          <ac:spMkLst>
            <pc:docMk/>
            <pc:sldMk cId="2580651105" sldId="603"/>
            <ac:spMk id="5" creationId="{13BF75ED-6E5F-5FC3-AE87-3B2552EB95C5}"/>
          </ac:spMkLst>
        </pc:spChg>
      </pc:sldChg>
      <pc:sldChg chg="addSp delSp modSp mod">
        <pc:chgData name="Andrea Yohana Cortes Mojica" userId="3b47afde-b427-4a15-a20d-d0a4df45be35" providerId="ADAL" clId="{301344BA-98AF-57C8-8621-F88E4D1A30F3}" dt="2026-02-27T23:47:03.637" v="39"/>
        <pc:sldMkLst>
          <pc:docMk/>
          <pc:sldMk cId="875624470" sldId="604"/>
        </pc:sldMkLst>
        <pc:spChg chg="del">
          <ac:chgData name="Andrea Yohana Cortes Mojica" userId="3b47afde-b427-4a15-a20d-d0a4df45be35" providerId="ADAL" clId="{301344BA-98AF-57C8-8621-F88E4D1A30F3}" dt="2026-02-27T23:47:02.345" v="38" actId="478"/>
          <ac:spMkLst>
            <pc:docMk/>
            <pc:sldMk cId="875624470" sldId="604"/>
            <ac:spMk id="4" creationId="{00000000-0000-0000-0000-000000000000}"/>
          </ac:spMkLst>
        </pc:spChg>
        <pc:spChg chg="add mod">
          <ac:chgData name="Andrea Yohana Cortes Mojica" userId="3b47afde-b427-4a15-a20d-d0a4df45be35" providerId="ADAL" clId="{301344BA-98AF-57C8-8621-F88E4D1A30F3}" dt="2026-02-27T23:47:03.637" v="39"/>
          <ac:spMkLst>
            <pc:docMk/>
            <pc:sldMk cId="875624470" sldId="604"/>
            <ac:spMk id="5" creationId="{FE01204C-82E9-5332-6560-BEA219A67894}"/>
          </ac:spMkLst>
        </pc:spChg>
      </pc:sldChg>
      <pc:sldChg chg="addSp delSp modSp mod">
        <pc:chgData name="Andrea Yohana Cortes Mojica" userId="3b47afde-b427-4a15-a20d-d0a4df45be35" providerId="ADAL" clId="{301344BA-98AF-57C8-8621-F88E4D1A30F3}" dt="2026-02-27T23:47:19.582" v="45"/>
        <pc:sldMkLst>
          <pc:docMk/>
          <pc:sldMk cId="3539093215" sldId="605"/>
        </pc:sldMkLst>
        <pc:spChg chg="del">
          <ac:chgData name="Andrea Yohana Cortes Mojica" userId="3b47afde-b427-4a15-a20d-d0a4df45be35" providerId="ADAL" clId="{301344BA-98AF-57C8-8621-F88E4D1A30F3}" dt="2026-02-27T23:47:18.357" v="44" actId="478"/>
          <ac:spMkLst>
            <pc:docMk/>
            <pc:sldMk cId="3539093215" sldId="605"/>
            <ac:spMk id="4" creationId="{00000000-0000-0000-0000-000000000000}"/>
          </ac:spMkLst>
        </pc:spChg>
        <pc:spChg chg="add mod">
          <ac:chgData name="Andrea Yohana Cortes Mojica" userId="3b47afde-b427-4a15-a20d-d0a4df45be35" providerId="ADAL" clId="{301344BA-98AF-57C8-8621-F88E4D1A30F3}" dt="2026-02-27T23:47:19.582" v="45"/>
          <ac:spMkLst>
            <pc:docMk/>
            <pc:sldMk cId="3539093215" sldId="605"/>
            <ac:spMk id="5" creationId="{E1E2BE17-9DF8-BD1E-74A9-DF66EEFECD5D}"/>
          </ac:spMkLst>
        </pc:spChg>
      </pc:sldChg>
      <pc:sldChg chg="addSp delSp modSp mod">
        <pc:chgData name="Andrea Yohana Cortes Mojica" userId="3b47afde-b427-4a15-a20d-d0a4df45be35" providerId="ADAL" clId="{301344BA-98AF-57C8-8621-F88E4D1A30F3}" dt="2026-02-27T23:47:37.297" v="51"/>
        <pc:sldMkLst>
          <pc:docMk/>
          <pc:sldMk cId="2131042824" sldId="606"/>
        </pc:sldMkLst>
        <pc:spChg chg="del">
          <ac:chgData name="Andrea Yohana Cortes Mojica" userId="3b47afde-b427-4a15-a20d-d0a4df45be35" providerId="ADAL" clId="{301344BA-98AF-57C8-8621-F88E4D1A30F3}" dt="2026-02-27T23:47:36.025" v="50" actId="478"/>
          <ac:spMkLst>
            <pc:docMk/>
            <pc:sldMk cId="2131042824" sldId="606"/>
            <ac:spMk id="4" creationId="{150E6FC8-9AD4-CA8F-2378-B1A727C2A1DC}"/>
          </ac:spMkLst>
        </pc:spChg>
        <pc:spChg chg="add mod">
          <ac:chgData name="Andrea Yohana Cortes Mojica" userId="3b47afde-b427-4a15-a20d-d0a4df45be35" providerId="ADAL" clId="{301344BA-98AF-57C8-8621-F88E4D1A30F3}" dt="2026-02-27T23:47:37.297" v="51"/>
          <ac:spMkLst>
            <pc:docMk/>
            <pc:sldMk cId="2131042824" sldId="606"/>
            <ac:spMk id="5" creationId="{CA90868A-51AE-1D33-0783-FECB5DCBC6AD}"/>
          </ac:spMkLst>
        </pc:spChg>
      </pc:sldChg>
      <pc:sldChg chg="addSp delSp modSp del mod">
        <pc:chgData name="Andrea Yohana Cortes Mojica" userId="3b47afde-b427-4a15-a20d-d0a4df45be35" providerId="ADAL" clId="{301344BA-98AF-57C8-8621-F88E4D1A30F3}" dt="2026-02-27T23:48:41.423" v="54" actId="2696"/>
        <pc:sldMkLst>
          <pc:docMk/>
          <pc:sldMk cId="3307055851" sldId="607"/>
        </pc:sldMkLst>
        <pc:spChg chg="add mod">
          <ac:chgData name="Andrea Yohana Cortes Mojica" userId="3b47afde-b427-4a15-a20d-d0a4df45be35" providerId="ADAL" clId="{301344BA-98AF-57C8-8621-F88E4D1A30F3}" dt="2026-02-27T23:47:42.726" v="53"/>
          <ac:spMkLst>
            <pc:docMk/>
            <pc:sldMk cId="3307055851" sldId="607"/>
            <ac:spMk id="3" creationId="{2FD7D29B-A511-0C85-0150-2DE1141F277E}"/>
          </ac:spMkLst>
        </pc:spChg>
        <pc:spChg chg="del">
          <ac:chgData name="Andrea Yohana Cortes Mojica" userId="3b47afde-b427-4a15-a20d-d0a4df45be35" providerId="ADAL" clId="{301344BA-98AF-57C8-8621-F88E4D1A30F3}" dt="2026-02-27T23:47:41.351" v="52" actId="478"/>
          <ac:spMkLst>
            <pc:docMk/>
            <pc:sldMk cId="3307055851" sldId="607"/>
            <ac:spMk id="4" creationId="{8801222D-FE19-9F6E-7CE8-F4FC5260793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7909239-6EB4-4F64-9166-01BA8CB152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a:extLst>
              <a:ext uri="{FF2B5EF4-FFF2-40B4-BE49-F238E27FC236}">
                <a16:creationId xmlns:a16="http://schemas.microsoft.com/office/drawing/2014/main" id="{C0D4A5E1-CC2B-4E68-93DE-1741C2D8F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EBC9B1-33DC-462F-829C-1E37E99682B9}" type="datetimeFigureOut">
              <a:rPr lang="es-CO" smtClean="0"/>
              <a:t>27/02/26</a:t>
            </a:fld>
            <a:endParaRPr lang="es-CO"/>
          </a:p>
        </p:txBody>
      </p:sp>
      <p:sp>
        <p:nvSpPr>
          <p:cNvPr id="4" name="Marcador de pie de página 3">
            <a:extLst>
              <a:ext uri="{FF2B5EF4-FFF2-40B4-BE49-F238E27FC236}">
                <a16:creationId xmlns:a16="http://schemas.microsoft.com/office/drawing/2014/main" id="{36E42B93-8418-4C73-AFC5-AD8733D56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BF5AB0F-F981-4352-8DA3-CAD02A4EF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216A6-D02D-421D-81B5-58C62FCB13EF}" type="slidenum">
              <a:rPr lang="es-CO" smtClean="0"/>
              <a:t>‹#›</a:t>
            </a:fld>
            <a:endParaRPr lang="es-CO"/>
          </a:p>
        </p:txBody>
      </p:sp>
    </p:spTree>
    <p:extLst>
      <p:ext uri="{BB962C8B-B14F-4D97-AF65-F5344CB8AC3E}">
        <p14:creationId xmlns:p14="http://schemas.microsoft.com/office/powerpoint/2010/main" val="30942476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ED2E0-4743-4E03-93B8-12386FF60236}" type="datetimeFigureOut">
              <a:rPr lang="es-CO" smtClean="0"/>
              <a:t>27/02/26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B8670-524E-4520-AA44-FE672760293D}" type="slidenum">
              <a:rPr lang="es-CO" smtClean="0"/>
              <a:t>‹#›</a:t>
            </a:fld>
            <a:endParaRPr lang="es-CO"/>
          </a:p>
        </p:txBody>
      </p:sp>
    </p:spTree>
    <p:extLst>
      <p:ext uri="{BB962C8B-B14F-4D97-AF65-F5344CB8AC3E}">
        <p14:creationId xmlns:p14="http://schemas.microsoft.com/office/powerpoint/2010/main" val="30442586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Tree>
    <p:extLst>
      <p:ext uri="{BB962C8B-B14F-4D97-AF65-F5344CB8AC3E}">
        <p14:creationId xmlns:p14="http://schemas.microsoft.com/office/powerpoint/2010/main" val="21905806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MX"/>
              <a:t>Haz clic para modificar el estilo de título del patrón</a:t>
            </a:r>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AFD365D-553E-437E-906F-693C2E6CE28D}" type="datetime1">
              <a:rPr lang="en-US" smtClean="0"/>
              <a:t>2/27/26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3536438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Content Placeholder 2"/>
          <p:cNvSpPr>
            <a:spLocks noGrp="1"/>
          </p:cNvSpPr>
          <p:nvPr>
            <p:ph idx="1"/>
          </p:nvPr>
        </p:nvSpPr>
        <p:spPr>
          <a:xfrm>
            <a:off x="581192" y="2180496"/>
            <a:ext cx="11029615" cy="3678303"/>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A523018D-1CC0-468E-BE3B-579A148A0691}" type="datetime1">
              <a:rPr lang="en-US" smtClean="0"/>
              <a:t>2/27/26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749519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MX"/>
              <a:t>Haz clic para modificar el estilo de título del patrón</a:t>
            </a:r>
            <a:endParaRPr lang="en-US"/>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E7F702F-46BE-40AA-9A05-7C69E0403EE7}" type="datetime1">
              <a:rPr lang="en-US" smtClean="0"/>
              <a:t>2/27/26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973588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Date Placeholder 4"/>
          <p:cNvSpPr>
            <a:spLocks noGrp="1"/>
          </p:cNvSpPr>
          <p:nvPr>
            <p:ph type="dt" sz="half" idx="10"/>
          </p:nvPr>
        </p:nvSpPr>
        <p:spPr/>
        <p:txBody>
          <a:bodyPr/>
          <a:lstStyle/>
          <a:p>
            <a:fld id="{C51F0D08-E4F7-43DB-810A-34BADF6468F7}" type="datetime1">
              <a:rPr lang="en-US" smtClean="0"/>
              <a:t>2/27/26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526797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7" name="Date Placeholder 6"/>
          <p:cNvSpPr>
            <a:spLocks noGrp="1"/>
          </p:cNvSpPr>
          <p:nvPr>
            <p:ph type="dt" sz="half" idx="10"/>
          </p:nvPr>
        </p:nvSpPr>
        <p:spPr/>
        <p:txBody>
          <a:bodyPr/>
          <a:lstStyle/>
          <a:p>
            <a:fld id="{ADFE1DAC-EC09-4DEA-BBB4-788DDBA09515}" type="datetime1">
              <a:rPr lang="en-US" smtClean="0"/>
              <a:t>2/27/26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827295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MX"/>
              <a:t>Haz clic para modificar el estilo de título del patrón</a:t>
            </a:r>
            <a:endParaRPr lang="en-US"/>
          </a:p>
        </p:txBody>
      </p:sp>
      <p:sp>
        <p:nvSpPr>
          <p:cNvPr id="3" name="Date Placeholder 2"/>
          <p:cNvSpPr>
            <a:spLocks noGrp="1"/>
          </p:cNvSpPr>
          <p:nvPr>
            <p:ph type="dt" sz="half" idx="10"/>
          </p:nvPr>
        </p:nvSpPr>
        <p:spPr/>
        <p:txBody>
          <a:bodyPr/>
          <a:lstStyle/>
          <a:p>
            <a:fld id="{A9BFF582-E74C-4A8A-87B2-214B0CF47F99}" type="datetime1">
              <a:rPr lang="en-US" smtClean="0"/>
              <a:t>2/27/26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290310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C8AEA-E303-4B9D-B167-0A45CB59E0C2}" type="datetime1">
              <a:rPr lang="en-US" smtClean="0"/>
              <a:t>2/27/26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277085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MX"/>
              <a:t>Haz clic para modificar el estilo de título del patrón</a:t>
            </a:r>
            <a:endParaRPr lang="en-US"/>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BE2AAB-C9FD-4A72-8C62-A7C81FA189B4}" type="datetime1">
              <a:rPr lang="en-US" smtClean="0"/>
              <a:t>2/27/26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707587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MX"/>
              <a:t>Haz clic para modificar el estilo de título del patrón</a:t>
            </a:r>
            <a:endParaRPr lang="en-US"/>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F4D9D4CC-5FC5-4711-9ACC-A7971700D612}" type="datetime1">
              <a:rPr lang="en-US" smtClean="0"/>
              <a:t>2/27/26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9309465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5326DF8C-FC0D-41BB-BB53-20BBB44E4230}" type="datetime1">
              <a:rPr lang="en-US" smtClean="0"/>
              <a:t>2/27/26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5403792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MX"/>
              <a:t>Haz clic para modificar el estilo de título del patrón</a:t>
            </a:r>
            <a:endParaRPr lang="en-US"/>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119C4A7-5D51-4E42-9C0C-1785329211C5}" type="datetime1">
              <a:rPr lang="en-US" smtClean="0"/>
              <a:t>2/27/26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580483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MX"/>
              <a:t>Haz clic para modificar el estilo de título del patrón</a:t>
            </a:r>
            <a:endParaRPr lang="en-US"/>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027E5A-4482-46C4-A2DC-45BEF00C1E0A}" type="datetime1">
              <a:rPr lang="en-US" smtClean="0"/>
              <a:t>2/27/26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Tree>
    <p:extLst>
      <p:ext uri="{BB962C8B-B14F-4D97-AF65-F5344CB8AC3E}">
        <p14:creationId xmlns:p14="http://schemas.microsoft.com/office/powerpoint/2010/main" val="3105486307"/>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34957" y="3342889"/>
            <a:ext cx="2695807" cy="2695807"/>
          </a:xfrm>
          <a:prstGeom prst="rect">
            <a:avLst/>
          </a:prstGeom>
        </p:spPr>
      </p:pic>
      <p:sp>
        <p:nvSpPr>
          <p:cNvPr id="7" name="Título 1">
            <a:extLst>
              <a:ext uri="{FF2B5EF4-FFF2-40B4-BE49-F238E27FC236}">
                <a16:creationId xmlns:a16="http://schemas.microsoft.com/office/drawing/2014/main" id="{AFAE655F-47FC-595E-9DE1-7E8449F70A26}"/>
              </a:ext>
            </a:extLst>
          </p:cNvPr>
          <p:cNvSpPr>
            <a:spLocks noGrp="1"/>
          </p:cNvSpPr>
          <p:nvPr>
            <p:ph type="ctrTitle"/>
          </p:nvPr>
        </p:nvSpPr>
        <p:spPr>
          <a:xfrm>
            <a:off x="470868" y="1814732"/>
            <a:ext cx="11266506" cy="826833"/>
          </a:xfrm>
        </p:spPr>
        <p:txBody>
          <a:bodyPr>
            <a:noAutofit/>
          </a:bodyPr>
          <a:lstStyle/>
          <a:p>
            <a:r>
              <a:rPr lang="es-CO" sz="3200">
                <a:latin typeface="Century Gothic"/>
                <a:ea typeface="+mj-lt"/>
                <a:cs typeface="+mj-lt"/>
              </a:rPr>
              <a:t>LA CONSTRUCCIÓN DEL FLUJO DE CAJA LIBRE DE un PROYECTO (</a:t>
            </a:r>
            <a:r>
              <a:rPr lang="es-CO" sz="3200">
                <a:solidFill>
                  <a:srgbClr val="D7A700"/>
                </a:solidFill>
                <a:latin typeface="Century Gothic"/>
                <a:ea typeface="+mj-lt"/>
                <a:cs typeface="+mj-lt"/>
              </a:rPr>
              <a:t>PARTE </a:t>
            </a:r>
            <a:r>
              <a:rPr lang="es-CO" sz="3200" err="1">
                <a:solidFill>
                  <a:srgbClr val="D7A700"/>
                </a:solidFill>
                <a:latin typeface="Century Gothic"/>
                <a:ea typeface="+mj-lt"/>
                <a:cs typeface="+mj-lt"/>
              </a:rPr>
              <a:t>iv</a:t>
            </a:r>
            <a:r>
              <a:rPr lang="es-CO" sz="3200">
                <a:latin typeface="Century Gothic"/>
                <a:ea typeface="+mj-lt"/>
                <a:cs typeface="+mj-lt"/>
              </a:rPr>
              <a:t>)</a:t>
            </a:r>
            <a:endParaRPr lang="es-ES" sz="3200">
              <a:latin typeface="Century Gothic"/>
            </a:endParaRPr>
          </a:p>
        </p:txBody>
      </p:sp>
      <p:sp>
        <p:nvSpPr>
          <p:cNvPr id="2" name="CuadroTexto 1">
            <a:extLst>
              <a:ext uri="{FF2B5EF4-FFF2-40B4-BE49-F238E27FC236}">
                <a16:creationId xmlns:a16="http://schemas.microsoft.com/office/drawing/2014/main" id="{3343CD18-AEE0-3212-4F7B-15B4936D1648}"/>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
        <p:nvSpPr>
          <p:cNvPr id="3" name="Rectángulo 2">
            <a:extLst>
              <a:ext uri="{FF2B5EF4-FFF2-40B4-BE49-F238E27FC236}">
                <a16:creationId xmlns:a16="http://schemas.microsoft.com/office/drawing/2014/main" id="{6CFDF678-9722-1077-FD51-67928079CE3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142674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3"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3785652"/>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accent1"/>
                </a:solidFill>
                <a:latin typeface="Century Gothic"/>
                <a:cs typeface="Arial"/>
              </a:rPr>
              <a:t>Ingresos y Costos Pertinentes.</a:t>
            </a:r>
            <a:endParaRPr lang="es-ES" sz="1600">
              <a:solidFill>
                <a:schemeClr val="accent1"/>
              </a:solidFill>
              <a:latin typeface="Century Gothic"/>
              <a:cs typeface="Arial"/>
            </a:endParaRPr>
          </a:p>
          <a:p>
            <a:pPr marL="342900" indent="-342900">
              <a:buClr>
                <a:srgbClr val="2C7C9F"/>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Principio de Marginalidad.</a:t>
            </a:r>
            <a:endParaRPr lang="es-CO" sz="1600">
              <a:solidFill>
                <a:schemeClr val="accent1"/>
              </a:solidFill>
              <a:latin typeface="Century Gothic"/>
            </a:endParaRPr>
          </a:p>
          <a:p>
            <a:pPr marL="342900" indent="-342900">
              <a:buClr>
                <a:srgbClr val="48BE7A"/>
              </a:buClr>
              <a:buFontTx/>
              <a:buAutoNum type="arabicPeriod"/>
            </a:pPr>
            <a:endParaRPr lang="es-CO" sz="1600">
              <a:solidFill>
                <a:schemeClr val="accent1"/>
              </a:solidFill>
              <a:latin typeface="Century Gothic"/>
            </a:endParaRPr>
          </a:p>
          <a:p>
            <a:pPr marL="342900" indent="-342900">
              <a:buClr>
                <a:srgbClr val="48BE7A"/>
              </a:buClr>
              <a:buFontTx/>
              <a:buAutoNum type="arabicPeriod"/>
            </a:pPr>
            <a:r>
              <a:rPr lang="es-CO" sz="1600">
                <a:solidFill>
                  <a:schemeClr val="accent1"/>
                </a:solidFill>
                <a:latin typeface="Century Gothic"/>
                <a:cs typeface="Arial"/>
              </a:rPr>
              <a:t>Precios de Mercado.</a:t>
            </a:r>
            <a:endParaRPr lang="es-CO" sz="1600">
              <a:solidFill>
                <a:schemeClr val="accent1"/>
              </a:solidFill>
              <a:latin typeface="Century Gothic"/>
            </a:endParaRP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Costos Muertos.</a:t>
            </a:r>
            <a:endParaRPr lang="es-CO" sz="1600">
              <a:solidFill>
                <a:schemeClr val="accent1"/>
              </a:solidFill>
              <a:latin typeface="Century Gothic" panose="020B0502020202020204" pitchFamily="34" charset="0"/>
              <a:cs typeface="Arial"/>
            </a:endParaRPr>
          </a:p>
          <a:p>
            <a:pPr marL="342900" indent="-342900">
              <a:buClr>
                <a:srgbClr val="48BE7A"/>
              </a:buClr>
              <a:buAutoNum type="arabicPeriod"/>
            </a:pPr>
            <a:endParaRPr lang="es-CO" sz="1600">
              <a:solidFill>
                <a:schemeClr val="accent1"/>
              </a:solidFill>
              <a:latin typeface="Century Gothic" panose="020B0502020202020204" pitchFamily="34" charset="0"/>
              <a:cs typeface="Arial"/>
            </a:endParaRPr>
          </a:p>
          <a:p>
            <a:pPr marL="342900" indent="-342900">
              <a:buClr>
                <a:srgbClr val="48BE7A"/>
              </a:buClr>
              <a:buAutoNum type="arabicPeriod"/>
            </a:pPr>
            <a:r>
              <a:rPr lang="es-CO" sz="1600">
                <a:solidFill>
                  <a:schemeClr val="accent1"/>
                </a:solidFill>
                <a:latin typeface="Century Gothic"/>
                <a:cs typeface="Arial"/>
              </a:rPr>
              <a:t>Ingresos y Egresos Operacionales.</a:t>
            </a:r>
          </a:p>
          <a:p>
            <a:pPr marL="342900" indent="-342900">
              <a:buClr>
                <a:srgbClr val="48BE7A"/>
              </a:buClr>
              <a:buAutoNum type="arabicPeriod"/>
            </a:pPr>
            <a:endParaRPr lang="es-CO" sz="1600">
              <a:solidFill>
                <a:schemeClr val="accent1"/>
              </a:solidFill>
              <a:latin typeface="Century Gothic"/>
              <a:cs typeface="Arial"/>
            </a:endParaRPr>
          </a:p>
          <a:p>
            <a:pPr marL="342900" indent="-342900">
              <a:buClr>
                <a:srgbClr val="48BE7A"/>
              </a:buClr>
              <a:buAutoNum type="arabicPeriod"/>
            </a:pPr>
            <a:r>
              <a:rPr lang="es-CO" sz="1600">
                <a:solidFill>
                  <a:schemeClr val="accent1"/>
                </a:solidFill>
                <a:latin typeface="Century Gothic"/>
                <a:cs typeface="Arial"/>
              </a:rPr>
              <a:t>Ejercicio FCL.</a:t>
            </a:r>
          </a:p>
          <a:p>
            <a:pPr marL="342900" indent="-342900">
              <a:buClr>
                <a:srgbClr val="48BE7A"/>
              </a:buClr>
              <a:buAutoNum type="arabicPeriod"/>
            </a:pPr>
            <a:endParaRPr lang="es-CO" sz="1600">
              <a:solidFill>
                <a:schemeClr val="accent1"/>
              </a:solidFill>
              <a:latin typeface="Century Gothic"/>
              <a:cs typeface="Arial"/>
            </a:endParaRPr>
          </a:p>
          <a:p>
            <a:pPr marL="342900" indent="-342900">
              <a:buClr>
                <a:srgbClr val="48BE7A"/>
              </a:buClr>
              <a:buAutoNum type="arabicPeriod"/>
            </a:pPr>
            <a:endParaRPr lang="es-CO" sz="1600">
              <a:solidFill>
                <a:schemeClr val="accent1"/>
              </a:solidFill>
              <a:latin typeface="Century Gothic" panose="020B0502020202020204" pitchFamily="34" charset="0"/>
              <a:cs typeface="Arial"/>
            </a:endParaRPr>
          </a:p>
          <a:p>
            <a:pPr marL="342900" indent="-342900">
              <a:buClr>
                <a:srgbClr val="48BE7A"/>
              </a:buClr>
              <a:buAutoNum type="arabicPeriod"/>
            </a:pPr>
            <a:endParaRPr lang="es-CO" sz="1600">
              <a:solidFill>
                <a:schemeClr val="accent1"/>
              </a:solidFill>
              <a:latin typeface="Century Gothic" panose="020B0502020202020204" pitchFamily="34" charset="0"/>
              <a:cs typeface="Arial"/>
            </a:endParaRPr>
          </a:p>
          <a:p>
            <a:pPr>
              <a:buClr>
                <a:srgbClr val="88D5A9">
                  <a:lumMod val="75000"/>
                </a:srgbClr>
              </a:buClr>
            </a:pPr>
            <a:endParaRPr lang="es-CO" sz="1600">
              <a:solidFill>
                <a:schemeClr val="accent1"/>
              </a:solidFill>
              <a:latin typeface="Century Gothic" panose="020B0502020202020204" pitchFamily="34" charset="0"/>
              <a:cs typeface="Arial"/>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FB296500-B955-0B0A-3CA2-209FDD70A25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5497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3539430"/>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accent1"/>
                </a:solidFill>
                <a:latin typeface="Century Gothic"/>
                <a:cs typeface="Arial"/>
              </a:rPr>
              <a:t>Ingresos y Costos Pertinentes.</a:t>
            </a:r>
            <a:endParaRPr lang="es-ES" sz="1600">
              <a:solidFill>
                <a:schemeClr val="accent1"/>
              </a:solidFill>
              <a:latin typeface="Century Gothic"/>
              <a:cs typeface="Arial"/>
            </a:endParaRPr>
          </a:p>
          <a:p>
            <a:pPr marL="342900" indent="-342900">
              <a:buClr>
                <a:srgbClr val="2C7C9F"/>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bg2">
                    <a:lumMod val="90000"/>
                  </a:schemeClr>
                </a:solidFill>
                <a:latin typeface="Century Gothic"/>
                <a:cs typeface="Arial"/>
              </a:rPr>
              <a:t>Principio de Marginalidad.</a:t>
            </a:r>
            <a:endParaRPr lang="es-CO" sz="1600">
              <a:solidFill>
                <a:schemeClr val="bg2">
                  <a:lumMod val="90000"/>
                </a:schemeClr>
              </a:solidFill>
              <a:latin typeface="Century Gothic"/>
            </a:endParaRPr>
          </a:p>
          <a:p>
            <a:pPr marL="342900" indent="-342900">
              <a:buClr>
                <a:srgbClr val="48BE7A"/>
              </a:buClr>
              <a:buFontTx/>
              <a:buAutoNum type="arabicPeriod"/>
            </a:pPr>
            <a:endParaRPr lang="es-CO" sz="1600">
              <a:solidFill>
                <a:schemeClr val="bg2">
                  <a:lumMod val="90000"/>
                </a:schemeClr>
              </a:solidFill>
              <a:latin typeface="Century Gothic"/>
            </a:endParaRPr>
          </a:p>
          <a:p>
            <a:pPr marL="342900" indent="-342900">
              <a:buClr>
                <a:srgbClr val="48BE7A"/>
              </a:buClr>
              <a:buFontTx/>
              <a:buAutoNum type="arabicPeriod"/>
            </a:pPr>
            <a:r>
              <a:rPr lang="es-CO" sz="1600">
                <a:solidFill>
                  <a:schemeClr val="bg2">
                    <a:lumMod val="90000"/>
                  </a:schemeClr>
                </a:solidFill>
                <a:latin typeface="Century Gothic"/>
                <a:cs typeface="Arial"/>
              </a:rPr>
              <a:t>Precios de Mercado.</a:t>
            </a:r>
            <a:endParaRPr lang="es-CO" sz="1600">
              <a:solidFill>
                <a:schemeClr val="bg2">
                  <a:lumMod val="90000"/>
                </a:schemeClr>
              </a:solidFill>
              <a:latin typeface="Century Gothic"/>
            </a:endParaRPr>
          </a:p>
          <a:p>
            <a:pPr marL="342900" indent="-342900">
              <a:buClr>
                <a:srgbClr val="48BE7A"/>
              </a:buClr>
              <a:buFontTx/>
              <a:buAutoNum type="arabicPeriod"/>
            </a:pPr>
            <a:endParaRPr lang="es-CO" sz="1600">
              <a:solidFill>
                <a:schemeClr val="bg2">
                  <a:lumMod val="90000"/>
                </a:schemeClr>
              </a:solidFill>
              <a:latin typeface="Century Gothic"/>
              <a:cs typeface="Arial"/>
            </a:endParaRPr>
          </a:p>
          <a:p>
            <a:pPr marL="342900" indent="-342900">
              <a:buClr>
                <a:srgbClr val="48BE7A"/>
              </a:buClr>
              <a:buFontTx/>
              <a:buAutoNum type="arabicPeriod"/>
            </a:pPr>
            <a:r>
              <a:rPr lang="es-CO" sz="1600">
                <a:solidFill>
                  <a:schemeClr val="bg2">
                    <a:lumMod val="90000"/>
                  </a:schemeClr>
                </a:solidFill>
                <a:latin typeface="Century Gothic"/>
                <a:cs typeface="Arial"/>
              </a:rPr>
              <a:t>Costos Muertos.</a:t>
            </a:r>
            <a:endParaRPr lang="es-CO" sz="160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sz="160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1600">
                <a:solidFill>
                  <a:schemeClr val="bg2">
                    <a:lumMod val="90000"/>
                  </a:schemeClr>
                </a:solidFill>
                <a:latin typeface="Century Gothic"/>
                <a:cs typeface="Arial"/>
              </a:rPr>
              <a:t>Ingresos y Egresos Operacionales.</a:t>
            </a:r>
          </a:p>
          <a:p>
            <a:pPr marL="342900" indent="-342900">
              <a:buClr>
                <a:srgbClr val="48BE7A"/>
              </a:buClr>
              <a:buAutoNum type="arabicPeriod"/>
            </a:pPr>
            <a:endParaRPr lang="es-CO" sz="1600">
              <a:solidFill>
                <a:schemeClr val="bg2">
                  <a:lumMod val="90000"/>
                </a:schemeClr>
              </a:solidFill>
              <a:latin typeface="Century Gothic"/>
              <a:cs typeface="Arial"/>
            </a:endParaRPr>
          </a:p>
          <a:p>
            <a:pPr marL="342900" indent="-342900">
              <a:buClr>
                <a:srgbClr val="48BE7A"/>
              </a:buClr>
              <a:buAutoNum type="arabicPeriod"/>
            </a:pPr>
            <a:r>
              <a:rPr lang="es-CO" sz="1600">
                <a:solidFill>
                  <a:schemeClr val="bg2">
                    <a:lumMod val="90000"/>
                  </a:schemeClr>
                </a:solidFill>
                <a:latin typeface="Century Gothic"/>
                <a:cs typeface="Arial"/>
              </a:rPr>
              <a:t>Ejercicio FCL.</a:t>
            </a:r>
          </a:p>
          <a:p>
            <a:pPr marL="342900" indent="-342900">
              <a:buClr>
                <a:srgbClr val="48BE7A"/>
              </a:buClr>
              <a:buAutoNum type="arabicPeriod"/>
            </a:pPr>
            <a:endParaRPr lang="es-CO" sz="1600">
              <a:solidFill>
                <a:srgbClr val="366658"/>
              </a:solidFill>
              <a:latin typeface="Century Gothic" panose="020B0502020202020204" pitchFamily="34" charset="0"/>
              <a:cs typeface="Arial"/>
            </a:endParaRPr>
          </a:p>
          <a:p>
            <a:pPr marL="342900" indent="-342900">
              <a:buClr>
                <a:srgbClr val="48BE7A"/>
              </a:buClr>
              <a:buAutoNum type="arabicPeriod"/>
            </a:pPr>
            <a:endParaRPr lang="es-CO" sz="1600">
              <a:solidFill>
                <a:srgbClr val="366658"/>
              </a:solidFill>
              <a:latin typeface="Century Gothic" panose="020B0502020202020204" pitchFamily="34" charset="0"/>
              <a:cs typeface="Arial"/>
            </a:endParaRPr>
          </a:p>
          <a:p>
            <a:pPr>
              <a:buClr>
                <a:srgbClr val="88D5A9">
                  <a:lumMod val="75000"/>
                </a:srgbClr>
              </a:buClr>
            </a:pPr>
            <a:endParaRPr lang="es-CO" sz="1600">
              <a:solidFill>
                <a:schemeClr val="accent1"/>
              </a:solidFill>
              <a:latin typeface="Century Gothic" panose="020B0502020202020204" pitchFamily="34" charset="0"/>
              <a:cs typeface="Arial"/>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4CE27CD1-4209-A830-D687-D033572B3ED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3CA76498-34DC-FE39-7752-4E5E9544629C}"/>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a:t>
            </a:fld>
            <a:endParaRPr lang="en-US" sz="2000" b="1">
              <a:latin typeface="Century Gothic" panose="020B0502020202020204" pitchFamily="34" charset="0"/>
            </a:endParaRPr>
          </a:p>
        </p:txBody>
      </p:sp>
    </p:spTree>
    <p:extLst>
      <p:ext uri="{BB962C8B-B14F-4D97-AF65-F5344CB8AC3E}">
        <p14:creationId xmlns:p14="http://schemas.microsoft.com/office/powerpoint/2010/main" val="2219990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latin typeface="Century Gothic" panose="020B0502020202020204" pitchFamily="34" charset="0"/>
              </a:rPr>
              <a:t>Ingresos y Costos Pertinentes</a:t>
            </a:r>
          </a:p>
        </p:txBody>
      </p:sp>
      <p:sp>
        <p:nvSpPr>
          <p:cNvPr id="3" name="Marcador de contenido 2"/>
          <p:cNvSpPr>
            <a:spLocks noGrp="1"/>
          </p:cNvSpPr>
          <p:nvPr>
            <p:ph idx="1"/>
          </p:nvPr>
        </p:nvSpPr>
        <p:spPr>
          <a:xfrm>
            <a:off x="707758" y="2232838"/>
            <a:ext cx="11029615" cy="3923006"/>
          </a:xfrm>
        </p:spPr>
        <p:txBody>
          <a:bodyPr>
            <a:normAutofit/>
          </a:bodyPr>
          <a:lstStyle/>
          <a:p>
            <a:pPr marL="0" indent="0" algn="just">
              <a:buNone/>
            </a:pPr>
            <a:r>
              <a:rPr lang="es-ES" dirty="0">
                <a:solidFill>
                  <a:schemeClr val="accent1"/>
                </a:solidFill>
                <a:latin typeface="Century Gothic" panose="020B0502020202020204" pitchFamily="34" charset="0"/>
              </a:rPr>
              <a:t>Aunque el método indirecto para construir el FCL permite poca ambigüedad, es necesario identificar cuáles son los costos pertinentes que se deben incorporar a la hora de analizar un proyecto.</a:t>
            </a:r>
          </a:p>
          <a:p>
            <a:pPr marL="0" indent="0" algn="just">
              <a:buNone/>
            </a:pPr>
            <a:endParaRPr lang="es-ES" sz="1400" dirty="0"/>
          </a:p>
          <a:p>
            <a:pPr marL="0" indent="0" algn="just">
              <a:buNone/>
            </a:pPr>
            <a:endParaRPr lang="es-ES" sz="1400" dirty="0"/>
          </a:p>
          <a:p>
            <a:pPr lvl="1" algn="just">
              <a:buClr>
                <a:schemeClr val="accent3">
                  <a:lumMod val="75000"/>
                </a:schemeClr>
              </a:buClr>
              <a:buFont typeface="Wingdings" pitchFamily="2" charset="2"/>
              <a:buChar char="q"/>
            </a:pPr>
            <a:r>
              <a:rPr lang="es-ES" sz="1800" dirty="0">
                <a:solidFill>
                  <a:schemeClr val="accent1"/>
                </a:solidFill>
                <a:latin typeface="Century Gothic" panose="020B0502020202020204" pitchFamily="34" charset="0"/>
              </a:rPr>
              <a:t>Costos Variables.</a:t>
            </a:r>
          </a:p>
          <a:p>
            <a:pPr lvl="1" algn="just">
              <a:buClr>
                <a:schemeClr val="accent3">
                  <a:lumMod val="75000"/>
                </a:schemeClr>
              </a:buClr>
              <a:buFont typeface="Wingdings" pitchFamily="2" charset="2"/>
              <a:buChar char="q"/>
            </a:pPr>
            <a:r>
              <a:rPr lang="es-ES" sz="1800" dirty="0">
                <a:solidFill>
                  <a:schemeClr val="accent1"/>
                </a:solidFill>
                <a:latin typeface="Century Gothic" panose="020B0502020202020204" pitchFamily="34" charset="0"/>
              </a:rPr>
              <a:t>Costos Fijos.</a:t>
            </a:r>
          </a:p>
          <a:p>
            <a:pPr lvl="1" algn="just">
              <a:buClr>
                <a:schemeClr val="accent3">
                  <a:lumMod val="75000"/>
                </a:schemeClr>
              </a:buClr>
              <a:buFont typeface="Wingdings" pitchFamily="2" charset="2"/>
              <a:buChar char="q"/>
            </a:pPr>
            <a:r>
              <a:rPr lang="es-ES" sz="1800" dirty="0">
                <a:solidFill>
                  <a:schemeClr val="accent1"/>
                </a:solidFill>
                <a:latin typeface="Century Gothic" panose="020B0502020202020204" pitchFamily="34" charset="0"/>
              </a:rPr>
              <a:t>Costos Semi – Variables.</a:t>
            </a:r>
          </a:p>
        </p:txBody>
      </p:sp>
      <p:sp>
        <p:nvSpPr>
          <p:cNvPr id="6" name="Rectángulo 5">
            <a:extLst>
              <a:ext uri="{FF2B5EF4-FFF2-40B4-BE49-F238E27FC236}">
                <a16:creationId xmlns:a16="http://schemas.microsoft.com/office/drawing/2014/main" id="{31F3F78D-1616-4336-9828-AFA5B71B96C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EE6A7BE1-E764-B9DC-5D41-E0E685A191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n 9">
            <a:extLst>
              <a:ext uri="{FF2B5EF4-FFF2-40B4-BE49-F238E27FC236}">
                <a16:creationId xmlns:a16="http://schemas.microsoft.com/office/drawing/2014/main" id="{8FD09BC6-123B-691C-E99D-4091FED321F0}"/>
              </a:ext>
            </a:extLst>
          </p:cNvPr>
          <p:cNvPicPr>
            <a:picLocks noChangeAspect="1"/>
          </p:cNvPicPr>
          <p:nvPr/>
        </p:nvPicPr>
        <p:blipFill>
          <a:blip r:embed="rId3"/>
          <a:stretch>
            <a:fillRect/>
          </a:stretch>
        </p:blipFill>
        <p:spPr>
          <a:xfrm>
            <a:off x="7595267" y="3709610"/>
            <a:ext cx="3489287" cy="2246527"/>
          </a:xfrm>
          <a:prstGeom prst="rect">
            <a:avLst/>
          </a:prstGeom>
        </p:spPr>
      </p:pic>
      <p:sp>
        <p:nvSpPr>
          <p:cNvPr id="5" name="Rectángulo 4">
            <a:extLst>
              <a:ext uri="{FF2B5EF4-FFF2-40B4-BE49-F238E27FC236}">
                <a16:creationId xmlns:a16="http://schemas.microsoft.com/office/drawing/2014/main" id="{748BA639-34D2-1062-48D5-1827A21A2DC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número de diapositiva 3">
            <a:extLst>
              <a:ext uri="{FF2B5EF4-FFF2-40B4-BE49-F238E27FC236}">
                <a16:creationId xmlns:a16="http://schemas.microsoft.com/office/drawing/2014/main" id="{797E0012-8F9F-DF83-7051-C01C92212825}"/>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a:t>
            </a:fld>
            <a:endParaRPr lang="en-US" sz="2000" b="1">
              <a:latin typeface="Century Gothic" panose="020B0502020202020204" pitchFamily="34" charset="0"/>
            </a:endParaRPr>
          </a:p>
        </p:txBody>
      </p:sp>
    </p:spTree>
    <p:extLst>
      <p:ext uri="{BB962C8B-B14F-4D97-AF65-F5344CB8AC3E}">
        <p14:creationId xmlns:p14="http://schemas.microsoft.com/office/powerpoint/2010/main" val="2390111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7A8FC767-8B76-48DD-857E-A8EE33361E20}"/>
              </a:ext>
            </a:extLst>
          </p:cNvPr>
          <p:cNvSpPr>
            <a:spLocks noGrp="1"/>
          </p:cNvSpPr>
          <p:nvPr>
            <p:ph type="title"/>
          </p:nvPr>
        </p:nvSpPr>
        <p:spPr/>
        <p:txBody>
          <a:bodyPr/>
          <a:lstStyle/>
          <a:p>
            <a:r>
              <a:rPr lang="es-ES" dirty="0">
                <a:latin typeface="Century Gothic" panose="020B0502020202020204" pitchFamily="34" charset="0"/>
              </a:rPr>
              <a:t>Ingresos y Costos Pertinentes</a:t>
            </a:r>
          </a:p>
        </p:txBody>
      </p:sp>
      <p:sp>
        <p:nvSpPr>
          <p:cNvPr id="3" name="Content Placeholder 2"/>
          <p:cNvSpPr>
            <a:spLocks noGrp="1"/>
          </p:cNvSpPr>
          <p:nvPr>
            <p:ph idx="1"/>
          </p:nvPr>
        </p:nvSpPr>
        <p:spPr>
          <a:xfrm>
            <a:off x="664912" y="2143544"/>
            <a:ext cx="10862176" cy="3678303"/>
          </a:xfrm>
        </p:spPr>
        <p:txBody>
          <a:bodyPr>
            <a:noAutofit/>
          </a:bodyPr>
          <a:lstStyle/>
          <a:p>
            <a:pPr marL="114300" indent="0" algn="just">
              <a:buNone/>
            </a:pPr>
            <a:r>
              <a:rPr lang="es-ES_tradnl" b="1">
                <a:solidFill>
                  <a:srgbClr val="D7A700"/>
                </a:solidFill>
                <a:latin typeface="Century Gothic" panose="020B0502020202020204" pitchFamily="34" charset="0"/>
              </a:rPr>
              <a:t>Costos Variables: </a:t>
            </a:r>
            <a:r>
              <a:rPr lang="es-ES_tradnl">
                <a:solidFill>
                  <a:schemeClr val="accent1"/>
                </a:solidFill>
                <a:latin typeface="Century Gothic" panose="020B0502020202020204" pitchFamily="34" charset="0"/>
              </a:rPr>
              <a:t>Aquellos costos que están en función de las cantidades vendidas. Es decir, un costo que varía según el número de cantidades vendidas.</a:t>
            </a:r>
          </a:p>
          <a:p>
            <a:pPr marL="114300" indent="0">
              <a:buNone/>
            </a:pPr>
            <a:endParaRPr lang="es-ES_tradnl">
              <a:latin typeface="Century Gothic" panose="020B0502020202020204" pitchFamily="34" charset="0"/>
            </a:endParaRPr>
          </a:p>
          <a:p>
            <a:pPr marL="114300" indent="0" algn="ctr">
              <a:buNone/>
            </a:pPr>
            <a:r>
              <a:rPr lang="es-ES_tradnl" b="1">
                <a:solidFill>
                  <a:srgbClr val="C00000"/>
                </a:solidFill>
                <a:latin typeface="Century Gothic" panose="020B0502020202020204" pitchFamily="34" charset="0"/>
              </a:rPr>
              <a:t>¿Algún ejemplo de costos variables?</a:t>
            </a:r>
          </a:p>
          <a:p>
            <a:endParaRPr lang="es-ES_tradnl">
              <a:latin typeface="Century Gothic" panose="020B0502020202020204" pitchFamily="34" charset="0"/>
            </a:endParaRPr>
          </a:p>
          <a:p>
            <a:pPr marL="114300" indent="0" algn="just">
              <a:buNone/>
            </a:pPr>
            <a:r>
              <a:rPr lang="es-ES_tradnl" b="1">
                <a:solidFill>
                  <a:srgbClr val="D7A700"/>
                </a:solidFill>
                <a:latin typeface="Century Gothic" panose="020B0502020202020204" pitchFamily="34" charset="0"/>
              </a:rPr>
              <a:t>Costos Fijos: </a:t>
            </a:r>
            <a:r>
              <a:rPr lang="es-ES_tradnl">
                <a:solidFill>
                  <a:schemeClr val="accent1"/>
                </a:solidFill>
                <a:latin typeface="Century Gothic" panose="020B0502020202020204" pitchFamily="34" charset="0"/>
              </a:rPr>
              <a:t>Costos que son independientes de las cantidades vendidas. Es decir, costos en los que se incurre independientemente de las unidades vendidas en el periodo.</a:t>
            </a:r>
          </a:p>
          <a:p>
            <a:pPr marL="114300" indent="0" algn="just">
              <a:buNone/>
            </a:pPr>
            <a:endParaRPr lang="es-ES_tradnl">
              <a:latin typeface="Century Gothic" panose="020B0502020202020204" pitchFamily="34" charset="0"/>
            </a:endParaRPr>
          </a:p>
          <a:p>
            <a:pPr marL="114300" indent="0" algn="ctr">
              <a:buNone/>
            </a:pPr>
            <a:r>
              <a:rPr lang="es-ES_tradnl" b="1">
                <a:solidFill>
                  <a:srgbClr val="C00000"/>
                </a:solidFill>
                <a:latin typeface="Century Gothic" panose="020B0502020202020204" pitchFamily="34" charset="0"/>
              </a:rPr>
              <a:t>¿Algún ejemplo de costos fijos?</a:t>
            </a:r>
          </a:p>
          <a:p>
            <a:pPr marL="114300" indent="0" algn="just">
              <a:buNone/>
            </a:pPr>
            <a:endParaRPr lang="es-ES_tradnl">
              <a:latin typeface="Century Gothic" panose="020B0502020202020204" pitchFamily="34" charset="0"/>
            </a:endParaRPr>
          </a:p>
        </p:txBody>
      </p:sp>
      <p:sp>
        <p:nvSpPr>
          <p:cNvPr id="2" name="Rectángulo 1">
            <a:extLst>
              <a:ext uri="{FF2B5EF4-FFF2-40B4-BE49-F238E27FC236}">
                <a16:creationId xmlns:a16="http://schemas.microsoft.com/office/drawing/2014/main" id="{44C56ADF-AD09-AAD8-D4D7-89AB9D95F5A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091B298A-B898-D3A0-63D9-C75016177D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96DD680D-FF77-7D02-10BE-5AEF19BD041A}"/>
              </a:ext>
            </a:extLst>
          </p:cNvPr>
          <p:cNvPicPr>
            <a:picLocks noChangeAspect="1"/>
          </p:cNvPicPr>
          <p:nvPr/>
        </p:nvPicPr>
        <p:blipFill rotWithShape="1">
          <a:blip r:embed="rId3"/>
          <a:srcRect t="14135"/>
          <a:stretch/>
        </p:blipFill>
        <p:spPr>
          <a:xfrm>
            <a:off x="4396946" y="5579882"/>
            <a:ext cx="3398108" cy="1151924"/>
          </a:xfrm>
          <a:prstGeom prst="rect">
            <a:avLst/>
          </a:prstGeom>
        </p:spPr>
      </p:pic>
      <p:sp>
        <p:nvSpPr>
          <p:cNvPr id="8" name="Rectángulo 7">
            <a:extLst>
              <a:ext uri="{FF2B5EF4-FFF2-40B4-BE49-F238E27FC236}">
                <a16:creationId xmlns:a16="http://schemas.microsoft.com/office/drawing/2014/main" id="{B5246409-32D8-9442-02DE-CDFAC97DBFD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2AF5EB8A-F152-F369-6BA7-71AC6FC4827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a:t>
            </a:fld>
            <a:endParaRPr lang="en-US" sz="2000" b="1">
              <a:latin typeface="Century Gothic" panose="020B0502020202020204" pitchFamily="34" charset="0"/>
            </a:endParaRPr>
          </a:p>
        </p:txBody>
      </p:sp>
    </p:spTree>
    <p:extLst>
      <p:ext uri="{BB962C8B-B14F-4D97-AF65-F5344CB8AC3E}">
        <p14:creationId xmlns:p14="http://schemas.microsoft.com/office/powerpoint/2010/main" val="3307971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85F292DF-1C0F-40C6-A2C9-75C1F4F788F6}"/>
              </a:ext>
            </a:extLst>
          </p:cNvPr>
          <p:cNvSpPr>
            <a:spLocks noGrp="1"/>
          </p:cNvSpPr>
          <p:nvPr>
            <p:ph type="title"/>
          </p:nvPr>
        </p:nvSpPr>
        <p:spPr/>
        <p:txBody>
          <a:bodyPr/>
          <a:lstStyle/>
          <a:p>
            <a:r>
              <a:rPr lang="es-ES" dirty="0">
                <a:latin typeface="Century Gothic" panose="020B0502020202020204" pitchFamily="34" charset="0"/>
              </a:rPr>
              <a:t>Ingresos y Costos Pertinentes</a:t>
            </a:r>
          </a:p>
        </p:txBody>
      </p:sp>
      <p:sp>
        <p:nvSpPr>
          <p:cNvPr id="3" name="Content Placeholder 2"/>
          <p:cNvSpPr>
            <a:spLocks noGrp="1"/>
          </p:cNvSpPr>
          <p:nvPr>
            <p:ph idx="1"/>
          </p:nvPr>
        </p:nvSpPr>
        <p:spPr>
          <a:xfrm>
            <a:off x="581192" y="2302728"/>
            <a:ext cx="10774667" cy="3678303"/>
          </a:xfrm>
        </p:spPr>
        <p:txBody>
          <a:bodyPr>
            <a:noAutofit/>
          </a:bodyPr>
          <a:lstStyle/>
          <a:p>
            <a:pPr marL="114300" indent="0" algn="just">
              <a:buNone/>
            </a:pPr>
            <a:endParaRPr lang="es-ES_tradnl" b="1" dirty="0">
              <a:solidFill>
                <a:schemeClr val="accent3">
                  <a:lumMod val="75000"/>
                </a:schemeClr>
              </a:solidFill>
              <a:latin typeface="Century Gothic" panose="020B0502020202020204" pitchFamily="34" charset="0"/>
            </a:endParaRPr>
          </a:p>
          <a:p>
            <a:pPr marL="114300" indent="0" algn="just">
              <a:buNone/>
            </a:pPr>
            <a:r>
              <a:rPr lang="es-ES_tradnl" b="1" dirty="0">
                <a:solidFill>
                  <a:srgbClr val="D7A700"/>
                </a:solidFill>
                <a:latin typeface="Century Gothic" panose="020B0502020202020204" pitchFamily="34" charset="0"/>
              </a:rPr>
              <a:t>Costos Variables: </a:t>
            </a:r>
            <a:r>
              <a:rPr lang="es-ES_tradnl" dirty="0">
                <a:solidFill>
                  <a:schemeClr val="accent1"/>
                </a:solidFill>
                <a:latin typeface="Century Gothic" panose="020B0502020202020204" pitchFamily="34" charset="0"/>
              </a:rPr>
              <a:t>Aquellos costos que están en función de las cantidades vendidas. Es decir, un costo que varía según el número de cantidades vendidas.</a:t>
            </a:r>
          </a:p>
          <a:p>
            <a:pPr marL="114300" indent="0">
              <a:buNone/>
            </a:pPr>
            <a:endParaRPr lang="es-ES_tradnl" dirty="0">
              <a:latin typeface="Century Gothic" panose="020B0502020202020204" pitchFamily="34" charset="0"/>
            </a:endParaRPr>
          </a:p>
          <a:p>
            <a:pPr marL="114300" indent="0" algn="ctr">
              <a:buNone/>
            </a:pPr>
            <a:r>
              <a:rPr lang="es-ES_tradnl" b="1" dirty="0">
                <a:solidFill>
                  <a:srgbClr val="00B050"/>
                </a:solidFill>
                <a:latin typeface="Century Gothic" panose="020B0502020202020204" pitchFamily="34" charset="0"/>
              </a:rPr>
              <a:t>Costo de Materia Prima</a:t>
            </a:r>
          </a:p>
          <a:p>
            <a:endParaRPr lang="es-ES_tradnl" dirty="0">
              <a:latin typeface="Century Gothic" panose="020B0502020202020204" pitchFamily="34" charset="0"/>
            </a:endParaRPr>
          </a:p>
          <a:p>
            <a:pPr marL="114300" indent="0" algn="just">
              <a:buNone/>
            </a:pPr>
            <a:r>
              <a:rPr lang="es-ES_tradnl" b="1" dirty="0">
                <a:solidFill>
                  <a:srgbClr val="D7A700"/>
                </a:solidFill>
                <a:latin typeface="Century Gothic" panose="020B0502020202020204" pitchFamily="34" charset="0"/>
              </a:rPr>
              <a:t>Costos Fijos: </a:t>
            </a:r>
            <a:r>
              <a:rPr lang="es-ES_tradnl" dirty="0">
                <a:solidFill>
                  <a:schemeClr val="accent1"/>
                </a:solidFill>
                <a:latin typeface="Century Gothic" panose="020B0502020202020204" pitchFamily="34" charset="0"/>
              </a:rPr>
              <a:t>Costos que son independientes de las cantidades vendidas. Es decir, costos en los que se incurre independientemente de las unidades vendidas en el periodo.</a:t>
            </a:r>
          </a:p>
          <a:p>
            <a:pPr marL="114300" indent="0" algn="just">
              <a:buNone/>
            </a:pPr>
            <a:endParaRPr lang="es-ES_tradnl" dirty="0">
              <a:latin typeface="Century Gothic" panose="020B0502020202020204" pitchFamily="34" charset="0"/>
            </a:endParaRPr>
          </a:p>
          <a:p>
            <a:pPr marL="114300" indent="0" algn="ctr">
              <a:buNone/>
            </a:pPr>
            <a:r>
              <a:rPr lang="es-ES_tradnl" b="1" dirty="0">
                <a:solidFill>
                  <a:srgbClr val="00B050"/>
                </a:solidFill>
                <a:latin typeface="Century Gothic" panose="020B0502020202020204" pitchFamily="34" charset="0"/>
              </a:rPr>
              <a:t>Arrendamientos</a:t>
            </a:r>
          </a:p>
          <a:p>
            <a:pPr marL="114300" indent="0" algn="just">
              <a:buNone/>
            </a:pPr>
            <a:endParaRPr lang="es-ES_tradnl" dirty="0">
              <a:latin typeface="Century Gothic" panose="020B0502020202020204" pitchFamily="34" charset="0"/>
            </a:endParaRPr>
          </a:p>
        </p:txBody>
      </p:sp>
      <p:sp>
        <p:nvSpPr>
          <p:cNvPr id="2" name="Rectángulo 1">
            <a:extLst>
              <a:ext uri="{FF2B5EF4-FFF2-40B4-BE49-F238E27FC236}">
                <a16:creationId xmlns:a16="http://schemas.microsoft.com/office/drawing/2014/main" id="{2EFB583C-D1A5-B389-4F97-B808776C5DC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BE8D87EE-A5F9-8C33-2C0D-7C248F5736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87178235-16B0-A768-E5F2-4E6475769FA0}"/>
              </a:ext>
            </a:extLst>
          </p:cNvPr>
          <p:cNvPicPr>
            <a:picLocks noChangeAspect="1"/>
          </p:cNvPicPr>
          <p:nvPr/>
        </p:nvPicPr>
        <p:blipFill>
          <a:blip r:embed="rId3"/>
          <a:stretch>
            <a:fillRect/>
          </a:stretch>
        </p:blipFill>
        <p:spPr>
          <a:xfrm>
            <a:off x="9050637" y="5092204"/>
            <a:ext cx="2124189" cy="1461872"/>
          </a:xfrm>
          <a:prstGeom prst="rect">
            <a:avLst/>
          </a:prstGeom>
        </p:spPr>
      </p:pic>
      <p:sp>
        <p:nvSpPr>
          <p:cNvPr id="8" name="Rectángulo 7">
            <a:extLst>
              <a:ext uri="{FF2B5EF4-FFF2-40B4-BE49-F238E27FC236}">
                <a16:creationId xmlns:a16="http://schemas.microsoft.com/office/drawing/2014/main" id="{7AA34D95-C3EE-68FB-A5B6-B7BD2FB2B20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CBCF4A8D-026B-35CD-FEA2-0BA6D7C2828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6</a:t>
            </a:fld>
            <a:endParaRPr lang="en-US" sz="2000" b="1">
              <a:latin typeface="Century Gothic" panose="020B0502020202020204" pitchFamily="34" charset="0"/>
            </a:endParaRPr>
          </a:p>
        </p:txBody>
      </p:sp>
    </p:spTree>
    <p:extLst>
      <p:ext uri="{BB962C8B-B14F-4D97-AF65-F5344CB8AC3E}">
        <p14:creationId xmlns:p14="http://schemas.microsoft.com/office/powerpoint/2010/main" val="259539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A39ADB28-418D-4EC6-98E7-873A7B35AA37}"/>
              </a:ext>
            </a:extLst>
          </p:cNvPr>
          <p:cNvSpPr>
            <a:spLocks noGrp="1"/>
          </p:cNvSpPr>
          <p:nvPr>
            <p:ph type="title"/>
          </p:nvPr>
        </p:nvSpPr>
        <p:spPr/>
        <p:txBody>
          <a:bodyPr/>
          <a:lstStyle/>
          <a:p>
            <a:r>
              <a:rPr lang="es-ES" dirty="0">
                <a:latin typeface="Century Gothic" panose="020B0502020202020204" pitchFamily="34" charset="0"/>
              </a:rPr>
              <a:t>Ingresos y Costos Pertinentes</a:t>
            </a:r>
          </a:p>
        </p:txBody>
      </p:sp>
      <p:sp>
        <p:nvSpPr>
          <p:cNvPr id="3" name="Content Placeholder 2"/>
          <p:cNvSpPr>
            <a:spLocks noGrp="1"/>
          </p:cNvSpPr>
          <p:nvPr>
            <p:ph idx="1"/>
          </p:nvPr>
        </p:nvSpPr>
        <p:spPr>
          <a:xfrm>
            <a:off x="581192" y="1989939"/>
            <a:ext cx="9118862" cy="4293700"/>
          </a:xfrm>
        </p:spPr>
        <p:txBody>
          <a:bodyPr>
            <a:noAutofit/>
          </a:bodyPr>
          <a:lstStyle/>
          <a:p>
            <a:pPr marL="114300" indent="0" algn="just">
              <a:buNone/>
            </a:pPr>
            <a:r>
              <a:rPr lang="es-ES_tradnl" b="1">
                <a:solidFill>
                  <a:srgbClr val="D7A700"/>
                </a:solidFill>
                <a:latin typeface="Century Gothic" panose="020B0502020202020204" pitchFamily="34" charset="0"/>
              </a:rPr>
              <a:t>Costos </a:t>
            </a:r>
            <a:r>
              <a:rPr lang="es-ES_tradnl" b="1" err="1">
                <a:solidFill>
                  <a:srgbClr val="D7A700"/>
                </a:solidFill>
                <a:latin typeface="Century Gothic" panose="020B0502020202020204" pitchFamily="34" charset="0"/>
              </a:rPr>
              <a:t>Semi</a:t>
            </a:r>
            <a:r>
              <a:rPr lang="es-ES_tradnl" b="1">
                <a:solidFill>
                  <a:srgbClr val="D7A700"/>
                </a:solidFill>
                <a:latin typeface="Century Gothic" panose="020B0502020202020204" pitchFamily="34" charset="0"/>
              </a:rPr>
              <a:t>-Variables: </a:t>
            </a:r>
            <a:r>
              <a:rPr lang="es-ES">
                <a:solidFill>
                  <a:schemeClr val="accent1"/>
                </a:solidFill>
                <a:latin typeface="Century Gothic" panose="020B0502020202020204" pitchFamily="34" charset="0"/>
              </a:rPr>
              <a:t>Son costos con un comportamiento muy particular, pues en un “rango” de actividad se comportan como costos fijos. No obstante, a partir de cierto nuevo “rango” dichos costos fijos “saltan”.</a:t>
            </a:r>
          </a:p>
          <a:p>
            <a:pPr marL="114300" indent="0" algn="just">
              <a:buNone/>
            </a:pPr>
            <a:endParaRPr lang="es-ES">
              <a:solidFill>
                <a:schemeClr val="accent1"/>
              </a:solidFill>
              <a:latin typeface="Century Gothic" panose="020B0502020202020204" pitchFamily="34" charset="0"/>
            </a:endParaRPr>
          </a:p>
          <a:p>
            <a:pPr marL="114300" indent="0" algn="just">
              <a:buNone/>
            </a:pPr>
            <a:r>
              <a:rPr lang="es-ES">
                <a:solidFill>
                  <a:schemeClr val="accent1"/>
                </a:solidFill>
                <a:latin typeface="Century Gothic" panose="020B0502020202020204" pitchFamily="34" charset="0"/>
              </a:rPr>
              <a:t>Luego de dicho “salto”, en cierto rango se vuelven a comportar como </a:t>
            </a:r>
            <a:r>
              <a:rPr lang="es-ES" b="1">
                <a:solidFill>
                  <a:schemeClr val="accent3">
                    <a:lumMod val="50000"/>
                  </a:schemeClr>
                </a:solidFill>
                <a:latin typeface="Century Gothic" panose="020B0502020202020204" pitchFamily="34" charset="0"/>
              </a:rPr>
              <a:t>costos fijos </a:t>
            </a:r>
            <a:r>
              <a:rPr lang="es-ES">
                <a:solidFill>
                  <a:schemeClr val="accent1"/>
                </a:solidFill>
                <a:latin typeface="Century Gothic" panose="020B0502020202020204" pitchFamily="34" charset="0"/>
              </a:rPr>
              <a:t>y así sucesivamente.</a:t>
            </a:r>
          </a:p>
          <a:p>
            <a:pPr marL="114300" indent="0" algn="just">
              <a:buNone/>
            </a:pPr>
            <a:endParaRPr lang="es-ES">
              <a:solidFill>
                <a:schemeClr val="accent1"/>
              </a:solidFill>
              <a:latin typeface="Century Gothic" panose="020B0502020202020204" pitchFamily="34" charset="0"/>
            </a:endParaRPr>
          </a:p>
          <a:p>
            <a:pPr marL="114300" indent="0" algn="just">
              <a:buNone/>
            </a:pPr>
            <a:r>
              <a:rPr lang="es-ES">
                <a:solidFill>
                  <a:schemeClr val="accent1"/>
                </a:solidFill>
                <a:latin typeface="Century Gothic" panose="020B0502020202020204" pitchFamily="34" charset="0"/>
              </a:rPr>
              <a:t>En muchos casos, los costos fijos son </a:t>
            </a:r>
            <a:r>
              <a:rPr lang="es-ES" b="1">
                <a:solidFill>
                  <a:schemeClr val="accent3">
                    <a:lumMod val="50000"/>
                  </a:schemeClr>
                </a:solidFill>
                <a:latin typeface="Century Gothic" panose="020B0502020202020204" pitchFamily="34" charset="0"/>
              </a:rPr>
              <a:t>semi-variables</a:t>
            </a:r>
            <a:r>
              <a:rPr lang="es-ES">
                <a:solidFill>
                  <a:schemeClr val="accent1"/>
                </a:solidFill>
                <a:latin typeface="Century Gothic" panose="020B0502020202020204" pitchFamily="34" charset="0"/>
              </a:rPr>
              <a:t> cuando se analiza un proyecto en el largo plazo.</a:t>
            </a:r>
          </a:p>
          <a:p>
            <a:pPr marL="114300" indent="0" algn="just">
              <a:buNone/>
            </a:pPr>
            <a:endParaRPr lang="es-ES">
              <a:latin typeface="Century Gothic" panose="020B0502020202020204" pitchFamily="34" charset="0"/>
            </a:endParaRPr>
          </a:p>
          <a:p>
            <a:pPr marL="114300" indent="0" algn="ctr">
              <a:buNone/>
            </a:pPr>
            <a:r>
              <a:rPr lang="es-ES_tradnl" b="1">
                <a:solidFill>
                  <a:srgbClr val="C00000"/>
                </a:solidFill>
                <a:latin typeface="Century Gothic" panose="020B0502020202020204" pitchFamily="34" charset="0"/>
              </a:rPr>
              <a:t>¿Algún ejemplo de costos </a:t>
            </a:r>
            <a:r>
              <a:rPr lang="es-ES_tradnl" b="1" err="1">
                <a:solidFill>
                  <a:srgbClr val="C00000"/>
                </a:solidFill>
                <a:latin typeface="Century Gothic" panose="020B0502020202020204" pitchFamily="34" charset="0"/>
              </a:rPr>
              <a:t>semi-variables</a:t>
            </a:r>
            <a:r>
              <a:rPr lang="es-ES_tradnl" b="1">
                <a:solidFill>
                  <a:srgbClr val="C00000"/>
                </a:solidFill>
                <a:latin typeface="Century Gothic" panose="020B0502020202020204" pitchFamily="34" charset="0"/>
              </a:rPr>
              <a:t>?</a:t>
            </a:r>
          </a:p>
        </p:txBody>
      </p:sp>
      <p:sp>
        <p:nvSpPr>
          <p:cNvPr id="2" name="Rectángulo 1">
            <a:extLst>
              <a:ext uri="{FF2B5EF4-FFF2-40B4-BE49-F238E27FC236}">
                <a16:creationId xmlns:a16="http://schemas.microsoft.com/office/drawing/2014/main" id="{DCFFB937-2231-E714-BF8D-99E21DE3F31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C9A1A8C9-A8A3-792E-7125-11296F0F54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5711E6F8-7C9B-8E49-894F-4BB0DCB600AE}"/>
              </a:ext>
            </a:extLst>
          </p:cNvPr>
          <p:cNvPicPr>
            <a:picLocks noChangeAspect="1"/>
          </p:cNvPicPr>
          <p:nvPr/>
        </p:nvPicPr>
        <p:blipFill rotWithShape="1">
          <a:blip r:embed="rId3"/>
          <a:srcRect b="6318"/>
          <a:stretch/>
        </p:blipFill>
        <p:spPr>
          <a:xfrm>
            <a:off x="9940013" y="2421926"/>
            <a:ext cx="1774830" cy="2499518"/>
          </a:xfrm>
          <a:prstGeom prst="rect">
            <a:avLst/>
          </a:prstGeom>
        </p:spPr>
      </p:pic>
      <p:sp>
        <p:nvSpPr>
          <p:cNvPr id="8" name="Rectángulo 7">
            <a:extLst>
              <a:ext uri="{FF2B5EF4-FFF2-40B4-BE49-F238E27FC236}">
                <a16:creationId xmlns:a16="http://schemas.microsoft.com/office/drawing/2014/main" id="{142200E6-BD5D-0BA4-77BA-57FFB98B6B6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21A9C1D9-D45A-001D-065A-8568218E0A99}"/>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7</a:t>
            </a:fld>
            <a:endParaRPr lang="en-US" sz="2000" b="1">
              <a:latin typeface="Century Gothic" panose="020B0502020202020204" pitchFamily="34" charset="0"/>
            </a:endParaRPr>
          </a:p>
        </p:txBody>
      </p:sp>
    </p:spTree>
    <p:extLst>
      <p:ext uri="{BB962C8B-B14F-4D97-AF65-F5344CB8AC3E}">
        <p14:creationId xmlns:p14="http://schemas.microsoft.com/office/powerpoint/2010/main" val="2702106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ítulo 1">
            <a:extLst>
              <a:ext uri="{FF2B5EF4-FFF2-40B4-BE49-F238E27FC236}">
                <a16:creationId xmlns:a16="http://schemas.microsoft.com/office/drawing/2014/main" id="{42F5A78B-AEC6-4D6B-8225-398BF0F3C896}"/>
              </a:ext>
            </a:extLst>
          </p:cNvPr>
          <p:cNvSpPr>
            <a:spLocks noGrp="1"/>
          </p:cNvSpPr>
          <p:nvPr>
            <p:ph type="title"/>
          </p:nvPr>
        </p:nvSpPr>
        <p:spPr/>
        <p:txBody>
          <a:bodyPr/>
          <a:lstStyle/>
          <a:p>
            <a:r>
              <a:rPr lang="es-ES">
                <a:latin typeface="Century Gothic" panose="020B0502020202020204" pitchFamily="34" charset="0"/>
              </a:rPr>
              <a:t>Ingresos  y Costos Pertinentes</a:t>
            </a:r>
          </a:p>
        </p:txBody>
      </p:sp>
      <p:sp>
        <p:nvSpPr>
          <p:cNvPr id="21" name="Marcador de contenido 2"/>
          <p:cNvSpPr>
            <a:spLocks noGrp="1"/>
          </p:cNvSpPr>
          <p:nvPr>
            <p:ph idx="1"/>
          </p:nvPr>
        </p:nvSpPr>
        <p:spPr>
          <a:xfrm>
            <a:off x="1826101" y="1794716"/>
            <a:ext cx="8150329" cy="983509"/>
          </a:xfrm>
        </p:spPr>
        <p:txBody>
          <a:bodyPr>
            <a:normAutofit/>
          </a:bodyPr>
          <a:lstStyle/>
          <a:p>
            <a:pPr marL="0" indent="0" algn="ctr">
              <a:buNone/>
            </a:pPr>
            <a:r>
              <a:rPr lang="es-ES" b="1">
                <a:solidFill>
                  <a:srgbClr val="C00000"/>
                </a:solidFill>
                <a:latin typeface="Century Gothic" panose="020B0502020202020204" pitchFamily="34" charset="0"/>
              </a:rPr>
              <a:t>Una representación gráfica de los costos</a:t>
            </a:r>
          </a:p>
        </p:txBody>
      </p:sp>
      <p:cxnSp>
        <p:nvCxnSpPr>
          <p:cNvPr id="7" name="Straight Connector 6"/>
          <p:cNvCxnSpPr/>
          <p:nvPr/>
        </p:nvCxnSpPr>
        <p:spPr>
          <a:xfrm>
            <a:off x="1795071" y="4921688"/>
            <a:ext cx="2053733" cy="0"/>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flipV="1">
            <a:off x="1812614" y="3070012"/>
            <a:ext cx="0" cy="185167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1795071" y="3235682"/>
            <a:ext cx="1805245" cy="1686006"/>
          </a:xfrm>
          <a:prstGeom prst="straightConnector1">
            <a:avLst/>
          </a:prstGeom>
          <a:ln w="38100">
            <a:solidFill>
              <a:schemeClr val="accent3"/>
            </a:solidFill>
            <a:headEnd type="none"/>
            <a:tailEnd type="none"/>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a:off x="4791278" y="4908418"/>
            <a:ext cx="2053733" cy="0"/>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808821" y="3056742"/>
            <a:ext cx="0" cy="185167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a:off x="4791278" y="4160667"/>
            <a:ext cx="2053733" cy="0"/>
          </a:xfrm>
          <a:prstGeom prst="straightConnector1">
            <a:avLst/>
          </a:prstGeom>
          <a:ln w="38100">
            <a:solidFill>
              <a:schemeClr val="accent3"/>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121981" y="4976912"/>
            <a:ext cx="1685077" cy="307777"/>
          </a:xfrm>
          <a:prstGeom prst="rect">
            <a:avLst/>
          </a:prstGeom>
          <a:noFill/>
        </p:spPr>
        <p:txBody>
          <a:bodyPr wrap="none" rtlCol="0">
            <a:spAutoFit/>
          </a:bodyPr>
          <a:lstStyle/>
          <a:p>
            <a:r>
              <a:rPr lang="es-ES_tradnl" sz="1400">
                <a:solidFill>
                  <a:schemeClr val="accent1"/>
                </a:solidFill>
                <a:latin typeface="Century Gothic" panose="020B0502020202020204" pitchFamily="34" charset="0"/>
              </a:rPr>
              <a:t>Cantidad Ventas</a:t>
            </a:r>
          </a:p>
        </p:txBody>
      </p:sp>
      <p:sp>
        <p:nvSpPr>
          <p:cNvPr id="14" name="TextBox 13"/>
          <p:cNvSpPr txBox="1"/>
          <p:nvPr/>
        </p:nvSpPr>
        <p:spPr>
          <a:xfrm>
            <a:off x="5842086" y="4921689"/>
            <a:ext cx="1685077" cy="307777"/>
          </a:xfrm>
          <a:prstGeom prst="rect">
            <a:avLst/>
          </a:prstGeom>
          <a:noFill/>
        </p:spPr>
        <p:txBody>
          <a:bodyPr wrap="none" rtlCol="0">
            <a:spAutoFit/>
          </a:bodyPr>
          <a:lstStyle/>
          <a:p>
            <a:r>
              <a:rPr lang="es-ES_tradnl" sz="1400">
                <a:solidFill>
                  <a:schemeClr val="accent1"/>
                </a:solidFill>
                <a:latin typeface="Century Gothic" panose="020B0502020202020204" pitchFamily="34" charset="0"/>
              </a:rPr>
              <a:t>Cantidad Ventas</a:t>
            </a:r>
          </a:p>
        </p:txBody>
      </p:sp>
      <p:cxnSp>
        <p:nvCxnSpPr>
          <p:cNvPr id="15" name="Straight Connector 14"/>
          <p:cNvCxnSpPr/>
          <p:nvPr/>
        </p:nvCxnSpPr>
        <p:spPr>
          <a:xfrm>
            <a:off x="7653334" y="4895148"/>
            <a:ext cx="2053733" cy="0"/>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flipV="1">
            <a:off x="7670877" y="3043472"/>
            <a:ext cx="0" cy="1851676"/>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a:off x="7653333" y="4492540"/>
            <a:ext cx="764882" cy="0"/>
          </a:xfrm>
          <a:prstGeom prst="straightConnector1">
            <a:avLst/>
          </a:prstGeom>
          <a:ln w="38100">
            <a:solidFill>
              <a:schemeClr val="accent3"/>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704142" y="4908419"/>
            <a:ext cx="1685077" cy="307777"/>
          </a:xfrm>
          <a:prstGeom prst="rect">
            <a:avLst/>
          </a:prstGeom>
          <a:noFill/>
        </p:spPr>
        <p:txBody>
          <a:bodyPr wrap="none" rtlCol="0">
            <a:spAutoFit/>
          </a:bodyPr>
          <a:lstStyle/>
          <a:p>
            <a:r>
              <a:rPr lang="es-ES_tradnl" sz="1400">
                <a:solidFill>
                  <a:schemeClr val="accent1"/>
                </a:solidFill>
                <a:latin typeface="Century Gothic" panose="020B0502020202020204" pitchFamily="34" charset="0"/>
              </a:rPr>
              <a:t>Cantidad Ventas</a:t>
            </a:r>
          </a:p>
        </p:txBody>
      </p:sp>
      <p:cxnSp>
        <p:nvCxnSpPr>
          <p:cNvPr id="19" name="Straight Arrow Connector 18"/>
          <p:cNvCxnSpPr/>
          <p:nvPr/>
        </p:nvCxnSpPr>
        <p:spPr>
          <a:xfrm>
            <a:off x="8386084" y="4134128"/>
            <a:ext cx="764882" cy="0"/>
          </a:xfrm>
          <a:prstGeom prst="straightConnector1">
            <a:avLst/>
          </a:prstGeom>
          <a:ln w="38100">
            <a:solidFill>
              <a:schemeClr val="accent3"/>
            </a:solidFill>
            <a:headEnd type="none"/>
            <a:tailEnd type="none"/>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a:off x="9150966" y="3721028"/>
            <a:ext cx="764882" cy="0"/>
          </a:xfrm>
          <a:prstGeom prst="straightConnector1">
            <a:avLst/>
          </a:prstGeom>
          <a:ln w="38100">
            <a:solidFill>
              <a:schemeClr val="accent3"/>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3" name="Rectángulo 2">
            <a:extLst>
              <a:ext uri="{FF2B5EF4-FFF2-40B4-BE49-F238E27FC236}">
                <a16:creationId xmlns:a16="http://schemas.microsoft.com/office/drawing/2014/main" id="{452BCF93-B0EC-3A27-4FBC-81E08BB6356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D43E84D7-B611-96D5-65D2-64E3ECCC2A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12">
            <a:extLst>
              <a:ext uri="{FF2B5EF4-FFF2-40B4-BE49-F238E27FC236}">
                <a16:creationId xmlns:a16="http://schemas.microsoft.com/office/drawing/2014/main" id="{842A065C-5733-F921-763E-7EBC2A859C72}"/>
              </a:ext>
            </a:extLst>
          </p:cNvPr>
          <p:cNvSpPr txBox="1"/>
          <p:nvPr/>
        </p:nvSpPr>
        <p:spPr>
          <a:xfrm>
            <a:off x="1177061" y="2760873"/>
            <a:ext cx="1481496" cy="307777"/>
          </a:xfrm>
          <a:prstGeom prst="rect">
            <a:avLst/>
          </a:prstGeom>
          <a:noFill/>
        </p:spPr>
        <p:txBody>
          <a:bodyPr wrap="none" rtlCol="0">
            <a:spAutoFit/>
          </a:bodyPr>
          <a:lstStyle/>
          <a:p>
            <a:r>
              <a:rPr lang="es-ES_tradnl" sz="1400">
                <a:solidFill>
                  <a:schemeClr val="accent1"/>
                </a:solidFill>
                <a:latin typeface="Century Gothic" panose="020B0502020202020204" pitchFamily="34" charset="0"/>
              </a:rPr>
              <a:t>Costo Variable</a:t>
            </a:r>
          </a:p>
        </p:txBody>
      </p:sp>
      <p:sp>
        <p:nvSpPr>
          <p:cNvPr id="25" name="TextBox 12">
            <a:extLst>
              <a:ext uri="{FF2B5EF4-FFF2-40B4-BE49-F238E27FC236}">
                <a16:creationId xmlns:a16="http://schemas.microsoft.com/office/drawing/2014/main" id="{D680CE2C-ACA8-82B4-F866-F380219FACBC}"/>
              </a:ext>
            </a:extLst>
          </p:cNvPr>
          <p:cNvSpPr txBox="1"/>
          <p:nvPr/>
        </p:nvSpPr>
        <p:spPr>
          <a:xfrm>
            <a:off x="4402299" y="2733319"/>
            <a:ext cx="1019831" cy="307777"/>
          </a:xfrm>
          <a:prstGeom prst="rect">
            <a:avLst/>
          </a:prstGeom>
          <a:noFill/>
        </p:spPr>
        <p:txBody>
          <a:bodyPr wrap="none" rtlCol="0">
            <a:spAutoFit/>
          </a:bodyPr>
          <a:lstStyle/>
          <a:p>
            <a:r>
              <a:rPr lang="es-ES_tradnl" sz="1400">
                <a:solidFill>
                  <a:schemeClr val="accent1"/>
                </a:solidFill>
                <a:latin typeface="Century Gothic" panose="020B0502020202020204" pitchFamily="34" charset="0"/>
              </a:rPr>
              <a:t>Costo Fijo</a:t>
            </a:r>
          </a:p>
        </p:txBody>
      </p:sp>
      <p:sp>
        <p:nvSpPr>
          <p:cNvPr id="26" name="TextBox 12">
            <a:extLst>
              <a:ext uri="{FF2B5EF4-FFF2-40B4-BE49-F238E27FC236}">
                <a16:creationId xmlns:a16="http://schemas.microsoft.com/office/drawing/2014/main" id="{D384E3FB-279B-649F-A881-7DAE6C9009AA}"/>
              </a:ext>
            </a:extLst>
          </p:cNvPr>
          <p:cNvSpPr txBox="1"/>
          <p:nvPr/>
        </p:nvSpPr>
        <p:spPr>
          <a:xfrm>
            <a:off x="6965983" y="2755631"/>
            <a:ext cx="2050561" cy="307777"/>
          </a:xfrm>
          <a:prstGeom prst="rect">
            <a:avLst/>
          </a:prstGeom>
          <a:noFill/>
        </p:spPr>
        <p:txBody>
          <a:bodyPr wrap="none" rtlCol="0">
            <a:spAutoFit/>
          </a:bodyPr>
          <a:lstStyle/>
          <a:p>
            <a:r>
              <a:rPr lang="es-ES_tradnl" sz="1400">
                <a:solidFill>
                  <a:schemeClr val="accent1"/>
                </a:solidFill>
                <a:latin typeface="Century Gothic" panose="020B0502020202020204" pitchFamily="34" charset="0"/>
              </a:rPr>
              <a:t>Costo Semi - Variable</a:t>
            </a:r>
          </a:p>
        </p:txBody>
      </p:sp>
      <p:sp>
        <p:nvSpPr>
          <p:cNvPr id="2" name="Rectángulo 1">
            <a:extLst>
              <a:ext uri="{FF2B5EF4-FFF2-40B4-BE49-F238E27FC236}">
                <a16:creationId xmlns:a16="http://schemas.microsoft.com/office/drawing/2014/main" id="{52F6E4F8-3E58-FA4B-9B30-9D4C0FF2ED4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2B92E1D2-5B58-4262-5B32-D6B1E20BBED9}"/>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8</a:t>
            </a:fld>
            <a:endParaRPr lang="en-US" sz="2000" b="1">
              <a:latin typeface="Century Gothic" panose="020B0502020202020204" pitchFamily="34" charset="0"/>
            </a:endParaRPr>
          </a:p>
        </p:txBody>
      </p:sp>
    </p:spTree>
    <p:extLst>
      <p:ext uri="{BB962C8B-B14F-4D97-AF65-F5344CB8AC3E}">
        <p14:creationId xmlns:p14="http://schemas.microsoft.com/office/powerpoint/2010/main" val="943378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8" grpId="0"/>
      <p:bldP spid="23" grpId="0"/>
      <p:bldP spid="25" grpId="0"/>
      <p:bldP spid="2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Ingresos  y Costos Pertinentes</a:t>
            </a:r>
          </a:p>
        </p:txBody>
      </p:sp>
      <p:sp>
        <p:nvSpPr>
          <p:cNvPr id="3" name="Marcador de contenido 2"/>
          <p:cNvSpPr>
            <a:spLocks noGrp="1"/>
          </p:cNvSpPr>
          <p:nvPr>
            <p:ph idx="1"/>
          </p:nvPr>
        </p:nvSpPr>
        <p:spPr>
          <a:xfrm>
            <a:off x="810247" y="2353322"/>
            <a:ext cx="8939234" cy="3923006"/>
          </a:xfrm>
        </p:spPr>
        <p:txBody>
          <a:bodyPr>
            <a:normAutofit/>
          </a:bodyPr>
          <a:lstStyle/>
          <a:p>
            <a:pPr marL="0" indent="0" algn="ctr">
              <a:buNone/>
            </a:pPr>
            <a:r>
              <a:rPr lang="es-ES" b="1">
                <a:solidFill>
                  <a:srgbClr val="C00000"/>
                </a:solidFill>
                <a:latin typeface="Century Gothic" panose="020B0502020202020204" pitchFamily="34" charset="0"/>
              </a:rPr>
              <a:t>¿Por qué es bueno identificar los distintos tipos de costos?</a:t>
            </a:r>
          </a:p>
          <a:p>
            <a:pPr marL="0" indent="0" algn="ctr">
              <a:buNone/>
            </a:pPr>
            <a:endParaRPr lang="es-ES" b="1">
              <a:solidFill>
                <a:schemeClr val="accent3">
                  <a:lumMod val="75000"/>
                </a:schemeClr>
              </a:solidFill>
              <a:latin typeface="Century Gothic" panose="020B0502020202020204" pitchFamily="34" charset="0"/>
            </a:endParaRPr>
          </a:p>
          <a:p>
            <a:pPr algn="just">
              <a:buClr>
                <a:schemeClr val="accent3">
                  <a:lumMod val="75000"/>
                </a:schemeClr>
              </a:buClr>
              <a:buFont typeface="Wingdings" pitchFamily="2" charset="2"/>
              <a:buChar char="q"/>
            </a:pPr>
            <a:r>
              <a:rPr lang="es-ES">
                <a:solidFill>
                  <a:schemeClr val="accent1"/>
                </a:solidFill>
                <a:latin typeface="Century Gothic" panose="020B0502020202020204" pitchFamily="34" charset="0"/>
              </a:rPr>
              <a:t>Esto se debe a que, dependiendo del tipo de costo, el comportamiento será distinto y la forma de proyectarlos también.</a:t>
            </a:r>
          </a:p>
          <a:p>
            <a:pPr algn="just">
              <a:buClr>
                <a:schemeClr val="accent3">
                  <a:lumMod val="75000"/>
                </a:schemeClr>
              </a:buClr>
              <a:buFont typeface="Wingdings" pitchFamily="2" charset="2"/>
              <a:buChar char="q"/>
            </a:pPr>
            <a:r>
              <a:rPr lang="es-ES">
                <a:solidFill>
                  <a:schemeClr val="accent1"/>
                </a:solidFill>
                <a:latin typeface="Century Gothic" panose="020B0502020202020204" pitchFamily="34" charset="0"/>
              </a:rPr>
              <a:t>Por ejemplo, los costos fijos (al no depender del nivel de ventas) cambiarán en función de un índice de precios.</a:t>
            </a:r>
          </a:p>
          <a:p>
            <a:pPr algn="just">
              <a:buClr>
                <a:schemeClr val="accent3">
                  <a:lumMod val="75000"/>
                </a:schemeClr>
              </a:buClr>
              <a:buFont typeface="Wingdings" pitchFamily="2" charset="2"/>
              <a:buChar char="q"/>
            </a:pPr>
            <a:r>
              <a:rPr lang="es-ES">
                <a:solidFill>
                  <a:schemeClr val="accent1"/>
                </a:solidFill>
                <a:latin typeface="Century Gothic" panose="020B0502020202020204" pitchFamily="34" charset="0"/>
              </a:rPr>
              <a:t>Por el contrario, los costos variables (al depender del nivel de actividad) cambiarán por un efecto combinado en precio y cantidad.</a:t>
            </a:r>
          </a:p>
          <a:p>
            <a:pPr algn="just"/>
            <a:endParaRPr lang="es-ES">
              <a:latin typeface="Century Gothic" panose="020B0502020202020204" pitchFamily="34" charset="0"/>
            </a:endParaRPr>
          </a:p>
        </p:txBody>
      </p:sp>
      <p:sp>
        <p:nvSpPr>
          <p:cNvPr id="6" name="Rectángulo 5">
            <a:extLst>
              <a:ext uri="{FF2B5EF4-FFF2-40B4-BE49-F238E27FC236}">
                <a16:creationId xmlns:a16="http://schemas.microsoft.com/office/drawing/2014/main" id="{596E8835-2516-BB12-3051-69173F70945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ECCB4531-2EB4-2626-1B64-82DB6646F8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F0FF0BF8-EB9D-514A-6FFC-E9B6FB0A0FF3}"/>
              </a:ext>
            </a:extLst>
          </p:cNvPr>
          <p:cNvPicPr>
            <a:picLocks noChangeAspect="1"/>
          </p:cNvPicPr>
          <p:nvPr/>
        </p:nvPicPr>
        <p:blipFill>
          <a:blip r:embed="rId3"/>
          <a:stretch>
            <a:fillRect/>
          </a:stretch>
        </p:blipFill>
        <p:spPr>
          <a:xfrm>
            <a:off x="9749481" y="3669251"/>
            <a:ext cx="2152126" cy="1515146"/>
          </a:xfrm>
          <a:prstGeom prst="rect">
            <a:avLst/>
          </a:prstGeom>
        </p:spPr>
      </p:pic>
      <p:sp>
        <p:nvSpPr>
          <p:cNvPr id="5" name="Rectángulo 4">
            <a:extLst>
              <a:ext uri="{FF2B5EF4-FFF2-40B4-BE49-F238E27FC236}">
                <a16:creationId xmlns:a16="http://schemas.microsoft.com/office/drawing/2014/main" id="{E378D047-0AD2-8FFC-2768-91690B12A43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número de diapositiva 3">
            <a:extLst>
              <a:ext uri="{FF2B5EF4-FFF2-40B4-BE49-F238E27FC236}">
                <a16:creationId xmlns:a16="http://schemas.microsoft.com/office/drawing/2014/main" id="{1690AEC7-5A95-C382-2ED7-5BB03CCDEC99}"/>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9</a:t>
            </a:fld>
            <a:endParaRPr lang="en-US" sz="2000" b="1">
              <a:latin typeface="Century Gothic" panose="020B0502020202020204" pitchFamily="34" charset="0"/>
            </a:endParaRPr>
          </a:p>
        </p:txBody>
      </p:sp>
    </p:spTree>
    <p:extLst>
      <p:ext uri="{BB962C8B-B14F-4D97-AF65-F5344CB8AC3E}">
        <p14:creationId xmlns:p14="http://schemas.microsoft.com/office/powerpoint/2010/main" val="1517493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Ingresos  y Costos Pertinentes</a:t>
            </a:r>
          </a:p>
        </p:txBody>
      </p:sp>
      <p:sp>
        <p:nvSpPr>
          <p:cNvPr id="3" name="Marcador de contenido 2"/>
          <p:cNvSpPr>
            <a:spLocks noGrp="1"/>
          </p:cNvSpPr>
          <p:nvPr>
            <p:ph idx="1"/>
          </p:nvPr>
        </p:nvSpPr>
        <p:spPr>
          <a:xfrm>
            <a:off x="581191" y="2230811"/>
            <a:ext cx="11156181" cy="3907888"/>
          </a:xfrm>
        </p:spPr>
        <p:txBody>
          <a:bodyPr>
            <a:normAutofit/>
          </a:bodyPr>
          <a:lstStyle/>
          <a:p>
            <a:pPr algn="just">
              <a:buClr>
                <a:schemeClr val="accent3">
                  <a:lumMod val="75000"/>
                </a:schemeClr>
              </a:buClr>
              <a:buFont typeface="Wingdings" pitchFamily="2" charset="2"/>
              <a:buChar char="q"/>
            </a:pPr>
            <a:r>
              <a:rPr lang="es-ES" dirty="0">
                <a:latin typeface="Century Gothic" panose="020B0502020202020204" pitchFamily="34" charset="0"/>
              </a:rPr>
              <a:t>Existen algunas reglas conceptuales básicas de ingresos y costos pertinentes en la construcción del FCL.</a:t>
            </a:r>
          </a:p>
          <a:p>
            <a:pPr marL="0" indent="0" algn="just">
              <a:buClr>
                <a:schemeClr val="accent3">
                  <a:lumMod val="75000"/>
                </a:schemeClr>
              </a:buClr>
              <a:buNone/>
            </a:pPr>
            <a:endParaRPr lang="es-ES" dirty="0">
              <a:latin typeface="Century Gothic" panose="020B0502020202020204" pitchFamily="34" charset="0"/>
            </a:endParaRPr>
          </a:p>
          <a:p>
            <a:pPr algn="just">
              <a:buClr>
                <a:schemeClr val="accent3">
                  <a:lumMod val="75000"/>
                </a:schemeClr>
              </a:buClr>
              <a:buFont typeface="Wingdings" pitchFamily="2" charset="2"/>
              <a:buChar char="q"/>
            </a:pPr>
            <a:r>
              <a:rPr lang="es-ES" dirty="0">
                <a:latin typeface="Century Gothic" panose="020B0502020202020204" pitchFamily="34" charset="0"/>
              </a:rPr>
              <a:t>Luego de mostrar la estructura del flujo de caja libre, es de vital importancia dejar en claro algunos elementos acerca de los </a:t>
            </a:r>
            <a:r>
              <a:rPr lang="es-ES" b="1" dirty="0">
                <a:solidFill>
                  <a:schemeClr val="accent3">
                    <a:lumMod val="75000"/>
                  </a:schemeClr>
                </a:solidFill>
                <a:latin typeface="Century Gothic" panose="020B0502020202020204" pitchFamily="34" charset="0"/>
              </a:rPr>
              <a:t>ingresos y costos que deben y no deben incluirse en los flujos de caja</a:t>
            </a:r>
            <a:r>
              <a:rPr lang="es-ES" dirty="0">
                <a:latin typeface="Century Gothic" panose="020B0502020202020204" pitchFamily="34" charset="0"/>
              </a:rPr>
              <a:t>:</a:t>
            </a:r>
          </a:p>
          <a:p>
            <a:pPr lvl="1">
              <a:buClr>
                <a:schemeClr val="accent3">
                  <a:lumMod val="75000"/>
                </a:schemeClr>
              </a:buClr>
              <a:buFont typeface="Courier New" panose="02070309020205020404" pitchFamily="49" charset="0"/>
              <a:buChar char="o"/>
            </a:pPr>
            <a:r>
              <a:rPr lang="es-ES" sz="1800" b="1" dirty="0">
                <a:solidFill>
                  <a:srgbClr val="C00000"/>
                </a:solidFill>
                <a:latin typeface="Century Gothic" panose="020B0502020202020204" pitchFamily="34" charset="0"/>
              </a:rPr>
              <a:t>Regla #1: </a:t>
            </a:r>
            <a:r>
              <a:rPr lang="es-ES" sz="1800" dirty="0">
                <a:latin typeface="Century Gothic" panose="020B0502020202020204" pitchFamily="34" charset="0"/>
              </a:rPr>
              <a:t>Principio de marginalidad.</a:t>
            </a:r>
          </a:p>
          <a:p>
            <a:pPr lvl="1">
              <a:buClr>
                <a:schemeClr val="accent3">
                  <a:lumMod val="75000"/>
                </a:schemeClr>
              </a:buClr>
              <a:buFont typeface="Courier New" panose="02070309020205020404" pitchFamily="49" charset="0"/>
              <a:buChar char="o"/>
            </a:pPr>
            <a:r>
              <a:rPr lang="es-ES" sz="1800" b="1" dirty="0">
                <a:solidFill>
                  <a:srgbClr val="C00000"/>
                </a:solidFill>
                <a:latin typeface="Century Gothic" panose="020B0502020202020204" pitchFamily="34" charset="0"/>
              </a:rPr>
              <a:t>Regla #2: </a:t>
            </a:r>
            <a:r>
              <a:rPr lang="es-ES" sz="1800" dirty="0">
                <a:latin typeface="Century Gothic" panose="020B0502020202020204" pitchFamily="34" charset="0"/>
              </a:rPr>
              <a:t>Precios de mercado.</a:t>
            </a:r>
          </a:p>
          <a:p>
            <a:pPr lvl="1">
              <a:buClr>
                <a:schemeClr val="accent3">
                  <a:lumMod val="75000"/>
                </a:schemeClr>
              </a:buClr>
              <a:buFont typeface="Courier New" panose="02070309020205020404" pitchFamily="49" charset="0"/>
              <a:buChar char="o"/>
            </a:pPr>
            <a:r>
              <a:rPr lang="es-ES" sz="1800" b="1" dirty="0">
                <a:solidFill>
                  <a:srgbClr val="C00000"/>
                </a:solidFill>
                <a:latin typeface="Century Gothic" panose="020B0502020202020204" pitchFamily="34" charset="0"/>
              </a:rPr>
              <a:t>Regla #3: </a:t>
            </a:r>
            <a:r>
              <a:rPr lang="es-ES" sz="1800" dirty="0">
                <a:latin typeface="Century Gothic" panose="020B0502020202020204" pitchFamily="34" charset="0"/>
              </a:rPr>
              <a:t>Flujos de caja marginales, no costos muertos.</a:t>
            </a:r>
          </a:p>
          <a:p>
            <a:pPr lvl="1">
              <a:buClr>
                <a:schemeClr val="accent3">
                  <a:lumMod val="75000"/>
                </a:schemeClr>
              </a:buClr>
              <a:buFont typeface="Courier New" panose="02070309020205020404" pitchFamily="49" charset="0"/>
              <a:buChar char="o"/>
            </a:pPr>
            <a:r>
              <a:rPr lang="es-ES" sz="1800" b="1" dirty="0">
                <a:solidFill>
                  <a:srgbClr val="C00000"/>
                </a:solidFill>
                <a:latin typeface="Century Gothic" panose="020B0502020202020204" pitchFamily="34" charset="0"/>
              </a:rPr>
              <a:t>Regla #4: </a:t>
            </a:r>
            <a:r>
              <a:rPr lang="es-ES" sz="1800" dirty="0">
                <a:latin typeface="Century Gothic" panose="020B0502020202020204" pitchFamily="34" charset="0"/>
              </a:rPr>
              <a:t>Ingresos y egresos operacionales.</a:t>
            </a:r>
          </a:p>
          <a:p>
            <a:pPr algn="just"/>
            <a:endParaRPr lang="es-ES" dirty="0">
              <a:latin typeface="Century Gothic" panose="020B0502020202020204" pitchFamily="34" charset="0"/>
            </a:endParaRPr>
          </a:p>
        </p:txBody>
      </p:sp>
      <p:sp>
        <p:nvSpPr>
          <p:cNvPr id="6" name="Rectángulo 5">
            <a:extLst>
              <a:ext uri="{FF2B5EF4-FFF2-40B4-BE49-F238E27FC236}">
                <a16:creationId xmlns:a16="http://schemas.microsoft.com/office/drawing/2014/main" id="{5D89EA43-BD3B-44A2-92CD-372F5B912B6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68C9F0CF-2CCC-1EBE-A433-007CCCBC8F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D700780E-ED39-F619-6EFD-EAB16C35B928}"/>
              </a:ext>
            </a:extLst>
          </p:cNvPr>
          <p:cNvPicPr>
            <a:picLocks noChangeAspect="1"/>
          </p:cNvPicPr>
          <p:nvPr/>
        </p:nvPicPr>
        <p:blipFill>
          <a:blip r:embed="rId3"/>
          <a:stretch>
            <a:fillRect/>
          </a:stretch>
        </p:blipFill>
        <p:spPr>
          <a:xfrm>
            <a:off x="8009121" y="4271719"/>
            <a:ext cx="2781532" cy="1958262"/>
          </a:xfrm>
          <a:prstGeom prst="rect">
            <a:avLst/>
          </a:prstGeom>
        </p:spPr>
      </p:pic>
      <p:sp>
        <p:nvSpPr>
          <p:cNvPr id="5" name="Rectángulo 4">
            <a:extLst>
              <a:ext uri="{FF2B5EF4-FFF2-40B4-BE49-F238E27FC236}">
                <a16:creationId xmlns:a16="http://schemas.microsoft.com/office/drawing/2014/main" id="{40F41FAF-3EBE-050B-09F0-B8B07089E56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número de diapositiva 3">
            <a:extLst>
              <a:ext uri="{FF2B5EF4-FFF2-40B4-BE49-F238E27FC236}">
                <a16:creationId xmlns:a16="http://schemas.microsoft.com/office/drawing/2014/main" id="{AB03B0E5-0F2C-2BFE-0E5C-2DFF2A2A71BD}"/>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10</a:t>
            </a:fld>
            <a:endParaRPr lang="en-US" sz="2000" b="1">
              <a:latin typeface="Century Gothic" panose="020B0502020202020204" pitchFamily="34" charset="0"/>
            </a:endParaRPr>
          </a:p>
        </p:txBody>
      </p:sp>
    </p:spTree>
    <p:extLst>
      <p:ext uri="{BB962C8B-B14F-4D97-AF65-F5344CB8AC3E}">
        <p14:creationId xmlns:p14="http://schemas.microsoft.com/office/powerpoint/2010/main" val="2986848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 calcmode="lin" valueType="num">
                                      <p:cBhvr additive="base">
                                        <p:cTn id="2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3539430"/>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bg2">
                    <a:lumMod val="90000"/>
                  </a:schemeClr>
                </a:solidFill>
                <a:latin typeface="Century Gothic"/>
                <a:cs typeface="Arial"/>
              </a:rPr>
              <a:t>Ingresos y Costos Pertinentes.</a:t>
            </a:r>
            <a:endParaRPr lang="es-ES" sz="1600">
              <a:solidFill>
                <a:schemeClr val="bg2">
                  <a:lumMod val="90000"/>
                </a:schemeClr>
              </a:solidFill>
              <a:latin typeface="Century Gothic"/>
              <a:cs typeface="Arial"/>
            </a:endParaRPr>
          </a:p>
          <a:p>
            <a:pPr marL="342900" indent="-342900">
              <a:buClr>
                <a:srgbClr val="2C7C9F"/>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Principio de Marginalidad.</a:t>
            </a:r>
            <a:endParaRPr lang="es-CO" sz="1600">
              <a:solidFill>
                <a:schemeClr val="accent1"/>
              </a:solidFill>
              <a:latin typeface="Century Gothic"/>
            </a:endParaRPr>
          </a:p>
          <a:p>
            <a:pPr marL="342900" indent="-342900">
              <a:buClr>
                <a:srgbClr val="48BE7A"/>
              </a:buClr>
              <a:buFontTx/>
              <a:buAutoNum type="arabicPeriod"/>
            </a:pPr>
            <a:endParaRPr lang="es-CO" sz="1600">
              <a:solidFill>
                <a:schemeClr val="accent1"/>
              </a:solidFill>
              <a:latin typeface="Century Gothic"/>
            </a:endParaRPr>
          </a:p>
          <a:p>
            <a:pPr marL="342900" indent="-342900">
              <a:buClr>
                <a:srgbClr val="48BE7A"/>
              </a:buClr>
              <a:buFontTx/>
              <a:buAutoNum type="arabicPeriod"/>
            </a:pPr>
            <a:r>
              <a:rPr lang="es-CO" sz="1600">
                <a:solidFill>
                  <a:schemeClr val="bg2">
                    <a:lumMod val="90000"/>
                  </a:schemeClr>
                </a:solidFill>
                <a:latin typeface="Century Gothic"/>
                <a:cs typeface="Arial"/>
              </a:rPr>
              <a:t>Precios de Mercado.</a:t>
            </a:r>
            <a:endParaRPr lang="es-CO" sz="1600">
              <a:solidFill>
                <a:schemeClr val="bg2">
                  <a:lumMod val="90000"/>
                </a:schemeClr>
              </a:solidFill>
              <a:latin typeface="Century Gothic"/>
            </a:endParaRPr>
          </a:p>
          <a:p>
            <a:pPr marL="342900" indent="-342900">
              <a:buClr>
                <a:srgbClr val="48BE7A"/>
              </a:buClr>
              <a:buFontTx/>
              <a:buAutoNum type="arabicPeriod"/>
            </a:pPr>
            <a:endParaRPr lang="es-CO" sz="1600">
              <a:solidFill>
                <a:schemeClr val="bg2">
                  <a:lumMod val="90000"/>
                </a:schemeClr>
              </a:solidFill>
              <a:latin typeface="Century Gothic"/>
              <a:cs typeface="Arial"/>
            </a:endParaRPr>
          </a:p>
          <a:p>
            <a:pPr marL="342900" indent="-342900">
              <a:buClr>
                <a:srgbClr val="48BE7A"/>
              </a:buClr>
              <a:buFontTx/>
              <a:buAutoNum type="arabicPeriod"/>
            </a:pPr>
            <a:r>
              <a:rPr lang="es-CO" sz="1600">
                <a:solidFill>
                  <a:schemeClr val="bg2">
                    <a:lumMod val="90000"/>
                  </a:schemeClr>
                </a:solidFill>
                <a:latin typeface="Century Gothic"/>
                <a:cs typeface="Arial"/>
              </a:rPr>
              <a:t>Costos Muertos.</a:t>
            </a:r>
            <a:endParaRPr lang="es-CO" sz="160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sz="160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1600">
                <a:solidFill>
                  <a:schemeClr val="bg2">
                    <a:lumMod val="90000"/>
                  </a:schemeClr>
                </a:solidFill>
                <a:latin typeface="Century Gothic"/>
                <a:cs typeface="Arial"/>
              </a:rPr>
              <a:t>Ingresos y Egresos Operacionales.</a:t>
            </a:r>
          </a:p>
          <a:p>
            <a:pPr marL="342900" indent="-342900">
              <a:buClr>
                <a:srgbClr val="48BE7A"/>
              </a:buClr>
              <a:buAutoNum type="arabicPeriod"/>
            </a:pPr>
            <a:endParaRPr lang="es-CO" sz="1600">
              <a:solidFill>
                <a:schemeClr val="bg2">
                  <a:lumMod val="90000"/>
                </a:schemeClr>
              </a:solidFill>
              <a:latin typeface="Century Gothic"/>
              <a:cs typeface="Arial"/>
            </a:endParaRPr>
          </a:p>
          <a:p>
            <a:pPr marL="342900" indent="-342900">
              <a:buClr>
                <a:srgbClr val="48BE7A"/>
              </a:buClr>
              <a:buAutoNum type="arabicPeriod"/>
            </a:pPr>
            <a:r>
              <a:rPr lang="es-CO" sz="1600">
                <a:solidFill>
                  <a:schemeClr val="bg2">
                    <a:lumMod val="90000"/>
                  </a:schemeClr>
                </a:solidFill>
                <a:latin typeface="Century Gothic"/>
                <a:cs typeface="Arial"/>
              </a:rPr>
              <a:t>Ejercicio FCL.</a:t>
            </a:r>
          </a:p>
          <a:p>
            <a:pPr marL="342900" indent="-342900">
              <a:buClr>
                <a:srgbClr val="48BE7A"/>
              </a:buClr>
              <a:buAutoNum type="arabicPeriod"/>
            </a:pPr>
            <a:endParaRPr lang="es-CO" sz="1600">
              <a:solidFill>
                <a:srgbClr val="366658"/>
              </a:solidFill>
              <a:latin typeface="Century Gothic" panose="020B0502020202020204" pitchFamily="34" charset="0"/>
              <a:cs typeface="Arial"/>
            </a:endParaRPr>
          </a:p>
          <a:p>
            <a:pPr marL="342900" indent="-342900">
              <a:buClr>
                <a:srgbClr val="48BE7A"/>
              </a:buClr>
              <a:buAutoNum type="arabicPeriod"/>
            </a:pPr>
            <a:endParaRPr lang="es-CO" sz="1600">
              <a:solidFill>
                <a:srgbClr val="366658"/>
              </a:solidFill>
              <a:latin typeface="Century Gothic" panose="020B0502020202020204" pitchFamily="34" charset="0"/>
              <a:cs typeface="Arial"/>
            </a:endParaRPr>
          </a:p>
          <a:p>
            <a:pPr>
              <a:buClr>
                <a:srgbClr val="88D5A9">
                  <a:lumMod val="75000"/>
                </a:srgbClr>
              </a:buClr>
            </a:pPr>
            <a:endParaRPr lang="es-CO" sz="1600">
              <a:solidFill>
                <a:schemeClr val="accent1"/>
              </a:solidFill>
              <a:latin typeface="Century Gothic" panose="020B0502020202020204" pitchFamily="34" charset="0"/>
              <a:cs typeface="Arial"/>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5A6254BF-90C6-2598-AE3B-DD0CF9FE3CD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006F22D2-55A6-281E-1156-E7314C437CAB}"/>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11</a:t>
            </a:fld>
            <a:endParaRPr lang="en-US" sz="2000" b="1">
              <a:latin typeface="Century Gothic" panose="020B0502020202020204" pitchFamily="34" charset="0"/>
            </a:endParaRPr>
          </a:p>
        </p:txBody>
      </p:sp>
    </p:spTree>
    <p:extLst>
      <p:ext uri="{BB962C8B-B14F-4D97-AF65-F5344CB8AC3E}">
        <p14:creationId xmlns:p14="http://schemas.microsoft.com/office/powerpoint/2010/main" val="2016188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Regla #1: Principio de Marginalidad</a:t>
            </a:r>
          </a:p>
        </p:txBody>
      </p:sp>
      <p:sp>
        <p:nvSpPr>
          <p:cNvPr id="3" name="Marcador de contenido 2"/>
          <p:cNvSpPr>
            <a:spLocks noGrp="1"/>
          </p:cNvSpPr>
          <p:nvPr>
            <p:ph idx="1"/>
          </p:nvPr>
        </p:nvSpPr>
        <p:spPr>
          <a:xfrm>
            <a:off x="1171201" y="2535452"/>
            <a:ext cx="7374283" cy="3120173"/>
          </a:xfrm>
        </p:spPr>
        <p:txBody>
          <a:bodyPr>
            <a:normAutofit/>
          </a:bodyPr>
          <a:lstStyle/>
          <a:p>
            <a:pPr marL="0" indent="0" algn="ctr">
              <a:buNone/>
            </a:pPr>
            <a:r>
              <a:rPr lang="es-ES">
                <a:latin typeface="Century Gothic" panose="020B0502020202020204" pitchFamily="34" charset="0"/>
              </a:rPr>
              <a:t>El principio de marginalidad vinculante nos permite recordar que debemos focalizarnos en los </a:t>
            </a:r>
            <a:r>
              <a:rPr lang="es-ES" b="1">
                <a:solidFill>
                  <a:srgbClr val="D7A700"/>
                </a:solidFill>
                <a:latin typeface="Century Gothic" panose="020B0502020202020204" pitchFamily="34" charset="0"/>
              </a:rPr>
              <a:t>flujos de caja diferenciales (Ingresos y egresos), que se generan como consecuencia de la implementación de un proyecto</a:t>
            </a:r>
            <a:r>
              <a:rPr lang="es-ES" b="1">
                <a:solidFill>
                  <a:schemeClr val="tx1">
                    <a:lumMod val="75000"/>
                    <a:lumOff val="25000"/>
                  </a:schemeClr>
                </a:solidFill>
                <a:latin typeface="Century Gothic" panose="020B0502020202020204" pitchFamily="34" charset="0"/>
              </a:rPr>
              <a:t>. </a:t>
            </a:r>
            <a:r>
              <a:rPr lang="es-ES" b="1">
                <a:solidFill>
                  <a:srgbClr val="C00000"/>
                </a:solidFill>
                <a:latin typeface="Century Gothic" panose="020B0502020202020204" pitchFamily="34" charset="0"/>
              </a:rPr>
              <a:t>ÚNICAMENTE</a:t>
            </a:r>
            <a:r>
              <a:rPr lang="es-ES">
                <a:latin typeface="Century Gothic" panose="020B0502020202020204" pitchFamily="34" charset="0"/>
              </a:rPr>
              <a:t> estos flujos marginales deben considerarse en la elaboración de los flujos de caja pertinentes para la evaluación de un proyecto.</a:t>
            </a:r>
          </a:p>
        </p:txBody>
      </p:sp>
      <p:sp>
        <p:nvSpPr>
          <p:cNvPr id="6" name="Rectángulo 5">
            <a:extLst>
              <a:ext uri="{FF2B5EF4-FFF2-40B4-BE49-F238E27FC236}">
                <a16:creationId xmlns:a16="http://schemas.microsoft.com/office/drawing/2014/main" id="{3CBBD720-AE6D-735D-6CE6-01C6D327F2E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BC46EB14-AB17-E8AF-E88B-9EC4E83050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B0D10AA8-F8E7-D0D0-A4D5-7828D20DFEAB}"/>
              </a:ext>
            </a:extLst>
          </p:cNvPr>
          <p:cNvPicPr>
            <a:picLocks noChangeAspect="1"/>
          </p:cNvPicPr>
          <p:nvPr/>
        </p:nvPicPr>
        <p:blipFill>
          <a:blip r:embed="rId3"/>
          <a:stretch>
            <a:fillRect/>
          </a:stretch>
        </p:blipFill>
        <p:spPr>
          <a:xfrm>
            <a:off x="8545484" y="3097772"/>
            <a:ext cx="2819968" cy="2217952"/>
          </a:xfrm>
          <a:prstGeom prst="rect">
            <a:avLst/>
          </a:prstGeom>
        </p:spPr>
      </p:pic>
      <p:sp>
        <p:nvSpPr>
          <p:cNvPr id="5" name="Rectángulo 4">
            <a:extLst>
              <a:ext uri="{FF2B5EF4-FFF2-40B4-BE49-F238E27FC236}">
                <a16:creationId xmlns:a16="http://schemas.microsoft.com/office/drawing/2014/main" id="{DCF32F6F-7B07-956E-3616-6CB20C61C9C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número de diapositiva 3">
            <a:extLst>
              <a:ext uri="{FF2B5EF4-FFF2-40B4-BE49-F238E27FC236}">
                <a16:creationId xmlns:a16="http://schemas.microsoft.com/office/drawing/2014/main" id="{E421A058-F4C4-DBF1-2C7B-5CAAA7D53965}"/>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12</a:t>
            </a:fld>
            <a:endParaRPr lang="en-US" sz="2000" b="1">
              <a:latin typeface="Century Gothic" panose="020B0502020202020204" pitchFamily="34" charset="0"/>
            </a:endParaRPr>
          </a:p>
        </p:txBody>
      </p:sp>
    </p:spTree>
    <p:extLst>
      <p:ext uri="{BB962C8B-B14F-4D97-AF65-F5344CB8AC3E}">
        <p14:creationId xmlns:p14="http://schemas.microsoft.com/office/powerpoint/2010/main" val="25709512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Regla #1: Principio de Marginalidad</a:t>
            </a:r>
          </a:p>
        </p:txBody>
      </p:sp>
      <p:sp>
        <p:nvSpPr>
          <p:cNvPr id="3" name="Marcador de contenido 2"/>
          <p:cNvSpPr>
            <a:spLocks noGrp="1"/>
          </p:cNvSpPr>
          <p:nvPr>
            <p:ph idx="1"/>
          </p:nvPr>
        </p:nvSpPr>
        <p:spPr>
          <a:xfrm>
            <a:off x="730921" y="2408207"/>
            <a:ext cx="10557164" cy="4244329"/>
          </a:xfrm>
        </p:spPr>
        <p:txBody>
          <a:bodyPr>
            <a:noAutofit/>
          </a:bodyPr>
          <a:lstStyle/>
          <a:p>
            <a:pPr marL="0" indent="0" algn="just">
              <a:buNone/>
            </a:pPr>
            <a:r>
              <a:rPr lang="es-ES">
                <a:solidFill>
                  <a:schemeClr val="accent1"/>
                </a:solidFill>
                <a:latin typeface="Century Gothic" panose="020B0502020202020204" pitchFamily="34" charset="0"/>
              </a:rPr>
              <a:t>Usted es dueño de una línea férrea en la costa caribe colombiana.</a:t>
            </a:r>
          </a:p>
          <a:p>
            <a:pPr marL="0" indent="0" algn="just">
              <a:buNone/>
            </a:pPr>
            <a:r>
              <a:rPr lang="es-ES">
                <a:solidFill>
                  <a:schemeClr val="accent1"/>
                </a:solidFill>
                <a:latin typeface="Century Gothic" panose="020B0502020202020204" pitchFamily="34" charset="0"/>
              </a:rPr>
              <a:t>Usted tiene actualmente un contrato con Cerrejón, por los próximos 10 años. Este contrato le promete un ingreso de 500 USD al año por transportar 100 toneladas de carbón.</a:t>
            </a:r>
          </a:p>
          <a:p>
            <a:pPr marL="0" indent="0" algn="just">
              <a:buNone/>
            </a:pPr>
            <a:r>
              <a:rPr lang="es-ES">
                <a:solidFill>
                  <a:schemeClr val="accent1"/>
                </a:solidFill>
                <a:latin typeface="Century Gothic" panose="020B0502020202020204" pitchFamily="34" charset="0"/>
              </a:rPr>
              <a:t>Su negocio tiene costos fijos que ascienden a 125 USD al año y unos variables de operación estimados en 3 USD/Ton.</a:t>
            </a:r>
          </a:p>
          <a:p>
            <a:pPr marL="0" indent="0" algn="just">
              <a:buNone/>
            </a:pPr>
            <a:r>
              <a:rPr lang="es-ES">
                <a:solidFill>
                  <a:schemeClr val="accent1"/>
                </a:solidFill>
                <a:latin typeface="Century Gothic" panose="020B0502020202020204" pitchFamily="34" charset="0"/>
              </a:rPr>
              <a:t>Usted firmó un nuevo contrato, por el mismo plazo, con Drummond. Este contrato le otorgará unos ingresos adicionales de 250 USD por transportar 40 toneladas de carbón. Adicionalmente, usted sabe que su estructura de costos se mantiene constante.</a:t>
            </a:r>
          </a:p>
          <a:p>
            <a:pPr marL="0" indent="0" algn="just">
              <a:buNone/>
            </a:pPr>
            <a:endParaRPr lang="es-ES">
              <a:latin typeface="Century Gothic" panose="020B0502020202020204" pitchFamily="34" charset="0"/>
            </a:endParaRPr>
          </a:p>
          <a:p>
            <a:pPr marL="0" indent="0" algn="ctr">
              <a:buNone/>
            </a:pPr>
            <a:r>
              <a:rPr lang="es-ES" b="1">
                <a:solidFill>
                  <a:srgbClr val="C00000"/>
                </a:solidFill>
                <a:latin typeface="Century Gothic" panose="020B0502020202020204" pitchFamily="34" charset="0"/>
              </a:rPr>
              <a:t>Si usted quiere evaluar la generación de valor del nuevo contrato, ¿qué ingresos y egresos tomaría?</a:t>
            </a:r>
          </a:p>
        </p:txBody>
      </p:sp>
      <p:sp>
        <p:nvSpPr>
          <p:cNvPr id="6" name="Rectángulo 5">
            <a:extLst>
              <a:ext uri="{FF2B5EF4-FFF2-40B4-BE49-F238E27FC236}">
                <a16:creationId xmlns:a16="http://schemas.microsoft.com/office/drawing/2014/main" id="{EBB463E9-C251-412D-65CD-B2353BC00E9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3FD7D4F5-A5CD-72E4-F320-26942780BB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0733AD95-4ACA-A9F4-0526-D2A0080B74AD}"/>
              </a:ext>
            </a:extLst>
          </p:cNvPr>
          <p:cNvPicPr>
            <a:picLocks noChangeAspect="1"/>
          </p:cNvPicPr>
          <p:nvPr/>
        </p:nvPicPr>
        <p:blipFill rotWithShape="1">
          <a:blip r:embed="rId3"/>
          <a:srcRect t="8466" b="12753"/>
          <a:stretch/>
        </p:blipFill>
        <p:spPr>
          <a:xfrm>
            <a:off x="8795541" y="1831223"/>
            <a:ext cx="2092554" cy="1153967"/>
          </a:xfrm>
          <a:prstGeom prst="rect">
            <a:avLst/>
          </a:prstGeom>
        </p:spPr>
      </p:pic>
      <p:sp>
        <p:nvSpPr>
          <p:cNvPr id="5" name="Rectángulo 4">
            <a:extLst>
              <a:ext uri="{FF2B5EF4-FFF2-40B4-BE49-F238E27FC236}">
                <a16:creationId xmlns:a16="http://schemas.microsoft.com/office/drawing/2014/main" id="{4E704943-AA12-0B10-AD08-08379CD51E7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número de diapositiva 3">
            <a:extLst>
              <a:ext uri="{FF2B5EF4-FFF2-40B4-BE49-F238E27FC236}">
                <a16:creationId xmlns:a16="http://schemas.microsoft.com/office/drawing/2014/main" id="{E8B42C50-E3A8-0EB4-CE9C-07C6F0C6D4D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13</a:t>
            </a:fld>
            <a:endParaRPr lang="en-US" sz="2000" b="1">
              <a:latin typeface="Century Gothic" panose="020B0502020202020204" pitchFamily="34" charset="0"/>
            </a:endParaRPr>
          </a:p>
        </p:txBody>
      </p:sp>
    </p:spTree>
    <p:extLst>
      <p:ext uri="{BB962C8B-B14F-4D97-AF65-F5344CB8AC3E}">
        <p14:creationId xmlns:p14="http://schemas.microsoft.com/office/powerpoint/2010/main" val="3446104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Regla #1: Principio de Marginalidad</a:t>
            </a:r>
            <a:endParaRPr lang="es-CO">
              <a:latin typeface="Century Gothic" panose="020B0502020202020204" pitchFamily="34" charset="0"/>
            </a:endParaRPr>
          </a:p>
        </p:txBody>
      </p:sp>
      <p:cxnSp>
        <p:nvCxnSpPr>
          <p:cNvPr id="6" name="Conector recto 5"/>
          <p:cNvCxnSpPr/>
          <p:nvPr/>
        </p:nvCxnSpPr>
        <p:spPr>
          <a:xfrm>
            <a:off x="1614926" y="3099991"/>
            <a:ext cx="2511188"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 name="Conector recto de flecha 7"/>
          <p:cNvCxnSpPr/>
          <p:nvPr/>
        </p:nvCxnSpPr>
        <p:spPr>
          <a:xfrm>
            <a:off x="1901529" y="3099992"/>
            <a:ext cx="0" cy="532263"/>
          </a:xfrm>
          <a:prstGeom prst="straightConnector1">
            <a:avLst/>
          </a:prstGeom>
          <a:ln w="38100">
            <a:solidFill>
              <a:srgbClr val="7030A0"/>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ector recto de flecha 9"/>
          <p:cNvCxnSpPr/>
          <p:nvPr/>
        </p:nvCxnSpPr>
        <p:spPr>
          <a:xfrm>
            <a:off x="4126114" y="3099992"/>
            <a:ext cx="0" cy="532263"/>
          </a:xfrm>
          <a:prstGeom prst="straightConnector1">
            <a:avLst/>
          </a:prstGeom>
          <a:ln w="38100">
            <a:solidFill>
              <a:srgbClr val="7030A0"/>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ector recto 11"/>
          <p:cNvCxnSpPr/>
          <p:nvPr/>
        </p:nvCxnSpPr>
        <p:spPr>
          <a:xfrm>
            <a:off x="1901530" y="3620379"/>
            <a:ext cx="2224585" cy="0"/>
          </a:xfrm>
          <a:prstGeom prst="line">
            <a:avLst/>
          </a:prstGeom>
          <a:ln w="38100">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15" name="Conector recto de flecha 14"/>
          <p:cNvCxnSpPr/>
          <p:nvPr/>
        </p:nvCxnSpPr>
        <p:spPr>
          <a:xfrm flipV="1">
            <a:off x="1901529" y="2567729"/>
            <a:ext cx="0" cy="532262"/>
          </a:xfrm>
          <a:prstGeom prst="straightConnector1">
            <a:avLst/>
          </a:prstGeom>
          <a:ln w="3810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16" name="Conector recto de flecha 15"/>
          <p:cNvCxnSpPr/>
          <p:nvPr/>
        </p:nvCxnSpPr>
        <p:spPr>
          <a:xfrm flipV="1">
            <a:off x="4142036" y="2567729"/>
            <a:ext cx="0" cy="532262"/>
          </a:xfrm>
          <a:prstGeom prst="straightConnector1">
            <a:avLst/>
          </a:prstGeom>
          <a:ln w="3810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18" name="Conector recto 17"/>
          <p:cNvCxnSpPr/>
          <p:nvPr/>
        </p:nvCxnSpPr>
        <p:spPr>
          <a:xfrm>
            <a:off x="1901530" y="2579604"/>
            <a:ext cx="2224585" cy="0"/>
          </a:xfrm>
          <a:prstGeom prst="line">
            <a:avLst/>
          </a:prstGeom>
          <a:ln w="38100">
            <a:solidFill>
              <a:srgbClr val="00B050"/>
            </a:solidFill>
          </a:ln>
        </p:spPr>
        <p:style>
          <a:lnRef idx="2">
            <a:schemeClr val="dk1"/>
          </a:lnRef>
          <a:fillRef idx="0">
            <a:schemeClr val="dk1"/>
          </a:fillRef>
          <a:effectRef idx="1">
            <a:schemeClr val="dk1"/>
          </a:effectRef>
          <a:fontRef idx="minor">
            <a:schemeClr val="tx1"/>
          </a:fontRef>
        </p:style>
      </p:cxnSp>
      <p:cxnSp>
        <p:nvCxnSpPr>
          <p:cNvPr id="20" name="Conector recto de flecha 19"/>
          <p:cNvCxnSpPr/>
          <p:nvPr/>
        </p:nvCxnSpPr>
        <p:spPr>
          <a:xfrm>
            <a:off x="2010711" y="3099992"/>
            <a:ext cx="0" cy="409433"/>
          </a:xfrm>
          <a:prstGeom prst="straightConnector1">
            <a:avLst/>
          </a:prstGeom>
          <a:ln w="38100">
            <a:solidFill>
              <a:srgbClr val="C00000"/>
            </a:solidFill>
            <a:tailEnd type="triangle"/>
          </a:ln>
        </p:spPr>
        <p:style>
          <a:lnRef idx="2">
            <a:schemeClr val="accent4"/>
          </a:lnRef>
          <a:fillRef idx="0">
            <a:schemeClr val="accent4"/>
          </a:fillRef>
          <a:effectRef idx="1">
            <a:schemeClr val="accent4"/>
          </a:effectRef>
          <a:fontRef idx="minor">
            <a:schemeClr val="tx1"/>
          </a:fontRef>
        </p:style>
      </p:cxnSp>
      <p:cxnSp>
        <p:nvCxnSpPr>
          <p:cNvPr id="21" name="Conector recto de flecha 20"/>
          <p:cNvCxnSpPr/>
          <p:nvPr/>
        </p:nvCxnSpPr>
        <p:spPr>
          <a:xfrm>
            <a:off x="4019207" y="3099992"/>
            <a:ext cx="0" cy="409433"/>
          </a:xfrm>
          <a:prstGeom prst="straightConnector1">
            <a:avLst/>
          </a:prstGeom>
          <a:ln w="38100">
            <a:solidFill>
              <a:srgbClr val="C00000"/>
            </a:solidFill>
            <a:tailEnd type="triangle"/>
          </a:ln>
        </p:spPr>
        <p:style>
          <a:lnRef idx="2">
            <a:schemeClr val="accent4"/>
          </a:lnRef>
          <a:fillRef idx="0">
            <a:schemeClr val="accent4"/>
          </a:fillRef>
          <a:effectRef idx="1">
            <a:schemeClr val="accent4"/>
          </a:effectRef>
          <a:fontRef idx="minor">
            <a:schemeClr val="tx1"/>
          </a:fontRef>
        </p:style>
      </p:cxnSp>
      <p:cxnSp>
        <p:nvCxnSpPr>
          <p:cNvPr id="23" name="Conector recto 22"/>
          <p:cNvCxnSpPr/>
          <p:nvPr/>
        </p:nvCxnSpPr>
        <p:spPr>
          <a:xfrm>
            <a:off x="2010711" y="3485674"/>
            <a:ext cx="2008496" cy="0"/>
          </a:xfrm>
          <a:prstGeom prst="line">
            <a:avLst/>
          </a:prstGeom>
          <a:ln w="38100">
            <a:solidFill>
              <a:srgbClr val="C00000"/>
            </a:solidFill>
          </a:ln>
        </p:spPr>
        <p:style>
          <a:lnRef idx="2">
            <a:schemeClr val="accent4"/>
          </a:lnRef>
          <a:fillRef idx="0">
            <a:schemeClr val="accent4"/>
          </a:fillRef>
          <a:effectRef idx="1">
            <a:schemeClr val="accent4"/>
          </a:effectRef>
          <a:fontRef idx="minor">
            <a:schemeClr val="tx1"/>
          </a:fontRef>
        </p:style>
      </p:cxnSp>
      <p:sp>
        <p:nvSpPr>
          <p:cNvPr id="24" name="CuadroTexto 23"/>
          <p:cNvSpPr txBox="1"/>
          <p:nvPr/>
        </p:nvSpPr>
        <p:spPr>
          <a:xfrm>
            <a:off x="4220493" y="2682646"/>
            <a:ext cx="801823" cy="276999"/>
          </a:xfrm>
          <a:prstGeom prst="rect">
            <a:avLst/>
          </a:prstGeom>
          <a:noFill/>
          <a:ln>
            <a:noFill/>
          </a:ln>
        </p:spPr>
        <p:txBody>
          <a:bodyPr wrap="none" rtlCol="0">
            <a:spAutoFit/>
          </a:bodyPr>
          <a:lstStyle/>
          <a:p>
            <a:r>
              <a:rPr lang="es-CO" sz="1200" b="1">
                <a:solidFill>
                  <a:srgbClr val="00B050"/>
                </a:solidFill>
                <a:latin typeface="Century Gothic" panose="020B0502020202020204" pitchFamily="34" charset="0"/>
              </a:rPr>
              <a:t>Ingresos</a:t>
            </a:r>
          </a:p>
        </p:txBody>
      </p:sp>
      <p:sp>
        <p:nvSpPr>
          <p:cNvPr id="25" name="CuadroTexto 24"/>
          <p:cNvSpPr txBox="1"/>
          <p:nvPr/>
        </p:nvSpPr>
        <p:spPr>
          <a:xfrm>
            <a:off x="4273961" y="3099992"/>
            <a:ext cx="378630" cy="276999"/>
          </a:xfrm>
          <a:prstGeom prst="rect">
            <a:avLst/>
          </a:prstGeom>
          <a:noFill/>
          <a:ln>
            <a:noFill/>
          </a:ln>
        </p:spPr>
        <p:txBody>
          <a:bodyPr wrap="none" rtlCol="0">
            <a:spAutoFit/>
          </a:bodyPr>
          <a:lstStyle/>
          <a:p>
            <a:r>
              <a:rPr lang="es-CO" sz="1200" b="1">
                <a:solidFill>
                  <a:srgbClr val="C00000"/>
                </a:solidFill>
                <a:latin typeface="Century Gothic" panose="020B0502020202020204" pitchFamily="34" charset="0"/>
              </a:rPr>
              <a:t>CF</a:t>
            </a:r>
          </a:p>
        </p:txBody>
      </p:sp>
      <p:sp>
        <p:nvSpPr>
          <p:cNvPr id="26" name="CuadroTexto 25"/>
          <p:cNvSpPr txBox="1"/>
          <p:nvPr/>
        </p:nvSpPr>
        <p:spPr>
          <a:xfrm>
            <a:off x="4281237" y="3379866"/>
            <a:ext cx="412292" cy="276999"/>
          </a:xfrm>
          <a:prstGeom prst="rect">
            <a:avLst/>
          </a:prstGeom>
          <a:noFill/>
          <a:ln>
            <a:noFill/>
          </a:ln>
        </p:spPr>
        <p:txBody>
          <a:bodyPr wrap="none" rtlCol="0">
            <a:spAutoFit/>
          </a:bodyPr>
          <a:lstStyle/>
          <a:p>
            <a:r>
              <a:rPr lang="es-CO" sz="1200" b="1">
                <a:solidFill>
                  <a:srgbClr val="7030A0"/>
                </a:solidFill>
                <a:latin typeface="Century Gothic" panose="020B0502020202020204" pitchFamily="34" charset="0"/>
              </a:rPr>
              <a:t>CV</a:t>
            </a:r>
          </a:p>
        </p:txBody>
      </p:sp>
      <p:cxnSp>
        <p:nvCxnSpPr>
          <p:cNvPr id="41" name="Conector recto de flecha 40"/>
          <p:cNvCxnSpPr/>
          <p:nvPr/>
        </p:nvCxnSpPr>
        <p:spPr>
          <a:xfrm flipV="1">
            <a:off x="6511606" y="2318174"/>
            <a:ext cx="0" cy="302527"/>
          </a:xfrm>
          <a:prstGeom prst="straightConnector1">
            <a:avLst/>
          </a:prstGeom>
          <a:ln w="38100">
            <a:solidFill>
              <a:srgbClr val="0070C0"/>
            </a:solidFill>
            <a:tailEnd type="triangle"/>
          </a:ln>
        </p:spPr>
        <p:style>
          <a:lnRef idx="2">
            <a:schemeClr val="accent6"/>
          </a:lnRef>
          <a:fillRef idx="0">
            <a:schemeClr val="accent6"/>
          </a:fillRef>
          <a:effectRef idx="1">
            <a:schemeClr val="accent6"/>
          </a:effectRef>
          <a:fontRef idx="minor">
            <a:schemeClr val="tx1"/>
          </a:fontRef>
        </p:style>
      </p:cxnSp>
      <p:cxnSp>
        <p:nvCxnSpPr>
          <p:cNvPr id="42" name="Conector recto de flecha 41"/>
          <p:cNvCxnSpPr/>
          <p:nvPr/>
        </p:nvCxnSpPr>
        <p:spPr>
          <a:xfrm flipV="1">
            <a:off x="8752113" y="2318174"/>
            <a:ext cx="0" cy="302527"/>
          </a:xfrm>
          <a:prstGeom prst="straightConnector1">
            <a:avLst/>
          </a:prstGeom>
          <a:ln w="38100">
            <a:solidFill>
              <a:srgbClr val="0070C0"/>
            </a:solidFill>
            <a:tailEnd type="triangle"/>
          </a:ln>
        </p:spPr>
        <p:style>
          <a:lnRef idx="2">
            <a:schemeClr val="accent6"/>
          </a:lnRef>
          <a:fillRef idx="0">
            <a:schemeClr val="accent6"/>
          </a:fillRef>
          <a:effectRef idx="1">
            <a:schemeClr val="accent6"/>
          </a:effectRef>
          <a:fontRef idx="minor">
            <a:schemeClr val="tx1"/>
          </a:fontRef>
        </p:style>
      </p:cxnSp>
      <p:cxnSp>
        <p:nvCxnSpPr>
          <p:cNvPr id="44" name="Conector recto 43"/>
          <p:cNvCxnSpPr/>
          <p:nvPr/>
        </p:nvCxnSpPr>
        <p:spPr>
          <a:xfrm>
            <a:off x="6511607" y="2341923"/>
            <a:ext cx="2224585" cy="0"/>
          </a:xfrm>
          <a:prstGeom prst="line">
            <a:avLst/>
          </a:prstGeom>
          <a:ln w="38100">
            <a:solidFill>
              <a:srgbClr val="0070C0"/>
            </a:solidFill>
          </a:ln>
        </p:spPr>
        <p:style>
          <a:lnRef idx="2">
            <a:schemeClr val="accent6"/>
          </a:lnRef>
          <a:fillRef idx="0">
            <a:schemeClr val="accent6"/>
          </a:fillRef>
          <a:effectRef idx="1">
            <a:schemeClr val="accent6"/>
          </a:effectRef>
          <a:fontRef idx="minor">
            <a:schemeClr val="tx1"/>
          </a:fontRef>
        </p:style>
      </p:cxnSp>
      <p:sp>
        <p:nvSpPr>
          <p:cNvPr id="45" name="CuadroTexto 44"/>
          <p:cNvSpPr txBox="1"/>
          <p:nvPr/>
        </p:nvSpPr>
        <p:spPr>
          <a:xfrm>
            <a:off x="8830570" y="2336096"/>
            <a:ext cx="2146126" cy="276999"/>
          </a:xfrm>
          <a:prstGeom prst="rect">
            <a:avLst/>
          </a:prstGeom>
          <a:noFill/>
          <a:ln>
            <a:noFill/>
          </a:ln>
        </p:spPr>
        <p:txBody>
          <a:bodyPr wrap="square" rtlCol="0">
            <a:spAutoFit/>
          </a:bodyPr>
          <a:lstStyle/>
          <a:p>
            <a:r>
              <a:rPr lang="es-CO" sz="1200" b="1">
                <a:solidFill>
                  <a:srgbClr val="0070C0"/>
                </a:solidFill>
                <a:latin typeface="Century Gothic" panose="020B0502020202020204" pitchFamily="34" charset="0"/>
              </a:rPr>
              <a:t>Ingresos Adicionales</a:t>
            </a:r>
          </a:p>
        </p:txBody>
      </p:sp>
      <p:cxnSp>
        <p:nvCxnSpPr>
          <p:cNvPr id="47" name="Conector recto de flecha 46"/>
          <p:cNvCxnSpPr/>
          <p:nvPr/>
        </p:nvCxnSpPr>
        <p:spPr>
          <a:xfrm>
            <a:off x="6511606" y="3709836"/>
            <a:ext cx="0" cy="232421"/>
          </a:xfrm>
          <a:prstGeom prst="straightConnector1">
            <a:avLst/>
          </a:prstGeom>
          <a:ln w="38100">
            <a:solidFill>
              <a:srgbClr val="FF6600"/>
            </a:solidFill>
            <a:tailEnd type="triangle"/>
          </a:ln>
        </p:spPr>
        <p:style>
          <a:lnRef idx="2">
            <a:schemeClr val="accent5"/>
          </a:lnRef>
          <a:fillRef idx="0">
            <a:schemeClr val="accent5"/>
          </a:fillRef>
          <a:effectRef idx="1">
            <a:schemeClr val="accent5"/>
          </a:effectRef>
          <a:fontRef idx="minor">
            <a:schemeClr val="tx1"/>
          </a:fontRef>
        </p:style>
      </p:cxnSp>
      <p:cxnSp>
        <p:nvCxnSpPr>
          <p:cNvPr id="48" name="Conector recto de flecha 47"/>
          <p:cNvCxnSpPr/>
          <p:nvPr/>
        </p:nvCxnSpPr>
        <p:spPr>
          <a:xfrm>
            <a:off x="8736191" y="3685226"/>
            <a:ext cx="0" cy="232421"/>
          </a:xfrm>
          <a:prstGeom prst="straightConnector1">
            <a:avLst/>
          </a:prstGeom>
          <a:ln w="38100">
            <a:solidFill>
              <a:srgbClr val="FF6600"/>
            </a:solidFill>
            <a:tailEnd type="triangle"/>
          </a:ln>
        </p:spPr>
        <p:style>
          <a:lnRef idx="2">
            <a:schemeClr val="accent5"/>
          </a:lnRef>
          <a:fillRef idx="0">
            <a:schemeClr val="accent5"/>
          </a:fillRef>
          <a:effectRef idx="1">
            <a:schemeClr val="accent5"/>
          </a:effectRef>
          <a:fontRef idx="minor">
            <a:schemeClr val="tx1"/>
          </a:fontRef>
        </p:style>
      </p:cxnSp>
      <p:cxnSp>
        <p:nvCxnSpPr>
          <p:cNvPr id="50" name="Conector recto 49"/>
          <p:cNvCxnSpPr/>
          <p:nvPr/>
        </p:nvCxnSpPr>
        <p:spPr>
          <a:xfrm>
            <a:off x="6511607" y="3905771"/>
            <a:ext cx="2224585" cy="0"/>
          </a:xfrm>
          <a:prstGeom prst="line">
            <a:avLst/>
          </a:prstGeom>
          <a:ln w="38100">
            <a:solidFill>
              <a:srgbClr val="FF6600"/>
            </a:solidFill>
          </a:ln>
        </p:spPr>
        <p:style>
          <a:lnRef idx="2">
            <a:schemeClr val="accent5"/>
          </a:lnRef>
          <a:fillRef idx="0">
            <a:schemeClr val="accent5"/>
          </a:fillRef>
          <a:effectRef idx="1">
            <a:schemeClr val="accent5"/>
          </a:effectRef>
          <a:fontRef idx="minor">
            <a:schemeClr val="tx1"/>
          </a:fontRef>
        </p:style>
      </p:cxnSp>
      <p:sp>
        <p:nvSpPr>
          <p:cNvPr id="51" name="CuadroTexto 50"/>
          <p:cNvSpPr txBox="1"/>
          <p:nvPr/>
        </p:nvSpPr>
        <p:spPr>
          <a:xfrm>
            <a:off x="8879438" y="3686086"/>
            <a:ext cx="1445543" cy="276999"/>
          </a:xfrm>
          <a:prstGeom prst="rect">
            <a:avLst/>
          </a:prstGeom>
          <a:noFill/>
          <a:ln>
            <a:noFill/>
          </a:ln>
        </p:spPr>
        <p:txBody>
          <a:bodyPr wrap="square" rtlCol="0">
            <a:spAutoFit/>
          </a:bodyPr>
          <a:lstStyle/>
          <a:p>
            <a:r>
              <a:rPr lang="es-CO" sz="1200" b="1">
                <a:solidFill>
                  <a:srgbClr val="FF6600"/>
                </a:solidFill>
                <a:latin typeface="Century Gothic" panose="020B0502020202020204" pitchFamily="34" charset="0"/>
              </a:rPr>
              <a:t>CV Adicionales</a:t>
            </a:r>
          </a:p>
        </p:txBody>
      </p:sp>
      <p:sp>
        <p:nvSpPr>
          <p:cNvPr id="3" name="CuadroTexto 2"/>
          <p:cNvSpPr txBox="1"/>
          <p:nvPr/>
        </p:nvSpPr>
        <p:spPr>
          <a:xfrm>
            <a:off x="707157" y="4353369"/>
            <a:ext cx="5007689" cy="584775"/>
          </a:xfrm>
          <a:prstGeom prst="rect">
            <a:avLst/>
          </a:prstGeom>
          <a:noFill/>
          <a:ln>
            <a:noFill/>
          </a:ln>
        </p:spPr>
        <p:txBody>
          <a:bodyPr wrap="square" rtlCol="0">
            <a:spAutoFit/>
          </a:bodyPr>
          <a:lstStyle/>
          <a:p>
            <a:pPr algn="ctr"/>
            <a:r>
              <a:rPr lang="es-CO" sz="1600" b="1">
                <a:solidFill>
                  <a:srgbClr val="D7A700"/>
                </a:solidFill>
                <a:latin typeface="Century Gothic" panose="020B0502020202020204" pitchFamily="34" charset="0"/>
              </a:rPr>
              <a:t>¿Cuáles son los Ingresos y Egresos que contemplaría en el Flujo de Caja Libre? </a:t>
            </a:r>
          </a:p>
        </p:txBody>
      </p:sp>
      <p:cxnSp>
        <p:nvCxnSpPr>
          <p:cNvPr id="40" name="Conector recto 39"/>
          <p:cNvCxnSpPr/>
          <p:nvPr/>
        </p:nvCxnSpPr>
        <p:spPr>
          <a:xfrm>
            <a:off x="6248489" y="5211644"/>
            <a:ext cx="2511188"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46" name="Conector recto de flecha 45"/>
          <p:cNvCxnSpPr/>
          <p:nvPr/>
        </p:nvCxnSpPr>
        <p:spPr>
          <a:xfrm flipV="1">
            <a:off x="6495300" y="4866913"/>
            <a:ext cx="0" cy="302527"/>
          </a:xfrm>
          <a:prstGeom prst="straightConnector1">
            <a:avLst/>
          </a:prstGeom>
          <a:ln w="38100">
            <a:solidFill>
              <a:srgbClr val="0070C0"/>
            </a:solidFill>
            <a:tailEnd type="triangle"/>
          </a:ln>
        </p:spPr>
        <p:style>
          <a:lnRef idx="2">
            <a:schemeClr val="accent6"/>
          </a:lnRef>
          <a:fillRef idx="0">
            <a:schemeClr val="accent6"/>
          </a:fillRef>
          <a:effectRef idx="1">
            <a:schemeClr val="accent6"/>
          </a:effectRef>
          <a:fontRef idx="minor">
            <a:schemeClr val="tx1"/>
          </a:fontRef>
        </p:style>
      </p:cxnSp>
      <p:cxnSp>
        <p:nvCxnSpPr>
          <p:cNvPr id="49" name="Conector recto de flecha 48"/>
          <p:cNvCxnSpPr/>
          <p:nvPr/>
        </p:nvCxnSpPr>
        <p:spPr>
          <a:xfrm flipV="1">
            <a:off x="8735807" y="4866913"/>
            <a:ext cx="0" cy="302527"/>
          </a:xfrm>
          <a:prstGeom prst="straightConnector1">
            <a:avLst/>
          </a:prstGeom>
          <a:ln w="38100">
            <a:solidFill>
              <a:srgbClr val="0070C0"/>
            </a:solidFill>
            <a:tailEnd type="triangle"/>
          </a:ln>
        </p:spPr>
        <p:style>
          <a:lnRef idx="2">
            <a:schemeClr val="accent6"/>
          </a:lnRef>
          <a:fillRef idx="0">
            <a:schemeClr val="accent6"/>
          </a:fillRef>
          <a:effectRef idx="1">
            <a:schemeClr val="accent6"/>
          </a:effectRef>
          <a:fontRef idx="minor">
            <a:schemeClr val="tx1"/>
          </a:fontRef>
        </p:style>
      </p:cxnSp>
      <p:cxnSp>
        <p:nvCxnSpPr>
          <p:cNvPr id="53" name="Conector recto 52"/>
          <p:cNvCxnSpPr/>
          <p:nvPr/>
        </p:nvCxnSpPr>
        <p:spPr>
          <a:xfrm>
            <a:off x="6495301" y="4878787"/>
            <a:ext cx="2224585" cy="0"/>
          </a:xfrm>
          <a:prstGeom prst="line">
            <a:avLst/>
          </a:prstGeom>
          <a:ln w="38100">
            <a:solidFill>
              <a:srgbClr val="0070C0"/>
            </a:solidFill>
          </a:ln>
        </p:spPr>
        <p:style>
          <a:lnRef idx="2">
            <a:schemeClr val="accent6"/>
          </a:lnRef>
          <a:fillRef idx="0">
            <a:schemeClr val="accent6"/>
          </a:fillRef>
          <a:effectRef idx="1">
            <a:schemeClr val="accent6"/>
          </a:effectRef>
          <a:fontRef idx="minor">
            <a:schemeClr val="tx1"/>
          </a:fontRef>
        </p:style>
      </p:cxnSp>
      <p:sp>
        <p:nvSpPr>
          <p:cNvPr id="54" name="CuadroTexto 53"/>
          <p:cNvSpPr txBox="1"/>
          <p:nvPr/>
        </p:nvSpPr>
        <p:spPr>
          <a:xfrm>
            <a:off x="8841117" y="4856735"/>
            <a:ext cx="2162050" cy="276999"/>
          </a:xfrm>
          <a:prstGeom prst="rect">
            <a:avLst/>
          </a:prstGeom>
          <a:noFill/>
          <a:ln>
            <a:noFill/>
          </a:ln>
        </p:spPr>
        <p:txBody>
          <a:bodyPr wrap="square" rtlCol="0">
            <a:spAutoFit/>
          </a:bodyPr>
          <a:lstStyle/>
          <a:p>
            <a:r>
              <a:rPr lang="es-CO" sz="1200" b="1">
                <a:solidFill>
                  <a:srgbClr val="0070C0"/>
                </a:solidFill>
                <a:latin typeface="Century Gothic" panose="020B0502020202020204" pitchFamily="34" charset="0"/>
              </a:rPr>
              <a:t>Ingresos Adicionales</a:t>
            </a:r>
          </a:p>
        </p:txBody>
      </p:sp>
      <p:cxnSp>
        <p:nvCxnSpPr>
          <p:cNvPr id="56" name="Conector recto de flecha 55"/>
          <p:cNvCxnSpPr/>
          <p:nvPr/>
        </p:nvCxnSpPr>
        <p:spPr>
          <a:xfrm>
            <a:off x="6511222" y="5239192"/>
            <a:ext cx="0" cy="232421"/>
          </a:xfrm>
          <a:prstGeom prst="straightConnector1">
            <a:avLst/>
          </a:prstGeom>
          <a:ln w="38100">
            <a:solidFill>
              <a:srgbClr val="FF6600"/>
            </a:solidFill>
            <a:tailEnd type="triangle"/>
          </a:ln>
        </p:spPr>
        <p:style>
          <a:lnRef idx="2">
            <a:schemeClr val="accent5"/>
          </a:lnRef>
          <a:fillRef idx="0">
            <a:schemeClr val="accent5"/>
          </a:fillRef>
          <a:effectRef idx="1">
            <a:schemeClr val="accent5"/>
          </a:effectRef>
          <a:fontRef idx="minor">
            <a:schemeClr val="tx1"/>
          </a:fontRef>
        </p:style>
      </p:cxnSp>
      <p:cxnSp>
        <p:nvCxnSpPr>
          <p:cNvPr id="57" name="Conector recto de flecha 56"/>
          <p:cNvCxnSpPr/>
          <p:nvPr/>
        </p:nvCxnSpPr>
        <p:spPr>
          <a:xfrm>
            <a:off x="8735807" y="5214582"/>
            <a:ext cx="0" cy="232421"/>
          </a:xfrm>
          <a:prstGeom prst="straightConnector1">
            <a:avLst/>
          </a:prstGeom>
          <a:ln w="38100">
            <a:solidFill>
              <a:srgbClr val="FF6600"/>
            </a:solidFill>
            <a:tailEnd type="triangle"/>
          </a:ln>
        </p:spPr>
        <p:style>
          <a:lnRef idx="2">
            <a:schemeClr val="accent5"/>
          </a:lnRef>
          <a:fillRef idx="0">
            <a:schemeClr val="accent5"/>
          </a:fillRef>
          <a:effectRef idx="1">
            <a:schemeClr val="accent5"/>
          </a:effectRef>
          <a:fontRef idx="minor">
            <a:schemeClr val="tx1"/>
          </a:fontRef>
        </p:style>
      </p:cxnSp>
      <p:cxnSp>
        <p:nvCxnSpPr>
          <p:cNvPr id="58" name="Conector recto 57"/>
          <p:cNvCxnSpPr/>
          <p:nvPr/>
        </p:nvCxnSpPr>
        <p:spPr>
          <a:xfrm>
            <a:off x="6511223" y="5447002"/>
            <a:ext cx="2224585" cy="0"/>
          </a:xfrm>
          <a:prstGeom prst="line">
            <a:avLst/>
          </a:prstGeom>
          <a:ln w="38100">
            <a:solidFill>
              <a:srgbClr val="FF6600"/>
            </a:solidFill>
          </a:ln>
        </p:spPr>
        <p:style>
          <a:lnRef idx="2">
            <a:schemeClr val="accent5"/>
          </a:lnRef>
          <a:fillRef idx="0">
            <a:schemeClr val="accent5"/>
          </a:fillRef>
          <a:effectRef idx="1">
            <a:schemeClr val="accent5"/>
          </a:effectRef>
          <a:fontRef idx="minor">
            <a:schemeClr val="tx1"/>
          </a:fontRef>
        </p:style>
      </p:cxnSp>
      <p:sp>
        <p:nvSpPr>
          <p:cNvPr id="59" name="CuadroTexto 58"/>
          <p:cNvSpPr txBox="1"/>
          <p:nvPr/>
        </p:nvSpPr>
        <p:spPr>
          <a:xfrm>
            <a:off x="8867563" y="5214582"/>
            <a:ext cx="1701851" cy="276999"/>
          </a:xfrm>
          <a:prstGeom prst="rect">
            <a:avLst/>
          </a:prstGeom>
          <a:noFill/>
          <a:ln>
            <a:noFill/>
          </a:ln>
        </p:spPr>
        <p:txBody>
          <a:bodyPr wrap="square" rtlCol="0">
            <a:spAutoFit/>
          </a:bodyPr>
          <a:lstStyle/>
          <a:p>
            <a:r>
              <a:rPr lang="es-CO" sz="1200" b="1">
                <a:solidFill>
                  <a:srgbClr val="FF6600"/>
                </a:solidFill>
                <a:latin typeface="Century Gothic" panose="020B0502020202020204" pitchFamily="34" charset="0"/>
              </a:rPr>
              <a:t>CV Adicionales</a:t>
            </a:r>
          </a:p>
        </p:txBody>
      </p:sp>
      <p:cxnSp>
        <p:nvCxnSpPr>
          <p:cNvPr id="55" name="Conector recto 54">
            <a:extLst>
              <a:ext uri="{FF2B5EF4-FFF2-40B4-BE49-F238E27FC236}">
                <a16:creationId xmlns:a16="http://schemas.microsoft.com/office/drawing/2014/main" id="{35F940ED-6DD1-4B62-826B-5E868ECF03EE}"/>
              </a:ext>
            </a:extLst>
          </p:cNvPr>
          <p:cNvCxnSpPr/>
          <p:nvPr/>
        </p:nvCxnSpPr>
        <p:spPr>
          <a:xfrm>
            <a:off x="6220567" y="3145513"/>
            <a:ext cx="2511188"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0" name="Conector recto de flecha 59">
            <a:extLst>
              <a:ext uri="{FF2B5EF4-FFF2-40B4-BE49-F238E27FC236}">
                <a16:creationId xmlns:a16="http://schemas.microsoft.com/office/drawing/2014/main" id="{8F12825C-F8AB-4169-B752-137C8F37D347}"/>
              </a:ext>
            </a:extLst>
          </p:cNvPr>
          <p:cNvCxnSpPr/>
          <p:nvPr/>
        </p:nvCxnSpPr>
        <p:spPr>
          <a:xfrm>
            <a:off x="6507170" y="3145514"/>
            <a:ext cx="0" cy="532263"/>
          </a:xfrm>
          <a:prstGeom prst="straightConnector1">
            <a:avLst/>
          </a:prstGeom>
          <a:ln w="38100">
            <a:solidFill>
              <a:srgbClr val="7030A0"/>
            </a:solidFill>
            <a:tailEnd type="triangle"/>
          </a:ln>
        </p:spPr>
        <p:style>
          <a:lnRef idx="2">
            <a:schemeClr val="accent1"/>
          </a:lnRef>
          <a:fillRef idx="0">
            <a:schemeClr val="accent1"/>
          </a:fillRef>
          <a:effectRef idx="1">
            <a:schemeClr val="accent1"/>
          </a:effectRef>
          <a:fontRef idx="minor">
            <a:schemeClr val="tx1"/>
          </a:fontRef>
        </p:style>
      </p:cxnSp>
      <p:cxnSp>
        <p:nvCxnSpPr>
          <p:cNvPr id="61" name="Conector recto de flecha 60">
            <a:extLst>
              <a:ext uri="{FF2B5EF4-FFF2-40B4-BE49-F238E27FC236}">
                <a16:creationId xmlns:a16="http://schemas.microsoft.com/office/drawing/2014/main" id="{3CB01266-E4AC-40CF-BB81-0778293C6FCE}"/>
              </a:ext>
            </a:extLst>
          </p:cNvPr>
          <p:cNvCxnSpPr/>
          <p:nvPr/>
        </p:nvCxnSpPr>
        <p:spPr>
          <a:xfrm>
            <a:off x="8731755" y="3145514"/>
            <a:ext cx="0" cy="532263"/>
          </a:xfrm>
          <a:prstGeom prst="straightConnector1">
            <a:avLst/>
          </a:prstGeom>
          <a:ln w="38100">
            <a:solidFill>
              <a:srgbClr val="7030A0"/>
            </a:solidFill>
            <a:tailEnd type="triangle"/>
          </a:ln>
        </p:spPr>
        <p:style>
          <a:lnRef idx="2">
            <a:schemeClr val="accent1"/>
          </a:lnRef>
          <a:fillRef idx="0">
            <a:schemeClr val="accent1"/>
          </a:fillRef>
          <a:effectRef idx="1">
            <a:schemeClr val="accent1"/>
          </a:effectRef>
          <a:fontRef idx="minor">
            <a:schemeClr val="tx1"/>
          </a:fontRef>
        </p:style>
      </p:cxnSp>
      <p:cxnSp>
        <p:nvCxnSpPr>
          <p:cNvPr id="62" name="Conector recto 61">
            <a:extLst>
              <a:ext uri="{FF2B5EF4-FFF2-40B4-BE49-F238E27FC236}">
                <a16:creationId xmlns:a16="http://schemas.microsoft.com/office/drawing/2014/main" id="{99201718-9E42-451D-BE7A-9B611B0A89D8}"/>
              </a:ext>
            </a:extLst>
          </p:cNvPr>
          <p:cNvCxnSpPr/>
          <p:nvPr/>
        </p:nvCxnSpPr>
        <p:spPr>
          <a:xfrm>
            <a:off x="6507171" y="3665901"/>
            <a:ext cx="2224585" cy="0"/>
          </a:xfrm>
          <a:prstGeom prst="line">
            <a:avLst/>
          </a:prstGeom>
          <a:ln w="38100">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63" name="Conector recto de flecha 62">
            <a:extLst>
              <a:ext uri="{FF2B5EF4-FFF2-40B4-BE49-F238E27FC236}">
                <a16:creationId xmlns:a16="http://schemas.microsoft.com/office/drawing/2014/main" id="{D805BCC8-D577-4574-8268-D44E98DDCA61}"/>
              </a:ext>
            </a:extLst>
          </p:cNvPr>
          <p:cNvCxnSpPr/>
          <p:nvPr/>
        </p:nvCxnSpPr>
        <p:spPr>
          <a:xfrm flipV="1">
            <a:off x="6507170" y="2613251"/>
            <a:ext cx="0" cy="532262"/>
          </a:xfrm>
          <a:prstGeom prst="straightConnector1">
            <a:avLst/>
          </a:prstGeom>
          <a:ln w="3810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64" name="Conector recto de flecha 63">
            <a:extLst>
              <a:ext uri="{FF2B5EF4-FFF2-40B4-BE49-F238E27FC236}">
                <a16:creationId xmlns:a16="http://schemas.microsoft.com/office/drawing/2014/main" id="{669605CA-ECDE-4197-9946-90621491FCDE}"/>
              </a:ext>
            </a:extLst>
          </p:cNvPr>
          <p:cNvCxnSpPr/>
          <p:nvPr/>
        </p:nvCxnSpPr>
        <p:spPr>
          <a:xfrm flipV="1">
            <a:off x="8747677" y="2613251"/>
            <a:ext cx="0" cy="532262"/>
          </a:xfrm>
          <a:prstGeom prst="straightConnector1">
            <a:avLst/>
          </a:prstGeom>
          <a:ln w="3810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65" name="Conector recto 64">
            <a:extLst>
              <a:ext uri="{FF2B5EF4-FFF2-40B4-BE49-F238E27FC236}">
                <a16:creationId xmlns:a16="http://schemas.microsoft.com/office/drawing/2014/main" id="{89D76C5E-B857-4B04-899E-E15CA68A10B7}"/>
              </a:ext>
            </a:extLst>
          </p:cNvPr>
          <p:cNvCxnSpPr/>
          <p:nvPr/>
        </p:nvCxnSpPr>
        <p:spPr>
          <a:xfrm>
            <a:off x="6507171" y="2625126"/>
            <a:ext cx="2224585" cy="0"/>
          </a:xfrm>
          <a:prstGeom prst="line">
            <a:avLst/>
          </a:prstGeom>
          <a:ln w="38100">
            <a:solidFill>
              <a:srgbClr val="00B050"/>
            </a:solidFill>
          </a:ln>
        </p:spPr>
        <p:style>
          <a:lnRef idx="2">
            <a:schemeClr val="dk1"/>
          </a:lnRef>
          <a:fillRef idx="0">
            <a:schemeClr val="dk1"/>
          </a:fillRef>
          <a:effectRef idx="1">
            <a:schemeClr val="dk1"/>
          </a:effectRef>
          <a:fontRef idx="minor">
            <a:schemeClr val="tx1"/>
          </a:fontRef>
        </p:style>
      </p:cxnSp>
      <p:cxnSp>
        <p:nvCxnSpPr>
          <p:cNvPr id="66" name="Conector recto de flecha 65">
            <a:extLst>
              <a:ext uri="{FF2B5EF4-FFF2-40B4-BE49-F238E27FC236}">
                <a16:creationId xmlns:a16="http://schemas.microsoft.com/office/drawing/2014/main" id="{E18CC35D-AA2C-4C31-85A8-EE84A7E8CDE2}"/>
              </a:ext>
            </a:extLst>
          </p:cNvPr>
          <p:cNvCxnSpPr/>
          <p:nvPr/>
        </p:nvCxnSpPr>
        <p:spPr>
          <a:xfrm>
            <a:off x="6616352" y="3145514"/>
            <a:ext cx="0" cy="409433"/>
          </a:xfrm>
          <a:prstGeom prst="straightConnector1">
            <a:avLst/>
          </a:prstGeom>
          <a:ln w="38100">
            <a:solidFill>
              <a:srgbClr val="C00000"/>
            </a:solidFill>
            <a:tailEnd type="triangle"/>
          </a:ln>
        </p:spPr>
        <p:style>
          <a:lnRef idx="2">
            <a:schemeClr val="accent4"/>
          </a:lnRef>
          <a:fillRef idx="0">
            <a:schemeClr val="accent4"/>
          </a:fillRef>
          <a:effectRef idx="1">
            <a:schemeClr val="accent4"/>
          </a:effectRef>
          <a:fontRef idx="minor">
            <a:schemeClr val="tx1"/>
          </a:fontRef>
        </p:style>
      </p:cxnSp>
      <p:cxnSp>
        <p:nvCxnSpPr>
          <p:cNvPr id="67" name="Conector recto de flecha 66">
            <a:extLst>
              <a:ext uri="{FF2B5EF4-FFF2-40B4-BE49-F238E27FC236}">
                <a16:creationId xmlns:a16="http://schemas.microsoft.com/office/drawing/2014/main" id="{2B4A6748-9A56-4786-A274-6F0FE2E0215D}"/>
              </a:ext>
            </a:extLst>
          </p:cNvPr>
          <p:cNvCxnSpPr/>
          <p:nvPr/>
        </p:nvCxnSpPr>
        <p:spPr>
          <a:xfrm>
            <a:off x="8624848" y="3145514"/>
            <a:ext cx="0" cy="409433"/>
          </a:xfrm>
          <a:prstGeom prst="straightConnector1">
            <a:avLst/>
          </a:prstGeom>
          <a:ln w="38100">
            <a:solidFill>
              <a:srgbClr val="C00000"/>
            </a:solidFill>
            <a:tailEnd type="triangle"/>
          </a:ln>
        </p:spPr>
        <p:style>
          <a:lnRef idx="2">
            <a:schemeClr val="accent4"/>
          </a:lnRef>
          <a:fillRef idx="0">
            <a:schemeClr val="accent4"/>
          </a:fillRef>
          <a:effectRef idx="1">
            <a:schemeClr val="accent4"/>
          </a:effectRef>
          <a:fontRef idx="minor">
            <a:schemeClr val="tx1"/>
          </a:fontRef>
        </p:style>
      </p:cxnSp>
      <p:cxnSp>
        <p:nvCxnSpPr>
          <p:cNvPr id="68" name="Conector recto 67">
            <a:extLst>
              <a:ext uri="{FF2B5EF4-FFF2-40B4-BE49-F238E27FC236}">
                <a16:creationId xmlns:a16="http://schemas.microsoft.com/office/drawing/2014/main" id="{CED9C766-F2EE-43B6-8F76-FD62A67FBF2A}"/>
              </a:ext>
            </a:extLst>
          </p:cNvPr>
          <p:cNvCxnSpPr/>
          <p:nvPr/>
        </p:nvCxnSpPr>
        <p:spPr>
          <a:xfrm>
            <a:off x="6616352" y="3531196"/>
            <a:ext cx="2008496" cy="0"/>
          </a:xfrm>
          <a:prstGeom prst="line">
            <a:avLst/>
          </a:prstGeom>
          <a:ln w="38100">
            <a:solidFill>
              <a:srgbClr val="C00000"/>
            </a:solidFill>
          </a:ln>
        </p:spPr>
        <p:style>
          <a:lnRef idx="2">
            <a:schemeClr val="accent4"/>
          </a:lnRef>
          <a:fillRef idx="0">
            <a:schemeClr val="accent4"/>
          </a:fillRef>
          <a:effectRef idx="1">
            <a:schemeClr val="accent4"/>
          </a:effectRef>
          <a:fontRef idx="minor">
            <a:schemeClr val="tx1"/>
          </a:fontRef>
        </p:style>
      </p:cxnSp>
      <p:sp>
        <p:nvSpPr>
          <p:cNvPr id="69" name="CuadroTexto 68">
            <a:extLst>
              <a:ext uri="{FF2B5EF4-FFF2-40B4-BE49-F238E27FC236}">
                <a16:creationId xmlns:a16="http://schemas.microsoft.com/office/drawing/2014/main" id="{80EED1BC-5F29-4012-B8BA-47892E86160F}"/>
              </a:ext>
            </a:extLst>
          </p:cNvPr>
          <p:cNvSpPr txBox="1"/>
          <p:nvPr/>
        </p:nvSpPr>
        <p:spPr>
          <a:xfrm>
            <a:off x="8826134" y="2728168"/>
            <a:ext cx="801823" cy="276999"/>
          </a:xfrm>
          <a:prstGeom prst="rect">
            <a:avLst/>
          </a:prstGeom>
          <a:noFill/>
          <a:ln>
            <a:noFill/>
          </a:ln>
        </p:spPr>
        <p:txBody>
          <a:bodyPr wrap="none" rtlCol="0">
            <a:spAutoFit/>
          </a:bodyPr>
          <a:lstStyle/>
          <a:p>
            <a:r>
              <a:rPr lang="es-CO" sz="1200" b="1">
                <a:solidFill>
                  <a:srgbClr val="00B050"/>
                </a:solidFill>
                <a:latin typeface="Century Gothic" panose="020B0502020202020204" pitchFamily="34" charset="0"/>
              </a:rPr>
              <a:t>Ingresos</a:t>
            </a:r>
          </a:p>
        </p:txBody>
      </p:sp>
      <p:sp>
        <p:nvSpPr>
          <p:cNvPr id="70" name="CuadroTexto 69">
            <a:extLst>
              <a:ext uri="{FF2B5EF4-FFF2-40B4-BE49-F238E27FC236}">
                <a16:creationId xmlns:a16="http://schemas.microsoft.com/office/drawing/2014/main" id="{B5D8F527-8F19-446C-B950-33AB83F57EB1}"/>
              </a:ext>
            </a:extLst>
          </p:cNvPr>
          <p:cNvSpPr txBox="1"/>
          <p:nvPr/>
        </p:nvSpPr>
        <p:spPr>
          <a:xfrm>
            <a:off x="8879602" y="3145514"/>
            <a:ext cx="378630" cy="276999"/>
          </a:xfrm>
          <a:prstGeom prst="rect">
            <a:avLst/>
          </a:prstGeom>
          <a:noFill/>
          <a:ln>
            <a:noFill/>
          </a:ln>
        </p:spPr>
        <p:txBody>
          <a:bodyPr wrap="none" rtlCol="0">
            <a:spAutoFit/>
          </a:bodyPr>
          <a:lstStyle/>
          <a:p>
            <a:r>
              <a:rPr lang="es-CO" sz="1200" b="1">
                <a:solidFill>
                  <a:srgbClr val="C00000"/>
                </a:solidFill>
                <a:latin typeface="Century Gothic" panose="020B0502020202020204" pitchFamily="34" charset="0"/>
              </a:rPr>
              <a:t>CF</a:t>
            </a:r>
          </a:p>
        </p:txBody>
      </p:sp>
      <p:sp>
        <p:nvSpPr>
          <p:cNvPr id="71" name="CuadroTexto 70">
            <a:extLst>
              <a:ext uri="{FF2B5EF4-FFF2-40B4-BE49-F238E27FC236}">
                <a16:creationId xmlns:a16="http://schemas.microsoft.com/office/drawing/2014/main" id="{0E0686DA-8EBD-438A-A92E-1C332CE1E149}"/>
              </a:ext>
            </a:extLst>
          </p:cNvPr>
          <p:cNvSpPr txBox="1"/>
          <p:nvPr/>
        </p:nvSpPr>
        <p:spPr>
          <a:xfrm>
            <a:off x="8886878" y="3425388"/>
            <a:ext cx="412292" cy="276999"/>
          </a:xfrm>
          <a:prstGeom prst="rect">
            <a:avLst/>
          </a:prstGeom>
          <a:noFill/>
          <a:ln>
            <a:noFill/>
          </a:ln>
        </p:spPr>
        <p:txBody>
          <a:bodyPr wrap="none" rtlCol="0">
            <a:spAutoFit/>
          </a:bodyPr>
          <a:lstStyle/>
          <a:p>
            <a:r>
              <a:rPr lang="es-CO" sz="1200" b="1">
                <a:solidFill>
                  <a:srgbClr val="7030A0"/>
                </a:solidFill>
                <a:latin typeface="Century Gothic" panose="020B0502020202020204" pitchFamily="34" charset="0"/>
              </a:rPr>
              <a:t>CV</a:t>
            </a:r>
          </a:p>
        </p:txBody>
      </p:sp>
      <p:pic>
        <p:nvPicPr>
          <p:cNvPr id="72" name="Picture 4" descr="Resultado de imagen para check gif">
            <a:extLst>
              <a:ext uri="{FF2B5EF4-FFF2-40B4-BE49-F238E27FC236}">
                <a16:creationId xmlns:a16="http://schemas.microsoft.com/office/drawing/2014/main" id="{FD065B52-6495-47B7-8CAD-6AC2DA6E4AFF}"/>
              </a:ext>
            </a:extLst>
          </p:cNvPr>
          <p:cNvPicPr>
            <a:picLocks noChangeAspect="1" noChangeArrowheads="1" noCrop="1"/>
          </p:cNvPicPr>
          <p:nvPr/>
        </p:nvPicPr>
        <p:blipFill>
          <a:blip r:embed="rId2" cstate="print">
            <a:clrChange>
              <a:clrFrom>
                <a:srgbClr val="FCFEFC"/>
              </a:clrFrom>
              <a:clrTo>
                <a:srgbClr val="FCFEFC">
                  <a:alpha val="0"/>
                </a:srgbClr>
              </a:clrTo>
            </a:clrChange>
            <a:extLst>
              <a:ext uri="{28A0092B-C50C-407E-A947-70E740481C1C}">
                <a14:useLocalDpi xmlns:a14="http://schemas.microsoft.com/office/drawing/2010/main" val="0"/>
              </a:ext>
            </a:extLst>
          </a:blip>
          <a:srcRect/>
          <a:stretch>
            <a:fillRect/>
          </a:stretch>
        </p:blipFill>
        <p:spPr bwMode="auto">
          <a:xfrm>
            <a:off x="10677300" y="4779805"/>
            <a:ext cx="850389" cy="86367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Política y corrupción, temas a evitar - dipe diseño web">
            <a:extLst>
              <a:ext uri="{FF2B5EF4-FFF2-40B4-BE49-F238E27FC236}">
                <a16:creationId xmlns:a16="http://schemas.microsoft.com/office/drawing/2014/main" id="{8745F22B-258E-4CB1-8B65-46AFAA6A9A39}"/>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392562" y="1884769"/>
            <a:ext cx="2463126" cy="2468600"/>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554BD6D7-6713-F1DC-AB80-A7BE384181D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6FEE2FD7-E3BC-3C8E-379B-DBA47F9CA8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1F7D9C87-97C0-0013-0C88-E8849DFF64D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número de diapositiva 3">
            <a:extLst>
              <a:ext uri="{FF2B5EF4-FFF2-40B4-BE49-F238E27FC236}">
                <a16:creationId xmlns:a16="http://schemas.microsoft.com/office/drawing/2014/main" id="{03F19048-FC94-B741-73B7-B1DBD5B0F008}"/>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14</a:t>
            </a:fld>
            <a:endParaRPr lang="en-US" sz="2000" b="1">
              <a:latin typeface="Century Gothic" panose="020B0502020202020204" pitchFamily="34" charset="0"/>
            </a:endParaRPr>
          </a:p>
        </p:txBody>
      </p:sp>
    </p:spTree>
    <p:extLst>
      <p:ext uri="{BB962C8B-B14F-4D97-AF65-F5344CB8AC3E}">
        <p14:creationId xmlns:p14="http://schemas.microsoft.com/office/powerpoint/2010/main" val="1258680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nodeType="clickEffect">
                                  <p:stCondLst>
                                    <p:cond delay="0"/>
                                  </p:stCondLst>
                                  <p:childTnLst>
                                    <p:set>
                                      <p:cBhvr>
                                        <p:cTn id="54" dur="1" fill="hold">
                                          <p:stCondLst>
                                            <p:cond delay="0"/>
                                          </p:stCondLst>
                                        </p:cTn>
                                        <p:tgtEl>
                                          <p:spTgt spid="1026"/>
                                        </p:tgtEl>
                                        <p:attrNameLst>
                                          <p:attrName>style.visibility</p:attrName>
                                        </p:attrNameLst>
                                      </p:cBhvr>
                                      <p:to>
                                        <p:strVal val="visible"/>
                                      </p:to>
                                    </p:set>
                                    <p:anim calcmode="lin" valueType="num">
                                      <p:cBhvr>
                                        <p:cTn id="55" dur="500" fill="hold"/>
                                        <p:tgtEl>
                                          <p:spTgt spid="1026"/>
                                        </p:tgtEl>
                                        <p:attrNameLst>
                                          <p:attrName>ppt_w</p:attrName>
                                        </p:attrNameLst>
                                      </p:cBhvr>
                                      <p:tavLst>
                                        <p:tav tm="0">
                                          <p:val>
                                            <p:fltVal val="0"/>
                                          </p:val>
                                        </p:tav>
                                        <p:tav tm="100000">
                                          <p:val>
                                            <p:strVal val="#ppt_w"/>
                                          </p:val>
                                        </p:tav>
                                      </p:tavLst>
                                    </p:anim>
                                    <p:anim calcmode="lin" valueType="num">
                                      <p:cBhvr>
                                        <p:cTn id="56" dur="500" fill="hold"/>
                                        <p:tgtEl>
                                          <p:spTgt spid="1026"/>
                                        </p:tgtEl>
                                        <p:attrNameLst>
                                          <p:attrName>ppt_h</p:attrName>
                                        </p:attrNameLst>
                                      </p:cBhvr>
                                      <p:tavLst>
                                        <p:tav tm="0">
                                          <p:val>
                                            <p:fltVal val="0"/>
                                          </p:val>
                                        </p:tav>
                                        <p:tav tm="100000">
                                          <p:val>
                                            <p:strVal val="#ppt_h"/>
                                          </p:val>
                                        </p:tav>
                                      </p:tavLst>
                                    </p:anim>
                                    <p:animEffect transition="in" filter="fade">
                                      <p:cBhvr>
                                        <p:cTn id="57" dur="500"/>
                                        <p:tgtEl>
                                          <p:spTgt spid="1026"/>
                                        </p:tgtEl>
                                      </p:cBhvr>
                                    </p:animEffect>
                                  </p:childTnLst>
                                </p:cTn>
                              </p:par>
                            </p:childTnLst>
                          </p:cTn>
                        </p:par>
                      </p:childTnLst>
                    </p:cTn>
                  </p:par>
                  <p:par>
                    <p:cTn id="58" fill="hold">
                      <p:stCondLst>
                        <p:cond delay="indefinite"/>
                      </p:stCondLst>
                      <p:childTnLst>
                        <p:par>
                          <p:cTn id="59" fill="hold">
                            <p:stCondLst>
                              <p:cond delay="0"/>
                            </p:stCondLst>
                            <p:childTnLst>
                              <p:par>
                                <p:cTn id="60" presetID="26" presetClass="entr" presetSubtype="0" fill="hold" nodeType="clickEffect">
                                  <p:stCondLst>
                                    <p:cond delay="0"/>
                                  </p:stCondLst>
                                  <p:childTnLst>
                                    <p:set>
                                      <p:cBhvr>
                                        <p:cTn id="61" dur="1" fill="hold">
                                          <p:stCondLst>
                                            <p:cond delay="0"/>
                                          </p:stCondLst>
                                        </p:cTn>
                                        <p:tgtEl>
                                          <p:spTgt spid="40"/>
                                        </p:tgtEl>
                                        <p:attrNameLst>
                                          <p:attrName>style.visibility</p:attrName>
                                        </p:attrNameLst>
                                      </p:cBhvr>
                                      <p:to>
                                        <p:strVal val="visible"/>
                                      </p:to>
                                    </p:set>
                                    <p:animEffect transition="in" filter="wipe(down)">
                                      <p:cBhvr>
                                        <p:cTn id="62" dur="580">
                                          <p:stCondLst>
                                            <p:cond delay="0"/>
                                          </p:stCondLst>
                                        </p:cTn>
                                        <p:tgtEl>
                                          <p:spTgt spid="40"/>
                                        </p:tgtEl>
                                      </p:cBhvr>
                                    </p:animEffect>
                                    <p:anim calcmode="lin" valueType="num">
                                      <p:cBhvr>
                                        <p:cTn id="63" dur="1822" tmFilter="0,0; 0.14,0.36; 0.43,0.73; 0.71,0.91; 1.0,1.0">
                                          <p:stCondLst>
                                            <p:cond delay="0"/>
                                          </p:stCondLst>
                                        </p:cTn>
                                        <p:tgtEl>
                                          <p:spTgt spid="40"/>
                                        </p:tgtEl>
                                        <p:attrNameLst>
                                          <p:attrName>ppt_x</p:attrName>
                                        </p:attrNameLst>
                                      </p:cBhvr>
                                      <p:tavLst>
                                        <p:tav tm="0">
                                          <p:val>
                                            <p:strVal val="#ppt_x-0.25"/>
                                          </p:val>
                                        </p:tav>
                                        <p:tav tm="100000">
                                          <p:val>
                                            <p:strVal val="#ppt_x"/>
                                          </p:val>
                                        </p:tav>
                                      </p:tavLst>
                                    </p:anim>
                                    <p:anim calcmode="lin" valueType="num">
                                      <p:cBhvr>
                                        <p:cTn id="64" dur="664" tmFilter="0.0,0.0; 0.25,0.07; 0.50,0.2; 0.75,0.467; 1.0,1.0">
                                          <p:stCondLst>
                                            <p:cond delay="0"/>
                                          </p:stCondLst>
                                        </p:cTn>
                                        <p:tgtEl>
                                          <p:spTgt spid="40"/>
                                        </p:tgtEl>
                                        <p:attrNameLst>
                                          <p:attrName>ppt_y</p:attrName>
                                        </p:attrNameLst>
                                      </p:cBhvr>
                                      <p:tavLst>
                                        <p:tav tm="0" fmla="#ppt_y-sin(pi*$)/3">
                                          <p:val>
                                            <p:fltVal val="0.5"/>
                                          </p:val>
                                        </p:tav>
                                        <p:tav tm="100000">
                                          <p:val>
                                            <p:fltVal val="1"/>
                                          </p:val>
                                        </p:tav>
                                      </p:tavLst>
                                    </p:anim>
                                    <p:anim calcmode="lin" valueType="num">
                                      <p:cBhvr>
                                        <p:cTn id="65" dur="664" tmFilter="0, 0; 0.125,0.2665; 0.25,0.4; 0.375,0.465; 0.5,0.5;  0.625,0.535; 0.75,0.6; 0.875,0.7335; 1,1">
                                          <p:stCondLst>
                                            <p:cond delay="664"/>
                                          </p:stCondLst>
                                        </p:cTn>
                                        <p:tgtEl>
                                          <p:spTgt spid="40"/>
                                        </p:tgtEl>
                                        <p:attrNameLst>
                                          <p:attrName>ppt_y</p:attrName>
                                        </p:attrNameLst>
                                      </p:cBhvr>
                                      <p:tavLst>
                                        <p:tav tm="0" fmla="#ppt_y-sin(pi*$)/9">
                                          <p:val>
                                            <p:fltVal val="0"/>
                                          </p:val>
                                        </p:tav>
                                        <p:tav tm="100000">
                                          <p:val>
                                            <p:fltVal val="1"/>
                                          </p:val>
                                        </p:tav>
                                      </p:tavLst>
                                    </p:anim>
                                    <p:anim calcmode="lin" valueType="num">
                                      <p:cBhvr>
                                        <p:cTn id="66" dur="332" tmFilter="0, 0; 0.125,0.2665; 0.25,0.4; 0.375,0.465; 0.5,0.5;  0.625,0.535; 0.75,0.6; 0.875,0.7335; 1,1">
                                          <p:stCondLst>
                                            <p:cond delay="1324"/>
                                          </p:stCondLst>
                                        </p:cTn>
                                        <p:tgtEl>
                                          <p:spTgt spid="40"/>
                                        </p:tgtEl>
                                        <p:attrNameLst>
                                          <p:attrName>ppt_y</p:attrName>
                                        </p:attrNameLst>
                                      </p:cBhvr>
                                      <p:tavLst>
                                        <p:tav tm="0" fmla="#ppt_y-sin(pi*$)/27">
                                          <p:val>
                                            <p:fltVal val="0"/>
                                          </p:val>
                                        </p:tav>
                                        <p:tav tm="100000">
                                          <p:val>
                                            <p:fltVal val="1"/>
                                          </p:val>
                                        </p:tav>
                                      </p:tavLst>
                                    </p:anim>
                                    <p:anim calcmode="lin" valueType="num">
                                      <p:cBhvr>
                                        <p:cTn id="67" dur="164" tmFilter="0, 0; 0.125,0.2665; 0.25,0.4; 0.375,0.465; 0.5,0.5;  0.625,0.535; 0.75,0.6; 0.875,0.7335; 1,1">
                                          <p:stCondLst>
                                            <p:cond delay="1656"/>
                                          </p:stCondLst>
                                        </p:cTn>
                                        <p:tgtEl>
                                          <p:spTgt spid="40"/>
                                        </p:tgtEl>
                                        <p:attrNameLst>
                                          <p:attrName>ppt_y</p:attrName>
                                        </p:attrNameLst>
                                      </p:cBhvr>
                                      <p:tavLst>
                                        <p:tav tm="0" fmla="#ppt_y-sin(pi*$)/81">
                                          <p:val>
                                            <p:fltVal val="0"/>
                                          </p:val>
                                        </p:tav>
                                        <p:tav tm="100000">
                                          <p:val>
                                            <p:fltVal val="1"/>
                                          </p:val>
                                        </p:tav>
                                      </p:tavLst>
                                    </p:anim>
                                    <p:animScale>
                                      <p:cBhvr>
                                        <p:cTn id="68" dur="26">
                                          <p:stCondLst>
                                            <p:cond delay="650"/>
                                          </p:stCondLst>
                                        </p:cTn>
                                        <p:tgtEl>
                                          <p:spTgt spid="40"/>
                                        </p:tgtEl>
                                      </p:cBhvr>
                                      <p:to x="100000" y="60000"/>
                                    </p:animScale>
                                    <p:animScale>
                                      <p:cBhvr>
                                        <p:cTn id="69" dur="166" decel="50000">
                                          <p:stCondLst>
                                            <p:cond delay="676"/>
                                          </p:stCondLst>
                                        </p:cTn>
                                        <p:tgtEl>
                                          <p:spTgt spid="40"/>
                                        </p:tgtEl>
                                      </p:cBhvr>
                                      <p:to x="100000" y="100000"/>
                                    </p:animScale>
                                    <p:animScale>
                                      <p:cBhvr>
                                        <p:cTn id="70" dur="26">
                                          <p:stCondLst>
                                            <p:cond delay="1312"/>
                                          </p:stCondLst>
                                        </p:cTn>
                                        <p:tgtEl>
                                          <p:spTgt spid="40"/>
                                        </p:tgtEl>
                                      </p:cBhvr>
                                      <p:to x="100000" y="80000"/>
                                    </p:animScale>
                                    <p:animScale>
                                      <p:cBhvr>
                                        <p:cTn id="71" dur="166" decel="50000">
                                          <p:stCondLst>
                                            <p:cond delay="1338"/>
                                          </p:stCondLst>
                                        </p:cTn>
                                        <p:tgtEl>
                                          <p:spTgt spid="40"/>
                                        </p:tgtEl>
                                      </p:cBhvr>
                                      <p:to x="100000" y="100000"/>
                                    </p:animScale>
                                    <p:animScale>
                                      <p:cBhvr>
                                        <p:cTn id="72" dur="26">
                                          <p:stCondLst>
                                            <p:cond delay="1642"/>
                                          </p:stCondLst>
                                        </p:cTn>
                                        <p:tgtEl>
                                          <p:spTgt spid="40"/>
                                        </p:tgtEl>
                                      </p:cBhvr>
                                      <p:to x="100000" y="90000"/>
                                    </p:animScale>
                                    <p:animScale>
                                      <p:cBhvr>
                                        <p:cTn id="73" dur="166" decel="50000">
                                          <p:stCondLst>
                                            <p:cond delay="1668"/>
                                          </p:stCondLst>
                                        </p:cTn>
                                        <p:tgtEl>
                                          <p:spTgt spid="40"/>
                                        </p:tgtEl>
                                      </p:cBhvr>
                                      <p:to x="100000" y="100000"/>
                                    </p:animScale>
                                    <p:animScale>
                                      <p:cBhvr>
                                        <p:cTn id="74" dur="26">
                                          <p:stCondLst>
                                            <p:cond delay="1808"/>
                                          </p:stCondLst>
                                        </p:cTn>
                                        <p:tgtEl>
                                          <p:spTgt spid="40"/>
                                        </p:tgtEl>
                                      </p:cBhvr>
                                      <p:to x="100000" y="95000"/>
                                    </p:animScale>
                                    <p:animScale>
                                      <p:cBhvr>
                                        <p:cTn id="75" dur="166" decel="50000">
                                          <p:stCondLst>
                                            <p:cond delay="1834"/>
                                          </p:stCondLst>
                                        </p:cTn>
                                        <p:tgtEl>
                                          <p:spTgt spid="40"/>
                                        </p:tgtEl>
                                      </p:cBhvr>
                                      <p:to x="100000" y="100000"/>
                                    </p:animScale>
                                  </p:childTnLst>
                                </p:cTn>
                              </p:par>
                              <p:par>
                                <p:cTn id="76" presetID="26" presetClass="entr" presetSubtype="0" fill="hold" nodeType="withEffect">
                                  <p:stCondLst>
                                    <p:cond delay="0"/>
                                  </p:stCondLst>
                                  <p:childTnLst>
                                    <p:set>
                                      <p:cBhvr>
                                        <p:cTn id="77" dur="1" fill="hold">
                                          <p:stCondLst>
                                            <p:cond delay="0"/>
                                          </p:stCondLst>
                                        </p:cTn>
                                        <p:tgtEl>
                                          <p:spTgt spid="46"/>
                                        </p:tgtEl>
                                        <p:attrNameLst>
                                          <p:attrName>style.visibility</p:attrName>
                                        </p:attrNameLst>
                                      </p:cBhvr>
                                      <p:to>
                                        <p:strVal val="visible"/>
                                      </p:to>
                                    </p:set>
                                    <p:animEffect transition="in" filter="wipe(down)">
                                      <p:cBhvr>
                                        <p:cTn id="78" dur="580">
                                          <p:stCondLst>
                                            <p:cond delay="0"/>
                                          </p:stCondLst>
                                        </p:cTn>
                                        <p:tgtEl>
                                          <p:spTgt spid="46"/>
                                        </p:tgtEl>
                                      </p:cBhvr>
                                    </p:animEffect>
                                    <p:anim calcmode="lin" valueType="num">
                                      <p:cBhvr>
                                        <p:cTn id="79" dur="1822" tmFilter="0,0; 0.14,0.36; 0.43,0.73; 0.71,0.91; 1.0,1.0">
                                          <p:stCondLst>
                                            <p:cond delay="0"/>
                                          </p:stCondLst>
                                        </p:cTn>
                                        <p:tgtEl>
                                          <p:spTgt spid="46"/>
                                        </p:tgtEl>
                                        <p:attrNameLst>
                                          <p:attrName>ppt_x</p:attrName>
                                        </p:attrNameLst>
                                      </p:cBhvr>
                                      <p:tavLst>
                                        <p:tav tm="0">
                                          <p:val>
                                            <p:strVal val="#ppt_x-0.25"/>
                                          </p:val>
                                        </p:tav>
                                        <p:tav tm="100000">
                                          <p:val>
                                            <p:strVal val="#ppt_x"/>
                                          </p:val>
                                        </p:tav>
                                      </p:tavLst>
                                    </p:anim>
                                    <p:anim calcmode="lin" valueType="num">
                                      <p:cBhvr>
                                        <p:cTn id="80" dur="664" tmFilter="0.0,0.0; 0.25,0.07; 0.50,0.2; 0.75,0.467; 1.0,1.0">
                                          <p:stCondLst>
                                            <p:cond delay="0"/>
                                          </p:stCondLst>
                                        </p:cTn>
                                        <p:tgtEl>
                                          <p:spTgt spid="46"/>
                                        </p:tgtEl>
                                        <p:attrNameLst>
                                          <p:attrName>ppt_y</p:attrName>
                                        </p:attrNameLst>
                                      </p:cBhvr>
                                      <p:tavLst>
                                        <p:tav tm="0" fmla="#ppt_y-sin(pi*$)/3">
                                          <p:val>
                                            <p:fltVal val="0.5"/>
                                          </p:val>
                                        </p:tav>
                                        <p:tav tm="100000">
                                          <p:val>
                                            <p:fltVal val="1"/>
                                          </p:val>
                                        </p:tav>
                                      </p:tavLst>
                                    </p:anim>
                                    <p:anim calcmode="lin" valueType="num">
                                      <p:cBhvr>
                                        <p:cTn id="81" dur="664" tmFilter="0, 0; 0.125,0.2665; 0.25,0.4; 0.375,0.465; 0.5,0.5;  0.625,0.535; 0.75,0.6; 0.875,0.7335; 1,1">
                                          <p:stCondLst>
                                            <p:cond delay="664"/>
                                          </p:stCondLst>
                                        </p:cTn>
                                        <p:tgtEl>
                                          <p:spTgt spid="46"/>
                                        </p:tgtEl>
                                        <p:attrNameLst>
                                          <p:attrName>ppt_y</p:attrName>
                                        </p:attrNameLst>
                                      </p:cBhvr>
                                      <p:tavLst>
                                        <p:tav tm="0" fmla="#ppt_y-sin(pi*$)/9">
                                          <p:val>
                                            <p:fltVal val="0"/>
                                          </p:val>
                                        </p:tav>
                                        <p:tav tm="100000">
                                          <p:val>
                                            <p:fltVal val="1"/>
                                          </p:val>
                                        </p:tav>
                                      </p:tavLst>
                                    </p:anim>
                                    <p:anim calcmode="lin" valueType="num">
                                      <p:cBhvr>
                                        <p:cTn id="82" dur="332" tmFilter="0, 0; 0.125,0.2665; 0.25,0.4; 0.375,0.465; 0.5,0.5;  0.625,0.535; 0.75,0.6; 0.875,0.7335; 1,1">
                                          <p:stCondLst>
                                            <p:cond delay="1324"/>
                                          </p:stCondLst>
                                        </p:cTn>
                                        <p:tgtEl>
                                          <p:spTgt spid="46"/>
                                        </p:tgtEl>
                                        <p:attrNameLst>
                                          <p:attrName>ppt_y</p:attrName>
                                        </p:attrNameLst>
                                      </p:cBhvr>
                                      <p:tavLst>
                                        <p:tav tm="0" fmla="#ppt_y-sin(pi*$)/27">
                                          <p:val>
                                            <p:fltVal val="0"/>
                                          </p:val>
                                        </p:tav>
                                        <p:tav tm="100000">
                                          <p:val>
                                            <p:fltVal val="1"/>
                                          </p:val>
                                        </p:tav>
                                      </p:tavLst>
                                    </p:anim>
                                    <p:anim calcmode="lin" valueType="num">
                                      <p:cBhvr>
                                        <p:cTn id="83" dur="164" tmFilter="0, 0; 0.125,0.2665; 0.25,0.4; 0.375,0.465; 0.5,0.5;  0.625,0.535; 0.75,0.6; 0.875,0.7335; 1,1">
                                          <p:stCondLst>
                                            <p:cond delay="1656"/>
                                          </p:stCondLst>
                                        </p:cTn>
                                        <p:tgtEl>
                                          <p:spTgt spid="46"/>
                                        </p:tgtEl>
                                        <p:attrNameLst>
                                          <p:attrName>ppt_y</p:attrName>
                                        </p:attrNameLst>
                                      </p:cBhvr>
                                      <p:tavLst>
                                        <p:tav tm="0" fmla="#ppt_y-sin(pi*$)/81">
                                          <p:val>
                                            <p:fltVal val="0"/>
                                          </p:val>
                                        </p:tav>
                                        <p:tav tm="100000">
                                          <p:val>
                                            <p:fltVal val="1"/>
                                          </p:val>
                                        </p:tav>
                                      </p:tavLst>
                                    </p:anim>
                                    <p:animScale>
                                      <p:cBhvr>
                                        <p:cTn id="84" dur="26">
                                          <p:stCondLst>
                                            <p:cond delay="650"/>
                                          </p:stCondLst>
                                        </p:cTn>
                                        <p:tgtEl>
                                          <p:spTgt spid="46"/>
                                        </p:tgtEl>
                                      </p:cBhvr>
                                      <p:to x="100000" y="60000"/>
                                    </p:animScale>
                                    <p:animScale>
                                      <p:cBhvr>
                                        <p:cTn id="85" dur="166" decel="50000">
                                          <p:stCondLst>
                                            <p:cond delay="676"/>
                                          </p:stCondLst>
                                        </p:cTn>
                                        <p:tgtEl>
                                          <p:spTgt spid="46"/>
                                        </p:tgtEl>
                                      </p:cBhvr>
                                      <p:to x="100000" y="100000"/>
                                    </p:animScale>
                                    <p:animScale>
                                      <p:cBhvr>
                                        <p:cTn id="86" dur="26">
                                          <p:stCondLst>
                                            <p:cond delay="1312"/>
                                          </p:stCondLst>
                                        </p:cTn>
                                        <p:tgtEl>
                                          <p:spTgt spid="46"/>
                                        </p:tgtEl>
                                      </p:cBhvr>
                                      <p:to x="100000" y="80000"/>
                                    </p:animScale>
                                    <p:animScale>
                                      <p:cBhvr>
                                        <p:cTn id="87" dur="166" decel="50000">
                                          <p:stCondLst>
                                            <p:cond delay="1338"/>
                                          </p:stCondLst>
                                        </p:cTn>
                                        <p:tgtEl>
                                          <p:spTgt spid="46"/>
                                        </p:tgtEl>
                                      </p:cBhvr>
                                      <p:to x="100000" y="100000"/>
                                    </p:animScale>
                                    <p:animScale>
                                      <p:cBhvr>
                                        <p:cTn id="88" dur="26">
                                          <p:stCondLst>
                                            <p:cond delay="1642"/>
                                          </p:stCondLst>
                                        </p:cTn>
                                        <p:tgtEl>
                                          <p:spTgt spid="46"/>
                                        </p:tgtEl>
                                      </p:cBhvr>
                                      <p:to x="100000" y="90000"/>
                                    </p:animScale>
                                    <p:animScale>
                                      <p:cBhvr>
                                        <p:cTn id="89" dur="166" decel="50000">
                                          <p:stCondLst>
                                            <p:cond delay="1668"/>
                                          </p:stCondLst>
                                        </p:cTn>
                                        <p:tgtEl>
                                          <p:spTgt spid="46"/>
                                        </p:tgtEl>
                                      </p:cBhvr>
                                      <p:to x="100000" y="100000"/>
                                    </p:animScale>
                                    <p:animScale>
                                      <p:cBhvr>
                                        <p:cTn id="90" dur="26">
                                          <p:stCondLst>
                                            <p:cond delay="1808"/>
                                          </p:stCondLst>
                                        </p:cTn>
                                        <p:tgtEl>
                                          <p:spTgt spid="46"/>
                                        </p:tgtEl>
                                      </p:cBhvr>
                                      <p:to x="100000" y="95000"/>
                                    </p:animScale>
                                    <p:animScale>
                                      <p:cBhvr>
                                        <p:cTn id="91" dur="166" decel="50000">
                                          <p:stCondLst>
                                            <p:cond delay="1834"/>
                                          </p:stCondLst>
                                        </p:cTn>
                                        <p:tgtEl>
                                          <p:spTgt spid="46"/>
                                        </p:tgtEl>
                                      </p:cBhvr>
                                      <p:to x="100000" y="100000"/>
                                    </p:animScale>
                                  </p:childTnLst>
                                </p:cTn>
                              </p:par>
                              <p:par>
                                <p:cTn id="92" presetID="26" presetClass="entr" presetSubtype="0" fill="hold" nodeType="withEffect">
                                  <p:stCondLst>
                                    <p:cond delay="0"/>
                                  </p:stCondLst>
                                  <p:childTnLst>
                                    <p:set>
                                      <p:cBhvr>
                                        <p:cTn id="93" dur="1" fill="hold">
                                          <p:stCondLst>
                                            <p:cond delay="0"/>
                                          </p:stCondLst>
                                        </p:cTn>
                                        <p:tgtEl>
                                          <p:spTgt spid="49"/>
                                        </p:tgtEl>
                                        <p:attrNameLst>
                                          <p:attrName>style.visibility</p:attrName>
                                        </p:attrNameLst>
                                      </p:cBhvr>
                                      <p:to>
                                        <p:strVal val="visible"/>
                                      </p:to>
                                    </p:set>
                                    <p:animEffect transition="in" filter="wipe(down)">
                                      <p:cBhvr>
                                        <p:cTn id="94" dur="580">
                                          <p:stCondLst>
                                            <p:cond delay="0"/>
                                          </p:stCondLst>
                                        </p:cTn>
                                        <p:tgtEl>
                                          <p:spTgt spid="49"/>
                                        </p:tgtEl>
                                      </p:cBhvr>
                                    </p:animEffect>
                                    <p:anim calcmode="lin" valueType="num">
                                      <p:cBhvr>
                                        <p:cTn id="95" dur="1822" tmFilter="0,0; 0.14,0.36; 0.43,0.73; 0.71,0.91; 1.0,1.0">
                                          <p:stCondLst>
                                            <p:cond delay="0"/>
                                          </p:stCondLst>
                                        </p:cTn>
                                        <p:tgtEl>
                                          <p:spTgt spid="49"/>
                                        </p:tgtEl>
                                        <p:attrNameLst>
                                          <p:attrName>ppt_x</p:attrName>
                                        </p:attrNameLst>
                                      </p:cBhvr>
                                      <p:tavLst>
                                        <p:tav tm="0">
                                          <p:val>
                                            <p:strVal val="#ppt_x-0.25"/>
                                          </p:val>
                                        </p:tav>
                                        <p:tav tm="100000">
                                          <p:val>
                                            <p:strVal val="#ppt_x"/>
                                          </p:val>
                                        </p:tav>
                                      </p:tavLst>
                                    </p:anim>
                                    <p:anim calcmode="lin" valueType="num">
                                      <p:cBhvr>
                                        <p:cTn id="96" dur="664" tmFilter="0.0,0.0; 0.25,0.07; 0.50,0.2; 0.75,0.467; 1.0,1.0">
                                          <p:stCondLst>
                                            <p:cond delay="0"/>
                                          </p:stCondLst>
                                        </p:cTn>
                                        <p:tgtEl>
                                          <p:spTgt spid="49"/>
                                        </p:tgtEl>
                                        <p:attrNameLst>
                                          <p:attrName>ppt_y</p:attrName>
                                        </p:attrNameLst>
                                      </p:cBhvr>
                                      <p:tavLst>
                                        <p:tav tm="0" fmla="#ppt_y-sin(pi*$)/3">
                                          <p:val>
                                            <p:fltVal val="0.5"/>
                                          </p:val>
                                        </p:tav>
                                        <p:tav tm="100000">
                                          <p:val>
                                            <p:fltVal val="1"/>
                                          </p:val>
                                        </p:tav>
                                      </p:tavLst>
                                    </p:anim>
                                    <p:anim calcmode="lin" valueType="num">
                                      <p:cBhvr>
                                        <p:cTn id="97" dur="664" tmFilter="0, 0; 0.125,0.2665; 0.25,0.4; 0.375,0.465; 0.5,0.5;  0.625,0.535; 0.75,0.6; 0.875,0.7335; 1,1">
                                          <p:stCondLst>
                                            <p:cond delay="664"/>
                                          </p:stCondLst>
                                        </p:cTn>
                                        <p:tgtEl>
                                          <p:spTgt spid="49"/>
                                        </p:tgtEl>
                                        <p:attrNameLst>
                                          <p:attrName>ppt_y</p:attrName>
                                        </p:attrNameLst>
                                      </p:cBhvr>
                                      <p:tavLst>
                                        <p:tav tm="0" fmla="#ppt_y-sin(pi*$)/9">
                                          <p:val>
                                            <p:fltVal val="0"/>
                                          </p:val>
                                        </p:tav>
                                        <p:tav tm="100000">
                                          <p:val>
                                            <p:fltVal val="1"/>
                                          </p:val>
                                        </p:tav>
                                      </p:tavLst>
                                    </p:anim>
                                    <p:anim calcmode="lin" valueType="num">
                                      <p:cBhvr>
                                        <p:cTn id="98" dur="332" tmFilter="0, 0; 0.125,0.2665; 0.25,0.4; 0.375,0.465; 0.5,0.5;  0.625,0.535; 0.75,0.6; 0.875,0.7335; 1,1">
                                          <p:stCondLst>
                                            <p:cond delay="1324"/>
                                          </p:stCondLst>
                                        </p:cTn>
                                        <p:tgtEl>
                                          <p:spTgt spid="49"/>
                                        </p:tgtEl>
                                        <p:attrNameLst>
                                          <p:attrName>ppt_y</p:attrName>
                                        </p:attrNameLst>
                                      </p:cBhvr>
                                      <p:tavLst>
                                        <p:tav tm="0" fmla="#ppt_y-sin(pi*$)/27">
                                          <p:val>
                                            <p:fltVal val="0"/>
                                          </p:val>
                                        </p:tav>
                                        <p:tav tm="100000">
                                          <p:val>
                                            <p:fltVal val="1"/>
                                          </p:val>
                                        </p:tav>
                                      </p:tavLst>
                                    </p:anim>
                                    <p:anim calcmode="lin" valueType="num">
                                      <p:cBhvr>
                                        <p:cTn id="99" dur="164" tmFilter="0, 0; 0.125,0.2665; 0.25,0.4; 0.375,0.465; 0.5,0.5;  0.625,0.535; 0.75,0.6; 0.875,0.7335; 1,1">
                                          <p:stCondLst>
                                            <p:cond delay="1656"/>
                                          </p:stCondLst>
                                        </p:cTn>
                                        <p:tgtEl>
                                          <p:spTgt spid="49"/>
                                        </p:tgtEl>
                                        <p:attrNameLst>
                                          <p:attrName>ppt_y</p:attrName>
                                        </p:attrNameLst>
                                      </p:cBhvr>
                                      <p:tavLst>
                                        <p:tav tm="0" fmla="#ppt_y-sin(pi*$)/81">
                                          <p:val>
                                            <p:fltVal val="0"/>
                                          </p:val>
                                        </p:tav>
                                        <p:tav tm="100000">
                                          <p:val>
                                            <p:fltVal val="1"/>
                                          </p:val>
                                        </p:tav>
                                      </p:tavLst>
                                    </p:anim>
                                    <p:animScale>
                                      <p:cBhvr>
                                        <p:cTn id="100" dur="26">
                                          <p:stCondLst>
                                            <p:cond delay="650"/>
                                          </p:stCondLst>
                                        </p:cTn>
                                        <p:tgtEl>
                                          <p:spTgt spid="49"/>
                                        </p:tgtEl>
                                      </p:cBhvr>
                                      <p:to x="100000" y="60000"/>
                                    </p:animScale>
                                    <p:animScale>
                                      <p:cBhvr>
                                        <p:cTn id="101" dur="166" decel="50000">
                                          <p:stCondLst>
                                            <p:cond delay="676"/>
                                          </p:stCondLst>
                                        </p:cTn>
                                        <p:tgtEl>
                                          <p:spTgt spid="49"/>
                                        </p:tgtEl>
                                      </p:cBhvr>
                                      <p:to x="100000" y="100000"/>
                                    </p:animScale>
                                    <p:animScale>
                                      <p:cBhvr>
                                        <p:cTn id="102" dur="26">
                                          <p:stCondLst>
                                            <p:cond delay="1312"/>
                                          </p:stCondLst>
                                        </p:cTn>
                                        <p:tgtEl>
                                          <p:spTgt spid="49"/>
                                        </p:tgtEl>
                                      </p:cBhvr>
                                      <p:to x="100000" y="80000"/>
                                    </p:animScale>
                                    <p:animScale>
                                      <p:cBhvr>
                                        <p:cTn id="103" dur="166" decel="50000">
                                          <p:stCondLst>
                                            <p:cond delay="1338"/>
                                          </p:stCondLst>
                                        </p:cTn>
                                        <p:tgtEl>
                                          <p:spTgt spid="49"/>
                                        </p:tgtEl>
                                      </p:cBhvr>
                                      <p:to x="100000" y="100000"/>
                                    </p:animScale>
                                    <p:animScale>
                                      <p:cBhvr>
                                        <p:cTn id="104" dur="26">
                                          <p:stCondLst>
                                            <p:cond delay="1642"/>
                                          </p:stCondLst>
                                        </p:cTn>
                                        <p:tgtEl>
                                          <p:spTgt spid="49"/>
                                        </p:tgtEl>
                                      </p:cBhvr>
                                      <p:to x="100000" y="90000"/>
                                    </p:animScale>
                                    <p:animScale>
                                      <p:cBhvr>
                                        <p:cTn id="105" dur="166" decel="50000">
                                          <p:stCondLst>
                                            <p:cond delay="1668"/>
                                          </p:stCondLst>
                                        </p:cTn>
                                        <p:tgtEl>
                                          <p:spTgt spid="49"/>
                                        </p:tgtEl>
                                      </p:cBhvr>
                                      <p:to x="100000" y="100000"/>
                                    </p:animScale>
                                    <p:animScale>
                                      <p:cBhvr>
                                        <p:cTn id="106" dur="26">
                                          <p:stCondLst>
                                            <p:cond delay="1808"/>
                                          </p:stCondLst>
                                        </p:cTn>
                                        <p:tgtEl>
                                          <p:spTgt spid="49"/>
                                        </p:tgtEl>
                                      </p:cBhvr>
                                      <p:to x="100000" y="95000"/>
                                    </p:animScale>
                                    <p:animScale>
                                      <p:cBhvr>
                                        <p:cTn id="107" dur="166" decel="50000">
                                          <p:stCondLst>
                                            <p:cond delay="1834"/>
                                          </p:stCondLst>
                                        </p:cTn>
                                        <p:tgtEl>
                                          <p:spTgt spid="49"/>
                                        </p:tgtEl>
                                      </p:cBhvr>
                                      <p:to x="100000" y="100000"/>
                                    </p:animScale>
                                  </p:childTnLst>
                                </p:cTn>
                              </p:par>
                              <p:par>
                                <p:cTn id="108" presetID="26" presetClass="entr" presetSubtype="0" fill="hold" nodeType="withEffect">
                                  <p:stCondLst>
                                    <p:cond delay="0"/>
                                  </p:stCondLst>
                                  <p:childTnLst>
                                    <p:set>
                                      <p:cBhvr>
                                        <p:cTn id="109" dur="1" fill="hold">
                                          <p:stCondLst>
                                            <p:cond delay="0"/>
                                          </p:stCondLst>
                                        </p:cTn>
                                        <p:tgtEl>
                                          <p:spTgt spid="53"/>
                                        </p:tgtEl>
                                        <p:attrNameLst>
                                          <p:attrName>style.visibility</p:attrName>
                                        </p:attrNameLst>
                                      </p:cBhvr>
                                      <p:to>
                                        <p:strVal val="visible"/>
                                      </p:to>
                                    </p:set>
                                    <p:animEffect transition="in" filter="wipe(down)">
                                      <p:cBhvr>
                                        <p:cTn id="110" dur="580">
                                          <p:stCondLst>
                                            <p:cond delay="0"/>
                                          </p:stCondLst>
                                        </p:cTn>
                                        <p:tgtEl>
                                          <p:spTgt spid="53"/>
                                        </p:tgtEl>
                                      </p:cBhvr>
                                    </p:animEffect>
                                    <p:anim calcmode="lin" valueType="num">
                                      <p:cBhvr>
                                        <p:cTn id="111" dur="1822" tmFilter="0,0; 0.14,0.36; 0.43,0.73; 0.71,0.91; 1.0,1.0">
                                          <p:stCondLst>
                                            <p:cond delay="0"/>
                                          </p:stCondLst>
                                        </p:cTn>
                                        <p:tgtEl>
                                          <p:spTgt spid="53"/>
                                        </p:tgtEl>
                                        <p:attrNameLst>
                                          <p:attrName>ppt_x</p:attrName>
                                        </p:attrNameLst>
                                      </p:cBhvr>
                                      <p:tavLst>
                                        <p:tav tm="0">
                                          <p:val>
                                            <p:strVal val="#ppt_x-0.25"/>
                                          </p:val>
                                        </p:tav>
                                        <p:tav tm="100000">
                                          <p:val>
                                            <p:strVal val="#ppt_x"/>
                                          </p:val>
                                        </p:tav>
                                      </p:tavLst>
                                    </p:anim>
                                    <p:anim calcmode="lin" valueType="num">
                                      <p:cBhvr>
                                        <p:cTn id="112" dur="664" tmFilter="0.0,0.0; 0.25,0.07; 0.50,0.2; 0.75,0.467; 1.0,1.0">
                                          <p:stCondLst>
                                            <p:cond delay="0"/>
                                          </p:stCondLst>
                                        </p:cTn>
                                        <p:tgtEl>
                                          <p:spTgt spid="53"/>
                                        </p:tgtEl>
                                        <p:attrNameLst>
                                          <p:attrName>ppt_y</p:attrName>
                                        </p:attrNameLst>
                                      </p:cBhvr>
                                      <p:tavLst>
                                        <p:tav tm="0" fmla="#ppt_y-sin(pi*$)/3">
                                          <p:val>
                                            <p:fltVal val="0.5"/>
                                          </p:val>
                                        </p:tav>
                                        <p:tav tm="100000">
                                          <p:val>
                                            <p:fltVal val="1"/>
                                          </p:val>
                                        </p:tav>
                                      </p:tavLst>
                                    </p:anim>
                                    <p:anim calcmode="lin" valueType="num">
                                      <p:cBhvr>
                                        <p:cTn id="113" dur="664" tmFilter="0, 0; 0.125,0.2665; 0.25,0.4; 0.375,0.465; 0.5,0.5;  0.625,0.535; 0.75,0.6; 0.875,0.7335; 1,1">
                                          <p:stCondLst>
                                            <p:cond delay="664"/>
                                          </p:stCondLst>
                                        </p:cTn>
                                        <p:tgtEl>
                                          <p:spTgt spid="53"/>
                                        </p:tgtEl>
                                        <p:attrNameLst>
                                          <p:attrName>ppt_y</p:attrName>
                                        </p:attrNameLst>
                                      </p:cBhvr>
                                      <p:tavLst>
                                        <p:tav tm="0" fmla="#ppt_y-sin(pi*$)/9">
                                          <p:val>
                                            <p:fltVal val="0"/>
                                          </p:val>
                                        </p:tav>
                                        <p:tav tm="100000">
                                          <p:val>
                                            <p:fltVal val="1"/>
                                          </p:val>
                                        </p:tav>
                                      </p:tavLst>
                                    </p:anim>
                                    <p:anim calcmode="lin" valueType="num">
                                      <p:cBhvr>
                                        <p:cTn id="114" dur="332" tmFilter="0, 0; 0.125,0.2665; 0.25,0.4; 0.375,0.465; 0.5,0.5;  0.625,0.535; 0.75,0.6; 0.875,0.7335; 1,1">
                                          <p:stCondLst>
                                            <p:cond delay="1324"/>
                                          </p:stCondLst>
                                        </p:cTn>
                                        <p:tgtEl>
                                          <p:spTgt spid="53"/>
                                        </p:tgtEl>
                                        <p:attrNameLst>
                                          <p:attrName>ppt_y</p:attrName>
                                        </p:attrNameLst>
                                      </p:cBhvr>
                                      <p:tavLst>
                                        <p:tav tm="0" fmla="#ppt_y-sin(pi*$)/27">
                                          <p:val>
                                            <p:fltVal val="0"/>
                                          </p:val>
                                        </p:tav>
                                        <p:tav tm="100000">
                                          <p:val>
                                            <p:fltVal val="1"/>
                                          </p:val>
                                        </p:tav>
                                      </p:tavLst>
                                    </p:anim>
                                    <p:anim calcmode="lin" valueType="num">
                                      <p:cBhvr>
                                        <p:cTn id="115" dur="164" tmFilter="0, 0; 0.125,0.2665; 0.25,0.4; 0.375,0.465; 0.5,0.5;  0.625,0.535; 0.75,0.6; 0.875,0.7335; 1,1">
                                          <p:stCondLst>
                                            <p:cond delay="1656"/>
                                          </p:stCondLst>
                                        </p:cTn>
                                        <p:tgtEl>
                                          <p:spTgt spid="53"/>
                                        </p:tgtEl>
                                        <p:attrNameLst>
                                          <p:attrName>ppt_y</p:attrName>
                                        </p:attrNameLst>
                                      </p:cBhvr>
                                      <p:tavLst>
                                        <p:tav tm="0" fmla="#ppt_y-sin(pi*$)/81">
                                          <p:val>
                                            <p:fltVal val="0"/>
                                          </p:val>
                                        </p:tav>
                                        <p:tav tm="100000">
                                          <p:val>
                                            <p:fltVal val="1"/>
                                          </p:val>
                                        </p:tav>
                                      </p:tavLst>
                                    </p:anim>
                                    <p:animScale>
                                      <p:cBhvr>
                                        <p:cTn id="116" dur="26">
                                          <p:stCondLst>
                                            <p:cond delay="650"/>
                                          </p:stCondLst>
                                        </p:cTn>
                                        <p:tgtEl>
                                          <p:spTgt spid="53"/>
                                        </p:tgtEl>
                                      </p:cBhvr>
                                      <p:to x="100000" y="60000"/>
                                    </p:animScale>
                                    <p:animScale>
                                      <p:cBhvr>
                                        <p:cTn id="117" dur="166" decel="50000">
                                          <p:stCondLst>
                                            <p:cond delay="676"/>
                                          </p:stCondLst>
                                        </p:cTn>
                                        <p:tgtEl>
                                          <p:spTgt spid="53"/>
                                        </p:tgtEl>
                                      </p:cBhvr>
                                      <p:to x="100000" y="100000"/>
                                    </p:animScale>
                                    <p:animScale>
                                      <p:cBhvr>
                                        <p:cTn id="118" dur="26">
                                          <p:stCondLst>
                                            <p:cond delay="1312"/>
                                          </p:stCondLst>
                                        </p:cTn>
                                        <p:tgtEl>
                                          <p:spTgt spid="53"/>
                                        </p:tgtEl>
                                      </p:cBhvr>
                                      <p:to x="100000" y="80000"/>
                                    </p:animScale>
                                    <p:animScale>
                                      <p:cBhvr>
                                        <p:cTn id="119" dur="166" decel="50000">
                                          <p:stCondLst>
                                            <p:cond delay="1338"/>
                                          </p:stCondLst>
                                        </p:cTn>
                                        <p:tgtEl>
                                          <p:spTgt spid="53"/>
                                        </p:tgtEl>
                                      </p:cBhvr>
                                      <p:to x="100000" y="100000"/>
                                    </p:animScale>
                                    <p:animScale>
                                      <p:cBhvr>
                                        <p:cTn id="120" dur="26">
                                          <p:stCondLst>
                                            <p:cond delay="1642"/>
                                          </p:stCondLst>
                                        </p:cTn>
                                        <p:tgtEl>
                                          <p:spTgt spid="53"/>
                                        </p:tgtEl>
                                      </p:cBhvr>
                                      <p:to x="100000" y="90000"/>
                                    </p:animScale>
                                    <p:animScale>
                                      <p:cBhvr>
                                        <p:cTn id="121" dur="166" decel="50000">
                                          <p:stCondLst>
                                            <p:cond delay="1668"/>
                                          </p:stCondLst>
                                        </p:cTn>
                                        <p:tgtEl>
                                          <p:spTgt spid="53"/>
                                        </p:tgtEl>
                                      </p:cBhvr>
                                      <p:to x="100000" y="100000"/>
                                    </p:animScale>
                                    <p:animScale>
                                      <p:cBhvr>
                                        <p:cTn id="122" dur="26">
                                          <p:stCondLst>
                                            <p:cond delay="1808"/>
                                          </p:stCondLst>
                                        </p:cTn>
                                        <p:tgtEl>
                                          <p:spTgt spid="53"/>
                                        </p:tgtEl>
                                      </p:cBhvr>
                                      <p:to x="100000" y="95000"/>
                                    </p:animScale>
                                    <p:animScale>
                                      <p:cBhvr>
                                        <p:cTn id="123" dur="166" decel="50000">
                                          <p:stCondLst>
                                            <p:cond delay="1834"/>
                                          </p:stCondLst>
                                        </p:cTn>
                                        <p:tgtEl>
                                          <p:spTgt spid="53"/>
                                        </p:tgtEl>
                                      </p:cBhvr>
                                      <p:to x="100000" y="100000"/>
                                    </p:animScale>
                                  </p:childTnLst>
                                </p:cTn>
                              </p:par>
                              <p:par>
                                <p:cTn id="124" presetID="26" presetClass="entr" presetSubtype="0" fill="hold" grpId="0" nodeType="withEffect">
                                  <p:stCondLst>
                                    <p:cond delay="0"/>
                                  </p:stCondLst>
                                  <p:childTnLst>
                                    <p:set>
                                      <p:cBhvr>
                                        <p:cTn id="125" dur="1" fill="hold">
                                          <p:stCondLst>
                                            <p:cond delay="0"/>
                                          </p:stCondLst>
                                        </p:cTn>
                                        <p:tgtEl>
                                          <p:spTgt spid="54"/>
                                        </p:tgtEl>
                                        <p:attrNameLst>
                                          <p:attrName>style.visibility</p:attrName>
                                        </p:attrNameLst>
                                      </p:cBhvr>
                                      <p:to>
                                        <p:strVal val="visible"/>
                                      </p:to>
                                    </p:set>
                                    <p:animEffect transition="in" filter="wipe(down)">
                                      <p:cBhvr>
                                        <p:cTn id="126" dur="580">
                                          <p:stCondLst>
                                            <p:cond delay="0"/>
                                          </p:stCondLst>
                                        </p:cTn>
                                        <p:tgtEl>
                                          <p:spTgt spid="54"/>
                                        </p:tgtEl>
                                      </p:cBhvr>
                                    </p:animEffect>
                                    <p:anim calcmode="lin" valueType="num">
                                      <p:cBhvr>
                                        <p:cTn id="127" dur="1822" tmFilter="0,0; 0.14,0.36; 0.43,0.73; 0.71,0.91; 1.0,1.0">
                                          <p:stCondLst>
                                            <p:cond delay="0"/>
                                          </p:stCondLst>
                                        </p:cTn>
                                        <p:tgtEl>
                                          <p:spTgt spid="54"/>
                                        </p:tgtEl>
                                        <p:attrNameLst>
                                          <p:attrName>ppt_x</p:attrName>
                                        </p:attrNameLst>
                                      </p:cBhvr>
                                      <p:tavLst>
                                        <p:tav tm="0">
                                          <p:val>
                                            <p:strVal val="#ppt_x-0.25"/>
                                          </p:val>
                                        </p:tav>
                                        <p:tav tm="100000">
                                          <p:val>
                                            <p:strVal val="#ppt_x"/>
                                          </p:val>
                                        </p:tav>
                                      </p:tavLst>
                                    </p:anim>
                                    <p:anim calcmode="lin" valueType="num">
                                      <p:cBhvr>
                                        <p:cTn id="128" dur="664" tmFilter="0.0,0.0; 0.25,0.07; 0.50,0.2; 0.75,0.467; 1.0,1.0">
                                          <p:stCondLst>
                                            <p:cond delay="0"/>
                                          </p:stCondLst>
                                        </p:cTn>
                                        <p:tgtEl>
                                          <p:spTgt spid="54"/>
                                        </p:tgtEl>
                                        <p:attrNameLst>
                                          <p:attrName>ppt_y</p:attrName>
                                        </p:attrNameLst>
                                      </p:cBhvr>
                                      <p:tavLst>
                                        <p:tav tm="0" fmla="#ppt_y-sin(pi*$)/3">
                                          <p:val>
                                            <p:fltVal val="0.5"/>
                                          </p:val>
                                        </p:tav>
                                        <p:tav tm="100000">
                                          <p:val>
                                            <p:fltVal val="1"/>
                                          </p:val>
                                        </p:tav>
                                      </p:tavLst>
                                    </p:anim>
                                    <p:anim calcmode="lin" valueType="num">
                                      <p:cBhvr>
                                        <p:cTn id="129" dur="664" tmFilter="0, 0; 0.125,0.2665; 0.25,0.4; 0.375,0.465; 0.5,0.5;  0.625,0.535; 0.75,0.6; 0.875,0.7335; 1,1">
                                          <p:stCondLst>
                                            <p:cond delay="664"/>
                                          </p:stCondLst>
                                        </p:cTn>
                                        <p:tgtEl>
                                          <p:spTgt spid="54"/>
                                        </p:tgtEl>
                                        <p:attrNameLst>
                                          <p:attrName>ppt_y</p:attrName>
                                        </p:attrNameLst>
                                      </p:cBhvr>
                                      <p:tavLst>
                                        <p:tav tm="0" fmla="#ppt_y-sin(pi*$)/9">
                                          <p:val>
                                            <p:fltVal val="0"/>
                                          </p:val>
                                        </p:tav>
                                        <p:tav tm="100000">
                                          <p:val>
                                            <p:fltVal val="1"/>
                                          </p:val>
                                        </p:tav>
                                      </p:tavLst>
                                    </p:anim>
                                    <p:anim calcmode="lin" valueType="num">
                                      <p:cBhvr>
                                        <p:cTn id="130" dur="332" tmFilter="0, 0; 0.125,0.2665; 0.25,0.4; 0.375,0.465; 0.5,0.5;  0.625,0.535; 0.75,0.6; 0.875,0.7335; 1,1">
                                          <p:stCondLst>
                                            <p:cond delay="1324"/>
                                          </p:stCondLst>
                                        </p:cTn>
                                        <p:tgtEl>
                                          <p:spTgt spid="54"/>
                                        </p:tgtEl>
                                        <p:attrNameLst>
                                          <p:attrName>ppt_y</p:attrName>
                                        </p:attrNameLst>
                                      </p:cBhvr>
                                      <p:tavLst>
                                        <p:tav tm="0" fmla="#ppt_y-sin(pi*$)/27">
                                          <p:val>
                                            <p:fltVal val="0"/>
                                          </p:val>
                                        </p:tav>
                                        <p:tav tm="100000">
                                          <p:val>
                                            <p:fltVal val="1"/>
                                          </p:val>
                                        </p:tav>
                                      </p:tavLst>
                                    </p:anim>
                                    <p:anim calcmode="lin" valueType="num">
                                      <p:cBhvr>
                                        <p:cTn id="131" dur="164" tmFilter="0, 0; 0.125,0.2665; 0.25,0.4; 0.375,0.465; 0.5,0.5;  0.625,0.535; 0.75,0.6; 0.875,0.7335; 1,1">
                                          <p:stCondLst>
                                            <p:cond delay="1656"/>
                                          </p:stCondLst>
                                        </p:cTn>
                                        <p:tgtEl>
                                          <p:spTgt spid="54"/>
                                        </p:tgtEl>
                                        <p:attrNameLst>
                                          <p:attrName>ppt_y</p:attrName>
                                        </p:attrNameLst>
                                      </p:cBhvr>
                                      <p:tavLst>
                                        <p:tav tm="0" fmla="#ppt_y-sin(pi*$)/81">
                                          <p:val>
                                            <p:fltVal val="0"/>
                                          </p:val>
                                        </p:tav>
                                        <p:tav tm="100000">
                                          <p:val>
                                            <p:fltVal val="1"/>
                                          </p:val>
                                        </p:tav>
                                      </p:tavLst>
                                    </p:anim>
                                    <p:animScale>
                                      <p:cBhvr>
                                        <p:cTn id="132" dur="26">
                                          <p:stCondLst>
                                            <p:cond delay="650"/>
                                          </p:stCondLst>
                                        </p:cTn>
                                        <p:tgtEl>
                                          <p:spTgt spid="54"/>
                                        </p:tgtEl>
                                      </p:cBhvr>
                                      <p:to x="100000" y="60000"/>
                                    </p:animScale>
                                    <p:animScale>
                                      <p:cBhvr>
                                        <p:cTn id="133" dur="166" decel="50000">
                                          <p:stCondLst>
                                            <p:cond delay="676"/>
                                          </p:stCondLst>
                                        </p:cTn>
                                        <p:tgtEl>
                                          <p:spTgt spid="54"/>
                                        </p:tgtEl>
                                      </p:cBhvr>
                                      <p:to x="100000" y="100000"/>
                                    </p:animScale>
                                    <p:animScale>
                                      <p:cBhvr>
                                        <p:cTn id="134" dur="26">
                                          <p:stCondLst>
                                            <p:cond delay="1312"/>
                                          </p:stCondLst>
                                        </p:cTn>
                                        <p:tgtEl>
                                          <p:spTgt spid="54"/>
                                        </p:tgtEl>
                                      </p:cBhvr>
                                      <p:to x="100000" y="80000"/>
                                    </p:animScale>
                                    <p:animScale>
                                      <p:cBhvr>
                                        <p:cTn id="135" dur="166" decel="50000">
                                          <p:stCondLst>
                                            <p:cond delay="1338"/>
                                          </p:stCondLst>
                                        </p:cTn>
                                        <p:tgtEl>
                                          <p:spTgt spid="54"/>
                                        </p:tgtEl>
                                      </p:cBhvr>
                                      <p:to x="100000" y="100000"/>
                                    </p:animScale>
                                    <p:animScale>
                                      <p:cBhvr>
                                        <p:cTn id="136" dur="26">
                                          <p:stCondLst>
                                            <p:cond delay="1642"/>
                                          </p:stCondLst>
                                        </p:cTn>
                                        <p:tgtEl>
                                          <p:spTgt spid="54"/>
                                        </p:tgtEl>
                                      </p:cBhvr>
                                      <p:to x="100000" y="90000"/>
                                    </p:animScale>
                                    <p:animScale>
                                      <p:cBhvr>
                                        <p:cTn id="137" dur="166" decel="50000">
                                          <p:stCondLst>
                                            <p:cond delay="1668"/>
                                          </p:stCondLst>
                                        </p:cTn>
                                        <p:tgtEl>
                                          <p:spTgt spid="54"/>
                                        </p:tgtEl>
                                      </p:cBhvr>
                                      <p:to x="100000" y="100000"/>
                                    </p:animScale>
                                    <p:animScale>
                                      <p:cBhvr>
                                        <p:cTn id="138" dur="26">
                                          <p:stCondLst>
                                            <p:cond delay="1808"/>
                                          </p:stCondLst>
                                        </p:cTn>
                                        <p:tgtEl>
                                          <p:spTgt spid="54"/>
                                        </p:tgtEl>
                                      </p:cBhvr>
                                      <p:to x="100000" y="95000"/>
                                    </p:animScale>
                                    <p:animScale>
                                      <p:cBhvr>
                                        <p:cTn id="139" dur="166" decel="50000">
                                          <p:stCondLst>
                                            <p:cond delay="1834"/>
                                          </p:stCondLst>
                                        </p:cTn>
                                        <p:tgtEl>
                                          <p:spTgt spid="54"/>
                                        </p:tgtEl>
                                      </p:cBhvr>
                                      <p:to x="100000" y="100000"/>
                                    </p:animScale>
                                  </p:childTnLst>
                                </p:cTn>
                              </p:par>
                              <p:par>
                                <p:cTn id="140" presetID="26" presetClass="entr" presetSubtype="0" fill="hold" nodeType="withEffect">
                                  <p:stCondLst>
                                    <p:cond delay="0"/>
                                  </p:stCondLst>
                                  <p:childTnLst>
                                    <p:set>
                                      <p:cBhvr>
                                        <p:cTn id="141" dur="1" fill="hold">
                                          <p:stCondLst>
                                            <p:cond delay="0"/>
                                          </p:stCondLst>
                                        </p:cTn>
                                        <p:tgtEl>
                                          <p:spTgt spid="56"/>
                                        </p:tgtEl>
                                        <p:attrNameLst>
                                          <p:attrName>style.visibility</p:attrName>
                                        </p:attrNameLst>
                                      </p:cBhvr>
                                      <p:to>
                                        <p:strVal val="visible"/>
                                      </p:to>
                                    </p:set>
                                    <p:animEffect transition="in" filter="wipe(down)">
                                      <p:cBhvr>
                                        <p:cTn id="142" dur="580">
                                          <p:stCondLst>
                                            <p:cond delay="0"/>
                                          </p:stCondLst>
                                        </p:cTn>
                                        <p:tgtEl>
                                          <p:spTgt spid="56"/>
                                        </p:tgtEl>
                                      </p:cBhvr>
                                    </p:animEffect>
                                    <p:anim calcmode="lin" valueType="num">
                                      <p:cBhvr>
                                        <p:cTn id="143" dur="1822" tmFilter="0,0; 0.14,0.36; 0.43,0.73; 0.71,0.91; 1.0,1.0">
                                          <p:stCondLst>
                                            <p:cond delay="0"/>
                                          </p:stCondLst>
                                        </p:cTn>
                                        <p:tgtEl>
                                          <p:spTgt spid="56"/>
                                        </p:tgtEl>
                                        <p:attrNameLst>
                                          <p:attrName>ppt_x</p:attrName>
                                        </p:attrNameLst>
                                      </p:cBhvr>
                                      <p:tavLst>
                                        <p:tav tm="0">
                                          <p:val>
                                            <p:strVal val="#ppt_x-0.25"/>
                                          </p:val>
                                        </p:tav>
                                        <p:tav tm="100000">
                                          <p:val>
                                            <p:strVal val="#ppt_x"/>
                                          </p:val>
                                        </p:tav>
                                      </p:tavLst>
                                    </p:anim>
                                    <p:anim calcmode="lin" valueType="num">
                                      <p:cBhvr>
                                        <p:cTn id="144" dur="664" tmFilter="0.0,0.0; 0.25,0.07; 0.50,0.2; 0.75,0.467; 1.0,1.0">
                                          <p:stCondLst>
                                            <p:cond delay="0"/>
                                          </p:stCondLst>
                                        </p:cTn>
                                        <p:tgtEl>
                                          <p:spTgt spid="56"/>
                                        </p:tgtEl>
                                        <p:attrNameLst>
                                          <p:attrName>ppt_y</p:attrName>
                                        </p:attrNameLst>
                                      </p:cBhvr>
                                      <p:tavLst>
                                        <p:tav tm="0" fmla="#ppt_y-sin(pi*$)/3">
                                          <p:val>
                                            <p:fltVal val="0.5"/>
                                          </p:val>
                                        </p:tav>
                                        <p:tav tm="100000">
                                          <p:val>
                                            <p:fltVal val="1"/>
                                          </p:val>
                                        </p:tav>
                                      </p:tavLst>
                                    </p:anim>
                                    <p:anim calcmode="lin" valueType="num">
                                      <p:cBhvr>
                                        <p:cTn id="145" dur="664" tmFilter="0, 0; 0.125,0.2665; 0.25,0.4; 0.375,0.465; 0.5,0.5;  0.625,0.535; 0.75,0.6; 0.875,0.7335; 1,1">
                                          <p:stCondLst>
                                            <p:cond delay="664"/>
                                          </p:stCondLst>
                                        </p:cTn>
                                        <p:tgtEl>
                                          <p:spTgt spid="56"/>
                                        </p:tgtEl>
                                        <p:attrNameLst>
                                          <p:attrName>ppt_y</p:attrName>
                                        </p:attrNameLst>
                                      </p:cBhvr>
                                      <p:tavLst>
                                        <p:tav tm="0" fmla="#ppt_y-sin(pi*$)/9">
                                          <p:val>
                                            <p:fltVal val="0"/>
                                          </p:val>
                                        </p:tav>
                                        <p:tav tm="100000">
                                          <p:val>
                                            <p:fltVal val="1"/>
                                          </p:val>
                                        </p:tav>
                                      </p:tavLst>
                                    </p:anim>
                                    <p:anim calcmode="lin" valueType="num">
                                      <p:cBhvr>
                                        <p:cTn id="146" dur="332" tmFilter="0, 0; 0.125,0.2665; 0.25,0.4; 0.375,0.465; 0.5,0.5;  0.625,0.535; 0.75,0.6; 0.875,0.7335; 1,1">
                                          <p:stCondLst>
                                            <p:cond delay="1324"/>
                                          </p:stCondLst>
                                        </p:cTn>
                                        <p:tgtEl>
                                          <p:spTgt spid="56"/>
                                        </p:tgtEl>
                                        <p:attrNameLst>
                                          <p:attrName>ppt_y</p:attrName>
                                        </p:attrNameLst>
                                      </p:cBhvr>
                                      <p:tavLst>
                                        <p:tav tm="0" fmla="#ppt_y-sin(pi*$)/27">
                                          <p:val>
                                            <p:fltVal val="0"/>
                                          </p:val>
                                        </p:tav>
                                        <p:tav tm="100000">
                                          <p:val>
                                            <p:fltVal val="1"/>
                                          </p:val>
                                        </p:tav>
                                      </p:tavLst>
                                    </p:anim>
                                    <p:anim calcmode="lin" valueType="num">
                                      <p:cBhvr>
                                        <p:cTn id="147" dur="164" tmFilter="0, 0; 0.125,0.2665; 0.25,0.4; 0.375,0.465; 0.5,0.5;  0.625,0.535; 0.75,0.6; 0.875,0.7335; 1,1">
                                          <p:stCondLst>
                                            <p:cond delay="1656"/>
                                          </p:stCondLst>
                                        </p:cTn>
                                        <p:tgtEl>
                                          <p:spTgt spid="56"/>
                                        </p:tgtEl>
                                        <p:attrNameLst>
                                          <p:attrName>ppt_y</p:attrName>
                                        </p:attrNameLst>
                                      </p:cBhvr>
                                      <p:tavLst>
                                        <p:tav tm="0" fmla="#ppt_y-sin(pi*$)/81">
                                          <p:val>
                                            <p:fltVal val="0"/>
                                          </p:val>
                                        </p:tav>
                                        <p:tav tm="100000">
                                          <p:val>
                                            <p:fltVal val="1"/>
                                          </p:val>
                                        </p:tav>
                                      </p:tavLst>
                                    </p:anim>
                                    <p:animScale>
                                      <p:cBhvr>
                                        <p:cTn id="148" dur="26">
                                          <p:stCondLst>
                                            <p:cond delay="650"/>
                                          </p:stCondLst>
                                        </p:cTn>
                                        <p:tgtEl>
                                          <p:spTgt spid="56"/>
                                        </p:tgtEl>
                                      </p:cBhvr>
                                      <p:to x="100000" y="60000"/>
                                    </p:animScale>
                                    <p:animScale>
                                      <p:cBhvr>
                                        <p:cTn id="149" dur="166" decel="50000">
                                          <p:stCondLst>
                                            <p:cond delay="676"/>
                                          </p:stCondLst>
                                        </p:cTn>
                                        <p:tgtEl>
                                          <p:spTgt spid="56"/>
                                        </p:tgtEl>
                                      </p:cBhvr>
                                      <p:to x="100000" y="100000"/>
                                    </p:animScale>
                                    <p:animScale>
                                      <p:cBhvr>
                                        <p:cTn id="150" dur="26">
                                          <p:stCondLst>
                                            <p:cond delay="1312"/>
                                          </p:stCondLst>
                                        </p:cTn>
                                        <p:tgtEl>
                                          <p:spTgt spid="56"/>
                                        </p:tgtEl>
                                      </p:cBhvr>
                                      <p:to x="100000" y="80000"/>
                                    </p:animScale>
                                    <p:animScale>
                                      <p:cBhvr>
                                        <p:cTn id="151" dur="166" decel="50000">
                                          <p:stCondLst>
                                            <p:cond delay="1338"/>
                                          </p:stCondLst>
                                        </p:cTn>
                                        <p:tgtEl>
                                          <p:spTgt spid="56"/>
                                        </p:tgtEl>
                                      </p:cBhvr>
                                      <p:to x="100000" y="100000"/>
                                    </p:animScale>
                                    <p:animScale>
                                      <p:cBhvr>
                                        <p:cTn id="152" dur="26">
                                          <p:stCondLst>
                                            <p:cond delay="1642"/>
                                          </p:stCondLst>
                                        </p:cTn>
                                        <p:tgtEl>
                                          <p:spTgt spid="56"/>
                                        </p:tgtEl>
                                      </p:cBhvr>
                                      <p:to x="100000" y="90000"/>
                                    </p:animScale>
                                    <p:animScale>
                                      <p:cBhvr>
                                        <p:cTn id="153" dur="166" decel="50000">
                                          <p:stCondLst>
                                            <p:cond delay="1668"/>
                                          </p:stCondLst>
                                        </p:cTn>
                                        <p:tgtEl>
                                          <p:spTgt spid="56"/>
                                        </p:tgtEl>
                                      </p:cBhvr>
                                      <p:to x="100000" y="100000"/>
                                    </p:animScale>
                                    <p:animScale>
                                      <p:cBhvr>
                                        <p:cTn id="154" dur="26">
                                          <p:stCondLst>
                                            <p:cond delay="1808"/>
                                          </p:stCondLst>
                                        </p:cTn>
                                        <p:tgtEl>
                                          <p:spTgt spid="56"/>
                                        </p:tgtEl>
                                      </p:cBhvr>
                                      <p:to x="100000" y="95000"/>
                                    </p:animScale>
                                    <p:animScale>
                                      <p:cBhvr>
                                        <p:cTn id="155" dur="166" decel="50000">
                                          <p:stCondLst>
                                            <p:cond delay="1834"/>
                                          </p:stCondLst>
                                        </p:cTn>
                                        <p:tgtEl>
                                          <p:spTgt spid="56"/>
                                        </p:tgtEl>
                                      </p:cBhvr>
                                      <p:to x="100000" y="100000"/>
                                    </p:animScale>
                                  </p:childTnLst>
                                </p:cTn>
                              </p:par>
                              <p:par>
                                <p:cTn id="156" presetID="26" presetClass="entr" presetSubtype="0" fill="hold" nodeType="withEffect">
                                  <p:stCondLst>
                                    <p:cond delay="0"/>
                                  </p:stCondLst>
                                  <p:childTnLst>
                                    <p:set>
                                      <p:cBhvr>
                                        <p:cTn id="157" dur="1" fill="hold">
                                          <p:stCondLst>
                                            <p:cond delay="0"/>
                                          </p:stCondLst>
                                        </p:cTn>
                                        <p:tgtEl>
                                          <p:spTgt spid="57"/>
                                        </p:tgtEl>
                                        <p:attrNameLst>
                                          <p:attrName>style.visibility</p:attrName>
                                        </p:attrNameLst>
                                      </p:cBhvr>
                                      <p:to>
                                        <p:strVal val="visible"/>
                                      </p:to>
                                    </p:set>
                                    <p:animEffect transition="in" filter="wipe(down)">
                                      <p:cBhvr>
                                        <p:cTn id="158" dur="580">
                                          <p:stCondLst>
                                            <p:cond delay="0"/>
                                          </p:stCondLst>
                                        </p:cTn>
                                        <p:tgtEl>
                                          <p:spTgt spid="57"/>
                                        </p:tgtEl>
                                      </p:cBhvr>
                                    </p:animEffect>
                                    <p:anim calcmode="lin" valueType="num">
                                      <p:cBhvr>
                                        <p:cTn id="159" dur="1822" tmFilter="0,0; 0.14,0.36; 0.43,0.73; 0.71,0.91; 1.0,1.0">
                                          <p:stCondLst>
                                            <p:cond delay="0"/>
                                          </p:stCondLst>
                                        </p:cTn>
                                        <p:tgtEl>
                                          <p:spTgt spid="57"/>
                                        </p:tgtEl>
                                        <p:attrNameLst>
                                          <p:attrName>ppt_x</p:attrName>
                                        </p:attrNameLst>
                                      </p:cBhvr>
                                      <p:tavLst>
                                        <p:tav tm="0">
                                          <p:val>
                                            <p:strVal val="#ppt_x-0.25"/>
                                          </p:val>
                                        </p:tav>
                                        <p:tav tm="100000">
                                          <p:val>
                                            <p:strVal val="#ppt_x"/>
                                          </p:val>
                                        </p:tav>
                                      </p:tavLst>
                                    </p:anim>
                                    <p:anim calcmode="lin" valueType="num">
                                      <p:cBhvr>
                                        <p:cTn id="160" dur="664" tmFilter="0.0,0.0; 0.25,0.07; 0.50,0.2; 0.75,0.467; 1.0,1.0">
                                          <p:stCondLst>
                                            <p:cond delay="0"/>
                                          </p:stCondLst>
                                        </p:cTn>
                                        <p:tgtEl>
                                          <p:spTgt spid="57"/>
                                        </p:tgtEl>
                                        <p:attrNameLst>
                                          <p:attrName>ppt_y</p:attrName>
                                        </p:attrNameLst>
                                      </p:cBhvr>
                                      <p:tavLst>
                                        <p:tav tm="0" fmla="#ppt_y-sin(pi*$)/3">
                                          <p:val>
                                            <p:fltVal val="0.5"/>
                                          </p:val>
                                        </p:tav>
                                        <p:tav tm="100000">
                                          <p:val>
                                            <p:fltVal val="1"/>
                                          </p:val>
                                        </p:tav>
                                      </p:tavLst>
                                    </p:anim>
                                    <p:anim calcmode="lin" valueType="num">
                                      <p:cBhvr>
                                        <p:cTn id="161" dur="664" tmFilter="0, 0; 0.125,0.2665; 0.25,0.4; 0.375,0.465; 0.5,0.5;  0.625,0.535; 0.75,0.6; 0.875,0.7335; 1,1">
                                          <p:stCondLst>
                                            <p:cond delay="664"/>
                                          </p:stCondLst>
                                        </p:cTn>
                                        <p:tgtEl>
                                          <p:spTgt spid="57"/>
                                        </p:tgtEl>
                                        <p:attrNameLst>
                                          <p:attrName>ppt_y</p:attrName>
                                        </p:attrNameLst>
                                      </p:cBhvr>
                                      <p:tavLst>
                                        <p:tav tm="0" fmla="#ppt_y-sin(pi*$)/9">
                                          <p:val>
                                            <p:fltVal val="0"/>
                                          </p:val>
                                        </p:tav>
                                        <p:tav tm="100000">
                                          <p:val>
                                            <p:fltVal val="1"/>
                                          </p:val>
                                        </p:tav>
                                      </p:tavLst>
                                    </p:anim>
                                    <p:anim calcmode="lin" valueType="num">
                                      <p:cBhvr>
                                        <p:cTn id="162" dur="332" tmFilter="0, 0; 0.125,0.2665; 0.25,0.4; 0.375,0.465; 0.5,0.5;  0.625,0.535; 0.75,0.6; 0.875,0.7335; 1,1">
                                          <p:stCondLst>
                                            <p:cond delay="1324"/>
                                          </p:stCondLst>
                                        </p:cTn>
                                        <p:tgtEl>
                                          <p:spTgt spid="57"/>
                                        </p:tgtEl>
                                        <p:attrNameLst>
                                          <p:attrName>ppt_y</p:attrName>
                                        </p:attrNameLst>
                                      </p:cBhvr>
                                      <p:tavLst>
                                        <p:tav tm="0" fmla="#ppt_y-sin(pi*$)/27">
                                          <p:val>
                                            <p:fltVal val="0"/>
                                          </p:val>
                                        </p:tav>
                                        <p:tav tm="100000">
                                          <p:val>
                                            <p:fltVal val="1"/>
                                          </p:val>
                                        </p:tav>
                                      </p:tavLst>
                                    </p:anim>
                                    <p:anim calcmode="lin" valueType="num">
                                      <p:cBhvr>
                                        <p:cTn id="163" dur="164" tmFilter="0, 0; 0.125,0.2665; 0.25,0.4; 0.375,0.465; 0.5,0.5;  0.625,0.535; 0.75,0.6; 0.875,0.7335; 1,1">
                                          <p:stCondLst>
                                            <p:cond delay="1656"/>
                                          </p:stCondLst>
                                        </p:cTn>
                                        <p:tgtEl>
                                          <p:spTgt spid="57"/>
                                        </p:tgtEl>
                                        <p:attrNameLst>
                                          <p:attrName>ppt_y</p:attrName>
                                        </p:attrNameLst>
                                      </p:cBhvr>
                                      <p:tavLst>
                                        <p:tav tm="0" fmla="#ppt_y-sin(pi*$)/81">
                                          <p:val>
                                            <p:fltVal val="0"/>
                                          </p:val>
                                        </p:tav>
                                        <p:tav tm="100000">
                                          <p:val>
                                            <p:fltVal val="1"/>
                                          </p:val>
                                        </p:tav>
                                      </p:tavLst>
                                    </p:anim>
                                    <p:animScale>
                                      <p:cBhvr>
                                        <p:cTn id="164" dur="26">
                                          <p:stCondLst>
                                            <p:cond delay="650"/>
                                          </p:stCondLst>
                                        </p:cTn>
                                        <p:tgtEl>
                                          <p:spTgt spid="57"/>
                                        </p:tgtEl>
                                      </p:cBhvr>
                                      <p:to x="100000" y="60000"/>
                                    </p:animScale>
                                    <p:animScale>
                                      <p:cBhvr>
                                        <p:cTn id="165" dur="166" decel="50000">
                                          <p:stCondLst>
                                            <p:cond delay="676"/>
                                          </p:stCondLst>
                                        </p:cTn>
                                        <p:tgtEl>
                                          <p:spTgt spid="57"/>
                                        </p:tgtEl>
                                      </p:cBhvr>
                                      <p:to x="100000" y="100000"/>
                                    </p:animScale>
                                    <p:animScale>
                                      <p:cBhvr>
                                        <p:cTn id="166" dur="26">
                                          <p:stCondLst>
                                            <p:cond delay="1312"/>
                                          </p:stCondLst>
                                        </p:cTn>
                                        <p:tgtEl>
                                          <p:spTgt spid="57"/>
                                        </p:tgtEl>
                                      </p:cBhvr>
                                      <p:to x="100000" y="80000"/>
                                    </p:animScale>
                                    <p:animScale>
                                      <p:cBhvr>
                                        <p:cTn id="167" dur="166" decel="50000">
                                          <p:stCondLst>
                                            <p:cond delay="1338"/>
                                          </p:stCondLst>
                                        </p:cTn>
                                        <p:tgtEl>
                                          <p:spTgt spid="57"/>
                                        </p:tgtEl>
                                      </p:cBhvr>
                                      <p:to x="100000" y="100000"/>
                                    </p:animScale>
                                    <p:animScale>
                                      <p:cBhvr>
                                        <p:cTn id="168" dur="26">
                                          <p:stCondLst>
                                            <p:cond delay="1642"/>
                                          </p:stCondLst>
                                        </p:cTn>
                                        <p:tgtEl>
                                          <p:spTgt spid="57"/>
                                        </p:tgtEl>
                                      </p:cBhvr>
                                      <p:to x="100000" y="90000"/>
                                    </p:animScale>
                                    <p:animScale>
                                      <p:cBhvr>
                                        <p:cTn id="169" dur="166" decel="50000">
                                          <p:stCondLst>
                                            <p:cond delay="1668"/>
                                          </p:stCondLst>
                                        </p:cTn>
                                        <p:tgtEl>
                                          <p:spTgt spid="57"/>
                                        </p:tgtEl>
                                      </p:cBhvr>
                                      <p:to x="100000" y="100000"/>
                                    </p:animScale>
                                    <p:animScale>
                                      <p:cBhvr>
                                        <p:cTn id="170" dur="26">
                                          <p:stCondLst>
                                            <p:cond delay="1808"/>
                                          </p:stCondLst>
                                        </p:cTn>
                                        <p:tgtEl>
                                          <p:spTgt spid="57"/>
                                        </p:tgtEl>
                                      </p:cBhvr>
                                      <p:to x="100000" y="95000"/>
                                    </p:animScale>
                                    <p:animScale>
                                      <p:cBhvr>
                                        <p:cTn id="171" dur="166" decel="50000">
                                          <p:stCondLst>
                                            <p:cond delay="1834"/>
                                          </p:stCondLst>
                                        </p:cTn>
                                        <p:tgtEl>
                                          <p:spTgt spid="57"/>
                                        </p:tgtEl>
                                      </p:cBhvr>
                                      <p:to x="100000" y="100000"/>
                                    </p:animScale>
                                  </p:childTnLst>
                                </p:cTn>
                              </p:par>
                              <p:par>
                                <p:cTn id="172" presetID="26" presetClass="entr" presetSubtype="0" fill="hold" nodeType="withEffect">
                                  <p:stCondLst>
                                    <p:cond delay="0"/>
                                  </p:stCondLst>
                                  <p:childTnLst>
                                    <p:set>
                                      <p:cBhvr>
                                        <p:cTn id="173" dur="1" fill="hold">
                                          <p:stCondLst>
                                            <p:cond delay="0"/>
                                          </p:stCondLst>
                                        </p:cTn>
                                        <p:tgtEl>
                                          <p:spTgt spid="58"/>
                                        </p:tgtEl>
                                        <p:attrNameLst>
                                          <p:attrName>style.visibility</p:attrName>
                                        </p:attrNameLst>
                                      </p:cBhvr>
                                      <p:to>
                                        <p:strVal val="visible"/>
                                      </p:to>
                                    </p:set>
                                    <p:animEffect transition="in" filter="wipe(down)">
                                      <p:cBhvr>
                                        <p:cTn id="174" dur="580">
                                          <p:stCondLst>
                                            <p:cond delay="0"/>
                                          </p:stCondLst>
                                        </p:cTn>
                                        <p:tgtEl>
                                          <p:spTgt spid="58"/>
                                        </p:tgtEl>
                                      </p:cBhvr>
                                    </p:animEffect>
                                    <p:anim calcmode="lin" valueType="num">
                                      <p:cBhvr>
                                        <p:cTn id="175" dur="1822" tmFilter="0,0; 0.14,0.36; 0.43,0.73; 0.71,0.91; 1.0,1.0">
                                          <p:stCondLst>
                                            <p:cond delay="0"/>
                                          </p:stCondLst>
                                        </p:cTn>
                                        <p:tgtEl>
                                          <p:spTgt spid="58"/>
                                        </p:tgtEl>
                                        <p:attrNameLst>
                                          <p:attrName>ppt_x</p:attrName>
                                        </p:attrNameLst>
                                      </p:cBhvr>
                                      <p:tavLst>
                                        <p:tav tm="0">
                                          <p:val>
                                            <p:strVal val="#ppt_x-0.25"/>
                                          </p:val>
                                        </p:tav>
                                        <p:tav tm="100000">
                                          <p:val>
                                            <p:strVal val="#ppt_x"/>
                                          </p:val>
                                        </p:tav>
                                      </p:tavLst>
                                    </p:anim>
                                    <p:anim calcmode="lin" valueType="num">
                                      <p:cBhvr>
                                        <p:cTn id="176" dur="664" tmFilter="0.0,0.0; 0.25,0.07; 0.50,0.2; 0.75,0.467; 1.0,1.0">
                                          <p:stCondLst>
                                            <p:cond delay="0"/>
                                          </p:stCondLst>
                                        </p:cTn>
                                        <p:tgtEl>
                                          <p:spTgt spid="58"/>
                                        </p:tgtEl>
                                        <p:attrNameLst>
                                          <p:attrName>ppt_y</p:attrName>
                                        </p:attrNameLst>
                                      </p:cBhvr>
                                      <p:tavLst>
                                        <p:tav tm="0" fmla="#ppt_y-sin(pi*$)/3">
                                          <p:val>
                                            <p:fltVal val="0.5"/>
                                          </p:val>
                                        </p:tav>
                                        <p:tav tm="100000">
                                          <p:val>
                                            <p:fltVal val="1"/>
                                          </p:val>
                                        </p:tav>
                                      </p:tavLst>
                                    </p:anim>
                                    <p:anim calcmode="lin" valueType="num">
                                      <p:cBhvr>
                                        <p:cTn id="177" dur="664" tmFilter="0, 0; 0.125,0.2665; 0.25,0.4; 0.375,0.465; 0.5,0.5;  0.625,0.535; 0.75,0.6; 0.875,0.7335; 1,1">
                                          <p:stCondLst>
                                            <p:cond delay="664"/>
                                          </p:stCondLst>
                                        </p:cTn>
                                        <p:tgtEl>
                                          <p:spTgt spid="58"/>
                                        </p:tgtEl>
                                        <p:attrNameLst>
                                          <p:attrName>ppt_y</p:attrName>
                                        </p:attrNameLst>
                                      </p:cBhvr>
                                      <p:tavLst>
                                        <p:tav tm="0" fmla="#ppt_y-sin(pi*$)/9">
                                          <p:val>
                                            <p:fltVal val="0"/>
                                          </p:val>
                                        </p:tav>
                                        <p:tav tm="100000">
                                          <p:val>
                                            <p:fltVal val="1"/>
                                          </p:val>
                                        </p:tav>
                                      </p:tavLst>
                                    </p:anim>
                                    <p:anim calcmode="lin" valueType="num">
                                      <p:cBhvr>
                                        <p:cTn id="178" dur="332" tmFilter="0, 0; 0.125,0.2665; 0.25,0.4; 0.375,0.465; 0.5,0.5;  0.625,0.535; 0.75,0.6; 0.875,0.7335; 1,1">
                                          <p:stCondLst>
                                            <p:cond delay="1324"/>
                                          </p:stCondLst>
                                        </p:cTn>
                                        <p:tgtEl>
                                          <p:spTgt spid="58"/>
                                        </p:tgtEl>
                                        <p:attrNameLst>
                                          <p:attrName>ppt_y</p:attrName>
                                        </p:attrNameLst>
                                      </p:cBhvr>
                                      <p:tavLst>
                                        <p:tav tm="0" fmla="#ppt_y-sin(pi*$)/27">
                                          <p:val>
                                            <p:fltVal val="0"/>
                                          </p:val>
                                        </p:tav>
                                        <p:tav tm="100000">
                                          <p:val>
                                            <p:fltVal val="1"/>
                                          </p:val>
                                        </p:tav>
                                      </p:tavLst>
                                    </p:anim>
                                    <p:anim calcmode="lin" valueType="num">
                                      <p:cBhvr>
                                        <p:cTn id="179" dur="164" tmFilter="0, 0; 0.125,0.2665; 0.25,0.4; 0.375,0.465; 0.5,0.5;  0.625,0.535; 0.75,0.6; 0.875,0.7335; 1,1">
                                          <p:stCondLst>
                                            <p:cond delay="1656"/>
                                          </p:stCondLst>
                                        </p:cTn>
                                        <p:tgtEl>
                                          <p:spTgt spid="58"/>
                                        </p:tgtEl>
                                        <p:attrNameLst>
                                          <p:attrName>ppt_y</p:attrName>
                                        </p:attrNameLst>
                                      </p:cBhvr>
                                      <p:tavLst>
                                        <p:tav tm="0" fmla="#ppt_y-sin(pi*$)/81">
                                          <p:val>
                                            <p:fltVal val="0"/>
                                          </p:val>
                                        </p:tav>
                                        <p:tav tm="100000">
                                          <p:val>
                                            <p:fltVal val="1"/>
                                          </p:val>
                                        </p:tav>
                                      </p:tavLst>
                                    </p:anim>
                                    <p:animScale>
                                      <p:cBhvr>
                                        <p:cTn id="180" dur="26">
                                          <p:stCondLst>
                                            <p:cond delay="650"/>
                                          </p:stCondLst>
                                        </p:cTn>
                                        <p:tgtEl>
                                          <p:spTgt spid="58"/>
                                        </p:tgtEl>
                                      </p:cBhvr>
                                      <p:to x="100000" y="60000"/>
                                    </p:animScale>
                                    <p:animScale>
                                      <p:cBhvr>
                                        <p:cTn id="181" dur="166" decel="50000">
                                          <p:stCondLst>
                                            <p:cond delay="676"/>
                                          </p:stCondLst>
                                        </p:cTn>
                                        <p:tgtEl>
                                          <p:spTgt spid="58"/>
                                        </p:tgtEl>
                                      </p:cBhvr>
                                      <p:to x="100000" y="100000"/>
                                    </p:animScale>
                                    <p:animScale>
                                      <p:cBhvr>
                                        <p:cTn id="182" dur="26">
                                          <p:stCondLst>
                                            <p:cond delay="1312"/>
                                          </p:stCondLst>
                                        </p:cTn>
                                        <p:tgtEl>
                                          <p:spTgt spid="58"/>
                                        </p:tgtEl>
                                      </p:cBhvr>
                                      <p:to x="100000" y="80000"/>
                                    </p:animScale>
                                    <p:animScale>
                                      <p:cBhvr>
                                        <p:cTn id="183" dur="166" decel="50000">
                                          <p:stCondLst>
                                            <p:cond delay="1338"/>
                                          </p:stCondLst>
                                        </p:cTn>
                                        <p:tgtEl>
                                          <p:spTgt spid="58"/>
                                        </p:tgtEl>
                                      </p:cBhvr>
                                      <p:to x="100000" y="100000"/>
                                    </p:animScale>
                                    <p:animScale>
                                      <p:cBhvr>
                                        <p:cTn id="184" dur="26">
                                          <p:stCondLst>
                                            <p:cond delay="1642"/>
                                          </p:stCondLst>
                                        </p:cTn>
                                        <p:tgtEl>
                                          <p:spTgt spid="58"/>
                                        </p:tgtEl>
                                      </p:cBhvr>
                                      <p:to x="100000" y="90000"/>
                                    </p:animScale>
                                    <p:animScale>
                                      <p:cBhvr>
                                        <p:cTn id="185" dur="166" decel="50000">
                                          <p:stCondLst>
                                            <p:cond delay="1668"/>
                                          </p:stCondLst>
                                        </p:cTn>
                                        <p:tgtEl>
                                          <p:spTgt spid="58"/>
                                        </p:tgtEl>
                                      </p:cBhvr>
                                      <p:to x="100000" y="100000"/>
                                    </p:animScale>
                                    <p:animScale>
                                      <p:cBhvr>
                                        <p:cTn id="186" dur="26">
                                          <p:stCondLst>
                                            <p:cond delay="1808"/>
                                          </p:stCondLst>
                                        </p:cTn>
                                        <p:tgtEl>
                                          <p:spTgt spid="58"/>
                                        </p:tgtEl>
                                      </p:cBhvr>
                                      <p:to x="100000" y="95000"/>
                                    </p:animScale>
                                    <p:animScale>
                                      <p:cBhvr>
                                        <p:cTn id="187" dur="166" decel="50000">
                                          <p:stCondLst>
                                            <p:cond delay="1834"/>
                                          </p:stCondLst>
                                        </p:cTn>
                                        <p:tgtEl>
                                          <p:spTgt spid="58"/>
                                        </p:tgtEl>
                                      </p:cBhvr>
                                      <p:to x="100000" y="100000"/>
                                    </p:animScale>
                                  </p:childTnLst>
                                </p:cTn>
                              </p:par>
                              <p:par>
                                <p:cTn id="188" presetID="26" presetClass="entr" presetSubtype="0" fill="hold" grpId="0" nodeType="withEffect">
                                  <p:stCondLst>
                                    <p:cond delay="0"/>
                                  </p:stCondLst>
                                  <p:childTnLst>
                                    <p:set>
                                      <p:cBhvr>
                                        <p:cTn id="189" dur="1" fill="hold">
                                          <p:stCondLst>
                                            <p:cond delay="0"/>
                                          </p:stCondLst>
                                        </p:cTn>
                                        <p:tgtEl>
                                          <p:spTgt spid="59"/>
                                        </p:tgtEl>
                                        <p:attrNameLst>
                                          <p:attrName>style.visibility</p:attrName>
                                        </p:attrNameLst>
                                      </p:cBhvr>
                                      <p:to>
                                        <p:strVal val="visible"/>
                                      </p:to>
                                    </p:set>
                                    <p:animEffect transition="in" filter="wipe(down)">
                                      <p:cBhvr>
                                        <p:cTn id="190" dur="580">
                                          <p:stCondLst>
                                            <p:cond delay="0"/>
                                          </p:stCondLst>
                                        </p:cTn>
                                        <p:tgtEl>
                                          <p:spTgt spid="59"/>
                                        </p:tgtEl>
                                      </p:cBhvr>
                                    </p:animEffect>
                                    <p:anim calcmode="lin" valueType="num">
                                      <p:cBhvr>
                                        <p:cTn id="191" dur="1822" tmFilter="0,0; 0.14,0.36; 0.43,0.73; 0.71,0.91; 1.0,1.0">
                                          <p:stCondLst>
                                            <p:cond delay="0"/>
                                          </p:stCondLst>
                                        </p:cTn>
                                        <p:tgtEl>
                                          <p:spTgt spid="59"/>
                                        </p:tgtEl>
                                        <p:attrNameLst>
                                          <p:attrName>ppt_x</p:attrName>
                                        </p:attrNameLst>
                                      </p:cBhvr>
                                      <p:tavLst>
                                        <p:tav tm="0">
                                          <p:val>
                                            <p:strVal val="#ppt_x-0.25"/>
                                          </p:val>
                                        </p:tav>
                                        <p:tav tm="100000">
                                          <p:val>
                                            <p:strVal val="#ppt_x"/>
                                          </p:val>
                                        </p:tav>
                                      </p:tavLst>
                                    </p:anim>
                                    <p:anim calcmode="lin" valueType="num">
                                      <p:cBhvr>
                                        <p:cTn id="192" dur="664" tmFilter="0.0,0.0; 0.25,0.07; 0.50,0.2; 0.75,0.467; 1.0,1.0">
                                          <p:stCondLst>
                                            <p:cond delay="0"/>
                                          </p:stCondLst>
                                        </p:cTn>
                                        <p:tgtEl>
                                          <p:spTgt spid="59"/>
                                        </p:tgtEl>
                                        <p:attrNameLst>
                                          <p:attrName>ppt_y</p:attrName>
                                        </p:attrNameLst>
                                      </p:cBhvr>
                                      <p:tavLst>
                                        <p:tav tm="0" fmla="#ppt_y-sin(pi*$)/3">
                                          <p:val>
                                            <p:fltVal val="0.5"/>
                                          </p:val>
                                        </p:tav>
                                        <p:tav tm="100000">
                                          <p:val>
                                            <p:fltVal val="1"/>
                                          </p:val>
                                        </p:tav>
                                      </p:tavLst>
                                    </p:anim>
                                    <p:anim calcmode="lin" valueType="num">
                                      <p:cBhvr>
                                        <p:cTn id="193" dur="664" tmFilter="0, 0; 0.125,0.2665; 0.25,0.4; 0.375,0.465; 0.5,0.5;  0.625,0.535; 0.75,0.6; 0.875,0.7335; 1,1">
                                          <p:stCondLst>
                                            <p:cond delay="664"/>
                                          </p:stCondLst>
                                        </p:cTn>
                                        <p:tgtEl>
                                          <p:spTgt spid="59"/>
                                        </p:tgtEl>
                                        <p:attrNameLst>
                                          <p:attrName>ppt_y</p:attrName>
                                        </p:attrNameLst>
                                      </p:cBhvr>
                                      <p:tavLst>
                                        <p:tav tm="0" fmla="#ppt_y-sin(pi*$)/9">
                                          <p:val>
                                            <p:fltVal val="0"/>
                                          </p:val>
                                        </p:tav>
                                        <p:tav tm="100000">
                                          <p:val>
                                            <p:fltVal val="1"/>
                                          </p:val>
                                        </p:tav>
                                      </p:tavLst>
                                    </p:anim>
                                    <p:anim calcmode="lin" valueType="num">
                                      <p:cBhvr>
                                        <p:cTn id="194" dur="332" tmFilter="0, 0; 0.125,0.2665; 0.25,0.4; 0.375,0.465; 0.5,0.5;  0.625,0.535; 0.75,0.6; 0.875,0.7335; 1,1">
                                          <p:stCondLst>
                                            <p:cond delay="1324"/>
                                          </p:stCondLst>
                                        </p:cTn>
                                        <p:tgtEl>
                                          <p:spTgt spid="59"/>
                                        </p:tgtEl>
                                        <p:attrNameLst>
                                          <p:attrName>ppt_y</p:attrName>
                                        </p:attrNameLst>
                                      </p:cBhvr>
                                      <p:tavLst>
                                        <p:tav tm="0" fmla="#ppt_y-sin(pi*$)/27">
                                          <p:val>
                                            <p:fltVal val="0"/>
                                          </p:val>
                                        </p:tav>
                                        <p:tav tm="100000">
                                          <p:val>
                                            <p:fltVal val="1"/>
                                          </p:val>
                                        </p:tav>
                                      </p:tavLst>
                                    </p:anim>
                                    <p:anim calcmode="lin" valueType="num">
                                      <p:cBhvr>
                                        <p:cTn id="195" dur="164" tmFilter="0, 0; 0.125,0.2665; 0.25,0.4; 0.375,0.465; 0.5,0.5;  0.625,0.535; 0.75,0.6; 0.875,0.7335; 1,1">
                                          <p:stCondLst>
                                            <p:cond delay="1656"/>
                                          </p:stCondLst>
                                        </p:cTn>
                                        <p:tgtEl>
                                          <p:spTgt spid="59"/>
                                        </p:tgtEl>
                                        <p:attrNameLst>
                                          <p:attrName>ppt_y</p:attrName>
                                        </p:attrNameLst>
                                      </p:cBhvr>
                                      <p:tavLst>
                                        <p:tav tm="0" fmla="#ppt_y-sin(pi*$)/81">
                                          <p:val>
                                            <p:fltVal val="0"/>
                                          </p:val>
                                        </p:tav>
                                        <p:tav tm="100000">
                                          <p:val>
                                            <p:fltVal val="1"/>
                                          </p:val>
                                        </p:tav>
                                      </p:tavLst>
                                    </p:anim>
                                    <p:animScale>
                                      <p:cBhvr>
                                        <p:cTn id="196" dur="26">
                                          <p:stCondLst>
                                            <p:cond delay="650"/>
                                          </p:stCondLst>
                                        </p:cTn>
                                        <p:tgtEl>
                                          <p:spTgt spid="59"/>
                                        </p:tgtEl>
                                      </p:cBhvr>
                                      <p:to x="100000" y="60000"/>
                                    </p:animScale>
                                    <p:animScale>
                                      <p:cBhvr>
                                        <p:cTn id="197" dur="166" decel="50000">
                                          <p:stCondLst>
                                            <p:cond delay="676"/>
                                          </p:stCondLst>
                                        </p:cTn>
                                        <p:tgtEl>
                                          <p:spTgt spid="59"/>
                                        </p:tgtEl>
                                      </p:cBhvr>
                                      <p:to x="100000" y="100000"/>
                                    </p:animScale>
                                    <p:animScale>
                                      <p:cBhvr>
                                        <p:cTn id="198" dur="26">
                                          <p:stCondLst>
                                            <p:cond delay="1312"/>
                                          </p:stCondLst>
                                        </p:cTn>
                                        <p:tgtEl>
                                          <p:spTgt spid="59"/>
                                        </p:tgtEl>
                                      </p:cBhvr>
                                      <p:to x="100000" y="80000"/>
                                    </p:animScale>
                                    <p:animScale>
                                      <p:cBhvr>
                                        <p:cTn id="199" dur="166" decel="50000">
                                          <p:stCondLst>
                                            <p:cond delay="1338"/>
                                          </p:stCondLst>
                                        </p:cTn>
                                        <p:tgtEl>
                                          <p:spTgt spid="59"/>
                                        </p:tgtEl>
                                      </p:cBhvr>
                                      <p:to x="100000" y="100000"/>
                                    </p:animScale>
                                    <p:animScale>
                                      <p:cBhvr>
                                        <p:cTn id="200" dur="26">
                                          <p:stCondLst>
                                            <p:cond delay="1642"/>
                                          </p:stCondLst>
                                        </p:cTn>
                                        <p:tgtEl>
                                          <p:spTgt spid="59"/>
                                        </p:tgtEl>
                                      </p:cBhvr>
                                      <p:to x="100000" y="90000"/>
                                    </p:animScale>
                                    <p:animScale>
                                      <p:cBhvr>
                                        <p:cTn id="201" dur="166" decel="50000">
                                          <p:stCondLst>
                                            <p:cond delay="1668"/>
                                          </p:stCondLst>
                                        </p:cTn>
                                        <p:tgtEl>
                                          <p:spTgt spid="59"/>
                                        </p:tgtEl>
                                      </p:cBhvr>
                                      <p:to x="100000" y="100000"/>
                                    </p:animScale>
                                    <p:animScale>
                                      <p:cBhvr>
                                        <p:cTn id="202" dur="26">
                                          <p:stCondLst>
                                            <p:cond delay="1808"/>
                                          </p:stCondLst>
                                        </p:cTn>
                                        <p:tgtEl>
                                          <p:spTgt spid="59"/>
                                        </p:tgtEl>
                                      </p:cBhvr>
                                      <p:to x="100000" y="95000"/>
                                    </p:animScale>
                                    <p:animScale>
                                      <p:cBhvr>
                                        <p:cTn id="203" dur="166" decel="50000">
                                          <p:stCondLst>
                                            <p:cond delay="1834"/>
                                          </p:stCondLst>
                                        </p:cTn>
                                        <p:tgtEl>
                                          <p:spTgt spid="59"/>
                                        </p:tgtEl>
                                      </p:cBhvr>
                                      <p:to x="100000" y="100000"/>
                                    </p:animScale>
                                  </p:childTnLst>
                                </p:cTn>
                              </p:par>
                            </p:childTnLst>
                          </p:cTn>
                        </p:par>
                      </p:childTnLst>
                    </p:cTn>
                  </p:par>
                  <p:par>
                    <p:cTn id="204" fill="hold">
                      <p:stCondLst>
                        <p:cond delay="indefinite"/>
                      </p:stCondLst>
                      <p:childTnLst>
                        <p:par>
                          <p:cTn id="205" fill="hold">
                            <p:stCondLst>
                              <p:cond delay="0"/>
                            </p:stCondLst>
                            <p:childTnLst>
                              <p:par>
                                <p:cTn id="206" presetID="2" presetClass="entr" presetSubtype="4" fill="hold" nodeType="clickEffect">
                                  <p:stCondLst>
                                    <p:cond delay="0"/>
                                  </p:stCondLst>
                                  <p:childTnLst>
                                    <p:set>
                                      <p:cBhvr>
                                        <p:cTn id="207" dur="1" fill="hold">
                                          <p:stCondLst>
                                            <p:cond delay="0"/>
                                          </p:stCondLst>
                                        </p:cTn>
                                        <p:tgtEl>
                                          <p:spTgt spid="72"/>
                                        </p:tgtEl>
                                        <p:attrNameLst>
                                          <p:attrName>style.visibility</p:attrName>
                                        </p:attrNameLst>
                                      </p:cBhvr>
                                      <p:to>
                                        <p:strVal val="visible"/>
                                      </p:to>
                                    </p:set>
                                    <p:anim calcmode="lin" valueType="num">
                                      <p:cBhvr additive="base">
                                        <p:cTn id="208" dur="500" fill="hold"/>
                                        <p:tgtEl>
                                          <p:spTgt spid="72"/>
                                        </p:tgtEl>
                                        <p:attrNameLst>
                                          <p:attrName>ppt_x</p:attrName>
                                        </p:attrNameLst>
                                      </p:cBhvr>
                                      <p:tavLst>
                                        <p:tav tm="0">
                                          <p:val>
                                            <p:strVal val="#ppt_x"/>
                                          </p:val>
                                        </p:tav>
                                        <p:tav tm="100000">
                                          <p:val>
                                            <p:strVal val="#ppt_x"/>
                                          </p:val>
                                        </p:tav>
                                      </p:tavLst>
                                    </p:anim>
                                    <p:anim calcmode="lin" valueType="num">
                                      <p:cBhvr additive="base">
                                        <p:cTn id="209"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51" grpId="0"/>
      <p:bldP spid="3" grpId="0"/>
      <p:bldP spid="54" grpId="0"/>
      <p:bldP spid="59" grpId="0"/>
      <p:bldP spid="69" grpId="0"/>
      <p:bldP spid="70" grpId="0"/>
      <p:bldP spid="7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3539430"/>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bg2">
                    <a:lumMod val="90000"/>
                  </a:schemeClr>
                </a:solidFill>
                <a:latin typeface="Century Gothic"/>
                <a:cs typeface="Arial"/>
              </a:rPr>
              <a:t>Ingresos y Costos Pertinentes.</a:t>
            </a:r>
            <a:endParaRPr lang="es-ES" sz="1600">
              <a:solidFill>
                <a:schemeClr val="bg2">
                  <a:lumMod val="90000"/>
                </a:schemeClr>
              </a:solidFill>
              <a:latin typeface="Century Gothic"/>
              <a:cs typeface="Arial"/>
            </a:endParaRPr>
          </a:p>
          <a:p>
            <a:pPr marL="342900" indent="-342900">
              <a:buClr>
                <a:srgbClr val="2C7C9F"/>
              </a:buClr>
              <a:buFontTx/>
              <a:buAutoNum type="arabicPeriod"/>
            </a:pPr>
            <a:endParaRPr lang="es-CO" sz="1600">
              <a:solidFill>
                <a:schemeClr val="bg2">
                  <a:lumMod val="90000"/>
                </a:schemeClr>
              </a:solidFill>
              <a:latin typeface="Century Gothic"/>
              <a:cs typeface="Arial"/>
            </a:endParaRPr>
          </a:p>
          <a:p>
            <a:pPr marL="342900" indent="-342900">
              <a:buClr>
                <a:srgbClr val="48BE7A"/>
              </a:buClr>
              <a:buFontTx/>
              <a:buAutoNum type="arabicPeriod"/>
            </a:pPr>
            <a:r>
              <a:rPr lang="es-CO" sz="1600">
                <a:solidFill>
                  <a:schemeClr val="bg2">
                    <a:lumMod val="90000"/>
                  </a:schemeClr>
                </a:solidFill>
                <a:latin typeface="Century Gothic"/>
                <a:cs typeface="Arial"/>
              </a:rPr>
              <a:t>Principio de Marginalidad.</a:t>
            </a:r>
            <a:endParaRPr lang="es-CO" sz="1600">
              <a:solidFill>
                <a:schemeClr val="bg2">
                  <a:lumMod val="90000"/>
                </a:schemeClr>
              </a:solidFill>
              <a:latin typeface="Century Gothic"/>
            </a:endParaRPr>
          </a:p>
          <a:p>
            <a:pPr marL="342900" indent="-342900">
              <a:buClr>
                <a:srgbClr val="48BE7A"/>
              </a:buClr>
              <a:buFontTx/>
              <a:buAutoNum type="arabicPeriod"/>
            </a:pPr>
            <a:endParaRPr lang="es-CO" sz="1600">
              <a:solidFill>
                <a:schemeClr val="accent1"/>
              </a:solidFill>
              <a:latin typeface="Century Gothic"/>
            </a:endParaRPr>
          </a:p>
          <a:p>
            <a:pPr marL="342900" indent="-342900">
              <a:buClr>
                <a:srgbClr val="48BE7A"/>
              </a:buClr>
              <a:buFontTx/>
              <a:buAutoNum type="arabicPeriod"/>
            </a:pPr>
            <a:r>
              <a:rPr lang="es-CO" sz="1600">
                <a:solidFill>
                  <a:schemeClr val="accent1"/>
                </a:solidFill>
                <a:latin typeface="Century Gothic"/>
                <a:cs typeface="Arial"/>
              </a:rPr>
              <a:t>Precios de Mercado.</a:t>
            </a:r>
            <a:endParaRPr lang="es-CO" sz="1600">
              <a:solidFill>
                <a:schemeClr val="accent1"/>
              </a:solidFill>
              <a:latin typeface="Century Gothic"/>
            </a:endParaRP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bg2">
                    <a:lumMod val="90000"/>
                  </a:schemeClr>
                </a:solidFill>
                <a:latin typeface="Century Gothic"/>
                <a:cs typeface="Arial"/>
              </a:rPr>
              <a:t>Costos Muertos.</a:t>
            </a:r>
            <a:endParaRPr lang="es-CO" sz="160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sz="160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1600">
                <a:solidFill>
                  <a:schemeClr val="bg2">
                    <a:lumMod val="90000"/>
                  </a:schemeClr>
                </a:solidFill>
                <a:latin typeface="Century Gothic"/>
                <a:cs typeface="Arial"/>
              </a:rPr>
              <a:t>Ingresos y Egresos Operacionales.</a:t>
            </a:r>
          </a:p>
          <a:p>
            <a:pPr marL="342900" indent="-342900">
              <a:buClr>
                <a:srgbClr val="48BE7A"/>
              </a:buClr>
              <a:buAutoNum type="arabicPeriod"/>
            </a:pPr>
            <a:endParaRPr lang="es-CO" sz="1600">
              <a:solidFill>
                <a:schemeClr val="bg2">
                  <a:lumMod val="90000"/>
                </a:schemeClr>
              </a:solidFill>
              <a:latin typeface="Century Gothic"/>
              <a:cs typeface="Arial"/>
            </a:endParaRPr>
          </a:p>
          <a:p>
            <a:pPr marL="342900" indent="-342900">
              <a:buClr>
                <a:srgbClr val="48BE7A"/>
              </a:buClr>
              <a:buAutoNum type="arabicPeriod"/>
            </a:pPr>
            <a:r>
              <a:rPr lang="es-CO" sz="1600">
                <a:solidFill>
                  <a:schemeClr val="bg2">
                    <a:lumMod val="90000"/>
                  </a:schemeClr>
                </a:solidFill>
                <a:latin typeface="Century Gothic"/>
                <a:cs typeface="Arial"/>
              </a:rPr>
              <a:t>Ejercicio FCL.</a:t>
            </a:r>
          </a:p>
          <a:p>
            <a:pPr marL="342900" indent="-342900">
              <a:buClr>
                <a:srgbClr val="48BE7A"/>
              </a:buClr>
              <a:buAutoNum type="arabicPeriod"/>
            </a:pPr>
            <a:endParaRPr lang="es-CO" sz="1600">
              <a:solidFill>
                <a:srgbClr val="366658"/>
              </a:solidFill>
              <a:latin typeface="Century Gothic" panose="020B0502020202020204" pitchFamily="34" charset="0"/>
              <a:cs typeface="Arial"/>
            </a:endParaRPr>
          </a:p>
          <a:p>
            <a:pPr marL="342900" indent="-342900">
              <a:buClr>
                <a:srgbClr val="48BE7A"/>
              </a:buClr>
              <a:buAutoNum type="arabicPeriod"/>
            </a:pPr>
            <a:endParaRPr lang="es-CO" sz="1600">
              <a:solidFill>
                <a:schemeClr val="accent1"/>
              </a:solidFill>
              <a:latin typeface="Century Gothic" panose="020B0502020202020204" pitchFamily="34" charset="0"/>
              <a:cs typeface="Arial"/>
            </a:endParaRPr>
          </a:p>
          <a:p>
            <a:pPr>
              <a:buClr>
                <a:srgbClr val="88D5A9">
                  <a:lumMod val="75000"/>
                </a:srgbClr>
              </a:buClr>
            </a:pPr>
            <a:endParaRPr lang="es-CO" sz="1600">
              <a:solidFill>
                <a:schemeClr val="accent1"/>
              </a:solidFill>
              <a:latin typeface="Century Gothic" panose="020B0502020202020204" pitchFamily="34" charset="0"/>
              <a:cs typeface="Arial"/>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992A0B06-68FD-4689-F7EA-E3B8B645C67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13BF75ED-6E5F-5FC3-AE87-3B2552EB95C5}"/>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15</a:t>
            </a:fld>
            <a:endParaRPr lang="en-US" sz="2000" b="1">
              <a:latin typeface="Century Gothic" panose="020B0502020202020204" pitchFamily="34" charset="0"/>
            </a:endParaRPr>
          </a:p>
        </p:txBody>
      </p:sp>
    </p:spTree>
    <p:extLst>
      <p:ext uri="{BB962C8B-B14F-4D97-AF65-F5344CB8AC3E}">
        <p14:creationId xmlns:p14="http://schemas.microsoft.com/office/powerpoint/2010/main" val="2580651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92369" y="702156"/>
            <a:ext cx="11245003" cy="1013800"/>
          </a:xfrm>
        </p:spPr>
        <p:txBody>
          <a:bodyPr>
            <a:noAutofit/>
          </a:bodyPr>
          <a:lstStyle/>
          <a:p>
            <a:r>
              <a:rPr lang="es-ES" sz="2400">
                <a:latin typeface="Century Gothic" panose="020B0502020202020204" pitchFamily="34" charset="0"/>
              </a:rPr>
              <a:t>Regla #2: Precios de mercado, no precios históricos ni contables</a:t>
            </a:r>
          </a:p>
        </p:txBody>
      </p:sp>
      <p:sp>
        <p:nvSpPr>
          <p:cNvPr id="3" name="Marcador de contenido 2"/>
          <p:cNvSpPr>
            <a:spLocks noGrp="1"/>
          </p:cNvSpPr>
          <p:nvPr>
            <p:ph idx="1"/>
          </p:nvPr>
        </p:nvSpPr>
        <p:spPr>
          <a:xfrm>
            <a:off x="900859" y="2592012"/>
            <a:ext cx="7390525" cy="2903197"/>
          </a:xfrm>
        </p:spPr>
        <p:txBody>
          <a:bodyPr>
            <a:normAutofit/>
          </a:bodyPr>
          <a:lstStyle/>
          <a:p>
            <a:pPr marL="0" indent="0" algn="ctr">
              <a:buNone/>
            </a:pPr>
            <a:r>
              <a:rPr lang="es-ES" dirty="0">
                <a:latin typeface="Century Gothic" panose="020B0502020202020204" pitchFamily="34" charset="0"/>
              </a:rPr>
              <a:t>Este principio nos recuerda que cuando se considera un activo (propiedad de una empresa) en la realización de un proyecto </a:t>
            </a:r>
            <a:r>
              <a:rPr lang="es-ES" b="1" dirty="0">
                <a:solidFill>
                  <a:schemeClr val="accent3">
                    <a:lumMod val="75000"/>
                  </a:schemeClr>
                </a:solidFill>
                <a:latin typeface="Century Gothic" panose="020B0502020202020204" pitchFamily="34" charset="0"/>
              </a:rPr>
              <a:t>es relevante su información más reciente y disponible</a:t>
            </a:r>
            <a:r>
              <a:rPr lang="es-ES" dirty="0">
                <a:latin typeface="Century Gothic" panose="020B0502020202020204" pitchFamily="34" charset="0"/>
              </a:rPr>
              <a:t>, más </a:t>
            </a:r>
            <a:r>
              <a:rPr lang="es-ES" b="1" dirty="0">
                <a:solidFill>
                  <a:srgbClr val="C00000"/>
                </a:solidFill>
                <a:latin typeface="Century Gothic" panose="020B0502020202020204" pitchFamily="34" charset="0"/>
              </a:rPr>
              <a:t>no su costo histórico o contable </a:t>
            </a:r>
            <a:r>
              <a:rPr lang="es-ES" dirty="0">
                <a:latin typeface="Century Gothic" panose="020B0502020202020204" pitchFamily="34" charset="0"/>
              </a:rPr>
              <a:t>al que se encuentra registrado.</a:t>
            </a:r>
          </a:p>
        </p:txBody>
      </p:sp>
      <p:sp>
        <p:nvSpPr>
          <p:cNvPr id="6" name="Rectángulo 5">
            <a:extLst>
              <a:ext uri="{FF2B5EF4-FFF2-40B4-BE49-F238E27FC236}">
                <a16:creationId xmlns:a16="http://schemas.microsoft.com/office/drawing/2014/main" id="{0833F772-BFF2-BCE4-5878-BAAFFBE5E5B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4673375C-ACCA-627A-5E9C-7CAAC545A7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74783CEA-39FB-17AC-357F-4F5EC59590DA}"/>
              </a:ext>
            </a:extLst>
          </p:cNvPr>
          <p:cNvPicPr>
            <a:picLocks noChangeAspect="1"/>
          </p:cNvPicPr>
          <p:nvPr/>
        </p:nvPicPr>
        <p:blipFill rotWithShape="1">
          <a:blip r:embed="rId3"/>
          <a:srcRect l="3776" t="7625" r="4205" b="8432"/>
          <a:stretch/>
        </p:blipFill>
        <p:spPr>
          <a:xfrm>
            <a:off x="8291384" y="3023141"/>
            <a:ext cx="3214894" cy="2118904"/>
          </a:xfrm>
          <a:prstGeom prst="rect">
            <a:avLst/>
          </a:prstGeom>
        </p:spPr>
      </p:pic>
      <p:sp>
        <p:nvSpPr>
          <p:cNvPr id="5" name="Rectángulo 4">
            <a:extLst>
              <a:ext uri="{FF2B5EF4-FFF2-40B4-BE49-F238E27FC236}">
                <a16:creationId xmlns:a16="http://schemas.microsoft.com/office/drawing/2014/main" id="{D9B10E5F-8781-8C33-E194-F9FBC2C1ADE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número de diapositiva 3">
            <a:extLst>
              <a:ext uri="{FF2B5EF4-FFF2-40B4-BE49-F238E27FC236}">
                <a16:creationId xmlns:a16="http://schemas.microsoft.com/office/drawing/2014/main" id="{0AB1ED46-6EE6-BF79-5BE8-D8085D9E64FB}"/>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16</a:t>
            </a:fld>
            <a:endParaRPr lang="en-US" sz="2000" b="1">
              <a:latin typeface="Century Gothic" panose="020B0502020202020204" pitchFamily="34" charset="0"/>
            </a:endParaRPr>
          </a:p>
        </p:txBody>
      </p:sp>
    </p:spTree>
    <p:extLst>
      <p:ext uri="{BB962C8B-B14F-4D97-AF65-F5344CB8AC3E}">
        <p14:creationId xmlns:p14="http://schemas.microsoft.com/office/powerpoint/2010/main" val="2145181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4811" y="812645"/>
            <a:ext cx="11282562" cy="1013800"/>
          </a:xfrm>
        </p:spPr>
        <p:txBody>
          <a:bodyPr>
            <a:noAutofit/>
          </a:bodyPr>
          <a:lstStyle/>
          <a:p>
            <a:r>
              <a:rPr lang="es-ES" sz="2400">
                <a:latin typeface="Century Gothic" panose="020B0502020202020204" pitchFamily="34" charset="0"/>
              </a:rPr>
              <a:t>Regla #2: Precios de mercado, no precios históricos ni contables</a:t>
            </a:r>
          </a:p>
        </p:txBody>
      </p:sp>
      <p:sp>
        <p:nvSpPr>
          <p:cNvPr id="3" name="Marcador de contenido 2"/>
          <p:cNvSpPr>
            <a:spLocks noGrp="1"/>
          </p:cNvSpPr>
          <p:nvPr>
            <p:ph idx="1"/>
          </p:nvPr>
        </p:nvSpPr>
        <p:spPr>
          <a:xfrm>
            <a:off x="641965" y="2185421"/>
            <a:ext cx="8743401" cy="4135841"/>
          </a:xfrm>
        </p:spPr>
        <p:txBody>
          <a:bodyPr>
            <a:normAutofit/>
          </a:bodyPr>
          <a:lstStyle/>
          <a:p>
            <a:pPr marL="0" indent="0" algn="just">
              <a:buNone/>
            </a:pPr>
            <a:r>
              <a:rPr lang="es-ES" sz="1600">
                <a:solidFill>
                  <a:schemeClr val="accent1"/>
                </a:solidFill>
                <a:latin typeface="Century Gothic" panose="020B0502020202020204" pitchFamily="34" charset="0"/>
              </a:rPr>
              <a:t>Usted es el señor alcalde de una ciudad lejana. </a:t>
            </a:r>
          </a:p>
          <a:p>
            <a:pPr marL="0" indent="0" algn="just">
              <a:buNone/>
            </a:pPr>
            <a:r>
              <a:rPr lang="es-ES" sz="1600">
                <a:solidFill>
                  <a:schemeClr val="accent1"/>
                </a:solidFill>
                <a:latin typeface="Century Gothic" panose="020B0502020202020204" pitchFamily="34" charset="0"/>
              </a:rPr>
              <a:t>En busca de “mejorar” el esquema para tapar huecos en la ciudad, decidió comprar unas máquinas usadas “Súper tapa todo”. Las máquinas cuestan 100 MM USD y se deprecian en línea recta a 10 años sin valor de salvamento.</a:t>
            </a:r>
          </a:p>
          <a:p>
            <a:pPr marL="0" indent="0" algn="just">
              <a:buNone/>
            </a:pPr>
            <a:r>
              <a:rPr lang="es-ES" sz="1600">
                <a:solidFill>
                  <a:schemeClr val="accent1"/>
                </a:solidFill>
                <a:latin typeface="Century Gothic" panose="020B0502020202020204" pitchFamily="34" charset="0"/>
              </a:rPr>
              <a:t>Después de un año de operación, el regulador se da cuenta que dichas máquinas no tapan nada y como son antiguas, emiten muchos contaminantes al medio ambiente. Producto de lo anterior, prohíben su uso en Colombia.</a:t>
            </a:r>
          </a:p>
          <a:p>
            <a:pPr marL="0" indent="0" algn="just">
              <a:buNone/>
            </a:pPr>
            <a:endParaRPr lang="es-ES" sz="1600">
              <a:latin typeface="Century Gothic" panose="020B0502020202020204" pitchFamily="34" charset="0"/>
            </a:endParaRPr>
          </a:p>
          <a:p>
            <a:pPr marL="0" indent="0" algn="ctr">
              <a:buNone/>
            </a:pPr>
            <a:r>
              <a:rPr lang="es-ES" sz="1600" b="1">
                <a:solidFill>
                  <a:srgbClr val="C00000"/>
                </a:solidFill>
                <a:latin typeface="Century Gothic" panose="020B0502020202020204" pitchFamily="34" charset="0"/>
              </a:rPr>
              <a:t>¿Cuál es el valor contable de las máquinas en ese momento?</a:t>
            </a:r>
          </a:p>
          <a:p>
            <a:pPr marL="0" indent="0" algn="ctr">
              <a:buNone/>
            </a:pPr>
            <a:r>
              <a:rPr lang="es-ES" sz="1600" b="1">
                <a:solidFill>
                  <a:srgbClr val="D7A700"/>
                </a:solidFill>
                <a:latin typeface="Century Gothic" panose="020B0502020202020204" pitchFamily="34" charset="0"/>
              </a:rPr>
              <a:t>¿Cuál es el valor de mercado, en Colombia, de las súper máquinas tapa huecos?</a:t>
            </a:r>
          </a:p>
        </p:txBody>
      </p:sp>
      <p:sp>
        <p:nvSpPr>
          <p:cNvPr id="6" name="Rectángulo 5">
            <a:extLst>
              <a:ext uri="{FF2B5EF4-FFF2-40B4-BE49-F238E27FC236}">
                <a16:creationId xmlns:a16="http://schemas.microsoft.com/office/drawing/2014/main" id="{3C7B93C9-88FC-D8F9-D522-06BA3C0FA5E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45A14ABF-A642-79F3-2C0F-D01E04B34C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7DB1FF80-9F6E-7E9F-C27F-C9E018D9666D}"/>
              </a:ext>
            </a:extLst>
          </p:cNvPr>
          <p:cNvPicPr>
            <a:picLocks noChangeAspect="1"/>
          </p:cNvPicPr>
          <p:nvPr/>
        </p:nvPicPr>
        <p:blipFill rotWithShape="1">
          <a:blip r:embed="rId3"/>
          <a:srcRect t="16576" b="10270"/>
          <a:stretch/>
        </p:blipFill>
        <p:spPr>
          <a:xfrm>
            <a:off x="9352285" y="3167829"/>
            <a:ext cx="2412029" cy="1863727"/>
          </a:xfrm>
          <a:prstGeom prst="rect">
            <a:avLst/>
          </a:prstGeom>
        </p:spPr>
      </p:pic>
      <p:sp>
        <p:nvSpPr>
          <p:cNvPr id="5" name="Rectángulo 4">
            <a:extLst>
              <a:ext uri="{FF2B5EF4-FFF2-40B4-BE49-F238E27FC236}">
                <a16:creationId xmlns:a16="http://schemas.microsoft.com/office/drawing/2014/main" id="{BCF9B462-DDB2-F53D-FB55-ADBF21D22C3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número de diapositiva 3">
            <a:extLst>
              <a:ext uri="{FF2B5EF4-FFF2-40B4-BE49-F238E27FC236}">
                <a16:creationId xmlns:a16="http://schemas.microsoft.com/office/drawing/2014/main" id="{8FE217E4-0D28-47B9-33A9-53C825250D1B}"/>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17</a:t>
            </a:fld>
            <a:endParaRPr lang="en-US" sz="2000" b="1">
              <a:latin typeface="Century Gothic" panose="020B0502020202020204" pitchFamily="34" charset="0"/>
            </a:endParaRPr>
          </a:p>
        </p:txBody>
      </p:sp>
    </p:spTree>
    <p:extLst>
      <p:ext uri="{BB962C8B-B14F-4D97-AF65-F5344CB8AC3E}">
        <p14:creationId xmlns:p14="http://schemas.microsoft.com/office/powerpoint/2010/main" val="2557121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3539430"/>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bg2">
                    <a:lumMod val="90000"/>
                  </a:schemeClr>
                </a:solidFill>
                <a:latin typeface="Century Gothic"/>
                <a:cs typeface="Arial"/>
              </a:rPr>
              <a:t>Ingresos y Costos Pertinentes.</a:t>
            </a:r>
            <a:endParaRPr lang="es-ES" sz="1600">
              <a:solidFill>
                <a:schemeClr val="bg2">
                  <a:lumMod val="90000"/>
                </a:schemeClr>
              </a:solidFill>
              <a:latin typeface="Century Gothic"/>
              <a:cs typeface="Arial"/>
            </a:endParaRPr>
          </a:p>
          <a:p>
            <a:pPr marL="342900" indent="-342900">
              <a:buClr>
                <a:srgbClr val="2C7C9F"/>
              </a:buClr>
              <a:buFontTx/>
              <a:buAutoNum type="arabicPeriod"/>
            </a:pPr>
            <a:endParaRPr lang="es-CO" sz="1600">
              <a:solidFill>
                <a:schemeClr val="bg2">
                  <a:lumMod val="90000"/>
                </a:schemeClr>
              </a:solidFill>
              <a:latin typeface="Century Gothic"/>
              <a:cs typeface="Arial"/>
            </a:endParaRPr>
          </a:p>
          <a:p>
            <a:pPr marL="342900" indent="-342900">
              <a:buClr>
                <a:srgbClr val="48BE7A"/>
              </a:buClr>
              <a:buFontTx/>
              <a:buAutoNum type="arabicPeriod"/>
            </a:pPr>
            <a:r>
              <a:rPr lang="es-CO" sz="1600">
                <a:solidFill>
                  <a:schemeClr val="bg2">
                    <a:lumMod val="90000"/>
                  </a:schemeClr>
                </a:solidFill>
                <a:latin typeface="Century Gothic"/>
                <a:cs typeface="Arial"/>
              </a:rPr>
              <a:t>Principio de Marginalidad.</a:t>
            </a:r>
            <a:endParaRPr lang="es-CO" sz="1600">
              <a:solidFill>
                <a:schemeClr val="bg2">
                  <a:lumMod val="90000"/>
                </a:schemeClr>
              </a:solidFill>
              <a:latin typeface="Century Gothic"/>
            </a:endParaRPr>
          </a:p>
          <a:p>
            <a:pPr marL="342900" indent="-342900">
              <a:buClr>
                <a:srgbClr val="48BE7A"/>
              </a:buClr>
              <a:buFontTx/>
              <a:buAutoNum type="arabicPeriod"/>
            </a:pPr>
            <a:endParaRPr lang="es-CO" sz="1600">
              <a:solidFill>
                <a:schemeClr val="bg2">
                  <a:lumMod val="90000"/>
                </a:schemeClr>
              </a:solidFill>
              <a:latin typeface="Century Gothic"/>
            </a:endParaRPr>
          </a:p>
          <a:p>
            <a:pPr marL="342900" indent="-342900">
              <a:buClr>
                <a:srgbClr val="48BE7A"/>
              </a:buClr>
              <a:buFontTx/>
              <a:buAutoNum type="arabicPeriod"/>
            </a:pPr>
            <a:r>
              <a:rPr lang="es-CO" sz="1600">
                <a:solidFill>
                  <a:schemeClr val="bg2">
                    <a:lumMod val="90000"/>
                  </a:schemeClr>
                </a:solidFill>
                <a:latin typeface="Century Gothic"/>
                <a:cs typeface="Arial"/>
              </a:rPr>
              <a:t>Precios de Mercado.</a:t>
            </a:r>
            <a:endParaRPr lang="es-CO" sz="1600">
              <a:solidFill>
                <a:schemeClr val="bg2">
                  <a:lumMod val="90000"/>
                </a:schemeClr>
              </a:solidFill>
              <a:latin typeface="Century Gothic"/>
            </a:endParaRP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Costos Muertos.</a:t>
            </a:r>
            <a:endParaRPr lang="es-CO" sz="1600">
              <a:solidFill>
                <a:schemeClr val="accent1"/>
              </a:solidFill>
              <a:latin typeface="Century Gothic" panose="020B0502020202020204" pitchFamily="34" charset="0"/>
              <a:cs typeface="Arial"/>
            </a:endParaRPr>
          </a:p>
          <a:p>
            <a:pPr marL="342900" indent="-342900">
              <a:buClr>
                <a:srgbClr val="48BE7A"/>
              </a:buClr>
              <a:buAutoNum type="arabicPeriod"/>
            </a:pPr>
            <a:endParaRPr lang="es-CO" sz="1600">
              <a:solidFill>
                <a:schemeClr val="accent1"/>
              </a:solidFill>
              <a:latin typeface="Century Gothic" panose="020B0502020202020204" pitchFamily="34" charset="0"/>
              <a:cs typeface="Arial"/>
            </a:endParaRPr>
          </a:p>
          <a:p>
            <a:pPr marL="342900" indent="-342900">
              <a:buClr>
                <a:srgbClr val="48BE7A"/>
              </a:buClr>
              <a:buAutoNum type="arabicPeriod"/>
            </a:pPr>
            <a:r>
              <a:rPr lang="es-CO" sz="1600">
                <a:solidFill>
                  <a:schemeClr val="bg2">
                    <a:lumMod val="90000"/>
                  </a:schemeClr>
                </a:solidFill>
                <a:latin typeface="Century Gothic"/>
                <a:cs typeface="Arial"/>
              </a:rPr>
              <a:t>Ingresos y Egresos Operacionales.</a:t>
            </a:r>
          </a:p>
          <a:p>
            <a:pPr marL="342900" indent="-342900">
              <a:buClr>
                <a:srgbClr val="48BE7A"/>
              </a:buClr>
              <a:buAutoNum type="arabicPeriod"/>
            </a:pPr>
            <a:endParaRPr lang="es-CO" sz="1600">
              <a:solidFill>
                <a:schemeClr val="bg2">
                  <a:lumMod val="90000"/>
                </a:schemeClr>
              </a:solidFill>
              <a:latin typeface="Century Gothic"/>
              <a:cs typeface="Arial"/>
            </a:endParaRPr>
          </a:p>
          <a:p>
            <a:pPr marL="342900" indent="-342900">
              <a:buClr>
                <a:srgbClr val="48BE7A"/>
              </a:buClr>
              <a:buAutoNum type="arabicPeriod"/>
            </a:pPr>
            <a:r>
              <a:rPr lang="es-CO" sz="1600">
                <a:solidFill>
                  <a:schemeClr val="bg2">
                    <a:lumMod val="90000"/>
                  </a:schemeClr>
                </a:solidFill>
                <a:latin typeface="Century Gothic"/>
                <a:cs typeface="Arial"/>
              </a:rPr>
              <a:t>Ejercicio FCL.</a:t>
            </a:r>
          </a:p>
          <a:p>
            <a:pPr marL="342900" indent="-342900">
              <a:buClr>
                <a:srgbClr val="48BE7A"/>
              </a:buClr>
              <a:buAutoNum type="arabicPeriod"/>
            </a:pPr>
            <a:endParaRPr lang="es-CO" sz="1600">
              <a:solidFill>
                <a:srgbClr val="366658"/>
              </a:solidFill>
              <a:latin typeface="Century Gothic" panose="020B0502020202020204" pitchFamily="34" charset="0"/>
              <a:cs typeface="Arial"/>
            </a:endParaRPr>
          </a:p>
          <a:p>
            <a:pPr marL="342900" indent="-342900">
              <a:buClr>
                <a:srgbClr val="48BE7A"/>
              </a:buClr>
              <a:buAutoNum type="arabicPeriod"/>
            </a:pPr>
            <a:endParaRPr lang="es-CO" sz="1600">
              <a:solidFill>
                <a:schemeClr val="accent1"/>
              </a:solidFill>
              <a:latin typeface="Century Gothic" panose="020B0502020202020204" pitchFamily="34" charset="0"/>
              <a:cs typeface="Arial"/>
            </a:endParaRPr>
          </a:p>
          <a:p>
            <a:pPr>
              <a:buClr>
                <a:srgbClr val="88D5A9">
                  <a:lumMod val="75000"/>
                </a:srgbClr>
              </a:buClr>
            </a:pPr>
            <a:endParaRPr lang="es-CO" sz="1600">
              <a:solidFill>
                <a:schemeClr val="accent1"/>
              </a:solidFill>
              <a:latin typeface="Century Gothic" panose="020B0502020202020204" pitchFamily="34" charset="0"/>
              <a:cs typeface="Arial"/>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BE276256-0156-68C7-93ED-30477F8C5A4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FE01204C-82E9-5332-6560-BEA219A6789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18</a:t>
            </a:fld>
            <a:endParaRPr lang="en-US" sz="2000" b="1">
              <a:latin typeface="Century Gothic" panose="020B0502020202020204" pitchFamily="34" charset="0"/>
            </a:endParaRPr>
          </a:p>
        </p:txBody>
      </p:sp>
    </p:spTree>
    <p:extLst>
      <p:ext uri="{BB962C8B-B14F-4D97-AF65-F5344CB8AC3E}">
        <p14:creationId xmlns:p14="http://schemas.microsoft.com/office/powerpoint/2010/main" val="875624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Autofit/>
          </a:bodyPr>
          <a:lstStyle/>
          <a:p>
            <a:r>
              <a:rPr lang="es-ES">
                <a:latin typeface="Century Gothic" panose="020B0502020202020204" pitchFamily="34" charset="0"/>
              </a:rPr>
              <a:t>Regla #3: No costos muertos</a:t>
            </a:r>
          </a:p>
        </p:txBody>
      </p:sp>
      <p:sp>
        <p:nvSpPr>
          <p:cNvPr id="3" name="Marcador de contenido 2"/>
          <p:cNvSpPr>
            <a:spLocks noGrp="1"/>
          </p:cNvSpPr>
          <p:nvPr>
            <p:ph idx="1"/>
          </p:nvPr>
        </p:nvSpPr>
        <p:spPr>
          <a:xfrm>
            <a:off x="983085" y="2198549"/>
            <a:ext cx="7750515" cy="3915617"/>
          </a:xfrm>
        </p:spPr>
        <p:txBody>
          <a:bodyPr>
            <a:normAutofit/>
          </a:bodyPr>
          <a:lstStyle/>
          <a:p>
            <a:pPr marL="0" indent="0" algn="ctr">
              <a:buNone/>
            </a:pPr>
            <a:r>
              <a:rPr lang="es-ES" b="1" dirty="0">
                <a:solidFill>
                  <a:srgbClr val="C00000"/>
                </a:solidFill>
                <a:latin typeface="Century Gothic" panose="020B0502020202020204" pitchFamily="34" charset="0"/>
              </a:rPr>
              <a:t>Los costos muertos (</a:t>
            </a:r>
            <a:r>
              <a:rPr lang="es-ES" b="1" i="1" dirty="0" err="1">
                <a:solidFill>
                  <a:srgbClr val="C00000"/>
                </a:solidFill>
                <a:latin typeface="Century Gothic" panose="020B0502020202020204" pitchFamily="34" charset="0"/>
              </a:rPr>
              <a:t>sunk</a:t>
            </a:r>
            <a:r>
              <a:rPr lang="es-ES" b="1" i="1" dirty="0">
                <a:solidFill>
                  <a:srgbClr val="C00000"/>
                </a:solidFill>
                <a:latin typeface="Century Gothic" panose="020B0502020202020204" pitchFamily="34" charset="0"/>
              </a:rPr>
              <a:t> </a:t>
            </a:r>
            <a:r>
              <a:rPr lang="es-ES" b="1" i="1" dirty="0" err="1">
                <a:solidFill>
                  <a:srgbClr val="C00000"/>
                </a:solidFill>
                <a:latin typeface="Century Gothic" panose="020B0502020202020204" pitchFamily="34" charset="0"/>
              </a:rPr>
              <a:t>costs</a:t>
            </a:r>
            <a:r>
              <a:rPr lang="es-ES" b="1" dirty="0">
                <a:solidFill>
                  <a:srgbClr val="C00000"/>
                </a:solidFill>
                <a:latin typeface="Century Gothic" panose="020B0502020202020204" pitchFamily="34" charset="0"/>
              </a:rPr>
              <a:t>) </a:t>
            </a:r>
            <a:r>
              <a:rPr lang="es-ES" dirty="0">
                <a:solidFill>
                  <a:schemeClr val="accent1"/>
                </a:solidFill>
                <a:latin typeface="Century Gothic" panose="020B0502020202020204" pitchFamily="34" charset="0"/>
              </a:rPr>
              <a:t>se definen como aquellos costos directamente vinculados a un proyecto, en los que se ha incurrido (típicamente en el pasado), pero que la decisión de realizar o no el proyecto (que dependerá de su evaluación), ya no tiene efecto alguno sobre dichos costos en que ya se incurrió. </a:t>
            </a:r>
          </a:p>
          <a:p>
            <a:pPr marL="0" indent="0" algn="ctr">
              <a:buNone/>
            </a:pPr>
            <a:r>
              <a:rPr lang="es-ES" dirty="0">
                <a:solidFill>
                  <a:schemeClr val="accent1"/>
                </a:solidFill>
                <a:latin typeface="Century Gothic" panose="020B0502020202020204" pitchFamily="34" charset="0"/>
              </a:rPr>
              <a:t>Dicho de otra forma, un costo muerto es un costo en que ya se incurrió, independientemente de si realiza o no el proyecto y que la decisión de realizarlo o no, no tiene efecto alguno sobre el costo ya incurrido. </a:t>
            </a:r>
          </a:p>
        </p:txBody>
      </p:sp>
      <p:sp>
        <p:nvSpPr>
          <p:cNvPr id="5" name="Rectángulo 4">
            <a:extLst>
              <a:ext uri="{FF2B5EF4-FFF2-40B4-BE49-F238E27FC236}">
                <a16:creationId xmlns:a16="http://schemas.microsoft.com/office/drawing/2014/main" id="{9259769D-EB01-28A7-5E84-0A770259671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E28C76E3-F687-8965-E6EB-E0B42AA078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D65882DB-6860-14B4-05B6-7A8C4B16E4B3}"/>
              </a:ext>
            </a:extLst>
          </p:cNvPr>
          <p:cNvPicPr>
            <a:picLocks noChangeAspect="1"/>
          </p:cNvPicPr>
          <p:nvPr/>
        </p:nvPicPr>
        <p:blipFill>
          <a:blip r:embed="rId3"/>
          <a:stretch>
            <a:fillRect/>
          </a:stretch>
        </p:blipFill>
        <p:spPr>
          <a:xfrm>
            <a:off x="8996457" y="2995140"/>
            <a:ext cx="2540000" cy="1879600"/>
          </a:xfrm>
          <a:prstGeom prst="rect">
            <a:avLst/>
          </a:prstGeom>
        </p:spPr>
      </p:pic>
      <p:sp>
        <p:nvSpPr>
          <p:cNvPr id="6" name="Rectángulo 5">
            <a:extLst>
              <a:ext uri="{FF2B5EF4-FFF2-40B4-BE49-F238E27FC236}">
                <a16:creationId xmlns:a16="http://schemas.microsoft.com/office/drawing/2014/main" id="{406634DD-D82D-E033-3627-D71DEC9CF92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número de diapositiva 3">
            <a:extLst>
              <a:ext uri="{FF2B5EF4-FFF2-40B4-BE49-F238E27FC236}">
                <a16:creationId xmlns:a16="http://schemas.microsoft.com/office/drawing/2014/main" id="{C1CE2F8D-BCE1-82D1-F97E-63CBD0D9B291}"/>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19</a:t>
            </a:fld>
            <a:endParaRPr lang="en-US" sz="2000" b="1">
              <a:latin typeface="Century Gothic" panose="020B0502020202020204" pitchFamily="34" charset="0"/>
            </a:endParaRPr>
          </a:p>
        </p:txBody>
      </p:sp>
    </p:spTree>
    <p:extLst>
      <p:ext uri="{BB962C8B-B14F-4D97-AF65-F5344CB8AC3E}">
        <p14:creationId xmlns:p14="http://schemas.microsoft.com/office/powerpoint/2010/main" val="14413098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1">
            <a:extLst>
              <a:ext uri="{FF2B5EF4-FFF2-40B4-BE49-F238E27FC236}">
                <a16:creationId xmlns:a16="http://schemas.microsoft.com/office/drawing/2014/main" id="{0DBD7223-4EFC-455E-BAA5-BEEA6F0AEF84}"/>
              </a:ext>
            </a:extLst>
          </p:cNvPr>
          <p:cNvSpPr>
            <a:spLocks noGrp="1"/>
          </p:cNvSpPr>
          <p:nvPr>
            <p:ph type="title"/>
          </p:nvPr>
        </p:nvSpPr>
        <p:spPr/>
        <p:txBody>
          <a:bodyPr>
            <a:noAutofit/>
          </a:bodyPr>
          <a:lstStyle/>
          <a:p>
            <a:r>
              <a:rPr lang="es-ES">
                <a:latin typeface="Century Gothic" panose="020B0502020202020204" pitchFamily="34" charset="0"/>
              </a:rPr>
              <a:t>Regla #3: No costos muertos</a:t>
            </a:r>
          </a:p>
        </p:txBody>
      </p:sp>
      <p:sp>
        <p:nvSpPr>
          <p:cNvPr id="3" name="Marcador de contenido 2"/>
          <p:cNvSpPr>
            <a:spLocks noGrp="1"/>
          </p:cNvSpPr>
          <p:nvPr>
            <p:ph idx="1"/>
          </p:nvPr>
        </p:nvSpPr>
        <p:spPr>
          <a:xfrm>
            <a:off x="641965" y="2043730"/>
            <a:ext cx="8620303" cy="4277532"/>
          </a:xfrm>
        </p:spPr>
        <p:txBody>
          <a:bodyPr>
            <a:noAutofit/>
          </a:bodyPr>
          <a:lstStyle/>
          <a:p>
            <a:pPr marL="0" indent="0" algn="ctr">
              <a:buNone/>
            </a:pPr>
            <a:r>
              <a:rPr lang="es-ES" dirty="0">
                <a:solidFill>
                  <a:schemeClr val="accent1"/>
                </a:solidFill>
                <a:latin typeface="Century Gothic" panose="020B0502020202020204" pitchFamily="34" charset="0"/>
              </a:rPr>
              <a:t>Supóngase que usted es dueño de una empresa constructora especializada en construcción y mantenimiento de carreteras rurales.</a:t>
            </a:r>
          </a:p>
          <a:p>
            <a:pPr marL="0" indent="0" algn="ctr">
              <a:buNone/>
            </a:pPr>
            <a:r>
              <a:rPr lang="es-ES" dirty="0">
                <a:solidFill>
                  <a:schemeClr val="accent1"/>
                </a:solidFill>
                <a:latin typeface="Century Gothic" panose="020B0502020202020204" pitchFamily="34" charset="0"/>
              </a:rPr>
              <a:t>El estado Colombiano sacó una licitación para entregar en concesión la construcción y el mantenimiento de la ruta del sol.</a:t>
            </a:r>
          </a:p>
          <a:p>
            <a:pPr marL="0" indent="0" algn="ctr">
              <a:buNone/>
            </a:pPr>
            <a:r>
              <a:rPr lang="es-ES" dirty="0">
                <a:solidFill>
                  <a:schemeClr val="accent1"/>
                </a:solidFill>
                <a:latin typeface="Century Gothic" panose="020B0502020202020204" pitchFamily="34" charset="0"/>
              </a:rPr>
              <a:t>Su empresa, en aras de saber si dicha concesión le generaría valor, contrata a su profesor de ANADEC para que le haga un análisis de viabilidad económica del proyecto y poder decidir si aplicar a la licitación.</a:t>
            </a:r>
          </a:p>
          <a:p>
            <a:pPr marL="0" indent="0" algn="ctr">
              <a:buNone/>
            </a:pPr>
            <a:r>
              <a:rPr lang="es-ES" dirty="0">
                <a:solidFill>
                  <a:schemeClr val="accent1"/>
                </a:solidFill>
                <a:latin typeface="Century Gothic" panose="020B0502020202020204" pitchFamily="34" charset="0"/>
              </a:rPr>
              <a:t>Su profesor concluye que el proyecto tiene VPN positivo, y por el estudio le cobra 20.000.000 COP.</a:t>
            </a:r>
          </a:p>
          <a:p>
            <a:pPr marL="0" indent="0" algn="ctr">
              <a:buNone/>
            </a:pPr>
            <a:endParaRPr lang="es-ES" dirty="0">
              <a:latin typeface="Century Gothic" panose="020B0502020202020204" pitchFamily="34" charset="0"/>
            </a:endParaRPr>
          </a:p>
          <a:p>
            <a:pPr marL="0" indent="0" algn="ctr">
              <a:buNone/>
            </a:pPr>
            <a:r>
              <a:rPr lang="es-ES" b="1" dirty="0">
                <a:solidFill>
                  <a:srgbClr val="C00000"/>
                </a:solidFill>
                <a:latin typeface="Century Gothic" panose="020B0502020202020204" pitchFamily="34" charset="0"/>
              </a:rPr>
              <a:t>¿Dentro de los costos pertinentes del proyecto, debería incluirse dicho estudio?</a:t>
            </a:r>
          </a:p>
        </p:txBody>
      </p:sp>
      <p:sp>
        <p:nvSpPr>
          <p:cNvPr id="2" name="Rectángulo 1">
            <a:extLst>
              <a:ext uri="{FF2B5EF4-FFF2-40B4-BE49-F238E27FC236}">
                <a16:creationId xmlns:a16="http://schemas.microsoft.com/office/drawing/2014/main" id="{C9C5A9E4-758B-F42D-F5E9-749F5905DD0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885B6692-415E-C17F-1B03-C68E368318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Imagen 11">
            <a:extLst>
              <a:ext uri="{FF2B5EF4-FFF2-40B4-BE49-F238E27FC236}">
                <a16:creationId xmlns:a16="http://schemas.microsoft.com/office/drawing/2014/main" id="{20AE0120-7C47-4B03-C254-A6CEE3053AE2}"/>
              </a:ext>
            </a:extLst>
          </p:cNvPr>
          <p:cNvPicPr>
            <a:picLocks noChangeAspect="1"/>
          </p:cNvPicPr>
          <p:nvPr/>
        </p:nvPicPr>
        <p:blipFill>
          <a:blip r:embed="rId3"/>
          <a:stretch>
            <a:fillRect/>
          </a:stretch>
        </p:blipFill>
        <p:spPr>
          <a:xfrm>
            <a:off x="9262268" y="3135299"/>
            <a:ext cx="2380454" cy="2094393"/>
          </a:xfrm>
          <a:prstGeom prst="rect">
            <a:avLst/>
          </a:prstGeom>
        </p:spPr>
      </p:pic>
      <p:sp>
        <p:nvSpPr>
          <p:cNvPr id="9" name="Rectángulo 8">
            <a:extLst>
              <a:ext uri="{FF2B5EF4-FFF2-40B4-BE49-F238E27FC236}">
                <a16:creationId xmlns:a16="http://schemas.microsoft.com/office/drawing/2014/main" id="{1DA3F3F3-DF1D-8AFE-F3E8-5BE7A7C122B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C52E08DC-E642-4E20-933D-F6AC5319EA61}"/>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20</a:t>
            </a:fld>
            <a:endParaRPr lang="en-US" sz="2000" b="1">
              <a:latin typeface="Century Gothic" panose="020B0502020202020204" pitchFamily="34" charset="0"/>
            </a:endParaRPr>
          </a:p>
        </p:txBody>
      </p:sp>
    </p:spTree>
    <p:extLst>
      <p:ext uri="{BB962C8B-B14F-4D97-AF65-F5344CB8AC3E}">
        <p14:creationId xmlns:p14="http://schemas.microsoft.com/office/powerpoint/2010/main" val="2959629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3293209"/>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bg2">
                    <a:lumMod val="90000"/>
                  </a:schemeClr>
                </a:solidFill>
                <a:latin typeface="Century Gothic"/>
                <a:cs typeface="Arial"/>
              </a:rPr>
              <a:t>Ingresos y Costos Pertinentes.</a:t>
            </a:r>
            <a:endParaRPr lang="es-ES" sz="1600">
              <a:solidFill>
                <a:schemeClr val="bg2">
                  <a:lumMod val="90000"/>
                </a:schemeClr>
              </a:solidFill>
              <a:latin typeface="Century Gothic"/>
              <a:cs typeface="Arial"/>
            </a:endParaRPr>
          </a:p>
          <a:p>
            <a:pPr marL="342900" indent="-342900">
              <a:buClr>
                <a:srgbClr val="2C7C9F"/>
              </a:buClr>
              <a:buFontTx/>
              <a:buAutoNum type="arabicPeriod"/>
            </a:pPr>
            <a:endParaRPr lang="es-CO" sz="1600">
              <a:solidFill>
                <a:schemeClr val="bg2">
                  <a:lumMod val="90000"/>
                </a:schemeClr>
              </a:solidFill>
              <a:latin typeface="Century Gothic"/>
              <a:cs typeface="Arial"/>
            </a:endParaRPr>
          </a:p>
          <a:p>
            <a:pPr marL="342900" indent="-342900">
              <a:buClr>
                <a:srgbClr val="48BE7A"/>
              </a:buClr>
              <a:buFontTx/>
              <a:buAutoNum type="arabicPeriod"/>
            </a:pPr>
            <a:r>
              <a:rPr lang="es-CO" sz="1600">
                <a:solidFill>
                  <a:schemeClr val="bg2">
                    <a:lumMod val="90000"/>
                  </a:schemeClr>
                </a:solidFill>
                <a:latin typeface="Century Gothic"/>
                <a:cs typeface="Arial"/>
              </a:rPr>
              <a:t>Principio de Marginalidad.</a:t>
            </a:r>
            <a:endParaRPr lang="es-CO" sz="1600">
              <a:solidFill>
                <a:schemeClr val="bg2">
                  <a:lumMod val="90000"/>
                </a:schemeClr>
              </a:solidFill>
              <a:latin typeface="Century Gothic"/>
            </a:endParaRPr>
          </a:p>
          <a:p>
            <a:pPr marL="342900" indent="-342900">
              <a:buClr>
                <a:srgbClr val="48BE7A"/>
              </a:buClr>
              <a:buFontTx/>
              <a:buAutoNum type="arabicPeriod"/>
            </a:pPr>
            <a:endParaRPr lang="es-CO" sz="1600">
              <a:solidFill>
                <a:schemeClr val="bg2">
                  <a:lumMod val="90000"/>
                </a:schemeClr>
              </a:solidFill>
              <a:latin typeface="Century Gothic"/>
            </a:endParaRPr>
          </a:p>
          <a:p>
            <a:pPr marL="342900" indent="-342900">
              <a:buClr>
                <a:srgbClr val="48BE7A"/>
              </a:buClr>
              <a:buFontTx/>
              <a:buAutoNum type="arabicPeriod"/>
            </a:pPr>
            <a:r>
              <a:rPr lang="es-CO" sz="1600">
                <a:solidFill>
                  <a:schemeClr val="bg2">
                    <a:lumMod val="90000"/>
                  </a:schemeClr>
                </a:solidFill>
                <a:latin typeface="Century Gothic"/>
                <a:cs typeface="Arial"/>
              </a:rPr>
              <a:t>Precios de Mercado.</a:t>
            </a:r>
            <a:endParaRPr lang="es-CO" sz="1600">
              <a:solidFill>
                <a:schemeClr val="bg2">
                  <a:lumMod val="90000"/>
                </a:schemeClr>
              </a:solidFill>
              <a:latin typeface="Century Gothic"/>
            </a:endParaRPr>
          </a:p>
          <a:p>
            <a:pPr marL="342900" indent="-342900">
              <a:buClr>
                <a:srgbClr val="48BE7A"/>
              </a:buClr>
              <a:buFontTx/>
              <a:buAutoNum type="arabicPeriod"/>
            </a:pPr>
            <a:endParaRPr lang="es-CO" sz="1600">
              <a:solidFill>
                <a:schemeClr val="bg2">
                  <a:lumMod val="90000"/>
                </a:schemeClr>
              </a:solidFill>
              <a:latin typeface="Century Gothic"/>
              <a:cs typeface="Arial"/>
            </a:endParaRPr>
          </a:p>
          <a:p>
            <a:pPr marL="342900" indent="-342900">
              <a:buClr>
                <a:srgbClr val="48BE7A"/>
              </a:buClr>
              <a:buFontTx/>
              <a:buAutoNum type="arabicPeriod"/>
            </a:pPr>
            <a:r>
              <a:rPr lang="es-CO" sz="1600">
                <a:solidFill>
                  <a:schemeClr val="bg2">
                    <a:lumMod val="90000"/>
                  </a:schemeClr>
                </a:solidFill>
                <a:latin typeface="Century Gothic"/>
                <a:cs typeface="Arial"/>
              </a:rPr>
              <a:t>Costos Muertos.</a:t>
            </a:r>
            <a:endParaRPr lang="es-CO" sz="160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sz="1600">
              <a:solidFill>
                <a:schemeClr val="accent1"/>
              </a:solidFill>
              <a:latin typeface="Century Gothic" panose="020B0502020202020204" pitchFamily="34" charset="0"/>
              <a:cs typeface="Arial"/>
            </a:endParaRPr>
          </a:p>
          <a:p>
            <a:pPr marL="342900" indent="-342900">
              <a:buClr>
                <a:srgbClr val="48BE7A"/>
              </a:buClr>
              <a:buAutoNum type="arabicPeriod"/>
            </a:pPr>
            <a:r>
              <a:rPr lang="es-CO" sz="1600">
                <a:solidFill>
                  <a:schemeClr val="accent1"/>
                </a:solidFill>
                <a:latin typeface="Century Gothic"/>
                <a:cs typeface="Arial"/>
              </a:rPr>
              <a:t>Ingresos y Egresos Operacionales.</a:t>
            </a:r>
          </a:p>
          <a:p>
            <a:pPr marL="342900" indent="-342900">
              <a:buClr>
                <a:srgbClr val="48BE7A"/>
              </a:buClr>
              <a:buAutoNum type="arabicPeriod"/>
            </a:pPr>
            <a:endParaRPr lang="es-CO" sz="1600">
              <a:solidFill>
                <a:schemeClr val="accent1"/>
              </a:solidFill>
              <a:latin typeface="Century Gothic"/>
              <a:cs typeface="Arial"/>
            </a:endParaRPr>
          </a:p>
          <a:p>
            <a:pPr marL="342900" indent="-342900">
              <a:buClr>
                <a:srgbClr val="48BE7A"/>
              </a:buClr>
              <a:buAutoNum type="arabicPeriod"/>
            </a:pPr>
            <a:r>
              <a:rPr lang="es-CO" sz="1600">
                <a:solidFill>
                  <a:schemeClr val="bg2">
                    <a:lumMod val="90000"/>
                  </a:schemeClr>
                </a:solidFill>
                <a:latin typeface="Century Gothic"/>
                <a:cs typeface="Arial"/>
              </a:rPr>
              <a:t>Ejercicio FCL.</a:t>
            </a:r>
            <a:endParaRPr lang="es-CO" sz="1600">
              <a:solidFill>
                <a:schemeClr val="accent1"/>
              </a:solidFill>
              <a:latin typeface="Century Gothic"/>
              <a:cs typeface="Arial"/>
            </a:endParaRPr>
          </a:p>
          <a:p>
            <a:pPr marL="342900" indent="-342900">
              <a:buClr>
                <a:srgbClr val="48BE7A"/>
              </a:buClr>
              <a:buAutoNum type="arabicPeriod"/>
            </a:pPr>
            <a:endParaRPr lang="es-CO" sz="1600">
              <a:solidFill>
                <a:schemeClr val="accent1"/>
              </a:solidFill>
              <a:latin typeface="Century Gothic" panose="020B0502020202020204" pitchFamily="34" charset="0"/>
              <a:cs typeface="Arial"/>
            </a:endParaRPr>
          </a:p>
          <a:p>
            <a:pPr>
              <a:buClr>
                <a:srgbClr val="88D5A9">
                  <a:lumMod val="75000"/>
                </a:srgbClr>
              </a:buClr>
            </a:pPr>
            <a:endParaRPr lang="es-CO" sz="1600">
              <a:solidFill>
                <a:srgbClr val="366658"/>
              </a:solidFill>
              <a:latin typeface="Century Gothic" panose="020B0502020202020204" pitchFamily="34" charset="0"/>
              <a:cs typeface="Arial"/>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76053608-2EE6-DD8D-ADB0-3864EC447A7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E1E2BE17-9DF8-BD1E-74A9-DF66EEFECD5D}"/>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21</a:t>
            </a:fld>
            <a:endParaRPr lang="en-US" sz="2000" b="1">
              <a:latin typeface="Century Gothic" panose="020B0502020202020204" pitchFamily="34" charset="0"/>
            </a:endParaRPr>
          </a:p>
        </p:txBody>
      </p:sp>
    </p:spTree>
    <p:extLst>
      <p:ext uri="{BB962C8B-B14F-4D97-AF65-F5344CB8AC3E}">
        <p14:creationId xmlns:p14="http://schemas.microsoft.com/office/powerpoint/2010/main" val="3539093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Autofit/>
          </a:bodyPr>
          <a:lstStyle/>
          <a:p>
            <a:r>
              <a:rPr lang="es-ES">
                <a:latin typeface="Century Gothic" panose="020B0502020202020204" pitchFamily="34" charset="0"/>
              </a:rPr>
              <a:t>Regla #4: Ingresos y </a:t>
            </a:r>
            <a:r>
              <a:rPr lang="es-ES" err="1">
                <a:latin typeface="Century Gothic" panose="020B0502020202020204" pitchFamily="34" charset="0"/>
              </a:rPr>
              <a:t>EGRESos</a:t>
            </a:r>
            <a:r>
              <a:rPr lang="es-ES">
                <a:latin typeface="Century Gothic" panose="020B0502020202020204" pitchFamily="34" charset="0"/>
              </a:rPr>
              <a:t> operacionales</a:t>
            </a:r>
          </a:p>
        </p:txBody>
      </p:sp>
      <p:sp>
        <p:nvSpPr>
          <p:cNvPr id="5" name="Marcador de contenido 2"/>
          <p:cNvSpPr txBox="1">
            <a:spLocks/>
          </p:cNvSpPr>
          <p:nvPr/>
        </p:nvSpPr>
        <p:spPr>
          <a:xfrm>
            <a:off x="933520" y="3665861"/>
            <a:ext cx="7610476" cy="1169880"/>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 sz="1800">
                <a:solidFill>
                  <a:schemeClr val="accent1"/>
                </a:solidFill>
                <a:latin typeface="Century Gothic" panose="020B0502020202020204" pitchFamily="34" charset="0"/>
              </a:rPr>
              <a:t>Este principio nos recuerda que el flujo de caja libre busca estimar el dinero que un proyecto deja </a:t>
            </a:r>
            <a:r>
              <a:rPr lang="es-ES" sz="1800" b="1">
                <a:solidFill>
                  <a:srgbClr val="C00000"/>
                </a:solidFill>
                <a:latin typeface="Century Gothic" panose="020B0502020202020204" pitchFamily="34" charset="0"/>
              </a:rPr>
              <a:t>libre</a:t>
            </a:r>
            <a:r>
              <a:rPr lang="es-ES" sz="1800">
                <a:solidFill>
                  <a:schemeClr val="accent1"/>
                </a:solidFill>
                <a:latin typeface="Century Gothic" panose="020B0502020202020204" pitchFamily="34" charset="0"/>
              </a:rPr>
              <a:t> para pagar deuda y accionistas. De esta forma se debe contemplar únicamente los </a:t>
            </a:r>
            <a:r>
              <a:rPr lang="es-ES" sz="1800" b="1">
                <a:solidFill>
                  <a:srgbClr val="D7A700"/>
                </a:solidFill>
                <a:latin typeface="Century Gothic" panose="020B0502020202020204" pitchFamily="34" charset="0"/>
              </a:rPr>
              <a:t>ingresos</a:t>
            </a:r>
            <a:r>
              <a:rPr lang="es-ES" sz="1800">
                <a:solidFill>
                  <a:schemeClr val="accent1"/>
                </a:solidFill>
                <a:latin typeface="Century Gothic" panose="020B0502020202020204" pitchFamily="34" charset="0"/>
              </a:rPr>
              <a:t> y los </a:t>
            </a:r>
            <a:r>
              <a:rPr lang="es-ES" sz="1800" b="1">
                <a:solidFill>
                  <a:schemeClr val="accent3">
                    <a:lumMod val="50000"/>
                  </a:schemeClr>
                </a:solidFill>
                <a:latin typeface="Century Gothic" panose="020B0502020202020204" pitchFamily="34" charset="0"/>
              </a:rPr>
              <a:t>costos</a:t>
            </a:r>
            <a:r>
              <a:rPr lang="es-ES" sz="1800">
                <a:solidFill>
                  <a:schemeClr val="accent1"/>
                </a:solidFill>
                <a:latin typeface="Century Gothic" panose="020B0502020202020204" pitchFamily="34" charset="0"/>
              </a:rPr>
              <a:t> que conlleva realizar el proyecto.</a:t>
            </a:r>
          </a:p>
        </p:txBody>
      </p:sp>
      <p:sp>
        <p:nvSpPr>
          <p:cNvPr id="3" name="Rectángulo 2">
            <a:extLst>
              <a:ext uri="{FF2B5EF4-FFF2-40B4-BE49-F238E27FC236}">
                <a16:creationId xmlns:a16="http://schemas.microsoft.com/office/drawing/2014/main" id="{DFAB6E14-A30C-F5A0-3B30-81779647BC3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96705F10-6D12-3204-A758-9728D15B01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Imagen 11">
            <a:extLst>
              <a:ext uri="{FF2B5EF4-FFF2-40B4-BE49-F238E27FC236}">
                <a16:creationId xmlns:a16="http://schemas.microsoft.com/office/drawing/2014/main" id="{B08C2266-CDC1-1812-D223-D52D00E62DAE}"/>
              </a:ext>
            </a:extLst>
          </p:cNvPr>
          <p:cNvPicPr>
            <a:picLocks noChangeAspect="1"/>
          </p:cNvPicPr>
          <p:nvPr/>
        </p:nvPicPr>
        <p:blipFill>
          <a:blip r:embed="rId3"/>
          <a:stretch>
            <a:fillRect/>
          </a:stretch>
        </p:blipFill>
        <p:spPr>
          <a:xfrm>
            <a:off x="8543996" y="3004169"/>
            <a:ext cx="3199761" cy="2252705"/>
          </a:xfrm>
          <a:prstGeom prst="rect">
            <a:avLst/>
          </a:prstGeom>
        </p:spPr>
      </p:pic>
      <p:sp>
        <p:nvSpPr>
          <p:cNvPr id="6" name="Rectángulo 5">
            <a:extLst>
              <a:ext uri="{FF2B5EF4-FFF2-40B4-BE49-F238E27FC236}">
                <a16:creationId xmlns:a16="http://schemas.microsoft.com/office/drawing/2014/main" id="{92BD48E9-26AD-1B92-C6BE-5A9B514EA15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número de diapositiva 3">
            <a:extLst>
              <a:ext uri="{FF2B5EF4-FFF2-40B4-BE49-F238E27FC236}">
                <a16:creationId xmlns:a16="http://schemas.microsoft.com/office/drawing/2014/main" id="{01496BE9-6F06-D301-E21B-21E86E83BE30}"/>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22</a:t>
            </a:fld>
            <a:endParaRPr lang="en-US" sz="2000" b="1">
              <a:latin typeface="Century Gothic" panose="020B0502020202020204" pitchFamily="34" charset="0"/>
            </a:endParaRPr>
          </a:p>
        </p:txBody>
      </p:sp>
    </p:spTree>
    <p:extLst>
      <p:ext uri="{BB962C8B-B14F-4D97-AF65-F5344CB8AC3E}">
        <p14:creationId xmlns:p14="http://schemas.microsoft.com/office/powerpoint/2010/main" val="12063195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Autofit/>
          </a:bodyPr>
          <a:lstStyle/>
          <a:p>
            <a:r>
              <a:rPr lang="es-ES">
                <a:latin typeface="Century Gothic" panose="020B0502020202020204" pitchFamily="34" charset="0"/>
              </a:rPr>
              <a:t>Regla#4: Ingresos y egresos operacionales</a:t>
            </a:r>
          </a:p>
        </p:txBody>
      </p:sp>
      <p:sp>
        <p:nvSpPr>
          <p:cNvPr id="6" name="Marcador de contenido 2"/>
          <p:cNvSpPr>
            <a:spLocks noGrp="1"/>
          </p:cNvSpPr>
          <p:nvPr>
            <p:ph idx="1"/>
          </p:nvPr>
        </p:nvSpPr>
        <p:spPr>
          <a:xfrm>
            <a:off x="1401046" y="2297113"/>
            <a:ext cx="9389905" cy="2371241"/>
          </a:xfrm>
        </p:spPr>
        <p:txBody>
          <a:bodyPr>
            <a:noAutofit/>
          </a:bodyPr>
          <a:lstStyle/>
          <a:p>
            <a:pPr marL="0" indent="0" algn="ctr">
              <a:buNone/>
            </a:pPr>
            <a:r>
              <a:rPr lang="es-ES" b="1">
                <a:solidFill>
                  <a:srgbClr val="C00000"/>
                </a:solidFill>
                <a:latin typeface="Century Gothic" panose="020B0502020202020204" pitchFamily="34" charset="0"/>
              </a:rPr>
              <a:t>Por ejemplo: </a:t>
            </a:r>
            <a:r>
              <a:rPr lang="es-ES">
                <a:latin typeface="Century Gothic" panose="020B0502020202020204" pitchFamily="34" charset="0"/>
              </a:rPr>
              <a:t>Usted está evaluando la posibilidad de abrir un negocio de empanadas en la ciudad de Bogotá. Usted espera que los ingresos por la venta de empanadas sea de 100 MM COP anuales por los primeros 5 años. Así mismo, espera que los costos de la materia prima para producir las empanadas sea de 70 MM COP anuales.  Por último, usted debe pagar 5 MM COP anualmente por concepto de intereses del crédito que va a adquirir para comprar los activos necesarios para el negocio.</a:t>
            </a:r>
            <a:endParaRPr lang="es-ES" b="1">
              <a:latin typeface="Century Gothic" panose="020B0502020202020204" pitchFamily="34" charset="0"/>
            </a:endParaRPr>
          </a:p>
        </p:txBody>
      </p:sp>
      <p:sp>
        <p:nvSpPr>
          <p:cNvPr id="3" name="Rectángulo 2"/>
          <p:cNvSpPr/>
          <p:nvPr/>
        </p:nvSpPr>
        <p:spPr>
          <a:xfrm>
            <a:off x="3945923" y="5769367"/>
            <a:ext cx="4572000" cy="369332"/>
          </a:xfrm>
          <a:prstGeom prst="rect">
            <a:avLst/>
          </a:prstGeom>
        </p:spPr>
        <p:txBody>
          <a:bodyPr>
            <a:spAutoFit/>
          </a:bodyPr>
          <a:lstStyle/>
          <a:p>
            <a:pPr algn="ctr"/>
            <a:r>
              <a:rPr lang="es-ES" b="1">
                <a:solidFill>
                  <a:srgbClr val="D7A700"/>
                </a:solidFill>
                <a:latin typeface="Century Gothic" panose="020B0502020202020204" pitchFamily="34" charset="0"/>
              </a:rPr>
              <a:t>¿Cuáles son los costos del proyecto?</a:t>
            </a:r>
          </a:p>
        </p:txBody>
      </p:sp>
      <p:sp>
        <p:nvSpPr>
          <p:cNvPr id="5" name="Rectángulo 4">
            <a:extLst>
              <a:ext uri="{FF2B5EF4-FFF2-40B4-BE49-F238E27FC236}">
                <a16:creationId xmlns:a16="http://schemas.microsoft.com/office/drawing/2014/main" id="{350D4C32-F7B7-3B91-2CD1-1A13FC1FAB0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9BC07F7E-0C26-7086-FFA8-66A4100DB6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3" name="Imagen 12">
            <a:extLst>
              <a:ext uri="{FF2B5EF4-FFF2-40B4-BE49-F238E27FC236}">
                <a16:creationId xmlns:a16="http://schemas.microsoft.com/office/drawing/2014/main" id="{041738EA-BF86-D638-5368-AFDDFE78B547}"/>
              </a:ext>
            </a:extLst>
          </p:cNvPr>
          <p:cNvPicPr>
            <a:picLocks noChangeAspect="1"/>
          </p:cNvPicPr>
          <p:nvPr/>
        </p:nvPicPr>
        <p:blipFill>
          <a:blip r:embed="rId3"/>
          <a:stretch>
            <a:fillRect/>
          </a:stretch>
        </p:blipFill>
        <p:spPr>
          <a:xfrm>
            <a:off x="8795541" y="4385146"/>
            <a:ext cx="1854200" cy="1854200"/>
          </a:xfrm>
          <a:prstGeom prst="rect">
            <a:avLst/>
          </a:prstGeom>
        </p:spPr>
      </p:pic>
      <p:sp>
        <p:nvSpPr>
          <p:cNvPr id="7" name="Rectángulo 6">
            <a:extLst>
              <a:ext uri="{FF2B5EF4-FFF2-40B4-BE49-F238E27FC236}">
                <a16:creationId xmlns:a16="http://schemas.microsoft.com/office/drawing/2014/main" id="{E99FDA04-2D14-1C0E-5156-F0B8C3DC099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Marcador de número de diapositiva 3">
            <a:extLst>
              <a:ext uri="{FF2B5EF4-FFF2-40B4-BE49-F238E27FC236}">
                <a16:creationId xmlns:a16="http://schemas.microsoft.com/office/drawing/2014/main" id="{D24A23D0-02E6-58AC-45C1-4489A2B7CFC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23</a:t>
            </a:fld>
            <a:endParaRPr lang="en-US" sz="2000" b="1">
              <a:latin typeface="Century Gothic" panose="020B0502020202020204" pitchFamily="34" charset="0"/>
            </a:endParaRPr>
          </a:p>
        </p:txBody>
      </p:sp>
    </p:spTree>
    <p:extLst>
      <p:ext uri="{BB962C8B-B14F-4D97-AF65-F5344CB8AC3E}">
        <p14:creationId xmlns:p14="http://schemas.microsoft.com/office/powerpoint/2010/main" val="1521903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FD9AF-CD4E-19C8-228C-7AC0C1E1055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F138492-D222-17E8-7486-C25DC178E5FF}"/>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F4DC82E6-40D2-6033-7CD3-CBCE379584FD}"/>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126DD197-73D3-168C-2AD6-868F42CF5F71}"/>
              </a:ext>
            </a:extLst>
          </p:cNvPr>
          <p:cNvSpPr/>
          <p:nvPr/>
        </p:nvSpPr>
        <p:spPr>
          <a:xfrm>
            <a:off x="2806200" y="2772729"/>
            <a:ext cx="8540907" cy="3293209"/>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bg2">
                    <a:lumMod val="90000"/>
                  </a:schemeClr>
                </a:solidFill>
                <a:latin typeface="Century Gothic"/>
                <a:cs typeface="Arial"/>
              </a:rPr>
              <a:t>Ingresos y Costos Pertinentes.</a:t>
            </a:r>
            <a:endParaRPr lang="es-ES" sz="1600">
              <a:solidFill>
                <a:schemeClr val="bg2">
                  <a:lumMod val="90000"/>
                </a:schemeClr>
              </a:solidFill>
              <a:latin typeface="Century Gothic"/>
              <a:cs typeface="Arial"/>
            </a:endParaRPr>
          </a:p>
          <a:p>
            <a:pPr marL="342900" indent="-342900">
              <a:buClr>
                <a:srgbClr val="2C7C9F"/>
              </a:buClr>
              <a:buFontTx/>
              <a:buAutoNum type="arabicPeriod"/>
            </a:pPr>
            <a:endParaRPr lang="es-CO" sz="1600">
              <a:solidFill>
                <a:schemeClr val="bg2">
                  <a:lumMod val="90000"/>
                </a:schemeClr>
              </a:solidFill>
              <a:latin typeface="Century Gothic"/>
              <a:cs typeface="Arial"/>
            </a:endParaRPr>
          </a:p>
          <a:p>
            <a:pPr marL="342900" indent="-342900">
              <a:buClr>
                <a:srgbClr val="48BE7A"/>
              </a:buClr>
              <a:buFontTx/>
              <a:buAutoNum type="arabicPeriod"/>
            </a:pPr>
            <a:r>
              <a:rPr lang="es-CO" sz="1600">
                <a:solidFill>
                  <a:schemeClr val="bg2">
                    <a:lumMod val="90000"/>
                  </a:schemeClr>
                </a:solidFill>
                <a:latin typeface="Century Gothic"/>
                <a:cs typeface="Arial"/>
              </a:rPr>
              <a:t>Principio de Marginalidad.</a:t>
            </a:r>
            <a:endParaRPr lang="es-CO" sz="1600">
              <a:solidFill>
                <a:schemeClr val="bg2">
                  <a:lumMod val="90000"/>
                </a:schemeClr>
              </a:solidFill>
              <a:latin typeface="Century Gothic"/>
            </a:endParaRPr>
          </a:p>
          <a:p>
            <a:pPr marL="342900" indent="-342900">
              <a:buClr>
                <a:srgbClr val="48BE7A"/>
              </a:buClr>
              <a:buFontTx/>
              <a:buAutoNum type="arabicPeriod"/>
            </a:pPr>
            <a:endParaRPr lang="es-CO" sz="1600">
              <a:solidFill>
                <a:schemeClr val="bg2">
                  <a:lumMod val="90000"/>
                </a:schemeClr>
              </a:solidFill>
              <a:latin typeface="Century Gothic"/>
            </a:endParaRPr>
          </a:p>
          <a:p>
            <a:pPr marL="342900" indent="-342900">
              <a:buClr>
                <a:srgbClr val="48BE7A"/>
              </a:buClr>
              <a:buFontTx/>
              <a:buAutoNum type="arabicPeriod"/>
            </a:pPr>
            <a:r>
              <a:rPr lang="es-CO" sz="1600">
                <a:solidFill>
                  <a:schemeClr val="bg2">
                    <a:lumMod val="90000"/>
                  </a:schemeClr>
                </a:solidFill>
                <a:latin typeface="Century Gothic"/>
                <a:cs typeface="Arial"/>
              </a:rPr>
              <a:t>Precios de Mercado.</a:t>
            </a:r>
            <a:endParaRPr lang="es-CO" sz="1600">
              <a:solidFill>
                <a:schemeClr val="bg2">
                  <a:lumMod val="90000"/>
                </a:schemeClr>
              </a:solidFill>
              <a:latin typeface="Century Gothic"/>
            </a:endParaRPr>
          </a:p>
          <a:p>
            <a:pPr marL="342900" indent="-342900">
              <a:buClr>
                <a:srgbClr val="48BE7A"/>
              </a:buClr>
              <a:buFontTx/>
              <a:buAutoNum type="arabicPeriod"/>
            </a:pPr>
            <a:endParaRPr lang="es-CO" sz="1600">
              <a:solidFill>
                <a:schemeClr val="bg2">
                  <a:lumMod val="90000"/>
                </a:schemeClr>
              </a:solidFill>
              <a:latin typeface="Century Gothic"/>
              <a:cs typeface="Arial"/>
            </a:endParaRPr>
          </a:p>
          <a:p>
            <a:pPr marL="342900" indent="-342900">
              <a:buClr>
                <a:srgbClr val="48BE7A"/>
              </a:buClr>
              <a:buFontTx/>
              <a:buAutoNum type="arabicPeriod"/>
            </a:pPr>
            <a:r>
              <a:rPr lang="es-CO" sz="1600">
                <a:solidFill>
                  <a:schemeClr val="bg2">
                    <a:lumMod val="90000"/>
                  </a:schemeClr>
                </a:solidFill>
                <a:latin typeface="Century Gothic"/>
                <a:cs typeface="Arial"/>
              </a:rPr>
              <a:t>Costos Muertos.</a:t>
            </a:r>
            <a:endParaRPr lang="es-CO" sz="160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sz="1600">
              <a:solidFill>
                <a:schemeClr val="accent1"/>
              </a:solidFill>
              <a:latin typeface="Century Gothic" panose="020B0502020202020204" pitchFamily="34" charset="0"/>
              <a:cs typeface="Arial"/>
            </a:endParaRPr>
          </a:p>
          <a:p>
            <a:pPr marL="342900" indent="-342900">
              <a:buClr>
                <a:srgbClr val="48BE7A"/>
              </a:buClr>
              <a:buAutoNum type="arabicPeriod"/>
            </a:pPr>
            <a:r>
              <a:rPr lang="es-CO" sz="1600">
                <a:solidFill>
                  <a:schemeClr val="bg2">
                    <a:lumMod val="90000"/>
                  </a:schemeClr>
                </a:solidFill>
                <a:latin typeface="Century Gothic"/>
                <a:cs typeface="Arial"/>
              </a:rPr>
              <a:t>Ingresos y Egresos Operacionales.</a:t>
            </a:r>
          </a:p>
          <a:p>
            <a:pPr marL="342900" indent="-342900">
              <a:buClr>
                <a:srgbClr val="48BE7A"/>
              </a:buClr>
              <a:buAutoNum type="arabicPeriod"/>
            </a:pPr>
            <a:endParaRPr lang="es-CO" sz="1600">
              <a:solidFill>
                <a:schemeClr val="accent1"/>
              </a:solidFill>
              <a:latin typeface="Century Gothic"/>
              <a:cs typeface="Arial"/>
            </a:endParaRPr>
          </a:p>
          <a:p>
            <a:pPr marL="342900" indent="-342900">
              <a:buClr>
                <a:srgbClr val="48BE7A"/>
              </a:buClr>
              <a:buAutoNum type="arabicPeriod"/>
            </a:pPr>
            <a:r>
              <a:rPr lang="es-CO" sz="1600">
                <a:solidFill>
                  <a:schemeClr val="accent1"/>
                </a:solidFill>
                <a:latin typeface="Century Gothic"/>
                <a:cs typeface="Arial"/>
              </a:rPr>
              <a:t>Ejercicio FCL.</a:t>
            </a:r>
          </a:p>
          <a:p>
            <a:pPr marL="342900" indent="-342900">
              <a:buClr>
                <a:srgbClr val="48BE7A"/>
              </a:buClr>
              <a:buAutoNum type="arabicPeriod"/>
            </a:pPr>
            <a:endParaRPr lang="es-CO" sz="1600">
              <a:solidFill>
                <a:schemeClr val="accent1"/>
              </a:solidFill>
              <a:latin typeface="Century Gothic" panose="020B0502020202020204" pitchFamily="34" charset="0"/>
              <a:cs typeface="Arial"/>
            </a:endParaRPr>
          </a:p>
          <a:p>
            <a:pPr>
              <a:buClr>
                <a:srgbClr val="88D5A9">
                  <a:lumMod val="75000"/>
                </a:srgbClr>
              </a:buClr>
            </a:pPr>
            <a:endParaRPr lang="es-CO" sz="1600">
              <a:solidFill>
                <a:srgbClr val="366658"/>
              </a:solidFill>
              <a:latin typeface="Century Gothic" panose="020B0502020202020204" pitchFamily="34" charset="0"/>
              <a:cs typeface="Arial"/>
            </a:endParaRPr>
          </a:p>
        </p:txBody>
      </p:sp>
      <p:sp>
        <p:nvSpPr>
          <p:cNvPr id="3" name="Rectángulo 2">
            <a:extLst>
              <a:ext uri="{FF2B5EF4-FFF2-40B4-BE49-F238E27FC236}">
                <a16:creationId xmlns:a16="http://schemas.microsoft.com/office/drawing/2014/main" id="{BAE0DC2D-0284-F61E-5375-5AF0B7A1FD3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E1421A09-56EF-F509-DED1-D0DD7E008D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5B7327C4-F5FA-094E-B316-80336567DEC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CA90868A-51AE-1D33-0783-FECB5DCBC6AD}"/>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24</a:t>
            </a:fld>
            <a:endParaRPr lang="en-US" sz="2000" b="1">
              <a:latin typeface="Century Gothic" panose="020B0502020202020204" pitchFamily="34" charset="0"/>
            </a:endParaRPr>
          </a:p>
        </p:txBody>
      </p:sp>
    </p:spTree>
    <p:extLst>
      <p:ext uri="{BB962C8B-B14F-4D97-AF65-F5344CB8AC3E}">
        <p14:creationId xmlns:p14="http://schemas.microsoft.com/office/powerpoint/2010/main" val="2131042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34957" y="3342889"/>
            <a:ext cx="2695807" cy="2695807"/>
          </a:xfrm>
          <a:prstGeom prst="rect">
            <a:avLst/>
          </a:prstGeom>
        </p:spPr>
      </p:pic>
      <p:sp>
        <p:nvSpPr>
          <p:cNvPr id="7" name="Título 1">
            <a:extLst>
              <a:ext uri="{FF2B5EF4-FFF2-40B4-BE49-F238E27FC236}">
                <a16:creationId xmlns:a16="http://schemas.microsoft.com/office/drawing/2014/main" id="{7CD57273-E2E4-E1A1-995C-36FC2EC7D689}"/>
              </a:ext>
            </a:extLst>
          </p:cNvPr>
          <p:cNvSpPr txBox="1">
            <a:spLocks/>
          </p:cNvSpPr>
          <p:nvPr/>
        </p:nvSpPr>
        <p:spPr>
          <a:xfrm>
            <a:off x="470868" y="1814732"/>
            <a:ext cx="11266506" cy="826833"/>
          </a:xfrm>
          <a:prstGeom prst="rect">
            <a:avLst/>
          </a:prstGeom>
          <a:effectLst/>
        </p:spPr>
        <p:txBody>
          <a:bodyPr vert="horz" lIns="91440" tIns="45720" rIns="91440" bIns="45720" rtlCol="0" anchor="b">
            <a:noAutofit/>
          </a:bodyPr>
          <a:lstStyle>
            <a:lvl1pPr algn="l" defTabSz="457200" rtl="0" eaLnBrk="1" latinLnBrk="0" hangingPunct="1">
              <a:spcBef>
                <a:spcPct val="0"/>
              </a:spcBef>
              <a:buNone/>
              <a:defRPr sz="3600" b="0" kern="1200" cap="all">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CO" sz="3200">
                <a:latin typeface="Century Gothic"/>
                <a:ea typeface="+mj-lt"/>
                <a:cs typeface="+mj-lt"/>
              </a:rPr>
              <a:t>LA CONSTRUCCIÓN DEL FLUJO DE CAJA LIBRE DE un PROYECTO (</a:t>
            </a:r>
            <a:r>
              <a:rPr lang="es-CO" sz="3200">
                <a:solidFill>
                  <a:srgbClr val="D7A700"/>
                </a:solidFill>
                <a:latin typeface="Century Gothic"/>
                <a:ea typeface="+mj-lt"/>
                <a:cs typeface="+mj-lt"/>
              </a:rPr>
              <a:t>PARTE </a:t>
            </a:r>
            <a:r>
              <a:rPr lang="es-CO" sz="3200" err="1">
                <a:solidFill>
                  <a:srgbClr val="D7A700"/>
                </a:solidFill>
                <a:latin typeface="Century Gothic"/>
                <a:ea typeface="+mj-lt"/>
                <a:cs typeface="+mj-lt"/>
              </a:rPr>
              <a:t>iv</a:t>
            </a:r>
            <a:r>
              <a:rPr lang="es-CO" sz="3200">
                <a:latin typeface="Century Gothic"/>
                <a:ea typeface="+mj-lt"/>
                <a:cs typeface="+mj-lt"/>
              </a:rPr>
              <a:t>)</a:t>
            </a:r>
            <a:endParaRPr lang="es-ES">
              <a:latin typeface="Century Gothic"/>
            </a:endParaRPr>
          </a:p>
        </p:txBody>
      </p:sp>
      <p:sp>
        <p:nvSpPr>
          <p:cNvPr id="2" name="CuadroTexto 1">
            <a:extLst>
              <a:ext uri="{FF2B5EF4-FFF2-40B4-BE49-F238E27FC236}">
                <a16:creationId xmlns:a16="http://schemas.microsoft.com/office/drawing/2014/main" id="{3728C38C-E821-0B10-2B4E-0FCBB85FD607}"/>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
        <p:nvSpPr>
          <p:cNvPr id="4" name="Rectángulo 3">
            <a:extLst>
              <a:ext uri="{FF2B5EF4-FFF2-40B4-BE49-F238E27FC236}">
                <a16:creationId xmlns:a16="http://schemas.microsoft.com/office/drawing/2014/main" id="{60FF98A8-EEFA-5A50-FBB8-AE6EE172AC3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813002317"/>
      </p:ext>
    </p:extLst>
  </p:cSld>
  <p:clrMapOvr>
    <a:masterClrMapping/>
  </p:clrMapOvr>
</p:sld>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7</TotalTime>
  <Words>1894</Words>
  <Application>Microsoft Macintosh PowerPoint</Application>
  <PresentationFormat>Widescreen</PresentationFormat>
  <Paragraphs>280</Paragraphs>
  <Slides>25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Calibri</vt:lpstr>
      <vt:lpstr>Century Gothic</vt:lpstr>
      <vt:lpstr>Courier New</vt:lpstr>
      <vt:lpstr>Gill Sans MT</vt:lpstr>
      <vt:lpstr>Wingdings</vt:lpstr>
      <vt:lpstr>Wingdings 2</vt:lpstr>
      <vt:lpstr>Dividendo</vt:lpstr>
      <vt:lpstr>LA CONSTRUCCIÓN DEL FLUJO DE CAJA LIBRE DE un PROYECTO (PARTE iv)</vt:lpstr>
      <vt:lpstr>AGENDA PROPUESTA</vt:lpstr>
      <vt:lpstr>AGENDA PROPUESTA</vt:lpstr>
      <vt:lpstr>Ingresos y Costos Pertinentes</vt:lpstr>
      <vt:lpstr>Ingresos y Costos Pertinentes</vt:lpstr>
      <vt:lpstr>Ingresos y Costos Pertinentes</vt:lpstr>
      <vt:lpstr>Ingresos y Costos Pertinentes</vt:lpstr>
      <vt:lpstr>Ingresos  y Costos Pertinentes</vt:lpstr>
      <vt:lpstr>Ingresos  y Costos Pertinentes</vt:lpstr>
      <vt:lpstr>Ingresos  y Costos Pertinentes</vt:lpstr>
      <vt:lpstr>AGENDA PROPUESTA</vt:lpstr>
      <vt:lpstr>Regla #1: Principio de Marginalidad</vt:lpstr>
      <vt:lpstr>Regla #1: Principio de Marginalidad</vt:lpstr>
      <vt:lpstr>Regla #1: Principio de Marginalidad</vt:lpstr>
      <vt:lpstr>AGENDA PROPUESTA</vt:lpstr>
      <vt:lpstr>Regla #2: Precios de mercado, no precios históricos ni contables</vt:lpstr>
      <vt:lpstr>Regla #2: Precios de mercado, no precios históricos ni contables</vt:lpstr>
      <vt:lpstr>AGENDA PROPUESTA</vt:lpstr>
      <vt:lpstr>Regla #3: No costos muertos</vt:lpstr>
      <vt:lpstr>Regla #3: No costos muertos</vt:lpstr>
      <vt:lpstr>AGENDA PROPUESTA</vt:lpstr>
      <vt:lpstr>Regla #4: Ingresos y EGRESos operacionales</vt:lpstr>
      <vt:lpstr>Regla#4: Ingresos y egresos operacionales</vt:lpstr>
      <vt:lpstr>AGENDA PROPUESTA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DESDE UNA ÓPTICA ECONOMÉTRICA DE LA PREVISIBILIDAD DE LAS VARIACIONES DEL TRÁFICO DEL CORREDOR BOGOTÁ – PUERTO GAITÁN TENIENDO EN CUENTA EL COMPORTAMIENTO HISTÓRICO DEL TRÁFICO Y DEL PRECIO DEL PETRÓLEO WTI</dc:title>
  <dc:creator>Sebastian Joseph Sanchez Oyola</dc:creator>
  <cp:lastModifiedBy>Andrea Yohana Cortes Mojica</cp:lastModifiedBy>
  <cp:revision>1</cp:revision>
  <dcterms:created xsi:type="dcterms:W3CDTF">2019-06-20T04:25:04Z</dcterms:created>
  <dcterms:modified xsi:type="dcterms:W3CDTF">2026-02-27T23:48:51Z</dcterms:modified>
</cp:coreProperties>
</file>