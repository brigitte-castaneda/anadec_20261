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32" r:id="rId1"/>
  </p:sldMasterIdLst>
  <p:notesMasterIdLst>
    <p:notesMasterId r:id="rId46"/>
  </p:notesMasterIdLst>
  <p:handoutMasterIdLst>
    <p:handoutMasterId r:id="rId47"/>
  </p:handoutMasterIdLst>
  <p:sldIdLst>
    <p:sldId id="398" r:id="rId2"/>
    <p:sldId id="354" r:id="rId3"/>
    <p:sldId id="456" r:id="rId4"/>
    <p:sldId id="366" r:id="rId5"/>
    <p:sldId id="367" r:id="rId6"/>
    <p:sldId id="434" r:id="rId7"/>
    <p:sldId id="458" r:id="rId8"/>
    <p:sldId id="437" r:id="rId9"/>
    <p:sldId id="439" r:id="rId10"/>
    <p:sldId id="442" r:id="rId11"/>
    <p:sldId id="486" r:id="rId12"/>
    <p:sldId id="497" r:id="rId13"/>
    <p:sldId id="457" r:id="rId14"/>
    <p:sldId id="443" r:id="rId15"/>
    <p:sldId id="487" r:id="rId16"/>
    <p:sldId id="391" r:id="rId17"/>
    <p:sldId id="488" r:id="rId18"/>
    <p:sldId id="444" r:id="rId19"/>
    <p:sldId id="489" r:id="rId20"/>
    <p:sldId id="490" r:id="rId21"/>
    <p:sldId id="460" r:id="rId22"/>
    <p:sldId id="392" r:id="rId23"/>
    <p:sldId id="368" r:id="rId24"/>
    <p:sldId id="370" r:id="rId25"/>
    <p:sldId id="371" r:id="rId26"/>
    <p:sldId id="459" r:id="rId27"/>
    <p:sldId id="498" r:id="rId28"/>
    <p:sldId id="372" r:id="rId29"/>
    <p:sldId id="373" r:id="rId30"/>
    <p:sldId id="491" r:id="rId31"/>
    <p:sldId id="492" r:id="rId32"/>
    <p:sldId id="493" r:id="rId33"/>
    <p:sldId id="494" r:id="rId34"/>
    <p:sldId id="382" r:id="rId35"/>
    <p:sldId id="495" r:id="rId36"/>
    <p:sldId id="384" r:id="rId37"/>
    <p:sldId id="399" r:id="rId38"/>
    <p:sldId id="400" r:id="rId39"/>
    <p:sldId id="415" r:id="rId40"/>
    <p:sldId id="385" r:id="rId41"/>
    <p:sldId id="496" r:id="rId42"/>
    <p:sldId id="484" r:id="rId43"/>
    <p:sldId id="483" r:id="rId44"/>
    <p:sldId id="485"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bastian Joseph Sanchez Oyola" initials="SJSO" lastIdx="1" clrIdx="0">
    <p:extLst>
      <p:ext uri="{19B8F6BF-5375-455C-9EA6-DF929625EA0E}">
        <p15:presenceInfo xmlns:p15="http://schemas.microsoft.com/office/powerpoint/2012/main" userId="Sebastian Joseph Sanchez Oyol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A700"/>
    <a:srgbClr val="6666FF"/>
    <a:srgbClr val="FFF4E6"/>
    <a:srgbClr val="002F90"/>
    <a:srgbClr val="E8F8FA"/>
    <a:srgbClr val="DFFFFF"/>
    <a:srgbClr val="FF6600"/>
    <a:srgbClr val="33CC33"/>
    <a:srgbClr val="FF505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A20767-1874-754E-865C-49427B59E6B3}" v="2" dt="2026-03-24T14:51:29.477"/>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660B408-B3CF-4A94-85FC-2B1E0A45F4A2}" styleName="Estilo oscuro 2 - Énfasis 1/Énfasis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780"/>
    <p:restoredTop sz="94515"/>
  </p:normalViewPr>
  <p:slideViewPr>
    <p:cSldViewPr snapToGrid="0">
      <p:cViewPr varScale="1">
        <p:scale>
          <a:sx n="81" d="100"/>
          <a:sy n="81" d="100"/>
        </p:scale>
        <p:origin x="184" y="17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7909239-6EB4-4F64-9166-01BA8CB152A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a:extLst>
              <a:ext uri="{FF2B5EF4-FFF2-40B4-BE49-F238E27FC236}">
                <a16:creationId xmlns:a16="http://schemas.microsoft.com/office/drawing/2014/main" id="{C0D4A5E1-CC2B-4E68-93DE-1741C2D8FC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EBC9B1-33DC-462F-829C-1E37E99682B9}" type="datetimeFigureOut">
              <a:rPr lang="es-CO" smtClean="0"/>
              <a:t>24/03/26</a:t>
            </a:fld>
            <a:endParaRPr lang="es-CO"/>
          </a:p>
        </p:txBody>
      </p:sp>
      <p:sp>
        <p:nvSpPr>
          <p:cNvPr id="4" name="Marcador de pie de página 3">
            <a:extLst>
              <a:ext uri="{FF2B5EF4-FFF2-40B4-BE49-F238E27FC236}">
                <a16:creationId xmlns:a16="http://schemas.microsoft.com/office/drawing/2014/main" id="{36E42B93-8418-4C73-AFC5-AD8733D561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2BF5AB0F-F981-4352-8DA3-CAD02A4EF5C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216A6-D02D-421D-81B5-58C62FCB13EF}" type="slidenum">
              <a:rPr lang="es-CO" smtClean="0"/>
              <a:t>‹#›</a:t>
            </a:fld>
            <a:endParaRPr lang="es-CO"/>
          </a:p>
        </p:txBody>
      </p:sp>
    </p:spTree>
    <p:extLst>
      <p:ext uri="{BB962C8B-B14F-4D97-AF65-F5344CB8AC3E}">
        <p14:creationId xmlns:p14="http://schemas.microsoft.com/office/powerpoint/2010/main" val="309424763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ED2E0-4743-4E03-93B8-12386FF60236}" type="datetimeFigureOut">
              <a:rPr lang="es-CO" smtClean="0"/>
              <a:t>24/03/26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B8670-524E-4520-AA44-FE672760293D}" type="slidenum">
              <a:rPr lang="es-CO" smtClean="0"/>
              <a:t>‹#›</a:t>
            </a:fld>
            <a:endParaRPr lang="es-CO"/>
          </a:p>
        </p:txBody>
      </p:sp>
    </p:spTree>
    <p:extLst>
      <p:ext uri="{BB962C8B-B14F-4D97-AF65-F5344CB8AC3E}">
        <p14:creationId xmlns:p14="http://schemas.microsoft.com/office/powerpoint/2010/main" val="304425867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8</a:t>
            </a:fld>
            <a:endParaRPr lang="en-US"/>
          </a:p>
        </p:txBody>
      </p:sp>
    </p:spTree>
    <p:extLst>
      <p:ext uri="{BB962C8B-B14F-4D97-AF65-F5344CB8AC3E}">
        <p14:creationId xmlns:p14="http://schemas.microsoft.com/office/powerpoint/2010/main" val="15326794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9</a:t>
            </a:fld>
            <a:endParaRPr lang="en-US"/>
          </a:p>
        </p:txBody>
      </p:sp>
    </p:spTree>
    <p:extLst>
      <p:ext uri="{BB962C8B-B14F-4D97-AF65-F5344CB8AC3E}">
        <p14:creationId xmlns:p14="http://schemas.microsoft.com/office/powerpoint/2010/main" val="32150395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2C4A9-88CB-DEB1-618C-9A86937B25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AEE92A-4BC2-64B5-3538-62BE14102F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013F30-2335-5552-B19F-98D4516638E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7338C43-7B1A-B3C3-D45C-AE4C5FE97789}"/>
              </a:ext>
            </a:extLst>
          </p:cNvPr>
          <p:cNvSpPr>
            <a:spLocks noGrp="1"/>
          </p:cNvSpPr>
          <p:nvPr>
            <p:ph type="sldNum" sz="quarter" idx="10"/>
          </p:nvPr>
        </p:nvSpPr>
        <p:spPr/>
        <p:txBody>
          <a:bodyPr/>
          <a:lstStyle/>
          <a:p>
            <a:fld id="{602C4E94-3DB4-C84A-925E-628A397D8BB4}" type="slidenum">
              <a:rPr lang="en-US" smtClean="0"/>
              <a:t>11</a:t>
            </a:fld>
            <a:endParaRPr lang="en-US"/>
          </a:p>
        </p:txBody>
      </p:sp>
    </p:spTree>
    <p:extLst>
      <p:ext uri="{BB962C8B-B14F-4D97-AF65-F5344CB8AC3E}">
        <p14:creationId xmlns:p14="http://schemas.microsoft.com/office/powerpoint/2010/main" val="19507166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777FC-D74C-D726-6CE4-81C04A9C5D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CF8F45-09B3-7492-A43E-FC976433AA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31F635-04D9-0ED5-BDCE-5D265D99074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0005536-317B-D503-9956-FB45F3D0587E}"/>
              </a:ext>
            </a:extLst>
          </p:cNvPr>
          <p:cNvSpPr>
            <a:spLocks noGrp="1"/>
          </p:cNvSpPr>
          <p:nvPr>
            <p:ph type="sldNum" sz="quarter" idx="10"/>
          </p:nvPr>
        </p:nvSpPr>
        <p:spPr/>
        <p:txBody>
          <a:bodyPr/>
          <a:lstStyle/>
          <a:p>
            <a:fld id="{602C4E94-3DB4-C84A-925E-628A397D8BB4}" type="slidenum">
              <a:rPr lang="en-US" smtClean="0"/>
              <a:t>12</a:t>
            </a:fld>
            <a:endParaRPr lang="en-US"/>
          </a:p>
        </p:txBody>
      </p:sp>
    </p:spTree>
    <p:extLst>
      <p:ext uri="{BB962C8B-B14F-4D97-AF65-F5344CB8AC3E}">
        <p14:creationId xmlns:p14="http://schemas.microsoft.com/office/powerpoint/2010/main" val="40463025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18</a:t>
            </a:fld>
            <a:endParaRPr lang="en-US"/>
          </a:p>
        </p:txBody>
      </p:sp>
    </p:spTree>
    <p:extLst>
      <p:ext uri="{BB962C8B-B14F-4D97-AF65-F5344CB8AC3E}">
        <p14:creationId xmlns:p14="http://schemas.microsoft.com/office/powerpoint/2010/main" val="7030055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85C0E-0FA7-8A69-68D5-970405A439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917656-ED52-5E36-B874-04528A4175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09C56E-1E3F-DB79-4D56-BFF0E98586E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25E79A0-DEE5-1B26-C6B8-141ABFBB6195}"/>
              </a:ext>
            </a:extLst>
          </p:cNvPr>
          <p:cNvSpPr>
            <a:spLocks noGrp="1"/>
          </p:cNvSpPr>
          <p:nvPr>
            <p:ph type="sldNum" sz="quarter" idx="10"/>
          </p:nvPr>
        </p:nvSpPr>
        <p:spPr/>
        <p:txBody>
          <a:bodyPr/>
          <a:lstStyle/>
          <a:p>
            <a:fld id="{602C4E94-3DB4-C84A-925E-628A397D8BB4}" type="slidenum">
              <a:rPr lang="en-US" smtClean="0"/>
              <a:t>19</a:t>
            </a:fld>
            <a:endParaRPr lang="en-US"/>
          </a:p>
        </p:txBody>
      </p:sp>
    </p:spTree>
    <p:extLst>
      <p:ext uri="{BB962C8B-B14F-4D97-AF65-F5344CB8AC3E}">
        <p14:creationId xmlns:p14="http://schemas.microsoft.com/office/powerpoint/2010/main" val="590377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352C8-FD75-637D-878C-A0C5ABFEA8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8CCCA-922D-DC9D-4DD9-70E53F4C37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AB2CB5-3946-9819-5DA8-DA104C8764C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783501-80B8-3AF8-B885-754DD91DDDBB}"/>
              </a:ext>
            </a:extLst>
          </p:cNvPr>
          <p:cNvSpPr>
            <a:spLocks noGrp="1"/>
          </p:cNvSpPr>
          <p:nvPr>
            <p:ph type="sldNum" sz="quarter" idx="10"/>
          </p:nvPr>
        </p:nvSpPr>
        <p:spPr/>
        <p:txBody>
          <a:bodyPr/>
          <a:lstStyle/>
          <a:p>
            <a:fld id="{602C4E94-3DB4-C84A-925E-628A397D8BB4}" type="slidenum">
              <a:rPr lang="en-US" smtClean="0"/>
              <a:t>20</a:t>
            </a:fld>
            <a:endParaRPr lang="en-US"/>
          </a:p>
        </p:txBody>
      </p:sp>
    </p:spTree>
    <p:extLst>
      <p:ext uri="{BB962C8B-B14F-4D97-AF65-F5344CB8AC3E}">
        <p14:creationId xmlns:p14="http://schemas.microsoft.com/office/powerpoint/2010/main" val="25116347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29</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406F6-2188-32DE-F534-0A8006DA70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B39C01-27D7-60A0-666E-6F595CEDF7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56EBA3-3FA4-7459-CD2C-9CBF45B2B2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9E6ED2-7EAC-C1FB-964E-BB828E3F99FC}"/>
              </a:ext>
            </a:extLst>
          </p:cNvPr>
          <p:cNvSpPr>
            <a:spLocks noGrp="1"/>
          </p:cNvSpPr>
          <p:nvPr>
            <p:ph type="sldNum" sz="quarter" idx="10"/>
          </p:nvPr>
        </p:nvSpPr>
        <p:spPr/>
        <p:txBody>
          <a:bodyPr/>
          <a:lstStyle/>
          <a:p>
            <a:fld id="{602C4E94-3DB4-C84A-925E-628A397D8BB4}" type="slidenum">
              <a:rPr lang="en-US" smtClean="0"/>
              <a:t>30</a:t>
            </a:fld>
            <a:endParaRPr lang="en-US"/>
          </a:p>
        </p:txBody>
      </p:sp>
    </p:spTree>
    <p:extLst>
      <p:ext uri="{BB962C8B-B14F-4D97-AF65-F5344CB8AC3E}">
        <p14:creationId xmlns:p14="http://schemas.microsoft.com/office/powerpoint/2010/main" val="29260793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23BB7-F748-2B35-A800-AF5AB06387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0688ED-E030-34E3-8C22-C4C122F060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04CE03-8AAE-F56E-306B-4CE2957622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1F8C2D-3801-EE9B-7FE4-076990EE20D1}"/>
              </a:ext>
            </a:extLst>
          </p:cNvPr>
          <p:cNvSpPr>
            <a:spLocks noGrp="1"/>
          </p:cNvSpPr>
          <p:nvPr>
            <p:ph type="sldNum" sz="quarter" idx="10"/>
          </p:nvPr>
        </p:nvSpPr>
        <p:spPr/>
        <p:txBody>
          <a:bodyPr/>
          <a:lstStyle/>
          <a:p>
            <a:fld id="{602C4E94-3DB4-C84A-925E-628A397D8BB4}" type="slidenum">
              <a:rPr lang="en-US" smtClean="0"/>
              <a:t>31</a:t>
            </a:fld>
            <a:endParaRPr lang="en-US"/>
          </a:p>
        </p:txBody>
      </p:sp>
    </p:spTree>
    <p:extLst>
      <p:ext uri="{BB962C8B-B14F-4D97-AF65-F5344CB8AC3E}">
        <p14:creationId xmlns:p14="http://schemas.microsoft.com/office/powerpoint/2010/main" val="24341057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22B3D-25FD-70A5-2275-224AE017CB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C4171-22E9-FD32-524D-25F0D4DBF1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464B-CB29-66A6-0AF1-F758B74AA1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61F3F5-DBA8-1749-E07F-18A54442A4AE}"/>
              </a:ext>
            </a:extLst>
          </p:cNvPr>
          <p:cNvSpPr>
            <a:spLocks noGrp="1"/>
          </p:cNvSpPr>
          <p:nvPr>
            <p:ph type="sldNum" sz="quarter" idx="10"/>
          </p:nvPr>
        </p:nvSpPr>
        <p:spPr/>
        <p:txBody>
          <a:bodyPr/>
          <a:lstStyle/>
          <a:p>
            <a:fld id="{602C4E94-3DB4-C84A-925E-628A397D8BB4}" type="slidenum">
              <a:rPr lang="en-US" smtClean="0"/>
              <a:t>32</a:t>
            </a:fld>
            <a:endParaRPr lang="en-US"/>
          </a:p>
        </p:txBody>
      </p:sp>
    </p:spTree>
    <p:extLst>
      <p:ext uri="{BB962C8B-B14F-4D97-AF65-F5344CB8AC3E}">
        <p14:creationId xmlns:p14="http://schemas.microsoft.com/office/powerpoint/2010/main" val="2996208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96049-FE65-1247-18FB-A258E6EBBF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6D2750-B545-14E6-9495-881EC08E29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9CE6AD-70D7-7D42-6343-113523FA37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F38F41-6BAC-FFE5-9437-AF9E2C541DDC}"/>
              </a:ext>
            </a:extLst>
          </p:cNvPr>
          <p:cNvSpPr>
            <a:spLocks noGrp="1"/>
          </p:cNvSpPr>
          <p:nvPr>
            <p:ph type="sldNum" sz="quarter" idx="10"/>
          </p:nvPr>
        </p:nvSpPr>
        <p:spPr/>
        <p:txBody>
          <a:bodyPr/>
          <a:lstStyle/>
          <a:p>
            <a:fld id="{602C4E94-3DB4-C84A-925E-628A397D8BB4}" type="slidenum">
              <a:rPr lang="en-US" smtClean="0"/>
              <a:t>33</a:t>
            </a:fld>
            <a:endParaRPr lang="en-US"/>
          </a:p>
        </p:txBody>
      </p:sp>
    </p:spTree>
    <p:extLst>
      <p:ext uri="{BB962C8B-B14F-4D97-AF65-F5344CB8AC3E}">
        <p14:creationId xmlns:p14="http://schemas.microsoft.com/office/powerpoint/2010/main" val="1944537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8E753-A484-E369-12F9-EF1B2A454F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0E3B4D-9E51-6C1C-0078-316522DA61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1606DB-2AA0-7BB8-A5A8-22597CDC8F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4D1819-A116-4B8A-9A14-53E6E9D755EE}"/>
              </a:ext>
            </a:extLst>
          </p:cNvPr>
          <p:cNvSpPr>
            <a:spLocks noGrp="1"/>
          </p:cNvSpPr>
          <p:nvPr>
            <p:ph type="sldNum" sz="quarter" idx="10"/>
          </p:nvPr>
        </p:nvSpPr>
        <p:spPr/>
        <p:txBody>
          <a:bodyPr/>
          <a:lstStyle/>
          <a:p>
            <a:fld id="{602C4E94-3DB4-C84A-925E-628A397D8BB4}" type="slidenum">
              <a:rPr lang="en-US" smtClean="0"/>
              <a:t>35</a:t>
            </a:fld>
            <a:endParaRPr lang="en-US"/>
          </a:p>
        </p:txBody>
      </p:sp>
    </p:spTree>
    <p:extLst>
      <p:ext uri="{BB962C8B-B14F-4D97-AF65-F5344CB8AC3E}">
        <p14:creationId xmlns:p14="http://schemas.microsoft.com/office/powerpoint/2010/main" val="37240073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MX"/>
              <a:t>Haz clic para modificar el estilo de título del patrón</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MX"/>
              <a:t>Haz clic para editar el estilo de subtítulo del patrón</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AFD365D-553E-437E-906F-693C2E6CE28D}" type="datetime1">
              <a:rPr lang="en-US" smtClean="0"/>
              <a:t>3/24/26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5749103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2"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A523018D-1CC0-468E-BE3B-579A148A0691}" type="datetime1">
              <a:rPr lang="en-US" smtClean="0"/>
              <a:t>3/24/26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447048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CE7F702F-46BE-40AA-9A05-7C69E0403EE7}" type="datetime1">
              <a:rPr lang="en-US" smtClean="0"/>
              <a:t>3/24/26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1353225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Date Placeholder 4"/>
          <p:cNvSpPr>
            <a:spLocks noGrp="1"/>
          </p:cNvSpPr>
          <p:nvPr>
            <p:ph type="dt" sz="half" idx="10"/>
          </p:nvPr>
        </p:nvSpPr>
        <p:spPr/>
        <p:txBody>
          <a:bodyPr/>
          <a:lstStyle/>
          <a:p>
            <a:fld id="{C51F0D08-E4F7-43DB-810A-34BADF6468F7}" type="datetime1">
              <a:rPr lang="en-US" smtClean="0"/>
              <a:t>3/24/26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4055116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Date Placeholder 6"/>
          <p:cNvSpPr>
            <a:spLocks noGrp="1"/>
          </p:cNvSpPr>
          <p:nvPr>
            <p:ph type="dt" sz="half" idx="10"/>
          </p:nvPr>
        </p:nvSpPr>
        <p:spPr/>
        <p:txBody>
          <a:bodyPr/>
          <a:lstStyle/>
          <a:p>
            <a:fld id="{ADFE1DAC-EC09-4DEA-BBB4-788DDBA09515}" type="datetime1">
              <a:rPr lang="en-US" smtClean="0"/>
              <a:t>3/24/26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003113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s-MX"/>
              <a:t>Haz clic para modificar el estilo de título del patrón</a:t>
            </a:r>
            <a:endParaRPr lang="en-US" dirty="0"/>
          </a:p>
        </p:txBody>
      </p:sp>
      <p:sp>
        <p:nvSpPr>
          <p:cNvPr id="3" name="Date Placeholder 2"/>
          <p:cNvSpPr>
            <a:spLocks noGrp="1"/>
          </p:cNvSpPr>
          <p:nvPr>
            <p:ph type="dt" sz="half" idx="10"/>
          </p:nvPr>
        </p:nvSpPr>
        <p:spPr/>
        <p:txBody>
          <a:bodyPr/>
          <a:lstStyle/>
          <a:p>
            <a:fld id="{A9BFF582-E74C-4A8A-87B2-214B0CF47F99}" type="datetime1">
              <a:rPr lang="en-US" smtClean="0"/>
              <a:t>3/24/26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344061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FC8AEA-E303-4B9D-B167-0A45CB59E0C2}" type="datetime1">
              <a:rPr lang="en-US" smtClean="0"/>
              <a:t>3/24/26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3645567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MX"/>
              <a:t>Haz clic para modificar el estilo de título del patrón</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EBE2AAB-C9FD-4A72-8C62-A7C81FA189B4}" type="datetime1">
              <a:rPr lang="en-US" smtClean="0"/>
              <a:t>3/24/26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4199962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MX"/>
              <a:t>Haz clic para modificar el estilo de título del patrón</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F4D9D4CC-5FC5-4711-9ACC-A7971700D612}" type="datetime1">
              <a:rPr lang="en-US" smtClean="0"/>
              <a:t>3/24/26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709094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5326DF8C-FC0D-41BB-BB53-20BBB44E4230}" type="datetime1">
              <a:rPr lang="en-US" smtClean="0"/>
              <a:t>3/24/26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5268607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D119C4A7-5D51-4E42-9C0C-1785329211C5}" type="datetime1">
              <a:rPr lang="en-US" smtClean="0"/>
              <a:t>3/24/26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10116220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D8027E5A-4482-46C4-A2DC-45BEF00C1E0A}" type="datetime1">
              <a:rPr lang="en-US" smtClean="0"/>
              <a:t>3/24/26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Tree>
    <p:extLst>
      <p:ext uri="{BB962C8B-B14F-4D97-AF65-F5344CB8AC3E}">
        <p14:creationId xmlns:p14="http://schemas.microsoft.com/office/powerpoint/2010/main" val="1571083776"/>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4.jpeg"/><Relationship Id="rId5" Type="http://schemas.openxmlformats.org/officeDocument/2006/relationships/image" Target="../media/image23.svg"/><Relationship Id="rId4" Type="http://schemas.openxmlformats.org/officeDocument/2006/relationships/image" Target="../media/image22.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6.jpeg"/><Relationship Id="rId5" Type="http://schemas.openxmlformats.org/officeDocument/2006/relationships/image" Target="../media/image23.svg"/><Relationship Id="rId4" Type="http://schemas.openxmlformats.org/officeDocument/2006/relationships/image" Target="../media/image22.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70867" y="1814732"/>
            <a:ext cx="11079167" cy="826833"/>
          </a:xfrm>
        </p:spPr>
        <p:txBody>
          <a:bodyPr>
            <a:noAutofit/>
          </a:bodyPr>
          <a:lstStyle/>
          <a:p>
            <a:r>
              <a:rPr lang="es-CO" sz="3200" dirty="0">
                <a:latin typeface="Century Gothic"/>
              </a:rPr>
              <a:t>COMPARACIÓN Y SELECCIÓN DE PROYECTOS (</a:t>
            </a:r>
            <a:r>
              <a:rPr lang="es-CO" sz="3200" dirty="0">
                <a:solidFill>
                  <a:srgbClr val="D7A700"/>
                </a:solidFill>
                <a:latin typeface="Century Gothic"/>
              </a:rPr>
              <a:t>PARTE I</a:t>
            </a:r>
            <a:r>
              <a:rPr lang="es-CO" sz="3200" dirty="0">
                <a:latin typeface="Century Gothic"/>
              </a:rPr>
              <a:t>)</a:t>
            </a:r>
            <a:endParaRPr lang="es-CO" sz="3200" dirty="0">
              <a:latin typeface="Century Gothic" panose="020B0502020202020204" pitchFamily="34" charset="0"/>
            </a:endParaRPr>
          </a:p>
        </p:txBody>
      </p:sp>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34957" y="3342889"/>
            <a:ext cx="2695807" cy="2695807"/>
          </a:xfrm>
          <a:prstGeom prst="rect">
            <a:avLst/>
          </a:prstGeom>
        </p:spPr>
      </p:pic>
      <p:sp>
        <p:nvSpPr>
          <p:cNvPr id="3" name="Rectángulo 2">
            <a:extLst>
              <a:ext uri="{FF2B5EF4-FFF2-40B4-BE49-F238E27FC236}">
                <a16:creationId xmlns:a16="http://schemas.microsoft.com/office/drawing/2014/main" id="{2E3B9B72-D13E-2CBF-D0CA-6E449C2508E1}"/>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5" name="CuadroTexto 4">
            <a:extLst>
              <a:ext uri="{FF2B5EF4-FFF2-40B4-BE49-F238E27FC236}">
                <a16:creationId xmlns:a16="http://schemas.microsoft.com/office/drawing/2014/main" id="{00A2076B-5CA2-165C-9873-6BBE655A1318}"/>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dirty="0">
                <a:solidFill>
                  <a:schemeClr val="bg1"/>
                </a:solidFill>
                <a:latin typeface="Century Gothic"/>
              </a:rPr>
              <a:t>													</a:t>
            </a:r>
            <a:endParaRPr lang="es-CO" sz="2000" b="1" u="sng" dirty="0">
              <a:solidFill>
                <a:schemeClr val="bg1"/>
              </a:solidFill>
              <a:latin typeface="Century Gothic"/>
            </a:endParaRPr>
          </a:p>
          <a:p>
            <a:endParaRPr lang="es-CO" sz="1000" b="1" dirty="0">
              <a:solidFill>
                <a:schemeClr val="bg1"/>
              </a:solidFill>
              <a:latin typeface="Century Gothic" panose="020B0502020202020204" pitchFamily="34" charset="0"/>
            </a:endParaRPr>
          </a:p>
          <a:p>
            <a:r>
              <a:rPr lang="es-CO" sz="2000" b="1" dirty="0">
                <a:solidFill>
                  <a:schemeClr val="bg1"/>
                </a:solidFill>
                <a:latin typeface="Century Gothic"/>
              </a:rPr>
              <a:t>DEPARTAMENTO DE INGENIERÍA INDUSTRIAL</a:t>
            </a:r>
          </a:p>
          <a:p>
            <a:r>
              <a:rPr lang="es-CO" sz="2000" b="1" dirty="0">
                <a:solidFill>
                  <a:schemeClr val="bg1"/>
                </a:solidFill>
                <a:latin typeface="Century Gothic"/>
              </a:rPr>
              <a:t>FACULTAD DE INGENIERÍA</a:t>
            </a:r>
          </a:p>
          <a:p>
            <a:r>
              <a:rPr lang="es-CO" sz="1000" b="1" u="sng" dirty="0">
                <a:solidFill>
                  <a:schemeClr val="bg1"/>
                </a:solidFill>
                <a:latin typeface="Century Gothic"/>
              </a:rPr>
              <a:t>													</a:t>
            </a:r>
          </a:p>
          <a:p>
            <a:endParaRPr lang="es-CO" sz="2000" b="1" dirty="0">
              <a:solidFill>
                <a:schemeClr val="bg1"/>
              </a:solidFill>
              <a:latin typeface="Century Gothic" panose="020B0502020202020204" pitchFamily="34" charset="0"/>
            </a:endParaRPr>
          </a:p>
          <a:p>
            <a:r>
              <a:rPr lang="es-CO" sz="2000" b="1" dirty="0">
                <a:solidFill>
                  <a:schemeClr val="bg1"/>
                </a:solidFill>
                <a:latin typeface="Century Gothic"/>
              </a:rPr>
              <a:t>Curso       </a:t>
            </a:r>
            <a:r>
              <a:rPr lang="es-CO" sz="2000" dirty="0">
                <a:solidFill>
                  <a:schemeClr val="bg1"/>
                </a:solidFill>
                <a:latin typeface="Century Gothic"/>
              </a:rPr>
              <a:t>ANÁLISIS DE DECISIONES DE INVERSIÓN</a:t>
            </a:r>
          </a:p>
          <a:p>
            <a:r>
              <a:rPr lang="es-CO" sz="2000" b="1" dirty="0">
                <a:solidFill>
                  <a:schemeClr val="bg1"/>
                </a:solidFill>
                <a:latin typeface="Century Gothic"/>
              </a:rPr>
              <a:t>Correo     </a:t>
            </a:r>
            <a:r>
              <a:rPr lang="es-CO" sz="2000" dirty="0">
                <a:solidFill>
                  <a:schemeClr val="bg1"/>
                </a:solidFill>
                <a:latin typeface="Century Gothic"/>
              </a:rPr>
              <a:t>cursoanadec@uniandes.edu.co</a:t>
            </a:r>
          </a:p>
          <a:p>
            <a:endParaRPr lang="es-CO" sz="2000" b="1" dirty="0">
              <a:solidFill>
                <a:schemeClr val="bg1"/>
              </a:solidFill>
              <a:latin typeface="Century Gothic" panose="020B0502020202020204" pitchFamily="34" charset="0"/>
            </a:endParaRPr>
          </a:p>
        </p:txBody>
      </p:sp>
    </p:spTree>
    <p:extLst>
      <p:ext uri="{BB962C8B-B14F-4D97-AF65-F5344CB8AC3E}">
        <p14:creationId xmlns:p14="http://schemas.microsoft.com/office/powerpoint/2010/main" val="1142674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dirty="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4247317"/>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dirty="0">
                <a:solidFill>
                  <a:schemeClr val="accent1"/>
                </a:solidFill>
                <a:latin typeface="Century Gothic"/>
                <a:cs typeface="Arial"/>
              </a:rPr>
              <a:t>Introducción y tipos de proyectos.</a:t>
            </a:r>
            <a:endParaRPr lang="es-ES" dirty="0">
              <a:solidFill>
                <a:schemeClr val="accent1"/>
              </a:solidFill>
              <a:latin typeface="Century Gothic"/>
              <a:cs typeface="Arial"/>
            </a:endParaRPr>
          </a:p>
          <a:p>
            <a:pPr marL="342900" indent="-342900">
              <a:buClr>
                <a:srgbClr val="2C7C9F"/>
              </a:buClr>
              <a:buFontTx/>
              <a:buAutoNum type="arabicPeriod"/>
            </a:pPr>
            <a:endParaRPr lang="es-CO" dirty="0">
              <a:solidFill>
                <a:schemeClr val="accent1"/>
              </a:solidFill>
              <a:latin typeface="Century Gothic"/>
              <a:cs typeface="Arial"/>
            </a:endParaRPr>
          </a:p>
          <a:p>
            <a:pPr marL="342900" indent="-342900">
              <a:buClr>
                <a:srgbClr val="48BE7A"/>
              </a:buClr>
              <a:buFontTx/>
              <a:buAutoNum type="arabicPeriod"/>
            </a:pPr>
            <a:r>
              <a:rPr lang="es-CO" dirty="0">
                <a:solidFill>
                  <a:schemeClr val="accent1"/>
                </a:solidFill>
                <a:latin typeface="Century Gothic"/>
                <a:cs typeface="Arial"/>
              </a:rPr>
              <a:t>Proyectos Independientes.</a:t>
            </a:r>
            <a:endParaRPr lang="es-CO" dirty="0">
              <a:solidFill>
                <a:schemeClr val="accent1"/>
              </a:solidFill>
              <a:latin typeface="Century Gothic"/>
            </a:endParaRPr>
          </a:p>
          <a:p>
            <a:pPr marL="342900" indent="-342900">
              <a:buClr>
                <a:srgbClr val="48BE7A"/>
              </a:buClr>
              <a:buFontTx/>
              <a:buAutoNum type="arabicPeriod"/>
            </a:pPr>
            <a:endParaRPr lang="es-CO" dirty="0">
              <a:solidFill>
                <a:schemeClr val="accent1"/>
              </a:solidFill>
              <a:latin typeface="Century Gothic"/>
            </a:endParaRPr>
          </a:p>
          <a:p>
            <a:pPr marL="342900" indent="-342900">
              <a:buClr>
                <a:srgbClr val="48BE7A"/>
              </a:buClr>
              <a:buFontTx/>
              <a:buAutoNum type="arabicPeriod"/>
            </a:pPr>
            <a:r>
              <a:rPr lang="es-CO" dirty="0">
                <a:solidFill>
                  <a:schemeClr val="accent1"/>
                </a:solidFill>
                <a:latin typeface="Century Gothic"/>
                <a:cs typeface="Arial"/>
              </a:rPr>
              <a:t>Proyectos Dependientes.</a:t>
            </a:r>
            <a:endParaRPr lang="es-CO" dirty="0">
              <a:solidFill>
                <a:schemeClr val="accent1"/>
              </a:solidFill>
              <a:latin typeface="Century Gothic"/>
            </a:endParaRPr>
          </a:p>
          <a:p>
            <a:pPr marL="342900" indent="-342900">
              <a:buClr>
                <a:srgbClr val="48BE7A"/>
              </a:buClr>
              <a:buFontTx/>
              <a:buAutoNum type="arabicPeriod"/>
            </a:pPr>
            <a:endParaRPr lang="es-CO" dirty="0">
              <a:solidFill>
                <a:schemeClr val="accent1"/>
              </a:solidFill>
              <a:latin typeface="Century Gothic"/>
              <a:cs typeface="Arial"/>
            </a:endParaRPr>
          </a:p>
          <a:p>
            <a:pPr marL="342900" indent="-342900">
              <a:buClr>
                <a:srgbClr val="48BE7A"/>
              </a:buClr>
              <a:buFontTx/>
              <a:buAutoNum type="arabicPeriod"/>
            </a:pPr>
            <a:r>
              <a:rPr lang="es-CO" dirty="0">
                <a:solidFill>
                  <a:schemeClr val="accent1"/>
                </a:solidFill>
                <a:latin typeface="Century Gothic"/>
                <a:cs typeface="Arial"/>
              </a:rPr>
              <a:t>Proyectos Mutuamente Excluyentes.</a:t>
            </a:r>
          </a:p>
          <a:p>
            <a:pPr>
              <a:buClr>
                <a:srgbClr val="48BE7A"/>
              </a:buClr>
            </a:pPr>
            <a:endParaRPr lang="es-CO" dirty="0">
              <a:solidFill>
                <a:schemeClr val="accent1"/>
              </a:solidFill>
              <a:latin typeface="Century Gothic"/>
              <a:cs typeface="Arial"/>
            </a:endParaRPr>
          </a:p>
          <a:p>
            <a:pPr>
              <a:buClr>
                <a:srgbClr val="48BE7A"/>
              </a:buClr>
            </a:pPr>
            <a:r>
              <a:rPr lang="es-CO" dirty="0">
                <a:solidFill>
                  <a:schemeClr val="accent1"/>
                </a:solidFill>
                <a:latin typeface="Century Gothic"/>
                <a:cs typeface="Arial"/>
              </a:rPr>
              <a:t>	</a:t>
            </a:r>
            <a:r>
              <a:rPr lang="es-CO" dirty="0">
                <a:solidFill>
                  <a:schemeClr val="accent3">
                    <a:lumMod val="75000"/>
                  </a:schemeClr>
                </a:solidFill>
                <a:latin typeface="Century Gothic"/>
                <a:cs typeface="Arial"/>
              </a:rPr>
              <a:t>4.1. </a:t>
            </a:r>
            <a:r>
              <a:rPr lang="es-CO" dirty="0">
                <a:solidFill>
                  <a:schemeClr val="accent1"/>
                </a:solidFill>
                <a:latin typeface="Century Gothic"/>
                <a:cs typeface="Arial"/>
              </a:rPr>
              <a:t>Caso I: misma vida útil, misma inversión inicial.</a:t>
            </a:r>
            <a:endParaRPr lang="es-CO" dirty="0">
              <a:solidFill>
                <a:schemeClr val="accent1"/>
              </a:solidFill>
              <a:latin typeface="Century Gothic" panose="020B0502020202020204" pitchFamily="34" charset="0"/>
              <a:cs typeface="Arial"/>
            </a:endParaRPr>
          </a:p>
          <a:p>
            <a:pPr marL="342900" indent="-342900">
              <a:buClr>
                <a:srgbClr val="48BE7A"/>
              </a:buClr>
              <a:buFontTx/>
              <a:buAutoNum type="arabicPeriod"/>
            </a:pPr>
            <a:endParaRPr lang="es-CO" dirty="0">
              <a:solidFill>
                <a:schemeClr val="accent1"/>
              </a:solidFill>
              <a:latin typeface="Century Gothic"/>
              <a:cs typeface="Arial"/>
            </a:endParaRPr>
          </a:p>
          <a:p>
            <a:pPr marL="342900" indent="-342900">
              <a:buClr>
                <a:srgbClr val="48BE7A"/>
              </a:buClr>
              <a:buFont typeface="+mj-lt"/>
              <a:buAutoNum type="arabicPeriod" startAt="5"/>
            </a:pPr>
            <a:r>
              <a:rPr lang="es-CO" dirty="0">
                <a:solidFill>
                  <a:schemeClr val="accent1"/>
                </a:solidFill>
                <a:latin typeface="Century Gothic"/>
                <a:cs typeface="Arial"/>
              </a:rPr>
              <a:t>Ejercicios de Práctica.</a:t>
            </a: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startAt="5"/>
            </a:pPr>
            <a:endParaRPr lang="es-CO" dirty="0">
              <a:solidFill>
                <a:schemeClr val="accent1"/>
              </a:solidFill>
              <a:latin typeface="Century Gothic" panose="020B0502020202020204" pitchFamily="34" charset="0"/>
              <a:cs typeface="Arial"/>
            </a:endParaRPr>
          </a:p>
          <a:p>
            <a:pPr>
              <a:buClr>
                <a:srgbClr val="48BE7A"/>
              </a:buClr>
            </a:pPr>
            <a:r>
              <a:rPr lang="es-CO" dirty="0">
                <a:solidFill>
                  <a:schemeClr val="accent1"/>
                </a:solidFill>
                <a:latin typeface="Century Gothic"/>
                <a:cs typeface="Arial"/>
              </a:rPr>
              <a:t>	</a:t>
            </a: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a:pPr>
            <a:endParaRPr lang="es-CO" dirty="0">
              <a:solidFill>
                <a:schemeClr val="accent1"/>
              </a:solidFill>
              <a:latin typeface="Century Gothic" panose="020B0502020202020204" pitchFamily="34" charset="0"/>
              <a:cs typeface="Arial"/>
            </a:endParaRPr>
          </a:p>
          <a:p>
            <a:pPr>
              <a:buClr>
                <a:schemeClr val="accent3">
                  <a:lumMod val="75000"/>
                </a:schemeClr>
              </a:buClr>
            </a:pPr>
            <a:endParaRPr lang="es-CO" dirty="0">
              <a:solidFill>
                <a:schemeClr val="accent1"/>
              </a:solidFill>
              <a:latin typeface="Century Gothic" panose="020B0502020202020204" pitchFamily="34" charset="0"/>
            </a:endParaRPr>
          </a:p>
        </p:txBody>
      </p:sp>
      <p:sp>
        <p:nvSpPr>
          <p:cNvPr id="7" name="Rectángulo 6">
            <a:extLst>
              <a:ext uri="{FF2B5EF4-FFF2-40B4-BE49-F238E27FC236}">
                <a16:creationId xmlns:a16="http://schemas.microsoft.com/office/drawing/2014/main" id="{5EE3CE35-619F-43F6-D5D0-2216339336D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E790377C-813D-BD19-50C9-E65975815F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29A04E29-88CB-E108-07FF-5E71BAEAF619}"/>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3" name="Slide Number Placeholder 3">
            <a:extLst>
              <a:ext uri="{FF2B5EF4-FFF2-40B4-BE49-F238E27FC236}">
                <a16:creationId xmlns:a16="http://schemas.microsoft.com/office/drawing/2014/main" id="{09DB9DBC-F3A8-714D-75FD-BB60DD91E22A}"/>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2</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3254971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dirty="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99C47FD4-67A5-5906-5631-E60EEF426E3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4A5622D4-B1A4-4DE8-C412-64CC4A8113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DCADF1B1-84CD-EB5A-367C-5367D03DEC0A}"/>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2" name="Rectángulo 11">
            <a:extLst>
              <a:ext uri="{FF2B5EF4-FFF2-40B4-BE49-F238E27FC236}">
                <a16:creationId xmlns:a16="http://schemas.microsoft.com/office/drawing/2014/main" id="{AC40724A-CCD6-3D85-0910-1EA5595C7ECB}"/>
              </a:ext>
            </a:extLst>
          </p:cNvPr>
          <p:cNvSpPr/>
          <p:nvPr/>
        </p:nvSpPr>
        <p:spPr>
          <a:xfrm>
            <a:off x="2806200" y="2772729"/>
            <a:ext cx="8540907" cy="4247317"/>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dirty="0">
                <a:solidFill>
                  <a:schemeClr val="accent1"/>
                </a:solidFill>
                <a:latin typeface="Century Gothic"/>
                <a:cs typeface="Arial"/>
              </a:rPr>
              <a:t>Introducción y tipos de proyectos.</a:t>
            </a:r>
            <a:endParaRPr lang="es-ES" dirty="0">
              <a:solidFill>
                <a:schemeClr val="accent1"/>
              </a:solidFill>
              <a:latin typeface="Century Gothic"/>
              <a:cs typeface="Arial"/>
            </a:endParaRPr>
          </a:p>
          <a:p>
            <a:pPr marL="342900" indent="-342900">
              <a:buClr>
                <a:srgbClr val="2C7C9F"/>
              </a:buClr>
              <a:buFontTx/>
              <a:buAutoNum type="arabicPeriod"/>
            </a:pPr>
            <a:endParaRPr lang="es-CO" dirty="0">
              <a:solidFill>
                <a:schemeClr val="accent1"/>
              </a:solidFill>
              <a:latin typeface="Century Gothic"/>
              <a:cs typeface="Arial"/>
            </a:endParaRPr>
          </a:p>
          <a:p>
            <a:pPr marL="342900" indent="-342900">
              <a:buClr>
                <a:srgbClr val="48BE7A"/>
              </a:buClr>
              <a:buFontTx/>
              <a:buAutoNum type="arabicPeriod"/>
            </a:pPr>
            <a:r>
              <a:rPr lang="es-CO" dirty="0">
                <a:solidFill>
                  <a:schemeClr val="bg2">
                    <a:lumMod val="90000"/>
                  </a:schemeClr>
                </a:solidFill>
                <a:latin typeface="Century Gothic"/>
                <a:cs typeface="Arial"/>
              </a:rPr>
              <a:t>Proyectos Independientes.</a:t>
            </a:r>
            <a:endParaRPr lang="es-CO" dirty="0">
              <a:solidFill>
                <a:schemeClr val="bg2">
                  <a:lumMod val="90000"/>
                </a:schemeClr>
              </a:solidFill>
              <a:latin typeface="Century Gothic"/>
            </a:endParaRPr>
          </a:p>
          <a:p>
            <a:pPr marL="342900" indent="-342900">
              <a:buClr>
                <a:srgbClr val="48BE7A"/>
              </a:buClr>
              <a:buFontTx/>
              <a:buAutoNum type="arabicPeriod"/>
            </a:pPr>
            <a:endParaRPr lang="es-CO" dirty="0">
              <a:solidFill>
                <a:schemeClr val="bg2">
                  <a:lumMod val="90000"/>
                </a:schemeClr>
              </a:solidFill>
              <a:latin typeface="Century Gothic"/>
            </a:endParaRPr>
          </a:p>
          <a:p>
            <a:pPr marL="342900" indent="-342900">
              <a:buClr>
                <a:srgbClr val="48BE7A"/>
              </a:buClr>
              <a:buFontTx/>
              <a:buAutoNum type="arabicPeriod"/>
            </a:pPr>
            <a:r>
              <a:rPr lang="es-CO" dirty="0">
                <a:solidFill>
                  <a:schemeClr val="bg2">
                    <a:lumMod val="90000"/>
                  </a:schemeClr>
                </a:solidFill>
                <a:latin typeface="Century Gothic"/>
                <a:cs typeface="Arial"/>
              </a:rPr>
              <a:t>Proyectos Dependientes.</a:t>
            </a:r>
            <a:endParaRPr lang="es-CO" dirty="0">
              <a:solidFill>
                <a:schemeClr val="bg2">
                  <a:lumMod val="90000"/>
                </a:schemeClr>
              </a:solidFill>
              <a:latin typeface="Century Gothic"/>
            </a:endParaRPr>
          </a:p>
          <a:p>
            <a:pPr marL="342900" indent="-342900">
              <a:buClr>
                <a:srgbClr val="48BE7A"/>
              </a:buClr>
              <a:buFontTx/>
              <a:buAutoNum type="arabicPeriod"/>
            </a:pPr>
            <a:endParaRPr lang="es-CO" dirty="0">
              <a:solidFill>
                <a:schemeClr val="bg2">
                  <a:lumMod val="90000"/>
                </a:schemeClr>
              </a:solidFill>
              <a:latin typeface="Century Gothic"/>
              <a:cs typeface="Arial"/>
            </a:endParaRPr>
          </a:p>
          <a:p>
            <a:pPr marL="342900" indent="-342900">
              <a:buClr>
                <a:srgbClr val="48BE7A"/>
              </a:buClr>
              <a:buFontTx/>
              <a:buAutoNum type="arabicPeriod"/>
            </a:pPr>
            <a:r>
              <a:rPr lang="es-CO" dirty="0">
                <a:solidFill>
                  <a:schemeClr val="bg2">
                    <a:lumMod val="90000"/>
                  </a:schemeClr>
                </a:solidFill>
                <a:latin typeface="Century Gothic"/>
                <a:cs typeface="Arial"/>
              </a:rPr>
              <a:t>Proyectos Mutuamente Excluyentes.</a:t>
            </a:r>
          </a:p>
          <a:p>
            <a:pPr>
              <a:buClr>
                <a:srgbClr val="48BE7A"/>
              </a:buClr>
            </a:pPr>
            <a:endParaRPr lang="es-CO" dirty="0">
              <a:solidFill>
                <a:schemeClr val="accent1"/>
              </a:solidFill>
              <a:latin typeface="Century Gothic"/>
              <a:cs typeface="Arial"/>
            </a:endParaRPr>
          </a:p>
          <a:p>
            <a:pPr>
              <a:buClr>
                <a:srgbClr val="48BE7A"/>
              </a:buClr>
            </a:pPr>
            <a:r>
              <a:rPr lang="es-CO" dirty="0">
                <a:solidFill>
                  <a:schemeClr val="accent1"/>
                </a:solidFill>
                <a:latin typeface="Century Gothic"/>
                <a:cs typeface="Arial"/>
              </a:rPr>
              <a:t>	</a:t>
            </a:r>
            <a:r>
              <a:rPr lang="es-CO" dirty="0">
                <a:solidFill>
                  <a:schemeClr val="accent3">
                    <a:lumMod val="75000"/>
                  </a:schemeClr>
                </a:solidFill>
                <a:latin typeface="Century Gothic"/>
                <a:cs typeface="Arial"/>
              </a:rPr>
              <a:t>4.1. </a:t>
            </a:r>
            <a:r>
              <a:rPr lang="es-CO" dirty="0">
                <a:solidFill>
                  <a:schemeClr val="bg2">
                    <a:lumMod val="90000"/>
                  </a:schemeClr>
                </a:solidFill>
                <a:latin typeface="Century Gothic"/>
                <a:cs typeface="Arial"/>
              </a:rPr>
              <a:t>Caso I: misma vida útil, misma inversión inicial.</a:t>
            </a:r>
            <a:endParaRPr lang="es-CO" dirty="0">
              <a:solidFill>
                <a:schemeClr val="bg2">
                  <a:lumMod val="90000"/>
                </a:schemeClr>
              </a:solidFill>
              <a:latin typeface="Century Gothic" panose="020B0502020202020204" pitchFamily="34" charset="0"/>
              <a:cs typeface="Arial"/>
            </a:endParaRPr>
          </a:p>
          <a:p>
            <a:pPr marL="342900" indent="-342900">
              <a:buClr>
                <a:srgbClr val="48BE7A"/>
              </a:buClr>
              <a:buFontTx/>
              <a:buAutoNum type="arabicPeriod"/>
            </a:pPr>
            <a:endParaRPr lang="es-CO" dirty="0">
              <a:solidFill>
                <a:schemeClr val="accent1"/>
              </a:solidFill>
              <a:latin typeface="Century Gothic"/>
              <a:cs typeface="Arial"/>
            </a:endParaRPr>
          </a:p>
          <a:p>
            <a:pPr marL="342900" indent="-342900">
              <a:buClr>
                <a:srgbClr val="48BE7A"/>
              </a:buClr>
              <a:buFont typeface="+mj-lt"/>
              <a:buAutoNum type="arabicPeriod" startAt="5"/>
            </a:pPr>
            <a:r>
              <a:rPr lang="es-CO" dirty="0">
                <a:solidFill>
                  <a:schemeClr val="bg2">
                    <a:lumMod val="90000"/>
                  </a:schemeClr>
                </a:solidFill>
                <a:latin typeface="Century Gothic"/>
                <a:cs typeface="Arial"/>
              </a:rPr>
              <a:t>Ejercicios de Práctica.</a:t>
            </a:r>
            <a:endParaRPr lang="es-CO"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startAt="5"/>
            </a:pPr>
            <a:endParaRPr lang="es-CO" dirty="0">
              <a:solidFill>
                <a:schemeClr val="accent1"/>
              </a:solidFill>
              <a:latin typeface="Century Gothic" panose="020B0502020202020204" pitchFamily="34" charset="0"/>
              <a:cs typeface="Arial"/>
            </a:endParaRPr>
          </a:p>
          <a:p>
            <a:pPr>
              <a:buClr>
                <a:srgbClr val="48BE7A"/>
              </a:buClr>
            </a:pPr>
            <a:r>
              <a:rPr lang="es-CO" dirty="0">
                <a:solidFill>
                  <a:schemeClr val="accent1"/>
                </a:solidFill>
                <a:latin typeface="Century Gothic"/>
                <a:cs typeface="Arial"/>
              </a:rPr>
              <a:t>	</a:t>
            </a: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a:pPr>
            <a:endParaRPr lang="es-CO" dirty="0">
              <a:solidFill>
                <a:schemeClr val="accent1"/>
              </a:solidFill>
              <a:latin typeface="Century Gothic" panose="020B0502020202020204" pitchFamily="34" charset="0"/>
              <a:cs typeface="Arial"/>
            </a:endParaRPr>
          </a:p>
          <a:p>
            <a:pPr>
              <a:buClr>
                <a:schemeClr val="accent3">
                  <a:lumMod val="75000"/>
                </a:schemeClr>
              </a:buClr>
            </a:pPr>
            <a:endParaRPr lang="es-CO" dirty="0">
              <a:solidFill>
                <a:schemeClr val="accent1"/>
              </a:solidFill>
              <a:latin typeface="Century Gothic" panose="020B0502020202020204" pitchFamily="34" charset="0"/>
            </a:endParaRPr>
          </a:p>
        </p:txBody>
      </p:sp>
      <p:sp>
        <p:nvSpPr>
          <p:cNvPr id="3" name="Slide Number Placeholder 3">
            <a:extLst>
              <a:ext uri="{FF2B5EF4-FFF2-40B4-BE49-F238E27FC236}">
                <a16:creationId xmlns:a16="http://schemas.microsoft.com/office/drawing/2014/main" id="{1C7CF85A-C258-346B-8E76-76E8E3AB8606}"/>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3</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3372938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1000"/>
                                        <p:tgtEl>
                                          <p:spTgt spid="12"/>
                                        </p:tgtEl>
                                      </p:cBhvr>
                                    </p:animEffect>
                                    <p:anim calcmode="lin" valueType="num">
                                      <p:cBhvr>
                                        <p:cTn id="10" dur="1000" fill="hold"/>
                                        <p:tgtEl>
                                          <p:spTgt spid="12"/>
                                        </p:tgtEl>
                                        <p:attrNameLst>
                                          <p:attrName>ppt_x</p:attrName>
                                        </p:attrNameLst>
                                      </p:cBhvr>
                                      <p:tavLst>
                                        <p:tav tm="0">
                                          <p:val>
                                            <p:strVal val="#ppt_x"/>
                                          </p:val>
                                        </p:tav>
                                        <p:tav tm="100000">
                                          <p:val>
                                            <p:strVal val="#ppt_x"/>
                                          </p:val>
                                        </p:tav>
                                      </p:tavLst>
                                    </p:anim>
                                    <p:anim calcmode="lin" valueType="num">
                                      <p:cBhvr>
                                        <p:cTn id="1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sz="3200" dirty="0">
                <a:latin typeface="Century Gothic" panose="020B0502020202020204" pitchFamily="34" charset="0"/>
              </a:rPr>
              <a:t>INTRODUCCIÓN Y TIPOS DE PROYECTOS</a:t>
            </a:r>
          </a:p>
        </p:txBody>
      </p:sp>
      <p:sp>
        <p:nvSpPr>
          <p:cNvPr id="3" name="Content Placeholder 2"/>
          <p:cNvSpPr>
            <a:spLocks noGrp="1"/>
          </p:cNvSpPr>
          <p:nvPr>
            <p:ph idx="1"/>
          </p:nvPr>
        </p:nvSpPr>
        <p:spPr>
          <a:xfrm>
            <a:off x="1165413" y="2650583"/>
            <a:ext cx="9392888" cy="2731145"/>
          </a:xfrm>
        </p:spPr>
        <p:txBody>
          <a:bodyPr>
            <a:normAutofit/>
          </a:bodyPr>
          <a:lstStyle/>
          <a:p>
            <a:pPr marL="0" indent="0" algn="ctr">
              <a:buNone/>
            </a:pPr>
            <a:r>
              <a:rPr lang="es-ES_tradnl" sz="3200" b="1" dirty="0">
                <a:solidFill>
                  <a:srgbClr val="C00000"/>
                </a:solidFill>
                <a:latin typeface="Century Gothic" panose="020B0502020202020204" pitchFamily="34" charset="0"/>
              </a:rPr>
              <a:t>¿Cómo tomar decisiones de inversión cuando disponemos de distintas alternativas de inversión?</a:t>
            </a:r>
          </a:p>
          <a:p>
            <a:pPr marL="0" indent="0" algn="ctr">
              <a:buNone/>
            </a:pPr>
            <a:endParaRPr lang="es-ES_tradnl" sz="3200" b="1" dirty="0">
              <a:solidFill>
                <a:srgbClr val="C00000"/>
              </a:solidFill>
              <a:latin typeface="Century Gothic" panose="020B0502020202020204" pitchFamily="34" charset="0"/>
            </a:endParaRPr>
          </a:p>
        </p:txBody>
      </p:sp>
      <p:sp>
        <p:nvSpPr>
          <p:cNvPr id="5" name="Rectángulo 4">
            <a:extLst>
              <a:ext uri="{FF2B5EF4-FFF2-40B4-BE49-F238E27FC236}">
                <a16:creationId xmlns:a16="http://schemas.microsoft.com/office/drawing/2014/main" id="{4FE72642-6263-1A89-0177-1F22CAC0A34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DCDE2DC4-59DB-0CD3-0D43-01BC74A558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306CC5B3-45B8-243C-2890-D7A2C7362CF5}"/>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8" name="Slide Number Placeholder 3">
            <a:extLst>
              <a:ext uri="{FF2B5EF4-FFF2-40B4-BE49-F238E27FC236}">
                <a16:creationId xmlns:a16="http://schemas.microsoft.com/office/drawing/2014/main" id="{0045A270-222D-24BF-FAF0-1BE53E25083F}"/>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4</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2241916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28E3A5C-07D2-74B2-5A8D-05200E55263F}"/>
              </a:ext>
            </a:extLst>
          </p:cNvPr>
          <p:cNvSpPr>
            <a:spLocks noGrp="1"/>
          </p:cNvSpPr>
          <p:nvPr>
            <p:ph type="title"/>
          </p:nvPr>
        </p:nvSpPr>
        <p:spPr/>
        <p:txBody>
          <a:bodyPr>
            <a:normAutofit/>
          </a:bodyPr>
          <a:lstStyle/>
          <a:p>
            <a:r>
              <a:rPr lang="es-ES_tradnl" sz="3200" dirty="0">
                <a:latin typeface="Century Gothic" panose="020B0502020202020204" pitchFamily="34" charset="0"/>
              </a:rPr>
              <a:t>INTRODUCCIÓN Y TIPOS DE PROYECTOS</a:t>
            </a:r>
          </a:p>
        </p:txBody>
      </p:sp>
      <p:sp>
        <p:nvSpPr>
          <p:cNvPr id="3" name="Content Placeholder 2"/>
          <p:cNvSpPr>
            <a:spLocks noGrp="1"/>
          </p:cNvSpPr>
          <p:nvPr>
            <p:ph idx="1"/>
          </p:nvPr>
        </p:nvSpPr>
        <p:spPr>
          <a:xfrm>
            <a:off x="838647" y="2154740"/>
            <a:ext cx="5703913" cy="1013800"/>
          </a:xfrm>
        </p:spPr>
        <p:txBody>
          <a:bodyPr>
            <a:noAutofit/>
          </a:bodyPr>
          <a:lstStyle/>
          <a:p>
            <a:pPr marL="0" indent="0" algn="just">
              <a:buNone/>
            </a:pPr>
            <a:r>
              <a:rPr lang="es-ES_tradnl" sz="2000" dirty="0">
                <a:solidFill>
                  <a:schemeClr val="accent1"/>
                </a:solidFill>
                <a:latin typeface="Century Gothic" panose="020B0502020202020204" pitchFamily="34" charset="0"/>
              </a:rPr>
              <a:t>Se analizarán tres (3) tipos de proyectos:</a:t>
            </a:r>
          </a:p>
          <a:p>
            <a:pPr marL="0" indent="0" algn="just">
              <a:buNone/>
            </a:pPr>
            <a:endParaRPr lang="es-ES_tradnl" sz="2000" dirty="0">
              <a:solidFill>
                <a:schemeClr val="accent1"/>
              </a:solidFill>
              <a:latin typeface="Century Gothic" panose="020B0502020202020204" pitchFamily="34" charset="0"/>
            </a:endParaRPr>
          </a:p>
        </p:txBody>
      </p:sp>
      <p:pic>
        <p:nvPicPr>
          <p:cNvPr id="1026" name="Picture 2" descr="Si te da miedo el matrimonio quizá sea por esta razón">
            <a:extLst>
              <a:ext uri="{FF2B5EF4-FFF2-40B4-BE49-F238E27FC236}">
                <a16:creationId xmlns:a16="http://schemas.microsoft.com/office/drawing/2014/main" id="{5E95F3CF-B181-BBDD-E06B-BBF2AE55E2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2720" y="4691968"/>
            <a:ext cx="2755420" cy="144659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ómo ligar en una fiesta - 7 pasos">
            <a:extLst>
              <a:ext uri="{FF2B5EF4-FFF2-40B4-BE49-F238E27FC236}">
                <a16:creationId xmlns:a16="http://schemas.microsoft.com/office/drawing/2014/main" id="{5B17735E-3713-DBB4-A858-30120FFE28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72720" y="2154739"/>
            <a:ext cx="2308859" cy="1535391"/>
          </a:xfrm>
          <a:prstGeom prst="rect">
            <a:avLst/>
          </a:prstGeom>
          <a:noFill/>
          <a:extLst>
            <a:ext uri="{909E8E84-426E-40DD-AFC4-6F175D3DCCD1}">
              <a14:hiddenFill xmlns:a14="http://schemas.microsoft.com/office/drawing/2010/main">
                <a:solidFill>
                  <a:srgbClr val="FFFFFF"/>
                </a:solidFill>
              </a14:hiddenFill>
            </a:ext>
          </a:extLst>
        </p:spPr>
      </p:pic>
      <p:sp>
        <p:nvSpPr>
          <p:cNvPr id="14" name="CuadroTexto 13">
            <a:extLst>
              <a:ext uri="{FF2B5EF4-FFF2-40B4-BE49-F238E27FC236}">
                <a16:creationId xmlns:a16="http://schemas.microsoft.com/office/drawing/2014/main" id="{BAF4F37F-8ABF-B32B-84C6-E11BB34817B5}"/>
              </a:ext>
            </a:extLst>
          </p:cNvPr>
          <p:cNvSpPr txBox="1"/>
          <p:nvPr/>
        </p:nvSpPr>
        <p:spPr>
          <a:xfrm>
            <a:off x="768413" y="2922434"/>
            <a:ext cx="6096000" cy="1015663"/>
          </a:xfrm>
          <a:prstGeom prst="rect">
            <a:avLst/>
          </a:prstGeom>
          <a:noFill/>
        </p:spPr>
        <p:txBody>
          <a:bodyPr wrap="square">
            <a:spAutoFit/>
          </a:bodyPr>
          <a:lstStyle/>
          <a:p>
            <a:pPr algn="just">
              <a:buClr>
                <a:schemeClr val="accent6"/>
              </a:buClr>
            </a:pPr>
            <a:r>
              <a:rPr lang="es-ES_tradnl" sz="2000" b="1" dirty="0">
                <a:solidFill>
                  <a:schemeClr val="accent3">
                    <a:lumMod val="50000"/>
                  </a:schemeClr>
                </a:solidFill>
                <a:latin typeface="Century Gothic" panose="020B0502020202020204" pitchFamily="34" charset="0"/>
              </a:rPr>
              <a:t>1. </a:t>
            </a:r>
            <a:r>
              <a:rPr lang="es-ES_tradnl" sz="2000" b="1" dirty="0">
                <a:solidFill>
                  <a:srgbClr val="D7A700"/>
                </a:solidFill>
                <a:latin typeface="Century Gothic" panose="020B0502020202020204" pitchFamily="34" charset="0"/>
              </a:rPr>
              <a:t>Independientes: </a:t>
            </a:r>
            <a:r>
              <a:rPr lang="es-ES_tradnl" sz="2000" dirty="0">
                <a:solidFill>
                  <a:schemeClr val="accent1"/>
                </a:solidFill>
                <a:latin typeface="Century Gothic" panose="020B0502020202020204" pitchFamily="34" charset="0"/>
              </a:rPr>
              <a:t>Una alternativa se puede ejecutar independiente de realizar otras alternativas.</a:t>
            </a:r>
          </a:p>
        </p:txBody>
      </p:sp>
      <p:sp>
        <p:nvSpPr>
          <p:cNvPr id="16" name="CuadroTexto 15">
            <a:extLst>
              <a:ext uri="{FF2B5EF4-FFF2-40B4-BE49-F238E27FC236}">
                <a16:creationId xmlns:a16="http://schemas.microsoft.com/office/drawing/2014/main" id="{58B0FEFD-F8A7-F567-F679-22F4DA432EC4}"/>
              </a:ext>
            </a:extLst>
          </p:cNvPr>
          <p:cNvSpPr txBox="1"/>
          <p:nvPr/>
        </p:nvSpPr>
        <p:spPr>
          <a:xfrm>
            <a:off x="768413" y="4103752"/>
            <a:ext cx="6096000" cy="707886"/>
          </a:xfrm>
          <a:prstGeom prst="rect">
            <a:avLst/>
          </a:prstGeom>
          <a:noFill/>
        </p:spPr>
        <p:txBody>
          <a:bodyPr wrap="square">
            <a:spAutoFit/>
          </a:bodyPr>
          <a:lstStyle/>
          <a:p>
            <a:pPr algn="just">
              <a:buClr>
                <a:schemeClr val="accent6"/>
              </a:buClr>
            </a:pPr>
            <a:r>
              <a:rPr lang="es-ES_tradnl" sz="2000" b="1" dirty="0">
                <a:solidFill>
                  <a:schemeClr val="accent3">
                    <a:lumMod val="50000"/>
                  </a:schemeClr>
                </a:solidFill>
                <a:latin typeface="Century Gothic" panose="020B0502020202020204" pitchFamily="34" charset="0"/>
              </a:rPr>
              <a:t>2. </a:t>
            </a:r>
            <a:r>
              <a:rPr lang="es-ES_tradnl" sz="2000" b="1" dirty="0">
                <a:solidFill>
                  <a:srgbClr val="D7A700"/>
                </a:solidFill>
                <a:latin typeface="Century Gothic" panose="020B0502020202020204" pitchFamily="34" charset="0"/>
              </a:rPr>
              <a:t>Dependientes:</a:t>
            </a:r>
            <a:r>
              <a:rPr lang="es-ES_tradnl" sz="2000" dirty="0">
                <a:solidFill>
                  <a:srgbClr val="D7A700"/>
                </a:solidFill>
                <a:latin typeface="Century Gothic" panose="020B0502020202020204" pitchFamily="34" charset="0"/>
              </a:rPr>
              <a:t> </a:t>
            </a:r>
            <a:r>
              <a:rPr lang="es-ES_tradnl" sz="2000" dirty="0">
                <a:solidFill>
                  <a:schemeClr val="accent1"/>
                </a:solidFill>
                <a:latin typeface="Century Gothic" panose="020B0502020202020204" pitchFamily="34" charset="0"/>
              </a:rPr>
              <a:t>Una alternativa </a:t>
            </a:r>
            <a:r>
              <a:rPr lang="es-ES_tradnl" sz="2000" b="1" dirty="0">
                <a:solidFill>
                  <a:srgbClr val="C00000"/>
                </a:solidFill>
                <a:latin typeface="Century Gothic" panose="020B0502020202020204" pitchFamily="34" charset="0"/>
              </a:rPr>
              <a:t>NO</a:t>
            </a:r>
            <a:r>
              <a:rPr lang="es-ES_tradnl" sz="2000" dirty="0">
                <a:solidFill>
                  <a:schemeClr val="accent1"/>
                </a:solidFill>
                <a:latin typeface="Century Gothic" panose="020B0502020202020204" pitchFamily="34" charset="0"/>
              </a:rPr>
              <a:t> se puede ejecutar sin llevar a cabo la otra.</a:t>
            </a:r>
          </a:p>
        </p:txBody>
      </p:sp>
      <p:sp>
        <p:nvSpPr>
          <p:cNvPr id="18" name="CuadroTexto 17">
            <a:extLst>
              <a:ext uri="{FF2B5EF4-FFF2-40B4-BE49-F238E27FC236}">
                <a16:creationId xmlns:a16="http://schemas.microsoft.com/office/drawing/2014/main" id="{16F42E28-F600-99BF-01C2-7F6A5E41D693}"/>
              </a:ext>
            </a:extLst>
          </p:cNvPr>
          <p:cNvSpPr txBox="1"/>
          <p:nvPr/>
        </p:nvSpPr>
        <p:spPr>
          <a:xfrm>
            <a:off x="768413" y="4977293"/>
            <a:ext cx="6096000" cy="1015663"/>
          </a:xfrm>
          <a:prstGeom prst="rect">
            <a:avLst/>
          </a:prstGeom>
          <a:noFill/>
        </p:spPr>
        <p:txBody>
          <a:bodyPr wrap="square">
            <a:spAutoFit/>
          </a:bodyPr>
          <a:lstStyle/>
          <a:p>
            <a:pPr algn="just">
              <a:buClr>
                <a:schemeClr val="accent6"/>
              </a:buClr>
            </a:pPr>
            <a:r>
              <a:rPr lang="es-ES_tradnl" sz="2000" b="1" dirty="0">
                <a:solidFill>
                  <a:schemeClr val="accent3">
                    <a:lumMod val="50000"/>
                  </a:schemeClr>
                </a:solidFill>
                <a:latin typeface="Century Gothic" panose="020B0502020202020204" pitchFamily="34" charset="0"/>
              </a:rPr>
              <a:t>3. </a:t>
            </a:r>
            <a:r>
              <a:rPr lang="es-ES_tradnl" sz="2000" b="1" dirty="0">
                <a:solidFill>
                  <a:srgbClr val="D7A700"/>
                </a:solidFill>
                <a:latin typeface="Century Gothic" panose="020B0502020202020204" pitchFamily="34" charset="0"/>
              </a:rPr>
              <a:t>Mutuamente Excluyentes</a:t>
            </a:r>
            <a:r>
              <a:rPr lang="es-ES_tradnl" sz="2000" dirty="0">
                <a:solidFill>
                  <a:srgbClr val="D7A700"/>
                </a:solidFill>
                <a:latin typeface="Century Gothic" panose="020B0502020202020204" pitchFamily="34" charset="0"/>
              </a:rPr>
              <a:t>: </a:t>
            </a:r>
            <a:r>
              <a:rPr lang="es-ES_tradnl" sz="2000" dirty="0">
                <a:solidFill>
                  <a:schemeClr val="accent1"/>
                </a:solidFill>
                <a:latin typeface="Century Gothic" panose="020B0502020202020204" pitchFamily="34" charset="0"/>
              </a:rPr>
              <a:t>Si se lleva a cabo una alternativa, ésta limita a que otras </a:t>
            </a:r>
            <a:r>
              <a:rPr lang="es-ES_tradnl" sz="2000" b="1" dirty="0">
                <a:solidFill>
                  <a:srgbClr val="C00000"/>
                </a:solidFill>
                <a:latin typeface="Century Gothic" panose="020B0502020202020204" pitchFamily="34" charset="0"/>
              </a:rPr>
              <a:t>NO</a:t>
            </a:r>
            <a:r>
              <a:rPr lang="es-ES_tradnl" sz="2000" dirty="0">
                <a:solidFill>
                  <a:schemeClr val="accent1"/>
                </a:solidFill>
                <a:latin typeface="Century Gothic" panose="020B0502020202020204" pitchFamily="34" charset="0"/>
              </a:rPr>
              <a:t> se puedan ejecutar.</a:t>
            </a:r>
          </a:p>
        </p:txBody>
      </p:sp>
      <p:sp>
        <p:nvSpPr>
          <p:cNvPr id="2" name="Rectángulo 1">
            <a:extLst>
              <a:ext uri="{FF2B5EF4-FFF2-40B4-BE49-F238E27FC236}">
                <a16:creationId xmlns:a16="http://schemas.microsoft.com/office/drawing/2014/main" id="{635B867B-B079-503E-8747-B990670AF0D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C668A1EB-F5CC-022E-6EA4-F2B270040F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BA2809C6-5E13-0098-5FB2-198FF1938A0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pic>
        <p:nvPicPr>
          <p:cNvPr id="8" name="Imagen 7">
            <a:extLst>
              <a:ext uri="{FF2B5EF4-FFF2-40B4-BE49-F238E27FC236}">
                <a16:creationId xmlns:a16="http://schemas.microsoft.com/office/drawing/2014/main" id="{1B5BC001-BBAC-63C1-0DA7-67365B4CFD72}"/>
              </a:ext>
            </a:extLst>
          </p:cNvPr>
          <p:cNvPicPr>
            <a:picLocks noChangeAspect="1"/>
          </p:cNvPicPr>
          <p:nvPr/>
        </p:nvPicPr>
        <p:blipFill>
          <a:blip r:embed="rId5"/>
          <a:stretch>
            <a:fillRect/>
          </a:stretch>
        </p:blipFill>
        <p:spPr>
          <a:xfrm>
            <a:off x="9542009" y="2152725"/>
            <a:ext cx="1542545" cy="1534162"/>
          </a:xfrm>
          <a:prstGeom prst="rect">
            <a:avLst/>
          </a:prstGeom>
        </p:spPr>
      </p:pic>
      <p:pic>
        <p:nvPicPr>
          <p:cNvPr id="12" name="Imagen 11" descr="Un hombre y una mujer sentados en una cama&#10;&#10;Descripción generada automáticamente con confianza media">
            <a:extLst>
              <a:ext uri="{FF2B5EF4-FFF2-40B4-BE49-F238E27FC236}">
                <a16:creationId xmlns:a16="http://schemas.microsoft.com/office/drawing/2014/main" id="{7DFE050F-C7CA-9863-38E4-CBC63F3BED91}"/>
              </a:ext>
            </a:extLst>
          </p:cNvPr>
          <p:cNvPicPr>
            <a:picLocks noChangeAspect="1"/>
          </p:cNvPicPr>
          <p:nvPr/>
        </p:nvPicPr>
        <p:blipFill rotWithShape="1">
          <a:blip r:embed="rId6"/>
          <a:srcRect l="21016"/>
          <a:stretch/>
        </p:blipFill>
        <p:spPr>
          <a:xfrm>
            <a:off x="9542009" y="3462987"/>
            <a:ext cx="2308859" cy="1644287"/>
          </a:xfrm>
          <a:prstGeom prst="rect">
            <a:avLst/>
          </a:prstGeom>
        </p:spPr>
      </p:pic>
      <p:sp>
        <p:nvSpPr>
          <p:cNvPr id="9" name="Slide Number Placeholder 3">
            <a:extLst>
              <a:ext uri="{FF2B5EF4-FFF2-40B4-BE49-F238E27FC236}">
                <a16:creationId xmlns:a16="http://schemas.microsoft.com/office/drawing/2014/main" id="{C031F785-C274-198F-5405-64069F2CF477}"/>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5</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3496016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p:tgtEl>
                                          <p:spTgt spid="14"/>
                                        </p:tgtEl>
                                        <p:attrNameLst>
                                          <p:attrName>ppt_y</p:attrName>
                                        </p:attrNameLst>
                                      </p:cBhvr>
                                      <p:tavLst>
                                        <p:tav tm="0">
                                          <p:val>
                                            <p:strVal val="#ppt_y+#ppt_h*1.125000"/>
                                          </p:val>
                                        </p:tav>
                                        <p:tav tm="100000">
                                          <p:val>
                                            <p:strVal val="#ppt_y"/>
                                          </p:val>
                                        </p:tav>
                                      </p:tavLst>
                                    </p:anim>
                                    <p:animEffect transition="in" filter="wipe(up)">
                                      <p:cBhvr>
                                        <p:cTn id="8" dur="500"/>
                                        <p:tgtEl>
                                          <p:spTgt spid="14"/>
                                        </p:tgtEl>
                                      </p:cBhvr>
                                    </p:animEffect>
                                  </p:childTnLst>
                                </p:cTn>
                              </p:par>
                              <p:par>
                                <p:cTn id="9" presetID="12" presetClass="entr" presetSubtype="4" fill="hold" nodeType="withEffect">
                                  <p:stCondLst>
                                    <p:cond delay="0"/>
                                  </p:stCondLst>
                                  <p:childTnLst>
                                    <p:set>
                                      <p:cBhvr>
                                        <p:cTn id="10" dur="1" fill="hold">
                                          <p:stCondLst>
                                            <p:cond delay="0"/>
                                          </p:stCondLst>
                                        </p:cTn>
                                        <p:tgtEl>
                                          <p:spTgt spid="1032"/>
                                        </p:tgtEl>
                                        <p:attrNameLst>
                                          <p:attrName>style.visibility</p:attrName>
                                        </p:attrNameLst>
                                      </p:cBhvr>
                                      <p:to>
                                        <p:strVal val="visible"/>
                                      </p:to>
                                    </p:set>
                                    <p:anim calcmode="lin" valueType="num">
                                      <p:cBhvr additive="base">
                                        <p:cTn id="11" dur="500"/>
                                        <p:tgtEl>
                                          <p:spTgt spid="1032"/>
                                        </p:tgtEl>
                                        <p:attrNameLst>
                                          <p:attrName>ppt_y</p:attrName>
                                        </p:attrNameLst>
                                      </p:cBhvr>
                                      <p:tavLst>
                                        <p:tav tm="0">
                                          <p:val>
                                            <p:strVal val="#ppt_y+#ppt_h*1.125000"/>
                                          </p:val>
                                        </p:tav>
                                        <p:tav tm="100000">
                                          <p:val>
                                            <p:strVal val="#ppt_y"/>
                                          </p:val>
                                        </p:tav>
                                      </p:tavLst>
                                    </p:anim>
                                    <p:animEffect transition="in" filter="wipe(up)">
                                      <p:cBhvr>
                                        <p:cTn id="12" dur="500"/>
                                        <p:tgtEl>
                                          <p:spTgt spid="1032"/>
                                        </p:tgtEl>
                                      </p:cBhvr>
                                    </p:animEffect>
                                  </p:childTnLst>
                                </p:cTn>
                              </p:par>
                              <p:par>
                                <p:cTn id="13" presetID="12" presetClass="entr" presetSubtype="4"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p:tgtEl>
                                          <p:spTgt spid="8"/>
                                        </p:tgtEl>
                                        <p:attrNameLst>
                                          <p:attrName>ppt_y</p:attrName>
                                        </p:attrNameLst>
                                      </p:cBhvr>
                                      <p:tavLst>
                                        <p:tav tm="0">
                                          <p:val>
                                            <p:strVal val="#ppt_y+#ppt_h*1.125000"/>
                                          </p:val>
                                        </p:tav>
                                        <p:tav tm="100000">
                                          <p:val>
                                            <p:strVal val="#ppt_y"/>
                                          </p:val>
                                        </p:tav>
                                      </p:tavLst>
                                    </p:anim>
                                    <p:animEffect transition="in" filter="wipe(up)">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additive="base">
                                        <p:cTn id="21" dur="500" fill="hold"/>
                                        <p:tgtEl>
                                          <p:spTgt spid="16"/>
                                        </p:tgtEl>
                                        <p:attrNameLst>
                                          <p:attrName>ppt_x</p:attrName>
                                        </p:attrNameLst>
                                      </p:cBhvr>
                                      <p:tavLst>
                                        <p:tav tm="0">
                                          <p:val>
                                            <p:strVal val="#ppt_x"/>
                                          </p:val>
                                        </p:tav>
                                        <p:tav tm="100000">
                                          <p:val>
                                            <p:strVal val="#ppt_x"/>
                                          </p:val>
                                        </p:tav>
                                      </p:tavLst>
                                    </p:anim>
                                    <p:anim calcmode="lin" valueType="num">
                                      <p:cBhvr additive="base">
                                        <p:cTn id="22" dur="500" fill="hold"/>
                                        <p:tgtEl>
                                          <p:spTgt spid="16"/>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ppt_x"/>
                                          </p:val>
                                        </p:tav>
                                        <p:tav tm="100000">
                                          <p:val>
                                            <p:strVal val="#ppt_x"/>
                                          </p:val>
                                        </p:tav>
                                      </p:tavLst>
                                    </p:anim>
                                    <p:anim calcmode="lin" valueType="num">
                                      <p:cBhvr additive="base">
                                        <p:cTn id="32" dur="500" fill="hold"/>
                                        <p:tgtEl>
                                          <p:spTgt spid="18"/>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026"/>
                                        </p:tgtEl>
                                        <p:attrNameLst>
                                          <p:attrName>style.visibility</p:attrName>
                                        </p:attrNameLst>
                                      </p:cBhvr>
                                      <p:to>
                                        <p:strVal val="visible"/>
                                      </p:to>
                                    </p:set>
                                    <p:anim calcmode="lin" valueType="num">
                                      <p:cBhvr additive="base">
                                        <p:cTn id="35" dur="500" fill="hold"/>
                                        <p:tgtEl>
                                          <p:spTgt spid="1026"/>
                                        </p:tgtEl>
                                        <p:attrNameLst>
                                          <p:attrName>ppt_x</p:attrName>
                                        </p:attrNameLst>
                                      </p:cBhvr>
                                      <p:tavLst>
                                        <p:tav tm="0">
                                          <p:val>
                                            <p:strVal val="#ppt_x"/>
                                          </p:val>
                                        </p:tav>
                                        <p:tav tm="100000">
                                          <p:val>
                                            <p:strVal val="#ppt_x"/>
                                          </p:val>
                                        </p:tav>
                                      </p:tavLst>
                                    </p:anim>
                                    <p:anim calcmode="lin" valueType="num">
                                      <p:cBhvr additive="base">
                                        <p:cTn id="36"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2CDBD20-01C8-0677-D575-CA3555BD2D54}"/>
              </a:ext>
            </a:extLst>
          </p:cNvPr>
          <p:cNvSpPr>
            <a:spLocks noGrp="1"/>
          </p:cNvSpPr>
          <p:nvPr>
            <p:ph type="title"/>
          </p:nvPr>
        </p:nvSpPr>
        <p:spPr/>
        <p:txBody>
          <a:bodyPr>
            <a:normAutofit/>
          </a:bodyPr>
          <a:lstStyle/>
          <a:p>
            <a:r>
              <a:rPr lang="es-ES_tradnl" sz="3200" dirty="0">
                <a:latin typeface="Century Gothic" panose="020B0502020202020204" pitchFamily="34" charset="0"/>
              </a:rPr>
              <a:t>INTRODUCCIÓN Y TIPOS DE PROYECTOS</a:t>
            </a:r>
          </a:p>
        </p:txBody>
      </p:sp>
      <p:sp>
        <p:nvSpPr>
          <p:cNvPr id="3" name="Marcador de contenido 2"/>
          <p:cNvSpPr>
            <a:spLocks noGrp="1"/>
          </p:cNvSpPr>
          <p:nvPr>
            <p:ph idx="1"/>
          </p:nvPr>
        </p:nvSpPr>
        <p:spPr>
          <a:xfrm>
            <a:off x="362677" y="2237471"/>
            <a:ext cx="11466645" cy="3678303"/>
          </a:xfrm>
        </p:spPr>
        <p:txBody>
          <a:bodyPr>
            <a:noAutofit/>
          </a:bodyPr>
          <a:lstStyle/>
          <a:p>
            <a:pPr marL="0" indent="0" algn="ctr">
              <a:buNone/>
            </a:pPr>
            <a:r>
              <a:rPr lang="es-ES" sz="2000" dirty="0">
                <a:solidFill>
                  <a:schemeClr val="accent1"/>
                </a:solidFill>
                <a:latin typeface="Century Gothic" panose="020B0502020202020204" pitchFamily="34" charset="0"/>
              </a:rPr>
              <a:t>Para realizar la selección de proyectos, se requiere un ordenamiento de las alternativas de inversión. </a:t>
            </a:r>
          </a:p>
          <a:p>
            <a:pPr marL="0" indent="0" algn="ctr">
              <a:buNone/>
            </a:pPr>
            <a:r>
              <a:rPr lang="es-ES" sz="2000" dirty="0">
                <a:solidFill>
                  <a:schemeClr val="accent1"/>
                </a:solidFill>
                <a:latin typeface="Century Gothic" panose="020B0502020202020204" pitchFamily="34" charset="0"/>
              </a:rPr>
              <a:t>Para esto, utilizaremos los Indicadores de Bondad Financiera que ya conocemos:</a:t>
            </a:r>
          </a:p>
          <a:p>
            <a:pPr marL="0" indent="0" algn="ctr">
              <a:buNone/>
            </a:pPr>
            <a:endParaRPr lang="es-ES" sz="2000" dirty="0">
              <a:solidFill>
                <a:schemeClr val="accent1"/>
              </a:solidFill>
              <a:latin typeface="Century Gothic" panose="020B0502020202020204" pitchFamily="34" charset="0"/>
            </a:endParaRPr>
          </a:p>
          <a:p>
            <a:pPr marL="324000" lvl="1" indent="0" algn="ctr">
              <a:buNone/>
            </a:pPr>
            <a:r>
              <a:rPr lang="es-ES" sz="2000" b="1" dirty="0">
                <a:solidFill>
                  <a:schemeClr val="accent3">
                    <a:lumMod val="75000"/>
                  </a:schemeClr>
                </a:solidFill>
                <a:latin typeface="Century Gothic" panose="020B0502020202020204" pitchFamily="34" charset="0"/>
              </a:rPr>
              <a:t>Valor Presente Neto (VPN)</a:t>
            </a:r>
          </a:p>
          <a:p>
            <a:pPr marL="324000" lvl="1" indent="0" algn="ctr">
              <a:buNone/>
            </a:pPr>
            <a:r>
              <a:rPr lang="es-ES" sz="2000" b="1" dirty="0">
                <a:solidFill>
                  <a:schemeClr val="accent3">
                    <a:lumMod val="75000"/>
                  </a:schemeClr>
                </a:solidFill>
                <a:latin typeface="Century Gothic" panose="020B0502020202020204" pitchFamily="34" charset="0"/>
              </a:rPr>
              <a:t>Tasa Interna de Retorno (TIR)</a:t>
            </a:r>
          </a:p>
          <a:p>
            <a:pPr marL="324000" lvl="1" indent="0" algn="ctr">
              <a:buNone/>
            </a:pPr>
            <a:r>
              <a:rPr lang="es-ES" sz="2000" b="1" dirty="0">
                <a:solidFill>
                  <a:schemeClr val="accent3">
                    <a:lumMod val="75000"/>
                  </a:schemeClr>
                </a:solidFill>
                <a:latin typeface="Century Gothic" panose="020B0502020202020204" pitchFamily="34" charset="0"/>
              </a:rPr>
              <a:t>Tasa Verdadera de Rentabilidad (TVR)</a:t>
            </a:r>
          </a:p>
          <a:p>
            <a:pPr marL="324000" lvl="1" indent="0" algn="ctr">
              <a:buNone/>
            </a:pPr>
            <a:r>
              <a:rPr lang="es-ES" sz="2000" b="1" dirty="0">
                <a:solidFill>
                  <a:schemeClr val="accent3">
                    <a:lumMod val="75000"/>
                  </a:schemeClr>
                </a:solidFill>
                <a:latin typeface="Century Gothic" panose="020B0502020202020204" pitchFamily="34" charset="0"/>
              </a:rPr>
              <a:t>Valor Anual Equivalente (VAE)</a:t>
            </a:r>
          </a:p>
          <a:p>
            <a:pPr marL="324000" lvl="1" indent="0" algn="ctr">
              <a:buNone/>
            </a:pPr>
            <a:r>
              <a:rPr lang="es-ES" sz="2000" b="1" dirty="0">
                <a:solidFill>
                  <a:schemeClr val="accent3">
                    <a:lumMod val="75000"/>
                  </a:schemeClr>
                </a:solidFill>
                <a:latin typeface="Century Gothic" panose="020B0502020202020204" pitchFamily="34" charset="0"/>
              </a:rPr>
              <a:t>Relación Beneficio-Costo (B/C)</a:t>
            </a:r>
          </a:p>
        </p:txBody>
      </p:sp>
      <p:pic>
        <p:nvPicPr>
          <p:cNvPr id="5" name="Imagen 4">
            <a:extLst>
              <a:ext uri="{FF2B5EF4-FFF2-40B4-BE49-F238E27FC236}">
                <a16:creationId xmlns:a16="http://schemas.microsoft.com/office/drawing/2014/main" id="{5EF59994-009D-CE95-587B-E7248D561C12}"/>
              </a:ext>
            </a:extLst>
          </p:cNvPr>
          <p:cNvPicPr>
            <a:picLocks noChangeAspect="1"/>
          </p:cNvPicPr>
          <p:nvPr/>
        </p:nvPicPr>
        <p:blipFill>
          <a:blip r:embed="rId2"/>
          <a:stretch>
            <a:fillRect/>
          </a:stretch>
        </p:blipFill>
        <p:spPr>
          <a:xfrm>
            <a:off x="362677" y="3763597"/>
            <a:ext cx="3489897" cy="2557665"/>
          </a:xfrm>
          <a:prstGeom prst="rect">
            <a:avLst/>
          </a:prstGeom>
        </p:spPr>
      </p:pic>
      <p:sp>
        <p:nvSpPr>
          <p:cNvPr id="2" name="Rectángulo 1">
            <a:extLst>
              <a:ext uri="{FF2B5EF4-FFF2-40B4-BE49-F238E27FC236}">
                <a16:creationId xmlns:a16="http://schemas.microsoft.com/office/drawing/2014/main" id="{C2E759B8-E6AD-6E19-D11F-CF3CE2EDBCB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25F83C2A-5A2D-4172-FED3-3A4C37B267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C2864FFC-55A2-6DFC-6DA4-38C51CD069B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Slide Number Placeholder 3">
            <a:extLst>
              <a:ext uri="{FF2B5EF4-FFF2-40B4-BE49-F238E27FC236}">
                <a16:creationId xmlns:a16="http://schemas.microsoft.com/office/drawing/2014/main" id="{ADD92980-4D10-672D-3108-A8B732668D12}"/>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6</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463518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fade">
                                      <p:cBhvr>
                                        <p:cTn id="2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dirty="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AB8AB005-BEC4-EDCC-47DD-06CB8AF4904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EF890B0A-C763-EC64-4D9F-8AB9397690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98E1D78A-973F-012A-C97E-DF0DBB60B630}"/>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2" name="Rectángulo 11">
            <a:extLst>
              <a:ext uri="{FF2B5EF4-FFF2-40B4-BE49-F238E27FC236}">
                <a16:creationId xmlns:a16="http://schemas.microsoft.com/office/drawing/2014/main" id="{D1FD0CB0-58E6-8DA8-AE95-4D4B3AB27DE5}"/>
              </a:ext>
            </a:extLst>
          </p:cNvPr>
          <p:cNvSpPr/>
          <p:nvPr/>
        </p:nvSpPr>
        <p:spPr>
          <a:xfrm>
            <a:off x="2806200" y="2772729"/>
            <a:ext cx="8540907" cy="4247317"/>
          </a:xfrm>
          <a:prstGeom prst="rect">
            <a:avLst/>
          </a:prstGeom>
        </p:spPr>
        <p:txBody>
          <a:bodyPr wrap="square" lIns="91440" tIns="45720" rIns="91440" bIns="45720" anchor="t">
            <a:spAutoFit/>
          </a:bodyPr>
          <a:lstStyle/>
          <a:p>
            <a:pPr marL="342900" indent="-342900">
              <a:buClr>
                <a:srgbClr val="48BE7A"/>
              </a:buClr>
              <a:buFontTx/>
              <a:buAutoNum type="arabicPeriod"/>
            </a:pPr>
            <a:r>
              <a:rPr lang="es-CO" dirty="0">
                <a:solidFill>
                  <a:schemeClr val="bg2">
                    <a:lumMod val="90000"/>
                  </a:schemeClr>
                </a:solidFill>
                <a:latin typeface="Century Gothic"/>
                <a:cs typeface="Arial"/>
              </a:rPr>
              <a:t>Introducción y tipos de proyectos.</a:t>
            </a:r>
            <a:endParaRPr lang="es-ES" dirty="0">
              <a:solidFill>
                <a:schemeClr val="bg2">
                  <a:lumMod val="90000"/>
                </a:schemeClr>
              </a:solidFill>
              <a:latin typeface="Century Gothic"/>
              <a:cs typeface="Arial"/>
            </a:endParaRPr>
          </a:p>
          <a:p>
            <a:pPr marL="342900" indent="-342900">
              <a:buClr>
                <a:srgbClr val="2C7C9F"/>
              </a:buClr>
              <a:buFontTx/>
              <a:buAutoNum type="arabicPeriod"/>
            </a:pPr>
            <a:endParaRPr lang="es-CO" dirty="0">
              <a:solidFill>
                <a:schemeClr val="accent1"/>
              </a:solidFill>
              <a:latin typeface="Century Gothic"/>
              <a:cs typeface="Arial"/>
            </a:endParaRPr>
          </a:p>
          <a:p>
            <a:pPr marL="342900" indent="-342900">
              <a:buClr>
                <a:schemeClr val="accent3">
                  <a:lumMod val="75000"/>
                </a:schemeClr>
              </a:buClr>
              <a:buFont typeface="Gill Sans MT" panose="020B0502020104020203"/>
              <a:buAutoNum type="arabicPeriod"/>
            </a:pPr>
            <a:r>
              <a:rPr lang="es-CO" dirty="0">
                <a:solidFill>
                  <a:schemeClr val="accent1"/>
                </a:solidFill>
                <a:latin typeface="Century Gothic"/>
                <a:cs typeface="Arial"/>
              </a:rPr>
              <a:t>Proyectos Independientes.</a:t>
            </a:r>
          </a:p>
          <a:p>
            <a:pPr marL="342900" indent="-342900">
              <a:buClr>
                <a:srgbClr val="48BE7A"/>
              </a:buClr>
              <a:buFontTx/>
              <a:buAutoNum type="arabicPeriod"/>
            </a:pPr>
            <a:endParaRPr lang="es-CO" dirty="0">
              <a:solidFill>
                <a:schemeClr val="bg2">
                  <a:lumMod val="90000"/>
                </a:schemeClr>
              </a:solidFill>
              <a:latin typeface="Century Gothic"/>
            </a:endParaRPr>
          </a:p>
          <a:p>
            <a:pPr marL="342900" indent="-342900">
              <a:buClr>
                <a:srgbClr val="48BE7A"/>
              </a:buClr>
              <a:buFontTx/>
              <a:buAutoNum type="arabicPeriod"/>
            </a:pPr>
            <a:r>
              <a:rPr lang="es-CO" dirty="0">
                <a:solidFill>
                  <a:schemeClr val="bg2">
                    <a:lumMod val="90000"/>
                  </a:schemeClr>
                </a:solidFill>
                <a:latin typeface="Century Gothic"/>
                <a:cs typeface="Arial"/>
              </a:rPr>
              <a:t>Proyectos Dependientes.</a:t>
            </a:r>
            <a:endParaRPr lang="es-CO" dirty="0">
              <a:solidFill>
                <a:schemeClr val="bg2">
                  <a:lumMod val="90000"/>
                </a:schemeClr>
              </a:solidFill>
              <a:latin typeface="Century Gothic"/>
            </a:endParaRPr>
          </a:p>
          <a:p>
            <a:pPr marL="342900" indent="-342900">
              <a:buClr>
                <a:srgbClr val="48BE7A"/>
              </a:buClr>
              <a:buFontTx/>
              <a:buAutoNum type="arabicPeriod"/>
            </a:pPr>
            <a:endParaRPr lang="es-CO" dirty="0">
              <a:solidFill>
                <a:schemeClr val="bg2">
                  <a:lumMod val="90000"/>
                </a:schemeClr>
              </a:solidFill>
              <a:latin typeface="Century Gothic"/>
              <a:cs typeface="Arial"/>
            </a:endParaRPr>
          </a:p>
          <a:p>
            <a:pPr marL="342900" indent="-342900">
              <a:buClr>
                <a:srgbClr val="48BE7A"/>
              </a:buClr>
              <a:buFontTx/>
              <a:buAutoNum type="arabicPeriod"/>
            </a:pPr>
            <a:r>
              <a:rPr lang="es-CO" dirty="0">
                <a:solidFill>
                  <a:schemeClr val="bg2">
                    <a:lumMod val="90000"/>
                  </a:schemeClr>
                </a:solidFill>
                <a:latin typeface="Century Gothic"/>
                <a:cs typeface="Arial"/>
              </a:rPr>
              <a:t>Proyectos Mutuamente Excluyentes.</a:t>
            </a:r>
          </a:p>
          <a:p>
            <a:pPr>
              <a:buClr>
                <a:srgbClr val="48BE7A"/>
              </a:buClr>
            </a:pPr>
            <a:endParaRPr lang="es-CO" dirty="0">
              <a:solidFill>
                <a:schemeClr val="accent1"/>
              </a:solidFill>
              <a:latin typeface="Century Gothic"/>
              <a:cs typeface="Arial"/>
            </a:endParaRPr>
          </a:p>
          <a:p>
            <a:pPr>
              <a:buClr>
                <a:srgbClr val="48BE7A"/>
              </a:buClr>
            </a:pPr>
            <a:r>
              <a:rPr lang="es-CO" dirty="0">
                <a:solidFill>
                  <a:schemeClr val="accent1"/>
                </a:solidFill>
                <a:latin typeface="Century Gothic"/>
                <a:cs typeface="Arial"/>
              </a:rPr>
              <a:t>	</a:t>
            </a:r>
            <a:r>
              <a:rPr lang="es-CO" dirty="0">
                <a:solidFill>
                  <a:schemeClr val="accent3">
                    <a:lumMod val="75000"/>
                  </a:schemeClr>
                </a:solidFill>
                <a:latin typeface="Century Gothic"/>
                <a:cs typeface="Arial"/>
              </a:rPr>
              <a:t>4.1. </a:t>
            </a:r>
            <a:r>
              <a:rPr lang="es-CO" dirty="0">
                <a:solidFill>
                  <a:schemeClr val="bg2">
                    <a:lumMod val="90000"/>
                  </a:schemeClr>
                </a:solidFill>
                <a:latin typeface="Century Gothic"/>
                <a:cs typeface="Arial"/>
              </a:rPr>
              <a:t>Caso I: misma vida útil, misma inversión inicial.</a:t>
            </a:r>
            <a:endParaRPr lang="es-CO" dirty="0">
              <a:solidFill>
                <a:schemeClr val="bg2">
                  <a:lumMod val="90000"/>
                </a:schemeClr>
              </a:solidFill>
              <a:latin typeface="Century Gothic" panose="020B0502020202020204" pitchFamily="34" charset="0"/>
              <a:cs typeface="Arial"/>
            </a:endParaRPr>
          </a:p>
          <a:p>
            <a:pPr marL="342900" indent="-342900">
              <a:buClr>
                <a:srgbClr val="48BE7A"/>
              </a:buClr>
              <a:buFontTx/>
              <a:buAutoNum type="arabicPeriod"/>
            </a:pPr>
            <a:endParaRPr lang="es-CO" dirty="0">
              <a:solidFill>
                <a:schemeClr val="accent1"/>
              </a:solidFill>
              <a:latin typeface="Century Gothic"/>
              <a:cs typeface="Arial"/>
            </a:endParaRPr>
          </a:p>
          <a:p>
            <a:pPr marL="342900" indent="-342900">
              <a:buClr>
                <a:srgbClr val="48BE7A"/>
              </a:buClr>
              <a:buFont typeface="+mj-lt"/>
              <a:buAutoNum type="arabicPeriod" startAt="5"/>
            </a:pPr>
            <a:r>
              <a:rPr lang="es-CO" dirty="0">
                <a:solidFill>
                  <a:schemeClr val="bg2">
                    <a:lumMod val="90000"/>
                  </a:schemeClr>
                </a:solidFill>
                <a:latin typeface="Century Gothic"/>
                <a:cs typeface="Arial"/>
              </a:rPr>
              <a:t>Ejercicios de Práctica.</a:t>
            </a:r>
            <a:endParaRPr lang="es-CO"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startAt="5"/>
            </a:pPr>
            <a:endParaRPr lang="es-CO" dirty="0">
              <a:solidFill>
                <a:schemeClr val="accent1"/>
              </a:solidFill>
              <a:latin typeface="Century Gothic" panose="020B0502020202020204" pitchFamily="34" charset="0"/>
              <a:cs typeface="Arial"/>
            </a:endParaRPr>
          </a:p>
          <a:p>
            <a:pPr>
              <a:buClr>
                <a:srgbClr val="48BE7A"/>
              </a:buClr>
            </a:pPr>
            <a:r>
              <a:rPr lang="es-CO" dirty="0">
                <a:solidFill>
                  <a:schemeClr val="accent1"/>
                </a:solidFill>
                <a:latin typeface="Century Gothic"/>
                <a:cs typeface="Arial"/>
              </a:rPr>
              <a:t>	</a:t>
            </a: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a:pPr>
            <a:endParaRPr lang="es-CO" dirty="0">
              <a:solidFill>
                <a:schemeClr val="accent1"/>
              </a:solidFill>
              <a:latin typeface="Century Gothic" panose="020B0502020202020204" pitchFamily="34" charset="0"/>
              <a:cs typeface="Arial"/>
            </a:endParaRPr>
          </a:p>
          <a:p>
            <a:pPr>
              <a:buClr>
                <a:schemeClr val="accent3">
                  <a:lumMod val="75000"/>
                </a:schemeClr>
              </a:buClr>
            </a:pPr>
            <a:endParaRPr lang="es-CO" dirty="0">
              <a:solidFill>
                <a:schemeClr val="accent1"/>
              </a:solidFill>
              <a:latin typeface="Century Gothic" panose="020B0502020202020204" pitchFamily="34" charset="0"/>
            </a:endParaRPr>
          </a:p>
        </p:txBody>
      </p:sp>
      <p:sp>
        <p:nvSpPr>
          <p:cNvPr id="3" name="Slide Number Placeholder 3">
            <a:extLst>
              <a:ext uri="{FF2B5EF4-FFF2-40B4-BE49-F238E27FC236}">
                <a16:creationId xmlns:a16="http://schemas.microsoft.com/office/drawing/2014/main" id="{60089B77-EA13-0DA7-A868-01F8C2D58714}"/>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7</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2657227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1000"/>
                                        <p:tgtEl>
                                          <p:spTgt spid="12"/>
                                        </p:tgtEl>
                                      </p:cBhvr>
                                    </p:animEffect>
                                    <p:anim calcmode="lin" valueType="num">
                                      <p:cBhvr>
                                        <p:cTn id="10" dur="1000" fill="hold"/>
                                        <p:tgtEl>
                                          <p:spTgt spid="12"/>
                                        </p:tgtEl>
                                        <p:attrNameLst>
                                          <p:attrName>ppt_x</p:attrName>
                                        </p:attrNameLst>
                                      </p:cBhvr>
                                      <p:tavLst>
                                        <p:tav tm="0">
                                          <p:val>
                                            <p:strVal val="#ppt_x"/>
                                          </p:val>
                                        </p:tav>
                                        <p:tav tm="100000">
                                          <p:val>
                                            <p:strVal val="#ppt_x"/>
                                          </p:val>
                                        </p:tav>
                                      </p:tavLst>
                                    </p:anim>
                                    <p:anim calcmode="lin" valueType="num">
                                      <p:cBhvr>
                                        <p:cTn id="1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sz="3200" dirty="0">
                <a:latin typeface="Century Gothic" panose="020B0502020202020204" pitchFamily="34" charset="0"/>
              </a:rPr>
              <a:t>Proyectos Independientes</a:t>
            </a:r>
          </a:p>
        </p:txBody>
      </p:sp>
      <p:sp>
        <p:nvSpPr>
          <p:cNvPr id="7" name="Marcador de contenido 2">
            <a:extLst>
              <a:ext uri="{FF2B5EF4-FFF2-40B4-BE49-F238E27FC236}">
                <a16:creationId xmlns:a16="http://schemas.microsoft.com/office/drawing/2014/main" id="{5949E62A-3684-0C8A-5E56-F037C22F5151}"/>
              </a:ext>
            </a:extLst>
          </p:cNvPr>
          <p:cNvSpPr>
            <a:spLocks noGrp="1"/>
          </p:cNvSpPr>
          <p:nvPr>
            <p:ph idx="1"/>
          </p:nvPr>
        </p:nvSpPr>
        <p:spPr>
          <a:xfrm>
            <a:off x="641965" y="2320094"/>
            <a:ext cx="7921267" cy="4046200"/>
          </a:xfrm>
        </p:spPr>
        <p:txBody>
          <a:bodyPr>
            <a:noAutofit/>
          </a:bodyPr>
          <a:lstStyle/>
          <a:p>
            <a:pPr marL="0" indent="0" algn="ctr">
              <a:buNone/>
            </a:pPr>
            <a:r>
              <a:rPr lang="es-ES" sz="2400" b="1" dirty="0">
                <a:solidFill>
                  <a:srgbClr val="C00000"/>
                </a:solidFill>
                <a:latin typeface="Century Gothic" panose="020B0502020202020204" pitchFamily="34" charset="0"/>
              </a:rPr>
              <a:t>Alternativas de Inversión Independientes</a:t>
            </a:r>
          </a:p>
          <a:p>
            <a:pPr marL="0" indent="0" algn="just">
              <a:buNone/>
            </a:pPr>
            <a:endParaRPr lang="es-ES" sz="2000" dirty="0">
              <a:solidFill>
                <a:schemeClr val="accent1"/>
              </a:solidFill>
              <a:latin typeface="Century Gothic" panose="020B0502020202020204" pitchFamily="34" charset="0"/>
            </a:endParaRPr>
          </a:p>
          <a:p>
            <a:pPr algn="just">
              <a:buFont typeface="Wingdings" panose="05000000000000000000" pitchFamily="2" charset="2"/>
              <a:buChar char="§"/>
            </a:pPr>
            <a:r>
              <a:rPr lang="es-ES" sz="2000" dirty="0">
                <a:solidFill>
                  <a:schemeClr val="accent1"/>
                </a:solidFill>
                <a:latin typeface="Century Gothic" panose="020B0502020202020204" pitchFamily="34" charset="0"/>
              </a:rPr>
              <a:t>Se dice que dos o más proyectos son independientes cuando </a:t>
            </a:r>
            <a:r>
              <a:rPr lang="es-ES" sz="2000" b="1" dirty="0">
                <a:solidFill>
                  <a:schemeClr val="accent3">
                    <a:lumMod val="50000"/>
                  </a:schemeClr>
                </a:solidFill>
                <a:latin typeface="Century Gothic" panose="020B0502020202020204" pitchFamily="34" charset="0"/>
              </a:rPr>
              <a:t>pueden ejecutarse simultáneamente</a:t>
            </a:r>
            <a:r>
              <a:rPr lang="es-ES" sz="2000" dirty="0">
                <a:solidFill>
                  <a:schemeClr val="accent1"/>
                </a:solidFill>
                <a:latin typeface="Century Gothic" panose="020B0502020202020204" pitchFamily="34" charset="0"/>
              </a:rPr>
              <a:t>.</a:t>
            </a:r>
          </a:p>
          <a:p>
            <a:pPr algn="just">
              <a:buFont typeface="Wingdings" panose="05000000000000000000" pitchFamily="2" charset="2"/>
              <a:buChar char="§"/>
            </a:pPr>
            <a:r>
              <a:rPr lang="es-ES" sz="2000" dirty="0">
                <a:solidFill>
                  <a:schemeClr val="accent1"/>
                </a:solidFill>
                <a:latin typeface="Century Gothic" panose="020B0502020202020204" pitchFamily="34" charset="0"/>
              </a:rPr>
              <a:t>Cuando la tarea consiste en determinar cuál(es) proyectos deben ejecutarse, basta con determinar qué proyectos son convenientes o rentables financieramente. </a:t>
            </a:r>
          </a:p>
          <a:p>
            <a:pPr algn="just">
              <a:buFont typeface="Wingdings" panose="05000000000000000000" pitchFamily="2" charset="2"/>
              <a:buChar char="§"/>
            </a:pPr>
            <a:r>
              <a:rPr lang="es-ES" sz="2000" dirty="0">
                <a:solidFill>
                  <a:schemeClr val="accent1"/>
                </a:solidFill>
                <a:latin typeface="Century Gothic" panose="020B0502020202020204" pitchFamily="34" charset="0"/>
              </a:rPr>
              <a:t>Siempre que no exista ningún tipo de </a:t>
            </a:r>
            <a:r>
              <a:rPr lang="es-ES" sz="2000" b="1" dirty="0">
                <a:solidFill>
                  <a:schemeClr val="accent3">
                    <a:lumMod val="50000"/>
                  </a:schemeClr>
                </a:solidFill>
                <a:latin typeface="Century Gothic" panose="020B0502020202020204" pitchFamily="34" charset="0"/>
              </a:rPr>
              <a:t>restricción</a:t>
            </a:r>
            <a:r>
              <a:rPr lang="es-ES" sz="2000" dirty="0">
                <a:solidFill>
                  <a:schemeClr val="accent1"/>
                </a:solidFill>
                <a:latin typeface="Century Gothic" panose="020B0502020202020204" pitchFamily="34" charset="0"/>
              </a:rPr>
              <a:t> o </a:t>
            </a:r>
            <a:r>
              <a:rPr lang="es-ES" sz="2000" b="1" dirty="0">
                <a:solidFill>
                  <a:schemeClr val="accent3">
                    <a:lumMod val="50000"/>
                  </a:schemeClr>
                </a:solidFill>
                <a:latin typeface="Century Gothic" panose="020B0502020202020204" pitchFamily="34" charset="0"/>
              </a:rPr>
              <a:t>limitación </a:t>
            </a:r>
            <a:r>
              <a:rPr lang="es-ES" sz="2000" dirty="0">
                <a:solidFill>
                  <a:schemeClr val="accent1"/>
                </a:solidFill>
                <a:latin typeface="Century Gothic" panose="020B0502020202020204" pitchFamily="34" charset="0"/>
              </a:rPr>
              <a:t>(presupuestal/liquidez, tecnológica, regulatoria, entre otras) se podrán hacer uso de los diferentes indicadores para poder seleccionar aquellos que sean convenientes.</a:t>
            </a:r>
          </a:p>
          <a:p>
            <a:pPr algn="just">
              <a:buFont typeface="Wingdings" panose="05000000000000000000" pitchFamily="2" charset="2"/>
              <a:buChar char="§"/>
            </a:pPr>
            <a:endParaRPr lang="es-ES" sz="2000" dirty="0">
              <a:solidFill>
                <a:schemeClr val="accent1"/>
              </a:solidFill>
              <a:latin typeface="Century Gothic" panose="020B0502020202020204" pitchFamily="34" charset="0"/>
            </a:endParaRPr>
          </a:p>
        </p:txBody>
      </p:sp>
      <p:pic>
        <p:nvPicPr>
          <p:cNvPr id="9" name="Imagen 8">
            <a:extLst>
              <a:ext uri="{FF2B5EF4-FFF2-40B4-BE49-F238E27FC236}">
                <a16:creationId xmlns:a16="http://schemas.microsoft.com/office/drawing/2014/main" id="{815915A7-B1F7-DE0F-6FD4-72901E2A8BC1}"/>
              </a:ext>
            </a:extLst>
          </p:cNvPr>
          <p:cNvPicPr>
            <a:picLocks noChangeAspect="1"/>
          </p:cNvPicPr>
          <p:nvPr/>
        </p:nvPicPr>
        <p:blipFill>
          <a:blip r:embed="rId3"/>
          <a:stretch>
            <a:fillRect/>
          </a:stretch>
        </p:blipFill>
        <p:spPr>
          <a:xfrm>
            <a:off x="8717302" y="3188545"/>
            <a:ext cx="2832733" cy="2227992"/>
          </a:xfrm>
          <a:prstGeom prst="rect">
            <a:avLst/>
          </a:prstGeom>
        </p:spPr>
      </p:pic>
      <p:sp>
        <p:nvSpPr>
          <p:cNvPr id="8" name="Rectángulo 7">
            <a:extLst>
              <a:ext uri="{FF2B5EF4-FFF2-40B4-BE49-F238E27FC236}">
                <a16:creationId xmlns:a16="http://schemas.microsoft.com/office/drawing/2014/main" id="{D1838F64-62E1-1588-E516-89278CB2354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6EF4D652-280A-E69A-274A-FD6894F90C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2" name="Rectángulo 11">
            <a:extLst>
              <a:ext uri="{FF2B5EF4-FFF2-40B4-BE49-F238E27FC236}">
                <a16:creationId xmlns:a16="http://schemas.microsoft.com/office/drawing/2014/main" id="{1271AA26-55F5-8F89-95E7-AC8CC7FD454D}"/>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3" name="Slide Number Placeholder 3">
            <a:extLst>
              <a:ext uri="{FF2B5EF4-FFF2-40B4-BE49-F238E27FC236}">
                <a16:creationId xmlns:a16="http://schemas.microsoft.com/office/drawing/2014/main" id="{B4B0A83B-5084-6EB6-FA88-7906F2EF05EC}"/>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8</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373660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Effect transition="in" filter="fade">
                                      <p:cBhvr>
                                        <p:cTn id="7" dur="500"/>
                                        <p:tgtEl>
                                          <p:spTgt spid="7">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4" end="4"/>
                                            </p:txEl>
                                          </p:spTgt>
                                        </p:tgtEl>
                                        <p:attrNameLst>
                                          <p:attrName>style.visibility</p:attrName>
                                        </p:attrNameLst>
                                      </p:cBhvr>
                                      <p:to>
                                        <p:strVal val="visible"/>
                                      </p:to>
                                    </p:set>
                                    <p:animEffect transition="in" filter="fade">
                                      <p:cBhvr>
                                        <p:cTn id="12"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sz="3200" dirty="0">
                <a:latin typeface="Century Gothic" panose="020B0502020202020204" pitchFamily="34" charset="0"/>
              </a:rPr>
              <a:t>Proyectos Independientes</a:t>
            </a:r>
          </a:p>
        </p:txBody>
      </p:sp>
      <p:sp>
        <p:nvSpPr>
          <p:cNvPr id="3" name="Content Placeholder 2"/>
          <p:cNvSpPr>
            <a:spLocks noGrp="1"/>
          </p:cNvSpPr>
          <p:nvPr>
            <p:ph idx="1"/>
          </p:nvPr>
        </p:nvSpPr>
        <p:spPr>
          <a:xfrm>
            <a:off x="1492908" y="4952478"/>
            <a:ext cx="9525867" cy="1186221"/>
          </a:xfrm>
        </p:spPr>
        <p:txBody>
          <a:bodyPr>
            <a:normAutofit/>
          </a:bodyPr>
          <a:lstStyle/>
          <a:p>
            <a:pPr marL="0" indent="0" algn="ctr">
              <a:buNone/>
            </a:pPr>
            <a:r>
              <a:rPr lang="es-ES_tradnl" sz="2000" dirty="0">
                <a:solidFill>
                  <a:schemeClr val="accent1"/>
                </a:solidFill>
                <a:latin typeface="Century Gothic" panose="020B0502020202020204" pitchFamily="34" charset="0"/>
              </a:rPr>
              <a:t>Es relativamente intuitivo que, si no tengo restricciones de capital, seleccionaría todos los proyectos que me generen valor.</a:t>
            </a:r>
          </a:p>
        </p:txBody>
      </p:sp>
      <p:graphicFrame>
        <p:nvGraphicFramePr>
          <p:cNvPr id="7" name="Table 6"/>
          <p:cNvGraphicFramePr>
            <a:graphicFrameLocks noGrp="1"/>
          </p:cNvGraphicFramePr>
          <p:nvPr>
            <p:extLst>
              <p:ext uri="{D42A27DB-BD31-4B8C-83A1-F6EECF244321}">
                <p14:modId xmlns:p14="http://schemas.microsoft.com/office/powerpoint/2010/main" val="3159755480"/>
              </p:ext>
            </p:extLst>
          </p:nvPr>
        </p:nvGraphicFramePr>
        <p:xfrm>
          <a:off x="1492908" y="3089042"/>
          <a:ext cx="9206184" cy="1483360"/>
        </p:xfrm>
        <a:graphic>
          <a:graphicData uri="http://schemas.openxmlformats.org/drawingml/2006/table">
            <a:tbl>
              <a:tblPr firstRow="1" bandRow="1">
                <a:tableStyleId>{5C22544A-7EE6-4342-B048-85BDC9FD1C3A}</a:tableStyleId>
              </a:tblPr>
              <a:tblGrid>
                <a:gridCol w="1534364">
                  <a:extLst>
                    <a:ext uri="{9D8B030D-6E8A-4147-A177-3AD203B41FA5}">
                      <a16:colId xmlns:a16="http://schemas.microsoft.com/office/drawing/2014/main" val="20000"/>
                    </a:ext>
                  </a:extLst>
                </a:gridCol>
                <a:gridCol w="1534364">
                  <a:extLst>
                    <a:ext uri="{9D8B030D-6E8A-4147-A177-3AD203B41FA5}">
                      <a16:colId xmlns:a16="http://schemas.microsoft.com/office/drawing/2014/main" val="20001"/>
                    </a:ext>
                  </a:extLst>
                </a:gridCol>
                <a:gridCol w="1534364">
                  <a:extLst>
                    <a:ext uri="{9D8B030D-6E8A-4147-A177-3AD203B41FA5}">
                      <a16:colId xmlns:a16="http://schemas.microsoft.com/office/drawing/2014/main" val="20002"/>
                    </a:ext>
                  </a:extLst>
                </a:gridCol>
                <a:gridCol w="1534364">
                  <a:extLst>
                    <a:ext uri="{9D8B030D-6E8A-4147-A177-3AD203B41FA5}">
                      <a16:colId xmlns:a16="http://schemas.microsoft.com/office/drawing/2014/main" val="20003"/>
                    </a:ext>
                  </a:extLst>
                </a:gridCol>
                <a:gridCol w="1534364">
                  <a:extLst>
                    <a:ext uri="{9D8B030D-6E8A-4147-A177-3AD203B41FA5}">
                      <a16:colId xmlns:a16="http://schemas.microsoft.com/office/drawing/2014/main" val="20004"/>
                    </a:ext>
                  </a:extLst>
                </a:gridCol>
                <a:gridCol w="1534364">
                  <a:extLst>
                    <a:ext uri="{9D8B030D-6E8A-4147-A177-3AD203B41FA5}">
                      <a16:colId xmlns:a16="http://schemas.microsoft.com/office/drawing/2014/main" val="20005"/>
                    </a:ext>
                  </a:extLst>
                </a:gridCol>
              </a:tblGrid>
              <a:tr h="370840">
                <a:tc>
                  <a:txBody>
                    <a:bodyPr/>
                    <a:lstStyle/>
                    <a:p>
                      <a:pPr algn="ctr"/>
                      <a:r>
                        <a:rPr lang="es-ES_tradnl" sz="1800" noProof="0" dirty="0">
                          <a:latin typeface="Century Gothic" panose="020B0502020202020204" pitchFamily="34" charset="0"/>
                        </a:rPr>
                        <a:t>IBF</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Proyecto A</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Proyecto B</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accent3">
                        <a:lumMod val="7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latin typeface="Century Gothic" panose="020B0502020202020204" pitchFamily="34" charset="0"/>
                        </a:rPr>
                        <a:t>Proyecto C</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accent3">
                        <a:lumMod val="7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latin typeface="Century Gothic" panose="020B0502020202020204" pitchFamily="34" charset="0"/>
                        </a:rPr>
                        <a:t>Proyecto D</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accent3">
                        <a:lumMod val="7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latin typeface="Century Gothic" panose="020B0502020202020204" pitchFamily="34" charset="0"/>
                        </a:rPr>
                        <a:t>Proyecto E</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accent1"/>
                          </a:solidFill>
                          <a:latin typeface="Century Gothic" panose="020B0502020202020204" pitchFamily="34" charset="0"/>
                        </a:rPr>
                        <a:t>Inversión</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90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25</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40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70840">
                <a:tc>
                  <a:txBody>
                    <a:bodyPr/>
                    <a:lstStyle/>
                    <a:p>
                      <a:pPr algn="ctr"/>
                      <a:r>
                        <a:rPr lang="es-ES_tradnl" sz="1800" noProof="0" dirty="0">
                          <a:solidFill>
                            <a:schemeClr val="accent1"/>
                          </a:solidFill>
                          <a:latin typeface="Century Gothic" panose="020B0502020202020204" pitchFamily="34" charset="0"/>
                        </a:rPr>
                        <a:t>VPN (10%)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150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137</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-3,5</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r>
                        <a:rPr lang="es-ES_tradnl" sz="1800" noProof="0" dirty="0">
                          <a:solidFill>
                            <a:schemeClr val="accent1"/>
                          </a:solidFill>
                          <a:latin typeface="Century Gothic" panose="020B0502020202020204" pitchFamily="34" charset="0"/>
                        </a:rPr>
                        <a:t>TIR</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17,98%</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20,06%</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10,10%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10,50%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9,85%</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bl>
          </a:graphicData>
        </a:graphic>
      </p:graphicFrame>
      <p:sp>
        <p:nvSpPr>
          <p:cNvPr id="6" name="Rectángulo 5">
            <a:extLst>
              <a:ext uri="{FF2B5EF4-FFF2-40B4-BE49-F238E27FC236}">
                <a16:creationId xmlns:a16="http://schemas.microsoft.com/office/drawing/2014/main" id="{1F3F41D7-2BB6-C8AB-6780-BE881DD4E7B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416E5C34-570E-2BC2-7F9A-1C36006643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2F685E8D-C8AA-A3AA-D6D7-6C3E3E564249}"/>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0" name="Rectángulo 9">
            <a:extLst>
              <a:ext uri="{FF2B5EF4-FFF2-40B4-BE49-F238E27FC236}">
                <a16:creationId xmlns:a16="http://schemas.microsoft.com/office/drawing/2014/main" id="{7BBD28CD-48C5-5C7A-F469-1B80CCD7E8BD}"/>
              </a:ext>
            </a:extLst>
          </p:cNvPr>
          <p:cNvSpPr/>
          <p:nvPr/>
        </p:nvSpPr>
        <p:spPr>
          <a:xfrm>
            <a:off x="3140635" y="2974687"/>
            <a:ext cx="5910729" cy="1722718"/>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 name="Content Placeholder 2">
            <a:extLst>
              <a:ext uri="{FF2B5EF4-FFF2-40B4-BE49-F238E27FC236}">
                <a16:creationId xmlns:a16="http://schemas.microsoft.com/office/drawing/2014/main" id="{BDF63346-666A-B9B1-0102-8B886D4167B3}"/>
              </a:ext>
            </a:extLst>
          </p:cNvPr>
          <p:cNvSpPr txBox="1">
            <a:spLocks/>
          </p:cNvSpPr>
          <p:nvPr/>
        </p:nvSpPr>
        <p:spPr>
          <a:xfrm>
            <a:off x="1448088" y="1748681"/>
            <a:ext cx="9525867" cy="1186221"/>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s-ES_tradnl" sz="2000" dirty="0">
                <a:solidFill>
                  <a:schemeClr val="accent1"/>
                </a:solidFill>
                <a:latin typeface="Century Gothic" panose="020B0502020202020204" pitchFamily="34" charset="0"/>
              </a:rPr>
              <a:t>Si todos los proyectos son independientes y no existen restricciones de capital, ¿qué proyecto(s) realizaría?</a:t>
            </a:r>
          </a:p>
        </p:txBody>
      </p:sp>
      <p:sp>
        <p:nvSpPr>
          <p:cNvPr id="5" name="Slide Number Placeholder 3">
            <a:extLst>
              <a:ext uri="{FF2B5EF4-FFF2-40B4-BE49-F238E27FC236}">
                <a16:creationId xmlns:a16="http://schemas.microsoft.com/office/drawing/2014/main" id="{E3DF8319-2B5A-2C48-7532-C1CA39A7A379}"/>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9</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507172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sz="3200" dirty="0">
                <a:latin typeface="Century Gothic" panose="020B0502020202020204" pitchFamily="34" charset="0"/>
              </a:rPr>
              <a:t>Proyectos Independientes</a:t>
            </a:r>
            <a:endParaRPr lang="es-ES" sz="3200" dirty="0">
              <a:latin typeface="Century Gothic" panose="020B0502020202020204" pitchFamily="34" charset="0"/>
            </a:endParaRPr>
          </a:p>
        </p:txBody>
      </p:sp>
      <p:sp>
        <p:nvSpPr>
          <p:cNvPr id="3" name="Marcador de contenido 2"/>
          <p:cNvSpPr>
            <a:spLocks noGrp="1"/>
          </p:cNvSpPr>
          <p:nvPr>
            <p:ph idx="1"/>
          </p:nvPr>
        </p:nvSpPr>
        <p:spPr>
          <a:xfrm>
            <a:off x="962541" y="2053635"/>
            <a:ext cx="10266917" cy="3678303"/>
          </a:xfrm>
        </p:spPr>
        <p:txBody>
          <a:bodyPr>
            <a:normAutofit/>
          </a:bodyPr>
          <a:lstStyle/>
          <a:p>
            <a:pPr algn="just"/>
            <a:r>
              <a:rPr lang="es-ES" sz="2000" dirty="0">
                <a:solidFill>
                  <a:schemeClr val="accent1"/>
                </a:solidFill>
                <a:latin typeface="Century Gothic" panose="020B0502020202020204" pitchFamily="34" charset="0"/>
              </a:rPr>
              <a:t>Ahora bien, y ¿qué pasa cuando si se cuenta con alguna restricción?</a:t>
            </a:r>
          </a:p>
          <a:p>
            <a:pPr algn="just"/>
            <a:r>
              <a:rPr lang="es-ES" sz="2000" dirty="0">
                <a:solidFill>
                  <a:schemeClr val="accent1"/>
                </a:solidFill>
                <a:latin typeface="Century Gothic" panose="020B0502020202020204" pitchFamily="34" charset="0"/>
              </a:rPr>
              <a:t>De acuerdo con los criterios de aceptación de cada indicador vistos en secciones anteriores se pueden </a:t>
            </a:r>
            <a:r>
              <a:rPr lang="es-ES" sz="2000" b="1" dirty="0">
                <a:solidFill>
                  <a:schemeClr val="accent3">
                    <a:lumMod val="75000"/>
                  </a:schemeClr>
                </a:solidFill>
                <a:latin typeface="Century Gothic" panose="020B0502020202020204" pitchFamily="34" charset="0"/>
              </a:rPr>
              <a:t>seleccionar los proyectos</a:t>
            </a:r>
            <a:r>
              <a:rPr lang="es-ES" sz="2000" dirty="0">
                <a:solidFill>
                  <a:schemeClr val="accent3">
                    <a:lumMod val="75000"/>
                  </a:schemeClr>
                </a:solidFill>
                <a:latin typeface="Century Gothic" panose="020B0502020202020204" pitchFamily="34" charset="0"/>
              </a:rPr>
              <a:t> </a:t>
            </a:r>
            <a:r>
              <a:rPr lang="es-ES" sz="2000" dirty="0">
                <a:solidFill>
                  <a:schemeClr val="accent1"/>
                </a:solidFill>
                <a:latin typeface="Century Gothic" panose="020B0502020202020204" pitchFamily="34" charset="0"/>
              </a:rPr>
              <a:t>convenientes o rentables financieramente </a:t>
            </a:r>
            <a:r>
              <a:rPr lang="es-ES" sz="2000" b="1" dirty="0">
                <a:solidFill>
                  <a:schemeClr val="accent3">
                    <a:lumMod val="75000"/>
                  </a:schemeClr>
                </a:solidFill>
                <a:latin typeface="Century Gothic" panose="020B0502020202020204" pitchFamily="34" charset="0"/>
              </a:rPr>
              <a:t>hasta donde las restricciones</a:t>
            </a:r>
            <a:r>
              <a:rPr lang="es-ES" sz="2000" dirty="0">
                <a:solidFill>
                  <a:schemeClr val="accent1"/>
                </a:solidFill>
                <a:latin typeface="Century Gothic" panose="020B0502020202020204" pitchFamily="34" charset="0"/>
              </a:rPr>
              <a:t> (presupuestales, tecnológicas, etc.) </a:t>
            </a:r>
            <a:r>
              <a:rPr lang="es-ES" sz="2000" b="1" dirty="0">
                <a:solidFill>
                  <a:schemeClr val="accent3">
                    <a:lumMod val="75000"/>
                  </a:schemeClr>
                </a:solidFill>
                <a:latin typeface="Century Gothic" panose="020B0502020202020204" pitchFamily="34" charset="0"/>
              </a:rPr>
              <a:t>lo permitan</a:t>
            </a:r>
            <a:r>
              <a:rPr lang="es-ES" sz="2000" b="1" dirty="0">
                <a:solidFill>
                  <a:schemeClr val="accent1"/>
                </a:solidFill>
                <a:latin typeface="Century Gothic" panose="020B0502020202020204" pitchFamily="34" charset="0"/>
              </a:rPr>
              <a:t>.</a:t>
            </a:r>
          </a:p>
          <a:p>
            <a:pPr algn="just"/>
            <a:r>
              <a:rPr lang="es-ES" sz="2000" dirty="0">
                <a:solidFill>
                  <a:schemeClr val="accent1"/>
                </a:solidFill>
                <a:latin typeface="Century Gothic" panose="020B0502020202020204" pitchFamily="34" charset="0"/>
              </a:rPr>
              <a:t>Generalmente, la limitación para seleccionar más de un proyecto independiente son las restricciones de liquidez.</a:t>
            </a:r>
          </a:p>
          <a:p>
            <a:pPr marL="0" indent="0" algn="just">
              <a:buNone/>
            </a:pPr>
            <a:endParaRPr lang="es-ES" sz="2000" dirty="0">
              <a:solidFill>
                <a:srgbClr val="800000"/>
              </a:solidFill>
              <a:latin typeface="Century Gothic" panose="020B0502020202020204" pitchFamily="34" charset="0"/>
            </a:endParaRPr>
          </a:p>
          <a:p>
            <a:pPr marL="0" indent="0" algn="just">
              <a:buNone/>
            </a:pPr>
            <a:r>
              <a:rPr lang="es-ES" sz="2000" dirty="0">
                <a:solidFill>
                  <a:srgbClr val="800000"/>
                </a:solidFill>
                <a:latin typeface="Century Gothic" panose="020B0502020202020204" pitchFamily="34" charset="0"/>
              </a:rPr>
              <a:t>					</a:t>
            </a:r>
            <a:r>
              <a:rPr lang="es-ES" sz="2000" b="1" dirty="0">
                <a:solidFill>
                  <a:srgbClr val="C00000"/>
                </a:solidFill>
                <a:latin typeface="Century Gothic" panose="020B0502020202020204" pitchFamily="34" charset="0"/>
              </a:rPr>
              <a:t>¿Qué se debería realizar?</a:t>
            </a:r>
          </a:p>
        </p:txBody>
      </p:sp>
      <p:sp>
        <p:nvSpPr>
          <p:cNvPr id="5" name="Flecha derecha 4"/>
          <p:cNvSpPr/>
          <p:nvPr/>
        </p:nvSpPr>
        <p:spPr>
          <a:xfrm flipV="1">
            <a:off x="6615124" y="5252784"/>
            <a:ext cx="474680" cy="273840"/>
          </a:xfrm>
          <a:prstGeom prst="rightArrow">
            <a:avLst/>
          </a:prstGeom>
          <a:solidFill>
            <a:schemeClr val="accent1"/>
          </a:solid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6" name="CuadroTexto 5"/>
          <p:cNvSpPr txBox="1"/>
          <p:nvPr/>
        </p:nvSpPr>
        <p:spPr>
          <a:xfrm>
            <a:off x="7137615" y="5189649"/>
            <a:ext cx="1378904" cy="400110"/>
          </a:xfrm>
          <a:prstGeom prst="rect">
            <a:avLst/>
          </a:prstGeom>
          <a:noFill/>
        </p:spPr>
        <p:txBody>
          <a:bodyPr wrap="none" rtlCol="0">
            <a:spAutoFit/>
          </a:bodyPr>
          <a:lstStyle/>
          <a:p>
            <a:r>
              <a:rPr lang="es-ES" sz="2000" b="1" dirty="0">
                <a:solidFill>
                  <a:srgbClr val="D7A700"/>
                </a:solidFill>
                <a:latin typeface="Century Gothic" panose="020B0502020202020204" pitchFamily="34" charset="0"/>
              </a:rPr>
              <a:t>Optimizar</a:t>
            </a:r>
          </a:p>
        </p:txBody>
      </p:sp>
      <p:pic>
        <p:nvPicPr>
          <p:cNvPr id="1026" name="Picture 2" descr="Dibujos Animados Brillante Bombilla De Luz Amarilla. Idea Creativa.  Concepto De Inspiración. Ilustración De Vector Dibujado A Mano Aislada  Sobre Fondo Blanco. Ilustraciones svg, vectoriales, clip art vectorizado  libre de derechos. Image">
            <a:extLst>
              <a:ext uri="{FF2B5EF4-FFF2-40B4-BE49-F238E27FC236}">
                <a16:creationId xmlns:a16="http://schemas.microsoft.com/office/drawing/2014/main" id="{D7CD9992-1E16-6596-7376-1F9EEDFC7F03}"/>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059283" y="4458146"/>
            <a:ext cx="1863116" cy="1863116"/>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5F8605C0-22DF-FAEB-AADB-4462ED9439C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D6A7077F-34C0-CFCB-8B37-F8904F38EB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2AA1FA03-FE61-6A5D-ED29-6EA1DA5C8D39}"/>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0" name="Slide Number Placeholder 3">
            <a:extLst>
              <a:ext uri="{FF2B5EF4-FFF2-40B4-BE49-F238E27FC236}">
                <a16:creationId xmlns:a16="http://schemas.microsoft.com/office/drawing/2014/main" id="{6FFF38AA-0BD2-FBB8-8E0D-9346FF9C2005}"/>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10</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2325067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fade">
                                      <p:cBhvr>
                                        <p:cTn id="11" dur="500"/>
                                        <p:tgtEl>
                                          <p:spTgt spid="3">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F0735-5938-E5AC-1124-C6509C0593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B620F6-A97A-A4CD-0CBB-C9FAE55E43AF}"/>
              </a:ext>
            </a:extLst>
          </p:cNvPr>
          <p:cNvSpPr>
            <a:spLocks noGrp="1"/>
          </p:cNvSpPr>
          <p:nvPr>
            <p:ph type="title"/>
          </p:nvPr>
        </p:nvSpPr>
        <p:spPr/>
        <p:txBody>
          <a:bodyPr>
            <a:normAutofit/>
          </a:bodyPr>
          <a:lstStyle/>
          <a:p>
            <a:r>
              <a:rPr lang="es-ES_tradnl" sz="3200" dirty="0">
                <a:latin typeface="Century Gothic" panose="020B0502020202020204" pitchFamily="34" charset="0"/>
              </a:rPr>
              <a:t>Proyectos Independientes</a:t>
            </a:r>
          </a:p>
        </p:txBody>
      </p:sp>
      <p:sp>
        <p:nvSpPr>
          <p:cNvPr id="3" name="Content Placeholder 2">
            <a:extLst>
              <a:ext uri="{FF2B5EF4-FFF2-40B4-BE49-F238E27FC236}">
                <a16:creationId xmlns:a16="http://schemas.microsoft.com/office/drawing/2014/main" id="{B0493320-85AC-7C16-CC0E-70775028CEDD}"/>
              </a:ext>
            </a:extLst>
          </p:cNvPr>
          <p:cNvSpPr>
            <a:spLocks noGrp="1"/>
          </p:cNvSpPr>
          <p:nvPr>
            <p:ph idx="1"/>
          </p:nvPr>
        </p:nvSpPr>
        <p:spPr>
          <a:xfrm>
            <a:off x="1415434" y="4494212"/>
            <a:ext cx="9283658" cy="665405"/>
          </a:xfrm>
        </p:spPr>
        <p:txBody>
          <a:bodyPr>
            <a:normAutofit lnSpcReduction="10000"/>
          </a:bodyPr>
          <a:lstStyle/>
          <a:p>
            <a:pPr marL="0" indent="0" algn="ctr">
              <a:buNone/>
            </a:pPr>
            <a:r>
              <a:rPr lang="es-ES" sz="2000" dirty="0">
                <a:solidFill>
                  <a:schemeClr val="accent1"/>
                </a:solidFill>
                <a:latin typeface="Century Gothic" panose="020B0502020202020204" pitchFamily="34" charset="0"/>
              </a:rPr>
              <a:t>Se evalúan todas las combinaciones de proyectos (de los que generan </a:t>
            </a:r>
            <a:r>
              <a:rPr lang="es-ES" sz="2000" b="1" dirty="0">
                <a:solidFill>
                  <a:schemeClr val="accent1"/>
                </a:solidFill>
                <a:latin typeface="Century Gothic" panose="020B0502020202020204" pitchFamily="34" charset="0"/>
              </a:rPr>
              <a:t>valor</a:t>
            </a:r>
            <a:r>
              <a:rPr lang="es-ES" sz="2000" dirty="0">
                <a:solidFill>
                  <a:schemeClr val="accent1"/>
                </a:solidFill>
                <a:latin typeface="Century Gothic" panose="020B0502020202020204" pitchFamily="34" charset="0"/>
              </a:rPr>
              <a:t>) que puedo hacer con 200:​</a:t>
            </a:r>
          </a:p>
        </p:txBody>
      </p:sp>
      <p:graphicFrame>
        <p:nvGraphicFramePr>
          <p:cNvPr id="7" name="Table 6">
            <a:extLst>
              <a:ext uri="{FF2B5EF4-FFF2-40B4-BE49-F238E27FC236}">
                <a16:creationId xmlns:a16="http://schemas.microsoft.com/office/drawing/2014/main" id="{370B9E8C-3C50-1945-9623-524962A92C8C}"/>
              </a:ext>
            </a:extLst>
          </p:cNvPr>
          <p:cNvGraphicFramePr>
            <a:graphicFrameLocks noGrp="1"/>
          </p:cNvGraphicFramePr>
          <p:nvPr>
            <p:extLst>
              <p:ext uri="{D42A27DB-BD31-4B8C-83A1-F6EECF244321}">
                <p14:modId xmlns:p14="http://schemas.microsoft.com/office/powerpoint/2010/main" val="107486771"/>
              </p:ext>
            </p:extLst>
          </p:nvPr>
        </p:nvGraphicFramePr>
        <p:xfrm>
          <a:off x="1492908" y="2758168"/>
          <a:ext cx="9206184" cy="1483360"/>
        </p:xfrm>
        <a:graphic>
          <a:graphicData uri="http://schemas.openxmlformats.org/drawingml/2006/table">
            <a:tbl>
              <a:tblPr firstRow="1" bandRow="1">
                <a:tableStyleId>{5C22544A-7EE6-4342-B048-85BDC9FD1C3A}</a:tableStyleId>
              </a:tblPr>
              <a:tblGrid>
                <a:gridCol w="1534364">
                  <a:extLst>
                    <a:ext uri="{9D8B030D-6E8A-4147-A177-3AD203B41FA5}">
                      <a16:colId xmlns:a16="http://schemas.microsoft.com/office/drawing/2014/main" val="20000"/>
                    </a:ext>
                  </a:extLst>
                </a:gridCol>
                <a:gridCol w="1534364">
                  <a:extLst>
                    <a:ext uri="{9D8B030D-6E8A-4147-A177-3AD203B41FA5}">
                      <a16:colId xmlns:a16="http://schemas.microsoft.com/office/drawing/2014/main" val="20001"/>
                    </a:ext>
                  </a:extLst>
                </a:gridCol>
                <a:gridCol w="1534364">
                  <a:extLst>
                    <a:ext uri="{9D8B030D-6E8A-4147-A177-3AD203B41FA5}">
                      <a16:colId xmlns:a16="http://schemas.microsoft.com/office/drawing/2014/main" val="20002"/>
                    </a:ext>
                  </a:extLst>
                </a:gridCol>
                <a:gridCol w="1534364">
                  <a:extLst>
                    <a:ext uri="{9D8B030D-6E8A-4147-A177-3AD203B41FA5}">
                      <a16:colId xmlns:a16="http://schemas.microsoft.com/office/drawing/2014/main" val="20003"/>
                    </a:ext>
                  </a:extLst>
                </a:gridCol>
                <a:gridCol w="1534364">
                  <a:extLst>
                    <a:ext uri="{9D8B030D-6E8A-4147-A177-3AD203B41FA5}">
                      <a16:colId xmlns:a16="http://schemas.microsoft.com/office/drawing/2014/main" val="20004"/>
                    </a:ext>
                  </a:extLst>
                </a:gridCol>
                <a:gridCol w="1534364">
                  <a:extLst>
                    <a:ext uri="{9D8B030D-6E8A-4147-A177-3AD203B41FA5}">
                      <a16:colId xmlns:a16="http://schemas.microsoft.com/office/drawing/2014/main" val="20005"/>
                    </a:ext>
                  </a:extLst>
                </a:gridCol>
              </a:tblGrid>
              <a:tr h="370840">
                <a:tc>
                  <a:txBody>
                    <a:bodyPr/>
                    <a:lstStyle/>
                    <a:p>
                      <a:pPr algn="ctr"/>
                      <a:r>
                        <a:rPr lang="es-ES_tradnl" sz="1800" noProof="0" dirty="0">
                          <a:latin typeface="Century Gothic" panose="020B0502020202020204" pitchFamily="34" charset="0"/>
                        </a:rPr>
                        <a:t>IBF</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Proyecto A</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Proyecto B</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accent3">
                        <a:lumMod val="7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latin typeface="Century Gothic" panose="020B0502020202020204" pitchFamily="34" charset="0"/>
                        </a:rPr>
                        <a:t>Proyecto C</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accent3">
                        <a:lumMod val="7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latin typeface="Century Gothic" panose="020B0502020202020204" pitchFamily="34" charset="0"/>
                        </a:rPr>
                        <a:t>Proyecto D</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accent3">
                        <a:lumMod val="7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latin typeface="Century Gothic" panose="020B0502020202020204" pitchFamily="34" charset="0"/>
                        </a:rPr>
                        <a:t>Proyecto E</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accent1"/>
                          </a:solidFill>
                          <a:latin typeface="Century Gothic" panose="020B0502020202020204" pitchFamily="34" charset="0"/>
                        </a:rPr>
                        <a:t>Inversión</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90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25</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40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70840">
                <a:tc>
                  <a:txBody>
                    <a:bodyPr/>
                    <a:lstStyle/>
                    <a:p>
                      <a:pPr algn="ctr"/>
                      <a:r>
                        <a:rPr lang="es-ES_tradnl" sz="1800" noProof="0" dirty="0">
                          <a:solidFill>
                            <a:schemeClr val="accent1"/>
                          </a:solidFill>
                          <a:latin typeface="Century Gothic" panose="020B0502020202020204" pitchFamily="34" charset="0"/>
                        </a:rPr>
                        <a:t>VPN (10%)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150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137</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-3,5</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r>
                        <a:rPr lang="es-ES_tradnl" sz="1800" noProof="0" dirty="0">
                          <a:solidFill>
                            <a:schemeClr val="accent1"/>
                          </a:solidFill>
                          <a:latin typeface="Century Gothic" panose="020B0502020202020204" pitchFamily="34" charset="0"/>
                        </a:rPr>
                        <a:t>TIR</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17,98%</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20,06%</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10,10%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10,50%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9,85%</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bl>
          </a:graphicData>
        </a:graphic>
      </p:graphicFrame>
      <p:sp>
        <p:nvSpPr>
          <p:cNvPr id="6" name="Rectángulo 5">
            <a:extLst>
              <a:ext uri="{FF2B5EF4-FFF2-40B4-BE49-F238E27FC236}">
                <a16:creationId xmlns:a16="http://schemas.microsoft.com/office/drawing/2014/main" id="{6CFC86CA-5231-006A-B1C4-F725054980F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0CE23D1B-AA7F-4F51-965E-515808DF56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63DD0599-3E8D-0A4F-0F81-4078FDC7BC46}"/>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0" name="Rectángulo 9">
            <a:extLst>
              <a:ext uri="{FF2B5EF4-FFF2-40B4-BE49-F238E27FC236}">
                <a16:creationId xmlns:a16="http://schemas.microsoft.com/office/drawing/2014/main" id="{1FCF7A8C-C491-5295-AA6F-65BFB603C064}"/>
              </a:ext>
            </a:extLst>
          </p:cNvPr>
          <p:cNvSpPr/>
          <p:nvPr/>
        </p:nvSpPr>
        <p:spPr>
          <a:xfrm>
            <a:off x="3140635" y="2665746"/>
            <a:ext cx="2865718" cy="1722718"/>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 name="Content Placeholder 2">
            <a:extLst>
              <a:ext uri="{FF2B5EF4-FFF2-40B4-BE49-F238E27FC236}">
                <a16:creationId xmlns:a16="http://schemas.microsoft.com/office/drawing/2014/main" id="{44BBE9C4-D212-3537-A118-671411975382}"/>
              </a:ext>
            </a:extLst>
          </p:cNvPr>
          <p:cNvSpPr txBox="1">
            <a:spLocks/>
          </p:cNvSpPr>
          <p:nvPr/>
        </p:nvSpPr>
        <p:spPr>
          <a:xfrm>
            <a:off x="1448088" y="1748681"/>
            <a:ext cx="9525867" cy="1186221"/>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s-ES" sz="2000" dirty="0">
                <a:solidFill>
                  <a:schemeClr val="accent1"/>
                </a:solidFill>
                <a:latin typeface="Century Gothic" panose="020B0502020202020204" pitchFamily="34" charset="0"/>
              </a:rPr>
              <a:t>¿Y si tengo un capital total de 200?</a:t>
            </a:r>
          </a:p>
        </p:txBody>
      </p:sp>
      <p:sp>
        <p:nvSpPr>
          <p:cNvPr id="11" name="CuadroTexto 10">
            <a:extLst>
              <a:ext uri="{FF2B5EF4-FFF2-40B4-BE49-F238E27FC236}">
                <a16:creationId xmlns:a16="http://schemas.microsoft.com/office/drawing/2014/main" id="{0AAB2FB9-6C47-C0CA-9BC7-F892E332D100}"/>
              </a:ext>
            </a:extLst>
          </p:cNvPr>
          <p:cNvSpPr txBox="1"/>
          <p:nvPr/>
        </p:nvSpPr>
        <p:spPr>
          <a:xfrm>
            <a:off x="3163021" y="5088316"/>
            <a:ext cx="6096000" cy="1015663"/>
          </a:xfrm>
          <a:prstGeom prst="rect">
            <a:avLst/>
          </a:prstGeom>
          <a:noFill/>
        </p:spPr>
        <p:txBody>
          <a:bodyPr wrap="square">
            <a:spAutoFit/>
          </a:bodyPr>
          <a:lstStyle/>
          <a:p>
            <a:pPr algn="ctr"/>
            <a:r>
              <a:rPr lang="es-ES" sz="2000" dirty="0">
                <a:solidFill>
                  <a:schemeClr val="accent1"/>
                </a:solidFill>
                <a:latin typeface="Century Gothic" panose="020B0502020202020204" pitchFamily="34" charset="0"/>
              </a:rPr>
              <a:t>A+B​</a:t>
            </a:r>
          </a:p>
          <a:p>
            <a:pPr algn="ctr"/>
            <a:r>
              <a:rPr lang="es-ES" sz="2000" dirty="0">
                <a:solidFill>
                  <a:schemeClr val="accent1"/>
                </a:solidFill>
                <a:latin typeface="Century Gothic" panose="020B0502020202020204" pitchFamily="34" charset="0"/>
              </a:rPr>
              <a:t>A+C+D​</a:t>
            </a:r>
          </a:p>
          <a:p>
            <a:pPr algn="ctr"/>
            <a:r>
              <a:rPr lang="es-ES" sz="2000" dirty="0">
                <a:solidFill>
                  <a:schemeClr val="accent1"/>
                </a:solidFill>
                <a:latin typeface="Century Gothic" panose="020B0502020202020204" pitchFamily="34" charset="0"/>
              </a:rPr>
              <a:t>B+C+D​</a:t>
            </a:r>
          </a:p>
        </p:txBody>
      </p:sp>
      <p:sp>
        <p:nvSpPr>
          <p:cNvPr id="13" name="CuadroTexto 12">
            <a:extLst>
              <a:ext uri="{FF2B5EF4-FFF2-40B4-BE49-F238E27FC236}">
                <a16:creationId xmlns:a16="http://schemas.microsoft.com/office/drawing/2014/main" id="{663CAFC8-9D3E-1B1C-A7A3-21D05362AC5D}"/>
              </a:ext>
            </a:extLst>
          </p:cNvPr>
          <p:cNvSpPr txBox="1"/>
          <p:nvPr/>
        </p:nvSpPr>
        <p:spPr>
          <a:xfrm>
            <a:off x="2982232" y="6155844"/>
            <a:ext cx="6457577" cy="400110"/>
          </a:xfrm>
          <a:prstGeom prst="rect">
            <a:avLst/>
          </a:prstGeom>
          <a:noFill/>
        </p:spPr>
        <p:txBody>
          <a:bodyPr wrap="square">
            <a:spAutoFit/>
          </a:bodyPr>
          <a:lstStyle/>
          <a:p>
            <a:pPr marL="0" indent="0" algn="ctr">
              <a:buNone/>
            </a:pPr>
            <a:r>
              <a:rPr lang="es-ES" sz="2000" dirty="0">
                <a:solidFill>
                  <a:schemeClr val="accent1"/>
                </a:solidFill>
                <a:latin typeface="Century Gothic" panose="020B0502020202020204" pitchFamily="34" charset="0"/>
              </a:rPr>
              <a:t>Se elige la combinación que genere más </a:t>
            </a:r>
            <a:r>
              <a:rPr lang="es-ES" sz="2000" b="1" dirty="0">
                <a:solidFill>
                  <a:srgbClr val="D7A700"/>
                </a:solidFill>
                <a:latin typeface="Century Gothic" panose="020B0502020202020204" pitchFamily="34" charset="0"/>
              </a:rPr>
              <a:t>VALOR</a:t>
            </a:r>
            <a:r>
              <a:rPr lang="es-ES" sz="2000" dirty="0">
                <a:solidFill>
                  <a:schemeClr val="accent1"/>
                </a:solidFill>
                <a:latin typeface="Century Gothic" panose="020B0502020202020204" pitchFamily="34" charset="0"/>
              </a:rPr>
              <a:t>.</a:t>
            </a:r>
            <a:r>
              <a:rPr lang="es-ES" sz="2000" dirty="0">
                <a:latin typeface="Century Gothic" panose="020B0502020202020204" pitchFamily="34" charset="0"/>
              </a:rPr>
              <a:t>​</a:t>
            </a:r>
            <a:endParaRPr lang="es-ES_tradnl" sz="2000" dirty="0">
              <a:latin typeface="Century Gothic" panose="020B0502020202020204" pitchFamily="34" charset="0"/>
            </a:endParaRPr>
          </a:p>
        </p:txBody>
      </p:sp>
      <p:sp>
        <p:nvSpPr>
          <p:cNvPr id="5" name="Slide Number Placeholder 3">
            <a:extLst>
              <a:ext uri="{FF2B5EF4-FFF2-40B4-BE49-F238E27FC236}">
                <a16:creationId xmlns:a16="http://schemas.microsoft.com/office/drawing/2014/main" id="{5D2CCB21-A625-A833-053A-8EA3CDFD0565}"/>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11</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2789111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0" grpId="0" animBg="1"/>
      <p:bldP spid="11" grpId="0"/>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9AD1A-AD24-8C15-5D53-9ABB6A39E4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C081F5-7AEA-2BCD-AD47-30770D487C04}"/>
              </a:ext>
            </a:extLst>
          </p:cNvPr>
          <p:cNvSpPr>
            <a:spLocks noGrp="1"/>
          </p:cNvSpPr>
          <p:nvPr>
            <p:ph type="title"/>
          </p:nvPr>
        </p:nvSpPr>
        <p:spPr/>
        <p:txBody>
          <a:bodyPr>
            <a:normAutofit/>
          </a:bodyPr>
          <a:lstStyle/>
          <a:p>
            <a:r>
              <a:rPr lang="es-ES_tradnl" sz="3200" dirty="0">
                <a:latin typeface="Century Gothic" panose="020B0502020202020204" pitchFamily="34" charset="0"/>
              </a:rPr>
              <a:t>Proyectos Independientes</a:t>
            </a:r>
          </a:p>
        </p:txBody>
      </p:sp>
      <p:sp>
        <p:nvSpPr>
          <p:cNvPr id="3" name="Content Placeholder 2">
            <a:extLst>
              <a:ext uri="{FF2B5EF4-FFF2-40B4-BE49-F238E27FC236}">
                <a16:creationId xmlns:a16="http://schemas.microsoft.com/office/drawing/2014/main" id="{95DFE363-F5A2-BC01-EA5F-6C17D82134C4}"/>
              </a:ext>
            </a:extLst>
          </p:cNvPr>
          <p:cNvSpPr>
            <a:spLocks noGrp="1"/>
          </p:cNvSpPr>
          <p:nvPr>
            <p:ph idx="1"/>
          </p:nvPr>
        </p:nvSpPr>
        <p:spPr>
          <a:xfrm>
            <a:off x="1415434" y="4619901"/>
            <a:ext cx="9283658" cy="1661632"/>
          </a:xfrm>
        </p:spPr>
        <p:txBody>
          <a:bodyPr>
            <a:normAutofit lnSpcReduction="10000"/>
          </a:bodyPr>
          <a:lstStyle/>
          <a:p>
            <a:pPr marL="0" indent="0" algn="ctr">
              <a:buNone/>
            </a:pPr>
            <a:r>
              <a:rPr lang="es-ES" sz="2000" dirty="0">
                <a:solidFill>
                  <a:schemeClr val="accent1"/>
                </a:solidFill>
                <a:latin typeface="Century Gothic" panose="020B0502020202020204" pitchFamily="34" charset="0"/>
              </a:rPr>
              <a:t>En este caso la decisión ya no es tan intuitiva porque, aunque todos los proyectos son independientes, </a:t>
            </a:r>
            <a:r>
              <a:rPr lang="es-ES" sz="2000" b="1" dirty="0">
                <a:solidFill>
                  <a:schemeClr val="accent1"/>
                </a:solidFill>
                <a:latin typeface="Century Gothic" panose="020B0502020202020204" pitchFamily="34" charset="0"/>
              </a:rPr>
              <a:t>la restricción de capital </a:t>
            </a:r>
            <a:r>
              <a:rPr lang="es-ES" sz="2000" dirty="0">
                <a:solidFill>
                  <a:schemeClr val="accent1"/>
                </a:solidFill>
                <a:latin typeface="Century Gothic" panose="020B0502020202020204" pitchFamily="34" charset="0"/>
              </a:rPr>
              <a:t>me lleva a que solo puedo seleccionar uno de estos. </a:t>
            </a:r>
          </a:p>
          <a:p>
            <a:pPr marL="0" indent="0" algn="ctr">
              <a:buNone/>
            </a:pPr>
            <a:r>
              <a:rPr lang="es-ES" sz="2000" dirty="0">
                <a:solidFill>
                  <a:schemeClr val="accent1"/>
                </a:solidFill>
                <a:latin typeface="Century Gothic" panose="020B0502020202020204" pitchFamily="34" charset="0"/>
              </a:rPr>
              <a:t>Así, pasaríamos a tener una selección de proyectos </a:t>
            </a:r>
            <a:r>
              <a:rPr lang="es-ES" sz="2000" b="1" dirty="0">
                <a:solidFill>
                  <a:schemeClr val="accent1"/>
                </a:solidFill>
                <a:latin typeface="Century Gothic" panose="020B0502020202020204" pitchFamily="34" charset="0"/>
              </a:rPr>
              <a:t>mutuamente excluyentes</a:t>
            </a:r>
            <a:r>
              <a:rPr lang="es-ES" sz="2000" dirty="0">
                <a:solidFill>
                  <a:schemeClr val="accent1"/>
                </a:solidFill>
                <a:latin typeface="Century Gothic" panose="020B0502020202020204" pitchFamily="34" charset="0"/>
              </a:rPr>
              <a:t>, que veremos más adelante. </a:t>
            </a:r>
          </a:p>
        </p:txBody>
      </p:sp>
      <p:graphicFrame>
        <p:nvGraphicFramePr>
          <p:cNvPr id="7" name="Table 6">
            <a:extLst>
              <a:ext uri="{FF2B5EF4-FFF2-40B4-BE49-F238E27FC236}">
                <a16:creationId xmlns:a16="http://schemas.microsoft.com/office/drawing/2014/main" id="{8C94159E-6D8A-3180-071E-3B2AC7C92E8A}"/>
              </a:ext>
            </a:extLst>
          </p:cNvPr>
          <p:cNvGraphicFramePr>
            <a:graphicFrameLocks noGrp="1"/>
          </p:cNvGraphicFramePr>
          <p:nvPr>
            <p:extLst>
              <p:ext uri="{D42A27DB-BD31-4B8C-83A1-F6EECF244321}">
                <p14:modId xmlns:p14="http://schemas.microsoft.com/office/powerpoint/2010/main" val="2846367936"/>
              </p:ext>
            </p:extLst>
          </p:nvPr>
        </p:nvGraphicFramePr>
        <p:xfrm>
          <a:off x="1492908" y="2758168"/>
          <a:ext cx="9206184" cy="1483360"/>
        </p:xfrm>
        <a:graphic>
          <a:graphicData uri="http://schemas.openxmlformats.org/drawingml/2006/table">
            <a:tbl>
              <a:tblPr firstRow="1" bandRow="1">
                <a:tableStyleId>{5C22544A-7EE6-4342-B048-85BDC9FD1C3A}</a:tableStyleId>
              </a:tblPr>
              <a:tblGrid>
                <a:gridCol w="1534364">
                  <a:extLst>
                    <a:ext uri="{9D8B030D-6E8A-4147-A177-3AD203B41FA5}">
                      <a16:colId xmlns:a16="http://schemas.microsoft.com/office/drawing/2014/main" val="20000"/>
                    </a:ext>
                  </a:extLst>
                </a:gridCol>
                <a:gridCol w="1534364">
                  <a:extLst>
                    <a:ext uri="{9D8B030D-6E8A-4147-A177-3AD203B41FA5}">
                      <a16:colId xmlns:a16="http://schemas.microsoft.com/office/drawing/2014/main" val="20001"/>
                    </a:ext>
                  </a:extLst>
                </a:gridCol>
                <a:gridCol w="1534364">
                  <a:extLst>
                    <a:ext uri="{9D8B030D-6E8A-4147-A177-3AD203B41FA5}">
                      <a16:colId xmlns:a16="http://schemas.microsoft.com/office/drawing/2014/main" val="20002"/>
                    </a:ext>
                  </a:extLst>
                </a:gridCol>
                <a:gridCol w="1534364">
                  <a:extLst>
                    <a:ext uri="{9D8B030D-6E8A-4147-A177-3AD203B41FA5}">
                      <a16:colId xmlns:a16="http://schemas.microsoft.com/office/drawing/2014/main" val="20003"/>
                    </a:ext>
                  </a:extLst>
                </a:gridCol>
                <a:gridCol w="1534364">
                  <a:extLst>
                    <a:ext uri="{9D8B030D-6E8A-4147-A177-3AD203B41FA5}">
                      <a16:colId xmlns:a16="http://schemas.microsoft.com/office/drawing/2014/main" val="20004"/>
                    </a:ext>
                  </a:extLst>
                </a:gridCol>
                <a:gridCol w="1534364">
                  <a:extLst>
                    <a:ext uri="{9D8B030D-6E8A-4147-A177-3AD203B41FA5}">
                      <a16:colId xmlns:a16="http://schemas.microsoft.com/office/drawing/2014/main" val="20005"/>
                    </a:ext>
                  </a:extLst>
                </a:gridCol>
              </a:tblGrid>
              <a:tr h="370840">
                <a:tc>
                  <a:txBody>
                    <a:bodyPr/>
                    <a:lstStyle/>
                    <a:p>
                      <a:pPr algn="ctr"/>
                      <a:r>
                        <a:rPr lang="es-ES_tradnl" sz="1800" noProof="0" dirty="0">
                          <a:latin typeface="Century Gothic" panose="020B0502020202020204" pitchFamily="34" charset="0"/>
                        </a:rPr>
                        <a:t>IBF</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Proyecto A</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Proyecto B</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accent3">
                        <a:lumMod val="7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latin typeface="Century Gothic" panose="020B0502020202020204" pitchFamily="34" charset="0"/>
                        </a:rPr>
                        <a:t>Proyecto C</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accent3">
                        <a:lumMod val="7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latin typeface="Century Gothic" panose="020B0502020202020204" pitchFamily="34" charset="0"/>
                        </a:rPr>
                        <a:t>Proyecto D</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accent3">
                        <a:lumMod val="7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latin typeface="Century Gothic" panose="020B0502020202020204" pitchFamily="34" charset="0"/>
                        </a:rPr>
                        <a:t>Proyecto E</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accent1"/>
                          </a:solidFill>
                          <a:latin typeface="Century Gothic" panose="020B0502020202020204" pitchFamily="34" charset="0"/>
                        </a:rPr>
                        <a:t>Inversión</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90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25</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40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70840">
                <a:tc>
                  <a:txBody>
                    <a:bodyPr/>
                    <a:lstStyle/>
                    <a:p>
                      <a:pPr algn="ctr"/>
                      <a:r>
                        <a:rPr lang="es-ES_tradnl" sz="1800" noProof="0" dirty="0">
                          <a:solidFill>
                            <a:schemeClr val="accent1"/>
                          </a:solidFill>
                          <a:latin typeface="Century Gothic" panose="020B0502020202020204" pitchFamily="34" charset="0"/>
                        </a:rPr>
                        <a:t>VPN (10%)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150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137</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-3,5</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r>
                        <a:rPr lang="es-ES_tradnl" sz="1800" noProof="0" dirty="0">
                          <a:solidFill>
                            <a:schemeClr val="accent1"/>
                          </a:solidFill>
                          <a:latin typeface="Century Gothic" panose="020B0502020202020204" pitchFamily="34" charset="0"/>
                        </a:rPr>
                        <a:t>TIR</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17,98%</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20,06%</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10,10%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10,50%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9,85%</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bl>
          </a:graphicData>
        </a:graphic>
      </p:graphicFrame>
      <p:sp>
        <p:nvSpPr>
          <p:cNvPr id="6" name="Rectángulo 5">
            <a:extLst>
              <a:ext uri="{FF2B5EF4-FFF2-40B4-BE49-F238E27FC236}">
                <a16:creationId xmlns:a16="http://schemas.microsoft.com/office/drawing/2014/main" id="{95945B63-7235-5585-93C2-E7C9E28C2A2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37679407-0D6D-DB65-9925-EEB5FA2A17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F53B4A9A-70D6-733D-B08E-382782D8CA28}"/>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4" name="Content Placeholder 2">
            <a:extLst>
              <a:ext uri="{FF2B5EF4-FFF2-40B4-BE49-F238E27FC236}">
                <a16:creationId xmlns:a16="http://schemas.microsoft.com/office/drawing/2014/main" id="{108A7322-6556-3F0E-9950-5E11B871D5FF}"/>
              </a:ext>
            </a:extLst>
          </p:cNvPr>
          <p:cNvSpPr txBox="1">
            <a:spLocks/>
          </p:cNvSpPr>
          <p:nvPr/>
        </p:nvSpPr>
        <p:spPr>
          <a:xfrm>
            <a:off x="1448088" y="1748681"/>
            <a:ext cx="9525867" cy="1186221"/>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s-ES" sz="2000" dirty="0">
                <a:solidFill>
                  <a:schemeClr val="accent1"/>
                </a:solidFill>
                <a:latin typeface="Century Gothic" panose="020B0502020202020204" pitchFamily="34" charset="0"/>
              </a:rPr>
              <a:t>¿Y si tengo un capital total de 100?</a:t>
            </a:r>
          </a:p>
        </p:txBody>
      </p:sp>
      <p:sp>
        <p:nvSpPr>
          <p:cNvPr id="5" name="Slide Number Placeholder 3">
            <a:extLst>
              <a:ext uri="{FF2B5EF4-FFF2-40B4-BE49-F238E27FC236}">
                <a16:creationId xmlns:a16="http://schemas.microsoft.com/office/drawing/2014/main" id="{86A757C5-13E4-FFB3-965F-0283B9DCC926}"/>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12</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3706717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dirty="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1B3FE409-7D0A-58C7-94CC-FF71DAC17FD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441CBAAD-97DF-B955-E0A1-1A44E34CD7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2F6920EF-CAAF-FA9F-D7C3-6E161607554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2" name="Rectángulo 11">
            <a:extLst>
              <a:ext uri="{FF2B5EF4-FFF2-40B4-BE49-F238E27FC236}">
                <a16:creationId xmlns:a16="http://schemas.microsoft.com/office/drawing/2014/main" id="{2EFC8AC4-FCC0-E36D-D749-01111CA9B1F5}"/>
              </a:ext>
            </a:extLst>
          </p:cNvPr>
          <p:cNvSpPr/>
          <p:nvPr/>
        </p:nvSpPr>
        <p:spPr>
          <a:xfrm>
            <a:off x="2806200" y="2772729"/>
            <a:ext cx="8540907" cy="4247317"/>
          </a:xfrm>
          <a:prstGeom prst="rect">
            <a:avLst/>
          </a:prstGeom>
        </p:spPr>
        <p:txBody>
          <a:bodyPr wrap="square" lIns="91440" tIns="45720" rIns="91440" bIns="45720" anchor="t">
            <a:spAutoFit/>
          </a:bodyPr>
          <a:lstStyle/>
          <a:p>
            <a:pPr marL="342900" indent="-342900">
              <a:buClr>
                <a:srgbClr val="48BE7A"/>
              </a:buClr>
              <a:buFontTx/>
              <a:buAutoNum type="arabicPeriod"/>
            </a:pPr>
            <a:r>
              <a:rPr lang="es-CO" dirty="0">
                <a:solidFill>
                  <a:schemeClr val="bg2">
                    <a:lumMod val="90000"/>
                  </a:schemeClr>
                </a:solidFill>
                <a:latin typeface="Century Gothic"/>
                <a:cs typeface="Arial"/>
              </a:rPr>
              <a:t>Introducción y tipos de proyectos.</a:t>
            </a:r>
            <a:endParaRPr lang="es-ES" dirty="0">
              <a:solidFill>
                <a:schemeClr val="bg2">
                  <a:lumMod val="90000"/>
                </a:schemeClr>
              </a:solidFill>
              <a:latin typeface="Century Gothic"/>
              <a:cs typeface="Arial"/>
            </a:endParaRPr>
          </a:p>
          <a:p>
            <a:pPr marL="342900" indent="-342900">
              <a:buClr>
                <a:srgbClr val="2C7C9F"/>
              </a:buClr>
              <a:buFontTx/>
              <a:buAutoNum type="arabicPeriod"/>
            </a:pPr>
            <a:endParaRPr lang="es-CO" dirty="0">
              <a:solidFill>
                <a:schemeClr val="accent1"/>
              </a:solidFill>
              <a:latin typeface="Century Gothic"/>
              <a:cs typeface="Arial"/>
            </a:endParaRPr>
          </a:p>
          <a:p>
            <a:pPr marL="342900" indent="-342900">
              <a:buClr>
                <a:srgbClr val="48BE7A"/>
              </a:buClr>
              <a:buFontTx/>
              <a:buAutoNum type="arabicPeriod"/>
            </a:pPr>
            <a:r>
              <a:rPr lang="es-CO" dirty="0">
                <a:solidFill>
                  <a:schemeClr val="bg2">
                    <a:lumMod val="90000"/>
                  </a:schemeClr>
                </a:solidFill>
                <a:latin typeface="Century Gothic"/>
                <a:cs typeface="Arial"/>
              </a:rPr>
              <a:t>Proyectos Independientes.</a:t>
            </a:r>
          </a:p>
          <a:p>
            <a:pPr marL="342900" indent="-342900">
              <a:buClr>
                <a:srgbClr val="48BE7A"/>
              </a:buClr>
              <a:buFontTx/>
              <a:buAutoNum type="arabicPeriod"/>
            </a:pPr>
            <a:endParaRPr lang="es-CO" dirty="0">
              <a:solidFill>
                <a:schemeClr val="bg2">
                  <a:lumMod val="90000"/>
                </a:schemeClr>
              </a:solidFill>
              <a:latin typeface="Century Gothic"/>
            </a:endParaRPr>
          </a:p>
          <a:p>
            <a:pPr marL="342900" indent="-342900">
              <a:buClr>
                <a:schemeClr val="accent3">
                  <a:lumMod val="75000"/>
                </a:schemeClr>
              </a:buClr>
              <a:buFont typeface="Gill Sans MT" panose="020B0502020104020203"/>
              <a:buAutoNum type="arabicPeriod"/>
            </a:pPr>
            <a:r>
              <a:rPr lang="es-CO" dirty="0">
                <a:solidFill>
                  <a:schemeClr val="accent1"/>
                </a:solidFill>
                <a:latin typeface="Century Gothic"/>
                <a:cs typeface="Arial"/>
              </a:rPr>
              <a:t>Proyectos Dependientes.</a:t>
            </a:r>
          </a:p>
          <a:p>
            <a:pPr marL="342900" indent="-342900">
              <a:buClr>
                <a:srgbClr val="48BE7A"/>
              </a:buClr>
              <a:buFontTx/>
              <a:buAutoNum type="arabicPeriod"/>
            </a:pPr>
            <a:endParaRPr lang="es-CO" dirty="0">
              <a:solidFill>
                <a:schemeClr val="bg2">
                  <a:lumMod val="90000"/>
                </a:schemeClr>
              </a:solidFill>
              <a:latin typeface="Century Gothic"/>
              <a:cs typeface="Arial"/>
            </a:endParaRPr>
          </a:p>
          <a:p>
            <a:pPr marL="342900" indent="-342900">
              <a:buClr>
                <a:srgbClr val="48BE7A"/>
              </a:buClr>
              <a:buFontTx/>
              <a:buAutoNum type="arabicPeriod"/>
            </a:pPr>
            <a:r>
              <a:rPr lang="es-CO" dirty="0">
                <a:solidFill>
                  <a:schemeClr val="bg2">
                    <a:lumMod val="90000"/>
                  </a:schemeClr>
                </a:solidFill>
                <a:latin typeface="Century Gothic"/>
                <a:cs typeface="Arial"/>
              </a:rPr>
              <a:t>Proyectos Mutuamente Excluyentes.</a:t>
            </a:r>
          </a:p>
          <a:p>
            <a:pPr>
              <a:buClr>
                <a:srgbClr val="48BE7A"/>
              </a:buClr>
            </a:pPr>
            <a:endParaRPr lang="es-CO" dirty="0">
              <a:solidFill>
                <a:schemeClr val="accent1"/>
              </a:solidFill>
              <a:latin typeface="Century Gothic"/>
              <a:cs typeface="Arial"/>
            </a:endParaRPr>
          </a:p>
          <a:p>
            <a:pPr>
              <a:buClr>
                <a:srgbClr val="48BE7A"/>
              </a:buClr>
            </a:pPr>
            <a:r>
              <a:rPr lang="es-CO" dirty="0">
                <a:solidFill>
                  <a:schemeClr val="accent1"/>
                </a:solidFill>
                <a:latin typeface="Century Gothic"/>
                <a:cs typeface="Arial"/>
              </a:rPr>
              <a:t>	</a:t>
            </a:r>
            <a:r>
              <a:rPr lang="es-CO" dirty="0">
                <a:solidFill>
                  <a:schemeClr val="accent3">
                    <a:lumMod val="75000"/>
                  </a:schemeClr>
                </a:solidFill>
                <a:latin typeface="Century Gothic"/>
                <a:cs typeface="Arial"/>
              </a:rPr>
              <a:t>4.1. </a:t>
            </a:r>
            <a:r>
              <a:rPr lang="es-CO" dirty="0">
                <a:solidFill>
                  <a:schemeClr val="bg2">
                    <a:lumMod val="90000"/>
                  </a:schemeClr>
                </a:solidFill>
                <a:latin typeface="Century Gothic"/>
                <a:cs typeface="Arial"/>
              </a:rPr>
              <a:t>Caso I: misma vida útil, misma inversión inicial.</a:t>
            </a:r>
            <a:endParaRPr lang="es-CO" dirty="0">
              <a:solidFill>
                <a:schemeClr val="bg2">
                  <a:lumMod val="90000"/>
                </a:schemeClr>
              </a:solidFill>
              <a:latin typeface="Century Gothic" panose="020B0502020202020204" pitchFamily="34" charset="0"/>
              <a:cs typeface="Arial"/>
            </a:endParaRPr>
          </a:p>
          <a:p>
            <a:pPr marL="342900" indent="-342900">
              <a:buClr>
                <a:srgbClr val="48BE7A"/>
              </a:buClr>
              <a:buFontTx/>
              <a:buAutoNum type="arabicPeriod"/>
            </a:pPr>
            <a:endParaRPr lang="es-CO" dirty="0">
              <a:solidFill>
                <a:schemeClr val="accent1"/>
              </a:solidFill>
              <a:latin typeface="Century Gothic"/>
              <a:cs typeface="Arial"/>
            </a:endParaRPr>
          </a:p>
          <a:p>
            <a:pPr marL="342900" indent="-342900">
              <a:buClr>
                <a:srgbClr val="48BE7A"/>
              </a:buClr>
              <a:buFont typeface="+mj-lt"/>
              <a:buAutoNum type="arabicPeriod" startAt="5"/>
            </a:pPr>
            <a:r>
              <a:rPr lang="es-CO" dirty="0">
                <a:solidFill>
                  <a:schemeClr val="bg2">
                    <a:lumMod val="90000"/>
                  </a:schemeClr>
                </a:solidFill>
                <a:latin typeface="Century Gothic"/>
                <a:cs typeface="Arial"/>
              </a:rPr>
              <a:t>Ejercicios de Práctica.</a:t>
            </a:r>
            <a:endParaRPr lang="es-CO"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startAt="5"/>
            </a:pPr>
            <a:endParaRPr lang="es-CO" dirty="0">
              <a:solidFill>
                <a:schemeClr val="accent1"/>
              </a:solidFill>
              <a:latin typeface="Century Gothic" panose="020B0502020202020204" pitchFamily="34" charset="0"/>
              <a:cs typeface="Arial"/>
            </a:endParaRPr>
          </a:p>
          <a:p>
            <a:pPr>
              <a:buClr>
                <a:srgbClr val="48BE7A"/>
              </a:buClr>
            </a:pPr>
            <a:r>
              <a:rPr lang="es-CO" dirty="0">
                <a:solidFill>
                  <a:schemeClr val="accent1"/>
                </a:solidFill>
                <a:latin typeface="Century Gothic"/>
                <a:cs typeface="Arial"/>
              </a:rPr>
              <a:t>	</a:t>
            </a: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a:pPr>
            <a:endParaRPr lang="es-CO" dirty="0">
              <a:solidFill>
                <a:schemeClr val="accent1"/>
              </a:solidFill>
              <a:latin typeface="Century Gothic" panose="020B0502020202020204" pitchFamily="34" charset="0"/>
              <a:cs typeface="Arial"/>
            </a:endParaRPr>
          </a:p>
          <a:p>
            <a:pPr>
              <a:buClr>
                <a:schemeClr val="accent3">
                  <a:lumMod val="75000"/>
                </a:schemeClr>
              </a:buClr>
            </a:pPr>
            <a:endParaRPr lang="es-CO" dirty="0">
              <a:solidFill>
                <a:schemeClr val="accent1"/>
              </a:solidFill>
              <a:latin typeface="Century Gothic" panose="020B0502020202020204" pitchFamily="34" charset="0"/>
            </a:endParaRPr>
          </a:p>
        </p:txBody>
      </p:sp>
      <p:sp>
        <p:nvSpPr>
          <p:cNvPr id="3" name="Slide Number Placeholder 3">
            <a:extLst>
              <a:ext uri="{FF2B5EF4-FFF2-40B4-BE49-F238E27FC236}">
                <a16:creationId xmlns:a16="http://schemas.microsoft.com/office/drawing/2014/main" id="{3ADFA0F0-4694-784D-BA3C-38D55829FEA7}"/>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13</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643853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1000"/>
                                        <p:tgtEl>
                                          <p:spTgt spid="12"/>
                                        </p:tgtEl>
                                      </p:cBhvr>
                                    </p:animEffect>
                                    <p:anim calcmode="lin" valueType="num">
                                      <p:cBhvr>
                                        <p:cTn id="10" dur="1000" fill="hold"/>
                                        <p:tgtEl>
                                          <p:spTgt spid="12"/>
                                        </p:tgtEl>
                                        <p:attrNameLst>
                                          <p:attrName>ppt_x</p:attrName>
                                        </p:attrNameLst>
                                      </p:cBhvr>
                                      <p:tavLst>
                                        <p:tav tm="0">
                                          <p:val>
                                            <p:strVal val="#ppt_x"/>
                                          </p:val>
                                        </p:tav>
                                        <p:tav tm="100000">
                                          <p:val>
                                            <p:strVal val="#ppt_x"/>
                                          </p:val>
                                        </p:tav>
                                      </p:tavLst>
                                    </p:anim>
                                    <p:anim calcmode="lin" valueType="num">
                                      <p:cBhvr>
                                        <p:cTn id="1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dirty="0">
                <a:latin typeface="Century Gothic" panose="020B0502020202020204" pitchFamily="34" charset="0"/>
              </a:rPr>
              <a:t>Proyectos dependientes</a:t>
            </a:r>
          </a:p>
        </p:txBody>
      </p:sp>
      <p:sp>
        <p:nvSpPr>
          <p:cNvPr id="3" name="Marcador de contenido 2"/>
          <p:cNvSpPr>
            <a:spLocks noGrp="1"/>
          </p:cNvSpPr>
          <p:nvPr>
            <p:ph idx="1"/>
          </p:nvPr>
        </p:nvSpPr>
        <p:spPr>
          <a:xfrm>
            <a:off x="581192" y="1896478"/>
            <a:ext cx="11029615" cy="1532522"/>
          </a:xfrm>
        </p:spPr>
        <p:txBody>
          <a:bodyPr>
            <a:normAutofit/>
          </a:bodyPr>
          <a:lstStyle/>
          <a:p>
            <a:pPr marL="0" indent="0">
              <a:buNone/>
            </a:pPr>
            <a:r>
              <a:rPr lang="es-ES_tradnl" sz="2000" dirty="0">
                <a:solidFill>
                  <a:schemeClr val="accent1"/>
                </a:solidFill>
                <a:latin typeface="Century Gothic" panose="020B0502020202020204" pitchFamily="34" charset="0"/>
              </a:rPr>
              <a:t>Una alternativa </a:t>
            </a:r>
            <a:r>
              <a:rPr lang="es-ES_tradnl" sz="2000" b="1" dirty="0">
                <a:solidFill>
                  <a:srgbClr val="C00000"/>
                </a:solidFill>
                <a:latin typeface="Century Gothic" panose="020B0502020202020204" pitchFamily="34" charset="0"/>
              </a:rPr>
              <a:t>NO</a:t>
            </a:r>
            <a:r>
              <a:rPr lang="es-ES_tradnl" sz="2000" b="1" dirty="0">
                <a:solidFill>
                  <a:schemeClr val="accent3">
                    <a:lumMod val="75000"/>
                  </a:schemeClr>
                </a:solidFill>
                <a:latin typeface="Century Gothic" panose="020B0502020202020204" pitchFamily="34" charset="0"/>
              </a:rPr>
              <a:t> </a:t>
            </a:r>
            <a:r>
              <a:rPr lang="es-ES_tradnl" sz="2000" dirty="0">
                <a:solidFill>
                  <a:schemeClr val="accent1"/>
                </a:solidFill>
                <a:latin typeface="Century Gothic" panose="020B0502020202020204" pitchFamily="34" charset="0"/>
              </a:rPr>
              <a:t>se puede ejecutar sin llevar a cabo la otra.</a:t>
            </a:r>
          </a:p>
          <a:p>
            <a:endParaRPr lang="es-CO" sz="2000" dirty="0">
              <a:solidFill>
                <a:schemeClr val="accent1"/>
              </a:solidFill>
              <a:latin typeface="Century Gothic" panose="020B0502020202020204" pitchFamily="34" charset="0"/>
            </a:endParaRPr>
          </a:p>
        </p:txBody>
      </p:sp>
      <p:pic>
        <p:nvPicPr>
          <p:cNvPr id="7" name="Imagen 6">
            <a:extLst>
              <a:ext uri="{FF2B5EF4-FFF2-40B4-BE49-F238E27FC236}">
                <a16:creationId xmlns:a16="http://schemas.microsoft.com/office/drawing/2014/main" id="{1CD20935-4DE7-8DAF-0BBA-903413009AE8}"/>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635555" y="2814924"/>
            <a:ext cx="8920887" cy="3506338"/>
          </a:xfrm>
          <a:prstGeom prst="rect">
            <a:avLst/>
          </a:prstGeom>
        </p:spPr>
      </p:pic>
      <p:sp>
        <p:nvSpPr>
          <p:cNvPr id="8" name="Rectángulo 7">
            <a:extLst>
              <a:ext uri="{FF2B5EF4-FFF2-40B4-BE49-F238E27FC236}">
                <a16:creationId xmlns:a16="http://schemas.microsoft.com/office/drawing/2014/main" id="{1370C518-B6DD-3F19-EF30-BD085C43619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45970841-5EFB-5AA8-A326-EB8A53B9D0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47A03364-53A5-BF43-27F0-D4ECB85762EE}"/>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5" name="Slide Number Placeholder 3">
            <a:extLst>
              <a:ext uri="{FF2B5EF4-FFF2-40B4-BE49-F238E27FC236}">
                <a16:creationId xmlns:a16="http://schemas.microsoft.com/office/drawing/2014/main" id="{75EB34EE-D1CA-8271-881F-447EC929DC39}"/>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14</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639075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1A497-3069-01D0-18B9-323C07A3EFD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A4ADCBC-D8F0-7F86-E471-57FBB01B01D1}"/>
              </a:ext>
            </a:extLst>
          </p:cNvPr>
          <p:cNvSpPr>
            <a:spLocks noGrp="1"/>
          </p:cNvSpPr>
          <p:nvPr>
            <p:ph type="title"/>
          </p:nvPr>
        </p:nvSpPr>
        <p:spPr/>
        <p:txBody>
          <a:bodyPr>
            <a:normAutofit/>
          </a:bodyPr>
          <a:lstStyle/>
          <a:p>
            <a:r>
              <a:rPr lang="es-CO" sz="3200" dirty="0">
                <a:latin typeface="Century Gothic" panose="020B0502020202020204" pitchFamily="34" charset="0"/>
              </a:rPr>
              <a:t>Proyectos dependientes</a:t>
            </a:r>
          </a:p>
        </p:txBody>
      </p:sp>
      <p:sp>
        <p:nvSpPr>
          <p:cNvPr id="8" name="Rectángulo 7">
            <a:extLst>
              <a:ext uri="{FF2B5EF4-FFF2-40B4-BE49-F238E27FC236}">
                <a16:creationId xmlns:a16="http://schemas.microsoft.com/office/drawing/2014/main" id="{1ECD5DDF-5471-97E3-EA34-1F999BAEBE9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AD641FC0-80A6-FEF7-06CA-746EDB8657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6B3BA802-323B-428D-5484-41106C2A8551}"/>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1" name="Marcador de contenido 2">
            <a:extLst>
              <a:ext uri="{FF2B5EF4-FFF2-40B4-BE49-F238E27FC236}">
                <a16:creationId xmlns:a16="http://schemas.microsoft.com/office/drawing/2014/main" id="{038906EA-5130-6549-1C58-3214EF67EED8}"/>
              </a:ext>
            </a:extLst>
          </p:cNvPr>
          <p:cNvSpPr>
            <a:spLocks noGrp="1"/>
          </p:cNvSpPr>
          <p:nvPr>
            <p:ph idx="1"/>
          </p:nvPr>
        </p:nvSpPr>
        <p:spPr>
          <a:xfrm>
            <a:off x="641965" y="2210674"/>
            <a:ext cx="8161376" cy="4110588"/>
          </a:xfrm>
        </p:spPr>
        <p:txBody>
          <a:bodyPr>
            <a:noAutofit/>
          </a:bodyPr>
          <a:lstStyle/>
          <a:p>
            <a:pPr marL="0" indent="0" algn="ctr">
              <a:buNone/>
            </a:pPr>
            <a:r>
              <a:rPr lang="es-ES" sz="2400" b="1" dirty="0">
                <a:solidFill>
                  <a:srgbClr val="C00000"/>
                </a:solidFill>
                <a:latin typeface="Century Gothic" panose="020B0502020202020204" pitchFamily="34" charset="0"/>
              </a:rPr>
              <a:t>Alternativas de Inversión Dependientes</a:t>
            </a:r>
          </a:p>
          <a:p>
            <a:pPr marL="0" indent="0" algn="just">
              <a:buNone/>
            </a:pPr>
            <a:endParaRPr lang="es-ES" sz="2000" dirty="0">
              <a:solidFill>
                <a:schemeClr val="accent1"/>
              </a:solidFill>
              <a:latin typeface="Century Gothic" panose="020B0502020202020204" pitchFamily="34" charset="0"/>
            </a:endParaRPr>
          </a:p>
          <a:p>
            <a:pPr algn="just">
              <a:buFont typeface="Wingdings" panose="05000000000000000000" pitchFamily="2" charset="2"/>
              <a:buChar char="§"/>
            </a:pPr>
            <a:r>
              <a:rPr lang="es-ES" sz="2000" dirty="0">
                <a:solidFill>
                  <a:schemeClr val="accent1"/>
                </a:solidFill>
                <a:latin typeface="Century Gothic" panose="020B0502020202020204" pitchFamily="34" charset="0"/>
              </a:rPr>
              <a:t>Se dice que dos o más proyectos son dependientes cuando </a:t>
            </a:r>
            <a:r>
              <a:rPr lang="es-ES" sz="2000" b="1" dirty="0">
                <a:solidFill>
                  <a:schemeClr val="accent1"/>
                </a:solidFill>
                <a:latin typeface="Century Gothic" panose="020B0502020202020204" pitchFamily="34" charset="0"/>
              </a:rPr>
              <a:t>la realización de un proyecto exige obligatoriamente que se ejecute otro</a:t>
            </a:r>
            <a:r>
              <a:rPr lang="es-ES" sz="2000" dirty="0">
                <a:solidFill>
                  <a:schemeClr val="accent1"/>
                </a:solidFill>
                <a:latin typeface="Century Gothic" panose="020B0502020202020204" pitchFamily="34" charset="0"/>
              </a:rPr>
              <a:t>.</a:t>
            </a:r>
          </a:p>
          <a:p>
            <a:pPr algn="just">
              <a:buFont typeface="Wingdings" panose="05000000000000000000" pitchFamily="2" charset="2"/>
              <a:buChar char="§"/>
            </a:pPr>
            <a:r>
              <a:rPr lang="es-ES" sz="2000" dirty="0">
                <a:solidFill>
                  <a:schemeClr val="accent1"/>
                </a:solidFill>
                <a:latin typeface="Century Gothic" panose="020B0502020202020204" pitchFamily="34" charset="0"/>
              </a:rPr>
              <a:t>Un ejemplo sencillo de alternativas de inversión dependientes es el siguiente:</a:t>
            </a:r>
          </a:p>
          <a:p>
            <a:pPr lvl="1" algn="just">
              <a:buFont typeface="Arial" panose="020B0604020202020204" pitchFamily="34" charset="0"/>
              <a:buChar char="•"/>
            </a:pPr>
            <a:r>
              <a:rPr lang="es-ES" sz="2000" b="1" dirty="0">
                <a:solidFill>
                  <a:srgbClr val="D7A700"/>
                </a:solidFill>
                <a:latin typeface="Century Gothic" panose="020B0502020202020204" pitchFamily="34" charset="0"/>
              </a:rPr>
              <a:t>Proyecto 1: </a:t>
            </a:r>
            <a:r>
              <a:rPr lang="es-ES" sz="2000" dirty="0">
                <a:solidFill>
                  <a:schemeClr val="accent1"/>
                </a:solidFill>
                <a:latin typeface="Century Gothic" panose="020B0502020202020204" pitchFamily="34" charset="0"/>
              </a:rPr>
              <a:t>Comprar una impresora para una papelería.</a:t>
            </a:r>
          </a:p>
          <a:p>
            <a:pPr lvl="1" algn="just">
              <a:buFont typeface="Arial" panose="020B0604020202020204" pitchFamily="34" charset="0"/>
              <a:buChar char="•"/>
            </a:pPr>
            <a:r>
              <a:rPr lang="es-ES" sz="2000" b="1" dirty="0">
                <a:solidFill>
                  <a:srgbClr val="D7A700"/>
                </a:solidFill>
                <a:latin typeface="Century Gothic" panose="020B0502020202020204" pitchFamily="34" charset="0"/>
              </a:rPr>
              <a:t>Proyecto 2: </a:t>
            </a:r>
            <a:r>
              <a:rPr lang="es-ES" sz="2000" dirty="0">
                <a:solidFill>
                  <a:schemeClr val="accent1"/>
                </a:solidFill>
                <a:latin typeface="Century Gothic" panose="020B0502020202020204" pitchFamily="34" charset="0"/>
              </a:rPr>
              <a:t>Comprar un sistema de recarga de cartuchos de bajo costo que permita disminuir el costo de reemplazo de estos.</a:t>
            </a:r>
          </a:p>
        </p:txBody>
      </p:sp>
      <p:pic>
        <p:nvPicPr>
          <p:cNvPr id="12" name="Imagen 11">
            <a:extLst>
              <a:ext uri="{FF2B5EF4-FFF2-40B4-BE49-F238E27FC236}">
                <a16:creationId xmlns:a16="http://schemas.microsoft.com/office/drawing/2014/main" id="{4CBEDC69-1CC4-5E88-C22F-D75D017C400A}"/>
              </a:ext>
            </a:extLst>
          </p:cNvPr>
          <p:cNvPicPr>
            <a:picLocks noChangeAspect="1"/>
          </p:cNvPicPr>
          <p:nvPr/>
        </p:nvPicPr>
        <p:blipFill>
          <a:blip r:embed="rId3"/>
          <a:stretch>
            <a:fillRect/>
          </a:stretch>
        </p:blipFill>
        <p:spPr>
          <a:xfrm>
            <a:off x="8717302" y="3188545"/>
            <a:ext cx="2832733" cy="2227992"/>
          </a:xfrm>
          <a:prstGeom prst="rect">
            <a:avLst/>
          </a:prstGeom>
        </p:spPr>
      </p:pic>
      <p:sp>
        <p:nvSpPr>
          <p:cNvPr id="3" name="Slide Number Placeholder 3">
            <a:extLst>
              <a:ext uri="{FF2B5EF4-FFF2-40B4-BE49-F238E27FC236}">
                <a16:creationId xmlns:a16="http://schemas.microsoft.com/office/drawing/2014/main" id="{D228CFF8-1675-6471-9219-691CF3BF8CDA}"/>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15</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659590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sz="3200" dirty="0">
                <a:latin typeface="Century Gothic" panose="020B0502020202020204" pitchFamily="34" charset="0"/>
              </a:rPr>
              <a:t>Proyectos dependientes</a:t>
            </a:r>
            <a:endParaRPr lang="es-ES" sz="3200" dirty="0">
              <a:latin typeface="Century Gothic" panose="020B0502020202020204" pitchFamily="34" charset="0"/>
            </a:endParaRPr>
          </a:p>
        </p:txBody>
      </p:sp>
      <p:sp>
        <p:nvSpPr>
          <p:cNvPr id="3" name="Marcador de contenido 2"/>
          <p:cNvSpPr>
            <a:spLocks noGrp="1"/>
          </p:cNvSpPr>
          <p:nvPr>
            <p:ph idx="1"/>
          </p:nvPr>
        </p:nvSpPr>
        <p:spPr>
          <a:xfrm>
            <a:off x="1164220" y="2277834"/>
            <a:ext cx="7733596" cy="3678303"/>
          </a:xfrm>
        </p:spPr>
        <p:txBody>
          <a:bodyPr>
            <a:normAutofit/>
          </a:bodyPr>
          <a:lstStyle/>
          <a:p>
            <a:pPr marL="0" indent="0" algn="ctr">
              <a:buNone/>
            </a:pPr>
            <a:r>
              <a:rPr lang="es-ES" sz="2000" dirty="0">
                <a:solidFill>
                  <a:schemeClr val="accent1"/>
                </a:solidFill>
                <a:latin typeface="Century Gothic" panose="020B0502020202020204" pitchFamily="34" charset="0"/>
              </a:rPr>
              <a:t>Es correcto utilizar cualquier indicador de bondad y rentabilidad financiera para evaluar proyectos dependientes (VPN, TIR, TVR, VAE, B/C).</a:t>
            </a:r>
          </a:p>
          <a:p>
            <a:pPr marL="0" indent="0" algn="ctr">
              <a:buNone/>
            </a:pPr>
            <a:endParaRPr lang="es-ES" sz="2000" dirty="0">
              <a:solidFill>
                <a:schemeClr val="accent1"/>
              </a:solidFill>
              <a:latin typeface="Century Gothic" panose="020B0502020202020204" pitchFamily="34" charset="0"/>
            </a:endParaRPr>
          </a:p>
          <a:p>
            <a:pPr marL="0" indent="0" algn="ctr">
              <a:buNone/>
            </a:pPr>
            <a:r>
              <a:rPr lang="es-ES" sz="2000" dirty="0">
                <a:solidFill>
                  <a:schemeClr val="accent1"/>
                </a:solidFill>
                <a:latin typeface="Century Gothic" panose="020B0502020202020204" pitchFamily="34" charset="0"/>
              </a:rPr>
              <a:t>Sin embargo, hay que tener en cuenta que la evaluación de los proyectos dependientes no debe hacerse totalmente por separado, pues al tener la restricción de que deben realizarse simultáneamente, éstos tienen que </a:t>
            </a:r>
            <a:r>
              <a:rPr lang="es-ES" sz="2000" b="1" dirty="0">
                <a:solidFill>
                  <a:srgbClr val="C00000"/>
                </a:solidFill>
                <a:latin typeface="Century Gothic" panose="020B0502020202020204" pitchFamily="34" charset="0"/>
              </a:rPr>
              <a:t>evaluarse conjuntamente</a:t>
            </a:r>
            <a:r>
              <a:rPr lang="es-ES" sz="2000" dirty="0">
                <a:latin typeface="Century Gothic" panose="020B0502020202020204" pitchFamily="34" charset="0"/>
              </a:rPr>
              <a:t>.</a:t>
            </a:r>
          </a:p>
        </p:txBody>
      </p:sp>
      <p:pic>
        <p:nvPicPr>
          <p:cNvPr id="6" name="Imagen 5">
            <a:extLst>
              <a:ext uri="{FF2B5EF4-FFF2-40B4-BE49-F238E27FC236}">
                <a16:creationId xmlns:a16="http://schemas.microsoft.com/office/drawing/2014/main" id="{FD1BD194-6719-EA9D-16C9-FC99A7A57DBB}"/>
              </a:ext>
            </a:extLst>
          </p:cNvPr>
          <p:cNvPicPr>
            <a:picLocks noChangeAspect="1"/>
          </p:cNvPicPr>
          <p:nvPr/>
        </p:nvPicPr>
        <p:blipFill>
          <a:blip r:embed="rId2"/>
          <a:stretch>
            <a:fillRect/>
          </a:stretch>
        </p:blipFill>
        <p:spPr>
          <a:xfrm>
            <a:off x="9045889" y="2961846"/>
            <a:ext cx="2441136" cy="1498943"/>
          </a:xfrm>
          <a:prstGeom prst="rect">
            <a:avLst/>
          </a:prstGeom>
        </p:spPr>
      </p:pic>
      <p:sp>
        <p:nvSpPr>
          <p:cNvPr id="5" name="Rectángulo 4">
            <a:extLst>
              <a:ext uri="{FF2B5EF4-FFF2-40B4-BE49-F238E27FC236}">
                <a16:creationId xmlns:a16="http://schemas.microsoft.com/office/drawing/2014/main" id="{D01F7363-0234-66F1-B80B-5750FE96FC3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4B0F58DD-7B40-6337-C7FC-E9F7A62114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1E554093-B6F7-D5C0-64FC-A9633C0539EB}"/>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Slide Number Placeholder 3">
            <a:extLst>
              <a:ext uri="{FF2B5EF4-FFF2-40B4-BE49-F238E27FC236}">
                <a16:creationId xmlns:a16="http://schemas.microsoft.com/office/drawing/2014/main" id="{1891FC26-9875-1235-05BD-D2282965A25D}"/>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16</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506427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BE1A1-0169-87A3-C167-CA8209DA1B7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446D315-A5F6-13D9-85AC-D47D4376A76D}"/>
              </a:ext>
            </a:extLst>
          </p:cNvPr>
          <p:cNvSpPr>
            <a:spLocks noGrp="1"/>
          </p:cNvSpPr>
          <p:nvPr>
            <p:ph type="title"/>
          </p:nvPr>
        </p:nvSpPr>
        <p:spPr/>
        <p:txBody>
          <a:bodyPr>
            <a:normAutofit/>
          </a:bodyPr>
          <a:lstStyle/>
          <a:p>
            <a:r>
              <a:rPr lang="es-ES_tradnl" sz="3200" dirty="0">
                <a:latin typeface="Century Gothic" panose="020B0502020202020204" pitchFamily="34" charset="0"/>
              </a:rPr>
              <a:t>Proyectos dependientes</a:t>
            </a:r>
            <a:endParaRPr lang="es-ES" sz="3200" dirty="0">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88B7E909-CBC1-9080-A121-2D1D688E536F}"/>
                  </a:ext>
                </a:extLst>
              </p:cNvPr>
              <p:cNvSpPr>
                <a:spLocks noGrp="1"/>
              </p:cNvSpPr>
              <p:nvPr>
                <p:ph idx="1"/>
              </p:nvPr>
            </p:nvSpPr>
            <p:spPr>
              <a:xfrm>
                <a:off x="766462" y="1939659"/>
                <a:ext cx="10173145" cy="4425282"/>
              </a:xfrm>
            </p:spPr>
            <p:txBody>
              <a:bodyPr>
                <a:normAutofit lnSpcReduction="10000"/>
              </a:bodyPr>
              <a:lstStyle/>
              <a:p>
                <a:pPr marL="0" indent="0" algn="ctr">
                  <a:buNone/>
                </a:pPr>
                <a:r>
                  <a:rPr lang="es-ES" sz="2000" dirty="0">
                    <a:solidFill>
                      <a:schemeClr val="accent1"/>
                    </a:solidFill>
                    <a:latin typeface="Century Gothic" panose="020B0502020202020204" pitchFamily="34" charset="0"/>
                  </a:rPr>
                  <a:t>El Proyecto A depende del Proyecto B</a:t>
                </a:r>
              </a:p>
              <a:p>
                <a:pPr marL="0" indent="0" algn="ctr">
                  <a:buNone/>
                </a:pPr>
                <a:endParaRPr lang="es-ES" sz="2000" dirty="0">
                  <a:solidFill>
                    <a:schemeClr val="accent1"/>
                  </a:solidFill>
                  <a:latin typeface="Century Gothic" panose="020B0502020202020204" pitchFamily="34" charset="0"/>
                </a:endParaRPr>
              </a:p>
              <a:p>
                <a:pPr marL="0" indent="0" algn="ctr">
                  <a:buNone/>
                </a:pPr>
                <a:r>
                  <a:rPr lang="es-ES" sz="2000" b="1" dirty="0">
                    <a:solidFill>
                      <a:srgbClr val="C00000"/>
                    </a:solidFill>
                    <a:latin typeface="Century Gothic" panose="020B0502020202020204" pitchFamily="34" charset="0"/>
                  </a:rPr>
                  <a:t>Aproximación I (Se conocen los Flujos de Caja Libre para cada periodo de ambos proyectos)</a:t>
                </a:r>
              </a:p>
              <a:p>
                <a:pPr marL="0" indent="0" algn="ctr">
                  <a:buNone/>
                </a:pPr>
                <a14:m>
                  <m:oMathPara xmlns:m="http://schemas.openxmlformats.org/officeDocument/2006/math">
                    <m:oMathParaPr>
                      <m:jc m:val="centerGroup"/>
                    </m:oMathParaPr>
                    <m:oMath xmlns:m="http://schemas.openxmlformats.org/officeDocument/2006/math">
                      <m:r>
                        <a:rPr lang="es-ES" sz="2000" b="0" i="1" smtClean="0">
                          <a:solidFill>
                            <a:schemeClr val="accent1"/>
                          </a:solidFill>
                          <a:latin typeface="Cambria Math" panose="02040503050406030204" pitchFamily="18" charset="0"/>
                        </a:rPr>
                        <m:t>𝐹𝐶</m:t>
                      </m:r>
                      <m:sSub>
                        <m:sSubPr>
                          <m:ctrlPr>
                            <a:rPr lang="es-ES" sz="2000" b="0" i="1" smtClean="0">
                              <a:solidFill>
                                <a:schemeClr val="accent1"/>
                              </a:solidFill>
                              <a:latin typeface="Cambria Math" panose="02040503050406030204" pitchFamily="18" charset="0"/>
                            </a:rPr>
                          </m:ctrlPr>
                        </m:sSubPr>
                        <m:e>
                          <m:r>
                            <a:rPr lang="es-ES" sz="2000" b="0" i="1" smtClean="0">
                              <a:solidFill>
                                <a:schemeClr val="accent1"/>
                              </a:solidFill>
                              <a:latin typeface="Cambria Math" panose="02040503050406030204" pitchFamily="18" charset="0"/>
                            </a:rPr>
                            <m:t>𝐿</m:t>
                          </m:r>
                        </m:e>
                        <m:sub>
                          <m:r>
                            <a:rPr lang="es-ES" sz="2000" b="0" i="1" smtClean="0">
                              <a:solidFill>
                                <a:schemeClr val="accent1"/>
                              </a:solidFill>
                              <a:latin typeface="Cambria Math" panose="02040503050406030204" pitchFamily="18" charset="0"/>
                            </a:rPr>
                            <m:t>𝐴</m:t>
                          </m:r>
                          <m:r>
                            <a:rPr lang="es-ES" sz="2000" b="0" i="1" smtClean="0">
                              <a:solidFill>
                                <a:schemeClr val="accent1"/>
                              </a:solidFill>
                              <a:latin typeface="Cambria Math" panose="02040503050406030204" pitchFamily="18" charset="0"/>
                            </a:rPr>
                            <m:t>+</m:t>
                          </m:r>
                          <m:r>
                            <a:rPr lang="es-ES" sz="2000" b="0" i="1" smtClean="0">
                              <a:solidFill>
                                <a:schemeClr val="accent1"/>
                              </a:solidFill>
                              <a:latin typeface="Cambria Math" panose="02040503050406030204" pitchFamily="18" charset="0"/>
                            </a:rPr>
                            <m:t>𝐵</m:t>
                          </m:r>
                          <m:r>
                            <a:rPr lang="es-ES" sz="2000" b="0" i="1" smtClean="0">
                              <a:solidFill>
                                <a:schemeClr val="accent1"/>
                              </a:solidFill>
                              <a:latin typeface="Cambria Math" panose="02040503050406030204" pitchFamily="18" charset="0"/>
                            </a:rPr>
                            <m:t>(</m:t>
                          </m:r>
                          <m:r>
                            <a:rPr lang="es-ES" sz="2000" b="0" i="1" smtClean="0">
                              <a:solidFill>
                                <a:schemeClr val="accent1"/>
                              </a:solidFill>
                              <a:latin typeface="Cambria Math" panose="02040503050406030204" pitchFamily="18" charset="0"/>
                            </a:rPr>
                            <m:t>𝑡</m:t>
                          </m:r>
                          <m:r>
                            <a:rPr lang="es-ES" sz="2000" b="0" i="1" smtClean="0">
                              <a:solidFill>
                                <a:schemeClr val="accent1"/>
                              </a:solidFill>
                              <a:latin typeface="Cambria Math" panose="02040503050406030204" pitchFamily="18" charset="0"/>
                            </a:rPr>
                            <m:t>)</m:t>
                          </m:r>
                        </m:sub>
                      </m:sSub>
                      <m:r>
                        <a:rPr lang="es-ES" sz="2000" b="0" i="1" smtClean="0">
                          <a:solidFill>
                            <a:schemeClr val="accent1"/>
                          </a:solidFill>
                          <a:latin typeface="Cambria Math" panose="02040503050406030204" pitchFamily="18" charset="0"/>
                        </a:rPr>
                        <m:t>=</m:t>
                      </m:r>
                      <m:r>
                        <a:rPr lang="es-ES" sz="2000" b="0" i="1" smtClean="0">
                          <a:solidFill>
                            <a:schemeClr val="accent1"/>
                          </a:solidFill>
                          <a:latin typeface="Cambria Math" panose="02040503050406030204" pitchFamily="18" charset="0"/>
                        </a:rPr>
                        <m:t>𝐹𝐶</m:t>
                      </m:r>
                      <m:sSub>
                        <m:sSubPr>
                          <m:ctrlPr>
                            <a:rPr lang="es-ES" sz="2000" b="0" i="1" smtClean="0">
                              <a:solidFill>
                                <a:schemeClr val="accent1"/>
                              </a:solidFill>
                              <a:latin typeface="Cambria Math" panose="02040503050406030204" pitchFamily="18" charset="0"/>
                            </a:rPr>
                          </m:ctrlPr>
                        </m:sSubPr>
                        <m:e>
                          <m:r>
                            <a:rPr lang="es-ES" sz="2000" b="0" i="1" smtClean="0">
                              <a:solidFill>
                                <a:schemeClr val="accent1"/>
                              </a:solidFill>
                              <a:latin typeface="Cambria Math" panose="02040503050406030204" pitchFamily="18" charset="0"/>
                            </a:rPr>
                            <m:t>𝐿</m:t>
                          </m:r>
                        </m:e>
                        <m:sub>
                          <m:r>
                            <a:rPr lang="es-ES" sz="2000" b="0" i="1" smtClean="0">
                              <a:solidFill>
                                <a:schemeClr val="accent1"/>
                              </a:solidFill>
                              <a:latin typeface="Cambria Math" panose="02040503050406030204" pitchFamily="18" charset="0"/>
                            </a:rPr>
                            <m:t>𝐴</m:t>
                          </m:r>
                          <m:r>
                            <a:rPr lang="es-ES" sz="2000" b="0" i="1" smtClean="0">
                              <a:solidFill>
                                <a:schemeClr val="accent1"/>
                              </a:solidFill>
                              <a:latin typeface="Cambria Math" panose="02040503050406030204" pitchFamily="18" charset="0"/>
                            </a:rPr>
                            <m:t>(</m:t>
                          </m:r>
                          <m:r>
                            <a:rPr lang="es-ES" sz="2000" b="0" i="1" smtClean="0">
                              <a:solidFill>
                                <a:schemeClr val="accent1"/>
                              </a:solidFill>
                              <a:latin typeface="Cambria Math" panose="02040503050406030204" pitchFamily="18" charset="0"/>
                            </a:rPr>
                            <m:t>𝑡</m:t>
                          </m:r>
                          <m:r>
                            <a:rPr lang="es-ES" sz="2000" b="0" i="1" smtClean="0">
                              <a:solidFill>
                                <a:schemeClr val="accent1"/>
                              </a:solidFill>
                              <a:latin typeface="Cambria Math" panose="02040503050406030204" pitchFamily="18" charset="0"/>
                            </a:rPr>
                            <m:t>)</m:t>
                          </m:r>
                        </m:sub>
                      </m:sSub>
                      <m:r>
                        <a:rPr lang="es-ES" sz="2000" b="0" i="1" smtClean="0">
                          <a:solidFill>
                            <a:schemeClr val="accent1"/>
                          </a:solidFill>
                          <a:latin typeface="Cambria Math" panose="02040503050406030204" pitchFamily="18" charset="0"/>
                        </a:rPr>
                        <m:t>+</m:t>
                      </m:r>
                      <m:r>
                        <a:rPr lang="es-ES" sz="2000" b="0" i="1" smtClean="0">
                          <a:solidFill>
                            <a:schemeClr val="accent1"/>
                          </a:solidFill>
                          <a:latin typeface="Cambria Math" panose="02040503050406030204" pitchFamily="18" charset="0"/>
                        </a:rPr>
                        <m:t>𝐹𝐶</m:t>
                      </m:r>
                      <m:sSub>
                        <m:sSubPr>
                          <m:ctrlPr>
                            <a:rPr lang="es-ES" sz="2000" b="0" i="1" smtClean="0">
                              <a:solidFill>
                                <a:schemeClr val="accent1"/>
                              </a:solidFill>
                              <a:latin typeface="Cambria Math" panose="02040503050406030204" pitchFamily="18" charset="0"/>
                            </a:rPr>
                          </m:ctrlPr>
                        </m:sSubPr>
                        <m:e>
                          <m:r>
                            <a:rPr lang="es-ES" sz="2000" b="0" i="1" smtClean="0">
                              <a:solidFill>
                                <a:schemeClr val="accent1"/>
                              </a:solidFill>
                              <a:latin typeface="Cambria Math" panose="02040503050406030204" pitchFamily="18" charset="0"/>
                            </a:rPr>
                            <m:t>𝐿</m:t>
                          </m:r>
                        </m:e>
                        <m:sub>
                          <m:r>
                            <a:rPr lang="es-ES" sz="2000" b="0" i="1" smtClean="0">
                              <a:solidFill>
                                <a:schemeClr val="accent1"/>
                              </a:solidFill>
                              <a:latin typeface="Cambria Math" panose="02040503050406030204" pitchFamily="18" charset="0"/>
                            </a:rPr>
                            <m:t>𝐵</m:t>
                          </m:r>
                          <m:r>
                            <a:rPr lang="es-ES" sz="2000" b="0" i="1" smtClean="0">
                              <a:solidFill>
                                <a:schemeClr val="accent1"/>
                              </a:solidFill>
                              <a:latin typeface="Cambria Math" panose="02040503050406030204" pitchFamily="18" charset="0"/>
                            </a:rPr>
                            <m:t>(</m:t>
                          </m:r>
                          <m:r>
                            <a:rPr lang="es-ES" sz="2000" b="0" i="1" smtClean="0">
                              <a:solidFill>
                                <a:schemeClr val="accent1"/>
                              </a:solidFill>
                              <a:latin typeface="Cambria Math" panose="02040503050406030204" pitchFamily="18" charset="0"/>
                            </a:rPr>
                            <m:t>𝑡</m:t>
                          </m:r>
                          <m:r>
                            <a:rPr lang="es-ES" sz="2000" b="0" i="1" smtClean="0">
                              <a:solidFill>
                                <a:schemeClr val="accent1"/>
                              </a:solidFill>
                              <a:latin typeface="Cambria Math" panose="02040503050406030204" pitchFamily="18" charset="0"/>
                            </a:rPr>
                            <m:t>)</m:t>
                          </m:r>
                        </m:sub>
                      </m:sSub>
                    </m:oMath>
                  </m:oMathPara>
                </a14:m>
                <a:endParaRPr lang="es-ES" sz="2000" dirty="0">
                  <a:solidFill>
                    <a:schemeClr val="accent1"/>
                  </a:solidFill>
                  <a:latin typeface="Century Gothic" panose="020B0502020202020204" pitchFamily="34" charset="0"/>
                </a:endParaRPr>
              </a:p>
              <a:p>
                <a:pPr marL="0" indent="0" algn="ctr">
                  <a:buNone/>
                </a:pPr>
                <a:endParaRPr lang="es-ES" sz="2000" dirty="0">
                  <a:solidFill>
                    <a:schemeClr val="accent1"/>
                  </a:solidFill>
                  <a:latin typeface="Century Gothic" panose="020B0502020202020204" pitchFamily="34" charset="0"/>
                </a:endParaRPr>
              </a:p>
              <a:p>
                <a:pPr marL="0" indent="0" algn="ctr">
                  <a:buNone/>
                </a:pPr>
                <a:endParaRPr lang="es-ES" sz="2000" dirty="0">
                  <a:solidFill>
                    <a:schemeClr val="accent1"/>
                  </a:solidFill>
                  <a:latin typeface="Century Gothic" panose="020B0502020202020204" pitchFamily="34" charset="0"/>
                </a:endParaRPr>
              </a:p>
              <a:p>
                <a:pPr marL="0" indent="0" algn="ctr">
                  <a:buNone/>
                </a:pPr>
                <a:r>
                  <a:rPr lang="es-ES" sz="2000" b="1" dirty="0">
                    <a:solidFill>
                      <a:srgbClr val="C00000"/>
                    </a:solidFill>
                    <a:latin typeface="Century Gothic" panose="020B0502020202020204" pitchFamily="34" charset="0"/>
                  </a:rPr>
                  <a:t>Aproximación 2 (Solo se conocen los Indicadores de Bondad Financiera – IBF de cada proyecto)</a:t>
                </a:r>
              </a:p>
              <a:p>
                <a:pPr marL="0" indent="0" algn="ctr">
                  <a:buNone/>
                </a:pPr>
                <a14:m>
                  <m:oMath xmlns:m="http://schemas.openxmlformats.org/officeDocument/2006/math">
                    <m:r>
                      <a:rPr lang="es-ES" sz="2000" b="0" i="1" smtClean="0">
                        <a:solidFill>
                          <a:schemeClr val="accent1"/>
                        </a:solidFill>
                        <a:latin typeface="Cambria Math" panose="02040503050406030204" pitchFamily="18" charset="0"/>
                      </a:rPr>
                      <m:t>𝑉𝑃</m:t>
                    </m:r>
                    <m:sSub>
                      <m:sSubPr>
                        <m:ctrlPr>
                          <a:rPr lang="es-ES" sz="2000" b="0" i="1" smtClean="0">
                            <a:solidFill>
                              <a:schemeClr val="accent1"/>
                            </a:solidFill>
                            <a:latin typeface="Cambria Math" panose="02040503050406030204" pitchFamily="18" charset="0"/>
                          </a:rPr>
                        </m:ctrlPr>
                      </m:sSubPr>
                      <m:e>
                        <m:r>
                          <a:rPr lang="es-ES" sz="2000" b="0" i="1" smtClean="0">
                            <a:solidFill>
                              <a:schemeClr val="accent1"/>
                            </a:solidFill>
                            <a:latin typeface="Cambria Math" panose="02040503050406030204" pitchFamily="18" charset="0"/>
                          </a:rPr>
                          <m:t>𝑁</m:t>
                        </m:r>
                      </m:e>
                      <m:sub>
                        <m:r>
                          <a:rPr lang="es-ES" sz="2000" b="0" i="1" smtClean="0">
                            <a:solidFill>
                              <a:schemeClr val="accent1"/>
                            </a:solidFill>
                            <a:latin typeface="Cambria Math" panose="02040503050406030204" pitchFamily="18" charset="0"/>
                          </a:rPr>
                          <m:t>𝐴</m:t>
                        </m:r>
                        <m:r>
                          <a:rPr lang="es-ES" sz="2000" b="0" i="1" smtClean="0">
                            <a:solidFill>
                              <a:schemeClr val="accent1"/>
                            </a:solidFill>
                            <a:latin typeface="Cambria Math" panose="02040503050406030204" pitchFamily="18" charset="0"/>
                          </a:rPr>
                          <m:t>+</m:t>
                        </m:r>
                        <m:r>
                          <a:rPr lang="es-ES" sz="2000" b="0" i="1" smtClean="0">
                            <a:solidFill>
                              <a:schemeClr val="accent1"/>
                            </a:solidFill>
                            <a:latin typeface="Cambria Math" panose="02040503050406030204" pitchFamily="18" charset="0"/>
                          </a:rPr>
                          <m:t>𝐵</m:t>
                        </m:r>
                      </m:sub>
                    </m:sSub>
                    <m:r>
                      <a:rPr lang="es-ES" sz="2000" b="0" i="1" smtClean="0">
                        <a:solidFill>
                          <a:schemeClr val="accent1"/>
                        </a:solidFill>
                        <a:latin typeface="Cambria Math" panose="02040503050406030204" pitchFamily="18" charset="0"/>
                      </a:rPr>
                      <m:t>=</m:t>
                    </m:r>
                    <m:r>
                      <a:rPr lang="es-ES" sz="2000" b="0" i="1" smtClean="0">
                        <a:solidFill>
                          <a:schemeClr val="accent1"/>
                        </a:solidFill>
                        <a:latin typeface="Cambria Math" panose="02040503050406030204" pitchFamily="18" charset="0"/>
                      </a:rPr>
                      <m:t>𝑉𝑃</m:t>
                    </m:r>
                    <m:sSub>
                      <m:sSubPr>
                        <m:ctrlPr>
                          <a:rPr lang="es-ES" sz="2000" b="0" i="1" smtClean="0">
                            <a:solidFill>
                              <a:schemeClr val="accent1"/>
                            </a:solidFill>
                            <a:latin typeface="Cambria Math" panose="02040503050406030204" pitchFamily="18" charset="0"/>
                          </a:rPr>
                        </m:ctrlPr>
                      </m:sSubPr>
                      <m:e>
                        <m:r>
                          <a:rPr lang="es-ES" sz="2000" b="0" i="1" smtClean="0">
                            <a:solidFill>
                              <a:schemeClr val="accent1"/>
                            </a:solidFill>
                            <a:latin typeface="Cambria Math" panose="02040503050406030204" pitchFamily="18" charset="0"/>
                          </a:rPr>
                          <m:t>𝑁</m:t>
                        </m:r>
                      </m:e>
                      <m:sub>
                        <m:r>
                          <a:rPr lang="es-ES" sz="2000" b="0" i="1" smtClean="0">
                            <a:solidFill>
                              <a:schemeClr val="accent1"/>
                            </a:solidFill>
                            <a:latin typeface="Cambria Math" panose="02040503050406030204" pitchFamily="18" charset="0"/>
                          </a:rPr>
                          <m:t>𝐴</m:t>
                        </m:r>
                      </m:sub>
                    </m:sSub>
                    <m:r>
                      <a:rPr lang="es-ES" sz="2000" b="0" i="1" smtClean="0">
                        <a:solidFill>
                          <a:schemeClr val="accent1"/>
                        </a:solidFill>
                        <a:latin typeface="Cambria Math" panose="02040503050406030204" pitchFamily="18" charset="0"/>
                      </a:rPr>
                      <m:t>+</m:t>
                    </m:r>
                    <m:r>
                      <a:rPr lang="es-ES" sz="2000" b="0" i="1" smtClean="0">
                        <a:solidFill>
                          <a:schemeClr val="accent1"/>
                        </a:solidFill>
                        <a:latin typeface="Cambria Math" panose="02040503050406030204" pitchFamily="18" charset="0"/>
                      </a:rPr>
                      <m:t>𝑉𝑃</m:t>
                    </m:r>
                    <m:sSub>
                      <m:sSubPr>
                        <m:ctrlPr>
                          <a:rPr lang="es-ES" sz="2000" b="0" i="1" smtClean="0">
                            <a:solidFill>
                              <a:schemeClr val="accent1"/>
                            </a:solidFill>
                            <a:latin typeface="Cambria Math" panose="02040503050406030204" pitchFamily="18" charset="0"/>
                          </a:rPr>
                        </m:ctrlPr>
                      </m:sSubPr>
                      <m:e>
                        <m:r>
                          <a:rPr lang="es-ES" sz="2000" b="0" i="1" smtClean="0">
                            <a:solidFill>
                              <a:schemeClr val="accent1"/>
                            </a:solidFill>
                            <a:latin typeface="Cambria Math" panose="02040503050406030204" pitchFamily="18" charset="0"/>
                          </a:rPr>
                          <m:t>𝑁</m:t>
                        </m:r>
                      </m:e>
                      <m:sub>
                        <m:r>
                          <a:rPr lang="es-ES" sz="2000" b="0" i="1" smtClean="0">
                            <a:solidFill>
                              <a:schemeClr val="accent1"/>
                            </a:solidFill>
                            <a:latin typeface="Cambria Math" panose="02040503050406030204" pitchFamily="18" charset="0"/>
                          </a:rPr>
                          <m:t>𝐵</m:t>
                        </m:r>
                      </m:sub>
                    </m:sSub>
                  </m:oMath>
                </a14:m>
                <a:r>
                  <a:rPr lang="es-ES" sz="2000" dirty="0">
                    <a:solidFill>
                      <a:schemeClr val="accent1"/>
                    </a:solidFill>
                    <a:latin typeface="Century Gothic" panose="020B0502020202020204" pitchFamily="34" charset="0"/>
                  </a:rPr>
                  <a:t> </a:t>
                </a:r>
              </a:p>
              <a:p>
                <a:pPr marL="0" indent="0" algn="ctr">
                  <a:buNone/>
                </a:pPr>
                <a14:m>
                  <m:oMathPara xmlns:m="http://schemas.openxmlformats.org/officeDocument/2006/math">
                    <m:oMathParaPr>
                      <m:jc m:val="centerGroup"/>
                    </m:oMathParaPr>
                    <m:oMath xmlns:m="http://schemas.openxmlformats.org/officeDocument/2006/math">
                      <m:sSub>
                        <m:sSubPr>
                          <m:ctrlPr>
                            <a:rPr lang="es-ES" sz="2000" i="1">
                              <a:solidFill>
                                <a:schemeClr val="accent1"/>
                              </a:solidFill>
                              <a:latin typeface="Cambria Math" panose="02040503050406030204" pitchFamily="18" charset="0"/>
                            </a:rPr>
                          </m:ctrlPr>
                        </m:sSubPr>
                        <m:e>
                          <m:r>
                            <a:rPr lang="es-ES" sz="2000" b="0" i="1" smtClean="0">
                              <a:solidFill>
                                <a:schemeClr val="accent1"/>
                              </a:solidFill>
                              <a:latin typeface="Cambria Math" panose="02040503050406030204" pitchFamily="18" charset="0"/>
                            </a:rPr>
                            <m:t>𝑉𝐴𝐸</m:t>
                          </m:r>
                        </m:e>
                        <m:sub>
                          <m:r>
                            <a:rPr lang="es-ES" sz="2000" i="1">
                              <a:solidFill>
                                <a:schemeClr val="accent1"/>
                              </a:solidFill>
                              <a:latin typeface="Cambria Math" panose="02040503050406030204" pitchFamily="18" charset="0"/>
                            </a:rPr>
                            <m:t>𝐴</m:t>
                          </m:r>
                          <m:r>
                            <a:rPr lang="es-ES" sz="2000" i="1">
                              <a:solidFill>
                                <a:schemeClr val="accent1"/>
                              </a:solidFill>
                              <a:latin typeface="Cambria Math" panose="02040503050406030204" pitchFamily="18" charset="0"/>
                            </a:rPr>
                            <m:t>+</m:t>
                          </m:r>
                          <m:r>
                            <a:rPr lang="es-ES" sz="2000" i="1">
                              <a:solidFill>
                                <a:schemeClr val="accent1"/>
                              </a:solidFill>
                              <a:latin typeface="Cambria Math" panose="02040503050406030204" pitchFamily="18" charset="0"/>
                            </a:rPr>
                            <m:t>𝐵</m:t>
                          </m:r>
                        </m:sub>
                      </m:sSub>
                      <m:r>
                        <a:rPr lang="es-ES" sz="2000" i="1">
                          <a:solidFill>
                            <a:schemeClr val="accent1"/>
                          </a:solidFill>
                          <a:latin typeface="Cambria Math" panose="02040503050406030204" pitchFamily="18" charset="0"/>
                        </a:rPr>
                        <m:t>=</m:t>
                      </m:r>
                      <m:sSub>
                        <m:sSubPr>
                          <m:ctrlPr>
                            <a:rPr lang="es-ES" sz="2000" i="1">
                              <a:solidFill>
                                <a:schemeClr val="accent1"/>
                              </a:solidFill>
                              <a:latin typeface="Cambria Math" panose="02040503050406030204" pitchFamily="18" charset="0"/>
                            </a:rPr>
                          </m:ctrlPr>
                        </m:sSubPr>
                        <m:e>
                          <m:r>
                            <a:rPr lang="es-ES" sz="2000" b="0" i="1" smtClean="0">
                              <a:solidFill>
                                <a:schemeClr val="accent1"/>
                              </a:solidFill>
                              <a:latin typeface="Cambria Math" panose="02040503050406030204" pitchFamily="18" charset="0"/>
                            </a:rPr>
                            <m:t>𝑉𝐴𝐸</m:t>
                          </m:r>
                        </m:e>
                        <m:sub>
                          <m:r>
                            <a:rPr lang="es-ES" sz="2000" i="1">
                              <a:solidFill>
                                <a:schemeClr val="accent1"/>
                              </a:solidFill>
                              <a:latin typeface="Cambria Math" panose="02040503050406030204" pitchFamily="18" charset="0"/>
                            </a:rPr>
                            <m:t>𝐴</m:t>
                          </m:r>
                        </m:sub>
                      </m:sSub>
                      <m:r>
                        <a:rPr lang="es-ES" sz="2000" i="1">
                          <a:solidFill>
                            <a:schemeClr val="accent1"/>
                          </a:solidFill>
                          <a:latin typeface="Cambria Math" panose="02040503050406030204" pitchFamily="18" charset="0"/>
                        </a:rPr>
                        <m:t>+</m:t>
                      </m:r>
                      <m:sSub>
                        <m:sSubPr>
                          <m:ctrlPr>
                            <a:rPr lang="es-ES" sz="2000" i="1">
                              <a:solidFill>
                                <a:schemeClr val="accent1"/>
                              </a:solidFill>
                              <a:latin typeface="Cambria Math" panose="02040503050406030204" pitchFamily="18" charset="0"/>
                            </a:rPr>
                          </m:ctrlPr>
                        </m:sSubPr>
                        <m:e>
                          <m:r>
                            <a:rPr lang="es-ES" sz="2000" b="0" i="1" smtClean="0">
                              <a:solidFill>
                                <a:schemeClr val="accent1"/>
                              </a:solidFill>
                              <a:latin typeface="Cambria Math" panose="02040503050406030204" pitchFamily="18" charset="0"/>
                            </a:rPr>
                            <m:t>𝑉𝐴𝐸</m:t>
                          </m:r>
                        </m:e>
                        <m:sub>
                          <m:r>
                            <a:rPr lang="es-ES" sz="2000" i="1">
                              <a:solidFill>
                                <a:schemeClr val="accent1"/>
                              </a:solidFill>
                              <a:latin typeface="Cambria Math" panose="02040503050406030204" pitchFamily="18" charset="0"/>
                            </a:rPr>
                            <m:t>𝐵</m:t>
                          </m:r>
                        </m:sub>
                      </m:sSub>
                    </m:oMath>
                  </m:oMathPara>
                </a14:m>
                <a:endParaRPr lang="es-ES" sz="2000" dirty="0">
                  <a:solidFill>
                    <a:schemeClr val="accent1"/>
                  </a:solidFill>
                  <a:latin typeface="Century Gothic" panose="020B0502020202020204" pitchFamily="34" charset="0"/>
                </a:endParaRPr>
              </a:p>
            </p:txBody>
          </p:sp>
        </mc:Choice>
        <mc:Fallback xmlns="">
          <p:sp>
            <p:nvSpPr>
              <p:cNvPr id="3" name="Marcador de contenido 2">
                <a:extLst>
                  <a:ext uri="{FF2B5EF4-FFF2-40B4-BE49-F238E27FC236}">
                    <a16:creationId xmlns:a16="http://schemas.microsoft.com/office/drawing/2014/main" id="{88B7E909-CBC1-9080-A121-2D1D688E536F}"/>
                  </a:ext>
                </a:extLst>
              </p:cNvPr>
              <p:cNvSpPr>
                <a:spLocks noGrp="1" noRot="1" noChangeAspect="1" noMove="1" noResize="1" noEditPoints="1" noAdjustHandles="1" noChangeArrowheads="1" noChangeShapeType="1" noTextEdit="1"/>
              </p:cNvSpPr>
              <p:nvPr>
                <p:ph idx="1"/>
              </p:nvPr>
            </p:nvSpPr>
            <p:spPr>
              <a:xfrm>
                <a:off x="766462" y="1939659"/>
                <a:ext cx="10173145" cy="4425282"/>
              </a:xfrm>
              <a:blipFill>
                <a:blip r:embed="rId2"/>
                <a:stretch>
                  <a:fillRect l="-419" r="-959"/>
                </a:stretch>
              </a:blipFill>
            </p:spPr>
            <p:txBody>
              <a:bodyPr/>
              <a:lstStyle/>
              <a:p>
                <a:r>
                  <a:rPr lang="es-CO">
                    <a:noFill/>
                  </a:rPr>
                  <a:t> </a:t>
                </a:r>
              </a:p>
            </p:txBody>
          </p:sp>
        </mc:Fallback>
      </mc:AlternateContent>
      <p:sp>
        <p:nvSpPr>
          <p:cNvPr id="5" name="Rectángulo 4">
            <a:extLst>
              <a:ext uri="{FF2B5EF4-FFF2-40B4-BE49-F238E27FC236}">
                <a16:creationId xmlns:a16="http://schemas.microsoft.com/office/drawing/2014/main" id="{B698AD39-3AA3-7771-DFE3-7E42D64DC33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F9C9CF37-E737-890D-00F0-1D27B36C17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0B58AA1E-7F04-6F58-A3CD-037E2F04A81A}"/>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1" name="CuadroTexto 10">
            <a:extLst>
              <a:ext uri="{FF2B5EF4-FFF2-40B4-BE49-F238E27FC236}">
                <a16:creationId xmlns:a16="http://schemas.microsoft.com/office/drawing/2014/main" id="{66CF72E1-F901-BC28-375D-A1E34FC09A85}"/>
              </a:ext>
            </a:extLst>
          </p:cNvPr>
          <p:cNvSpPr txBox="1"/>
          <p:nvPr/>
        </p:nvSpPr>
        <p:spPr>
          <a:xfrm>
            <a:off x="8271058" y="3365357"/>
            <a:ext cx="2824855" cy="646331"/>
          </a:xfrm>
          <a:prstGeom prst="rect">
            <a:avLst/>
          </a:prstGeom>
          <a:noFill/>
        </p:spPr>
        <p:txBody>
          <a:bodyPr wrap="square">
            <a:spAutoFit/>
          </a:bodyPr>
          <a:lstStyle/>
          <a:p>
            <a:pPr marL="0" indent="0" algn="ctr">
              <a:buNone/>
            </a:pPr>
            <a:r>
              <a:rPr lang="es-ES" sz="1800" b="1" dirty="0">
                <a:solidFill>
                  <a:schemeClr val="accent1"/>
                </a:solidFill>
                <a:latin typeface="Century Gothic" panose="020B0502020202020204" pitchFamily="34" charset="0"/>
              </a:rPr>
              <a:t>Se puede concluir con cualquier IBF confiable </a:t>
            </a:r>
          </a:p>
        </p:txBody>
      </p:sp>
      <p:sp>
        <p:nvSpPr>
          <p:cNvPr id="13" name="CuadroTexto 12">
            <a:extLst>
              <a:ext uri="{FF2B5EF4-FFF2-40B4-BE49-F238E27FC236}">
                <a16:creationId xmlns:a16="http://schemas.microsoft.com/office/drawing/2014/main" id="{6F44F4DA-D687-BEEC-4872-23EE21E88B84}"/>
              </a:ext>
            </a:extLst>
          </p:cNvPr>
          <p:cNvSpPr txBox="1"/>
          <p:nvPr/>
        </p:nvSpPr>
        <p:spPr>
          <a:xfrm>
            <a:off x="8033718" y="5252433"/>
            <a:ext cx="2824855" cy="1200329"/>
          </a:xfrm>
          <a:prstGeom prst="rect">
            <a:avLst/>
          </a:prstGeom>
          <a:noFill/>
        </p:spPr>
        <p:txBody>
          <a:bodyPr wrap="square">
            <a:spAutoFit/>
          </a:bodyPr>
          <a:lstStyle/>
          <a:p>
            <a:pPr marL="0" indent="0" algn="ctr">
              <a:buNone/>
            </a:pPr>
            <a:r>
              <a:rPr lang="es-ES" b="1" dirty="0">
                <a:solidFill>
                  <a:schemeClr val="accent1"/>
                </a:solidFill>
                <a:latin typeface="Century Gothic" panose="020B0502020202020204" pitchFamily="34" charset="0"/>
              </a:rPr>
              <a:t>Únicamente se puede concluir con estos indicadores de generación de valor </a:t>
            </a:r>
            <a:endParaRPr lang="es-ES" sz="1800" b="1" dirty="0">
              <a:solidFill>
                <a:schemeClr val="accent1"/>
              </a:solidFill>
              <a:latin typeface="Century Gothic" panose="020B0502020202020204" pitchFamily="34" charset="0"/>
            </a:endParaRPr>
          </a:p>
        </p:txBody>
      </p:sp>
      <p:sp>
        <p:nvSpPr>
          <p:cNvPr id="14" name="Flecha derecha 4">
            <a:extLst>
              <a:ext uri="{FF2B5EF4-FFF2-40B4-BE49-F238E27FC236}">
                <a16:creationId xmlns:a16="http://schemas.microsoft.com/office/drawing/2014/main" id="{A5B80531-5D39-2193-0213-77BEF1718F7A}"/>
              </a:ext>
            </a:extLst>
          </p:cNvPr>
          <p:cNvSpPr/>
          <p:nvPr/>
        </p:nvSpPr>
        <p:spPr>
          <a:xfrm flipV="1">
            <a:off x="7796378" y="3562206"/>
            <a:ext cx="474680" cy="273840"/>
          </a:xfrm>
          <a:prstGeom prst="rightArrow">
            <a:avLst/>
          </a:prstGeom>
          <a:solidFill>
            <a:srgbClr val="D7A700"/>
          </a:solidFill>
          <a:ln>
            <a:solidFill>
              <a:srgbClr val="D7A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15" name="Flecha derecha 4">
            <a:extLst>
              <a:ext uri="{FF2B5EF4-FFF2-40B4-BE49-F238E27FC236}">
                <a16:creationId xmlns:a16="http://schemas.microsoft.com/office/drawing/2014/main" id="{8F8A00E5-DFC2-7375-E101-F5BFED6E9F8F}"/>
              </a:ext>
            </a:extLst>
          </p:cNvPr>
          <p:cNvSpPr/>
          <p:nvPr/>
        </p:nvSpPr>
        <p:spPr>
          <a:xfrm flipV="1">
            <a:off x="7443551" y="5682297"/>
            <a:ext cx="474680" cy="273840"/>
          </a:xfrm>
          <a:prstGeom prst="rightArrow">
            <a:avLst/>
          </a:prstGeom>
          <a:solidFill>
            <a:srgbClr val="D7A700"/>
          </a:solidFill>
          <a:ln>
            <a:solidFill>
              <a:srgbClr val="D7A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6" name="Slide Number Placeholder 3">
            <a:extLst>
              <a:ext uri="{FF2B5EF4-FFF2-40B4-BE49-F238E27FC236}">
                <a16:creationId xmlns:a16="http://schemas.microsoft.com/office/drawing/2014/main" id="{A7697BFD-57E8-0DAE-ABD7-77DBD682A5C3}"/>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17</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2435466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
                                            <p:txEl>
                                              <p:pRg st="6" end="6"/>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4" grpId="0" animBg="1"/>
      <p:bldP spid="1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sz="3200" dirty="0">
                <a:latin typeface="Century Gothic" panose="020B0502020202020204" pitchFamily="34" charset="0"/>
              </a:rPr>
              <a:t>Proyectos dependientes</a:t>
            </a:r>
          </a:p>
        </p:txBody>
      </p:sp>
      <p:sp>
        <p:nvSpPr>
          <p:cNvPr id="3" name="Content Placeholder 2"/>
          <p:cNvSpPr>
            <a:spLocks noGrp="1"/>
          </p:cNvSpPr>
          <p:nvPr>
            <p:ph idx="1"/>
          </p:nvPr>
        </p:nvSpPr>
        <p:spPr>
          <a:xfrm>
            <a:off x="2246878" y="2242779"/>
            <a:ext cx="7610476" cy="1186221"/>
          </a:xfrm>
        </p:spPr>
        <p:txBody>
          <a:bodyPr>
            <a:noAutofit/>
          </a:bodyPr>
          <a:lstStyle/>
          <a:p>
            <a:pPr marL="0" indent="0" algn="ctr">
              <a:buNone/>
            </a:pPr>
            <a:r>
              <a:rPr lang="es-ES_tradnl" sz="2000" dirty="0">
                <a:solidFill>
                  <a:schemeClr val="accent1"/>
                </a:solidFill>
                <a:latin typeface="Century Gothic" panose="020B0502020202020204" pitchFamily="34" charset="0"/>
              </a:rPr>
              <a:t>¿Qué proyecto realizaría si C es dependiente de E?</a:t>
            </a:r>
          </a:p>
          <a:p>
            <a:pPr marL="0" indent="0" algn="ctr">
              <a:buNone/>
            </a:pPr>
            <a:endParaRPr lang="es-ES_tradnl" sz="2000" dirty="0">
              <a:solidFill>
                <a:schemeClr val="accent1"/>
              </a:solidFill>
              <a:latin typeface="Century Gothic" panose="020B0502020202020204" pitchFamily="34" charset="0"/>
            </a:endParaRPr>
          </a:p>
          <a:p>
            <a:pPr marL="0" indent="0" algn="ctr">
              <a:buNone/>
            </a:pPr>
            <a:r>
              <a:rPr lang="es-ES_tradnl" sz="2000" dirty="0">
                <a:solidFill>
                  <a:schemeClr val="accent1"/>
                </a:solidFill>
                <a:latin typeface="Century Gothic" panose="020B0502020202020204" pitchFamily="34" charset="0"/>
              </a:rPr>
              <a:t>Todos los demás proyectos son independientes y no existen restricciones de capital.</a:t>
            </a:r>
          </a:p>
        </p:txBody>
      </p:sp>
      <p:sp>
        <p:nvSpPr>
          <p:cNvPr id="4" name="Slide Number Placeholder 3"/>
          <p:cNvSpPr>
            <a:spLocks noGrp="1"/>
          </p:cNvSpPr>
          <p:nvPr>
            <p:ph type="sldNum" sz="quarter" idx="12"/>
          </p:nvPr>
        </p:nvSpPr>
        <p:spPr/>
        <p:txBody>
          <a:bodyPr/>
          <a:lstStyle/>
          <a:p>
            <a:fld id="{5E3E23BA-6E79-2442-BA73-D218A5E297C3}" type="slidenum">
              <a:rPr lang="en-US" sz="1800" smtClean="0"/>
              <a:t>18</a:t>
            </a:fld>
            <a:endParaRPr lang="en-US" sz="1800" dirty="0"/>
          </a:p>
        </p:txBody>
      </p:sp>
      <p:graphicFrame>
        <p:nvGraphicFramePr>
          <p:cNvPr id="7" name="Table 6"/>
          <p:cNvGraphicFramePr>
            <a:graphicFrameLocks noGrp="1"/>
          </p:cNvGraphicFramePr>
          <p:nvPr>
            <p:extLst>
              <p:ext uri="{D42A27DB-BD31-4B8C-83A1-F6EECF244321}">
                <p14:modId xmlns:p14="http://schemas.microsoft.com/office/powerpoint/2010/main" val="3592845497"/>
              </p:ext>
            </p:extLst>
          </p:nvPr>
        </p:nvGraphicFramePr>
        <p:xfrm>
          <a:off x="1000554" y="3926674"/>
          <a:ext cx="10190892" cy="1483360"/>
        </p:xfrm>
        <a:graphic>
          <a:graphicData uri="http://schemas.openxmlformats.org/drawingml/2006/table">
            <a:tbl>
              <a:tblPr firstRow="1" bandRow="1">
                <a:tableStyleId>{5C22544A-7EE6-4342-B048-85BDC9FD1C3A}</a:tableStyleId>
              </a:tblPr>
              <a:tblGrid>
                <a:gridCol w="1698482">
                  <a:extLst>
                    <a:ext uri="{9D8B030D-6E8A-4147-A177-3AD203B41FA5}">
                      <a16:colId xmlns:a16="http://schemas.microsoft.com/office/drawing/2014/main" val="20000"/>
                    </a:ext>
                  </a:extLst>
                </a:gridCol>
                <a:gridCol w="1698482">
                  <a:extLst>
                    <a:ext uri="{9D8B030D-6E8A-4147-A177-3AD203B41FA5}">
                      <a16:colId xmlns:a16="http://schemas.microsoft.com/office/drawing/2014/main" val="20001"/>
                    </a:ext>
                  </a:extLst>
                </a:gridCol>
                <a:gridCol w="1698482">
                  <a:extLst>
                    <a:ext uri="{9D8B030D-6E8A-4147-A177-3AD203B41FA5}">
                      <a16:colId xmlns:a16="http://schemas.microsoft.com/office/drawing/2014/main" val="20002"/>
                    </a:ext>
                  </a:extLst>
                </a:gridCol>
                <a:gridCol w="1698482">
                  <a:extLst>
                    <a:ext uri="{9D8B030D-6E8A-4147-A177-3AD203B41FA5}">
                      <a16:colId xmlns:a16="http://schemas.microsoft.com/office/drawing/2014/main" val="20003"/>
                    </a:ext>
                  </a:extLst>
                </a:gridCol>
                <a:gridCol w="1698482">
                  <a:extLst>
                    <a:ext uri="{9D8B030D-6E8A-4147-A177-3AD203B41FA5}">
                      <a16:colId xmlns:a16="http://schemas.microsoft.com/office/drawing/2014/main" val="20004"/>
                    </a:ext>
                  </a:extLst>
                </a:gridCol>
                <a:gridCol w="1698482">
                  <a:extLst>
                    <a:ext uri="{9D8B030D-6E8A-4147-A177-3AD203B41FA5}">
                      <a16:colId xmlns:a16="http://schemas.microsoft.com/office/drawing/2014/main" val="20005"/>
                    </a:ext>
                  </a:extLst>
                </a:gridCol>
              </a:tblGrid>
              <a:tr h="370840">
                <a:tc>
                  <a:txBody>
                    <a:bodyPr/>
                    <a:lstStyle/>
                    <a:p>
                      <a:pPr algn="ctr"/>
                      <a:r>
                        <a:rPr lang="es-ES_tradnl" sz="1800" noProof="0" dirty="0">
                          <a:latin typeface="Century Gothic" panose="020B0502020202020204" pitchFamily="34" charset="0"/>
                        </a:rPr>
                        <a:t>IBF</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rgbClr val="00B050"/>
                    </a:solidFill>
                  </a:tcPr>
                </a:tc>
                <a:tc>
                  <a:txBody>
                    <a:bodyPr/>
                    <a:lstStyle/>
                    <a:p>
                      <a:pPr algn="ctr"/>
                      <a:r>
                        <a:rPr lang="es-ES_tradnl" sz="1800" noProof="0" dirty="0">
                          <a:latin typeface="Century Gothic" panose="020B0502020202020204" pitchFamily="34" charset="0"/>
                        </a:rPr>
                        <a:t>Proyecto A</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rgbClr val="00B050"/>
                    </a:solidFill>
                  </a:tcPr>
                </a:tc>
                <a:tc>
                  <a:txBody>
                    <a:bodyPr/>
                    <a:lstStyle/>
                    <a:p>
                      <a:pPr algn="ctr"/>
                      <a:r>
                        <a:rPr lang="es-ES_tradnl" sz="1800" noProof="0" dirty="0">
                          <a:latin typeface="Century Gothic" panose="020B0502020202020204" pitchFamily="34" charset="0"/>
                        </a:rPr>
                        <a:t>Proyecto B</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rgbClr val="00B05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latin typeface="Century Gothic" panose="020B0502020202020204" pitchFamily="34" charset="0"/>
                        </a:rPr>
                        <a:t>Proyecto C</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rgbClr val="00B05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latin typeface="Century Gothic" panose="020B0502020202020204" pitchFamily="34" charset="0"/>
                        </a:rPr>
                        <a:t>Proyecto D</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rgbClr val="00B05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latin typeface="Century Gothic" panose="020B0502020202020204" pitchFamily="34" charset="0"/>
                        </a:rPr>
                        <a:t>Proyecto E</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rgbClr val="00B050"/>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accent1"/>
                          </a:solidFill>
                          <a:latin typeface="Century Gothic" panose="020B0502020202020204" pitchFamily="34" charset="0"/>
                        </a:rPr>
                        <a:t>Inversión</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90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25</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40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70840">
                <a:tc>
                  <a:txBody>
                    <a:bodyPr/>
                    <a:lstStyle/>
                    <a:p>
                      <a:pPr algn="ctr"/>
                      <a:r>
                        <a:rPr lang="es-ES_tradnl" sz="1800" noProof="0" dirty="0">
                          <a:solidFill>
                            <a:schemeClr val="accent1"/>
                          </a:solidFill>
                          <a:latin typeface="Century Gothic" panose="020B0502020202020204" pitchFamily="34" charset="0"/>
                        </a:rPr>
                        <a:t>VPN (10%)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150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137</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-3,5</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r>
                        <a:rPr lang="es-ES_tradnl" sz="1800" noProof="0" dirty="0">
                          <a:solidFill>
                            <a:schemeClr val="accent1"/>
                          </a:solidFill>
                          <a:latin typeface="Century Gothic" panose="020B0502020202020204" pitchFamily="34" charset="0"/>
                        </a:rPr>
                        <a:t>TIR</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17,98%</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20,06%</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10,10%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10,50%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9,85%</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bl>
          </a:graphicData>
        </a:graphic>
      </p:graphicFrame>
      <p:sp>
        <p:nvSpPr>
          <p:cNvPr id="5" name="Rectángulo 4">
            <a:extLst>
              <a:ext uri="{FF2B5EF4-FFF2-40B4-BE49-F238E27FC236}">
                <a16:creationId xmlns:a16="http://schemas.microsoft.com/office/drawing/2014/main" id="{DCC4F215-CF73-212D-0CFC-70A0A418BF1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2683A3B6-9CF8-D3FF-9294-5A65CACD1F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FFB39CC8-9419-7FE2-9702-4E66C992FA63}"/>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Rectángulo 8">
            <a:extLst>
              <a:ext uri="{FF2B5EF4-FFF2-40B4-BE49-F238E27FC236}">
                <a16:creationId xmlns:a16="http://schemas.microsoft.com/office/drawing/2014/main" id="{8A856B1E-4D09-E798-BC5B-1221A8E37F25}"/>
              </a:ext>
            </a:extLst>
          </p:cNvPr>
          <p:cNvSpPr/>
          <p:nvPr/>
        </p:nvSpPr>
        <p:spPr>
          <a:xfrm>
            <a:off x="2806200" y="3806995"/>
            <a:ext cx="3200153" cy="1722718"/>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Rectángulo 9">
            <a:extLst>
              <a:ext uri="{FF2B5EF4-FFF2-40B4-BE49-F238E27FC236}">
                <a16:creationId xmlns:a16="http://schemas.microsoft.com/office/drawing/2014/main" id="{ABDDB7AA-03D9-C11D-95EE-8467C4A26465}"/>
              </a:ext>
            </a:extLst>
          </p:cNvPr>
          <p:cNvSpPr/>
          <p:nvPr/>
        </p:nvSpPr>
        <p:spPr>
          <a:xfrm>
            <a:off x="7884401" y="3806995"/>
            <a:ext cx="1558423" cy="1722718"/>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71683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44B94-7B86-3948-F22A-6282EDDE54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B15815-6244-FE3D-098F-7D0C13F2C1CE}"/>
              </a:ext>
            </a:extLst>
          </p:cNvPr>
          <p:cNvSpPr>
            <a:spLocks noGrp="1"/>
          </p:cNvSpPr>
          <p:nvPr>
            <p:ph type="title"/>
          </p:nvPr>
        </p:nvSpPr>
        <p:spPr/>
        <p:txBody>
          <a:bodyPr>
            <a:normAutofit/>
          </a:bodyPr>
          <a:lstStyle/>
          <a:p>
            <a:r>
              <a:rPr lang="es-ES_tradnl" sz="3200" dirty="0">
                <a:latin typeface="Century Gothic" panose="020B0502020202020204" pitchFamily="34" charset="0"/>
              </a:rPr>
              <a:t>Proyectos dependientes</a:t>
            </a:r>
          </a:p>
        </p:txBody>
      </p:sp>
      <p:sp>
        <p:nvSpPr>
          <p:cNvPr id="3" name="Content Placeholder 2">
            <a:extLst>
              <a:ext uri="{FF2B5EF4-FFF2-40B4-BE49-F238E27FC236}">
                <a16:creationId xmlns:a16="http://schemas.microsoft.com/office/drawing/2014/main" id="{93C0360D-74E3-AF58-F8F7-A2FE5E157C30}"/>
              </a:ext>
            </a:extLst>
          </p:cNvPr>
          <p:cNvSpPr>
            <a:spLocks noGrp="1"/>
          </p:cNvSpPr>
          <p:nvPr>
            <p:ph idx="1"/>
          </p:nvPr>
        </p:nvSpPr>
        <p:spPr>
          <a:xfrm>
            <a:off x="2246878" y="2242779"/>
            <a:ext cx="7610476" cy="1186221"/>
          </a:xfrm>
        </p:spPr>
        <p:txBody>
          <a:bodyPr>
            <a:noAutofit/>
          </a:bodyPr>
          <a:lstStyle/>
          <a:p>
            <a:pPr marL="0" indent="0" algn="ctr">
              <a:buNone/>
            </a:pPr>
            <a:r>
              <a:rPr lang="es-ES_tradnl" sz="2000" dirty="0">
                <a:solidFill>
                  <a:schemeClr val="accent1"/>
                </a:solidFill>
                <a:latin typeface="Century Gothic" panose="020B0502020202020204" pitchFamily="34" charset="0"/>
              </a:rPr>
              <a:t>¿Qué proyecto realizaría si A es dependiente de E?</a:t>
            </a:r>
          </a:p>
          <a:p>
            <a:pPr marL="0" indent="0" algn="ctr">
              <a:buNone/>
            </a:pPr>
            <a:endParaRPr lang="es-ES_tradnl" sz="2000" dirty="0">
              <a:solidFill>
                <a:schemeClr val="accent1"/>
              </a:solidFill>
              <a:latin typeface="Century Gothic" panose="020B0502020202020204" pitchFamily="34" charset="0"/>
            </a:endParaRPr>
          </a:p>
          <a:p>
            <a:pPr marL="0" indent="0" algn="ctr">
              <a:buNone/>
            </a:pPr>
            <a:r>
              <a:rPr lang="es-ES_tradnl" sz="2000" dirty="0">
                <a:solidFill>
                  <a:schemeClr val="accent1"/>
                </a:solidFill>
                <a:latin typeface="Century Gothic" panose="020B0502020202020204" pitchFamily="34" charset="0"/>
              </a:rPr>
              <a:t>Todos los demás proyectos son independientes y no existen restricciones de capital.</a:t>
            </a:r>
          </a:p>
        </p:txBody>
      </p:sp>
      <p:graphicFrame>
        <p:nvGraphicFramePr>
          <p:cNvPr id="7" name="Table 6">
            <a:extLst>
              <a:ext uri="{FF2B5EF4-FFF2-40B4-BE49-F238E27FC236}">
                <a16:creationId xmlns:a16="http://schemas.microsoft.com/office/drawing/2014/main" id="{EC3F3861-6CFD-1CD0-B106-9493A814CEC5}"/>
              </a:ext>
            </a:extLst>
          </p:cNvPr>
          <p:cNvGraphicFramePr>
            <a:graphicFrameLocks noGrp="1"/>
          </p:cNvGraphicFramePr>
          <p:nvPr>
            <p:extLst>
              <p:ext uri="{D42A27DB-BD31-4B8C-83A1-F6EECF244321}">
                <p14:modId xmlns:p14="http://schemas.microsoft.com/office/powerpoint/2010/main" val="164308614"/>
              </p:ext>
            </p:extLst>
          </p:nvPr>
        </p:nvGraphicFramePr>
        <p:xfrm>
          <a:off x="1000554" y="3926674"/>
          <a:ext cx="10190892" cy="1483360"/>
        </p:xfrm>
        <a:graphic>
          <a:graphicData uri="http://schemas.openxmlformats.org/drawingml/2006/table">
            <a:tbl>
              <a:tblPr firstRow="1" bandRow="1">
                <a:tableStyleId>{5C22544A-7EE6-4342-B048-85BDC9FD1C3A}</a:tableStyleId>
              </a:tblPr>
              <a:tblGrid>
                <a:gridCol w="1698482">
                  <a:extLst>
                    <a:ext uri="{9D8B030D-6E8A-4147-A177-3AD203B41FA5}">
                      <a16:colId xmlns:a16="http://schemas.microsoft.com/office/drawing/2014/main" val="20000"/>
                    </a:ext>
                  </a:extLst>
                </a:gridCol>
                <a:gridCol w="1698482">
                  <a:extLst>
                    <a:ext uri="{9D8B030D-6E8A-4147-A177-3AD203B41FA5}">
                      <a16:colId xmlns:a16="http://schemas.microsoft.com/office/drawing/2014/main" val="20001"/>
                    </a:ext>
                  </a:extLst>
                </a:gridCol>
                <a:gridCol w="1698482">
                  <a:extLst>
                    <a:ext uri="{9D8B030D-6E8A-4147-A177-3AD203B41FA5}">
                      <a16:colId xmlns:a16="http://schemas.microsoft.com/office/drawing/2014/main" val="20002"/>
                    </a:ext>
                  </a:extLst>
                </a:gridCol>
                <a:gridCol w="1698482">
                  <a:extLst>
                    <a:ext uri="{9D8B030D-6E8A-4147-A177-3AD203B41FA5}">
                      <a16:colId xmlns:a16="http://schemas.microsoft.com/office/drawing/2014/main" val="20003"/>
                    </a:ext>
                  </a:extLst>
                </a:gridCol>
                <a:gridCol w="1698482">
                  <a:extLst>
                    <a:ext uri="{9D8B030D-6E8A-4147-A177-3AD203B41FA5}">
                      <a16:colId xmlns:a16="http://schemas.microsoft.com/office/drawing/2014/main" val="20004"/>
                    </a:ext>
                  </a:extLst>
                </a:gridCol>
                <a:gridCol w="1698482">
                  <a:extLst>
                    <a:ext uri="{9D8B030D-6E8A-4147-A177-3AD203B41FA5}">
                      <a16:colId xmlns:a16="http://schemas.microsoft.com/office/drawing/2014/main" val="20005"/>
                    </a:ext>
                  </a:extLst>
                </a:gridCol>
              </a:tblGrid>
              <a:tr h="370840">
                <a:tc>
                  <a:txBody>
                    <a:bodyPr/>
                    <a:lstStyle/>
                    <a:p>
                      <a:pPr algn="ctr"/>
                      <a:r>
                        <a:rPr lang="es-ES_tradnl" sz="1800" noProof="0" dirty="0">
                          <a:latin typeface="Century Gothic" panose="020B0502020202020204" pitchFamily="34" charset="0"/>
                        </a:rPr>
                        <a:t>IBF</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rgbClr val="00B050"/>
                    </a:solidFill>
                  </a:tcPr>
                </a:tc>
                <a:tc>
                  <a:txBody>
                    <a:bodyPr/>
                    <a:lstStyle/>
                    <a:p>
                      <a:pPr algn="ctr"/>
                      <a:r>
                        <a:rPr lang="es-ES_tradnl" sz="1800" noProof="0" dirty="0">
                          <a:latin typeface="Century Gothic" panose="020B0502020202020204" pitchFamily="34" charset="0"/>
                        </a:rPr>
                        <a:t>Proyecto A</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rgbClr val="00B050"/>
                    </a:solidFill>
                  </a:tcPr>
                </a:tc>
                <a:tc>
                  <a:txBody>
                    <a:bodyPr/>
                    <a:lstStyle/>
                    <a:p>
                      <a:pPr algn="ctr"/>
                      <a:r>
                        <a:rPr lang="es-ES_tradnl" sz="1800" noProof="0" dirty="0">
                          <a:latin typeface="Century Gothic" panose="020B0502020202020204" pitchFamily="34" charset="0"/>
                        </a:rPr>
                        <a:t>Proyecto B</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rgbClr val="00B05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latin typeface="Century Gothic" panose="020B0502020202020204" pitchFamily="34" charset="0"/>
                        </a:rPr>
                        <a:t>Proyecto C</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rgbClr val="00B05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latin typeface="Century Gothic" panose="020B0502020202020204" pitchFamily="34" charset="0"/>
                        </a:rPr>
                        <a:t>Proyecto D</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rgbClr val="00B05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latin typeface="Century Gothic" panose="020B0502020202020204" pitchFamily="34" charset="0"/>
                        </a:rPr>
                        <a:t>Proyecto E</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rgbClr val="00B050"/>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accent1"/>
                          </a:solidFill>
                          <a:latin typeface="Century Gothic" panose="020B0502020202020204" pitchFamily="34" charset="0"/>
                        </a:rPr>
                        <a:t>Inversión</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90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25</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40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70840">
                <a:tc>
                  <a:txBody>
                    <a:bodyPr/>
                    <a:lstStyle/>
                    <a:p>
                      <a:pPr algn="ctr"/>
                      <a:r>
                        <a:rPr lang="es-ES_tradnl" sz="1800" noProof="0" dirty="0">
                          <a:solidFill>
                            <a:schemeClr val="accent1"/>
                          </a:solidFill>
                          <a:latin typeface="Century Gothic" panose="020B0502020202020204" pitchFamily="34" charset="0"/>
                        </a:rPr>
                        <a:t>VPN (10%)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150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137</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-3,5</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r>
                        <a:rPr lang="es-ES_tradnl" sz="1800" noProof="0" dirty="0">
                          <a:solidFill>
                            <a:schemeClr val="accent1"/>
                          </a:solidFill>
                          <a:latin typeface="Century Gothic" panose="020B0502020202020204" pitchFamily="34" charset="0"/>
                        </a:rPr>
                        <a:t>TIR</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17,98%</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20,06%</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10,10%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10,50%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9,85%</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bl>
          </a:graphicData>
        </a:graphic>
      </p:graphicFrame>
      <p:sp>
        <p:nvSpPr>
          <p:cNvPr id="5" name="Rectángulo 4">
            <a:extLst>
              <a:ext uri="{FF2B5EF4-FFF2-40B4-BE49-F238E27FC236}">
                <a16:creationId xmlns:a16="http://schemas.microsoft.com/office/drawing/2014/main" id="{CA34004B-F391-8DBB-C749-1E156BD66F1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D7EE7CE6-880B-85D3-009C-D5A831D395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1F72756A-CCB4-978B-0E90-0E362A042962}"/>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Rectángulo 8">
            <a:extLst>
              <a:ext uri="{FF2B5EF4-FFF2-40B4-BE49-F238E27FC236}">
                <a16:creationId xmlns:a16="http://schemas.microsoft.com/office/drawing/2014/main" id="{460A2BBB-78ED-FBD4-3FD3-2A5803CBE6F6}"/>
              </a:ext>
            </a:extLst>
          </p:cNvPr>
          <p:cNvSpPr/>
          <p:nvPr/>
        </p:nvSpPr>
        <p:spPr>
          <a:xfrm>
            <a:off x="2806200" y="3806995"/>
            <a:ext cx="8274176" cy="1722718"/>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Slide Number Placeholder 3">
            <a:extLst>
              <a:ext uri="{FF2B5EF4-FFF2-40B4-BE49-F238E27FC236}">
                <a16:creationId xmlns:a16="http://schemas.microsoft.com/office/drawing/2014/main" id="{4BB05BA1-9339-EDA7-1176-AF9793A70FB9}"/>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19</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3888438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10755-2485-92EC-6559-69FCDD7120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4EEB05-AAB2-ED1E-EEC1-C7A785164F62}"/>
              </a:ext>
            </a:extLst>
          </p:cNvPr>
          <p:cNvSpPr>
            <a:spLocks noGrp="1"/>
          </p:cNvSpPr>
          <p:nvPr>
            <p:ph type="title"/>
          </p:nvPr>
        </p:nvSpPr>
        <p:spPr/>
        <p:txBody>
          <a:bodyPr>
            <a:normAutofit/>
          </a:bodyPr>
          <a:lstStyle/>
          <a:p>
            <a:r>
              <a:rPr lang="es-ES_tradnl" sz="3200" dirty="0">
                <a:latin typeface="Century Gothic" panose="020B0502020202020204" pitchFamily="34" charset="0"/>
              </a:rPr>
              <a:t>Proyectos dependientes</a:t>
            </a:r>
          </a:p>
        </p:txBody>
      </p:sp>
      <p:sp>
        <p:nvSpPr>
          <p:cNvPr id="3" name="Content Placeholder 2">
            <a:extLst>
              <a:ext uri="{FF2B5EF4-FFF2-40B4-BE49-F238E27FC236}">
                <a16:creationId xmlns:a16="http://schemas.microsoft.com/office/drawing/2014/main" id="{837DFCDD-AA21-15C9-EC0A-689D8F8EE335}"/>
              </a:ext>
            </a:extLst>
          </p:cNvPr>
          <p:cNvSpPr>
            <a:spLocks noGrp="1"/>
          </p:cNvSpPr>
          <p:nvPr>
            <p:ph idx="1"/>
          </p:nvPr>
        </p:nvSpPr>
        <p:spPr>
          <a:xfrm>
            <a:off x="2246878" y="2242779"/>
            <a:ext cx="7610476" cy="1186221"/>
          </a:xfrm>
        </p:spPr>
        <p:txBody>
          <a:bodyPr>
            <a:noAutofit/>
          </a:bodyPr>
          <a:lstStyle/>
          <a:p>
            <a:pPr marL="0" indent="0" algn="ctr">
              <a:buNone/>
            </a:pPr>
            <a:r>
              <a:rPr lang="es-ES_tradnl" sz="2000" dirty="0">
                <a:solidFill>
                  <a:schemeClr val="accent1"/>
                </a:solidFill>
                <a:latin typeface="Century Gothic" panose="020B0502020202020204" pitchFamily="34" charset="0"/>
              </a:rPr>
              <a:t>¿Qué proyecto realizaría si A es dependiente de E?</a:t>
            </a:r>
          </a:p>
          <a:p>
            <a:pPr marL="0" indent="0" algn="ctr">
              <a:buNone/>
            </a:pPr>
            <a:endParaRPr lang="es-ES_tradnl" sz="2000" dirty="0">
              <a:solidFill>
                <a:schemeClr val="accent1"/>
              </a:solidFill>
              <a:latin typeface="Century Gothic" panose="020B0502020202020204" pitchFamily="34" charset="0"/>
            </a:endParaRPr>
          </a:p>
          <a:p>
            <a:pPr marL="0" indent="0" algn="ctr">
              <a:buNone/>
            </a:pPr>
            <a:r>
              <a:rPr lang="es-ES_tradnl" sz="2000" dirty="0">
                <a:solidFill>
                  <a:schemeClr val="accent1"/>
                </a:solidFill>
                <a:latin typeface="Century Gothic" panose="020B0502020202020204" pitchFamily="34" charset="0"/>
              </a:rPr>
              <a:t>Todos los demás proyectos son independientes y cuento con un capital total de 200.</a:t>
            </a:r>
          </a:p>
        </p:txBody>
      </p:sp>
      <p:graphicFrame>
        <p:nvGraphicFramePr>
          <p:cNvPr id="7" name="Table 6">
            <a:extLst>
              <a:ext uri="{FF2B5EF4-FFF2-40B4-BE49-F238E27FC236}">
                <a16:creationId xmlns:a16="http://schemas.microsoft.com/office/drawing/2014/main" id="{7D7EF479-105B-2718-E02A-001D4F90CEEE}"/>
              </a:ext>
            </a:extLst>
          </p:cNvPr>
          <p:cNvGraphicFramePr>
            <a:graphicFrameLocks noGrp="1"/>
          </p:cNvGraphicFramePr>
          <p:nvPr>
            <p:extLst>
              <p:ext uri="{D42A27DB-BD31-4B8C-83A1-F6EECF244321}">
                <p14:modId xmlns:p14="http://schemas.microsoft.com/office/powerpoint/2010/main" val="1706259180"/>
              </p:ext>
            </p:extLst>
          </p:nvPr>
        </p:nvGraphicFramePr>
        <p:xfrm>
          <a:off x="1000554" y="3926674"/>
          <a:ext cx="10190892" cy="1483360"/>
        </p:xfrm>
        <a:graphic>
          <a:graphicData uri="http://schemas.openxmlformats.org/drawingml/2006/table">
            <a:tbl>
              <a:tblPr firstRow="1" bandRow="1">
                <a:tableStyleId>{5C22544A-7EE6-4342-B048-85BDC9FD1C3A}</a:tableStyleId>
              </a:tblPr>
              <a:tblGrid>
                <a:gridCol w="1698482">
                  <a:extLst>
                    <a:ext uri="{9D8B030D-6E8A-4147-A177-3AD203B41FA5}">
                      <a16:colId xmlns:a16="http://schemas.microsoft.com/office/drawing/2014/main" val="20000"/>
                    </a:ext>
                  </a:extLst>
                </a:gridCol>
                <a:gridCol w="1698482">
                  <a:extLst>
                    <a:ext uri="{9D8B030D-6E8A-4147-A177-3AD203B41FA5}">
                      <a16:colId xmlns:a16="http://schemas.microsoft.com/office/drawing/2014/main" val="20001"/>
                    </a:ext>
                  </a:extLst>
                </a:gridCol>
                <a:gridCol w="1698482">
                  <a:extLst>
                    <a:ext uri="{9D8B030D-6E8A-4147-A177-3AD203B41FA5}">
                      <a16:colId xmlns:a16="http://schemas.microsoft.com/office/drawing/2014/main" val="20002"/>
                    </a:ext>
                  </a:extLst>
                </a:gridCol>
                <a:gridCol w="1698482">
                  <a:extLst>
                    <a:ext uri="{9D8B030D-6E8A-4147-A177-3AD203B41FA5}">
                      <a16:colId xmlns:a16="http://schemas.microsoft.com/office/drawing/2014/main" val="20003"/>
                    </a:ext>
                  </a:extLst>
                </a:gridCol>
                <a:gridCol w="1698482">
                  <a:extLst>
                    <a:ext uri="{9D8B030D-6E8A-4147-A177-3AD203B41FA5}">
                      <a16:colId xmlns:a16="http://schemas.microsoft.com/office/drawing/2014/main" val="20004"/>
                    </a:ext>
                  </a:extLst>
                </a:gridCol>
                <a:gridCol w="1698482">
                  <a:extLst>
                    <a:ext uri="{9D8B030D-6E8A-4147-A177-3AD203B41FA5}">
                      <a16:colId xmlns:a16="http://schemas.microsoft.com/office/drawing/2014/main" val="20005"/>
                    </a:ext>
                  </a:extLst>
                </a:gridCol>
              </a:tblGrid>
              <a:tr h="370840">
                <a:tc>
                  <a:txBody>
                    <a:bodyPr/>
                    <a:lstStyle/>
                    <a:p>
                      <a:pPr algn="ctr"/>
                      <a:r>
                        <a:rPr lang="es-ES_tradnl" sz="1800" noProof="0" dirty="0">
                          <a:latin typeface="Century Gothic" panose="020B0502020202020204" pitchFamily="34" charset="0"/>
                        </a:rPr>
                        <a:t>IBF</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rgbClr val="00B050"/>
                    </a:solidFill>
                  </a:tcPr>
                </a:tc>
                <a:tc>
                  <a:txBody>
                    <a:bodyPr/>
                    <a:lstStyle/>
                    <a:p>
                      <a:pPr algn="ctr"/>
                      <a:r>
                        <a:rPr lang="es-ES_tradnl" sz="1800" noProof="0" dirty="0">
                          <a:latin typeface="Century Gothic" panose="020B0502020202020204" pitchFamily="34" charset="0"/>
                        </a:rPr>
                        <a:t>Proyecto A</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rgbClr val="00B050"/>
                    </a:solidFill>
                  </a:tcPr>
                </a:tc>
                <a:tc>
                  <a:txBody>
                    <a:bodyPr/>
                    <a:lstStyle/>
                    <a:p>
                      <a:pPr algn="ctr"/>
                      <a:r>
                        <a:rPr lang="es-ES_tradnl" sz="1800" noProof="0" dirty="0">
                          <a:latin typeface="Century Gothic" panose="020B0502020202020204" pitchFamily="34" charset="0"/>
                        </a:rPr>
                        <a:t>Proyecto B</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rgbClr val="00B05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latin typeface="Century Gothic" panose="020B0502020202020204" pitchFamily="34" charset="0"/>
                        </a:rPr>
                        <a:t>Proyecto C</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rgbClr val="00B05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latin typeface="Century Gothic" panose="020B0502020202020204" pitchFamily="34" charset="0"/>
                        </a:rPr>
                        <a:t>Proyecto D</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rgbClr val="00B05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latin typeface="Century Gothic" panose="020B0502020202020204" pitchFamily="34" charset="0"/>
                        </a:rPr>
                        <a:t>Proyecto E</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rgbClr val="00B050"/>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accent1"/>
                          </a:solidFill>
                          <a:latin typeface="Century Gothic" panose="020B0502020202020204" pitchFamily="34" charset="0"/>
                        </a:rPr>
                        <a:t>Inversión</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90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25</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40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70840">
                <a:tc>
                  <a:txBody>
                    <a:bodyPr/>
                    <a:lstStyle/>
                    <a:p>
                      <a:pPr algn="ctr"/>
                      <a:r>
                        <a:rPr lang="es-ES_tradnl" sz="1800" noProof="0" dirty="0">
                          <a:solidFill>
                            <a:schemeClr val="accent1"/>
                          </a:solidFill>
                          <a:latin typeface="Century Gothic" panose="020B0502020202020204" pitchFamily="34" charset="0"/>
                        </a:rPr>
                        <a:t>VPN (10%)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150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137</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-3,5</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r>
                        <a:rPr lang="es-ES_tradnl" sz="1800" noProof="0" dirty="0">
                          <a:solidFill>
                            <a:schemeClr val="accent1"/>
                          </a:solidFill>
                          <a:latin typeface="Century Gothic" panose="020B0502020202020204" pitchFamily="34" charset="0"/>
                        </a:rPr>
                        <a:t>TIR</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17,98%</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20,06%</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10,10%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10,50%</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9,85%</a:t>
                      </a:r>
                    </a:p>
                  </a:txBody>
                  <a:tcPr>
                    <a:lnL w="28575" cap="flat" cmpd="sng" algn="ctr">
                      <a:solidFill>
                        <a:schemeClr val="accent5">
                          <a:lumMod val="75000"/>
                        </a:schemeClr>
                      </a:solidFill>
                      <a:prstDash val="solid"/>
                      <a:round/>
                      <a:headEnd type="none" w="med" len="med"/>
                      <a:tailEnd type="none" w="med" len="med"/>
                    </a:lnL>
                    <a:lnR w="28575" cap="flat" cmpd="sng" algn="ctr">
                      <a:solidFill>
                        <a:schemeClr val="accent5">
                          <a:lumMod val="75000"/>
                        </a:schemeClr>
                      </a:solidFill>
                      <a:prstDash val="solid"/>
                      <a:round/>
                      <a:headEnd type="none" w="med" len="med"/>
                      <a:tailEnd type="none" w="med" len="med"/>
                    </a:lnR>
                    <a:lnT w="28575" cap="flat" cmpd="sng" algn="ctr">
                      <a:solidFill>
                        <a:schemeClr val="accent5">
                          <a:lumMod val="75000"/>
                        </a:schemeClr>
                      </a:solidFill>
                      <a:prstDash val="solid"/>
                      <a:round/>
                      <a:headEnd type="none" w="med" len="med"/>
                      <a:tailEnd type="none" w="med" len="med"/>
                    </a:lnT>
                    <a:lnB w="28575" cap="flat" cmpd="sng" algn="ctr">
                      <a:solidFill>
                        <a:schemeClr val="accent5">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bl>
          </a:graphicData>
        </a:graphic>
      </p:graphicFrame>
      <p:sp>
        <p:nvSpPr>
          <p:cNvPr id="5" name="Rectángulo 4">
            <a:extLst>
              <a:ext uri="{FF2B5EF4-FFF2-40B4-BE49-F238E27FC236}">
                <a16:creationId xmlns:a16="http://schemas.microsoft.com/office/drawing/2014/main" id="{1F73C56C-34F2-337E-199E-23BC8F6E2E0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057E2F05-90FD-493D-9A69-D24A0438B5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92D1C349-1657-502E-6DEC-080816E9295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Rectángulo 8">
            <a:extLst>
              <a:ext uri="{FF2B5EF4-FFF2-40B4-BE49-F238E27FC236}">
                <a16:creationId xmlns:a16="http://schemas.microsoft.com/office/drawing/2014/main" id="{5ED9F3DC-8D57-FE70-9ACA-A57FACDC1C59}"/>
              </a:ext>
            </a:extLst>
          </p:cNvPr>
          <p:cNvSpPr/>
          <p:nvPr/>
        </p:nvSpPr>
        <p:spPr>
          <a:xfrm>
            <a:off x="2806200" y="3806995"/>
            <a:ext cx="1502835" cy="1722718"/>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Rectángulo 9">
            <a:extLst>
              <a:ext uri="{FF2B5EF4-FFF2-40B4-BE49-F238E27FC236}">
                <a16:creationId xmlns:a16="http://schemas.microsoft.com/office/drawing/2014/main" id="{1489DB4C-2C72-453D-CCD4-347CF36F4510}"/>
              </a:ext>
            </a:extLst>
          </p:cNvPr>
          <p:cNvSpPr/>
          <p:nvPr/>
        </p:nvSpPr>
        <p:spPr>
          <a:xfrm>
            <a:off x="6197847" y="3806995"/>
            <a:ext cx="4888506" cy="1722718"/>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 name="Slide Number Placeholder 3">
            <a:extLst>
              <a:ext uri="{FF2B5EF4-FFF2-40B4-BE49-F238E27FC236}">
                <a16:creationId xmlns:a16="http://schemas.microsoft.com/office/drawing/2014/main" id="{145E9004-B64E-6461-1DB2-3B8A0FCE0B47}"/>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20</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994450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D63843F8-4DE9-8C8B-C3FC-3E946709A18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31DE4245-85FA-D0CF-C0B0-A2BA6FB1C2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23AF8F8B-9F8E-6E7A-2BD4-6A12842FED46}"/>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2" name="Rectángulo 11">
            <a:extLst>
              <a:ext uri="{FF2B5EF4-FFF2-40B4-BE49-F238E27FC236}">
                <a16:creationId xmlns:a16="http://schemas.microsoft.com/office/drawing/2014/main" id="{49D1C304-85F1-5405-B2DD-DBE9AF21FB0B}"/>
              </a:ext>
            </a:extLst>
          </p:cNvPr>
          <p:cNvSpPr/>
          <p:nvPr/>
        </p:nvSpPr>
        <p:spPr>
          <a:xfrm>
            <a:off x="2806200" y="2772729"/>
            <a:ext cx="8540907" cy="4247317"/>
          </a:xfrm>
          <a:prstGeom prst="rect">
            <a:avLst/>
          </a:prstGeom>
        </p:spPr>
        <p:txBody>
          <a:bodyPr wrap="square" lIns="91440" tIns="45720" rIns="91440" bIns="45720" anchor="t">
            <a:spAutoFit/>
          </a:bodyPr>
          <a:lstStyle/>
          <a:p>
            <a:pPr marL="342900" indent="-342900">
              <a:buClr>
                <a:srgbClr val="48BE7A"/>
              </a:buClr>
              <a:buFontTx/>
              <a:buAutoNum type="arabicPeriod"/>
            </a:pPr>
            <a:r>
              <a:rPr lang="es-CO" dirty="0">
                <a:solidFill>
                  <a:schemeClr val="bg2">
                    <a:lumMod val="90000"/>
                  </a:schemeClr>
                </a:solidFill>
                <a:latin typeface="Century Gothic"/>
                <a:cs typeface="Arial"/>
              </a:rPr>
              <a:t>Introducción y tipos de proyectos.</a:t>
            </a:r>
            <a:endParaRPr lang="es-ES" dirty="0">
              <a:solidFill>
                <a:schemeClr val="bg2">
                  <a:lumMod val="90000"/>
                </a:schemeClr>
              </a:solidFill>
              <a:latin typeface="Century Gothic"/>
              <a:cs typeface="Arial"/>
            </a:endParaRPr>
          </a:p>
          <a:p>
            <a:pPr marL="342900" indent="-342900">
              <a:buClr>
                <a:srgbClr val="2C7C9F"/>
              </a:buClr>
              <a:buFontTx/>
              <a:buAutoNum type="arabicPeriod"/>
            </a:pPr>
            <a:endParaRPr lang="es-CO" dirty="0">
              <a:solidFill>
                <a:schemeClr val="accent1"/>
              </a:solidFill>
              <a:latin typeface="Century Gothic"/>
              <a:cs typeface="Arial"/>
            </a:endParaRPr>
          </a:p>
          <a:p>
            <a:pPr marL="342900" indent="-342900">
              <a:buClr>
                <a:srgbClr val="48BE7A"/>
              </a:buClr>
              <a:buFontTx/>
              <a:buAutoNum type="arabicPeriod"/>
            </a:pPr>
            <a:r>
              <a:rPr lang="es-CO" dirty="0">
                <a:solidFill>
                  <a:schemeClr val="bg2">
                    <a:lumMod val="90000"/>
                  </a:schemeClr>
                </a:solidFill>
                <a:latin typeface="Century Gothic"/>
                <a:cs typeface="Arial"/>
              </a:rPr>
              <a:t>Proyectos Independientes.</a:t>
            </a:r>
          </a:p>
          <a:p>
            <a:pPr marL="342900" indent="-342900">
              <a:buClr>
                <a:srgbClr val="48BE7A"/>
              </a:buClr>
              <a:buFontTx/>
              <a:buAutoNum type="arabicPeriod"/>
            </a:pPr>
            <a:endParaRPr lang="es-CO" dirty="0">
              <a:solidFill>
                <a:schemeClr val="bg2">
                  <a:lumMod val="90000"/>
                </a:schemeClr>
              </a:solidFill>
              <a:latin typeface="Century Gothic"/>
            </a:endParaRPr>
          </a:p>
          <a:p>
            <a:pPr marL="342900" indent="-342900">
              <a:buClr>
                <a:srgbClr val="48BE7A"/>
              </a:buClr>
              <a:buFontTx/>
              <a:buAutoNum type="arabicPeriod"/>
            </a:pPr>
            <a:r>
              <a:rPr lang="es-CO" dirty="0">
                <a:solidFill>
                  <a:schemeClr val="bg2">
                    <a:lumMod val="90000"/>
                  </a:schemeClr>
                </a:solidFill>
                <a:latin typeface="Century Gothic"/>
                <a:cs typeface="Arial"/>
              </a:rPr>
              <a:t>Proyectos Dependientes.</a:t>
            </a:r>
          </a:p>
          <a:p>
            <a:pPr marL="342900" indent="-342900">
              <a:buClr>
                <a:srgbClr val="48BE7A"/>
              </a:buClr>
              <a:buFontTx/>
              <a:buAutoNum type="arabicPeriod"/>
            </a:pPr>
            <a:endParaRPr lang="es-CO" dirty="0">
              <a:solidFill>
                <a:schemeClr val="bg2">
                  <a:lumMod val="90000"/>
                </a:schemeClr>
              </a:solidFill>
              <a:latin typeface="Century Gothic"/>
              <a:cs typeface="Arial"/>
            </a:endParaRPr>
          </a:p>
          <a:p>
            <a:pPr marL="342900" indent="-342900">
              <a:buClr>
                <a:schemeClr val="accent3">
                  <a:lumMod val="75000"/>
                </a:schemeClr>
              </a:buClr>
              <a:buFont typeface="Gill Sans MT" panose="020B0502020104020203"/>
              <a:buAutoNum type="arabicPeriod"/>
            </a:pPr>
            <a:r>
              <a:rPr lang="es-CO" dirty="0">
                <a:solidFill>
                  <a:schemeClr val="accent1"/>
                </a:solidFill>
                <a:latin typeface="Century Gothic"/>
                <a:cs typeface="Arial"/>
              </a:rPr>
              <a:t>Proyectos Mutuamente Excluyentes.</a:t>
            </a:r>
          </a:p>
          <a:p>
            <a:pPr>
              <a:buClr>
                <a:srgbClr val="48BE7A"/>
              </a:buClr>
            </a:pPr>
            <a:endParaRPr lang="es-CO" dirty="0">
              <a:solidFill>
                <a:schemeClr val="accent1"/>
              </a:solidFill>
              <a:latin typeface="Century Gothic"/>
              <a:cs typeface="Arial"/>
            </a:endParaRPr>
          </a:p>
          <a:p>
            <a:pPr>
              <a:buClr>
                <a:srgbClr val="48BE7A"/>
              </a:buClr>
            </a:pPr>
            <a:r>
              <a:rPr lang="es-CO" dirty="0">
                <a:solidFill>
                  <a:schemeClr val="accent1"/>
                </a:solidFill>
                <a:latin typeface="Century Gothic"/>
                <a:cs typeface="Arial"/>
              </a:rPr>
              <a:t>	</a:t>
            </a:r>
            <a:r>
              <a:rPr lang="es-CO" dirty="0">
                <a:solidFill>
                  <a:schemeClr val="accent3">
                    <a:lumMod val="75000"/>
                  </a:schemeClr>
                </a:solidFill>
                <a:latin typeface="Century Gothic"/>
                <a:cs typeface="Arial"/>
              </a:rPr>
              <a:t>4.1. </a:t>
            </a:r>
            <a:r>
              <a:rPr lang="es-CO" dirty="0">
                <a:solidFill>
                  <a:schemeClr val="bg2">
                    <a:lumMod val="90000"/>
                  </a:schemeClr>
                </a:solidFill>
                <a:latin typeface="Century Gothic"/>
                <a:cs typeface="Arial"/>
              </a:rPr>
              <a:t>Caso I: misma vida útil, misma inversión inicial.</a:t>
            </a:r>
            <a:endParaRPr lang="es-CO" dirty="0">
              <a:solidFill>
                <a:schemeClr val="bg2">
                  <a:lumMod val="90000"/>
                </a:schemeClr>
              </a:solidFill>
              <a:latin typeface="Century Gothic" panose="020B0502020202020204" pitchFamily="34" charset="0"/>
              <a:cs typeface="Arial"/>
            </a:endParaRPr>
          </a:p>
          <a:p>
            <a:pPr marL="342900" indent="-342900">
              <a:buClr>
                <a:srgbClr val="48BE7A"/>
              </a:buClr>
              <a:buFontTx/>
              <a:buAutoNum type="arabicPeriod"/>
            </a:pPr>
            <a:endParaRPr lang="es-CO" dirty="0">
              <a:solidFill>
                <a:schemeClr val="accent1"/>
              </a:solidFill>
              <a:latin typeface="Century Gothic"/>
              <a:cs typeface="Arial"/>
            </a:endParaRPr>
          </a:p>
          <a:p>
            <a:pPr marL="342900" indent="-342900">
              <a:buClr>
                <a:srgbClr val="48BE7A"/>
              </a:buClr>
              <a:buFont typeface="+mj-lt"/>
              <a:buAutoNum type="arabicPeriod" startAt="5"/>
            </a:pPr>
            <a:r>
              <a:rPr lang="es-CO" dirty="0">
                <a:solidFill>
                  <a:schemeClr val="bg2">
                    <a:lumMod val="90000"/>
                  </a:schemeClr>
                </a:solidFill>
                <a:latin typeface="Century Gothic"/>
                <a:cs typeface="Arial"/>
              </a:rPr>
              <a:t>Ejercicios de Práctica.</a:t>
            </a:r>
            <a:endParaRPr lang="es-CO"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startAt="5"/>
            </a:pPr>
            <a:endParaRPr lang="es-CO" dirty="0">
              <a:solidFill>
                <a:schemeClr val="accent1"/>
              </a:solidFill>
              <a:latin typeface="Century Gothic" panose="020B0502020202020204" pitchFamily="34" charset="0"/>
              <a:cs typeface="Arial"/>
            </a:endParaRPr>
          </a:p>
          <a:p>
            <a:pPr>
              <a:buClr>
                <a:srgbClr val="48BE7A"/>
              </a:buClr>
            </a:pPr>
            <a:r>
              <a:rPr lang="es-CO" dirty="0">
                <a:solidFill>
                  <a:schemeClr val="accent1"/>
                </a:solidFill>
                <a:latin typeface="Century Gothic"/>
                <a:cs typeface="Arial"/>
              </a:rPr>
              <a:t>	</a:t>
            </a: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a:pPr>
            <a:endParaRPr lang="es-CO" dirty="0">
              <a:solidFill>
                <a:schemeClr val="accent1"/>
              </a:solidFill>
              <a:latin typeface="Century Gothic" panose="020B0502020202020204" pitchFamily="34" charset="0"/>
              <a:cs typeface="Arial"/>
            </a:endParaRPr>
          </a:p>
          <a:p>
            <a:pPr>
              <a:buClr>
                <a:schemeClr val="accent3">
                  <a:lumMod val="75000"/>
                </a:schemeClr>
              </a:buClr>
            </a:pPr>
            <a:endParaRPr lang="es-CO" dirty="0">
              <a:solidFill>
                <a:schemeClr val="accent1"/>
              </a:solidFill>
              <a:latin typeface="Century Gothic" panose="020B0502020202020204" pitchFamily="34" charset="0"/>
            </a:endParaRPr>
          </a:p>
        </p:txBody>
      </p:sp>
      <p:sp>
        <p:nvSpPr>
          <p:cNvPr id="3" name="Slide Number Placeholder 3">
            <a:extLst>
              <a:ext uri="{FF2B5EF4-FFF2-40B4-BE49-F238E27FC236}">
                <a16:creationId xmlns:a16="http://schemas.microsoft.com/office/drawing/2014/main" id="{C1525795-48E0-AFA2-7AB8-9A8A5C9BBF0D}"/>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21</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4121342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1000"/>
                                        <p:tgtEl>
                                          <p:spTgt spid="12"/>
                                        </p:tgtEl>
                                      </p:cBhvr>
                                    </p:animEffect>
                                    <p:anim calcmode="lin" valueType="num">
                                      <p:cBhvr>
                                        <p:cTn id="10" dur="1000" fill="hold"/>
                                        <p:tgtEl>
                                          <p:spTgt spid="12"/>
                                        </p:tgtEl>
                                        <p:attrNameLst>
                                          <p:attrName>ppt_x</p:attrName>
                                        </p:attrNameLst>
                                      </p:cBhvr>
                                      <p:tavLst>
                                        <p:tav tm="0">
                                          <p:val>
                                            <p:strVal val="#ppt_x"/>
                                          </p:val>
                                        </p:tav>
                                        <p:tav tm="100000">
                                          <p:val>
                                            <p:strVal val="#ppt_x"/>
                                          </p:val>
                                        </p:tav>
                                      </p:tavLst>
                                    </p:anim>
                                    <p:anim calcmode="lin" valueType="num">
                                      <p:cBhvr>
                                        <p:cTn id="1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sz="3200" dirty="0">
                <a:latin typeface="Century Gothic" panose="020B0502020202020204" pitchFamily="34" charset="0"/>
              </a:rPr>
              <a:t>PROYECTOS Mutuamente Excluyentes</a:t>
            </a:r>
          </a:p>
        </p:txBody>
      </p:sp>
      <p:sp>
        <p:nvSpPr>
          <p:cNvPr id="3" name="Marcador de contenido 2"/>
          <p:cNvSpPr>
            <a:spLocks noGrp="1"/>
          </p:cNvSpPr>
          <p:nvPr>
            <p:ph idx="1"/>
          </p:nvPr>
        </p:nvSpPr>
        <p:spPr>
          <a:xfrm>
            <a:off x="461415" y="2427887"/>
            <a:ext cx="11088620" cy="3973513"/>
          </a:xfrm>
        </p:spPr>
        <p:txBody>
          <a:bodyPr>
            <a:noAutofit/>
          </a:bodyPr>
          <a:lstStyle/>
          <a:p>
            <a:pPr marL="0" indent="0" algn="just">
              <a:buNone/>
            </a:pPr>
            <a:r>
              <a:rPr lang="es-ES" sz="2400" b="1" dirty="0">
                <a:solidFill>
                  <a:srgbClr val="C00000"/>
                </a:solidFill>
                <a:latin typeface="Century Gothic" panose="020B0502020202020204" pitchFamily="34" charset="0"/>
              </a:rPr>
              <a:t>Alternativas de Inversión Mutuamente Excluyentes:</a:t>
            </a:r>
          </a:p>
          <a:p>
            <a:pPr marL="0" indent="0" algn="just">
              <a:buNone/>
            </a:pPr>
            <a:endParaRPr lang="es-ES" sz="2000" b="1" dirty="0">
              <a:solidFill>
                <a:srgbClr val="800000"/>
              </a:solidFill>
              <a:latin typeface="Century Gothic" panose="020B0502020202020204" pitchFamily="34" charset="0"/>
            </a:endParaRPr>
          </a:p>
          <a:p>
            <a:pPr algn="just"/>
            <a:r>
              <a:rPr lang="es-ES" sz="2000" dirty="0">
                <a:solidFill>
                  <a:schemeClr val="accent1"/>
                </a:solidFill>
                <a:latin typeface="Century Gothic" panose="020B0502020202020204" pitchFamily="34" charset="0"/>
              </a:rPr>
              <a:t>Se dice que dos o más proyectos son mutuamente excluyentes </a:t>
            </a:r>
            <a:r>
              <a:rPr lang="es-ES" sz="2000" b="1" dirty="0">
                <a:solidFill>
                  <a:schemeClr val="accent1"/>
                </a:solidFill>
                <a:latin typeface="Century Gothic" panose="020B0502020202020204" pitchFamily="34" charset="0"/>
              </a:rPr>
              <a:t>cuando la realización de un proyecto descarta la ejecución de los demás proyectos.</a:t>
            </a:r>
          </a:p>
          <a:p>
            <a:pPr algn="just"/>
            <a:r>
              <a:rPr lang="es-ES" sz="2000" dirty="0">
                <a:solidFill>
                  <a:schemeClr val="accent1"/>
                </a:solidFill>
                <a:latin typeface="Century Gothic" panose="020B0502020202020204" pitchFamily="34" charset="0"/>
              </a:rPr>
              <a:t>Generalmente, esto se da porque todas ellas responden a la misma necesidad y basta con ejecutar una de las alternativas para solucionar un problema o existen restricciones de tipo presupuestales, tecnológicas, regulatorias, etc.</a:t>
            </a:r>
          </a:p>
          <a:p>
            <a:pPr algn="just"/>
            <a:r>
              <a:rPr lang="es-ES" sz="2000" dirty="0">
                <a:solidFill>
                  <a:schemeClr val="accent1"/>
                </a:solidFill>
                <a:latin typeface="Century Gothic" panose="020B0502020202020204" pitchFamily="34" charset="0"/>
              </a:rPr>
              <a:t>Un ejemplo sencillo de alternativas de inversión dependientes es el siguiente:</a:t>
            </a:r>
          </a:p>
          <a:p>
            <a:pPr lvl="1" algn="just">
              <a:buFont typeface="Arial" panose="020B0604020202020204" pitchFamily="34" charset="0"/>
              <a:buChar char="•"/>
            </a:pPr>
            <a:r>
              <a:rPr lang="es-ES" sz="2000" b="1" dirty="0">
                <a:solidFill>
                  <a:srgbClr val="D7A700"/>
                </a:solidFill>
                <a:latin typeface="Century Gothic" panose="020B0502020202020204" pitchFamily="34" charset="0"/>
              </a:rPr>
              <a:t>Proyecto 1: </a:t>
            </a:r>
            <a:r>
              <a:rPr lang="es-ES" sz="2000" dirty="0">
                <a:solidFill>
                  <a:schemeClr val="accent1"/>
                </a:solidFill>
                <a:latin typeface="Century Gothic" panose="020B0502020202020204" pitchFamily="34" charset="0"/>
              </a:rPr>
              <a:t>Comprar una impresora HP.</a:t>
            </a:r>
          </a:p>
          <a:p>
            <a:pPr lvl="1" algn="just">
              <a:buFont typeface="Arial" panose="020B0604020202020204" pitchFamily="34" charset="0"/>
              <a:buChar char="•"/>
            </a:pPr>
            <a:r>
              <a:rPr lang="es-ES" sz="2000" b="1" dirty="0">
                <a:solidFill>
                  <a:srgbClr val="D7A700"/>
                </a:solidFill>
                <a:latin typeface="Century Gothic" panose="020B0502020202020204" pitchFamily="34" charset="0"/>
              </a:rPr>
              <a:t>Proyecto 2: </a:t>
            </a:r>
            <a:r>
              <a:rPr lang="es-ES" sz="2000" dirty="0">
                <a:solidFill>
                  <a:schemeClr val="accent1"/>
                </a:solidFill>
                <a:latin typeface="Century Gothic" panose="020B0502020202020204" pitchFamily="34" charset="0"/>
              </a:rPr>
              <a:t>Comprar una impresora Epson.</a:t>
            </a:r>
          </a:p>
          <a:p>
            <a:pPr algn="just"/>
            <a:endParaRPr lang="es-ES" sz="2000" dirty="0">
              <a:solidFill>
                <a:schemeClr val="accent1"/>
              </a:solidFill>
              <a:latin typeface="Century Gothic" panose="020B0502020202020204" pitchFamily="34" charset="0"/>
            </a:endParaRPr>
          </a:p>
        </p:txBody>
      </p:sp>
      <p:sp>
        <p:nvSpPr>
          <p:cNvPr id="5" name="Rectángulo 4">
            <a:extLst>
              <a:ext uri="{FF2B5EF4-FFF2-40B4-BE49-F238E27FC236}">
                <a16:creationId xmlns:a16="http://schemas.microsoft.com/office/drawing/2014/main" id="{148A15CE-2EB9-961C-83BC-05B52564978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48BE75B0-2524-0C43-A847-011EECCE07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94526344-BD67-551F-5EB7-FD4FD8FD7938}"/>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8" name="Slide Number Placeholder 3">
            <a:extLst>
              <a:ext uri="{FF2B5EF4-FFF2-40B4-BE49-F238E27FC236}">
                <a16:creationId xmlns:a16="http://schemas.microsoft.com/office/drawing/2014/main" id="{47216B52-C870-DC0F-75BB-E427A2ED0FA4}"/>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22</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457267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 sz="3200" dirty="0">
                <a:latin typeface="Century Gothic" panose="020B0502020202020204" pitchFamily="34" charset="0"/>
              </a:rPr>
              <a:t>PROYECTOS Mutuamente Excluyentes</a:t>
            </a:r>
            <a:endParaRPr lang="es-ES_tradnl" sz="3200" dirty="0">
              <a:latin typeface="Century Gothic" panose="020B0502020202020204" pitchFamily="34" charset="0"/>
            </a:endParaRPr>
          </a:p>
        </p:txBody>
      </p:sp>
      <p:sp>
        <p:nvSpPr>
          <p:cNvPr id="3" name="Content Placeholder 2"/>
          <p:cNvSpPr>
            <a:spLocks noGrp="1"/>
          </p:cNvSpPr>
          <p:nvPr>
            <p:ph idx="1"/>
          </p:nvPr>
        </p:nvSpPr>
        <p:spPr>
          <a:xfrm>
            <a:off x="641965" y="2154739"/>
            <a:ext cx="10371622" cy="4166523"/>
          </a:xfrm>
        </p:spPr>
        <p:txBody>
          <a:bodyPr>
            <a:noAutofit/>
          </a:bodyPr>
          <a:lstStyle/>
          <a:p>
            <a:pPr algn="just"/>
            <a:r>
              <a:rPr lang="es-ES_tradnl" sz="2000" dirty="0">
                <a:solidFill>
                  <a:schemeClr val="accent1"/>
                </a:solidFill>
                <a:latin typeface="Century Gothic" panose="020B0502020202020204" pitchFamily="34" charset="0"/>
              </a:rPr>
              <a:t>Para realizar la selección de proyectos, se requiere un ordenamiento de las alternativas de inversión.</a:t>
            </a:r>
          </a:p>
          <a:p>
            <a:pPr algn="just"/>
            <a:r>
              <a:rPr lang="es-ES_tradnl" sz="2000" dirty="0">
                <a:solidFill>
                  <a:schemeClr val="accent1"/>
                </a:solidFill>
                <a:latin typeface="Century Gothic" panose="020B0502020202020204" pitchFamily="34" charset="0"/>
              </a:rPr>
              <a:t>Para esto, utilizaremos los IBF que ya conocemos.</a:t>
            </a:r>
          </a:p>
          <a:p>
            <a:pPr lvl="2">
              <a:buFont typeface="Courier New" panose="02070309020205020404" pitchFamily="49" charset="0"/>
              <a:buChar char="o"/>
            </a:pPr>
            <a:r>
              <a:rPr lang="es-ES_tradnl" sz="2000" dirty="0">
                <a:solidFill>
                  <a:schemeClr val="accent1"/>
                </a:solidFill>
                <a:latin typeface="Century Gothic" panose="020B0502020202020204" pitchFamily="34" charset="0"/>
              </a:rPr>
              <a:t>VPN</a:t>
            </a:r>
          </a:p>
          <a:p>
            <a:pPr lvl="2">
              <a:buFont typeface="Courier New" panose="02070309020205020404" pitchFamily="49" charset="0"/>
              <a:buChar char="o"/>
            </a:pPr>
            <a:r>
              <a:rPr lang="es-ES_tradnl" sz="2000" dirty="0">
                <a:solidFill>
                  <a:schemeClr val="accent1"/>
                </a:solidFill>
                <a:latin typeface="Century Gothic" panose="020B0502020202020204" pitchFamily="34" charset="0"/>
              </a:rPr>
              <a:t>TIR</a:t>
            </a:r>
          </a:p>
          <a:p>
            <a:pPr lvl="2">
              <a:buFont typeface="Courier New" panose="02070309020205020404" pitchFamily="49" charset="0"/>
              <a:buChar char="o"/>
            </a:pPr>
            <a:r>
              <a:rPr lang="es-ES_tradnl" sz="2000" dirty="0">
                <a:solidFill>
                  <a:schemeClr val="accent1"/>
                </a:solidFill>
                <a:latin typeface="Century Gothic" panose="020B0502020202020204" pitchFamily="34" charset="0"/>
              </a:rPr>
              <a:t>TVR</a:t>
            </a:r>
          </a:p>
          <a:p>
            <a:pPr lvl="2">
              <a:buFont typeface="Courier New" panose="02070309020205020404" pitchFamily="49" charset="0"/>
              <a:buChar char="o"/>
            </a:pPr>
            <a:r>
              <a:rPr lang="es-ES_tradnl" sz="2000" dirty="0">
                <a:solidFill>
                  <a:schemeClr val="accent1"/>
                </a:solidFill>
                <a:latin typeface="Century Gothic" panose="020B0502020202020204" pitchFamily="34" charset="0"/>
              </a:rPr>
              <a:t>B/C</a:t>
            </a:r>
          </a:p>
          <a:p>
            <a:pPr lvl="2">
              <a:buFont typeface="Courier New" panose="02070309020205020404" pitchFamily="49" charset="0"/>
              <a:buChar char="o"/>
            </a:pPr>
            <a:r>
              <a:rPr lang="es-ES_tradnl" sz="2000" dirty="0">
                <a:solidFill>
                  <a:schemeClr val="accent1"/>
                </a:solidFill>
                <a:latin typeface="Century Gothic" panose="020B0502020202020204" pitchFamily="34" charset="0"/>
              </a:rPr>
              <a:t>VAE</a:t>
            </a:r>
          </a:p>
          <a:p>
            <a:pPr marL="0" indent="0" algn="ctr">
              <a:buNone/>
            </a:pPr>
            <a:endParaRPr lang="es-ES_tradnl" sz="2000" b="1" dirty="0">
              <a:solidFill>
                <a:srgbClr val="C00000"/>
              </a:solidFill>
              <a:latin typeface="Century Gothic" panose="020B0502020202020204" pitchFamily="34" charset="0"/>
            </a:endParaRPr>
          </a:p>
          <a:p>
            <a:pPr marL="0" indent="0" algn="ctr">
              <a:buNone/>
            </a:pPr>
            <a:r>
              <a:rPr lang="es-ES_tradnl" sz="2000" b="1" dirty="0">
                <a:solidFill>
                  <a:srgbClr val="C00000"/>
                </a:solidFill>
                <a:latin typeface="Century Gothic" panose="020B0502020202020204" pitchFamily="34" charset="0"/>
              </a:rPr>
              <a:t>Sin embargo, es necesario entender en qué casos es correcto usarlos y en qué casos no.</a:t>
            </a:r>
          </a:p>
        </p:txBody>
      </p:sp>
      <p:pic>
        <p:nvPicPr>
          <p:cNvPr id="3074" name="Picture 2" descr="Dibujos Animados De Contabilidad Imágenes y Fotos - 123RF">
            <a:extLst>
              <a:ext uri="{FF2B5EF4-FFF2-40B4-BE49-F238E27FC236}">
                <a16:creationId xmlns:a16="http://schemas.microsoft.com/office/drawing/2014/main" id="{79E1707F-21D5-E9EE-14A2-BCA9DD5299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0822" y="2890384"/>
            <a:ext cx="2762765" cy="2695231"/>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1B16C4BD-2F94-BF8B-4E7C-8E0CA7854E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D67907AE-B19F-6281-195D-FDAC7E6A47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1B31DE06-2C43-239E-FC7B-F75C8E852752}"/>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8" name="Slide Number Placeholder 3">
            <a:extLst>
              <a:ext uri="{FF2B5EF4-FFF2-40B4-BE49-F238E27FC236}">
                <a16:creationId xmlns:a16="http://schemas.microsoft.com/office/drawing/2014/main" id="{306D1495-7B95-36B8-DDE5-0C4B002FFFE9}"/>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23</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639928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 sz="3200" dirty="0">
                <a:latin typeface="Century Gothic" panose="020B0502020202020204" pitchFamily="34" charset="0"/>
              </a:rPr>
              <a:t>PROYECTOS Mutuamente Excluyentes</a:t>
            </a:r>
            <a:endParaRPr lang="es-ES_tradnl" sz="3200" dirty="0">
              <a:latin typeface="Century Gothic" panose="020B0502020202020204" pitchFamily="34" charset="0"/>
            </a:endParaRPr>
          </a:p>
        </p:txBody>
      </p:sp>
      <p:sp>
        <p:nvSpPr>
          <p:cNvPr id="3" name="Content Placeholder 2"/>
          <p:cNvSpPr>
            <a:spLocks noGrp="1"/>
          </p:cNvSpPr>
          <p:nvPr>
            <p:ph idx="1"/>
          </p:nvPr>
        </p:nvSpPr>
        <p:spPr>
          <a:xfrm>
            <a:off x="763863" y="2003501"/>
            <a:ext cx="8955232" cy="4166523"/>
          </a:xfrm>
        </p:spPr>
        <p:txBody>
          <a:bodyPr>
            <a:normAutofit/>
          </a:bodyPr>
          <a:lstStyle/>
          <a:p>
            <a:pPr marL="0" indent="0" algn="ctr">
              <a:buNone/>
            </a:pPr>
            <a:r>
              <a:rPr lang="es-ES_tradnl" sz="2000" dirty="0">
                <a:solidFill>
                  <a:schemeClr val="accent1"/>
                </a:solidFill>
                <a:latin typeface="Century Gothic" panose="020B0502020202020204" pitchFamily="34" charset="0"/>
              </a:rPr>
              <a:t>Aquí es importante estudiar diferentes casos concretos.</a:t>
            </a:r>
          </a:p>
          <a:p>
            <a:pPr marL="0" indent="0" algn="ctr">
              <a:buNone/>
            </a:pPr>
            <a:endParaRPr lang="es-ES_tradnl" sz="2000" dirty="0">
              <a:solidFill>
                <a:schemeClr val="accent1"/>
              </a:solidFill>
              <a:latin typeface="Century Gothic" panose="020B0502020202020204" pitchFamily="34" charset="0"/>
            </a:endParaRPr>
          </a:p>
          <a:p>
            <a:pPr marL="0" indent="0" algn="ctr">
              <a:buNone/>
            </a:pPr>
            <a:r>
              <a:rPr lang="es-ES_tradnl" sz="2000" dirty="0">
                <a:solidFill>
                  <a:schemeClr val="accent1"/>
                </a:solidFill>
                <a:latin typeface="Century Gothic" panose="020B0502020202020204" pitchFamily="34" charset="0"/>
              </a:rPr>
              <a:t>Esto se debe a que, si no se usan de manera técnica y adecuada, utilizar libremente los IBF podría llevar a </a:t>
            </a:r>
            <a:r>
              <a:rPr lang="es-ES_tradnl" sz="2000" b="1" dirty="0">
                <a:solidFill>
                  <a:srgbClr val="C00000"/>
                </a:solidFill>
                <a:latin typeface="Century Gothic" panose="020B0502020202020204" pitchFamily="34" charset="0"/>
              </a:rPr>
              <a:t>errores en la selección de proyectos</a:t>
            </a:r>
            <a:r>
              <a:rPr lang="es-ES_tradnl" sz="2000" dirty="0">
                <a:solidFill>
                  <a:schemeClr val="accent1"/>
                </a:solidFill>
                <a:latin typeface="Century Gothic" panose="020B0502020202020204" pitchFamily="34" charset="0"/>
              </a:rPr>
              <a:t>.</a:t>
            </a:r>
          </a:p>
          <a:p>
            <a:pPr marL="0" indent="0" algn="ctr">
              <a:buNone/>
            </a:pPr>
            <a:endParaRPr lang="es-ES_tradnl" sz="2000" dirty="0">
              <a:solidFill>
                <a:schemeClr val="accent1"/>
              </a:solidFill>
              <a:latin typeface="Century Gothic" panose="020B0502020202020204" pitchFamily="34" charset="0"/>
            </a:endParaRPr>
          </a:p>
          <a:p>
            <a:pPr marL="0" indent="0" algn="ctr">
              <a:buNone/>
            </a:pPr>
            <a:r>
              <a:rPr lang="es-ES_tradnl" sz="2000" dirty="0">
                <a:solidFill>
                  <a:schemeClr val="accent1"/>
                </a:solidFill>
                <a:latin typeface="Century Gothic" panose="020B0502020202020204" pitchFamily="34" charset="0"/>
              </a:rPr>
              <a:t>En particular, nos interesan los siguientes </a:t>
            </a:r>
            <a:r>
              <a:rPr lang="es-ES_tradnl" sz="2000" b="1" dirty="0">
                <a:solidFill>
                  <a:srgbClr val="D7A700"/>
                </a:solidFill>
                <a:latin typeface="Century Gothic" panose="020B0502020202020204" pitchFamily="34" charset="0"/>
              </a:rPr>
              <a:t>tres (3) casos</a:t>
            </a:r>
            <a:r>
              <a:rPr lang="es-ES_tradnl" sz="2000" dirty="0">
                <a:solidFill>
                  <a:schemeClr val="accent1"/>
                </a:solidFill>
                <a:latin typeface="Century Gothic" panose="020B0502020202020204" pitchFamily="34" charset="0"/>
              </a:rPr>
              <a:t>.</a:t>
            </a:r>
          </a:p>
        </p:txBody>
      </p:sp>
      <p:pic>
        <p:nvPicPr>
          <p:cNvPr id="7" name="Imagen 6">
            <a:extLst>
              <a:ext uri="{FF2B5EF4-FFF2-40B4-BE49-F238E27FC236}">
                <a16:creationId xmlns:a16="http://schemas.microsoft.com/office/drawing/2014/main" id="{376E2720-FA44-6A17-4CFD-8DBFDF3AF499}"/>
              </a:ext>
            </a:extLst>
          </p:cNvPr>
          <p:cNvPicPr>
            <a:picLocks noChangeAspect="1"/>
          </p:cNvPicPr>
          <p:nvPr/>
        </p:nvPicPr>
        <p:blipFill rotWithShape="1">
          <a:blip r:embed="rId2"/>
          <a:srcRect b="6318"/>
          <a:stretch/>
        </p:blipFill>
        <p:spPr>
          <a:xfrm>
            <a:off x="9673087" y="2985986"/>
            <a:ext cx="1755051" cy="2224216"/>
          </a:xfrm>
          <a:prstGeom prst="rect">
            <a:avLst/>
          </a:prstGeom>
        </p:spPr>
      </p:pic>
      <p:sp>
        <p:nvSpPr>
          <p:cNvPr id="5" name="Rectángulo 4">
            <a:extLst>
              <a:ext uri="{FF2B5EF4-FFF2-40B4-BE49-F238E27FC236}">
                <a16:creationId xmlns:a16="http://schemas.microsoft.com/office/drawing/2014/main" id="{67D08D61-CF5D-5316-5125-7A6422CF891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2948DE3F-105D-49F4-8031-BADBF80890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032B4ADA-9601-AD16-F3DC-134698D6BE79}"/>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Slide Number Placeholder 3">
            <a:extLst>
              <a:ext uri="{FF2B5EF4-FFF2-40B4-BE49-F238E27FC236}">
                <a16:creationId xmlns:a16="http://schemas.microsoft.com/office/drawing/2014/main" id="{4305497A-5CA1-8AFC-478B-5F292045E0B4}"/>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24</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16644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a:t>
            </a:r>
          </a:p>
        </p:txBody>
      </p:sp>
      <p:sp>
        <p:nvSpPr>
          <p:cNvPr id="6" name="Rounded Rectangle 5"/>
          <p:cNvSpPr/>
          <p:nvPr/>
        </p:nvSpPr>
        <p:spPr>
          <a:xfrm>
            <a:off x="5027272" y="2944819"/>
            <a:ext cx="2469722" cy="803186"/>
          </a:xfrm>
          <a:prstGeom prst="roundRect">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2000" dirty="0">
                <a:latin typeface="Century Gothic" panose="020B0502020202020204" pitchFamily="34" charset="0"/>
              </a:rPr>
              <a:t>Misma Vida Útil</a:t>
            </a:r>
          </a:p>
        </p:txBody>
      </p:sp>
      <p:sp>
        <p:nvSpPr>
          <p:cNvPr id="7" name="Rounded Rectangle 6"/>
          <p:cNvSpPr/>
          <p:nvPr/>
        </p:nvSpPr>
        <p:spPr>
          <a:xfrm>
            <a:off x="1635641" y="3937321"/>
            <a:ext cx="2088967" cy="1211411"/>
          </a:xfrm>
          <a:prstGeom prst="roundRect">
            <a:avLst/>
          </a:prstGeom>
          <a:solidFill>
            <a:schemeClr val="accent2"/>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_tradnl" sz="2000" dirty="0">
                <a:latin typeface="Century Gothic" panose="020B0502020202020204" pitchFamily="34" charset="0"/>
              </a:rPr>
              <a:t>Proyectos Mutuamente Excluyentes</a:t>
            </a:r>
          </a:p>
        </p:txBody>
      </p:sp>
      <p:cxnSp>
        <p:nvCxnSpPr>
          <p:cNvPr id="8" name="Curved Connector 7"/>
          <p:cNvCxnSpPr>
            <a:stCxn id="7" idx="0"/>
            <a:endCxn id="6" idx="1"/>
          </p:cNvCxnSpPr>
          <p:nvPr/>
        </p:nvCxnSpPr>
        <p:spPr>
          <a:xfrm rot="5400000" flipH="1" flipV="1">
            <a:off x="3558244" y="2468292"/>
            <a:ext cx="590908" cy="2347148"/>
          </a:xfrm>
          <a:prstGeom prst="curvedConnector2">
            <a:avLst/>
          </a:prstGeom>
          <a:ln>
            <a:tailEnd type="arrow"/>
          </a:ln>
        </p:spPr>
        <p:style>
          <a:lnRef idx="2">
            <a:schemeClr val="dk1"/>
          </a:lnRef>
          <a:fillRef idx="0">
            <a:schemeClr val="dk1"/>
          </a:fillRef>
          <a:effectRef idx="1">
            <a:schemeClr val="dk1"/>
          </a:effectRef>
          <a:fontRef idx="minor">
            <a:schemeClr val="tx1"/>
          </a:fontRef>
        </p:style>
      </p:cxnSp>
      <p:cxnSp>
        <p:nvCxnSpPr>
          <p:cNvPr id="9" name="Curved Connector 8"/>
          <p:cNvCxnSpPr>
            <a:stCxn id="6" idx="3"/>
            <a:endCxn id="10" idx="1"/>
          </p:cNvCxnSpPr>
          <p:nvPr/>
        </p:nvCxnSpPr>
        <p:spPr>
          <a:xfrm flipV="1">
            <a:off x="7496994" y="2527136"/>
            <a:ext cx="886618" cy="819276"/>
          </a:xfrm>
          <a:prstGeom prst="curved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10" name="Rounded Rectangle 9"/>
          <p:cNvSpPr/>
          <p:nvPr/>
        </p:nvSpPr>
        <p:spPr>
          <a:xfrm>
            <a:off x="8383613" y="2188370"/>
            <a:ext cx="2054201" cy="67753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2000" dirty="0">
                <a:latin typeface="Century Gothic" panose="020B0502020202020204" pitchFamily="34" charset="0"/>
              </a:rPr>
              <a:t>Inversión Inicial Igual</a:t>
            </a:r>
          </a:p>
        </p:txBody>
      </p:sp>
      <p:sp>
        <p:nvSpPr>
          <p:cNvPr id="19" name="Rounded Rectangle 18"/>
          <p:cNvSpPr/>
          <p:nvPr/>
        </p:nvSpPr>
        <p:spPr>
          <a:xfrm>
            <a:off x="8383613" y="3937320"/>
            <a:ext cx="2054201" cy="67753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2000" dirty="0">
                <a:latin typeface="Century Gothic" panose="020B0502020202020204" pitchFamily="34" charset="0"/>
              </a:rPr>
              <a:t>Inversión Inicial Distinta</a:t>
            </a:r>
          </a:p>
        </p:txBody>
      </p:sp>
      <p:sp>
        <p:nvSpPr>
          <p:cNvPr id="25" name="Rounded Rectangle 24"/>
          <p:cNvSpPr/>
          <p:nvPr/>
        </p:nvSpPr>
        <p:spPr>
          <a:xfrm>
            <a:off x="5027272" y="5465449"/>
            <a:ext cx="2469722" cy="803186"/>
          </a:xfrm>
          <a:prstGeom prst="roundRect">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2000" dirty="0">
                <a:latin typeface="Century Gothic" panose="020B0502020202020204" pitchFamily="34" charset="0"/>
              </a:rPr>
              <a:t>Distinta Vida Útil</a:t>
            </a:r>
          </a:p>
        </p:txBody>
      </p:sp>
      <p:cxnSp>
        <p:nvCxnSpPr>
          <p:cNvPr id="28" name="Curved Connector 27"/>
          <p:cNvCxnSpPr>
            <a:stCxn id="6" idx="3"/>
            <a:endCxn id="19" idx="1"/>
          </p:cNvCxnSpPr>
          <p:nvPr/>
        </p:nvCxnSpPr>
        <p:spPr>
          <a:xfrm>
            <a:off x="7496994" y="3346412"/>
            <a:ext cx="886618" cy="929674"/>
          </a:xfrm>
          <a:prstGeom prst="curved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cxnSp>
        <p:nvCxnSpPr>
          <p:cNvPr id="31" name="Curved Connector 30"/>
          <p:cNvCxnSpPr>
            <a:stCxn id="7" idx="2"/>
            <a:endCxn id="25" idx="1"/>
          </p:cNvCxnSpPr>
          <p:nvPr/>
        </p:nvCxnSpPr>
        <p:spPr>
          <a:xfrm rot="16200000" flipH="1">
            <a:off x="3494544" y="4334312"/>
            <a:ext cx="718311" cy="2347148"/>
          </a:xfrm>
          <a:prstGeom prst="curvedConnector2">
            <a:avLst/>
          </a:prstGeom>
          <a:ln>
            <a:tailEnd type="arrow"/>
          </a:ln>
        </p:spPr>
        <p:style>
          <a:lnRef idx="2">
            <a:schemeClr val="dk1"/>
          </a:lnRef>
          <a:fillRef idx="0">
            <a:schemeClr val="dk1"/>
          </a:fillRef>
          <a:effectRef idx="1">
            <a:schemeClr val="dk1"/>
          </a:effectRef>
          <a:fontRef idx="minor">
            <a:schemeClr val="tx1"/>
          </a:fontRef>
        </p:style>
      </p:cxnSp>
      <p:sp>
        <p:nvSpPr>
          <p:cNvPr id="5" name="CuadroTexto 4">
            <a:extLst>
              <a:ext uri="{FF2B5EF4-FFF2-40B4-BE49-F238E27FC236}">
                <a16:creationId xmlns:a16="http://schemas.microsoft.com/office/drawing/2014/main" id="{F3E6710F-5296-C8EA-FC02-F62865098209}"/>
              </a:ext>
            </a:extLst>
          </p:cNvPr>
          <p:cNvSpPr txBox="1"/>
          <p:nvPr/>
        </p:nvSpPr>
        <p:spPr>
          <a:xfrm>
            <a:off x="10479288" y="2279855"/>
            <a:ext cx="1444487" cy="400110"/>
          </a:xfrm>
          <a:prstGeom prst="rect">
            <a:avLst/>
          </a:prstGeom>
          <a:noFill/>
        </p:spPr>
        <p:txBody>
          <a:bodyPr wrap="square">
            <a:spAutoFit/>
          </a:bodyPr>
          <a:lstStyle/>
          <a:p>
            <a:pPr marL="0" indent="0" algn="ctr">
              <a:buNone/>
            </a:pPr>
            <a:r>
              <a:rPr lang="es-ES_tradnl" sz="2000" b="1" dirty="0">
                <a:solidFill>
                  <a:schemeClr val="accent5">
                    <a:lumMod val="75000"/>
                  </a:schemeClr>
                </a:solidFill>
                <a:latin typeface="Century Gothic" panose="020B0502020202020204" pitchFamily="34" charset="0"/>
              </a:rPr>
              <a:t>Caso 1</a:t>
            </a:r>
          </a:p>
        </p:txBody>
      </p:sp>
      <p:sp>
        <p:nvSpPr>
          <p:cNvPr id="11" name="CuadroTexto 10">
            <a:extLst>
              <a:ext uri="{FF2B5EF4-FFF2-40B4-BE49-F238E27FC236}">
                <a16:creationId xmlns:a16="http://schemas.microsoft.com/office/drawing/2014/main" id="{43596B43-DB69-9ABE-B1C5-CEBE414FD44B}"/>
              </a:ext>
            </a:extLst>
          </p:cNvPr>
          <p:cNvSpPr txBox="1"/>
          <p:nvPr/>
        </p:nvSpPr>
        <p:spPr>
          <a:xfrm>
            <a:off x="10538033" y="4091420"/>
            <a:ext cx="1444487" cy="400110"/>
          </a:xfrm>
          <a:prstGeom prst="rect">
            <a:avLst/>
          </a:prstGeom>
          <a:noFill/>
        </p:spPr>
        <p:txBody>
          <a:bodyPr wrap="square">
            <a:spAutoFit/>
          </a:bodyPr>
          <a:lstStyle/>
          <a:p>
            <a:pPr marL="0" indent="0" algn="ctr">
              <a:buNone/>
            </a:pPr>
            <a:r>
              <a:rPr lang="es-ES_tradnl" sz="2000" b="1" dirty="0">
                <a:solidFill>
                  <a:schemeClr val="accent5">
                    <a:lumMod val="75000"/>
                  </a:schemeClr>
                </a:solidFill>
                <a:latin typeface="Century Gothic" panose="020B0502020202020204" pitchFamily="34" charset="0"/>
              </a:rPr>
              <a:t>Caso 2</a:t>
            </a:r>
          </a:p>
        </p:txBody>
      </p:sp>
      <p:sp>
        <p:nvSpPr>
          <p:cNvPr id="12" name="CuadroTexto 11">
            <a:extLst>
              <a:ext uri="{FF2B5EF4-FFF2-40B4-BE49-F238E27FC236}">
                <a16:creationId xmlns:a16="http://schemas.microsoft.com/office/drawing/2014/main" id="{2163208D-0BFA-1FB1-681C-B80A53A5B282}"/>
              </a:ext>
            </a:extLst>
          </p:cNvPr>
          <p:cNvSpPr txBox="1"/>
          <p:nvPr/>
        </p:nvSpPr>
        <p:spPr>
          <a:xfrm>
            <a:off x="7661368" y="5610498"/>
            <a:ext cx="1444487" cy="400110"/>
          </a:xfrm>
          <a:prstGeom prst="rect">
            <a:avLst/>
          </a:prstGeom>
          <a:noFill/>
        </p:spPr>
        <p:txBody>
          <a:bodyPr wrap="square">
            <a:spAutoFit/>
          </a:bodyPr>
          <a:lstStyle/>
          <a:p>
            <a:pPr marL="0" indent="0" algn="ctr">
              <a:buNone/>
            </a:pPr>
            <a:r>
              <a:rPr lang="es-ES_tradnl" sz="2000" b="1" dirty="0">
                <a:solidFill>
                  <a:schemeClr val="accent5">
                    <a:lumMod val="75000"/>
                  </a:schemeClr>
                </a:solidFill>
                <a:latin typeface="Century Gothic" panose="020B0502020202020204" pitchFamily="34" charset="0"/>
              </a:rPr>
              <a:t>Caso 3</a:t>
            </a:r>
          </a:p>
        </p:txBody>
      </p:sp>
      <p:sp>
        <p:nvSpPr>
          <p:cNvPr id="16" name="Rectángulo 15">
            <a:extLst>
              <a:ext uri="{FF2B5EF4-FFF2-40B4-BE49-F238E27FC236}">
                <a16:creationId xmlns:a16="http://schemas.microsoft.com/office/drawing/2014/main" id="{9D857554-F3B2-69D0-0C5F-9E82D4CE183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E53C6530-586B-6779-E646-C96EC98983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8" name="Rectángulo 17">
            <a:extLst>
              <a:ext uri="{FF2B5EF4-FFF2-40B4-BE49-F238E27FC236}">
                <a16:creationId xmlns:a16="http://schemas.microsoft.com/office/drawing/2014/main" id="{77C8E1B0-E647-AB4A-F646-1D23C50D2EC9}"/>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3" name="Rectángulo 2">
            <a:extLst>
              <a:ext uri="{FF2B5EF4-FFF2-40B4-BE49-F238E27FC236}">
                <a16:creationId xmlns:a16="http://schemas.microsoft.com/office/drawing/2014/main" id="{C047A25E-CE87-F60D-BC06-CFC27860A0FE}"/>
              </a:ext>
            </a:extLst>
          </p:cNvPr>
          <p:cNvSpPr/>
          <p:nvPr/>
        </p:nvSpPr>
        <p:spPr>
          <a:xfrm>
            <a:off x="10675277" y="2279855"/>
            <a:ext cx="1052508" cy="400110"/>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3" name="Slide Number Placeholder 3">
            <a:extLst>
              <a:ext uri="{FF2B5EF4-FFF2-40B4-BE49-F238E27FC236}">
                <a16:creationId xmlns:a16="http://schemas.microsoft.com/office/drawing/2014/main" id="{D55CF16C-C210-440B-DC19-A188925FF9EA}"/>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25</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666594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checkerboard(across)">
                                      <p:cBhvr>
                                        <p:cTn id="13" dur="500"/>
                                        <p:tgtEl>
                                          <p:spTgt spid="8"/>
                                        </p:tgtEl>
                                      </p:cBhvr>
                                    </p:animEffect>
                                  </p:childTnLst>
                                </p:cTn>
                              </p:par>
                              <p:par>
                                <p:cTn id="14" presetID="5" presetClass="entr" presetSubtype="10" fill="hold" nodeType="with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checkerboard(across)">
                                      <p:cBhvr>
                                        <p:cTn id="16" dur="500"/>
                                        <p:tgtEl>
                                          <p:spTgt spid="31"/>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 calcmode="lin" valueType="num">
                                      <p:cBhvr additive="base">
                                        <p:cTn id="27" dur="500" fill="hold"/>
                                        <p:tgtEl>
                                          <p:spTgt spid="25"/>
                                        </p:tgtEl>
                                        <p:attrNameLst>
                                          <p:attrName>ppt_x</p:attrName>
                                        </p:attrNameLst>
                                      </p:cBhvr>
                                      <p:tavLst>
                                        <p:tav tm="0">
                                          <p:val>
                                            <p:strVal val="#ppt_x"/>
                                          </p:val>
                                        </p:tav>
                                        <p:tav tm="100000">
                                          <p:val>
                                            <p:strVal val="#ppt_x"/>
                                          </p:val>
                                        </p:tav>
                                      </p:tavLst>
                                    </p:anim>
                                    <p:anim calcmode="lin" valueType="num">
                                      <p:cBhvr additive="base">
                                        <p:cTn id="2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5" presetClass="entr" presetSubtype="1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checkerboard(across)">
                                      <p:cBhvr>
                                        <p:cTn id="33" dur="500"/>
                                        <p:tgtEl>
                                          <p:spTgt spid="9"/>
                                        </p:tgtEl>
                                      </p:cBhvr>
                                    </p:animEffect>
                                  </p:childTnLst>
                                </p:cTn>
                              </p:par>
                              <p:par>
                                <p:cTn id="34" presetID="5" presetClass="entr" presetSubtype="10" fill="hold" nodeType="with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checkerboard(across)">
                                      <p:cBhvr>
                                        <p:cTn id="36" dur="500"/>
                                        <p:tgtEl>
                                          <p:spTgt spid="28"/>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 calcmode="lin" valueType="num">
                                      <p:cBhvr additive="base">
                                        <p:cTn id="41" dur="500" fill="hold"/>
                                        <p:tgtEl>
                                          <p:spTgt spid="10"/>
                                        </p:tgtEl>
                                        <p:attrNameLst>
                                          <p:attrName>ppt_x</p:attrName>
                                        </p:attrNameLst>
                                      </p:cBhvr>
                                      <p:tavLst>
                                        <p:tav tm="0">
                                          <p:val>
                                            <p:strVal val="#ppt_x"/>
                                          </p:val>
                                        </p:tav>
                                        <p:tav tm="100000">
                                          <p:val>
                                            <p:strVal val="#ppt_x"/>
                                          </p:val>
                                        </p:tav>
                                      </p:tavLst>
                                    </p:anim>
                                    <p:anim calcmode="lin" valueType="num">
                                      <p:cBhvr additive="base">
                                        <p:cTn id="4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 calcmode="lin" valueType="num">
                                      <p:cBhvr additive="base">
                                        <p:cTn id="47" dur="500" fill="hold"/>
                                        <p:tgtEl>
                                          <p:spTgt spid="19"/>
                                        </p:tgtEl>
                                        <p:attrNameLst>
                                          <p:attrName>ppt_x</p:attrName>
                                        </p:attrNameLst>
                                      </p:cBhvr>
                                      <p:tavLst>
                                        <p:tav tm="0">
                                          <p:val>
                                            <p:strVal val="#ppt_x"/>
                                          </p:val>
                                        </p:tav>
                                        <p:tav tm="100000">
                                          <p:val>
                                            <p:strVal val="#ppt_x"/>
                                          </p:val>
                                        </p:tav>
                                      </p:tavLst>
                                    </p:anim>
                                    <p:anim calcmode="lin" valueType="num">
                                      <p:cBhvr additive="base">
                                        <p:cTn id="4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5"/>
                                        </p:tgtEl>
                                        <p:attrNameLst>
                                          <p:attrName>style.visibility</p:attrName>
                                        </p:attrNameLst>
                                      </p:cBhvr>
                                      <p:to>
                                        <p:strVal val="visible"/>
                                      </p:to>
                                    </p:set>
                                    <p:anim calcmode="lin" valueType="num">
                                      <p:cBhvr additive="base">
                                        <p:cTn id="53" dur="500" fill="hold"/>
                                        <p:tgtEl>
                                          <p:spTgt spid="5"/>
                                        </p:tgtEl>
                                        <p:attrNameLst>
                                          <p:attrName>ppt_x</p:attrName>
                                        </p:attrNameLst>
                                      </p:cBhvr>
                                      <p:tavLst>
                                        <p:tav tm="0">
                                          <p:val>
                                            <p:strVal val="#ppt_x"/>
                                          </p:val>
                                        </p:tav>
                                        <p:tav tm="100000">
                                          <p:val>
                                            <p:strVal val="#ppt_x"/>
                                          </p:val>
                                        </p:tav>
                                      </p:tavLst>
                                    </p:anim>
                                    <p:anim calcmode="lin" valueType="num">
                                      <p:cBhvr additive="base">
                                        <p:cTn id="5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11"/>
                                        </p:tgtEl>
                                        <p:attrNameLst>
                                          <p:attrName>style.visibility</p:attrName>
                                        </p:attrNameLst>
                                      </p:cBhvr>
                                      <p:to>
                                        <p:strVal val="visible"/>
                                      </p:to>
                                    </p:set>
                                    <p:anim calcmode="lin" valueType="num">
                                      <p:cBhvr additive="base">
                                        <p:cTn id="59" dur="500" fill="hold"/>
                                        <p:tgtEl>
                                          <p:spTgt spid="11"/>
                                        </p:tgtEl>
                                        <p:attrNameLst>
                                          <p:attrName>ppt_x</p:attrName>
                                        </p:attrNameLst>
                                      </p:cBhvr>
                                      <p:tavLst>
                                        <p:tav tm="0">
                                          <p:val>
                                            <p:strVal val="#ppt_x"/>
                                          </p:val>
                                        </p:tav>
                                        <p:tav tm="100000">
                                          <p:val>
                                            <p:strVal val="#ppt_x"/>
                                          </p:val>
                                        </p:tav>
                                      </p:tavLst>
                                    </p:anim>
                                    <p:anim calcmode="lin" valueType="num">
                                      <p:cBhvr additive="base">
                                        <p:cTn id="6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12"/>
                                        </p:tgtEl>
                                        <p:attrNameLst>
                                          <p:attrName>style.visibility</p:attrName>
                                        </p:attrNameLst>
                                      </p:cBhvr>
                                      <p:to>
                                        <p:strVal val="visible"/>
                                      </p:to>
                                    </p:set>
                                    <p:anim calcmode="lin" valueType="num">
                                      <p:cBhvr additive="base">
                                        <p:cTn id="65" dur="500" fill="hold"/>
                                        <p:tgtEl>
                                          <p:spTgt spid="12"/>
                                        </p:tgtEl>
                                        <p:attrNameLst>
                                          <p:attrName>ppt_x</p:attrName>
                                        </p:attrNameLst>
                                      </p:cBhvr>
                                      <p:tavLst>
                                        <p:tav tm="0">
                                          <p:val>
                                            <p:strVal val="#ppt_x"/>
                                          </p:val>
                                        </p:tav>
                                        <p:tav tm="100000">
                                          <p:val>
                                            <p:strVal val="#ppt_x"/>
                                          </p:val>
                                        </p:tav>
                                      </p:tavLst>
                                    </p:anim>
                                    <p:anim calcmode="lin" valueType="num">
                                      <p:cBhvr additive="base">
                                        <p:cTn id="6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0" grpId="0" animBg="1"/>
      <p:bldP spid="19" grpId="0" animBg="1"/>
      <p:bldP spid="25" grpId="0" animBg="1"/>
      <p:bldP spid="5" grpId="0"/>
      <p:bldP spid="11" grpId="0"/>
      <p:bldP spid="12" grpId="0"/>
      <p:bldP spid="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dirty="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715187EC-F549-06D5-7A54-A03CACEB0B6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4B6C2BAE-554B-CC11-5319-1DCD1C85B7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DC25B810-031A-5DA6-5176-D7AD2F63944B}"/>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2" name="Rectángulo 11">
            <a:extLst>
              <a:ext uri="{FF2B5EF4-FFF2-40B4-BE49-F238E27FC236}">
                <a16:creationId xmlns:a16="http://schemas.microsoft.com/office/drawing/2014/main" id="{88F96EAE-75E4-D21A-77FF-D37655EDAA13}"/>
              </a:ext>
            </a:extLst>
          </p:cNvPr>
          <p:cNvSpPr/>
          <p:nvPr/>
        </p:nvSpPr>
        <p:spPr>
          <a:xfrm>
            <a:off x="2806200" y="2772729"/>
            <a:ext cx="8540907" cy="4247317"/>
          </a:xfrm>
          <a:prstGeom prst="rect">
            <a:avLst/>
          </a:prstGeom>
        </p:spPr>
        <p:txBody>
          <a:bodyPr wrap="square" lIns="91440" tIns="45720" rIns="91440" bIns="45720" anchor="t">
            <a:spAutoFit/>
          </a:bodyPr>
          <a:lstStyle/>
          <a:p>
            <a:pPr marL="342900" indent="-342900">
              <a:buClr>
                <a:srgbClr val="48BE7A"/>
              </a:buClr>
              <a:buFontTx/>
              <a:buAutoNum type="arabicPeriod"/>
            </a:pPr>
            <a:r>
              <a:rPr lang="es-CO" dirty="0">
                <a:solidFill>
                  <a:schemeClr val="bg2">
                    <a:lumMod val="90000"/>
                  </a:schemeClr>
                </a:solidFill>
                <a:latin typeface="Century Gothic"/>
                <a:cs typeface="Arial"/>
              </a:rPr>
              <a:t>Introducción y tipos de proyectos.</a:t>
            </a:r>
            <a:endParaRPr lang="es-ES" dirty="0">
              <a:solidFill>
                <a:schemeClr val="bg2">
                  <a:lumMod val="90000"/>
                </a:schemeClr>
              </a:solidFill>
              <a:latin typeface="Century Gothic"/>
              <a:cs typeface="Arial"/>
            </a:endParaRPr>
          </a:p>
          <a:p>
            <a:pPr marL="342900" indent="-342900">
              <a:buClr>
                <a:srgbClr val="2C7C9F"/>
              </a:buClr>
              <a:buFontTx/>
              <a:buAutoNum type="arabicPeriod"/>
            </a:pPr>
            <a:endParaRPr lang="es-CO" dirty="0">
              <a:solidFill>
                <a:schemeClr val="accent1"/>
              </a:solidFill>
              <a:latin typeface="Century Gothic"/>
              <a:cs typeface="Arial"/>
            </a:endParaRPr>
          </a:p>
          <a:p>
            <a:pPr marL="342900" indent="-342900">
              <a:buClr>
                <a:srgbClr val="48BE7A"/>
              </a:buClr>
              <a:buFontTx/>
              <a:buAutoNum type="arabicPeriod"/>
            </a:pPr>
            <a:r>
              <a:rPr lang="es-CO" dirty="0">
                <a:solidFill>
                  <a:schemeClr val="bg2">
                    <a:lumMod val="90000"/>
                  </a:schemeClr>
                </a:solidFill>
                <a:latin typeface="Century Gothic"/>
                <a:cs typeface="Arial"/>
              </a:rPr>
              <a:t>Proyectos Independientes.</a:t>
            </a:r>
          </a:p>
          <a:p>
            <a:pPr marL="342900" indent="-342900">
              <a:buClr>
                <a:srgbClr val="48BE7A"/>
              </a:buClr>
              <a:buFontTx/>
              <a:buAutoNum type="arabicPeriod"/>
            </a:pPr>
            <a:endParaRPr lang="es-CO" dirty="0">
              <a:solidFill>
                <a:schemeClr val="bg2">
                  <a:lumMod val="90000"/>
                </a:schemeClr>
              </a:solidFill>
              <a:latin typeface="Century Gothic"/>
            </a:endParaRPr>
          </a:p>
          <a:p>
            <a:pPr marL="342900" indent="-342900">
              <a:buClr>
                <a:srgbClr val="48BE7A"/>
              </a:buClr>
              <a:buFontTx/>
              <a:buAutoNum type="arabicPeriod"/>
            </a:pPr>
            <a:r>
              <a:rPr lang="es-CO" dirty="0">
                <a:solidFill>
                  <a:schemeClr val="bg2">
                    <a:lumMod val="90000"/>
                  </a:schemeClr>
                </a:solidFill>
                <a:latin typeface="Century Gothic"/>
                <a:cs typeface="Arial"/>
              </a:rPr>
              <a:t>Proyectos Dependientes.</a:t>
            </a:r>
          </a:p>
          <a:p>
            <a:pPr marL="342900" indent="-342900">
              <a:buClr>
                <a:srgbClr val="48BE7A"/>
              </a:buClr>
              <a:buFontTx/>
              <a:buAutoNum type="arabicPeriod"/>
            </a:pPr>
            <a:endParaRPr lang="es-CO" dirty="0">
              <a:solidFill>
                <a:schemeClr val="bg2">
                  <a:lumMod val="90000"/>
                </a:schemeClr>
              </a:solidFill>
              <a:latin typeface="Century Gothic"/>
              <a:cs typeface="Arial"/>
            </a:endParaRPr>
          </a:p>
          <a:p>
            <a:pPr marL="342900" indent="-342900">
              <a:buClr>
                <a:srgbClr val="48BE7A"/>
              </a:buClr>
              <a:buFontTx/>
              <a:buAutoNum type="arabicPeriod"/>
            </a:pPr>
            <a:r>
              <a:rPr lang="es-CO" dirty="0">
                <a:solidFill>
                  <a:schemeClr val="bg2">
                    <a:lumMod val="90000"/>
                  </a:schemeClr>
                </a:solidFill>
                <a:latin typeface="Century Gothic"/>
                <a:cs typeface="Arial"/>
              </a:rPr>
              <a:t>Proyectos Mutuamente Excluyentes.</a:t>
            </a:r>
          </a:p>
          <a:p>
            <a:pPr>
              <a:buClr>
                <a:srgbClr val="48BE7A"/>
              </a:buClr>
            </a:pPr>
            <a:endParaRPr lang="es-CO" dirty="0">
              <a:solidFill>
                <a:schemeClr val="accent1"/>
              </a:solidFill>
              <a:latin typeface="Century Gothic"/>
              <a:cs typeface="Arial"/>
            </a:endParaRPr>
          </a:p>
          <a:p>
            <a:pPr>
              <a:buClr>
                <a:srgbClr val="48BE7A"/>
              </a:buClr>
            </a:pPr>
            <a:r>
              <a:rPr lang="es-CO" dirty="0">
                <a:solidFill>
                  <a:schemeClr val="accent1"/>
                </a:solidFill>
                <a:latin typeface="Century Gothic"/>
                <a:cs typeface="Arial"/>
              </a:rPr>
              <a:t>	</a:t>
            </a:r>
            <a:r>
              <a:rPr lang="es-CO" dirty="0">
                <a:solidFill>
                  <a:schemeClr val="accent3">
                    <a:lumMod val="75000"/>
                  </a:schemeClr>
                </a:solidFill>
                <a:latin typeface="Century Gothic"/>
                <a:cs typeface="Arial"/>
              </a:rPr>
              <a:t>4.1. </a:t>
            </a:r>
            <a:r>
              <a:rPr lang="es-CO" dirty="0">
                <a:solidFill>
                  <a:schemeClr val="accent1"/>
                </a:solidFill>
                <a:latin typeface="Century Gothic"/>
                <a:cs typeface="Arial"/>
              </a:rPr>
              <a:t>Caso I: misma vida útil, misma inversión inicial.</a:t>
            </a:r>
            <a:endParaRPr lang="es-CO" dirty="0">
              <a:solidFill>
                <a:schemeClr val="accent1"/>
              </a:solidFill>
              <a:latin typeface="Century Gothic" panose="020B0502020202020204" pitchFamily="34" charset="0"/>
              <a:cs typeface="Arial"/>
            </a:endParaRPr>
          </a:p>
          <a:p>
            <a:pPr marL="342900" indent="-342900">
              <a:buClr>
                <a:srgbClr val="48BE7A"/>
              </a:buClr>
              <a:buFontTx/>
              <a:buAutoNum type="arabicPeriod"/>
            </a:pPr>
            <a:endParaRPr lang="es-CO" dirty="0">
              <a:solidFill>
                <a:schemeClr val="accent1"/>
              </a:solidFill>
              <a:latin typeface="Century Gothic"/>
              <a:cs typeface="Arial"/>
            </a:endParaRPr>
          </a:p>
          <a:p>
            <a:pPr marL="342900" indent="-342900">
              <a:buClr>
                <a:srgbClr val="48BE7A"/>
              </a:buClr>
              <a:buFont typeface="+mj-lt"/>
              <a:buAutoNum type="arabicPeriod" startAt="5"/>
            </a:pPr>
            <a:r>
              <a:rPr lang="es-CO" dirty="0">
                <a:solidFill>
                  <a:schemeClr val="bg2">
                    <a:lumMod val="90000"/>
                  </a:schemeClr>
                </a:solidFill>
                <a:latin typeface="Century Gothic"/>
                <a:cs typeface="Arial"/>
              </a:rPr>
              <a:t>Ejercicios de Práctica.</a:t>
            </a:r>
            <a:endParaRPr lang="es-CO"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startAt="5"/>
            </a:pPr>
            <a:endParaRPr lang="es-CO" dirty="0">
              <a:solidFill>
                <a:schemeClr val="accent1"/>
              </a:solidFill>
              <a:latin typeface="Century Gothic" panose="020B0502020202020204" pitchFamily="34" charset="0"/>
              <a:cs typeface="Arial"/>
            </a:endParaRPr>
          </a:p>
          <a:p>
            <a:pPr>
              <a:buClr>
                <a:srgbClr val="48BE7A"/>
              </a:buClr>
            </a:pPr>
            <a:r>
              <a:rPr lang="es-CO" dirty="0">
                <a:solidFill>
                  <a:schemeClr val="accent1"/>
                </a:solidFill>
                <a:latin typeface="Century Gothic"/>
                <a:cs typeface="Arial"/>
              </a:rPr>
              <a:t>	</a:t>
            </a: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a:pPr>
            <a:endParaRPr lang="es-CO" dirty="0">
              <a:solidFill>
                <a:schemeClr val="accent1"/>
              </a:solidFill>
              <a:latin typeface="Century Gothic" panose="020B0502020202020204" pitchFamily="34" charset="0"/>
              <a:cs typeface="Arial"/>
            </a:endParaRPr>
          </a:p>
          <a:p>
            <a:pPr>
              <a:buClr>
                <a:schemeClr val="accent3">
                  <a:lumMod val="75000"/>
                </a:schemeClr>
              </a:buClr>
            </a:pPr>
            <a:endParaRPr lang="es-CO" dirty="0">
              <a:solidFill>
                <a:schemeClr val="accent1"/>
              </a:solidFill>
              <a:latin typeface="Century Gothic" panose="020B0502020202020204" pitchFamily="34" charset="0"/>
            </a:endParaRPr>
          </a:p>
        </p:txBody>
      </p:sp>
      <p:sp>
        <p:nvSpPr>
          <p:cNvPr id="3" name="Slide Number Placeholder 3">
            <a:extLst>
              <a:ext uri="{FF2B5EF4-FFF2-40B4-BE49-F238E27FC236}">
                <a16:creationId xmlns:a16="http://schemas.microsoft.com/office/drawing/2014/main" id="{DE9B8E10-893F-4FC0-8E74-44C74F9CC851}"/>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26</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104121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1000"/>
                                        <p:tgtEl>
                                          <p:spTgt spid="12"/>
                                        </p:tgtEl>
                                      </p:cBhvr>
                                    </p:animEffect>
                                    <p:anim calcmode="lin" valueType="num">
                                      <p:cBhvr>
                                        <p:cTn id="10" dur="1000" fill="hold"/>
                                        <p:tgtEl>
                                          <p:spTgt spid="12"/>
                                        </p:tgtEl>
                                        <p:attrNameLst>
                                          <p:attrName>ppt_x</p:attrName>
                                        </p:attrNameLst>
                                      </p:cBhvr>
                                      <p:tavLst>
                                        <p:tav tm="0">
                                          <p:val>
                                            <p:strVal val="#ppt_x"/>
                                          </p:val>
                                        </p:tav>
                                        <p:tav tm="100000">
                                          <p:val>
                                            <p:strVal val="#ppt_x"/>
                                          </p:val>
                                        </p:tav>
                                      </p:tavLst>
                                    </p:anim>
                                    <p:anim calcmode="lin" valueType="num">
                                      <p:cBhvr>
                                        <p:cTn id="1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635E0-82B5-8D3F-1C78-DDC0B83C6F21}"/>
              </a:ext>
            </a:extLst>
          </p:cNvPr>
          <p:cNvSpPr>
            <a:spLocks noGrp="1"/>
          </p:cNvSpPr>
          <p:nvPr>
            <p:ph type="title"/>
          </p:nvPr>
        </p:nvSpPr>
        <p:spPr/>
        <p:txBody>
          <a:bodyPr/>
          <a:lstStyle/>
          <a:p>
            <a:r>
              <a:rPr lang="es-ES_tradnl" dirty="0" err="1"/>
              <a:t>excel</a:t>
            </a:r>
            <a:endParaRPr lang="es-ES_tradnl" dirty="0"/>
          </a:p>
        </p:txBody>
      </p:sp>
      <p:pic>
        <p:nvPicPr>
          <p:cNvPr id="5" name="Content Placeholder 4">
            <a:extLst>
              <a:ext uri="{FF2B5EF4-FFF2-40B4-BE49-F238E27FC236}">
                <a16:creationId xmlns:a16="http://schemas.microsoft.com/office/drawing/2014/main" id="{590FCDC0-4817-6730-14B9-3F5CBD78B184}"/>
              </a:ext>
            </a:extLst>
          </p:cNvPr>
          <p:cNvPicPr>
            <a:picLocks noGrp="1" noChangeAspect="1"/>
          </p:cNvPicPr>
          <p:nvPr>
            <p:ph idx="1"/>
          </p:nvPr>
        </p:nvPicPr>
        <p:blipFill>
          <a:blip r:embed="rId2"/>
          <a:stretch>
            <a:fillRect/>
          </a:stretch>
        </p:blipFill>
        <p:spPr>
          <a:xfrm>
            <a:off x="2269472" y="2165459"/>
            <a:ext cx="3711676" cy="3678238"/>
          </a:xfrm>
          <a:prstGeom prst="rect">
            <a:avLst/>
          </a:prstGeom>
        </p:spPr>
      </p:pic>
      <p:sp>
        <p:nvSpPr>
          <p:cNvPr id="4" name="Slide Number Placeholder 3">
            <a:extLst>
              <a:ext uri="{FF2B5EF4-FFF2-40B4-BE49-F238E27FC236}">
                <a16:creationId xmlns:a16="http://schemas.microsoft.com/office/drawing/2014/main" id="{3587B67B-F6C5-DE21-2103-495A749E21DF}"/>
              </a:ext>
            </a:extLst>
          </p:cNvPr>
          <p:cNvSpPr>
            <a:spLocks noGrp="1"/>
          </p:cNvSpPr>
          <p:nvPr>
            <p:ph type="sldNum" sz="quarter" idx="12"/>
          </p:nvPr>
        </p:nvSpPr>
        <p:spPr/>
        <p:txBody>
          <a:bodyPr/>
          <a:lstStyle/>
          <a:p>
            <a:fld id="{D57F1E4F-1CFF-5643-939E-217C01CDF565}" type="slidenum">
              <a:rPr lang="en-US" smtClean="0"/>
              <a:pPr/>
              <a:t>27</a:t>
            </a:fld>
            <a:endParaRPr lang="en-US"/>
          </a:p>
        </p:txBody>
      </p:sp>
      <p:sp>
        <p:nvSpPr>
          <p:cNvPr id="6" name="TextBox 5">
            <a:extLst>
              <a:ext uri="{FF2B5EF4-FFF2-40B4-BE49-F238E27FC236}">
                <a16:creationId xmlns:a16="http://schemas.microsoft.com/office/drawing/2014/main" id="{0629811B-AC27-5068-1F4F-F39411030394}"/>
              </a:ext>
            </a:extLst>
          </p:cNvPr>
          <p:cNvSpPr txBox="1"/>
          <p:nvPr/>
        </p:nvSpPr>
        <p:spPr>
          <a:xfrm>
            <a:off x="7132320" y="4284617"/>
            <a:ext cx="2555315" cy="369332"/>
          </a:xfrm>
          <a:prstGeom prst="rect">
            <a:avLst/>
          </a:prstGeom>
          <a:noFill/>
        </p:spPr>
        <p:txBody>
          <a:bodyPr wrap="none" rtlCol="0">
            <a:spAutoFit/>
          </a:bodyPr>
          <a:lstStyle/>
          <a:p>
            <a:r>
              <a:rPr lang="es-ES_tradnl" dirty="0">
                <a:solidFill>
                  <a:srgbClr val="FF0000"/>
                </a:solidFill>
              </a:rPr>
              <a:t>https://</a:t>
            </a:r>
            <a:r>
              <a:rPr lang="es-ES_tradnl" dirty="0" err="1">
                <a:solidFill>
                  <a:srgbClr val="FF0000"/>
                </a:solidFill>
              </a:rPr>
              <a:t>shorturl.at</a:t>
            </a:r>
            <a:r>
              <a:rPr lang="es-ES_tradnl" dirty="0">
                <a:solidFill>
                  <a:srgbClr val="FF0000"/>
                </a:solidFill>
              </a:rPr>
              <a:t>/DEAF9</a:t>
            </a:r>
          </a:p>
        </p:txBody>
      </p:sp>
    </p:spTree>
    <p:extLst>
      <p:ext uri="{BB962C8B-B14F-4D97-AF65-F5344CB8AC3E}">
        <p14:creationId xmlns:p14="http://schemas.microsoft.com/office/powerpoint/2010/main" val="19564204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1 </a:t>
            </a:r>
          </a:p>
        </p:txBody>
      </p:sp>
      <p:sp>
        <p:nvSpPr>
          <p:cNvPr id="3" name="Content Placeholder 2"/>
          <p:cNvSpPr>
            <a:spLocks noGrp="1"/>
          </p:cNvSpPr>
          <p:nvPr>
            <p:ph idx="1"/>
          </p:nvPr>
        </p:nvSpPr>
        <p:spPr>
          <a:xfrm>
            <a:off x="503799" y="1989939"/>
            <a:ext cx="8569615" cy="4166523"/>
          </a:xfrm>
        </p:spPr>
        <p:txBody>
          <a:bodyPr>
            <a:normAutofit/>
          </a:bodyPr>
          <a:lstStyle/>
          <a:p>
            <a:pPr marL="0" indent="0" algn="ctr">
              <a:buNone/>
            </a:pPr>
            <a:r>
              <a:rPr lang="es-ES_tradnl" sz="2000" b="1" dirty="0">
                <a:solidFill>
                  <a:srgbClr val="C00000"/>
                </a:solidFill>
                <a:latin typeface="Century Gothic" panose="020B0502020202020204" pitchFamily="34" charset="0"/>
              </a:rPr>
              <a:t>Caso 1: </a:t>
            </a:r>
            <a:r>
              <a:rPr lang="es-ES_tradnl" sz="2000" b="1" dirty="0">
                <a:solidFill>
                  <a:schemeClr val="accent3">
                    <a:lumMod val="75000"/>
                  </a:schemeClr>
                </a:solidFill>
                <a:latin typeface="Century Gothic" panose="020B0502020202020204" pitchFamily="34" charset="0"/>
              </a:rPr>
              <a:t>Comparación de alternativas mutuamente excluyentes con vidas útiles e inversiones iniciales iguales.</a:t>
            </a:r>
          </a:p>
          <a:p>
            <a:pPr marL="0" indent="0" algn="ctr">
              <a:buNone/>
            </a:pPr>
            <a:endParaRPr lang="es-ES_tradnl" sz="2000" b="1" dirty="0">
              <a:solidFill>
                <a:schemeClr val="accent1"/>
              </a:solidFill>
              <a:latin typeface="Century Gothic" panose="020B0502020202020204" pitchFamily="34" charset="0"/>
            </a:endParaRPr>
          </a:p>
          <a:p>
            <a:pPr marL="0" indent="0" algn="ctr">
              <a:buNone/>
            </a:pPr>
            <a:r>
              <a:rPr lang="es-ES_tradnl" sz="2000" dirty="0">
                <a:solidFill>
                  <a:schemeClr val="accent1"/>
                </a:solidFill>
                <a:latin typeface="Century Gothic" panose="020B0502020202020204" pitchFamily="34" charset="0"/>
              </a:rPr>
              <a:t>Es el caso más sencillo para estudiar a la hora de realizar la selección de proyectos mutuamente excluyentes.</a:t>
            </a:r>
          </a:p>
          <a:p>
            <a:pPr marL="0" indent="0" algn="ctr">
              <a:buNone/>
            </a:pPr>
            <a:endParaRPr lang="es-ES_tradnl" sz="2000" dirty="0">
              <a:solidFill>
                <a:schemeClr val="accent1"/>
              </a:solidFill>
              <a:latin typeface="Century Gothic" panose="020B0502020202020204" pitchFamily="34" charset="0"/>
            </a:endParaRPr>
          </a:p>
          <a:p>
            <a:pPr marL="0" indent="0" algn="ctr">
              <a:buNone/>
            </a:pPr>
            <a:r>
              <a:rPr lang="es-ES_tradnl" sz="2000" dirty="0">
                <a:solidFill>
                  <a:schemeClr val="accent1"/>
                </a:solidFill>
                <a:latin typeface="Century Gothic" panose="020B0502020202020204" pitchFamily="34" charset="0"/>
              </a:rPr>
              <a:t>Para el análisis, tomemos los siguientes dos proyectos. Asuma un costo de oportunidad del 10%.</a:t>
            </a:r>
          </a:p>
        </p:txBody>
      </p:sp>
      <p:pic>
        <p:nvPicPr>
          <p:cNvPr id="11" name="Imagen 10">
            <a:extLst>
              <a:ext uri="{FF2B5EF4-FFF2-40B4-BE49-F238E27FC236}">
                <a16:creationId xmlns:a16="http://schemas.microsoft.com/office/drawing/2014/main" id="{F8E63E37-10C6-7294-DE82-C94C1EF6D027}"/>
              </a:ext>
            </a:extLst>
          </p:cNvPr>
          <p:cNvPicPr>
            <a:picLocks noChangeAspect="1"/>
          </p:cNvPicPr>
          <p:nvPr/>
        </p:nvPicPr>
        <p:blipFill>
          <a:blip r:embed="rId2"/>
          <a:stretch>
            <a:fillRect/>
          </a:stretch>
        </p:blipFill>
        <p:spPr>
          <a:xfrm>
            <a:off x="9171691" y="3301656"/>
            <a:ext cx="2565682" cy="1651877"/>
          </a:xfrm>
          <a:prstGeom prst="rect">
            <a:avLst/>
          </a:prstGeom>
        </p:spPr>
      </p:pic>
      <p:sp>
        <p:nvSpPr>
          <p:cNvPr id="9" name="Rectángulo 8">
            <a:extLst>
              <a:ext uri="{FF2B5EF4-FFF2-40B4-BE49-F238E27FC236}">
                <a16:creationId xmlns:a16="http://schemas.microsoft.com/office/drawing/2014/main" id="{8219050E-FB62-6AAA-80F5-EFCA8EEC677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F8A407CA-098C-3A60-EF73-052EDD9B4C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2" name="Rectángulo 11">
            <a:extLst>
              <a:ext uri="{FF2B5EF4-FFF2-40B4-BE49-F238E27FC236}">
                <a16:creationId xmlns:a16="http://schemas.microsoft.com/office/drawing/2014/main" id="{D98B3E34-DC21-AD25-DE17-B7DB1BFC287A}"/>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5" name="Slide Number Placeholder 3">
            <a:extLst>
              <a:ext uri="{FF2B5EF4-FFF2-40B4-BE49-F238E27FC236}">
                <a16:creationId xmlns:a16="http://schemas.microsoft.com/office/drawing/2014/main" id="{63FE2972-78F3-8C41-ECF6-90856E37E3F6}"/>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28</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2085950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1 </a:t>
            </a:r>
          </a:p>
        </p:txBody>
      </p:sp>
      <p:sp>
        <p:nvSpPr>
          <p:cNvPr id="40" name="Content Placeholder 2"/>
          <p:cNvSpPr>
            <a:spLocks noGrp="1"/>
          </p:cNvSpPr>
          <p:nvPr>
            <p:ph idx="1"/>
          </p:nvPr>
        </p:nvSpPr>
        <p:spPr>
          <a:xfrm>
            <a:off x="335971" y="4986358"/>
            <a:ext cx="2603500" cy="1169486"/>
          </a:xfrm>
        </p:spPr>
        <p:txBody>
          <a:bodyPr>
            <a:normAutofit/>
          </a:bodyPr>
          <a:lstStyle/>
          <a:p>
            <a:pPr marL="0" indent="0" algn="ctr">
              <a:buNone/>
            </a:pPr>
            <a:r>
              <a:rPr lang="es-ES_tradnl" sz="2000" b="1" dirty="0">
                <a:solidFill>
                  <a:srgbClr val="D7A700"/>
                </a:solidFill>
                <a:latin typeface="Century Gothic" panose="020B0502020202020204" pitchFamily="34" charset="0"/>
              </a:rPr>
              <a:t>¿Cuál proyecto es mejor según el VPN?</a:t>
            </a:r>
          </a:p>
        </p:txBody>
      </p:sp>
      <p:cxnSp>
        <p:nvCxnSpPr>
          <p:cNvPr id="7" name="Straight Arrow Connector 6"/>
          <p:cNvCxnSpPr>
            <a:cxnSpLocks/>
          </p:cNvCxnSpPr>
          <p:nvPr/>
        </p:nvCxnSpPr>
        <p:spPr>
          <a:xfrm>
            <a:off x="2670855" y="3388252"/>
            <a:ext cx="0" cy="666207"/>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flipV="1">
            <a:off x="4561093" y="2929525"/>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13"/>
          <p:cNvSpPr>
            <a:spLocks/>
          </p:cNvSpPr>
          <p:nvPr/>
        </p:nvSpPr>
        <p:spPr bwMode="auto">
          <a:xfrm flipH="1">
            <a:off x="2585254" y="3045032"/>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0</a:t>
            </a:r>
          </a:p>
        </p:txBody>
      </p:sp>
      <p:sp>
        <p:nvSpPr>
          <p:cNvPr id="15" name="Rectangle 14"/>
          <p:cNvSpPr>
            <a:spLocks/>
          </p:cNvSpPr>
          <p:nvPr/>
        </p:nvSpPr>
        <p:spPr bwMode="auto">
          <a:xfrm>
            <a:off x="4377504" y="3511362"/>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2</a:t>
            </a:r>
          </a:p>
        </p:txBody>
      </p:sp>
      <p:sp>
        <p:nvSpPr>
          <p:cNvPr id="21" name="Rectangle 20"/>
          <p:cNvSpPr>
            <a:spLocks/>
          </p:cNvSpPr>
          <p:nvPr/>
        </p:nvSpPr>
        <p:spPr bwMode="auto">
          <a:xfrm>
            <a:off x="1728808" y="4101644"/>
            <a:ext cx="188716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1.000</a:t>
            </a:r>
          </a:p>
        </p:txBody>
      </p:sp>
      <p:sp>
        <p:nvSpPr>
          <p:cNvPr id="22" name="Rectangle 21"/>
          <p:cNvSpPr>
            <a:spLocks/>
          </p:cNvSpPr>
          <p:nvPr/>
        </p:nvSpPr>
        <p:spPr bwMode="auto">
          <a:xfrm>
            <a:off x="3922367" y="2562760"/>
            <a:ext cx="12774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1.392</a:t>
            </a:r>
          </a:p>
        </p:txBody>
      </p:sp>
      <p:cxnSp>
        <p:nvCxnSpPr>
          <p:cNvPr id="28" name="Straight Arrow Connector 27"/>
          <p:cNvCxnSpPr>
            <a:cxnSpLocks/>
          </p:cNvCxnSpPr>
          <p:nvPr/>
        </p:nvCxnSpPr>
        <p:spPr>
          <a:xfrm>
            <a:off x="7062707" y="3401982"/>
            <a:ext cx="0" cy="652477"/>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p:nvPr/>
        </p:nvCxnSpPr>
        <p:spPr>
          <a:xfrm flipV="1">
            <a:off x="8952945" y="2929525"/>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2" name="Rectangle 31"/>
          <p:cNvSpPr>
            <a:spLocks/>
          </p:cNvSpPr>
          <p:nvPr/>
        </p:nvSpPr>
        <p:spPr bwMode="auto">
          <a:xfrm flipH="1">
            <a:off x="6977106" y="3045032"/>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0</a:t>
            </a:r>
          </a:p>
        </p:txBody>
      </p:sp>
      <p:sp>
        <p:nvSpPr>
          <p:cNvPr id="33" name="Rectangle 32"/>
          <p:cNvSpPr>
            <a:spLocks/>
          </p:cNvSpPr>
          <p:nvPr/>
        </p:nvSpPr>
        <p:spPr bwMode="auto">
          <a:xfrm>
            <a:off x="8769355" y="3440746"/>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2</a:t>
            </a:r>
          </a:p>
        </p:txBody>
      </p:sp>
      <p:sp>
        <p:nvSpPr>
          <p:cNvPr id="34" name="Rectangle 33"/>
          <p:cNvSpPr>
            <a:spLocks/>
          </p:cNvSpPr>
          <p:nvPr/>
        </p:nvSpPr>
        <p:spPr bwMode="auto">
          <a:xfrm>
            <a:off x="6099387" y="4101644"/>
            <a:ext cx="188716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1.000</a:t>
            </a:r>
          </a:p>
        </p:txBody>
      </p:sp>
      <p:sp>
        <p:nvSpPr>
          <p:cNvPr id="35" name="Rectangle 34"/>
          <p:cNvSpPr>
            <a:spLocks/>
          </p:cNvSpPr>
          <p:nvPr/>
        </p:nvSpPr>
        <p:spPr bwMode="auto">
          <a:xfrm>
            <a:off x="8314219" y="2562760"/>
            <a:ext cx="12774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655</a:t>
            </a:r>
          </a:p>
        </p:txBody>
      </p:sp>
      <p:sp>
        <p:nvSpPr>
          <p:cNvPr id="36" name="Rectangle 35"/>
          <p:cNvSpPr>
            <a:spLocks/>
          </p:cNvSpPr>
          <p:nvPr/>
        </p:nvSpPr>
        <p:spPr bwMode="auto">
          <a:xfrm>
            <a:off x="7837760" y="3436850"/>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1</a:t>
            </a:r>
          </a:p>
        </p:txBody>
      </p:sp>
      <p:sp>
        <p:nvSpPr>
          <p:cNvPr id="37" name="Rectangle 36"/>
          <p:cNvSpPr>
            <a:spLocks/>
          </p:cNvSpPr>
          <p:nvPr/>
        </p:nvSpPr>
        <p:spPr bwMode="auto">
          <a:xfrm>
            <a:off x="7367564" y="2592049"/>
            <a:ext cx="12774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655</a:t>
            </a:r>
          </a:p>
        </p:txBody>
      </p:sp>
      <p:cxnSp>
        <p:nvCxnSpPr>
          <p:cNvPr id="38" name="Straight Arrow Connector 37"/>
          <p:cNvCxnSpPr/>
          <p:nvPr/>
        </p:nvCxnSpPr>
        <p:spPr>
          <a:xfrm flipV="1">
            <a:off x="8006290" y="2929525"/>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2939471" y="2031298"/>
            <a:ext cx="1552028" cy="400110"/>
          </a:xfrm>
          <a:prstGeom prst="rect">
            <a:avLst/>
          </a:prstGeom>
          <a:noFill/>
        </p:spPr>
        <p:txBody>
          <a:bodyPr wrap="none" rtlCol="0">
            <a:spAutoFit/>
          </a:bodyPr>
          <a:lstStyle/>
          <a:p>
            <a:r>
              <a:rPr lang="es-ES_tradnl" sz="2000" b="1" dirty="0">
                <a:latin typeface="Century Gothic" panose="020B0502020202020204" pitchFamily="34" charset="0"/>
              </a:rPr>
              <a:t>Proyecto A</a:t>
            </a:r>
          </a:p>
        </p:txBody>
      </p:sp>
      <p:sp>
        <p:nvSpPr>
          <p:cNvPr id="39" name="TextBox 38"/>
          <p:cNvSpPr txBox="1"/>
          <p:nvPr/>
        </p:nvSpPr>
        <p:spPr>
          <a:xfrm>
            <a:off x="7555890" y="2002009"/>
            <a:ext cx="1511952" cy="400110"/>
          </a:xfrm>
          <a:prstGeom prst="rect">
            <a:avLst/>
          </a:prstGeom>
          <a:noFill/>
        </p:spPr>
        <p:txBody>
          <a:bodyPr wrap="none" rtlCol="0">
            <a:spAutoFit/>
          </a:bodyPr>
          <a:lstStyle/>
          <a:p>
            <a:r>
              <a:rPr lang="es-ES_tradnl" sz="2000" b="1" dirty="0">
                <a:latin typeface="Century Gothic" panose="020B0502020202020204" pitchFamily="34" charset="0"/>
              </a:rPr>
              <a:t>Proyecto B</a:t>
            </a:r>
          </a:p>
        </p:txBody>
      </p:sp>
      <p:sp>
        <p:nvSpPr>
          <p:cNvPr id="12" name="Rectángulo 11">
            <a:extLst>
              <a:ext uri="{FF2B5EF4-FFF2-40B4-BE49-F238E27FC236}">
                <a16:creationId xmlns:a16="http://schemas.microsoft.com/office/drawing/2014/main" id="{23FD7D65-D9A6-3334-985B-677641921F5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81B185DF-4DDF-6B87-764B-3607DA0C63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6" name="Rectángulo 15">
            <a:extLst>
              <a:ext uri="{FF2B5EF4-FFF2-40B4-BE49-F238E27FC236}">
                <a16:creationId xmlns:a16="http://schemas.microsoft.com/office/drawing/2014/main" id="{82FBB356-70F3-969E-F98F-16A8A3869B06}"/>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cxnSp>
        <p:nvCxnSpPr>
          <p:cNvPr id="6" name="Straight Connector 5"/>
          <p:cNvCxnSpPr/>
          <p:nvPr/>
        </p:nvCxnSpPr>
        <p:spPr>
          <a:xfrm>
            <a:off x="2670855" y="3388251"/>
            <a:ext cx="1890238"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p:nvCxnSpPr>
        <p:spPr>
          <a:xfrm>
            <a:off x="7062707" y="3401982"/>
            <a:ext cx="1890238"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aphicFrame>
        <p:nvGraphicFramePr>
          <p:cNvPr id="18" name="Table 24">
            <a:extLst>
              <a:ext uri="{FF2B5EF4-FFF2-40B4-BE49-F238E27FC236}">
                <a16:creationId xmlns:a16="http://schemas.microsoft.com/office/drawing/2014/main" id="{0DC127BE-A6E9-2F4A-F441-A0615BDBFA87}"/>
              </a:ext>
            </a:extLst>
          </p:cNvPr>
          <p:cNvGraphicFramePr>
            <a:graphicFrameLocks noGrp="1"/>
          </p:cNvGraphicFramePr>
          <p:nvPr>
            <p:extLst>
              <p:ext uri="{D42A27DB-BD31-4B8C-83A1-F6EECF244321}">
                <p14:modId xmlns:p14="http://schemas.microsoft.com/office/powerpoint/2010/main" val="2074553913"/>
              </p:ext>
            </p:extLst>
          </p:nvPr>
        </p:nvGraphicFramePr>
        <p:xfrm>
          <a:off x="3171868" y="4726062"/>
          <a:ext cx="7610476" cy="1854200"/>
        </p:xfrm>
        <a:graphic>
          <a:graphicData uri="http://schemas.openxmlformats.org/drawingml/2006/table">
            <a:tbl>
              <a:tblPr firstRow="1" bandRow="1">
                <a:tableStyleId>{5C22544A-7EE6-4342-B048-85BDC9FD1C3A}</a:tableStyleId>
              </a:tblPr>
              <a:tblGrid>
                <a:gridCol w="1902619">
                  <a:extLst>
                    <a:ext uri="{9D8B030D-6E8A-4147-A177-3AD203B41FA5}">
                      <a16:colId xmlns:a16="http://schemas.microsoft.com/office/drawing/2014/main" val="20000"/>
                    </a:ext>
                  </a:extLst>
                </a:gridCol>
                <a:gridCol w="1902619">
                  <a:extLst>
                    <a:ext uri="{9D8B030D-6E8A-4147-A177-3AD203B41FA5}">
                      <a16:colId xmlns:a16="http://schemas.microsoft.com/office/drawing/2014/main" val="20001"/>
                    </a:ext>
                  </a:extLst>
                </a:gridCol>
                <a:gridCol w="1902619">
                  <a:extLst>
                    <a:ext uri="{9D8B030D-6E8A-4147-A177-3AD203B41FA5}">
                      <a16:colId xmlns:a16="http://schemas.microsoft.com/office/drawing/2014/main" val="20002"/>
                    </a:ext>
                  </a:extLst>
                </a:gridCol>
                <a:gridCol w="1902619">
                  <a:extLst>
                    <a:ext uri="{9D8B030D-6E8A-4147-A177-3AD203B41FA5}">
                      <a16:colId xmlns:a16="http://schemas.microsoft.com/office/drawing/2014/main" val="2283629264"/>
                    </a:ext>
                  </a:extLst>
                </a:gridCol>
              </a:tblGrid>
              <a:tr h="370840">
                <a:tc>
                  <a:txBody>
                    <a:bodyPr/>
                    <a:lstStyle/>
                    <a:p>
                      <a:pPr algn="ctr"/>
                      <a:r>
                        <a:rPr lang="es-ES_tradnl" sz="1800" noProof="0" dirty="0">
                          <a:latin typeface="Century Gothic" panose="020B0502020202020204" pitchFamily="34" charset="0"/>
                        </a:rPr>
                        <a:t>IBF</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Proyecto A</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Proyecto B</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Selección</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accent1"/>
                          </a:solidFill>
                          <a:latin typeface="Century Gothic" panose="020B0502020202020204" pitchFamily="34" charset="0"/>
                        </a:rPr>
                        <a:t>VPN (10%)</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150</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137</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A</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70840">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70840">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3" name="Slide Number Placeholder 3">
            <a:extLst>
              <a:ext uri="{FF2B5EF4-FFF2-40B4-BE49-F238E27FC236}">
                <a16:creationId xmlns:a16="http://schemas.microsoft.com/office/drawing/2014/main" id="{53F764F5-5B5C-EABD-F704-336216187697}"/>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29</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779786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ABC62-9959-3799-759A-69AE47CC92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6458B1-BDD6-A5C9-ABDA-61987364FD75}"/>
              </a:ext>
            </a:extLst>
          </p:cNvPr>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1 </a:t>
            </a:r>
          </a:p>
        </p:txBody>
      </p:sp>
      <p:sp>
        <p:nvSpPr>
          <p:cNvPr id="40" name="Content Placeholder 2">
            <a:extLst>
              <a:ext uri="{FF2B5EF4-FFF2-40B4-BE49-F238E27FC236}">
                <a16:creationId xmlns:a16="http://schemas.microsoft.com/office/drawing/2014/main" id="{79BC4F48-1DAA-CFAA-6814-C0F8C9D3F042}"/>
              </a:ext>
            </a:extLst>
          </p:cNvPr>
          <p:cNvSpPr>
            <a:spLocks noGrp="1"/>
          </p:cNvSpPr>
          <p:nvPr>
            <p:ph idx="1"/>
          </p:nvPr>
        </p:nvSpPr>
        <p:spPr>
          <a:xfrm>
            <a:off x="335971" y="4986358"/>
            <a:ext cx="2603500" cy="1169486"/>
          </a:xfrm>
        </p:spPr>
        <p:txBody>
          <a:bodyPr>
            <a:normAutofit/>
          </a:bodyPr>
          <a:lstStyle/>
          <a:p>
            <a:pPr marL="0" indent="0" algn="ctr">
              <a:buNone/>
            </a:pPr>
            <a:r>
              <a:rPr lang="es-ES_tradnl" sz="2000" b="1" dirty="0">
                <a:solidFill>
                  <a:srgbClr val="D7A700"/>
                </a:solidFill>
                <a:latin typeface="Century Gothic" panose="020B0502020202020204" pitchFamily="34" charset="0"/>
              </a:rPr>
              <a:t>¿Cuál proyecto es mejor según la TIR?</a:t>
            </a:r>
          </a:p>
        </p:txBody>
      </p:sp>
      <p:cxnSp>
        <p:nvCxnSpPr>
          <p:cNvPr id="7" name="Straight Arrow Connector 6">
            <a:extLst>
              <a:ext uri="{FF2B5EF4-FFF2-40B4-BE49-F238E27FC236}">
                <a16:creationId xmlns:a16="http://schemas.microsoft.com/office/drawing/2014/main" id="{B95F9BF7-47A9-7832-6A15-5486D6CBE88C}"/>
              </a:ext>
            </a:extLst>
          </p:cNvPr>
          <p:cNvCxnSpPr>
            <a:cxnSpLocks/>
          </p:cNvCxnSpPr>
          <p:nvPr/>
        </p:nvCxnSpPr>
        <p:spPr>
          <a:xfrm>
            <a:off x="2670855" y="3388252"/>
            <a:ext cx="0" cy="666207"/>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87FF793A-25B2-74F3-766E-20115E88ED58}"/>
              </a:ext>
            </a:extLst>
          </p:cNvPr>
          <p:cNvCxnSpPr/>
          <p:nvPr/>
        </p:nvCxnSpPr>
        <p:spPr>
          <a:xfrm flipV="1">
            <a:off x="4561093" y="2929525"/>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873E6AB6-A7CD-7C02-82BF-9DDF90B01F0D}"/>
              </a:ext>
            </a:extLst>
          </p:cNvPr>
          <p:cNvSpPr>
            <a:spLocks/>
          </p:cNvSpPr>
          <p:nvPr/>
        </p:nvSpPr>
        <p:spPr bwMode="auto">
          <a:xfrm flipH="1">
            <a:off x="2585254" y="3045032"/>
            <a:ext cx="131729"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0</a:t>
            </a:r>
          </a:p>
        </p:txBody>
      </p:sp>
      <p:sp>
        <p:nvSpPr>
          <p:cNvPr id="15" name="Rectangle 14">
            <a:extLst>
              <a:ext uri="{FF2B5EF4-FFF2-40B4-BE49-F238E27FC236}">
                <a16:creationId xmlns:a16="http://schemas.microsoft.com/office/drawing/2014/main" id="{12622C24-D890-9AD1-E2E8-264EF7F63F78}"/>
              </a:ext>
            </a:extLst>
          </p:cNvPr>
          <p:cNvSpPr>
            <a:spLocks/>
          </p:cNvSpPr>
          <p:nvPr/>
        </p:nvSpPr>
        <p:spPr bwMode="auto">
          <a:xfrm>
            <a:off x="4377504" y="3511362"/>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2</a:t>
            </a:r>
          </a:p>
        </p:txBody>
      </p:sp>
      <p:sp>
        <p:nvSpPr>
          <p:cNvPr id="21" name="Rectangle 20">
            <a:extLst>
              <a:ext uri="{FF2B5EF4-FFF2-40B4-BE49-F238E27FC236}">
                <a16:creationId xmlns:a16="http://schemas.microsoft.com/office/drawing/2014/main" id="{4E72E875-89BE-392A-53A4-B228E46ADF47}"/>
              </a:ext>
            </a:extLst>
          </p:cNvPr>
          <p:cNvSpPr>
            <a:spLocks/>
          </p:cNvSpPr>
          <p:nvPr/>
        </p:nvSpPr>
        <p:spPr bwMode="auto">
          <a:xfrm>
            <a:off x="1728808" y="4101644"/>
            <a:ext cx="1887166"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1.000</a:t>
            </a:r>
          </a:p>
        </p:txBody>
      </p:sp>
      <p:sp>
        <p:nvSpPr>
          <p:cNvPr id="22" name="Rectangle 21">
            <a:extLst>
              <a:ext uri="{FF2B5EF4-FFF2-40B4-BE49-F238E27FC236}">
                <a16:creationId xmlns:a16="http://schemas.microsoft.com/office/drawing/2014/main" id="{C9BB6037-7886-4248-9FF4-832D964033D3}"/>
              </a:ext>
            </a:extLst>
          </p:cNvPr>
          <p:cNvSpPr>
            <a:spLocks/>
          </p:cNvSpPr>
          <p:nvPr/>
        </p:nvSpPr>
        <p:spPr bwMode="auto">
          <a:xfrm>
            <a:off x="3922367" y="2562760"/>
            <a:ext cx="1277453"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1.392</a:t>
            </a:r>
          </a:p>
        </p:txBody>
      </p:sp>
      <p:cxnSp>
        <p:nvCxnSpPr>
          <p:cNvPr id="28" name="Straight Arrow Connector 27">
            <a:extLst>
              <a:ext uri="{FF2B5EF4-FFF2-40B4-BE49-F238E27FC236}">
                <a16:creationId xmlns:a16="http://schemas.microsoft.com/office/drawing/2014/main" id="{E482EA49-886A-5374-44A4-C7B23F55D233}"/>
              </a:ext>
            </a:extLst>
          </p:cNvPr>
          <p:cNvCxnSpPr>
            <a:cxnSpLocks/>
          </p:cNvCxnSpPr>
          <p:nvPr/>
        </p:nvCxnSpPr>
        <p:spPr>
          <a:xfrm>
            <a:off x="7062707" y="3401982"/>
            <a:ext cx="0" cy="652477"/>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D89B91F4-7873-915B-7745-B71A65188A21}"/>
              </a:ext>
            </a:extLst>
          </p:cNvPr>
          <p:cNvCxnSpPr/>
          <p:nvPr/>
        </p:nvCxnSpPr>
        <p:spPr>
          <a:xfrm flipV="1">
            <a:off x="8952945" y="2929525"/>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BD03B832-F77A-AB8C-60ED-89A4B1B09F70}"/>
              </a:ext>
            </a:extLst>
          </p:cNvPr>
          <p:cNvSpPr>
            <a:spLocks/>
          </p:cNvSpPr>
          <p:nvPr/>
        </p:nvSpPr>
        <p:spPr bwMode="auto">
          <a:xfrm flipH="1">
            <a:off x="6977106" y="3045032"/>
            <a:ext cx="131729"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0</a:t>
            </a:r>
          </a:p>
        </p:txBody>
      </p:sp>
      <p:sp>
        <p:nvSpPr>
          <p:cNvPr id="33" name="Rectangle 32">
            <a:extLst>
              <a:ext uri="{FF2B5EF4-FFF2-40B4-BE49-F238E27FC236}">
                <a16:creationId xmlns:a16="http://schemas.microsoft.com/office/drawing/2014/main" id="{24BF6C2A-30E1-BED9-93AB-384BCDEE363F}"/>
              </a:ext>
            </a:extLst>
          </p:cNvPr>
          <p:cNvSpPr>
            <a:spLocks/>
          </p:cNvSpPr>
          <p:nvPr/>
        </p:nvSpPr>
        <p:spPr bwMode="auto">
          <a:xfrm>
            <a:off x="8769355" y="3440746"/>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2</a:t>
            </a:r>
          </a:p>
        </p:txBody>
      </p:sp>
      <p:sp>
        <p:nvSpPr>
          <p:cNvPr id="34" name="Rectangle 33">
            <a:extLst>
              <a:ext uri="{FF2B5EF4-FFF2-40B4-BE49-F238E27FC236}">
                <a16:creationId xmlns:a16="http://schemas.microsoft.com/office/drawing/2014/main" id="{9C60BCD2-FD90-2279-2BDD-400951464692}"/>
              </a:ext>
            </a:extLst>
          </p:cNvPr>
          <p:cNvSpPr>
            <a:spLocks/>
          </p:cNvSpPr>
          <p:nvPr/>
        </p:nvSpPr>
        <p:spPr bwMode="auto">
          <a:xfrm>
            <a:off x="6099387" y="4101644"/>
            <a:ext cx="1887166"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1.000</a:t>
            </a:r>
          </a:p>
        </p:txBody>
      </p:sp>
      <p:sp>
        <p:nvSpPr>
          <p:cNvPr id="35" name="Rectangle 34">
            <a:extLst>
              <a:ext uri="{FF2B5EF4-FFF2-40B4-BE49-F238E27FC236}">
                <a16:creationId xmlns:a16="http://schemas.microsoft.com/office/drawing/2014/main" id="{6C17E7FF-2931-2238-A7AE-E94F02A94293}"/>
              </a:ext>
            </a:extLst>
          </p:cNvPr>
          <p:cNvSpPr>
            <a:spLocks/>
          </p:cNvSpPr>
          <p:nvPr/>
        </p:nvSpPr>
        <p:spPr bwMode="auto">
          <a:xfrm>
            <a:off x="8314219" y="2562760"/>
            <a:ext cx="1277453"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655</a:t>
            </a:r>
          </a:p>
        </p:txBody>
      </p:sp>
      <p:sp>
        <p:nvSpPr>
          <p:cNvPr id="36" name="Rectangle 35">
            <a:extLst>
              <a:ext uri="{FF2B5EF4-FFF2-40B4-BE49-F238E27FC236}">
                <a16:creationId xmlns:a16="http://schemas.microsoft.com/office/drawing/2014/main" id="{FB9DEB41-2E55-3367-44C4-D110B39986EE}"/>
              </a:ext>
            </a:extLst>
          </p:cNvPr>
          <p:cNvSpPr>
            <a:spLocks/>
          </p:cNvSpPr>
          <p:nvPr/>
        </p:nvSpPr>
        <p:spPr bwMode="auto">
          <a:xfrm>
            <a:off x="7837760" y="3436850"/>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1</a:t>
            </a:r>
          </a:p>
        </p:txBody>
      </p:sp>
      <p:sp>
        <p:nvSpPr>
          <p:cNvPr id="37" name="Rectangle 36">
            <a:extLst>
              <a:ext uri="{FF2B5EF4-FFF2-40B4-BE49-F238E27FC236}">
                <a16:creationId xmlns:a16="http://schemas.microsoft.com/office/drawing/2014/main" id="{7397D1A2-9D09-8951-4D3F-430213158DFE}"/>
              </a:ext>
            </a:extLst>
          </p:cNvPr>
          <p:cNvSpPr>
            <a:spLocks/>
          </p:cNvSpPr>
          <p:nvPr/>
        </p:nvSpPr>
        <p:spPr bwMode="auto">
          <a:xfrm>
            <a:off x="7367564" y="2592049"/>
            <a:ext cx="1277453"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655</a:t>
            </a:r>
          </a:p>
        </p:txBody>
      </p:sp>
      <p:cxnSp>
        <p:nvCxnSpPr>
          <p:cNvPr id="38" name="Straight Arrow Connector 37">
            <a:extLst>
              <a:ext uri="{FF2B5EF4-FFF2-40B4-BE49-F238E27FC236}">
                <a16:creationId xmlns:a16="http://schemas.microsoft.com/office/drawing/2014/main" id="{6EA0217C-F54F-122F-F752-01BF7D8F3AAE}"/>
              </a:ext>
            </a:extLst>
          </p:cNvPr>
          <p:cNvCxnSpPr/>
          <p:nvPr/>
        </p:nvCxnSpPr>
        <p:spPr>
          <a:xfrm flipV="1">
            <a:off x="8006290" y="2929525"/>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74154DA2-1EF9-9516-DD77-9F7087F10C65}"/>
              </a:ext>
            </a:extLst>
          </p:cNvPr>
          <p:cNvSpPr txBox="1"/>
          <p:nvPr/>
        </p:nvSpPr>
        <p:spPr>
          <a:xfrm>
            <a:off x="2939471" y="2031298"/>
            <a:ext cx="1552028" cy="400110"/>
          </a:xfrm>
          <a:prstGeom prst="rect">
            <a:avLst/>
          </a:prstGeom>
          <a:noFill/>
        </p:spPr>
        <p:txBody>
          <a:bodyPr wrap="none" rtlCol="0">
            <a:spAutoFit/>
          </a:bodyPr>
          <a:lstStyle/>
          <a:p>
            <a:r>
              <a:rPr lang="es-ES_tradnl" sz="2000" b="1" dirty="0">
                <a:latin typeface="Century Gothic" panose="020B0502020202020204" pitchFamily="34" charset="0"/>
              </a:rPr>
              <a:t>Proyecto A</a:t>
            </a:r>
          </a:p>
        </p:txBody>
      </p:sp>
      <p:sp>
        <p:nvSpPr>
          <p:cNvPr id="39" name="TextBox 38">
            <a:extLst>
              <a:ext uri="{FF2B5EF4-FFF2-40B4-BE49-F238E27FC236}">
                <a16:creationId xmlns:a16="http://schemas.microsoft.com/office/drawing/2014/main" id="{E041F769-2BB8-E0FA-C33E-C34FC241FCAB}"/>
              </a:ext>
            </a:extLst>
          </p:cNvPr>
          <p:cNvSpPr txBox="1"/>
          <p:nvPr/>
        </p:nvSpPr>
        <p:spPr>
          <a:xfrm>
            <a:off x="7555890" y="2002009"/>
            <a:ext cx="1511952" cy="400110"/>
          </a:xfrm>
          <a:prstGeom prst="rect">
            <a:avLst/>
          </a:prstGeom>
          <a:noFill/>
        </p:spPr>
        <p:txBody>
          <a:bodyPr wrap="none" rtlCol="0">
            <a:spAutoFit/>
          </a:bodyPr>
          <a:lstStyle/>
          <a:p>
            <a:r>
              <a:rPr lang="es-ES_tradnl" sz="2000" b="1" dirty="0">
                <a:latin typeface="Century Gothic" panose="020B0502020202020204" pitchFamily="34" charset="0"/>
              </a:rPr>
              <a:t>Proyecto B</a:t>
            </a:r>
          </a:p>
        </p:txBody>
      </p:sp>
      <p:sp>
        <p:nvSpPr>
          <p:cNvPr id="12" name="Rectángulo 11">
            <a:extLst>
              <a:ext uri="{FF2B5EF4-FFF2-40B4-BE49-F238E27FC236}">
                <a16:creationId xmlns:a16="http://schemas.microsoft.com/office/drawing/2014/main" id="{0EDECF08-77F5-5786-1CDF-B254B4ACD76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6DC2289C-9770-B1C4-B4BD-21F93FEC88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6" name="Rectángulo 15">
            <a:extLst>
              <a:ext uri="{FF2B5EF4-FFF2-40B4-BE49-F238E27FC236}">
                <a16:creationId xmlns:a16="http://schemas.microsoft.com/office/drawing/2014/main" id="{487D5BB9-54C5-BF2F-0EAE-F9FA35BABF8F}"/>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cxnSp>
        <p:nvCxnSpPr>
          <p:cNvPr id="6" name="Straight Connector 5">
            <a:extLst>
              <a:ext uri="{FF2B5EF4-FFF2-40B4-BE49-F238E27FC236}">
                <a16:creationId xmlns:a16="http://schemas.microsoft.com/office/drawing/2014/main" id="{EEA6EA0A-7A77-02A0-3004-0AFAD1A2719E}"/>
              </a:ext>
            </a:extLst>
          </p:cNvPr>
          <p:cNvCxnSpPr/>
          <p:nvPr/>
        </p:nvCxnSpPr>
        <p:spPr>
          <a:xfrm>
            <a:off x="2670855" y="3388251"/>
            <a:ext cx="1890238"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1261BF30-5A7F-D40F-1564-6A120E9D7410}"/>
              </a:ext>
            </a:extLst>
          </p:cNvPr>
          <p:cNvCxnSpPr/>
          <p:nvPr/>
        </p:nvCxnSpPr>
        <p:spPr>
          <a:xfrm>
            <a:off x="7062707" y="3401982"/>
            <a:ext cx="1890238"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aphicFrame>
        <p:nvGraphicFramePr>
          <p:cNvPr id="18" name="Table 24">
            <a:extLst>
              <a:ext uri="{FF2B5EF4-FFF2-40B4-BE49-F238E27FC236}">
                <a16:creationId xmlns:a16="http://schemas.microsoft.com/office/drawing/2014/main" id="{CB5D9B34-91EB-A978-0CC6-240EBBEAC250}"/>
              </a:ext>
            </a:extLst>
          </p:cNvPr>
          <p:cNvGraphicFramePr>
            <a:graphicFrameLocks noGrp="1"/>
          </p:cNvGraphicFramePr>
          <p:nvPr>
            <p:extLst>
              <p:ext uri="{D42A27DB-BD31-4B8C-83A1-F6EECF244321}">
                <p14:modId xmlns:p14="http://schemas.microsoft.com/office/powerpoint/2010/main" val="2164244274"/>
              </p:ext>
            </p:extLst>
          </p:nvPr>
        </p:nvGraphicFramePr>
        <p:xfrm>
          <a:off x="3171868" y="4726062"/>
          <a:ext cx="7610476" cy="1854200"/>
        </p:xfrm>
        <a:graphic>
          <a:graphicData uri="http://schemas.openxmlformats.org/drawingml/2006/table">
            <a:tbl>
              <a:tblPr firstRow="1" bandRow="1">
                <a:tableStyleId>{5C22544A-7EE6-4342-B048-85BDC9FD1C3A}</a:tableStyleId>
              </a:tblPr>
              <a:tblGrid>
                <a:gridCol w="1902619">
                  <a:extLst>
                    <a:ext uri="{9D8B030D-6E8A-4147-A177-3AD203B41FA5}">
                      <a16:colId xmlns:a16="http://schemas.microsoft.com/office/drawing/2014/main" val="20000"/>
                    </a:ext>
                  </a:extLst>
                </a:gridCol>
                <a:gridCol w="1902619">
                  <a:extLst>
                    <a:ext uri="{9D8B030D-6E8A-4147-A177-3AD203B41FA5}">
                      <a16:colId xmlns:a16="http://schemas.microsoft.com/office/drawing/2014/main" val="20001"/>
                    </a:ext>
                  </a:extLst>
                </a:gridCol>
                <a:gridCol w="1902619">
                  <a:extLst>
                    <a:ext uri="{9D8B030D-6E8A-4147-A177-3AD203B41FA5}">
                      <a16:colId xmlns:a16="http://schemas.microsoft.com/office/drawing/2014/main" val="20002"/>
                    </a:ext>
                  </a:extLst>
                </a:gridCol>
                <a:gridCol w="1902619">
                  <a:extLst>
                    <a:ext uri="{9D8B030D-6E8A-4147-A177-3AD203B41FA5}">
                      <a16:colId xmlns:a16="http://schemas.microsoft.com/office/drawing/2014/main" val="713189138"/>
                    </a:ext>
                  </a:extLst>
                </a:gridCol>
              </a:tblGrid>
              <a:tr h="370840">
                <a:tc>
                  <a:txBody>
                    <a:bodyPr/>
                    <a:lstStyle/>
                    <a:p>
                      <a:pPr algn="ctr"/>
                      <a:r>
                        <a:rPr lang="es-ES_tradnl" sz="1800" noProof="0" dirty="0">
                          <a:latin typeface="Century Gothic" panose="020B0502020202020204" pitchFamily="34" charset="0"/>
                        </a:rPr>
                        <a:t>IBF</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Proyecto A</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Proyecto B</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Selección</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accent1"/>
                          </a:solidFill>
                          <a:latin typeface="Century Gothic" panose="020B0502020202020204" pitchFamily="34" charset="0"/>
                        </a:rPr>
                        <a:t>VPN (10%)</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150</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137</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A</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70840">
                <a:tc>
                  <a:txBody>
                    <a:bodyPr/>
                    <a:lstStyle/>
                    <a:p>
                      <a:pPr algn="ctr"/>
                      <a:r>
                        <a:rPr lang="es-ES_tradnl" sz="1800" noProof="0" dirty="0">
                          <a:solidFill>
                            <a:schemeClr val="accent1"/>
                          </a:solidFill>
                          <a:latin typeface="Century Gothic" panose="020B0502020202020204" pitchFamily="34" charset="0"/>
                        </a:rPr>
                        <a:t>TIR</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17,98%</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20,06%</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B</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70840">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3" name="Slide Number Placeholder 3">
            <a:extLst>
              <a:ext uri="{FF2B5EF4-FFF2-40B4-BE49-F238E27FC236}">
                <a16:creationId xmlns:a16="http://schemas.microsoft.com/office/drawing/2014/main" id="{F5C90A90-9A5A-70C0-530A-5FAC777C97E2}"/>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30</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24004934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6DADD-981C-E4AD-400D-A6C9C804DC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ADC65A-F8D2-9CAE-8E7C-27A216DCFF74}"/>
              </a:ext>
            </a:extLst>
          </p:cNvPr>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1 </a:t>
            </a:r>
          </a:p>
        </p:txBody>
      </p:sp>
      <p:sp>
        <p:nvSpPr>
          <p:cNvPr id="40" name="Content Placeholder 2">
            <a:extLst>
              <a:ext uri="{FF2B5EF4-FFF2-40B4-BE49-F238E27FC236}">
                <a16:creationId xmlns:a16="http://schemas.microsoft.com/office/drawing/2014/main" id="{589585D0-DEB3-BBFA-A03C-14772750264C}"/>
              </a:ext>
            </a:extLst>
          </p:cNvPr>
          <p:cNvSpPr>
            <a:spLocks noGrp="1"/>
          </p:cNvSpPr>
          <p:nvPr>
            <p:ph idx="1"/>
          </p:nvPr>
        </p:nvSpPr>
        <p:spPr>
          <a:xfrm>
            <a:off x="335971" y="4986358"/>
            <a:ext cx="2603500" cy="1169486"/>
          </a:xfrm>
        </p:spPr>
        <p:txBody>
          <a:bodyPr>
            <a:normAutofit/>
          </a:bodyPr>
          <a:lstStyle/>
          <a:p>
            <a:pPr marL="0" indent="0" algn="ctr">
              <a:buNone/>
            </a:pPr>
            <a:r>
              <a:rPr lang="es-ES_tradnl" sz="2000" b="1" dirty="0">
                <a:solidFill>
                  <a:srgbClr val="D7A700"/>
                </a:solidFill>
                <a:latin typeface="Century Gothic" panose="020B0502020202020204" pitchFamily="34" charset="0"/>
              </a:rPr>
              <a:t>¿Cuál proyecto es mejor según B/C?</a:t>
            </a:r>
          </a:p>
        </p:txBody>
      </p:sp>
      <p:cxnSp>
        <p:nvCxnSpPr>
          <p:cNvPr id="7" name="Straight Arrow Connector 6">
            <a:extLst>
              <a:ext uri="{FF2B5EF4-FFF2-40B4-BE49-F238E27FC236}">
                <a16:creationId xmlns:a16="http://schemas.microsoft.com/office/drawing/2014/main" id="{83742199-3A12-9363-4CA8-B882CBF5ED2F}"/>
              </a:ext>
            </a:extLst>
          </p:cNvPr>
          <p:cNvCxnSpPr>
            <a:cxnSpLocks/>
          </p:cNvCxnSpPr>
          <p:nvPr/>
        </p:nvCxnSpPr>
        <p:spPr>
          <a:xfrm>
            <a:off x="2670855" y="3388252"/>
            <a:ext cx="0" cy="666207"/>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88100A41-2198-5444-677B-AD487605DEEB}"/>
              </a:ext>
            </a:extLst>
          </p:cNvPr>
          <p:cNvCxnSpPr/>
          <p:nvPr/>
        </p:nvCxnSpPr>
        <p:spPr>
          <a:xfrm flipV="1">
            <a:off x="4561093" y="2929525"/>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56BE3439-02D0-8495-7CDA-A0DDB21840F9}"/>
              </a:ext>
            </a:extLst>
          </p:cNvPr>
          <p:cNvSpPr>
            <a:spLocks/>
          </p:cNvSpPr>
          <p:nvPr/>
        </p:nvSpPr>
        <p:spPr bwMode="auto">
          <a:xfrm flipH="1">
            <a:off x="2585254" y="3045032"/>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0</a:t>
            </a:r>
          </a:p>
        </p:txBody>
      </p:sp>
      <p:sp>
        <p:nvSpPr>
          <p:cNvPr id="15" name="Rectangle 14">
            <a:extLst>
              <a:ext uri="{FF2B5EF4-FFF2-40B4-BE49-F238E27FC236}">
                <a16:creationId xmlns:a16="http://schemas.microsoft.com/office/drawing/2014/main" id="{873D0FF8-CEBF-8635-2D61-8D60A4462E9A}"/>
              </a:ext>
            </a:extLst>
          </p:cNvPr>
          <p:cNvSpPr>
            <a:spLocks/>
          </p:cNvSpPr>
          <p:nvPr/>
        </p:nvSpPr>
        <p:spPr bwMode="auto">
          <a:xfrm>
            <a:off x="4377504" y="3511362"/>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2</a:t>
            </a:r>
          </a:p>
        </p:txBody>
      </p:sp>
      <p:sp>
        <p:nvSpPr>
          <p:cNvPr id="21" name="Rectangle 20">
            <a:extLst>
              <a:ext uri="{FF2B5EF4-FFF2-40B4-BE49-F238E27FC236}">
                <a16:creationId xmlns:a16="http://schemas.microsoft.com/office/drawing/2014/main" id="{E77CC9C4-99CC-2B45-B9E3-7604400A1C97}"/>
              </a:ext>
            </a:extLst>
          </p:cNvPr>
          <p:cNvSpPr>
            <a:spLocks/>
          </p:cNvSpPr>
          <p:nvPr/>
        </p:nvSpPr>
        <p:spPr bwMode="auto">
          <a:xfrm>
            <a:off x="1728808" y="4101644"/>
            <a:ext cx="188716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1.000</a:t>
            </a:r>
          </a:p>
        </p:txBody>
      </p:sp>
      <p:sp>
        <p:nvSpPr>
          <p:cNvPr id="22" name="Rectangle 21">
            <a:extLst>
              <a:ext uri="{FF2B5EF4-FFF2-40B4-BE49-F238E27FC236}">
                <a16:creationId xmlns:a16="http://schemas.microsoft.com/office/drawing/2014/main" id="{94597C81-853B-FDE9-D34F-2064EB13AA3D}"/>
              </a:ext>
            </a:extLst>
          </p:cNvPr>
          <p:cNvSpPr>
            <a:spLocks/>
          </p:cNvSpPr>
          <p:nvPr/>
        </p:nvSpPr>
        <p:spPr bwMode="auto">
          <a:xfrm>
            <a:off x="3922367" y="2562760"/>
            <a:ext cx="12774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1.392</a:t>
            </a:r>
          </a:p>
        </p:txBody>
      </p:sp>
      <p:cxnSp>
        <p:nvCxnSpPr>
          <p:cNvPr id="28" name="Straight Arrow Connector 27">
            <a:extLst>
              <a:ext uri="{FF2B5EF4-FFF2-40B4-BE49-F238E27FC236}">
                <a16:creationId xmlns:a16="http://schemas.microsoft.com/office/drawing/2014/main" id="{D8B5B27F-59B6-4607-32FF-363F3BE668BA}"/>
              </a:ext>
            </a:extLst>
          </p:cNvPr>
          <p:cNvCxnSpPr>
            <a:cxnSpLocks/>
          </p:cNvCxnSpPr>
          <p:nvPr/>
        </p:nvCxnSpPr>
        <p:spPr>
          <a:xfrm>
            <a:off x="7062707" y="3401982"/>
            <a:ext cx="0" cy="652477"/>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60236752-BB7A-2593-B493-B433A8422D03}"/>
              </a:ext>
            </a:extLst>
          </p:cNvPr>
          <p:cNvCxnSpPr/>
          <p:nvPr/>
        </p:nvCxnSpPr>
        <p:spPr>
          <a:xfrm flipV="1">
            <a:off x="8952945" y="2929525"/>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00E928F5-04C1-A940-3111-2AC9D8FD52A3}"/>
              </a:ext>
            </a:extLst>
          </p:cNvPr>
          <p:cNvSpPr>
            <a:spLocks/>
          </p:cNvSpPr>
          <p:nvPr/>
        </p:nvSpPr>
        <p:spPr bwMode="auto">
          <a:xfrm flipH="1">
            <a:off x="6977106" y="3045032"/>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0</a:t>
            </a:r>
          </a:p>
        </p:txBody>
      </p:sp>
      <p:sp>
        <p:nvSpPr>
          <p:cNvPr id="33" name="Rectangle 32">
            <a:extLst>
              <a:ext uri="{FF2B5EF4-FFF2-40B4-BE49-F238E27FC236}">
                <a16:creationId xmlns:a16="http://schemas.microsoft.com/office/drawing/2014/main" id="{B03D3A8F-B8CC-3186-A5D5-9CB76E44446A}"/>
              </a:ext>
            </a:extLst>
          </p:cNvPr>
          <p:cNvSpPr>
            <a:spLocks/>
          </p:cNvSpPr>
          <p:nvPr/>
        </p:nvSpPr>
        <p:spPr bwMode="auto">
          <a:xfrm>
            <a:off x="8769355" y="3440746"/>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2</a:t>
            </a:r>
          </a:p>
        </p:txBody>
      </p:sp>
      <p:sp>
        <p:nvSpPr>
          <p:cNvPr id="34" name="Rectangle 33">
            <a:extLst>
              <a:ext uri="{FF2B5EF4-FFF2-40B4-BE49-F238E27FC236}">
                <a16:creationId xmlns:a16="http://schemas.microsoft.com/office/drawing/2014/main" id="{4DDAB4B4-653D-C36E-13E6-935FEB429B17}"/>
              </a:ext>
            </a:extLst>
          </p:cNvPr>
          <p:cNvSpPr>
            <a:spLocks/>
          </p:cNvSpPr>
          <p:nvPr/>
        </p:nvSpPr>
        <p:spPr bwMode="auto">
          <a:xfrm>
            <a:off x="6099387" y="4101644"/>
            <a:ext cx="188716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1.000</a:t>
            </a:r>
          </a:p>
        </p:txBody>
      </p:sp>
      <p:sp>
        <p:nvSpPr>
          <p:cNvPr id="35" name="Rectangle 34">
            <a:extLst>
              <a:ext uri="{FF2B5EF4-FFF2-40B4-BE49-F238E27FC236}">
                <a16:creationId xmlns:a16="http://schemas.microsoft.com/office/drawing/2014/main" id="{A9058E33-7F4B-34D1-9D81-027940B95E7E}"/>
              </a:ext>
            </a:extLst>
          </p:cNvPr>
          <p:cNvSpPr>
            <a:spLocks/>
          </p:cNvSpPr>
          <p:nvPr/>
        </p:nvSpPr>
        <p:spPr bwMode="auto">
          <a:xfrm>
            <a:off x="8314219" y="2562760"/>
            <a:ext cx="12774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655</a:t>
            </a:r>
          </a:p>
        </p:txBody>
      </p:sp>
      <p:sp>
        <p:nvSpPr>
          <p:cNvPr id="36" name="Rectangle 35">
            <a:extLst>
              <a:ext uri="{FF2B5EF4-FFF2-40B4-BE49-F238E27FC236}">
                <a16:creationId xmlns:a16="http://schemas.microsoft.com/office/drawing/2014/main" id="{B377F048-6E27-DFE1-7065-2AE20DE2DE84}"/>
              </a:ext>
            </a:extLst>
          </p:cNvPr>
          <p:cNvSpPr>
            <a:spLocks/>
          </p:cNvSpPr>
          <p:nvPr/>
        </p:nvSpPr>
        <p:spPr bwMode="auto">
          <a:xfrm>
            <a:off x="7837760" y="3436850"/>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1</a:t>
            </a:r>
          </a:p>
        </p:txBody>
      </p:sp>
      <p:sp>
        <p:nvSpPr>
          <p:cNvPr id="37" name="Rectangle 36">
            <a:extLst>
              <a:ext uri="{FF2B5EF4-FFF2-40B4-BE49-F238E27FC236}">
                <a16:creationId xmlns:a16="http://schemas.microsoft.com/office/drawing/2014/main" id="{BAC6E6C4-2BBF-C3A6-CD40-FF4687A8D978}"/>
              </a:ext>
            </a:extLst>
          </p:cNvPr>
          <p:cNvSpPr>
            <a:spLocks/>
          </p:cNvSpPr>
          <p:nvPr/>
        </p:nvSpPr>
        <p:spPr bwMode="auto">
          <a:xfrm>
            <a:off x="7367564" y="2592049"/>
            <a:ext cx="12774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655</a:t>
            </a:r>
          </a:p>
        </p:txBody>
      </p:sp>
      <p:cxnSp>
        <p:nvCxnSpPr>
          <p:cNvPr id="38" name="Straight Arrow Connector 37">
            <a:extLst>
              <a:ext uri="{FF2B5EF4-FFF2-40B4-BE49-F238E27FC236}">
                <a16:creationId xmlns:a16="http://schemas.microsoft.com/office/drawing/2014/main" id="{3F5C962F-B1E6-2FC5-CDA8-1CBAFBADBE22}"/>
              </a:ext>
            </a:extLst>
          </p:cNvPr>
          <p:cNvCxnSpPr/>
          <p:nvPr/>
        </p:nvCxnSpPr>
        <p:spPr>
          <a:xfrm flipV="1">
            <a:off x="8006290" y="2929525"/>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9ED4C167-ECF6-A388-D9C0-B5AE9D75AB57}"/>
              </a:ext>
            </a:extLst>
          </p:cNvPr>
          <p:cNvSpPr txBox="1"/>
          <p:nvPr/>
        </p:nvSpPr>
        <p:spPr>
          <a:xfrm>
            <a:off x="2939471" y="2031298"/>
            <a:ext cx="1552028" cy="400110"/>
          </a:xfrm>
          <a:prstGeom prst="rect">
            <a:avLst/>
          </a:prstGeom>
          <a:noFill/>
        </p:spPr>
        <p:txBody>
          <a:bodyPr wrap="none" rtlCol="0">
            <a:spAutoFit/>
          </a:bodyPr>
          <a:lstStyle/>
          <a:p>
            <a:r>
              <a:rPr lang="es-ES_tradnl" sz="2000" b="1" dirty="0">
                <a:latin typeface="Century Gothic" panose="020B0502020202020204" pitchFamily="34" charset="0"/>
              </a:rPr>
              <a:t>Proyecto A</a:t>
            </a:r>
          </a:p>
        </p:txBody>
      </p:sp>
      <p:sp>
        <p:nvSpPr>
          <p:cNvPr id="39" name="TextBox 38">
            <a:extLst>
              <a:ext uri="{FF2B5EF4-FFF2-40B4-BE49-F238E27FC236}">
                <a16:creationId xmlns:a16="http://schemas.microsoft.com/office/drawing/2014/main" id="{16437B8C-C745-93BE-3690-61FDEE24BCDC}"/>
              </a:ext>
            </a:extLst>
          </p:cNvPr>
          <p:cNvSpPr txBox="1"/>
          <p:nvPr/>
        </p:nvSpPr>
        <p:spPr>
          <a:xfrm>
            <a:off x="7555890" y="2002009"/>
            <a:ext cx="1511952" cy="400110"/>
          </a:xfrm>
          <a:prstGeom prst="rect">
            <a:avLst/>
          </a:prstGeom>
          <a:noFill/>
        </p:spPr>
        <p:txBody>
          <a:bodyPr wrap="none" rtlCol="0">
            <a:spAutoFit/>
          </a:bodyPr>
          <a:lstStyle/>
          <a:p>
            <a:r>
              <a:rPr lang="es-ES_tradnl" sz="2000" b="1" dirty="0">
                <a:latin typeface="Century Gothic" panose="020B0502020202020204" pitchFamily="34" charset="0"/>
              </a:rPr>
              <a:t>Proyecto B</a:t>
            </a:r>
          </a:p>
        </p:txBody>
      </p:sp>
      <p:sp>
        <p:nvSpPr>
          <p:cNvPr id="12" name="Rectángulo 11">
            <a:extLst>
              <a:ext uri="{FF2B5EF4-FFF2-40B4-BE49-F238E27FC236}">
                <a16:creationId xmlns:a16="http://schemas.microsoft.com/office/drawing/2014/main" id="{535E5554-0E19-0677-06B9-2DA5B1E239B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ED137037-2AF6-AF90-8509-E66FC32E8F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6" name="Rectángulo 15">
            <a:extLst>
              <a:ext uri="{FF2B5EF4-FFF2-40B4-BE49-F238E27FC236}">
                <a16:creationId xmlns:a16="http://schemas.microsoft.com/office/drawing/2014/main" id="{82AF669A-2567-21A1-32F2-12E44C643FD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cxnSp>
        <p:nvCxnSpPr>
          <p:cNvPr id="6" name="Straight Connector 5">
            <a:extLst>
              <a:ext uri="{FF2B5EF4-FFF2-40B4-BE49-F238E27FC236}">
                <a16:creationId xmlns:a16="http://schemas.microsoft.com/office/drawing/2014/main" id="{FA7466D5-8174-F9CD-910A-72CAC52140F5}"/>
              </a:ext>
            </a:extLst>
          </p:cNvPr>
          <p:cNvCxnSpPr/>
          <p:nvPr/>
        </p:nvCxnSpPr>
        <p:spPr>
          <a:xfrm>
            <a:off x="2670855" y="3388251"/>
            <a:ext cx="1890238"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6FECF2C3-53AA-0BC0-0995-C1598015FC91}"/>
              </a:ext>
            </a:extLst>
          </p:cNvPr>
          <p:cNvCxnSpPr/>
          <p:nvPr/>
        </p:nvCxnSpPr>
        <p:spPr>
          <a:xfrm>
            <a:off x="7062707" y="3401982"/>
            <a:ext cx="1890238"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aphicFrame>
        <p:nvGraphicFramePr>
          <p:cNvPr id="18" name="Table 24">
            <a:extLst>
              <a:ext uri="{FF2B5EF4-FFF2-40B4-BE49-F238E27FC236}">
                <a16:creationId xmlns:a16="http://schemas.microsoft.com/office/drawing/2014/main" id="{312C10D8-09BB-8251-FC50-F1A28CC130CB}"/>
              </a:ext>
            </a:extLst>
          </p:cNvPr>
          <p:cNvGraphicFramePr>
            <a:graphicFrameLocks noGrp="1"/>
          </p:cNvGraphicFramePr>
          <p:nvPr>
            <p:extLst>
              <p:ext uri="{D42A27DB-BD31-4B8C-83A1-F6EECF244321}">
                <p14:modId xmlns:p14="http://schemas.microsoft.com/office/powerpoint/2010/main" val="2894988712"/>
              </p:ext>
            </p:extLst>
          </p:nvPr>
        </p:nvGraphicFramePr>
        <p:xfrm>
          <a:off x="3171868" y="4726062"/>
          <a:ext cx="7610476" cy="1854200"/>
        </p:xfrm>
        <a:graphic>
          <a:graphicData uri="http://schemas.openxmlformats.org/drawingml/2006/table">
            <a:tbl>
              <a:tblPr firstRow="1" bandRow="1">
                <a:tableStyleId>{5C22544A-7EE6-4342-B048-85BDC9FD1C3A}</a:tableStyleId>
              </a:tblPr>
              <a:tblGrid>
                <a:gridCol w="1902619">
                  <a:extLst>
                    <a:ext uri="{9D8B030D-6E8A-4147-A177-3AD203B41FA5}">
                      <a16:colId xmlns:a16="http://schemas.microsoft.com/office/drawing/2014/main" val="20000"/>
                    </a:ext>
                  </a:extLst>
                </a:gridCol>
                <a:gridCol w="1902619">
                  <a:extLst>
                    <a:ext uri="{9D8B030D-6E8A-4147-A177-3AD203B41FA5}">
                      <a16:colId xmlns:a16="http://schemas.microsoft.com/office/drawing/2014/main" val="20001"/>
                    </a:ext>
                  </a:extLst>
                </a:gridCol>
                <a:gridCol w="1902619">
                  <a:extLst>
                    <a:ext uri="{9D8B030D-6E8A-4147-A177-3AD203B41FA5}">
                      <a16:colId xmlns:a16="http://schemas.microsoft.com/office/drawing/2014/main" val="20002"/>
                    </a:ext>
                  </a:extLst>
                </a:gridCol>
                <a:gridCol w="1902619">
                  <a:extLst>
                    <a:ext uri="{9D8B030D-6E8A-4147-A177-3AD203B41FA5}">
                      <a16:colId xmlns:a16="http://schemas.microsoft.com/office/drawing/2014/main" val="713189138"/>
                    </a:ext>
                  </a:extLst>
                </a:gridCol>
              </a:tblGrid>
              <a:tr h="370840">
                <a:tc>
                  <a:txBody>
                    <a:bodyPr/>
                    <a:lstStyle/>
                    <a:p>
                      <a:pPr algn="ctr"/>
                      <a:r>
                        <a:rPr lang="es-ES_tradnl" sz="1800" noProof="0" dirty="0">
                          <a:latin typeface="Century Gothic" panose="020B0502020202020204" pitchFamily="34" charset="0"/>
                        </a:rPr>
                        <a:t>IBF</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Proyecto A</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Proyecto B</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Selección</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accent1"/>
                          </a:solidFill>
                          <a:latin typeface="Century Gothic" panose="020B0502020202020204" pitchFamily="34" charset="0"/>
                        </a:rPr>
                        <a:t>VPN (10%)</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150</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137</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A</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70840">
                <a:tc>
                  <a:txBody>
                    <a:bodyPr/>
                    <a:lstStyle/>
                    <a:p>
                      <a:pPr algn="ctr"/>
                      <a:r>
                        <a:rPr lang="es-ES_tradnl" sz="1800" noProof="0" dirty="0">
                          <a:solidFill>
                            <a:schemeClr val="accent1"/>
                          </a:solidFill>
                          <a:latin typeface="Century Gothic" panose="020B0502020202020204" pitchFamily="34" charset="0"/>
                        </a:rPr>
                        <a:t>TIR</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17,98%</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20,06%</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B</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r>
                        <a:rPr lang="es-ES_tradnl" sz="1800" noProof="0" dirty="0">
                          <a:solidFill>
                            <a:schemeClr val="accent1"/>
                          </a:solidFill>
                          <a:latin typeface="Century Gothic" panose="020B0502020202020204" pitchFamily="34" charset="0"/>
                        </a:rPr>
                        <a:t>B/C</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1,15</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1,14</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A</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70840">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3" name="Slide Number Placeholder 3">
            <a:extLst>
              <a:ext uri="{FF2B5EF4-FFF2-40B4-BE49-F238E27FC236}">
                <a16:creationId xmlns:a16="http://schemas.microsoft.com/office/drawing/2014/main" id="{CC7F7352-18D1-5E99-C617-55FC081B1478}"/>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31</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35694310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05C23-7D5D-852D-265E-9AD5BA8669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1021D1-61BE-74CE-4B48-088820434376}"/>
              </a:ext>
            </a:extLst>
          </p:cNvPr>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1 </a:t>
            </a:r>
          </a:p>
        </p:txBody>
      </p:sp>
      <p:sp>
        <p:nvSpPr>
          <p:cNvPr id="40" name="Content Placeholder 2">
            <a:extLst>
              <a:ext uri="{FF2B5EF4-FFF2-40B4-BE49-F238E27FC236}">
                <a16:creationId xmlns:a16="http://schemas.microsoft.com/office/drawing/2014/main" id="{CEF91C46-EE05-FF5D-3A0E-A29E0CFA6939}"/>
              </a:ext>
            </a:extLst>
          </p:cNvPr>
          <p:cNvSpPr>
            <a:spLocks noGrp="1"/>
          </p:cNvSpPr>
          <p:nvPr>
            <p:ph idx="1"/>
          </p:nvPr>
        </p:nvSpPr>
        <p:spPr>
          <a:xfrm>
            <a:off x="335971" y="4986358"/>
            <a:ext cx="2603500" cy="1169486"/>
          </a:xfrm>
        </p:spPr>
        <p:txBody>
          <a:bodyPr>
            <a:normAutofit/>
          </a:bodyPr>
          <a:lstStyle/>
          <a:p>
            <a:pPr marL="0" indent="0" algn="ctr">
              <a:buNone/>
            </a:pPr>
            <a:r>
              <a:rPr lang="es-ES_tradnl" sz="2000" b="1" dirty="0">
                <a:solidFill>
                  <a:srgbClr val="D7A700"/>
                </a:solidFill>
                <a:latin typeface="Century Gothic" panose="020B0502020202020204" pitchFamily="34" charset="0"/>
              </a:rPr>
              <a:t>¿Cuál proyecto es mejor según VAE?</a:t>
            </a:r>
          </a:p>
        </p:txBody>
      </p:sp>
      <p:cxnSp>
        <p:nvCxnSpPr>
          <p:cNvPr id="7" name="Straight Arrow Connector 6">
            <a:extLst>
              <a:ext uri="{FF2B5EF4-FFF2-40B4-BE49-F238E27FC236}">
                <a16:creationId xmlns:a16="http://schemas.microsoft.com/office/drawing/2014/main" id="{57CDB682-E354-B0D2-16E9-46550F22EFDE}"/>
              </a:ext>
            </a:extLst>
          </p:cNvPr>
          <p:cNvCxnSpPr>
            <a:cxnSpLocks/>
          </p:cNvCxnSpPr>
          <p:nvPr/>
        </p:nvCxnSpPr>
        <p:spPr>
          <a:xfrm>
            <a:off x="2670855" y="3388252"/>
            <a:ext cx="0" cy="666207"/>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461914F0-846C-EEE8-1416-8B9CA6239E0D}"/>
              </a:ext>
            </a:extLst>
          </p:cNvPr>
          <p:cNvCxnSpPr/>
          <p:nvPr/>
        </p:nvCxnSpPr>
        <p:spPr>
          <a:xfrm flipV="1">
            <a:off x="4561093" y="2929525"/>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1AF48FB5-9836-14A0-5C3C-04CE940B0C41}"/>
              </a:ext>
            </a:extLst>
          </p:cNvPr>
          <p:cNvSpPr>
            <a:spLocks/>
          </p:cNvSpPr>
          <p:nvPr/>
        </p:nvSpPr>
        <p:spPr bwMode="auto">
          <a:xfrm flipH="1">
            <a:off x="2585254" y="3045032"/>
            <a:ext cx="131729"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0</a:t>
            </a:r>
          </a:p>
        </p:txBody>
      </p:sp>
      <p:sp>
        <p:nvSpPr>
          <p:cNvPr id="15" name="Rectangle 14">
            <a:extLst>
              <a:ext uri="{FF2B5EF4-FFF2-40B4-BE49-F238E27FC236}">
                <a16:creationId xmlns:a16="http://schemas.microsoft.com/office/drawing/2014/main" id="{04EF242B-08E1-A9D2-8E20-413FAEE4E856}"/>
              </a:ext>
            </a:extLst>
          </p:cNvPr>
          <p:cNvSpPr>
            <a:spLocks/>
          </p:cNvSpPr>
          <p:nvPr/>
        </p:nvSpPr>
        <p:spPr bwMode="auto">
          <a:xfrm>
            <a:off x="4377504" y="3511362"/>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2</a:t>
            </a:r>
          </a:p>
        </p:txBody>
      </p:sp>
      <p:sp>
        <p:nvSpPr>
          <p:cNvPr id="21" name="Rectangle 20">
            <a:extLst>
              <a:ext uri="{FF2B5EF4-FFF2-40B4-BE49-F238E27FC236}">
                <a16:creationId xmlns:a16="http://schemas.microsoft.com/office/drawing/2014/main" id="{79E9FEDB-E22D-C403-F124-DF9725467F53}"/>
              </a:ext>
            </a:extLst>
          </p:cNvPr>
          <p:cNvSpPr>
            <a:spLocks/>
          </p:cNvSpPr>
          <p:nvPr/>
        </p:nvSpPr>
        <p:spPr bwMode="auto">
          <a:xfrm>
            <a:off x="1728808" y="4101644"/>
            <a:ext cx="1887166"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1.000</a:t>
            </a:r>
          </a:p>
        </p:txBody>
      </p:sp>
      <p:sp>
        <p:nvSpPr>
          <p:cNvPr id="22" name="Rectangle 21">
            <a:extLst>
              <a:ext uri="{FF2B5EF4-FFF2-40B4-BE49-F238E27FC236}">
                <a16:creationId xmlns:a16="http://schemas.microsoft.com/office/drawing/2014/main" id="{90D9A0B1-611D-706F-1C39-9150FB99E67F}"/>
              </a:ext>
            </a:extLst>
          </p:cNvPr>
          <p:cNvSpPr>
            <a:spLocks/>
          </p:cNvSpPr>
          <p:nvPr/>
        </p:nvSpPr>
        <p:spPr bwMode="auto">
          <a:xfrm>
            <a:off x="3922367" y="2562760"/>
            <a:ext cx="1277453"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1.392</a:t>
            </a:r>
          </a:p>
        </p:txBody>
      </p:sp>
      <p:cxnSp>
        <p:nvCxnSpPr>
          <p:cNvPr id="28" name="Straight Arrow Connector 27">
            <a:extLst>
              <a:ext uri="{FF2B5EF4-FFF2-40B4-BE49-F238E27FC236}">
                <a16:creationId xmlns:a16="http://schemas.microsoft.com/office/drawing/2014/main" id="{95946767-C621-423F-D065-0BABBEBD0A9B}"/>
              </a:ext>
            </a:extLst>
          </p:cNvPr>
          <p:cNvCxnSpPr>
            <a:cxnSpLocks/>
          </p:cNvCxnSpPr>
          <p:nvPr/>
        </p:nvCxnSpPr>
        <p:spPr>
          <a:xfrm>
            <a:off x="7062707" y="3401982"/>
            <a:ext cx="0" cy="652477"/>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0C4F8D1D-72A4-FDA1-9CFB-5B927CB01A37}"/>
              </a:ext>
            </a:extLst>
          </p:cNvPr>
          <p:cNvCxnSpPr/>
          <p:nvPr/>
        </p:nvCxnSpPr>
        <p:spPr>
          <a:xfrm flipV="1">
            <a:off x="8952945" y="2929525"/>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51E8AD12-12CC-42D3-8659-00911132E666}"/>
              </a:ext>
            </a:extLst>
          </p:cNvPr>
          <p:cNvSpPr>
            <a:spLocks/>
          </p:cNvSpPr>
          <p:nvPr/>
        </p:nvSpPr>
        <p:spPr bwMode="auto">
          <a:xfrm flipH="1">
            <a:off x="6977106" y="3045032"/>
            <a:ext cx="131729"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0</a:t>
            </a:r>
          </a:p>
        </p:txBody>
      </p:sp>
      <p:sp>
        <p:nvSpPr>
          <p:cNvPr id="33" name="Rectangle 32">
            <a:extLst>
              <a:ext uri="{FF2B5EF4-FFF2-40B4-BE49-F238E27FC236}">
                <a16:creationId xmlns:a16="http://schemas.microsoft.com/office/drawing/2014/main" id="{9FBAACC1-5806-C867-EDBA-1AAEA5906742}"/>
              </a:ext>
            </a:extLst>
          </p:cNvPr>
          <p:cNvSpPr>
            <a:spLocks/>
          </p:cNvSpPr>
          <p:nvPr/>
        </p:nvSpPr>
        <p:spPr bwMode="auto">
          <a:xfrm>
            <a:off x="8769355" y="3440746"/>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2</a:t>
            </a:r>
          </a:p>
        </p:txBody>
      </p:sp>
      <p:sp>
        <p:nvSpPr>
          <p:cNvPr id="34" name="Rectangle 33">
            <a:extLst>
              <a:ext uri="{FF2B5EF4-FFF2-40B4-BE49-F238E27FC236}">
                <a16:creationId xmlns:a16="http://schemas.microsoft.com/office/drawing/2014/main" id="{542292AF-EAE7-BD93-8AB9-81B197A0ADA1}"/>
              </a:ext>
            </a:extLst>
          </p:cNvPr>
          <p:cNvSpPr>
            <a:spLocks/>
          </p:cNvSpPr>
          <p:nvPr/>
        </p:nvSpPr>
        <p:spPr bwMode="auto">
          <a:xfrm>
            <a:off x="6099387" y="4101644"/>
            <a:ext cx="1887166"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1.000</a:t>
            </a:r>
          </a:p>
        </p:txBody>
      </p:sp>
      <p:sp>
        <p:nvSpPr>
          <p:cNvPr id="35" name="Rectangle 34">
            <a:extLst>
              <a:ext uri="{FF2B5EF4-FFF2-40B4-BE49-F238E27FC236}">
                <a16:creationId xmlns:a16="http://schemas.microsoft.com/office/drawing/2014/main" id="{DC4CE82B-D511-C891-BC85-4B09742B7B6B}"/>
              </a:ext>
            </a:extLst>
          </p:cNvPr>
          <p:cNvSpPr>
            <a:spLocks/>
          </p:cNvSpPr>
          <p:nvPr/>
        </p:nvSpPr>
        <p:spPr bwMode="auto">
          <a:xfrm>
            <a:off x="8314219" y="2562760"/>
            <a:ext cx="1277453"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655</a:t>
            </a:r>
          </a:p>
        </p:txBody>
      </p:sp>
      <p:sp>
        <p:nvSpPr>
          <p:cNvPr id="36" name="Rectangle 35">
            <a:extLst>
              <a:ext uri="{FF2B5EF4-FFF2-40B4-BE49-F238E27FC236}">
                <a16:creationId xmlns:a16="http://schemas.microsoft.com/office/drawing/2014/main" id="{28F70D21-2193-ABA1-37CB-0178D514536C}"/>
              </a:ext>
            </a:extLst>
          </p:cNvPr>
          <p:cNvSpPr>
            <a:spLocks/>
          </p:cNvSpPr>
          <p:nvPr/>
        </p:nvSpPr>
        <p:spPr bwMode="auto">
          <a:xfrm>
            <a:off x="7837760" y="3436850"/>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1</a:t>
            </a:r>
          </a:p>
        </p:txBody>
      </p:sp>
      <p:sp>
        <p:nvSpPr>
          <p:cNvPr id="37" name="Rectangle 36">
            <a:extLst>
              <a:ext uri="{FF2B5EF4-FFF2-40B4-BE49-F238E27FC236}">
                <a16:creationId xmlns:a16="http://schemas.microsoft.com/office/drawing/2014/main" id="{A2A29CDB-D648-52C5-2E78-1A1CEF1B9508}"/>
              </a:ext>
            </a:extLst>
          </p:cNvPr>
          <p:cNvSpPr>
            <a:spLocks/>
          </p:cNvSpPr>
          <p:nvPr/>
        </p:nvSpPr>
        <p:spPr bwMode="auto">
          <a:xfrm>
            <a:off x="7367564" y="2592049"/>
            <a:ext cx="1277453"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655</a:t>
            </a:r>
          </a:p>
        </p:txBody>
      </p:sp>
      <p:cxnSp>
        <p:nvCxnSpPr>
          <p:cNvPr id="38" name="Straight Arrow Connector 37">
            <a:extLst>
              <a:ext uri="{FF2B5EF4-FFF2-40B4-BE49-F238E27FC236}">
                <a16:creationId xmlns:a16="http://schemas.microsoft.com/office/drawing/2014/main" id="{1C7B0C2A-1379-5512-A7C5-4F1917A0523C}"/>
              </a:ext>
            </a:extLst>
          </p:cNvPr>
          <p:cNvCxnSpPr/>
          <p:nvPr/>
        </p:nvCxnSpPr>
        <p:spPr>
          <a:xfrm flipV="1">
            <a:off x="8006290" y="2929525"/>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139B894E-80A0-28AD-AB29-293A1E3BF354}"/>
              </a:ext>
            </a:extLst>
          </p:cNvPr>
          <p:cNvSpPr txBox="1"/>
          <p:nvPr/>
        </p:nvSpPr>
        <p:spPr>
          <a:xfrm>
            <a:off x="2939471" y="2031298"/>
            <a:ext cx="1552028" cy="400110"/>
          </a:xfrm>
          <a:prstGeom prst="rect">
            <a:avLst/>
          </a:prstGeom>
          <a:noFill/>
        </p:spPr>
        <p:txBody>
          <a:bodyPr wrap="none" rtlCol="0">
            <a:spAutoFit/>
          </a:bodyPr>
          <a:lstStyle/>
          <a:p>
            <a:r>
              <a:rPr lang="es-ES_tradnl" sz="2000" b="1" dirty="0">
                <a:latin typeface="Century Gothic" panose="020B0502020202020204" pitchFamily="34" charset="0"/>
              </a:rPr>
              <a:t>Proyecto A</a:t>
            </a:r>
          </a:p>
        </p:txBody>
      </p:sp>
      <p:sp>
        <p:nvSpPr>
          <p:cNvPr id="39" name="TextBox 38">
            <a:extLst>
              <a:ext uri="{FF2B5EF4-FFF2-40B4-BE49-F238E27FC236}">
                <a16:creationId xmlns:a16="http://schemas.microsoft.com/office/drawing/2014/main" id="{CFC54440-F4F3-9844-4942-7A1031A44455}"/>
              </a:ext>
            </a:extLst>
          </p:cNvPr>
          <p:cNvSpPr txBox="1"/>
          <p:nvPr/>
        </p:nvSpPr>
        <p:spPr>
          <a:xfrm>
            <a:off x="7555890" y="2002009"/>
            <a:ext cx="1511952" cy="400110"/>
          </a:xfrm>
          <a:prstGeom prst="rect">
            <a:avLst/>
          </a:prstGeom>
          <a:noFill/>
        </p:spPr>
        <p:txBody>
          <a:bodyPr wrap="none" rtlCol="0">
            <a:spAutoFit/>
          </a:bodyPr>
          <a:lstStyle/>
          <a:p>
            <a:r>
              <a:rPr lang="es-ES_tradnl" sz="2000" b="1" dirty="0">
                <a:latin typeface="Century Gothic" panose="020B0502020202020204" pitchFamily="34" charset="0"/>
              </a:rPr>
              <a:t>Proyecto B</a:t>
            </a:r>
          </a:p>
        </p:txBody>
      </p:sp>
      <p:sp>
        <p:nvSpPr>
          <p:cNvPr id="12" name="Rectángulo 11">
            <a:extLst>
              <a:ext uri="{FF2B5EF4-FFF2-40B4-BE49-F238E27FC236}">
                <a16:creationId xmlns:a16="http://schemas.microsoft.com/office/drawing/2014/main" id="{C301AE23-2200-C520-3DB0-005A8957610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F3A9E6A1-D35A-F757-9090-40E20C161B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6" name="Rectángulo 15">
            <a:extLst>
              <a:ext uri="{FF2B5EF4-FFF2-40B4-BE49-F238E27FC236}">
                <a16:creationId xmlns:a16="http://schemas.microsoft.com/office/drawing/2014/main" id="{AAD0B32F-AA37-DC1B-0DC2-E4F8AB464968}"/>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cxnSp>
        <p:nvCxnSpPr>
          <p:cNvPr id="6" name="Straight Connector 5">
            <a:extLst>
              <a:ext uri="{FF2B5EF4-FFF2-40B4-BE49-F238E27FC236}">
                <a16:creationId xmlns:a16="http://schemas.microsoft.com/office/drawing/2014/main" id="{3CD31B71-E464-EB0F-A3E5-8B4627E6E35F}"/>
              </a:ext>
            </a:extLst>
          </p:cNvPr>
          <p:cNvCxnSpPr/>
          <p:nvPr/>
        </p:nvCxnSpPr>
        <p:spPr>
          <a:xfrm>
            <a:off x="2670855" y="3388251"/>
            <a:ext cx="1890238"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7F58F8A8-A300-0CDF-0E3B-0007B8F9B72E}"/>
              </a:ext>
            </a:extLst>
          </p:cNvPr>
          <p:cNvCxnSpPr/>
          <p:nvPr/>
        </p:nvCxnSpPr>
        <p:spPr>
          <a:xfrm>
            <a:off x="7062707" y="3401982"/>
            <a:ext cx="1890238"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aphicFrame>
        <p:nvGraphicFramePr>
          <p:cNvPr id="18" name="Table 24">
            <a:extLst>
              <a:ext uri="{FF2B5EF4-FFF2-40B4-BE49-F238E27FC236}">
                <a16:creationId xmlns:a16="http://schemas.microsoft.com/office/drawing/2014/main" id="{1A9F5E40-5E2E-0C83-3500-E527FB1026F2}"/>
              </a:ext>
            </a:extLst>
          </p:cNvPr>
          <p:cNvGraphicFramePr>
            <a:graphicFrameLocks noGrp="1"/>
          </p:cNvGraphicFramePr>
          <p:nvPr>
            <p:extLst>
              <p:ext uri="{D42A27DB-BD31-4B8C-83A1-F6EECF244321}">
                <p14:modId xmlns:p14="http://schemas.microsoft.com/office/powerpoint/2010/main" val="3286271287"/>
              </p:ext>
            </p:extLst>
          </p:nvPr>
        </p:nvGraphicFramePr>
        <p:xfrm>
          <a:off x="3171868" y="4726062"/>
          <a:ext cx="7610476" cy="1854200"/>
        </p:xfrm>
        <a:graphic>
          <a:graphicData uri="http://schemas.openxmlformats.org/drawingml/2006/table">
            <a:tbl>
              <a:tblPr firstRow="1" bandRow="1">
                <a:tableStyleId>{5C22544A-7EE6-4342-B048-85BDC9FD1C3A}</a:tableStyleId>
              </a:tblPr>
              <a:tblGrid>
                <a:gridCol w="1902619">
                  <a:extLst>
                    <a:ext uri="{9D8B030D-6E8A-4147-A177-3AD203B41FA5}">
                      <a16:colId xmlns:a16="http://schemas.microsoft.com/office/drawing/2014/main" val="20000"/>
                    </a:ext>
                  </a:extLst>
                </a:gridCol>
                <a:gridCol w="1902619">
                  <a:extLst>
                    <a:ext uri="{9D8B030D-6E8A-4147-A177-3AD203B41FA5}">
                      <a16:colId xmlns:a16="http://schemas.microsoft.com/office/drawing/2014/main" val="20001"/>
                    </a:ext>
                  </a:extLst>
                </a:gridCol>
                <a:gridCol w="1902619">
                  <a:extLst>
                    <a:ext uri="{9D8B030D-6E8A-4147-A177-3AD203B41FA5}">
                      <a16:colId xmlns:a16="http://schemas.microsoft.com/office/drawing/2014/main" val="20002"/>
                    </a:ext>
                  </a:extLst>
                </a:gridCol>
                <a:gridCol w="1902619">
                  <a:extLst>
                    <a:ext uri="{9D8B030D-6E8A-4147-A177-3AD203B41FA5}">
                      <a16:colId xmlns:a16="http://schemas.microsoft.com/office/drawing/2014/main" val="713189138"/>
                    </a:ext>
                  </a:extLst>
                </a:gridCol>
              </a:tblGrid>
              <a:tr h="370840">
                <a:tc>
                  <a:txBody>
                    <a:bodyPr/>
                    <a:lstStyle/>
                    <a:p>
                      <a:pPr algn="ctr"/>
                      <a:r>
                        <a:rPr lang="es-ES_tradnl" sz="1800" noProof="0" dirty="0">
                          <a:latin typeface="Century Gothic" panose="020B0502020202020204" pitchFamily="34" charset="0"/>
                        </a:rPr>
                        <a:t>IBF</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Proyecto A</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Proyecto B</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Selección</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accent1"/>
                          </a:solidFill>
                          <a:latin typeface="Century Gothic" panose="020B0502020202020204" pitchFamily="34" charset="0"/>
                        </a:rPr>
                        <a:t>VPN (10%)</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150</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137</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A</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70840">
                <a:tc>
                  <a:txBody>
                    <a:bodyPr/>
                    <a:lstStyle/>
                    <a:p>
                      <a:pPr algn="ctr"/>
                      <a:r>
                        <a:rPr lang="es-ES_tradnl" sz="1800" noProof="0" dirty="0">
                          <a:solidFill>
                            <a:schemeClr val="accent1"/>
                          </a:solidFill>
                          <a:latin typeface="Century Gothic" panose="020B0502020202020204" pitchFamily="34" charset="0"/>
                        </a:rPr>
                        <a:t>TIR</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17,98%</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20,06%</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B</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r>
                        <a:rPr lang="es-ES_tradnl" sz="1800" noProof="0" dirty="0">
                          <a:solidFill>
                            <a:schemeClr val="accent1"/>
                          </a:solidFill>
                          <a:latin typeface="Century Gothic" panose="020B0502020202020204" pitchFamily="34" charset="0"/>
                        </a:rPr>
                        <a:t>B/C</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1,15</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1,14</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A</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70840">
                <a:tc>
                  <a:txBody>
                    <a:bodyPr/>
                    <a:lstStyle/>
                    <a:p>
                      <a:pPr algn="ctr"/>
                      <a:r>
                        <a:rPr lang="es-ES_tradnl" sz="1800" noProof="0" dirty="0">
                          <a:solidFill>
                            <a:schemeClr val="accent1"/>
                          </a:solidFill>
                          <a:latin typeface="Century Gothic" panose="020B0502020202020204" pitchFamily="34" charset="0"/>
                        </a:rPr>
                        <a:t>VAE</a:t>
                      </a:r>
                    </a:p>
                  </a:txBody>
                  <a:tcPr marL="100584" marR="100584">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87</a:t>
                      </a:r>
                    </a:p>
                  </a:txBody>
                  <a:tcPr marL="100584" marR="100584">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79</a:t>
                      </a:r>
                    </a:p>
                  </a:txBody>
                  <a:tcPr marL="100584" marR="100584">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A</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3" name="Slide Number Placeholder 3">
            <a:extLst>
              <a:ext uri="{FF2B5EF4-FFF2-40B4-BE49-F238E27FC236}">
                <a16:creationId xmlns:a16="http://schemas.microsoft.com/office/drawing/2014/main" id="{D7BBB1D4-A326-2575-10FC-97C0925EA552}"/>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32</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24289010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2D4B6-B5AD-0275-4B75-7934386283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4B57F5-FE61-9C54-A656-DF2E6752E2ED}"/>
              </a:ext>
            </a:extLst>
          </p:cNvPr>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1 </a:t>
            </a:r>
          </a:p>
        </p:txBody>
      </p:sp>
      <p:cxnSp>
        <p:nvCxnSpPr>
          <p:cNvPr id="7" name="Straight Arrow Connector 6">
            <a:extLst>
              <a:ext uri="{FF2B5EF4-FFF2-40B4-BE49-F238E27FC236}">
                <a16:creationId xmlns:a16="http://schemas.microsoft.com/office/drawing/2014/main" id="{57399AE6-7E37-5E3C-4C35-F0C63C740397}"/>
              </a:ext>
            </a:extLst>
          </p:cNvPr>
          <p:cNvCxnSpPr>
            <a:cxnSpLocks/>
          </p:cNvCxnSpPr>
          <p:nvPr/>
        </p:nvCxnSpPr>
        <p:spPr>
          <a:xfrm>
            <a:off x="2670855" y="3388252"/>
            <a:ext cx="0" cy="666207"/>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74D9E5E0-9309-2989-369C-CD48C63C0495}"/>
              </a:ext>
            </a:extLst>
          </p:cNvPr>
          <p:cNvCxnSpPr/>
          <p:nvPr/>
        </p:nvCxnSpPr>
        <p:spPr>
          <a:xfrm flipV="1">
            <a:off x="4561093" y="2929525"/>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A94D9976-A420-ACFE-FBB7-9FCF4D9A87BB}"/>
              </a:ext>
            </a:extLst>
          </p:cNvPr>
          <p:cNvSpPr>
            <a:spLocks/>
          </p:cNvSpPr>
          <p:nvPr/>
        </p:nvSpPr>
        <p:spPr bwMode="auto">
          <a:xfrm flipH="1">
            <a:off x="2585254" y="3045032"/>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0</a:t>
            </a:r>
          </a:p>
        </p:txBody>
      </p:sp>
      <p:sp>
        <p:nvSpPr>
          <p:cNvPr id="15" name="Rectangle 14">
            <a:extLst>
              <a:ext uri="{FF2B5EF4-FFF2-40B4-BE49-F238E27FC236}">
                <a16:creationId xmlns:a16="http://schemas.microsoft.com/office/drawing/2014/main" id="{7604156C-6EC4-820D-11C3-A134E4534839}"/>
              </a:ext>
            </a:extLst>
          </p:cNvPr>
          <p:cNvSpPr>
            <a:spLocks/>
          </p:cNvSpPr>
          <p:nvPr/>
        </p:nvSpPr>
        <p:spPr bwMode="auto">
          <a:xfrm>
            <a:off x="4377504" y="3511362"/>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2</a:t>
            </a:r>
          </a:p>
        </p:txBody>
      </p:sp>
      <p:sp>
        <p:nvSpPr>
          <p:cNvPr id="21" name="Rectangle 20">
            <a:extLst>
              <a:ext uri="{FF2B5EF4-FFF2-40B4-BE49-F238E27FC236}">
                <a16:creationId xmlns:a16="http://schemas.microsoft.com/office/drawing/2014/main" id="{87CB70EB-418A-3246-955A-A1BE5F1A7966}"/>
              </a:ext>
            </a:extLst>
          </p:cNvPr>
          <p:cNvSpPr>
            <a:spLocks/>
          </p:cNvSpPr>
          <p:nvPr/>
        </p:nvSpPr>
        <p:spPr bwMode="auto">
          <a:xfrm>
            <a:off x="1728808" y="4101644"/>
            <a:ext cx="188716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1.000</a:t>
            </a:r>
          </a:p>
        </p:txBody>
      </p:sp>
      <p:sp>
        <p:nvSpPr>
          <p:cNvPr id="22" name="Rectangle 21">
            <a:extLst>
              <a:ext uri="{FF2B5EF4-FFF2-40B4-BE49-F238E27FC236}">
                <a16:creationId xmlns:a16="http://schemas.microsoft.com/office/drawing/2014/main" id="{9D5EF180-F8C2-23D5-AEB7-4E1CD7A233D8}"/>
              </a:ext>
            </a:extLst>
          </p:cNvPr>
          <p:cNvSpPr>
            <a:spLocks/>
          </p:cNvSpPr>
          <p:nvPr/>
        </p:nvSpPr>
        <p:spPr bwMode="auto">
          <a:xfrm>
            <a:off x="3922367" y="2562760"/>
            <a:ext cx="12774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1.392</a:t>
            </a:r>
          </a:p>
        </p:txBody>
      </p:sp>
      <p:cxnSp>
        <p:nvCxnSpPr>
          <p:cNvPr id="28" name="Straight Arrow Connector 27">
            <a:extLst>
              <a:ext uri="{FF2B5EF4-FFF2-40B4-BE49-F238E27FC236}">
                <a16:creationId xmlns:a16="http://schemas.microsoft.com/office/drawing/2014/main" id="{BFEE5214-8D3F-7659-AB29-41E202EC38E2}"/>
              </a:ext>
            </a:extLst>
          </p:cNvPr>
          <p:cNvCxnSpPr>
            <a:cxnSpLocks/>
          </p:cNvCxnSpPr>
          <p:nvPr/>
        </p:nvCxnSpPr>
        <p:spPr>
          <a:xfrm>
            <a:off x="7062707" y="3401982"/>
            <a:ext cx="0" cy="652477"/>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E0C96F60-601B-C1A4-5B54-0EEC7A62A617}"/>
              </a:ext>
            </a:extLst>
          </p:cNvPr>
          <p:cNvCxnSpPr/>
          <p:nvPr/>
        </p:nvCxnSpPr>
        <p:spPr>
          <a:xfrm flipV="1">
            <a:off x="8952945" y="2929525"/>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2F6EA1E7-BD5E-D320-D797-6836EB471E72}"/>
              </a:ext>
            </a:extLst>
          </p:cNvPr>
          <p:cNvSpPr>
            <a:spLocks/>
          </p:cNvSpPr>
          <p:nvPr/>
        </p:nvSpPr>
        <p:spPr bwMode="auto">
          <a:xfrm flipH="1">
            <a:off x="6977106" y="3045032"/>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0</a:t>
            </a:r>
          </a:p>
        </p:txBody>
      </p:sp>
      <p:sp>
        <p:nvSpPr>
          <p:cNvPr id="33" name="Rectangle 32">
            <a:extLst>
              <a:ext uri="{FF2B5EF4-FFF2-40B4-BE49-F238E27FC236}">
                <a16:creationId xmlns:a16="http://schemas.microsoft.com/office/drawing/2014/main" id="{67608C13-1E40-C5D6-FD22-2FE1A5E2A495}"/>
              </a:ext>
            </a:extLst>
          </p:cNvPr>
          <p:cNvSpPr>
            <a:spLocks/>
          </p:cNvSpPr>
          <p:nvPr/>
        </p:nvSpPr>
        <p:spPr bwMode="auto">
          <a:xfrm>
            <a:off x="8769355" y="3440746"/>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2</a:t>
            </a:r>
          </a:p>
        </p:txBody>
      </p:sp>
      <p:sp>
        <p:nvSpPr>
          <p:cNvPr id="34" name="Rectangle 33">
            <a:extLst>
              <a:ext uri="{FF2B5EF4-FFF2-40B4-BE49-F238E27FC236}">
                <a16:creationId xmlns:a16="http://schemas.microsoft.com/office/drawing/2014/main" id="{31CD760F-88A0-58D2-4407-FF5B3F56E606}"/>
              </a:ext>
            </a:extLst>
          </p:cNvPr>
          <p:cNvSpPr>
            <a:spLocks/>
          </p:cNvSpPr>
          <p:nvPr/>
        </p:nvSpPr>
        <p:spPr bwMode="auto">
          <a:xfrm>
            <a:off x="6099387" y="4101644"/>
            <a:ext cx="188716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1.000</a:t>
            </a:r>
          </a:p>
        </p:txBody>
      </p:sp>
      <p:sp>
        <p:nvSpPr>
          <p:cNvPr id="35" name="Rectangle 34">
            <a:extLst>
              <a:ext uri="{FF2B5EF4-FFF2-40B4-BE49-F238E27FC236}">
                <a16:creationId xmlns:a16="http://schemas.microsoft.com/office/drawing/2014/main" id="{CD0700B5-D31D-F620-AA84-67C792B2DA3D}"/>
              </a:ext>
            </a:extLst>
          </p:cNvPr>
          <p:cNvSpPr>
            <a:spLocks/>
          </p:cNvSpPr>
          <p:nvPr/>
        </p:nvSpPr>
        <p:spPr bwMode="auto">
          <a:xfrm>
            <a:off x="8314219" y="2562760"/>
            <a:ext cx="12774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655</a:t>
            </a:r>
          </a:p>
        </p:txBody>
      </p:sp>
      <p:sp>
        <p:nvSpPr>
          <p:cNvPr id="36" name="Rectangle 35">
            <a:extLst>
              <a:ext uri="{FF2B5EF4-FFF2-40B4-BE49-F238E27FC236}">
                <a16:creationId xmlns:a16="http://schemas.microsoft.com/office/drawing/2014/main" id="{1CE0DD33-6263-523C-8960-551AAC514C3B}"/>
              </a:ext>
            </a:extLst>
          </p:cNvPr>
          <p:cNvSpPr>
            <a:spLocks/>
          </p:cNvSpPr>
          <p:nvPr/>
        </p:nvSpPr>
        <p:spPr bwMode="auto">
          <a:xfrm>
            <a:off x="7837760" y="3436850"/>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1</a:t>
            </a:r>
          </a:p>
        </p:txBody>
      </p:sp>
      <p:sp>
        <p:nvSpPr>
          <p:cNvPr id="37" name="Rectangle 36">
            <a:extLst>
              <a:ext uri="{FF2B5EF4-FFF2-40B4-BE49-F238E27FC236}">
                <a16:creationId xmlns:a16="http://schemas.microsoft.com/office/drawing/2014/main" id="{9DE6FBBB-6A41-26AF-3861-EF744FB3A942}"/>
              </a:ext>
            </a:extLst>
          </p:cNvPr>
          <p:cNvSpPr>
            <a:spLocks/>
          </p:cNvSpPr>
          <p:nvPr/>
        </p:nvSpPr>
        <p:spPr bwMode="auto">
          <a:xfrm>
            <a:off x="7367564" y="2592049"/>
            <a:ext cx="12774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655</a:t>
            </a:r>
          </a:p>
        </p:txBody>
      </p:sp>
      <p:cxnSp>
        <p:nvCxnSpPr>
          <p:cNvPr id="38" name="Straight Arrow Connector 37">
            <a:extLst>
              <a:ext uri="{FF2B5EF4-FFF2-40B4-BE49-F238E27FC236}">
                <a16:creationId xmlns:a16="http://schemas.microsoft.com/office/drawing/2014/main" id="{921510E7-DA07-97C1-77CC-931C514A21BE}"/>
              </a:ext>
            </a:extLst>
          </p:cNvPr>
          <p:cNvCxnSpPr/>
          <p:nvPr/>
        </p:nvCxnSpPr>
        <p:spPr>
          <a:xfrm flipV="1">
            <a:off x="8006290" y="2929525"/>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A26B62E8-45B6-CF5D-EC39-093E1570180C}"/>
              </a:ext>
            </a:extLst>
          </p:cNvPr>
          <p:cNvSpPr txBox="1"/>
          <p:nvPr/>
        </p:nvSpPr>
        <p:spPr>
          <a:xfrm>
            <a:off x="2939471" y="2031298"/>
            <a:ext cx="1552028" cy="400110"/>
          </a:xfrm>
          <a:prstGeom prst="rect">
            <a:avLst/>
          </a:prstGeom>
          <a:noFill/>
        </p:spPr>
        <p:txBody>
          <a:bodyPr wrap="none" rtlCol="0">
            <a:spAutoFit/>
          </a:bodyPr>
          <a:lstStyle/>
          <a:p>
            <a:r>
              <a:rPr lang="es-ES_tradnl" sz="2000" b="1" dirty="0">
                <a:latin typeface="Century Gothic" panose="020B0502020202020204" pitchFamily="34" charset="0"/>
              </a:rPr>
              <a:t>Proyecto A</a:t>
            </a:r>
          </a:p>
        </p:txBody>
      </p:sp>
      <p:sp>
        <p:nvSpPr>
          <p:cNvPr id="39" name="TextBox 38">
            <a:extLst>
              <a:ext uri="{FF2B5EF4-FFF2-40B4-BE49-F238E27FC236}">
                <a16:creationId xmlns:a16="http://schemas.microsoft.com/office/drawing/2014/main" id="{0746701D-40EF-E80C-F019-7E4594CDD9DC}"/>
              </a:ext>
            </a:extLst>
          </p:cNvPr>
          <p:cNvSpPr txBox="1"/>
          <p:nvPr/>
        </p:nvSpPr>
        <p:spPr>
          <a:xfrm>
            <a:off x="7555890" y="2002009"/>
            <a:ext cx="1511952" cy="400110"/>
          </a:xfrm>
          <a:prstGeom prst="rect">
            <a:avLst/>
          </a:prstGeom>
          <a:noFill/>
        </p:spPr>
        <p:txBody>
          <a:bodyPr wrap="none" rtlCol="0">
            <a:spAutoFit/>
          </a:bodyPr>
          <a:lstStyle/>
          <a:p>
            <a:r>
              <a:rPr lang="es-ES_tradnl" sz="2000" b="1" dirty="0">
                <a:latin typeface="Century Gothic" panose="020B0502020202020204" pitchFamily="34" charset="0"/>
              </a:rPr>
              <a:t>Proyecto B</a:t>
            </a:r>
          </a:p>
        </p:txBody>
      </p:sp>
      <p:sp>
        <p:nvSpPr>
          <p:cNvPr id="12" name="Rectángulo 11">
            <a:extLst>
              <a:ext uri="{FF2B5EF4-FFF2-40B4-BE49-F238E27FC236}">
                <a16:creationId xmlns:a16="http://schemas.microsoft.com/office/drawing/2014/main" id="{AEA5E451-2972-234A-6255-F5D40E6045A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D530021F-A5A2-4B90-8058-2CBD4C4A9D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6" name="Rectángulo 15">
            <a:extLst>
              <a:ext uri="{FF2B5EF4-FFF2-40B4-BE49-F238E27FC236}">
                <a16:creationId xmlns:a16="http://schemas.microsoft.com/office/drawing/2014/main" id="{23721D64-899D-B778-1175-950B9A1E945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cxnSp>
        <p:nvCxnSpPr>
          <p:cNvPr id="6" name="Straight Connector 5">
            <a:extLst>
              <a:ext uri="{FF2B5EF4-FFF2-40B4-BE49-F238E27FC236}">
                <a16:creationId xmlns:a16="http://schemas.microsoft.com/office/drawing/2014/main" id="{372D8666-7CD6-F993-F961-90C09B64B5B8}"/>
              </a:ext>
            </a:extLst>
          </p:cNvPr>
          <p:cNvCxnSpPr/>
          <p:nvPr/>
        </p:nvCxnSpPr>
        <p:spPr>
          <a:xfrm>
            <a:off x="2670855" y="3388251"/>
            <a:ext cx="1890238"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09059A54-FFF8-6E0E-D62B-993B2C1CCA14}"/>
              </a:ext>
            </a:extLst>
          </p:cNvPr>
          <p:cNvCxnSpPr/>
          <p:nvPr/>
        </p:nvCxnSpPr>
        <p:spPr>
          <a:xfrm>
            <a:off x="7062707" y="3401982"/>
            <a:ext cx="1890238"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10" name="Content Placeholder 2">
            <a:extLst>
              <a:ext uri="{FF2B5EF4-FFF2-40B4-BE49-F238E27FC236}">
                <a16:creationId xmlns:a16="http://schemas.microsoft.com/office/drawing/2014/main" id="{547B84F1-BC02-806D-5570-61FA2C321FD1}"/>
              </a:ext>
            </a:extLst>
          </p:cNvPr>
          <p:cNvSpPr txBox="1">
            <a:spLocks/>
          </p:cNvSpPr>
          <p:nvPr/>
        </p:nvSpPr>
        <p:spPr>
          <a:xfrm>
            <a:off x="1920343" y="4504972"/>
            <a:ext cx="7610476" cy="116948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s-ES_tradnl" sz="2000" b="1" dirty="0">
                <a:solidFill>
                  <a:srgbClr val="D7A700"/>
                </a:solidFill>
                <a:latin typeface="Century Gothic" panose="020B0502020202020204" pitchFamily="34" charset="0"/>
              </a:rPr>
              <a:t>¿Hay consistencia?</a:t>
            </a:r>
          </a:p>
        </p:txBody>
      </p:sp>
      <p:sp>
        <p:nvSpPr>
          <p:cNvPr id="3" name="Slide Number Placeholder 3">
            <a:extLst>
              <a:ext uri="{FF2B5EF4-FFF2-40B4-BE49-F238E27FC236}">
                <a16:creationId xmlns:a16="http://schemas.microsoft.com/office/drawing/2014/main" id="{5DB2E4B3-20AB-B1AF-2DE3-292C3B4092AA}"/>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33</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24653233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dirty="0">
                <a:latin typeface="Century Gothic" panose="020B0502020202020204" pitchFamily="34" charset="0"/>
              </a:rPr>
              <a:t>Proyectos Mutuamente Excluyentes – CASO 1 </a:t>
            </a:r>
          </a:p>
        </p:txBody>
      </p:sp>
      <p:sp>
        <p:nvSpPr>
          <p:cNvPr id="3" name="Content Placeholder 2"/>
          <p:cNvSpPr>
            <a:spLocks noGrp="1"/>
          </p:cNvSpPr>
          <p:nvPr>
            <p:ph idx="1"/>
          </p:nvPr>
        </p:nvSpPr>
        <p:spPr>
          <a:xfrm>
            <a:off x="581192" y="2154739"/>
            <a:ext cx="8664408" cy="4166523"/>
          </a:xfrm>
        </p:spPr>
        <p:txBody>
          <a:bodyPr>
            <a:normAutofit/>
          </a:bodyPr>
          <a:lstStyle/>
          <a:p>
            <a:pPr algn="ctr">
              <a:buFont typeface="Wingdings" panose="05000000000000000000" pitchFamily="2" charset="2"/>
              <a:buChar char="§"/>
            </a:pPr>
            <a:r>
              <a:rPr lang="es-ES_tradnl" sz="2000" dirty="0">
                <a:solidFill>
                  <a:schemeClr val="accent1"/>
                </a:solidFill>
                <a:latin typeface="Century Gothic" panose="020B0502020202020204" pitchFamily="34" charset="0"/>
              </a:rPr>
              <a:t>Pudimos observar que el VPN, la relación B/C y el VAE nos dan un ordenamiento consistente.</a:t>
            </a:r>
          </a:p>
          <a:p>
            <a:pPr algn="ctr">
              <a:buFont typeface="Wingdings" panose="05000000000000000000" pitchFamily="2" charset="2"/>
              <a:buChar char="§"/>
            </a:pPr>
            <a:endParaRPr lang="es-ES_tradnl" sz="2000" dirty="0">
              <a:solidFill>
                <a:schemeClr val="accent1"/>
              </a:solidFill>
              <a:latin typeface="Century Gothic" panose="020B0502020202020204" pitchFamily="34" charset="0"/>
            </a:endParaRPr>
          </a:p>
          <a:p>
            <a:pPr algn="ctr">
              <a:buFont typeface="Wingdings" panose="05000000000000000000" pitchFamily="2" charset="2"/>
              <a:buChar char="§"/>
            </a:pPr>
            <a:r>
              <a:rPr lang="es-ES_tradnl" sz="2000" dirty="0">
                <a:solidFill>
                  <a:schemeClr val="accent1"/>
                </a:solidFill>
                <a:latin typeface="Century Gothic" panose="020B0502020202020204" pitchFamily="34" charset="0"/>
              </a:rPr>
              <a:t>No obstante, </a:t>
            </a:r>
            <a:r>
              <a:rPr lang="es-ES_tradnl" sz="2000" b="1" dirty="0">
                <a:solidFill>
                  <a:srgbClr val="D7A700"/>
                </a:solidFill>
                <a:latin typeface="Century Gothic" panose="020B0502020202020204" pitchFamily="34" charset="0"/>
              </a:rPr>
              <a:t>la TIR da un ordenamiento distinto</a:t>
            </a:r>
            <a:r>
              <a:rPr lang="es-ES_tradnl" sz="2000" dirty="0">
                <a:solidFill>
                  <a:schemeClr val="accent1"/>
                </a:solidFill>
                <a:latin typeface="Century Gothic" panose="020B0502020202020204" pitchFamily="34" charset="0"/>
              </a:rPr>
              <a:t>. ¿Por qué?</a:t>
            </a:r>
          </a:p>
          <a:p>
            <a:pPr algn="ctr">
              <a:buFont typeface="Wingdings" panose="05000000000000000000" pitchFamily="2" charset="2"/>
              <a:buChar char="§"/>
            </a:pPr>
            <a:endParaRPr lang="es-ES_tradnl" sz="2000" dirty="0">
              <a:solidFill>
                <a:schemeClr val="accent1"/>
              </a:solidFill>
              <a:latin typeface="Century Gothic" panose="020B0502020202020204" pitchFamily="34" charset="0"/>
            </a:endParaRPr>
          </a:p>
          <a:p>
            <a:pPr algn="ctr">
              <a:buFont typeface="Wingdings" panose="05000000000000000000" pitchFamily="2" charset="2"/>
              <a:buChar char="§"/>
            </a:pPr>
            <a:r>
              <a:rPr lang="es-ES_tradnl" sz="2000" dirty="0">
                <a:solidFill>
                  <a:schemeClr val="accent1"/>
                </a:solidFill>
                <a:latin typeface="Century Gothic" panose="020B0502020202020204" pitchFamily="34" charset="0"/>
              </a:rPr>
              <a:t>Recordemos </a:t>
            </a:r>
            <a:r>
              <a:rPr lang="es-ES_tradnl" sz="2000" b="1" dirty="0">
                <a:solidFill>
                  <a:srgbClr val="C00000"/>
                </a:solidFill>
                <a:latin typeface="Century Gothic" panose="020B0502020202020204" pitchFamily="34" charset="0"/>
              </a:rPr>
              <a:t>los supuestos de la TIR</a:t>
            </a:r>
            <a:r>
              <a:rPr lang="es-ES_tradnl" sz="2000" dirty="0">
                <a:solidFill>
                  <a:schemeClr val="accent1"/>
                </a:solidFill>
                <a:latin typeface="Century Gothic" panose="020B0502020202020204" pitchFamily="34" charset="0"/>
              </a:rPr>
              <a:t>; reinversión de los flujos a la TIR del proyecto.</a:t>
            </a:r>
          </a:p>
          <a:p>
            <a:pPr algn="ctr">
              <a:buFont typeface="Wingdings" panose="05000000000000000000" pitchFamily="2" charset="2"/>
              <a:buChar char="§"/>
            </a:pPr>
            <a:endParaRPr lang="es-ES_tradnl" sz="2000" dirty="0">
              <a:solidFill>
                <a:schemeClr val="accent1"/>
              </a:solidFill>
              <a:latin typeface="Century Gothic" panose="020B0502020202020204" pitchFamily="34" charset="0"/>
            </a:endParaRPr>
          </a:p>
          <a:p>
            <a:pPr algn="ctr">
              <a:buFont typeface="Wingdings" panose="05000000000000000000" pitchFamily="2" charset="2"/>
              <a:buChar char="§"/>
            </a:pPr>
            <a:r>
              <a:rPr lang="es-ES_tradnl" sz="2000" dirty="0">
                <a:solidFill>
                  <a:schemeClr val="accent1"/>
                </a:solidFill>
                <a:latin typeface="Century Gothic" panose="020B0502020202020204" pitchFamily="34" charset="0"/>
              </a:rPr>
              <a:t>Utilicemos ahora, para solucionar lo anterior, la TVR. ¿Da consistente?</a:t>
            </a:r>
          </a:p>
        </p:txBody>
      </p:sp>
      <p:pic>
        <p:nvPicPr>
          <p:cNvPr id="7" name="Imagen 6">
            <a:extLst>
              <a:ext uri="{FF2B5EF4-FFF2-40B4-BE49-F238E27FC236}">
                <a16:creationId xmlns:a16="http://schemas.microsoft.com/office/drawing/2014/main" id="{F70BE7AF-9E75-EA86-DE41-5D31BA851770}"/>
              </a:ext>
            </a:extLst>
          </p:cNvPr>
          <p:cNvPicPr>
            <a:picLocks noChangeAspect="1"/>
          </p:cNvPicPr>
          <p:nvPr/>
        </p:nvPicPr>
        <p:blipFill>
          <a:blip r:embed="rId2"/>
          <a:stretch>
            <a:fillRect/>
          </a:stretch>
        </p:blipFill>
        <p:spPr>
          <a:xfrm>
            <a:off x="9175374" y="3168295"/>
            <a:ext cx="2708315" cy="1906716"/>
          </a:xfrm>
          <a:prstGeom prst="rect">
            <a:avLst/>
          </a:prstGeom>
        </p:spPr>
      </p:pic>
      <p:sp>
        <p:nvSpPr>
          <p:cNvPr id="5" name="Rectángulo 4">
            <a:extLst>
              <a:ext uri="{FF2B5EF4-FFF2-40B4-BE49-F238E27FC236}">
                <a16:creationId xmlns:a16="http://schemas.microsoft.com/office/drawing/2014/main" id="{BEB362F9-ABCA-0009-7F0F-7114DA41410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C68F84CF-3864-8F8E-0E54-211140263A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FE22F416-CF53-0CDA-6DA9-66DCABE8E530}"/>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Slide Number Placeholder 3">
            <a:extLst>
              <a:ext uri="{FF2B5EF4-FFF2-40B4-BE49-F238E27FC236}">
                <a16:creationId xmlns:a16="http://schemas.microsoft.com/office/drawing/2014/main" id="{AD9762C5-8142-E6C5-E34E-261A0BBE381C}"/>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34</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2652076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A2397-9B1C-7211-307E-063FED4C4E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AB20C7-F611-2B1E-24BA-D0093CBF6493}"/>
              </a:ext>
            </a:extLst>
          </p:cNvPr>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1 </a:t>
            </a:r>
          </a:p>
        </p:txBody>
      </p:sp>
      <p:cxnSp>
        <p:nvCxnSpPr>
          <p:cNvPr id="7" name="Straight Arrow Connector 6">
            <a:extLst>
              <a:ext uri="{FF2B5EF4-FFF2-40B4-BE49-F238E27FC236}">
                <a16:creationId xmlns:a16="http://schemas.microsoft.com/office/drawing/2014/main" id="{81FAC44D-B4A3-B0DD-3A3C-809BC6E92039}"/>
              </a:ext>
            </a:extLst>
          </p:cNvPr>
          <p:cNvCxnSpPr>
            <a:cxnSpLocks/>
          </p:cNvCxnSpPr>
          <p:nvPr/>
        </p:nvCxnSpPr>
        <p:spPr>
          <a:xfrm>
            <a:off x="2969305" y="3257885"/>
            <a:ext cx="0" cy="666207"/>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35EF2812-FEB2-8A1A-7BBF-11CEC1D5115E}"/>
              </a:ext>
            </a:extLst>
          </p:cNvPr>
          <p:cNvCxnSpPr/>
          <p:nvPr/>
        </p:nvCxnSpPr>
        <p:spPr>
          <a:xfrm flipV="1">
            <a:off x="4859543" y="2799158"/>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307F09F4-0259-2F0C-E77A-23E86CA7043F}"/>
              </a:ext>
            </a:extLst>
          </p:cNvPr>
          <p:cNvSpPr>
            <a:spLocks/>
          </p:cNvSpPr>
          <p:nvPr/>
        </p:nvSpPr>
        <p:spPr bwMode="auto">
          <a:xfrm flipH="1">
            <a:off x="2883704" y="2914665"/>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0</a:t>
            </a:r>
          </a:p>
        </p:txBody>
      </p:sp>
      <p:sp>
        <p:nvSpPr>
          <p:cNvPr id="15" name="Rectangle 14">
            <a:extLst>
              <a:ext uri="{FF2B5EF4-FFF2-40B4-BE49-F238E27FC236}">
                <a16:creationId xmlns:a16="http://schemas.microsoft.com/office/drawing/2014/main" id="{208454A2-5930-E7B5-9CAD-E834AD54AE37}"/>
              </a:ext>
            </a:extLst>
          </p:cNvPr>
          <p:cNvSpPr>
            <a:spLocks/>
          </p:cNvSpPr>
          <p:nvPr/>
        </p:nvSpPr>
        <p:spPr bwMode="auto">
          <a:xfrm>
            <a:off x="4675954" y="3380995"/>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2</a:t>
            </a:r>
          </a:p>
        </p:txBody>
      </p:sp>
      <p:sp>
        <p:nvSpPr>
          <p:cNvPr id="21" name="Rectangle 20">
            <a:extLst>
              <a:ext uri="{FF2B5EF4-FFF2-40B4-BE49-F238E27FC236}">
                <a16:creationId xmlns:a16="http://schemas.microsoft.com/office/drawing/2014/main" id="{33594825-7BCE-71DF-9E77-7949C582E238}"/>
              </a:ext>
            </a:extLst>
          </p:cNvPr>
          <p:cNvSpPr>
            <a:spLocks/>
          </p:cNvSpPr>
          <p:nvPr/>
        </p:nvSpPr>
        <p:spPr bwMode="auto">
          <a:xfrm>
            <a:off x="2027258" y="3971277"/>
            <a:ext cx="188716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1.000</a:t>
            </a:r>
          </a:p>
        </p:txBody>
      </p:sp>
      <p:sp>
        <p:nvSpPr>
          <p:cNvPr id="22" name="Rectangle 21">
            <a:extLst>
              <a:ext uri="{FF2B5EF4-FFF2-40B4-BE49-F238E27FC236}">
                <a16:creationId xmlns:a16="http://schemas.microsoft.com/office/drawing/2014/main" id="{BE5CACAA-0C24-6DF3-DFF1-B5DAC0A0B3E1}"/>
              </a:ext>
            </a:extLst>
          </p:cNvPr>
          <p:cNvSpPr>
            <a:spLocks/>
          </p:cNvSpPr>
          <p:nvPr/>
        </p:nvSpPr>
        <p:spPr bwMode="auto">
          <a:xfrm>
            <a:off x="4220817" y="2432393"/>
            <a:ext cx="12774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1.392</a:t>
            </a:r>
          </a:p>
        </p:txBody>
      </p:sp>
      <p:cxnSp>
        <p:nvCxnSpPr>
          <p:cNvPr id="28" name="Straight Arrow Connector 27">
            <a:extLst>
              <a:ext uri="{FF2B5EF4-FFF2-40B4-BE49-F238E27FC236}">
                <a16:creationId xmlns:a16="http://schemas.microsoft.com/office/drawing/2014/main" id="{9A85E7AA-9A30-B5AE-63E3-846315C679E1}"/>
              </a:ext>
            </a:extLst>
          </p:cNvPr>
          <p:cNvCxnSpPr>
            <a:cxnSpLocks/>
          </p:cNvCxnSpPr>
          <p:nvPr/>
        </p:nvCxnSpPr>
        <p:spPr>
          <a:xfrm>
            <a:off x="7361157" y="3271615"/>
            <a:ext cx="0" cy="652477"/>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9DB652B7-733F-18E9-A27A-B35BC3541A71}"/>
              </a:ext>
            </a:extLst>
          </p:cNvPr>
          <p:cNvCxnSpPr/>
          <p:nvPr/>
        </p:nvCxnSpPr>
        <p:spPr>
          <a:xfrm flipV="1">
            <a:off x="9251395" y="2799158"/>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413A3AD3-D1CC-1BB3-CEEA-E4497E407735}"/>
              </a:ext>
            </a:extLst>
          </p:cNvPr>
          <p:cNvSpPr>
            <a:spLocks/>
          </p:cNvSpPr>
          <p:nvPr/>
        </p:nvSpPr>
        <p:spPr bwMode="auto">
          <a:xfrm flipH="1">
            <a:off x="7275556" y="2914665"/>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0</a:t>
            </a:r>
          </a:p>
        </p:txBody>
      </p:sp>
      <p:sp>
        <p:nvSpPr>
          <p:cNvPr id="33" name="Rectangle 32">
            <a:extLst>
              <a:ext uri="{FF2B5EF4-FFF2-40B4-BE49-F238E27FC236}">
                <a16:creationId xmlns:a16="http://schemas.microsoft.com/office/drawing/2014/main" id="{559F9757-9072-D7CF-6C69-11AD9C0B2636}"/>
              </a:ext>
            </a:extLst>
          </p:cNvPr>
          <p:cNvSpPr>
            <a:spLocks/>
          </p:cNvSpPr>
          <p:nvPr/>
        </p:nvSpPr>
        <p:spPr bwMode="auto">
          <a:xfrm>
            <a:off x="9067805" y="3310379"/>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2</a:t>
            </a:r>
          </a:p>
        </p:txBody>
      </p:sp>
      <p:sp>
        <p:nvSpPr>
          <p:cNvPr id="34" name="Rectangle 33">
            <a:extLst>
              <a:ext uri="{FF2B5EF4-FFF2-40B4-BE49-F238E27FC236}">
                <a16:creationId xmlns:a16="http://schemas.microsoft.com/office/drawing/2014/main" id="{38162363-F850-3792-AD3A-293E315DD45B}"/>
              </a:ext>
            </a:extLst>
          </p:cNvPr>
          <p:cNvSpPr>
            <a:spLocks/>
          </p:cNvSpPr>
          <p:nvPr/>
        </p:nvSpPr>
        <p:spPr bwMode="auto">
          <a:xfrm>
            <a:off x="6397837" y="3971277"/>
            <a:ext cx="188716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1.000</a:t>
            </a:r>
          </a:p>
        </p:txBody>
      </p:sp>
      <p:sp>
        <p:nvSpPr>
          <p:cNvPr id="35" name="Rectangle 34">
            <a:extLst>
              <a:ext uri="{FF2B5EF4-FFF2-40B4-BE49-F238E27FC236}">
                <a16:creationId xmlns:a16="http://schemas.microsoft.com/office/drawing/2014/main" id="{F0F110C0-F67E-85C1-D70A-FC8A7BD3DBA3}"/>
              </a:ext>
            </a:extLst>
          </p:cNvPr>
          <p:cNvSpPr>
            <a:spLocks/>
          </p:cNvSpPr>
          <p:nvPr/>
        </p:nvSpPr>
        <p:spPr bwMode="auto">
          <a:xfrm>
            <a:off x="8612669" y="2432393"/>
            <a:ext cx="12774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655</a:t>
            </a:r>
          </a:p>
        </p:txBody>
      </p:sp>
      <p:sp>
        <p:nvSpPr>
          <p:cNvPr id="36" name="Rectangle 35">
            <a:extLst>
              <a:ext uri="{FF2B5EF4-FFF2-40B4-BE49-F238E27FC236}">
                <a16:creationId xmlns:a16="http://schemas.microsoft.com/office/drawing/2014/main" id="{EA8690EE-C9C4-AFB7-8256-A6A999F42606}"/>
              </a:ext>
            </a:extLst>
          </p:cNvPr>
          <p:cNvSpPr>
            <a:spLocks/>
          </p:cNvSpPr>
          <p:nvPr/>
        </p:nvSpPr>
        <p:spPr bwMode="auto">
          <a:xfrm>
            <a:off x="8136210" y="3306483"/>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1</a:t>
            </a:r>
          </a:p>
        </p:txBody>
      </p:sp>
      <p:sp>
        <p:nvSpPr>
          <p:cNvPr id="37" name="Rectangle 36">
            <a:extLst>
              <a:ext uri="{FF2B5EF4-FFF2-40B4-BE49-F238E27FC236}">
                <a16:creationId xmlns:a16="http://schemas.microsoft.com/office/drawing/2014/main" id="{B2434516-CF71-8C5E-B80A-FDBED2C73E15}"/>
              </a:ext>
            </a:extLst>
          </p:cNvPr>
          <p:cNvSpPr>
            <a:spLocks/>
          </p:cNvSpPr>
          <p:nvPr/>
        </p:nvSpPr>
        <p:spPr bwMode="auto">
          <a:xfrm>
            <a:off x="7666014" y="2461682"/>
            <a:ext cx="12774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655</a:t>
            </a:r>
          </a:p>
        </p:txBody>
      </p:sp>
      <p:cxnSp>
        <p:nvCxnSpPr>
          <p:cNvPr id="38" name="Straight Arrow Connector 37">
            <a:extLst>
              <a:ext uri="{FF2B5EF4-FFF2-40B4-BE49-F238E27FC236}">
                <a16:creationId xmlns:a16="http://schemas.microsoft.com/office/drawing/2014/main" id="{E224EC15-366C-748D-F414-DCA137B9B482}"/>
              </a:ext>
            </a:extLst>
          </p:cNvPr>
          <p:cNvCxnSpPr/>
          <p:nvPr/>
        </p:nvCxnSpPr>
        <p:spPr>
          <a:xfrm flipV="1">
            <a:off x="8304740" y="2799158"/>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62F16ADA-90C6-21A1-3CFD-B6F2ED29DDF1}"/>
              </a:ext>
            </a:extLst>
          </p:cNvPr>
          <p:cNvSpPr txBox="1"/>
          <p:nvPr/>
        </p:nvSpPr>
        <p:spPr>
          <a:xfrm>
            <a:off x="3237921" y="1900931"/>
            <a:ext cx="1552028" cy="400110"/>
          </a:xfrm>
          <a:prstGeom prst="rect">
            <a:avLst/>
          </a:prstGeom>
          <a:noFill/>
        </p:spPr>
        <p:txBody>
          <a:bodyPr wrap="none" rtlCol="0">
            <a:spAutoFit/>
          </a:bodyPr>
          <a:lstStyle/>
          <a:p>
            <a:r>
              <a:rPr lang="es-ES_tradnl" sz="2000" b="1" dirty="0">
                <a:latin typeface="Century Gothic" panose="020B0502020202020204" pitchFamily="34" charset="0"/>
              </a:rPr>
              <a:t>Proyecto A</a:t>
            </a:r>
          </a:p>
        </p:txBody>
      </p:sp>
      <p:sp>
        <p:nvSpPr>
          <p:cNvPr id="39" name="TextBox 38">
            <a:extLst>
              <a:ext uri="{FF2B5EF4-FFF2-40B4-BE49-F238E27FC236}">
                <a16:creationId xmlns:a16="http://schemas.microsoft.com/office/drawing/2014/main" id="{BCAA64CF-274A-BBA4-3951-B3845445FBC0}"/>
              </a:ext>
            </a:extLst>
          </p:cNvPr>
          <p:cNvSpPr txBox="1"/>
          <p:nvPr/>
        </p:nvSpPr>
        <p:spPr>
          <a:xfrm>
            <a:off x="7854340" y="1871642"/>
            <a:ext cx="1511952" cy="400110"/>
          </a:xfrm>
          <a:prstGeom prst="rect">
            <a:avLst/>
          </a:prstGeom>
          <a:noFill/>
        </p:spPr>
        <p:txBody>
          <a:bodyPr wrap="none" rtlCol="0">
            <a:spAutoFit/>
          </a:bodyPr>
          <a:lstStyle/>
          <a:p>
            <a:r>
              <a:rPr lang="es-ES_tradnl" sz="2000" b="1" dirty="0">
                <a:latin typeface="Century Gothic" panose="020B0502020202020204" pitchFamily="34" charset="0"/>
              </a:rPr>
              <a:t>Proyecto B</a:t>
            </a:r>
          </a:p>
        </p:txBody>
      </p:sp>
      <p:sp>
        <p:nvSpPr>
          <p:cNvPr id="12" name="Rectángulo 11">
            <a:extLst>
              <a:ext uri="{FF2B5EF4-FFF2-40B4-BE49-F238E27FC236}">
                <a16:creationId xmlns:a16="http://schemas.microsoft.com/office/drawing/2014/main" id="{7B8017D0-E51E-E15D-BD6E-6D8598F8236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CC0640C2-66EA-98A5-6FBD-51FA652F61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6" name="Rectángulo 15">
            <a:extLst>
              <a:ext uri="{FF2B5EF4-FFF2-40B4-BE49-F238E27FC236}">
                <a16:creationId xmlns:a16="http://schemas.microsoft.com/office/drawing/2014/main" id="{F205613F-F4D3-3868-35E6-0F770E5A4BF6}"/>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cxnSp>
        <p:nvCxnSpPr>
          <p:cNvPr id="6" name="Straight Connector 5">
            <a:extLst>
              <a:ext uri="{FF2B5EF4-FFF2-40B4-BE49-F238E27FC236}">
                <a16:creationId xmlns:a16="http://schemas.microsoft.com/office/drawing/2014/main" id="{ABADA490-4060-8724-2BA9-9CE5EAEB2853}"/>
              </a:ext>
            </a:extLst>
          </p:cNvPr>
          <p:cNvCxnSpPr/>
          <p:nvPr/>
        </p:nvCxnSpPr>
        <p:spPr>
          <a:xfrm>
            <a:off x="2969305" y="3257884"/>
            <a:ext cx="1890238"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DFBB82D2-7DB7-D760-9055-67EAF9C95A28}"/>
              </a:ext>
            </a:extLst>
          </p:cNvPr>
          <p:cNvCxnSpPr/>
          <p:nvPr/>
        </p:nvCxnSpPr>
        <p:spPr>
          <a:xfrm>
            <a:off x="7361157" y="3271615"/>
            <a:ext cx="1890238"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aphicFrame>
        <p:nvGraphicFramePr>
          <p:cNvPr id="18" name="Table 24">
            <a:extLst>
              <a:ext uri="{FF2B5EF4-FFF2-40B4-BE49-F238E27FC236}">
                <a16:creationId xmlns:a16="http://schemas.microsoft.com/office/drawing/2014/main" id="{6D87C793-2D58-6655-88DE-473F983656E9}"/>
              </a:ext>
            </a:extLst>
          </p:cNvPr>
          <p:cNvGraphicFramePr>
            <a:graphicFrameLocks noGrp="1"/>
          </p:cNvGraphicFramePr>
          <p:nvPr>
            <p:extLst>
              <p:ext uri="{D42A27DB-BD31-4B8C-83A1-F6EECF244321}">
                <p14:modId xmlns:p14="http://schemas.microsoft.com/office/powerpoint/2010/main" val="1315489084"/>
              </p:ext>
            </p:extLst>
          </p:nvPr>
        </p:nvGraphicFramePr>
        <p:xfrm>
          <a:off x="2290762" y="4437607"/>
          <a:ext cx="7610480" cy="2225040"/>
        </p:xfrm>
        <a:graphic>
          <a:graphicData uri="http://schemas.openxmlformats.org/drawingml/2006/table">
            <a:tbl>
              <a:tblPr firstRow="1" bandRow="1">
                <a:tableStyleId>{5C22544A-7EE6-4342-B048-85BDC9FD1C3A}</a:tableStyleId>
              </a:tblPr>
              <a:tblGrid>
                <a:gridCol w="1902620">
                  <a:extLst>
                    <a:ext uri="{9D8B030D-6E8A-4147-A177-3AD203B41FA5}">
                      <a16:colId xmlns:a16="http://schemas.microsoft.com/office/drawing/2014/main" val="20000"/>
                    </a:ext>
                  </a:extLst>
                </a:gridCol>
                <a:gridCol w="1902620">
                  <a:extLst>
                    <a:ext uri="{9D8B030D-6E8A-4147-A177-3AD203B41FA5}">
                      <a16:colId xmlns:a16="http://schemas.microsoft.com/office/drawing/2014/main" val="20001"/>
                    </a:ext>
                  </a:extLst>
                </a:gridCol>
                <a:gridCol w="1902620">
                  <a:extLst>
                    <a:ext uri="{9D8B030D-6E8A-4147-A177-3AD203B41FA5}">
                      <a16:colId xmlns:a16="http://schemas.microsoft.com/office/drawing/2014/main" val="20002"/>
                    </a:ext>
                  </a:extLst>
                </a:gridCol>
                <a:gridCol w="1902620">
                  <a:extLst>
                    <a:ext uri="{9D8B030D-6E8A-4147-A177-3AD203B41FA5}">
                      <a16:colId xmlns:a16="http://schemas.microsoft.com/office/drawing/2014/main" val="713189138"/>
                    </a:ext>
                  </a:extLst>
                </a:gridCol>
              </a:tblGrid>
              <a:tr h="370840">
                <a:tc>
                  <a:txBody>
                    <a:bodyPr/>
                    <a:lstStyle/>
                    <a:p>
                      <a:pPr algn="ctr"/>
                      <a:r>
                        <a:rPr lang="es-ES_tradnl" sz="1800" noProof="0" dirty="0">
                          <a:latin typeface="Century Gothic" panose="020B0502020202020204" pitchFamily="34" charset="0"/>
                        </a:rPr>
                        <a:t>IBF</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Proyecto A</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Proyecto B</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Selección</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1800" noProof="0" dirty="0">
                          <a:solidFill>
                            <a:schemeClr val="accent1"/>
                          </a:solidFill>
                          <a:latin typeface="Century Gothic" panose="020B0502020202020204" pitchFamily="34" charset="0"/>
                        </a:rPr>
                        <a:t>VPN (10%)</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150</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137</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A</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70840">
                <a:tc>
                  <a:txBody>
                    <a:bodyPr/>
                    <a:lstStyle/>
                    <a:p>
                      <a:pPr algn="ctr"/>
                      <a:r>
                        <a:rPr lang="es-ES_tradnl" sz="1800" b="1" noProof="0" dirty="0">
                          <a:solidFill>
                            <a:srgbClr val="C00000"/>
                          </a:solidFill>
                          <a:latin typeface="Century Gothic" panose="020B0502020202020204" pitchFamily="34" charset="0"/>
                        </a:rPr>
                        <a:t>TIR</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b="1" noProof="0" dirty="0">
                          <a:solidFill>
                            <a:srgbClr val="C00000"/>
                          </a:solidFill>
                          <a:latin typeface="Century Gothic" panose="020B0502020202020204" pitchFamily="34" charset="0"/>
                        </a:rPr>
                        <a:t>17,98%</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b="1" noProof="0" dirty="0">
                          <a:solidFill>
                            <a:srgbClr val="C00000"/>
                          </a:solidFill>
                          <a:latin typeface="Century Gothic" panose="020B0502020202020204" pitchFamily="34" charset="0"/>
                        </a:rPr>
                        <a:t>20,06%</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b="1" noProof="0" dirty="0">
                          <a:solidFill>
                            <a:srgbClr val="C00000"/>
                          </a:solidFill>
                          <a:latin typeface="Century Gothic" panose="020B0502020202020204" pitchFamily="34" charset="0"/>
                        </a:rPr>
                        <a:t>B</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r>
                        <a:rPr lang="es-ES_tradnl" sz="1800" noProof="0" dirty="0">
                          <a:solidFill>
                            <a:schemeClr val="accent1"/>
                          </a:solidFill>
                          <a:latin typeface="Century Gothic" panose="020B0502020202020204" pitchFamily="34" charset="0"/>
                        </a:rPr>
                        <a:t>B/C</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1,15</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1,14</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A</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70840">
                <a:tc>
                  <a:txBody>
                    <a:bodyPr/>
                    <a:lstStyle/>
                    <a:p>
                      <a:pPr algn="ctr"/>
                      <a:r>
                        <a:rPr lang="es-ES_tradnl" sz="1800" noProof="0" dirty="0">
                          <a:solidFill>
                            <a:schemeClr val="accent1"/>
                          </a:solidFill>
                          <a:latin typeface="Century Gothic" panose="020B0502020202020204" pitchFamily="34" charset="0"/>
                        </a:rPr>
                        <a:t>VAE</a:t>
                      </a:r>
                    </a:p>
                  </a:txBody>
                  <a:tcPr marL="100584" marR="100584">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87</a:t>
                      </a:r>
                    </a:p>
                  </a:txBody>
                  <a:tcPr marL="100584" marR="100584">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79</a:t>
                      </a:r>
                    </a:p>
                  </a:txBody>
                  <a:tcPr marL="100584" marR="100584">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A</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ctr"/>
                      <a:r>
                        <a:rPr lang="es-ES_tradnl" sz="1800" noProof="0" dirty="0">
                          <a:solidFill>
                            <a:schemeClr val="accent1"/>
                          </a:solidFill>
                          <a:latin typeface="Century Gothic" panose="020B0502020202020204" pitchFamily="34" charset="0"/>
                        </a:rPr>
                        <a:t>TVR</a:t>
                      </a:r>
                    </a:p>
                  </a:txBody>
                  <a:tcPr marL="100584" marR="100584">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17,98%</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17,28%</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A</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996382192"/>
                  </a:ext>
                </a:extLst>
              </a:tr>
            </a:tbl>
          </a:graphicData>
        </a:graphic>
      </p:graphicFrame>
      <p:sp>
        <p:nvSpPr>
          <p:cNvPr id="3" name="Slide Number Placeholder 3">
            <a:extLst>
              <a:ext uri="{FF2B5EF4-FFF2-40B4-BE49-F238E27FC236}">
                <a16:creationId xmlns:a16="http://schemas.microsoft.com/office/drawing/2014/main" id="{26D3BE00-4316-5BFA-65AB-C3F01CAE7651}"/>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35</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182503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1 </a:t>
            </a:r>
          </a:p>
        </p:txBody>
      </p:sp>
      <p:sp>
        <p:nvSpPr>
          <p:cNvPr id="3" name="Content Placeholder 2"/>
          <p:cNvSpPr>
            <a:spLocks noGrp="1"/>
          </p:cNvSpPr>
          <p:nvPr>
            <p:ph idx="1"/>
          </p:nvPr>
        </p:nvSpPr>
        <p:spPr>
          <a:xfrm>
            <a:off x="1270183" y="2293359"/>
            <a:ext cx="6738938" cy="3085374"/>
          </a:xfrm>
        </p:spPr>
        <p:txBody>
          <a:bodyPr>
            <a:normAutofit/>
          </a:bodyPr>
          <a:lstStyle/>
          <a:p>
            <a:pPr marL="0" indent="0" algn="ctr">
              <a:buNone/>
            </a:pPr>
            <a:r>
              <a:rPr lang="es-ES_tradnl" sz="2400" b="1" dirty="0">
                <a:solidFill>
                  <a:srgbClr val="C00000"/>
                </a:solidFill>
                <a:latin typeface="Century Gothic" panose="020B0502020202020204" pitchFamily="34" charset="0"/>
              </a:rPr>
              <a:t>Es evidente como, si son utilizados de manera correcta, los IBF proporcionarán un ordenamiento consistente entre sí.</a:t>
            </a:r>
          </a:p>
        </p:txBody>
      </p:sp>
      <p:pic>
        <p:nvPicPr>
          <p:cNvPr id="12" name="Imagen 11">
            <a:extLst>
              <a:ext uri="{FF2B5EF4-FFF2-40B4-BE49-F238E27FC236}">
                <a16:creationId xmlns:a16="http://schemas.microsoft.com/office/drawing/2014/main" id="{7030CF80-0239-61CB-B8B4-CECE0D014A38}"/>
              </a:ext>
            </a:extLst>
          </p:cNvPr>
          <p:cNvPicPr>
            <a:picLocks noChangeAspect="1"/>
          </p:cNvPicPr>
          <p:nvPr/>
        </p:nvPicPr>
        <p:blipFill>
          <a:blip r:embed="rId2"/>
          <a:stretch>
            <a:fillRect/>
          </a:stretch>
        </p:blipFill>
        <p:spPr>
          <a:xfrm>
            <a:off x="8009121" y="2419653"/>
            <a:ext cx="3140698" cy="2832786"/>
          </a:xfrm>
          <a:prstGeom prst="rect">
            <a:avLst/>
          </a:prstGeom>
        </p:spPr>
      </p:pic>
      <p:sp>
        <p:nvSpPr>
          <p:cNvPr id="9" name="Rectángulo 8">
            <a:extLst>
              <a:ext uri="{FF2B5EF4-FFF2-40B4-BE49-F238E27FC236}">
                <a16:creationId xmlns:a16="http://schemas.microsoft.com/office/drawing/2014/main" id="{9D703DCD-C55F-E1EA-DB9C-DD3050D6BB0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2074BB2E-8248-29C4-55F0-557277AA13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B60524FB-9A9C-38BC-0886-E18EC099E1D1}"/>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5" name="Slide Number Placeholder 3">
            <a:extLst>
              <a:ext uri="{FF2B5EF4-FFF2-40B4-BE49-F238E27FC236}">
                <a16:creationId xmlns:a16="http://schemas.microsoft.com/office/drawing/2014/main" id="{03964BE5-2C33-59D7-B82F-90589605B928}"/>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36</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2634498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1 </a:t>
            </a:r>
          </a:p>
        </p:txBody>
      </p:sp>
      <p:sp>
        <p:nvSpPr>
          <p:cNvPr id="3" name="Content Placeholder 2"/>
          <p:cNvSpPr>
            <a:spLocks noGrp="1"/>
          </p:cNvSpPr>
          <p:nvPr>
            <p:ph idx="1"/>
          </p:nvPr>
        </p:nvSpPr>
        <p:spPr>
          <a:xfrm>
            <a:off x="766218" y="2092175"/>
            <a:ext cx="10659564" cy="784784"/>
          </a:xfrm>
        </p:spPr>
        <p:txBody>
          <a:bodyPr>
            <a:normAutofit/>
          </a:bodyPr>
          <a:lstStyle/>
          <a:p>
            <a:pPr marL="0" indent="0" algn="just">
              <a:buNone/>
            </a:pPr>
            <a:r>
              <a:rPr lang="es-ES_tradnl" sz="2000" b="1" dirty="0">
                <a:solidFill>
                  <a:srgbClr val="C00000"/>
                </a:solidFill>
                <a:latin typeface="Century Gothic"/>
              </a:rPr>
              <a:t>Ejemplo 2: </a:t>
            </a:r>
            <a:r>
              <a:rPr lang="es-ES_tradnl" sz="2000" dirty="0">
                <a:latin typeface="Century Gothic"/>
              </a:rPr>
              <a:t>Usted tiene que escoger un mecanismo de generación eléctrica para el país: Eólica, Térmica o Hidráulica. Su costo de oportunidad es 5%.</a:t>
            </a:r>
            <a:endParaRPr lang="es-ES" sz="2400" dirty="0">
              <a:latin typeface="Century Gothic"/>
            </a:endParaRPr>
          </a:p>
        </p:txBody>
      </p:sp>
      <p:graphicFrame>
        <p:nvGraphicFramePr>
          <p:cNvPr id="5" name="Table 4"/>
          <p:cNvGraphicFramePr>
            <a:graphicFrameLocks noGrp="1"/>
          </p:cNvGraphicFramePr>
          <p:nvPr>
            <p:extLst>
              <p:ext uri="{D42A27DB-BD31-4B8C-83A1-F6EECF244321}">
                <p14:modId xmlns:p14="http://schemas.microsoft.com/office/powerpoint/2010/main" val="3736872424"/>
              </p:ext>
            </p:extLst>
          </p:nvPr>
        </p:nvGraphicFramePr>
        <p:xfrm>
          <a:off x="1291401" y="3253178"/>
          <a:ext cx="9609198" cy="2035192"/>
        </p:xfrm>
        <a:graphic>
          <a:graphicData uri="http://schemas.openxmlformats.org/drawingml/2006/table">
            <a:tbl>
              <a:tblPr firstRow="1" bandRow="1">
                <a:tableStyleId>{5C22544A-7EE6-4342-B048-85BDC9FD1C3A}</a:tableStyleId>
              </a:tblPr>
              <a:tblGrid>
                <a:gridCol w="1601533">
                  <a:extLst>
                    <a:ext uri="{9D8B030D-6E8A-4147-A177-3AD203B41FA5}">
                      <a16:colId xmlns:a16="http://schemas.microsoft.com/office/drawing/2014/main" val="20000"/>
                    </a:ext>
                  </a:extLst>
                </a:gridCol>
                <a:gridCol w="1601533">
                  <a:extLst>
                    <a:ext uri="{9D8B030D-6E8A-4147-A177-3AD203B41FA5}">
                      <a16:colId xmlns:a16="http://schemas.microsoft.com/office/drawing/2014/main" val="20001"/>
                    </a:ext>
                  </a:extLst>
                </a:gridCol>
                <a:gridCol w="1601533">
                  <a:extLst>
                    <a:ext uri="{9D8B030D-6E8A-4147-A177-3AD203B41FA5}">
                      <a16:colId xmlns:a16="http://schemas.microsoft.com/office/drawing/2014/main" val="20002"/>
                    </a:ext>
                  </a:extLst>
                </a:gridCol>
                <a:gridCol w="1601533">
                  <a:extLst>
                    <a:ext uri="{9D8B030D-6E8A-4147-A177-3AD203B41FA5}">
                      <a16:colId xmlns:a16="http://schemas.microsoft.com/office/drawing/2014/main" val="20003"/>
                    </a:ext>
                  </a:extLst>
                </a:gridCol>
                <a:gridCol w="1601533">
                  <a:extLst>
                    <a:ext uri="{9D8B030D-6E8A-4147-A177-3AD203B41FA5}">
                      <a16:colId xmlns:a16="http://schemas.microsoft.com/office/drawing/2014/main" val="20004"/>
                    </a:ext>
                  </a:extLst>
                </a:gridCol>
                <a:gridCol w="1601533">
                  <a:extLst>
                    <a:ext uri="{9D8B030D-6E8A-4147-A177-3AD203B41FA5}">
                      <a16:colId xmlns:a16="http://schemas.microsoft.com/office/drawing/2014/main" val="20005"/>
                    </a:ext>
                  </a:extLst>
                </a:gridCol>
              </a:tblGrid>
              <a:tr h="508798">
                <a:tc>
                  <a:txBody>
                    <a:bodyPr/>
                    <a:lstStyle/>
                    <a:p>
                      <a:pPr algn="ctr"/>
                      <a:r>
                        <a:rPr lang="es-ES_tradnl" sz="1800" noProof="0" dirty="0">
                          <a:latin typeface="Century Gothic" panose="020B0502020202020204" pitchFamily="34" charset="0"/>
                        </a:rPr>
                        <a:t>Proyecto</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Año 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Año 1</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Año 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Año 3</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panose="020B0502020202020204" pitchFamily="34" charset="0"/>
                        </a:rPr>
                        <a:t>Año 4</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508798">
                <a:tc>
                  <a:txBody>
                    <a:bodyPr/>
                    <a:lstStyle/>
                    <a:p>
                      <a:pPr algn="ctr"/>
                      <a:r>
                        <a:rPr lang="es-ES_tradnl" sz="1800" noProof="0" dirty="0">
                          <a:solidFill>
                            <a:schemeClr val="accent1"/>
                          </a:solidFill>
                          <a:latin typeface="Century Gothic" panose="020B0502020202020204" pitchFamily="34" charset="0"/>
                        </a:rPr>
                        <a:t>Térmica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-1.000.000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90.000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solidFill>
                            <a:schemeClr val="accent1"/>
                          </a:solidFill>
                          <a:latin typeface="Century Gothic" panose="020B0502020202020204" pitchFamily="34" charset="0"/>
                        </a:rPr>
                        <a:t>90.000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solidFill>
                            <a:schemeClr val="accent1"/>
                          </a:solidFill>
                          <a:latin typeface="Century Gothic" panose="020B0502020202020204" pitchFamily="34" charset="0"/>
                        </a:rPr>
                        <a:t>90.000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solidFill>
                            <a:schemeClr val="accent1"/>
                          </a:solidFill>
                          <a:latin typeface="Century Gothic" panose="020B0502020202020204" pitchFamily="34" charset="0"/>
                        </a:rPr>
                        <a:t>1.090.000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08798">
                <a:tc>
                  <a:txBody>
                    <a:bodyPr/>
                    <a:lstStyle/>
                    <a:p>
                      <a:pPr algn="ctr"/>
                      <a:r>
                        <a:rPr lang="es-ES_tradnl" sz="1800" noProof="0" dirty="0">
                          <a:solidFill>
                            <a:schemeClr val="accent1"/>
                          </a:solidFill>
                          <a:latin typeface="Century Gothic" panose="020B0502020202020204" pitchFamily="34" charset="0"/>
                        </a:rPr>
                        <a:t>Eólica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solidFill>
                            <a:schemeClr val="accent1"/>
                          </a:solidFill>
                          <a:latin typeface="Century Gothic" panose="020B0502020202020204" pitchFamily="34" charset="0"/>
                        </a:rPr>
                        <a:t>-1.000.000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solidFill>
                            <a:schemeClr val="accent1"/>
                          </a:solidFill>
                          <a:latin typeface="Century Gothic" panose="020B0502020202020204" pitchFamily="34" charset="0"/>
                        </a:rPr>
                        <a:t>90.000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solidFill>
                            <a:schemeClr val="accent1"/>
                          </a:solidFill>
                          <a:latin typeface="Century Gothic" panose="020B0502020202020204" pitchFamily="34" charset="0"/>
                        </a:rPr>
                        <a:t>590.000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45.000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panose="020B0502020202020204" pitchFamily="34" charset="0"/>
                        </a:rPr>
                        <a:t>545.000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08798">
                <a:tc>
                  <a:txBody>
                    <a:bodyPr/>
                    <a:lstStyle/>
                    <a:p>
                      <a:pPr algn="ctr"/>
                      <a:r>
                        <a:rPr lang="es-ES_tradnl" sz="1800" noProof="0" dirty="0">
                          <a:solidFill>
                            <a:schemeClr val="accent1"/>
                          </a:solidFill>
                          <a:latin typeface="Century Gothic" panose="020B0502020202020204" pitchFamily="34" charset="0"/>
                        </a:rPr>
                        <a:t>Hidráulica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ES_tradnl" sz="1800" noProof="0" dirty="0">
                          <a:solidFill>
                            <a:schemeClr val="accent1"/>
                          </a:solidFill>
                          <a:latin typeface="Century Gothic" panose="020B0502020202020204" pitchFamily="34" charset="0"/>
                        </a:rPr>
                        <a:t>-1.000.000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308.668,7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308.668,7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308.668,7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panose="020B0502020202020204" pitchFamily="34" charset="0"/>
                        </a:rPr>
                        <a:t>308.668,7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bl>
          </a:graphicData>
        </a:graphic>
      </p:graphicFrame>
      <p:sp>
        <p:nvSpPr>
          <p:cNvPr id="6" name="Rectángulo 5">
            <a:extLst>
              <a:ext uri="{FF2B5EF4-FFF2-40B4-BE49-F238E27FC236}">
                <a16:creationId xmlns:a16="http://schemas.microsoft.com/office/drawing/2014/main" id="{834958FF-1F3F-8CEB-4F05-954CA4ABE8E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F2096E71-6A0D-59AA-03B3-1019FF880C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12B4BBC4-A1B3-F5F0-EFF0-A4CE9D6B80F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Slide Number Placeholder 3">
            <a:extLst>
              <a:ext uri="{FF2B5EF4-FFF2-40B4-BE49-F238E27FC236}">
                <a16:creationId xmlns:a16="http://schemas.microsoft.com/office/drawing/2014/main" id="{76816529-54C0-BC48-090F-B5E259BF2530}"/>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37</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4226222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Arrow Connector 6"/>
          <p:cNvCxnSpPr/>
          <p:nvPr/>
        </p:nvCxnSpPr>
        <p:spPr>
          <a:xfrm>
            <a:off x="1091157" y="4499782"/>
            <a:ext cx="0" cy="843530"/>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a:cxnSpLocks/>
          </p:cNvCxnSpPr>
          <p:nvPr/>
        </p:nvCxnSpPr>
        <p:spPr>
          <a:xfrm flipV="1">
            <a:off x="2981395" y="4119248"/>
            <a:ext cx="0" cy="380533"/>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9" name="Rectangle 8"/>
          <p:cNvSpPr>
            <a:spLocks/>
          </p:cNvSpPr>
          <p:nvPr/>
        </p:nvSpPr>
        <p:spPr bwMode="auto">
          <a:xfrm flipH="1">
            <a:off x="1005556" y="4156562"/>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0</a:t>
            </a:r>
          </a:p>
        </p:txBody>
      </p:sp>
      <p:sp>
        <p:nvSpPr>
          <p:cNvPr id="10" name="Rectangle 9"/>
          <p:cNvSpPr>
            <a:spLocks/>
          </p:cNvSpPr>
          <p:nvPr/>
        </p:nvSpPr>
        <p:spPr bwMode="auto">
          <a:xfrm>
            <a:off x="1544850" y="4622892"/>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1</a:t>
            </a:r>
          </a:p>
        </p:txBody>
      </p:sp>
      <p:sp>
        <p:nvSpPr>
          <p:cNvPr id="11" name="Rectangle 10"/>
          <p:cNvSpPr>
            <a:spLocks/>
          </p:cNvSpPr>
          <p:nvPr/>
        </p:nvSpPr>
        <p:spPr bwMode="auto">
          <a:xfrm>
            <a:off x="154895" y="5402017"/>
            <a:ext cx="188716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1.000</a:t>
            </a:r>
          </a:p>
        </p:txBody>
      </p:sp>
      <p:sp>
        <p:nvSpPr>
          <p:cNvPr id="12" name="Rectangle 11"/>
          <p:cNvSpPr>
            <a:spLocks/>
          </p:cNvSpPr>
          <p:nvPr/>
        </p:nvSpPr>
        <p:spPr bwMode="auto">
          <a:xfrm>
            <a:off x="2662032" y="3754263"/>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90</a:t>
            </a:r>
          </a:p>
        </p:txBody>
      </p:sp>
      <p:sp>
        <p:nvSpPr>
          <p:cNvPr id="13" name="Rectangle 12"/>
          <p:cNvSpPr>
            <a:spLocks/>
          </p:cNvSpPr>
          <p:nvPr/>
        </p:nvSpPr>
        <p:spPr bwMode="auto">
          <a:xfrm>
            <a:off x="2174138" y="4622892"/>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2</a:t>
            </a:r>
          </a:p>
        </p:txBody>
      </p:sp>
      <p:sp>
        <p:nvSpPr>
          <p:cNvPr id="14" name="Rectangle 13"/>
          <p:cNvSpPr>
            <a:spLocks/>
          </p:cNvSpPr>
          <p:nvPr/>
        </p:nvSpPr>
        <p:spPr bwMode="auto">
          <a:xfrm>
            <a:off x="2812865" y="4622892"/>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3</a:t>
            </a:r>
          </a:p>
        </p:txBody>
      </p:sp>
      <p:sp>
        <p:nvSpPr>
          <p:cNvPr id="15" name="Rectangle 14"/>
          <p:cNvSpPr>
            <a:spLocks/>
          </p:cNvSpPr>
          <p:nvPr/>
        </p:nvSpPr>
        <p:spPr bwMode="auto">
          <a:xfrm>
            <a:off x="3451591" y="4622892"/>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4</a:t>
            </a:r>
          </a:p>
        </p:txBody>
      </p:sp>
      <p:cxnSp>
        <p:nvCxnSpPr>
          <p:cNvPr id="16" name="Straight Arrow Connector 15"/>
          <p:cNvCxnSpPr/>
          <p:nvPr/>
        </p:nvCxnSpPr>
        <p:spPr>
          <a:xfrm flipV="1">
            <a:off x="2342668" y="4122239"/>
            <a:ext cx="0" cy="390082"/>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flipV="1">
            <a:off x="1722698" y="4109699"/>
            <a:ext cx="0" cy="390082"/>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17"/>
          <p:cNvSpPr>
            <a:spLocks/>
          </p:cNvSpPr>
          <p:nvPr/>
        </p:nvSpPr>
        <p:spPr bwMode="auto">
          <a:xfrm>
            <a:off x="3280625" y="3739619"/>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1.090</a:t>
            </a:r>
          </a:p>
        </p:txBody>
      </p:sp>
      <p:sp>
        <p:nvSpPr>
          <p:cNvPr id="19" name="Rectangle 18"/>
          <p:cNvSpPr>
            <a:spLocks/>
          </p:cNvSpPr>
          <p:nvPr/>
        </p:nvSpPr>
        <p:spPr bwMode="auto">
          <a:xfrm>
            <a:off x="2023305" y="3718223"/>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90</a:t>
            </a:r>
          </a:p>
        </p:txBody>
      </p:sp>
      <p:sp>
        <p:nvSpPr>
          <p:cNvPr id="20" name="Rectangle 19"/>
          <p:cNvSpPr>
            <a:spLocks/>
          </p:cNvSpPr>
          <p:nvPr/>
        </p:nvSpPr>
        <p:spPr bwMode="auto">
          <a:xfrm>
            <a:off x="1403335" y="3748365"/>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90</a:t>
            </a:r>
          </a:p>
        </p:txBody>
      </p:sp>
      <p:cxnSp>
        <p:nvCxnSpPr>
          <p:cNvPr id="21" name="Straight Arrow Connector 20"/>
          <p:cNvCxnSpPr>
            <a:cxnSpLocks/>
          </p:cNvCxnSpPr>
          <p:nvPr/>
        </p:nvCxnSpPr>
        <p:spPr>
          <a:xfrm flipV="1">
            <a:off x="3620121" y="4119248"/>
            <a:ext cx="0" cy="375647"/>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a:off x="4549198" y="4520605"/>
            <a:ext cx="0" cy="843530"/>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a:cxnSpLocks/>
          </p:cNvCxnSpPr>
          <p:nvPr/>
        </p:nvCxnSpPr>
        <p:spPr>
          <a:xfrm flipV="1">
            <a:off x="6439436" y="4130522"/>
            <a:ext cx="0" cy="390082"/>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7" name="Rectangle 26"/>
          <p:cNvSpPr>
            <a:spLocks/>
          </p:cNvSpPr>
          <p:nvPr/>
        </p:nvSpPr>
        <p:spPr bwMode="auto">
          <a:xfrm flipH="1">
            <a:off x="4463597" y="4161996"/>
            <a:ext cx="131729"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0</a:t>
            </a:r>
          </a:p>
        </p:txBody>
      </p:sp>
      <p:sp>
        <p:nvSpPr>
          <p:cNvPr id="28" name="Rectangle 27"/>
          <p:cNvSpPr>
            <a:spLocks/>
          </p:cNvSpPr>
          <p:nvPr/>
        </p:nvSpPr>
        <p:spPr bwMode="auto">
          <a:xfrm>
            <a:off x="5002891" y="4643715"/>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1</a:t>
            </a:r>
          </a:p>
        </p:txBody>
      </p:sp>
      <p:sp>
        <p:nvSpPr>
          <p:cNvPr id="29" name="Rectangle 28"/>
          <p:cNvSpPr>
            <a:spLocks/>
          </p:cNvSpPr>
          <p:nvPr/>
        </p:nvSpPr>
        <p:spPr bwMode="auto">
          <a:xfrm>
            <a:off x="3612936" y="5422840"/>
            <a:ext cx="188716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1.000</a:t>
            </a:r>
          </a:p>
        </p:txBody>
      </p:sp>
      <p:sp>
        <p:nvSpPr>
          <p:cNvPr id="30" name="Rectangle 29"/>
          <p:cNvSpPr>
            <a:spLocks/>
          </p:cNvSpPr>
          <p:nvPr/>
        </p:nvSpPr>
        <p:spPr bwMode="auto">
          <a:xfrm>
            <a:off x="6120073" y="3775086"/>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45</a:t>
            </a:r>
          </a:p>
        </p:txBody>
      </p:sp>
      <p:sp>
        <p:nvSpPr>
          <p:cNvPr id="31" name="Rectangle 30"/>
          <p:cNvSpPr>
            <a:spLocks/>
          </p:cNvSpPr>
          <p:nvPr/>
        </p:nvSpPr>
        <p:spPr bwMode="auto">
          <a:xfrm>
            <a:off x="5632179" y="4643715"/>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2</a:t>
            </a:r>
          </a:p>
        </p:txBody>
      </p:sp>
      <p:sp>
        <p:nvSpPr>
          <p:cNvPr id="32" name="Rectangle 31"/>
          <p:cNvSpPr>
            <a:spLocks/>
          </p:cNvSpPr>
          <p:nvPr/>
        </p:nvSpPr>
        <p:spPr bwMode="auto">
          <a:xfrm>
            <a:off x="6270906" y="4643715"/>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3</a:t>
            </a:r>
          </a:p>
        </p:txBody>
      </p:sp>
      <p:sp>
        <p:nvSpPr>
          <p:cNvPr id="33" name="Rectangle 32"/>
          <p:cNvSpPr>
            <a:spLocks/>
          </p:cNvSpPr>
          <p:nvPr/>
        </p:nvSpPr>
        <p:spPr bwMode="auto">
          <a:xfrm>
            <a:off x="6909632" y="4643715"/>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4</a:t>
            </a:r>
          </a:p>
        </p:txBody>
      </p:sp>
      <p:cxnSp>
        <p:nvCxnSpPr>
          <p:cNvPr id="34" name="Straight Arrow Connector 33"/>
          <p:cNvCxnSpPr/>
          <p:nvPr/>
        </p:nvCxnSpPr>
        <p:spPr>
          <a:xfrm flipV="1">
            <a:off x="5800709" y="4143062"/>
            <a:ext cx="0" cy="390082"/>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p:nvPr/>
        </p:nvCxnSpPr>
        <p:spPr>
          <a:xfrm flipV="1">
            <a:off x="5180739" y="4130522"/>
            <a:ext cx="0" cy="390082"/>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6" name="Rectangle 35"/>
          <p:cNvSpPr>
            <a:spLocks/>
          </p:cNvSpPr>
          <p:nvPr/>
        </p:nvSpPr>
        <p:spPr bwMode="auto">
          <a:xfrm>
            <a:off x="6738666" y="3760442"/>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545</a:t>
            </a:r>
          </a:p>
        </p:txBody>
      </p:sp>
      <p:sp>
        <p:nvSpPr>
          <p:cNvPr id="37" name="Rectangle 36"/>
          <p:cNvSpPr>
            <a:spLocks/>
          </p:cNvSpPr>
          <p:nvPr/>
        </p:nvSpPr>
        <p:spPr bwMode="auto">
          <a:xfrm>
            <a:off x="5481346" y="3739046"/>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590</a:t>
            </a:r>
          </a:p>
        </p:txBody>
      </p:sp>
      <p:sp>
        <p:nvSpPr>
          <p:cNvPr id="38" name="Rectangle 37"/>
          <p:cNvSpPr>
            <a:spLocks/>
          </p:cNvSpPr>
          <p:nvPr/>
        </p:nvSpPr>
        <p:spPr bwMode="auto">
          <a:xfrm>
            <a:off x="4861376" y="3769188"/>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90</a:t>
            </a:r>
          </a:p>
        </p:txBody>
      </p:sp>
      <p:cxnSp>
        <p:nvCxnSpPr>
          <p:cNvPr id="39" name="Straight Arrow Connector 38"/>
          <p:cNvCxnSpPr>
            <a:cxnSpLocks/>
          </p:cNvCxnSpPr>
          <p:nvPr/>
        </p:nvCxnSpPr>
        <p:spPr>
          <a:xfrm flipV="1">
            <a:off x="7078162" y="4130522"/>
            <a:ext cx="0" cy="38519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a:off x="8018810" y="4496791"/>
            <a:ext cx="0" cy="843530"/>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59" name="Straight Arrow Connector 58"/>
          <p:cNvCxnSpPr>
            <a:cxnSpLocks/>
          </p:cNvCxnSpPr>
          <p:nvPr/>
        </p:nvCxnSpPr>
        <p:spPr>
          <a:xfrm flipV="1">
            <a:off x="9909048" y="4138182"/>
            <a:ext cx="0" cy="358608"/>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60" name="Rectangle 59"/>
          <p:cNvSpPr>
            <a:spLocks/>
          </p:cNvSpPr>
          <p:nvPr/>
        </p:nvSpPr>
        <p:spPr bwMode="auto">
          <a:xfrm flipH="1">
            <a:off x="7933209" y="4138182"/>
            <a:ext cx="131729"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0</a:t>
            </a:r>
          </a:p>
        </p:txBody>
      </p:sp>
      <p:sp>
        <p:nvSpPr>
          <p:cNvPr id="61" name="Rectangle 60"/>
          <p:cNvSpPr>
            <a:spLocks/>
          </p:cNvSpPr>
          <p:nvPr/>
        </p:nvSpPr>
        <p:spPr bwMode="auto">
          <a:xfrm>
            <a:off x="8472503" y="4619901"/>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1</a:t>
            </a:r>
          </a:p>
        </p:txBody>
      </p:sp>
      <p:sp>
        <p:nvSpPr>
          <p:cNvPr id="62" name="Rectangle 61"/>
          <p:cNvSpPr>
            <a:spLocks/>
          </p:cNvSpPr>
          <p:nvPr/>
        </p:nvSpPr>
        <p:spPr bwMode="auto">
          <a:xfrm>
            <a:off x="7031056" y="5399026"/>
            <a:ext cx="188716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1.000</a:t>
            </a:r>
          </a:p>
        </p:txBody>
      </p:sp>
      <p:sp>
        <p:nvSpPr>
          <p:cNvPr id="63" name="Rectangle 62"/>
          <p:cNvSpPr>
            <a:spLocks/>
          </p:cNvSpPr>
          <p:nvPr/>
        </p:nvSpPr>
        <p:spPr bwMode="auto">
          <a:xfrm>
            <a:off x="9589685" y="3751272"/>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308</a:t>
            </a:r>
          </a:p>
        </p:txBody>
      </p:sp>
      <p:sp>
        <p:nvSpPr>
          <p:cNvPr id="64" name="Rectangle 63"/>
          <p:cNvSpPr>
            <a:spLocks/>
          </p:cNvSpPr>
          <p:nvPr/>
        </p:nvSpPr>
        <p:spPr bwMode="auto">
          <a:xfrm>
            <a:off x="9101791" y="4619901"/>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2</a:t>
            </a:r>
          </a:p>
        </p:txBody>
      </p:sp>
      <p:sp>
        <p:nvSpPr>
          <p:cNvPr id="65" name="Rectangle 64"/>
          <p:cNvSpPr>
            <a:spLocks/>
          </p:cNvSpPr>
          <p:nvPr/>
        </p:nvSpPr>
        <p:spPr bwMode="auto">
          <a:xfrm>
            <a:off x="9740518" y="4619901"/>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3</a:t>
            </a:r>
          </a:p>
        </p:txBody>
      </p:sp>
      <p:sp>
        <p:nvSpPr>
          <p:cNvPr id="66" name="Rectangle 65"/>
          <p:cNvSpPr>
            <a:spLocks/>
          </p:cNvSpPr>
          <p:nvPr/>
        </p:nvSpPr>
        <p:spPr bwMode="auto">
          <a:xfrm>
            <a:off x="10379244" y="4619901"/>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dirty="0">
                <a:solidFill>
                  <a:schemeClr val="accent1"/>
                </a:solidFill>
                <a:latin typeface="Century Gothic" panose="020B0502020202020204" pitchFamily="34" charset="0"/>
              </a:rPr>
              <a:t>4</a:t>
            </a:r>
          </a:p>
        </p:txBody>
      </p:sp>
      <p:cxnSp>
        <p:nvCxnSpPr>
          <p:cNvPr id="67" name="Straight Arrow Connector 66"/>
          <p:cNvCxnSpPr/>
          <p:nvPr/>
        </p:nvCxnSpPr>
        <p:spPr>
          <a:xfrm flipV="1">
            <a:off x="9270321" y="4119248"/>
            <a:ext cx="0" cy="390082"/>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68" name="Straight Arrow Connector 67"/>
          <p:cNvCxnSpPr/>
          <p:nvPr/>
        </p:nvCxnSpPr>
        <p:spPr>
          <a:xfrm flipV="1">
            <a:off x="8650351" y="4106708"/>
            <a:ext cx="0" cy="390082"/>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69" name="Rectangle 68"/>
          <p:cNvSpPr>
            <a:spLocks/>
          </p:cNvSpPr>
          <p:nvPr/>
        </p:nvSpPr>
        <p:spPr bwMode="auto">
          <a:xfrm>
            <a:off x="10208278" y="3736628"/>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308</a:t>
            </a:r>
          </a:p>
        </p:txBody>
      </p:sp>
      <p:sp>
        <p:nvSpPr>
          <p:cNvPr id="70" name="Rectangle 69"/>
          <p:cNvSpPr>
            <a:spLocks/>
          </p:cNvSpPr>
          <p:nvPr/>
        </p:nvSpPr>
        <p:spPr bwMode="auto">
          <a:xfrm>
            <a:off x="8950958" y="3715232"/>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308</a:t>
            </a:r>
          </a:p>
        </p:txBody>
      </p:sp>
      <p:sp>
        <p:nvSpPr>
          <p:cNvPr id="71" name="Rectangle 70"/>
          <p:cNvSpPr>
            <a:spLocks/>
          </p:cNvSpPr>
          <p:nvPr/>
        </p:nvSpPr>
        <p:spPr bwMode="auto">
          <a:xfrm>
            <a:off x="8330988" y="3745374"/>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dirty="0">
                <a:solidFill>
                  <a:schemeClr val="accent1"/>
                </a:solidFill>
                <a:latin typeface="Century Gothic" panose="020B0502020202020204" pitchFamily="34" charset="0"/>
              </a:rPr>
              <a:t>308</a:t>
            </a:r>
          </a:p>
        </p:txBody>
      </p:sp>
      <p:cxnSp>
        <p:nvCxnSpPr>
          <p:cNvPr id="72" name="Straight Arrow Connector 71"/>
          <p:cNvCxnSpPr/>
          <p:nvPr/>
        </p:nvCxnSpPr>
        <p:spPr>
          <a:xfrm flipV="1">
            <a:off x="10547774" y="4153570"/>
            <a:ext cx="0" cy="338334"/>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 name="Rectángulo 4"/>
          <p:cNvSpPr/>
          <p:nvPr/>
        </p:nvSpPr>
        <p:spPr>
          <a:xfrm>
            <a:off x="1838220" y="3160369"/>
            <a:ext cx="1172117" cy="400110"/>
          </a:xfrm>
          <a:prstGeom prst="rect">
            <a:avLst/>
          </a:prstGeom>
        </p:spPr>
        <p:txBody>
          <a:bodyPr wrap="none">
            <a:spAutoFit/>
          </a:bodyPr>
          <a:lstStyle/>
          <a:p>
            <a:pPr algn="ctr"/>
            <a:r>
              <a:rPr lang="es-ES_tradnl" sz="2000" b="1" dirty="0">
                <a:solidFill>
                  <a:srgbClr val="D7A700"/>
                </a:solidFill>
                <a:latin typeface="Century Gothic" panose="020B0502020202020204" pitchFamily="34" charset="0"/>
              </a:rPr>
              <a:t>Térmica</a:t>
            </a:r>
          </a:p>
        </p:txBody>
      </p:sp>
      <p:sp>
        <p:nvSpPr>
          <p:cNvPr id="73" name="Rectángulo 72"/>
          <p:cNvSpPr/>
          <p:nvPr/>
        </p:nvSpPr>
        <p:spPr>
          <a:xfrm>
            <a:off x="5604313" y="3166442"/>
            <a:ext cx="928459" cy="369332"/>
          </a:xfrm>
          <a:prstGeom prst="rect">
            <a:avLst/>
          </a:prstGeom>
        </p:spPr>
        <p:txBody>
          <a:bodyPr wrap="none">
            <a:spAutoFit/>
          </a:bodyPr>
          <a:lstStyle/>
          <a:p>
            <a:pPr algn="ctr"/>
            <a:r>
              <a:rPr lang="es-ES_tradnl" b="1" dirty="0">
                <a:solidFill>
                  <a:srgbClr val="D7A700"/>
                </a:solidFill>
                <a:latin typeface="Century Gothic" panose="020B0502020202020204" pitchFamily="34" charset="0"/>
              </a:rPr>
              <a:t>Eólica </a:t>
            </a:r>
          </a:p>
        </p:txBody>
      </p:sp>
      <p:sp>
        <p:nvSpPr>
          <p:cNvPr id="74" name="Rectángulo 73"/>
          <p:cNvSpPr/>
          <p:nvPr/>
        </p:nvSpPr>
        <p:spPr>
          <a:xfrm>
            <a:off x="8743438" y="3170573"/>
            <a:ext cx="1451039" cy="400110"/>
          </a:xfrm>
          <a:prstGeom prst="rect">
            <a:avLst/>
          </a:prstGeom>
        </p:spPr>
        <p:txBody>
          <a:bodyPr wrap="none">
            <a:spAutoFit/>
          </a:bodyPr>
          <a:lstStyle/>
          <a:p>
            <a:pPr algn="ctr"/>
            <a:r>
              <a:rPr lang="es-ES_tradnl" sz="2000" b="1" dirty="0">
                <a:solidFill>
                  <a:srgbClr val="D7A700"/>
                </a:solidFill>
                <a:latin typeface="Century Gothic" panose="020B0502020202020204" pitchFamily="34" charset="0"/>
              </a:rPr>
              <a:t>Hidráulica</a:t>
            </a:r>
          </a:p>
        </p:txBody>
      </p:sp>
      <p:sp>
        <p:nvSpPr>
          <p:cNvPr id="42" name="Rectángulo 41">
            <a:extLst>
              <a:ext uri="{FF2B5EF4-FFF2-40B4-BE49-F238E27FC236}">
                <a16:creationId xmlns:a16="http://schemas.microsoft.com/office/drawing/2014/main" id="{72C31555-855C-33D2-FD2E-34286E1E08C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3" name="Picture 2" descr="Clientes y aliados | Centro de Evaluación | Uniandes">
            <a:extLst>
              <a:ext uri="{FF2B5EF4-FFF2-40B4-BE49-F238E27FC236}">
                <a16:creationId xmlns:a16="http://schemas.microsoft.com/office/drawing/2014/main" id="{F18D1C3D-7A68-CD53-BD78-95F2966912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44" name="Rectángulo 43">
            <a:extLst>
              <a:ext uri="{FF2B5EF4-FFF2-40B4-BE49-F238E27FC236}">
                <a16:creationId xmlns:a16="http://schemas.microsoft.com/office/drawing/2014/main" id="{F6FC1351-0F1B-4B69-C2C4-54AF9084556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49" name="Title 1">
            <a:extLst>
              <a:ext uri="{FF2B5EF4-FFF2-40B4-BE49-F238E27FC236}">
                <a16:creationId xmlns:a16="http://schemas.microsoft.com/office/drawing/2014/main" id="{273C4E1C-EF81-18A0-9334-E8E01DFA7F5C}"/>
              </a:ext>
            </a:extLst>
          </p:cNvPr>
          <p:cNvSpPr>
            <a:spLocks noGrp="1"/>
          </p:cNvSpPr>
          <p:nvPr>
            <p:ph type="title"/>
          </p:nvPr>
        </p:nvSpPr>
        <p:spPr>
          <a:xfrm>
            <a:off x="581192" y="702156"/>
            <a:ext cx="11029616" cy="1013800"/>
          </a:xfrm>
        </p:spPr>
        <p:txBody>
          <a:bodyPr>
            <a:normAutofit/>
          </a:bodyPr>
          <a:lstStyle/>
          <a:p>
            <a:r>
              <a:rPr lang="es-ES_tradnl" sz="3200" dirty="0">
                <a:latin typeface="Century Gothic" panose="020B0502020202020204" pitchFamily="34" charset="0"/>
              </a:rPr>
              <a:t>Proyectos Mutuamente Excluyentes – CASO 1 </a:t>
            </a:r>
          </a:p>
        </p:txBody>
      </p:sp>
      <p:sp>
        <p:nvSpPr>
          <p:cNvPr id="50" name="Content Placeholder 2">
            <a:extLst>
              <a:ext uri="{FF2B5EF4-FFF2-40B4-BE49-F238E27FC236}">
                <a16:creationId xmlns:a16="http://schemas.microsoft.com/office/drawing/2014/main" id="{A8003139-8475-DF21-9A97-C0FAD54222E9}"/>
              </a:ext>
            </a:extLst>
          </p:cNvPr>
          <p:cNvSpPr>
            <a:spLocks noGrp="1"/>
          </p:cNvSpPr>
          <p:nvPr>
            <p:ph idx="1"/>
          </p:nvPr>
        </p:nvSpPr>
        <p:spPr>
          <a:xfrm>
            <a:off x="766218" y="2092175"/>
            <a:ext cx="10659564" cy="784784"/>
          </a:xfrm>
        </p:spPr>
        <p:txBody>
          <a:bodyPr>
            <a:normAutofit/>
          </a:bodyPr>
          <a:lstStyle/>
          <a:p>
            <a:pPr marL="0" indent="0" algn="just">
              <a:buNone/>
            </a:pPr>
            <a:r>
              <a:rPr lang="es-ES_tradnl" sz="2000" b="1" dirty="0">
                <a:solidFill>
                  <a:srgbClr val="C00000"/>
                </a:solidFill>
                <a:latin typeface="Century Gothic"/>
              </a:rPr>
              <a:t>Ejemplo 2: </a:t>
            </a:r>
            <a:r>
              <a:rPr lang="es-ES_tradnl" sz="2000" dirty="0">
                <a:latin typeface="Century Gothic"/>
              </a:rPr>
              <a:t>Usted tiene que escoger un mecanismo de generación eléctrica para el país: Eólica, Térmica o Hidráulica. Su costo de oportunidad es 5%.</a:t>
            </a:r>
            <a:endParaRPr lang="es-ES" sz="2400" dirty="0">
              <a:latin typeface="Century Gothic"/>
            </a:endParaRPr>
          </a:p>
        </p:txBody>
      </p:sp>
      <p:cxnSp>
        <p:nvCxnSpPr>
          <p:cNvPr id="6" name="Straight Connector 5"/>
          <p:cNvCxnSpPr/>
          <p:nvPr/>
        </p:nvCxnSpPr>
        <p:spPr>
          <a:xfrm>
            <a:off x="1091157" y="4499781"/>
            <a:ext cx="2528964"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4549198" y="4520604"/>
            <a:ext cx="2528964"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7" name="Straight Connector 56"/>
          <p:cNvCxnSpPr/>
          <p:nvPr/>
        </p:nvCxnSpPr>
        <p:spPr>
          <a:xfrm>
            <a:off x="8018810" y="4496790"/>
            <a:ext cx="2528964"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2" name="Slide Number Placeholder 3">
            <a:extLst>
              <a:ext uri="{FF2B5EF4-FFF2-40B4-BE49-F238E27FC236}">
                <a16:creationId xmlns:a16="http://schemas.microsoft.com/office/drawing/2014/main" id="{E73E57A7-1D50-57EB-E552-9F31977A9546}"/>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38</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40269471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5">
            <a:extLst>
              <a:ext uri="{FF2B5EF4-FFF2-40B4-BE49-F238E27FC236}">
                <a16:creationId xmlns:a16="http://schemas.microsoft.com/office/drawing/2014/main" id="{C6ED3C2A-8F67-49BA-8396-4AE805403D6A}"/>
              </a:ext>
            </a:extLst>
          </p:cNvPr>
          <p:cNvGraphicFramePr>
            <a:graphicFrameLocks noGrp="1"/>
          </p:cNvGraphicFramePr>
          <p:nvPr>
            <p:extLst>
              <p:ext uri="{D42A27DB-BD31-4B8C-83A1-F6EECF244321}">
                <p14:modId xmlns:p14="http://schemas.microsoft.com/office/powerpoint/2010/main" val="618013949"/>
              </p:ext>
            </p:extLst>
          </p:nvPr>
        </p:nvGraphicFramePr>
        <p:xfrm>
          <a:off x="2123848" y="3327400"/>
          <a:ext cx="7610476" cy="2377440"/>
        </p:xfrm>
        <a:graphic>
          <a:graphicData uri="http://schemas.openxmlformats.org/drawingml/2006/table">
            <a:tbl>
              <a:tblPr firstRow="1" bandRow="1">
                <a:tableStyleId>{5C22544A-7EE6-4342-B048-85BDC9FD1C3A}</a:tableStyleId>
              </a:tblPr>
              <a:tblGrid>
                <a:gridCol w="1902619">
                  <a:extLst>
                    <a:ext uri="{9D8B030D-6E8A-4147-A177-3AD203B41FA5}">
                      <a16:colId xmlns:a16="http://schemas.microsoft.com/office/drawing/2014/main" val="20000"/>
                    </a:ext>
                  </a:extLst>
                </a:gridCol>
                <a:gridCol w="1902619">
                  <a:extLst>
                    <a:ext uri="{9D8B030D-6E8A-4147-A177-3AD203B41FA5}">
                      <a16:colId xmlns:a16="http://schemas.microsoft.com/office/drawing/2014/main" val="20001"/>
                    </a:ext>
                  </a:extLst>
                </a:gridCol>
                <a:gridCol w="1902619">
                  <a:extLst>
                    <a:ext uri="{9D8B030D-6E8A-4147-A177-3AD203B41FA5}">
                      <a16:colId xmlns:a16="http://schemas.microsoft.com/office/drawing/2014/main" val="20002"/>
                    </a:ext>
                  </a:extLst>
                </a:gridCol>
                <a:gridCol w="1902619">
                  <a:extLst>
                    <a:ext uri="{9D8B030D-6E8A-4147-A177-3AD203B41FA5}">
                      <a16:colId xmlns:a16="http://schemas.microsoft.com/office/drawing/2014/main" val="20003"/>
                    </a:ext>
                  </a:extLst>
                </a:gridCol>
              </a:tblGrid>
              <a:tr h="370840">
                <a:tc>
                  <a:txBody>
                    <a:bodyPr/>
                    <a:lstStyle/>
                    <a:p>
                      <a:pPr algn="ctr"/>
                      <a:r>
                        <a:rPr lang="es-ES_tradnl" sz="2000" noProof="0" dirty="0">
                          <a:latin typeface="Century Gothic" panose="020B0502020202020204" pitchFamily="34" charset="0"/>
                        </a:rPr>
                        <a:t>IBF</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2000" noProof="0" dirty="0">
                          <a:latin typeface="Century Gothic" panose="020B0502020202020204" pitchFamily="34" charset="0"/>
                        </a:rPr>
                        <a:t>Térmica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2000" noProof="0" dirty="0">
                          <a:latin typeface="Century Gothic" panose="020B0502020202020204" pitchFamily="34" charset="0"/>
                        </a:rPr>
                        <a:t>Eólica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2000" noProof="0" dirty="0">
                          <a:latin typeface="Century Gothic" panose="020B0502020202020204" pitchFamily="34" charset="0"/>
                        </a:rPr>
                        <a:t>Hidráulica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2000" noProof="0" dirty="0">
                          <a:solidFill>
                            <a:schemeClr val="accent1"/>
                          </a:solidFill>
                          <a:latin typeface="Century Gothic" panose="020B0502020202020204" pitchFamily="34" charset="0"/>
                        </a:rPr>
                        <a:t>VPN (5%)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20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20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20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r>
                        <a:rPr lang="es-ES_tradnl" sz="2000" noProof="0" dirty="0">
                          <a:solidFill>
                            <a:schemeClr val="accent1"/>
                          </a:solidFill>
                          <a:latin typeface="Century Gothic" panose="020B0502020202020204" pitchFamily="34" charset="0"/>
                        </a:rPr>
                        <a:t>VAE</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20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20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20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4162409632"/>
                  </a:ext>
                </a:extLst>
              </a:tr>
              <a:tr h="370840">
                <a:tc>
                  <a:txBody>
                    <a:bodyPr/>
                    <a:lstStyle/>
                    <a:p>
                      <a:pPr marL="0" algn="ctr" defTabSz="457200" rtl="0" eaLnBrk="1" latinLnBrk="0" hangingPunct="1"/>
                      <a:r>
                        <a:rPr lang="es-ES_tradnl" sz="2000" kern="1200" noProof="0" dirty="0">
                          <a:solidFill>
                            <a:schemeClr val="accent1"/>
                          </a:solidFill>
                          <a:latin typeface="Century Gothic" panose="020B0502020202020204" pitchFamily="34" charset="0"/>
                          <a:ea typeface="+mn-ea"/>
                          <a:cs typeface="+mn-cs"/>
                        </a:rPr>
                        <a:t>TIR</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20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20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20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r>
                        <a:rPr lang="es-ES_tradnl" sz="2000" noProof="0" dirty="0">
                          <a:solidFill>
                            <a:schemeClr val="accent1"/>
                          </a:solidFill>
                          <a:latin typeface="Century Gothic" panose="020B0502020202020204" pitchFamily="34" charset="0"/>
                        </a:rPr>
                        <a:t>TVR</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70840">
                <a:tc>
                  <a:txBody>
                    <a:bodyPr/>
                    <a:lstStyle/>
                    <a:p>
                      <a:pPr algn="ctr"/>
                      <a:r>
                        <a:rPr lang="es-ES_tradnl" sz="2000" noProof="0" dirty="0">
                          <a:solidFill>
                            <a:schemeClr val="accent1"/>
                          </a:solidFill>
                          <a:latin typeface="Century Gothic" panose="020B0502020202020204" pitchFamily="34" charset="0"/>
                        </a:rPr>
                        <a:t>B/C</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dirty="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3" name="Rectángulo 2">
            <a:extLst>
              <a:ext uri="{FF2B5EF4-FFF2-40B4-BE49-F238E27FC236}">
                <a16:creationId xmlns:a16="http://schemas.microsoft.com/office/drawing/2014/main" id="{A5A100E0-5D19-CAA0-69F0-C55AD5A5297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60866C8E-1BEF-7DC7-DD85-06BA374C59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C7709C74-6960-E0E4-EB9A-F193C7C98033}"/>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7" name="Title 1">
            <a:extLst>
              <a:ext uri="{FF2B5EF4-FFF2-40B4-BE49-F238E27FC236}">
                <a16:creationId xmlns:a16="http://schemas.microsoft.com/office/drawing/2014/main" id="{52071C66-C072-3CB1-0017-BF5FC71AB58C}"/>
              </a:ext>
            </a:extLst>
          </p:cNvPr>
          <p:cNvSpPr>
            <a:spLocks noGrp="1"/>
          </p:cNvSpPr>
          <p:nvPr>
            <p:ph type="title"/>
          </p:nvPr>
        </p:nvSpPr>
        <p:spPr>
          <a:xfrm>
            <a:off x="581192" y="702156"/>
            <a:ext cx="11029616" cy="1013800"/>
          </a:xfrm>
        </p:spPr>
        <p:txBody>
          <a:bodyPr>
            <a:normAutofit/>
          </a:bodyPr>
          <a:lstStyle/>
          <a:p>
            <a:r>
              <a:rPr lang="es-ES_tradnl" sz="3200" dirty="0">
                <a:latin typeface="Century Gothic" panose="020B0502020202020204" pitchFamily="34" charset="0"/>
              </a:rPr>
              <a:t>Proyectos Mutuamente Excluyentes – CASO 1 </a:t>
            </a:r>
          </a:p>
        </p:txBody>
      </p:sp>
      <p:sp>
        <p:nvSpPr>
          <p:cNvPr id="18" name="Content Placeholder 2">
            <a:extLst>
              <a:ext uri="{FF2B5EF4-FFF2-40B4-BE49-F238E27FC236}">
                <a16:creationId xmlns:a16="http://schemas.microsoft.com/office/drawing/2014/main" id="{02964151-CA41-D9C6-8721-C9B4E794B541}"/>
              </a:ext>
            </a:extLst>
          </p:cNvPr>
          <p:cNvSpPr>
            <a:spLocks noGrp="1"/>
          </p:cNvSpPr>
          <p:nvPr>
            <p:ph idx="1"/>
          </p:nvPr>
        </p:nvSpPr>
        <p:spPr>
          <a:xfrm>
            <a:off x="766218" y="2092175"/>
            <a:ext cx="10659564" cy="784784"/>
          </a:xfrm>
        </p:spPr>
        <p:txBody>
          <a:bodyPr>
            <a:normAutofit/>
          </a:bodyPr>
          <a:lstStyle/>
          <a:p>
            <a:pPr marL="0" indent="0" algn="just">
              <a:buNone/>
            </a:pPr>
            <a:r>
              <a:rPr lang="es-ES_tradnl" sz="2000" b="1" dirty="0">
                <a:solidFill>
                  <a:srgbClr val="C00000"/>
                </a:solidFill>
                <a:latin typeface="Century Gothic"/>
              </a:rPr>
              <a:t>Ejemplo 2: </a:t>
            </a:r>
            <a:r>
              <a:rPr lang="es-ES_tradnl" sz="2000" dirty="0">
                <a:latin typeface="Century Gothic"/>
              </a:rPr>
              <a:t>Usted tiene que escoger un mecanismo de generación eléctrica para el país: Eólica, Térmica o Hidráulica. Su costo de oportunidad es 5%.</a:t>
            </a:r>
            <a:endParaRPr lang="es-ES" sz="2400" dirty="0">
              <a:latin typeface="Century Gothic"/>
            </a:endParaRPr>
          </a:p>
        </p:txBody>
      </p:sp>
      <p:graphicFrame>
        <p:nvGraphicFramePr>
          <p:cNvPr id="19" name="Tabla 18">
            <a:extLst>
              <a:ext uri="{FF2B5EF4-FFF2-40B4-BE49-F238E27FC236}">
                <a16:creationId xmlns:a16="http://schemas.microsoft.com/office/drawing/2014/main" id="{0F038197-8372-CE67-7F60-F73C6FC48B58}"/>
              </a:ext>
            </a:extLst>
          </p:cNvPr>
          <p:cNvGraphicFramePr>
            <a:graphicFrameLocks noGrp="1"/>
          </p:cNvGraphicFramePr>
          <p:nvPr>
            <p:extLst>
              <p:ext uri="{D42A27DB-BD31-4B8C-83A1-F6EECF244321}">
                <p14:modId xmlns:p14="http://schemas.microsoft.com/office/powerpoint/2010/main" val="2961742282"/>
              </p:ext>
            </p:extLst>
          </p:nvPr>
        </p:nvGraphicFramePr>
        <p:xfrm>
          <a:off x="4026466" y="3730648"/>
          <a:ext cx="5707857" cy="396240"/>
        </p:xfrm>
        <a:graphic>
          <a:graphicData uri="http://schemas.openxmlformats.org/drawingml/2006/table">
            <a:tbl>
              <a:tblPr firstRow="1" bandRow="1">
                <a:tableStyleId>{5C22544A-7EE6-4342-B048-85BDC9FD1C3A}</a:tableStyleId>
              </a:tblPr>
              <a:tblGrid>
                <a:gridCol w="1902619">
                  <a:extLst>
                    <a:ext uri="{9D8B030D-6E8A-4147-A177-3AD203B41FA5}">
                      <a16:colId xmlns:a16="http://schemas.microsoft.com/office/drawing/2014/main" val="770620364"/>
                    </a:ext>
                  </a:extLst>
                </a:gridCol>
                <a:gridCol w="1902619">
                  <a:extLst>
                    <a:ext uri="{9D8B030D-6E8A-4147-A177-3AD203B41FA5}">
                      <a16:colId xmlns:a16="http://schemas.microsoft.com/office/drawing/2014/main" val="21827599"/>
                    </a:ext>
                  </a:extLst>
                </a:gridCol>
                <a:gridCol w="1902619">
                  <a:extLst>
                    <a:ext uri="{9D8B030D-6E8A-4147-A177-3AD203B41FA5}">
                      <a16:colId xmlns:a16="http://schemas.microsoft.com/office/drawing/2014/main" val="3770784417"/>
                    </a:ext>
                  </a:extLst>
                </a:gridCol>
              </a:tblGrid>
              <a:tr h="370840">
                <a:tc>
                  <a:txBody>
                    <a:bodyPr/>
                    <a:lstStyle/>
                    <a:p>
                      <a:pPr algn="ctr"/>
                      <a:r>
                        <a:rPr lang="es-ES_tradnl" sz="2000" b="0" noProof="0" dirty="0">
                          <a:solidFill>
                            <a:schemeClr val="accent1"/>
                          </a:solidFill>
                          <a:latin typeface="Century Gothic" panose="020B0502020202020204" pitchFamily="34" charset="0"/>
                        </a:rPr>
                        <a:t>141.838</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2000" b="0" noProof="0" dirty="0">
                          <a:solidFill>
                            <a:schemeClr val="accent1"/>
                          </a:solidFill>
                          <a:latin typeface="Century Gothic" panose="020B0502020202020204" pitchFamily="34" charset="0"/>
                        </a:rPr>
                        <a:t>108.107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2000" b="0" noProof="0" dirty="0">
                          <a:solidFill>
                            <a:schemeClr val="accent1"/>
                          </a:solidFill>
                          <a:latin typeface="Century Gothic" panose="020B0502020202020204" pitchFamily="34" charset="0"/>
                        </a:rPr>
                        <a:t>94.524</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888539643"/>
                  </a:ext>
                </a:extLst>
              </a:tr>
            </a:tbl>
          </a:graphicData>
        </a:graphic>
      </p:graphicFrame>
      <p:graphicFrame>
        <p:nvGraphicFramePr>
          <p:cNvPr id="20" name="Tabla 19">
            <a:extLst>
              <a:ext uri="{FF2B5EF4-FFF2-40B4-BE49-F238E27FC236}">
                <a16:creationId xmlns:a16="http://schemas.microsoft.com/office/drawing/2014/main" id="{0F932EEA-7A66-ADA8-331A-B4A70D67BFB8}"/>
              </a:ext>
            </a:extLst>
          </p:cNvPr>
          <p:cNvGraphicFramePr>
            <a:graphicFrameLocks noGrp="1"/>
          </p:cNvGraphicFramePr>
          <p:nvPr>
            <p:extLst>
              <p:ext uri="{D42A27DB-BD31-4B8C-83A1-F6EECF244321}">
                <p14:modId xmlns:p14="http://schemas.microsoft.com/office/powerpoint/2010/main" val="2080506245"/>
              </p:ext>
            </p:extLst>
          </p:nvPr>
        </p:nvGraphicFramePr>
        <p:xfrm>
          <a:off x="4026465" y="4524159"/>
          <a:ext cx="5707857" cy="396240"/>
        </p:xfrm>
        <a:graphic>
          <a:graphicData uri="http://schemas.openxmlformats.org/drawingml/2006/table">
            <a:tbl>
              <a:tblPr firstRow="1" bandRow="1">
                <a:tableStyleId>{5C22544A-7EE6-4342-B048-85BDC9FD1C3A}</a:tableStyleId>
              </a:tblPr>
              <a:tblGrid>
                <a:gridCol w="1902619">
                  <a:extLst>
                    <a:ext uri="{9D8B030D-6E8A-4147-A177-3AD203B41FA5}">
                      <a16:colId xmlns:a16="http://schemas.microsoft.com/office/drawing/2014/main" val="3121723349"/>
                    </a:ext>
                  </a:extLst>
                </a:gridCol>
                <a:gridCol w="1902619">
                  <a:extLst>
                    <a:ext uri="{9D8B030D-6E8A-4147-A177-3AD203B41FA5}">
                      <a16:colId xmlns:a16="http://schemas.microsoft.com/office/drawing/2014/main" val="954546362"/>
                    </a:ext>
                  </a:extLst>
                </a:gridCol>
                <a:gridCol w="1902619">
                  <a:extLst>
                    <a:ext uri="{9D8B030D-6E8A-4147-A177-3AD203B41FA5}">
                      <a16:colId xmlns:a16="http://schemas.microsoft.com/office/drawing/2014/main" val="99110070"/>
                    </a:ext>
                  </a:extLst>
                </a:gridCol>
              </a:tblGrid>
              <a:tr h="370840">
                <a:tc>
                  <a:txBody>
                    <a:bodyPr/>
                    <a:lstStyle/>
                    <a:p>
                      <a:pPr algn="ctr"/>
                      <a:r>
                        <a:rPr lang="es-ES_tradnl" sz="2000" b="0" noProof="0" dirty="0">
                          <a:solidFill>
                            <a:schemeClr val="accent1"/>
                          </a:solidFill>
                          <a:latin typeface="Century Gothic" panose="020B0502020202020204" pitchFamily="34" charset="0"/>
                        </a:rPr>
                        <a:t>9,00%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2000" b="0" noProof="0" dirty="0">
                          <a:solidFill>
                            <a:schemeClr val="accent1"/>
                          </a:solidFill>
                          <a:latin typeface="Century Gothic" panose="020B0502020202020204" pitchFamily="34" charset="0"/>
                        </a:rPr>
                        <a:t>9,00%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2000" b="0" noProof="0" dirty="0">
                          <a:solidFill>
                            <a:schemeClr val="accent1"/>
                          </a:solidFill>
                          <a:latin typeface="Century Gothic" panose="020B0502020202020204" pitchFamily="34" charset="0"/>
                        </a:rPr>
                        <a:t>9,00%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173907580"/>
                  </a:ext>
                </a:extLst>
              </a:tr>
            </a:tbl>
          </a:graphicData>
        </a:graphic>
      </p:graphicFrame>
      <p:graphicFrame>
        <p:nvGraphicFramePr>
          <p:cNvPr id="21" name="Tabla 20">
            <a:extLst>
              <a:ext uri="{FF2B5EF4-FFF2-40B4-BE49-F238E27FC236}">
                <a16:creationId xmlns:a16="http://schemas.microsoft.com/office/drawing/2014/main" id="{7CA426C9-947A-FE94-6040-2A12E98F9001}"/>
              </a:ext>
            </a:extLst>
          </p:cNvPr>
          <p:cNvGraphicFramePr>
            <a:graphicFrameLocks noGrp="1"/>
          </p:cNvGraphicFramePr>
          <p:nvPr>
            <p:extLst>
              <p:ext uri="{D42A27DB-BD31-4B8C-83A1-F6EECF244321}">
                <p14:modId xmlns:p14="http://schemas.microsoft.com/office/powerpoint/2010/main" val="758400224"/>
              </p:ext>
            </p:extLst>
          </p:nvPr>
        </p:nvGraphicFramePr>
        <p:xfrm>
          <a:off x="4026463" y="4523128"/>
          <a:ext cx="5707857" cy="396240"/>
        </p:xfrm>
        <a:graphic>
          <a:graphicData uri="http://schemas.openxmlformats.org/drawingml/2006/table">
            <a:tbl>
              <a:tblPr firstRow="1" bandRow="1">
                <a:tableStyleId>{5C22544A-7EE6-4342-B048-85BDC9FD1C3A}</a:tableStyleId>
              </a:tblPr>
              <a:tblGrid>
                <a:gridCol w="1902619">
                  <a:extLst>
                    <a:ext uri="{9D8B030D-6E8A-4147-A177-3AD203B41FA5}">
                      <a16:colId xmlns:a16="http://schemas.microsoft.com/office/drawing/2014/main" val="3121723349"/>
                    </a:ext>
                  </a:extLst>
                </a:gridCol>
                <a:gridCol w="1902619">
                  <a:extLst>
                    <a:ext uri="{9D8B030D-6E8A-4147-A177-3AD203B41FA5}">
                      <a16:colId xmlns:a16="http://schemas.microsoft.com/office/drawing/2014/main" val="954546362"/>
                    </a:ext>
                  </a:extLst>
                </a:gridCol>
                <a:gridCol w="1902619">
                  <a:extLst>
                    <a:ext uri="{9D8B030D-6E8A-4147-A177-3AD203B41FA5}">
                      <a16:colId xmlns:a16="http://schemas.microsoft.com/office/drawing/2014/main" val="99110070"/>
                    </a:ext>
                  </a:extLst>
                </a:gridCol>
              </a:tblGrid>
              <a:tr h="370840">
                <a:tc>
                  <a:txBody>
                    <a:bodyPr/>
                    <a:lstStyle/>
                    <a:p>
                      <a:pPr algn="ctr"/>
                      <a:r>
                        <a:rPr lang="es-ES_tradnl" sz="2000" b="0" noProof="0" dirty="0">
                          <a:solidFill>
                            <a:srgbClr val="C00000"/>
                          </a:solidFill>
                          <a:latin typeface="Century Gothic" panose="020B0502020202020204" pitchFamily="34" charset="0"/>
                        </a:rPr>
                        <a:t>9,00%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2000" b="0" noProof="0" dirty="0">
                          <a:solidFill>
                            <a:srgbClr val="C00000"/>
                          </a:solidFill>
                          <a:latin typeface="Century Gothic" panose="020B0502020202020204" pitchFamily="34" charset="0"/>
                        </a:rPr>
                        <a:t>9,00%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2000" b="0" noProof="0" dirty="0">
                          <a:solidFill>
                            <a:srgbClr val="C00000"/>
                          </a:solidFill>
                          <a:latin typeface="Century Gothic" panose="020B0502020202020204" pitchFamily="34" charset="0"/>
                        </a:rPr>
                        <a:t>9,00%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173907580"/>
                  </a:ext>
                </a:extLst>
              </a:tr>
            </a:tbl>
          </a:graphicData>
        </a:graphic>
      </p:graphicFrame>
      <p:graphicFrame>
        <p:nvGraphicFramePr>
          <p:cNvPr id="22" name="Tabla 21">
            <a:extLst>
              <a:ext uri="{FF2B5EF4-FFF2-40B4-BE49-F238E27FC236}">
                <a16:creationId xmlns:a16="http://schemas.microsoft.com/office/drawing/2014/main" id="{92740AC7-2987-5C86-BC86-F03849589433}"/>
              </a:ext>
            </a:extLst>
          </p:cNvPr>
          <p:cNvGraphicFramePr>
            <a:graphicFrameLocks noGrp="1"/>
          </p:cNvGraphicFramePr>
          <p:nvPr>
            <p:extLst>
              <p:ext uri="{D42A27DB-BD31-4B8C-83A1-F6EECF244321}">
                <p14:modId xmlns:p14="http://schemas.microsoft.com/office/powerpoint/2010/main" val="3758916407"/>
              </p:ext>
            </p:extLst>
          </p:nvPr>
        </p:nvGraphicFramePr>
        <p:xfrm>
          <a:off x="4026461" y="4927408"/>
          <a:ext cx="5707857" cy="370840"/>
        </p:xfrm>
        <a:graphic>
          <a:graphicData uri="http://schemas.openxmlformats.org/drawingml/2006/table">
            <a:tbl>
              <a:tblPr firstRow="1" bandRow="1">
                <a:tableStyleId>{5C22544A-7EE6-4342-B048-85BDC9FD1C3A}</a:tableStyleId>
              </a:tblPr>
              <a:tblGrid>
                <a:gridCol w="1902619">
                  <a:extLst>
                    <a:ext uri="{9D8B030D-6E8A-4147-A177-3AD203B41FA5}">
                      <a16:colId xmlns:a16="http://schemas.microsoft.com/office/drawing/2014/main" val="2428324974"/>
                    </a:ext>
                  </a:extLst>
                </a:gridCol>
                <a:gridCol w="1902619">
                  <a:extLst>
                    <a:ext uri="{9D8B030D-6E8A-4147-A177-3AD203B41FA5}">
                      <a16:colId xmlns:a16="http://schemas.microsoft.com/office/drawing/2014/main" val="4061667582"/>
                    </a:ext>
                  </a:extLst>
                </a:gridCol>
                <a:gridCol w="1902619">
                  <a:extLst>
                    <a:ext uri="{9D8B030D-6E8A-4147-A177-3AD203B41FA5}">
                      <a16:colId xmlns:a16="http://schemas.microsoft.com/office/drawing/2014/main" val="2721698778"/>
                    </a:ext>
                  </a:extLst>
                </a:gridCol>
              </a:tblGrid>
              <a:tr h="370840">
                <a:tc>
                  <a:txBody>
                    <a:bodyPr/>
                    <a:lstStyle/>
                    <a:p>
                      <a:pPr algn="ctr"/>
                      <a:r>
                        <a:rPr lang="es-ES_tradnl" sz="1800" b="0" noProof="0" dirty="0">
                          <a:solidFill>
                            <a:schemeClr val="accent1"/>
                          </a:solidFill>
                          <a:latin typeface="Century Gothic" panose="020B0502020202020204" pitchFamily="34" charset="0"/>
                        </a:rPr>
                        <a:t>8,54%</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b="0" noProof="0" dirty="0">
                          <a:solidFill>
                            <a:schemeClr val="accent1"/>
                          </a:solidFill>
                          <a:latin typeface="Century Gothic" panose="020B0502020202020204" pitchFamily="34" charset="0"/>
                        </a:rPr>
                        <a:t>7,73%</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b="0" noProof="0" dirty="0">
                          <a:solidFill>
                            <a:schemeClr val="accent1"/>
                          </a:solidFill>
                          <a:latin typeface="Century Gothic" panose="020B0502020202020204" pitchFamily="34" charset="0"/>
                        </a:rPr>
                        <a:t>7,40%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2184415307"/>
                  </a:ext>
                </a:extLst>
              </a:tr>
            </a:tbl>
          </a:graphicData>
        </a:graphic>
      </p:graphicFrame>
      <p:graphicFrame>
        <p:nvGraphicFramePr>
          <p:cNvPr id="23" name="Tabla 22">
            <a:extLst>
              <a:ext uri="{FF2B5EF4-FFF2-40B4-BE49-F238E27FC236}">
                <a16:creationId xmlns:a16="http://schemas.microsoft.com/office/drawing/2014/main" id="{75A232DC-B373-BBF0-1B5A-D925CEB3B128}"/>
              </a:ext>
            </a:extLst>
          </p:cNvPr>
          <p:cNvGraphicFramePr>
            <a:graphicFrameLocks noGrp="1"/>
          </p:cNvGraphicFramePr>
          <p:nvPr>
            <p:extLst>
              <p:ext uri="{D42A27DB-BD31-4B8C-83A1-F6EECF244321}">
                <p14:modId xmlns:p14="http://schemas.microsoft.com/office/powerpoint/2010/main" val="2640699663"/>
              </p:ext>
            </p:extLst>
          </p:nvPr>
        </p:nvGraphicFramePr>
        <p:xfrm>
          <a:off x="4026462" y="5316640"/>
          <a:ext cx="5707857" cy="370840"/>
        </p:xfrm>
        <a:graphic>
          <a:graphicData uri="http://schemas.openxmlformats.org/drawingml/2006/table">
            <a:tbl>
              <a:tblPr firstRow="1" bandRow="1">
                <a:tableStyleId>{5C22544A-7EE6-4342-B048-85BDC9FD1C3A}</a:tableStyleId>
              </a:tblPr>
              <a:tblGrid>
                <a:gridCol w="1902619">
                  <a:extLst>
                    <a:ext uri="{9D8B030D-6E8A-4147-A177-3AD203B41FA5}">
                      <a16:colId xmlns:a16="http://schemas.microsoft.com/office/drawing/2014/main" val="3521816449"/>
                    </a:ext>
                  </a:extLst>
                </a:gridCol>
                <a:gridCol w="1902619">
                  <a:extLst>
                    <a:ext uri="{9D8B030D-6E8A-4147-A177-3AD203B41FA5}">
                      <a16:colId xmlns:a16="http://schemas.microsoft.com/office/drawing/2014/main" val="31741854"/>
                    </a:ext>
                  </a:extLst>
                </a:gridCol>
                <a:gridCol w="1902619">
                  <a:extLst>
                    <a:ext uri="{9D8B030D-6E8A-4147-A177-3AD203B41FA5}">
                      <a16:colId xmlns:a16="http://schemas.microsoft.com/office/drawing/2014/main" val="3188901457"/>
                    </a:ext>
                  </a:extLst>
                </a:gridCol>
              </a:tblGrid>
              <a:tr h="370840">
                <a:tc>
                  <a:txBody>
                    <a:bodyPr/>
                    <a:lstStyle/>
                    <a:p>
                      <a:pPr algn="ctr"/>
                      <a:r>
                        <a:rPr lang="es-ES_tradnl" sz="1800" b="0" noProof="0" dirty="0">
                          <a:solidFill>
                            <a:schemeClr val="accent1"/>
                          </a:solidFill>
                          <a:latin typeface="Century Gothic" panose="020B0502020202020204" pitchFamily="34" charset="0"/>
                        </a:rPr>
                        <a:t>1,14</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b="0" noProof="0" dirty="0">
                          <a:solidFill>
                            <a:schemeClr val="accent1"/>
                          </a:solidFill>
                          <a:latin typeface="Century Gothic" panose="020B0502020202020204" pitchFamily="34" charset="0"/>
                        </a:rPr>
                        <a:t>1,11</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b="0" noProof="0" dirty="0">
                          <a:solidFill>
                            <a:schemeClr val="accent1"/>
                          </a:solidFill>
                          <a:latin typeface="Century Gothic" panose="020B0502020202020204" pitchFamily="34" charset="0"/>
                        </a:rPr>
                        <a:t>1,09</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181804820"/>
                  </a:ext>
                </a:extLst>
              </a:tr>
            </a:tbl>
          </a:graphicData>
        </a:graphic>
      </p:graphicFrame>
      <p:graphicFrame>
        <p:nvGraphicFramePr>
          <p:cNvPr id="24" name="Tabla 23">
            <a:extLst>
              <a:ext uri="{FF2B5EF4-FFF2-40B4-BE49-F238E27FC236}">
                <a16:creationId xmlns:a16="http://schemas.microsoft.com/office/drawing/2014/main" id="{DC13DE9C-C032-5F1B-EC50-957CC1C15CF1}"/>
              </a:ext>
            </a:extLst>
          </p:cNvPr>
          <p:cNvGraphicFramePr>
            <a:graphicFrameLocks noGrp="1"/>
          </p:cNvGraphicFramePr>
          <p:nvPr>
            <p:extLst>
              <p:ext uri="{D42A27DB-BD31-4B8C-83A1-F6EECF244321}">
                <p14:modId xmlns:p14="http://schemas.microsoft.com/office/powerpoint/2010/main" val="2458462528"/>
              </p:ext>
            </p:extLst>
          </p:nvPr>
        </p:nvGraphicFramePr>
        <p:xfrm>
          <a:off x="4026465" y="4119880"/>
          <a:ext cx="5707857" cy="396240"/>
        </p:xfrm>
        <a:graphic>
          <a:graphicData uri="http://schemas.openxmlformats.org/drawingml/2006/table">
            <a:tbl>
              <a:tblPr firstRow="1" bandRow="1">
                <a:tableStyleId>{5C22544A-7EE6-4342-B048-85BDC9FD1C3A}</a:tableStyleId>
              </a:tblPr>
              <a:tblGrid>
                <a:gridCol w="1902619">
                  <a:extLst>
                    <a:ext uri="{9D8B030D-6E8A-4147-A177-3AD203B41FA5}">
                      <a16:colId xmlns:a16="http://schemas.microsoft.com/office/drawing/2014/main" val="4123762118"/>
                    </a:ext>
                  </a:extLst>
                </a:gridCol>
                <a:gridCol w="1902619">
                  <a:extLst>
                    <a:ext uri="{9D8B030D-6E8A-4147-A177-3AD203B41FA5}">
                      <a16:colId xmlns:a16="http://schemas.microsoft.com/office/drawing/2014/main" val="3721948261"/>
                    </a:ext>
                  </a:extLst>
                </a:gridCol>
                <a:gridCol w="1902619">
                  <a:extLst>
                    <a:ext uri="{9D8B030D-6E8A-4147-A177-3AD203B41FA5}">
                      <a16:colId xmlns:a16="http://schemas.microsoft.com/office/drawing/2014/main" val="1221075260"/>
                    </a:ext>
                  </a:extLst>
                </a:gridCol>
              </a:tblGrid>
              <a:tr h="370840">
                <a:tc>
                  <a:txBody>
                    <a:bodyPr/>
                    <a:lstStyle/>
                    <a:p>
                      <a:pPr algn="ctr"/>
                      <a:r>
                        <a:rPr lang="es-ES_tradnl" sz="2000" b="0" noProof="0" dirty="0">
                          <a:solidFill>
                            <a:schemeClr val="accent1"/>
                          </a:solidFill>
                          <a:latin typeface="Century Gothic" panose="020B0502020202020204" pitchFamily="34" charset="0"/>
                        </a:rPr>
                        <a:t>40.000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2000" b="0" noProof="0" dirty="0">
                          <a:solidFill>
                            <a:schemeClr val="accent1"/>
                          </a:solidFill>
                          <a:latin typeface="Century Gothic" panose="020B0502020202020204" pitchFamily="34" charset="0"/>
                        </a:rPr>
                        <a:t>30.488</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2000" b="0" noProof="0" dirty="0">
                          <a:solidFill>
                            <a:schemeClr val="accent1"/>
                          </a:solidFill>
                          <a:latin typeface="Century Gothic" panose="020B0502020202020204" pitchFamily="34" charset="0"/>
                        </a:rPr>
                        <a:t>26.657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2743295247"/>
                  </a:ext>
                </a:extLst>
              </a:tr>
            </a:tbl>
          </a:graphicData>
        </a:graphic>
      </p:graphicFrame>
      <p:sp>
        <p:nvSpPr>
          <p:cNvPr id="25" name="Rectángulo 24">
            <a:extLst>
              <a:ext uri="{FF2B5EF4-FFF2-40B4-BE49-F238E27FC236}">
                <a16:creationId xmlns:a16="http://schemas.microsoft.com/office/drawing/2014/main" id="{B54F8FA6-3402-87F9-AE02-CF5734DFEFD7}"/>
              </a:ext>
            </a:extLst>
          </p:cNvPr>
          <p:cNvSpPr/>
          <p:nvPr/>
        </p:nvSpPr>
        <p:spPr>
          <a:xfrm>
            <a:off x="4156360" y="3239731"/>
            <a:ext cx="1685971" cy="2588559"/>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Slide Number Placeholder 3">
            <a:extLst>
              <a:ext uri="{FF2B5EF4-FFF2-40B4-BE49-F238E27FC236}">
                <a16:creationId xmlns:a16="http://schemas.microsoft.com/office/drawing/2014/main" id="{E50B9839-AC3D-B585-8EDC-B3C8C9AD2A30}"/>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39</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2500626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sz="3200" dirty="0">
                <a:latin typeface="Century Gothic" panose="020B0502020202020204" pitchFamily="34" charset="0"/>
              </a:rPr>
              <a:t>Proyectos Mutuamente Excluyentes – CASO 1 </a:t>
            </a:r>
          </a:p>
        </p:txBody>
      </p:sp>
      <p:sp>
        <p:nvSpPr>
          <p:cNvPr id="3" name="Content Placeholder 2"/>
          <p:cNvSpPr>
            <a:spLocks noGrp="1"/>
          </p:cNvSpPr>
          <p:nvPr>
            <p:ph idx="1"/>
          </p:nvPr>
        </p:nvSpPr>
        <p:spPr>
          <a:xfrm>
            <a:off x="259492" y="2095838"/>
            <a:ext cx="10282119" cy="4166523"/>
          </a:xfrm>
        </p:spPr>
        <p:txBody>
          <a:bodyPr>
            <a:noAutofit/>
          </a:bodyPr>
          <a:lstStyle/>
          <a:p>
            <a:pPr marL="0" indent="0" algn="ctr">
              <a:buNone/>
            </a:pPr>
            <a:r>
              <a:rPr lang="es-ES_tradnl" sz="2000" b="1" dirty="0">
                <a:solidFill>
                  <a:srgbClr val="C00000"/>
                </a:solidFill>
                <a:latin typeface="Century Gothic" panose="020B0502020202020204" pitchFamily="34" charset="0"/>
              </a:rPr>
              <a:t>Caso 1: </a:t>
            </a:r>
            <a:r>
              <a:rPr lang="es-ES_tradnl" sz="2000" b="1" dirty="0">
                <a:solidFill>
                  <a:schemeClr val="accent3">
                    <a:lumMod val="75000"/>
                  </a:schemeClr>
                </a:solidFill>
                <a:latin typeface="Century Gothic" panose="020B0502020202020204" pitchFamily="34" charset="0"/>
              </a:rPr>
              <a:t>Comparación de alternativas mutuamente excluyentes con vidas útiles e inversiones iniciales iguales.</a:t>
            </a:r>
          </a:p>
          <a:p>
            <a:pPr marL="0" indent="0" algn="ctr">
              <a:buNone/>
            </a:pPr>
            <a:endParaRPr lang="es-ES_tradnl" sz="2000" b="1" dirty="0">
              <a:solidFill>
                <a:schemeClr val="accent3">
                  <a:lumMod val="50000"/>
                </a:schemeClr>
              </a:solidFill>
              <a:latin typeface="Century Gothic" panose="020B0502020202020204" pitchFamily="34" charset="0"/>
            </a:endParaRPr>
          </a:p>
          <a:p>
            <a:pPr marL="0" indent="0" algn="ctr">
              <a:buNone/>
            </a:pPr>
            <a:r>
              <a:rPr lang="es-ES_tradnl" sz="2000" dirty="0">
                <a:solidFill>
                  <a:schemeClr val="accent1"/>
                </a:solidFill>
                <a:latin typeface="Century Gothic" panose="020B0502020202020204" pitchFamily="34" charset="0"/>
              </a:rPr>
              <a:t>Es el caso más sencillo para estudiar a la hora de realizar la selección de proyectos mutuamente excluyentes.</a:t>
            </a:r>
          </a:p>
          <a:p>
            <a:pPr marL="0" indent="0" algn="ctr">
              <a:buNone/>
            </a:pPr>
            <a:endParaRPr lang="es-ES_tradnl" sz="2000" dirty="0">
              <a:solidFill>
                <a:schemeClr val="accent1"/>
              </a:solidFill>
              <a:latin typeface="Century Gothic" panose="020B0502020202020204" pitchFamily="34" charset="0"/>
            </a:endParaRPr>
          </a:p>
          <a:p>
            <a:pPr marL="0" indent="0" algn="ctr">
              <a:buNone/>
            </a:pPr>
            <a:r>
              <a:rPr lang="es-ES_tradnl" sz="2000" dirty="0">
                <a:solidFill>
                  <a:schemeClr val="accent1"/>
                </a:solidFill>
                <a:latin typeface="Century Gothic" panose="020B0502020202020204" pitchFamily="34" charset="0"/>
              </a:rPr>
              <a:t>En este caso, se pueden usar los siguientes IBF:</a:t>
            </a:r>
          </a:p>
          <a:p>
            <a:pPr marL="0" indent="0" algn="ctr">
              <a:buNone/>
            </a:pPr>
            <a:r>
              <a:rPr lang="es-ES_tradnl" sz="2000" b="1" dirty="0">
                <a:solidFill>
                  <a:srgbClr val="D7A700"/>
                </a:solidFill>
                <a:latin typeface="Century Gothic" panose="020B0502020202020204" pitchFamily="34" charset="0"/>
              </a:rPr>
              <a:t>VPN</a:t>
            </a:r>
          </a:p>
          <a:p>
            <a:pPr marL="0" indent="0" algn="ctr">
              <a:buNone/>
            </a:pPr>
            <a:r>
              <a:rPr lang="es-ES_tradnl" sz="2000" b="1" dirty="0">
                <a:solidFill>
                  <a:srgbClr val="D7A700"/>
                </a:solidFill>
                <a:latin typeface="Century Gothic" panose="020B0502020202020204" pitchFamily="34" charset="0"/>
              </a:rPr>
              <a:t>TVR</a:t>
            </a:r>
          </a:p>
          <a:p>
            <a:pPr marL="0" indent="0" algn="ctr">
              <a:buNone/>
            </a:pPr>
            <a:r>
              <a:rPr lang="es-ES_tradnl" sz="2000" b="1" dirty="0">
                <a:solidFill>
                  <a:srgbClr val="D7A700"/>
                </a:solidFill>
                <a:latin typeface="Century Gothic" panose="020B0502020202020204" pitchFamily="34" charset="0"/>
              </a:rPr>
              <a:t>VAE</a:t>
            </a:r>
          </a:p>
          <a:p>
            <a:pPr marL="0" indent="0" algn="ctr">
              <a:buNone/>
            </a:pPr>
            <a:r>
              <a:rPr lang="es-ES_tradnl" sz="2000" b="1" dirty="0">
                <a:solidFill>
                  <a:srgbClr val="D7A700"/>
                </a:solidFill>
                <a:latin typeface="Century Gothic" panose="020B0502020202020204" pitchFamily="34" charset="0"/>
              </a:rPr>
              <a:t>B/C</a:t>
            </a:r>
          </a:p>
        </p:txBody>
      </p:sp>
      <p:pic>
        <p:nvPicPr>
          <p:cNvPr id="7" name="Imagen 6">
            <a:extLst>
              <a:ext uri="{FF2B5EF4-FFF2-40B4-BE49-F238E27FC236}">
                <a16:creationId xmlns:a16="http://schemas.microsoft.com/office/drawing/2014/main" id="{7CF6D562-6370-0B2A-0E90-2EC1638FB090}"/>
              </a:ext>
            </a:extLst>
          </p:cNvPr>
          <p:cNvPicPr>
            <a:picLocks noChangeAspect="1"/>
          </p:cNvPicPr>
          <p:nvPr/>
        </p:nvPicPr>
        <p:blipFill rotWithShape="1">
          <a:blip r:embed="rId2"/>
          <a:srcRect t="7625" b="8432"/>
          <a:stretch/>
        </p:blipFill>
        <p:spPr>
          <a:xfrm>
            <a:off x="8529262" y="4179099"/>
            <a:ext cx="2555292" cy="1549756"/>
          </a:xfrm>
          <a:prstGeom prst="rect">
            <a:avLst/>
          </a:prstGeom>
        </p:spPr>
      </p:pic>
      <p:sp>
        <p:nvSpPr>
          <p:cNvPr id="5" name="Rectángulo 4">
            <a:extLst>
              <a:ext uri="{FF2B5EF4-FFF2-40B4-BE49-F238E27FC236}">
                <a16:creationId xmlns:a16="http://schemas.microsoft.com/office/drawing/2014/main" id="{C3F58F04-25E9-3373-DF01-DC474DBC6AA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68895558-98AC-B134-4A97-DF45282E27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2E6CC995-813A-ACC7-1741-0D036FF3CF5F}"/>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Slide Number Placeholder 3">
            <a:extLst>
              <a:ext uri="{FF2B5EF4-FFF2-40B4-BE49-F238E27FC236}">
                <a16:creationId xmlns:a16="http://schemas.microsoft.com/office/drawing/2014/main" id="{1056A6CD-E993-FE3C-E12E-05D79E36AB45}"/>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40</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181820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EBF9B-7C0C-1111-B270-28AAA2A5058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274CD57-79C4-4E8D-36E2-CE7B97BC5151}"/>
              </a:ext>
            </a:extLst>
          </p:cNvPr>
          <p:cNvSpPr>
            <a:spLocks noGrp="1"/>
          </p:cNvSpPr>
          <p:nvPr>
            <p:ph type="title"/>
          </p:nvPr>
        </p:nvSpPr>
        <p:spPr/>
        <p:txBody>
          <a:bodyPr>
            <a:normAutofit/>
          </a:bodyPr>
          <a:lstStyle/>
          <a:p>
            <a:r>
              <a:rPr lang="es-CO" sz="3200" dirty="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C25FB62B-18A2-F751-B278-86157EF9385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3770218F-827F-6FAD-BE5C-94863242F69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D92DFCC9-A88A-EDDF-E6AE-EC96159845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7950B313-35F1-9B35-D6C7-CDFEACFA257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2" name="Rectángulo 11">
            <a:extLst>
              <a:ext uri="{FF2B5EF4-FFF2-40B4-BE49-F238E27FC236}">
                <a16:creationId xmlns:a16="http://schemas.microsoft.com/office/drawing/2014/main" id="{1BAC287D-8A16-FDFE-9AC5-585215B8C0B3}"/>
              </a:ext>
            </a:extLst>
          </p:cNvPr>
          <p:cNvSpPr/>
          <p:nvPr/>
        </p:nvSpPr>
        <p:spPr>
          <a:xfrm>
            <a:off x="2806200" y="2772729"/>
            <a:ext cx="8540907" cy="4247317"/>
          </a:xfrm>
          <a:prstGeom prst="rect">
            <a:avLst/>
          </a:prstGeom>
        </p:spPr>
        <p:txBody>
          <a:bodyPr wrap="square" lIns="91440" tIns="45720" rIns="91440" bIns="45720" anchor="t">
            <a:spAutoFit/>
          </a:bodyPr>
          <a:lstStyle/>
          <a:p>
            <a:pPr marL="342900" indent="-342900">
              <a:buClr>
                <a:srgbClr val="48BE7A"/>
              </a:buClr>
              <a:buFontTx/>
              <a:buAutoNum type="arabicPeriod"/>
            </a:pPr>
            <a:r>
              <a:rPr lang="es-CO" dirty="0">
                <a:solidFill>
                  <a:schemeClr val="bg2">
                    <a:lumMod val="90000"/>
                  </a:schemeClr>
                </a:solidFill>
                <a:latin typeface="Century Gothic"/>
                <a:cs typeface="Arial"/>
              </a:rPr>
              <a:t>Introducción y tipos de proyectos.</a:t>
            </a:r>
            <a:endParaRPr lang="es-ES" dirty="0">
              <a:solidFill>
                <a:schemeClr val="bg2">
                  <a:lumMod val="90000"/>
                </a:schemeClr>
              </a:solidFill>
              <a:latin typeface="Century Gothic"/>
              <a:cs typeface="Arial"/>
            </a:endParaRPr>
          </a:p>
          <a:p>
            <a:pPr marL="342900" indent="-342900">
              <a:buClr>
                <a:srgbClr val="2C7C9F"/>
              </a:buClr>
              <a:buFontTx/>
              <a:buAutoNum type="arabicPeriod"/>
            </a:pPr>
            <a:endParaRPr lang="es-CO" dirty="0">
              <a:solidFill>
                <a:schemeClr val="accent1"/>
              </a:solidFill>
              <a:latin typeface="Century Gothic"/>
              <a:cs typeface="Arial"/>
            </a:endParaRPr>
          </a:p>
          <a:p>
            <a:pPr marL="342900" indent="-342900">
              <a:buClr>
                <a:srgbClr val="48BE7A"/>
              </a:buClr>
              <a:buFontTx/>
              <a:buAutoNum type="arabicPeriod"/>
            </a:pPr>
            <a:r>
              <a:rPr lang="es-CO" dirty="0">
                <a:solidFill>
                  <a:schemeClr val="bg2">
                    <a:lumMod val="90000"/>
                  </a:schemeClr>
                </a:solidFill>
                <a:latin typeface="Century Gothic"/>
                <a:cs typeface="Arial"/>
              </a:rPr>
              <a:t>Proyectos Independientes.</a:t>
            </a:r>
          </a:p>
          <a:p>
            <a:pPr marL="342900" indent="-342900">
              <a:buClr>
                <a:srgbClr val="48BE7A"/>
              </a:buClr>
              <a:buFontTx/>
              <a:buAutoNum type="arabicPeriod"/>
            </a:pPr>
            <a:endParaRPr lang="es-CO" dirty="0">
              <a:solidFill>
                <a:schemeClr val="bg2">
                  <a:lumMod val="90000"/>
                </a:schemeClr>
              </a:solidFill>
              <a:latin typeface="Century Gothic"/>
            </a:endParaRPr>
          </a:p>
          <a:p>
            <a:pPr marL="342900" indent="-342900">
              <a:buClr>
                <a:srgbClr val="48BE7A"/>
              </a:buClr>
              <a:buFontTx/>
              <a:buAutoNum type="arabicPeriod"/>
            </a:pPr>
            <a:r>
              <a:rPr lang="es-CO" dirty="0">
                <a:solidFill>
                  <a:schemeClr val="bg2">
                    <a:lumMod val="90000"/>
                  </a:schemeClr>
                </a:solidFill>
                <a:latin typeface="Century Gothic"/>
                <a:cs typeface="Arial"/>
              </a:rPr>
              <a:t>Proyectos Dependientes.</a:t>
            </a:r>
          </a:p>
          <a:p>
            <a:pPr marL="342900" indent="-342900">
              <a:buClr>
                <a:srgbClr val="48BE7A"/>
              </a:buClr>
              <a:buFontTx/>
              <a:buAutoNum type="arabicPeriod"/>
            </a:pPr>
            <a:endParaRPr lang="es-CO" dirty="0">
              <a:solidFill>
                <a:schemeClr val="bg2">
                  <a:lumMod val="90000"/>
                </a:schemeClr>
              </a:solidFill>
              <a:latin typeface="Century Gothic"/>
              <a:cs typeface="Arial"/>
            </a:endParaRPr>
          </a:p>
          <a:p>
            <a:pPr marL="342900" indent="-342900">
              <a:buClr>
                <a:srgbClr val="48BE7A"/>
              </a:buClr>
              <a:buFontTx/>
              <a:buAutoNum type="arabicPeriod"/>
            </a:pPr>
            <a:r>
              <a:rPr lang="es-CO" dirty="0">
                <a:solidFill>
                  <a:schemeClr val="bg2">
                    <a:lumMod val="90000"/>
                  </a:schemeClr>
                </a:solidFill>
                <a:latin typeface="Century Gothic"/>
                <a:cs typeface="Arial"/>
              </a:rPr>
              <a:t>Proyectos Mutuamente Excluyentes.</a:t>
            </a:r>
          </a:p>
          <a:p>
            <a:pPr>
              <a:buClr>
                <a:srgbClr val="48BE7A"/>
              </a:buClr>
            </a:pPr>
            <a:endParaRPr lang="es-CO" dirty="0">
              <a:solidFill>
                <a:schemeClr val="accent1"/>
              </a:solidFill>
              <a:latin typeface="Century Gothic"/>
              <a:cs typeface="Arial"/>
            </a:endParaRPr>
          </a:p>
          <a:p>
            <a:pPr>
              <a:buClr>
                <a:srgbClr val="48BE7A"/>
              </a:buClr>
            </a:pPr>
            <a:r>
              <a:rPr lang="es-CO" dirty="0">
                <a:solidFill>
                  <a:schemeClr val="accent1"/>
                </a:solidFill>
                <a:latin typeface="Century Gothic"/>
                <a:cs typeface="Arial"/>
              </a:rPr>
              <a:t>	</a:t>
            </a:r>
            <a:r>
              <a:rPr lang="es-CO" dirty="0">
                <a:solidFill>
                  <a:schemeClr val="accent3">
                    <a:lumMod val="75000"/>
                  </a:schemeClr>
                </a:solidFill>
                <a:latin typeface="Century Gothic"/>
                <a:cs typeface="Arial"/>
              </a:rPr>
              <a:t>4.1. </a:t>
            </a:r>
            <a:r>
              <a:rPr lang="es-CO" dirty="0">
                <a:solidFill>
                  <a:schemeClr val="bg2">
                    <a:lumMod val="90000"/>
                  </a:schemeClr>
                </a:solidFill>
                <a:latin typeface="Century Gothic"/>
                <a:cs typeface="Arial"/>
              </a:rPr>
              <a:t>Caso I: misma vida útil, misma inversión inicial.</a:t>
            </a:r>
            <a:endParaRPr lang="es-CO" dirty="0">
              <a:solidFill>
                <a:schemeClr val="bg2">
                  <a:lumMod val="90000"/>
                </a:schemeClr>
              </a:solidFill>
              <a:latin typeface="Century Gothic" panose="020B0502020202020204" pitchFamily="34" charset="0"/>
              <a:cs typeface="Arial"/>
            </a:endParaRPr>
          </a:p>
          <a:p>
            <a:pPr marL="342900" indent="-342900">
              <a:buClr>
                <a:srgbClr val="48BE7A"/>
              </a:buClr>
              <a:buFontTx/>
              <a:buAutoNum type="arabicPeriod"/>
            </a:pPr>
            <a:endParaRPr lang="es-CO" dirty="0">
              <a:solidFill>
                <a:schemeClr val="accent1"/>
              </a:solidFill>
              <a:latin typeface="Century Gothic"/>
              <a:cs typeface="Arial"/>
            </a:endParaRPr>
          </a:p>
          <a:p>
            <a:pPr marL="342900" indent="-342900">
              <a:buClr>
                <a:srgbClr val="48BE7A"/>
              </a:buClr>
              <a:buFont typeface="+mj-lt"/>
              <a:buAutoNum type="arabicPeriod" startAt="5"/>
            </a:pPr>
            <a:r>
              <a:rPr lang="es-CO" dirty="0">
                <a:solidFill>
                  <a:schemeClr val="accent1"/>
                </a:solidFill>
                <a:latin typeface="Century Gothic"/>
                <a:cs typeface="Arial"/>
              </a:rPr>
              <a:t>Ejercicios de Práctica.</a:t>
            </a: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startAt="5"/>
            </a:pPr>
            <a:endParaRPr lang="es-CO" dirty="0">
              <a:solidFill>
                <a:schemeClr val="accent1"/>
              </a:solidFill>
              <a:latin typeface="Century Gothic" panose="020B0502020202020204" pitchFamily="34" charset="0"/>
              <a:cs typeface="Arial"/>
            </a:endParaRPr>
          </a:p>
          <a:p>
            <a:pPr>
              <a:buClr>
                <a:srgbClr val="48BE7A"/>
              </a:buClr>
            </a:pPr>
            <a:r>
              <a:rPr lang="es-CO" dirty="0">
                <a:solidFill>
                  <a:schemeClr val="accent1"/>
                </a:solidFill>
                <a:latin typeface="Century Gothic"/>
                <a:cs typeface="Arial"/>
              </a:rPr>
              <a:t>	</a:t>
            </a: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a:pPr>
            <a:endParaRPr lang="es-CO" dirty="0">
              <a:solidFill>
                <a:schemeClr val="accent1"/>
              </a:solidFill>
              <a:latin typeface="Century Gothic" panose="020B0502020202020204" pitchFamily="34" charset="0"/>
              <a:cs typeface="Arial"/>
            </a:endParaRPr>
          </a:p>
          <a:p>
            <a:pPr>
              <a:buClr>
                <a:schemeClr val="accent3">
                  <a:lumMod val="75000"/>
                </a:schemeClr>
              </a:buClr>
            </a:pPr>
            <a:endParaRPr lang="es-CO" dirty="0">
              <a:solidFill>
                <a:schemeClr val="accent1"/>
              </a:solidFill>
              <a:latin typeface="Century Gothic" panose="020B0502020202020204" pitchFamily="34" charset="0"/>
            </a:endParaRPr>
          </a:p>
        </p:txBody>
      </p:sp>
      <p:sp>
        <p:nvSpPr>
          <p:cNvPr id="3" name="Slide Number Placeholder 3">
            <a:extLst>
              <a:ext uri="{FF2B5EF4-FFF2-40B4-BE49-F238E27FC236}">
                <a16:creationId xmlns:a16="http://schemas.microsoft.com/office/drawing/2014/main" id="{70D90040-8978-6D6D-A5ED-8CD98F9F3DAF}"/>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41</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425578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1000"/>
                                        <p:tgtEl>
                                          <p:spTgt spid="12"/>
                                        </p:tgtEl>
                                      </p:cBhvr>
                                    </p:animEffect>
                                    <p:anim calcmode="lin" valueType="num">
                                      <p:cBhvr>
                                        <p:cTn id="10" dur="1000" fill="hold"/>
                                        <p:tgtEl>
                                          <p:spTgt spid="12"/>
                                        </p:tgtEl>
                                        <p:attrNameLst>
                                          <p:attrName>ppt_x</p:attrName>
                                        </p:attrNameLst>
                                      </p:cBhvr>
                                      <p:tavLst>
                                        <p:tav tm="0">
                                          <p:val>
                                            <p:strVal val="#ppt_x"/>
                                          </p:val>
                                        </p:tav>
                                        <p:tav tm="100000">
                                          <p:val>
                                            <p:strVal val="#ppt_x"/>
                                          </p:val>
                                        </p:tav>
                                      </p:tavLst>
                                    </p:anim>
                                    <p:anim calcmode="lin" valueType="num">
                                      <p:cBhvr>
                                        <p:cTn id="1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86AC9-37DB-B0EA-06B1-21AAF6316B2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328CE01-6A07-579A-6E79-30A97B62D535}"/>
              </a:ext>
            </a:extLst>
          </p:cNvPr>
          <p:cNvSpPr>
            <a:spLocks noGrp="1"/>
          </p:cNvSpPr>
          <p:nvPr>
            <p:ph type="title"/>
          </p:nvPr>
        </p:nvSpPr>
        <p:spPr/>
        <p:txBody>
          <a:bodyPr>
            <a:normAutofit/>
          </a:bodyPr>
          <a:lstStyle/>
          <a:p>
            <a:r>
              <a:rPr lang="es-ES" sz="3200" dirty="0">
                <a:latin typeface="Century Gothic" panose="020B0502020202020204" pitchFamily="34" charset="0"/>
              </a:rPr>
              <a:t>PREGUNTA 1 (3 MINUTOS)</a:t>
            </a:r>
          </a:p>
        </p:txBody>
      </p:sp>
      <p:pic>
        <p:nvPicPr>
          <p:cNvPr id="13" name="Imagen 12">
            <a:extLst>
              <a:ext uri="{FF2B5EF4-FFF2-40B4-BE49-F238E27FC236}">
                <a16:creationId xmlns:a16="http://schemas.microsoft.com/office/drawing/2014/main" id="{7C6FEFEF-F6D3-1B5C-36E1-E468CD91F0EA}"/>
              </a:ext>
            </a:extLst>
          </p:cNvPr>
          <p:cNvPicPr>
            <a:picLocks noChangeAspect="1"/>
          </p:cNvPicPr>
          <p:nvPr/>
        </p:nvPicPr>
        <p:blipFill>
          <a:blip r:embed="rId2"/>
          <a:stretch>
            <a:fillRect/>
          </a:stretch>
        </p:blipFill>
        <p:spPr>
          <a:xfrm>
            <a:off x="1761385" y="1864678"/>
            <a:ext cx="7514628" cy="4749951"/>
          </a:xfrm>
          <a:prstGeom prst="rect">
            <a:avLst/>
          </a:prstGeom>
        </p:spPr>
      </p:pic>
      <p:sp>
        <p:nvSpPr>
          <p:cNvPr id="3" name="Rectángulo 2">
            <a:extLst>
              <a:ext uri="{FF2B5EF4-FFF2-40B4-BE49-F238E27FC236}">
                <a16:creationId xmlns:a16="http://schemas.microsoft.com/office/drawing/2014/main" id="{7117C611-9141-DE6C-5F69-236A8C5AD0B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2BCFCF76-BF6A-4A76-2C3E-D9FB1B0DAC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C47BD74A-DD28-08A3-38CD-5E33FF52D8EB}"/>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pic>
        <p:nvPicPr>
          <p:cNvPr id="7" name="Gráfico 6" descr="Badge Tick1 con relleno sólido">
            <a:extLst>
              <a:ext uri="{FF2B5EF4-FFF2-40B4-BE49-F238E27FC236}">
                <a16:creationId xmlns:a16="http://schemas.microsoft.com/office/drawing/2014/main" id="{8EDFA611-9EB6-F560-8CBA-C1C0564D045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627047" y="6038415"/>
            <a:ext cx="253604" cy="253604"/>
          </a:xfrm>
          <a:prstGeom prst="rect">
            <a:avLst/>
          </a:prstGeom>
        </p:spPr>
      </p:pic>
      <p:pic>
        <p:nvPicPr>
          <p:cNvPr id="17" name="Gráfico 16" descr="Badge Tick1 con relleno sólido">
            <a:extLst>
              <a:ext uri="{FF2B5EF4-FFF2-40B4-BE49-F238E27FC236}">
                <a16:creationId xmlns:a16="http://schemas.microsoft.com/office/drawing/2014/main" id="{DCA76419-E949-7082-F77D-BC40AC0D5CC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627047" y="6292019"/>
            <a:ext cx="253604" cy="253604"/>
          </a:xfrm>
          <a:prstGeom prst="rect">
            <a:avLst/>
          </a:prstGeom>
        </p:spPr>
      </p:pic>
      <p:pic>
        <p:nvPicPr>
          <p:cNvPr id="18" name="Picture 2" descr="Aprender a resolver problemas | PressCoaching">
            <a:extLst>
              <a:ext uri="{FF2B5EF4-FFF2-40B4-BE49-F238E27FC236}">
                <a16:creationId xmlns:a16="http://schemas.microsoft.com/office/drawing/2014/main" id="{68B4CDC3-41FD-71FD-D1BE-BDF100E427C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29181" y="1989939"/>
            <a:ext cx="3207142" cy="1803748"/>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1F644244-6073-0316-6962-CD393E5BC3C5}"/>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42</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2443170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3224A-0523-F384-2329-43A4DAB90A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FB7C81-2C4A-4F3B-8C3B-A864B464AEC9}"/>
              </a:ext>
            </a:extLst>
          </p:cNvPr>
          <p:cNvSpPr>
            <a:spLocks noGrp="1"/>
          </p:cNvSpPr>
          <p:nvPr>
            <p:ph type="title"/>
          </p:nvPr>
        </p:nvSpPr>
        <p:spPr/>
        <p:txBody>
          <a:bodyPr>
            <a:normAutofit/>
          </a:bodyPr>
          <a:lstStyle/>
          <a:p>
            <a:r>
              <a:rPr lang="es-ES_tradnl" sz="3200" dirty="0">
                <a:latin typeface="Century Gothic" panose="020B0502020202020204" pitchFamily="34" charset="0"/>
              </a:rPr>
              <a:t>PREGUNTA 2 (4 MINUTOS)</a:t>
            </a:r>
          </a:p>
        </p:txBody>
      </p:sp>
      <p:pic>
        <p:nvPicPr>
          <p:cNvPr id="5" name="Imagen 4">
            <a:extLst>
              <a:ext uri="{FF2B5EF4-FFF2-40B4-BE49-F238E27FC236}">
                <a16:creationId xmlns:a16="http://schemas.microsoft.com/office/drawing/2014/main" id="{7082142B-BC79-7C22-CAA7-9AAD6BD03858}"/>
              </a:ext>
            </a:extLst>
          </p:cNvPr>
          <p:cNvPicPr>
            <a:picLocks noChangeAspect="1"/>
          </p:cNvPicPr>
          <p:nvPr/>
        </p:nvPicPr>
        <p:blipFill>
          <a:blip r:embed="rId2"/>
          <a:stretch>
            <a:fillRect/>
          </a:stretch>
        </p:blipFill>
        <p:spPr>
          <a:xfrm>
            <a:off x="1877905" y="1989939"/>
            <a:ext cx="6057900" cy="4635500"/>
          </a:xfrm>
          <a:prstGeom prst="rect">
            <a:avLst/>
          </a:prstGeom>
        </p:spPr>
      </p:pic>
      <p:sp>
        <p:nvSpPr>
          <p:cNvPr id="3" name="Rectángulo 2">
            <a:extLst>
              <a:ext uri="{FF2B5EF4-FFF2-40B4-BE49-F238E27FC236}">
                <a16:creationId xmlns:a16="http://schemas.microsoft.com/office/drawing/2014/main" id="{A7943A14-3214-5491-2915-7C81C656B57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A9308BA5-3427-E3DF-03C9-ABEA9C0CB2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A2D04FFA-B663-7044-A63A-AC83B369E21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pic>
        <p:nvPicPr>
          <p:cNvPr id="8" name="Gráfico 7" descr="Badge Tick1 con relleno sólido">
            <a:extLst>
              <a:ext uri="{FF2B5EF4-FFF2-40B4-BE49-F238E27FC236}">
                <a16:creationId xmlns:a16="http://schemas.microsoft.com/office/drawing/2014/main" id="{7C3C5CE5-9D57-81F8-7A98-44B88AE796C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692052" y="6138699"/>
            <a:ext cx="253604" cy="253604"/>
          </a:xfrm>
          <a:prstGeom prst="rect">
            <a:avLst/>
          </a:prstGeom>
        </p:spPr>
      </p:pic>
      <p:pic>
        <p:nvPicPr>
          <p:cNvPr id="13" name="Picture 2" descr="Tendencias ineficaces a la hora de resolver problemas">
            <a:extLst>
              <a:ext uri="{FF2B5EF4-FFF2-40B4-BE49-F238E27FC236}">
                <a16:creationId xmlns:a16="http://schemas.microsoft.com/office/drawing/2014/main" id="{161717B5-1E6E-E26F-7424-DC7E46E06D7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45306" y="2909200"/>
            <a:ext cx="2891043" cy="1754001"/>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3E945DBB-8564-B179-A367-76F353BC5784}"/>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Century Gothic" panose="020B0502020202020204" pitchFamily="34" charset="0"/>
              </a:rPr>
              <a:t>43</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030834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79A59-04F5-3B80-C41F-881F9797005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D3840E3-A533-EB02-5FB1-BC6047A2B4CB}"/>
              </a:ext>
            </a:extLst>
          </p:cNvPr>
          <p:cNvSpPr>
            <a:spLocks noGrp="1"/>
          </p:cNvSpPr>
          <p:nvPr>
            <p:ph type="ctrTitle"/>
          </p:nvPr>
        </p:nvSpPr>
        <p:spPr>
          <a:xfrm>
            <a:off x="470868" y="1814732"/>
            <a:ext cx="10687556" cy="826833"/>
          </a:xfrm>
        </p:spPr>
        <p:txBody>
          <a:bodyPr>
            <a:noAutofit/>
          </a:bodyPr>
          <a:lstStyle/>
          <a:p>
            <a:r>
              <a:rPr lang="es-CO" sz="3000" dirty="0">
                <a:latin typeface="Century Gothic"/>
              </a:rPr>
              <a:t>COMPARACIÓN Y SELECCIÓN DE PROYECTOS (</a:t>
            </a:r>
            <a:r>
              <a:rPr lang="es-CO" sz="3000" dirty="0">
                <a:solidFill>
                  <a:srgbClr val="D7A700"/>
                </a:solidFill>
                <a:latin typeface="Century Gothic"/>
              </a:rPr>
              <a:t>PARTE I</a:t>
            </a:r>
            <a:r>
              <a:rPr lang="es-CO" sz="3000" dirty="0">
                <a:latin typeface="Century Gothic"/>
              </a:rPr>
              <a:t>)</a:t>
            </a:r>
            <a:endParaRPr lang="es-CO" sz="3000" dirty="0">
              <a:latin typeface="Century Gothic" panose="020B0502020202020204" pitchFamily="34" charset="0"/>
            </a:endParaRPr>
          </a:p>
        </p:txBody>
      </p:sp>
      <p:sp>
        <p:nvSpPr>
          <p:cNvPr id="8" name="Rectángulo 7">
            <a:extLst>
              <a:ext uri="{FF2B5EF4-FFF2-40B4-BE49-F238E27FC236}">
                <a16:creationId xmlns:a16="http://schemas.microsoft.com/office/drawing/2014/main" id="{E33566FD-36BA-E245-7994-38C5CA390C0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3E5965B1-A690-D783-7E0E-F0F39DB0FF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2646EA66-FD2D-F0AF-B985-5CE8AFCDA1B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34957" y="3342889"/>
            <a:ext cx="2695807" cy="2695807"/>
          </a:xfrm>
          <a:prstGeom prst="rect">
            <a:avLst/>
          </a:prstGeom>
        </p:spPr>
      </p:pic>
      <p:sp>
        <p:nvSpPr>
          <p:cNvPr id="3" name="Rectángulo 2">
            <a:extLst>
              <a:ext uri="{FF2B5EF4-FFF2-40B4-BE49-F238E27FC236}">
                <a16:creationId xmlns:a16="http://schemas.microsoft.com/office/drawing/2014/main" id="{6F2DCEAC-C7C8-9AB7-A3A2-480B8D7762C4}"/>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5" name="CuadroTexto 4">
            <a:extLst>
              <a:ext uri="{FF2B5EF4-FFF2-40B4-BE49-F238E27FC236}">
                <a16:creationId xmlns:a16="http://schemas.microsoft.com/office/drawing/2014/main" id="{ADEFB415-9918-0CF3-9EED-BC899E9F523A}"/>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dirty="0">
                <a:solidFill>
                  <a:schemeClr val="bg1"/>
                </a:solidFill>
                <a:latin typeface="Century Gothic"/>
              </a:rPr>
              <a:t>													</a:t>
            </a:r>
            <a:endParaRPr lang="es-CO" sz="2000" b="1" u="sng" dirty="0">
              <a:solidFill>
                <a:schemeClr val="bg1"/>
              </a:solidFill>
              <a:latin typeface="Century Gothic"/>
            </a:endParaRPr>
          </a:p>
          <a:p>
            <a:endParaRPr lang="es-CO" sz="1000" b="1" dirty="0">
              <a:solidFill>
                <a:schemeClr val="bg1"/>
              </a:solidFill>
              <a:latin typeface="Century Gothic" panose="020B0502020202020204" pitchFamily="34" charset="0"/>
            </a:endParaRPr>
          </a:p>
          <a:p>
            <a:r>
              <a:rPr lang="es-CO" sz="2000" b="1" dirty="0">
                <a:solidFill>
                  <a:schemeClr val="bg1"/>
                </a:solidFill>
                <a:latin typeface="Century Gothic"/>
              </a:rPr>
              <a:t>DEPARTAMENTO DE INGENIERÍA INDUSTRIAL</a:t>
            </a:r>
          </a:p>
          <a:p>
            <a:r>
              <a:rPr lang="es-CO" sz="2000" b="1" dirty="0">
                <a:solidFill>
                  <a:schemeClr val="bg1"/>
                </a:solidFill>
                <a:latin typeface="Century Gothic"/>
              </a:rPr>
              <a:t>FACULTAD DE INGENIERÍA</a:t>
            </a:r>
          </a:p>
          <a:p>
            <a:r>
              <a:rPr lang="es-CO" sz="1000" b="1" u="sng" dirty="0">
                <a:solidFill>
                  <a:schemeClr val="bg1"/>
                </a:solidFill>
                <a:latin typeface="Century Gothic"/>
              </a:rPr>
              <a:t>													</a:t>
            </a:r>
          </a:p>
          <a:p>
            <a:endParaRPr lang="es-CO" sz="2000" b="1" dirty="0">
              <a:solidFill>
                <a:schemeClr val="bg1"/>
              </a:solidFill>
              <a:latin typeface="Century Gothic" panose="020B0502020202020204" pitchFamily="34" charset="0"/>
            </a:endParaRPr>
          </a:p>
          <a:p>
            <a:r>
              <a:rPr lang="es-CO" sz="2000" b="1" dirty="0">
                <a:solidFill>
                  <a:schemeClr val="bg1"/>
                </a:solidFill>
                <a:latin typeface="Century Gothic"/>
              </a:rPr>
              <a:t>Curso       </a:t>
            </a:r>
            <a:r>
              <a:rPr lang="es-CO" sz="2000" dirty="0">
                <a:solidFill>
                  <a:schemeClr val="bg1"/>
                </a:solidFill>
                <a:latin typeface="Century Gothic"/>
              </a:rPr>
              <a:t>ANÁLISIS DE DECISIONES DE INVERSIÓN</a:t>
            </a:r>
          </a:p>
          <a:p>
            <a:r>
              <a:rPr lang="es-CO" sz="2000" b="1" dirty="0">
                <a:solidFill>
                  <a:schemeClr val="bg1"/>
                </a:solidFill>
                <a:latin typeface="Century Gothic"/>
              </a:rPr>
              <a:t>Correo     </a:t>
            </a:r>
            <a:r>
              <a:rPr lang="es-CO" sz="2000" dirty="0">
                <a:solidFill>
                  <a:schemeClr val="bg1"/>
                </a:solidFill>
                <a:latin typeface="Century Gothic"/>
              </a:rPr>
              <a:t>cursoanadec@uniandes.edu.co</a:t>
            </a:r>
          </a:p>
          <a:p>
            <a:endParaRPr lang="es-CO" sz="2000" b="1" dirty="0">
              <a:solidFill>
                <a:schemeClr val="bg1"/>
              </a:solidFill>
              <a:latin typeface="Century Gothic" panose="020B0502020202020204" pitchFamily="34" charset="0"/>
            </a:endParaRPr>
          </a:p>
        </p:txBody>
      </p:sp>
    </p:spTree>
    <p:extLst>
      <p:ext uri="{BB962C8B-B14F-4D97-AF65-F5344CB8AC3E}">
        <p14:creationId xmlns:p14="http://schemas.microsoft.com/office/powerpoint/2010/main" val="2000586347"/>
      </p:ext>
    </p:extLst>
  </p:cSld>
  <p:clrMapOvr>
    <a:masterClrMapping/>
  </p:clrMapOvr>
</p:sld>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TotalTime>2553</TotalTime>
  <Words>2845</Words>
  <Application>Microsoft Macintosh PowerPoint</Application>
  <PresentationFormat>Widescreen</PresentationFormat>
  <Paragraphs>797</Paragraphs>
  <Slides>44</Slides>
  <Notes>13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44</vt:i4>
      </vt:variant>
    </vt:vector>
  </HeadingPairs>
  <TitlesOfParts>
    <vt:vector size="53" baseType="lpstr">
      <vt:lpstr>Arial</vt:lpstr>
      <vt:lpstr>Calibri</vt:lpstr>
      <vt:lpstr>Cambria Math</vt:lpstr>
      <vt:lpstr>Century Gothic</vt:lpstr>
      <vt:lpstr>Courier New</vt:lpstr>
      <vt:lpstr>Gill Sans MT</vt:lpstr>
      <vt:lpstr>Wingdings</vt:lpstr>
      <vt:lpstr>Wingdings 2</vt:lpstr>
      <vt:lpstr>Dividendo</vt:lpstr>
      <vt:lpstr>COMPARACIÓN Y SELECCIÓN DE PROYECTOS (PARTE I)</vt:lpstr>
      <vt:lpstr>AGENDA PROPUESTA</vt:lpstr>
      <vt:lpstr>AGENDA PROPUESTA</vt:lpstr>
      <vt:lpstr>INTRODUCCIÓN Y TIPOS DE PROYECTOS</vt:lpstr>
      <vt:lpstr>INTRODUCCIÓN Y TIPOS DE PROYECTOS</vt:lpstr>
      <vt:lpstr>INTRODUCCIÓN Y TIPOS DE PROYECTOS</vt:lpstr>
      <vt:lpstr>AGENDA PROPUESTA</vt:lpstr>
      <vt:lpstr>Proyectos Independientes</vt:lpstr>
      <vt:lpstr>Proyectos Independientes</vt:lpstr>
      <vt:lpstr>Proyectos Independientes</vt:lpstr>
      <vt:lpstr>Proyectos Independientes</vt:lpstr>
      <vt:lpstr>Proyectos Independientes</vt:lpstr>
      <vt:lpstr>AGENDA PROPUESTA</vt:lpstr>
      <vt:lpstr>Proyectos dependientes</vt:lpstr>
      <vt:lpstr>Proyectos dependientes</vt:lpstr>
      <vt:lpstr>Proyectos dependientes</vt:lpstr>
      <vt:lpstr>Proyectos dependientes</vt:lpstr>
      <vt:lpstr>Proyectos dependientes</vt:lpstr>
      <vt:lpstr>Proyectos dependientes</vt:lpstr>
      <vt:lpstr>Proyectos dependientes</vt:lpstr>
      <vt:lpstr>AGENDA PROPUESTA</vt:lpstr>
      <vt:lpstr>PROYECTOS Mutuamente Excluyentes</vt:lpstr>
      <vt:lpstr>PROYECTOS Mutuamente Excluyentes</vt:lpstr>
      <vt:lpstr>PROYECTOS Mutuamente Excluyentes</vt:lpstr>
      <vt:lpstr>Proyectos Mutuamente Excluyentes</vt:lpstr>
      <vt:lpstr>AGENDA PROPUESTA</vt:lpstr>
      <vt:lpstr>excel</vt:lpstr>
      <vt:lpstr>Proyectos Mutuamente Excluyentes – CASO 1 </vt:lpstr>
      <vt:lpstr>Proyectos Mutuamente Excluyentes – CASO 1 </vt:lpstr>
      <vt:lpstr>Proyectos Mutuamente Excluyentes – CASO 1 </vt:lpstr>
      <vt:lpstr>Proyectos Mutuamente Excluyentes – CASO 1 </vt:lpstr>
      <vt:lpstr>Proyectos Mutuamente Excluyentes – CASO 1 </vt:lpstr>
      <vt:lpstr>Proyectos Mutuamente Excluyentes – CASO 1 </vt:lpstr>
      <vt:lpstr>Proyectos Mutuamente Excluyentes – CASO 1 </vt:lpstr>
      <vt:lpstr>Proyectos Mutuamente Excluyentes – CASO 1 </vt:lpstr>
      <vt:lpstr>Proyectos Mutuamente Excluyentes – CASO 1 </vt:lpstr>
      <vt:lpstr>Proyectos Mutuamente Excluyentes – CASO 1 </vt:lpstr>
      <vt:lpstr>Proyectos Mutuamente Excluyentes – CASO 1 </vt:lpstr>
      <vt:lpstr>Proyectos Mutuamente Excluyentes – CASO 1 </vt:lpstr>
      <vt:lpstr>Proyectos Mutuamente Excluyentes – CASO 1 </vt:lpstr>
      <vt:lpstr>AGENDA PROPUESTA</vt:lpstr>
      <vt:lpstr>PREGUNTA 1 (3 MINUTOS)</vt:lpstr>
      <vt:lpstr>PREGUNTA 2 (4 MINUTOS)</vt:lpstr>
      <vt:lpstr>COMPARACIÓN Y SELECCIÓN DE PROYECTOS (PARTE 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DESDE UNA ÓPTICA ECONOMÉTRICA DE LA PREVISIBILIDAD DE LAS VARIACIONES DEL TRÁFICO DEL CORREDOR BOGOTÁ – PUERTO GAITÁN TENIENDO EN CUENTA EL COMPORTAMIENTO HISTÓRICO DEL TRÁFICO Y DEL PRECIO DEL PETRÓLEO WTI</dc:title>
  <dc:creator>Sebastian Joseph Sanchez Oyola</dc:creator>
  <cp:lastModifiedBy>Brigitte Castañeda</cp:lastModifiedBy>
  <cp:revision>59</cp:revision>
  <dcterms:created xsi:type="dcterms:W3CDTF">2019-06-20T04:25:04Z</dcterms:created>
  <dcterms:modified xsi:type="dcterms:W3CDTF">2026-03-24T14:51:36Z</dcterms:modified>
</cp:coreProperties>
</file>