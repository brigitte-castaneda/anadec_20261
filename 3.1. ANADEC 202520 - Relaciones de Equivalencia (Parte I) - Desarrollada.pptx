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4"/>
  </p:notesMasterIdLst>
  <p:handoutMasterIdLst>
    <p:handoutMasterId r:id="rId45"/>
  </p:handoutMasterIdLst>
  <p:sldIdLst>
    <p:sldId id="437" r:id="rId2"/>
    <p:sldId id="436" r:id="rId3"/>
    <p:sldId id="435" r:id="rId4"/>
    <p:sldId id="438" r:id="rId5"/>
    <p:sldId id="433" r:id="rId6"/>
    <p:sldId id="434" r:id="rId7"/>
    <p:sldId id="600" r:id="rId8"/>
    <p:sldId id="398" r:id="rId9"/>
    <p:sldId id="354" r:id="rId10"/>
    <p:sldId id="425" r:id="rId11"/>
    <p:sldId id="257" r:id="rId12"/>
    <p:sldId id="258" r:id="rId13"/>
    <p:sldId id="259" r:id="rId14"/>
    <p:sldId id="595" r:id="rId15"/>
    <p:sldId id="260" r:id="rId16"/>
    <p:sldId id="261" r:id="rId17"/>
    <p:sldId id="584" r:id="rId18"/>
    <p:sldId id="263" r:id="rId19"/>
    <p:sldId id="264" r:id="rId20"/>
    <p:sldId id="283" r:id="rId21"/>
    <p:sldId id="284" r:id="rId22"/>
    <p:sldId id="359" r:id="rId23"/>
    <p:sldId id="285" r:id="rId24"/>
    <p:sldId id="286" r:id="rId25"/>
    <p:sldId id="265" r:id="rId26"/>
    <p:sldId id="266" r:id="rId27"/>
    <p:sldId id="287" r:id="rId28"/>
    <p:sldId id="288" r:id="rId29"/>
    <p:sldId id="396" r:id="rId30"/>
    <p:sldId id="378" r:id="rId31"/>
    <p:sldId id="379" r:id="rId32"/>
    <p:sldId id="361" r:id="rId33"/>
    <p:sldId id="362" r:id="rId34"/>
    <p:sldId id="588" r:id="rId35"/>
    <p:sldId id="590" r:id="rId36"/>
    <p:sldId id="594" r:id="rId37"/>
    <p:sldId id="593" r:id="rId38"/>
    <p:sldId id="591" r:id="rId39"/>
    <p:sldId id="596" r:id="rId40"/>
    <p:sldId id="598" r:id="rId41"/>
    <p:sldId id="599" r:id="rId42"/>
    <p:sldId id="589"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48BE7A"/>
    <a:srgbClr val="002F90"/>
    <a:srgbClr val="6666FF"/>
    <a:srgbClr val="FF6600"/>
    <a:srgbClr val="93FFFF"/>
    <a:srgbClr val="FFF4E6"/>
    <a:srgbClr val="DFFFFF"/>
    <a:srgbClr val="88D5A9"/>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2FD00-2F47-B74C-9F49-96590CFE1C26}" v="1" dt="2026-02-05T14:27:54.12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61" autoAdjust="0"/>
    <p:restoredTop sz="94626"/>
  </p:normalViewPr>
  <p:slideViewPr>
    <p:cSldViewPr snapToGrid="0">
      <p:cViewPr varScale="1">
        <p:scale>
          <a:sx n="116" d="100"/>
          <a:sy n="116" d="100"/>
        </p:scale>
        <p:origin x="111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5/02/26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5/02/26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https://</a:t>
            </a:r>
            <a:r>
              <a:rPr lang="es-ES_tradnl" dirty="0" err="1"/>
              <a:t>docs.google.com</a:t>
            </a:r>
            <a:r>
              <a:rPr lang="es-ES_tradnl" dirty="0"/>
              <a:t>/</a:t>
            </a:r>
            <a:r>
              <a:rPr lang="es-ES_tradnl" dirty="0" err="1"/>
              <a:t>spreadsheets</a:t>
            </a:r>
            <a:r>
              <a:rPr lang="es-ES_tradnl" dirty="0"/>
              <a:t>/d/1B465VMJC3aQyovJ58wA1vTbQRuscmWDZmCORWNJvhxM/</a:t>
            </a:r>
            <a:r>
              <a:rPr lang="es-ES_tradnl" dirty="0" err="1"/>
              <a:t>edit?usp</a:t>
            </a:r>
            <a:r>
              <a:rPr lang="es-ES_tradnl" dirty="0"/>
              <a:t>=</a:t>
            </a:r>
            <a:r>
              <a:rPr lang="es-ES_tradnl" dirty="0" err="1"/>
              <a:t>sharing</a:t>
            </a:r>
            <a:endParaRPr lang="es-ES_tradnl" dirty="0"/>
          </a:p>
          <a:p>
            <a:endParaRPr lang="es-ES_tradnl" dirty="0"/>
          </a:p>
        </p:txBody>
      </p:sp>
    </p:spTree>
    <p:extLst>
      <p:ext uri="{BB962C8B-B14F-4D97-AF65-F5344CB8AC3E}">
        <p14:creationId xmlns:p14="http://schemas.microsoft.com/office/powerpoint/2010/main" val="2632960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692708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11</a:t>
            </a:fld>
            <a:endParaRPr lang="en-US"/>
          </a:p>
        </p:txBody>
      </p:sp>
    </p:spTree>
    <p:extLst>
      <p:ext uri="{BB962C8B-B14F-4D97-AF65-F5344CB8AC3E}">
        <p14:creationId xmlns:p14="http://schemas.microsoft.com/office/powerpoint/2010/main" val="4032681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016643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3546958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975540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39040-7975-D83A-DA9C-6C0A92E91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45608-0651-6C7F-E1EE-FC440E88E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8A3FA-C855-7608-8D3B-A45287C97B3E}"/>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68778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0A4C-CA84-E719-07BE-5C6A00917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BAFC9-1560-E233-5BCA-EFFFA7A00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18298-B745-CB5F-8469-281743FFD910}"/>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174054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8E9D-017E-9ECD-5286-8E838B676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5CFCD-BE3A-6D18-3E1A-BACF9D86B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B50DD-F6E8-5AC5-B2AF-B14930661A6C}"/>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21445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8A7D3-5037-353D-74B2-406D9D97A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61610-DED2-24C7-6263-AC97E65BF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BE6E7-7FC3-C859-C24F-4CE40B42FB2E}"/>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011263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B8399-8DDC-7522-66AE-A27EF5A36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8B0A4-1D37-DF5B-56CD-6D9874450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F5CCA-61AE-544F-3D5E-484905B7A255}"/>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828940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02AC-4E6B-E5A6-098C-C58D9B237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3881B-EF4E-6798-22CB-054A8934D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FE129-300D-040C-2EF0-CC1F012E3822}"/>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834132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3BFD-64FC-4DB3-7970-563A3F4C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7E729-57E5-7DFF-718F-E5F28D9B2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93A1D-D515-2E44-16D5-0261B538D77A}"/>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6124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346D2-63C4-5969-6BF4-748077D748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75AE18-46CE-8A29-7248-4BC6CFC2E1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1523FE-4C10-3028-D896-6BBC6CAC9DE0}"/>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303026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2/5/26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2/5/26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2/5/26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2/5/26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2/5/26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228D-B948-FB24-3A64-844AD2CF2D55}"/>
              </a:ext>
            </a:extLst>
          </p:cNvPr>
          <p:cNvSpPr>
            <a:spLocks noGrp="1"/>
          </p:cNvSpPr>
          <p:nvPr>
            <p:ph type="title"/>
          </p:nvPr>
        </p:nvSpPr>
        <p:spPr/>
        <p:txBody>
          <a:bodyPr/>
          <a:lstStyle/>
          <a:p>
            <a:r>
              <a:rPr lang="es-ES_tradnl" dirty="0"/>
              <a:t>repaso</a:t>
            </a:r>
          </a:p>
        </p:txBody>
      </p:sp>
      <p:pic>
        <p:nvPicPr>
          <p:cNvPr id="5" name="Content Placeholder 4">
            <a:extLst>
              <a:ext uri="{FF2B5EF4-FFF2-40B4-BE49-F238E27FC236}">
                <a16:creationId xmlns:a16="http://schemas.microsoft.com/office/drawing/2014/main" id="{25907938-31EA-98EC-9FB8-B7FCBD8F1792}"/>
              </a:ext>
            </a:extLst>
          </p:cNvPr>
          <p:cNvPicPr>
            <a:picLocks noGrp="1" noChangeAspect="1"/>
          </p:cNvPicPr>
          <p:nvPr>
            <p:ph idx="1"/>
          </p:nvPr>
        </p:nvPicPr>
        <p:blipFill>
          <a:blip r:embed="rId3"/>
          <a:stretch>
            <a:fillRect/>
          </a:stretch>
        </p:blipFill>
        <p:spPr>
          <a:xfrm>
            <a:off x="5916853" y="1899667"/>
            <a:ext cx="4641447" cy="4631268"/>
          </a:xfrm>
          <a:prstGeom prst="rect">
            <a:avLst/>
          </a:prstGeom>
        </p:spPr>
      </p:pic>
      <p:sp>
        <p:nvSpPr>
          <p:cNvPr id="4" name="Slide Number Placeholder 3">
            <a:extLst>
              <a:ext uri="{FF2B5EF4-FFF2-40B4-BE49-F238E27FC236}">
                <a16:creationId xmlns:a16="http://schemas.microsoft.com/office/drawing/2014/main" id="{9A97A21C-B76F-2166-6F67-58DF57A8E4F4}"/>
              </a:ext>
            </a:extLst>
          </p:cNvPr>
          <p:cNvSpPr>
            <a:spLocks noGrp="1"/>
          </p:cNvSpPr>
          <p:nvPr>
            <p:ph type="sldNum" sz="quarter" idx="12"/>
          </p:nvPr>
        </p:nvSpPr>
        <p:spPr/>
        <p:txBody>
          <a:bodyPr/>
          <a:lstStyle/>
          <a:p>
            <a:fld id="{D57F1E4F-1CFF-5643-939E-217C01CDF565}" type="slidenum">
              <a:rPr lang="en-US" smtClean="0"/>
              <a:pPr/>
              <a:t>1</a:t>
            </a:fld>
            <a:endParaRPr lang="en-US"/>
          </a:p>
        </p:txBody>
      </p:sp>
      <p:sp>
        <p:nvSpPr>
          <p:cNvPr id="6" name="TextBox 5">
            <a:extLst>
              <a:ext uri="{FF2B5EF4-FFF2-40B4-BE49-F238E27FC236}">
                <a16:creationId xmlns:a16="http://schemas.microsoft.com/office/drawing/2014/main" id="{4BF23E7D-F246-AF44-47DA-73EE4AABDFFA}"/>
              </a:ext>
            </a:extLst>
          </p:cNvPr>
          <p:cNvSpPr txBox="1"/>
          <p:nvPr/>
        </p:nvSpPr>
        <p:spPr>
          <a:xfrm>
            <a:off x="1054916" y="3244334"/>
            <a:ext cx="4453517" cy="584775"/>
          </a:xfrm>
          <a:prstGeom prst="rect">
            <a:avLst/>
          </a:prstGeom>
          <a:noFill/>
        </p:spPr>
        <p:txBody>
          <a:bodyPr wrap="square">
            <a:spAutoFit/>
          </a:bodyPr>
          <a:lstStyle/>
          <a:p>
            <a:r>
              <a:rPr lang="es-ES_tradnl" sz="3200" dirty="0">
                <a:solidFill>
                  <a:srgbClr val="FF0000"/>
                </a:solidFill>
              </a:rPr>
              <a:t>https://</a:t>
            </a:r>
            <a:r>
              <a:rPr lang="es-ES_tradnl" sz="3200" dirty="0" err="1">
                <a:solidFill>
                  <a:srgbClr val="FF0000"/>
                </a:solidFill>
              </a:rPr>
              <a:t>shorturl.at</a:t>
            </a:r>
            <a:r>
              <a:rPr lang="es-ES_tradnl" sz="3200" dirty="0">
                <a:solidFill>
                  <a:srgbClr val="FF0000"/>
                </a:solidFill>
              </a:rPr>
              <a:t>/</a:t>
            </a:r>
            <a:r>
              <a:rPr lang="es-ES_tradnl" sz="3200" dirty="0" err="1">
                <a:solidFill>
                  <a:srgbClr val="FF0000"/>
                </a:solidFill>
              </a:rPr>
              <a:t>fgvHs</a:t>
            </a:r>
            <a:endParaRPr lang="es-ES_tradnl" sz="3200" dirty="0">
              <a:solidFill>
                <a:srgbClr val="FF0000"/>
              </a:solidFill>
            </a:endParaRPr>
          </a:p>
        </p:txBody>
      </p:sp>
    </p:spTree>
    <p:extLst>
      <p:ext uri="{BB962C8B-B14F-4D97-AF65-F5344CB8AC3E}">
        <p14:creationId xmlns:p14="http://schemas.microsoft.com/office/powerpoint/2010/main" val="2844688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6A380-E389-D718-275B-961DE82DA234}"/>
              </a:ext>
            </a:extLst>
          </p:cNvPr>
          <p:cNvSpPr>
            <a:spLocks noGrp="1"/>
          </p:cNvSpPr>
          <p:nvPr>
            <p:ph type="title"/>
          </p:nvPr>
        </p:nvSpPr>
        <p:spPr/>
        <p:txBody>
          <a:bodyPr>
            <a:normAutofit/>
          </a:bodyPr>
          <a:lstStyle/>
          <a:p>
            <a:r>
              <a:rPr lang="es-ES" dirty="0">
                <a:latin typeface="Century Gothic" panose="020B0502020202020204" pitchFamily="34" charset="0"/>
              </a:rPr>
              <a:t>La expresión que relaciona LAS tasas de interés NOMINAL Y REAL es la siguiente:</a:t>
            </a:r>
            <a:endParaRPr lang="es-ES_tradnl" dirty="0"/>
          </a:p>
        </p:txBody>
      </p:sp>
      <p:sp>
        <p:nvSpPr>
          <p:cNvPr id="4" name="Slide Number Placeholder 3">
            <a:extLst>
              <a:ext uri="{FF2B5EF4-FFF2-40B4-BE49-F238E27FC236}">
                <a16:creationId xmlns:a16="http://schemas.microsoft.com/office/drawing/2014/main" id="{6EC3B604-D246-968D-FEB5-0AA7FD2C914C}"/>
              </a:ext>
            </a:extLst>
          </p:cNvPr>
          <p:cNvSpPr>
            <a:spLocks noGrp="1"/>
          </p:cNvSpPr>
          <p:nvPr>
            <p:ph type="sldNum" sz="quarter" idx="12"/>
          </p:nvPr>
        </p:nvSpPr>
        <p:spPr/>
        <p:txBody>
          <a:bodyPr/>
          <a:lstStyle/>
          <a:p>
            <a:fld id="{D57F1E4F-1CFF-5643-939E-217C01CDF565}" type="slidenum">
              <a:rPr lang="en-US" smtClean="0"/>
              <a:pPr/>
              <a:t>2</a:t>
            </a:fld>
            <a:endParaRPr lang="en-US"/>
          </a:p>
        </p:txBody>
      </p:sp>
      <mc:AlternateContent xmlns:mc="http://schemas.openxmlformats.org/markup-compatibility/2006">
        <mc:Choice xmlns:a14="http://schemas.microsoft.com/office/drawing/2010/main" Requires="a14">
          <p:sp>
            <p:nvSpPr>
              <p:cNvPr id="5" name="CuadroTexto 6">
                <a:extLst>
                  <a:ext uri="{FF2B5EF4-FFF2-40B4-BE49-F238E27FC236}">
                    <a16:creationId xmlns:a16="http://schemas.microsoft.com/office/drawing/2014/main" id="{89F93315-A2D6-B576-6E37-D8F8FF1C71AD}"/>
                  </a:ext>
                </a:extLst>
              </p:cNvPr>
              <p:cNvSpPr txBox="1">
                <a:spLocks noGrp="1"/>
              </p:cNvSpPr>
              <p:nvPr>
                <p:ph idx="1"/>
              </p:nvPr>
            </p:nvSpPr>
            <p:spPr>
              <a:xfrm>
                <a:off x="668278" y="3159086"/>
                <a:ext cx="10666959" cy="539828"/>
              </a:xfrm>
              <a:prstGeom prst="rect">
                <a:avLst/>
              </a:prstGeom>
              <a:noFill/>
            </p:spPr>
            <p:txBody>
              <a:bodyPr wrap="none" lIns="0" tIns="0" rIns="0" bIns="0" rtlCol="0">
                <a:spAutoFit/>
              </a:bodyPr>
              <a:lstStyle/>
              <a:p>
                <a:pPr/>
                <a14:m>
                  <m:oMath xmlns:m="http://schemas.openxmlformats.org/officeDocument/2006/math">
                    <m:r>
                      <a:rPr lang="es-ES" sz="3200" b="1" i="0" smtClean="0">
                        <a:solidFill>
                          <a:schemeClr val="accent1"/>
                        </a:solidFill>
                        <a:latin typeface="Cambria Math" panose="02040503050406030204" pitchFamily="18" charset="0"/>
                      </a:rPr>
                      <m:t>𝟏</m:t>
                    </m:r>
                    <m:r>
                      <a:rPr lang="es-ES" sz="3200" b="1" i="0" smtClean="0">
                        <a:solidFill>
                          <a:schemeClr val="accent1"/>
                        </a:solidFill>
                        <a:latin typeface="Cambria Math" panose="02040503050406030204" pitchFamily="18" charset="0"/>
                      </a:rPr>
                      <m:t>+</m:t>
                    </m:r>
                    <m:sSub>
                      <m:sSubPr>
                        <m:ctrlPr>
                          <a:rPr lang="es-ES" sz="3200" b="1" i="1" smtClean="0">
                            <a:solidFill>
                              <a:schemeClr val="accent1"/>
                            </a:solidFill>
                            <a:latin typeface="Cambria Math" panose="02040503050406030204" pitchFamily="18" charset="0"/>
                          </a:rPr>
                        </m:ctrlPr>
                      </m:sSubPr>
                      <m:e>
                        <m:r>
                          <a:rPr lang="es-ES" sz="3200" b="1" i="0" smtClean="0">
                            <a:solidFill>
                              <a:schemeClr val="accent1"/>
                            </a:solidFill>
                            <a:latin typeface="Cambria Math" panose="02040503050406030204" pitchFamily="18" charset="0"/>
                          </a:rPr>
                          <m:t>𝐢</m:t>
                        </m:r>
                      </m:e>
                      <m:sub>
                        <m:r>
                          <a:rPr lang="es-ES" sz="3200" b="1" i="0" smtClean="0">
                            <a:solidFill>
                              <a:schemeClr val="accent1"/>
                            </a:solidFill>
                            <a:latin typeface="Cambria Math" panose="02040503050406030204" pitchFamily="18" charset="0"/>
                          </a:rPr>
                          <m:t>𝐧𝐨𝐦𝐢𝐧𝐚𝐥</m:t>
                        </m:r>
                        <m:r>
                          <a:rPr lang="es-ES" sz="3200" b="1" i="0" smtClean="0">
                            <a:solidFill>
                              <a:schemeClr val="accent1"/>
                            </a:solidFill>
                            <a:latin typeface="Cambria Math" panose="02040503050406030204" pitchFamily="18" charset="0"/>
                          </a:rPr>
                          <m:t> (</m:t>
                        </m:r>
                        <m:r>
                          <a:rPr lang="es-ES" sz="3200" b="1" i="0" smtClean="0">
                            <a:solidFill>
                              <a:schemeClr val="accent1"/>
                            </a:solidFill>
                            <a:latin typeface="Cambria Math" panose="02040503050406030204" pitchFamily="18" charset="0"/>
                          </a:rPr>
                          <m:t>𝐜𝐨𝐫𝐫𝐢𝐞𝐧𝐭𝐞</m:t>
                        </m:r>
                        <m:r>
                          <a:rPr lang="es-ES" sz="3200" b="1" i="0" smtClean="0">
                            <a:solidFill>
                              <a:schemeClr val="accent1"/>
                            </a:solidFill>
                            <a:latin typeface="Cambria Math" panose="02040503050406030204" pitchFamily="18" charset="0"/>
                          </a:rPr>
                          <m:t>)</m:t>
                        </m:r>
                      </m:sub>
                    </m:sSub>
                    <m:r>
                      <a:rPr lang="es-ES" sz="3200" b="1" i="0" smtClean="0">
                        <a:solidFill>
                          <a:schemeClr val="accent1"/>
                        </a:solidFill>
                        <a:latin typeface="Cambria Math" panose="02040503050406030204" pitchFamily="18" charset="0"/>
                      </a:rPr>
                      <m:t>=(</m:t>
                    </m:r>
                    <m:r>
                      <a:rPr lang="es-ES" sz="3200" b="1" i="0" smtClean="0">
                        <a:solidFill>
                          <a:schemeClr val="accent1"/>
                        </a:solidFill>
                        <a:latin typeface="Cambria Math" panose="02040503050406030204" pitchFamily="18" charset="0"/>
                      </a:rPr>
                      <m:t>𝟏</m:t>
                    </m:r>
                    <m:r>
                      <a:rPr lang="es-ES" sz="3200" b="1" i="0" smtClean="0">
                        <a:solidFill>
                          <a:schemeClr val="accent1"/>
                        </a:solidFill>
                        <a:latin typeface="Cambria Math" panose="02040503050406030204" pitchFamily="18" charset="0"/>
                      </a:rPr>
                      <m:t>+</m:t>
                    </m:r>
                    <m:sSub>
                      <m:sSubPr>
                        <m:ctrlPr>
                          <a:rPr lang="es-ES" sz="3200" b="1" i="1" smtClean="0">
                            <a:solidFill>
                              <a:schemeClr val="accent1"/>
                            </a:solidFill>
                            <a:latin typeface="Cambria Math" panose="02040503050406030204" pitchFamily="18" charset="0"/>
                          </a:rPr>
                        </m:ctrlPr>
                      </m:sSubPr>
                      <m:e>
                        <m:r>
                          <a:rPr lang="es-ES" sz="3200" b="1" i="0" smtClean="0">
                            <a:solidFill>
                              <a:schemeClr val="accent1"/>
                            </a:solidFill>
                            <a:latin typeface="Cambria Math" panose="02040503050406030204" pitchFamily="18" charset="0"/>
                          </a:rPr>
                          <m:t>𝐢</m:t>
                        </m:r>
                      </m:e>
                      <m:sub>
                        <m:r>
                          <a:rPr lang="es-ES" sz="3200" b="1" i="0" smtClean="0">
                            <a:solidFill>
                              <a:schemeClr val="accent1"/>
                            </a:solidFill>
                            <a:latin typeface="Cambria Math" panose="02040503050406030204" pitchFamily="18" charset="0"/>
                          </a:rPr>
                          <m:t>𝐫𝐞𝐚𝐥</m:t>
                        </m:r>
                        <m:r>
                          <a:rPr lang="es-ES" sz="3200" b="1" i="0" smtClean="0">
                            <a:solidFill>
                              <a:schemeClr val="accent1"/>
                            </a:solidFill>
                            <a:latin typeface="Cambria Math" panose="02040503050406030204" pitchFamily="18" charset="0"/>
                          </a:rPr>
                          <m:t> </m:t>
                        </m:r>
                        <m:d>
                          <m:dPr>
                            <m:ctrlPr>
                              <a:rPr lang="es-ES" sz="3200" b="1" i="1" smtClean="0">
                                <a:solidFill>
                                  <a:schemeClr val="accent1"/>
                                </a:solidFill>
                                <a:latin typeface="Cambria Math" panose="02040503050406030204" pitchFamily="18" charset="0"/>
                              </a:rPr>
                            </m:ctrlPr>
                          </m:dPr>
                          <m:e>
                            <m:r>
                              <a:rPr lang="es-ES" sz="3200" b="1" i="0" smtClean="0">
                                <a:solidFill>
                                  <a:schemeClr val="accent1"/>
                                </a:solidFill>
                                <a:latin typeface="Cambria Math" panose="02040503050406030204" pitchFamily="18" charset="0"/>
                              </a:rPr>
                              <m:t>𝐜𝐨𝐧𝐬𝐭𝐚𝐧𝐭𝐞</m:t>
                            </m:r>
                          </m:e>
                        </m:d>
                      </m:sub>
                    </m:sSub>
                    <m:r>
                      <a:rPr lang="es-ES" sz="3200" b="1" i="0" smtClean="0">
                        <a:solidFill>
                          <a:schemeClr val="accent1"/>
                        </a:solidFill>
                        <a:latin typeface="Cambria Math" panose="02040503050406030204" pitchFamily="18" charset="0"/>
                      </a:rPr>
                      <m:t>)(</m:t>
                    </m:r>
                    <m:r>
                      <a:rPr lang="es-ES" sz="3200" b="1" i="0" smtClean="0">
                        <a:solidFill>
                          <a:schemeClr val="accent1"/>
                        </a:solidFill>
                        <a:latin typeface="Cambria Math" panose="02040503050406030204" pitchFamily="18" charset="0"/>
                      </a:rPr>
                      <m:t>𝟏</m:t>
                    </m:r>
                    <m:r>
                      <a:rPr lang="es-ES" sz="3200" b="1" i="0" smtClean="0">
                        <a:solidFill>
                          <a:schemeClr val="accent1"/>
                        </a:solidFill>
                        <a:latin typeface="Cambria Math" panose="02040503050406030204" pitchFamily="18" charset="0"/>
                      </a:rPr>
                      <m:t>+</m:t>
                    </m:r>
                    <m:sSub>
                      <m:sSubPr>
                        <m:ctrlPr>
                          <a:rPr lang="es-ES" sz="3200" b="1" i="1" smtClean="0">
                            <a:solidFill>
                              <a:schemeClr val="accent1"/>
                            </a:solidFill>
                            <a:latin typeface="Cambria Math" panose="02040503050406030204" pitchFamily="18" charset="0"/>
                            <a:ea typeface="Cambria Math" panose="02040503050406030204" pitchFamily="18" charset="0"/>
                          </a:rPr>
                        </m:ctrlPr>
                      </m:sSubPr>
                      <m:e>
                        <m:r>
                          <a:rPr lang="es-ES" sz="3200" b="1" i="0" smtClean="0">
                            <a:solidFill>
                              <a:schemeClr val="accent1"/>
                            </a:solidFill>
                            <a:latin typeface="Cambria Math" panose="02040503050406030204" pitchFamily="18" charset="0"/>
                            <a:ea typeface="Cambria Math" panose="02040503050406030204" pitchFamily="18" charset="0"/>
                          </a:rPr>
                          <m:t>𝛑</m:t>
                        </m:r>
                      </m:e>
                      <m:sub>
                        <m:r>
                          <a:rPr lang="es-ES" sz="3200" b="1" i="0" smtClean="0">
                            <a:solidFill>
                              <a:schemeClr val="accent1"/>
                            </a:solidFill>
                            <a:latin typeface="Cambria Math" panose="02040503050406030204" pitchFamily="18" charset="0"/>
                            <a:ea typeface="Cambria Math" panose="02040503050406030204" pitchFamily="18" charset="0"/>
                          </a:rPr>
                          <m:t>𝐢𝐧𝐟𝐥𝐚𝐜𝐢</m:t>
                        </m:r>
                        <m:r>
                          <a:rPr lang="es-ES" sz="3200" b="1" i="0">
                            <a:solidFill>
                              <a:schemeClr val="accent1"/>
                            </a:solidFill>
                            <a:latin typeface="Cambria Math" panose="02040503050406030204" pitchFamily="18" charset="0"/>
                            <a:ea typeface="Cambria Math" panose="02040503050406030204" pitchFamily="18" charset="0"/>
                          </a:rPr>
                          <m:t>ó</m:t>
                        </m:r>
                        <m:r>
                          <a:rPr lang="es-ES" sz="3200" b="1" i="0" smtClean="0">
                            <a:solidFill>
                              <a:schemeClr val="accent1"/>
                            </a:solidFill>
                            <a:latin typeface="Cambria Math" panose="02040503050406030204" pitchFamily="18" charset="0"/>
                            <a:ea typeface="Cambria Math" panose="02040503050406030204" pitchFamily="18" charset="0"/>
                          </a:rPr>
                          <m:t>𝐧</m:t>
                        </m:r>
                      </m:sub>
                    </m:sSub>
                    <m:r>
                      <a:rPr lang="es-ES" sz="3200" b="1" i="0" smtClean="0">
                        <a:solidFill>
                          <a:schemeClr val="accent1"/>
                        </a:solidFill>
                        <a:latin typeface="Cambria Math" panose="02040503050406030204" pitchFamily="18" charset="0"/>
                        <a:ea typeface="Cambria Math" panose="02040503050406030204" pitchFamily="18" charset="0"/>
                      </a:rPr>
                      <m:t>)</m:t>
                    </m:r>
                  </m:oMath>
                </a14:m>
                <a:endParaRPr lang="es-CO" sz="3200" b="1" dirty="0">
                  <a:solidFill>
                    <a:schemeClr val="accent1"/>
                  </a:solidFill>
                </a:endParaRPr>
              </a:p>
            </p:txBody>
          </p:sp>
        </mc:Choice>
        <mc:Fallback>
          <p:sp>
            <p:nvSpPr>
              <p:cNvPr id="5" name="CuadroTexto 6">
                <a:extLst>
                  <a:ext uri="{FF2B5EF4-FFF2-40B4-BE49-F238E27FC236}">
                    <a16:creationId xmlns:a16="http://schemas.microsoft.com/office/drawing/2014/main" id="{89F93315-A2D6-B576-6E37-D8F8FF1C71AD}"/>
                  </a:ext>
                </a:extLst>
              </p:cNvPr>
              <p:cNvSpPr txBox="1">
                <a:spLocks noGrp="1" noRot="1" noChangeAspect="1" noMove="1" noResize="1" noEditPoints="1" noAdjustHandles="1" noChangeArrowheads="1" noChangeShapeType="1" noTextEdit="1"/>
              </p:cNvSpPr>
              <p:nvPr>
                <p:ph idx="1"/>
              </p:nvPr>
            </p:nvSpPr>
            <p:spPr>
              <a:xfrm>
                <a:off x="668278" y="3159086"/>
                <a:ext cx="10666959" cy="539828"/>
              </a:xfrm>
              <a:prstGeom prst="rect">
                <a:avLst/>
              </a:prstGeom>
              <a:blipFill>
                <a:blip r:embed="rId2"/>
                <a:stretch>
                  <a:fillRect l="-1902" t="-2273" r="-832" b="-27273"/>
                </a:stretch>
              </a:blipFill>
            </p:spPr>
            <p:txBody>
              <a:bodyPr/>
              <a:lstStyle/>
              <a:p>
                <a:r>
                  <a:rPr lang="es-ES_tradnl">
                    <a:noFill/>
                  </a:rPr>
                  <a:t> </a:t>
                </a:r>
              </a:p>
            </p:txBody>
          </p:sp>
        </mc:Fallback>
      </mc:AlternateContent>
    </p:spTree>
    <p:extLst>
      <p:ext uri="{BB962C8B-B14F-4D97-AF65-F5344CB8AC3E}">
        <p14:creationId xmlns:p14="http://schemas.microsoft.com/office/powerpoint/2010/main" val="244298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FCC0-AB3D-5B2F-CAF5-2E74E5FAEC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E7A4DA-86CC-3D2B-7797-850AC16CF53F}"/>
              </a:ext>
            </a:extLst>
          </p:cNvPr>
          <p:cNvSpPr>
            <a:spLocks noGrp="1"/>
          </p:cNvSpPr>
          <p:nvPr>
            <p:ph type="title"/>
          </p:nvPr>
        </p:nvSpPr>
        <p:spPr/>
        <p:txBody>
          <a:bodyPr/>
          <a:lstStyle/>
          <a:p>
            <a:r>
              <a:rPr lang="es-ES" dirty="0">
                <a:latin typeface="Century Gothic" panose="020B0502020202020204" pitchFamily="34" charset="0"/>
              </a:rPr>
              <a:t>Repaso: Interés Constante / Corriente</a:t>
            </a:r>
          </a:p>
        </p:txBody>
      </p:sp>
      <p:sp>
        <p:nvSpPr>
          <p:cNvPr id="4" name="Marcador de número de diapositiva 3">
            <a:extLst>
              <a:ext uri="{FF2B5EF4-FFF2-40B4-BE49-F238E27FC236}">
                <a16:creationId xmlns:a16="http://schemas.microsoft.com/office/drawing/2014/main" id="{60D84D56-0B5A-A0D9-08AC-BA49E1DB564D}"/>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3</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D14B37DE-FA21-4D12-919C-BB55367712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C4AF422-9F93-2848-CDA2-ACF97E4D2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BE00CD-67AB-9229-C672-A416FD7D730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9A0F80D0-2919-8E40-CEFA-8396BACE603D}"/>
              </a:ext>
            </a:extLst>
          </p:cNvPr>
          <p:cNvGraphicFramePr>
            <a:graphicFrameLocks noGrp="1"/>
          </p:cNvGraphicFramePr>
          <p:nvPr/>
        </p:nvGraphicFramePr>
        <p:xfrm>
          <a:off x="4053746" y="1892226"/>
          <a:ext cx="3780059"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gridCol w="923373">
                  <a:extLst>
                    <a:ext uri="{9D8B030D-6E8A-4147-A177-3AD203B41FA5}">
                      <a16:colId xmlns:a16="http://schemas.microsoft.com/office/drawing/2014/main" val="666333339"/>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IPC</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17,68%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16,70%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8,75%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5,50%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4,85%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4,48%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3,73%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2,44%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1,94%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6,77%</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5,75%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3,80%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13,12%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5,20%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5,10%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dirty="0">
                          <a:effectLst/>
                          <a:latin typeface="Century Gothic" panose="020B0502020202020204" pitchFamily="34" charset="0"/>
                        </a:rPr>
                        <a:t> </a:t>
                      </a:r>
                      <a:endParaRPr lang="en-CO" sz="900" b="0" i="0" u="none" strike="noStrike" dirty="0">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153651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23951-4703-430E-CFD7-436CD334C7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1FC893-727C-7F8B-1FAD-0109950424B8}"/>
              </a:ext>
            </a:extLst>
          </p:cNvPr>
          <p:cNvSpPr>
            <a:spLocks noGrp="1"/>
          </p:cNvSpPr>
          <p:nvPr>
            <p:ph type="title"/>
          </p:nvPr>
        </p:nvSpPr>
        <p:spPr/>
        <p:txBody>
          <a:bodyPr/>
          <a:lstStyle/>
          <a:p>
            <a:r>
              <a:rPr lang="es-ES" dirty="0">
                <a:latin typeface="Century Gothic" panose="020B0502020202020204" pitchFamily="34" charset="0"/>
              </a:rPr>
              <a:t>Repaso: Interés Constante / Corriente</a:t>
            </a:r>
          </a:p>
        </p:txBody>
      </p:sp>
      <p:sp>
        <p:nvSpPr>
          <p:cNvPr id="4" name="Marcador de número de diapositiva 3">
            <a:extLst>
              <a:ext uri="{FF2B5EF4-FFF2-40B4-BE49-F238E27FC236}">
                <a16:creationId xmlns:a16="http://schemas.microsoft.com/office/drawing/2014/main" id="{8BBA3E6B-3017-80A4-3BA3-7AFB615EBB76}"/>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pic>
        <p:nvPicPr>
          <p:cNvPr id="10" name="Imagen 9">
            <a:extLst>
              <a:ext uri="{FF2B5EF4-FFF2-40B4-BE49-F238E27FC236}">
                <a16:creationId xmlns:a16="http://schemas.microsoft.com/office/drawing/2014/main" id="{51C30454-1A50-53B8-F22D-73BA5C1D57ED}"/>
              </a:ext>
            </a:extLst>
          </p:cNvPr>
          <p:cNvPicPr>
            <a:picLocks noChangeAspect="1"/>
          </p:cNvPicPr>
          <p:nvPr/>
        </p:nvPicPr>
        <p:blipFill rotWithShape="1">
          <a:blip r:embed="rId2">
            <a:clrChange>
              <a:clrFrom>
                <a:srgbClr val="95BAA8"/>
              </a:clrFrom>
              <a:clrTo>
                <a:srgbClr val="95BAA8">
                  <a:alpha val="0"/>
                </a:srgbClr>
              </a:clrTo>
            </a:clrChange>
          </a:blip>
          <a:srcRect l="6230" r="53258" b="4606"/>
          <a:stretch/>
        </p:blipFill>
        <p:spPr>
          <a:xfrm>
            <a:off x="581192" y="2010680"/>
            <a:ext cx="2154643" cy="2915825"/>
          </a:xfrm>
          <a:prstGeom prst="rect">
            <a:avLst/>
          </a:prstGeom>
        </p:spPr>
      </p:pic>
      <p:sp>
        <p:nvSpPr>
          <p:cNvPr id="3" name="Rectángulo 2">
            <a:extLst>
              <a:ext uri="{FF2B5EF4-FFF2-40B4-BE49-F238E27FC236}">
                <a16:creationId xmlns:a16="http://schemas.microsoft.com/office/drawing/2014/main" id="{819FF1AF-686D-ECB9-FDC2-A158CABFC62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3D501A15-A9AB-BC18-9AA5-F8CB1F9EC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3CB11A6-ACD9-978C-02A4-141409DB2B1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graphicFrame>
        <p:nvGraphicFramePr>
          <p:cNvPr id="6" name="Table 5">
            <a:extLst>
              <a:ext uri="{FF2B5EF4-FFF2-40B4-BE49-F238E27FC236}">
                <a16:creationId xmlns:a16="http://schemas.microsoft.com/office/drawing/2014/main" id="{4E9FC1F4-146B-9E97-F110-04E839C50458}"/>
              </a:ext>
            </a:extLst>
          </p:cNvPr>
          <p:cNvGraphicFramePr>
            <a:graphicFrameLocks noGrp="1"/>
          </p:cNvGraphicFramePr>
          <p:nvPr/>
        </p:nvGraphicFramePr>
        <p:xfrm>
          <a:off x="4053746" y="1892226"/>
          <a:ext cx="4770763" cy="4798800"/>
        </p:xfrm>
        <a:graphic>
          <a:graphicData uri="http://schemas.openxmlformats.org/drawingml/2006/table">
            <a:tbl>
              <a:tblPr>
                <a:tableStyleId>{5C22544A-7EE6-4342-B048-85BDC9FD1C3A}</a:tableStyleId>
              </a:tblPr>
              <a:tblGrid>
                <a:gridCol w="682911">
                  <a:extLst>
                    <a:ext uri="{9D8B030D-6E8A-4147-A177-3AD203B41FA5}">
                      <a16:colId xmlns:a16="http://schemas.microsoft.com/office/drawing/2014/main" val="4009030854"/>
                    </a:ext>
                  </a:extLst>
                </a:gridCol>
                <a:gridCol w="1029177">
                  <a:extLst>
                    <a:ext uri="{9D8B030D-6E8A-4147-A177-3AD203B41FA5}">
                      <a16:colId xmlns:a16="http://schemas.microsoft.com/office/drawing/2014/main" val="2794482433"/>
                    </a:ext>
                  </a:extLst>
                </a:gridCol>
                <a:gridCol w="1144598">
                  <a:extLst>
                    <a:ext uri="{9D8B030D-6E8A-4147-A177-3AD203B41FA5}">
                      <a16:colId xmlns:a16="http://schemas.microsoft.com/office/drawing/2014/main" val="4276666326"/>
                    </a:ext>
                  </a:extLst>
                </a:gridCol>
                <a:gridCol w="923373">
                  <a:extLst>
                    <a:ext uri="{9D8B030D-6E8A-4147-A177-3AD203B41FA5}">
                      <a16:colId xmlns:a16="http://schemas.microsoft.com/office/drawing/2014/main" val="666333339"/>
                    </a:ext>
                  </a:extLst>
                </a:gridCol>
                <a:gridCol w="990704">
                  <a:extLst>
                    <a:ext uri="{9D8B030D-6E8A-4147-A177-3AD203B41FA5}">
                      <a16:colId xmlns:a16="http://schemas.microsoft.com/office/drawing/2014/main" val="39874880"/>
                    </a:ext>
                  </a:extLst>
                </a:gridCol>
              </a:tblGrid>
              <a:tr h="154800">
                <a:tc>
                  <a:txBody>
                    <a:bodyPr/>
                    <a:lstStyle/>
                    <a:p>
                      <a:pPr algn="ctr" fontAlgn="b">
                        <a:buNone/>
                      </a:pPr>
                      <a:r>
                        <a:rPr lang="en-US" sz="900" b="1" u="none" strike="noStrike">
                          <a:solidFill>
                            <a:schemeClr val="accent1"/>
                          </a:solidFill>
                          <a:effectLst/>
                          <a:latin typeface="Century Gothic" panose="020B0502020202020204" pitchFamily="34" charset="0"/>
                        </a:rPr>
                        <a:t>Año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Salario mínimo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Salario</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IPC</a:t>
                      </a:r>
                      <a:endParaRPr lang="en-US" sz="900" b="1" i="1" u="none" strike="noStrike">
                        <a:solidFill>
                          <a:schemeClr val="accent1"/>
                        </a:solidFill>
                        <a:effectLst/>
                        <a:latin typeface="Century Gothic" panose="020B0502020202020204" pitchFamily="34" charset="0"/>
                      </a:endParaRPr>
                    </a:p>
                  </a:txBody>
                  <a:tcPr marL="5684" marR="5684" marT="5684" marB="0" anchor="ctr"/>
                </a:tc>
                <a:tc>
                  <a:txBody>
                    <a:bodyPr/>
                    <a:lstStyle/>
                    <a:p>
                      <a:pPr algn="ctr" fontAlgn="b">
                        <a:buNone/>
                      </a:pPr>
                      <a:r>
                        <a:rPr lang="en-US" sz="900" b="1" u="none" strike="noStrike">
                          <a:solidFill>
                            <a:schemeClr val="accent1"/>
                          </a:solidFill>
                          <a:effectLst/>
                          <a:latin typeface="Century Gothic" panose="020B0502020202020204" pitchFamily="34" charset="0"/>
                        </a:rPr>
                        <a:t>Variación Real</a:t>
                      </a:r>
                      <a:endParaRPr lang="en-US" sz="900" b="1" i="1" u="none" strike="noStrike">
                        <a:solidFill>
                          <a:schemeClr val="accent1"/>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8764222"/>
                  </a:ext>
                </a:extLst>
              </a:tr>
              <a:tr h="154800">
                <a:tc>
                  <a:txBody>
                    <a:bodyPr/>
                    <a:lstStyle/>
                    <a:p>
                      <a:pPr algn="ctr" fontAlgn="b">
                        <a:buNone/>
                      </a:pPr>
                      <a:r>
                        <a:rPr lang="en-CO" sz="900" u="none" strike="noStrike">
                          <a:effectLst/>
                          <a:latin typeface="Century Gothic" panose="020B0502020202020204" pitchFamily="34" charset="0"/>
                        </a:rPr>
                        <a:t>1997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172.005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17,68%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960332645"/>
                  </a:ext>
                </a:extLst>
              </a:tr>
              <a:tr h="154800">
                <a:tc>
                  <a:txBody>
                    <a:bodyPr/>
                    <a:lstStyle/>
                    <a:p>
                      <a:pPr algn="ctr" fontAlgn="b">
                        <a:buNone/>
                      </a:pPr>
                      <a:r>
                        <a:rPr lang="en-CO" sz="900" u="none" strike="noStrike">
                          <a:effectLst/>
                          <a:latin typeface="Century Gothic" panose="020B0502020202020204" pitchFamily="34" charset="0"/>
                        </a:rPr>
                        <a:t>1998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203.825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16,70%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0,70%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434027279"/>
                  </a:ext>
                </a:extLst>
              </a:tr>
              <a:tr h="154800">
                <a:tc>
                  <a:txBody>
                    <a:bodyPr/>
                    <a:lstStyle/>
                    <a:p>
                      <a:pPr algn="ctr" fontAlgn="b">
                        <a:buNone/>
                      </a:pPr>
                      <a:r>
                        <a:rPr lang="en-CO" sz="900" u="none" strike="noStrike">
                          <a:effectLst/>
                          <a:latin typeface="Century Gothic" panose="020B0502020202020204" pitchFamily="34" charset="0"/>
                        </a:rPr>
                        <a:t>1999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236.438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-0,60%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83551462"/>
                  </a:ext>
                </a:extLst>
              </a:tr>
              <a:tr h="154800">
                <a:tc>
                  <a:txBody>
                    <a:bodyPr/>
                    <a:lstStyle/>
                    <a:p>
                      <a:pPr algn="ctr" fontAlgn="b">
                        <a:buNone/>
                      </a:pPr>
                      <a:r>
                        <a:rPr lang="en-CO" sz="900" u="none" strike="noStrike">
                          <a:effectLst/>
                          <a:latin typeface="Century Gothic" panose="020B0502020202020204" pitchFamily="34" charset="0"/>
                        </a:rPr>
                        <a:t>2000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260.100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8,75%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0,71%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577882104"/>
                  </a:ext>
                </a:extLst>
              </a:tr>
              <a:tr h="154800">
                <a:tc>
                  <a:txBody>
                    <a:bodyPr/>
                    <a:lstStyle/>
                    <a:p>
                      <a:pPr algn="ctr" fontAlgn="b">
                        <a:buNone/>
                      </a:pPr>
                      <a:r>
                        <a:rPr lang="en-CO" sz="900" u="none" strike="noStrike">
                          <a:effectLst/>
                          <a:latin typeface="Century Gothic" panose="020B0502020202020204" pitchFamily="34" charset="0"/>
                        </a:rPr>
                        <a:t>2001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286.000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9,96%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1,11%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627736508"/>
                  </a:ext>
                </a:extLst>
              </a:tr>
              <a:tr h="154800">
                <a:tc>
                  <a:txBody>
                    <a:bodyPr/>
                    <a:lstStyle/>
                    <a:p>
                      <a:pPr algn="ctr" fontAlgn="b">
                        <a:buNone/>
                      </a:pPr>
                      <a:r>
                        <a:rPr lang="en-CO" sz="900" u="none" strike="noStrike">
                          <a:effectLst/>
                          <a:latin typeface="Century Gothic" panose="020B0502020202020204" pitchFamily="34" charset="0"/>
                        </a:rPr>
                        <a:t>2002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309.000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8,04%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0,36%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825063371"/>
                  </a:ext>
                </a:extLst>
              </a:tr>
              <a:tr h="154800">
                <a:tc>
                  <a:txBody>
                    <a:bodyPr/>
                    <a:lstStyle/>
                    <a:p>
                      <a:pPr algn="ctr" fontAlgn="b">
                        <a:buNone/>
                      </a:pPr>
                      <a:r>
                        <a:rPr lang="en-CO" sz="900" u="none" strike="noStrike">
                          <a:effectLst/>
                          <a:latin typeface="Century Gothic" panose="020B0502020202020204" pitchFamily="34" charset="0"/>
                        </a:rPr>
                        <a:t>2003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332.000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0,42%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459928928"/>
                  </a:ext>
                </a:extLst>
              </a:tr>
              <a:tr h="154800">
                <a:tc>
                  <a:txBody>
                    <a:bodyPr/>
                    <a:lstStyle/>
                    <a:p>
                      <a:pPr algn="ctr" fontAlgn="b">
                        <a:buNone/>
                      </a:pPr>
                      <a:r>
                        <a:rPr lang="en-CO" sz="900" u="none" strike="noStrike">
                          <a:effectLst/>
                          <a:latin typeface="Century Gothic" panose="020B0502020202020204" pitchFamily="34" charset="0"/>
                        </a:rPr>
                        <a:t>2004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358.000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7,83%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62368851"/>
                  </a:ext>
                </a:extLst>
              </a:tr>
              <a:tr h="154800">
                <a:tc>
                  <a:txBody>
                    <a:bodyPr/>
                    <a:lstStyle/>
                    <a:p>
                      <a:pPr algn="ctr" fontAlgn="b">
                        <a:buNone/>
                      </a:pPr>
                      <a:r>
                        <a:rPr lang="en-CO" sz="900" u="none" strike="noStrike">
                          <a:effectLst/>
                          <a:latin typeface="Century Gothic" panose="020B0502020202020204" pitchFamily="34" charset="0"/>
                        </a:rPr>
                        <a:t>2005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381.500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6,56%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4,85%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41600997"/>
                  </a:ext>
                </a:extLst>
              </a:tr>
              <a:tr h="154800">
                <a:tc>
                  <a:txBody>
                    <a:bodyPr/>
                    <a:lstStyle/>
                    <a:p>
                      <a:pPr algn="ctr" fontAlgn="b">
                        <a:buNone/>
                      </a:pPr>
                      <a:r>
                        <a:rPr lang="en-CO" sz="900" u="none" strike="noStrike">
                          <a:effectLst/>
                          <a:latin typeface="Century Gothic" panose="020B0502020202020204" pitchFamily="34" charset="0"/>
                        </a:rPr>
                        <a:t>2006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408.000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6,95%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4,48%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124195363"/>
                  </a:ext>
                </a:extLst>
              </a:tr>
              <a:tr h="154800">
                <a:tc>
                  <a:txBody>
                    <a:bodyPr/>
                    <a:lstStyle/>
                    <a:p>
                      <a:pPr algn="ctr" fontAlgn="b">
                        <a:buNone/>
                      </a:pPr>
                      <a:r>
                        <a:rPr lang="en-CO" sz="900" u="none" strike="noStrike">
                          <a:effectLst/>
                          <a:latin typeface="Century Gothic" panose="020B0502020202020204" pitchFamily="34" charset="0"/>
                        </a:rPr>
                        <a:t>2007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433.700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6,30%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905987211"/>
                  </a:ext>
                </a:extLst>
              </a:tr>
              <a:tr h="154800">
                <a:tc>
                  <a:txBody>
                    <a:bodyPr/>
                    <a:lstStyle/>
                    <a:p>
                      <a:pPr algn="ctr" fontAlgn="b">
                        <a:buNone/>
                      </a:pPr>
                      <a:r>
                        <a:rPr lang="en-CO" sz="900" u="none" strike="noStrike">
                          <a:effectLst/>
                          <a:latin typeface="Century Gothic" panose="020B0502020202020204" pitchFamily="34" charset="0"/>
                        </a:rPr>
                        <a:t>2008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461.500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6,41%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0,68%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78434063"/>
                  </a:ext>
                </a:extLst>
              </a:tr>
              <a:tr h="154800">
                <a:tc>
                  <a:txBody>
                    <a:bodyPr/>
                    <a:lstStyle/>
                    <a:p>
                      <a:pPr algn="ctr" fontAlgn="b">
                        <a:buNone/>
                      </a:pPr>
                      <a:r>
                        <a:rPr lang="en-CO" sz="900" u="none" strike="noStrike">
                          <a:effectLst/>
                          <a:latin typeface="Century Gothic" panose="020B0502020202020204" pitchFamily="34" charset="0"/>
                        </a:rPr>
                        <a:t>2009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496.900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7,67%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31668457"/>
                  </a:ext>
                </a:extLst>
              </a:tr>
              <a:tr h="154800">
                <a:tc>
                  <a:txBody>
                    <a:bodyPr/>
                    <a:lstStyle/>
                    <a:p>
                      <a:pPr algn="ctr" fontAlgn="b">
                        <a:buNone/>
                      </a:pPr>
                      <a:r>
                        <a:rPr lang="en-CO" sz="900" u="none" strike="noStrike">
                          <a:effectLst/>
                          <a:latin typeface="Century Gothic" panose="020B0502020202020204" pitchFamily="34" charset="0"/>
                        </a:rPr>
                        <a:t>2010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515.000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28895279"/>
                  </a:ext>
                </a:extLst>
              </a:tr>
              <a:tr h="154800">
                <a:tc>
                  <a:txBody>
                    <a:bodyPr/>
                    <a:lstStyle/>
                    <a:p>
                      <a:pPr algn="ctr" fontAlgn="b">
                        <a:buNone/>
                      </a:pPr>
                      <a:r>
                        <a:rPr lang="en-CO" sz="900" u="none" strike="noStrike">
                          <a:effectLst/>
                          <a:latin typeface="Century Gothic" panose="020B0502020202020204" pitchFamily="34" charset="0"/>
                        </a:rPr>
                        <a:t>2011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535.600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3,73%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0,80%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064993806"/>
                  </a:ext>
                </a:extLst>
              </a:tr>
              <a:tr h="154800">
                <a:tc>
                  <a:txBody>
                    <a:bodyPr/>
                    <a:lstStyle/>
                    <a:p>
                      <a:pPr algn="ctr" fontAlgn="b">
                        <a:buNone/>
                      </a:pPr>
                      <a:r>
                        <a:rPr lang="en-CO" sz="900" u="none" strike="noStrike">
                          <a:effectLst/>
                          <a:latin typeface="Century Gothic" panose="020B0502020202020204" pitchFamily="34" charset="0"/>
                        </a:rPr>
                        <a:t>2012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566.700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5,81%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2,44%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2,00%</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042914918"/>
                  </a:ext>
                </a:extLst>
              </a:tr>
              <a:tr h="154800">
                <a:tc>
                  <a:txBody>
                    <a:bodyPr/>
                    <a:lstStyle/>
                    <a:p>
                      <a:pPr algn="ctr" fontAlgn="b">
                        <a:buNone/>
                      </a:pPr>
                      <a:r>
                        <a:rPr lang="en-CO" sz="900" u="none" strike="noStrike">
                          <a:effectLst/>
                          <a:latin typeface="Century Gothic" panose="020B0502020202020204" pitchFamily="34" charset="0"/>
                        </a:rPr>
                        <a:t>2013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589.500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1,94%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4261836"/>
                  </a:ext>
                </a:extLst>
              </a:tr>
              <a:tr h="154800">
                <a:tc>
                  <a:txBody>
                    <a:bodyPr/>
                    <a:lstStyle/>
                    <a:p>
                      <a:pPr algn="ctr" fontAlgn="b">
                        <a:buNone/>
                      </a:pPr>
                      <a:r>
                        <a:rPr lang="en-CO" sz="900" u="none" strike="noStrike">
                          <a:effectLst/>
                          <a:latin typeface="Century Gothic" panose="020B0502020202020204" pitchFamily="34" charset="0"/>
                        </a:rPr>
                        <a:t>2014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616.000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3,66%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675568729"/>
                  </a:ext>
                </a:extLst>
              </a:tr>
              <a:tr h="154800">
                <a:tc>
                  <a:txBody>
                    <a:bodyPr/>
                    <a:lstStyle/>
                    <a:p>
                      <a:pPr algn="ctr" fontAlgn="b">
                        <a:buNone/>
                      </a:pPr>
                      <a:r>
                        <a:rPr lang="en-CO" sz="900" u="none" strike="noStrike">
                          <a:effectLst/>
                          <a:latin typeface="Century Gothic" panose="020B0502020202020204" pitchFamily="34" charset="0"/>
                        </a:rPr>
                        <a:t>2015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644.350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4,60%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6,77%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0,91%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193276748"/>
                  </a:ext>
                </a:extLst>
              </a:tr>
              <a:tr h="154800">
                <a:tc>
                  <a:txBody>
                    <a:bodyPr/>
                    <a:lstStyle/>
                    <a:p>
                      <a:pPr algn="ctr" fontAlgn="b">
                        <a:buNone/>
                      </a:pPr>
                      <a:r>
                        <a:rPr lang="en-CO" sz="900" u="none" strike="noStrike">
                          <a:effectLst/>
                          <a:latin typeface="Century Gothic" panose="020B0502020202020204" pitchFamily="34" charset="0"/>
                        </a:rPr>
                        <a:t>2016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689.455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5,75%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0,22%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551442534"/>
                  </a:ext>
                </a:extLst>
              </a:tr>
              <a:tr h="154800">
                <a:tc>
                  <a:txBody>
                    <a:bodyPr/>
                    <a:lstStyle/>
                    <a:p>
                      <a:pPr algn="ctr" fontAlgn="b">
                        <a:buNone/>
                      </a:pPr>
                      <a:r>
                        <a:rPr lang="en-CO" sz="900" u="none" strike="noStrike">
                          <a:effectLst/>
                          <a:latin typeface="Century Gothic" panose="020B0502020202020204" pitchFamily="34" charset="0"/>
                        </a:rPr>
                        <a:t>2017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737.717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7,00%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1,18%</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208770103"/>
                  </a:ext>
                </a:extLst>
              </a:tr>
              <a:tr h="154800">
                <a:tc>
                  <a:txBody>
                    <a:bodyPr/>
                    <a:lstStyle/>
                    <a:p>
                      <a:pPr algn="ctr" fontAlgn="b">
                        <a:buNone/>
                      </a:pPr>
                      <a:r>
                        <a:rPr lang="en-CO" sz="900" u="none" strike="noStrike">
                          <a:effectLst/>
                          <a:latin typeface="Century Gothic" panose="020B0502020202020204" pitchFamily="34" charset="0"/>
                        </a:rPr>
                        <a:t>2018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781.242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5,90%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3,18%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1,74%</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16334687"/>
                  </a:ext>
                </a:extLst>
              </a:tr>
              <a:tr h="154800">
                <a:tc>
                  <a:txBody>
                    <a:bodyPr/>
                    <a:lstStyle/>
                    <a:p>
                      <a:pPr algn="ctr" fontAlgn="b">
                        <a:buNone/>
                      </a:pPr>
                      <a:r>
                        <a:rPr lang="en-CO" sz="900" u="none" strike="noStrike">
                          <a:effectLst/>
                          <a:latin typeface="Century Gothic" panose="020B0502020202020204" pitchFamily="34" charset="0"/>
                        </a:rPr>
                        <a:t>2019</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828.116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3,80%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2,73%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0411059"/>
                  </a:ext>
                </a:extLst>
              </a:tr>
              <a:tr h="154800">
                <a:tc>
                  <a:txBody>
                    <a:bodyPr/>
                    <a:lstStyle/>
                    <a:p>
                      <a:pPr algn="ctr" fontAlgn="b">
                        <a:buNone/>
                      </a:pPr>
                      <a:r>
                        <a:rPr lang="en-CO" sz="900" u="none" strike="noStrike">
                          <a:effectLst/>
                          <a:latin typeface="Century Gothic" panose="020B0502020202020204" pitchFamily="34" charset="0"/>
                        </a:rPr>
                        <a:t>2020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877.803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2,12%</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736213364"/>
                  </a:ext>
                </a:extLst>
              </a:tr>
              <a:tr h="154800">
                <a:tc>
                  <a:txBody>
                    <a:bodyPr/>
                    <a:lstStyle/>
                    <a:p>
                      <a:pPr algn="ctr" fontAlgn="b">
                        <a:buNone/>
                      </a:pPr>
                      <a:r>
                        <a:rPr lang="en-CO" sz="900" u="none" strike="noStrike">
                          <a:effectLst/>
                          <a:latin typeface="Century Gothic" panose="020B0502020202020204" pitchFamily="34" charset="0"/>
                        </a:rPr>
                        <a:t>2021</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908.526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3,50%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5,62%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1,86%</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2150584345"/>
                  </a:ext>
                </a:extLst>
              </a:tr>
              <a:tr h="154800">
                <a:tc>
                  <a:txBody>
                    <a:bodyPr/>
                    <a:lstStyle/>
                    <a:p>
                      <a:pPr algn="ctr" fontAlgn="b">
                        <a:buNone/>
                      </a:pPr>
                      <a:r>
                        <a:rPr lang="en-CO" sz="900" u="none" strike="noStrike">
                          <a:effectLst/>
                          <a:latin typeface="Century Gothic" panose="020B0502020202020204" pitchFamily="34" charset="0"/>
                        </a:rPr>
                        <a:t>2022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1.000.000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10,07%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13,12%</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4,21%</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754284992"/>
                  </a:ext>
                </a:extLst>
              </a:tr>
              <a:tr h="154800">
                <a:tc>
                  <a:txBody>
                    <a:bodyPr/>
                    <a:lstStyle/>
                    <a:p>
                      <a:pPr algn="ctr" fontAlgn="b">
                        <a:buNone/>
                      </a:pPr>
                      <a:r>
                        <a:rPr lang="en-CO" sz="900" u="none" strike="noStrike">
                          <a:effectLst/>
                          <a:latin typeface="Century Gothic" panose="020B0502020202020204" pitchFamily="34" charset="0"/>
                        </a:rPr>
                        <a:t>2023</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1.160.000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16,00%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9,28%</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443641829"/>
                  </a:ext>
                </a:extLst>
              </a:tr>
              <a:tr h="154800">
                <a:tc>
                  <a:txBody>
                    <a:bodyPr/>
                    <a:lstStyle/>
                    <a:p>
                      <a:pPr algn="ctr" fontAlgn="b">
                        <a:buNone/>
                      </a:pPr>
                      <a:r>
                        <a:rPr lang="en-CO" sz="900" u="none" strike="noStrike">
                          <a:effectLst/>
                          <a:latin typeface="Century Gothic" panose="020B0502020202020204" pitchFamily="34" charset="0"/>
                        </a:rPr>
                        <a:t>2024</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1.300.000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12,07%</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5,20%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2,55%</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959957840"/>
                  </a:ext>
                </a:extLst>
              </a:tr>
              <a:tr h="154800">
                <a:tc>
                  <a:txBody>
                    <a:bodyPr/>
                    <a:lstStyle/>
                    <a:p>
                      <a:pPr algn="ctr" fontAlgn="b">
                        <a:buNone/>
                      </a:pPr>
                      <a:r>
                        <a:rPr lang="en-CO" sz="900" u="none" strike="noStrike">
                          <a:effectLst/>
                          <a:latin typeface="Century Gothic" panose="020B0502020202020204" pitchFamily="34" charset="0"/>
                        </a:rPr>
                        <a:t>2025</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1.423.500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9,50%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5,10%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4,09%</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1408083262"/>
                  </a:ext>
                </a:extLst>
              </a:tr>
              <a:tr h="154800">
                <a:tc>
                  <a:txBody>
                    <a:bodyPr/>
                    <a:lstStyle/>
                    <a:p>
                      <a:pPr algn="ctr" fontAlgn="b">
                        <a:buNone/>
                      </a:pPr>
                      <a:r>
                        <a:rPr lang="en-CO" sz="900" u="none" strike="noStrike">
                          <a:effectLst/>
                          <a:latin typeface="Century Gothic" panose="020B0502020202020204" pitchFamily="34" charset="0"/>
                        </a:rPr>
                        <a:t>2026</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        1.750.905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23,00%</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 </a:t>
                      </a:r>
                      <a:endParaRPr lang="en-CO" sz="900" b="0" i="0" u="none" strike="noStrike">
                        <a:solidFill>
                          <a:srgbClr val="000000"/>
                        </a:solidFill>
                        <a:effectLst/>
                        <a:latin typeface="Century Gothic" panose="020B0502020202020204" pitchFamily="34" charset="0"/>
                      </a:endParaRPr>
                    </a:p>
                  </a:txBody>
                  <a:tcPr marL="5684" marR="5684" marT="5684" marB="0" anchor="ctr"/>
                </a:tc>
                <a:tc>
                  <a:txBody>
                    <a:bodyPr/>
                    <a:lstStyle/>
                    <a:p>
                      <a:pPr algn="ctr" fontAlgn="b">
                        <a:buNone/>
                      </a:pPr>
                      <a:r>
                        <a:rPr lang="en-CO" sz="900" u="none" strike="noStrike">
                          <a:effectLst/>
                          <a:latin typeface="Century Gothic" panose="020B0502020202020204" pitchFamily="34" charset="0"/>
                        </a:rPr>
                        <a:t>17,03%</a:t>
                      </a:r>
                      <a:endParaRPr lang="en-CO" sz="900" b="0" i="0" u="none" strike="noStrike">
                        <a:solidFill>
                          <a:srgbClr val="000000"/>
                        </a:solidFill>
                        <a:effectLst/>
                        <a:latin typeface="Century Gothic" panose="020B0502020202020204" pitchFamily="34" charset="0"/>
                      </a:endParaRPr>
                    </a:p>
                  </a:txBody>
                  <a:tcPr marL="5684" marR="5684" marT="5684" marB="0" anchor="ctr"/>
                </a:tc>
                <a:extLst>
                  <a:ext uri="{0D108BD9-81ED-4DB2-BD59-A6C34878D82A}">
                    <a16:rowId xmlns:a16="http://schemas.microsoft.com/office/drawing/2014/main" val="3655804214"/>
                  </a:ext>
                </a:extLst>
              </a:tr>
            </a:tbl>
          </a:graphicData>
        </a:graphic>
      </p:graphicFrame>
    </p:spTree>
    <p:extLst>
      <p:ext uri="{BB962C8B-B14F-4D97-AF65-F5344CB8AC3E}">
        <p14:creationId xmlns:p14="http://schemas.microsoft.com/office/powerpoint/2010/main" val="1520040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1E87F-1191-3674-A9BC-D8F496820271}"/>
              </a:ext>
            </a:extLst>
          </p:cNvPr>
          <p:cNvSpPr>
            <a:spLocks noGrp="1"/>
          </p:cNvSpPr>
          <p:nvPr>
            <p:ph type="title"/>
          </p:nvPr>
        </p:nvSpPr>
        <p:spPr/>
        <p:txBody>
          <a:bodyPr/>
          <a:lstStyle/>
          <a:p>
            <a:r>
              <a:rPr lang="es-ES_tradnl" dirty="0"/>
              <a:t>REPASO EQUIVALENCIAS DE TASAS DE INTERÉS</a:t>
            </a:r>
          </a:p>
        </p:txBody>
      </p:sp>
      <p:sp>
        <p:nvSpPr>
          <p:cNvPr id="4" name="Slide Number Placeholder 3">
            <a:extLst>
              <a:ext uri="{FF2B5EF4-FFF2-40B4-BE49-F238E27FC236}">
                <a16:creationId xmlns:a16="http://schemas.microsoft.com/office/drawing/2014/main" id="{6AA3AF4B-FBCE-09C9-01F3-094648A18586}"/>
              </a:ext>
            </a:extLst>
          </p:cNvPr>
          <p:cNvSpPr>
            <a:spLocks noGrp="1"/>
          </p:cNvSpPr>
          <p:nvPr>
            <p:ph type="sldNum" sz="quarter" idx="12"/>
          </p:nvPr>
        </p:nvSpPr>
        <p:spPr/>
        <p:txBody>
          <a:bodyPr/>
          <a:lstStyle/>
          <a:p>
            <a:fld id="{D57F1E4F-1CFF-5643-939E-217C01CDF565}" type="slidenum">
              <a:rPr lang="en-US" smtClean="0"/>
              <a:pPr/>
              <a:t>5</a:t>
            </a:fld>
            <a:endParaRPr lang="en-US"/>
          </a:p>
        </p:txBody>
      </p:sp>
      <p:graphicFrame>
        <p:nvGraphicFramePr>
          <p:cNvPr id="5" name="Marcador de contenido 4">
            <a:extLst>
              <a:ext uri="{FF2B5EF4-FFF2-40B4-BE49-F238E27FC236}">
                <a16:creationId xmlns:a16="http://schemas.microsoft.com/office/drawing/2014/main" id="{0C5EE829-88B4-1357-02CB-F295E671947C}"/>
              </a:ext>
            </a:extLst>
          </p:cNvPr>
          <p:cNvGraphicFramePr>
            <a:graphicFrameLocks noGrp="1"/>
          </p:cNvGraphicFramePr>
          <p:nvPr>
            <p:ph idx="1"/>
          </p:nvPr>
        </p:nvGraphicFramePr>
        <p:xfrm>
          <a:off x="1462768" y="2190170"/>
          <a:ext cx="8820000" cy="3765967"/>
        </p:xfrm>
        <a:graphic>
          <a:graphicData uri="http://schemas.openxmlformats.org/drawingml/2006/table">
            <a:tbl>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tblGrid>
              <a:tr h="819877">
                <a:tc>
                  <a:txBody>
                    <a:bodyPr/>
                    <a:lstStyle/>
                    <a:p>
                      <a:pPr algn="ctr" fontAlgn="ctr"/>
                      <a:r>
                        <a:rPr lang="es-ES" sz="1600" b="1" i="0" u="none" strike="noStrike" dirty="0">
                          <a:solidFill>
                            <a:schemeClr val="bg1"/>
                          </a:solidFill>
                          <a:effectLst/>
                          <a:latin typeface="Century Gothic" panose="020B0502020202020204" pitchFamily="34" charset="0"/>
                        </a:rPr>
                        <a:t>Efectivo Anual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NA/SV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Efectivo Mensual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NB/MV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Anual</a:t>
                      </a:r>
                    </a:p>
                    <a:p>
                      <a:pPr algn="ctr" fontAlgn="ctr"/>
                      <a:r>
                        <a:rPr lang="es-ES" sz="1600" b="1" i="0" u="none" strike="noStrike">
                          <a:solidFill>
                            <a:schemeClr val="bg1"/>
                          </a:solidFill>
                          <a:effectLst/>
                          <a:latin typeface="Century Gothic" panose="020B0502020202020204" pitchFamily="34" charset="0"/>
                        </a:rPr>
                        <a:t>Continua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20870">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10,50%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870">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9,47%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dirty="0">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870">
                <a:tc>
                  <a:txBody>
                    <a:bodyPr/>
                    <a:lstStyle/>
                    <a:p>
                      <a:pPr algn="ctr" fontAlgn="b"/>
                      <a:r>
                        <a:rPr lang="es-ES" sz="1600" b="1" i="0" u="none" strike="noStrike">
                          <a:solidFill>
                            <a:srgbClr val="000000"/>
                          </a:solidFill>
                          <a:effectLst/>
                          <a:latin typeface="Century Gothic" panose="020B0502020202020204" pitchFamily="34" charset="0"/>
                        </a:rPr>
                        <a:t>10,20%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7,00%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3,10%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rgbClr val="000000"/>
                          </a:solidFill>
                          <a:effectLst/>
                          <a:latin typeface="Century Gothic" panose="020B0502020202020204" pitchFamily="34" charset="0"/>
                        </a:rPr>
                        <a:t>1,94%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870">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endParaRPr lang="es-CO">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endParaRPr lang="es-ES" sz="1600" b="0" i="0" u="none" strike="noStrike">
                        <a:solidFill>
                          <a:srgbClr val="FF0000"/>
                        </a:solidFill>
                        <a:effectLst/>
                        <a:latin typeface="Century Gothic" panose="020B0502020202020204" pitchFamily="34" charset="0"/>
                      </a:endParaRP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dirty="0">
                          <a:solidFill>
                            <a:srgbClr val="000000"/>
                          </a:solidFill>
                          <a:effectLst/>
                          <a:latin typeface="Century Gothic" panose="020B0502020202020204" pitchFamily="34" charset="0"/>
                        </a:rPr>
                        <a:t>6,00%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06272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35DA-D039-DBF7-42CD-31699FE13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FEF86-516F-D1A3-F0DE-A2022284CE36}"/>
              </a:ext>
            </a:extLst>
          </p:cNvPr>
          <p:cNvSpPr>
            <a:spLocks noGrp="1"/>
          </p:cNvSpPr>
          <p:nvPr>
            <p:ph type="title"/>
          </p:nvPr>
        </p:nvSpPr>
        <p:spPr/>
        <p:txBody>
          <a:bodyPr/>
          <a:lstStyle/>
          <a:p>
            <a:r>
              <a:rPr lang="es-ES_tradnl" dirty="0"/>
              <a:t>REPASO EQUIVALENCIAS DE TASAS DE INTERÉS</a:t>
            </a:r>
          </a:p>
        </p:txBody>
      </p:sp>
      <p:sp>
        <p:nvSpPr>
          <p:cNvPr id="4" name="Slide Number Placeholder 3">
            <a:extLst>
              <a:ext uri="{FF2B5EF4-FFF2-40B4-BE49-F238E27FC236}">
                <a16:creationId xmlns:a16="http://schemas.microsoft.com/office/drawing/2014/main" id="{B1CF3873-29F9-E27E-B323-3D97D9763EEA}"/>
              </a:ext>
            </a:extLst>
          </p:cNvPr>
          <p:cNvSpPr>
            <a:spLocks noGrp="1"/>
          </p:cNvSpPr>
          <p:nvPr>
            <p:ph type="sldNum" sz="quarter" idx="12"/>
          </p:nvPr>
        </p:nvSpPr>
        <p:spPr/>
        <p:txBody>
          <a:bodyPr/>
          <a:lstStyle/>
          <a:p>
            <a:fld id="{D57F1E4F-1CFF-5643-939E-217C01CDF565}" type="slidenum">
              <a:rPr lang="en-US" smtClean="0"/>
              <a:pPr/>
              <a:t>6</a:t>
            </a:fld>
            <a:endParaRPr lang="en-US"/>
          </a:p>
        </p:txBody>
      </p:sp>
      <p:graphicFrame>
        <p:nvGraphicFramePr>
          <p:cNvPr id="9" name="Marcador de contenido 4">
            <a:extLst>
              <a:ext uri="{FF2B5EF4-FFF2-40B4-BE49-F238E27FC236}">
                <a16:creationId xmlns:a16="http://schemas.microsoft.com/office/drawing/2014/main" id="{9030CC01-E7F3-5EFE-88F4-9E31E8E85AB3}"/>
              </a:ext>
            </a:extLst>
          </p:cNvPr>
          <p:cNvGraphicFramePr>
            <a:graphicFrameLocks noGrp="1"/>
          </p:cNvGraphicFramePr>
          <p:nvPr>
            <p:ph idx="1"/>
          </p:nvPr>
        </p:nvGraphicFramePr>
        <p:xfrm>
          <a:off x="1854653" y="2190170"/>
          <a:ext cx="8820000" cy="3765967"/>
        </p:xfrm>
        <a:graphic>
          <a:graphicData uri="http://schemas.openxmlformats.org/drawingml/2006/table">
            <a:tbl>
              <a:tblPr/>
              <a:tblGrid>
                <a:gridCol w="1260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tblGrid>
              <a:tr h="819877">
                <a:tc>
                  <a:txBody>
                    <a:bodyPr/>
                    <a:lstStyle/>
                    <a:p>
                      <a:pPr algn="ctr" fontAlgn="ctr"/>
                      <a:r>
                        <a:rPr lang="es-ES" sz="1600" b="1" i="0" u="none" strike="noStrike">
                          <a:solidFill>
                            <a:schemeClr val="bg1"/>
                          </a:solidFill>
                          <a:effectLst/>
                          <a:latin typeface="Century Gothic" panose="020B0502020202020204" pitchFamily="34" charset="0"/>
                        </a:rPr>
                        <a:t>Efectivo Anual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NA/SV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dirty="0">
                          <a:solidFill>
                            <a:schemeClr val="bg1"/>
                          </a:solidFill>
                          <a:effectLst/>
                          <a:latin typeface="Century Gothic" panose="020B0502020202020204" pitchFamily="34" charset="0"/>
                        </a:rPr>
                        <a:t>NA/TV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Efectivo Mensual</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NB/MV</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NA/TA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a:txBody>
                    <a:bodyPr/>
                    <a:lstStyle/>
                    <a:p>
                      <a:pPr algn="ctr" fontAlgn="ctr"/>
                      <a:r>
                        <a:rPr lang="es-ES" sz="1600" b="1" i="0" u="none" strike="noStrike">
                          <a:solidFill>
                            <a:schemeClr val="bg1"/>
                          </a:solidFill>
                          <a:effectLst/>
                          <a:latin typeface="Century Gothic" panose="020B0502020202020204" pitchFamily="34" charset="0"/>
                        </a:rPr>
                        <a:t>Anual</a:t>
                      </a:r>
                    </a:p>
                    <a:p>
                      <a:pPr algn="ctr" fontAlgn="ctr"/>
                      <a:r>
                        <a:rPr lang="es-ES" sz="1600" b="1" i="0" u="none" strike="noStrike">
                          <a:solidFill>
                            <a:schemeClr val="bg1"/>
                          </a:solidFill>
                          <a:effectLst/>
                          <a:latin typeface="Century Gothic" panose="020B0502020202020204" pitchFamily="34" charset="0"/>
                        </a:rPr>
                        <a:t>Continua</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10,78%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10,50%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10,37%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0,86%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1,71%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10,23%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9,81%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9,58%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9,47%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0,78%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1,57%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9,25%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9,36%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870">
                <a:tc>
                  <a:txBody>
                    <a:bodyPr/>
                    <a:lstStyle/>
                    <a:p>
                      <a:pPr algn="ctr" fontAlgn="b"/>
                      <a:r>
                        <a:rPr lang="es-ES" sz="1600" b="1" i="0" u="none" strike="noStrike">
                          <a:solidFill>
                            <a:schemeClr val="accent1"/>
                          </a:solidFill>
                          <a:effectLst/>
                          <a:latin typeface="Century Gothic" panose="020B0502020202020204" pitchFamily="34" charset="0"/>
                        </a:rPr>
                        <a:t>10,20%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9,95%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9,83%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0,81%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1,63%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9,60%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9,71%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7,32%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7,19%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7,12%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0,59%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7,00%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7,06%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44,25%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40,20%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38,37%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3,10%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6,20%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35,01%</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36,64%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12,28%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11,93%</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11,75%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0,97%</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a:solidFill>
                            <a:schemeClr val="accent1"/>
                          </a:solidFill>
                          <a:effectLst/>
                          <a:latin typeface="Century Gothic" panose="020B0502020202020204" pitchFamily="34" charset="0"/>
                        </a:rPr>
                        <a:t>1,94%</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11,42%</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11,58%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870">
                <a:tc>
                  <a:txBody>
                    <a:bodyPr/>
                    <a:lstStyle/>
                    <a:p>
                      <a:pPr algn="ctr" fontAlgn="b"/>
                      <a:r>
                        <a:rPr lang="es-ES" sz="1600" b="0" i="0" u="none" strike="noStrike">
                          <a:solidFill>
                            <a:schemeClr val="accent3">
                              <a:lumMod val="50000"/>
                            </a:schemeClr>
                          </a:solidFill>
                          <a:effectLst/>
                          <a:latin typeface="Century Gothic" panose="020B0502020202020204" pitchFamily="34" charset="0"/>
                        </a:rPr>
                        <a:t>6,18%</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6,09%</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6,05%</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0,50%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1,00%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0" i="0" u="none" strike="noStrike">
                          <a:solidFill>
                            <a:schemeClr val="accent3">
                              <a:lumMod val="50000"/>
                            </a:schemeClr>
                          </a:solidFill>
                          <a:effectLst/>
                          <a:latin typeface="Century Gothic" panose="020B0502020202020204" pitchFamily="34" charset="0"/>
                        </a:rPr>
                        <a:t>5,96%</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s-ES" sz="1600" b="1" i="0" u="none" strike="noStrike" dirty="0">
                          <a:solidFill>
                            <a:schemeClr val="accent1"/>
                          </a:solidFill>
                          <a:effectLst/>
                          <a:latin typeface="Century Gothic" panose="020B0502020202020204" pitchFamily="34" charset="0"/>
                        </a:rPr>
                        <a:t>6,00%</a:t>
                      </a:r>
                    </a:p>
                  </a:txBody>
                  <a:tcPr marL="12700" marR="12700" marT="127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CC"/>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1784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B88B-245F-2908-07AE-E62ABF268B03}"/>
              </a:ext>
            </a:extLst>
          </p:cNvPr>
          <p:cNvSpPr>
            <a:spLocks noGrp="1"/>
          </p:cNvSpPr>
          <p:nvPr>
            <p:ph type="title"/>
          </p:nvPr>
        </p:nvSpPr>
        <p:spPr/>
        <p:txBody>
          <a:bodyPr/>
          <a:lstStyle/>
          <a:p>
            <a:r>
              <a:rPr lang="es-ES_tradnl" dirty="0"/>
              <a:t>REPASO: COSTO DE OPORTUNIDAD DE LOS AGENTES ( VDT)</a:t>
            </a:r>
          </a:p>
        </p:txBody>
      </p:sp>
      <p:sp>
        <p:nvSpPr>
          <p:cNvPr id="3" name="Content Placeholder 2">
            <a:extLst>
              <a:ext uri="{FF2B5EF4-FFF2-40B4-BE49-F238E27FC236}">
                <a16:creationId xmlns:a16="http://schemas.microsoft.com/office/drawing/2014/main" id="{2526260A-2BF9-4D36-731B-5A8AEFE0B062}"/>
              </a:ext>
            </a:extLst>
          </p:cNvPr>
          <p:cNvSpPr>
            <a:spLocks noGrp="1"/>
          </p:cNvSpPr>
          <p:nvPr>
            <p:ph idx="1"/>
          </p:nvPr>
        </p:nvSpPr>
        <p:spPr/>
        <p:txBody>
          <a:bodyPr>
            <a:normAutofit lnSpcReduction="10000"/>
          </a:bodyPr>
          <a:lstStyle/>
          <a:p>
            <a:pPr marL="0" indent="0">
              <a:buNone/>
            </a:pPr>
            <a:r>
              <a:rPr lang="es-ES_tradnl" sz="3200" dirty="0">
                <a:solidFill>
                  <a:schemeClr val="accent1"/>
                </a:solidFill>
                <a:latin typeface="Century Gothic" panose="020B0502020202020204" pitchFamily="34" charset="0"/>
              </a:rPr>
              <a:t>Para que un agente renuncie a consumir hoy y prefiera consumir mañana, se le deberá otorgar una compensación monetaria. </a:t>
            </a:r>
          </a:p>
          <a:p>
            <a:pPr marL="0" indent="0">
              <a:buNone/>
            </a:pPr>
            <a:endParaRPr lang="es-ES_tradnl" sz="3200" dirty="0">
              <a:solidFill>
                <a:schemeClr val="accent1"/>
              </a:solidFill>
              <a:latin typeface="Century Gothic" panose="020B0502020202020204" pitchFamily="34" charset="0"/>
            </a:endParaRPr>
          </a:p>
          <a:p>
            <a:r>
              <a:rPr lang="es-ES_tradnl" b="1" dirty="0">
                <a:latin typeface="Century Gothic" panose="020B0502020202020204" pitchFamily="34" charset="0"/>
              </a:rPr>
              <a:t>CONSUMIDOR</a:t>
            </a:r>
            <a:r>
              <a:rPr lang="es-ES_tradnl" dirty="0">
                <a:latin typeface="Century Gothic" panose="020B0502020202020204" pitchFamily="34" charset="0"/>
              </a:rPr>
              <a:t>  C.O. representado en pérdida de capacidad adquisitiva del $. </a:t>
            </a:r>
            <a:r>
              <a:rPr lang="es-ES_tradnl" b="1" dirty="0">
                <a:solidFill>
                  <a:srgbClr val="C00000"/>
                </a:solidFill>
                <a:latin typeface="Century Gothic" panose="020B0502020202020204" pitchFamily="34" charset="0"/>
              </a:rPr>
              <a:t>La inflación</a:t>
            </a:r>
            <a:r>
              <a:rPr lang="es-ES_tradnl" dirty="0">
                <a:latin typeface="Century Gothic" panose="020B0502020202020204" pitchFamily="34" charset="0"/>
              </a:rPr>
              <a:t> </a:t>
            </a:r>
          </a:p>
          <a:p>
            <a:r>
              <a:rPr lang="es-ES_tradnl" b="1" dirty="0">
                <a:solidFill>
                  <a:srgbClr val="D7A700"/>
                </a:solidFill>
                <a:latin typeface="Century Gothic" panose="020B0502020202020204" pitchFamily="34" charset="0"/>
              </a:rPr>
              <a:t>Un consumidor esperará poder consumir mañana al menos lo mismo que consume hoy.</a:t>
            </a:r>
          </a:p>
          <a:p>
            <a:r>
              <a:rPr lang="es-ES_tradnl" b="1" dirty="0"/>
              <a:t>AHORRADOR </a:t>
            </a:r>
            <a:r>
              <a:rPr lang="es-ES_tradnl" dirty="0"/>
              <a:t>	C.O. </a:t>
            </a:r>
            <a:r>
              <a:rPr lang="es-ES_tradnl" b="1" dirty="0">
                <a:solidFill>
                  <a:srgbClr val="C00000"/>
                </a:solidFill>
                <a:latin typeface="Century Gothic" panose="020B0502020202020204" pitchFamily="34" charset="0"/>
              </a:rPr>
              <a:t>La tasa de captación</a:t>
            </a:r>
          </a:p>
          <a:p>
            <a:r>
              <a:rPr lang="es-ES_tradnl" b="1" dirty="0"/>
              <a:t>INVERSIONISTA</a:t>
            </a:r>
            <a:r>
              <a:rPr lang="es-ES_tradnl" dirty="0"/>
              <a:t>    C.O. </a:t>
            </a:r>
            <a:r>
              <a:rPr lang="es-ES_tradnl" dirty="0">
                <a:latin typeface="Century Gothic" panose="020B0502020202020204" pitchFamily="34" charset="0"/>
              </a:rPr>
              <a:t>deuda y </a:t>
            </a:r>
            <a:r>
              <a:rPr lang="es-ES_tradnl" i="1" dirty="0" err="1">
                <a:latin typeface="Century Gothic" panose="020B0502020202020204" pitchFamily="34" charset="0"/>
              </a:rPr>
              <a:t>equity</a:t>
            </a:r>
            <a:r>
              <a:rPr lang="es-ES_tradnl" i="1" dirty="0">
                <a:latin typeface="Century Gothic" panose="020B0502020202020204" pitchFamily="34" charset="0"/>
              </a:rPr>
              <a:t> = </a:t>
            </a:r>
            <a:r>
              <a:rPr lang="es-ES_tradnl" b="1" i="1" dirty="0" err="1">
                <a:solidFill>
                  <a:srgbClr val="C00000"/>
                </a:solidFill>
                <a:latin typeface="Century Gothic" panose="020B0502020202020204" pitchFamily="34" charset="0"/>
              </a:rPr>
              <a:t>Weighted</a:t>
            </a:r>
            <a:r>
              <a:rPr lang="es-ES_tradnl" b="1" i="1" dirty="0">
                <a:solidFill>
                  <a:srgbClr val="C00000"/>
                </a:solidFill>
                <a:latin typeface="Century Gothic" panose="020B0502020202020204" pitchFamily="34" charset="0"/>
              </a:rPr>
              <a:t> </a:t>
            </a:r>
            <a:r>
              <a:rPr lang="es-ES_tradnl" b="1" i="1" dirty="0" err="1">
                <a:solidFill>
                  <a:srgbClr val="C00000"/>
                </a:solidFill>
                <a:latin typeface="Century Gothic" panose="020B0502020202020204" pitchFamily="34" charset="0"/>
              </a:rPr>
              <a:t>Average</a:t>
            </a:r>
            <a:r>
              <a:rPr lang="es-ES_tradnl" b="1" i="1" dirty="0">
                <a:solidFill>
                  <a:srgbClr val="C00000"/>
                </a:solidFill>
                <a:latin typeface="Century Gothic" panose="020B0502020202020204" pitchFamily="34" charset="0"/>
              </a:rPr>
              <a:t> </a:t>
            </a:r>
            <a:r>
              <a:rPr lang="es-ES_tradnl" b="1" i="1" dirty="0" err="1">
                <a:solidFill>
                  <a:srgbClr val="C00000"/>
                </a:solidFill>
                <a:latin typeface="Century Gothic" panose="020B0502020202020204" pitchFamily="34" charset="0"/>
              </a:rPr>
              <a:t>Cost</a:t>
            </a:r>
            <a:r>
              <a:rPr lang="es-ES_tradnl" b="1" i="1" dirty="0">
                <a:solidFill>
                  <a:srgbClr val="C00000"/>
                </a:solidFill>
                <a:latin typeface="Century Gothic" panose="020B0502020202020204" pitchFamily="34" charset="0"/>
              </a:rPr>
              <a:t> </a:t>
            </a:r>
            <a:r>
              <a:rPr lang="es-ES_tradnl" b="1" i="1" dirty="0" err="1">
                <a:solidFill>
                  <a:srgbClr val="C00000"/>
                </a:solidFill>
                <a:latin typeface="Century Gothic" panose="020B0502020202020204" pitchFamily="34" charset="0"/>
              </a:rPr>
              <a:t>of</a:t>
            </a:r>
            <a:r>
              <a:rPr lang="es-ES_tradnl" b="1" i="1" dirty="0">
                <a:solidFill>
                  <a:srgbClr val="C00000"/>
                </a:solidFill>
                <a:latin typeface="Century Gothic" panose="020B0502020202020204" pitchFamily="34" charset="0"/>
              </a:rPr>
              <a:t> Capital</a:t>
            </a:r>
            <a:r>
              <a:rPr lang="es-ES_tradnl" b="1" dirty="0">
                <a:solidFill>
                  <a:srgbClr val="C00000"/>
                </a:solidFill>
                <a:latin typeface="Century Gothic" panose="020B0502020202020204" pitchFamily="34" charset="0"/>
              </a:rPr>
              <a:t> (WACC)</a:t>
            </a:r>
            <a:r>
              <a:rPr lang="es-ES_tradnl" dirty="0">
                <a:latin typeface="Century Gothic" panose="020B0502020202020204" pitchFamily="34" charset="0"/>
              </a:rPr>
              <a:t>.</a:t>
            </a:r>
            <a:endParaRPr lang="es-ES_tradnl" dirty="0"/>
          </a:p>
        </p:txBody>
      </p:sp>
      <p:sp>
        <p:nvSpPr>
          <p:cNvPr id="4" name="Slide Number Placeholder 3">
            <a:extLst>
              <a:ext uri="{FF2B5EF4-FFF2-40B4-BE49-F238E27FC236}">
                <a16:creationId xmlns:a16="http://schemas.microsoft.com/office/drawing/2014/main" id="{BBD65D69-B9AB-F9A1-237C-6987C63C524D}"/>
              </a:ext>
            </a:extLst>
          </p:cNvPr>
          <p:cNvSpPr>
            <a:spLocks noGrp="1"/>
          </p:cNvSpPr>
          <p:nvPr>
            <p:ph type="sldNum" sz="quarter" idx="12"/>
          </p:nvPr>
        </p:nvSpPr>
        <p:spPr/>
        <p:txBody>
          <a:bodyPr/>
          <a:lstStyle/>
          <a:p>
            <a:fld id="{D57F1E4F-1CFF-5643-939E-217C01CDF565}" type="slidenum">
              <a:rPr lang="en-US" smtClean="0"/>
              <a:pPr/>
              <a:t>7</a:t>
            </a:fld>
            <a:endParaRPr lang="en-US"/>
          </a:p>
        </p:txBody>
      </p:sp>
    </p:spTree>
    <p:extLst>
      <p:ext uri="{BB962C8B-B14F-4D97-AF65-F5344CB8AC3E}">
        <p14:creationId xmlns:p14="http://schemas.microsoft.com/office/powerpoint/2010/main" val="3427542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a:t>
            </a:r>
            <a:r>
              <a:rPr lang="es-CO" sz="4000" dirty="0"/>
              <a:t>)</a:t>
            </a: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142674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mj-lt"/>
              </a:rPr>
              <a:pPr/>
              <a:t>9</a:t>
            </a:fld>
            <a:endParaRPr lang="en-US" sz="2000" b="1" dirty="0">
              <a:latin typeface="+mj-lt"/>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50309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endParaRPr lang="es-ES" sz="2400" dirty="0">
              <a:solidFill>
                <a:schemeClr val="accent1"/>
              </a:solidFill>
              <a:cs typeface="Arial"/>
            </a:endParaRPr>
          </a:p>
          <a:p>
            <a:pPr marL="342900" indent="-342900">
              <a:buClr>
                <a:schemeClr val="accent3">
                  <a:lumMod val="75000"/>
                </a:schemeClr>
              </a:buClr>
              <a:buFont typeface="Gill Sans MT" panose="020B0502020104020203"/>
              <a:buAutoNum type="arabicPeriod"/>
            </a:pPr>
            <a:endParaRPr lang="es-ES" sz="2400" dirty="0">
              <a:solidFill>
                <a:schemeClr val="accent1"/>
              </a:solidFill>
              <a:cs typeface="Arial"/>
            </a:endParaRPr>
          </a:p>
          <a:p>
            <a:pPr marL="342900" indent="-342900">
              <a:buClr>
                <a:schemeClr val="accent3">
                  <a:lumMod val="75000"/>
                </a:schemeClr>
              </a:buClr>
              <a:buFont typeface="Gill Sans MT" panose="020B0502020104020203"/>
              <a:buAutoNum type="arabicPeriod"/>
            </a:pPr>
            <a:r>
              <a:rPr lang="es-ES" sz="2400" dirty="0">
                <a:solidFill>
                  <a:schemeClr val="accent1"/>
                </a:solidFill>
                <a:cs typeface="Arial"/>
              </a:rPr>
              <a:t>Introducción a las Relaciones de Equivalencia y supuestos</a:t>
            </a:r>
          </a:p>
          <a:p>
            <a:pPr marL="342900" indent="-342900">
              <a:buClr>
                <a:srgbClr val="2C7C9F"/>
              </a:buClr>
              <a:buFontTx/>
              <a:buAutoNum type="arabicPeriod"/>
            </a:pPr>
            <a:endParaRPr lang="es-CO" sz="2400" dirty="0">
              <a:solidFill>
                <a:schemeClr val="accent1"/>
              </a:solidFill>
              <a:cs typeface="Arial"/>
            </a:endParaRPr>
          </a:p>
          <a:p>
            <a:pPr marL="342900" indent="-342900">
              <a:buClr>
                <a:srgbClr val="48BE7A"/>
              </a:buClr>
              <a:buAutoNum type="arabicPeriod"/>
            </a:pPr>
            <a:r>
              <a:rPr lang="es-CO" sz="2400" dirty="0">
                <a:solidFill>
                  <a:schemeClr val="accent1"/>
                </a:solidFill>
                <a:cs typeface="Arial"/>
              </a:rPr>
              <a:t>Valor Presente y Valor Futuro.</a:t>
            </a:r>
          </a:p>
          <a:p>
            <a:pPr>
              <a:buClr>
                <a:srgbClr val="48BE7A"/>
              </a:buClr>
            </a:pPr>
            <a:endParaRPr lang="es-CO" sz="2400" dirty="0">
              <a:solidFill>
                <a:schemeClr val="accent1"/>
              </a:solidFill>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dirty="0"/>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mj-lt"/>
              </a:rPr>
              <a:pPr/>
              <a:t>10</a:t>
            </a:fld>
            <a:endParaRPr lang="en-US" sz="2000" b="1">
              <a:latin typeface="+mj-lt"/>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50309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endParaRPr lang="es-ES" sz="2400" dirty="0">
              <a:solidFill>
                <a:schemeClr val="accent1"/>
              </a:solidFill>
              <a:latin typeface="+mj-lt"/>
              <a:cs typeface="Arial"/>
            </a:endParaRPr>
          </a:p>
          <a:p>
            <a:pPr marL="342900" indent="-342900">
              <a:buClr>
                <a:schemeClr val="accent3">
                  <a:lumMod val="75000"/>
                </a:schemeClr>
              </a:buClr>
              <a:buFont typeface="Gill Sans MT" panose="020B0502020104020203"/>
              <a:buAutoNum type="arabicPeriod"/>
            </a:pPr>
            <a:endParaRPr lang="es-ES" sz="2400" dirty="0">
              <a:solidFill>
                <a:schemeClr val="accent1"/>
              </a:solidFill>
              <a:latin typeface="+mj-lt"/>
              <a:cs typeface="Arial"/>
            </a:endParaRPr>
          </a:p>
          <a:p>
            <a:pPr marL="342900" indent="-342900">
              <a:buClr>
                <a:schemeClr val="accent3">
                  <a:lumMod val="75000"/>
                </a:schemeClr>
              </a:buClr>
              <a:buFont typeface="Gill Sans MT" panose="020B0502020104020203"/>
              <a:buAutoNum type="arabicPeriod"/>
            </a:pPr>
            <a:r>
              <a:rPr lang="es-ES" sz="2400" dirty="0">
                <a:solidFill>
                  <a:schemeClr val="accent1"/>
                </a:solidFill>
                <a:latin typeface="+mj-lt"/>
                <a:cs typeface="Arial"/>
              </a:rPr>
              <a:t>Introducción a las Relaciones de Equivalencia y supuestos</a:t>
            </a:r>
          </a:p>
          <a:p>
            <a:pPr marL="342900" indent="-342900">
              <a:buClr>
                <a:srgbClr val="2C7C9F"/>
              </a:buClr>
              <a:buFontTx/>
              <a:buAutoNum type="arabicPeriod"/>
            </a:pPr>
            <a:endParaRPr lang="es-CO" sz="2400" dirty="0">
              <a:solidFill>
                <a:schemeClr val="accent1"/>
              </a:solidFill>
              <a:latin typeface="+mj-lt"/>
              <a:cs typeface="Arial"/>
            </a:endParaRPr>
          </a:p>
          <a:p>
            <a:pPr marL="342900" indent="-342900">
              <a:buClr>
                <a:srgbClr val="48BE7A"/>
              </a:buClr>
              <a:buAutoNum type="arabicPeriod"/>
            </a:pPr>
            <a:r>
              <a:rPr lang="es-CO" sz="2400" dirty="0">
                <a:solidFill>
                  <a:schemeClr val="bg2">
                    <a:lumMod val="90000"/>
                  </a:schemeClr>
                </a:solidFill>
                <a:latin typeface="+mj-lt"/>
                <a:cs typeface="Arial"/>
              </a:rPr>
              <a:t>Valor Presente y Valor Futuro.</a:t>
            </a:r>
          </a:p>
          <a:p>
            <a:pPr>
              <a:buClr>
                <a:srgbClr val="48BE7A"/>
              </a:buClr>
            </a:pPr>
            <a:endParaRPr lang="es-CO" sz="2400" dirty="0">
              <a:solidFill>
                <a:schemeClr val="bg2">
                  <a:lumMod val="90000"/>
                </a:schemeClr>
              </a:solidFill>
              <a:latin typeface="+mj-lt"/>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CBF1C7D-60A8-87A6-A88F-8AF0C30B775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06660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09114" y="2082965"/>
            <a:ext cx="7886700" cy="759526"/>
          </a:xfrm>
        </p:spPr>
        <p:txBody>
          <a:bodyPr>
            <a:normAutofit/>
          </a:bodyPr>
          <a:lstStyle/>
          <a:p>
            <a:pPr marL="0" indent="0" algn="ctr">
              <a:buNone/>
            </a:pPr>
            <a:r>
              <a:rPr lang="es-ES_tradnl" sz="2400" dirty="0">
                <a:solidFill>
                  <a:srgbClr val="C00000"/>
                </a:solidFill>
              </a:rPr>
              <a:t>¿Invertiría usted en este proyecto?</a:t>
            </a:r>
          </a:p>
        </p:txBody>
      </p:sp>
      <p:sp>
        <p:nvSpPr>
          <p:cNvPr id="4" name="Slide Number Placeholder 3"/>
          <p:cNvSpPr>
            <a:spLocks noGrp="1"/>
          </p:cNvSpPr>
          <p:nvPr>
            <p:ph type="sldNum" sz="quarter" idx="12"/>
          </p:nvPr>
        </p:nvSpPr>
        <p:spPr/>
        <p:txBody>
          <a:bodyPr/>
          <a:lstStyle/>
          <a:p>
            <a:fld id="{5E3E23BA-6E79-2442-BA73-D218A5E297C3}" type="slidenum">
              <a:rPr lang="en-US" sz="2000" smtClean="0"/>
              <a:t>11</a:t>
            </a:fld>
            <a:endParaRPr lang="en-US" sz="2000" dirty="0"/>
          </a:p>
        </p:txBody>
      </p:sp>
      <p:cxnSp>
        <p:nvCxnSpPr>
          <p:cNvPr id="5" name="Straight Connector 4"/>
          <p:cNvCxnSpPr/>
          <p:nvPr/>
        </p:nvCxnSpPr>
        <p:spPr>
          <a:xfrm>
            <a:off x="3131107" y="4389393"/>
            <a:ext cx="6191592"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3131107" y="438939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4051031" y="393066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124460" y="393066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183934" y="369768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189796" y="369768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8263225" y="3446461"/>
            <a:ext cx="0"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flipV="1">
            <a:off x="9322699" y="3446461"/>
            <a:ext cx="2"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3045506" y="401539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3867442"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4955930"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6015404" y="44956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7021266" y="45121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8094695"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9154169"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2187524" y="539779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21" name="Rectangle 20"/>
          <p:cNvSpPr>
            <a:spLocks/>
          </p:cNvSpPr>
          <p:nvPr/>
        </p:nvSpPr>
        <p:spPr bwMode="auto">
          <a:xfrm>
            <a:off x="3412305" y="3548513"/>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2" name="Rectangle 21"/>
          <p:cNvSpPr>
            <a:spLocks/>
          </p:cNvSpPr>
          <p:nvPr/>
        </p:nvSpPr>
        <p:spPr bwMode="auto">
          <a:xfrm>
            <a:off x="5441379" y="333493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7" name="Rectangle 26"/>
          <p:cNvSpPr>
            <a:spLocks/>
          </p:cNvSpPr>
          <p:nvPr/>
        </p:nvSpPr>
        <p:spPr bwMode="auto">
          <a:xfrm>
            <a:off x="6376745" y="333493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8" name="Rectangle 27"/>
          <p:cNvSpPr>
            <a:spLocks/>
          </p:cNvSpPr>
          <p:nvPr/>
        </p:nvSpPr>
        <p:spPr bwMode="auto">
          <a:xfrm>
            <a:off x="7480259" y="3088712"/>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29" name="Rectangle 28"/>
          <p:cNvSpPr>
            <a:spLocks/>
          </p:cNvSpPr>
          <p:nvPr/>
        </p:nvSpPr>
        <p:spPr bwMode="auto">
          <a:xfrm>
            <a:off x="8522612" y="3088712"/>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30" name="Rectangle 29"/>
          <p:cNvSpPr>
            <a:spLocks/>
          </p:cNvSpPr>
          <p:nvPr/>
        </p:nvSpPr>
        <p:spPr bwMode="auto">
          <a:xfrm>
            <a:off x="4485734" y="3540645"/>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3" name="CuadroTexto 22"/>
          <p:cNvSpPr txBox="1"/>
          <p:nvPr/>
        </p:nvSpPr>
        <p:spPr>
          <a:xfrm>
            <a:off x="9471178" y="4157128"/>
            <a:ext cx="724878" cy="400110"/>
          </a:xfrm>
          <a:prstGeom prst="rect">
            <a:avLst/>
          </a:prstGeom>
          <a:noFill/>
        </p:spPr>
        <p:txBody>
          <a:bodyPr wrap="none" rtlCol="0">
            <a:spAutoFit/>
          </a:bodyPr>
          <a:lstStyle/>
          <a:p>
            <a:r>
              <a:rPr lang="es-CO" sz="2000"/>
              <a:t>Años</a:t>
            </a:r>
          </a:p>
        </p:txBody>
      </p:sp>
      <p:sp>
        <p:nvSpPr>
          <p:cNvPr id="34" name="Title 1">
            <a:extLst>
              <a:ext uri="{FF2B5EF4-FFF2-40B4-BE49-F238E27FC236}">
                <a16:creationId xmlns:a16="http://schemas.microsoft.com/office/drawing/2014/main" id="{3F30623A-47BF-82DF-41BB-E7B4052182C7}"/>
              </a:ext>
            </a:extLst>
          </p:cNvPr>
          <p:cNvSpPr>
            <a:spLocks noGrp="1"/>
          </p:cNvSpPr>
          <p:nvPr>
            <p:ph type="title"/>
          </p:nvPr>
        </p:nvSpPr>
        <p:spPr>
          <a:xfrm>
            <a:off x="581192" y="702156"/>
            <a:ext cx="11029616" cy="1013800"/>
          </a:xfrm>
        </p:spPr>
        <p:txBody>
          <a:bodyPr>
            <a:normAutofit/>
          </a:bodyPr>
          <a:lstStyle/>
          <a:p>
            <a:r>
              <a:rPr lang="es-ES_tradnl" sz="3200" dirty="0"/>
              <a:t>RELACIONES DE EQUIVALENCIA</a:t>
            </a:r>
          </a:p>
        </p:txBody>
      </p:sp>
      <p:sp>
        <p:nvSpPr>
          <p:cNvPr id="35" name="Rectángulo 34">
            <a:extLst>
              <a:ext uri="{FF2B5EF4-FFF2-40B4-BE49-F238E27FC236}">
                <a16:creationId xmlns:a16="http://schemas.microsoft.com/office/drawing/2014/main" id="{803CED1B-8E57-F27A-202E-661D8C2316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6" name="Picture 2" descr="Clientes y aliados | Centro de Evaluación | Uniandes">
            <a:extLst>
              <a:ext uri="{FF2B5EF4-FFF2-40B4-BE49-F238E27FC236}">
                <a16:creationId xmlns:a16="http://schemas.microsoft.com/office/drawing/2014/main" id="{B5098769-C082-80BC-C8B6-9660D009F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7" name="Rectángulo 36">
            <a:extLst>
              <a:ext uri="{FF2B5EF4-FFF2-40B4-BE49-F238E27FC236}">
                <a16:creationId xmlns:a16="http://schemas.microsoft.com/office/drawing/2014/main" id="{8D1C7640-29B7-B5D8-F63B-F5343F407AB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82795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299248"/>
            <a:ext cx="11029616" cy="3839451"/>
          </a:xfrm>
        </p:spPr>
        <p:txBody>
          <a:bodyPr>
            <a:noAutofit/>
          </a:bodyPr>
          <a:lstStyle/>
          <a:p>
            <a:pPr algn="just"/>
            <a:r>
              <a:rPr lang="es-ES_tradnl" sz="2400" dirty="0"/>
              <a:t>Si no se cuenta con información adicional, no se podrá dar una respuesta técnica a la anterior pregunta.</a:t>
            </a:r>
          </a:p>
          <a:p>
            <a:pPr algn="just"/>
            <a:r>
              <a:rPr lang="es-ES_tradnl" sz="2400" dirty="0"/>
              <a:t>Es importante recordar los conceptos vistos hasta ahora:</a:t>
            </a:r>
          </a:p>
          <a:p>
            <a:pPr marL="0" indent="0" algn="just">
              <a:buNone/>
            </a:pPr>
            <a:r>
              <a:rPr lang="es-ES_tradnl" sz="2400" dirty="0"/>
              <a:t>	-VDT</a:t>
            </a:r>
          </a:p>
          <a:p>
            <a:pPr marL="0" indent="0" algn="just">
              <a:buNone/>
            </a:pPr>
            <a:r>
              <a:rPr lang="es-ES_tradnl" sz="2400" dirty="0"/>
              <a:t>	-Costo de Oportunidad</a:t>
            </a:r>
          </a:p>
        </p:txBody>
      </p:sp>
      <p:sp>
        <p:nvSpPr>
          <p:cNvPr id="4" name="Slide Number Placeholder 3"/>
          <p:cNvSpPr>
            <a:spLocks noGrp="1"/>
          </p:cNvSpPr>
          <p:nvPr>
            <p:ph type="sldNum" sz="quarter" idx="12"/>
          </p:nvPr>
        </p:nvSpPr>
        <p:spPr/>
        <p:txBody>
          <a:bodyPr/>
          <a:lstStyle/>
          <a:p>
            <a:fld id="{5E3E23BA-6E79-2442-BA73-D218A5E297C3}" type="slidenum">
              <a:rPr lang="en-US" sz="2000" smtClean="0"/>
              <a:t>12</a:t>
            </a:fld>
            <a:endParaRPr lang="en-US" sz="2000" dirty="0"/>
          </a:p>
        </p:txBody>
      </p:sp>
      <p:sp>
        <p:nvSpPr>
          <p:cNvPr id="6" name="Title 1">
            <a:extLst>
              <a:ext uri="{FF2B5EF4-FFF2-40B4-BE49-F238E27FC236}">
                <a16:creationId xmlns:a16="http://schemas.microsoft.com/office/drawing/2014/main" id="{0691A800-2C32-87B0-6B25-90486F4199BA}"/>
              </a:ext>
            </a:extLst>
          </p:cNvPr>
          <p:cNvSpPr>
            <a:spLocks noGrp="1"/>
          </p:cNvSpPr>
          <p:nvPr>
            <p:ph type="title"/>
          </p:nvPr>
        </p:nvSpPr>
        <p:spPr>
          <a:xfrm>
            <a:off x="581192" y="702156"/>
            <a:ext cx="11029616" cy="1013800"/>
          </a:xfrm>
        </p:spPr>
        <p:txBody>
          <a:bodyPr>
            <a:normAutofit/>
          </a:bodyPr>
          <a:lstStyle/>
          <a:p>
            <a:r>
              <a:rPr lang="es-ES_tradnl" sz="3200" dirty="0"/>
              <a:t>RELACIONES DE EQUIVALENCIA</a:t>
            </a:r>
          </a:p>
        </p:txBody>
      </p:sp>
      <p:sp>
        <p:nvSpPr>
          <p:cNvPr id="7" name="Rectángulo 6">
            <a:extLst>
              <a:ext uri="{FF2B5EF4-FFF2-40B4-BE49-F238E27FC236}">
                <a16:creationId xmlns:a16="http://schemas.microsoft.com/office/drawing/2014/main" id="{0C3CA7A9-59CF-6D44-D194-61C008BA247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D703278-F61E-8E84-73B4-E7FD578538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B8E05C71-2E5D-9219-2AB1-87CE8E1D5DF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3536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0419" y="2650495"/>
            <a:ext cx="11029616" cy="3670767"/>
          </a:xfrm>
        </p:spPr>
        <p:txBody>
          <a:bodyPr>
            <a:noAutofit/>
          </a:bodyPr>
          <a:lstStyle/>
          <a:p>
            <a:pPr algn="just"/>
            <a:r>
              <a:rPr lang="es-ES_tradnl" sz="2400" dirty="0"/>
              <a:t>Trayendo a colación los anteriores conceptos, para cualquier agente económico </a:t>
            </a:r>
            <a:r>
              <a:rPr lang="es-ES_tradnl" sz="2400" dirty="0">
                <a:solidFill>
                  <a:srgbClr val="C00000"/>
                </a:solidFill>
              </a:rPr>
              <a:t>el dinero pierde valor en el tiempo</a:t>
            </a:r>
            <a:r>
              <a:rPr lang="es-ES_tradnl" sz="2400" dirty="0"/>
              <a:t>.</a:t>
            </a:r>
          </a:p>
          <a:p>
            <a:pPr algn="just"/>
            <a:r>
              <a:rPr lang="es-ES_tradnl" sz="2400" dirty="0"/>
              <a:t>Es decir, sumas de dinero en diferentes momentos del tiempo </a:t>
            </a:r>
            <a:r>
              <a:rPr lang="es-ES_tradnl" sz="2400" dirty="0">
                <a:solidFill>
                  <a:srgbClr val="C00000"/>
                </a:solidFill>
              </a:rPr>
              <a:t>no son directamente comparables</a:t>
            </a:r>
            <a:r>
              <a:rPr lang="es-ES_tradnl" sz="2400" dirty="0"/>
              <a:t>.</a:t>
            </a:r>
          </a:p>
          <a:p>
            <a:pPr algn="just"/>
            <a:r>
              <a:rPr lang="es-ES_tradnl" sz="2400" dirty="0"/>
              <a:t>En la vida práctica es necesario manipular cantidades monetarias que están puestas en diferentes momentos del tiempo.</a:t>
            </a:r>
          </a:p>
          <a:p>
            <a:pPr algn="just"/>
            <a:endParaRPr lang="es-ES_tradnl" sz="2400" dirty="0"/>
          </a:p>
          <a:p>
            <a:pPr marL="0" indent="0" algn="ctr">
              <a:buNone/>
            </a:pPr>
            <a:r>
              <a:rPr lang="es-ES_tradnl" sz="2400" dirty="0">
                <a:solidFill>
                  <a:srgbClr val="800000"/>
                </a:solidFill>
              </a:rPr>
              <a:t>¿Cómo se puede hacer lo anterior sin violar NUNCA el VDT?</a:t>
            </a:r>
          </a:p>
          <a:p>
            <a:pPr marL="0" indent="0" algn="ctr">
              <a:buNone/>
            </a:pPr>
            <a:br>
              <a:rPr lang="es-ES_tradnl" sz="2400" dirty="0">
                <a:solidFill>
                  <a:srgbClr val="800000"/>
                </a:solidFill>
              </a:rPr>
            </a:br>
            <a:r>
              <a:rPr lang="es-ES_tradnl" sz="2400" dirty="0">
                <a:solidFill>
                  <a:srgbClr val="800000"/>
                </a:solidFill>
              </a:rPr>
              <a:t>	¡Las relaciones de equivalencia!</a:t>
            </a:r>
            <a:endParaRPr lang="es-ES_tradnl" sz="2400" dirty="0"/>
          </a:p>
          <a:p>
            <a:pPr marL="0" indent="0" algn="ctr">
              <a:buNone/>
            </a:pPr>
            <a:endParaRPr lang="es-ES_tradnl" sz="2400" dirty="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z="2000" smtClean="0"/>
              <a:t>13</a:t>
            </a:fld>
            <a:endParaRPr lang="en-US" sz="2000" dirty="0"/>
          </a:p>
        </p:txBody>
      </p:sp>
      <p:sp>
        <p:nvSpPr>
          <p:cNvPr id="6" name="Title 1">
            <a:extLst>
              <a:ext uri="{FF2B5EF4-FFF2-40B4-BE49-F238E27FC236}">
                <a16:creationId xmlns:a16="http://schemas.microsoft.com/office/drawing/2014/main" id="{73BCC7AC-681D-6B0E-AC65-EE4B8C302DC0}"/>
              </a:ext>
            </a:extLst>
          </p:cNvPr>
          <p:cNvSpPr>
            <a:spLocks noGrp="1"/>
          </p:cNvSpPr>
          <p:nvPr>
            <p:ph type="title"/>
          </p:nvPr>
        </p:nvSpPr>
        <p:spPr>
          <a:xfrm>
            <a:off x="581192" y="702156"/>
            <a:ext cx="11029616" cy="1013800"/>
          </a:xfrm>
        </p:spPr>
        <p:txBody>
          <a:bodyPr>
            <a:normAutofit/>
          </a:bodyPr>
          <a:lstStyle/>
          <a:p>
            <a:r>
              <a:rPr lang="es-ES_tradnl" sz="3200" dirty="0"/>
              <a:t>RELACIONES DE EQUIVALENCIA</a:t>
            </a:r>
          </a:p>
        </p:txBody>
      </p:sp>
      <p:sp>
        <p:nvSpPr>
          <p:cNvPr id="7" name="Rectángulo 6">
            <a:extLst>
              <a:ext uri="{FF2B5EF4-FFF2-40B4-BE49-F238E27FC236}">
                <a16:creationId xmlns:a16="http://schemas.microsoft.com/office/drawing/2014/main" id="{F28D07D5-8049-6CD2-3D66-3CDA67988F4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B34AC43-2B8E-D55C-BC05-6FAB71FDE9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5DEA47E9-C718-13E6-8874-33F6D0356BF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21213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1E7E8-E703-EE94-4A10-3427C18316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1658BC-5C10-1689-4029-71F8B1E1E67D}"/>
              </a:ext>
            </a:extLst>
          </p:cNvPr>
          <p:cNvSpPr>
            <a:spLocks noGrp="1"/>
          </p:cNvSpPr>
          <p:nvPr>
            <p:ph idx="1"/>
          </p:nvPr>
        </p:nvSpPr>
        <p:spPr>
          <a:xfrm>
            <a:off x="520419" y="2374270"/>
            <a:ext cx="11029616" cy="3670767"/>
          </a:xfrm>
        </p:spPr>
        <p:txBody>
          <a:bodyPr>
            <a:noAutofit/>
          </a:bodyPr>
          <a:lstStyle/>
          <a:p>
            <a:pPr marL="0" indent="0" algn="ctr">
              <a:buNone/>
            </a:pPr>
            <a:r>
              <a:rPr lang="es-ES_tradnl" sz="2400" dirty="0">
                <a:solidFill>
                  <a:srgbClr val="800000"/>
                </a:solidFill>
              </a:rPr>
              <a:t>Principio de equivalencia</a:t>
            </a:r>
          </a:p>
          <a:p>
            <a:pPr marL="0" indent="0" algn="ctr">
              <a:buNone/>
            </a:pPr>
            <a:endParaRPr lang="es-ES_tradnl" sz="2000" dirty="0"/>
          </a:p>
          <a:p>
            <a:pPr marL="0" indent="0" algn="ctr">
              <a:spcBef>
                <a:spcPts val="0"/>
              </a:spcBef>
              <a:spcAft>
                <a:spcPts val="0"/>
              </a:spcAft>
              <a:buNone/>
            </a:pPr>
            <a:r>
              <a:rPr lang="es-ES_tradnl" sz="2400" dirty="0"/>
              <a:t>Dos cantidades de dinero en distintos momentos del tiempo son equivalentes si, al aplicar una tasa de interés apropiada, producen el mismo valor en un momento específico (ya sea en el presente o en el futuro).</a:t>
            </a:r>
          </a:p>
          <a:p>
            <a:pPr marL="0" indent="0" algn="ctr">
              <a:spcBef>
                <a:spcPts val="0"/>
              </a:spcBef>
              <a:spcAft>
                <a:spcPts val="0"/>
              </a:spcAft>
              <a:buNone/>
            </a:pPr>
            <a:endParaRPr lang="es-ES_tradnl" sz="2000" dirty="0"/>
          </a:p>
          <a:p>
            <a:pPr marL="0" indent="0" algn="ctr">
              <a:spcBef>
                <a:spcPts val="0"/>
              </a:spcBef>
              <a:spcAft>
                <a:spcPts val="0"/>
              </a:spcAft>
              <a:buNone/>
            </a:pPr>
            <a:r>
              <a:rPr lang="es-ES_tradnl" sz="2400" dirty="0"/>
              <a:t>La equivalencia se establece mediante el uso de fórmulas que permiten convertir cantidades de dinero que se encuentran en diferentes periodos de tiempo a un periodo de referencia. </a:t>
            </a:r>
            <a:endParaRPr lang="es-ES_tradnl" sz="2400" dirty="0">
              <a:solidFill>
                <a:srgbClr val="800000"/>
              </a:solidFill>
            </a:endParaRPr>
          </a:p>
        </p:txBody>
      </p:sp>
      <p:sp>
        <p:nvSpPr>
          <p:cNvPr id="4" name="Slide Number Placeholder 3">
            <a:extLst>
              <a:ext uri="{FF2B5EF4-FFF2-40B4-BE49-F238E27FC236}">
                <a16:creationId xmlns:a16="http://schemas.microsoft.com/office/drawing/2014/main" id="{F87C9F04-1303-5992-7E59-C0FE1881BADE}"/>
              </a:ext>
            </a:extLst>
          </p:cNvPr>
          <p:cNvSpPr>
            <a:spLocks noGrp="1"/>
          </p:cNvSpPr>
          <p:nvPr>
            <p:ph type="sldNum" sz="quarter" idx="12"/>
          </p:nvPr>
        </p:nvSpPr>
        <p:spPr/>
        <p:txBody>
          <a:bodyPr/>
          <a:lstStyle/>
          <a:p>
            <a:fld id="{5E3E23BA-6E79-2442-BA73-D218A5E297C3}" type="slidenum">
              <a:rPr lang="en-US" sz="2000" smtClean="0"/>
              <a:t>14</a:t>
            </a:fld>
            <a:endParaRPr lang="en-US" sz="2000" dirty="0"/>
          </a:p>
        </p:txBody>
      </p:sp>
      <p:sp>
        <p:nvSpPr>
          <p:cNvPr id="6" name="Title 1">
            <a:extLst>
              <a:ext uri="{FF2B5EF4-FFF2-40B4-BE49-F238E27FC236}">
                <a16:creationId xmlns:a16="http://schemas.microsoft.com/office/drawing/2014/main" id="{40CF043E-C764-87C2-7F95-DC3CD57C230D}"/>
              </a:ext>
            </a:extLst>
          </p:cNvPr>
          <p:cNvSpPr>
            <a:spLocks noGrp="1"/>
          </p:cNvSpPr>
          <p:nvPr>
            <p:ph type="title"/>
          </p:nvPr>
        </p:nvSpPr>
        <p:spPr>
          <a:xfrm>
            <a:off x="581192" y="702156"/>
            <a:ext cx="11029616" cy="1013800"/>
          </a:xfrm>
        </p:spPr>
        <p:txBody>
          <a:bodyPr>
            <a:normAutofit/>
          </a:bodyPr>
          <a:lstStyle/>
          <a:p>
            <a:r>
              <a:rPr lang="es-ES_tradnl" sz="3200" dirty="0"/>
              <a:t>RELACIONES DE EQUIVALENCIA</a:t>
            </a:r>
          </a:p>
        </p:txBody>
      </p:sp>
      <p:sp>
        <p:nvSpPr>
          <p:cNvPr id="7" name="Rectángulo 6">
            <a:extLst>
              <a:ext uri="{FF2B5EF4-FFF2-40B4-BE49-F238E27FC236}">
                <a16:creationId xmlns:a16="http://schemas.microsoft.com/office/drawing/2014/main" id="{C43B2AC2-DA5D-CEC0-C5E4-865F4A6BB1E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E1ACB27-2B7D-862A-622D-94CFF5EF5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CA594010-1258-D4D1-9AB8-E3EBC4A45DF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6513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706618"/>
            <a:ext cx="11029616" cy="4252748"/>
          </a:xfrm>
        </p:spPr>
        <p:txBody>
          <a:bodyPr>
            <a:normAutofit/>
          </a:bodyPr>
          <a:lstStyle/>
          <a:p>
            <a:pPr marL="0" indent="0" algn="ctr">
              <a:buNone/>
            </a:pPr>
            <a:r>
              <a:rPr lang="es-ES_tradnl" sz="2400" dirty="0"/>
              <a:t>Las matemáticas financieras nos permiten manejar y comparar cantidades monetarias a lo largo del tiempo.</a:t>
            </a:r>
          </a:p>
          <a:p>
            <a:pPr marL="0" indent="0" algn="ctr">
              <a:buNone/>
            </a:pPr>
            <a:endParaRPr lang="es-ES_tradnl" sz="2400" dirty="0"/>
          </a:p>
          <a:p>
            <a:r>
              <a:rPr lang="es-ES_tradnl" sz="2400" dirty="0"/>
              <a:t>Para su uso técnico y adecuado, se deben tener en cuenta ciertas consideraciones:</a:t>
            </a:r>
          </a:p>
          <a:p>
            <a:pPr marL="0" indent="0">
              <a:buNone/>
            </a:pPr>
            <a:r>
              <a:rPr lang="es-ES_tradnl" sz="2400" dirty="0">
                <a:solidFill>
                  <a:srgbClr val="800000"/>
                </a:solidFill>
              </a:rPr>
              <a:t>Supuesto 1: </a:t>
            </a:r>
            <a:r>
              <a:rPr lang="es-ES_tradnl" sz="2400" dirty="0"/>
              <a:t>Se asume reinversión de interés. </a:t>
            </a:r>
          </a:p>
          <a:p>
            <a:pPr marL="0" indent="0">
              <a:buNone/>
            </a:pPr>
            <a:r>
              <a:rPr lang="es-ES_tradnl" sz="2400" dirty="0">
                <a:solidFill>
                  <a:srgbClr val="800000"/>
                </a:solidFill>
              </a:rPr>
              <a:t>Supuesto 2: </a:t>
            </a:r>
            <a:r>
              <a:rPr lang="es-ES_tradnl" sz="2400" dirty="0"/>
              <a:t>Se asume interés vencido.</a:t>
            </a:r>
          </a:p>
          <a:p>
            <a:pPr marL="0" indent="0">
              <a:buNone/>
            </a:pPr>
            <a:r>
              <a:rPr lang="es-ES_tradnl" sz="2400" dirty="0">
                <a:solidFill>
                  <a:srgbClr val="800000"/>
                </a:solidFill>
              </a:rPr>
              <a:t>Supuesto 3:</a:t>
            </a:r>
            <a:r>
              <a:rPr lang="es-ES_tradnl" sz="2400" dirty="0"/>
              <a:t> La tasa de interés permanece constante durante el periodo de análisis.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15</a:t>
            </a:fld>
            <a:endParaRPr lang="en-US" sz="2000" dirty="0"/>
          </a:p>
        </p:txBody>
      </p:sp>
      <p:sp>
        <p:nvSpPr>
          <p:cNvPr id="6" name="Title 1">
            <a:extLst>
              <a:ext uri="{FF2B5EF4-FFF2-40B4-BE49-F238E27FC236}">
                <a16:creationId xmlns:a16="http://schemas.microsoft.com/office/drawing/2014/main" id="{278CC989-7D02-F3B2-ED6D-C46DB2C25D3A}"/>
              </a:ext>
            </a:extLst>
          </p:cNvPr>
          <p:cNvSpPr>
            <a:spLocks noGrp="1"/>
          </p:cNvSpPr>
          <p:nvPr>
            <p:ph type="title"/>
          </p:nvPr>
        </p:nvSpPr>
        <p:spPr>
          <a:xfrm>
            <a:off x="581192" y="702156"/>
            <a:ext cx="11029616" cy="1013800"/>
          </a:xfrm>
        </p:spPr>
        <p:txBody>
          <a:bodyPr>
            <a:normAutofit/>
          </a:bodyPr>
          <a:lstStyle/>
          <a:p>
            <a:r>
              <a:rPr lang="es-ES_tradnl" sz="3200" dirty="0"/>
              <a:t>RELACIONES DE EQUIVALENCIA</a:t>
            </a:r>
          </a:p>
        </p:txBody>
      </p:sp>
      <p:sp>
        <p:nvSpPr>
          <p:cNvPr id="7" name="Rectángulo 6">
            <a:extLst>
              <a:ext uri="{FF2B5EF4-FFF2-40B4-BE49-F238E27FC236}">
                <a16:creationId xmlns:a16="http://schemas.microsoft.com/office/drawing/2014/main" id="{4BFA0D5A-5CA9-E7FE-29AF-7AA41B0934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5A43A97-B608-6F96-7A6B-5665C85BB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BBB5628E-EC80-D73C-FD36-EDF2CAE4355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00343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6230" y="1934613"/>
            <a:ext cx="7610476" cy="567086"/>
          </a:xfrm>
        </p:spPr>
        <p:txBody>
          <a:bodyPr>
            <a:normAutofit/>
          </a:bodyPr>
          <a:lstStyle/>
          <a:p>
            <a:r>
              <a:rPr lang="es-ES_tradnl" sz="2400"/>
              <a:t>Volvamos al ejemplo anterior</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16</a:t>
            </a:fld>
            <a:endParaRPr lang="en-US" sz="2000" dirty="0"/>
          </a:p>
        </p:txBody>
      </p:sp>
      <p:cxnSp>
        <p:nvCxnSpPr>
          <p:cNvPr id="5" name="Straight Connector 4"/>
          <p:cNvCxnSpPr/>
          <p:nvPr/>
        </p:nvCxnSpPr>
        <p:spPr>
          <a:xfrm>
            <a:off x="2850160" y="4015701"/>
            <a:ext cx="6191592"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2850160" y="4015702"/>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3770084" y="355697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843513" y="355697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5902987" y="3323990"/>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6908849" y="3323990"/>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7982278" y="3072769"/>
            <a:ext cx="0"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flipV="1">
            <a:off x="9041752" y="3072769"/>
            <a:ext cx="2"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2764559" y="3641704"/>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3586495"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4674983"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5734457" y="412199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6740319" y="41384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7813748"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8873222"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1906577" y="5024102"/>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21" name="Rectangle 20"/>
          <p:cNvSpPr>
            <a:spLocks/>
          </p:cNvSpPr>
          <p:nvPr/>
        </p:nvSpPr>
        <p:spPr bwMode="auto">
          <a:xfrm>
            <a:off x="3131358" y="317482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2" name="Rectangle 21"/>
          <p:cNvSpPr>
            <a:spLocks/>
          </p:cNvSpPr>
          <p:nvPr/>
        </p:nvSpPr>
        <p:spPr bwMode="auto">
          <a:xfrm>
            <a:off x="5160432" y="2961241"/>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3" name="Rectangle 22"/>
          <p:cNvSpPr>
            <a:spLocks/>
          </p:cNvSpPr>
          <p:nvPr/>
        </p:nvSpPr>
        <p:spPr bwMode="auto">
          <a:xfrm>
            <a:off x="6095798" y="2961241"/>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4" name="Rectangle 23"/>
          <p:cNvSpPr>
            <a:spLocks/>
          </p:cNvSpPr>
          <p:nvPr/>
        </p:nvSpPr>
        <p:spPr bwMode="auto">
          <a:xfrm>
            <a:off x="7199312" y="2715020"/>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25" name="Rectangle 24"/>
          <p:cNvSpPr>
            <a:spLocks/>
          </p:cNvSpPr>
          <p:nvPr/>
        </p:nvSpPr>
        <p:spPr bwMode="auto">
          <a:xfrm>
            <a:off x="8241665" y="2715020"/>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26" name="Rectangle 25"/>
          <p:cNvSpPr>
            <a:spLocks/>
          </p:cNvSpPr>
          <p:nvPr/>
        </p:nvSpPr>
        <p:spPr bwMode="auto">
          <a:xfrm>
            <a:off x="4204787" y="3166953"/>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7" name="Content Placeholder 2"/>
          <p:cNvSpPr txBox="1">
            <a:spLocks/>
          </p:cNvSpPr>
          <p:nvPr/>
        </p:nvSpPr>
        <p:spPr>
          <a:xfrm>
            <a:off x="639097" y="5551624"/>
            <a:ext cx="10913805" cy="717456"/>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dirty="0">
                <a:solidFill>
                  <a:srgbClr val="800000"/>
                </a:solidFill>
              </a:rPr>
              <a:t>¿Es correcto afirmar que el proyecto es bueno porque deja 200 de ganancia?</a:t>
            </a:r>
          </a:p>
        </p:txBody>
      </p:sp>
      <p:sp>
        <p:nvSpPr>
          <p:cNvPr id="29" name="Title 1">
            <a:extLst>
              <a:ext uri="{FF2B5EF4-FFF2-40B4-BE49-F238E27FC236}">
                <a16:creationId xmlns:a16="http://schemas.microsoft.com/office/drawing/2014/main" id="{91F646BB-A291-478C-7AB4-0C63EB61215E}"/>
              </a:ext>
            </a:extLst>
          </p:cNvPr>
          <p:cNvSpPr>
            <a:spLocks noGrp="1"/>
          </p:cNvSpPr>
          <p:nvPr>
            <p:ph type="title"/>
          </p:nvPr>
        </p:nvSpPr>
        <p:spPr>
          <a:xfrm>
            <a:off x="581192" y="702156"/>
            <a:ext cx="11029616" cy="1013800"/>
          </a:xfrm>
        </p:spPr>
        <p:txBody>
          <a:bodyPr>
            <a:normAutofit/>
          </a:bodyPr>
          <a:lstStyle/>
          <a:p>
            <a:r>
              <a:rPr lang="es-ES_tradnl" sz="3200" dirty="0"/>
              <a:t>RELACIONES DE EQUIVALENCIA</a:t>
            </a:r>
          </a:p>
        </p:txBody>
      </p:sp>
      <p:sp>
        <p:nvSpPr>
          <p:cNvPr id="30" name="Rectángulo 29">
            <a:extLst>
              <a:ext uri="{FF2B5EF4-FFF2-40B4-BE49-F238E27FC236}">
                <a16:creationId xmlns:a16="http://schemas.microsoft.com/office/drawing/2014/main" id="{77669ABF-B714-2111-4798-6368E341D7E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1" name="Picture 2" descr="Clientes y aliados | Centro de Evaluación | Uniandes">
            <a:extLst>
              <a:ext uri="{FF2B5EF4-FFF2-40B4-BE49-F238E27FC236}">
                <a16:creationId xmlns:a16="http://schemas.microsoft.com/office/drawing/2014/main" id="{D2CA0705-23B9-1066-357A-D22C454160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2" name="Rectángulo 31">
            <a:extLst>
              <a:ext uri="{FF2B5EF4-FFF2-40B4-BE49-F238E27FC236}">
                <a16:creationId xmlns:a16="http://schemas.microsoft.com/office/drawing/2014/main" id="{16E98EF5-6768-57D6-C1FA-52D735B056A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25238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ACB-35FB-1322-D65C-DC580DE7D3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46EECE-D88F-40FB-17E1-318C3D041368}"/>
              </a:ext>
            </a:extLst>
          </p:cNvPr>
          <p:cNvSpPr>
            <a:spLocks noGrp="1"/>
          </p:cNvSpPr>
          <p:nvPr>
            <p:ph type="title"/>
          </p:nvPr>
        </p:nvSpPr>
        <p:spPr/>
        <p:txBody>
          <a:bodyPr>
            <a:normAutofit/>
          </a:bodyPr>
          <a:lstStyle/>
          <a:p>
            <a:r>
              <a:rPr lang="es-CO" sz="3200" dirty="0">
                <a:latin typeface="+mn-lt"/>
              </a:rPr>
              <a:t>AGENDA PROPUESTA</a:t>
            </a:r>
          </a:p>
        </p:txBody>
      </p:sp>
      <p:sp>
        <p:nvSpPr>
          <p:cNvPr id="4" name="Marcador de número de diapositiva 3">
            <a:extLst>
              <a:ext uri="{FF2B5EF4-FFF2-40B4-BE49-F238E27FC236}">
                <a16:creationId xmlns:a16="http://schemas.microsoft.com/office/drawing/2014/main" id="{8FCDC307-CD7B-0490-3571-9ADD2C481317}"/>
              </a:ext>
            </a:extLst>
          </p:cNvPr>
          <p:cNvSpPr>
            <a:spLocks noGrp="1"/>
          </p:cNvSpPr>
          <p:nvPr>
            <p:ph type="sldNum" sz="quarter" idx="12"/>
          </p:nvPr>
        </p:nvSpPr>
        <p:spPr/>
        <p:txBody>
          <a:bodyPr vert="horz" lIns="91440" tIns="45720" rIns="91440" bIns="45720" rtlCol="0" anchor="ctr"/>
          <a:lstStyle/>
          <a:p>
            <a:fld id="{D57F1E4F-1CFF-5643-939E-217C01CDF565}" type="slidenum">
              <a:rPr lang="en-US" sz="2000" smtClean="0"/>
              <a:pPr/>
              <a:t>17</a:t>
            </a:fld>
            <a:endParaRPr lang="en-US" sz="2000" dirty="0"/>
          </a:p>
        </p:txBody>
      </p:sp>
      <p:pic>
        <p:nvPicPr>
          <p:cNvPr id="6" name="Picture 6" descr="Resultado de imagen para RELOJ VECTOR">
            <a:extLst>
              <a:ext uri="{FF2B5EF4-FFF2-40B4-BE49-F238E27FC236}">
                <a16:creationId xmlns:a16="http://schemas.microsoft.com/office/drawing/2014/main" id="{A5A90D05-2BE6-9C32-B274-4801FF64B214}"/>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E1C321F3-6C52-7958-17CD-7CB7D6DFF7F5}"/>
              </a:ext>
            </a:extLst>
          </p:cNvPr>
          <p:cNvSpPr/>
          <p:nvPr/>
        </p:nvSpPr>
        <p:spPr>
          <a:xfrm>
            <a:off x="3173020" y="250309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endParaRPr lang="es-ES" sz="2400" dirty="0">
              <a:solidFill>
                <a:schemeClr val="bg2">
                  <a:lumMod val="90000"/>
                </a:schemeClr>
              </a:solidFill>
              <a:cs typeface="Arial"/>
            </a:endParaRPr>
          </a:p>
          <a:p>
            <a:pPr marL="342900" indent="-342900">
              <a:buClr>
                <a:schemeClr val="accent3">
                  <a:lumMod val="75000"/>
                </a:schemeClr>
              </a:buClr>
              <a:buFont typeface="Gill Sans MT" panose="020B0502020104020203"/>
              <a:buAutoNum type="arabicPeriod"/>
            </a:pPr>
            <a:endParaRPr lang="es-ES" sz="2400" dirty="0">
              <a:solidFill>
                <a:schemeClr val="bg2">
                  <a:lumMod val="90000"/>
                </a:schemeClr>
              </a:solidFill>
              <a:cs typeface="Arial"/>
            </a:endParaRPr>
          </a:p>
          <a:p>
            <a:pPr marL="342900" indent="-342900">
              <a:buClr>
                <a:schemeClr val="accent3">
                  <a:lumMod val="75000"/>
                </a:schemeClr>
              </a:buClr>
              <a:buFont typeface="Gill Sans MT" panose="020B0502020104020203"/>
              <a:buAutoNum type="arabicPeriod"/>
            </a:pPr>
            <a:r>
              <a:rPr lang="es-ES" sz="2400" dirty="0">
                <a:solidFill>
                  <a:schemeClr val="bg2">
                    <a:lumMod val="90000"/>
                  </a:schemeClr>
                </a:solidFill>
                <a:cs typeface="Arial"/>
              </a:rPr>
              <a:t>Introducción a las Relaciones de Equivalencia y supuestos</a:t>
            </a:r>
          </a:p>
          <a:p>
            <a:pPr marL="342900" indent="-342900">
              <a:buClr>
                <a:srgbClr val="2C7C9F"/>
              </a:buClr>
              <a:buFontTx/>
              <a:buAutoNum type="arabicPeriod"/>
            </a:pPr>
            <a:endParaRPr lang="es-CO" sz="2400" dirty="0">
              <a:solidFill>
                <a:schemeClr val="accent1"/>
              </a:solidFill>
              <a:cs typeface="Arial"/>
            </a:endParaRPr>
          </a:p>
          <a:p>
            <a:pPr marL="342900" indent="-342900">
              <a:buClr>
                <a:srgbClr val="48BE7A"/>
              </a:buClr>
              <a:buAutoNum type="arabicPeriod"/>
            </a:pPr>
            <a:r>
              <a:rPr lang="es-CO" sz="2400" dirty="0">
                <a:solidFill>
                  <a:schemeClr val="accent1"/>
                </a:solidFill>
                <a:cs typeface="Arial"/>
              </a:rPr>
              <a:t>Valor Presente y Valor Futuro</a:t>
            </a:r>
            <a:r>
              <a:rPr lang="es-CO" sz="2400" dirty="0">
                <a:solidFill>
                  <a:schemeClr val="bg2">
                    <a:lumMod val="90000"/>
                  </a:schemeClr>
                </a:solidFill>
                <a:cs typeface="Arial"/>
              </a:rPr>
              <a:t>.</a:t>
            </a:r>
          </a:p>
          <a:p>
            <a:pPr marL="342900" indent="-342900">
              <a:buClr>
                <a:srgbClr val="48BE7A"/>
              </a:buClr>
              <a:buAutoNum type="arabicPeriod"/>
            </a:pPr>
            <a:endParaRPr lang="es-CO" sz="2400" dirty="0">
              <a:solidFill>
                <a:schemeClr val="bg2">
                  <a:lumMod val="90000"/>
                </a:schemeClr>
              </a:solidFill>
              <a:cs typeface="Arial"/>
            </a:endParaRPr>
          </a:p>
        </p:txBody>
      </p:sp>
      <p:sp>
        <p:nvSpPr>
          <p:cNvPr id="3" name="Rectángulo 2">
            <a:extLst>
              <a:ext uri="{FF2B5EF4-FFF2-40B4-BE49-F238E27FC236}">
                <a16:creationId xmlns:a16="http://schemas.microsoft.com/office/drawing/2014/main" id="{CC6420EE-6ECE-F1B1-8AC1-62C40C15109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04F559D-F01A-E457-814D-8D423E7B7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9CD6513-E3B7-25D8-BCB4-3E22630841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29119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1" y="1966326"/>
            <a:ext cx="11029615" cy="1426637"/>
          </a:xfrm>
        </p:spPr>
        <p:txBody>
          <a:bodyPr>
            <a:normAutofit/>
          </a:bodyPr>
          <a:lstStyle/>
          <a:p>
            <a:pPr marL="0" indent="0" algn="ctr">
              <a:buNone/>
            </a:pPr>
            <a:r>
              <a:rPr lang="es-ES_tradnl" sz="2400" dirty="0">
                <a:solidFill>
                  <a:srgbClr val="800000"/>
                </a:solidFill>
              </a:rPr>
              <a:t>¿Cuál es el valor futuro equivalente a un valor presente?</a:t>
            </a:r>
          </a:p>
          <a:p>
            <a:pPr marL="0" indent="0" algn="just">
              <a:buNone/>
            </a:pPr>
            <a:r>
              <a:rPr lang="es-ES_tradnl" sz="2400" dirty="0"/>
              <a:t>Es la relación de equivalencia básica y a su vez la más importante a la hora de entender las demás equivalencias.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18</a:t>
            </a:fld>
            <a:endParaRPr lang="en-US" sz="2000" dirty="0"/>
          </a:p>
        </p:txBody>
      </p:sp>
      <p:cxnSp>
        <p:nvCxnSpPr>
          <p:cNvPr id="6" name="Straight Connector 5"/>
          <p:cNvCxnSpPr/>
          <p:nvPr/>
        </p:nvCxnSpPr>
        <p:spPr>
          <a:xfrm>
            <a:off x="2804112" y="5070538"/>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cxnSpLocks/>
          </p:cNvCxnSpPr>
          <p:nvPr/>
        </p:nvCxnSpPr>
        <p:spPr>
          <a:xfrm>
            <a:off x="2804111" y="5076986"/>
            <a:ext cx="0" cy="97920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3128510" y="516287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719249" y="516287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332465" y="51768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635581" y="469551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5" name="Rectangle 14"/>
          <p:cNvSpPr>
            <a:spLocks/>
          </p:cNvSpPr>
          <p:nvPr/>
        </p:nvSpPr>
        <p:spPr bwMode="auto">
          <a:xfrm>
            <a:off x="4951454" y="51768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333274" y="4979654"/>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9649146" y="4001564"/>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657672" y="507198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8248411" y="507198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861627" y="50859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7164743" y="50859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480616" y="50859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a:off x="5608879" y="4689184"/>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5" name="Rectangle 24"/>
          <p:cNvSpPr>
            <a:spLocks/>
          </p:cNvSpPr>
          <p:nvPr/>
        </p:nvSpPr>
        <p:spPr bwMode="auto">
          <a:xfrm>
            <a:off x="2635581" y="605618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a:t>
            </a:r>
          </a:p>
        </p:txBody>
      </p:sp>
      <p:sp>
        <p:nvSpPr>
          <p:cNvPr id="27" name="Rectangle 26"/>
          <p:cNvSpPr>
            <a:spLocks/>
          </p:cNvSpPr>
          <p:nvPr/>
        </p:nvSpPr>
        <p:spPr bwMode="auto">
          <a:xfrm>
            <a:off x="9480616" y="37106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3" name="Title 1">
            <a:extLst>
              <a:ext uri="{FF2B5EF4-FFF2-40B4-BE49-F238E27FC236}">
                <a16:creationId xmlns:a16="http://schemas.microsoft.com/office/drawing/2014/main" id="{F4955FFB-00C6-BB68-CAC1-BB2C2DFAFF7B}"/>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1" name="Rectángulo 10">
            <a:extLst>
              <a:ext uri="{FF2B5EF4-FFF2-40B4-BE49-F238E27FC236}">
                <a16:creationId xmlns:a16="http://schemas.microsoft.com/office/drawing/2014/main" id="{4E60A475-26E4-AAAA-6C62-6F35DC5A81B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7B6EE384-F14D-A9CA-48FA-507F1A6E0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D73B1EAD-70BE-6456-997C-D1399E31B79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36471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5" grpId="0"/>
      <p:bldP spid="18" grpId="0"/>
      <p:bldP spid="19" grpId="0"/>
      <p:bldP spid="20" grpId="0"/>
      <p:bldP spid="21" grpId="0"/>
      <p:bldP spid="22" grpId="0"/>
      <p:bldP spid="24" grpId="0" animBg="1"/>
      <p:bldP spid="25"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215493"/>
            <a:ext cx="7610476" cy="517215"/>
          </a:xfrm>
        </p:spPr>
        <p:txBody>
          <a:bodyPr>
            <a:normAutofit/>
          </a:bodyPr>
          <a:lstStyle/>
          <a:p>
            <a:pPr marL="0" indent="0" algn="just">
              <a:buNone/>
            </a:pPr>
            <a:r>
              <a:rPr lang="es-ES_tradnl" sz="2400" dirty="0"/>
              <a:t>Matemáticamente, se tiene que:</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19</a:t>
            </a:fld>
            <a:endParaRPr lang="en-US" sz="2000" dirty="0"/>
          </a:p>
        </p:txBody>
      </p:sp>
      <p:pic>
        <p:nvPicPr>
          <p:cNvPr id="5" name="Picture 4"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375" y="4539520"/>
            <a:ext cx="3073400" cy="482600"/>
          </a:xfrm>
          <a:prstGeom prst="rect">
            <a:avLst/>
          </a:prstGeom>
        </p:spPr>
      </p:pic>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6375" y="3174112"/>
            <a:ext cx="2984500" cy="482600"/>
          </a:xfrm>
          <a:prstGeom prst="rect">
            <a:avLst/>
          </a:prstGeom>
        </p:spPr>
      </p:pic>
      <p:sp>
        <p:nvSpPr>
          <p:cNvPr id="12" name="Title 1">
            <a:extLst>
              <a:ext uri="{FF2B5EF4-FFF2-40B4-BE49-F238E27FC236}">
                <a16:creationId xmlns:a16="http://schemas.microsoft.com/office/drawing/2014/main" id="{6F36658B-943A-5305-5108-3E39F91D2C6C}"/>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3" name="Rectángulo 12">
            <a:extLst>
              <a:ext uri="{FF2B5EF4-FFF2-40B4-BE49-F238E27FC236}">
                <a16:creationId xmlns:a16="http://schemas.microsoft.com/office/drawing/2014/main" id="{BFCE00F5-61F3-0A14-C8E6-9BB445DB2E6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BCC4EA7-DDAA-B1CE-A5C0-D541F1AACB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D8772340-EDF2-A0C4-43CF-AD34943CC2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51731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a:spLocks noGrp="1"/>
          </p:cNvSpPr>
          <p:nvPr>
            <p:ph idx="1"/>
          </p:nvPr>
        </p:nvSpPr>
        <p:spPr>
          <a:xfrm>
            <a:off x="581192" y="2080790"/>
            <a:ext cx="11029615" cy="1007735"/>
          </a:xfrm>
        </p:spPr>
        <p:txBody>
          <a:bodyPr>
            <a:normAutofit/>
          </a:bodyPr>
          <a:lstStyle/>
          <a:p>
            <a:pPr marL="0" indent="0" algn="just">
              <a:buNone/>
            </a:pPr>
            <a:r>
              <a:rPr lang="es-ES_tradnl" sz="2400" dirty="0"/>
              <a:t>Ejemplo: Usted depositó 1’300.000 en una cuenta de ahorros que rinde 10% NA/SV. ¿Cuánto tendría a los 6 meses si el interés se recibe semestral?</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20</a:t>
            </a:fld>
            <a:endParaRPr lang="en-US" sz="2000" dirty="0"/>
          </a:p>
        </p:txBody>
      </p:sp>
      <p:cxnSp>
        <p:nvCxnSpPr>
          <p:cNvPr id="7" name="Straight Connector 6"/>
          <p:cNvCxnSpPr/>
          <p:nvPr/>
        </p:nvCxnSpPr>
        <p:spPr>
          <a:xfrm>
            <a:off x="2791985" y="4805656"/>
            <a:ext cx="616085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2791984" y="4793129"/>
            <a:ext cx="0" cy="865131"/>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sp>
        <p:nvSpPr>
          <p:cNvPr id="15" name="Rectangle 14"/>
          <p:cNvSpPr>
            <a:spLocks/>
          </p:cNvSpPr>
          <p:nvPr/>
        </p:nvSpPr>
        <p:spPr bwMode="auto">
          <a:xfrm flipH="1">
            <a:off x="2741512" y="443550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3" name="Rectangle 22"/>
          <p:cNvSpPr>
            <a:spLocks/>
          </p:cNvSpPr>
          <p:nvPr/>
        </p:nvSpPr>
        <p:spPr bwMode="auto">
          <a:xfrm>
            <a:off x="2150133" y="5676687"/>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1.300</a:t>
            </a:r>
          </a:p>
        </p:txBody>
      </p:sp>
      <p:sp>
        <p:nvSpPr>
          <p:cNvPr id="29" name="Rectangle 28"/>
          <p:cNvSpPr>
            <a:spLocks/>
          </p:cNvSpPr>
          <p:nvPr/>
        </p:nvSpPr>
        <p:spPr bwMode="auto">
          <a:xfrm>
            <a:off x="8756701" y="48731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cxnSp>
        <p:nvCxnSpPr>
          <p:cNvPr id="30" name="Straight Arrow Connector 29"/>
          <p:cNvCxnSpPr/>
          <p:nvPr/>
        </p:nvCxnSpPr>
        <p:spPr>
          <a:xfrm flipV="1">
            <a:off x="8939036" y="3628828"/>
            <a:ext cx="0" cy="116430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4"/>
          <p:cNvSpPr>
            <a:spLocks/>
          </p:cNvSpPr>
          <p:nvPr/>
        </p:nvSpPr>
        <p:spPr bwMode="auto">
          <a:xfrm>
            <a:off x="8314115" y="3209432"/>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 = ?</a:t>
            </a:r>
          </a:p>
        </p:txBody>
      </p:sp>
      <p:sp>
        <p:nvSpPr>
          <p:cNvPr id="3" name="CuadroTexto 2"/>
          <p:cNvSpPr txBox="1"/>
          <p:nvPr/>
        </p:nvSpPr>
        <p:spPr>
          <a:xfrm>
            <a:off x="9160199" y="4654629"/>
            <a:ext cx="1149354" cy="400110"/>
          </a:xfrm>
          <a:prstGeom prst="rect">
            <a:avLst/>
          </a:prstGeom>
          <a:noFill/>
        </p:spPr>
        <p:txBody>
          <a:bodyPr wrap="none" rtlCol="0">
            <a:spAutoFit/>
          </a:bodyPr>
          <a:lstStyle/>
          <a:p>
            <a:r>
              <a:rPr lang="es-CO" sz="2000"/>
              <a:t>Semestre</a:t>
            </a:r>
          </a:p>
        </p:txBody>
      </p:sp>
      <p:sp>
        <p:nvSpPr>
          <p:cNvPr id="10" name="Title 1">
            <a:extLst>
              <a:ext uri="{FF2B5EF4-FFF2-40B4-BE49-F238E27FC236}">
                <a16:creationId xmlns:a16="http://schemas.microsoft.com/office/drawing/2014/main" id="{B1EB6D8C-D4AA-4EFD-EE22-E0C7670D7CC5}"/>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1" name="Rectángulo 10">
            <a:extLst>
              <a:ext uri="{FF2B5EF4-FFF2-40B4-BE49-F238E27FC236}">
                <a16:creationId xmlns:a16="http://schemas.microsoft.com/office/drawing/2014/main" id="{704023DD-F745-CA75-56F2-1EA5B097477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A42C154E-DC94-6147-F1C0-A096C71458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6E0F14FD-C453-D2AD-F9B7-008F0D057A4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99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29" grpId="0"/>
      <p:bldP spid="35"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154500"/>
            <a:ext cx="11029616" cy="1007735"/>
          </a:xfrm>
        </p:spPr>
        <p:txBody>
          <a:bodyPr>
            <a:normAutofit/>
          </a:bodyPr>
          <a:lstStyle/>
          <a:p>
            <a:pPr marL="0" indent="0" algn="just">
              <a:buNone/>
            </a:pPr>
            <a:r>
              <a:rPr lang="es-ES_tradnl" sz="2400" dirty="0"/>
              <a:t>Ejemplo: Usted depositó 1’300.000 en una cuenta de ahorros que rinde 10% NA/SV. ¿Cuánto tendría a los 6 meses si el interés se recibe semestral?</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21</a:t>
            </a:fld>
            <a:endParaRPr lang="en-US" sz="2000" dirty="0"/>
          </a:p>
        </p:txBody>
      </p:sp>
      <p:sp>
        <p:nvSpPr>
          <p:cNvPr id="18" name="Content Placeholder 2"/>
          <p:cNvSpPr txBox="1">
            <a:spLocks/>
          </p:cNvSpPr>
          <p:nvPr/>
        </p:nvSpPr>
        <p:spPr>
          <a:xfrm>
            <a:off x="1823183" y="3600779"/>
            <a:ext cx="8151463" cy="545202"/>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a:solidFill>
                  <a:srgbClr val="800000"/>
                </a:solidFill>
              </a:rPr>
              <a:t>i= 10% NA/SV		i=5% SV</a:t>
            </a:r>
          </a:p>
        </p:txBody>
      </p:sp>
      <p:pic>
        <p:nvPicPr>
          <p:cNvPr id="8" name="Picture 7"/>
          <p:cNvPicPr>
            <a:picLocks noChangeAspect="1"/>
          </p:cNvPicPr>
          <p:nvPr/>
        </p:nvPicPr>
        <p:blipFill>
          <a:blip r:embed="rId3"/>
          <a:stretch>
            <a:fillRect/>
          </a:stretch>
        </p:blipFill>
        <p:spPr>
          <a:xfrm>
            <a:off x="3016250" y="4775934"/>
            <a:ext cx="6159500" cy="469900"/>
          </a:xfrm>
          <a:prstGeom prst="rect">
            <a:avLst/>
          </a:prstGeom>
        </p:spPr>
      </p:pic>
      <p:sp>
        <p:nvSpPr>
          <p:cNvPr id="10" name="Title 1">
            <a:extLst>
              <a:ext uri="{FF2B5EF4-FFF2-40B4-BE49-F238E27FC236}">
                <a16:creationId xmlns:a16="http://schemas.microsoft.com/office/drawing/2014/main" id="{E7A5C585-9CE2-70D8-45DF-B20F2E3714B7}"/>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1" name="Rectángulo 10">
            <a:extLst>
              <a:ext uri="{FF2B5EF4-FFF2-40B4-BE49-F238E27FC236}">
                <a16:creationId xmlns:a16="http://schemas.microsoft.com/office/drawing/2014/main" id="{1D5B6228-3FB5-0258-F2E8-3F3A462F8D2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F32DD86-E595-D509-A6E3-79637CD1B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6A7D83EC-1BC5-D698-955B-4148DB65CD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9878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581192" y="2112415"/>
            <a:ext cx="11029615" cy="1007735"/>
          </a:xfrm>
        </p:spPr>
        <p:txBody>
          <a:bodyPr>
            <a:normAutofit/>
          </a:bodyPr>
          <a:lstStyle/>
          <a:p>
            <a:pPr marL="0" indent="0" algn="just">
              <a:buNone/>
            </a:pPr>
            <a:r>
              <a:rPr lang="es-ES_tradnl" sz="2400" dirty="0"/>
              <a:t>Ejemplo: Usted depositó 1’300.000 en una cuenta de ahorros que rinde 10% NA/SV. ¿Cuánto tendría a los 6 meses si el interés se recibe de manera mensual?</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22</a:t>
            </a:fld>
            <a:endParaRPr lang="en-US" sz="2000" dirty="0"/>
          </a:p>
        </p:txBody>
      </p:sp>
      <p:sp>
        <p:nvSpPr>
          <p:cNvPr id="18" name="Content Placeholder 2"/>
          <p:cNvSpPr txBox="1">
            <a:spLocks/>
          </p:cNvSpPr>
          <p:nvPr/>
        </p:nvSpPr>
        <p:spPr>
          <a:xfrm>
            <a:off x="2108324" y="3758909"/>
            <a:ext cx="8151463" cy="600611"/>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dirty="0">
                <a:solidFill>
                  <a:srgbClr val="800000"/>
                </a:solidFill>
              </a:rPr>
              <a:t>i= 10% NA/SV		i=5% SV		i=0,82% MV</a:t>
            </a:r>
          </a:p>
          <a:p>
            <a:pPr marL="0" indent="0" algn="ctr">
              <a:buNone/>
            </a:pPr>
            <a:endParaRPr lang="es-ES_tradnl" sz="2400" dirty="0">
              <a:solidFill>
                <a:srgbClr val="800000"/>
              </a:solidFill>
            </a:endParaRPr>
          </a:p>
        </p:txBody>
      </p:sp>
      <p:pic>
        <p:nvPicPr>
          <p:cNvPr id="3" name="Picture 2"/>
          <p:cNvPicPr>
            <a:picLocks noChangeAspect="1"/>
          </p:cNvPicPr>
          <p:nvPr/>
        </p:nvPicPr>
        <p:blipFill>
          <a:blip r:embed="rId2"/>
          <a:stretch>
            <a:fillRect/>
          </a:stretch>
        </p:blipFill>
        <p:spPr>
          <a:xfrm>
            <a:off x="2590799" y="4998279"/>
            <a:ext cx="7010400" cy="520700"/>
          </a:xfrm>
          <a:prstGeom prst="rect">
            <a:avLst/>
          </a:prstGeom>
        </p:spPr>
      </p:pic>
      <p:sp>
        <p:nvSpPr>
          <p:cNvPr id="8" name="Title 1">
            <a:extLst>
              <a:ext uri="{FF2B5EF4-FFF2-40B4-BE49-F238E27FC236}">
                <a16:creationId xmlns:a16="http://schemas.microsoft.com/office/drawing/2014/main" id="{01BCFD30-4EF0-D1A3-A909-743601BF94A8}"/>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1" name="Rectángulo 10">
            <a:extLst>
              <a:ext uri="{FF2B5EF4-FFF2-40B4-BE49-F238E27FC236}">
                <a16:creationId xmlns:a16="http://schemas.microsoft.com/office/drawing/2014/main" id="{AFF3836F-33CB-1858-00BA-49479E4D244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286BF2C3-1155-2DED-D42F-3473314D5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D6DEB4EA-A6EE-B528-4322-6D3B4340424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79626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43753"/>
            <a:ext cx="11029616" cy="1327208"/>
          </a:xfrm>
        </p:spPr>
        <p:txBody>
          <a:bodyPr>
            <a:normAutofit/>
          </a:bodyPr>
          <a:lstStyle/>
          <a:p>
            <a:pPr marL="0" indent="0" algn="just">
              <a:buNone/>
            </a:pPr>
            <a:r>
              <a:rPr lang="es-ES_tradnl" sz="2400" dirty="0">
                <a:solidFill>
                  <a:schemeClr val="tx1"/>
                </a:solidFill>
              </a:rPr>
              <a:t>Ejemplo 2</a:t>
            </a:r>
            <a:r>
              <a:rPr lang="es-ES_tradnl" sz="2400" dirty="0"/>
              <a:t>: Usted se enfrenta a los siguientes flujos mensuales de efectivo. Si su costo de oportunidad es 12% NA/TV, ¿Cuál es el valor futuro (en el mes 6) de sus flujos de efectivo totales?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23</a:t>
            </a:fld>
            <a:endParaRPr lang="en-US" sz="2000"/>
          </a:p>
        </p:txBody>
      </p:sp>
      <p:sp>
        <p:nvSpPr>
          <p:cNvPr id="5" name="CuadroTexto 4"/>
          <p:cNvSpPr txBox="1"/>
          <p:nvPr/>
        </p:nvSpPr>
        <p:spPr>
          <a:xfrm>
            <a:off x="9129298" y="4205617"/>
            <a:ext cx="830677" cy="400110"/>
          </a:xfrm>
          <a:prstGeom prst="rect">
            <a:avLst/>
          </a:prstGeom>
          <a:noFill/>
        </p:spPr>
        <p:txBody>
          <a:bodyPr wrap="none" rtlCol="0">
            <a:spAutoFit/>
          </a:bodyPr>
          <a:lstStyle/>
          <a:p>
            <a:r>
              <a:rPr lang="es-CO" sz="2000"/>
              <a:t>Meses</a:t>
            </a:r>
          </a:p>
        </p:txBody>
      </p:sp>
      <p:sp>
        <p:nvSpPr>
          <p:cNvPr id="9" name="Title 1">
            <a:extLst>
              <a:ext uri="{FF2B5EF4-FFF2-40B4-BE49-F238E27FC236}">
                <a16:creationId xmlns:a16="http://schemas.microsoft.com/office/drawing/2014/main" id="{1AF84C01-D531-3D70-F464-E474FC7C613D}"/>
              </a:ext>
            </a:extLst>
          </p:cNvPr>
          <p:cNvSpPr>
            <a:spLocks noGrp="1"/>
          </p:cNvSpPr>
          <p:nvPr>
            <p:ph type="title"/>
          </p:nvPr>
        </p:nvSpPr>
        <p:spPr>
          <a:xfrm>
            <a:off x="581192" y="702156"/>
            <a:ext cx="11029616" cy="1013800"/>
          </a:xfrm>
        </p:spPr>
        <p:txBody>
          <a:bodyPr anchor="b">
            <a:normAutofit/>
          </a:bodyPr>
          <a:lstStyle/>
          <a:p>
            <a:r>
              <a:rPr lang="es-ES_tradnl" sz="3200" dirty="0"/>
              <a:t>VALOR PRESENTE Y VALOR FUTURO</a:t>
            </a:r>
          </a:p>
        </p:txBody>
      </p:sp>
      <p:sp>
        <p:nvSpPr>
          <p:cNvPr id="10" name="Rectángulo 9">
            <a:extLst>
              <a:ext uri="{FF2B5EF4-FFF2-40B4-BE49-F238E27FC236}">
                <a16:creationId xmlns:a16="http://schemas.microsoft.com/office/drawing/2014/main" id="{8375C73F-E7DC-B492-5CF9-6BA61953ED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D45E1DD-BDE0-3161-5955-69C621D3E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87925034-DD50-BBCB-88B4-B665AEC88E5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47" name="Straight Connector 12">
            <a:extLst>
              <a:ext uri="{FF2B5EF4-FFF2-40B4-BE49-F238E27FC236}">
                <a16:creationId xmlns:a16="http://schemas.microsoft.com/office/drawing/2014/main" id="{9273D042-AB74-E473-C087-16C37DED97E4}"/>
              </a:ext>
            </a:extLst>
          </p:cNvPr>
          <p:cNvCxnSpPr/>
          <p:nvPr/>
        </p:nvCxnSpPr>
        <p:spPr>
          <a:xfrm>
            <a:off x="2961108" y="501893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Arrow Connector 13">
            <a:extLst>
              <a:ext uri="{FF2B5EF4-FFF2-40B4-BE49-F238E27FC236}">
                <a16:creationId xmlns:a16="http://schemas.microsoft.com/office/drawing/2014/main" id="{CD2D54B9-30CD-DE69-7D46-18EBD9443218}"/>
              </a:ext>
            </a:extLst>
          </p:cNvPr>
          <p:cNvCxnSpPr/>
          <p:nvPr/>
        </p:nvCxnSpPr>
        <p:spPr>
          <a:xfrm>
            <a:off x="2961108" y="5018935"/>
            <a:ext cx="0" cy="84353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17">
            <a:extLst>
              <a:ext uri="{FF2B5EF4-FFF2-40B4-BE49-F238E27FC236}">
                <a16:creationId xmlns:a16="http://schemas.microsoft.com/office/drawing/2014/main" id="{F10FB638-7395-1786-A0AF-A5260EB4EB86}"/>
              </a:ext>
            </a:extLst>
          </p:cNvPr>
          <p:cNvCxnSpPr/>
          <p:nvPr/>
        </p:nvCxnSpPr>
        <p:spPr>
          <a:xfrm flipV="1">
            <a:off x="4954461" y="4560209"/>
            <a:ext cx="0" cy="45872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19">
            <a:extLst>
              <a:ext uri="{FF2B5EF4-FFF2-40B4-BE49-F238E27FC236}">
                <a16:creationId xmlns:a16="http://schemas.microsoft.com/office/drawing/2014/main" id="{5DABD416-275A-3DFB-5E4D-383B07F3CFD5}"/>
              </a:ext>
            </a:extLst>
          </p:cNvPr>
          <p:cNvCxnSpPr/>
          <p:nvPr/>
        </p:nvCxnSpPr>
        <p:spPr>
          <a:xfrm flipV="1">
            <a:off x="7019797" y="4327223"/>
            <a:ext cx="0" cy="69171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21">
            <a:extLst>
              <a:ext uri="{FF2B5EF4-FFF2-40B4-BE49-F238E27FC236}">
                <a16:creationId xmlns:a16="http://schemas.microsoft.com/office/drawing/2014/main" id="{589E82F7-8006-DC65-F091-A91AAF093DDE}"/>
              </a:ext>
            </a:extLst>
          </p:cNvPr>
          <p:cNvCxnSpPr/>
          <p:nvPr/>
        </p:nvCxnSpPr>
        <p:spPr>
          <a:xfrm flipH="1" flipV="1">
            <a:off x="9152700" y="4076002"/>
            <a:ext cx="2" cy="9429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23">
            <a:extLst>
              <a:ext uri="{FF2B5EF4-FFF2-40B4-BE49-F238E27FC236}">
                <a16:creationId xmlns:a16="http://schemas.microsoft.com/office/drawing/2014/main" id="{C2677DE7-E3E8-3D3B-9629-0FFE741D1CD1}"/>
              </a:ext>
            </a:extLst>
          </p:cNvPr>
          <p:cNvSpPr>
            <a:spLocks/>
          </p:cNvSpPr>
          <p:nvPr/>
        </p:nvSpPr>
        <p:spPr bwMode="auto">
          <a:xfrm flipH="1">
            <a:off x="2875507" y="464493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3" name="Rectangle 24">
            <a:extLst>
              <a:ext uri="{FF2B5EF4-FFF2-40B4-BE49-F238E27FC236}">
                <a16:creationId xmlns:a16="http://schemas.microsoft.com/office/drawing/2014/main" id="{2CA701AB-F4BA-5C4F-2089-94878CBDFCE0}"/>
              </a:ext>
            </a:extLst>
          </p:cNvPr>
          <p:cNvSpPr>
            <a:spLocks/>
          </p:cNvSpPr>
          <p:nvPr/>
        </p:nvSpPr>
        <p:spPr bwMode="auto">
          <a:xfrm>
            <a:off x="3697443"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4" name="Rectangle 25">
            <a:extLst>
              <a:ext uri="{FF2B5EF4-FFF2-40B4-BE49-F238E27FC236}">
                <a16:creationId xmlns:a16="http://schemas.microsoft.com/office/drawing/2014/main" id="{5760411C-A536-590D-6B47-409A27C84A58}"/>
              </a:ext>
            </a:extLst>
          </p:cNvPr>
          <p:cNvSpPr>
            <a:spLocks/>
          </p:cNvSpPr>
          <p:nvPr/>
        </p:nvSpPr>
        <p:spPr bwMode="auto">
          <a:xfrm>
            <a:off x="4785931"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26">
            <a:extLst>
              <a:ext uri="{FF2B5EF4-FFF2-40B4-BE49-F238E27FC236}">
                <a16:creationId xmlns:a16="http://schemas.microsoft.com/office/drawing/2014/main" id="{DBE242FB-EDF4-EE1D-030A-1E09AFC580D4}"/>
              </a:ext>
            </a:extLst>
          </p:cNvPr>
          <p:cNvSpPr>
            <a:spLocks/>
          </p:cNvSpPr>
          <p:nvPr/>
        </p:nvSpPr>
        <p:spPr bwMode="auto">
          <a:xfrm>
            <a:off x="5845405" y="512522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27">
            <a:extLst>
              <a:ext uri="{FF2B5EF4-FFF2-40B4-BE49-F238E27FC236}">
                <a16:creationId xmlns:a16="http://schemas.microsoft.com/office/drawing/2014/main" id="{BDF2656A-2D85-4AFB-6FB9-039641C3F4C7}"/>
              </a:ext>
            </a:extLst>
          </p:cNvPr>
          <p:cNvSpPr>
            <a:spLocks/>
          </p:cNvSpPr>
          <p:nvPr/>
        </p:nvSpPr>
        <p:spPr bwMode="auto">
          <a:xfrm>
            <a:off x="6851267" y="51416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57" name="Rectangle 30">
            <a:extLst>
              <a:ext uri="{FF2B5EF4-FFF2-40B4-BE49-F238E27FC236}">
                <a16:creationId xmlns:a16="http://schemas.microsoft.com/office/drawing/2014/main" id="{1B64835B-2E63-8DC7-165E-AD7FA45E7BDB}"/>
              </a:ext>
            </a:extLst>
          </p:cNvPr>
          <p:cNvSpPr>
            <a:spLocks/>
          </p:cNvSpPr>
          <p:nvPr/>
        </p:nvSpPr>
        <p:spPr bwMode="auto">
          <a:xfrm>
            <a:off x="7924696"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58" name="Rectangle 31">
            <a:extLst>
              <a:ext uri="{FF2B5EF4-FFF2-40B4-BE49-F238E27FC236}">
                <a16:creationId xmlns:a16="http://schemas.microsoft.com/office/drawing/2014/main" id="{D7AC9950-BB69-1458-E739-FC3851F59B6D}"/>
              </a:ext>
            </a:extLst>
          </p:cNvPr>
          <p:cNvSpPr>
            <a:spLocks/>
          </p:cNvSpPr>
          <p:nvPr/>
        </p:nvSpPr>
        <p:spPr bwMode="auto">
          <a:xfrm>
            <a:off x="8984170"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9" name="Rectangle 32">
            <a:extLst>
              <a:ext uri="{FF2B5EF4-FFF2-40B4-BE49-F238E27FC236}">
                <a16:creationId xmlns:a16="http://schemas.microsoft.com/office/drawing/2014/main" id="{DC7B4A45-CB71-4299-2433-32374E67D2F2}"/>
              </a:ext>
            </a:extLst>
          </p:cNvPr>
          <p:cNvSpPr>
            <a:spLocks/>
          </p:cNvSpPr>
          <p:nvPr/>
        </p:nvSpPr>
        <p:spPr bwMode="auto">
          <a:xfrm>
            <a:off x="2017525" y="602733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60" name="Rectangle 36">
            <a:extLst>
              <a:ext uri="{FF2B5EF4-FFF2-40B4-BE49-F238E27FC236}">
                <a16:creationId xmlns:a16="http://schemas.microsoft.com/office/drawing/2014/main" id="{45EF1643-4FC7-4A7A-B09F-4269890F87BA}"/>
              </a:ext>
            </a:extLst>
          </p:cNvPr>
          <p:cNvSpPr>
            <a:spLocks/>
          </p:cNvSpPr>
          <p:nvPr/>
        </p:nvSpPr>
        <p:spPr bwMode="auto">
          <a:xfrm>
            <a:off x="6568128" y="3938818"/>
            <a:ext cx="8595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61" name="Rectangle 38">
            <a:extLst>
              <a:ext uri="{FF2B5EF4-FFF2-40B4-BE49-F238E27FC236}">
                <a16:creationId xmlns:a16="http://schemas.microsoft.com/office/drawing/2014/main" id="{CD4960D1-4DC7-2840-B66F-874C2849D9CC}"/>
              </a:ext>
            </a:extLst>
          </p:cNvPr>
          <p:cNvSpPr>
            <a:spLocks/>
          </p:cNvSpPr>
          <p:nvPr/>
        </p:nvSpPr>
        <p:spPr bwMode="auto">
          <a:xfrm>
            <a:off x="8352613" y="371825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120</a:t>
            </a:r>
          </a:p>
        </p:txBody>
      </p:sp>
      <p:sp>
        <p:nvSpPr>
          <p:cNvPr id="62" name="Rectangle 39">
            <a:extLst>
              <a:ext uri="{FF2B5EF4-FFF2-40B4-BE49-F238E27FC236}">
                <a16:creationId xmlns:a16="http://schemas.microsoft.com/office/drawing/2014/main" id="{47C70F6E-F5CC-7709-7FC4-1BAE70C532BB}"/>
              </a:ext>
            </a:extLst>
          </p:cNvPr>
          <p:cNvSpPr>
            <a:spLocks/>
          </p:cNvSpPr>
          <p:nvPr/>
        </p:nvSpPr>
        <p:spPr bwMode="auto">
          <a:xfrm>
            <a:off x="4315735" y="4170186"/>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Tree>
    <p:extLst>
      <p:ext uri="{BB962C8B-B14F-4D97-AF65-F5344CB8AC3E}">
        <p14:creationId xmlns:p14="http://schemas.microsoft.com/office/powerpoint/2010/main" val="3898919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24</a:t>
            </a:fld>
            <a:endParaRPr lang="en-US" sz="2000" dirty="0"/>
          </a:p>
        </p:txBody>
      </p:sp>
      <p:cxnSp>
        <p:nvCxnSpPr>
          <p:cNvPr id="13" name="Straight Connector 12"/>
          <p:cNvCxnSpPr/>
          <p:nvPr/>
        </p:nvCxnSpPr>
        <p:spPr>
          <a:xfrm>
            <a:off x="2961108" y="501893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961108" y="5018935"/>
            <a:ext cx="0" cy="84353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V="1">
            <a:off x="4954461" y="4560209"/>
            <a:ext cx="0" cy="45872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7019797" y="4327223"/>
            <a:ext cx="0" cy="69171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flipV="1">
            <a:off x="9152700" y="4076002"/>
            <a:ext cx="2" cy="9429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875507" y="464493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5" name="Rectangle 24"/>
          <p:cNvSpPr>
            <a:spLocks/>
          </p:cNvSpPr>
          <p:nvPr/>
        </p:nvSpPr>
        <p:spPr bwMode="auto">
          <a:xfrm>
            <a:off x="3697443"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6" name="Rectangle 25"/>
          <p:cNvSpPr>
            <a:spLocks/>
          </p:cNvSpPr>
          <p:nvPr/>
        </p:nvSpPr>
        <p:spPr bwMode="auto">
          <a:xfrm>
            <a:off x="4785931"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26"/>
          <p:cNvSpPr>
            <a:spLocks/>
          </p:cNvSpPr>
          <p:nvPr/>
        </p:nvSpPr>
        <p:spPr bwMode="auto">
          <a:xfrm>
            <a:off x="5845405" y="512522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8" name="Rectangle 27"/>
          <p:cNvSpPr>
            <a:spLocks/>
          </p:cNvSpPr>
          <p:nvPr/>
        </p:nvSpPr>
        <p:spPr bwMode="auto">
          <a:xfrm>
            <a:off x="6851267" y="51416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1" name="Rectangle 30"/>
          <p:cNvSpPr>
            <a:spLocks/>
          </p:cNvSpPr>
          <p:nvPr/>
        </p:nvSpPr>
        <p:spPr bwMode="auto">
          <a:xfrm>
            <a:off x="7924696"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32" name="Rectangle 31"/>
          <p:cNvSpPr>
            <a:spLocks/>
          </p:cNvSpPr>
          <p:nvPr/>
        </p:nvSpPr>
        <p:spPr bwMode="auto">
          <a:xfrm>
            <a:off x="8984170"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33" name="Rectangle 32"/>
          <p:cNvSpPr>
            <a:spLocks/>
          </p:cNvSpPr>
          <p:nvPr/>
        </p:nvSpPr>
        <p:spPr bwMode="auto">
          <a:xfrm>
            <a:off x="2017525" y="602733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37" name="Rectangle 36"/>
          <p:cNvSpPr>
            <a:spLocks/>
          </p:cNvSpPr>
          <p:nvPr/>
        </p:nvSpPr>
        <p:spPr bwMode="auto">
          <a:xfrm>
            <a:off x="6568128" y="3938818"/>
            <a:ext cx="8595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39" name="Rectangle 38"/>
          <p:cNvSpPr>
            <a:spLocks/>
          </p:cNvSpPr>
          <p:nvPr/>
        </p:nvSpPr>
        <p:spPr bwMode="auto">
          <a:xfrm>
            <a:off x="8352613" y="371825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120</a:t>
            </a:r>
          </a:p>
        </p:txBody>
      </p:sp>
      <p:sp>
        <p:nvSpPr>
          <p:cNvPr id="40" name="Rectangle 39"/>
          <p:cNvSpPr>
            <a:spLocks/>
          </p:cNvSpPr>
          <p:nvPr/>
        </p:nvSpPr>
        <p:spPr bwMode="auto">
          <a:xfrm>
            <a:off x="4315735" y="4170186"/>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1" name="Content Placeholder 2"/>
          <p:cNvSpPr txBox="1">
            <a:spLocks/>
          </p:cNvSpPr>
          <p:nvPr/>
        </p:nvSpPr>
        <p:spPr>
          <a:xfrm>
            <a:off x="2512392" y="2136934"/>
            <a:ext cx="7610476" cy="253878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dirty="0">
                <a:solidFill>
                  <a:srgbClr val="800000"/>
                </a:solidFill>
              </a:rPr>
              <a:t>i= 12% NA/TV		i=3% TV		i=0,99% MV</a:t>
            </a:r>
          </a:p>
          <a:p>
            <a:pPr marL="0" indent="0" algn="ctr">
              <a:buNone/>
            </a:pPr>
            <a:endParaRPr lang="es-ES_tradnl" dirty="0">
              <a:solidFill>
                <a:srgbClr val="800000"/>
              </a:solidFill>
            </a:endParaRPr>
          </a:p>
        </p:txBody>
      </p:sp>
      <p:pic>
        <p:nvPicPr>
          <p:cNvPr id="8" name="Picture 7"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7339" y="2781876"/>
            <a:ext cx="8524443" cy="356475"/>
          </a:xfrm>
          <a:prstGeom prst="rect">
            <a:avLst/>
          </a:prstGeom>
        </p:spPr>
      </p:pic>
      <p:sp>
        <p:nvSpPr>
          <p:cNvPr id="3" name="Elipse 2"/>
          <p:cNvSpPr/>
          <p:nvPr/>
        </p:nvSpPr>
        <p:spPr>
          <a:xfrm>
            <a:off x="2372987" y="2571384"/>
            <a:ext cx="2581475" cy="76461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29" name="Elipse 28"/>
          <p:cNvSpPr/>
          <p:nvPr/>
        </p:nvSpPr>
        <p:spPr>
          <a:xfrm>
            <a:off x="2598581" y="5913777"/>
            <a:ext cx="725054" cy="53287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6" name="Conector curvado 5"/>
          <p:cNvCxnSpPr>
            <a:stCxn id="29" idx="6"/>
            <a:endCxn id="32" idx="2"/>
          </p:cNvCxnSpPr>
          <p:nvPr/>
        </p:nvCxnSpPr>
        <p:spPr>
          <a:xfrm flipV="1">
            <a:off x="3323635" y="5419044"/>
            <a:ext cx="5829065" cy="761168"/>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Elipse 10"/>
          <p:cNvSpPr/>
          <p:nvPr/>
        </p:nvSpPr>
        <p:spPr>
          <a:xfrm>
            <a:off x="4605264" y="4114486"/>
            <a:ext cx="718434" cy="422495"/>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15" name="Conector curvado 14"/>
          <p:cNvCxnSpPr>
            <a:endCxn id="32" idx="0"/>
          </p:cNvCxnSpPr>
          <p:nvPr/>
        </p:nvCxnSpPr>
        <p:spPr>
          <a:xfrm>
            <a:off x="5323698" y="4327222"/>
            <a:ext cx="3829002" cy="784045"/>
          </a:xfrm>
          <a:prstGeom prst="curvedConnector2">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17" name="Elipse 16"/>
          <p:cNvSpPr/>
          <p:nvPr/>
        </p:nvSpPr>
        <p:spPr>
          <a:xfrm>
            <a:off x="5122991" y="2571384"/>
            <a:ext cx="2163572" cy="764614"/>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19" name="Elipse 18"/>
          <p:cNvSpPr/>
          <p:nvPr/>
        </p:nvSpPr>
        <p:spPr>
          <a:xfrm>
            <a:off x="6657935" y="3956768"/>
            <a:ext cx="679947" cy="331971"/>
          </a:xfrm>
          <a:prstGeom prst="ellipse">
            <a:avLst/>
          </a:prstGeom>
          <a:noFill/>
          <a:ln>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30" name="Conector curvado 29"/>
          <p:cNvCxnSpPr>
            <a:endCxn id="32" idx="0"/>
          </p:cNvCxnSpPr>
          <p:nvPr/>
        </p:nvCxnSpPr>
        <p:spPr>
          <a:xfrm>
            <a:off x="7337882" y="4114486"/>
            <a:ext cx="1814818" cy="996781"/>
          </a:xfrm>
          <a:prstGeom prst="curvedConnector2">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sp>
        <p:nvSpPr>
          <p:cNvPr id="34" name="Elipse 33"/>
          <p:cNvSpPr/>
          <p:nvPr/>
        </p:nvSpPr>
        <p:spPr>
          <a:xfrm>
            <a:off x="7427682" y="2635522"/>
            <a:ext cx="2232280" cy="700476"/>
          </a:xfrm>
          <a:prstGeom prst="ellipse">
            <a:avLst/>
          </a:prstGeom>
          <a:noFill/>
          <a:ln>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5" name="CuadroTexto 4"/>
          <p:cNvSpPr txBox="1"/>
          <p:nvPr/>
        </p:nvSpPr>
        <p:spPr>
          <a:xfrm>
            <a:off x="1787339" y="3615184"/>
            <a:ext cx="1721541" cy="400110"/>
          </a:xfrm>
          <a:prstGeom prst="rect">
            <a:avLst/>
          </a:prstGeom>
          <a:noFill/>
        </p:spPr>
        <p:txBody>
          <a:bodyPr wrap="square" rtlCol="0">
            <a:spAutoFit/>
          </a:bodyPr>
          <a:lstStyle/>
          <a:p>
            <a:r>
              <a:rPr lang="es-CO" sz="2000" err="1">
                <a:solidFill>
                  <a:schemeClr val="accent6"/>
                </a:solidFill>
              </a:rPr>
              <a:t>Vf</a:t>
            </a:r>
            <a:r>
              <a:rPr lang="es-CO" sz="2000">
                <a:solidFill>
                  <a:schemeClr val="accent6"/>
                </a:solidFill>
              </a:rPr>
              <a:t> = 89,15</a:t>
            </a:r>
          </a:p>
        </p:txBody>
      </p:sp>
      <p:sp>
        <p:nvSpPr>
          <p:cNvPr id="12" name="Title 1">
            <a:extLst>
              <a:ext uri="{FF2B5EF4-FFF2-40B4-BE49-F238E27FC236}">
                <a16:creationId xmlns:a16="http://schemas.microsoft.com/office/drawing/2014/main" id="{6E86578A-690E-93D3-C145-5DD867335620}"/>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6" name="Rectángulo 15">
            <a:extLst>
              <a:ext uri="{FF2B5EF4-FFF2-40B4-BE49-F238E27FC236}">
                <a16:creationId xmlns:a16="http://schemas.microsoft.com/office/drawing/2014/main" id="{EDDAEB5C-8C8D-0273-146D-18008824315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7A29ADFF-EF7F-E32A-1BF3-EE879D4008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6" name="Rectángulo 35">
            <a:extLst>
              <a:ext uri="{FF2B5EF4-FFF2-40B4-BE49-F238E27FC236}">
                <a16:creationId xmlns:a16="http://schemas.microsoft.com/office/drawing/2014/main" id="{421A85BB-A3E5-89F8-3F11-DF8FF2D31FF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4462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 grpId="0" animBg="1"/>
      <p:bldP spid="29" grpId="0" animBg="1"/>
      <p:bldP spid="11" grpId="0" animBg="1"/>
      <p:bldP spid="17" grpId="0" animBg="1"/>
      <p:bldP spid="19" grpId="0" animBg="1"/>
      <p:bldP spid="34" grpId="0" animBg="1"/>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2" y="1989939"/>
            <a:ext cx="11029615" cy="1248504"/>
          </a:xfrm>
        </p:spPr>
        <p:txBody>
          <a:bodyPr>
            <a:normAutofit lnSpcReduction="10000"/>
          </a:bodyPr>
          <a:lstStyle/>
          <a:p>
            <a:pPr marL="0" indent="0" algn="ctr">
              <a:buNone/>
            </a:pPr>
            <a:r>
              <a:rPr lang="es-ES_tradnl" sz="2400" dirty="0">
                <a:solidFill>
                  <a:srgbClr val="800000"/>
                </a:solidFill>
              </a:rPr>
              <a:t>¿Cuál es el valor presente equivalente a un valor futuro?</a:t>
            </a:r>
          </a:p>
          <a:p>
            <a:pPr marL="0" indent="0" algn="just">
              <a:buNone/>
            </a:pPr>
            <a:r>
              <a:rPr lang="es-ES_tradnl" sz="2400" dirty="0"/>
              <a:t>De igual manera, si se tiene un valor futuro, es de interés encontrar su valor equivalente en valor presente. Esto no es más que la relación inversa de la anterior fórmula.</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25</a:t>
            </a:fld>
            <a:endParaRPr lang="en-US" sz="2000" dirty="0"/>
          </a:p>
        </p:txBody>
      </p:sp>
      <p:cxnSp>
        <p:nvCxnSpPr>
          <p:cNvPr id="6" name="Straight Connector 5"/>
          <p:cNvCxnSpPr/>
          <p:nvPr/>
        </p:nvCxnSpPr>
        <p:spPr>
          <a:xfrm>
            <a:off x="2500083" y="474810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cxnSpLocks/>
          </p:cNvCxnSpPr>
          <p:nvPr/>
        </p:nvCxnSpPr>
        <p:spPr>
          <a:xfrm>
            <a:off x="2500082" y="4764711"/>
            <a:ext cx="0" cy="97920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2824481" y="48404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415220" y="48404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028436" y="48543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331552" y="434046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5" name="Rectangle 14"/>
          <p:cNvSpPr>
            <a:spLocks/>
          </p:cNvSpPr>
          <p:nvPr/>
        </p:nvSpPr>
        <p:spPr bwMode="auto">
          <a:xfrm>
            <a:off x="4647425" y="48543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029245" y="4657219"/>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9345117" y="3679129"/>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353643" y="47495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7944382" y="47495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557598" y="47635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6860714" y="47635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176587" y="47635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rot="10800000">
            <a:off x="5304850" y="4366749"/>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5" name="Rectangle 24"/>
          <p:cNvSpPr>
            <a:spLocks/>
          </p:cNvSpPr>
          <p:nvPr/>
        </p:nvSpPr>
        <p:spPr bwMode="auto">
          <a:xfrm>
            <a:off x="2322114" y="57439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a:t>
            </a:r>
          </a:p>
        </p:txBody>
      </p:sp>
      <p:sp>
        <p:nvSpPr>
          <p:cNvPr id="27" name="Rectangle 26"/>
          <p:cNvSpPr>
            <a:spLocks/>
          </p:cNvSpPr>
          <p:nvPr/>
        </p:nvSpPr>
        <p:spPr bwMode="auto">
          <a:xfrm>
            <a:off x="9176587" y="338817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14" name="Title 1">
            <a:extLst>
              <a:ext uri="{FF2B5EF4-FFF2-40B4-BE49-F238E27FC236}">
                <a16:creationId xmlns:a16="http://schemas.microsoft.com/office/drawing/2014/main" id="{8E77C616-F369-8E67-28B9-4B6B9F82F49A}"/>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23" name="Rectángulo 22">
            <a:extLst>
              <a:ext uri="{FF2B5EF4-FFF2-40B4-BE49-F238E27FC236}">
                <a16:creationId xmlns:a16="http://schemas.microsoft.com/office/drawing/2014/main" id="{1E927601-3F6A-FC1D-970C-0D899BD983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8" name="Picture 2" descr="Clientes y aliados | Centro de Evaluación | Uniandes">
            <a:extLst>
              <a:ext uri="{FF2B5EF4-FFF2-40B4-BE49-F238E27FC236}">
                <a16:creationId xmlns:a16="http://schemas.microsoft.com/office/drawing/2014/main" id="{595F80D3-893B-B8A7-7267-FC709FE4D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9" name="Rectángulo 28">
            <a:extLst>
              <a:ext uri="{FF2B5EF4-FFF2-40B4-BE49-F238E27FC236}">
                <a16:creationId xmlns:a16="http://schemas.microsoft.com/office/drawing/2014/main" id="{D18AA611-D0D8-08E8-B4A1-F244C659DCA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8898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5" grpId="0"/>
      <p:bldP spid="18" grpId="0"/>
      <p:bldP spid="19" grpId="0"/>
      <p:bldP spid="20" grpId="0"/>
      <p:bldP spid="21" grpId="0"/>
      <p:bldP spid="22" grpId="0"/>
      <p:bldP spid="24" grpId="0" animBg="1"/>
      <p:bldP spid="25"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180496"/>
            <a:ext cx="11029615" cy="769533"/>
          </a:xfrm>
        </p:spPr>
        <p:txBody>
          <a:bodyPr>
            <a:normAutofit/>
          </a:bodyPr>
          <a:lstStyle/>
          <a:p>
            <a:pPr marL="0" indent="0" algn="just">
              <a:buNone/>
            </a:pPr>
            <a:r>
              <a:rPr lang="es-ES_tradnl" sz="2400" dirty="0"/>
              <a:t>Matemáticamente, se tiene que:</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26</a:t>
            </a:fld>
            <a:endParaRPr lang="en-US" sz="2000" dirty="0"/>
          </a:p>
        </p:txBody>
      </p:sp>
      <p:pic>
        <p:nvPicPr>
          <p:cNvPr id="7" name="Picture 6"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969" y="3431173"/>
            <a:ext cx="2984500" cy="482600"/>
          </a:xfrm>
          <a:prstGeom prst="rect">
            <a:avLst/>
          </a:prstGeom>
        </p:spPr>
      </p:pic>
      <p:pic>
        <p:nvPicPr>
          <p:cNvPr id="9" name="Picture 8"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4595" y="4484433"/>
            <a:ext cx="2679700" cy="1054100"/>
          </a:xfrm>
          <a:prstGeom prst="rect">
            <a:avLst/>
          </a:prstGeom>
        </p:spPr>
      </p:pic>
      <p:sp>
        <p:nvSpPr>
          <p:cNvPr id="11" name="Title 1">
            <a:extLst>
              <a:ext uri="{FF2B5EF4-FFF2-40B4-BE49-F238E27FC236}">
                <a16:creationId xmlns:a16="http://schemas.microsoft.com/office/drawing/2014/main" id="{92AE2CAD-B060-5DC6-5E15-9181802A93C8}"/>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2" name="Rectángulo 11">
            <a:extLst>
              <a:ext uri="{FF2B5EF4-FFF2-40B4-BE49-F238E27FC236}">
                <a16:creationId xmlns:a16="http://schemas.microsoft.com/office/drawing/2014/main" id="{7F7FAC12-74B9-A196-EAA3-E7AB053B86F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F550324-FC16-EFF6-391D-D83DF455A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E40BF862-D1D9-7368-765A-4D768C79CF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069732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2125030"/>
            <a:ext cx="11029615" cy="1325742"/>
          </a:xfrm>
        </p:spPr>
        <p:txBody>
          <a:bodyPr>
            <a:normAutofit/>
          </a:bodyPr>
          <a:lstStyle/>
          <a:p>
            <a:pPr marL="0" indent="0" algn="just">
              <a:buNone/>
            </a:pPr>
            <a:r>
              <a:rPr lang="es-ES_tradnl" sz="2400" dirty="0"/>
              <a:t>Ejemplo: Usted sabe que el valor de su matrícula universitaria en 6 meses es 22 millones. Si usted sabe que su cuenta de ahorros tiene una tasa del 10% E.S. ¿cuánto debería ahorrar hoy?</a:t>
            </a:r>
          </a:p>
          <a:p>
            <a:pPr marL="0" indent="0" algn="just">
              <a:buNone/>
            </a:pPr>
            <a:endParaRPr lang="es-ES_tradnl" sz="2400" dirty="0"/>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27</a:t>
            </a:fld>
            <a:endParaRPr lang="en-US" sz="2000" dirty="0"/>
          </a:p>
        </p:txBody>
      </p:sp>
      <p:cxnSp>
        <p:nvCxnSpPr>
          <p:cNvPr id="13" name="Straight Connector 12"/>
          <p:cNvCxnSpPr/>
          <p:nvPr/>
        </p:nvCxnSpPr>
        <p:spPr>
          <a:xfrm>
            <a:off x="2826000" y="5101200"/>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cxnSpLocks/>
          </p:cNvCxnSpPr>
          <p:nvPr/>
        </p:nvCxnSpPr>
        <p:spPr>
          <a:xfrm flipH="1" flipV="1">
            <a:off x="9027364" y="4280750"/>
            <a:ext cx="2" cy="8064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769956" y="47317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32" name="Rectangle 31"/>
          <p:cNvSpPr>
            <a:spLocks/>
          </p:cNvSpPr>
          <p:nvPr/>
        </p:nvSpPr>
        <p:spPr bwMode="auto">
          <a:xfrm>
            <a:off x="8858834" y="51590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3" name="Rectangle 32"/>
          <p:cNvSpPr>
            <a:spLocks/>
          </p:cNvSpPr>
          <p:nvPr/>
        </p:nvSpPr>
        <p:spPr bwMode="auto">
          <a:xfrm>
            <a:off x="8074009" y="39666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22’000.000</a:t>
            </a:r>
          </a:p>
        </p:txBody>
      </p:sp>
      <p:sp>
        <p:nvSpPr>
          <p:cNvPr id="23" name="Rectangle 22"/>
          <p:cNvSpPr>
            <a:spLocks/>
          </p:cNvSpPr>
          <p:nvPr/>
        </p:nvSpPr>
        <p:spPr bwMode="auto">
          <a:xfrm>
            <a:off x="2187273" y="592799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 = ?</a:t>
            </a:r>
          </a:p>
        </p:txBody>
      </p:sp>
      <p:cxnSp>
        <p:nvCxnSpPr>
          <p:cNvPr id="29" name="Straight Arrow Connector 28"/>
          <p:cNvCxnSpPr/>
          <p:nvPr/>
        </p:nvCxnSpPr>
        <p:spPr>
          <a:xfrm>
            <a:off x="2826000" y="5087150"/>
            <a:ext cx="9821" cy="8072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5" name="CuadroTexto 4"/>
          <p:cNvSpPr txBox="1"/>
          <p:nvPr/>
        </p:nvSpPr>
        <p:spPr>
          <a:xfrm>
            <a:off x="9073491" y="4409098"/>
            <a:ext cx="1149354" cy="400110"/>
          </a:xfrm>
          <a:prstGeom prst="rect">
            <a:avLst/>
          </a:prstGeom>
          <a:noFill/>
        </p:spPr>
        <p:txBody>
          <a:bodyPr wrap="none" rtlCol="0">
            <a:spAutoFit/>
          </a:bodyPr>
          <a:lstStyle/>
          <a:p>
            <a:r>
              <a:rPr lang="es-CO" sz="2000" dirty="0"/>
              <a:t>Semestre</a:t>
            </a:r>
          </a:p>
        </p:txBody>
      </p:sp>
      <p:sp>
        <p:nvSpPr>
          <p:cNvPr id="9" name="Title 1">
            <a:extLst>
              <a:ext uri="{FF2B5EF4-FFF2-40B4-BE49-F238E27FC236}">
                <a16:creationId xmlns:a16="http://schemas.microsoft.com/office/drawing/2014/main" id="{9CD3EE01-210C-5A69-0D61-675E92839171}"/>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0" name="Rectángulo 9">
            <a:extLst>
              <a:ext uri="{FF2B5EF4-FFF2-40B4-BE49-F238E27FC236}">
                <a16:creationId xmlns:a16="http://schemas.microsoft.com/office/drawing/2014/main" id="{5E929437-D2DF-F8BA-1049-EF2D4608711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BD0AD77-C92F-AC12-3B97-15F413925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406852CD-1F47-E8EF-BEC9-3322596F64F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73060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2" grpId="0"/>
      <p:bldP spid="33" grpId="0"/>
      <p:bldP spid="23"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28</a:t>
            </a:fld>
            <a:endParaRPr lang="en-US" sz="2000" dirty="0"/>
          </a:p>
        </p:txBody>
      </p:sp>
      <p:sp>
        <p:nvSpPr>
          <p:cNvPr id="9" name="Title 1">
            <a:extLst>
              <a:ext uri="{FF2B5EF4-FFF2-40B4-BE49-F238E27FC236}">
                <a16:creationId xmlns:a16="http://schemas.microsoft.com/office/drawing/2014/main" id="{28FEEC7E-4D3A-F6B5-DBD9-FA7927961159}"/>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0" name="Rectángulo 9">
            <a:extLst>
              <a:ext uri="{FF2B5EF4-FFF2-40B4-BE49-F238E27FC236}">
                <a16:creationId xmlns:a16="http://schemas.microsoft.com/office/drawing/2014/main" id="{3896B485-BDF7-494D-A603-36203B97DEA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DB60368-35DD-08AA-F4D8-085F6EF2B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E762160B-D7F5-E668-35B7-198395D9E7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34" name="Rectángulo 33">
                <a:extLst>
                  <a:ext uri="{FF2B5EF4-FFF2-40B4-BE49-F238E27FC236}">
                    <a16:creationId xmlns:a16="http://schemas.microsoft.com/office/drawing/2014/main" id="{60092F3C-3528-0B02-D0D7-D7B62EEAA93D}"/>
                  </a:ext>
                </a:extLst>
              </p:cNvPr>
              <p:cNvSpPr/>
              <p:nvPr/>
            </p:nvSpPr>
            <p:spPr>
              <a:xfrm>
                <a:off x="4624244" y="2880000"/>
                <a:ext cx="2943513" cy="6519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rPr>
                        <m:t>𝑉𝑃</m:t>
                      </m:r>
                      <m:r>
                        <a:rPr lang="es-CO">
                          <a:latin typeface="Cambria Math" panose="02040503050406030204" pitchFamily="18" charset="0"/>
                        </a:rPr>
                        <m:t>=</m:t>
                      </m:r>
                      <m:f>
                        <m:fPr>
                          <m:ctrlPr>
                            <a:rPr lang="es-CO" i="1">
                              <a:latin typeface="Cambria Math" panose="02040503050406030204" pitchFamily="18" charset="0"/>
                            </a:rPr>
                          </m:ctrlPr>
                        </m:fPr>
                        <m:num>
                          <m:r>
                            <a:rPr lang="es-ES" b="0" i="0" smtClean="0">
                              <a:latin typeface="Cambria Math" panose="02040503050406030204" pitchFamily="18" charset="0"/>
                            </a:rPr>
                            <m:t>22</m:t>
                          </m:r>
                          <m:r>
                            <a:rPr lang="es-CO">
                              <a:latin typeface="Cambria Math" panose="02040503050406030204" pitchFamily="18" charset="0"/>
                            </a:rPr>
                            <m:t>.000.000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m:t>
                                  </m:r>
                                  <m:r>
                                    <a:rPr lang="es-ES" b="0" i="0" smtClean="0">
                                      <a:latin typeface="Cambria Math" panose="02040503050406030204" pitchFamily="18" charset="0"/>
                                    </a:rPr>
                                    <m:t>10</m:t>
                                  </m:r>
                                  <m:r>
                                    <a:rPr lang="es-CO">
                                      <a:latin typeface="Cambria Math" panose="02040503050406030204" pitchFamily="18" charset="0"/>
                                    </a:rPr>
                                    <m:t>%</m:t>
                                  </m:r>
                                </m:e>
                              </m:d>
                            </m:e>
                            <m:sup>
                              <m:r>
                                <a:rPr lang="es-ES" b="0" i="1" smtClean="0">
                                  <a:latin typeface="Cambria Math" panose="02040503050406030204" pitchFamily="18" charset="0"/>
                                </a:rPr>
                                <m:t>1</m:t>
                              </m:r>
                            </m:sup>
                          </m:sSup>
                        </m:den>
                      </m:f>
                    </m:oMath>
                  </m:oMathPara>
                </a14:m>
                <a:endParaRPr lang="es-CO" dirty="0"/>
              </a:p>
            </p:txBody>
          </p:sp>
        </mc:Choice>
        <mc:Fallback xmlns="">
          <p:sp>
            <p:nvSpPr>
              <p:cNvPr id="34" name="Rectángulo 33">
                <a:extLst>
                  <a:ext uri="{FF2B5EF4-FFF2-40B4-BE49-F238E27FC236}">
                    <a16:creationId xmlns:a16="http://schemas.microsoft.com/office/drawing/2014/main" id="{60092F3C-3528-0B02-D0D7-D7B62EEAA93D}"/>
                  </a:ext>
                </a:extLst>
              </p:cNvPr>
              <p:cNvSpPr>
                <a:spLocks noRot="1" noChangeAspect="1" noMove="1" noResize="1" noEditPoints="1" noAdjustHandles="1" noChangeArrowheads="1" noChangeShapeType="1" noTextEdit="1"/>
              </p:cNvSpPr>
              <p:nvPr/>
            </p:nvSpPr>
            <p:spPr>
              <a:xfrm>
                <a:off x="4624244" y="2880000"/>
                <a:ext cx="2943513" cy="651973"/>
              </a:xfrm>
              <a:prstGeom prst="rect">
                <a:avLst/>
              </a:prstGeom>
              <a:blipFill>
                <a:blip r:embed="rId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5" name="Rectángulo 34">
                <a:extLst>
                  <a:ext uri="{FF2B5EF4-FFF2-40B4-BE49-F238E27FC236}">
                    <a16:creationId xmlns:a16="http://schemas.microsoft.com/office/drawing/2014/main" id="{5C524E00-BBD7-2192-03BF-67C2171D39FD}"/>
                  </a:ext>
                </a:extLst>
              </p:cNvPr>
              <p:cNvSpPr/>
              <p:nvPr/>
            </p:nvSpPr>
            <p:spPr>
              <a:xfrm>
                <a:off x="4624244" y="3600000"/>
                <a:ext cx="294351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rPr>
                        <m:t>𝑉𝑃</m:t>
                      </m:r>
                      <m:r>
                        <a:rPr lang="es-CO">
                          <a:latin typeface="Cambria Math" panose="02040503050406030204" pitchFamily="18" charset="0"/>
                        </a:rPr>
                        <m:t>=</m:t>
                      </m:r>
                      <m:r>
                        <a:rPr lang="es-ES" b="0" i="1" smtClean="0">
                          <a:latin typeface="Cambria Math" panose="02040503050406030204" pitchFamily="18" charset="0"/>
                        </a:rPr>
                        <m:t>20.000.000</m:t>
                      </m:r>
                    </m:oMath>
                  </m:oMathPara>
                </a14:m>
                <a:endParaRPr lang="es-CO" dirty="0"/>
              </a:p>
            </p:txBody>
          </p:sp>
        </mc:Choice>
        <mc:Fallback xmlns="">
          <p:sp>
            <p:nvSpPr>
              <p:cNvPr id="35" name="Rectángulo 34">
                <a:extLst>
                  <a:ext uri="{FF2B5EF4-FFF2-40B4-BE49-F238E27FC236}">
                    <a16:creationId xmlns:a16="http://schemas.microsoft.com/office/drawing/2014/main" id="{5C524E00-BBD7-2192-03BF-67C2171D39FD}"/>
                  </a:ext>
                </a:extLst>
              </p:cNvPr>
              <p:cNvSpPr>
                <a:spLocks noRot="1" noChangeAspect="1" noMove="1" noResize="1" noEditPoints="1" noAdjustHandles="1" noChangeArrowheads="1" noChangeShapeType="1" noTextEdit="1"/>
              </p:cNvSpPr>
              <p:nvPr/>
            </p:nvSpPr>
            <p:spPr>
              <a:xfrm>
                <a:off x="4624244" y="3600000"/>
                <a:ext cx="2943513" cy="369332"/>
              </a:xfrm>
              <a:prstGeom prst="rect">
                <a:avLst/>
              </a:prstGeom>
              <a:blipFill>
                <a:blip r:embed="rId4"/>
                <a:stretch>
                  <a:fillRect/>
                </a:stretch>
              </a:blipFill>
            </p:spPr>
            <p:txBody>
              <a:bodyPr/>
              <a:lstStyle/>
              <a:p>
                <a:r>
                  <a:rPr lang="es-MX">
                    <a:noFill/>
                  </a:rPr>
                  <a:t> </a:t>
                </a:r>
              </a:p>
            </p:txBody>
          </p:sp>
        </mc:Fallback>
      </mc:AlternateContent>
      <p:cxnSp>
        <p:nvCxnSpPr>
          <p:cNvPr id="2" name="Straight Connector 12">
            <a:extLst>
              <a:ext uri="{FF2B5EF4-FFF2-40B4-BE49-F238E27FC236}">
                <a16:creationId xmlns:a16="http://schemas.microsoft.com/office/drawing/2014/main" id="{A907484A-3428-416C-2893-3F34D4911A48}"/>
              </a:ext>
            </a:extLst>
          </p:cNvPr>
          <p:cNvCxnSpPr/>
          <p:nvPr/>
        </p:nvCxnSpPr>
        <p:spPr>
          <a:xfrm>
            <a:off x="2826000" y="5101200"/>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 name="Straight Arrow Connector 13">
            <a:extLst>
              <a:ext uri="{FF2B5EF4-FFF2-40B4-BE49-F238E27FC236}">
                <a16:creationId xmlns:a16="http://schemas.microsoft.com/office/drawing/2014/main" id="{0CAA8B0F-0301-9E2C-4F2A-7DF9C5DD7010}"/>
              </a:ext>
            </a:extLst>
          </p:cNvPr>
          <p:cNvCxnSpPr>
            <a:cxnSpLocks/>
          </p:cNvCxnSpPr>
          <p:nvPr/>
        </p:nvCxnSpPr>
        <p:spPr>
          <a:xfrm flipH="1" flipV="1">
            <a:off x="9027364" y="4280750"/>
            <a:ext cx="2" cy="8064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Rectangle 23">
            <a:extLst>
              <a:ext uri="{FF2B5EF4-FFF2-40B4-BE49-F238E27FC236}">
                <a16:creationId xmlns:a16="http://schemas.microsoft.com/office/drawing/2014/main" id="{BA13B86F-10F6-D855-8F77-0E62DD844561}"/>
              </a:ext>
            </a:extLst>
          </p:cNvPr>
          <p:cNvSpPr>
            <a:spLocks/>
          </p:cNvSpPr>
          <p:nvPr/>
        </p:nvSpPr>
        <p:spPr bwMode="auto">
          <a:xfrm flipH="1">
            <a:off x="2769956" y="47317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6" name="Rectangle 31">
            <a:extLst>
              <a:ext uri="{FF2B5EF4-FFF2-40B4-BE49-F238E27FC236}">
                <a16:creationId xmlns:a16="http://schemas.microsoft.com/office/drawing/2014/main" id="{40BA7EA9-6A92-6423-6C9C-0D4C2389549A}"/>
              </a:ext>
            </a:extLst>
          </p:cNvPr>
          <p:cNvSpPr>
            <a:spLocks/>
          </p:cNvSpPr>
          <p:nvPr/>
        </p:nvSpPr>
        <p:spPr bwMode="auto">
          <a:xfrm>
            <a:off x="8858834" y="51590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7" name="Rectangle 32">
            <a:extLst>
              <a:ext uri="{FF2B5EF4-FFF2-40B4-BE49-F238E27FC236}">
                <a16:creationId xmlns:a16="http://schemas.microsoft.com/office/drawing/2014/main" id="{FD1A8887-A39C-CFCD-9D89-74CCB0CEDD19}"/>
              </a:ext>
            </a:extLst>
          </p:cNvPr>
          <p:cNvSpPr>
            <a:spLocks/>
          </p:cNvSpPr>
          <p:nvPr/>
        </p:nvSpPr>
        <p:spPr bwMode="auto">
          <a:xfrm>
            <a:off x="8074009" y="39666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22’000.000</a:t>
            </a:r>
          </a:p>
        </p:txBody>
      </p:sp>
      <p:sp>
        <p:nvSpPr>
          <p:cNvPr id="8" name="Rectangle 22">
            <a:extLst>
              <a:ext uri="{FF2B5EF4-FFF2-40B4-BE49-F238E27FC236}">
                <a16:creationId xmlns:a16="http://schemas.microsoft.com/office/drawing/2014/main" id="{AEF497E3-F0F8-AE01-A29B-A89B5F0E7CB2}"/>
              </a:ext>
            </a:extLst>
          </p:cNvPr>
          <p:cNvSpPr>
            <a:spLocks/>
          </p:cNvSpPr>
          <p:nvPr/>
        </p:nvSpPr>
        <p:spPr bwMode="auto">
          <a:xfrm>
            <a:off x="2187273" y="592799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 = ?</a:t>
            </a:r>
          </a:p>
        </p:txBody>
      </p:sp>
      <p:cxnSp>
        <p:nvCxnSpPr>
          <p:cNvPr id="13" name="Straight Arrow Connector 28">
            <a:extLst>
              <a:ext uri="{FF2B5EF4-FFF2-40B4-BE49-F238E27FC236}">
                <a16:creationId xmlns:a16="http://schemas.microsoft.com/office/drawing/2014/main" id="{0947027E-8360-400F-573D-A24CEEFA5646}"/>
              </a:ext>
            </a:extLst>
          </p:cNvPr>
          <p:cNvCxnSpPr/>
          <p:nvPr/>
        </p:nvCxnSpPr>
        <p:spPr>
          <a:xfrm>
            <a:off x="2826000" y="5087150"/>
            <a:ext cx="9821" cy="8072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018F424B-99C6-4CE2-C595-7114EC4664D7}"/>
              </a:ext>
            </a:extLst>
          </p:cNvPr>
          <p:cNvSpPr txBox="1"/>
          <p:nvPr/>
        </p:nvSpPr>
        <p:spPr>
          <a:xfrm>
            <a:off x="9073491" y="4409098"/>
            <a:ext cx="1149354" cy="400110"/>
          </a:xfrm>
          <a:prstGeom prst="rect">
            <a:avLst/>
          </a:prstGeom>
          <a:noFill/>
        </p:spPr>
        <p:txBody>
          <a:bodyPr wrap="none" rtlCol="0">
            <a:spAutoFit/>
          </a:bodyPr>
          <a:lstStyle/>
          <a:p>
            <a:r>
              <a:rPr lang="es-CO" sz="2000" dirty="0"/>
              <a:t>Semestre</a:t>
            </a:r>
          </a:p>
        </p:txBody>
      </p:sp>
      <p:sp>
        <p:nvSpPr>
          <p:cNvPr id="15" name="Rectángulo 14">
            <a:extLst>
              <a:ext uri="{FF2B5EF4-FFF2-40B4-BE49-F238E27FC236}">
                <a16:creationId xmlns:a16="http://schemas.microsoft.com/office/drawing/2014/main" id="{87154536-0A66-75A8-363E-743CFE320F5E}"/>
              </a:ext>
            </a:extLst>
          </p:cNvPr>
          <p:cNvSpPr/>
          <p:nvPr/>
        </p:nvSpPr>
        <p:spPr>
          <a:xfrm>
            <a:off x="2795588" y="1989939"/>
            <a:ext cx="6600825" cy="461665"/>
          </a:xfrm>
          <a:prstGeom prst="rect">
            <a:avLst/>
          </a:prstGeom>
        </p:spPr>
        <p:txBody>
          <a:bodyPr wrap="square">
            <a:spAutoFit/>
          </a:bodyPr>
          <a:lstStyle/>
          <a:p>
            <a:pPr algn="ctr"/>
            <a:r>
              <a:rPr lang="es-ES_tradnl" sz="2400" dirty="0"/>
              <a:t>¿Cuánto debería ahorrar hoy?</a:t>
            </a:r>
          </a:p>
        </p:txBody>
      </p:sp>
    </p:spTree>
    <p:extLst>
      <p:ext uri="{BB962C8B-B14F-4D97-AF65-F5344CB8AC3E}">
        <p14:creationId xmlns:p14="http://schemas.microsoft.com/office/powerpoint/2010/main" val="204576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29</a:t>
            </a:fld>
            <a:endParaRPr lang="en-US" sz="2000" dirty="0"/>
          </a:p>
        </p:txBody>
      </p:sp>
      <p:sp>
        <p:nvSpPr>
          <p:cNvPr id="3" name="Rectángulo 2"/>
          <p:cNvSpPr/>
          <p:nvPr/>
        </p:nvSpPr>
        <p:spPr>
          <a:xfrm>
            <a:off x="2795588" y="1989939"/>
            <a:ext cx="6600825" cy="461665"/>
          </a:xfrm>
          <a:prstGeom prst="rect">
            <a:avLst/>
          </a:prstGeom>
        </p:spPr>
        <p:txBody>
          <a:bodyPr wrap="square">
            <a:spAutoFit/>
          </a:bodyPr>
          <a:lstStyle/>
          <a:p>
            <a:pPr algn="ctr"/>
            <a:r>
              <a:rPr lang="es-ES_tradnl" sz="2400" dirty="0"/>
              <a:t>¿Qué pasaría si hubiese hecho mi flujo en meses?</a:t>
            </a:r>
          </a:p>
        </p:txBody>
      </p:sp>
      <mc:AlternateContent xmlns:mc="http://schemas.openxmlformats.org/markup-compatibility/2006" xmlns:a14="http://schemas.microsoft.com/office/drawing/2010/main">
        <mc:Choice Requires="a14">
          <p:sp>
            <p:nvSpPr>
              <p:cNvPr id="5" name="Rectángulo 4"/>
              <p:cNvSpPr/>
              <p:nvPr/>
            </p:nvSpPr>
            <p:spPr>
              <a:xfrm>
                <a:off x="4624244" y="2880000"/>
                <a:ext cx="2943513" cy="6519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rPr>
                        <m:t>𝑉𝑃</m:t>
                      </m:r>
                      <m:r>
                        <a:rPr lang="es-CO">
                          <a:latin typeface="Cambria Math" panose="02040503050406030204" pitchFamily="18" charset="0"/>
                        </a:rPr>
                        <m:t>=</m:t>
                      </m:r>
                      <m:f>
                        <m:fPr>
                          <m:ctrlPr>
                            <a:rPr lang="es-CO" i="1">
                              <a:latin typeface="Cambria Math" panose="02040503050406030204" pitchFamily="18" charset="0"/>
                            </a:rPr>
                          </m:ctrlPr>
                        </m:fPr>
                        <m:num>
                          <m:r>
                            <a:rPr lang="es-ES" b="0" i="0" smtClean="0">
                              <a:latin typeface="Cambria Math" panose="02040503050406030204" pitchFamily="18" charset="0"/>
                            </a:rPr>
                            <m:t>22</m:t>
                          </m:r>
                          <m:r>
                            <a:rPr lang="es-CO">
                              <a:latin typeface="Cambria Math" panose="02040503050406030204" pitchFamily="18" charset="0"/>
                            </a:rPr>
                            <m:t>.000.000</m:t>
                          </m:r>
                        </m:num>
                        <m:den>
                          <m:sSup>
                            <m:sSupPr>
                              <m:ctrlPr>
                                <a:rPr lang="es-CO" i="1">
                                  <a:latin typeface="Cambria Math" panose="02040503050406030204" pitchFamily="18" charset="0"/>
                                </a:rPr>
                              </m:ctrlPr>
                            </m:sSupPr>
                            <m:e>
                              <m:d>
                                <m:dPr>
                                  <m:ctrlPr>
                                    <a:rPr lang="es-CO" i="1">
                                      <a:latin typeface="Cambria Math" panose="02040503050406030204" pitchFamily="18" charset="0"/>
                                    </a:rPr>
                                  </m:ctrlPr>
                                </m:dPr>
                                <m:e>
                                  <m:r>
                                    <a:rPr lang="es-CO">
                                      <a:latin typeface="Cambria Math" panose="02040503050406030204" pitchFamily="18" charset="0"/>
                                    </a:rPr>
                                    <m:t>1+1,6%</m:t>
                                  </m:r>
                                </m:e>
                              </m:d>
                            </m:e>
                            <m:sup>
                              <m:r>
                                <a:rPr lang="es-CO">
                                  <a:latin typeface="Cambria Math" panose="02040503050406030204" pitchFamily="18" charset="0"/>
                                </a:rPr>
                                <m:t>6</m:t>
                              </m:r>
                            </m:sup>
                          </m:sSup>
                        </m:den>
                      </m:f>
                    </m:oMath>
                  </m:oMathPara>
                </a14:m>
                <a:endParaRPr lang="es-CO" dirty="0"/>
              </a:p>
            </p:txBody>
          </p:sp>
        </mc:Choice>
        <mc:Fallback xmlns="">
          <p:sp>
            <p:nvSpPr>
              <p:cNvPr id="5" name="Rectángulo 4"/>
              <p:cNvSpPr>
                <a:spLocks noRot="1" noChangeAspect="1" noMove="1" noResize="1" noEditPoints="1" noAdjustHandles="1" noChangeArrowheads="1" noChangeShapeType="1" noTextEdit="1"/>
              </p:cNvSpPr>
              <p:nvPr/>
            </p:nvSpPr>
            <p:spPr>
              <a:xfrm>
                <a:off x="4624244" y="2880000"/>
                <a:ext cx="2943513" cy="651973"/>
              </a:xfrm>
              <a:prstGeom prst="rect">
                <a:avLst/>
              </a:prstGeom>
              <a:blipFill>
                <a:blip r:embed="rId2"/>
                <a:stretch>
                  <a:fillRect/>
                </a:stretch>
              </a:blipFill>
            </p:spPr>
            <p:txBody>
              <a:bodyPr/>
              <a:lstStyle/>
              <a:p>
                <a:r>
                  <a:rPr lang="es-MX">
                    <a:noFill/>
                  </a:rPr>
                  <a:t> </a:t>
                </a:r>
              </a:p>
            </p:txBody>
          </p:sp>
        </mc:Fallback>
      </mc:AlternateContent>
      <p:sp>
        <p:nvSpPr>
          <p:cNvPr id="10" name="Title 1">
            <a:extLst>
              <a:ext uri="{FF2B5EF4-FFF2-40B4-BE49-F238E27FC236}">
                <a16:creationId xmlns:a16="http://schemas.microsoft.com/office/drawing/2014/main" id="{2A47E601-9C0A-9A6F-4BCC-5B90C563C3F7}"/>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1" name="Rectángulo 10">
            <a:extLst>
              <a:ext uri="{FF2B5EF4-FFF2-40B4-BE49-F238E27FC236}">
                <a16:creationId xmlns:a16="http://schemas.microsoft.com/office/drawing/2014/main" id="{57D19485-5B5B-9094-9684-04720C1DC21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AF2E0372-0B4F-7BCF-D3C8-8B67C0C20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C32D8118-1EA0-1206-8718-41924F3449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8" name="Rectángulo 17">
                <a:extLst>
                  <a:ext uri="{FF2B5EF4-FFF2-40B4-BE49-F238E27FC236}">
                    <a16:creationId xmlns:a16="http://schemas.microsoft.com/office/drawing/2014/main" id="{4C358EF1-38E6-CC08-313B-BAC15C6EAABE}"/>
                  </a:ext>
                </a:extLst>
              </p:cNvPr>
              <p:cNvSpPr/>
              <p:nvPr/>
            </p:nvSpPr>
            <p:spPr>
              <a:xfrm>
                <a:off x="4624244" y="3600000"/>
                <a:ext cx="294351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rPr>
                        <m:t>𝑉𝑃</m:t>
                      </m:r>
                      <m:r>
                        <a:rPr lang="es-CO">
                          <a:latin typeface="Cambria Math" panose="02040503050406030204" pitchFamily="18" charset="0"/>
                        </a:rPr>
                        <m:t>=</m:t>
                      </m:r>
                      <m:r>
                        <a:rPr lang="es-ES" b="0" i="1" smtClean="0">
                          <a:latin typeface="Cambria Math" panose="02040503050406030204" pitchFamily="18" charset="0"/>
                        </a:rPr>
                        <m:t>20.000.000</m:t>
                      </m:r>
                    </m:oMath>
                  </m:oMathPara>
                </a14:m>
                <a:endParaRPr lang="es-CO" dirty="0"/>
              </a:p>
            </p:txBody>
          </p:sp>
        </mc:Choice>
        <mc:Fallback xmlns="">
          <p:sp>
            <p:nvSpPr>
              <p:cNvPr id="18" name="Rectángulo 17">
                <a:extLst>
                  <a:ext uri="{FF2B5EF4-FFF2-40B4-BE49-F238E27FC236}">
                    <a16:creationId xmlns:a16="http://schemas.microsoft.com/office/drawing/2014/main" id="{4C358EF1-38E6-CC08-313B-BAC15C6EAABE}"/>
                  </a:ext>
                </a:extLst>
              </p:cNvPr>
              <p:cNvSpPr>
                <a:spLocks noRot="1" noChangeAspect="1" noMove="1" noResize="1" noEditPoints="1" noAdjustHandles="1" noChangeArrowheads="1" noChangeShapeType="1" noTextEdit="1"/>
              </p:cNvSpPr>
              <p:nvPr/>
            </p:nvSpPr>
            <p:spPr>
              <a:xfrm>
                <a:off x="4624244" y="3600000"/>
                <a:ext cx="2943513" cy="369332"/>
              </a:xfrm>
              <a:prstGeom prst="rect">
                <a:avLst/>
              </a:prstGeom>
              <a:blipFill>
                <a:blip r:embed="rId4"/>
                <a:stretch>
                  <a:fillRect/>
                </a:stretch>
              </a:blipFill>
            </p:spPr>
            <p:txBody>
              <a:bodyPr/>
              <a:lstStyle/>
              <a:p>
                <a:r>
                  <a:rPr lang="es-MX">
                    <a:noFill/>
                  </a:rPr>
                  <a:t> </a:t>
                </a:r>
              </a:p>
            </p:txBody>
          </p:sp>
        </mc:Fallback>
      </mc:AlternateContent>
      <p:cxnSp>
        <p:nvCxnSpPr>
          <p:cNvPr id="2" name="Straight Connector 12">
            <a:extLst>
              <a:ext uri="{FF2B5EF4-FFF2-40B4-BE49-F238E27FC236}">
                <a16:creationId xmlns:a16="http://schemas.microsoft.com/office/drawing/2014/main" id="{CF275614-94C1-BBD2-DD9C-EA6BDB5A603E}"/>
              </a:ext>
            </a:extLst>
          </p:cNvPr>
          <p:cNvCxnSpPr/>
          <p:nvPr/>
        </p:nvCxnSpPr>
        <p:spPr>
          <a:xfrm>
            <a:off x="2826000" y="5101200"/>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3">
            <a:extLst>
              <a:ext uri="{FF2B5EF4-FFF2-40B4-BE49-F238E27FC236}">
                <a16:creationId xmlns:a16="http://schemas.microsoft.com/office/drawing/2014/main" id="{B6F08892-0683-5090-FCD0-131361B92805}"/>
              </a:ext>
            </a:extLst>
          </p:cNvPr>
          <p:cNvCxnSpPr>
            <a:cxnSpLocks/>
          </p:cNvCxnSpPr>
          <p:nvPr/>
        </p:nvCxnSpPr>
        <p:spPr>
          <a:xfrm flipH="1" flipV="1">
            <a:off x="9027364" y="4280750"/>
            <a:ext cx="2" cy="8064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23">
            <a:extLst>
              <a:ext uri="{FF2B5EF4-FFF2-40B4-BE49-F238E27FC236}">
                <a16:creationId xmlns:a16="http://schemas.microsoft.com/office/drawing/2014/main" id="{955CA8DA-3406-1FBD-0A68-154B508DE34D}"/>
              </a:ext>
            </a:extLst>
          </p:cNvPr>
          <p:cNvSpPr>
            <a:spLocks/>
          </p:cNvSpPr>
          <p:nvPr/>
        </p:nvSpPr>
        <p:spPr bwMode="auto">
          <a:xfrm flipH="1">
            <a:off x="2769956" y="47317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8" name="Rectangle 31">
            <a:extLst>
              <a:ext uri="{FF2B5EF4-FFF2-40B4-BE49-F238E27FC236}">
                <a16:creationId xmlns:a16="http://schemas.microsoft.com/office/drawing/2014/main" id="{8F041D01-4B6E-2E39-AFBE-54ECCD591445}"/>
              </a:ext>
            </a:extLst>
          </p:cNvPr>
          <p:cNvSpPr>
            <a:spLocks/>
          </p:cNvSpPr>
          <p:nvPr/>
        </p:nvSpPr>
        <p:spPr bwMode="auto">
          <a:xfrm>
            <a:off x="8858834" y="51590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9" name="Rectangle 32">
            <a:extLst>
              <a:ext uri="{FF2B5EF4-FFF2-40B4-BE49-F238E27FC236}">
                <a16:creationId xmlns:a16="http://schemas.microsoft.com/office/drawing/2014/main" id="{9B8E32FA-EB0D-0055-EFCC-01F602125BF5}"/>
              </a:ext>
            </a:extLst>
          </p:cNvPr>
          <p:cNvSpPr>
            <a:spLocks/>
          </p:cNvSpPr>
          <p:nvPr/>
        </p:nvSpPr>
        <p:spPr bwMode="auto">
          <a:xfrm>
            <a:off x="8074009" y="39666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22’000.000</a:t>
            </a:r>
          </a:p>
        </p:txBody>
      </p:sp>
      <p:sp>
        <p:nvSpPr>
          <p:cNvPr id="17" name="Rectangle 22">
            <a:extLst>
              <a:ext uri="{FF2B5EF4-FFF2-40B4-BE49-F238E27FC236}">
                <a16:creationId xmlns:a16="http://schemas.microsoft.com/office/drawing/2014/main" id="{DA0AFF5E-21C5-258A-B1BC-6C58CE52E772}"/>
              </a:ext>
            </a:extLst>
          </p:cNvPr>
          <p:cNvSpPr>
            <a:spLocks/>
          </p:cNvSpPr>
          <p:nvPr/>
        </p:nvSpPr>
        <p:spPr bwMode="auto">
          <a:xfrm>
            <a:off x="2187273" y="592799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VP = ?</a:t>
            </a:r>
          </a:p>
        </p:txBody>
      </p:sp>
      <p:cxnSp>
        <p:nvCxnSpPr>
          <p:cNvPr id="19" name="Straight Arrow Connector 28">
            <a:extLst>
              <a:ext uri="{FF2B5EF4-FFF2-40B4-BE49-F238E27FC236}">
                <a16:creationId xmlns:a16="http://schemas.microsoft.com/office/drawing/2014/main" id="{D6A02866-1CC3-D069-BC57-C069B9F1411C}"/>
              </a:ext>
            </a:extLst>
          </p:cNvPr>
          <p:cNvCxnSpPr/>
          <p:nvPr/>
        </p:nvCxnSpPr>
        <p:spPr>
          <a:xfrm>
            <a:off x="2826000" y="5087150"/>
            <a:ext cx="9821" cy="8072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9BAD8297-5297-9959-ABCB-D542DBA5507E}"/>
              </a:ext>
            </a:extLst>
          </p:cNvPr>
          <p:cNvSpPr txBox="1"/>
          <p:nvPr/>
        </p:nvSpPr>
        <p:spPr>
          <a:xfrm>
            <a:off x="9073491" y="4409098"/>
            <a:ext cx="1149354" cy="400110"/>
          </a:xfrm>
          <a:prstGeom prst="rect">
            <a:avLst/>
          </a:prstGeom>
          <a:noFill/>
        </p:spPr>
        <p:txBody>
          <a:bodyPr wrap="none" rtlCol="0">
            <a:spAutoFit/>
          </a:bodyPr>
          <a:lstStyle/>
          <a:p>
            <a:r>
              <a:rPr lang="es-CO" sz="2000" dirty="0"/>
              <a:t>Semestre</a:t>
            </a:r>
          </a:p>
        </p:txBody>
      </p:sp>
    </p:spTree>
    <p:extLst>
      <p:ext uri="{BB962C8B-B14F-4D97-AF65-F5344CB8AC3E}">
        <p14:creationId xmlns:p14="http://schemas.microsoft.com/office/powerpoint/2010/main" val="315378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1989940"/>
            <a:ext cx="11029615" cy="1395976"/>
          </a:xfrm>
        </p:spPr>
        <p:txBody>
          <a:bodyPr>
            <a:normAutofit/>
          </a:bodyPr>
          <a:lstStyle/>
          <a:p>
            <a:pPr marL="0" indent="0" algn="just">
              <a:buNone/>
            </a:pPr>
            <a:r>
              <a:rPr lang="es-ES_tradnl" sz="2400" dirty="0"/>
              <a:t>Ejemplo 2: Usted tiene el siguiente esquema de pagos mensuales a un banco que le prestó al 9% NA/SV. ¿Cuánto debería pagar usted si quiere cambiar el esquema de pago por un único pago en el mes 4?</a:t>
            </a:r>
          </a:p>
          <a:p>
            <a:pPr marL="0" indent="0" algn="just">
              <a:buNone/>
            </a:pPr>
            <a:endParaRPr lang="es-ES_tradnl" sz="2400" dirty="0"/>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30</a:t>
            </a:fld>
            <a:endParaRPr lang="en-US" sz="2000" dirty="0"/>
          </a:p>
        </p:txBody>
      </p:sp>
      <p:cxnSp>
        <p:nvCxnSpPr>
          <p:cNvPr id="13" name="Straight Connector 12"/>
          <p:cNvCxnSpPr/>
          <p:nvPr/>
        </p:nvCxnSpPr>
        <p:spPr>
          <a:xfrm flipV="1">
            <a:off x="3311284" y="4503945"/>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8774819" y="4510810"/>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3225682" y="4138162"/>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3" name="Rectangle 32"/>
          <p:cNvSpPr>
            <a:spLocks/>
          </p:cNvSpPr>
          <p:nvPr/>
        </p:nvSpPr>
        <p:spPr bwMode="auto">
          <a:xfrm>
            <a:off x="7841095" y="562258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12" name="Rectangle 11"/>
          <p:cNvSpPr>
            <a:spLocks/>
          </p:cNvSpPr>
          <p:nvPr/>
        </p:nvSpPr>
        <p:spPr bwMode="auto">
          <a:xfrm>
            <a:off x="393719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4793091" y="41296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5566164"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6311627"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7026609"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788251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8611642" y="41525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1" name="Straight Arrow Connector 20"/>
          <p:cNvCxnSpPr/>
          <p:nvPr/>
        </p:nvCxnSpPr>
        <p:spPr>
          <a:xfrm flipH="1">
            <a:off x="6511367" y="4510810"/>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p:cNvSpPr>
            <a:spLocks/>
          </p:cNvSpPr>
          <p:nvPr/>
        </p:nvSpPr>
        <p:spPr bwMode="auto">
          <a:xfrm>
            <a:off x="5567786" y="525324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5" name="Rectangle 24"/>
          <p:cNvSpPr>
            <a:spLocks/>
          </p:cNvSpPr>
          <p:nvPr/>
        </p:nvSpPr>
        <p:spPr bwMode="auto">
          <a:xfrm>
            <a:off x="4007836" y="564836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6" name="Straight Arrow Connector 25"/>
          <p:cNvCxnSpPr/>
          <p:nvPr/>
        </p:nvCxnSpPr>
        <p:spPr>
          <a:xfrm flipH="1">
            <a:off x="4951417" y="449856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3311283" y="4504472"/>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2387084" y="518802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5" name="CuadroTexto 4"/>
          <p:cNvSpPr txBox="1"/>
          <p:nvPr/>
        </p:nvSpPr>
        <p:spPr>
          <a:xfrm>
            <a:off x="8948703" y="4343528"/>
            <a:ext cx="830677" cy="400110"/>
          </a:xfrm>
          <a:prstGeom prst="rect">
            <a:avLst/>
          </a:prstGeom>
          <a:noFill/>
        </p:spPr>
        <p:txBody>
          <a:bodyPr wrap="none" rtlCol="0">
            <a:spAutoFit/>
          </a:bodyPr>
          <a:lstStyle/>
          <a:p>
            <a:r>
              <a:rPr lang="es-CO" sz="2000"/>
              <a:t>Meses</a:t>
            </a:r>
          </a:p>
        </p:txBody>
      </p:sp>
      <p:sp>
        <p:nvSpPr>
          <p:cNvPr id="9" name="Title 1">
            <a:extLst>
              <a:ext uri="{FF2B5EF4-FFF2-40B4-BE49-F238E27FC236}">
                <a16:creationId xmlns:a16="http://schemas.microsoft.com/office/drawing/2014/main" id="{5C0B716F-65EE-1C6A-0663-E10ACC9A1BBA}"/>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0" name="Rectángulo 9">
            <a:extLst>
              <a:ext uri="{FF2B5EF4-FFF2-40B4-BE49-F238E27FC236}">
                <a16:creationId xmlns:a16="http://schemas.microsoft.com/office/drawing/2014/main" id="{E1E9DD0F-4E0A-D30C-F5B0-94B37F989C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545E0BA0-C276-5F74-84C4-E69CA83E2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EC1C8794-AB53-0B07-B5DC-862D105394C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72928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31</a:t>
            </a:fld>
            <a:endParaRPr lang="en-US"/>
          </a:p>
        </p:txBody>
      </p:sp>
      <p:sp>
        <p:nvSpPr>
          <p:cNvPr id="23" name="Content Placeholder 2"/>
          <p:cNvSpPr txBox="1">
            <a:spLocks/>
          </p:cNvSpPr>
          <p:nvPr/>
        </p:nvSpPr>
        <p:spPr>
          <a:xfrm>
            <a:off x="2290762" y="1974942"/>
            <a:ext cx="7610476" cy="529636"/>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dirty="0">
                <a:solidFill>
                  <a:srgbClr val="800000"/>
                </a:solidFill>
              </a:rPr>
              <a:t>i= 9% NA/SV		i=4,5% SV		i=0,74% MV</a:t>
            </a:r>
          </a:p>
          <a:p>
            <a:pPr marL="0" indent="0" algn="ctr">
              <a:buNone/>
            </a:pPr>
            <a:endParaRPr lang="es-ES_tradnl" sz="1800" dirty="0">
              <a:solidFill>
                <a:srgbClr val="800000"/>
              </a:solidFill>
            </a:endParaRPr>
          </a:p>
        </p:txBody>
      </p:sp>
      <p:pic>
        <p:nvPicPr>
          <p:cNvPr id="6" name="Picture 5"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663" y="2599647"/>
            <a:ext cx="6668675" cy="540000"/>
          </a:xfrm>
          <a:prstGeom prst="rect">
            <a:avLst/>
          </a:prstGeom>
        </p:spPr>
      </p:pic>
      <p:pic>
        <p:nvPicPr>
          <p:cNvPr id="7" name="Picture 6"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2501" y="3507808"/>
            <a:ext cx="1646998" cy="216000"/>
          </a:xfrm>
          <a:prstGeom prst="rect">
            <a:avLst/>
          </a:prstGeom>
        </p:spPr>
      </p:pic>
      <p:sp>
        <p:nvSpPr>
          <p:cNvPr id="9" name="Title 1">
            <a:extLst>
              <a:ext uri="{FF2B5EF4-FFF2-40B4-BE49-F238E27FC236}">
                <a16:creationId xmlns:a16="http://schemas.microsoft.com/office/drawing/2014/main" id="{488F86FE-CF1D-3301-447C-C8B44312B14F}"/>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0" name="Rectángulo 9">
            <a:extLst>
              <a:ext uri="{FF2B5EF4-FFF2-40B4-BE49-F238E27FC236}">
                <a16:creationId xmlns:a16="http://schemas.microsoft.com/office/drawing/2014/main" id="{6D287C4F-85D6-6C54-E45B-95FA3963AEA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130A9A9-049C-368D-E931-BB380D3738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6CBF8F4C-930F-21F2-27BF-0C0AAA932F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31" name="Straight Connector 12">
            <a:extLst>
              <a:ext uri="{FF2B5EF4-FFF2-40B4-BE49-F238E27FC236}">
                <a16:creationId xmlns:a16="http://schemas.microsoft.com/office/drawing/2014/main" id="{D216F0E6-B489-5304-330E-DEB85BAB0122}"/>
              </a:ext>
            </a:extLst>
          </p:cNvPr>
          <p:cNvCxnSpPr/>
          <p:nvPr/>
        </p:nvCxnSpPr>
        <p:spPr>
          <a:xfrm flipV="1">
            <a:off x="3311284" y="4503945"/>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Arrow Connector 13">
            <a:extLst>
              <a:ext uri="{FF2B5EF4-FFF2-40B4-BE49-F238E27FC236}">
                <a16:creationId xmlns:a16="http://schemas.microsoft.com/office/drawing/2014/main" id="{816140DD-28CA-AF46-0FFF-5D06E5521924}"/>
              </a:ext>
            </a:extLst>
          </p:cNvPr>
          <p:cNvCxnSpPr/>
          <p:nvPr/>
        </p:nvCxnSpPr>
        <p:spPr>
          <a:xfrm flipH="1">
            <a:off x="8774819" y="4510810"/>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A4E82CFC-ABFE-1EA9-B998-5F9B04BAF95F}"/>
              </a:ext>
            </a:extLst>
          </p:cNvPr>
          <p:cNvSpPr>
            <a:spLocks/>
          </p:cNvSpPr>
          <p:nvPr/>
        </p:nvSpPr>
        <p:spPr bwMode="auto">
          <a:xfrm flipH="1">
            <a:off x="3225682" y="4138162"/>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5" name="Rectangle 32">
            <a:extLst>
              <a:ext uri="{FF2B5EF4-FFF2-40B4-BE49-F238E27FC236}">
                <a16:creationId xmlns:a16="http://schemas.microsoft.com/office/drawing/2014/main" id="{8F486E45-D24E-3EA9-F3CB-89D5C4A791BA}"/>
              </a:ext>
            </a:extLst>
          </p:cNvPr>
          <p:cNvSpPr>
            <a:spLocks/>
          </p:cNvSpPr>
          <p:nvPr/>
        </p:nvSpPr>
        <p:spPr bwMode="auto">
          <a:xfrm>
            <a:off x="7841095" y="562258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36" name="Rectangle 11">
            <a:extLst>
              <a:ext uri="{FF2B5EF4-FFF2-40B4-BE49-F238E27FC236}">
                <a16:creationId xmlns:a16="http://schemas.microsoft.com/office/drawing/2014/main" id="{8F87C472-266C-2BBA-78E7-F7FEB02596B9}"/>
              </a:ext>
            </a:extLst>
          </p:cNvPr>
          <p:cNvSpPr>
            <a:spLocks/>
          </p:cNvSpPr>
          <p:nvPr/>
        </p:nvSpPr>
        <p:spPr bwMode="auto">
          <a:xfrm>
            <a:off x="393719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7" name="Rectangle 14">
            <a:extLst>
              <a:ext uri="{FF2B5EF4-FFF2-40B4-BE49-F238E27FC236}">
                <a16:creationId xmlns:a16="http://schemas.microsoft.com/office/drawing/2014/main" id="{24CBF3D3-A4EE-876F-0778-BF9154F68A34}"/>
              </a:ext>
            </a:extLst>
          </p:cNvPr>
          <p:cNvSpPr>
            <a:spLocks/>
          </p:cNvSpPr>
          <p:nvPr/>
        </p:nvSpPr>
        <p:spPr bwMode="auto">
          <a:xfrm>
            <a:off x="4793091" y="41296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8" name="Rectangle 15">
            <a:extLst>
              <a:ext uri="{FF2B5EF4-FFF2-40B4-BE49-F238E27FC236}">
                <a16:creationId xmlns:a16="http://schemas.microsoft.com/office/drawing/2014/main" id="{34905BF4-12FA-FFEA-B831-461D3095FE16}"/>
              </a:ext>
            </a:extLst>
          </p:cNvPr>
          <p:cNvSpPr>
            <a:spLocks/>
          </p:cNvSpPr>
          <p:nvPr/>
        </p:nvSpPr>
        <p:spPr bwMode="auto">
          <a:xfrm>
            <a:off x="5566164"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9" name="Rectangle 16">
            <a:extLst>
              <a:ext uri="{FF2B5EF4-FFF2-40B4-BE49-F238E27FC236}">
                <a16:creationId xmlns:a16="http://schemas.microsoft.com/office/drawing/2014/main" id="{C6953834-9DA6-2DEE-0248-F0C7717EB9D1}"/>
              </a:ext>
            </a:extLst>
          </p:cNvPr>
          <p:cNvSpPr>
            <a:spLocks/>
          </p:cNvSpPr>
          <p:nvPr/>
        </p:nvSpPr>
        <p:spPr bwMode="auto">
          <a:xfrm>
            <a:off x="6311627"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0" name="Rectangle 17">
            <a:extLst>
              <a:ext uri="{FF2B5EF4-FFF2-40B4-BE49-F238E27FC236}">
                <a16:creationId xmlns:a16="http://schemas.microsoft.com/office/drawing/2014/main" id="{04FB6335-5ABF-8971-6A31-0FA802ACFD50}"/>
              </a:ext>
            </a:extLst>
          </p:cNvPr>
          <p:cNvSpPr>
            <a:spLocks/>
          </p:cNvSpPr>
          <p:nvPr/>
        </p:nvSpPr>
        <p:spPr bwMode="auto">
          <a:xfrm>
            <a:off x="7026609"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1" name="Rectangle 18">
            <a:extLst>
              <a:ext uri="{FF2B5EF4-FFF2-40B4-BE49-F238E27FC236}">
                <a16:creationId xmlns:a16="http://schemas.microsoft.com/office/drawing/2014/main" id="{9214B179-BD97-6DCC-B3C9-9F344DF171E8}"/>
              </a:ext>
            </a:extLst>
          </p:cNvPr>
          <p:cNvSpPr>
            <a:spLocks/>
          </p:cNvSpPr>
          <p:nvPr/>
        </p:nvSpPr>
        <p:spPr bwMode="auto">
          <a:xfrm>
            <a:off x="788251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2" name="Rectangle 19">
            <a:extLst>
              <a:ext uri="{FF2B5EF4-FFF2-40B4-BE49-F238E27FC236}">
                <a16:creationId xmlns:a16="http://schemas.microsoft.com/office/drawing/2014/main" id="{4F37A373-A984-2123-92A4-BF20EB3148F7}"/>
              </a:ext>
            </a:extLst>
          </p:cNvPr>
          <p:cNvSpPr>
            <a:spLocks/>
          </p:cNvSpPr>
          <p:nvPr/>
        </p:nvSpPr>
        <p:spPr bwMode="auto">
          <a:xfrm>
            <a:off x="8611642" y="41525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43" name="Straight Arrow Connector 20">
            <a:extLst>
              <a:ext uri="{FF2B5EF4-FFF2-40B4-BE49-F238E27FC236}">
                <a16:creationId xmlns:a16="http://schemas.microsoft.com/office/drawing/2014/main" id="{FAC3E56B-1B4F-C653-872E-24348BB44DAD}"/>
              </a:ext>
            </a:extLst>
          </p:cNvPr>
          <p:cNvCxnSpPr/>
          <p:nvPr/>
        </p:nvCxnSpPr>
        <p:spPr>
          <a:xfrm flipH="1">
            <a:off x="6511367" y="4510810"/>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4" name="Rectangle 21">
            <a:extLst>
              <a:ext uri="{FF2B5EF4-FFF2-40B4-BE49-F238E27FC236}">
                <a16:creationId xmlns:a16="http://schemas.microsoft.com/office/drawing/2014/main" id="{16D80CF5-C1CA-1C28-48AC-594D51843E2E}"/>
              </a:ext>
            </a:extLst>
          </p:cNvPr>
          <p:cNvSpPr>
            <a:spLocks/>
          </p:cNvSpPr>
          <p:nvPr/>
        </p:nvSpPr>
        <p:spPr bwMode="auto">
          <a:xfrm>
            <a:off x="5567786" y="525324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45" name="Rectangle 24">
            <a:extLst>
              <a:ext uri="{FF2B5EF4-FFF2-40B4-BE49-F238E27FC236}">
                <a16:creationId xmlns:a16="http://schemas.microsoft.com/office/drawing/2014/main" id="{1416332E-9E39-4604-8E9B-C1243105409C}"/>
              </a:ext>
            </a:extLst>
          </p:cNvPr>
          <p:cNvSpPr>
            <a:spLocks/>
          </p:cNvSpPr>
          <p:nvPr/>
        </p:nvSpPr>
        <p:spPr bwMode="auto">
          <a:xfrm>
            <a:off x="4007836" y="564836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46" name="Straight Arrow Connector 25">
            <a:extLst>
              <a:ext uri="{FF2B5EF4-FFF2-40B4-BE49-F238E27FC236}">
                <a16:creationId xmlns:a16="http://schemas.microsoft.com/office/drawing/2014/main" id="{CD2AE337-8F88-F56F-6F5D-DCA6ADDAC42C}"/>
              </a:ext>
            </a:extLst>
          </p:cNvPr>
          <p:cNvCxnSpPr/>
          <p:nvPr/>
        </p:nvCxnSpPr>
        <p:spPr>
          <a:xfrm flipH="1">
            <a:off x="4951417" y="449856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26">
            <a:extLst>
              <a:ext uri="{FF2B5EF4-FFF2-40B4-BE49-F238E27FC236}">
                <a16:creationId xmlns:a16="http://schemas.microsoft.com/office/drawing/2014/main" id="{2B06942D-BE6A-23AC-DB1F-08B11613B4B1}"/>
              </a:ext>
            </a:extLst>
          </p:cNvPr>
          <p:cNvCxnSpPr/>
          <p:nvPr/>
        </p:nvCxnSpPr>
        <p:spPr>
          <a:xfrm>
            <a:off x="3311283" y="4504472"/>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27">
            <a:extLst>
              <a:ext uri="{FF2B5EF4-FFF2-40B4-BE49-F238E27FC236}">
                <a16:creationId xmlns:a16="http://schemas.microsoft.com/office/drawing/2014/main" id="{7D8B15F8-E14C-68A4-063F-B89AEBA23105}"/>
              </a:ext>
            </a:extLst>
          </p:cNvPr>
          <p:cNvSpPr>
            <a:spLocks/>
          </p:cNvSpPr>
          <p:nvPr/>
        </p:nvSpPr>
        <p:spPr bwMode="auto">
          <a:xfrm>
            <a:off x="2387084" y="518802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49" name="CuadroTexto 48">
            <a:extLst>
              <a:ext uri="{FF2B5EF4-FFF2-40B4-BE49-F238E27FC236}">
                <a16:creationId xmlns:a16="http://schemas.microsoft.com/office/drawing/2014/main" id="{EFDB4BF7-DA89-6409-9CB6-B1FFE07DE70E}"/>
              </a:ext>
            </a:extLst>
          </p:cNvPr>
          <p:cNvSpPr txBox="1"/>
          <p:nvPr/>
        </p:nvSpPr>
        <p:spPr>
          <a:xfrm>
            <a:off x="8948703" y="4343528"/>
            <a:ext cx="830677" cy="400110"/>
          </a:xfrm>
          <a:prstGeom prst="rect">
            <a:avLst/>
          </a:prstGeom>
          <a:noFill/>
        </p:spPr>
        <p:txBody>
          <a:bodyPr wrap="none" rtlCol="0">
            <a:spAutoFit/>
          </a:bodyPr>
          <a:lstStyle/>
          <a:p>
            <a:r>
              <a:rPr lang="es-CO" sz="2000"/>
              <a:t>Meses</a:t>
            </a:r>
          </a:p>
        </p:txBody>
      </p:sp>
    </p:spTree>
    <p:extLst>
      <p:ext uri="{BB962C8B-B14F-4D97-AF65-F5344CB8AC3E}">
        <p14:creationId xmlns:p14="http://schemas.microsoft.com/office/powerpoint/2010/main" val="135524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7502" y="2035466"/>
            <a:ext cx="11029615" cy="1564898"/>
          </a:xfrm>
        </p:spPr>
        <p:txBody>
          <a:bodyPr>
            <a:normAutofit lnSpcReduction="10000"/>
          </a:bodyPr>
          <a:lstStyle/>
          <a:p>
            <a:pPr marL="0" indent="0" algn="just">
              <a:buNone/>
            </a:pPr>
            <a:r>
              <a:rPr lang="es-ES_tradnl" sz="2400" dirty="0">
                <a:solidFill>
                  <a:schemeClr val="tx1"/>
                </a:solidFill>
              </a:rPr>
              <a:t>Ejemplo 3: </a:t>
            </a:r>
            <a:r>
              <a:rPr lang="es-ES_tradnl" sz="2400" dirty="0"/>
              <a:t>Usted puede pedir 1000 dólares a dos bancos. Dependiendo del banco, el esquema de pago mensual sería como el que se muestra a continuación. </a:t>
            </a:r>
            <a:r>
              <a:rPr lang="es-MX" sz="2400" dirty="0"/>
              <a:t>¿Qué flujo de pagos prefiere si ambas alternativas consideran una tasa de 12% NA/MV? </a:t>
            </a:r>
            <a:r>
              <a:rPr lang="es-ES_tradnl" sz="2400" dirty="0"/>
              <a:t>Compare en USD del momento cero y en USD del momento 3 </a:t>
            </a:r>
            <a:r>
              <a:rPr lang="es-ES_tradnl" sz="2400" b="1" dirty="0"/>
              <a:t>(VP &amp; VF)</a:t>
            </a:r>
            <a:r>
              <a:rPr lang="es-ES_tradnl" sz="2400" dirty="0"/>
              <a:t>.</a:t>
            </a:r>
          </a:p>
          <a:p>
            <a:pPr marL="0" indent="0" algn="just">
              <a:buNone/>
            </a:pPr>
            <a:endParaRPr lang="es-ES_tradnl" sz="2400" dirty="0"/>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32</a:t>
            </a:fld>
            <a:endParaRPr lang="en-US" sz="2000" dirty="0"/>
          </a:p>
        </p:txBody>
      </p:sp>
      <p:cxnSp>
        <p:nvCxnSpPr>
          <p:cNvPr id="13" name="Straight Connector 12"/>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5" name="Rectangle 24"/>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6" name="Straight Arrow Connector 25"/>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9" name="Straight Connector 28"/>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2" name="Rectangle 31"/>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4" name="Rectangle 33"/>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5" name="Rectangle 34"/>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6" name="Rectangle 35"/>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7" name="Straight Arrow Connector 36"/>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9" name="Rectangle 38"/>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39"/>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40"/>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42" name="Rectangle 41"/>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3" name="Straight Arrow Connector 42"/>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33" name="TextBox 32"/>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6" name="CuadroTexto 5"/>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44" name="CuadroTexto 43"/>
          <p:cNvSpPr txBox="1"/>
          <p:nvPr/>
        </p:nvSpPr>
        <p:spPr>
          <a:xfrm>
            <a:off x="4427354" y="4697976"/>
            <a:ext cx="827471" cy="400110"/>
          </a:xfrm>
          <a:prstGeom prst="rect">
            <a:avLst/>
          </a:prstGeom>
          <a:noFill/>
        </p:spPr>
        <p:txBody>
          <a:bodyPr wrap="none" rtlCol="0">
            <a:spAutoFit/>
          </a:bodyPr>
          <a:lstStyle/>
          <a:p>
            <a:r>
              <a:rPr lang="es-CO" sz="2000"/>
              <a:t>meses</a:t>
            </a:r>
          </a:p>
        </p:txBody>
      </p:sp>
      <p:sp>
        <p:nvSpPr>
          <p:cNvPr id="11" name="Title 1">
            <a:extLst>
              <a:ext uri="{FF2B5EF4-FFF2-40B4-BE49-F238E27FC236}">
                <a16:creationId xmlns:a16="http://schemas.microsoft.com/office/drawing/2014/main" id="{30F192D1-60CD-3446-42B2-7EAF62B3222D}"/>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0CFE96EF-5AA9-39E4-2A60-F638065FD1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14635F97-B4BF-CB3D-6284-6CA8E1A20A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7E71169D-5B59-2735-5794-AC9443F91E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84681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33</a:t>
            </a:fld>
            <a:endParaRPr lang="en-US" sz="2000" dirty="0"/>
          </a:p>
        </p:txBody>
      </p:sp>
      <p:sp>
        <p:nvSpPr>
          <p:cNvPr id="10" name="Title 1">
            <a:extLst>
              <a:ext uri="{FF2B5EF4-FFF2-40B4-BE49-F238E27FC236}">
                <a16:creationId xmlns:a16="http://schemas.microsoft.com/office/drawing/2014/main" id="{904B2943-B2BD-8ADF-CF91-88161D3794FD}"/>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1" name="Rectángulo 10">
            <a:extLst>
              <a:ext uri="{FF2B5EF4-FFF2-40B4-BE49-F238E27FC236}">
                <a16:creationId xmlns:a16="http://schemas.microsoft.com/office/drawing/2014/main" id="{7DFF14BD-E3B9-A823-32F1-B9F74B45363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04D4B20C-99DF-76AC-46CA-8CD447506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BC5139B0-077A-B6BD-B375-C5EF557AA67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14" name="Straight Connector 12">
            <a:extLst>
              <a:ext uri="{FF2B5EF4-FFF2-40B4-BE49-F238E27FC236}">
                <a16:creationId xmlns:a16="http://schemas.microsoft.com/office/drawing/2014/main" id="{D3295CA1-1F8A-9829-B62C-6332B2DA15B5}"/>
              </a:ext>
            </a:extLst>
          </p:cNvPr>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40085AF6-10FA-05CB-BC75-D357E02EB4E8}"/>
              </a:ext>
            </a:extLst>
          </p:cNvPr>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C447B4D9-26F5-7934-E38F-D1B00159D8E3}"/>
              </a:ext>
            </a:extLst>
          </p:cNvPr>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7" name="Rectangle 11">
            <a:extLst>
              <a:ext uri="{FF2B5EF4-FFF2-40B4-BE49-F238E27FC236}">
                <a16:creationId xmlns:a16="http://schemas.microsoft.com/office/drawing/2014/main" id="{87F62C57-09E6-EB17-D3CA-65D156F06CCF}"/>
              </a:ext>
            </a:extLst>
          </p:cNvPr>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8" name="Rectangle 14">
            <a:extLst>
              <a:ext uri="{FF2B5EF4-FFF2-40B4-BE49-F238E27FC236}">
                <a16:creationId xmlns:a16="http://schemas.microsoft.com/office/drawing/2014/main" id="{32FE4B01-3347-1A26-3FE7-8F4CFBD6BFCA}"/>
              </a:ext>
            </a:extLst>
          </p:cNvPr>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9" name="Rectangle 15">
            <a:extLst>
              <a:ext uri="{FF2B5EF4-FFF2-40B4-BE49-F238E27FC236}">
                <a16:creationId xmlns:a16="http://schemas.microsoft.com/office/drawing/2014/main" id="{C725026A-48F8-63FB-5E18-31267B3AFF57}"/>
              </a:ext>
            </a:extLst>
          </p:cNvPr>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0" name="Rectangle 16">
            <a:extLst>
              <a:ext uri="{FF2B5EF4-FFF2-40B4-BE49-F238E27FC236}">
                <a16:creationId xmlns:a16="http://schemas.microsoft.com/office/drawing/2014/main" id="{0481E20E-8198-E622-CF6F-AD85593FB397}"/>
              </a:ext>
            </a:extLst>
          </p:cNvPr>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a:extLst>
              <a:ext uri="{FF2B5EF4-FFF2-40B4-BE49-F238E27FC236}">
                <a16:creationId xmlns:a16="http://schemas.microsoft.com/office/drawing/2014/main" id="{D552E5EE-61DD-B401-1CB9-84949C49D8A0}"/>
              </a:ext>
            </a:extLst>
          </p:cNvPr>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32B129D9-BFE0-ABBB-156A-2366B100C3B5}"/>
              </a:ext>
            </a:extLst>
          </p:cNvPr>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3" name="Rectangle 24">
            <a:extLst>
              <a:ext uri="{FF2B5EF4-FFF2-40B4-BE49-F238E27FC236}">
                <a16:creationId xmlns:a16="http://schemas.microsoft.com/office/drawing/2014/main" id="{814E593D-D4D9-47DE-B125-350882A3EBDD}"/>
              </a:ext>
            </a:extLst>
          </p:cNvPr>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4" name="Straight Arrow Connector 25">
            <a:extLst>
              <a:ext uri="{FF2B5EF4-FFF2-40B4-BE49-F238E27FC236}">
                <a16:creationId xmlns:a16="http://schemas.microsoft.com/office/drawing/2014/main" id="{F9A13250-8BA0-2AB3-B818-9E037366FED8}"/>
              </a:ext>
            </a:extLst>
          </p:cNvPr>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7">
            <a:extLst>
              <a:ext uri="{FF2B5EF4-FFF2-40B4-BE49-F238E27FC236}">
                <a16:creationId xmlns:a16="http://schemas.microsoft.com/office/drawing/2014/main" id="{B3DC9A90-3F9C-9387-A555-204CA4314583}"/>
              </a:ext>
            </a:extLst>
          </p:cNvPr>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6" name="Straight Connector 28">
            <a:extLst>
              <a:ext uri="{FF2B5EF4-FFF2-40B4-BE49-F238E27FC236}">
                <a16:creationId xmlns:a16="http://schemas.microsoft.com/office/drawing/2014/main" id="{5808CD0C-66BE-C929-9F2F-576F0E07BD05}"/>
              </a:ext>
            </a:extLst>
          </p:cNvPr>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9">
            <a:extLst>
              <a:ext uri="{FF2B5EF4-FFF2-40B4-BE49-F238E27FC236}">
                <a16:creationId xmlns:a16="http://schemas.microsoft.com/office/drawing/2014/main" id="{D8789E6D-CA25-6D33-2807-FE3D9B321318}"/>
              </a:ext>
            </a:extLst>
          </p:cNvPr>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0">
            <a:extLst>
              <a:ext uri="{FF2B5EF4-FFF2-40B4-BE49-F238E27FC236}">
                <a16:creationId xmlns:a16="http://schemas.microsoft.com/office/drawing/2014/main" id="{F243F3B5-D73C-A3C4-AA28-DF3D1288FD05}"/>
              </a:ext>
            </a:extLst>
          </p:cNvPr>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9" name="Rectangle 31">
            <a:extLst>
              <a:ext uri="{FF2B5EF4-FFF2-40B4-BE49-F238E27FC236}">
                <a16:creationId xmlns:a16="http://schemas.microsoft.com/office/drawing/2014/main" id="{1415F1E5-55B6-8CA1-5A59-5B379C8580DF}"/>
              </a:ext>
            </a:extLst>
          </p:cNvPr>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3">
            <a:extLst>
              <a:ext uri="{FF2B5EF4-FFF2-40B4-BE49-F238E27FC236}">
                <a16:creationId xmlns:a16="http://schemas.microsoft.com/office/drawing/2014/main" id="{4935EC00-B916-F6D3-09CA-BD9AECF9ADC5}"/>
              </a:ext>
            </a:extLst>
          </p:cNvPr>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4">
            <a:extLst>
              <a:ext uri="{FF2B5EF4-FFF2-40B4-BE49-F238E27FC236}">
                <a16:creationId xmlns:a16="http://schemas.microsoft.com/office/drawing/2014/main" id="{533D7219-64D3-B84F-D51D-F79A100451BA}"/>
              </a:ext>
            </a:extLst>
          </p:cNvPr>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5">
            <a:extLst>
              <a:ext uri="{FF2B5EF4-FFF2-40B4-BE49-F238E27FC236}">
                <a16:creationId xmlns:a16="http://schemas.microsoft.com/office/drawing/2014/main" id="{F11C9D6C-5769-513E-2F7E-36BFE01FBA64}"/>
              </a:ext>
            </a:extLst>
          </p:cNvPr>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4" name="Straight Arrow Connector 36">
            <a:extLst>
              <a:ext uri="{FF2B5EF4-FFF2-40B4-BE49-F238E27FC236}">
                <a16:creationId xmlns:a16="http://schemas.microsoft.com/office/drawing/2014/main" id="{B2C247C7-7630-2CB5-5FDD-DD43D455BB99}"/>
              </a:ext>
            </a:extLst>
          </p:cNvPr>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7">
            <a:extLst>
              <a:ext uri="{FF2B5EF4-FFF2-40B4-BE49-F238E27FC236}">
                <a16:creationId xmlns:a16="http://schemas.microsoft.com/office/drawing/2014/main" id="{023F0CCE-A667-9492-8D2B-A62FF6DBD070}"/>
              </a:ext>
            </a:extLst>
          </p:cNvPr>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6" name="Rectangle 38">
            <a:extLst>
              <a:ext uri="{FF2B5EF4-FFF2-40B4-BE49-F238E27FC236}">
                <a16:creationId xmlns:a16="http://schemas.microsoft.com/office/drawing/2014/main" id="{1AAB0316-A554-7896-C599-7C33D383B6CE}"/>
              </a:ext>
            </a:extLst>
          </p:cNvPr>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37" name="Straight Arrow Connector 39">
            <a:extLst>
              <a:ext uri="{FF2B5EF4-FFF2-40B4-BE49-F238E27FC236}">
                <a16:creationId xmlns:a16="http://schemas.microsoft.com/office/drawing/2014/main" id="{D54D2B5B-8233-6845-F1BA-378467F652E8}"/>
              </a:ext>
            </a:extLst>
          </p:cNvPr>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40">
            <a:extLst>
              <a:ext uri="{FF2B5EF4-FFF2-40B4-BE49-F238E27FC236}">
                <a16:creationId xmlns:a16="http://schemas.microsoft.com/office/drawing/2014/main" id="{FB7559EB-87E6-7FB0-49C4-821B29FB6F10}"/>
              </a:ext>
            </a:extLst>
          </p:cNvPr>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39" name="Rectangle 41">
            <a:extLst>
              <a:ext uri="{FF2B5EF4-FFF2-40B4-BE49-F238E27FC236}">
                <a16:creationId xmlns:a16="http://schemas.microsoft.com/office/drawing/2014/main" id="{0FB4BD8D-05B9-1E75-1C26-B869BD48E4E9}"/>
              </a:ext>
            </a:extLst>
          </p:cNvPr>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42">
            <a:extLst>
              <a:ext uri="{FF2B5EF4-FFF2-40B4-BE49-F238E27FC236}">
                <a16:creationId xmlns:a16="http://schemas.microsoft.com/office/drawing/2014/main" id="{E290062C-9C70-79E6-3B08-784A6D8580A6}"/>
              </a:ext>
            </a:extLst>
          </p:cNvPr>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TextBox 4">
            <a:extLst>
              <a:ext uri="{FF2B5EF4-FFF2-40B4-BE49-F238E27FC236}">
                <a16:creationId xmlns:a16="http://schemas.microsoft.com/office/drawing/2014/main" id="{3466AED6-8830-509F-98AE-00051009EE70}"/>
              </a:ext>
            </a:extLst>
          </p:cNvPr>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42" name="TextBox 32">
            <a:extLst>
              <a:ext uri="{FF2B5EF4-FFF2-40B4-BE49-F238E27FC236}">
                <a16:creationId xmlns:a16="http://schemas.microsoft.com/office/drawing/2014/main" id="{4DC81E9A-6C5D-C0E3-A497-D2A2F4142510}"/>
              </a:ext>
            </a:extLst>
          </p:cNvPr>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43" name="CuadroTexto 42">
            <a:extLst>
              <a:ext uri="{FF2B5EF4-FFF2-40B4-BE49-F238E27FC236}">
                <a16:creationId xmlns:a16="http://schemas.microsoft.com/office/drawing/2014/main" id="{6D3BCEDE-5EBA-2CA2-04BC-CC05348A021D}"/>
              </a:ext>
            </a:extLst>
          </p:cNvPr>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73" name="CuadroTexto 72">
            <a:extLst>
              <a:ext uri="{FF2B5EF4-FFF2-40B4-BE49-F238E27FC236}">
                <a16:creationId xmlns:a16="http://schemas.microsoft.com/office/drawing/2014/main" id="{8983E88F-8E4C-6F6F-2B64-9D39A40C78F2}"/>
              </a:ext>
            </a:extLst>
          </p:cNvPr>
          <p:cNvSpPr txBox="1"/>
          <p:nvPr/>
        </p:nvSpPr>
        <p:spPr>
          <a:xfrm>
            <a:off x="4427354" y="4697976"/>
            <a:ext cx="827471" cy="400110"/>
          </a:xfrm>
          <a:prstGeom prst="rect">
            <a:avLst/>
          </a:prstGeom>
          <a:noFill/>
        </p:spPr>
        <p:txBody>
          <a:bodyPr wrap="none" rtlCol="0">
            <a:spAutoFit/>
          </a:bodyPr>
          <a:lstStyle/>
          <a:p>
            <a:r>
              <a:rPr lang="es-CO" sz="2000"/>
              <a:t>meses</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589CAFA7-C139-EB0C-8B2D-B10E19F8F522}"/>
                  </a:ext>
                </a:extLst>
              </p:cNvPr>
              <p:cNvSpPr txBox="1"/>
              <p:nvPr/>
            </p:nvSpPr>
            <p:spPr>
              <a:xfrm>
                <a:off x="3475924" y="2628000"/>
                <a:ext cx="5366213" cy="4395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solidFill>
                                <a:schemeClr val="tx1"/>
                              </a:solidFill>
                              <a:latin typeface="Cambria Math" panose="02040503050406030204" pitchFamily="18" charset="0"/>
                            </a:rPr>
                          </m:ctrlPr>
                        </m:sSubPr>
                        <m:e>
                          <m:r>
                            <a:rPr lang="es-CO" sz="1400" i="1">
                              <a:solidFill>
                                <a:schemeClr val="tx1"/>
                              </a:solidFill>
                              <a:latin typeface="Cambria Math" panose="02040503050406030204" pitchFamily="18" charset="0"/>
                            </a:rPr>
                            <m:t>𝑉</m:t>
                          </m:r>
                        </m:e>
                        <m:sub>
                          <m:r>
                            <a:rPr lang="es-CO" sz="1400" i="1">
                              <a:solidFill>
                                <a:schemeClr val="tx1"/>
                              </a:solidFill>
                              <a:latin typeface="Cambria Math" panose="02040503050406030204" pitchFamily="18" charset="0"/>
                            </a:rPr>
                            <m:t>𝑡</m:t>
                          </m:r>
                          <m:r>
                            <a:rPr lang="es-CO" sz="1400" i="1">
                              <a:solidFill>
                                <a:schemeClr val="tx1"/>
                              </a:solidFill>
                              <a:latin typeface="Cambria Math" panose="02040503050406030204" pitchFamily="18" charset="0"/>
                            </a:rPr>
                            <m:t>=0</m:t>
                          </m:r>
                        </m:sub>
                      </m:sSub>
                      <m:d>
                        <m:dPr>
                          <m:ctrlPr>
                            <a:rPr lang="es-CO" sz="1400" i="1">
                              <a:solidFill>
                                <a:schemeClr val="tx1"/>
                              </a:solidFill>
                              <a:latin typeface="Cambria Math" panose="02040503050406030204" pitchFamily="18" charset="0"/>
                            </a:rPr>
                          </m:ctrlPr>
                        </m:dPr>
                        <m:e>
                          <m:r>
                            <a:rPr lang="es-CO" sz="1400" i="1">
                              <a:solidFill>
                                <a:schemeClr val="tx1"/>
                              </a:solidFill>
                              <a:latin typeface="Cambria Math" panose="02040503050406030204" pitchFamily="18" charset="0"/>
                            </a:rPr>
                            <m:t>𝐵𝑎𝑛𝑐𝑜</m:t>
                          </m:r>
                          <m:r>
                            <a:rPr lang="es-CO" sz="1400" i="1">
                              <a:solidFill>
                                <a:schemeClr val="tx1"/>
                              </a:solidFill>
                              <a:latin typeface="Cambria Math" panose="02040503050406030204" pitchFamily="18" charset="0"/>
                            </a:rPr>
                            <m:t> </m:t>
                          </m:r>
                          <m:r>
                            <a:rPr lang="es-CO" sz="1400" i="1">
                              <a:solidFill>
                                <a:schemeClr val="tx1"/>
                              </a:solidFill>
                              <a:latin typeface="Cambria Math" panose="02040503050406030204" pitchFamily="18" charset="0"/>
                            </a:rPr>
                            <m:t>𝐴</m:t>
                          </m:r>
                        </m:e>
                      </m:d>
                      <m:r>
                        <a:rPr lang="es-MX" sz="1400" b="0" i="1" smtClean="0">
                          <a:solidFill>
                            <a:schemeClr val="tx1"/>
                          </a:solidFill>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300</m:t>
                          </m:r>
                        </m:num>
                        <m:den>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500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240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4</m:t>
                              </m:r>
                            </m:sup>
                          </m:sSup>
                        </m:den>
                      </m:f>
                      <m:r>
                        <a:rPr lang="es-MX" sz="1400" i="1">
                          <a:latin typeface="Cambria Math" panose="02040503050406030204" pitchFamily="18" charset="0"/>
                        </a:rPr>
                        <m:t>=</m:t>
                      </m:r>
                      <m:r>
                        <a:rPr lang="es-CO" sz="1400" i="1">
                          <a:latin typeface="Cambria Math" panose="02040503050406030204" pitchFamily="18" charset="0"/>
                        </a:rPr>
                        <m:t> </m:t>
                      </m:r>
                      <m:r>
                        <a:rPr lang="es-MX" sz="1400" b="0" i="1" smtClean="0">
                          <a:latin typeface="Cambria Math" panose="02040503050406030204" pitchFamily="18" charset="0"/>
                        </a:rPr>
                        <m:t>−</m:t>
                      </m:r>
                      <m:r>
                        <a:rPr lang="es-ES" sz="1400" b="0" i="1" smtClean="0">
                          <a:latin typeface="Cambria Math" panose="02040503050406030204" pitchFamily="18" charset="0"/>
                        </a:rPr>
                        <m:t>1.017,8 </m:t>
                      </m:r>
                    </m:oMath>
                  </m:oMathPara>
                </a14:m>
                <a:endParaRPr lang="es-CO" sz="1400" dirty="0"/>
              </a:p>
            </p:txBody>
          </p:sp>
        </mc:Choice>
        <mc:Fallback xmlns="">
          <p:sp>
            <p:nvSpPr>
              <p:cNvPr id="74" name="CuadroTexto 73">
                <a:extLst>
                  <a:ext uri="{FF2B5EF4-FFF2-40B4-BE49-F238E27FC236}">
                    <a16:creationId xmlns:a16="http://schemas.microsoft.com/office/drawing/2014/main" id="{589CAFA7-C139-EB0C-8B2D-B10E19F8F522}"/>
                  </a:ext>
                </a:extLst>
              </p:cNvPr>
              <p:cNvSpPr txBox="1">
                <a:spLocks noRot="1" noChangeAspect="1" noMove="1" noResize="1" noEditPoints="1" noAdjustHandles="1" noChangeArrowheads="1" noChangeShapeType="1" noTextEdit="1"/>
              </p:cNvSpPr>
              <p:nvPr/>
            </p:nvSpPr>
            <p:spPr>
              <a:xfrm>
                <a:off x="3475924" y="2628000"/>
                <a:ext cx="5366213" cy="439544"/>
              </a:xfrm>
              <a:prstGeom prst="rect">
                <a:avLst/>
              </a:prstGeom>
              <a:blipFill>
                <a:blip r:embed="rId3"/>
                <a:stretch>
                  <a:fillRect l="-227" b="-833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8CD296C9-7B6D-634C-61E3-F2F141917AC7}"/>
                  </a:ext>
                </a:extLst>
              </p:cNvPr>
              <p:cNvSpPr txBox="1"/>
              <p:nvPr/>
            </p:nvSpPr>
            <p:spPr>
              <a:xfrm>
                <a:off x="2982167" y="3312000"/>
                <a:ext cx="6352188" cy="4473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=0</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MX" sz="1400" b="0" i="1" smtClean="0">
                              <a:latin typeface="Cambria Math" panose="02040503050406030204" pitchFamily="18" charset="0"/>
                            </a:rPr>
                            <m:t>𝐵</m:t>
                          </m:r>
                        </m:e>
                      </m:d>
                      <m:r>
                        <a:rPr lang="es-MX" sz="1400" i="1">
                          <a:latin typeface="Cambria Math" panose="02040503050406030204" pitchFamily="18" charset="0"/>
                        </a:rPr>
                        <m:t>=</m:t>
                      </m:r>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440</m:t>
                          </m:r>
                        </m:num>
                        <m:den>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250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250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3</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100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4</m:t>
                              </m:r>
                            </m:sup>
                          </m:sSup>
                        </m:den>
                      </m:f>
                      <m:r>
                        <a:rPr lang="es-MX" sz="1400" b="0" i="1" smtClean="0">
                          <a:latin typeface="Cambria Math" panose="02040503050406030204" pitchFamily="18" charset="0"/>
                        </a:rPr>
                        <m:t>=−</m:t>
                      </m:r>
                      <m:r>
                        <a:rPr lang="es-ES" sz="1400" b="0" i="1" smtClean="0">
                          <a:latin typeface="Cambria Math" panose="02040503050406030204" pitchFamily="18" charset="0"/>
                        </a:rPr>
                        <m:t>1.019,4 </m:t>
                      </m:r>
                    </m:oMath>
                  </m:oMathPara>
                </a14:m>
                <a:endParaRPr lang="es-CO" sz="1400" dirty="0"/>
              </a:p>
            </p:txBody>
          </p:sp>
        </mc:Choice>
        <mc:Fallback xmlns="">
          <p:sp>
            <p:nvSpPr>
              <p:cNvPr id="75" name="CuadroTexto 74">
                <a:extLst>
                  <a:ext uri="{FF2B5EF4-FFF2-40B4-BE49-F238E27FC236}">
                    <a16:creationId xmlns:a16="http://schemas.microsoft.com/office/drawing/2014/main" id="{8CD296C9-7B6D-634C-61E3-F2F141917AC7}"/>
                  </a:ext>
                </a:extLst>
              </p:cNvPr>
              <p:cNvSpPr txBox="1">
                <a:spLocks noRot="1" noChangeAspect="1" noMove="1" noResize="1" noEditPoints="1" noAdjustHandles="1" noChangeArrowheads="1" noChangeShapeType="1" noTextEdit="1"/>
              </p:cNvSpPr>
              <p:nvPr/>
            </p:nvSpPr>
            <p:spPr>
              <a:xfrm>
                <a:off x="2982167" y="3312000"/>
                <a:ext cx="6352188" cy="447302"/>
              </a:xfrm>
              <a:prstGeom prst="rect">
                <a:avLst/>
              </a:prstGeom>
              <a:blipFill>
                <a:blip r:embed="rId4"/>
                <a:stretch>
                  <a:fillRect l="-96" b="-5405"/>
                </a:stretch>
              </a:blipFill>
            </p:spPr>
            <p:txBody>
              <a:bodyPr/>
              <a:lstStyle/>
              <a:p>
                <a:r>
                  <a:rPr lang="es-MX">
                    <a:noFill/>
                  </a:rPr>
                  <a:t> </a:t>
                </a:r>
              </a:p>
            </p:txBody>
          </p:sp>
        </mc:Fallback>
      </mc:AlternateContent>
      <p:sp>
        <p:nvSpPr>
          <p:cNvPr id="76" name="Content Placeholder 2">
            <a:extLst>
              <a:ext uri="{FF2B5EF4-FFF2-40B4-BE49-F238E27FC236}">
                <a16:creationId xmlns:a16="http://schemas.microsoft.com/office/drawing/2014/main" id="{A8F0FBD9-3AD5-D0BC-D2E0-35DF188C824D}"/>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solidFill>
                  <a:schemeClr val="tx1"/>
                </a:solidFill>
              </a:rPr>
              <a:t>Comparación en USD del mes cero</a:t>
            </a:r>
            <a:endParaRPr lang="es-ES_tradnl" sz="2400" dirty="0"/>
          </a:p>
        </p:txBody>
      </p:sp>
    </p:spTree>
    <p:extLst>
      <p:ext uri="{BB962C8B-B14F-4D97-AF65-F5344CB8AC3E}">
        <p14:creationId xmlns:p14="http://schemas.microsoft.com/office/powerpoint/2010/main" val="402079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4CA3D-2350-BA1B-BA78-B2155880A2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900E8F-C656-CE08-D8B2-E2F77D16311E}"/>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34</a:t>
            </a:fld>
            <a:endParaRPr lang="en-US" sz="2000" dirty="0"/>
          </a:p>
        </p:txBody>
      </p:sp>
      <p:sp>
        <p:nvSpPr>
          <p:cNvPr id="10" name="Title 1">
            <a:extLst>
              <a:ext uri="{FF2B5EF4-FFF2-40B4-BE49-F238E27FC236}">
                <a16:creationId xmlns:a16="http://schemas.microsoft.com/office/drawing/2014/main" id="{97DE0776-9BCE-4E65-F16E-6D88F8A06805}"/>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E920CFAF-B9F9-B1CA-3E85-13292EAC96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1FCBB7F-8EBC-3E3A-8343-B25BA93236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A52785FA-8B8D-31A9-16C3-D910AA53B1F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14" name="Straight Connector 12">
            <a:extLst>
              <a:ext uri="{FF2B5EF4-FFF2-40B4-BE49-F238E27FC236}">
                <a16:creationId xmlns:a16="http://schemas.microsoft.com/office/drawing/2014/main" id="{1148B111-CB0F-5833-BE2B-AE8EE2570BC0}"/>
              </a:ext>
            </a:extLst>
          </p:cNvPr>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84679E08-A6C7-5964-C207-6814FD81A23F}"/>
              </a:ext>
            </a:extLst>
          </p:cNvPr>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02076CF5-98C9-0EAD-AE59-92C2A597446C}"/>
              </a:ext>
            </a:extLst>
          </p:cNvPr>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7" name="Rectangle 11">
            <a:extLst>
              <a:ext uri="{FF2B5EF4-FFF2-40B4-BE49-F238E27FC236}">
                <a16:creationId xmlns:a16="http://schemas.microsoft.com/office/drawing/2014/main" id="{91A291C7-A9E5-75F6-B4AB-546D7E9F90A3}"/>
              </a:ext>
            </a:extLst>
          </p:cNvPr>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8" name="Rectangle 14">
            <a:extLst>
              <a:ext uri="{FF2B5EF4-FFF2-40B4-BE49-F238E27FC236}">
                <a16:creationId xmlns:a16="http://schemas.microsoft.com/office/drawing/2014/main" id="{3646D90C-25B0-6BE8-38D6-38CE9A79FC13}"/>
              </a:ext>
            </a:extLst>
          </p:cNvPr>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9" name="Rectangle 15">
            <a:extLst>
              <a:ext uri="{FF2B5EF4-FFF2-40B4-BE49-F238E27FC236}">
                <a16:creationId xmlns:a16="http://schemas.microsoft.com/office/drawing/2014/main" id="{BDE2F8FD-5F8E-41FF-3918-AB7FFC914BC9}"/>
              </a:ext>
            </a:extLst>
          </p:cNvPr>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0" name="Rectangle 16">
            <a:extLst>
              <a:ext uri="{FF2B5EF4-FFF2-40B4-BE49-F238E27FC236}">
                <a16:creationId xmlns:a16="http://schemas.microsoft.com/office/drawing/2014/main" id="{864D8B3D-2E5E-A6DC-A928-656D6CB1CF52}"/>
              </a:ext>
            </a:extLst>
          </p:cNvPr>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a:extLst>
              <a:ext uri="{FF2B5EF4-FFF2-40B4-BE49-F238E27FC236}">
                <a16:creationId xmlns:a16="http://schemas.microsoft.com/office/drawing/2014/main" id="{8FF1BFE1-235B-4EB7-1B65-DCEBA7F2BC92}"/>
              </a:ext>
            </a:extLst>
          </p:cNvPr>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9D279BF-A701-5E89-FF5A-8A4EF07C88E0}"/>
              </a:ext>
            </a:extLst>
          </p:cNvPr>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3" name="Rectangle 24">
            <a:extLst>
              <a:ext uri="{FF2B5EF4-FFF2-40B4-BE49-F238E27FC236}">
                <a16:creationId xmlns:a16="http://schemas.microsoft.com/office/drawing/2014/main" id="{5ACF6F89-C34A-E320-FF14-D38C562886FD}"/>
              </a:ext>
            </a:extLst>
          </p:cNvPr>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4" name="Straight Arrow Connector 25">
            <a:extLst>
              <a:ext uri="{FF2B5EF4-FFF2-40B4-BE49-F238E27FC236}">
                <a16:creationId xmlns:a16="http://schemas.microsoft.com/office/drawing/2014/main" id="{221D1E93-9BBD-EA50-F11C-AA479A87EAEC}"/>
              </a:ext>
            </a:extLst>
          </p:cNvPr>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7">
            <a:extLst>
              <a:ext uri="{FF2B5EF4-FFF2-40B4-BE49-F238E27FC236}">
                <a16:creationId xmlns:a16="http://schemas.microsoft.com/office/drawing/2014/main" id="{1620D150-9C83-C38B-8FA5-EB7A064397AC}"/>
              </a:ext>
            </a:extLst>
          </p:cNvPr>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6" name="Straight Connector 28">
            <a:extLst>
              <a:ext uri="{FF2B5EF4-FFF2-40B4-BE49-F238E27FC236}">
                <a16:creationId xmlns:a16="http://schemas.microsoft.com/office/drawing/2014/main" id="{9C931E4C-DCF1-47EC-56F1-A7829890918D}"/>
              </a:ext>
            </a:extLst>
          </p:cNvPr>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9">
            <a:extLst>
              <a:ext uri="{FF2B5EF4-FFF2-40B4-BE49-F238E27FC236}">
                <a16:creationId xmlns:a16="http://schemas.microsoft.com/office/drawing/2014/main" id="{AF77C9EF-45AE-5851-36FA-0B171CEF1956}"/>
              </a:ext>
            </a:extLst>
          </p:cNvPr>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0">
            <a:extLst>
              <a:ext uri="{FF2B5EF4-FFF2-40B4-BE49-F238E27FC236}">
                <a16:creationId xmlns:a16="http://schemas.microsoft.com/office/drawing/2014/main" id="{E85F3D40-6176-6288-B720-37C243634881}"/>
              </a:ext>
            </a:extLst>
          </p:cNvPr>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9" name="Rectangle 31">
            <a:extLst>
              <a:ext uri="{FF2B5EF4-FFF2-40B4-BE49-F238E27FC236}">
                <a16:creationId xmlns:a16="http://schemas.microsoft.com/office/drawing/2014/main" id="{3EF86D39-2AAC-2307-274C-5B05DC1B9F90}"/>
              </a:ext>
            </a:extLst>
          </p:cNvPr>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3">
            <a:extLst>
              <a:ext uri="{FF2B5EF4-FFF2-40B4-BE49-F238E27FC236}">
                <a16:creationId xmlns:a16="http://schemas.microsoft.com/office/drawing/2014/main" id="{9EADCE5B-392B-1E9C-ED04-8CAF8460BC8B}"/>
              </a:ext>
            </a:extLst>
          </p:cNvPr>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4">
            <a:extLst>
              <a:ext uri="{FF2B5EF4-FFF2-40B4-BE49-F238E27FC236}">
                <a16:creationId xmlns:a16="http://schemas.microsoft.com/office/drawing/2014/main" id="{CCB96E62-BC23-C50F-D36D-341D195E60FA}"/>
              </a:ext>
            </a:extLst>
          </p:cNvPr>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5">
            <a:extLst>
              <a:ext uri="{FF2B5EF4-FFF2-40B4-BE49-F238E27FC236}">
                <a16:creationId xmlns:a16="http://schemas.microsoft.com/office/drawing/2014/main" id="{EB92CF30-65CB-6921-65A6-DCB9A3FF4F24}"/>
              </a:ext>
            </a:extLst>
          </p:cNvPr>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4" name="Straight Arrow Connector 36">
            <a:extLst>
              <a:ext uri="{FF2B5EF4-FFF2-40B4-BE49-F238E27FC236}">
                <a16:creationId xmlns:a16="http://schemas.microsoft.com/office/drawing/2014/main" id="{CF4E64DA-D0DE-D2F5-D589-AE1B0545756E}"/>
              </a:ext>
            </a:extLst>
          </p:cNvPr>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7">
            <a:extLst>
              <a:ext uri="{FF2B5EF4-FFF2-40B4-BE49-F238E27FC236}">
                <a16:creationId xmlns:a16="http://schemas.microsoft.com/office/drawing/2014/main" id="{FDA7A25F-4C8C-BEEB-F36C-8969631ADAAA}"/>
              </a:ext>
            </a:extLst>
          </p:cNvPr>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6" name="Rectangle 38">
            <a:extLst>
              <a:ext uri="{FF2B5EF4-FFF2-40B4-BE49-F238E27FC236}">
                <a16:creationId xmlns:a16="http://schemas.microsoft.com/office/drawing/2014/main" id="{FAA4FC94-EA49-CE3C-E15D-EFAA5B9EA51D}"/>
              </a:ext>
            </a:extLst>
          </p:cNvPr>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37" name="Straight Arrow Connector 39">
            <a:extLst>
              <a:ext uri="{FF2B5EF4-FFF2-40B4-BE49-F238E27FC236}">
                <a16:creationId xmlns:a16="http://schemas.microsoft.com/office/drawing/2014/main" id="{9432B657-C511-06CF-47C6-18345FF7C8FD}"/>
              </a:ext>
            </a:extLst>
          </p:cNvPr>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40">
            <a:extLst>
              <a:ext uri="{FF2B5EF4-FFF2-40B4-BE49-F238E27FC236}">
                <a16:creationId xmlns:a16="http://schemas.microsoft.com/office/drawing/2014/main" id="{9261B424-438C-3C59-7E27-C87978567784}"/>
              </a:ext>
            </a:extLst>
          </p:cNvPr>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39" name="Rectangle 41">
            <a:extLst>
              <a:ext uri="{FF2B5EF4-FFF2-40B4-BE49-F238E27FC236}">
                <a16:creationId xmlns:a16="http://schemas.microsoft.com/office/drawing/2014/main" id="{8A337929-155F-0441-1090-283647CAD78C}"/>
              </a:ext>
            </a:extLst>
          </p:cNvPr>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42">
            <a:extLst>
              <a:ext uri="{FF2B5EF4-FFF2-40B4-BE49-F238E27FC236}">
                <a16:creationId xmlns:a16="http://schemas.microsoft.com/office/drawing/2014/main" id="{B559C03D-0529-745B-7D7C-76A4277EFE35}"/>
              </a:ext>
            </a:extLst>
          </p:cNvPr>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TextBox 4">
            <a:extLst>
              <a:ext uri="{FF2B5EF4-FFF2-40B4-BE49-F238E27FC236}">
                <a16:creationId xmlns:a16="http://schemas.microsoft.com/office/drawing/2014/main" id="{8CB436CD-306C-E84F-3DF6-AA916DBC3BA0}"/>
              </a:ext>
            </a:extLst>
          </p:cNvPr>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42" name="TextBox 32">
            <a:extLst>
              <a:ext uri="{FF2B5EF4-FFF2-40B4-BE49-F238E27FC236}">
                <a16:creationId xmlns:a16="http://schemas.microsoft.com/office/drawing/2014/main" id="{F6281D4A-1AA8-CC4C-A58B-2DD8C65F3BA3}"/>
              </a:ext>
            </a:extLst>
          </p:cNvPr>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43" name="CuadroTexto 42">
            <a:extLst>
              <a:ext uri="{FF2B5EF4-FFF2-40B4-BE49-F238E27FC236}">
                <a16:creationId xmlns:a16="http://schemas.microsoft.com/office/drawing/2014/main" id="{DFCFA18F-F4A2-733D-5948-9D33B51F2E6D}"/>
              </a:ext>
            </a:extLst>
          </p:cNvPr>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73" name="CuadroTexto 72">
            <a:extLst>
              <a:ext uri="{FF2B5EF4-FFF2-40B4-BE49-F238E27FC236}">
                <a16:creationId xmlns:a16="http://schemas.microsoft.com/office/drawing/2014/main" id="{FB693D14-6B7E-ABD3-9ACE-AC248291670A}"/>
              </a:ext>
            </a:extLst>
          </p:cNvPr>
          <p:cNvSpPr txBox="1"/>
          <p:nvPr/>
        </p:nvSpPr>
        <p:spPr>
          <a:xfrm>
            <a:off x="4427354" y="4697976"/>
            <a:ext cx="827471" cy="400110"/>
          </a:xfrm>
          <a:prstGeom prst="rect">
            <a:avLst/>
          </a:prstGeom>
          <a:noFill/>
        </p:spPr>
        <p:txBody>
          <a:bodyPr wrap="none" rtlCol="0">
            <a:spAutoFit/>
          </a:bodyPr>
          <a:lstStyle/>
          <a:p>
            <a:r>
              <a:rPr lang="es-CO" sz="2000"/>
              <a:t>meses</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682C00F3-F488-466F-B349-E396358C304C}"/>
                  </a:ext>
                </a:extLst>
              </p:cNvPr>
              <p:cNvSpPr txBox="1"/>
              <p:nvPr/>
            </p:nvSpPr>
            <p:spPr>
              <a:xfrm>
                <a:off x="2728925" y="2627756"/>
                <a:ext cx="5928739" cy="4351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=3</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CO" sz="1400" i="1">
                              <a:latin typeface="Cambria Math" panose="02040503050406030204" pitchFamily="18" charset="0"/>
                            </a:rPr>
                            <m:t>𝐴</m:t>
                          </m:r>
                        </m:e>
                      </m:d>
                      <m:r>
                        <a:rPr lang="es-MX" sz="1400" i="1">
                          <a:latin typeface="Cambria Math" panose="02040503050406030204" pitchFamily="18" charset="0"/>
                        </a:rPr>
                        <m:t>=</m:t>
                      </m:r>
                      <m:r>
                        <a:rPr lang="es-MX" sz="1400" b="0" i="1" smtClean="0">
                          <a:latin typeface="Cambria Math" panose="02040503050406030204" pitchFamily="18" charset="0"/>
                        </a:rPr>
                        <m:t>−300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r>
                        <a:rPr lang="es-ES" sz="1400" b="0" i="1" smtClean="0">
                          <a:latin typeface="Cambria Math" panose="02040503050406030204" pitchFamily="18" charset="0"/>
                        </a:rPr>
                        <m:t>±</m:t>
                      </m:r>
                      <m:r>
                        <a:rPr lang="es-MX" sz="1400" b="0" i="1" smtClean="0">
                          <a:latin typeface="Cambria Math" panose="02040503050406030204" pitchFamily="18" charset="0"/>
                        </a:rPr>
                        <m:t>500</m:t>
                      </m:r>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240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1</m:t>
                              </m:r>
                            </m:sup>
                          </m:sSup>
                        </m:den>
                      </m:f>
                      <m:r>
                        <a:rPr lang="es-MX" sz="1400" i="1">
                          <a:latin typeface="Cambria Math" panose="02040503050406030204" pitchFamily="18" charset="0"/>
                        </a:rPr>
                        <m:t>=</m:t>
                      </m:r>
                      <m:r>
                        <a:rPr lang="es-CO" sz="1400" i="1">
                          <a:latin typeface="Cambria Math" panose="02040503050406030204" pitchFamily="18" charset="0"/>
                        </a:rPr>
                        <m:t> </m:t>
                      </m:r>
                      <m:r>
                        <a:rPr lang="es-MX" sz="1400" b="0" i="1" smtClean="0">
                          <a:latin typeface="Cambria Math" panose="02040503050406030204" pitchFamily="18" charset="0"/>
                        </a:rPr>
                        <m:t>−</m:t>
                      </m:r>
                      <m:r>
                        <a:rPr lang="es-ES" sz="1400" b="0" i="1" smtClean="0">
                          <a:latin typeface="Cambria Math" panose="02040503050406030204" pitchFamily="18" charset="0"/>
                        </a:rPr>
                        <m:t>1.048,6 </m:t>
                      </m:r>
                    </m:oMath>
                  </m:oMathPara>
                </a14:m>
                <a:endParaRPr lang="es-CO" sz="1400" dirty="0"/>
              </a:p>
            </p:txBody>
          </p:sp>
        </mc:Choice>
        <mc:Fallback xmlns="">
          <p:sp>
            <p:nvSpPr>
              <p:cNvPr id="74" name="CuadroTexto 73">
                <a:extLst>
                  <a:ext uri="{FF2B5EF4-FFF2-40B4-BE49-F238E27FC236}">
                    <a16:creationId xmlns:a16="http://schemas.microsoft.com/office/drawing/2014/main" id="{682C00F3-F488-466F-B349-E396358C304C}"/>
                  </a:ext>
                </a:extLst>
              </p:cNvPr>
              <p:cNvSpPr txBox="1">
                <a:spLocks noRot="1" noChangeAspect="1" noMove="1" noResize="1" noEditPoints="1" noAdjustHandles="1" noChangeArrowheads="1" noChangeShapeType="1" noTextEdit="1"/>
              </p:cNvSpPr>
              <p:nvPr/>
            </p:nvSpPr>
            <p:spPr>
              <a:xfrm>
                <a:off x="2728925" y="2627756"/>
                <a:ext cx="5928739" cy="435184"/>
              </a:xfrm>
              <a:prstGeom prst="rect">
                <a:avLst/>
              </a:prstGeom>
              <a:blipFill>
                <a:blip r:embed="rId3"/>
                <a:stretch>
                  <a:fillRect l="-103" b="-845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FF439D3C-F1C3-06A9-26D8-AE4C3AF7B6D4}"/>
                  </a:ext>
                </a:extLst>
              </p:cNvPr>
              <p:cNvSpPr txBox="1"/>
              <p:nvPr/>
            </p:nvSpPr>
            <p:spPr>
              <a:xfrm>
                <a:off x="2290792" y="3312129"/>
                <a:ext cx="6695872" cy="4351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1400" i="1" smtClean="0">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=3</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MX" sz="1400" b="0" i="1" smtClean="0">
                              <a:latin typeface="Cambria Math" panose="02040503050406030204" pitchFamily="18" charset="0"/>
                            </a:rPr>
                            <m:t>𝐵</m:t>
                          </m:r>
                        </m:e>
                      </m:d>
                      <m:r>
                        <a:rPr lang="es-MX" sz="1400" i="1">
                          <a:latin typeface="Cambria Math" panose="02040503050406030204" pitchFamily="18" charset="0"/>
                        </a:rPr>
                        <m:t>=</m:t>
                      </m:r>
                      <m:r>
                        <a:rPr lang="es-MX" sz="1400" b="0" i="1" smtClean="0">
                          <a:latin typeface="Cambria Math" panose="02040503050406030204" pitchFamily="18" charset="0"/>
                        </a:rPr>
                        <m:t>−</m:t>
                      </m:r>
                      <m:r>
                        <a:rPr lang="es-ES" sz="1400" b="0" i="1" smtClean="0">
                          <a:latin typeface="Cambria Math" panose="02040503050406030204" pitchFamily="18" charset="0"/>
                        </a:rPr>
                        <m:t>440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r>
                        <a:rPr lang="es-MX" sz="1400" b="0" i="1" smtClean="0">
                          <a:latin typeface="Cambria Math" panose="02040503050406030204" pitchFamily="18" charset="0"/>
                        </a:rPr>
                        <m:t>−</m:t>
                      </m:r>
                      <m:r>
                        <a:rPr lang="es-ES" sz="1400" b="0" i="1" smtClean="0">
                          <a:latin typeface="Cambria Math" panose="02040503050406030204" pitchFamily="18" charset="0"/>
                        </a:rPr>
                        <m:t>250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1</m:t>
                          </m:r>
                        </m:sup>
                      </m:sSup>
                      <m:r>
                        <a:rPr lang="es-MX" sz="1400" b="0" i="1" smtClean="0">
                          <a:latin typeface="Cambria Math" panose="02040503050406030204" pitchFamily="18" charset="0"/>
                        </a:rPr>
                        <m:t>−250−</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100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1</m:t>
                              </m:r>
                            </m:sup>
                          </m:sSup>
                        </m:den>
                      </m:f>
                      <m:r>
                        <a:rPr lang="es-MX" sz="1400" i="1">
                          <a:latin typeface="Cambria Math" panose="02040503050406030204" pitchFamily="18" charset="0"/>
                        </a:rPr>
                        <m:t>=</m:t>
                      </m:r>
                      <m:r>
                        <a:rPr lang="es-MX" sz="1400" b="0" i="1" smtClean="0">
                          <a:latin typeface="Cambria Math" panose="02040503050406030204" pitchFamily="18" charset="0"/>
                        </a:rPr>
                        <m:t>−</m:t>
                      </m:r>
                      <m:r>
                        <a:rPr lang="es-ES" sz="1400" b="0" i="1" smtClean="0">
                          <a:latin typeface="Cambria Math" panose="02040503050406030204" pitchFamily="18" charset="0"/>
                        </a:rPr>
                        <m:t>1.050,3</m:t>
                      </m:r>
                    </m:oMath>
                  </m:oMathPara>
                </a14:m>
                <a:endParaRPr lang="es-CO" sz="1400" dirty="0"/>
              </a:p>
            </p:txBody>
          </p:sp>
        </mc:Choice>
        <mc:Fallback xmlns="">
          <p:sp>
            <p:nvSpPr>
              <p:cNvPr id="75" name="CuadroTexto 74">
                <a:extLst>
                  <a:ext uri="{FF2B5EF4-FFF2-40B4-BE49-F238E27FC236}">
                    <a16:creationId xmlns:a16="http://schemas.microsoft.com/office/drawing/2014/main" id="{FF439D3C-F1C3-06A9-26D8-AE4C3AF7B6D4}"/>
                  </a:ext>
                </a:extLst>
              </p:cNvPr>
              <p:cNvSpPr txBox="1">
                <a:spLocks noRot="1" noChangeAspect="1" noMove="1" noResize="1" noEditPoints="1" noAdjustHandles="1" noChangeArrowheads="1" noChangeShapeType="1" noTextEdit="1"/>
              </p:cNvSpPr>
              <p:nvPr/>
            </p:nvSpPr>
            <p:spPr>
              <a:xfrm>
                <a:off x="2290792" y="3312129"/>
                <a:ext cx="6695872" cy="435184"/>
              </a:xfrm>
              <a:prstGeom prst="rect">
                <a:avLst/>
              </a:prstGeom>
              <a:blipFill>
                <a:blip r:embed="rId4"/>
                <a:stretch>
                  <a:fillRect b="-6944"/>
                </a:stretch>
              </a:blipFill>
            </p:spPr>
            <p:txBody>
              <a:bodyPr/>
              <a:lstStyle/>
              <a:p>
                <a:r>
                  <a:rPr lang="es-MX">
                    <a:noFill/>
                  </a:rPr>
                  <a:t> </a:t>
                </a:r>
              </a:p>
            </p:txBody>
          </p:sp>
        </mc:Fallback>
      </mc:AlternateContent>
      <p:sp>
        <p:nvSpPr>
          <p:cNvPr id="76" name="Content Placeholder 2">
            <a:extLst>
              <a:ext uri="{FF2B5EF4-FFF2-40B4-BE49-F238E27FC236}">
                <a16:creationId xmlns:a16="http://schemas.microsoft.com/office/drawing/2014/main" id="{31E93702-227C-771A-27C8-72839402BE69}"/>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solidFill>
                  <a:schemeClr val="tx1"/>
                </a:solidFill>
              </a:rPr>
              <a:t>Comparación en USD del mes tres</a:t>
            </a:r>
            <a:endParaRPr lang="es-ES_tradnl" sz="2400" dirty="0"/>
          </a:p>
        </p:txBody>
      </p:sp>
    </p:spTree>
    <p:extLst>
      <p:ext uri="{BB962C8B-B14F-4D97-AF65-F5344CB8AC3E}">
        <p14:creationId xmlns:p14="http://schemas.microsoft.com/office/powerpoint/2010/main" val="93417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8C8C3-E7EA-1D89-7DCF-0D8D7CB2D7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5C996F-1B0C-DF63-6677-14C923A9CF6A}"/>
              </a:ext>
            </a:extLst>
          </p:cNvPr>
          <p:cNvSpPr>
            <a:spLocks noGrp="1"/>
          </p:cNvSpPr>
          <p:nvPr>
            <p:ph idx="1"/>
          </p:nvPr>
        </p:nvSpPr>
        <p:spPr>
          <a:xfrm>
            <a:off x="607502" y="2035466"/>
            <a:ext cx="11029615" cy="1564898"/>
          </a:xfrm>
        </p:spPr>
        <p:txBody>
          <a:bodyPr>
            <a:normAutofit/>
          </a:bodyPr>
          <a:lstStyle/>
          <a:p>
            <a:pPr marL="0" indent="0" algn="just">
              <a:buNone/>
            </a:pPr>
            <a:r>
              <a:rPr lang="es-ES_tradnl" sz="2400" b="1" dirty="0">
                <a:solidFill>
                  <a:schemeClr val="tx1"/>
                </a:solidFill>
              </a:rPr>
              <a:t>Ejercicio 1: </a:t>
            </a:r>
            <a:r>
              <a:rPr lang="es-MX" sz="2400" dirty="0"/>
              <a:t>Usted tiene el siguiente esquema de pagos mensuales a un banco que le prestó al 3% MV entre el mes 1 y el 3, y al 2% MV entre el mes 4 y 7. ¿Cuánto debería pagar usted si quiere hacer un único pago en el mes 0?</a:t>
            </a:r>
          </a:p>
          <a:p>
            <a:pPr marL="0" indent="0" algn="just">
              <a:buNone/>
            </a:pPr>
            <a:endParaRPr lang="es-ES_tradnl" sz="2400" dirty="0"/>
          </a:p>
        </p:txBody>
      </p:sp>
      <p:sp>
        <p:nvSpPr>
          <p:cNvPr id="4" name="Slide Number Placeholder 3">
            <a:extLst>
              <a:ext uri="{FF2B5EF4-FFF2-40B4-BE49-F238E27FC236}">
                <a16:creationId xmlns:a16="http://schemas.microsoft.com/office/drawing/2014/main" id="{5DEDFE8D-E93F-94E7-A395-10074A0BE5EC}"/>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35</a:t>
            </a:fld>
            <a:endParaRPr lang="en-US" sz="2000" dirty="0"/>
          </a:p>
        </p:txBody>
      </p:sp>
      <p:sp>
        <p:nvSpPr>
          <p:cNvPr id="11" name="Title 1">
            <a:extLst>
              <a:ext uri="{FF2B5EF4-FFF2-40B4-BE49-F238E27FC236}">
                <a16:creationId xmlns:a16="http://schemas.microsoft.com/office/drawing/2014/main" id="{69B9A805-7D94-43DA-A1B8-A9F5B69E3E72}"/>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BCAACF8F-B386-53FE-110D-E4813F7BF0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37113658-1188-AD6E-4506-398FB313C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9A523F1F-66CA-4BC3-7675-8AFA4F40534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3BE7E475-4DE3-222F-AFD4-2BDD28E5406F}"/>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13">
            <a:extLst>
              <a:ext uri="{FF2B5EF4-FFF2-40B4-BE49-F238E27FC236}">
                <a16:creationId xmlns:a16="http://schemas.microsoft.com/office/drawing/2014/main" id="{B3A9A1FC-8C51-D1E2-CAF9-EF444167FBF4}"/>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3">
            <a:extLst>
              <a:ext uri="{FF2B5EF4-FFF2-40B4-BE49-F238E27FC236}">
                <a16:creationId xmlns:a16="http://schemas.microsoft.com/office/drawing/2014/main" id="{E97B14CD-2EA6-3E84-3265-08EB23D5C153}"/>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 name="Rectangle 32">
            <a:extLst>
              <a:ext uri="{FF2B5EF4-FFF2-40B4-BE49-F238E27FC236}">
                <a16:creationId xmlns:a16="http://schemas.microsoft.com/office/drawing/2014/main" id="{DCB23D3C-E15F-8CDB-5BFD-6087CD8B7159}"/>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10" name="Rectangle 11">
            <a:extLst>
              <a:ext uri="{FF2B5EF4-FFF2-40B4-BE49-F238E27FC236}">
                <a16:creationId xmlns:a16="http://schemas.microsoft.com/office/drawing/2014/main" id="{69DF1846-71DD-AC86-22EE-94B09B1E5941}"/>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3" name="Rectangle 14">
            <a:extLst>
              <a:ext uri="{FF2B5EF4-FFF2-40B4-BE49-F238E27FC236}">
                <a16:creationId xmlns:a16="http://schemas.microsoft.com/office/drawing/2014/main" id="{3374C68A-C4A0-C277-F51E-CECC42B08842}"/>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15">
            <a:extLst>
              <a:ext uri="{FF2B5EF4-FFF2-40B4-BE49-F238E27FC236}">
                <a16:creationId xmlns:a16="http://schemas.microsoft.com/office/drawing/2014/main" id="{9001F623-3A27-6A5D-DCE8-867094DB3804}"/>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5" name="Rectangle 16">
            <a:extLst>
              <a:ext uri="{FF2B5EF4-FFF2-40B4-BE49-F238E27FC236}">
                <a16:creationId xmlns:a16="http://schemas.microsoft.com/office/drawing/2014/main" id="{0B164CE4-4BD2-BCBE-7C18-829AB23324CB}"/>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46" name="Rectangle 17">
            <a:extLst>
              <a:ext uri="{FF2B5EF4-FFF2-40B4-BE49-F238E27FC236}">
                <a16:creationId xmlns:a16="http://schemas.microsoft.com/office/drawing/2014/main" id="{8CBB90AE-5DDA-C475-18B5-21FA8289AA4B}"/>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47" name="Rectangle 18">
            <a:extLst>
              <a:ext uri="{FF2B5EF4-FFF2-40B4-BE49-F238E27FC236}">
                <a16:creationId xmlns:a16="http://schemas.microsoft.com/office/drawing/2014/main" id="{F1F267E0-FD0A-BF9C-E504-8237F3B443A8}"/>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48" name="Rectangle 19">
            <a:extLst>
              <a:ext uri="{FF2B5EF4-FFF2-40B4-BE49-F238E27FC236}">
                <a16:creationId xmlns:a16="http://schemas.microsoft.com/office/drawing/2014/main" id="{264F2198-A723-BAE1-867C-8885F85A53C5}"/>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49" name="Straight Arrow Connector 20">
            <a:extLst>
              <a:ext uri="{FF2B5EF4-FFF2-40B4-BE49-F238E27FC236}">
                <a16:creationId xmlns:a16="http://schemas.microsoft.com/office/drawing/2014/main" id="{4CC5E5C6-177C-1B7A-9D28-A043DFAE88FA}"/>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0" name="Rectangle 21">
            <a:extLst>
              <a:ext uri="{FF2B5EF4-FFF2-40B4-BE49-F238E27FC236}">
                <a16:creationId xmlns:a16="http://schemas.microsoft.com/office/drawing/2014/main" id="{0EF6E7CA-79ED-5AD8-EEB4-9A8F4B99E2FB}"/>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51" name="Rectangle 24">
            <a:extLst>
              <a:ext uri="{FF2B5EF4-FFF2-40B4-BE49-F238E27FC236}">
                <a16:creationId xmlns:a16="http://schemas.microsoft.com/office/drawing/2014/main" id="{03FD167B-3144-0D8A-5C2B-633B41393AD6}"/>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52" name="Straight Arrow Connector 25">
            <a:extLst>
              <a:ext uri="{FF2B5EF4-FFF2-40B4-BE49-F238E27FC236}">
                <a16:creationId xmlns:a16="http://schemas.microsoft.com/office/drawing/2014/main" id="{8D282354-2ADF-9882-9AD6-0A3D2FB5C83B}"/>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26">
            <a:extLst>
              <a:ext uri="{FF2B5EF4-FFF2-40B4-BE49-F238E27FC236}">
                <a16:creationId xmlns:a16="http://schemas.microsoft.com/office/drawing/2014/main" id="{31A64B39-D8B4-A7A7-337C-76851D6B63DA}"/>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4" name="Rectangle 27">
            <a:extLst>
              <a:ext uri="{FF2B5EF4-FFF2-40B4-BE49-F238E27FC236}">
                <a16:creationId xmlns:a16="http://schemas.microsoft.com/office/drawing/2014/main" id="{DCBA689D-66E2-7DB3-508D-A735C0CEBE51}"/>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Tree>
    <p:extLst>
      <p:ext uri="{BB962C8B-B14F-4D97-AF65-F5344CB8AC3E}">
        <p14:creationId xmlns:p14="http://schemas.microsoft.com/office/powerpoint/2010/main" val="169802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3" grpId="0"/>
      <p:bldP spid="27" grpId="0"/>
      <p:bldP spid="45" grpId="0"/>
      <p:bldP spid="46" grpId="0"/>
      <p:bldP spid="47" grpId="0"/>
      <p:bldP spid="48" grpId="0"/>
      <p:bldP spid="50" grpId="0"/>
      <p:bldP spid="51" grpId="0"/>
      <p:bldP spid="5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F7195-DDB4-E0F8-B093-94DA5A90D2A6}"/>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372A8A39-3917-9ED9-E8F6-BE081FFE3AFB}"/>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5" name="Rectangle 11">
            <a:extLst>
              <a:ext uri="{FF2B5EF4-FFF2-40B4-BE49-F238E27FC236}">
                <a16:creationId xmlns:a16="http://schemas.microsoft.com/office/drawing/2014/main" id="{746F8C3D-C198-CE4C-0D57-5148D7608C50}"/>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6" name="Rectangle 14">
            <a:extLst>
              <a:ext uri="{FF2B5EF4-FFF2-40B4-BE49-F238E27FC236}">
                <a16:creationId xmlns:a16="http://schemas.microsoft.com/office/drawing/2014/main" id="{24451E39-E346-BF0F-9EC1-87B803319FB9}"/>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24">
            <a:extLst>
              <a:ext uri="{FF2B5EF4-FFF2-40B4-BE49-F238E27FC236}">
                <a16:creationId xmlns:a16="http://schemas.microsoft.com/office/drawing/2014/main" id="{E4E803ED-4946-B0FE-553E-0C7197B0D816}"/>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8" name="Straight Arrow Connector 25">
            <a:extLst>
              <a:ext uri="{FF2B5EF4-FFF2-40B4-BE49-F238E27FC236}">
                <a16:creationId xmlns:a16="http://schemas.microsoft.com/office/drawing/2014/main" id="{C1C8D3B1-5F52-D004-4283-54016AD0CEA8}"/>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D4E4FD05-66E3-A142-C866-652656724398}"/>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6A513013-6D88-9CA1-6E96-7B6F22744F73}"/>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pic>
        <p:nvPicPr>
          <p:cNvPr id="38" name="Imagen 37">
            <a:extLst>
              <a:ext uri="{FF2B5EF4-FFF2-40B4-BE49-F238E27FC236}">
                <a16:creationId xmlns:a16="http://schemas.microsoft.com/office/drawing/2014/main" id="{4E2DB461-9B0F-3EC4-1F1E-2D17A74FDEBD}"/>
              </a:ext>
            </a:extLst>
          </p:cNvPr>
          <p:cNvPicPr>
            <a:picLocks noChangeAspect="1"/>
          </p:cNvPicPr>
          <p:nvPr/>
        </p:nvPicPr>
        <p:blipFill>
          <a:blip r:embed="rId3"/>
          <a:srcRect l="-2849" t="-4365" r="-1" b="3"/>
          <a:stretch>
            <a:fillRect/>
          </a:stretch>
        </p:blipFill>
        <p:spPr>
          <a:xfrm>
            <a:off x="5401845" y="3644143"/>
            <a:ext cx="3683149" cy="2572655"/>
          </a:xfrm>
          <a:prstGeom prst="rect">
            <a:avLst/>
          </a:prstGeom>
        </p:spPr>
      </p:pic>
      <p:sp>
        <p:nvSpPr>
          <p:cNvPr id="4" name="Slide Number Placeholder 3">
            <a:extLst>
              <a:ext uri="{FF2B5EF4-FFF2-40B4-BE49-F238E27FC236}">
                <a16:creationId xmlns:a16="http://schemas.microsoft.com/office/drawing/2014/main" id="{224AEAF1-44E3-03CC-65DC-0756E42C2EFD}"/>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36</a:t>
            </a:fld>
            <a:endParaRPr lang="en-US" sz="2000" dirty="0"/>
          </a:p>
        </p:txBody>
      </p:sp>
      <p:sp>
        <p:nvSpPr>
          <p:cNvPr id="11" name="Title 1">
            <a:extLst>
              <a:ext uri="{FF2B5EF4-FFF2-40B4-BE49-F238E27FC236}">
                <a16:creationId xmlns:a16="http://schemas.microsoft.com/office/drawing/2014/main" id="{08CB08BB-41A2-8832-9BB1-F255CDABD11B}"/>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0DB440B2-A1A7-5318-5B86-E4E556DB95F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AB362C67-5503-F753-2824-4A16113F85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955CD7B1-F812-749B-410D-1C5A6B35559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6F6BCA68-73FA-B400-2C58-2CB49FA29A15}"/>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0</a:t>
            </a:r>
            <a:r>
              <a:rPr lang="es-ES_tradnl" sz="2400" dirty="0"/>
              <a:t>?</a:t>
            </a:r>
          </a:p>
        </p:txBody>
      </p:sp>
      <p:cxnSp>
        <p:nvCxnSpPr>
          <p:cNvPr id="93" name="Straight Connector 12">
            <a:extLst>
              <a:ext uri="{FF2B5EF4-FFF2-40B4-BE49-F238E27FC236}">
                <a16:creationId xmlns:a16="http://schemas.microsoft.com/office/drawing/2014/main" id="{36FE80ED-881A-7A3F-83A6-7B4F1F4AFED6}"/>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699195C6-8B9E-1338-DFF9-039F14AB8968}"/>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E4BBE2CE-77BC-81F6-B597-ADE133FA102B}"/>
              </a:ext>
            </a:extLst>
          </p:cNvPr>
          <p:cNvSpPr>
            <a:spLocks/>
          </p:cNvSpPr>
          <p:nvPr/>
        </p:nvSpPr>
        <p:spPr bwMode="auto">
          <a:xfrm flipH="1">
            <a:off x="3192293" y="418993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0</a:t>
            </a:r>
          </a:p>
        </p:txBody>
      </p:sp>
      <p:sp>
        <p:nvSpPr>
          <p:cNvPr id="96" name="Rectangle 32">
            <a:extLst>
              <a:ext uri="{FF2B5EF4-FFF2-40B4-BE49-F238E27FC236}">
                <a16:creationId xmlns:a16="http://schemas.microsoft.com/office/drawing/2014/main" id="{95FD7E18-5197-99E2-6B43-EED6F8F58956}"/>
              </a:ext>
            </a:extLst>
          </p:cNvPr>
          <p:cNvSpPr>
            <a:spLocks/>
          </p:cNvSpPr>
          <p:nvPr/>
        </p:nvSpPr>
        <p:spPr bwMode="auto">
          <a:xfrm>
            <a:off x="7807706" y="567434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7" name="Rectangle 11">
            <a:extLst>
              <a:ext uri="{FF2B5EF4-FFF2-40B4-BE49-F238E27FC236}">
                <a16:creationId xmlns:a16="http://schemas.microsoft.com/office/drawing/2014/main" id="{7BA2DD86-86D8-2125-B399-8EA0BBC98BB3}"/>
              </a:ext>
            </a:extLst>
          </p:cNvPr>
          <p:cNvSpPr>
            <a:spLocks/>
          </p:cNvSpPr>
          <p:nvPr/>
        </p:nvSpPr>
        <p:spPr bwMode="auto">
          <a:xfrm>
            <a:off x="390380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1</a:t>
            </a:r>
          </a:p>
        </p:txBody>
      </p:sp>
      <p:sp>
        <p:nvSpPr>
          <p:cNvPr id="98" name="Rectangle 14">
            <a:extLst>
              <a:ext uri="{FF2B5EF4-FFF2-40B4-BE49-F238E27FC236}">
                <a16:creationId xmlns:a16="http://schemas.microsoft.com/office/drawing/2014/main" id="{32D81293-560F-9E5A-5620-E0E43D8E90F5}"/>
              </a:ext>
            </a:extLst>
          </p:cNvPr>
          <p:cNvSpPr>
            <a:spLocks/>
          </p:cNvSpPr>
          <p:nvPr/>
        </p:nvSpPr>
        <p:spPr bwMode="auto">
          <a:xfrm>
            <a:off x="4759702" y="418144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2</a:t>
            </a:r>
          </a:p>
        </p:txBody>
      </p:sp>
      <p:sp>
        <p:nvSpPr>
          <p:cNvPr id="99" name="Rectangle 15">
            <a:extLst>
              <a:ext uri="{FF2B5EF4-FFF2-40B4-BE49-F238E27FC236}">
                <a16:creationId xmlns:a16="http://schemas.microsoft.com/office/drawing/2014/main" id="{DC7C87AA-6E13-A95D-C332-3258DFA29D34}"/>
              </a:ext>
            </a:extLst>
          </p:cNvPr>
          <p:cNvSpPr>
            <a:spLocks/>
          </p:cNvSpPr>
          <p:nvPr/>
        </p:nvSpPr>
        <p:spPr bwMode="auto">
          <a:xfrm>
            <a:off x="5532775"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556BAD48-4E63-5032-1D5B-563B1781AA86}"/>
              </a:ext>
            </a:extLst>
          </p:cNvPr>
          <p:cNvSpPr>
            <a:spLocks/>
          </p:cNvSpPr>
          <p:nvPr/>
        </p:nvSpPr>
        <p:spPr bwMode="auto">
          <a:xfrm>
            <a:off x="6278238"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2CD8A702-8C5F-239C-3BBB-E388849B08AF}"/>
              </a:ext>
            </a:extLst>
          </p:cNvPr>
          <p:cNvSpPr>
            <a:spLocks/>
          </p:cNvSpPr>
          <p:nvPr/>
        </p:nvSpPr>
        <p:spPr bwMode="auto">
          <a:xfrm>
            <a:off x="6993220"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9F3D33DB-9CD8-5776-317C-26EDA13BE3DD}"/>
              </a:ext>
            </a:extLst>
          </p:cNvPr>
          <p:cNvSpPr>
            <a:spLocks/>
          </p:cNvSpPr>
          <p:nvPr/>
        </p:nvSpPr>
        <p:spPr bwMode="auto">
          <a:xfrm>
            <a:off x="784912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13FBB31F-FAA2-8AE2-62EE-A27F216DC90B}"/>
              </a:ext>
            </a:extLst>
          </p:cNvPr>
          <p:cNvSpPr>
            <a:spLocks/>
          </p:cNvSpPr>
          <p:nvPr/>
        </p:nvSpPr>
        <p:spPr bwMode="auto">
          <a:xfrm>
            <a:off x="8578253" y="420431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F6AB1D39-8A13-4808-BA25-DE3CE63480AB}"/>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3CD0A6AC-0481-735C-E614-5F61FDC6D5EE}"/>
              </a:ext>
            </a:extLst>
          </p:cNvPr>
          <p:cNvSpPr>
            <a:spLocks/>
          </p:cNvSpPr>
          <p:nvPr/>
        </p:nvSpPr>
        <p:spPr bwMode="auto">
          <a:xfrm>
            <a:off x="5534397" y="530501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106" name="Rectangle 24">
            <a:extLst>
              <a:ext uri="{FF2B5EF4-FFF2-40B4-BE49-F238E27FC236}">
                <a16:creationId xmlns:a16="http://schemas.microsoft.com/office/drawing/2014/main" id="{8C03F8B9-35EC-F74E-15DC-75329C67CBCA}"/>
              </a:ext>
            </a:extLst>
          </p:cNvPr>
          <p:cNvSpPr>
            <a:spLocks/>
          </p:cNvSpPr>
          <p:nvPr/>
        </p:nvSpPr>
        <p:spPr bwMode="auto">
          <a:xfrm>
            <a:off x="3974447" y="570012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500</a:t>
            </a:r>
          </a:p>
        </p:txBody>
      </p:sp>
      <p:cxnSp>
        <p:nvCxnSpPr>
          <p:cNvPr id="107" name="Straight Arrow Connector 25">
            <a:extLst>
              <a:ext uri="{FF2B5EF4-FFF2-40B4-BE49-F238E27FC236}">
                <a16:creationId xmlns:a16="http://schemas.microsoft.com/office/drawing/2014/main" id="{E5C358D6-6C12-E722-A245-16FC83A1FF67}"/>
              </a:ext>
            </a:extLst>
          </p:cNvPr>
          <p:cNvCxnSpPr/>
          <p:nvPr/>
        </p:nvCxnSpPr>
        <p:spPr>
          <a:xfrm flipH="1">
            <a:off x="4918028" y="4550338"/>
            <a:ext cx="2" cy="1061198"/>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33FF4955-313C-CDCB-8CA0-451378D6E03A}"/>
              </a:ext>
            </a:extLst>
          </p:cNvPr>
          <p:cNvCxnSpPr/>
          <p:nvPr/>
        </p:nvCxnSpPr>
        <p:spPr>
          <a:xfrm>
            <a:off x="3277894" y="4556241"/>
            <a:ext cx="0" cy="530599"/>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F1D7F55A-95B2-2ADB-8E20-90842A1EB782}"/>
              </a:ext>
            </a:extLst>
          </p:cNvPr>
          <p:cNvSpPr>
            <a:spLocks/>
          </p:cNvSpPr>
          <p:nvPr/>
        </p:nvSpPr>
        <p:spPr bwMode="auto">
          <a:xfrm>
            <a:off x="2353695" y="523979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300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13CD92D4-C7FF-9B89-EBD2-8EFF26602701}"/>
                  </a:ext>
                </a:extLst>
              </p:cNvPr>
              <p:cNvSpPr txBox="1"/>
              <p:nvPr/>
            </p:nvSpPr>
            <p:spPr>
              <a:xfrm>
                <a:off x="4240861" y="2936024"/>
                <a:ext cx="3483646" cy="4429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𝑃</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3</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f>
                        <m:fPr>
                          <m:ctrlPr>
                            <a:rPr lang="es-CO" sz="1400" i="1">
                              <a:latin typeface="Cambria Math" panose="02040503050406030204" pitchFamily="18" charset="0"/>
                            </a:rPr>
                          </m:ctrlPr>
                        </m:fPr>
                        <m:num>
                          <m:r>
                            <a:rPr lang="es-CO" sz="1400" i="1">
                              <a:latin typeface="Cambria Math" panose="02040503050406030204" pitchFamily="18" charset="0"/>
                            </a:rPr>
                            <m:t>240</m:t>
                          </m:r>
                        </m:num>
                        <m:den>
                          <m:d>
                            <m:dPr>
                              <m:ctrlPr>
                                <a:rPr lang="es-CO" sz="1400" i="1">
                                  <a:latin typeface="Cambria Math" panose="02040503050406030204" pitchFamily="18" charset="0"/>
                                </a:rPr>
                              </m:ctrlPr>
                            </m:dPr>
                            <m:e>
                              <m:r>
                                <a:rPr lang="es-CO" sz="1400" i="1">
                                  <a:latin typeface="Cambria Math" panose="02040503050406030204" pitchFamily="18" charset="0"/>
                                </a:rPr>
                                <m:t>1+2%</m:t>
                              </m:r>
                            </m:e>
                          </m:d>
                        </m:den>
                      </m:f>
                      <m:r>
                        <a:rPr lang="es-CO" sz="1400" i="1">
                          <a:latin typeface="Cambria Math" panose="02040503050406030204" pitchFamily="18" charset="0"/>
                        </a:rPr>
                        <m:t>−</m:t>
                      </m:r>
                      <m:f>
                        <m:fPr>
                          <m:ctrlPr>
                            <a:rPr lang="es-CO" sz="1400" i="1">
                              <a:latin typeface="Cambria Math" panose="02040503050406030204" pitchFamily="18" charset="0"/>
                            </a:rPr>
                          </m:ctrlPr>
                        </m:fPr>
                        <m:num>
                          <m:r>
                            <a:rPr lang="es-CO" sz="1400" i="1">
                              <a:latin typeface="Cambria Math" panose="02040503050406030204" pitchFamily="18" charset="0"/>
                            </a:rPr>
                            <m:t>470</m:t>
                          </m:r>
                        </m:num>
                        <m:den>
                          <m:sSup>
                            <m:sSupPr>
                              <m:ctrlPr>
                                <a:rPr lang="es-CO" sz="1400" i="1">
                                  <a:latin typeface="Cambria Math" panose="02040503050406030204" pitchFamily="18" charset="0"/>
                                </a:rPr>
                              </m:ctrlPr>
                            </m:sSupPr>
                            <m:e>
                              <m:r>
                                <a:rPr lang="es-CO" sz="1400" i="1">
                                  <a:latin typeface="Cambria Math" panose="02040503050406030204" pitchFamily="18" charset="0"/>
                                </a:rPr>
                                <m:t>(1+2%)</m:t>
                              </m:r>
                            </m:e>
                            <m:sup>
                              <m:r>
                                <a:rPr lang="es-CO" sz="1400" i="1">
                                  <a:latin typeface="Cambria Math" panose="02040503050406030204" pitchFamily="18" charset="0"/>
                                </a:rPr>
                                <m:t>4</m:t>
                              </m:r>
                            </m:sup>
                          </m:sSup>
                        </m:den>
                      </m:f>
                      <m:r>
                        <a:rPr lang="es-MX" sz="140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−669,50</m:t>
                      </m:r>
                    </m:oMath>
                  </m:oMathPara>
                </a14:m>
                <a:endParaRPr lang="es-CO" sz="1400" dirty="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13CD92D4-C7FF-9B89-EBD2-8EFF26602701}"/>
                  </a:ext>
                </a:extLst>
              </p:cNvPr>
              <p:cNvSpPr txBox="1">
                <a:spLocks noRot="1" noChangeAspect="1" noMove="1" noResize="1" noEditPoints="1" noAdjustHandles="1" noChangeArrowheads="1" noChangeShapeType="1" noTextEdit="1"/>
              </p:cNvSpPr>
              <p:nvPr/>
            </p:nvSpPr>
            <p:spPr>
              <a:xfrm>
                <a:off x="4240861" y="2936024"/>
                <a:ext cx="3483646" cy="442942"/>
              </a:xfrm>
              <a:prstGeom prst="rect">
                <a:avLst/>
              </a:prstGeom>
              <a:blipFill>
                <a:blip r:embed="rId5"/>
                <a:stretch>
                  <a:fillRect l="-701" t="-1389" r="-701" b="-16667"/>
                </a:stretch>
              </a:blipFill>
            </p:spPr>
            <p:txBody>
              <a:bodyPr/>
              <a:lstStyle/>
              <a:p>
                <a:r>
                  <a:rPr lang="es-MX">
                    <a:noFill/>
                  </a:rPr>
                  <a:t> </a:t>
                </a:r>
              </a:p>
            </p:txBody>
          </p:sp>
        </mc:Fallback>
      </mc:AlternateContent>
    </p:spTree>
    <p:extLst>
      <p:ext uri="{BB962C8B-B14F-4D97-AF65-F5344CB8AC3E}">
        <p14:creationId xmlns:p14="http://schemas.microsoft.com/office/powerpoint/2010/main" val="357728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P spid="95" grpId="0"/>
      <p:bldP spid="96" grpId="0"/>
      <p:bldP spid="97" grpId="0"/>
      <p:bldP spid="98" grpId="0"/>
      <p:bldP spid="99" grpId="0"/>
      <p:bldP spid="100" grpId="0"/>
      <p:bldP spid="101" grpId="0"/>
      <p:bldP spid="102" grpId="0"/>
      <p:bldP spid="103" grpId="0"/>
      <p:bldP spid="105" grpId="0"/>
      <p:bldP spid="106" grpId="0"/>
      <p:bldP spid="109" grpId="0"/>
      <p:bldP spid="3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36FE-BC20-007F-0A85-F69C73722B29}"/>
            </a:ext>
          </a:extLst>
        </p:cNvPr>
        <p:cNvGrpSpPr/>
        <p:nvPr/>
      </p:nvGrpSpPr>
      <p:grpSpPr>
        <a:xfrm>
          <a:off x="0" y="0"/>
          <a:ext cx="0" cy="0"/>
          <a:chOff x="0" y="0"/>
          <a:chExt cx="0" cy="0"/>
        </a:xfrm>
      </p:grpSpPr>
      <p:cxnSp>
        <p:nvCxnSpPr>
          <p:cNvPr id="2" name="Straight Arrow Connector 13">
            <a:extLst>
              <a:ext uri="{FF2B5EF4-FFF2-40B4-BE49-F238E27FC236}">
                <a16:creationId xmlns:a16="http://schemas.microsoft.com/office/drawing/2014/main" id="{5F525472-E521-B630-218E-AEC342E9D6BC}"/>
              </a:ext>
            </a:extLst>
          </p:cNvPr>
          <p:cNvCxnSpPr/>
          <p:nvPr/>
        </p:nvCxnSpPr>
        <p:spPr>
          <a:xfrm flipH="1">
            <a:off x="8741096" y="456578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 name="Rectangle 32">
            <a:extLst>
              <a:ext uri="{FF2B5EF4-FFF2-40B4-BE49-F238E27FC236}">
                <a16:creationId xmlns:a16="http://schemas.microsoft.com/office/drawing/2014/main" id="{432F146F-32C7-BFB7-8368-84BE1F287F80}"/>
              </a:ext>
            </a:extLst>
          </p:cNvPr>
          <p:cNvSpPr>
            <a:spLocks/>
          </p:cNvSpPr>
          <p:nvPr/>
        </p:nvSpPr>
        <p:spPr bwMode="auto">
          <a:xfrm>
            <a:off x="7807372" y="567755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5" name="Rectangle 16">
            <a:extLst>
              <a:ext uri="{FF2B5EF4-FFF2-40B4-BE49-F238E27FC236}">
                <a16:creationId xmlns:a16="http://schemas.microsoft.com/office/drawing/2014/main" id="{75D4741F-2822-6A2E-111F-036A7AE53ACF}"/>
              </a:ext>
            </a:extLst>
          </p:cNvPr>
          <p:cNvSpPr>
            <a:spLocks/>
          </p:cNvSpPr>
          <p:nvPr/>
        </p:nvSpPr>
        <p:spPr bwMode="auto">
          <a:xfrm>
            <a:off x="6277904"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6" name="Rectangle 17">
            <a:extLst>
              <a:ext uri="{FF2B5EF4-FFF2-40B4-BE49-F238E27FC236}">
                <a16:creationId xmlns:a16="http://schemas.microsoft.com/office/drawing/2014/main" id="{18707495-EE63-BDA1-187E-AC866BDD54EA}"/>
              </a:ext>
            </a:extLst>
          </p:cNvPr>
          <p:cNvSpPr>
            <a:spLocks/>
          </p:cNvSpPr>
          <p:nvPr/>
        </p:nvSpPr>
        <p:spPr bwMode="auto">
          <a:xfrm>
            <a:off x="6992886"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7" name="Rectangle 18">
            <a:extLst>
              <a:ext uri="{FF2B5EF4-FFF2-40B4-BE49-F238E27FC236}">
                <a16:creationId xmlns:a16="http://schemas.microsoft.com/office/drawing/2014/main" id="{EB138E5B-91C1-55EB-48F2-79806522E041}"/>
              </a:ext>
            </a:extLst>
          </p:cNvPr>
          <p:cNvSpPr>
            <a:spLocks/>
          </p:cNvSpPr>
          <p:nvPr/>
        </p:nvSpPr>
        <p:spPr bwMode="auto">
          <a:xfrm>
            <a:off x="7848787"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8" name="Rectangle 19">
            <a:extLst>
              <a:ext uri="{FF2B5EF4-FFF2-40B4-BE49-F238E27FC236}">
                <a16:creationId xmlns:a16="http://schemas.microsoft.com/office/drawing/2014/main" id="{0F50BA7F-E34E-BE10-BBDB-E4D4F9FFF429}"/>
              </a:ext>
            </a:extLst>
          </p:cNvPr>
          <p:cNvSpPr>
            <a:spLocks/>
          </p:cNvSpPr>
          <p:nvPr/>
        </p:nvSpPr>
        <p:spPr bwMode="auto">
          <a:xfrm>
            <a:off x="8577919" y="42075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9" name="Straight Arrow Connector 20">
            <a:extLst>
              <a:ext uri="{FF2B5EF4-FFF2-40B4-BE49-F238E27FC236}">
                <a16:creationId xmlns:a16="http://schemas.microsoft.com/office/drawing/2014/main" id="{0F8F315A-F3A4-9B97-0DF2-5B9B9660996D}"/>
              </a:ext>
            </a:extLst>
          </p:cNvPr>
          <p:cNvCxnSpPr/>
          <p:nvPr/>
        </p:nvCxnSpPr>
        <p:spPr>
          <a:xfrm flipH="1">
            <a:off x="6477644" y="456578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1">
            <a:extLst>
              <a:ext uri="{FF2B5EF4-FFF2-40B4-BE49-F238E27FC236}">
                <a16:creationId xmlns:a16="http://schemas.microsoft.com/office/drawing/2014/main" id="{AA4B922D-C9CB-3D37-5C19-E62DCFFC55CF}"/>
              </a:ext>
            </a:extLst>
          </p:cNvPr>
          <p:cNvSpPr>
            <a:spLocks/>
          </p:cNvSpPr>
          <p:nvPr/>
        </p:nvSpPr>
        <p:spPr bwMode="auto">
          <a:xfrm>
            <a:off x="5534063" y="530822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pic>
        <p:nvPicPr>
          <p:cNvPr id="38" name="Imagen 37">
            <a:extLst>
              <a:ext uri="{FF2B5EF4-FFF2-40B4-BE49-F238E27FC236}">
                <a16:creationId xmlns:a16="http://schemas.microsoft.com/office/drawing/2014/main" id="{0FD4DA9B-23D2-3EBD-4D1B-12AFB6F9B6DE}"/>
              </a:ext>
            </a:extLst>
          </p:cNvPr>
          <p:cNvPicPr>
            <a:picLocks noChangeAspect="1"/>
          </p:cNvPicPr>
          <p:nvPr/>
        </p:nvPicPr>
        <p:blipFill>
          <a:blip r:embed="rId3"/>
          <a:srcRect l="1348" t="90515"/>
          <a:stretch>
            <a:fillRect/>
          </a:stretch>
        </p:blipFill>
        <p:spPr>
          <a:xfrm>
            <a:off x="6010221" y="6010260"/>
            <a:ext cx="3037268" cy="198324"/>
          </a:xfrm>
          <a:prstGeom prst="rect">
            <a:avLst/>
          </a:prstGeom>
        </p:spPr>
      </p:pic>
      <p:sp>
        <p:nvSpPr>
          <p:cNvPr id="4" name="Slide Number Placeholder 3">
            <a:extLst>
              <a:ext uri="{FF2B5EF4-FFF2-40B4-BE49-F238E27FC236}">
                <a16:creationId xmlns:a16="http://schemas.microsoft.com/office/drawing/2014/main" id="{71362785-D1D0-32FD-F420-5AB0099B269E}"/>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37</a:t>
            </a:fld>
            <a:endParaRPr lang="en-US" sz="2000" dirty="0"/>
          </a:p>
        </p:txBody>
      </p:sp>
      <p:sp>
        <p:nvSpPr>
          <p:cNvPr id="11" name="Title 1">
            <a:extLst>
              <a:ext uri="{FF2B5EF4-FFF2-40B4-BE49-F238E27FC236}">
                <a16:creationId xmlns:a16="http://schemas.microsoft.com/office/drawing/2014/main" id="{4AAFEE1F-7BD8-C19B-EBA2-55F6042BF89B}"/>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BA9CBFFA-9AC0-75C0-E625-60AF8F6C50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40C88902-F242-7A74-49CD-646272F08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F5C7AFDF-1702-95ED-AD86-D60974E4395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21E459FD-1D84-D89E-8BAD-81D63F251D8D}"/>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0</a:t>
            </a:r>
            <a:r>
              <a:rPr lang="es-ES_tradnl" sz="2400" dirty="0"/>
              <a:t>?</a:t>
            </a:r>
          </a:p>
        </p:txBody>
      </p:sp>
      <p:cxnSp>
        <p:nvCxnSpPr>
          <p:cNvPr id="93" name="Straight Connector 12">
            <a:extLst>
              <a:ext uri="{FF2B5EF4-FFF2-40B4-BE49-F238E27FC236}">
                <a16:creationId xmlns:a16="http://schemas.microsoft.com/office/drawing/2014/main" id="{E1FEC88A-0E38-6B69-8F01-C8144C212DA2}"/>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D2DC7D1B-564C-D17F-93AF-77D4F1F85FD6}"/>
              </a:ext>
            </a:extLst>
          </p:cNvPr>
          <p:cNvCxnSpPr/>
          <p:nvPr/>
        </p:nvCxnSpPr>
        <p:spPr>
          <a:xfrm flipH="1">
            <a:off x="8741430" y="4562579"/>
            <a:ext cx="2" cy="1061198"/>
          </a:xfrm>
          <a:prstGeom prst="straightConnector1">
            <a:avLst/>
          </a:prstGeom>
          <a:ln w="28575">
            <a:solidFill>
              <a:schemeClr val="bg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33D74D45-013A-ADAF-19EA-7DC0126EE84A}"/>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6" name="Rectangle 32">
            <a:extLst>
              <a:ext uri="{FF2B5EF4-FFF2-40B4-BE49-F238E27FC236}">
                <a16:creationId xmlns:a16="http://schemas.microsoft.com/office/drawing/2014/main" id="{AD235C0B-E9B4-87E1-9453-983429BB5C5F}"/>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470</a:t>
            </a:r>
          </a:p>
        </p:txBody>
      </p:sp>
      <p:sp>
        <p:nvSpPr>
          <p:cNvPr id="97" name="Rectangle 11">
            <a:extLst>
              <a:ext uri="{FF2B5EF4-FFF2-40B4-BE49-F238E27FC236}">
                <a16:creationId xmlns:a16="http://schemas.microsoft.com/office/drawing/2014/main" id="{43C0140A-9292-ADD2-3364-41C1EA4A43BC}"/>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98" name="Rectangle 14">
            <a:extLst>
              <a:ext uri="{FF2B5EF4-FFF2-40B4-BE49-F238E27FC236}">
                <a16:creationId xmlns:a16="http://schemas.microsoft.com/office/drawing/2014/main" id="{C699BB66-C0A9-F9CE-C10E-1DD851838C06}"/>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99" name="Rectangle 15">
            <a:extLst>
              <a:ext uri="{FF2B5EF4-FFF2-40B4-BE49-F238E27FC236}">
                <a16:creationId xmlns:a16="http://schemas.microsoft.com/office/drawing/2014/main" id="{56F7C65B-F9C6-1020-6A2D-0835DED3EA5A}"/>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8A1220E1-F476-D7F1-63BD-7A320F095EC7}"/>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4</a:t>
            </a:r>
          </a:p>
        </p:txBody>
      </p:sp>
      <p:sp>
        <p:nvSpPr>
          <p:cNvPr id="101" name="Rectangle 17">
            <a:extLst>
              <a:ext uri="{FF2B5EF4-FFF2-40B4-BE49-F238E27FC236}">
                <a16:creationId xmlns:a16="http://schemas.microsoft.com/office/drawing/2014/main" id="{CDC13FD6-1A7C-B912-3998-57CA13933B6C}"/>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5</a:t>
            </a:r>
          </a:p>
        </p:txBody>
      </p:sp>
      <p:sp>
        <p:nvSpPr>
          <p:cNvPr id="102" name="Rectangle 18">
            <a:extLst>
              <a:ext uri="{FF2B5EF4-FFF2-40B4-BE49-F238E27FC236}">
                <a16:creationId xmlns:a16="http://schemas.microsoft.com/office/drawing/2014/main" id="{FC2BD1DA-F35E-243E-2BDE-658670E31916}"/>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6</a:t>
            </a:r>
          </a:p>
        </p:txBody>
      </p:sp>
      <p:sp>
        <p:nvSpPr>
          <p:cNvPr id="103" name="Rectangle 19">
            <a:extLst>
              <a:ext uri="{FF2B5EF4-FFF2-40B4-BE49-F238E27FC236}">
                <a16:creationId xmlns:a16="http://schemas.microsoft.com/office/drawing/2014/main" id="{088C9C6E-43F0-1437-A7E6-E578BC60936C}"/>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7</a:t>
            </a:r>
          </a:p>
        </p:txBody>
      </p:sp>
      <p:cxnSp>
        <p:nvCxnSpPr>
          <p:cNvPr id="104" name="Straight Arrow Connector 20">
            <a:extLst>
              <a:ext uri="{FF2B5EF4-FFF2-40B4-BE49-F238E27FC236}">
                <a16:creationId xmlns:a16="http://schemas.microsoft.com/office/drawing/2014/main" id="{655F718B-F98A-A55B-F62F-0B93C5EF7B99}"/>
              </a:ext>
            </a:extLst>
          </p:cNvPr>
          <p:cNvCxnSpPr/>
          <p:nvPr/>
        </p:nvCxnSpPr>
        <p:spPr>
          <a:xfrm flipH="1">
            <a:off x="6477978" y="4562579"/>
            <a:ext cx="2" cy="538066"/>
          </a:xfrm>
          <a:prstGeom prst="straightConnector1">
            <a:avLst/>
          </a:prstGeom>
          <a:ln w="28575">
            <a:solidFill>
              <a:schemeClr val="bg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BA656F77-6F01-D8DD-F93B-EEA4E901302E}"/>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240</a:t>
            </a:r>
          </a:p>
        </p:txBody>
      </p:sp>
      <p:sp>
        <p:nvSpPr>
          <p:cNvPr id="106" name="Rectangle 24">
            <a:extLst>
              <a:ext uri="{FF2B5EF4-FFF2-40B4-BE49-F238E27FC236}">
                <a16:creationId xmlns:a16="http://schemas.microsoft.com/office/drawing/2014/main" id="{F22BCACF-7F2C-64DD-80D1-83F82ED65537}"/>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107" name="Straight Arrow Connector 25">
            <a:extLst>
              <a:ext uri="{FF2B5EF4-FFF2-40B4-BE49-F238E27FC236}">
                <a16:creationId xmlns:a16="http://schemas.microsoft.com/office/drawing/2014/main" id="{E97AE4BF-4655-2B21-546B-59BEDA5630C2}"/>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9E7E9D29-D138-251F-BDA0-8E548953848A}"/>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591EE000-0267-71B0-7C93-7DDE32ABBBD2}"/>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40C6F476-5C54-F0BD-7B2B-F6A8583EF2DF}"/>
                  </a:ext>
                </a:extLst>
              </p:cNvPr>
              <p:cNvSpPr txBox="1"/>
              <p:nvPr/>
            </p:nvSpPr>
            <p:spPr>
              <a:xfrm>
                <a:off x="3767093" y="2844000"/>
                <a:ext cx="4294830" cy="4395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𝑃</m:t>
                          </m:r>
                        </m:e>
                        <m:sub>
                          <m:r>
                            <a:rPr lang="es-CO" sz="1400" b="0" i="1" smtClean="0">
                              <a:latin typeface="Cambria Math" panose="02040503050406030204" pitchFamily="18" charset="0"/>
                              <a:ea typeface="Cambria Math" panose="02040503050406030204" pitchFamily="18" charset="0"/>
                            </a:rPr>
                            <m:t>(0)</m:t>
                          </m:r>
                        </m:sub>
                      </m:sSub>
                      <m:r>
                        <a:rPr lang="es-CO" sz="1400" b="0" i="1" smtClean="0">
                          <a:latin typeface="Cambria Math" panose="02040503050406030204" pitchFamily="18" charset="0"/>
                          <a:ea typeface="Cambria Math" panose="02040503050406030204" pitchFamily="18" charset="0"/>
                        </a:rPr>
                        <m:t>=−300−</m:t>
                      </m:r>
                      <m:f>
                        <m:fPr>
                          <m:ctrlPr>
                            <a:rPr lang="es-CO" sz="1400" i="1" smtClean="0">
                              <a:latin typeface="Cambria Math" panose="02040503050406030204" pitchFamily="18" charset="0"/>
                              <a:ea typeface="Cambria Math" panose="02040503050406030204" pitchFamily="18" charset="0"/>
                            </a:rPr>
                          </m:ctrlPr>
                        </m:fPr>
                        <m:num>
                          <m:r>
                            <a:rPr lang="es-CO" sz="1400" b="0" i="1" smtClean="0">
                              <a:latin typeface="Cambria Math" panose="02040503050406030204" pitchFamily="18" charset="0"/>
                              <a:ea typeface="Cambria Math" panose="02040503050406030204" pitchFamily="18" charset="0"/>
                            </a:rPr>
                            <m:t>500</m:t>
                          </m:r>
                        </m:num>
                        <m:den>
                          <m:sSup>
                            <m:sSupPr>
                              <m:ctrlPr>
                                <a:rPr lang="es-CO" sz="1400" i="1">
                                  <a:latin typeface="Cambria Math" panose="02040503050406030204" pitchFamily="18" charset="0"/>
                                  <a:ea typeface="Cambria Math" panose="02040503050406030204" pitchFamily="18" charset="0"/>
                                </a:rPr>
                              </m:ctrlPr>
                            </m:sSupPr>
                            <m:e>
                              <m:d>
                                <m:dPr>
                                  <m:ctrlPr>
                                    <a:rPr lang="es-CO" sz="1400" b="0" i="1">
                                      <a:latin typeface="Cambria Math" panose="02040503050406030204" pitchFamily="18" charset="0"/>
                                      <a:ea typeface="Cambria Math" panose="02040503050406030204" pitchFamily="18" charset="0"/>
                                    </a:rPr>
                                  </m:ctrlPr>
                                </m:dPr>
                                <m:e>
                                  <m:r>
                                    <a:rPr lang="es-CO" sz="1400" b="0" i="1">
                                      <a:latin typeface="Cambria Math" panose="02040503050406030204" pitchFamily="18" charset="0"/>
                                      <a:ea typeface="Cambria Math" panose="02040503050406030204" pitchFamily="18" charset="0"/>
                                    </a:rPr>
                                    <m:t>1+</m:t>
                                  </m:r>
                                  <m:r>
                                    <a:rPr lang="es-CO" sz="1400" b="0" i="1" smtClean="0">
                                      <a:latin typeface="Cambria Math" panose="02040503050406030204" pitchFamily="18" charset="0"/>
                                      <a:ea typeface="Cambria Math" panose="02040503050406030204" pitchFamily="18" charset="0"/>
                                    </a:rPr>
                                    <m:t>3</m:t>
                                  </m:r>
                                  <m:r>
                                    <a:rPr lang="es-CO" sz="1400" b="0" i="1">
                                      <a:latin typeface="Cambria Math" panose="02040503050406030204" pitchFamily="18" charset="0"/>
                                      <a:ea typeface="Cambria Math" panose="02040503050406030204" pitchFamily="18" charset="0"/>
                                    </a:rPr>
                                    <m:t>%</m:t>
                                  </m:r>
                                </m:e>
                              </m:d>
                            </m:e>
                            <m:sup>
                              <m:r>
                                <a:rPr lang="es-CO" sz="1400" b="0" i="1" smtClean="0">
                                  <a:latin typeface="Cambria Math" panose="02040503050406030204" pitchFamily="18" charset="0"/>
                                  <a:ea typeface="Cambria Math" panose="02040503050406030204" pitchFamily="18" charset="0"/>
                                </a:rPr>
                                <m:t>2</m:t>
                              </m:r>
                            </m:sup>
                          </m:sSup>
                        </m:den>
                      </m:f>
                      <m:r>
                        <a:rPr lang="es-CO" sz="1400" b="0" i="1" smtClean="0">
                          <a:latin typeface="Cambria Math" panose="02040503050406030204" pitchFamily="18" charset="0"/>
                          <a:ea typeface="Cambria Math" panose="02040503050406030204" pitchFamily="18" charset="0"/>
                        </a:rPr>
                        <m:t>+</m:t>
                      </m:r>
                      <m:f>
                        <m:fPr>
                          <m:ctrlPr>
                            <a:rPr lang="es-CO" sz="1400" i="1" smtClean="0">
                              <a:latin typeface="Cambria Math" panose="02040503050406030204" pitchFamily="18" charset="0"/>
                              <a:ea typeface="Cambria Math" panose="02040503050406030204" pitchFamily="18" charset="0"/>
                            </a:rPr>
                          </m:ctrlPr>
                        </m:fPr>
                        <m:num>
                          <m:r>
                            <a:rPr lang="es-CO" sz="1400" b="0" i="1" smtClean="0">
                              <a:latin typeface="Cambria Math" panose="02040503050406030204" pitchFamily="18" charset="0"/>
                              <a:ea typeface="Cambria Math" panose="02040503050406030204" pitchFamily="18" charset="0"/>
                            </a:rPr>
                            <m:t>669,50</m:t>
                          </m:r>
                        </m:num>
                        <m:den>
                          <m:sSup>
                            <m:sSupPr>
                              <m:ctrlPr>
                                <a:rPr lang="es-CO" sz="1400" i="1" smtClean="0">
                                  <a:latin typeface="Cambria Math" panose="02040503050406030204" pitchFamily="18" charset="0"/>
                                  <a:ea typeface="Cambria Math" panose="02040503050406030204" pitchFamily="18" charset="0"/>
                                </a:rPr>
                              </m:ctrlPr>
                            </m:sSupPr>
                            <m:e>
                              <m:d>
                                <m:dPr>
                                  <m:ctrlPr>
                                    <a:rPr lang="es-CO" sz="1400" b="0" i="1">
                                      <a:latin typeface="Cambria Math" panose="02040503050406030204" pitchFamily="18" charset="0"/>
                                      <a:ea typeface="Cambria Math" panose="02040503050406030204" pitchFamily="18" charset="0"/>
                                    </a:rPr>
                                  </m:ctrlPr>
                                </m:dPr>
                                <m:e>
                                  <m:r>
                                    <a:rPr lang="es-CO" sz="1400" b="0" i="1">
                                      <a:latin typeface="Cambria Math" panose="02040503050406030204" pitchFamily="18" charset="0"/>
                                      <a:ea typeface="Cambria Math" panose="02040503050406030204" pitchFamily="18" charset="0"/>
                                    </a:rPr>
                                    <m:t>1+</m:t>
                                  </m:r>
                                  <m:r>
                                    <a:rPr lang="es-CO" sz="1400" b="0" i="1" smtClean="0">
                                      <a:latin typeface="Cambria Math" panose="02040503050406030204" pitchFamily="18" charset="0"/>
                                      <a:ea typeface="Cambria Math" panose="02040503050406030204" pitchFamily="18" charset="0"/>
                                    </a:rPr>
                                    <m:t>3</m:t>
                                  </m:r>
                                  <m:r>
                                    <a:rPr lang="es-CO" sz="1400" b="0" i="1">
                                      <a:latin typeface="Cambria Math" panose="02040503050406030204" pitchFamily="18" charset="0"/>
                                      <a:ea typeface="Cambria Math" panose="02040503050406030204" pitchFamily="18" charset="0"/>
                                    </a:rPr>
                                    <m:t>%</m:t>
                                  </m:r>
                                </m:e>
                              </m:d>
                            </m:e>
                            <m:sup>
                              <m:r>
                                <a:rPr lang="es-CO" sz="1400" b="0" i="1" smtClean="0">
                                  <a:latin typeface="Cambria Math" panose="02040503050406030204" pitchFamily="18" charset="0"/>
                                  <a:ea typeface="Cambria Math" panose="02040503050406030204" pitchFamily="18" charset="0"/>
                                </a:rPr>
                                <m:t>3</m:t>
                              </m:r>
                            </m:sup>
                          </m:sSup>
                        </m:den>
                      </m:f>
                      <m:r>
                        <a:rPr lang="es-MX" sz="1400">
                          <a:latin typeface="Cambria Math" panose="02040503050406030204" pitchFamily="18" charset="0"/>
                          <a:ea typeface="Cambria Math" panose="02040503050406030204" pitchFamily="18" charset="0"/>
                        </a:rPr>
                        <m:t>=−1.383,99</m:t>
                      </m:r>
                    </m:oMath>
                  </m:oMathPara>
                </a14:m>
                <a:endParaRPr lang="es-CO" sz="1400" dirty="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40C6F476-5C54-F0BD-7B2B-F6A8583EF2DF}"/>
                  </a:ext>
                </a:extLst>
              </p:cNvPr>
              <p:cNvSpPr txBox="1">
                <a:spLocks noRot="1" noChangeAspect="1" noMove="1" noResize="1" noEditPoints="1" noAdjustHandles="1" noChangeArrowheads="1" noChangeShapeType="1" noTextEdit="1"/>
              </p:cNvSpPr>
              <p:nvPr/>
            </p:nvSpPr>
            <p:spPr>
              <a:xfrm>
                <a:off x="3767093" y="2844000"/>
                <a:ext cx="4294830" cy="439544"/>
              </a:xfrm>
              <a:prstGeom prst="rect">
                <a:avLst/>
              </a:prstGeom>
              <a:blipFill>
                <a:blip r:embed="rId5"/>
                <a:stretch>
                  <a:fillRect t="-1389" b="-6944"/>
                </a:stretch>
              </a:blipFill>
            </p:spPr>
            <p:txBody>
              <a:bodyPr/>
              <a:lstStyle/>
              <a:p>
                <a:r>
                  <a:rPr lang="es-MX">
                    <a:noFill/>
                  </a:rPr>
                  <a:t> </a:t>
                </a:r>
              </a:p>
            </p:txBody>
          </p:sp>
        </mc:Fallback>
      </mc:AlternateContent>
      <p:cxnSp>
        <p:nvCxnSpPr>
          <p:cNvPr id="40" name="Straight Arrow Connector 13">
            <a:extLst>
              <a:ext uri="{FF2B5EF4-FFF2-40B4-BE49-F238E27FC236}">
                <a16:creationId xmlns:a16="http://schemas.microsoft.com/office/drawing/2014/main" id="{429BC30E-9DFE-0414-8819-57E040C90F42}"/>
              </a:ext>
            </a:extLst>
          </p:cNvPr>
          <p:cNvCxnSpPr>
            <a:cxnSpLocks/>
          </p:cNvCxnSpPr>
          <p:nvPr/>
        </p:nvCxnSpPr>
        <p:spPr>
          <a:xfrm>
            <a:off x="5701305" y="4564383"/>
            <a:ext cx="12683" cy="1515777"/>
          </a:xfrm>
          <a:prstGeom prst="straightConnector1">
            <a:avLst/>
          </a:prstGeom>
          <a:ln w="28575">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pic>
        <p:nvPicPr>
          <p:cNvPr id="42" name="Imagen 41">
            <a:extLst>
              <a:ext uri="{FF2B5EF4-FFF2-40B4-BE49-F238E27FC236}">
                <a16:creationId xmlns:a16="http://schemas.microsoft.com/office/drawing/2014/main" id="{E002C086-8924-B81C-F463-CE742976E884}"/>
              </a:ext>
            </a:extLst>
          </p:cNvPr>
          <p:cNvPicPr>
            <a:picLocks noChangeAspect="1"/>
          </p:cNvPicPr>
          <p:nvPr/>
        </p:nvPicPr>
        <p:blipFill>
          <a:blip r:embed="rId3"/>
          <a:srcRect l="75186" t="86544"/>
          <a:stretch>
            <a:fillRect/>
          </a:stretch>
        </p:blipFill>
        <p:spPr>
          <a:xfrm>
            <a:off x="6081791" y="5533664"/>
            <a:ext cx="763957" cy="281369"/>
          </a:xfrm>
          <a:prstGeom prst="rect">
            <a:avLst/>
          </a:prstGeom>
        </p:spPr>
      </p:pic>
      <p:sp>
        <p:nvSpPr>
          <p:cNvPr id="43" name="Rectangle 24">
            <a:extLst>
              <a:ext uri="{FF2B5EF4-FFF2-40B4-BE49-F238E27FC236}">
                <a16:creationId xmlns:a16="http://schemas.microsoft.com/office/drawing/2014/main" id="{CC21B102-098C-D260-68DD-C2EBC02E8467}"/>
              </a:ext>
            </a:extLst>
          </p:cNvPr>
          <p:cNvSpPr>
            <a:spLocks/>
          </p:cNvSpPr>
          <p:nvPr/>
        </p:nvSpPr>
        <p:spPr bwMode="auto">
          <a:xfrm>
            <a:off x="4770405" y="601348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669.50</a:t>
            </a:r>
          </a:p>
        </p:txBody>
      </p:sp>
    </p:spTree>
    <p:extLst>
      <p:ext uri="{BB962C8B-B14F-4D97-AF65-F5344CB8AC3E}">
        <p14:creationId xmlns:p14="http://schemas.microsoft.com/office/powerpoint/2010/main" val="87965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10" grpId="0"/>
      <p:bldP spid="95" grpId="0"/>
      <p:bldP spid="96" grpId="0"/>
      <p:bldP spid="97" grpId="0"/>
      <p:bldP spid="98" grpId="0"/>
      <p:bldP spid="99" grpId="0"/>
      <p:bldP spid="100" grpId="0"/>
      <p:bldP spid="101" grpId="0"/>
      <p:bldP spid="102" grpId="0"/>
      <p:bldP spid="103" grpId="0"/>
      <p:bldP spid="105" grpId="0"/>
      <p:bldP spid="106" grpId="0"/>
      <p:bldP spid="109" grpId="0"/>
      <p:bldP spid="39" grpId="0"/>
      <p:bldP spid="4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5E7C8-E1C3-EC0D-CC3D-853D39CE70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35B9C2-8858-0C6D-2D66-16A8DE4E79E1}"/>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38</a:t>
            </a:fld>
            <a:endParaRPr lang="en-US" sz="2000" dirty="0"/>
          </a:p>
        </p:txBody>
      </p:sp>
      <p:sp>
        <p:nvSpPr>
          <p:cNvPr id="11" name="Title 1">
            <a:extLst>
              <a:ext uri="{FF2B5EF4-FFF2-40B4-BE49-F238E27FC236}">
                <a16:creationId xmlns:a16="http://schemas.microsoft.com/office/drawing/2014/main" id="{E94C6143-A99E-DDE6-E5A1-6D353DEB6611}"/>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02AC3CFC-0FF5-5617-2FE0-6433B27DBA9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4204E3F2-8AC4-0E44-2413-662B7D267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B273699A-10EF-9CC4-ED3F-FB48790DD7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1" name="CuadroTexto 90">
                <a:extLst>
                  <a:ext uri="{FF2B5EF4-FFF2-40B4-BE49-F238E27FC236}">
                    <a16:creationId xmlns:a16="http://schemas.microsoft.com/office/drawing/2014/main" id="{C66D0B6F-5DC5-EF36-B6B8-81D1ACE58614}"/>
                  </a:ext>
                </a:extLst>
              </p:cNvPr>
              <p:cNvSpPr txBox="1"/>
              <p:nvPr/>
            </p:nvSpPr>
            <p:spPr>
              <a:xfrm>
                <a:off x="3312354" y="2845210"/>
                <a:ext cx="5567293" cy="6211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rPr>
                        <m:t>𝑉</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𝑃</m:t>
                          </m:r>
                        </m:e>
                        <m:sub>
                          <m:r>
                            <a:rPr lang="es-CO" sz="1400" b="0" i="1" smtClean="0">
                              <a:latin typeface="Cambria Math" panose="02040503050406030204" pitchFamily="18" charset="0"/>
                            </a:rPr>
                            <m:t>(0)</m:t>
                          </m:r>
                        </m:sub>
                      </m:sSub>
                      <m:r>
                        <a:rPr lang="es-CO" sz="1400" b="0" i="1" smtClean="0">
                          <a:latin typeface="Cambria Math" panose="02040503050406030204" pitchFamily="18" charset="0"/>
                        </a:rPr>
                        <m:t>=−300−</m:t>
                      </m:r>
                      <m:f>
                        <m:fPr>
                          <m:ctrlPr>
                            <a:rPr lang="es-CO" sz="1400" b="0" i="1" smtClean="0">
                              <a:latin typeface="Cambria Math" panose="02040503050406030204" pitchFamily="18" charset="0"/>
                            </a:rPr>
                          </m:ctrlPr>
                        </m:fPr>
                        <m:num>
                          <m:r>
                            <a:rPr lang="es-CO" sz="1400" b="0" i="1" smtClean="0">
                              <a:latin typeface="Cambria Math" panose="02040503050406030204" pitchFamily="18" charset="0"/>
                            </a:rPr>
                            <m:t>500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CO" sz="1400" b="0" i="1" smtClean="0">
                                      <a:latin typeface="Cambria Math" panose="02040503050406030204" pitchFamily="18" charset="0"/>
                                    </a:rPr>
                                    <m:t>3</m:t>
                                  </m:r>
                                  <m:r>
                                    <a:rPr lang="es-CO" sz="1400" i="1">
                                      <a:latin typeface="Cambria Math" panose="02040503050406030204" pitchFamily="18" charset="0"/>
                                    </a:rPr>
                                    <m:t>%</m:t>
                                  </m:r>
                                </m:e>
                              </m:d>
                            </m:e>
                            <m:sup>
                              <m:r>
                                <a:rPr lang="es-CO" sz="1400" b="0" i="1" smtClean="0">
                                  <a:latin typeface="Cambria Math" panose="02040503050406030204" pitchFamily="18" charset="0"/>
                                </a:rPr>
                                <m:t>2</m:t>
                              </m:r>
                            </m:sup>
                          </m:sSup>
                        </m:den>
                      </m:f>
                      <m:r>
                        <a:rPr lang="es-CO" sz="1400" b="0" i="1" smtClean="0">
                          <a:latin typeface="Cambria Math" panose="02040503050406030204" pitchFamily="18" charset="0"/>
                        </a:rPr>
                        <m:t>−</m:t>
                      </m:r>
                      <m:f>
                        <m:fPr>
                          <m:ctrlPr>
                            <a:rPr lang="es-CO" sz="1400" b="0" i="1" smtClean="0">
                              <a:latin typeface="Cambria Math" panose="02040503050406030204" pitchFamily="18" charset="0"/>
                            </a:rPr>
                          </m:ctrlPr>
                        </m:fPr>
                        <m:num>
                          <m:d>
                            <m:dPr>
                              <m:ctrlPr>
                                <a:rPr lang="es-CO" sz="1400" b="0" i="1" smtClean="0">
                                  <a:latin typeface="Cambria Math" panose="02040503050406030204" pitchFamily="18" charset="0"/>
                                </a:rPr>
                              </m:ctrlPr>
                            </m:dPr>
                            <m:e>
                              <m:f>
                                <m:fPr>
                                  <m:ctrlPr>
                                    <a:rPr lang="es-CO" sz="1400" i="1">
                                      <a:latin typeface="Cambria Math" panose="02040503050406030204" pitchFamily="18" charset="0"/>
                                    </a:rPr>
                                  </m:ctrlPr>
                                </m:fPr>
                                <m:num>
                                  <m:r>
                                    <a:rPr lang="es-CO" sz="1400" i="1">
                                      <a:latin typeface="Cambria Math" panose="02040503050406030204" pitchFamily="18" charset="0"/>
                                    </a:rPr>
                                    <m:t>240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1+2%</m:t>
                                          </m:r>
                                        </m:e>
                                      </m:d>
                                    </m:e>
                                    <m:sup>
                                      <m:r>
                                        <a:rPr lang="es-CO" sz="1400" i="1">
                                          <a:latin typeface="Cambria Math" panose="02040503050406030204" pitchFamily="18" charset="0"/>
                                        </a:rPr>
                                        <m:t>1</m:t>
                                      </m:r>
                                    </m:sup>
                                  </m:sSup>
                                </m:den>
                              </m:f>
                            </m:e>
                          </m:d>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1+3%</m:t>
                                  </m:r>
                                </m:e>
                              </m:d>
                            </m:e>
                            <m:sup>
                              <m:r>
                                <a:rPr lang="es-CO" sz="1400" b="0" i="1" smtClean="0">
                                  <a:latin typeface="Cambria Math" panose="02040503050406030204" pitchFamily="18" charset="0"/>
                                </a:rPr>
                                <m:t>3</m:t>
                              </m:r>
                            </m:sup>
                          </m:sSup>
                        </m:den>
                      </m:f>
                      <m:r>
                        <a:rPr lang="es-CO" sz="1400" b="0" i="1" smtClean="0">
                          <a:latin typeface="Cambria Math" panose="02040503050406030204" pitchFamily="18" charset="0"/>
                        </a:rPr>
                        <m:t>−</m:t>
                      </m:r>
                      <m:f>
                        <m:fPr>
                          <m:ctrlPr>
                            <a:rPr lang="es-CO" sz="1400" i="1">
                              <a:latin typeface="Cambria Math" panose="02040503050406030204" pitchFamily="18" charset="0"/>
                            </a:rPr>
                          </m:ctrlPr>
                        </m:fPr>
                        <m:num>
                          <m:d>
                            <m:dPr>
                              <m:ctrlPr>
                                <a:rPr lang="es-CO" sz="1400" i="1">
                                  <a:latin typeface="Cambria Math" panose="02040503050406030204" pitchFamily="18" charset="0"/>
                                </a:rPr>
                              </m:ctrlPr>
                            </m:dPr>
                            <m:e>
                              <m:f>
                                <m:fPr>
                                  <m:ctrlPr>
                                    <a:rPr lang="es-CO" sz="1400" i="1">
                                      <a:latin typeface="Cambria Math" panose="02040503050406030204" pitchFamily="18" charset="0"/>
                                    </a:rPr>
                                  </m:ctrlPr>
                                </m:fPr>
                                <m:num>
                                  <m:r>
                                    <a:rPr lang="es-CO" sz="1400" b="0" i="1" smtClean="0">
                                      <a:latin typeface="Cambria Math" panose="02040503050406030204" pitchFamily="18" charset="0"/>
                                    </a:rPr>
                                    <m:t>470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1+2%</m:t>
                                          </m:r>
                                        </m:e>
                                      </m:d>
                                    </m:e>
                                    <m:sup>
                                      <m:r>
                                        <a:rPr lang="es-CO" sz="1400" b="0" i="1" smtClean="0">
                                          <a:latin typeface="Cambria Math" panose="02040503050406030204" pitchFamily="18" charset="0"/>
                                        </a:rPr>
                                        <m:t>4</m:t>
                                      </m:r>
                                    </m:sup>
                                  </m:sSup>
                                </m:den>
                              </m:f>
                            </m:e>
                          </m:d>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1+3%</m:t>
                                  </m:r>
                                </m:e>
                              </m:d>
                            </m:e>
                            <m:sup>
                              <m:r>
                                <a:rPr lang="es-CO" sz="1400" i="1">
                                  <a:latin typeface="Cambria Math" panose="02040503050406030204" pitchFamily="18" charset="0"/>
                                </a:rPr>
                                <m:t>3</m:t>
                              </m:r>
                            </m:sup>
                          </m:sSup>
                        </m:den>
                      </m:f>
                      <m:r>
                        <a:rPr lang="es-CO" sz="1400" b="0" i="1" smtClean="0">
                          <a:latin typeface="Cambria Math" panose="02040503050406030204" pitchFamily="18" charset="0"/>
                        </a:rPr>
                        <m:t>=−1.383,99</m:t>
                      </m:r>
                    </m:oMath>
                  </m:oMathPara>
                </a14:m>
                <a:endParaRPr lang="es-CO" sz="1400" dirty="0"/>
              </a:p>
            </p:txBody>
          </p:sp>
        </mc:Choice>
        <mc:Fallback xmlns="">
          <p:sp>
            <p:nvSpPr>
              <p:cNvPr id="91" name="CuadroTexto 90">
                <a:extLst>
                  <a:ext uri="{FF2B5EF4-FFF2-40B4-BE49-F238E27FC236}">
                    <a16:creationId xmlns:a16="http://schemas.microsoft.com/office/drawing/2014/main" id="{C66D0B6F-5DC5-EF36-B6B8-81D1ACE58614}"/>
                  </a:ext>
                </a:extLst>
              </p:cNvPr>
              <p:cNvSpPr txBox="1">
                <a:spLocks noRot="1" noChangeAspect="1" noMove="1" noResize="1" noEditPoints="1" noAdjustHandles="1" noChangeArrowheads="1" noChangeShapeType="1" noTextEdit="1"/>
              </p:cNvSpPr>
              <p:nvPr/>
            </p:nvSpPr>
            <p:spPr>
              <a:xfrm>
                <a:off x="3312354" y="2845210"/>
                <a:ext cx="5567293" cy="621196"/>
              </a:xfrm>
              <a:prstGeom prst="rect">
                <a:avLst/>
              </a:prstGeom>
              <a:blipFill>
                <a:blip r:embed="rId4"/>
                <a:stretch>
                  <a:fillRect/>
                </a:stretch>
              </a:blipFill>
            </p:spPr>
            <p:txBody>
              <a:bodyPr/>
              <a:lstStyle/>
              <a:p>
                <a:r>
                  <a:rPr lang="es-MX">
                    <a:noFill/>
                  </a:rPr>
                  <a:t> </a:t>
                </a:r>
              </a:p>
            </p:txBody>
          </p:sp>
        </mc:Fallback>
      </mc:AlternateContent>
      <p:sp>
        <p:nvSpPr>
          <p:cNvPr id="92" name="Content Placeholder 2">
            <a:extLst>
              <a:ext uri="{FF2B5EF4-FFF2-40B4-BE49-F238E27FC236}">
                <a16:creationId xmlns:a16="http://schemas.microsoft.com/office/drawing/2014/main" id="{1D46C4BE-FBC9-7B09-2011-85A8C4B049B9}"/>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0</a:t>
            </a:r>
            <a:r>
              <a:rPr lang="es-ES_tradnl" sz="2400" dirty="0"/>
              <a:t>?</a:t>
            </a:r>
          </a:p>
        </p:txBody>
      </p:sp>
      <p:cxnSp>
        <p:nvCxnSpPr>
          <p:cNvPr id="93" name="Straight Connector 12">
            <a:extLst>
              <a:ext uri="{FF2B5EF4-FFF2-40B4-BE49-F238E27FC236}">
                <a16:creationId xmlns:a16="http://schemas.microsoft.com/office/drawing/2014/main" id="{B79BF65E-C218-1ED1-317F-B1575094EE18}"/>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7AD8B9F7-B67D-DA6E-039C-0D8BF2DFC054}"/>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223B5D93-BD40-8DA9-123C-8BE68CB3416B}"/>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6" name="Rectangle 32">
            <a:extLst>
              <a:ext uri="{FF2B5EF4-FFF2-40B4-BE49-F238E27FC236}">
                <a16:creationId xmlns:a16="http://schemas.microsoft.com/office/drawing/2014/main" id="{DD156884-62CA-F755-FDD8-751A5C08535F}"/>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7" name="Rectangle 11">
            <a:extLst>
              <a:ext uri="{FF2B5EF4-FFF2-40B4-BE49-F238E27FC236}">
                <a16:creationId xmlns:a16="http://schemas.microsoft.com/office/drawing/2014/main" id="{B303B35F-6BCC-FE22-E26D-7979104B1927}"/>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98" name="Rectangle 14">
            <a:extLst>
              <a:ext uri="{FF2B5EF4-FFF2-40B4-BE49-F238E27FC236}">
                <a16:creationId xmlns:a16="http://schemas.microsoft.com/office/drawing/2014/main" id="{F9C94D9A-B644-2A10-27E9-2B369CB036C4}"/>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99" name="Rectangle 15">
            <a:extLst>
              <a:ext uri="{FF2B5EF4-FFF2-40B4-BE49-F238E27FC236}">
                <a16:creationId xmlns:a16="http://schemas.microsoft.com/office/drawing/2014/main" id="{3BB4AF90-2C46-B1CD-63AF-59D60E5140B0}"/>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1F452A9A-F9D0-95AB-E1EC-ACB94DE97DD8}"/>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74EC8223-AF33-C871-A8DE-2420D17AC860}"/>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1E5F2C85-235C-B214-7A75-C68A5C9BCBED}"/>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BAC1BFBC-3A73-E40E-B77D-62526F8623F3}"/>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28FD5360-5869-2602-AF42-0AF972A0EDE8}"/>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6C671AA9-D85A-1194-9EE9-B0E29C613170}"/>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106" name="Rectangle 24">
            <a:extLst>
              <a:ext uri="{FF2B5EF4-FFF2-40B4-BE49-F238E27FC236}">
                <a16:creationId xmlns:a16="http://schemas.microsoft.com/office/drawing/2014/main" id="{E57C5499-375F-5102-2251-78A5EFC0E03E}"/>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107" name="Straight Arrow Connector 25">
            <a:extLst>
              <a:ext uri="{FF2B5EF4-FFF2-40B4-BE49-F238E27FC236}">
                <a16:creationId xmlns:a16="http://schemas.microsoft.com/office/drawing/2014/main" id="{E821FCCD-44AD-940F-117A-EC7AE7425848}"/>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E22A2E74-B9DD-F07C-F491-2B7DD6C69FD7}"/>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8EABDEA5-29E4-BD03-C114-4302E54BB4C8}"/>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Tree>
    <p:extLst>
      <p:ext uri="{BB962C8B-B14F-4D97-AF65-F5344CB8AC3E}">
        <p14:creationId xmlns:p14="http://schemas.microsoft.com/office/powerpoint/2010/main" val="111879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5" grpId="0"/>
      <p:bldP spid="96" grpId="0"/>
      <p:bldP spid="97" grpId="0"/>
      <p:bldP spid="98" grpId="0"/>
      <p:bldP spid="99" grpId="0"/>
      <p:bldP spid="100" grpId="0"/>
      <p:bldP spid="101" grpId="0"/>
      <p:bldP spid="102" grpId="0"/>
      <p:bldP spid="103" grpId="0"/>
      <p:bldP spid="105" grpId="0"/>
      <p:bldP spid="106" grpId="0"/>
      <p:bldP spid="10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7D66B-CFF4-41A7-20A9-1D08E54978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5F085-997D-8E88-4372-03ABAC35CBF3}"/>
              </a:ext>
            </a:extLst>
          </p:cNvPr>
          <p:cNvSpPr>
            <a:spLocks noGrp="1"/>
          </p:cNvSpPr>
          <p:nvPr>
            <p:ph idx="1"/>
          </p:nvPr>
        </p:nvSpPr>
        <p:spPr>
          <a:xfrm>
            <a:off x="607502" y="2035466"/>
            <a:ext cx="11029615" cy="1564898"/>
          </a:xfrm>
        </p:spPr>
        <p:txBody>
          <a:bodyPr>
            <a:normAutofit/>
          </a:bodyPr>
          <a:lstStyle/>
          <a:p>
            <a:pPr marL="0" indent="0" algn="just">
              <a:buNone/>
            </a:pPr>
            <a:r>
              <a:rPr lang="es-ES_tradnl" sz="2400" b="1" dirty="0">
                <a:solidFill>
                  <a:schemeClr val="tx1"/>
                </a:solidFill>
              </a:rPr>
              <a:t>Ejercicio 2: </a:t>
            </a:r>
            <a:r>
              <a:rPr lang="es-MX" sz="2400" dirty="0"/>
              <a:t>Usted tiene el siguiente esquema de pagos mensuales a un banco que le prestó al 3% MV entre el mes 1 y el 3, y al 2% MV entre el mes 4 y 7. ¿Cuánto debería pagar usted si quiere hacer un único pago en el mes 7?</a:t>
            </a:r>
          </a:p>
          <a:p>
            <a:pPr marL="0" indent="0" algn="just">
              <a:buNone/>
            </a:pPr>
            <a:endParaRPr lang="es-ES_tradnl" sz="2400" dirty="0"/>
          </a:p>
        </p:txBody>
      </p:sp>
      <p:sp>
        <p:nvSpPr>
          <p:cNvPr id="4" name="Slide Number Placeholder 3">
            <a:extLst>
              <a:ext uri="{FF2B5EF4-FFF2-40B4-BE49-F238E27FC236}">
                <a16:creationId xmlns:a16="http://schemas.microsoft.com/office/drawing/2014/main" id="{3B7EFEA5-7EA7-827D-2D75-75AC21F9DE12}"/>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39</a:t>
            </a:fld>
            <a:endParaRPr lang="en-US" sz="2000" dirty="0"/>
          </a:p>
        </p:txBody>
      </p:sp>
      <p:sp>
        <p:nvSpPr>
          <p:cNvPr id="11" name="Title 1">
            <a:extLst>
              <a:ext uri="{FF2B5EF4-FFF2-40B4-BE49-F238E27FC236}">
                <a16:creationId xmlns:a16="http://schemas.microsoft.com/office/drawing/2014/main" id="{099D4E44-C621-EF6E-B92C-A1E6C55F5C87}"/>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D2833E81-6682-10E7-F113-DE9406885C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ED8404CD-C710-7521-2693-98C21DEFF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45AC2E44-7398-075B-733F-552AD6E744D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5106E129-6315-3066-24BE-B47601959C72}"/>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13">
            <a:extLst>
              <a:ext uri="{FF2B5EF4-FFF2-40B4-BE49-F238E27FC236}">
                <a16:creationId xmlns:a16="http://schemas.microsoft.com/office/drawing/2014/main" id="{DC2082A7-2701-7012-CD3B-47EE2B53236E}"/>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3">
            <a:extLst>
              <a:ext uri="{FF2B5EF4-FFF2-40B4-BE49-F238E27FC236}">
                <a16:creationId xmlns:a16="http://schemas.microsoft.com/office/drawing/2014/main" id="{DBF36D4F-DF13-E356-4F63-6EAE215C20F5}"/>
              </a:ext>
            </a:extLst>
          </p:cNvPr>
          <p:cNvSpPr>
            <a:spLocks/>
          </p:cNvSpPr>
          <p:nvPr/>
        </p:nvSpPr>
        <p:spPr bwMode="auto">
          <a:xfrm flipH="1">
            <a:off x="3192293" y="418993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9" name="Rectangle 32">
            <a:extLst>
              <a:ext uri="{FF2B5EF4-FFF2-40B4-BE49-F238E27FC236}">
                <a16:creationId xmlns:a16="http://schemas.microsoft.com/office/drawing/2014/main" id="{623FCDFC-8966-448F-3670-0C7CB3AF1C36}"/>
              </a:ext>
            </a:extLst>
          </p:cNvPr>
          <p:cNvSpPr>
            <a:spLocks/>
          </p:cNvSpPr>
          <p:nvPr/>
        </p:nvSpPr>
        <p:spPr bwMode="auto">
          <a:xfrm>
            <a:off x="7807706" y="567434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10" name="Rectangle 11">
            <a:extLst>
              <a:ext uri="{FF2B5EF4-FFF2-40B4-BE49-F238E27FC236}">
                <a16:creationId xmlns:a16="http://schemas.microsoft.com/office/drawing/2014/main" id="{93BA4BE1-1BB6-DD4C-F608-D93DC8ABEDC1}"/>
              </a:ext>
            </a:extLst>
          </p:cNvPr>
          <p:cNvSpPr>
            <a:spLocks/>
          </p:cNvSpPr>
          <p:nvPr/>
        </p:nvSpPr>
        <p:spPr bwMode="auto">
          <a:xfrm>
            <a:off x="390380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3" name="Rectangle 14">
            <a:extLst>
              <a:ext uri="{FF2B5EF4-FFF2-40B4-BE49-F238E27FC236}">
                <a16:creationId xmlns:a16="http://schemas.microsoft.com/office/drawing/2014/main" id="{2F974710-7002-64FB-0AC8-3BFCFEABF54A}"/>
              </a:ext>
            </a:extLst>
          </p:cNvPr>
          <p:cNvSpPr>
            <a:spLocks/>
          </p:cNvSpPr>
          <p:nvPr/>
        </p:nvSpPr>
        <p:spPr bwMode="auto">
          <a:xfrm>
            <a:off x="4759702" y="418144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15">
            <a:extLst>
              <a:ext uri="{FF2B5EF4-FFF2-40B4-BE49-F238E27FC236}">
                <a16:creationId xmlns:a16="http://schemas.microsoft.com/office/drawing/2014/main" id="{67188D5B-F565-D1D8-9109-08358D9F08BB}"/>
              </a:ext>
            </a:extLst>
          </p:cNvPr>
          <p:cNvSpPr>
            <a:spLocks/>
          </p:cNvSpPr>
          <p:nvPr/>
        </p:nvSpPr>
        <p:spPr bwMode="auto">
          <a:xfrm>
            <a:off x="5532775"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45" name="Rectangle 16">
            <a:extLst>
              <a:ext uri="{FF2B5EF4-FFF2-40B4-BE49-F238E27FC236}">
                <a16:creationId xmlns:a16="http://schemas.microsoft.com/office/drawing/2014/main" id="{8821C58F-C152-BE43-1777-4B68169F1052}"/>
              </a:ext>
            </a:extLst>
          </p:cNvPr>
          <p:cNvSpPr>
            <a:spLocks/>
          </p:cNvSpPr>
          <p:nvPr/>
        </p:nvSpPr>
        <p:spPr bwMode="auto">
          <a:xfrm>
            <a:off x="6278238"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46" name="Rectangle 17">
            <a:extLst>
              <a:ext uri="{FF2B5EF4-FFF2-40B4-BE49-F238E27FC236}">
                <a16:creationId xmlns:a16="http://schemas.microsoft.com/office/drawing/2014/main" id="{08541D1B-1ED3-0B5F-EC9F-67852DE9B20C}"/>
              </a:ext>
            </a:extLst>
          </p:cNvPr>
          <p:cNvSpPr>
            <a:spLocks/>
          </p:cNvSpPr>
          <p:nvPr/>
        </p:nvSpPr>
        <p:spPr bwMode="auto">
          <a:xfrm>
            <a:off x="6993220"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47" name="Rectangle 18">
            <a:extLst>
              <a:ext uri="{FF2B5EF4-FFF2-40B4-BE49-F238E27FC236}">
                <a16:creationId xmlns:a16="http://schemas.microsoft.com/office/drawing/2014/main" id="{7F764ED3-153C-8648-7FDB-6170E6DEEB0A}"/>
              </a:ext>
            </a:extLst>
          </p:cNvPr>
          <p:cNvSpPr>
            <a:spLocks/>
          </p:cNvSpPr>
          <p:nvPr/>
        </p:nvSpPr>
        <p:spPr bwMode="auto">
          <a:xfrm>
            <a:off x="784912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48" name="Rectangle 19">
            <a:extLst>
              <a:ext uri="{FF2B5EF4-FFF2-40B4-BE49-F238E27FC236}">
                <a16:creationId xmlns:a16="http://schemas.microsoft.com/office/drawing/2014/main" id="{A6D48559-4D18-1B6A-6422-BF36A29263C8}"/>
              </a:ext>
            </a:extLst>
          </p:cNvPr>
          <p:cNvSpPr>
            <a:spLocks/>
          </p:cNvSpPr>
          <p:nvPr/>
        </p:nvSpPr>
        <p:spPr bwMode="auto">
          <a:xfrm>
            <a:off x="8578253" y="420431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49" name="Straight Arrow Connector 20">
            <a:extLst>
              <a:ext uri="{FF2B5EF4-FFF2-40B4-BE49-F238E27FC236}">
                <a16:creationId xmlns:a16="http://schemas.microsoft.com/office/drawing/2014/main" id="{2AA1863B-4191-BD2C-C5F9-77C9B115FD41}"/>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0" name="Rectangle 21">
            <a:extLst>
              <a:ext uri="{FF2B5EF4-FFF2-40B4-BE49-F238E27FC236}">
                <a16:creationId xmlns:a16="http://schemas.microsoft.com/office/drawing/2014/main" id="{B21AFC10-A619-E74E-A589-C43C38B6AEC9}"/>
              </a:ext>
            </a:extLst>
          </p:cNvPr>
          <p:cNvSpPr>
            <a:spLocks/>
          </p:cNvSpPr>
          <p:nvPr/>
        </p:nvSpPr>
        <p:spPr bwMode="auto">
          <a:xfrm>
            <a:off x="5534397" y="530501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240</a:t>
            </a:r>
          </a:p>
        </p:txBody>
      </p:sp>
      <p:sp>
        <p:nvSpPr>
          <p:cNvPr id="51" name="Rectangle 24">
            <a:extLst>
              <a:ext uri="{FF2B5EF4-FFF2-40B4-BE49-F238E27FC236}">
                <a16:creationId xmlns:a16="http://schemas.microsoft.com/office/drawing/2014/main" id="{89F5C078-44FF-B9FC-E562-21D3981A2D33}"/>
              </a:ext>
            </a:extLst>
          </p:cNvPr>
          <p:cNvSpPr>
            <a:spLocks/>
          </p:cNvSpPr>
          <p:nvPr/>
        </p:nvSpPr>
        <p:spPr bwMode="auto">
          <a:xfrm>
            <a:off x="3974447" y="570012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52" name="Straight Arrow Connector 25">
            <a:extLst>
              <a:ext uri="{FF2B5EF4-FFF2-40B4-BE49-F238E27FC236}">
                <a16:creationId xmlns:a16="http://schemas.microsoft.com/office/drawing/2014/main" id="{AC8174CE-3E21-6FDC-81A7-41834E2BC545}"/>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26">
            <a:extLst>
              <a:ext uri="{FF2B5EF4-FFF2-40B4-BE49-F238E27FC236}">
                <a16:creationId xmlns:a16="http://schemas.microsoft.com/office/drawing/2014/main" id="{A1D11AD8-7B1D-5A8D-D8CF-7AD9C5DB6A11}"/>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4" name="Rectangle 27">
            <a:extLst>
              <a:ext uri="{FF2B5EF4-FFF2-40B4-BE49-F238E27FC236}">
                <a16:creationId xmlns:a16="http://schemas.microsoft.com/office/drawing/2014/main" id="{1FEE5BF1-3DA5-E048-969B-3D807A37D8BD}"/>
              </a:ext>
            </a:extLst>
          </p:cNvPr>
          <p:cNvSpPr>
            <a:spLocks/>
          </p:cNvSpPr>
          <p:nvPr/>
        </p:nvSpPr>
        <p:spPr bwMode="auto">
          <a:xfrm>
            <a:off x="2353695" y="523979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Tree>
    <p:extLst>
      <p:ext uri="{BB962C8B-B14F-4D97-AF65-F5344CB8AC3E}">
        <p14:creationId xmlns:p14="http://schemas.microsoft.com/office/powerpoint/2010/main" val="127166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3" grpId="0"/>
      <p:bldP spid="27" grpId="0"/>
      <p:bldP spid="45" grpId="0"/>
      <p:bldP spid="46" grpId="0"/>
      <p:bldP spid="47" grpId="0"/>
      <p:bldP spid="48" grpId="0"/>
      <p:bldP spid="50" grpId="0"/>
      <p:bldP spid="51" grpId="0"/>
      <p:bldP spid="5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3D4C4-13B1-F2D7-222A-E8238574809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31A1B20-F427-B5F1-C9F5-0F28291C8475}"/>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5" name="Rectangle 11">
            <a:extLst>
              <a:ext uri="{FF2B5EF4-FFF2-40B4-BE49-F238E27FC236}">
                <a16:creationId xmlns:a16="http://schemas.microsoft.com/office/drawing/2014/main" id="{B544EB4A-BD32-0908-9BB7-64E0C80E0159}"/>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6" name="Rectangle 14">
            <a:extLst>
              <a:ext uri="{FF2B5EF4-FFF2-40B4-BE49-F238E27FC236}">
                <a16:creationId xmlns:a16="http://schemas.microsoft.com/office/drawing/2014/main" id="{15429710-63E1-AA2B-514E-3279ED3F15A2}"/>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24">
            <a:extLst>
              <a:ext uri="{FF2B5EF4-FFF2-40B4-BE49-F238E27FC236}">
                <a16:creationId xmlns:a16="http://schemas.microsoft.com/office/drawing/2014/main" id="{0EABE99B-2B42-E279-9D02-4487D31080F8}"/>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8" name="Straight Arrow Connector 25">
            <a:extLst>
              <a:ext uri="{FF2B5EF4-FFF2-40B4-BE49-F238E27FC236}">
                <a16:creationId xmlns:a16="http://schemas.microsoft.com/office/drawing/2014/main" id="{75B0B7BC-7A66-9240-1CBA-1CA9CB8E90FF}"/>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55FD3FC9-058F-7C36-7A83-D19C5377CDCB}"/>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A8FE55CC-FBCC-1F86-1DE9-43F1C0147F1A}"/>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pic>
        <p:nvPicPr>
          <p:cNvPr id="38" name="Imagen 37">
            <a:extLst>
              <a:ext uri="{FF2B5EF4-FFF2-40B4-BE49-F238E27FC236}">
                <a16:creationId xmlns:a16="http://schemas.microsoft.com/office/drawing/2014/main" id="{B3E8E22E-38DB-5305-B635-62B4ABFABB1E}"/>
              </a:ext>
            </a:extLst>
          </p:cNvPr>
          <p:cNvPicPr>
            <a:picLocks noChangeAspect="1"/>
          </p:cNvPicPr>
          <p:nvPr/>
        </p:nvPicPr>
        <p:blipFill>
          <a:blip r:embed="rId3"/>
          <a:srcRect l="-2849" t="-4365" r="-1" b="3"/>
          <a:stretch>
            <a:fillRect/>
          </a:stretch>
        </p:blipFill>
        <p:spPr>
          <a:xfrm>
            <a:off x="2983766" y="3644143"/>
            <a:ext cx="2877848" cy="2572655"/>
          </a:xfrm>
          <a:prstGeom prst="rect">
            <a:avLst/>
          </a:prstGeom>
        </p:spPr>
      </p:pic>
      <p:sp>
        <p:nvSpPr>
          <p:cNvPr id="4" name="Slide Number Placeholder 3">
            <a:extLst>
              <a:ext uri="{FF2B5EF4-FFF2-40B4-BE49-F238E27FC236}">
                <a16:creationId xmlns:a16="http://schemas.microsoft.com/office/drawing/2014/main" id="{A4794547-495F-E6C8-A874-31D82AF51AB4}"/>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40</a:t>
            </a:fld>
            <a:endParaRPr lang="en-US" sz="2000" dirty="0"/>
          </a:p>
        </p:txBody>
      </p:sp>
      <p:sp>
        <p:nvSpPr>
          <p:cNvPr id="11" name="Title 1">
            <a:extLst>
              <a:ext uri="{FF2B5EF4-FFF2-40B4-BE49-F238E27FC236}">
                <a16:creationId xmlns:a16="http://schemas.microsoft.com/office/drawing/2014/main" id="{37C06176-4BA2-7461-25AE-2F61BCA6A239}"/>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BAC73A88-0F82-142F-FAFA-04DF084B7F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DC55D8E6-8A2D-098E-A083-432E392A65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28C03645-275E-2BDE-13C9-7BE0DC0C346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EE666630-670C-9164-EDAD-C1658B5C36E8}"/>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7</a:t>
            </a:r>
            <a:r>
              <a:rPr lang="es-ES_tradnl" sz="2400" dirty="0"/>
              <a:t>?</a:t>
            </a:r>
          </a:p>
        </p:txBody>
      </p:sp>
      <p:cxnSp>
        <p:nvCxnSpPr>
          <p:cNvPr id="93" name="Straight Connector 12">
            <a:extLst>
              <a:ext uri="{FF2B5EF4-FFF2-40B4-BE49-F238E27FC236}">
                <a16:creationId xmlns:a16="http://schemas.microsoft.com/office/drawing/2014/main" id="{BE953CD0-C867-E22F-655E-D7A89D7975EC}"/>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BFD7A86F-81A7-1911-8CDE-724F8644428A}"/>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6" name="Rectangle 32">
            <a:extLst>
              <a:ext uri="{FF2B5EF4-FFF2-40B4-BE49-F238E27FC236}">
                <a16:creationId xmlns:a16="http://schemas.microsoft.com/office/drawing/2014/main" id="{F73D7DDD-D7DE-0DC2-7A14-91C3071071FA}"/>
              </a:ext>
            </a:extLst>
          </p:cNvPr>
          <p:cNvSpPr>
            <a:spLocks/>
          </p:cNvSpPr>
          <p:nvPr/>
        </p:nvSpPr>
        <p:spPr bwMode="auto">
          <a:xfrm>
            <a:off x="7807706" y="567434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9" name="Rectangle 15">
            <a:extLst>
              <a:ext uri="{FF2B5EF4-FFF2-40B4-BE49-F238E27FC236}">
                <a16:creationId xmlns:a16="http://schemas.microsoft.com/office/drawing/2014/main" id="{0221EFF0-875E-AEC3-597A-7387369ED75F}"/>
              </a:ext>
            </a:extLst>
          </p:cNvPr>
          <p:cNvSpPr>
            <a:spLocks/>
          </p:cNvSpPr>
          <p:nvPr/>
        </p:nvSpPr>
        <p:spPr bwMode="auto">
          <a:xfrm>
            <a:off x="5532775"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8339AD27-17A4-A833-CC48-098054B0CC61}"/>
              </a:ext>
            </a:extLst>
          </p:cNvPr>
          <p:cNvSpPr>
            <a:spLocks/>
          </p:cNvSpPr>
          <p:nvPr/>
        </p:nvSpPr>
        <p:spPr bwMode="auto">
          <a:xfrm>
            <a:off x="6278238"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19D45C6D-E4DE-C48F-0FA9-374F1C3CDEC7}"/>
              </a:ext>
            </a:extLst>
          </p:cNvPr>
          <p:cNvSpPr>
            <a:spLocks/>
          </p:cNvSpPr>
          <p:nvPr/>
        </p:nvSpPr>
        <p:spPr bwMode="auto">
          <a:xfrm>
            <a:off x="6993220"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605EAE5A-272B-C600-F0A3-18D155D9E586}"/>
              </a:ext>
            </a:extLst>
          </p:cNvPr>
          <p:cNvSpPr>
            <a:spLocks/>
          </p:cNvSpPr>
          <p:nvPr/>
        </p:nvSpPr>
        <p:spPr bwMode="auto">
          <a:xfrm>
            <a:off x="784912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3FA1A1FF-8790-23EA-A979-3B264062D168}"/>
              </a:ext>
            </a:extLst>
          </p:cNvPr>
          <p:cNvSpPr>
            <a:spLocks/>
          </p:cNvSpPr>
          <p:nvPr/>
        </p:nvSpPr>
        <p:spPr bwMode="auto">
          <a:xfrm>
            <a:off x="8578253" y="4204312"/>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35C93853-DF9E-0281-F5E1-3EF4888D2C03}"/>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C8AABB90-9955-0A76-AC7F-64A664BC4B96}"/>
              </a:ext>
            </a:extLst>
          </p:cNvPr>
          <p:cNvSpPr>
            <a:spLocks/>
          </p:cNvSpPr>
          <p:nvPr/>
        </p:nvSpPr>
        <p:spPr bwMode="auto">
          <a:xfrm>
            <a:off x="5534397" y="5305017"/>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240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9958D28-88A1-7AA3-FED8-6CCC6229BD32}"/>
                  </a:ext>
                </a:extLst>
              </p:cNvPr>
              <p:cNvSpPr txBox="1"/>
              <p:nvPr/>
            </p:nvSpPr>
            <p:spPr>
              <a:xfrm>
                <a:off x="4240861" y="2936024"/>
                <a:ext cx="4048096" cy="2403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MX" sz="1400" b="0" i="1" smtClean="0">
                              <a:latin typeface="Cambria Math" panose="02040503050406030204" pitchFamily="18" charset="0"/>
                              <a:ea typeface="Cambria Math" panose="02040503050406030204" pitchFamily="18" charset="0"/>
                            </a:rPr>
                            <m:t>𝐹</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3</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r>
                        <a:rPr lang="es-MX" sz="1400" b="0" i="1" smtClean="0">
                          <a:latin typeface="Cambria Math" panose="02040503050406030204" pitchFamily="18" charset="0"/>
                        </a:rPr>
                        <m:t>300</m:t>
                      </m:r>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3</m:t>
                              </m:r>
                              <m:r>
                                <a:rPr lang="es-CO" sz="1400" i="1">
                                  <a:latin typeface="Cambria Math" panose="02040503050406030204" pitchFamily="18" charset="0"/>
                                </a:rPr>
                                <m:t>%</m:t>
                              </m:r>
                            </m:e>
                          </m:d>
                        </m:e>
                        <m:sup>
                          <m:r>
                            <a:rPr lang="es-MX" sz="1400" b="0" i="1" smtClean="0">
                              <a:latin typeface="Cambria Math" panose="02040503050406030204" pitchFamily="18" charset="0"/>
                            </a:rPr>
                            <m:t>3</m:t>
                          </m:r>
                        </m:sup>
                      </m:sSup>
                      <m:r>
                        <a:rPr lang="es-MX" sz="1400" b="0" i="1" smtClean="0">
                          <a:latin typeface="Cambria Math" panose="02040503050406030204" pitchFamily="18" charset="0"/>
                        </a:rPr>
                        <m:t>−500</m:t>
                      </m:r>
                      <m:r>
                        <a:rPr lang="es-MX" sz="1400" i="1" smtClean="0">
                          <a:latin typeface="Cambria Math" panose="02040503050406030204" pitchFamily="18" charset="0"/>
                        </a:rPr>
                        <m:t>(</m:t>
                      </m:r>
                      <m:r>
                        <a:rPr lang="es-MX" sz="1400" b="0" i="1" smtClean="0">
                          <a:latin typeface="Cambria Math" panose="02040503050406030204" pitchFamily="18" charset="0"/>
                        </a:rPr>
                        <m:t>1+3%)</m:t>
                      </m:r>
                      <m:r>
                        <a:rPr lang="es-MX" sz="1400">
                          <a:latin typeface="Cambria Math" panose="02040503050406030204" pitchFamily="18" charset="0"/>
                          <a:ea typeface="Cambria Math" panose="02040503050406030204" pitchFamily="18" charset="0"/>
                        </a:rPr>
                        <m:t>=</m:t>
                      </m:r>
                      <m:r>
                        <a:rPr lang="es-MX" sz="1400" b="0" i="0" smtClean="0">
                          <a:latin typeface="Cambria Math" panose="02040503050406030204" pitchFamily="18" charset="0"/>
                          <a:ea typeface="Cambria Math" panose="02040503050406030204" pitchFamily="18" charset="0"/>
                        </a:rPr>
                        <m:t>−842,81</m:t>
                      </m:r>
                    </m:oMath>
                  </m:oMathPara>
                </a14:m>
                <a:endParaRPr lang="es-CO" sz="1400" dirty="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99958D28-88A1-7AA3-FED8-6CCC6229BD32}"/>
                  </a:ext>
                </a:extLst>
              </p:cNvPr>
              <p:cNvSpPr txBox="1">
                <a:spLocks noRot="1" noChangeAspect="1" noMove="1" noResize="1" noEditPoints="1" noAdjustHandles="1" noChangeArrowheads="1" noChangeShapeType="1" noTextEdit="1"/>
              </p:cNvSpPr>
              <p:nvPr/>
            </p:nvSpPr>
            <p:spPr>
              <a:xfrm>
                <a:off x="4240861" y="2936024"/>
                <a:ext cx="4048096" cy="240387"/>
              </a:xfrm>
              <a:prstGeom prst="rect">
                <a:avLst/>
              </a:prstGeom>
              <a:blipFill>
                <a:blip r:embed="rId5"/>
                <a:stretch>
                  <a:fillRect l="-602" r="-452" b="-25641"/>
                </a:stretch>
              </a:blipFill>
            </p:spPr>
            <p:txBody>
              <a:bodyPr/>
              <a:lstStyle/>
              <a:p>
                <a:r>
                  <a:rPr lang="es-MX">
                    <a:noFill/>
                  </a:rPr>
                  <a:t> </a:t>
                </a:r>
              </a:p>
            </p:txBody>
          </p:sp>
        </mc:Fallback>
      </mc:AlternateContent>
    </p:spTree>
    <p:extLst>
      <p:ext uri="{BB962C8B-B14F-4D97-AF65-F5344CB8AC3E}">
        <p14:creationId xmlns:p14="http://schemas.microsoft.com/office/powerpoint/2010/main" val="147577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P spid="96" grpId="0"/>
      <p:bldP spid="99" grpId="0"/>
      <p:bldP spid="100" grpId="0"/>
      <p:bldP spid="101" grpId="0"/>
      <p:bldP spid="102" grpId="0"/>
      <p:bldP spid="103" grpId="0"/>
      <p:bldP spid="105" grpId="0"/>
      <p:bldP spid="3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6F157-3604-220B-E4F2-398F9A272AA7}"/>
            </a:ext>
          </a:extLst>
        </p:cNvPr>
        <p:cNvGrpSpPr/>
        <p:nvPr/>
      </p:nvGrpSpPr>
      <p:grpSpPr>
        <a:xfrm>
          <a:off x="0" y="0"/>
          <a:ext cx="0" cy="0"/>
          <a:chOff x="0" y="0"/>
          <a:chExt cx="0" cy="0"/>
        </a:xfrm>
      </p:grpSpPr>
      <p:cxnSp>
        <p:nvCxnSpPr>
          <p:cNvPr id="5" name="Straight Arrow Connector 13">
            <a:extLst>
              <a:ext uri="{FF2B5EF4-FFF2-40B4-BE49-F238E27FC236}">
                <a16:creationId xmlns:a16="http://schemas.microsoft.com/office/drawing/2014/main" id="{5BBA73F5-6C3D-310B-C6F6-AA7E69593867}"/>
              </a:ext>
            </a:extLst>
          </p:cNvPr>
          <p:cNvCxnSpPr>
            <a:cxnSpLocks/>
          </p:cNvCxnSpPr>
          <p:nvPr/>
        </p:nvCxnSpPr>
        <p:spPr>
          <a:xfrm>
            <a:off x="5688622" y="4616739"/>
            <a:ext cx="12683" cy="1515777"/>
          </a:xfrm>
          <a:prstGeom prst="straightConnector1">
            <a:avLst/>
          </a:prstGeom>
          <a:ln w="28575">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sp>
        <p:nvSpPr>
          <p:cNvPr id="6" name="Rectangle 24">
            <a:extLst>
              <a:ext uri="{FF2B5EF4-FFF2-40B4-BE49-F238E27FC236}">
                <a16:creationId xmlns:a16="http://schemas.microsoft.com/office/drawing/2014/main" id="{C153EEFC-F6A7-60D0-1B46-8596A99DBC60}"/>
              </a:ext>
            </a:extLst>
          </p:cNvPr>
          <p:cNvSpPr>
            <a:spLocks/>
          </p:cNvSpPr>
          <p:nvPr/>
        </p:nvSpPr>
        <p:spPr bwMode="auto">
          <a:xfrm>
            <a:off x="4745039" y="625824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842,81</a:t>
            </a:r>
          </a:p>
        </p:txBody>
      </p:sp>
      <p:sp>
        <p:nvSpPr>
          <p:cNvPr id="24" name="Rectangle 23">
            <a:extLst>
              <a:ext uri="{FF2B5EF4-FFF2-40B4-BE49-F238E27FC236}">
                <a16:creationId xmlns:a16="http://schemas.microsoft.com/office/drawing/2014/main" id="{5A2F8B80-DFB8-37A9-F2A4-18C380D04358}"/>
              </a:ext>
            </a:extLst>
          </p:cNvPr>
          <p:cNvSpPr>
            <a:spLocks/>
          </p:cNvSpPr>
          <p:nvPr/>
        </p:nvSpPr>
        <p:spPr bwMode="auto">
          <a:xfrm flipH="1">
            <a:off x="3192293" y="418993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5" name="Rectangle 11">
            <a:extLst>
              <a:ext uri="{FF2B5EF4-FFF2-40B4-BE49-F238E27FC236}">
                <a16:creationId xmlns:a16="http://schemas.microsoft.com/office/drawing/2014/main" id="{5A70D992-8228-DAFF-0497-E272A1FD5615}"/>
              </a:ext>
            </a:extLst>
          </p:cNvPr>
          <p:cNvSpPr>
            <a:spLocks/>
          </p:cNvSpPr>
          <p:nvPr/>
        </p:nvSpPr>
        <p:spPr bwMode="auto">
          <a:xfrm>
            <a:off x="3903801" y="418993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26" name="Rectangle 14">
            <a:extLst>
              <a:ext uri="{FF2B5EF4-FFF2-40B4-BE49-F238E27FC236}">
                <a16:creationId xmlns:a16="http://schemas.microsoft.com/office/drawing/2014/main" id="{52003ED5-6D2A-F991-C017-7D840349B4F0}"/>
              </a:ext>
            </a:extLst>
          </p:cNvPr>
          <p:cNvSpPr>
            <a:spLocks/>
          </p:cNvSpPr>
          <p:nvPr/>
        </p:nvSpPr>
        <p:spPr bwMode="auto">
          <a:xfrm>
            <a:off x="4759702" y="418144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24">
            <a:extLst>
              <a:ext uri="{FF2B5EF4-FFF2-40B4-BE49-F238E27FC236}">
                <a16:creationId xmlns:a16="http://schemas.microsoft.com/office/drawing/2014/main" id="{27B6C1A7-B7F9-924E-3EA4-D622B5A72781}"/>
              </a:ext>
            </a:extLst>
          </p:cNvPr>
          <p:cNvSpPr>
            <a:spLocks/>
          </p:cNvSpPr>
          <p:nvPr/>
        </p:nvSpPr>
        <p:spPr bwMode="auto">
          <a:xfrm>
            <a:off x="3974447" y="570012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500</a:t>
            </a:r>
          </a:p>
        </p:txBody>
      </p:sp>
      <p:cxnSp>
        <p:nvCxnSpPr>
          <p:cNvPr id="28" name="Straight Arrow Connector 25">
            <a:extLst>
              <a:ext uri="{FF2B5EF4-FFF2-40B4-BE49-F238E27FC236}">
                <a16:creationId xmlns:a16="http://schemas.microsoft.com/office/drawing/2014/main" id="{F6867F8C-ABF5-7A4C-0474-1022F26EA7FF}"/>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59872105-2A3D-09B6-7B95-D076F1EE8F12}"/>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3EFF0506-2231-75D1-DF3D-6111D67B61CD}"/>
              </a:ext>
            </a:extLst>
          </p:cNvPr>
          <p:cNvSpPr>
            <a:spLocks/>
          </p:cNvSpPr>
          <p:nvPr/>
        </p:nvSpPr>
        <p:spPr bwMode="auto">
          <a:xfrm>
            <a:off x="2353695" y="523979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t>300</a:t>
            </a:r>
          </a:p>
        </p:txBody>
      </p:sp>
      <p:sp>
        <p:nvSpPr>
          <p:cNvPr id="4" name="Slide Number Placeholder 3">
            <a:extLst>
              <a:ext uri="{FF2B5EF4-FFF2-40B4-BE49-F238E27FC236}">
                <a16:creationId xmlns:a16="http://schemas.microsoft.com/office/drawing/2014/main" id="{1E8483C8-38E3-6E36-09BF-2BA512FB02DA}"/>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41</a:t>
            </a:fld>
            <a:endParaRPr lang="en-US" sz="2000" dirty="0"/>
          </a:p>
        </p:txBody>
      </p:sp>
      <p:sp>
        <p:nvSpPr>
          <p:cNvPr id="11" name="Title 1">
            <a:extLst>
              <a:ext uri="{FF2B5EF4-FFF2-40B4-BE49-F238E27FC236}">
                <a16:creationId xmlns:a16="http://schemas.microsoft.com/office/drawing/2014/main" id="{ED24A75D-76A7-F4EC-8F69-9F54124B68F1}"/>
              </a:ext>
            </a:extLst>
          </p:cNvPr>
          <p:cNvSpPr>
            <a:spLocks noGrp="1"/>
          </p:cNvSpPr>
          <p:nvPr>
            <p:ph type="title"/>
          </p:nvPr>
        </p:nvSpPr>
        <p:spPr>
          <a:xfrm>
            <a:off x="581192" y="702156"/>
            <a:ext cx="11029616" cy="1013800"/>
          </a:xfrm>
        </p:spPr>
        <p:txBody>
          <a:bodyPr>
            <a:normAutofit/>
          </a:bodyPr>
          <a:lstStyle/>
          <a:p>
            <a:r>
              <a:rPr lang="es-ES_tradnl" sz="3200" dirty="0"/>
              <a:t>VALOR PRESENTE Y VALOR FUTURO</a:t>
            </a:r>
          </a:p>
        </p:txBody>
      </p:sp>
      <p:sp>
        <p:nvSpPr>
          <p:cNvPr id="18" name="Rectángulo 17">
            <a:extLst>
              <a:ext uri="{FF2B5EF4-FFF2-40B4-BE49-F238E27FC236}">
                <a16:creationId xmlns:a16="http://schemas.microsoft.com/office/drawing/2014/main" id="{740946C5-B677-ABEE-74D9-511C1917FA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AB18AA34-A723-0E57-19A7-A1B2E6AD3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B47A6D72-C1C8-BBE6-0C31-A910F6B8A2F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D942EAF4-E9B9-8747-B52F-86BD25742BD6}"/>
              </a:ext>
            </a:extLst>
          </p:cNvPr>
          <p:cNvSpPr>
            <a:spLocks noGrp="1"/>
          </p:cNvSpPr>
          <p:nvPr>
            <p:ph idx="1"/>
          </p:nvPr>
        </p:nvSpPr>
        <p:spPr>
          <a:xfrm>
            <a:off x="581192" y="1977247"/>
            <a:ext cx="11029615" cy="530570"/>
          </a:xfrm>
        </p:spPr>
        <p:txBody>
          <a:bodyPr>
            <a:normAutofit/>
          </a:bodyPr>
          <a:lstStyle/>
          <a:p>
            <a:pPr marL="0" indent="0" algn="ctr">
              <a:buNone/>
            </a:pPr>
            <a:r>
              <a:rPr lang="es-ES_tradnl" sz="2400" dirty="0"/>
              <a:t>¿Cuánto debería pagar usted si quiere hacer un único pago en el </a:t>
            </a:r>
            <a:r>
              <a:rPr lang="es-ES_tradnl" sz="2400" b="1" dirty="0"/>
              <a:t>mes 7</a:t>
            </a:r>
            <a:r>
              <a:rPr lang="es-ES_tradnl" sz="2400" dirty="0"/>
              <a:t>?</a:t>
            </a:r>
          </a:p>
        </p:txBody>
      </p:sp>
      <p:cxnSp>
        <p:nvCxnSpPr>
          <p:cNvPr id="93" name="Straight Connector 12">
            <a:extLst>
              <a:ext uri="{FF2B5EF4-FFF2-40B4-BE49-F238E27FC236}">
                <a16:creationId xmlns:a16="http://schemas.microsoft.com/office/drawing/2014/main" id="{6F3E0483-A402-209E-4050-34B2E3D0F500}"/>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391DD596-2124-EDB1-F16A-A5258D744B89}"/>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6" name="Rectangle 32">
            <a:extLst>
              <a:ext uri="{FF2B5EF4-FFF2-40B4-BE49-F238E27FC236}">
                <a16:creationId xmlns:a16="http://schemas.microsoft.com/office/drawing/2014/main" id="{4CB6B4A2-DC75-A981-EC0D-DCA356594FBE}"/>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470</a:t>
            </a:r>
          </a:p>
        </p:txBody>
      </p:sp>
      <p:sp>
        <p:nvSpPr>
          <p:cNvPr id="99" name="Rectangle 15">
            <a:extLst>
              <a:ext uri="{FF2B5EF4-FFF2-40B4-BE49-F238E27FC236}">
                <a16:creationId xmlns:a16="http://schemas.microsoft.com/office/drawing/2014/main" id="{49C408D7-74D8-DD5C-3E17-17CD1AD70C10}"/>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00" name="Rectangle 16">
            <a:extLst>
              <a:ext uri="{FF2B5EF4-FFF2-40B4-BE49-F238E27FC236}">
                <a16:creationId xmlns:a16="http://schemas.microsoft.com/office/drawing/2014/main" id="{3A05AE1C-7FA3-7C0A-C3B1-DA18666DBA99}"/>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01" name="Rectangle 17">
            <a:extLst>
              <a:ext uri="{FF2B5EF4-FFF2-40B4-BE49-F238E27FC236}">
                <a16:creationId xmlns:a16="http://schemas.microsoft.com/office/drawing/2014/main" id="{2698175A-ABD1-0652-D771-5AAB15D5DB17}"/>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a:t>
            </a:r>
          </a:p>
        </p:txBody>
      </p:sp>
      <p:sp>
        <p:nvSpPr>
          <p:cNvPr id="102" name="Rectangle 18">
            <a:extLst>
              <a:ext uri="{FF2B5EF4-FFF2-40B4-BE49-F238E27FC236}">
                <a16:creationId xmlns:a16="http://schemas.microsoft.com/office/drawing/2014/main" id="{F3FED9EB-95C3-F242-ED3A-8E46C9CAA531}"/>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6</a:t>
            </a:r>
          </a:p>
        </p:txBody>
      </p:sp>
      <p:sp>
        <p:nvSpPr>
          <p:cNvPr id="103" name="Rectangle 19">
            <a:extLst>
              <a:ext uri="{FF2B5EF4-FFF2-40B4-BE49-F238E27FC236}">
                <a16:creationId xmlns:a16="http://schemas.microsoft.com/office/drawing/2014/main" id="{CD54A723-5542-37AD-25C0-28F3A550BD08}"/>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7</a:t>
            </a:r>
          </a:p>
        </p:txBody>
      </p:sp>
      <p:cxnSp>
        <p:nvCxnSpPr>
          <p:cNvPr id="104" name="Straight Arrow Connector 20">
            <a:extLst>
              <a:ext uri="{FF2B5EF4-FFF2-40B4-BE49-F238E27FC236}">
                <a16:creationId xmlns:a16="http://schemas.microsoft.com/office/drawing/2014/main" id="{20D57357-F50C-A7B9-0337-35474E2505CA}"/>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48149DB7-A138-0ED5-F187-94FB8B90A310}"/>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240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8D198375-1379-85BE-0B14-405B45C41542}"/>
                  </a:ext>
                </a:extLst>
              </p:cNvPr>
              <p:cNvSpPr txBox="1"/>
              <p:nvPr/>
            </p:nvSpPr>
            <p:spPr>
              <a:xfrm>
                <a:off x="3670210" y="2936024"/>
                <a:ext cx="4851585" cy="240387"/>
              </a:xfrm>
              <a:prstGeom prst="rect">
                <a:avLst/>
              </a:prstGeom>
              <a:noFill/>
            </p:spPr>
            <p:txBody>
              <a:bodyPr wrap="none" lIns="0" tIns="0" rIns="0" bIns="0" rtlCol="0">
                <a:spAutoFit/>
              </a:bodyPr>
              <a:lstStyle/>
              <a:p>
                <a:pPr algn="ctr"/>
                <a14:m>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CO" sz="1400" i="1" smtClean="0">
                            <a:latin typeface="Cambria Math" panose="02040503050406030204" pitchFamily="18" charset="0"/>
                            <a:ea typeface="Cambria Math" panose="02040503050406030204" pitchFamily="18" charset="0"/>
                          </a:rPr>
                        </m:ctrlPr>
                      </m:sSubPr>
                      <m:e>
                        <m:r>
                          <a:rPr lang="es-MX" sz="1400" b="0" i="1" smtClean="0">
                            <a:latin typeface="Cambria Math" panose="02040503050406030204" pitchFamily="18" charset="0"/>
                            <a:ea typeface="Cambria Math" panose="02040503050406030204" pitchFamily="18" charset="0"/>
                          </a:rPr>
                          <m:t>𝐹</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7</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r>
                      <a:rPr lang="es-MX" sz="1400" b="0" i="1" smtClean="0">
                        <a:latin typeface="Cambria Math" panose="02040503050406030204" pitchFamily="18" charset="0"/>
                      </a:rPr>
                      <m:t>842,81</m:t>
                    </m:r>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2</m:t>
                            </m:r>
                            <m:r>
                              <a:rPr lang="es-CO" sz="1400" i="1">
                                <a:latin typeface="Cambria Math" panose="02040503050406030204" pitchFamily="18" charset="0"/>
                              </a:rPr>
                              <m:t>%</m:t>
                            </m:r>
                          </m:e>
                        </m:d>
                      </m:e>
                      <m:sup>
                        <m:r>
                          <a:rPr lang="es-MX" sz="1400" b="0" i="1" smtClean="0">
                            <a:latin typeface="Cambria Math" panose="02040503050406030204" pitchFamily="18" charset="0"/>
                          </a:rPr>
                          <m:t>4</m:t>
                        </m:r>
                      </m:sup>
                    </m:sSup>
                    <m:r>
                      <a:rPr lang="es-MX" sz="1400" b="0" i="1" smtClean="0">
                        <a:latin typeface="Cambria Math" panose="02040503050406030204" pitchFamily="18" charset="0"/>
                      </a:rPr>
                      <m:t>−</m:t>
                    </m:r>
                    <m:sSup>
                      <m:sSupPr>
                        <m:ctrlPr>
                          <a:rPr lang="es-CO" sz="1400" i="1">
                            <a:latin typeface="Cambria Math" panose="02040503050406030204" pitchFamily="18" charset="0"/>
                          </a:rPr>
                        </m:ctrlPr>
                      </m:sSupPr>
                      <m:e>
                        <m:r>
                          <a:rPr lang="es-MX" sz="1400" b="0" i="1" smtClean="0">
                            <a:latin typeface="Cambria Math" panose="02040503050406030204" pitchFamily="18" charset="0"/>
                          </a:rPr>
                          <m:t>240</m:t>
                        </m:r>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2</m:t>
                            </m:r>
                            <m:r>
                              <a:rPr lang="es-CO" sz="1400" i="1">
                                <a:latin typeface="Cambria Math" panose="02040503050406030204" pitchFamily="18" charset="0"/>
                              </a:rPr>
                              <m:t>%</m:t>
                            </m:r>
                          </m:e>
                        </m:d>
                      </m:e>
                      <m:sup>
                        <m:r>
                          <a:rPr lang="es-MX" sz="1400" b="0" i="1" smtClean="0">
                            <a:latin typeface="Cambria Math" panose="02040503050406030204" pitchFamily="18" charset="0"/>
                          </a:rPr>
                          <m:t>3</m:t>
                        </m:r>
                      </m:sup>
                    </m:sSup>
                    <m:r>
                      <a:rPr lang="es-MX" sz="1400" b="0" i="1" smtClean="0">
                        <a:latin typeface="Cambria Math" panose="02040503050406030204" pitchFamily="18" charset="0"/>
                      </a:rPr>
                      <m:t>−470</m:t>
                    </m:r>
                    <m:r>
                      <a:rPr lang="es-MX" sz="1400">
                        <a:latin typeface="Cambria Math" panose="02040503050406030204" pitchFamily="18" charset="0"/>
                        <a:ea typeface="Cambria Math" panose="02040503050406030204" pitchFamily="18" charset="0"/>
                      </a:rPr>
                      <m:t>=</m:t>
                    </m:r>
                  </m:oMath>
                </a14:m>
                <a:r>
                  <a:rPr lang="es-CO" sz="1400" dirty="0">
                    <a:latin typeface="Cambria Math" panose="02040503050406030204" pitchFamily="18" charset="0"/>
                    <a:ea typeface="Cambria Math" panose="02040503050406030204" pitchFamily="18" charset="0"/>
                  </a:rPr>
                  <a:t>-1.636,98</a:t>
                </a:r>
              </a:p>
            </p:txBody>
          </p:sp>
        </mc:Choice>
        <mc:Fallback xmlns="">
          <p:sp>
            <p:nvSpPr>
              <p:cNvPr id="39" name="CuadroTexto 38">
                <a:extLst>
                  <a:ext uri="{FF2B5EF4-FFF2-40B4-BE49-F238E27FC236}">
                    <a16:creationId xmlns:a16="http://schemas.microsoft.com/office/drawing/2014/main" id="{8D198375-1379-85BE-0B14-405B45C41542}"/>
                  </a:ext>
                </a:extLst>
              </p:cNvPr>
              <p:cNvSpPr txBox="1">
                <a:spLocks noRot="1" noChangeAspect="1" noMove="1" noResize="1" noEditPoints="1" noAdjustHandles="1" noChangeArrowheads="1" noChangeShapeType="1" noTextEdit="1"/>
              </p:cNvSpPr>
              <p:nvPr/>
            </p:nvSpPr>
            <p:spPr>
              <a:xfrm>
                <a:off x="3670210" y="2936024"/>
                <a:ext cx="4851585" cy="240387"/>
              </a:xfrm>
              <a:prstGeom prst="rect">
                <a:avLst/>
              </a:prstGeom>
              <a:blipFill>
                <a:blip r:embed="rId4"/>
                <a:stretch>
                  <a:fillRect l="-754" t="-28205" r="-1759" b="-33333"/>
                </a:stretch>
              </a:blipFill>
            </p:spPr>
            <p:txBody>
              <a:bodyPr/>
              <a:lstStyle/>
              <a:p>
                <a:r>
                  <a:rPr lang="es-MX">
                    <a:noFill/>
                  </a:rPr>
                  <a:t> </a:t>
                </a:r>
              </a:p>
            </p:txBody>
          </p:sp>
        </mc:Fallback>
      </mc:AlternateContent>
      <p:pic>
        <p:nvPicPr>
          <p:cNvPr id="2" name="Imagen 1">
            <a:extLst>
              <a:ext uri="{FF2B5EF4-FFF2-40B4-BE49-F238E27FC236}">
                <a16:creationId xmlns:a16="http://schemas.microsoft.com/office/drawing/2014/main" id="{81191741-FAEE-D6B8-AF2B-FF83ECE940AD}"/>
              </a:ext>
            </a:extLst>
          </p:cNvPr>
          <p:cNvPicPr>
            <a:picLocks noChangeAspect="1"/>
          </p:cNvPicPr>
          <p:nvPr/>
        </p:nvPicPr>
        <p:blipFill>
          <a:blip r:embed="rId4"/>
          <a:srcRect l="20941" t="90515"/>
          <a:stretch>
            <a:fillRect/>
          </a:stretch>
        </p:blipFill>
        <p:spPr>
          <a:xfrm flipH="1">
            <a:off x="3258157" y="6352625"/>
            <a:ext cx="2434032" cy="198324"/>
          </a:xfrm>
          <a:prstGeom prst="rect">
            <a:avLst/>
          </a:prstGeom>
        </p:spPr>
      </p:pic>
      <p:pic>
        <p:nvPicPr>
          <p:cNvPr id="3" name="Imagen 2">
            <a:extLst>
              <a:ext uri="{FF2B5EF4-FFF2-40B4-BE49-F238E27FC236}">
                <a16:creationId xmlns:a16="http://schemas.microsoft.com/office/drawing/2014/main" id="{20B8263B-8D80-E00F-BACB-A63D60B7E906}"/>
              </a:ext>
            </a:extLst>
          </p:cNvPr>
          <p:cNvPicPr>
            <a:picLocks noChangeAspect="1"/>
          </p:cNvPicPr>
          <p:nvPr/>
        </p:nvPicPr>
        <p:blipFill>
          <a:blip r:embed="rId4"/>
          <a:srcRect l="75186" t="86544"/>
          <a:stretch>
            <a:fillRect/>
          </a:stretch>
        </p:blipFill>
        <p:spPr>
          <a:xfrm flipH="1">
            <a:off x="4907912" y="5956137"/>
            <a:ext cx="763957" cy="281369"/>
          </a:xfrm>
          <a:prstGeom prst="rect">
            <a:avLst/>
          </a:prstGeom>
        </p:spPr>
      </p:pic>
      <p:sp>
        <p:nvSpPr>
          <p:cNvPr id="7" name="Rectangle 23">
            <a:extLst>
              <a:ext uri="{FF2B5EF4-FFF2-40B4-BE49-F238E27FC236}">
                <a16:creationId xmlns:a16="http://schemas.microsoft.com/office/drawing/2014/main" id="{2F7A5B2C-322D-047D-4EC6-AD59741830CE}"/>
              </a:ext>
            </a:extLst>
          </p:cNvPr>
          <p:cNvSpPr>
            <a:spLocks/>
          </p:cNvSpPr>
          <p:nvPr/>
        </p:nvSpPr>
        <p:spPr bwMode="auto">
          <a:xfrm flipH="1">
            <a:off x="3192293" y="4179771"/>
            <a:ext cx="13172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0</a:t>
            </a:r>
          </a:p>
        </p:txBody>
      </p:sp>
      <p:sp>
        <p:nvSpPr>
          <p:cNvPr id="8" name="Rectangle 11">
            <a:extLst>
              <a:ext uri="{FF2B5EF4-FFF2-40B4-BE49-F238E27FC236}">
                <a16:creationId xmlns:a16="http://schemas.microsoft.com/office/drawing/2014/main" id="{B6EB5C57-79D1-72FC-D68F-AA717DD92853}"/>
              </a:ext>
            </a:extLst>
          </p:cNvPr>
          <p:cNvSpPr>
            <a:spLocks/>
          </p:cNvSpPr>
          <p:nvPr/>
        </p:nvSpPr>
        <p:spPr bwMode="auto">
          <a:xfrm>
            <a:off x="3903801" y="4179771"/>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1</a:t>
            </a:r>
          </a:p>
        </p:txBody>
      </p:sp>
      <p:sp>
        <p:nvSpPr>
          <p:cNvPr id="9" name="Rectangle 14">
            <a:extLst>
              <a:ext uri="{FF2B5EF4-FFF2-40B4-BE49-F238E27FC236}">
                <a16:creationId xmlns:a16="http://schemas.microsoft.com/office/drawing/2014/main" id="{B4D20105-2189-1845-7629-077E0CBC595D}"/>
              </a:ext>
            </a:extLst>
          </p:cNvPr>
          <p:cNvSpPr>
            <a:spLocks/>
          </p:cNvSpPr>
          <p:nvPr/>
        </p:nvSpPr>
        <p:spPr bwMode="auto">
          <a:xfrm>
            <a:off x="4759702" y="4171283"/>
            <a:ext cx="33706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2</a:t>
            </a:r>
          </a:p>
        </p:txBody>
      </p:sp>
      <p:sp>
        <p:nvSpPr>
          <p:cNvPr id="10" name="Rectangle 24">
            <a:extLst>
              <a:ext uri="{FF2B5EF4-FFF2-40B4-BE49-F238E27FC236}">
                <a16:creationId xmlns:a16="http://schemas.microsoft.com/office/drawing/2014/main" id="{CE012297-DD21-8EB5-E77A-BA9B7F2C72D7}"/>
              </a:ext>
            </a:extLst>
          </p:cNvPr>
          <p:cNvSpPr>
            <a:spLocks/>
          </p:cNvSpPr>
          <p:nvPr/>
        </p:nvSpPr>
        <p:spPr bwMode="auto">
          <a:xfrm>
            <a:off x="3974447" y="5689969"/>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500</a:t>
            </a:r>
          </a:p>
        </p:txBody>
      </p:sp>
      <p:cxnSp>
        <p:nvCxnSpPr>
          <p:cNvPr id="12" name="Straight Arrow Connector 25">
            <a:extLst>
              <a:ext uri="{FF2B5EF4-FFF2-40B4-BE49-F238E27FC236}">
                <a16:creationId xmlns:a16="http://schemas.microsoft.com/office/drawing/2014/main" id="{E5D13093-EA8A-6DE7-3346-90F3624861D0}"/>
              </a:ext>
            </a:extLst>
          </p:cNvPr>
          <p:cNvCxnSpPr/>
          <p:nvPr/>
        </p:nvCxnSpPr>
        <p:spPr>
          <a:xfrm flipH="1">
            <a:off x="4918028" y="4560498"/>
            <a:ext cx="2" cy="1061198"/>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26">
            <a:extLst>
              <a:ext uri="{FF2B5EF4-FFF2-40B4-BE49-F238E27FC236}">
                <a16:creationId xmlns:a16="http://schemas.microsoft.com/office/drawing/2014/main" id="{6DF4723E-C6AC-750F-DB70-2EF377C6D94A}"/>
              </a:ext>
            </a:extLst>
          </p:cNvPr>
          <p:cNvCxnSpPr/>
          <p:nvPr/>
        </p:nvCxnSpPr>
        <p:spPr>
          <a:xfrm>
            <a:off x="3277894" y="4566401"/>
            <a:ext cx="0" cy="530599"/>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27">
            <a:extLst>
              <a:ext uri="{FF2B5EF4-FFF2-40B4-BE49-F238E27FC236}">
                <a16:creationId xmlns:a16="http://schemas.microsoft.com/office/drawing/2014/main" id="{16907DF1-A140-21E5-96A3-925B6AB74CBF}"/>
              </a:ext>
            </a:extLst>
          </p:cNvPr>
          <p:cNvSpPr>
            <a:spLocks/>
          </p:cNvSpPr>
          <p:nvPr/>
        </p:nvSpPr>
        <p:spPr bwMode="auto">
          <a:xfrm>
            <a:off x="2353695" y="5229636"/>
            <a:ext cx="1887166"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2000" dirty="0">
                <a:solidFill>
                  <a:schemeClr val="bg1">
                    <a:lumMod val="65000"/>
                  </a:schemeClr>
                </a:solidFill>
              </a:rPr>
              <a:t>300</a:t>
            </a:r>
          </a:p>
        </p:txBody>
      </p:sp>
    </p:spTree>
    <p:extLst>
      <p:ext uri="{BB962C8B-B14F-4D97-AF65-F5344CB8AC3E}">
        <p14:creationId xmlns:p14="http://schemas.microsoft.com/office/powerpoint/2010/main" val="303490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25" grpId="0"/>
      <p:bldP spid="26" grpId="0"/>
      <p:bldP spid="27" grpId="0"/>
      <p:bldP spid="30" grpId="0"/>
      <p:bldP spid="96" grpId="0"/>
      <p:bldP spid="99" grpId="0"/>
      <p:bldP spid="100" grpId="0"/>
      <p:bldP spid="101" grpId="0"/>
      <p:bldP spid="102" grpId="0"/>
      <p:bldP spid="103" grpId="0"/>
      <p:bldP spid="105" grpId="0"/>
      <p:bldP spid="39" grpId="0"/>
      <p:bldP spid="7" grpId="0"/>
      <p:bldP spid="8" grpId="0"/>
      <p:bldP spid="9" grpId="0"/>
      <p:bldP spid="10" grpId="0"/>
      <p:bldP spid="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DB286-73B8-0176-C211-D4D29006EC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C6E629-FA5E-A3D6-D0CE-FC712EBF898B}"/>
              </a:ext>
            </a:extLst>
          </p:cNvPr>
          <p:cNvSpPr>
            <a:spLocks noGrp="1"/>
          </p:cNvSpPr>
          <p:nvPr>
            <p:ph type="ctrTitle"/>
          </p:nvPr>
        </p:nvSpPr>
        <p:spPr>
          <a:xfrm>
            <a:off x="470868" y="1814732"/>
            <a:ext cx="10359896" cy="826833"/>
          </a:xfrm>
        </p:spPr>
        <p:txBody>
          <a:bodyPr>
            <a:noAutofit/>
          </a:bodyPr>
          <a:lstStyle/>
          <a:p>
            <a:r>
              <a:rPr lang="es-CO" sz="4000" dirty="0"/>
              <a:t>Relaciones de equivalencia (</a:t>
            </a:r>
            <a:r>
              <a:rPr lang="es-CO" sz="4000" dirty="0">
                <a:solidFill>
                  <a:srgbClr val="D7A700"/>
                </a:solidFill>
              </a:rPr>
              <a:t>parte i</a:t>
            </a:r>
            <a:r>
              <a:rPr lang="es-CO" sz="4000" dirty="0"/>
              <a:t>)</a:t>
            </a:r>
          </a:p>
        </p:txBody>
      </p:sp>
      <p:sp>
        <p:nvSpPr>
          <p:cNvPr id="8" name="Rectángulo 7">
            <a:extLst>
              <a:ext uri="{FF2B5EF4-FFF2-40B4-BE49-F238E27FC236}">
                <a16:creationId xmlns:a16="http://schemas.microsoft.com/office/drawing/2014/main" id="{1C896130-5968-6639-0987-F3C9933FE79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92CB6D03-8FC1-56F6-E6AE-7127FC23D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CE3B885B-CEB5-2197-1E65-EDA60A5A10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D49E7288-348A-DF63-D6FC-C1A09EF719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50781BA5-22C7-8458-BAF8-1C993B46766C}"/>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580968964"/>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9c0f78d-6fc1-47c2-b059-fed23358a506}" enabled="1" method="Standard" siteId="{1b779eaf-dae5-4983-b600-0da6174a3c82}" contentBits="0" removed="0"/>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572</TotalTime>
  <Words>2965</Words>
  <Application>Microsoft Macintosh PowerPoint</Application>
  <PresentationFormat>Widescreen</PresentationFormat>
  <Paragraphs>902</Paragraphs>
  <Slides>42</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Cambria Math</vt:lpstr>
      <vt:lpstr>Century Gothic</vt:lpstr>
      <vt:lpstr>Gill Sans MT</vt:lpstr>
      <vt:lpstr>Wingdings 2</vt:lpstr>
      <vt:lpstr>Dividendo</vt:lpstr>
      <vt:lpstr>repaso</vt:lpstr>
      <vt:lpstr>La expresión que relaciona LAS tasas de interés NOMINAL Y REAL es la siguiente:</vt:lpstr>
      <vt:lpstr>Repaso: Interés Constante / Corriente</vt:lpstr>
      <vt:lpstr>Repaso: Interés Constante / Corriente</vt:lpstr>
      <vt:lpstr>REPASO EQUIVALENCIAS DE TASAS DE INTERÉS</vt:lpstr>
      <vt:lpstr>REPASO EQUIVALENCIAS DE TASAS DE INTERÉS</vt:lpstr>
      <vt:lpstr>REPASO: COSTO DE OPORTUNIDAD DE LOS AGENTES ( VDT)</vt:lpstr>
      <vt:lpstr>Relaciones de equivalencia (parte i)</vt:lpstr>
      <vt:lpstr>AGENDA PROPUESTA</vt:lpstr>
      <vt:lpstr>AGENDA PROPUESTA</vt:lpstr>
      <vt:lpstr>RELACIONES DE EQUIVALENCIA</vt:lpstr>
      <vt:lpstr>RELACIONES DE EQUIVALENCIA</vt:lpstr>
      <vt:lpstr>RELACIONES DE EQUIVALENCIA</vt:lpstr>
      <vt:lpstr>RELACIONES DE EQUIVALENCIA</vt:lpstr>
      <vt:lpstr>RELACIONES DE EQUIVALENCIA</vt:lpstr>
      <vt:lpstr>RELACIONES DE EQUIVALENCIA</vt:lpstr>
      <vt:lpstr>AGENDA PROPUESTA</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Relaciones de equivalencia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16</cp:revision>
  <dcterms:created xsi:type="dcterms:W3CDTF">2019-06-20T04:25:04Z</dcterms:created>
  <dcterms:modified xsi:type="dcterms:W3CDTF">2026-02-05T14:52:35Z</dcterms:modified>
</cp:coreProperties>
</file>