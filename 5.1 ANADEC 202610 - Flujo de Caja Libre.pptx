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32" r:id="rId1"/>
  </p:sldMasterIdLst>
  <p:notesMasterIdLst>
    <p:notesMasterId r:id="rId39"/>
  </p:notesMasterIdLst>
  <p:handoutMasterIdLst>
    <p:handoutMasterId r:id="rId40"/>
  </p:handoutMasterIdLst>
  <p:sldIdLst>
    <p:sldId id="398" r:id="rId2"/>
    <p:sldId id="638" r:id="rId3"/>
    <p:sldId id="321" r:id="rId4"/>
    <p:sldId id="322" r:id="rId5"/>
    <p:sldId id="323" r:id="rId6"/>
    <p:sldId id="556" r:id="rId7"/>
    <p:sldId id="637" r:id="rId8"/>
    <p:sldId id="557" r:id="rId9"/>
    <p:sldId id="273" r:id="rId10"/>
    <p:sldId id="558" r:id="rId11"/>
    <p:sldId id="559" r:id="rId12"/>
    <p:sldId id="650" r:id="rId13"/>
    <p:sldId id="286" r:id="rId14"/>
    <p:sldId id="562" r:id="rId15"/>
    <p:sldId id="560" r:id="rId16"/>
    <p:sldId id="567" r:id="rId17"/>
    <p:sldId id="651" r:id="rId18"/>
    <p:sldId id="570" r:id="rId19"/>
    <p:sldId id="564" r:id="rId20"/>
    <p:sldId id="576" r:id="rId21"/>
    <p:sldId id="593" r:id="rId22"/>
    <p:sldId id="652" r:id="rId23"/>
    <p:sldId id="581" r:id="rId24"/>
    <p:sldId id="583" r:id="rId25"/>
    <p:sldId id="577" r:id="rId26"/>
    <p:sldId id="584" r:id="rId27"/>
    <p:sldId id="585" r:id="rId28"/>
    <p:sldId id="594" r:id="rId29"/>
    <p:sldId id="587" r:id="rId30"/>
    <p:sldId id="595" r:id="rId31"/>
    <p:sldId id="644" r:id="rId32"/>
    <p:sldId id="597" r:id="rId33"/>
    <p:sldId id="645" r:id="rId34"/>
    <p:sldId id="592" r:id="rId35"/>
    <p:sldId id="287" r:id="rId36"/>
    <p:sldId id="653" r:id="rId37"/>
    <p:sldId id="599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Joseph Sanchez Oyola" initials="SJSO" lastIdx="1" clrIdx="0">
    <p:extLst>
      <p:ext uri="{19B8F6BF-5375-455C-9EA6-DF929625EA0E}">
        <p15:presenceInfo xmlns:p15="http://schemas.microsoft.com/office/powerpoint/2012/main" userId="Sebastian Joseph Sanchez Oyo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EEDA"/>
    <a:srgbClr val="F5DCCA"/>
    <a:srgbClr val="DFFFFF"/>
    <a:srgbClr val="D7A700"/>
    <a:srgbClr val="FF6600"/>
    <a:srgbClr val="155E26"/>
    <a:srgbClr val="FFF4E6"/>
    <a:srgbClr val="002F90"/>
    <a:srgbClr val="E8F8FA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483"/>
    <p:restoredTop sz="94689"/>
  </p:normalViewPr>
  <p:slideViewPr>
    <p:cSldViewPr snapToGrid="0">
      <p:cViewPr varScale="1">
        <p:scale>
          <a:sx n="77" d="100"/>
          <a:sy n="77" d="100"/>
        </p:scale>
        <p:origin x="216" y="1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7909239-6EB4-4F64-9166-01BA8CB152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D4A5E1-CC2B-4E68-93DE-1741C2D8F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BC9B1-33DC-462F-829C-1E37E99682B9}" type="datetimeFigureOut">
              <a:rPr lang="es-CO" smtClean="0"/>
              <a:t>23/02/26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E42B93-8418-4C73-AFC5-AD8733D56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F5AB0F-F981-4352-8DA3-CAD02A4EF5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216A6-D02D-421D-81B5-58C62FCB13E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42476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ED2E0-4743-4E03-93B8-12386FF60236}" type="datetimeFigureOut">
              <a:rPr lang="es-CO" smtClean="0"/>
              <a:t>23/02/26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B8670-524E-4520-AA44-FE672760293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2586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94F50-B4FB-3B70-DECA-79DA5808D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6BF9A-EB42-2852-8833-3712B06F2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1C4C8B-5615-B5B6-687E-F37CF8377F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C2A73-C9E9-8F6B-7647-ADEFD8C7B0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98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5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44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3218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5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AFD365D-553E-437E-906F-693C2E6CE28D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2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3018D-1CC0-468E-BE3B-579A148A0691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40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E7F702F-46BE-40AA-9A05-7C69E0403EE7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16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0D08-E4F7-43DB-810A-34BADF6468F7}" type="datetime1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37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E1DAC-EC09-4DEA-BBB4-788DDBA09515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04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FF582-E74C-4A8A-87B2-214B0CF47F99}" type="datetime1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11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C8AEA-E303-4B9D-B167-0A45CB59E0C2}" type="datetime1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BE2AAB-C9FD-4A72-8C62-A7C81FA189B4}" type="datetime1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77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D4CC-5FC5-4711-9ACC-A7971700D612}" type="datetime1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6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DF8C-FC0D-41BB-BB53-20BBB44E4230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13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119C4A7-5D51-4E42-9C0C-1785329211C5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0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8027E5A-4482-46C4-A2DC-45BEF00C1E0A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2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86108" y="1822352"/>
            <a:ext cx="10550396" cy="826833"/>
          </a:xfrm>
        </p:spPr>
        <p:txBody>
          <a:bodyPr>
            <a:noAutofit/>
          </a:bodyPr>
          <a:lstStyle/>
          <a:p>
            <a:r>
              <a:rPr lang="es-CO" sz="3200">
                <a:latin typeface="Century Gothic"/>
              </a:rPr>
              <a:t>LA CONSTRUCCIÓN DEL FLUJO DE CAJA LIBRE DE UN PROYECTO (</a:t>
            </a:r>
            <a:r>
              <a:rPr lang="es-CO" sz="3200">
                <a:solidFill>
                  <a:srgbClr val="D7A700"/>
                </a:solidFill>
                <a:latin typeface="Century Gothic"/>
              </a:rPr>
              <a:t>parte i</a:t>
            </a:r>
            <a:r>
              <a:rPr lang="es-CO" sz="3200">
                <a:latin typeface="Century Gothic"/>
              </a:rPr>
              <a:t>)</a:t>
            </a:r>
            <a:endParaRPr lang="es-CO" sz="3200">
              <a:latin typeface="Century Gothic" panose="020B0502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094242-8D7F-4883-8E64-A43E1E37E5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D2A00364-D957-B6CC-C8C3-335B3CE9E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89A2F7FD-DB75-B2F6-96F6-C7A714073C9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Gráfico 4" descr="Open book contorno">
            <a:extLst>
              <a:ext uri="{FF2B5EF4-FFF2-40B4-BE49-F238E27FC236}">
                <a16:creationId xmlns:a16="http://schemas.microsoft.com/office/drawing/2014/main" id="{3D62EEA9-E977-2B15-6DB5-97AE283992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DACCAD9-71B4-2FA0-1592-3F9D80605EB2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>
              <a:solidFill>
                <a:schemeClr val="bg1"/>
              </a:solidFill>
              <a:latin typeface="Century Gothic"/>
            </a:endParaRPr>
          </a:p>
          <a:p>
            <a:endParaRPr lang="es-CO" sz="1000" b="1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674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2806200" y="2416707"/>
            <a:ext cx="8540907" cy="304698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>
                <a:solidFill>
                  <a:schemeClr val="accent1"/>
                </a:solidFill>
                <a:latin typeface="Century Gothic"/>
                <a:cs typeface="Arial"/>
              </a:rPr>
              <a:t>Construcción del Flujo de Caja Libre.</a:t>
            </a:r>
            <a:endParaRPr lang="es-ES" sz="160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 sz="160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CO" sz="160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Principios de Contabilidad.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CO" sz="160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Principio de Causación VS. Principio de Caja.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CO" sz="160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Principio de Pertinencia.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CO" sz="160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Gastos No Efectivos.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CO" sz="160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Flujo de Caja Libre (FCL).</a:t>
            </a:r>
            <a:endParaRPr lang="es-CO" sz="1600">
              <a:solidFill>
                <a:schemeClr val="tx2">
                  <a:lumMod val="20000"/>
                  <a:lumOff val="8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sz="160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86F046-042E-5492-3FBC-4E0C89F4D9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A2F8A99-E4A5-BAC5-C9B9-FA7BF325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8947FF6-FDB9-EE78-466B-05090F4BD4E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Marcador de número de diapositiva 3">
            <a:extLst>
              <a:ext uri="{FF2B5EF4-FFF2-40B4-BE49-F238E27FC236}">
                <a16:creationId xmlns:a16="http://schemas.microsoft.com/office/drawing/2014/main" id="{7B79B7A6-E6EA-D254-F9CC-BB1BE6B2D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56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964890" y="1935803"/>
            <a:ext cx="8301567" cy="367076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000" b="1">
                <a:solidFill>
                  <a:srgbClr val="C00000"/>
                </a:solidFill>
                <a:latin typeface="Century Gothic" panose="020B0502020202020204" pitchFamily="34" charset="0"/>
              </a:rPr>
              <a:t>¿Qué temas se han visto a lo largo del curso?</a:t>
            </a:r>
          </a:p>
          <a:p>
            <a:pPr marL="0" indent="0" algn="ctr">
              <a:buNone/>
            </a:pPr>
            <a:endParaRPr lang="es-ES" sz="2000" b="1">
              <a:solidFill>
                <a:schemeClr val="accent6"/>
              </a:solidFill>
              <a:latin typeface="Century Gothic" panose="020B0502020202020204" pitchFamily="34" charset="0"/>
            </a:endParaRPr>
          </a:p>
          <a:p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Valor del Dinero en el Tiempo (VDT)</a:t>
            </a:r>
          </a:p>
          <a:p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Costo de Oportunidad</a:t>
            </a:r>
          </a:p>
          <a:p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Concepto de Interés</a:t>
            </a:r>
          </a:p>
          <a:p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Relaciones de Equivalencia</a:t>
            </a:r>
          </a:p>
          <a:p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Indicadores de Bondad Financiera (IBF)</a:t>
            </a:r>
          </a:p>
        </p:txBody>
      </p:sp>
      <p:pic>
        <p:nvPicPr>
          <p:cNvPr id="1028" name="Picture 4" descr="Resultado de imagen para nerd dibujos animados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6902" y="2948536"/>
            <a:ext cx="2289854" cy="279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E19F1C21-00CC-1C32-B3D9-02AB43BE435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18939CEC-D7B4-033D-8912-BF98BC458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1B9CE03-D06E-CC8C-7596-8573383904E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Marcador de número de diapositiva 3">
            <a:extLst>
              <a:ext uri="{FF2B5EF4-FFF2-40B4-BE49-F238E27FC236}">
                <a16:creationId xmlns:a16="http://schemas.microsoft.com/office/drawing/2014/main" id="{A8BC043E-3E26-3E2A-5F64-726F14C67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471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Construcción del flujo de caja libre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3" y="1431496"/>
            <a:ext cx="11029615" cy="367830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Hasta este punto usted debe estar en capacidad de </a:t>
            </a: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evaluar la bondad financiera de un proyecto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de inversión, siempre y cuando le suministren la información relacionada con:</a:t>
            </a:r>
          </a:p>
          <a:p>
            <a:pPr marL="0" indent="0" algn="just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lvl="1" algn="just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Flujos de caja que genera el proyecto. </a:t>
            </a:r>
          </a:p>
          <a:p>
            <a:pPr lvl="1" algn="just"/>
            <a:endParaRPr lang="es-ES" sz="1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lvl="1" algn="just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de descuento o costo de oportunidad del inversionista.</a:t>
            </a:r>
          </a:p>
        </p:txBody>
      </p:sp>
      <p:cxnSp>
        <p:nvCxnSpPr>
          <p:cNvPr id="5" name="Straight Connector 5"/>
          <p:cNvCxnSpPr/>
          <p:nvPr/>
        </p:nvCxnSpPr>
        <p:spPr>
          <a:xfrm>
            <a:off x="3637769" y="5068344"/>
            <a:ext cx="301187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6"/>
          <p:cNvCxnSpPr/>
          <p:nvPr/>
        </p:nvCxnSpPr>
        <p:spPr>
          <a:xfrm>
            <a:off x="3637768" y="5068346"/>
            <a:ext cx="0" cy="104346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12"/>
          <p:cNvSpPr>
            <a:spLocks/>
          </p:cNvSpPr>
          <p:nvPr/>
        </p:nvSpPr>
        <p:spPr bwMode="auto">
          <a:xfrm flipH="1">
            <a:off x="3590654" y="4789265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9" name="Rectangle 13"/>
          <p:cNvSpPr>
            <a:spLocks/>
          </p:cNvSpPr>
          <p:nvPr/>
        </p:nvSpPr>
        <p:spPr bwMode="auto">
          <a:xfrm>
            <a:off x="4005791" y="5081173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cxnSp>
        <p:nvCxnSpPr>
          <p:cNvPr id="11" name="Straight Arrow Connector 7"/>
          <p:cNvCxnSpPr/>
          <p:nvPr/>
        </p:nvCxnSpPr>
        <p:spPr>
          <a:xfrm flipV="1">
            <a:off x="4171251" y="4497539"/>
            <a:ext cx="0" cy="583524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7"/>
          <p:cNvCxnSpPr/>
          <p:nvPr/>
        </p:nvCxnSpPr>
        <p:spPr>
          <a:xfrm flipV="1">
            <a:off x="4785501" y="4491203"/>
            <a:ext cx="0" cy="58986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7"/>
          <p:cNvCxnSpPr/>
          <p:nvPr/>
        </p:nvCxnSpPr>
        <p:spPr>
          <a:xfrm flipV="1">
            <a:off x="5426081" y="4491203"/>
            <a:ext cx="0" cy="58986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7"/>
          <p:cNvCxnSpPr/>
          <p:nvPr/>
        </p:nvCxnSpPr>
        <p:spPr>
          <a:xfrm flipV="1">
            <a:off x="6649639" y="4486464"/>
            <a:ext cx="0" cy="58188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3"/>
          <p:cNvSpPr>
            <a:spLocks/>
          </p:cNvSpPr>
          <p:nvPr/>
        </p:nvSpPr>
        <p:spPr bwMode="auto">
          <a:xfrm>
            <a:off x="4616971" y="506834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6" name="Rectangle 13"/>
          <p:cNvSpPr>
            <a:spLocks/>
          </p:cNvSpPr>
          <p:nvPr/>
        </p:nvSpPr>
        <p:spPr bwMode="auto">
          <a:xfrm>
            <a:off x="5244722" y="5081064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7" name="Rectangle 13"/>
          <p:cNvSpPr>
            <a:spLocks/>
          </p:cNvSpPr>
          <p:nvPr/>
        </p:nvSpPr>
        <p:spPr bwMode="auto">
          <a:xfrm>
            <a:off x="5879687" y="506834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>
                <a:solidFill>
                  <a:schemeClr val="accent1"/>
                </a:solidFill>
                <a:latin typeface="Century Gothic" panose="020B0502020202020204" pitchFamily="34" charset="0"/>
              </a:rPr>
              <a:t>…</a:t>
            </a:r>
          </a:p>
        </p:txBody>
      </p:sp>
      <p:sp>
        <p:nvSpPr>
          <p:cNvPr id="18" name="Rectangle 13"/>
          <p:cNvSpPr>
            <a:spLocks/>
          </p:cNvSpPr>
          <p:nvPr/>
        </p:nvSpPr>
        <p:spPr bwMode="auto">
          <a:xfrm>
            <a:off x="6481109" y="5070617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>
                <a:solidFill>
                  <a:schemeClr val="accent1"/>
                </a:solidFill>
                <a:latin typeface="Century Gothic" panose="020B0502020202020204" pitchFamily="34" charset="0"/>
              </a:rPr>
              <a:t>n</a:t>
            </a:r>
          </a:p>
        </p:txBody>
      </p:sp>
      <p:sp>
        <p:nvSpPr>
          <p:cNvPr id="20" name="CuadroTexto 19"/>
          <p:cNvSpPr txBox="1"/>
          <p:nvPr/>
        </p:nvSpPr>
        <p:spPr>
          <a:xfrm>
            <a:off x="7227827" y="4935240"/>
            <a:ext cx="1244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>
                <a:solidFill>
                  <a:schemeClr val="accent1"/>
                </a:solidFill>
                <a:latin typeface="Century Gothic" panose="020B0502020202020204" pitchFamily="34" charset="0"/>
              </a:rPr>
              <a:t>C.O.= X%</a:t>
            </a:r>
          </a:p>
        </p:txBody>
      </p:sp>
      <p:sp>
        <p:nvSpPr>
          <p:cNvPr id="21" name="CuadroTexto 20"/>
          <p:cNvSpPr txBox="1"/>
          <p:nvPr/>
        </p:nvSpPr>
        <p:spPr>
          <a:xfrm rot="2152249">
            <a:off x="4751873" y="4612074"/>
            <a:ext cx="8730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0" b="1">
                <a:solidFill>
                  <a:srgbClr val="C0000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9A7B292-D3CC-311A-888F-AD1597C9462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25" name="Picture 2" descr="Clientes y aliados | Centro de Evaluación | Uniandes">
            <a:extLst>
              <a:ext uri="{FF2B5EF4-FFF2-40B4-BE49-F238E27FC236}">
                <a16:creationId xmlns:a16="http://schemas.microsoft.com/office/drawing/2014/main" id="{AB59226C-53F2-1487-0BC4-E51CF31B8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544F99A6-0D3B-3EE0-3B45-FF3BBE789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088" y="3008465"/>
            <a:ext cx="1997296" cy="1477999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227535E7-F6CB-5948-8523-5470B4F9833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246BFF8-B629-2D41-E159-5CCE0B09F4ED}"/>
              </a:ext>
            </a:extLst>
          </p:cNvPr>
          <p:cNvSpPr txBox="1"/>
          <p:nvPr/>
        </p:nvSpPr>
        <p:spPr>
          <a:xfrm rot="2152249">
            <a:off x="7527217" y="4683623"/>
            <a:ext cx="8730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0" b="1">
                <a:solidFill>
                  <a:srgbClr val="C00000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Marcador de número de diapositiva 3">
            <a:extLst>
              <a:ext uri="{FF2B5EF4-FFF2-40B4-BE49-F238E27FC236}">
                <a16:creationId xmlns:a16="http://schemas.microsoft.com/office/drawing/2014/main" id="{8775D824-8E22-0401-4B19-E7E372A59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4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08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5" grpId="0"/>
      <p:bldP spid="16" grpId="0"/>
      <p:bldP spid="17" grpId="0"/>
      <p:bldP spid="18" grpId="0"/>
      <p:bldP spid="20" grpId="0"/>
      <p:bldP spid="21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Construcción del flujo de caja libre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46043" y="1815371"/>
            <a:ext cx="11291330" cy="4140766"/>
          </a:xfrm>
        </p:spPr>
        <p:txBody>
          <a:bodyPr>
            <a:normAutofit/>
          </a:bodyPr>
          <a:lstStyle/>
          <a:p>
            <a:pPr algn="just"/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El objetivo que abordaremos ahora será el de construir los flujos de caja que genera un proyecto. </a:t>
            </a:r>
          </a:p>
          <a:p>
            <a:pPr algn="just"/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En finanzas y en economía se entiende por </a:t>
            </a:r>
            <a:r>
              <a:rPr lang="es-ES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flujo de caja </a:t>
            </a: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a las entradas y salidas de caja o efectivo, en un periodo dado. </a:t>
            </a:r>
          </a:p>
          <a:p>
            <a:pPr algn="just"/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" b="1">
                <a:solidFill>
                  <a:srgbClr val="D7A700"/>
                </a:solidFill>
                <a:latin typeface="Century Gothic" panose="020B0502020202020204" pitchFamily="34" charset="0"/>
              </a:rPr>
              <a:t>¿Dónde encuentro esta información?</a:t>
            </a:r>
          </a:p>
          <a:p>
            <a:pPr marL="0" indent="0" algn="ctr">
              <a:buNone/>
            </a:pPr>
            <a:endParaRPr lang="es-ES">
              <a:latin typeface="Century Gothic" panose="020B0502020202020204" pitchFamily="34" charset="0"/>
            </a:endParaRPr>
          </a:p>
          <a:p>
            <a:pPr algn="just"/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Lo que </a:t>
            </a:r>
            <a:r>
              <a:rPr lang="es-ES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antes usted tenía como insumo </a:t>
            </a: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para valorar un proyecto</a:t>
            </a:r>
            <a:r>
              <a:rPr lang="es-ES" b="1">
                <a:solidFill>
                  <a:schemeClr val="accent1"/>
                </a:solidFill>
                <a:latin typeface="Century Gothic" panose="020B0502020202020204" pitchFamily="34" charset="0"/>
              </a:rPr>
              <a:t>, </a:t>
            </a:r>
            <a:r>
              <a:rPr lang="es-ES"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es ahora una tarea adicional </a:t>
            </a: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que se construye con </a:t>
            </a:r>
            <a:r>
              <a:rPr lang="es-ES" b="1">
                <a:solidFill>
                  <a:srgbClr val="C00000"/>
                </a:solidFill>
                <a:latin typeface="Century Gothic" panose="020B0502020202020204" pitchFamily="34" charset="0"/>
              </a:rPr>
              <a:t>información contable de la empresa</a:t>
            </a:r>
            <a:r>
              <a:rPr lang="es-ES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3C9F453-E6D4-12B5-16E7-73043FD3F10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B350F97A-C8D3-5489-58C5-0FE88EF8C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0B3E486-D1AE-1F07-9AC5-ED0F97C9F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5541" y="3515497"/>
            <a:ext cx="1816594" cy="127892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709D5D4-D6EA-D984-54F1-3CE96F4E588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Marcador de número de diapositiva 3">
            <a:extLst>
              <a:ext uri="{FF2B5EF4-FFF2-40B4-BE49-F238E27FC236}">
                <a16:creationId xmlns:a16="http://schemas.microsoft.com/office/drawing/2014/main" id="{0C83DA1F-E32C-E601-8EF1-5BFF551B7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5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136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46043" y="982470"/>
            <a:ext cx="9011714" cy="803647"/>
          </a:xfrm>
        </p:spPr>
        <p:txBody>
          <a:bodyPr/>
          <a:lstStyle/>
          <a:p>
            <a:r>
              <a:rPr lang="es-ES_tradnl" sz="3375">
                <a:latin typeface="Century Gothic" panose="020B0502020202020204" pitchFamily="34" charset="0"/>
              </a:rPr>
              <a:t>¿Qué es la contabilidad?</a:t>
            </a:r>
          </a:p>
        </p:txBody>
      </p:sp>
      <p:sp>
        <p:nvSpPr>
          <p:cNvPr id="320" name="Shape 320"/>
          <p:cNvSpPr>
            <a:spLocks noGrp="1"/>
          </p:cNvSpPr>
          <p:nvPr>
            <p:ph idx="1"/>
          </p:nvPr>
        </p:nvSpPr>
        <p:spPr>
          <a:xfrm>
            <a:off x="775810" y="2612482"/>
            <a:ext cx="10386507" cy="1952745"/>
          </a:xfrm>
          <a:prstGeom prst="rect">
            <a:avLst/>
          </a:prstGeom>
        </p:spPr>
        <p:txBody>
          <a:bodyPr anchor="t">
            <a:noAutofit/>
          </a:bodyPr>
          <a:lstStyle/>
          <a:p>
            <a:pPr marL="0" indent="0" algn="ctr">
              <a:buNone/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“La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contabilidad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es un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proceso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que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permite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recopilar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, registrar,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analizar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e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interpretar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las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diversas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transacciones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contables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-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financieras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suscitadas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durante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un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periodo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, con la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finalidad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de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proporcionar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información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que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facilite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las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funciones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de </a:t>
            </a:r>
            <a:r>
              <a:rPr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planeación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,</a:t>
            </a: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 control 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y</a:t>
            </a: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  <a:r>
              <a:rPr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toma</a:t>
            </a: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 de decision</a:t>
            </a: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es</a:t>
            </a: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.</a:t>
            </a:r>
            <a:r>
              <a:rPr dirty="0">
                <a:solidFill>
                  <a:srgbClr val="606060"/>
                </a:solidFill>
                <a:latin typeface="Century Gothic" panose="020B0502020202020204" pitchFamily="34" charset="0"/>
              </a:rPr>
              <a:t>”</a:t>
            </a:r>
            <a:endParaRPr lang="es-ES" dirty="0">
              <a:solidFill>
                <a:srgbClr val="606060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  <a:defRPr sz="1800">
                <a:solidFill>
                  <a:srgbClr val="000000"/>
                </a:solidFill>
              </a:defRPr>
            </a:pPr>
            <a:endParaRPr lang="es-ES_tradnl" dirty="0">
              <a:solidFill>
                <a:srgbClr val="606060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  <a:defRPr sz="1800">
                <a:solidFill>
                  <a:srgbClr val="000000"/>
                </a:solidFill>
              </a:defRPr>
            </a:pPr>
            <a:endParaRPr dirty="0">
              <a:solidFill>
                <a:srgbClr val="606060"/>
              </a:solidFill>
              <a:latin typeface="Century Gothic" panose="020B0502020202020204" pitchFamily="34" charset="0"/>
            </a:endParaRPr>
          </a:p>
          <a:p>
            <a:pPr>
              <a:buClr>
                <a:schemeClr val="accent3">
                  <a:lumMod val="75000"/>
                </a:schemeClr>
              </a:buClr>
              <a:buSzPct val="125000"/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Es un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sistema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de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información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>
              <a:buClr>
                <a:schemeClr val="accent3">
                  <a:lumMod val="75000"/>
                </a:schemeClr>
              </a:buClr>
              <a:buSzPct val="125000"/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Almacena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de forma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metódica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y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organizada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las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transacciones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financieras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>
              <a:buClr>
                <a:schemeClr val="accent3">
                  <a:lumMod val="75000"/>
                </a:schemeClr>
              </a:buClr>
              <a:buSzPct val="125000"/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Permite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analizar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y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obtener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conclusiones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que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soportan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la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toma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de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decisiones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3CAFB54-F902-FC5F-D441-5ACF62BF32D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4" name="Picture 2" descr="Clientes y aliados | Centro de Evaluación | Uniandes">
            <a:extLst>
              <a:ext uri="{FF2B5EF4-FFF2-40B4-BE49-F238E27FC236}">
                <a16:creationId xmlns:a16="http://schemas.microsoft.com/office/drawing/2014/main" id="{A26275A0-459E-8A14-DE61-B93F7B293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8167BBB-5439-6AD4-6C3D-9419BFC00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0597" y="3757003"/>
            <a:ext cx="1791720" cy="1261412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6FC79FCE-EC58-0BD8-D0A7-B28FE79DFE5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CD496D49-DD93-456D-8A13-B7D028382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6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7226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0" uiExpand="1" build="p" bldLvl="5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2806200" y="2416707"/>
            <a:ext cx="8540907" cy="304698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Construcción del Flujo de Caja Libre.</a:t>
            </a:r>
            <a:endParaRPr lang="es-ES" sz="160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 sz="160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CO" sz="1600">
                <a:solidFill>
                  <a:schemeClr val="accent1"/>
                </a:solidFill>
                <a:latin typeface="Century Gothic"/>
                <a:cs typeface="Arial"/>
              </a:rPr>
              <a:t>Principios de Contabilidad.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CO" sz="160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Principio de Causación VS. Principio de Caja.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CO" sz="160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Principio de Pertinencia.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CO" sz="160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Gastos No Efectivos.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CO" sz="160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Flujo de Caja Libre (FCL).</a:t>
            </a:r>
            <a:endParaRPr lang="es-CO" sz="1600">
              <a:solidFill>
                <a:schemeClr val="tx2">
                  <a:lumMod val="20000"/>
                  <a:lumOff val="8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sz="160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86F046-042E-5492-3FBC-4E0C89F4D9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A2F8A99-E4A5-BAC5-C9B9-FA7BF325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0A8C51BB-4141-122C-FBEE-FF50DE5548D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Marcador de número de diapositiva 3">
            <a:extLst>
              <a:ext uri="{FF2B5EF4-FFF2-40B4-BE49-F238E27FC236}">
                <a16:creationId xmlns:a16="http://schemas.microsoft.com/office/drawing/2014/main" id="{363B7735-4695-6717-5B52-082522313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7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591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330"/>
          <p:cNvSpPr/>
          <p:nvPr/>
        </p:nvSpPr>
        <p:spPr>
          <a:xfrm>
            <a:off x="446042" y="1989072"/>
            <a:ext cx="11164767" cy="775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spcBef>
                <a:spcPts val="4200"/>
              </a:spcBef>
              <a:defRPr sz="3000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s-ES_tradnl" sz="2000" b="1">
                <a:solidFill>
                  <a:srgbClr val="C00000"/>
                </a:solidFill>
                <a:latin typeface="Century Gothic" panose="020B0502020202020204" pitchFamily="34" charset="0"/>
              </a:rPr>
              <a:t>Los Estados Financieros (E.E.F.F.)</a:t>
            </a:r>
            <a:endParaRPr sz="2000" b="1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331" name="Shape 331"/>
          <p:cNvSpPr/>
          <p:nvPr/>
        </p:nvSpPr>
        <p:spPr>
          <a:xfrm>
            <a:off x="1415434" y="2807713"/>
            <a:ext cx="8429368" cy="3330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marL="361676" indent="-361676">
              <a:spcBef>
                <a:spcPts val="2953"/>
              </a:spcBef>
              <a:buClr>
                <a:schemeClr val="accent3">
                  <a:lumMod val="75000"/>
                </a:schemeClr>
              </a:buClr>
              <a:buSzPct val="125000"/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El </a:t>
            </a: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Estado de Situación Financiera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(Balance </a:t>
            </a: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General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)</a:t>
            </a:r>
          </a:p>
          <a:p>
            <a:pPr marL="361676" indent="-361676">
              <a:spcBef>
                <a:spcPts val="2953"/>
              </a:spcBef>
              <a:buClr>
                <a:schemeClr val="accent3">
                  <a:lumMod val="75000"/>
                </a:schemeClr>
              </a:buClr>
              <a:buSzPct val="125000"/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El Estado de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Resultados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- P&amp;G (</a:t>
            </a: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Estado de Pérdidas y Ganancias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)</a:t>
            </a:r>
          </a:p>
          <a:p>
            <a:pPr marL="361676" indent="-361676">
              <a:spcBef>
                <a:spcPts val="2953"/>
              </a:spcBef>
              <a:buClr>
                <a:schemeClr val="accent3">
                  <a:lumMod val="75000"/>
                </a:schemeClr>
              </a:buClr>
              <a:buSzPct val="125000"/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Estado de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C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ambios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en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el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P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atrimonio</a:t>
            </a:r>
            <a:endParaRPr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361676" indent="-361676">
              <a:spcBef>
                <a:spcPts val="2953"/>
              </a:spcBef>
              <a:buClr>
                <a:schemeClr val="accent3">
                  <a:lumMod val="75000"/>
                </a:schemeClr>
              </a:buClr>
              <a:buSzPct val="125000"/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Estado de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F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lujos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de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fectivo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(</a:t>
            </a: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Flujo de Caja de Tesorería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46042" y="1008878"/>
            <a:ext cx="11291329" cy="803647"/>
          </a:xfrm>
        </p:spPr>
        <p:txBody>
          <a:bodyPr>
            <a:normAutofit/>
          </a:bodyPr>
          <a:lstStyle/>
          <a:p>
            <a:r>
              <a:rPr lang="es-ES_tradnl" sz="3375">
                <a:latin typeface="Century Gothic" panose="020B0502020202020204" pitchFamily="34" charset="0"/>
              </a:rPr>
              <a:t>¿Dónde se registra la contabilidad?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F96C929-DB8B-2527-4C01-D1DEC425B5F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4" name="Picture 2" descr="Clientes y aliados | Centro de Evaluación | Uniandes">
            <a:extLst>
              <a:ext uri="{FF2B5EF4-FFF2-40B4-BE49-F238E27FC236}">
                <a16:creationId xmlns:a16="http://schemas.microsoft.com/office/drawing/2014/main" id="{0B29330A-2C00-EF66-B072-A69705FB6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ersona Pensando Vectores, Ilustraciones y Gráficos - 123RF">
            <a:extLst>
              <a:ext uri="{FF2B5EF4-FFF2-40B4-BE49-F238E27FC236}">
                <a16:creationId xmlns:a16="http://schemas.microsoft.com/office/drawing/2014/main" id="{485D3D52-548E-4E46-7FF6-13A93EDC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5192" y="3104635"/>
            <a:ext cx="1959362" cy="2193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A5BF9D4-93E5-4F14-7D4F-B9A10675217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A28FA969-D886-FD90-592A-39A11CBC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8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363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LOS ESTADOS FINANCIEROS (E.E.F.F.)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47954" y="2277834"/>
            <a:ext cx="10123262" cy="3678303"/>
          </a:xfrm>
        </p:spPr>
        <p:txBody>
          <a:bodyPr>
            <a:normAutofit/>
          </a:bodyPr>
          <a:lstStyle/>
          <a:p>
            <a:pPr algn="just"/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Para entender a profundidad el Flujo de Caja Libre es necesario hacer una breve introducción a los Estados Financieros (E.E.F.F.)</a:t>
            </a:r>
          </a:p>
          <a:p>
            <a:pPr algn="just"/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Estudiaremos rápidamente dos </a:t>
            </a: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(2)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de los Estados Financieros básicos en aras de comprender de mejor forma la construcción del flujo de caja.</a:t>
            </a:r>
          </a:p>
          <a:p>
            <a:pPr lvl="1" algn="just"/>
            <a:endParaRPr lang="es-ES" sz="1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El Estado de Situación Financiera (Balance General).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El Estado de Resultados (Estado de Pérdidas y Ganancias).</a:t>
            </a:r>
          </a:p>
          <a:p>
            <a:endParaRPr lang="es-ES" dirty="0">
              <a:latin typeface="Century Gothic" panose="020B0502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2CE5F44-96AF-168F-D1DD-5FC90853FF8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BD9610E1-6701-F02C-D54E-38B50C64C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EFB9B7A-7DB3-83BF-6553-6DAEFD490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1453" y="4116985"/>
            <a:ext cx="1931973" cy="1519529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9331D93-40B6-ED66-9432-D50CD50E738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Marcador de número de diapositiva 3">
            <a:extLst>
              <a:ext uri="{FF2B5EF4-FFF2-40B4-BE49-F238E27FC236}">
                <a16:creationId xmlns:a16="http://schemas.microsoft.com/office/drawing/2014/main" id="{7E92E3B2-AE5D-5010-3E35-67E6D421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9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7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556" y="940478"/>
            <a:ext cx="10345427" cy="803647"/>
          </a:xfrm>
        </p:spPr>
        <p:txBody>
          <a:bodyPr>
            <a:normAutofit/>
          </a:bodyPr>
          <a:lstStyle/>
          <a:p>
            <a:r>
              <a:rPr lang="es-ES_tradnl">
                <a:latin typeface="Century Gothic" panose="020B0502020202020204" pitchFamily="34" charset="0"/>
              </a:rPr>
              <a:t>¿Qué es el ESTADO DE SITUACIÓN FINANCIERA?</a:t>
            </a:r>
          </a:p>
        </p:txBody>
      </p:sp>
      <p:sp>
        <p:nvSpPr>
          <p:cNvPr id="72" name="Shape 72"/>
          <p:cNvSpPr>
            <a:spLocks noGrp="1"/>
          </p:cNvSpPr>
          <p:nvPr>
            <p:ph idx="1"/>
          </p:nvPr>
        </p:nvSpPr>
        <p:spPr>
          <a:xfrm>
            <a:off x="4196966" y="2136553"/>
            <a:ext cx="7166725" cy="40146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ctr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Es </a:t>
            </a:r>
            <a:r>
              <a:rPr sz="2000" b="1" dirty="0" err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aquel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2000" b="1" dirty="0" err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estado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2000" b="1" dirty="0" err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financiero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2000" b="1" dirty="0" err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que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2000" b="1" dirty="0" err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representa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 la </a:t>
            </a:r>
            <a:r>
              <a:rPr sz="2000" b="1" dirty="0" err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situación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2000" b="1" dirty="0" err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financiera</a:t>
            </a:r>
            <a:r>
              <a:rPr lang="es-ES"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o</a:t>
            </a:r>
            <a:r>
              <a:rPr lang="es-ES"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,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2000" b="1" dirty="0" err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dicho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2000" b="1" dirty="0" err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en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2000" b="1" dirty="0" err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otras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 palabras, la </a:t>
            </a:r>
            <a:r>
              <a:rPr sz="2000" b="1" dirty="0" err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situación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 de </a:t>
            </a:r>
            <a:r>
              <a:rPr sz="2000" b="1" dirty="0" err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los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2000" b="1" dirty="0" err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activos</a:t>
            </a:r>
            <a:r>
              <a:rPr lang="es-CO"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,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2000" b="1" dirty="0" err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pasivos</a:t>
            </a:r>
            <a:r>
              <a:rPr lang="es-CO"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, y patrimonio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 de la </a:t>
            </a:r>
            <a:r>
              <a:rPr sz="2000" b="1" dirty="0" err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empresa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2000" b="1" dirty="0" err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en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2000" b="1" dirty="0" err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una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2000" b="1" dirty="0" err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fecha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sz="2000" b="1" dirty="0" err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determinada</a:t>
            </a: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.</a:t>
            </a:r>
            <a:endParaRPr lang="es-CO" sz="2000" b="1" dirty="0">
              <a:solidFill>
                <a:schemeClr val="accent3">
                  <a:lumMod val="50000"/>
                </a:schemeClr>
              </a:solidFill>
              <a:latin typeface="Century Gothic" panose="020B0502020202020204" pitchFamily="34" charset="0"/>
            </a:endParaRPr>
          </a:p>
          <a:p>
            <a:pPr marL="0" indent="0" algn="ctr">
              <a:buSzTx/>
              <a:buNone/>
              <a:defRPr sz="1800">
                <a:solidFill>
                  <a:srgbClr val="000000"/>
                </a:solidFill>
              </a:defRPr>
            </a:pPr>
            <a:endParaRPr lang="es-CO" sz="2000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marL="0" indent="0" algn="ctr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lang="es-CO" sz="200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Se puede entender como una “fotografía” de la empresa en un momento del tiempo específico. </a:t>
            </a:r>
          </a:p>
          <a:p>
            <a:pPr marL="0" indent="0" algn="ctr">
              <a:buSzTx/>
              <a:buNone/>
              <a:defRPr sz="1800">
                <a:solidFill>
                  <a:srgbClr val="000000"/>
                </a:solidFill>
              </a:defRPr>
            </a:pPr>
            <a:endParaRPr lang="es-ES_tradnl" sz="2000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4846409-481F-62E8-7ECB-BBF7CCD0AA7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83688FB-20A7-DE93-BD83-0A894D156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mpresario De Dibujos Animados Buscar Diana En Dirección Equivocada  Ilustraciones svg, vectoriales, clip art vectorizado libre de derechos.  Image 59598266">
            <a:extLst>
              <a:ext uri="{FF2B5EF4-FFF2-40B4-BE49-F238E27FC236}">
                <a16:creationId xmlns:a16="http://schemas.microsoft.com/office/drawing/2014/main" id="{DFA738F2-6DC3-DBE4-A6F1-0EF8F2ADF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422" y="2789621"/>
            <a:ext cx="2535195" cy="2535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C5C995A-5E97-6675-06D3-F3E7568EB80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0C740E-DA9D-C0E4-2E6A-F30A30EED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10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007967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57556" y="975732"/>
            <a:ext cx="10345427" cy="803647"/>
          </a:xfrm>
        </p:spPr>
        <p:txBody>
          <a:bodyPr>
            <a:normAutofit/>
          </a:bodyPr>
          <a:lstStyle/>
          <a:p>
            <a:r>
              <a:rPr lang="es-ES_tradnl">
                <a:latin typeface="Century Gothic" panose="020B0502020202020204" pitchFamily="34" charset="0"/>
              </a:rPr>
              <a:t>¿Qué es el ESTADO DE SITUACIÓN FINANCIERA?</a:t>
            </a:r>
          </a:p>
        </p:txBody>
      </p:sp>
      <p:sp>
        <p:nvSpPr>
          <p:cNvPr id="17" name="Shape 72"/>
          <p:cNvSpPr>
            <a:spLocks noGrp="1"/>
          </p:cNvSpPr>
          <p:nvPr>
            <p:ph idx="1"/>
          </p:nvPr>
        </p:nvSpPr>
        <p:spPr>
          <a:xfrm>
            <a:off x="1981328" y="1634214"/>
            <a:ext cx="7619767" cy="103087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ctr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lang="es-ES_tradnl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A continuación, el ejemplo del Estado de Situación Financiera de la empresa Colombina S.A. (Millones de Pesos)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3EE7C7B-8BF0-D205-144B-1408BAD5AA0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30FEEA3E-D6C9-A9AC-C4BA-4E324E30B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00D3B33F-2DC0-E428-14B7-40AD3FA8A6E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671A0E0-ADA4-C0C8-3B9A-36B97A22E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647" y="2761138"/>
            <a:ext cx="4552367" cy="363416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2B4651E8-9E5F-E7C9-CDD3-675E12FD2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321" y="2638917"/>
            <a:ext cx="5491077" cy="3720889"/>
          </a:xfrm>
          <a:prstGeom prst="rect">
            <a:avLst/>
          </a:prstGeom>
        </p:spPr>
      </p:pic>
      <p:sp>
        <p:nvSpPr>
          <p:cNvPr id="11" name="Shape 78"/>
          <p:cNvSpPr/>
          <p:nvPr/>
        </p:nvSpPr>
        <p:spPr>
          <a:xfrm>
            <a:off x="6533646" y="2597780"/>
            <a:ext cx="4586817" cy="2836369"/>
          </a:xfrm>
          <a:prstGeom prst="roundRect">
            <a:avLst>
              <a:gd name="adj" fmla="val 19531"/>
            </a:avLst>
          </a:prstGeom>
          <a:blipFill>
            <a:blip r:embed="rId5">
              <a:alphaModFix amt="30000"/>
            </a:blip>
          </a:blipFill>
          <a:ln w="12700">
            <a:miter lim="400000"/>
          </a:ln>
          <a:effectLst>
            <a:outerShdw blurRad="50800" dist="25400" dir="5400000" rotWithShape="0">
              <a:srgbClr val="000000">
                <a:alpha val="60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 sz="3000">
                <a:solidFill>
                  <a:srgbClr val="FFFFFF"/>
                </a:solidFill>
                <a:effectLst>
                  <a:outerShdw blurRad="254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9" name="Shape 77"/>
          <p:cNvSpPr/>
          <p:nvPr/>
        </p:nvSpPr>
        <p:spPr>
          <a:xfrm>
            <a:off x="834471" y="2597780"/>
            <a:ext cx="5699174" cy="3720889"/>
          </a:xfrm>
          <a:prstGeom prst="roundRect">
            <a:avLst>
              <a:gd name="adj" fmla="val 13654"/>
            </a:avLst>
          </a:prstGeom>
          <a:blipFill>
            <a:blip r:embed="rId6">
              <a:alphaModFix amt="30000"/>
            </a:blip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solidFill>
                  <a:srgbClr val="FFFFFF"/>
                </a:solidFill>
                <a:effectLst>
                  <a:outerShdw blurRad="254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10" name="Shape 80"/>
          <p:cNvSpPr/>
          <p:nvPr/>
        </p:nvSpPr>
        <p:spPr>
          <a:xfrm>
            <a:off x="3068138" y="4055615"/>
            <a:ext cx="2048987" cy="90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spcBef>
                <a:spcPts val="4200"/>
              </a:spcBef>
              <a:defRPr sz="3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 b="1">
                <a:solidFill>
                  <a:srgbClr val="C00000"/>
                </a:solidFill>
                <a:latin typeface="Century Gothic" panose="020B0502020202020204" pitchFamily="34" charset="0"/>
              </a:rPr>
              <a:t>Activos</a:t>
            </a:r>
          </a:p>
        </p:txBody>
      </p:sp>
      <p:sp>
        <p:nvSpPr>
          <p:cNvPr id="13" name="Shape 81"/>
          <p:cNvSpPr/>
          <p:nvPr/>
        </p:nvSpPr>
        <p:spPr>
          <a:xfrm>
            <a:off x="8509313" y="3707963"/>
            <a:ext cx="2048987" cy="90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spcBef>
                <a:spcPts val="4200"/>
              </a:spcBef>
              <a:defRPr sz="3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 b="1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</a:rPr>
              <a:t>Pasivos</a:t>
            </a:r>
          </a:p>
        </p:txBody>
      </p:sp>
      <p:sp>
        <p:nvSpPr>
          <p:cNvPr id="12" name="Shape 79"/>
          <p:cNvSpPr/>
          <p:nvPr/>
        </p:nvSpPr>
        <p:spPr>
          <a:xfrm>
            <a:off x="6499198" y="5434149"/>
            <a:ext cx="4586816" cy="903127"/>
          </a:xfrm>
          <a:prstGeom prst="roundRect">
            <a:avLst>
              <a:gd name="adj" fmla="val 42290"/>
            </a:avLst>
          </a:prstGeom>
          <a:gradFill>
            <a:gsLst>
              <a:gs pos="0">
                <a:srgbClr val="80A7A7">
                  <a:alpha val="30000"/>
                </a:srgbClr>
              </a:gs>
              <a:gs pos="100000">
                <a:srgbClr val="588388">
                  <a:alpha val="3000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000">
                <a:solidFill>
                  <a:srgbClr val="FFFFFF"/>
                </a:solidFill>
                <a:effectLst>
                  <a:outerShdw blurRad="254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14" name="Shape 82"/>
          <p:cNvSpPr/>
          <p:nvPr/>
        </p:nvSpPr>
        <p:spPr>
          <a:xfrm>
            <a:off x="8274931" y="5477847"/>
            <a:ext cx="2048987" cy="90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spcBef>
                <a:spcPts val="4200"/>
              </a:spcBef>
              <a:defRPr sz="3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s-CO" sz="1800" b="1">
                <a:solidFill>
                  <a:srgbClr val="0070C0"/>
                </a:solidFill>
                <a:latin typeface="Century Gothic" panose="020B0502020202020204" pitchFamily="34" charset="0"/>
              </a:rPr>
              <a:t>Patrimonio</a:t>
            </a:r>
            <a:endParaRPr sz="1800" b="1">
              <a:solidFill>
                <a:srgbClr val="0070C0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F1A50DB2-0E61-3826-3192-FA418C7AD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11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584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0" grpId="0" animBg="1"/>
      <p:bldP spid="13" grpId="0" animBg="1"/>
      <p:bldP spid="12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CC0A3-C623-90F2-C1E2-C368C1077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>
            <a:extLst>
              <a:ext uri="{FF2B5EF4-FFF2-40B4-BE49-F238E27FC236}">
                <a16:creationId xmlns:a16="http://schemas.microsoft.com/office/drawing/2014/main" id="{BA19A034-853C-E73E-6C90-E3A258D40AD2}"/>
              </a:ext>
            </a:extLst>
          </p:cNvPr>
          <p:cNvSpPr/>
          <p:nvPr/>
        </p:nvSpPr>
        <p:spPr>
          <a:xfrm>
            <a:off x="3669555" y="3087259"/>
            <a:ext cx="2512594" cy="3100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Lado Izquierdo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7B269105-DCB0-EB2B-02D8-E8A3FA5E4A4D}"/>
              </a:ext>
            </a:extLst>
          </p:cNvPr>
          <p:cNvSpPr/>
          <p:nvPr/>
        </p:nvSpPr>
        <p:spPr>
          <a:xfrm>
            <a:off x="6180502" y="3086450"/>
            <a:ext cx="2512594" cy="31008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Lado Derecho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34B491-9E03-945D-9456-0F90FC7551F5}"/>
              </a:ext>
            </a:extLst>
          </p:cNvPr>
          <p:cNvSpPr/>
          <p:nvPr/>
        </p:nvSpPr>
        <p:spPr>
          <a:xfrm>
            <a:off x="3667909" y="3099679"/>
            <a:ext cx="2512594" cy="3100819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latin typeface="Century Gothic" panose="020B0502020202020204" pitchFamily="34" charset="0"/>
              </a:rPr>
              <a:t>Activos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1FCF882-DA68-B631-D13D-FBF820650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>
                <a:latin typeface="Century Gothic" panose="020B0502020202020204" pitchFamily="34" charset="0"/>
              </a:rPr>
              <a:t>EL ESTADO DE SITUACIÓN FINANCIERA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E7A197-73B9-8262-06B6-FBB777525290}"/>
              </a:ext>
            </a:extLst>
          </p:cNvPr>
          <p:cNvSpPr/>
          <p:nvPr/>
        </p:nvSpPr>
        <p:spPr>
          <a:xfrm>
            <a:off x="6178857" y="3086855"/>
            <a:ext cx="2510948" cy="189758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latin typeface="Century Gothic" panose="020B0502020202020204" pitchFamily="34" charset="0"/>
              </a:rPr>
              <a:t>Pasivos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6D3980-EF77-2856-0BEA-DD0D580C7998}"/>
              </a:ext>
            </a:extLst>
          </p:cNvPr>
          <p:cNvSpPr/>
          <p:nvPr/>
        </p:nvSpPr>
        <p:spPr>
          <a:xfrm>
            <a:off x="6180503" y="4985244"/>
            <a:ext cx="2512594" cy="121525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latin typeface="Century Gothic" panose="020B0502020202020204" pitchFamily="34" charset="0"/>
              </a:rPr>
              <a:t>Patrimonio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9BD35E86-B90A-F8E5-E5DD-C829BA53B845}"/>
              </a:ext>
            </a:extLst>
          </p:cNvPr>
          <p:cNvSpPr/>
          <p:nvPr/>
        </p:nvSpPr>
        <p:spPr>
          <a:xfrm>
            <a:off x="3092233" y="2950714"/>
            <a:ext cx="575676" cy="3386330"/>
          </a:xfrm>
          <a:prstGeom prst="leftBrac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EC05F42D-E979-9727-1834-05B205411B1C}"/>
              </a:ext>
            </a:extLst>
          </p:cNvPr>
          <p:cNvSpPr/>
          <p:nvPr/>
        </p:nvSpPr>
        <p:spPr>
          <a:xfrm rot="10800000">
            <a:off x="8693097" y="2950714"/>
            <a:ext cx="575676" cy="338633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3D7385E0-8602-0C30-D74C-A65E58761096}"/>
              </a:ext>
            </a:extLst>
          </p:cNvPr>
          <p:cNvSpPr txBox="1">
            <a:spLocks/>
          </p:cNvSpPr>
          <p:nvPr/>
        </p:nvSpPr>
        <p:spPr>
          <a:xfrm>
            <a:off x="1415434" y="4268379"/>
            <a:ext cx="1487767" cy="6144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_tradnl" sz="1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Política de Inversión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802F449-F04A-82F5-C9BB-D24A5FDF9DCF}"/>
              </a:ext>
            </a:extLst>
          </p:cNvPr>
          <p:cNvSpPr txBox="1">
            <a:spLocks/>
          </p:cNvSpPr>
          <p:nvPr/>
        </p:nvSpPr>
        <p:spPr>
          <a:xfrm>
            <a:off x="9268774" y="4291061"/>
            <a:ext cx="1716552" cy="6144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_tradnl" sz="1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Política de Financiación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DAA6320-313E-197D-6AE3-978DA3C70BE9}"/>
              </a:ext>
            </a:extLst>
          </p:cNvPr>
          <p:cNvSpPr/>
          <p:nvPr/>
        </p:nvSpPr>
        <p:spPr>
          <a:xfrm>
            <a:off x="3834804" y="2244037"/>
            <a:ext cx="45223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spcBef>
                <a:spcPts val="2000"/>
              </a:spcBef>
              <a:buClr>
                <a:schemeClr val="accent1"/>
              </a:buClr>
            </a:pPr>
            <a:r>
              <a:rPr lang="en-US" sz="2000">
                <a:solidFill>
                  <a:schemeClr val="accent1"/>
                </a:solidFill>
                <a:latin typeface="Century Gothic" panose="020B0502020202020204" pitchFamily="34" charset="0"/>
              </a:rPr>
              <a:t>ACTIVOS </a:t>
            </a:r>
            <a:r>
              <a:rPr lang="en-US" sz="2000" b="1">
                <a:solidFill>
                  <a:srgbClr val="D7A700"/>
                </a:solidFill>
                <a:latin typeface="Century Gothic" panose="020B0502020202020204" pitchFamily="34" charset="0"/>
              </a:rPr>
              <a:t>=</a:t>
            </a:r>
            <a:r>
              <a:rPr lang="en-US" sz="2000">
                <a:solidFill>
                  <a:schemeClr val="accent1"/>
                </a:solidFill>
                <a:latin typeface="Century Gothic" panose="020B0502020202020204" pitchFamily="34" charset="0"/>
              </a:rPr>
              <a:t> PASIVOS </a:t>
            </a:r>
            <a:r>
              <a:rPr lang="en-US" sz="2000" b="1">
                <a:solidFill>
                  <a:srgbClr val="D7A700"/>
                </a:solidFill>
                <a:latin typeface="Century Gothic" panose="020B0502020202020204" pitchFamily="34" charset="0"/>
              </a:rPr>
              <a:t>+</a:t>
            </a:r>
            <a:r>
              <a:rPr lang="en-US" sz="2000">
                <a:solidFill>
                  <a:schemeClr val="accent1"/>
                </a:solidFill>
                <a:latin typeface="Century Gothic" panose="020B0502020202020204" pitchFamily="34" charset="0"/>
              </a:rPr>
              <a:t> PATRIMONIO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5BB4BD4-66AD-E460-55CC-CC090749844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23" name="Picture 2" descr="Clientes y aliados | Centro de Evaluación | Uniandes">
            <a:extLst>
              <a:ext uri="{FF2B5EF4-FFF2-40B4-BE49-F238E27FC236}">
                <a16:creationId xmlns:a16="http://schemas.microsoft.com/office/drawing/2014/main" id="{5A00D9CB-44BB-D1DB-CBD1-BB20D1C10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F836EE18-992C-D7A2-E9A1-79485EA7F06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DC249D0B-61C7-4A65-77F1-4B7AA70C4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12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142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4" grpId="0" animBg="1"/>
      <p:bldP spid="10" grpId="0" animBg="1"/>
      <p:bldP spid="12" grpId="0"/>
      <p:bldP spid="13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/>
          <p:nvPr/>
        </p:nvSpPr>
        <p:spPr>
          <a:xfrm>
            <a:off x="3669555" y="3087259"/>
            <a:ext cx="2512594" cy="31008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Lado Izquierdo</a:t>
            </a:r>
          </a:p>
        </p:txBody>
      </p:sp>
      <p:sp>
        <p:nvSpPr>
          <p:cNvPr id="16" name="Rectangle 2"/>
          <p:cNvSpPr/>
          <p:nvPr/>
        </p:nvSpPr>
        <p:spPr>
          <a:xfrm>
            <a:off x="6180502" y="3086450"/>
            <a:ext cx="2512594" cy="31008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Lado Derecho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67909" y="3920188"/>
            <a:ext cx="2512594" cy="2280310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latin typeface="Century Gothic" panose="020B0502020202020204" pitchFamily="34" charset="0"/>
              </a:rPr>
              <a:t>Activo No Corriente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2149" y="3933844"/>
            <a:ext cx="2512594" cy="1051401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latin typeface="Century Gothic" panose="020B0502020202020204" pitchFamily="34" charset="0"/>
              </a:rPr>
              <a:t>Deudas o Pasivos de </a:t>
            </a:r>
          </a:p>
          <a:p>
            <a:pPr algn="ctr"/>
            <a:r>
              <a:rPr lang="es-ES_tradnl" sz="1600">
                <a:latin typeface="Century Gothic" panose="020B0502020202020204" pitchFamily="34" charset="0"/>
              </a:rPr>
              <a:t>Largo Plazo/Pasivo No Corriente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>
                <a:latin typeface="Century Gothic" panose="020B0502020202020204" pitchFamily="34" charset="0"/>
              </a:rPr>
              <a:t>EL ESTADO DE SITUACIÓN FINANCIERA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638424" y="2200453"/>
            <a:ext cx="7610476" cy="3670767"/>
          </a:xfrm>
        </p:spPr>
        <p:txBody>
          <a:bodyPr/>
          <a:lstStyle/>
          <a:p>
            <a:pPr algn="just"/>
            <a:endParaRPr lang="es-ES_tradnl"/>
          </a:p>
          <a:p>
            <a:pPr lvl="1" algn="just">
              <a:buFont typeface="Wingdings" charset="2"/>
              <a:buChar char="§"/>
            </a:pPr>
            <a:endParaRPr lang="es-ES_tradnl"/>
          </a:p>
        </p:txBody>
      </p:sp>
      <p:sp>
        <p:nvSpPr>
          <p:cNvPr id="7" name="Rectangle 6"/>
          <p:cNvSpPr/>
          <p:nvPr/>
        </p:nvSpPr>
        <p:spPr>
          <a:xfrm>
            <a:off x="3667086" y="3075711"/>
            <a:ext cx="2512594" cy="846584"/>
          </a:xfrm>
          <a:prstGeom prst="rect">
            <a:avLst/>
          </a:prstGeom>
          <a:solidFill>
            <a:schemeClr val="accent5">
              <a:lumMod val="2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latin typeface="Century Gothic" panose="020B0502020202020204" pitchFamily="34" charset="0"/>
              </a:rPr>
              <a:t>Activo Corriente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8857" y="3086855"/>
            <a:ext cx="2510948" cy="84658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latin typeface="Century Gothic" panose="020B0502020202020204" pitchFamily="34" charset="0"/>
              </a:rPr>
              <a:t>Pasivo Corriente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0503" y="4985244"/>
            <a:ext cx="2512594" cy="121525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latin typeface="Century Gothic" panose="020B0502020202020204" pitchFamily="34" charset="0"/>
              </a:rPr>
              <a:t>Patrimonio</a:t>
            </a:r>
          </a:p>
        </p:txBody>
      </p:sp>
      <p:sp>
        <p:nvSpPr>
          <p:cNvPr id="4" name="Left Brace 3"/>
          <p:cNvSpPr/>
          <p:nvPr/>
        </p:nvSpPr>
        <p:spPr>
          <a:xfrm>
            <a:off x="3092233" y="2950714"/>
            <a:ext cx="575676" cy="3386330"/>
          </a:xfrm>
          <a:prstGeom prst="leftBrac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/>
          <p:cNvSpPr/>
          <p:nvPr/>
        </p:nvSpPr>
        <p:spPr>
          <a:xfrm rot="10800000">
            <a:off x="8693097" y="2950714"/>
            <a:ext cx="575676" cy="338633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6"/>
          <p:cNvSpPr txBox="1">
            <a:spLocks/>
          </p:cNvSpPr>
          <p:nvPr/>
        </p:nvSpPr>
        <p:spPr>
          <a:xfrm>
            <a:off x="1415434" y="4268379"/>
            <a:ext cx="1487767" cy="6144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_tradnl" sz="1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Política de Inversión</a:t>
            </a:r>
          </a:p>
        </p:txBody>
      </p:sp>
      <p:sp>
        <p:nvSpPr>
          <p:cNvPr id="13" name="Content Placeholder 6"/>
          <p:cNvSpPr txBox="1">
            <a:spLocks/>
          </p:cNvSpPr>
          <p:nvPr/>
        </p:nvSpPr>
        <p:spPr>
          <a:xfrm>
            <a:off x="9268774" y="4291061"/>
            <a:ext cx="1716552" cy="6144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_tradnl" sz="180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</a:rPr>
              <a:t>Política de Financiación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3834804" y="2244037"/>
            <a:ext cx="45223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spcBef>
                <a:spcPts val="2000"/>
              </a:spcBef>
              <a:buClr>
                <a:schemeClr val="accent1"/>
              </a:buClr>
            </a:pPr>
            <a:r>
              <a:rPr lang="en-US" sz="2000">
                <a:solidFill>
                  <a:schemeClr val="accent1"/>
                </a:solidFill>
                <a:latin typeface="Century Gothic" panose="020B0502020202020204" pitchFamily="34" charset="0"/>
              </a:rPr>
              <a:t>ACTIVOS </a:t>
            </a:r>
            <a:r>
              <a:rPr lang="en-US" sz="2000" b="1">
                <a:solidFill>
                  <a:srgbClr val="D7A700"/>
                </a:solidFill>
                <a:latin typeface="Century Gothic" panose="020B0502020202020204" pitchFamily="34" charset="0"/>
              </a:rPr>
              <a:t>=</a:t>
            </a:r>
            <a:r>
              <a:rPr lang="en-US" sz="2000">
                <a:solidFill>
                  <a:schemeClr val="accent1"/>
                </a:solidFill>
                <a:latin typeface="Century Gothic" panose="020B0502020202020204" pitchFamily="34" charset="0"/>
              </a:rPr>
              <a:t> PASIVOS </a:t>
            </a:r>
            <a:r>
              <a:rPr lang="en-US" sz="2000" b="1">
                <a:solidFill>
                  <a:srgbClr val="D7A700"/>
                </a:solidFill>
                <a:latin typeface="Century Gothic" panose="020B0502020202020204" pitchFamily="34" charset="0"/>
              </a:rPr>
              <a:t>+</a:t>
            </a:r>
            <a:r>
              <a:rPr lang="en-US" sz="2000">
                <a:solidFill>
                  <a:schemeClr val="accent1"/>
                </a:solidFill>
                <a:latin typeface="Century Gothic" panose="020B0502020202020204" pitchFamily="34" charset="0"/>
              </a:rPr>
              <a:t> PATRIMONIO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E83DB91-6DDB-F8C9-B169-49013524F93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23" name="Picture 2" descr="Clientes y aliados | Centro de Evaluación | Uniandes">
            <a:extLst>
              <a:ext uri="{FF2B5EF4-FFF2-40B4-BE49-F238E27FC236}">
                <a16:creationId xmlns:a16="http://schemas.microsoft.com/office/drawing/2014/main" id="{5590B544-A925-C4A9-EBF7-55BC700F5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ABF9BB56-DAB1-2D3A-E0F0-FB43E99EDF8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8" name="Marcador de número de diapositiva 3">
            <a:extLst>
              <a:ext uri="{FF2B5EF4-FFF2-40B4-BE49-F238E27FC236}">
                <a16:creationId xmlns:a16="http://schemas.microsoft.com/office/drawing/2014/main" id="{F9E216B6-7280-7718-D4EA-B5989AA8B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13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33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7" grpId="0" animBg="1"/>
      <p:bldP spid="6" grpId="0" animBg="1"/>
      <p:bldP spid="9" grpId="0" animBg="1"/>
      <p:bldP spid="4" grpId="0" animBg="1"/>
      <p:bldP spid="10" grpId="0" animBg="1"/>
      <p:bldP spid="12" grpId="0"/>
      <p:bldP spid="13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46043" y="975665"/>
            <a:ext cx="11291330" cy="803647"/>
          </a:xfrm>
        </p:spPr>
        <p:txBody>
          <a:bodyPr>
            <a:noAutofit/>
          </a:bodyPr>
          <a:lstStyle/>
          <a:p>
            <a:r>
              <a:rPr lang="es-ES_tradnl" sz="2400">
                <a:latin typeface="Century Gothic" panose="020B0502020202020204" pitchFamily="34" charset="0"/>
              </a:rPr>
              <a:t>¿Cómo es la estructura del ESTADO DE SITUACIÓN FINANCIERA?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284D2C9-F225-0FE8-1F70-DB55164B0B4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61364DEB-FDAF-4DDC-647A-77D84FE3C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147">
            <a:extLst>
              <a:ext uri="{FF2B5EF4-FFF2-40B4-BE49-F238E27FC236}">
                <a16:creationId xmlns:a16="http://schemas.microsoft.com/office/drawing/2014/main" id="{F04E7F52-C797-5FAA-A991-068937032C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4929608"/>
              </p:ext>
            </p:extLst>
          </p:nvPr>
        </p:nvGraphicFramePr>
        <p:xfrm>
          <a:off x="3415002" y="1827666"/>
          <a:ext cx="5546117" cy="4807474"/>
        </p:xfrm>
        <a:graphic>
          <a:graphicData uri="http://schemas.openxmlformats.org/drawingml/2006/table">
            <a:tbl>
              <a:tblPr firstRow="1"/>
              <a:tblGrid>
                <a:gridCol w="308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6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123"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123"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b="1" spc="56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Activos</a:t>
                      </a:r>
                      <a:r>
                        <a:rPr sz="9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 Corrientes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Pasivos Corrientes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9">
                  <a:txBody>
                    <a:bodyPr/>
                    <a:lstStyle/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900" i="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8">
                  <a:txBody>
                    <a:bodyPr/>
                    <a:lstStyle/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90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Pasivos </a:t>
                      </a:r>
                      <a:r>
                        <a:rPr lang="es-ES" sz="9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No Corrientes</a:t>
                      </a:r>
                      <a:endParaRPr sz="900" b="1" spc="56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123"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b="1" spc="56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Activos</a:t>
                      </a:r>
                      <a:r>
                        <a:rPr sz="9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es-ES" sz="9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No Corrientes</a:t>
                      </a:r>
                      <a:endParaRPr sz="900" b="1" spc="56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90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90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b="1" spc="56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Patrimonio</a:t>
                      </a:r>
                      <a:endParaRPr sz="900" b="1" spc="56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25014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4123"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900" b="1" spc="56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90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22E3336D-63FD-5605-19E2-BDE08D46ECA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8D4EA847-DAA1-4BFD-2C47-2DAFC7A8E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14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530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/>
        </p:nvSpPr>
        <p:spPr>
          <a:xfrm>
            <a:off x="6217566" y="3585385"/>
            <a:ext cx="5149343" cy="803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Autofit/>
          </a:bodyPr>
          <a:lstStyle/>
          <a:p>
            <a:pPr algn="ct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lang="es-ES" dirty="0">
                <a:solidFill>
                  <a:schemeClr val="accent3">
                    <a:lumMod val="50000"/>
                  </a:schemeClr>
                </a:solidFill>
                <a:latin typeface="Century Gothic"/>
              </a:rPr>
              <a:t>Recurso controlado por una entidad como resultado de sucesos pasados, del que se espera obtener beneficios económicos en el futuro. Esto implica que el activo debe cumplir tres criterios: ser un recurso, estar controlado por la empresa, y generar beneficios futuros para esta.</a:t>
            </a:r>
            <a:endParaRPr dirty="0">
              <a:solidFill>
                <a:schemeClr val="accent3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46043" y="967522"/>
            <a:ext cx="7249775" cy="803647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¿Qué es un activo?</a:t>
            </a:r>
          </a:p>
        </p:txBody>
      </p:sp>
      <p:pic>
        <p:nvPicPr>
          <p:cNvPr id="2050" name="Picture 2" descr="Resultado de imagen para activos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2546701"/>
            <a:ext cx="5484091" cy="286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4CC4F635-E80B-E9BE-3C40-E4A75C26F09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F44DE8D4-FC5A-AF5C-CFFD-34425FD0F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0CF5563E-4123-9B27-C6EE-5CF453E68F4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90C47C60-8B22-316E-757E-19118BB5E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15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53918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/>
          <p:nvPr/>
        </p:nvSpPr>
        <p:spPr>
          <a:xfrm>
            <a:off x="3757810" y="2348842"/>
            <a:ext cx="7455972" cy="3672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/>
          <a:p>
            <a:pPr algn="just" defTabSz="377928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r>
              <a:rPr lang="es-CO" b="1" dirty="0">
                <a:solidFill>
                  <a:srgbClr val="C00000"/>
                </a:solidFill>
                <a:latin typeface="Century Gothic" panose="020B0502020202020204" pitchFamily="34" charset="0"/>
              </a:rPr>
              <a:t>Efectivo y equivalentes</a:t>
            </a: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: 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El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efectivo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disponible de la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compañía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algn="just" defTabSz="377928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Inversiones </a:t>
            </a:r>
            <a:r>
              <a:rPr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Temporales</a:t>
            </a: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:</a:t>
            </a:r>
            <a:r>
              <a:rPr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Títulos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o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valores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de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fácil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realización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algn="just" defTabSz="377928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Cuentas </a:t>
            </a:r>
            <a:r>
              <a:rPr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por</a:t>
            </a: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  <a:r>
              <a:rPr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Cobrar</a:t>
            </a: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: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Ingresos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de la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operación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del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negocio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que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aún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no se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han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cobrado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algn="just" defTabSz="377928">
              <a:spcBef>
                <a:spcPts val="2672"/>
              </a:spcBef>
              <a:defRPr sz="1800">
                <a:solidFill>
                  <a:srgbClr val="000000"/>
                </a:solidFill>
              </a:defRPr>
            </a:pPr>
            <a:r>
              <a:rPr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Inventarios</a:t>
            </a: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:  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Materia prima,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Producto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en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proceso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,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Producto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terminado</a:t>
            </a: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  <a:endParaRPr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46043" y="986684"/>
            <a:ext cx="7249775" cy="803647"/>
          </a:xfrm>
        </p:spPr>
        <p:txBody>
          <a:bodyPr/>
          <a:lstStyle/>
          <a:p>
            <a:r>
              <a:rPr lang="es-ES_tradnl" sz="3094">
                <a:latin typeface="Century Gothic" panose="020B0502020202020204" pitchFamily="34" charset="0"/>
              </a:rPr>
              <a:t>Activos Corrientes</a:t>
            </a:r>
          </a:p>
        </p:txBody>
      </p:sp>
      <p:pic>
        <p:nvPicPr>
          <p:cNvPr id="10" name="Picture 2" descr="Resultado de imagen para activos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AF8F9"/>
              </a:clrFrom>
              <a:clrTo>
                <a:srgbClr val="FAF8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60" y="2888638"/>
            <a:ext cx="3159306" cy="1650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658346D0-FC50-DF1F-4240-39EAE89529E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2" descr="Clientes y aliados | Centro de Evaluación | Uniandes">
            <a:extLst>
              <a:ext uri="{FF2B5EF4-FFF2-40B4-BE49-F238E27FC236}">
                <a16:creationId xmlns:a16="http://schemas.microsoft.com/office/drawing/2014/main" id="{D8EA14A7-6BF6-8BD9-FA7E-52DB776A2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2FC374D-6B61-6A62-D427-4C33DA999C2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F3C791B9-5E53-C828-A554-C2E2570E7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16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22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42DE7-D638-C3AD-1C7E-88D6A8380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714BE45-2F26-888E-645B-220C7C4E2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42" y="972335"/>
            <a:ext cx="11164765" cy="803647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_tradnl" sz="2400">
                <a:latin typeface="Century Gothic" panose="020B0502020202020204" pitchFamily="34" charset="0"/>
              </a:rPr>
              <a:t>¿Cómo es la estructura del ESTADO DE SITUACIÓN FINANCIERA?</a:t>
            </a:r>
            <a:endParaRPr lang="es-ES_tradnl" sz="2000"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CE0D78B-65B2-8466-64AD-F05FEB5CFDD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FF8C41BF-F868-E4E5-2F22-5A84922CE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147">
            <a:extLst>
              <a:ext uri="{FF2B5EF4-FFF2-40B4-BE49-F238E27FC236}">
                <a16:creationId xmlns:a16="http://schemas.microsoft.com/office/drawing/2014/main" id="{0F53ECB7-65D3-3649-15C6-2EAC4DEAEC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7379266"/>
              </p:ext>
            </p:extLst>
          </p:nvPr>
        </p:nvGraphicFramePr>
        <p:xfrm>
          <a:off x="3249424" y="1932416"/>
          <a:ext cx="5546117" cy="4722251"/>
        </p:xfrm>
        <a:graphic>
          <a:graphicData uri="http://schemas.openxmlformats.org/drawingml/2006/table">
            <a:tbl>
              <a:tblPr firstRow="1"/>
              <a:tblGrid>
                <a:gridCol w="308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6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123"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123"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Activos Corrientes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Pasivos Corrientes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2984">
                <a:tc rowSpan="2" gridSpan="2">
                  <a:txBody>
                    <a:bodyPr/>
                    <a:lstStyle/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Activos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líquidos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en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el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b="1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corto</a:t>
                      </a:r>
                      <a:r>
                        <a:rPr sz="1100" b="1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b="1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plazo</a:t>
                      </a:r>
                      <a:r>
                        <a:rPr sz="1100" b="1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.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Es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decir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,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aquellos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activos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de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fácil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realización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en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el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momento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en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el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que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la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empresa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tenga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la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intención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de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convertirlos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en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dinero,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venderlos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o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consumirlos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.</a:t>
                      </a:r>
                      <a:endParaRPr lang="es-CO" sz="1100" i="0" spc="56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s-CO" sz="1100" i="0" spc="56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s-CO" sz="1100" b="1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Corto plazo: </a:t>
                      </a:r>
                      <a:r>
                        <a:rPr lang="es-CO"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Menor o igual a 1 año.</a:t>
                      </a:r>
                      <a:endParaRPr sz="1100" i="0" spc="56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s-CO" sz="110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123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1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Pasivos </a:t>
                      </a:r>
                      <a:r>
                        <a:rPr lang="es-ES" sz="11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No Corrientes</a:t>
                      </a:r>
                      <a:endParaRPr sz="1100" b="1" spc="56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123"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100" b="1" spc="56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Activos</a:t>
                      </a:r>
                      <a:r>
                        <a:rPr sz="11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es-ES" sz="11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No Corrientes</a:t>
                      </a:r>
                      <a:endParaRPr sz="1100" b="1" spc="56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s-CO" sz="110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123">
                <a:tc rowSpan="3" gridSpan="2"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s-CO" sz="110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4123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100" b="1" spc="56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Patrimonio</a:t>
                      </a:r>
                      <a:endParaRPr sz="1100" b="1" spc="56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822442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spc="56"/>
                      </a:pPr>
                      <a:endParaRPr lang="es-CO" sz="110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pPr lvl="0" defTabSz="914400">
                        <a:defRPr sz="1400" spc="56"/>
                      </a:pPr>
                      <a:endParaRPr sz="11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 hMerge="1">
                  <a:txBody>
                    <a:bodyPr/>
                    <a:lstStyle/>
                    <a:p>
                      <a:pPr lvl="0" algn="l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4123"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1100" b="1" spc="56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vl="0" algn="l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11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110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11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05B50B28-4DEB-02B3-8FF5-874044B80F4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2EE1AEBB-1751-B085-0B6B-ED9C191EE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17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683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/>
        </p:nvSpPr>
        <p:spPr>
          <a:xfrm>
            <a:off x="641965" y="2064368"/>
            <a:ext cx="10968842" cy="4532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/>
          <a:p>
            <a:pPr defTabSz="267014">
              <a:spcBef>
                <a:spcPts val="1898"/>
              </a:spcBef>
              <a:defRPr sz="1800">
                <a:solidFill>
                  <a:srgbClr val="000000"/>
                </a:solidFill>
              </a:defRPr>
            </a:pPr>
            <a:r>
              <a:rPr b="1" u="sng" dirty="0">
                <a:solidFill>
                  <a:srgbClr val="C00000"/>
                </a:solidFill>
                <a:latin typeface="Century Gothic" panose="020B0502020202020204" pitchFamily="34" charset="0"/>
              </a:rPr>
              <a:t>Activos Tangibles</a:t>
            </a:r>
          </a:p>
          <a:p>
            <a:pPr algn="just" defTabSz="267014">
              <a:spcBef>
                <a:spcPts val="1898"/>
              </a:spcBef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rgbClr val="606060"/>
                </a:solidFill>
                <a:latin typeface="Century Gothic" panose="020B0502020202020204" pitchFamily="34" charset="0"/>
              </a:rPr>
              <a:t>	</a:t>
            </a:r>
            <a:r>
              <a:rPr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Depreciables</a:t>
            </a:r>
            <a:r>
              <a:rPr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: 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Edificios,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maquinaria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,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herramientas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y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equipos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algn="just" defTabSz="267014">
              <a:spcBef>
                <a:spcPts val="1898"/>
              </a:spcBef>
              <a:defRPr sz="1800">
                <a:solidFill>
                  <a:srgbClr val="000000"/>
                </a:solidFill>
              </a:defRPr>
            </a:pP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	</a:t>
            </a:r>
            <a:r>
              <a:rPr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No </a:t>
            </a:r>
            <a:r>
              <a:rPr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Depreciables</a:t>
            </a:r>
            <a:r>
              <a:rPr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: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Terrenos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,</a:t>
            </a: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 inversiones permanentes,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construcciones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en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curso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,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maquinaria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en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	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montaje</a:t>
            </a: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, maquinaria en  transporte, metales y piedras preciosas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 defTabSz="267014">
              <a:spcBef>
                <a:spcPts val="1898"/>
              </a:spcBef>
              <a:defRPr sz="1800">
                <a:solidFill>
                  <a:srgbClr val="000000"/>
                </a:solidFill>
              </a:defRPr>
            </a:pPr>
            <a:endParaRPr sz="16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defTabSz="267014">
              <a:spcBef>
                <a:spcPts val="1898"/>
              </a:spcBef>
              <a:defRPr sz="1800">
                <a:solidFill>
                  <a:srgbClr val="000000"/>
                </a:solidFill>
              </a:defRPr>
            </a:pPr>
            <a:r>
              <a:rPr b="1" u="sng" dirty="0">
                <a:solidFill>
                  <a:srgbClr val="C00000"/>
                </a:solidFill>
                <a:latin typeface="Century Gothic" panose="020B0502020202020204" pitchFamily="34" charset="0"/>
              </a:rPr>
              <a:t>Activos Intangibles</a:t>
            </a:r>
          </a:p>
          <a:p>
            <a:pPr algn="just" defTabSz="267014">
              <a:spcBef>
                <a:spcPts val="1898"/>
              </a:spcBef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rgbClr val="606060"/>
                </a:solidFill>
                <a:latin typeface="Century Gothic" panose="020B0502020202020204" pitchFamily="34" charset="0"/>
              </a:rPr>
              <a:t>	</a:t>
            </a:r>
            <a:r>
              <a:rPr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Amortizables</a:t>
            </a:r>
            <a:r>
              <a:rPr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: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Patentes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,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concesiones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,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mejoras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en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propiedad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arrendada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  <a:endParaRPr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 defTabSz="267014">
              <a:spcBef>
                <a:spcPts val="1898"/>
              </a:spcBef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	</a:t>
            </a:r>
            <a:r>
              <a:rPr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No </a:t>
            </a:r>
            <a:r>
              <a:rPr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Amortizables</a:t>
            </a:r>
            <a:r>
              <a:rPr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: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Good-</a:t>
            </a: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W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ill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  <a:endParaRPr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46043" y="985150"/>
            <a:ext cx="7249775" cy="803647"/>
          </a:xfrm>
        </p:spPr>
        <p:txBody>
          <a:bodyPr/>
          <a:lstStyle/>
          <a:p>
            <a:r>
              <a:rPr lang="es-ES_tradnl" sz="3094">
                <a:latin typeface="Century Gothic" panose="020B0502020202020204" pitchFamily="34" charset="0"/>
              </a:rPr>
              <a:t>Activos NO CORRIENTES</a:t>
            </a:r>
          </a:p>
        </p:txBody>
      </p:sp>
      <p:pic>
        <p:nvPicPr>
          <p:cNvPr id="10" name="Picture 2" descr="Resultado de imagen para activos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249" y="3799150"/>
            <a:ext cx="2516101" cy="131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6FCF3876-840D-46AE-A3CA-B7A1A48EC53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2" descr="Clientes y aliados | Centro de Evaluación | Uniandes">
            <a:extLst>
              <a:ext uri="{FF2B5EF4-FFF2-40B4-BE49-F238E27FC236}">
                <a16:creationId xmlns:a16="http://schemas.microsoft.com/office/drawing/2014/main" id="{E9DD3E80-C560-126C-A4F8-E283DDA87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A1E7093-FEC6-0D7F-6C69-B3A51D07C5B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07A35EA2-34F4-25EC-070E-02954A526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18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094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46043" y="974392"/>
            <a:ext cx="11291330" cy="803647"/>
          </a:xfrm>
        </p:spPr>
        <p:txBody>
          <a:bodyPr>
            <a:noAutofit/>
          </a:bodyPr>
          <a:lstStyle/>
          <a:p>
            <a:r>
              <a:rPr lang="es-ES_tradnl" sz="2400">
                <a:latin typeface="Century Gothic" panose="020B0502020202020204" pitchFamily="34" charset="0"/>
              </a:rPr>
              <a:t>¿Cómo es la estructura del ESTADO DE SITUACIÓN FINANCIERA?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7EE8E59-F619-5662-6908-947EFB4B755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44D379D-AFB7-BAB5-76E0-BBC9A766D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147">
            <a:extLst>
              <a:ext uri="{FF2B5EF4-FFF2-40B4-BE49-F238E27FC236}">
                <a16:creationId xmlns:a16="http://schemas.microsoft.com/office/drawing/2014/main" id="{828A41B3-4F66-6FF1-8C27-087D9BC10B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1090396"/>
              </p:ext>
            </p:extLst>
          </p:nvPr>
        </p:nvGraphicFramePr>
        <p:xfrm>
          <a:off x="3415002" y="1827666"/>
          <a:ext cx="5546117" cy="5444961"/>
        </p:xfrm>
        <a:graphic>
          <a:graphicData uri="http://schemas.openxmlformats.org/drawingml/2006/table">
            <a:tbl>
              <a:tblPr firstRow="1"/>
              <a:tblGrid>
                <a:gridCol w="308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6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123"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4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4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4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4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123"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b="1" spc="56">
                          <a:solidFill>
                            <a:schemeClr val="bg1"/>
                          </a:solidFill>
                          <a:latin typeface="Century Gothic"/>
                        </a:rPr>
                        <a:t>Activos Corrientes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Pasivos Corrientes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123">
                <a:tc rowSpan="9" gridSpan="2">
                  <a:txBody>
                    <a:bodyPr/>
                    <a:lstStyle/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Activos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líquidos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en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el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</a:t>
                      </a:r>
                      <a:r>
                        <a:rPr sz="1100" b="1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corto</a:t>
                      </a:r>
                      <a:r>
                        <a:rPr sz="1100" b="1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</a:t>
                      </a:r>
                      <a:r>
                        <a:rPr sz="1100" b="1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plazo</a:t>
                      </a:r>
                      <a:r>
                        <a:rPr sz="1100" b="1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.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Es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decir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,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aquellos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activos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de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fácil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realización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en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el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momento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en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el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que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la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empresa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tenga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la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intención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de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convertirlos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en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dinero,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venderlos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o </a:t>
                      </a:r>
                      <a:r>
                        <a:rPr sz="1100" i="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consumirlos</a:t>
                      </a:r>
                      <a:r>
                        <a:rPr sz="1100" i="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.</a:t>
                      </a:r>
                      <a:endParaRPr lang="es-CO" sz="1100" i="0" spc="56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s-CO" sz="1100" i="0" spc="56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s-ES" sz="1100" b="1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Corto plazo: </a:t>
                      </a:r>
                      <a:r>
                        <a:rPr lang="es-ES"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Menor a 1 año.</a:t>
                      </a:r>
                    </a:p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1100" i="0" spc="56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9" hMerge="1">
                  <a:txBody>
                    <a:bodyPr/>
                    <a:lstStyle/>
                    <a:p>
                      <a:endParaRPr/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8">
                  <a:txBody>
                    <a:bodyPr/>
                    <a:lstStyle/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90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123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123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123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123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123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123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123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123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Pasivos </a:t>
                      </a:r>
                      <a:r>
                        <a:rPr lang="es-ES" sz="9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No Corrientes</a:t>
                      </a:r>
                      <a:endParaRPr sz="900" b="1" spc="56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123"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b="1" spc="56">
                          <a:solidFill>
                            <a:schemeClr val="bg1"/>
                          </a:solidFill>
                          <a:latin typeface="Century Gothic"/>
                        </a:rPr>
                        <a:t>Activos </a:t>
                      </a:r>
                      <a:r>
                        <a:rPr lang="es-ES" sz="900" b="1" spc="56">
                          <a:solidFill>
                            <a:schemeClr val="bg1"/>
                          </a:solidFill>
                          <a:latin typeface="Century Gothic"/>
                        </a:rPr>
                        <a:t>No Corrientes</a:t>
                      </a:r>
                      <a:endParaRPr sz="900" b="1" spc="56">
                        <a:solidFill>
                          <a:schemeClr val="bg1"/>
                        </a:solidFill>
                        <a:latin typeface="Century Gothic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90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123">
                <a:tc rowSpan="6" gridSpan="2"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s-CO" sz="1100" spc="56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Activos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que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cumplen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con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alguna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de las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siguientes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características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:</a:t>
                      </a:r>
                      <a:endParaRPr lang="es-CO" sz="1100" spc="56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1100" spc="56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pPr marL="224790" lvl="0" indent="-224790" algn="just" defTabSz="914400">
                        <a:buClr>
                          <a:srgbClr val="A1A1A1"/>
                        </a:buClr>
                        <a:buSzPct val="100000"/>
                        <a:buAutoNum type="arabicPeriod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Son de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carácter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permanente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en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el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largo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plazo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.</a:t>
                      </a:r>
                    </a:p>
                    <a:p>
                      <a:pPr marL="224790" lvl="0" indent="-224790" algn="just" defTabSz="914400">
                        <a:buClr>
                          <a:srgbClr val="A1A1A1"/>
                        </a:buClr>
                        <a:buSzPct val="100000"/>
                        <a:buAutoNum type="arabicPeriod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No se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tienen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con </a:t>
                      </a:r>
                      <a:r>
                        <a:rPr lang="es-CO"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á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nimo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de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venta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.</a:t>
                      </a:r>
                    </a:p>
                    <a:p>
                      <a:pPr marL="224790" lvl="0" indent="-224790" algn="just">
                        <a:buClr>
                          <a:srgbClr val="A1A1A1"/>
                        </a:buClr>
                        <a:buSzPct val="100000"/>
                        <a:buAutoNum type="arabicPeriod"/>
                      </a:pP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Son </a:t>
                      </a:r>
                      <a:r>
                        <a:rPr lang="es-ES"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recursos de largo plazo que apoyan 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la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operación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</a:t>
                      </a:r>
                      <a:r>
                        <a:rPr lang="es-ES"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o generan beneficios futuros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.</a:t>
                      </a:r>
                      <a:endParaRPr lang="es-CO" sz="1100" spc="56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  <a:p>
                      <a:pPr marL="0" lvl="0" indent="0" algn="l" defTabSz="914400">
                        <a:buClr>
                          <a:srgbClr val="A1A1A1"/>
                        </a:buClr>
                        <a:buSzPct val="100000"/>
                        <a:buNone/>
                        <a:defRPr>
                          <a:solidFill>
                            <a:srgbClr val="000000"/>
                          </a:solidFill>
                        </a:defRPr>
                      </a:pPr>
                      <a:endParaRPr sz="1100" spc="56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endParaRPr/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4123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b="1" spc="56">
                          <a:solidFill>
                            <a:schemeClr val="bg1"/>
                          </a:solidFill>
                          <a:latin typeface="Century Gothic"/>
                        </a:rPr>
                        <a:t>Patrimonio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4123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4123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4123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25014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4123"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900" b="1" spc="56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90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3D69499D-3EFD-C3D0-CCA5-2D4939931F1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F9405D62-E7FB-BD17-9750-5CBA775CF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19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531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/>
          <p:nvPr/>
        </p:nvSpPr>
        <p:spPr>
          <a:xfrm>
            <a:off x="3527691" y="1683129"/>
            <a:ext cx="7916295" cy="4291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Los pasivos son todas las deudas que tiene la empresa con los acreedores.</a:t>
            </a:r>
          </a:p>
          <a:p>
            <a:pPr algn="ct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chemeClr val="accent1"/>
                </a:solidFill>
                <a:latin typeface="Century Gothic" panose="020B0502020202020204" pitchFamily="34" charset="0"/>
              </a:rPr>
              <a:t>Los pasivos representan obligaciones contraídas por la empresa que nacen por transacciones pasadas que requieren una cancelación o prestación de servicio en el futuro.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46043" y="994820"/>
            <a:ext cx="9011714" cy="80364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_tradnl" sz="3094">
                <a:latin typeface="Century Gothic" panose="020B0502020202020204" pitchFamily="34" charset="0"/>
              </a:rPr>
              <a:t>Los Pasivos</a:t>
            </a:r>
          </a:p>
        </p:txBody>
      </p:sp>
      <p:pic>
        <p:nvPicPr>
          <p:cNvPr id="10" name="Picture 2" descr="Resultado de imagen para DEUDAS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802" y="2465315"/>
            <a:ext cx="2428506" cy="2910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267802D3-24BB-741E-56DF-FCBE71AC3E6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2" descr="Clientes y aliados | Centro de Evaluación | Uniandes">
            <a:extLst>
              <a:ext uri="{FF2B5EF4-FFF2-40B4-BE49-F238E27FC236}">
                <a16:creationId xmlns:a16="http://schemas.microsoft.com/office/drawing/2014/main" id="{1AD2DCCD-F64A-1D15-FDC6-0FD615025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542BFC0-86D0-DBA9-5AF5-9ADDCEF2060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3F53BA21-F9C0-2399-DF13-EBF897EB6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20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944067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/>
          <p:nvPr/>
        </p:nvSpPr>
        <p:spPr>
          <a:xfrm>
            <a:off x="3142349" y="2339453"/>
            <a:ext cx="7868030" cy="4123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/>
          <a:p>
            <a:pPr algn="just" defTabSz="361497">
              <a:spcBef>
                <a:spcPts val="2531"/>
              </a:spcBef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Los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pasivos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representan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obligaciones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contraídas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por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la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empresa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que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nacen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por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transacciones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pasadas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que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requieren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una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cancelación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o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prestación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de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servicio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en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el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futuro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algn="just" defTabSz="361497">
              <a:spcBef>
                <a:spcPts val="2531"/>
              </a:spcBef>
              <a:defRPr sz="1800">
                <a:solidFill>
                  <a:srgbClr val="000000"/>
                </a:solidFill>
              </a:defRPr>
            </a:pPr>
            <a:r>
              <a:rPr b="1" dirty="0" err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Pasivos</a:t>
            </a:r>
            <a:r>
              <a:rPr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 Corrientes</a:t>
            </a:r>
          </a:p>
          <a:p>
            <a:pPr algn="just" defTabSz="361497">
              <a:spcBef>
                <a:spcPts val="2531"/>
              </a:spcBef>
              <a:defRPr sz="1800">
                <a:solidFill>
                  <a:srgbClr val="000000"/>
                </a:solidFill>
              </a:defRPr>
            </a:pP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Cuentas </a:t>
            </a:r>
            <a:r>
              <a:rPr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por</a:t>
            </a: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 Pagar: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Egresos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de la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operación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del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negocio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que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aún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no se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han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pagado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algn="just" defTabSz="361497">
              <a:spcBef>
                <a:spcPts val="2531"/>
              </a:spcBef>
              <a:defRPr sz="1800">
                <a:solidFill>
                  <a:srgbClr val="000000"/>
                </a:solidFill>
              </a:defRPr>
            </a:pPr>
            <a:r>
              <a:rPr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Impuestos</a:t>
            </a:r>
            <a:r>
              <a:rPr lang="es-CO" b="1" dirty="0">
                <a:solidFill>
                  <a:srgbClr val="C00000"/>
                </a:solidFill>
                <a:latin typeface="Century Gothic" panose="020B0502020202020204" pitchFamily="34" charset="0"/>
              </a:rPr>
              <a:t> por Pagar</a:t>
            </a: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: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Impuestos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ya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causados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pero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que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aún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no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están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pagos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algn="just" defTabSz="361497">
              <a:spcBef>
                <a:spcPts val="2531"/>
              </a:spcBef>
              <a:defRPr sz="1800">
                <a:solidFill>
                  <a:srgbClr val="000000"/>
                </a:solidFill>
              </a:defRPr>
            </a:pPr>
            <a:r>
              <a:rPr lang="es-CO" b="1" dirty="0">
                <a:solidFill>
                  <a:srgbClr val="C00000"/>
                </a:solidFill>
                <a:latin typeface="Century Gothic" panose="020B0502020202020204" pitchFamily="34" charset="0"/>
              </a:rPr>
              <a:t>Salarios</a:t>
            </a: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por</a:t>
            </a: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 Pagar: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Las obligaciones presentes de la entidad derivadas de servicios prestados por los empleados, que deben liquidarse en el corto plazo.</a:t>
            </a:r>
            <a:endParaRPr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46043" y="989008"/>
            <a:ext cx="9011714" cy="80364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_tradnl" sz="3094">
                <a:latin typeface="Century Gothic" panose="020B0502020202020204" pitchFamily="34" charset="0"/>
              </a:rPr>
              <a:t>Los Pasivos</a:t>
            </a:r>
          </a:p>
        </p:txBody>
      </p:sp>
      <p:pic>
        <p:nvPicPr>
          <p:cNvPr id="11" name="Picture 2" descr="Resultado de imagen para DEUDAS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43" y="2713883"/>
            <a:ext cx="2428506" cy="2910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A6C31C96-8DF2-CE14-6922-78C0570DFA2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2" descr="Clientes y aliados | Centro de Evaluación | Uniandes">
            <a:extLst>
              <a:ext uri="{FF2B5EF4-FFF2-40B4-BE49-F238E27FC236}">
                <a16:creationId xmlns:a16="http://schemas.microsoft.com/office/drawing/2014/main" id="{166F7A9D-8A69-7973-5EB2-9703933F4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816BB68-2FA5-FF58-1728-74494C8FF8C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09CBA2BF-42FD-0EA1-A98E-DD766EEA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21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60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EE768-08B4-C7E4-6C21-3DE82A9EB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31A68E7-7141-C8DB-9146-D9B5B25F8B6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4633F447-AEBC-13A7-CAF7-3F3B3077E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147">
            <a:extLst>
              <a:ext uri="{FF2B5EF4-FFF2-40B4-BE49-F238E27FC236}">
                <a16:creationId xmlns:a16="http://schemas.microsoft.com/office/drawing/2014/main" id="{E54BE6BE-81BC-5016-64A0-12F99A0BC4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7405614"/>
              </p:ext>
            </p:extLst>
          </p:nvPr>
        </p:nvGraphicFramePr>
        <p:xfrm>
          <a:off x="3249424" y="1932416"/>
          <a:ext cx="5546117" cy="5352086"/>
        </p:xfrm>
        <a:graphic>
          <a:graphicData uri="http://schemas.openxmlformats.org/drawingml/2006/table">
            <a:tbl>
              <a:tblPr firstRow="1"/>
              <a:tblGrid>
                <a:gridCol w="308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6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123"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123"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b="1" spc="56">
                          <a:solidFill>
                            <a:schemeClr val="bg1"/>
                          </a:solidFill>
                          <a:latin typeface="Century Gothic"/>
                        </a:rPr>
                        <a:t>Activos Corrientes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Pasivos Corrientes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2984">
                <a:tc rowSpan="2" gridSpan="2">
                  <a:txBody>
                    <a:bodyPr/>
                    <a:lstStyle/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s-ES"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Activos líquidos en el </a:t>
                      </a:r>
                      <a:r>
                        <a:rPr lang="es-ES" sz="1100" b="1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corto plazo.</a:t>
                      </a:r>
                      <a:r>
                        <a:rPr lang="es-ES"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Es decir, aquellos activos de fácil realización en el momento en el que la empresa tenga la intención de convertirlos en dinero, venderlos o consumirlos.</a:t>
                      </a:r>
                    </a:p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s-ES" sz="1100" i="0" spc="56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s-ES" sz="1100" b="1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Corto plazo: </a:t>
                      </a:r>
                      <a:r>
                        <a:rPr lang="es-ES"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Menor a 1 año.</a:t>
                      </a:r>
                    </a:p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s-ES" sz="1100" i="0" spc="56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s-CO"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Aquí se registran las deudas que tiene la compañía -en el corto plazo- con los distintos acreedores de la empresa.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s-CO" sz="1100" spc="56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s-ES" sz="1100" b="1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Corto plazo: </a:t>
                      </a:r>
                      <a:r>
                        <a:rPr lang="es-ES"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Menor a 1 año.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s-CO" sz="1100" spc="56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123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1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Pasivos </a:t>
                      </a:r>
                      <a:r>
                        <a:rPr lang="es-ES" sz="11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No Corrientes</a:t>
                      </a:r>
                      <a:endParaRPr sz="1100" b="1" spc="56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123"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100" b="1" spc="56">
                          <a:solidFill>
                            <a:schemeClr val="bg1"/>
                          </a:solidFill>
                          <a:latin typeface="Century Gothic"/>
                        </a:rPr>
                        <a:t>Activos </a:t>
                      </a:r>
                      <a:r>
                        <a:rPr lang="es-ES" sz="1100" b="1" spc="56">
                          <a:solidFill>
                            <a:schemeClr val="bg1"/>
                          </a:solidFill>
                          <a:latin typeface="Century Gothic"/>
                        </a:rPr>
                        <a:t>No Corrientes</a:t>
                      </a:r>
                      <a:endParaRPr sz="1100" b="1" spc="56">
                        <a:solidFill>
                          <a:schemeClr val="bg1"/>
                        </a:solidFill>
                        <a:latin typeface="Century Gothic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s-CO" sz="11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Aquí se registran las deudas que tiene la compañía en el largo plazo.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123">
                <a:tc rowSpan="3" gridSpan="2"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s-CO" sz="1100" spc="56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pPr lvl="0" algn="just" defTabSz="914400">
                        <a:buClr>
                          <a:schemeClr val="accent4"/>
                        </a:buCl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Activos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que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cumplen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con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alguna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de las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siguientes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características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:</a:t>
                      </a:r>
                      <a:endParaRPr lang="es-CO" sz="1100" spc="56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  <a:p>
                      <a:pPr lvl="0" algn="just" defTabSz="914400">
                        <a:buClr>
                          <a:schemeClr val="accent4"/>
                        </a:buClr>
                        <a:defRPr>
                          <a:solidFill>
                            <a:srgbClr val="000000"/>
                          </a:solidFill>
                        </a:defRPr>
                      </a:pPr>
                      <a:endParaRPr sz="1100" spc="56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pPr marL="224790" lvl="0" indent="-224790" algn="just" defTabSz="914400">
                        <a:buClr>
                          <a:schemeClr val="accent4"/>
                        </a:buClr>
                        <a:buSzPct val="100000"/>
                        <a:buAutoNum type="arabicPeriod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Son de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carácter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permanente</a:t>
                      </a:r>
                      <a:r>
                        <a:rPr lang="es-CO"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en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el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largo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plazo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.</a:t>
                      </a:r>
                    </a:p>
                    <a:p>
                      <a:pPr marL="224790" lvl="0" indent="-224790" algn="just" defTabSz="914400">
                        <a:buClr>
                          <a:schemeClr val="accent4"/>
                        </a:buClr>
                        <a:buSzPct val="100000"/>
                        <a:buAutoNum type="arabicPeriod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No se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tienen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con </a:t>
                      </a:r>
                      <a:r>
                        <a:rPr lang="es-CO"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á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nimo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de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venta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.</a:t>
                      </a:r>
                    </a:p>
                    <a:p>
                      <a:pPr marL="224790" lvl="0" indent="-224790" algn="just">
                        <a:buClr>
                          <a:schemeClr val="accent4"/>
                        </a:buClr>
                        <a:buSzPct val="100000"/>
                        <a:buAutoNum type="arabicPeriod"/>
                      </a:pPr>
                      <a:r>
                        <a:rPr lang="es-CO" sz="1100" b="0" i="0" u="none" strike="noStrike" spc="56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Son </a:t>
                      </a:r>
                      <a:r>
                        <a:rPr lang="es-ES" sz="1100" b="0" i="0" u="none" strike="noStrike" spc="56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recursos de largo plazo que apoyan </a:t>
                      </a:r>
                      <a:r>
                        <a:rPr lang="es-CO" sz="1100" b="0" i="0" u="none" strike="noStrike" spc="56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la operación </a:t>
                      </a:r>
                      <a:r>
                        <a:rPr lang="es-ES" sz="1100" b="0" i="0" u="none" strike="noStrike" spc="56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o generan beneficios futuros</a:t>
                      </a:r>
                      <a:r>
                        <a:rPr lang="es-CO" sz="1100" b="0" i="0" u="none" strike="noStrike" spc="56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.</a:t>
                      </a:r>
                      <a:endParaRPr lang="es-CO" sz="1100" b="0" i="0" u="none" strike="noStrike" spc="56" noProof="0" dirty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4123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100" b="1" spc="56">
                          <a:solidFill>
                            <a:schemeClr val="bg1"/>
                          </a:solidFill>
                          <a:latin typeface="Century Gothic"/>
                        </a:rPr>
                        <a:t>Patrimonio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997383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spc="56"/>
                      </a:pPr>
                      <a:endParaRPr lang="es-CO" sz="110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pPr lvl="0" defTabSz="914400">
                        <a:defRPr sz="1400" spc="56"/>
                      </a:pPr>
                      <a:endParaRPr sz="11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 hMerge="1">
                  <a:txBody>
                    <a:bodyPr/>
                    <a:lstStyle/>
                    <a:p>
                      <a:pPr lvl="0" algn="l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4123"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1100" b="1" spc="56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vl="0" algn="l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11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110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11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B821BFC5-A7D9-F263-461D-575B38CEA7E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89AD568-C4AD-5D98-1C3A-AF1223FC24E0}"/>
              </a:ext>
            </a:extLst>
          </p:cNvPr>
          <p:cNvSpPr txBox="1">
            <a:spLocks/>
          </p:cNvSpPr>
          <p:nvPr/>
        </p:nvSpPr>
        <p:spPr>
          <a:xfrm>
            <a:off x="446043" y="974392"/>
            <a:ext cx="11291330" cy="8036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_tradnl" sz="2400">
                <a:latin typeface="Century Gothic" panose="020B0502020202020204" pitchFamily="34" charset="0"/>
              </a:rPr>
              <a:t>¿Cómo es la estructura del ESTADO DE SITUACIÓN FINANCIERA?</a:t>
            </a: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B16CCAFD-0277-1711-5039-B93E91C2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22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82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/>
        </p:nvSpPr>
        <p:spPr>
          <a:xfrm>
            <a:off x="3338018" y="2431891"/>
            <a:ext cx="7930247" cy="337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b="1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El patrimonio es el valor contable de los recursos representados en bienes y derechos, deducidas sus obligaciones necesarias para cumplir los fines estipulados en el objeto social de la empresa.</a:t>
            </a:r>
          </a:p>
          <a:p>
            <a:pPr algn="ctr">
              <a:spcBef>
                <a:spcPts val="2953"/>
              </a:spcBef>
              <a:defRPr sz="1800">
                <a:solidFill>
                  <a:srgbClr val="000000"/>
                </a:solidFill>
              </a:defRPr>
            </a:pPr>
            <a:r>
              <a:rPr err="1">
                <a:solidFill>
                  <a:schemeClr val="accent1"/>
                </a:solidFill>
                <a:latin typeface="Century Gothic" panose="020B0502020202020204" pitchFamily="34" charset="0"/>
              </a:rPr>
              <a:t>Es</a:t>
            </a:r>
            <a:r>
              <a:rPr>
                <a:solidFill>
                  <a:schemeClr val="accent1"/>
                </a:solidFill>
                <a:latin typeface="Century Gothic" panose="020B0502020202020204" pitchFamily="34" charset="0"/>
              </a:rPr>
              <a:t> el valor contable residual resultante de tomar el total de los activos y deducir todos los pasivos.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46043" y="1003982"/>
            <a:ext cx="7249775" cy="803647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El Patrimonio</a:t>
            </a:r>
          </a:p>
        </p:txBody>
      </p:sp>
      <p:pic>
        <p:nvPicPr>
          <p:cNvPr id="10" name="Picture 4" descr="Resultado de imagen para accionistas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30" y="3135511"/>
            <a:ext cx="2744788" cy="1874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75CE8F64-BC00-B203-CF0D-74A78F6230C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2" descr="Clientes y aliados | Centro de Evaluación | Uniandes">
            <a:extLst>
              <a:ext uri="{FF2B5EF4-FFF2-40B4-BE49-F238E27FC236}">
                <a16:creationId xmlns:a16="http://schemas.microsoft.com/office/drawing/2014/main" id="{EB53070E-F7EA-3EBD-2089-D40F0B49A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8E832A3-FD58-17F8-C082-23AEBC339E9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6F41DAB5-6F2C-22D6-E48D-715ECF854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23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560437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/>
          <p:nvPr/>
        </p:nvSpPr>
        <p:spPr>
          <a:xfrm>
            <a:off x="581192" y="2175654"/>
            <a:ext cx="8262776" cy="414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/>
          <a:p>
            <a:pPr algn="just" defTabSz="349174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Capital</a:t>
            </a:r>
            <a:r>
              <a:rPr lang="es-CO" b="1" dirty="0">
                <a:solidFill>
                  <a:srgbClr val="C00000"/>
                </a:solidFill>
                <a:latin typeface="Century Gothic" panose="020B0502020202020204" pitchFamily="34" charset="0"/>
              </a:rPr>
              <a:t> Suscrito</a:t>
            </a: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: 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El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aporte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que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los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accionistas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hacen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al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negocio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 defTabSz="349174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Utilidad</a:t>
            </a: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 del </a:t>
            </a: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P</a:t>
            </a:r>
            <a:r>
              <a:rPr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eriodo</a:t>
            </a: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/Utilidad del Ejercicio</a:t>
            </a: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: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Corresponde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a la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utilidad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del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periodo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segú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l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Estado de Resultados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algn="just" defTabSz="349174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Utilidad</a:t>
            </a: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A</a:t>
            </a:r>
            <a:r>
              <a:rPr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cumulada</a:t>
            </a: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/Utilidades Retenidas</a:t>
            </a: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:</a:t>
            </a: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Corresponde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a la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utilidad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acumulada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de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los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periodos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anteriores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según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el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Estado de Resultados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algn="just" defTabSz="349174">
              <a:spcBef>
                <a:spcPts val="2461"/>
              </a:spcBef>
              <a:defRPr sz="1800">
                <a:solidFill>
                  <a:srgbClr val="000000"/>
                </a:solidFill>
              </a:defRPr>
            </a:pPr>
            <a:r>
              <a:rPr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Reservas</a:t>
            </a: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 Acumuladas o Retenidas</a:t>
            </a:r>
            <a:r>
              <a:rPr b="1" dirty="0">
                <a:solidFill>
                  <a:srgbClr val="C00000"/>
                </a:solidFill>
                <a:latin typeface="Century Gothic" panose="020B0502020202020204" pitchFamily="34" charset="0"/>
              </a:rPr>
              <a:t>: </a:t>
            </a: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Pueden entenderse como la parte del beneficio destinado a cubrir las necesidades comerciales en el futuro o para satisfacer futuras contingencias y responsabilidades inesperadas 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(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suele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ser un 10%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por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periodo</a:t>
            </a:r>
            <a:r>
              <a:rPr dirty="0">
                <a:solidFill>
                  <a:schemeClr val="accent1"/>
                </a:solidFill>
                <a:latin typeface="Century Gothic" panose="020B0502020202020204" pitchFamily="34" charset="0"/>
              </a:rPr>
              <a:t>).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46043" y="979870"/>
            <a:ext cx="7249775" cy="803647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El Patrimonio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89D77BF-92E7-43AD-8797-BA144166700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2" descr="Clientes y aliados | Centro de Evaluación | Uniandes">
            <a:extLst>
              <a:ext uri="{FF2B5EF4-FFF2-40B4-BE49-F238E27FC236}">
                <a16:creationId xmlns:a16="http://schemas.microsoft.com/office/drawing/2014/main" id="{383D4B34-AF13-7B67-3309-B4ECE892B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69F0AA8-B7FD-4DC3-6468-11A27BA99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285" y="3323273"/>
            <a:ext cx="2480187" cy="1596833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BE91A9F-2DC5-7244-86C8-327B8E73A62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0477A57B-3ED1-2217-22E4-93B2A3000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24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01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46043" y="972335"/>
            <a:ext cx="9011714" cy="80364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_tradnl" sz="3094">
                <a:latin typeface="Century Gothic" panose="020B0502020202020204" pitchFamily="34" charset="0"/>
              </a:rPr>
              <a:t>Los Pasivos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1F9C596-BFFE-C5F8-A5DE-1C13024771F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6F91514C-8F95-13A4-0C88-E51B0074E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147">
            <a:extLst>
              <a:ext uri="{FF2B5EF4-FFF2-40B4-BE49-F238E27FC236}">
                <a16:creationId xmlns:a16="http://schemas.microsoft.com/office/drawing/2014/main" id="{5F4C94C5-E6F6-10B5-B117-5E929A07DC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1907462"/>
              </p:ext>
            </p:extLst>
          </p:nvPr>
        </p:nvGraphicFramePr>
        <p:xfrm>
          <a:off x="3249424" y="1932416"/>
          <a:ext cx="5546117" cy="5352086"/>
        </p:xfrm>
        <a:graphic>
          <a:graphicData uri="http://schemas.openxmlformats.org/drawingml/2006/table">
            <a:tbl>
              <a:tblPr firstRow="1"/>
              <a:tblGrid>
                <a:gridCol w="308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6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123"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123"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b="1" spc="56">
                          <a:solidFill>
                            <a:schemeClr val="bg1"/>
                          </a:solidFill>
                          <a:latin typeface="Century Gothic"/>
                        </a:rPr>
                        <a:t>Activos Corrientes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Pasivos Corrientes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2984">
                <a:tc rowSpan="2" gridSpan="2">
                  <a:txBody>
                    <a:bodyPr/>
                    <a:lstStyle/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s-ES"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Activos líquidos en el </a:t>
                      </a:r>
                      <a:r>
                        <a:rPr lang="es-ES" sz="1100" b="1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corto plazo.</a:t>
                      </a:r>
                      <a:r>
                        <a:rPr lang="es-ES"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Es decir, aquellos activos de fácil realización en el momento en el que la empresa tenga la intención de convertirlos en dinero, venderlos o consumirlos.</a:t>
                      </a:r>
                    </a:p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s-ES" sz="1100" i="0" spc="56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s-ES" sz="1100" b="1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Corto plazo: </a:t>
                      </a:r>
                      <a:r>
                        <a:rPr lang="es-ES"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Menor a 1 año.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s-CO"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Aquí se registran las deudas que tiene la compañía -en el corto plazo- con los distintos acreedores de la empresa.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s-CO" sz="1100" spc="56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s-ES" sz="1100" b="1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Corto plazo: </a:t>
                      </a:r>
                      <a:r>
                        <a:rPr lang="es-ES" sz="1100" i="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Menor a 1 año.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s-CO" sz="1100" spc="56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123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1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Pasivos </a:t>
                      </a:r>
                      <a:r>
                        <a:rPr lang="es-ES" sz="11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No Corrientes</a:t>
                      </a:r>
                      <a:endParaRPr sz="1100" b="1" spc="56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123"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100" b="1" spc="56">
                          <a:solidFill>
                            <a:schemeClr val="bg1"/>
                          </a:solidFill>
                          <a:latin typeface="Century Gothic"/>
                        </a:rPr>
                        <a:t>Activos </a:t>
                      </a:r>
                      <a:r>
                        <a:rPr lang="es-ES" sz="1100" b="1" spc="56">
                          <a:solidFill>
                            <a:schemeClr val="bg1"/>
                          </a:solidFill>
                          <a:latin typeface="Century Gothic"/>
                        </a:rPr>
                        <a:t>No Corrientes</a:t>
                      </a:r>
                      <a:endParaRPr sz="1100" b="1" spc="56">
                        <a:solidFill>
                          <a:schemeClr val="bg1"/>
                        </a:solidFill>
                        <a:latin typeface="Century Gothic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s-CO" sz="11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Aquí se registran las deudas que tiene la compañía en el largo plazo.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123">
                <a:tc rowSpan="3" gridSpan="2"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s-CO" sz="1100" spc="56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Activos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que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cumplen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con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alguna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de las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siguientes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/>
                        </a:rPr>
                        <a:t>características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/>
                        </a:rPr>
                        <a:t>:</a:t>
                      </a:r>
                      <a:endParaRPr lang="es-CO" sz="1100" spc="56" dirty="0">
                        <a:solidFill>
                          <a:schemeClr val="accent1"/>
                        </a:solidFill>
                        <a:latin typeface="Century Gothic"/>
                      </a:endParaRPr>
                    </a:p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1100" spc="56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pPr marL="224790" lvl="0" indent="-224790" algn="just" defTabSz="914400">
                        <a:buClr>
                          <a:schemeClr val="accent4"/>
                        </a:buClr>
                        <a:buSzPct val="100000"/>
                        <a:buAutoNum type="arabicPeriod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Son de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carácter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permanente</a:t>
                      </a:r>
                      <a:r>
                        <a:rPr lang="es-CO"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en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el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largo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plazo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.</a:t>
                      </a:r>
                    </a:p>
                    <a:p>
                      <a:pPr marL="224790" lvl="0" indent="-224790" algn="just" defTabSz="914400">
                        <a:buClr>
                          <a:schemeClr val="accent4"/>
                        </a:buClr>
                        <a:buSzPct val="100000"/>
                        <a:buAutoNum type="arabicPeriod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No se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tienen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con </a:t>
                      </a:r>
                      <a:r>
                        <a:rPr lang="es-CO"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á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nimo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de </a:t>
                      </a:r>
                      <a:r>
                        <a:rPr sz="1100" spc="56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venta</a:t>
                      </a:r>
                      <a:r>
                        <a:rPr sz="11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.</a:t>
                      </a:r>
                    </a:p>
                    <a:p>
                      <a:pPr marL="224790" lvl="0" indent="-224790" algn="just">
                        <a:buClr>
                          <a:schemeClr val="accent4"/>
                        </a:buClr>
                        <a:buSzPct val="100000"/>
                        <a:buAutoNum type="arabicPeriod"/>
                      </a:pPr>
                      <a:r>
                        <a:rPr lang="es-CO" sz="1100" b="0" i="0" u="none" strike="noStrike" spc="56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Son </a:t>
                      </a:r>
                      <a:r>
                        <a:rPr lang="es-ES" sz="1100" b="0" i="0" u="none" strike="noStrike" spc="56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recursos de largo plazo que apoyan </a:t>
                      </a:r>
                      <a:r>
                        <a:rPr lang="es-CO" sz="1100" b="0" i="0" u="none" strike="noStrike" spc="56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la operación </a:t>
                      </a:r>
                      <a:r>
                        <a:rPr lang="es-ES" sz="1100" b="0" i="0" u="none" strike="noStrike" spc="56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o generan beneficios futuros</a:t>
                      </a:r>
                      <a:r>
                        <a:rPr lang="es-CO" sz="1100" b="0" i="0" u="none" strike="noStrike" spc="56" noProof="0" dirty="0">
                          <a:solidFill>
                            <a:schemeClr val="accent1"/>
                          </a:solidFill>
                          <a:latin typeface="Century Gothic"/>
                        </a:rPr>
                        <a:t>.</a:t>
                      </a:r>
                      <a:endParaRPr lang="es-CO" sz="1100" b="0" i="0" u="none" strike="noStrike" spc="56" noProof="0" dirty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4123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100" b="1" spc="56">
                          <a:solidFill>
                            <a:schemeClr val="bg1"/>
                          </a:solidFill>
                          <a:latin typeface="Century Gothic"/>
                        </a:rPr>
                        <a:t>Patrimonio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997383"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spc="56"/>
                      </a:pPr>
                      <a:r>
                        <a:rPr lang="es-ES" sz="1100" kern="12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El patrimonio es el valor contable de los recursos representados en bienes y derechos, deducidas sus obligaciones necesarias para cumplir los fines estipulados en el objeto social de la empresa.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spc="56"/>
                      </a:pPr>
                      <a:endParaRPr lang="es-CO" sz="110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  <a:p>
                      <a:pPr lvl="0" defTabSz="914400">
                        <a:defRPr sz="1400" spc="56"/>
                      </a:pPr>
                      <a:endParaRPr sz="11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 hMerge="1">
                  <a:txBody>
                    <a:bodyPr/>
                    <a:lstStyle/>
                    <a:p>
                      <a:pPr lvl="0" algn="l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4123"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1100" b="1" spc="56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vl="0" algn="l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11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lvl="0" algn="just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110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11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DA6404AD-78A0-94DD-67F6-1485DA8DA72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3FC02C92-9AAF-D26E-2888-8CDAA784C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25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2023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" name="Table 175"/>
          <p:cNvGraphicFramePr/>
          <p:nvPr>
            <p:extLst>
              <p:ext uri="{D42A27DB-BD31-4B8C-83A1-F6EECF244321}">
                <p14:modId xmlns:p14="http://schemas.microsoft.com/office/powerpoint/2010/main" val="3388016325"/>
              </p:ext>
            </p:extLst>
          </p:nvPr>
        </p:nvGraphicFramePr>
        <p:xfrm>
          <a:off x="3159015" y="1904956"/>
          <a:ext cx="5040540" cy="4482460"/>
        </p:xfrm>
        <a:graphic>
          <a:graphicData uri="http://schemas.openxmlformats.org/drawingml/2006/table">
            <a:tbl>
              <a:tblPr firstRow="1"/>
              <a:tblGrid>
                <a:gridCol w="280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123"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cap="all" spc="56">
                          <a:effectLst>
                            <a:outerShdw blurRad="25400" dist="12700" dir="5400000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</a:defRPr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>
                      <a:noFill/>
                      <a:miter lim="4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123"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b="1" spc="56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Activos</a:t>
                      </a:r>
                      <a:r>
                        <a:rPr sz="9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 Corrientes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Pasivos Corrientes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>
                      <a:noFill/>
                      <a:miter lim="400000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s-CO"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Efectivo y Equivalentes</a:t>
                      </a:r>
                      <a:endParaRPr sz="90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Obligaciones Bancarias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Inversiones Temporales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Cuentas x Pagar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Cuentas x Cobrar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Impuestos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Deudores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Ingresos Anticipados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Inventarios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Interés Anticipado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Materia Prima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Prestaciones Sociales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Producto en Proceso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Impuestos x Pagar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Producto Terminado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Dividendos x Pagar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Pagos</a:t>
                      </a: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sz="900" spc="56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Anticipados</a:t>
                      </a:r>
                      <a:endParaRPr sz="90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Pasivos </a:t>
                      </a:r>
                      <a:r>
                        <a:rPr lang="es-ES" sz="9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No Corrientes</a:t>
                      </a:r>
                      <a:endParaRPr sz="900" b="1" spc="56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123"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b="1" spc="56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Activos</a:t>
                      </a:r>
                      <a:r>
                        <a:rPr sz="9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es-ES" sz="900" b="1" spc="56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No Corrientes</a:t>
                      </a:r>
                      <a:endParaRPr sz="900" b="1" spc="56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</a:t>
                      </a:r>
                      <a:r>
                        <a:rPr lang="es-CO"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é</a:t>
                      </a:r>
                      <a:r>
                        <a:rPr sz="900" spc="56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stamos</a:t>
                      </a: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a Largo </a:t>
                      </a:r>
                      <a:r>
                        <a:rPr sz="900" spc="56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Plazo</a:t>
                      </a:r>
                      <a:endParaRPr sz="90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Terrenos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Bonos Corporativos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Edificios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lvl="0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b="1" spc="56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Patrimonio</a:t>
                      </a:r>
                      <a:endParaRPr sz="900" b="1" spc="56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Planta &amp; Equipo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Capital</a:t>
                      </a:r>
                      <a:r>
                        <a:rPr lang="es-CO" sz="900" spc="56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 Suscrito</a:t>
                      </a:r>
                      <a:endParaRPr sz="900" spc="56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Muebles &amp; Enseres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Utilidades Acumuladas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Vehículos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Utilidad del Periodo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Intangibles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Reservas Legales</a:t>
                      </a: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900" spc="56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Inversiones </a:t>
                      </a:r>
                      <a:r>
                        <a:rPr sz="900" spc="56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Permanentes</a:t>
                      </a:r>
                      <a:endParaRPr sz="90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r>
                        <a:rPr lang="es-CO" sz="90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ORI</a:t>
                      </a: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4123"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900" spc="56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 sz="1400" spc="56"/>
                      </a:pPr>
                      <a:endParaRPr sz="90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35718" marR="35718" marT="35718" marB="35718" anchor="ctr" horzOverflow="overflow">
                    <a:lnL w="12700">
                      <a:noFill/>
                      <a:miter lim="400000"/>
                    </a:lnL>
                    <a:lnR w="12700">
                      <a:noFill/>
                      <a:miter lim="400000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1" name="Shape 181"/>
          <p:cNvSpPr/>
          <p:nvPr/>
        </p:nvSpPr>
        <p:spPr>
          <a:xfrm>
            <a:off x="8835943" y="2997030"/>
            <a:ext cx="2774688" cy="90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spcBef>
                <a:spcPts val="4200"/>
              </a:spcBef>
              <a:defRPr sz="2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 b="1" err="1">
                <a:solidFill>
                  <a:schemeClr val="accent6"/>
                </a:solidFill>
                <a:latin typeface="Century Gothic" panose="020B0502020202020204" pitchFamily="34" charset="0"/>
              </a:rPr>
              <a:t>Recursos</a:t>
            </a:r>
            <a:r>
              <a:rPr sz="1600" b="1">
                <a:solidFill>
                  <a:schemeClr val="accent6"/>
                </a:solidFill>
                <a:latin typeface="Century Gothic" panose="020B0502020202020204" pitchFamily="34" charset="0"/>
              </a:rPr>
              <a:t> </a:t>
            </a:r>
            <a:r>
              <a:rPr sz="1600" b="1" err="1">
                <a:solidFill>
                  <a:schemeClr val="accent6"/>
                </a:solidFill>
                <a:latin typeface="Century Gothic" panose="020B0502020202020204" pitchFamily="34" charset="0"/>
              </a:rPr>
              <a:t>Ajenos</a:t>
            </a:r>
            <a:endParaRPr sz="1600" b="1">
              <a:solidFill>
                <a:schemeClr val="accent6"/>
              </a:solidFill>
              <a:latin typeface="Century Gothic" panose="020B0502020202020204" pitchFamily="34" charset="0"/>
            </a:endParaRPr>
          </a:p>
        </p:txBody>
      </p:sp>
      <p:sp>
        <p:nvSpPr>
          <p:cNvPr id="182" name="Shape 182"/>
          <p:cNvSpPr/>
          <p:nvPr/>
        </p:nvSpPr>
        <p:spPr>
          <a:xfrm>
            <a:off x="8621486" y="5162621"/>
            <a:ext cx="1964791" cy="90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spcBef>
                <a:spcPts val="4200"/>
              </a:spcBef>
              <a:defRPr sz="2000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1600" b="1" err="1">
                <a:solidFill>
                  <a:schemeClr val="accent1"/>
                </a:solidFill>
                <a:latin typeface="Century Gothic" panose="020B0502020202020204" pitchFamily="34" charset="0"/>
              </a:rPr>
              <a:t>Recursos</a:t>
            </a:r>
            <a:r>
              <a:rPr sz="1600" b="1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sz="1600" b="1" err="1">
                <a:solidFill>
                  <a:schemeClr val="accent1"/>
                </a:solidFill>
                <a:latin typeface="Century Gothic" panose="020B0502020202020204" pitchFamily="34" charset="0"/>
              </a:rPr>
              <a:t>Propios</a:t>
            </a:r>
            <a:endParaRPr sz="1600" b="1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38687" y="993246"/>
            <a:ext cx="10645869" cy="803647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EL ESTADO DE SITUACIÓN FINANCIERA</a:t>
            </a:r>
          </a:p>
        </p:txBody>
      </p:sp>
      <p:sp>
        <p:nvSpPr>
          <p:cNvPr id="2" name="Cerrar llave 1"/>
          <p:cNvSpPr/>
          <p:nvPr/>
        </p:nvSpPr>
        <p:spPr>
          <a:xfrm>
            <a:off x="8199555" y="2090057"/>
            <a:ext cx="421931" cy="2717074"/>
          </a:xfrm>
          <a:prstGeom prst="rightBrac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errar llave 12"/>
          <p:cNvSpPr/>
          <p:nvPr/>
        </p:nvSpPr>
        <p:spPr>
          <a:xfrm>
            <a:off x="8255656" y="4807131"/>
            <a:ext cx="421931" cy="1804408"/>
          </a:xfrm>
          <a:prstGeom prst="rightBrac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96BD728-41E9-340B-A5AA-676829A4916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1D074728-B169-1924-49D4-7A840B2B5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B1EB8823-F943-319F-E8AB-AFE412E1C29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Marcador de número de diapositiva 3">
            <a:extLst>
              <a:ext uri="{FF2B5EF4-FFF2-40B4-BE49-F238E27FC236}">
                <a16:creationId xmlns:a16="http://schemas.microsoft.com/office/drawing/2014/main" id="{EBFD4761-AACF-DBC4-C411-C79EE2254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26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6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 animBg="1"/>
      <p:bldP spid="182" grpId="0" animBg="1"/>
      <p:bldP spid="2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38687" y="993246"/>
            <a:ext cx="10645869" cy="803647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EL ESTADO DE SITUACIÓN FINANCIERA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3" y="2186451"/>
            <a:ext cx="11029615" cy="367830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Construyamos un Estado de Situación Financiera muy sencillo. Usted va a montar una empresa y cuenta con la siguiente información.</a:t>
            </a:r>
          </a:p>
          <a:p>
            <a:pPr marL="0" indent="0" algn="just">
              <a:buNone/>
            </a:pPr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Usted, como socio, aporta 100 millones de pesos para montar la empresa.</a:t>
            </a:r>
          </a:p>
          <a:p>
            <a:pPr algn="just">
              <a:buFont typeface="Wingdings" pitchFamily="2" charset="2"/>
              <a:buChar char="q"/>
            </a:pPr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Con esa plata, compra maquinaria que le cuesta 70 millones de pesos.</a:t>
            </a:r>
          </a:p>
          <a:p>
            <a:pPr algn="just">
              <a:buFont typeface="Wingdings" pitchFamily="2" charset="2"/>
              <a:buChar char="q"/>
            </a:pPr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Luego, se da cuenta que tiene que comprar un lote y una edificación por 50 millones de pesos. La plata que le falta la adquiere de un banco.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C389CB1-F026-03F3-3D74-49724A7F071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6AB6A361-2BEC-0878-3B23-13F4CC729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lustración de diseño de dibujos animados planos de concepto de inversión  de idea de dinero financiero | Vector Premium">
            <a:extLst>
              <a:ext uri="{FF2B5EF4-FFF2-40B4-BE49-F238E27FC236}">
                <a16:creationId xmlns:a16="http://schemas.microsoft.com/office/drawing/2014/main" id="{7DB880FE-9687-9884-AA9B-FEA6B53C8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5271" y="2761376"/>
            <a:ext cx="2082371" cy="209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07AFAF1-A188-DE4B-E9AE-B189761FACE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Marcador de número de diapositiva 3">
            <a:extLst>
              <a:ext uri="{FF2B5EF4-FFF2-40B4-BE49-F238E27FC236}">
                <a16:creationId xmlns:a16="http://schemas.microsoft.com/office/drawing/2014/main" id="{3E348AE5-FE19-FD1F-F109-B4EBCC062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27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697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38687" y="993246"/>
            <a:ext cx="10645869" cy="803647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EL ESTADO DE SITUACIÓN FINANCIERA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43614" y="2186451"/>
            <a:ext cx="11067194" cy="367830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Construyamos un Estado de Situación Financiera muy sencillo. Usted va a montar una empresa y cuenta con la siguiente información.</a:t>
            </a:r>
          </a:p>
          <a:p>
            <a:pPr marL="0" indent="0" algn="just">
              <a:buNone/>
            </a:pPr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s-ES" b="1" u="sng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Usted, como socio, aporta 100 millones de pesos para montar la empresa.</a:t>
            </a:r>
          </a:p>
          <a:p>
            <a:pPr algn="just">
              <a:buFont typeface="Wingdings" pitchFamily="2" charset="2"/>
              <a:buChar char="q"/>
            </a:pPr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Con esa plata, compra maquinaria que le cuesta 70 millones de pesos.</a:t>
            </a:r>
          </a:p>
          <a:p>
            <a:pPr algn="just">
              <a:buFont typeface="Wingdings" pitchFamily="2" charset="2"/>
              <a:buChar char="q"/>
            </a:pPr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Luego, se da cuenta que tiene que comprar un lote y una edificación por 50 millones de pesos. La plata que le falta la adquiere de un banco.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74E028B-9DA7-E8E5-3F79-94E293B9FF9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682963A9-A66F-A6D3-B4DF-ADE41313F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Ilustración de diseño de dibujos animados planos de concepto de inversión  de idea de dinero financiero | Vector Premium">
            <a:extLst>
              <a:ext uri="{FF2B5EF4-FFF2-40B4-BE49-F238E27FC236}">
                <a16:creationId xmlns:a16="http://schemas.microsoft.com/office/drawing/2014/main" id="{F5004CF6-4C3F-25DD-8D9D-76DB0048D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5271" y="2761376"/>
            <a:ext cx="2082371" cy="209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2CC102D-C7B9-03B2-E39B-580167D3A0D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Marcador de número de diapositiva 3">
            <a:extLst>
              <a:ext uri="{FF2B5EF4-FFF2-40B4-BE49-F238E27FC236}">
                <a16:creationId xmlns:a16="http://schemas.microsoft.com/office/drawing/2014/main" id="{6D5CA4B7-1235-272D-91D6-73F232F3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28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218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38687" y="993246"/>
            <a:ext cx="10645869" cy="803647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EL ESTADO DE SITUACIÓN FINANCIERA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2441731" y="2014486"/>
            <a:ext cx="6162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>
                <a:solidFill>
                  <a:srgbClr val="D7A700"/>
                </a:solidFill>
                <a:latin typeface="Century Gothic" panose="020B0502020202020204" pitchFamily="34" charset="0"/>
              </a:rPr>
              <a:t>¿Cómo se ve nuestro Estado de Situación Financiera?</a:t>
            </a:r>
          </a:p>
        </p:txBody>
      </p:sp>
      <p:sp>
        <p:nvSpPr>
          <p:cNvPr id="6" name="Rectángulo 5"/>
          <p:cNvSpPr/>
          <p:nvPr/>
        </p:nvSpPr>
        <p:spPr>
          <a:xfrm>
            <a:off x="2713799" y="2549373"/>
            <a:ext cx="2794000" cy="297744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accent1"/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5537926" y="2556363"/>
            <a:ext cx="2794000" cy="297744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accent1"/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2333340" y="5728534"/>
            <a:ext cx="24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TOTAL ACTIVO </a:t>
            </a:r>
            <a:r>
              <a:rPr lang="es-ES" b="1">
                <a:solidFill>
                  <a:srgbClr val="D7A700"/>
                </a:solidFill>
                <a:latin typeface="Century Gothic" panose="020B0502020202020204" pitchFamily="34" charset="0"/>
              </a:rPr>
              <a:t>=</a:t>
            </a: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 100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4889683" y="5728534"/>
            <a:ext cx="4115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TOTAL PASIVO </a:t>
            </a:r>
            <a:r>
              <a:rPr lang="es-ES" b="1">
                <a:solidFill>
                  <a:srgbClr val="D7A700"/>
                </a:solidFill>
                <a:latin typeface="Century Gothic" panose="020B0502020202020204" pitchFamily="34" charset="0"/>
              </a:rPr>
              <a:t>+</a:t>
            </a:r>
            <a:r>
              <a:rPr lang="es-ES">
                <a:solidFill>
                  <a:srgbClr val="D7A700"/>
                </a:solidFill>
                <a:latin typeface="Century Gothic" panose="020B0502020202020204" pitchFamily="34" charset="0"/>
              </a:rPr>
              <a:t> </a:t>
            </a: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PATRIMONIO </a:t>
            </a:r>
            <a:r>
              <a:rPr lang="es-ES" b="1">
                <a:solidFill>
                  <a:srgbClr val="D7A700"/>
                </a:solidFill>
                <a:latin typeface="Century Gothic" panose="020B0502020202020204" pitchFamily="34" charset="0"/>
              </a:rPr>
              <a:t>=</a:t>
            </a: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 100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5522860" y="2547767"/>
            <a:ext cx="2809065" cy="16268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accent1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5537926" y="4700333"/>
            <a:ext cx="2037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>
                <a:solidFill>
                  <a:schemeClr val="accent1"/>
                </a:solidFill>
                <a:latin typeface="Century Gothic" panose="020B0502020202020204" pitchFamily="34" charset="0"/>
              </a:rPr>
              <a:t>Capital Suscrito = 100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2806200" y="3007585"/>
            <a:ext cx="1388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>
                <a:solidFill>
                  <a:schemeClr val="accent1"/>
                </a:solidFill>
                <a:latin typeface="Century Gothic" panose="020B0502020202020204" pitchFamily="34" charset="0"/>
              </a:rPr>
              <a:t>Efectivo = 100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2743926" y="2590763"/>
            <a:ext cx="2780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>
                <a:solidFill>
                  <a:srgbClr val="C00000"/>
                </a:solidFill>
                <a:latin typeface="Century Gothic" panose="020B0502020202020204" pitchFamily="34" charset="0"/>
              </a:rPr>
              <a:t>ACTIVO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5522864" y="2584397"/>
            <a:ext cx="2780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>
                <a:solidFill>
                  <a:srgbClr val="C00000"/>
                </a:solidFill>
                <a:latin typeface="Century Gothic" panose="020B0502020202020204" pitchFamily="34" charset="0"/>
              </a:rPr>
              <a:t>PASIVO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5522863" y="4194123"/>
            <a:ext cx="2780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>
                <a:solidFill>
                  <a:srgbClr val="C00000"/>
                </a:solidFill>
                <a:latin typeface="Century Gothic" panose="020B0502020202020204" pitchFamily="34" charset="0"/>
              </a:rPr>
              <a:t>PATRIMONIO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A8DF329-8E42-E6EB-2BFE-7D345DB9274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21" name="Picture 2" descr="Clientes y aliados | Centro de Evaluación | Uniandes">
            <a:extLst>
              <a:ext uri="{FF2B5EF4-FFF2-40B4-BE49-F238E27FC236}">
                <a16:creationId xmlns:a16="http://schemas.microsoft.com/office/drawing/2014/main" id="{3850CC8F-B33A-2D30-2380-84C257A3C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0F17BD7A-B2D3-A55B-6A06-56FC30FF001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6DC3CBDE-F417-0985-148B-39B3ECD09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29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48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38687" y="993246"/>
            <a:ext cx="10645869" cy="803647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EL ESTADO DE SITUACIÓN FINANCIERA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2" y="2037364"/>
            <a:ext cx="11029616" cy="367830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Construyamos un Estado de Situación Financiera muy sencillo. Usted va a montar una empresa y cuenta con la siguiente información.</a:t>
            </a:r>
          </a:p>
          <a:p>
            <a:pPr marL="0" indent="0" algn="just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Usted, como socio, aporta 100 millones de pesos para montar la empresa.</a:t>
            </a:r>
          </a:p>
          <a:p>
            <a:pPr algn="just">
              <a:buFont typeface="Wingdings" pitchFamily="2" charset="2"/>
              <a:buChar char="q"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s-ES" b="1" u="sng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Con esa plata, compra maquinaria que le cuesta 70 millones de pesos.</a:t>
            </a:r>
          </a:p>
          <a:p>
            <a:pPr algn="just">
              <a:buFont typeface="Wingdings" pitchFamily="2" charset="2"/>
              <a:buChar char="q"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Luego, se da cuenta que tiene que comprar un lote y una edificación por 50 millones de pesos. La plata que le falta la adquiere de un banco.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66F9296-CC24-862D-0EF4-0FF19CE84A6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AB9FCA33-F355-43EB-E3F1-03B3A02D8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lustración de diseño de dibujos animados planos de concepto de inversión  de idea de dinero financiero | Vector Premium">
            <a:extLst>
              <a:ext uri="{FF2B5EF4-FFF2-40B4-BE49-F238E27FC236}">
                <a16:creationId xmlns:a16="http://schemas.microsoft.com/office/drawing/2014/main" id="{88A7B213-A7AE-3520-721C-4FDC66DA7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5271" y="2761376"/>
            <a:ext cx="2082371" cy="209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2230FDF-945C-F424-52E1-E90FB1B598F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Marcador de número de diapositiva 3">
            <a:extLst>
              <a:ext uri="{FF2B5EF4-FFF2-40B4-BE49-F238E27FC236}">
                <a16:creationId xmlns:a16="http://schemas.microsoft.com/office/drawing/2014/main" id="{3F871155-C2E2-D631-A5AE-3B970993B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30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0502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38687" y="993246"/>
            <a:ext cx="10645869" cy="803647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EL ESTADO DE SITUACIÓN FINANCIERA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2441731" y="2014486"/>
            <a:ext cx="6162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>
                <a:solidFill>
                  <a:srgbClr val="D7A700"/>
                </a:solidFill>
                <a:latin typeface="Century Gothic" panose="020B0502020202020204" pitchFamily="34" charset="0"/>
              </a:rPr>
              <a:t>¿Cómo se ve nuestro Estado de Situación Financiera?</a:t>
            </a:r>
          </a:p>
        </p:txBody>
      </p:sp>
      <p:sp>
        <p:nvSpPr>
          <p:cNvPr id="6" name="Rectángulo 5"/>
          <p:cNvSpPr/>
          <p:nvPr/>
        </p:nvSpPr>
        <p:spPr>
          <a:xfrm>
            <a:off x="2713799" y="2549373"/>
            <a:ext cx="2794000" cy="297744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accent1"/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5537926" y="2556363"/>
            <a:ext cx="2794000" cy="297744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accent1"/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2333340" y="5728534"/>
            <a:ext cx="24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TOTAL ACTIVO </a:t>
            </a:r>
            <a:r>
              <a:rPr lang="es-ES" b="1">
                <a:solidFill>
                  <a:srgbClr val="D7A700"/>
                </a:solidFill>
                <a:latin typeface="Century Gothic" panose="020B0502020202020204" pitchFamily="34" charset="0"/>
              </a:rPr>
              <a:t>=</a:t>
            </a: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 100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4889683" y="5728534"/>
            <a:ext cx="4115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TOTAL PASIVO </a:t>
            </a:r>
            <a:r>
              <a:rPr lang="es-ES" b="1">
                <a:solidFill>
                  <a:srgbClr val="D7A700"/>
                </a:solidFill>
                <a:latin typeface="Century Gothic" panose="020B0502020202020204" pitchFamily="34" charset="0"/>
              </a:rPr>
              <a:t>+</a:t>
            </a:r>
            <a:r>
              <a:rPr lang="es-ES">
                <a:solidFill>
                  <a:srgbClr val="D7A700"/>
                </a:solidFill>
                <a:latin typeface="Century Gothic" panose="020B0502020202020204" pitchFamily="34" charset="0"/>
              </a:rPr>
              <a:t> </a:t>
            </a: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PATRIMONIO </a:t>
            </a:r>
            <a:r>
              <a:rPr lang="es-ES" b="1">
                <a:solidFill>
                  <a:srgbClr val="D7A700"/>
                </a:solidFill>
                <a:latin typeface="Century Gothic" panose="020B0502020202020204" pitchFamily="34" charset="0"/>
              </a:rPr>
              <a:t>=</a:t>
            </a: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 100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5522860" y="2547767"/>
            <a:ext cx="2809065" cy="16268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accent1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5616692" y="4700333"/>
            <a:ext cx="2037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>
                <a:solidFill>
                  <a:schemeClr val="accent1"/>
                </a:solidFill>
                <a:latin typeface="Century Gothic" panose="020B0502020202020204" pitchFamily="34" charset="0"/>
              </a:rPr>
              <a:t>Capital Suscrito = 100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2743926" y="3053424"/>
            <a:ext cx="21836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>
                <a:solidFill>
                  <a:schemeClr val="accent1"/>
                </a:solidFill>
                <a:latin typeface="Century Gothic" panose="020B0502020202020204" pitchFamily="34" charset="0"/>
              </a:rPr>
              <a:t>Efectivo = 100 – 70 = 30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2743926" y="2590763"/>
            <a:ext cx="2780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>
                <a:solidFill>
                  <a:srgbClr val="C00000"/>
                </a:solidFill>
                <a:latin typeface="Century Gothic" panose="020B0502020202020204" pitchFamily="34" charset="0"/>
              </a:rPr>
              <a:t>ACTIVO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5522864" y="2584397"/>
            <a:ext cx="2780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>
                <a:solidFill>
                  <a:srgbClr val="C00000"/>
                </a:solidFill>
                <a:latin typeface="Century Gothic" panose="020B0502020202020204" pitchFamily="34" charset="0"/>
              </a:rPr>
              <a:t>PASIVO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5522863" y="4194123"/>
            <a:ext cx="2780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>
                <a:solidFill>
                  <a:srgbClr val="C00000"/>
                </a:solidFill>
                <a:latin typeface="Century Gothic" panose="020B0502020202020204" pitchFamily="34" charset="0"/>
              </a:rPr>
              <a:t>PATRIMONIO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A8DF329-8E42-E6EB-2BFE-7D345DB9274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21" name="Picture 2" descr="Clientes y aliados | Centro de Evaluación | Uniandes">
            <a:extLst>
              <a:ext uri="{FF2B5EF4-FFF2-40B4-BE49-F238E27FC236}">
                <a16:creationId xmlns:a16="http://schemas.microsoft.com/office/drawing/2014/main" id="{3850CC8F-B33A-2D30-2380-84C257A3C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7EF9F648-187D-39CF-7A7A-446A748F2DBE}"/>
              </a:ext>
            </a:extLst>
          </p:cNvPr>
          <p:cNvSpPr txBox="1"/>
          <p:nvPr/>
        </p:nvSpPr>
        <p:spPr>
          <a:xfrm>
            <a:off x="2805845" y="4180607"/>
            <a:ext cx="1592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>
                <a:solidFill>
                  <a:schemeClr val="accent1"/>
                </a:solidFill>
                <a:latin typeface="Century Gothic" panose="020B0502020202020204" pitchFamily="34" charset="0"/>
              </a:rPr>
              <a:t>Maquinaria = 70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9B3A084-3D94-1F3D-0204-D40113DB815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17207DA3-82A7-56C9-DD23-9BF59BBCC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31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51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38687" y="993246"/>
            <a:ext cx="10645869" cy="803647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EL ESTADO DE SITUACIÓN FINANCIERA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41965" y="2186451"/>
            <a:ext cx="11029615" cy="36783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Construyamos un Estado de Situación Financiera muy sencillo. Usted va a montar una empresa y cuenta con la siguiente información.</a:t>
            </a:r>
          </a:p>
          <a:p>
            <a:pPr marL="0" indent="0">
              <a:buNone/>
            </a:pPr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Usted, como socio, aporta 100 millones de pesos para montar la empresa.</a:t>
            </a:r>
          </a:p>
          <a:p>
            <a:pPr>
              <a:buFont typeface="Wingdings" pitchFamily="2" charset="2"/>
              <a:buChar char="q"/>
            </a:pPr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Con esa plata, compra maquinaria que le cuesta 70 millones de pesos.</a:t>
            </a:r>
          </a:p>
          <a:p>
            <a:pPr>
              <a:buFont typeface="Wingdings" pitchFamily="2" charset="2"/>
              <a:buChar char="q"/>
            </a:pPr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s-ES" b="1" u="sng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Luego, se da cuenta que tiene que comprar un lote y una edificación por 50 millones de pesos. La plata que le falta la adquiere de un banco.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0686F2F-56B4-BEC1-9BCE-67144C1498A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909068DB-21D7-635A-4F75-ADC34D0D3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lustración de diseño de dibujos animados planos de concepto de inversión  de idea de dinero financiero | Vector Premium">
            <a:extLst>
              <a:ext uri="{FF2B5EF4-FFF2-40B4-BE49-F238E27FC236}">
                <a16:creationId xmlns:a16="http://schemas.microsoft.com/office/drawing/2014/main" id="{97DD7F81-586D-AF65-2A07-6DCE871C1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5271" y="2761376"/>
            <a:ext cx="2082371" cy="209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2D91B68-2C13-DBA6-1F05-425D44978EE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Marcador de número de diapositiva 3">
            <a:extLst>
              <a:ext uri="{FF2B5EF4-FFF2-40B4-BE49-F238E27FC236}">
                <a16:creationId xmlns:a16="http://schemas.microsoft.com/office/drawing/2014/main" id="{27405A58-893B-F803-DB41-0A75463EC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32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5792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38687" y="993246"/>
            <a:ext cx="10645869" cy="803647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EL ESTADO DE SITUACIÓN FINANCIERA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2441731" y="2014486"/>
            <a:ext cx="6162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>
                <a:solidFill>
                  <a:srgbClr val="D7A700"/>
                </a:solidFill>
                <a:latin typeface="Century Gothic" panose="020B0502020202020204" pitchFamily="34" charset="0"/>
              </a:rPr>
              <a:t>¿Cómo se ve nuestro Estado de Situación Financiera?</a:t>
            </a:r>
          </a:p>
        </p:txBody>
      </p:sp>
      <p:sp>
        <p:nvSpPr>
          <p:cNvPr id="6" name="Rectángulo 5"/>
          <p:cNvSpPr/>
          <p:nvPr/>
        </p:nvSpPr>
        <p:spPr>
          <a:xfrm>
            <a:off x="2713799" y="2549373"/>
            <a:ext cx="2794000" cy="297744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accent1"/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5537926" y="2556363"/>
            <a:ext cx="2794000" cy="297744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accent1"/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2323841" y="5728534"/>
            <a:ext cx="2446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TOTAL ACTIVO </a:t>
            </a:r>
            <a:r>
              <a:rPr lang="es-ES" b="1">
                <a:solidFill>
                  <a:srgbClr val="D7A700"/>
                </a:solidFill>
                <a:latin typeface="Century Gothic" panose="020B0502020202020204" pitchFamily="34" charset="0"/>
              </a:rPr>
              <a:t>=</a:t>
            </a: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 120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4890485" y="5728534"/>
            <a:ext cx="4113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TOTAL PASIVO </a:t>
            </a:r>
            <a:r>
              <a:rPr lang="es-ES" b="1">
                <a:solidFill>
                  <a:srgbClr val="D7A700"/>
                </a:solidFill>
                <a:latin typeface="Century Gothic" panose="020B0502020202020204" pitchFamily="34" charset="0"/>
              </a:rPr>
              <a:t>+</a:t>
            </a:r>
            <a:r>
              <a:rPr lang="es-ES">
                <a:solidFill>
                  <a:srgbClr val="D7A700"/>
                </a:solidFill>
                <a:latin typeface="Century Gothic" panose="020B0502020202020204" pitchFamily="34" charset="0"/>
              </a:rPr>
              <a:t> </a:t>
            </a: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PATRIMONIO </a:t>
            </a:r>
            <a:r>
              <a:rPr lang="es-ES" b="1">
                <a:solidFill>
                  <a:srgbClr val="D7A700"/>
                </a:solidFill>
                <a:latin typeface="Century Gothic" panose="020B0502020202020204" pitchFamily="34" charset="0"/>
              </a:rPr>
              <a:t>=</a:t>
            </a: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 120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5522860" y="2547767"/>
            <a:ext cx="2809065" cy="16268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accent1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5537926" y="4699823"/>
            <a:ext cx="2037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>
                <a:solidFill>
                  <a:schemeClr val="accent1"/>
                </a:solidFill>
                <a:latin typeface="Century Gothic" panose="020B0502020202020204" pitchFamily="34" charset="0"/>
              </a:rPr>
              <a:t>Capital Suscrito = 100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2796781" y="3054830"/>
            <a:ext cx="1984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>
                <a:solidFill>
                  <a:schemeClr val="accent1"/>
                </a:solidFill>
                <a:latin typeface="Century Gothic" panose="020B0502020202020204" pitchFamily="34" charset="0"/>
              </a:rPr>
              <a:t>Efectivo = 30 – 30 = 0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2743926" y="2590763"/>
            <a:ext cx="2780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>
                <a:solidFill>
                  <a:srgbClr val="C00000"/>
                </a:solidFill>
                <a:latin typeface="Century Gothic" panose="020B0502020202020204" pitchFamily="34" charset="0"/>
              </a:rPr>
              <a:t>ACTIVO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5522864" y="2584397"/>
            <a:ext cx="2780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>
                <a:solidFill>
                  <a:srgbClr val="C00000"/>
                </a:solidFill>
                <a:latin typeface="Century Gothic" panose="020B0502020202020204" pitchFamily="34" charset="0"/>
              </a:rPr>
              <a:t>PASIVO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5522863" y="4194123"/>
            <a:ext cx="2780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>
                <a:solidFill>
                  <a:srgbClr val="C00000"/>
                </a:solidFill>
                <a:latin typeface="Century Gothic" panose="020B0502020202020204" pitchFamily="34" charset="0"/>
              </a:rPr>
              <a:t>PATRIMONIO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A8DF329-8E42-E6EB-2BFE-7D345DB9274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21" name="Picture 2" descr="Clientes y aliados | Centro de Evaluación | Uniandes">
            <a:extLst>
              <a:ext uri="{FF2B5EF4-FFF2-40B4-BE49-F238E27FC236}">
                <a16:creationId xmlns:a16="http://schemas.microsoft.com/office/drawing/2014/main" id="{3850CC8F-B33A-2D30-2380-84C257A3C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7EF9F648-187D-39CF-7A7A-446A748F2DBE}"/>
              </a:ext>
            </a:extLst>
          </p:cNvPr>
          <p:cNvSpPr txBox="1"/>
          <p:nvPr/>
        </p:nvSpPr>
        <p:spPr>
          <a:xfrm>
            <a:off x="2805845" y="4180607"/>
            <a:ext cx="1592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>
                <a:solidFill>
                  <a:schemeClr val="accent1"/>
                </a:solidFill>
                <a:latin typeface="Century Gothic" panose="020B0502020202020204" pitchFamily="34" charset="0"/>
              </a:rPr>
              <a:t>Maquinaria = 70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B5A227F-1097-934F-BB28-4FDC403C1450}"/>
              </a:ext>
            </a:extLst>
          </p:cNvPr>
          <p:cNvSpPr txBox="1"/>
          <p:nvPr/>
        </p:nvSpPr>
        <p:spPr>
          <a:xfrm>
            <a:off x="2805845" y="4545935"/>
            <a:ext cx="21275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>
                <a:solidFill>
                  <a:schemeClr val="accent1"/>
                </a:solidFill>
                <a:latin typeface="Century Gothic" panose="020B0502020202020204" pitchFamily="34" charset="0"/>
              </a:rPr>
              <a:t>Lote y Edificación = 50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2F24F24-0183-8643-A2C9-1F788467430D}"/>
              </a:ext>
            </a:extLst>
          </p:cNvPr>
          <p:cNvSpPr txBox="1"/>
          <p:nvPr/>
        </p:nvSpPr>
        <p:spPr>
          <a:xfrm>
            <a:off x="5522104" y="3034395"/>
            <a:ext cx="2238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>
                <a:solidFill>
                  <a:schemeClr val="accent1"/>
                </a:solidFill>
                <a:latin typeface="Century Gothic" panose="020B0502020202020204" pitchFamily="34" charset="0"/>
              </a:rPr>
              <a:t>Préstamo Bancario = 20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9ACD5E6-5740-DFB6-5335-7CF5D5C80ED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D4778466-EACB-29E5-7168-A9E975C68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33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39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7" grpId="0"/>
      <p:bldP spid="18" grpId="0"/>
      <p:bldP spid="1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>
                <a:latin typeface="Century Gothic" panose="020B0502020202020204" pitchFamily="34" charset="0"/>
              </a:rPr>
              <a:t>EL ESTADO DE SITUACIÓN FINANCIERA</a:t>
            </a:r>
            <a:endParaRPr lang="es-ES">
              <a:latin typeface="Century Gothic" panose="020B0502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42236" y="2290360"/>
            <a:ext cx="7242318" cy="367830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000">
                <a:solidFill>
                  <a:schemeClr val="accent1"/>
                </a:solidFill>
                <a:latin typeface="Century Gothic" panose="020B0502020202020204" pitchFamily="34" charset="0"/>
              </a:rPr>
              <a:t>El anterior ejercicio es una versión </a:t>
            </a:r>
            <a:r>
              <a:rPr lang="es-ES" sz="2000" b="1">
                <a:solidFill>
                  <a:srgbClr val="C00000"/>
                </a:solidFill>
                <a:latin typeface="Century Gothic" panose="020B0502020202020204" pitchFamily="34" charset="0"/>
              </a:rPr>
              <a:t>excesivamente simplificada </a:t>
            </a:r>
            <a:r>
              <a:rPr lang="es-ES" sz="2000">
                <a:solidFill>
                  <a:schemeClr val="accent1"/>
                </a:solidFill>
                <a:latin typeface="Century Gothic" panose="020B0502020202020204" pitchFamily="34" charset="0"/>
              </a:rPr>
              <a:t>de un Estado de Situación Financiera.</a:t>
            </a:r>
          </a:p>
          <a:p>
            <a:pPr marL="0" indent="0" algn="ctr">
              <a:buNone/>
            </a:pPr>
            <a:endParaRPr lang="es-ES" sz="200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" sz="2000">
                <a:solidFill>
                  <a:schemeClr val="accent1"/>
                </a:solidFill>
                <a:latin typeface="Century Gothic" panose="020B0502020202020204" pitchFamily="34" charset="0"/>
              </a:rPr>
              <a:t>No obstante, para efectos de los conceptos más básicos del Estado de Situación Financiera, permite ilustrar la intuición y lógica general de dicho Estado Financiero.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2830" t="10894" r="11589" b="13743"/>
          <a:stretch/>
        </p:blipFill>
        <p:spPr>
          <a:xfrm>
            <a:off x="1206018" y="2890124"/>
            <a:ext cx="2460853" cy="2453721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5933DD0-7750-0E2B-B0FC-1AAF0762A5D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Picture 2" descr="Clientes y aliados | Centro de Evaluación | Uniandes">
            <a:extLst>
              <a:ext uri="{FF2B5EF4-FFF2-40B4-BE49-F238E27FC236}">
                <a16:creationId xmlns:a16="http://schemas.microsoft.com/office/drawing/2014/main" id="{479FD37C-512D-1B10-1AF9-F4D8E0FDA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4BB94EC-A6AF-D523-FC67-980E9D5F379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F573B7FC-6A55-55A2-F0F7-4E407C0A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34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557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>
                <a:latin typeface="Century Gothic" panose="020B0502020202020204" pitchFamily="34" charset="0"/>
              </a:rPr>
              <a:t>ESTADO DE RESULTADOS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83117" y="2075738"/>
            <a:ext cx="3915454" cy="14401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>
                <a:solidFill>
                  <a:schemeClr val="accent1"/>
                </a:solidFill>
                <a:latin typeface="Century Gothic" panose="020B0502020202020204" pitchFamily="34" charset="0"/>
              </a:rPr>
              <a:t>Refleja los resultados de la gestión realizada en un periodo.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56586" y="2410024"/>
            <a:ext cx="3496577" cy="501914"/>
          </a:xfrm>
          <a:prstGeom prst="rect">
            <a:avLst/>
          </a:prstGeom>
          <a:solidFill>
            <a:srgbClr val="FF6969"/>
          </a:solidFill>
          <a:ln>
            <a:noFill/>
          </a:ln>
          <a:effectLst/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chemeClr val="bg1"/>
                </a:solidFill>
                <a:latin typeface="Century Gothic" panose="020B0502020202020204" pitchFamily="34" charset="0"/>
              </a:rPr>
              <a:t>Costo de Ventas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56585" y="3326120"/>
            <a:ext cx="3496577" cy="400797"/>
          </a:xfrm>
          <a:prstGeom prst="rect">
            <a:avLst/>
          </a:prstGeom>
          <a:solidFill>
            <a:srgbClr val="FF6969"/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chemeClr val="bg1"/>
                </a:solidFill>
                <a:latin typeface="Century Gothic" panose="020B0502020202020204" pitchFamily="34" charset="0"/>
              </a:rPr>
              <a:t>Gastos Operacionales (AOM)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56585" y="4611260"/>
            <a:ext cx="3496577" cy="37854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chemeClr val="accent1"/>
                </a:solidFill>
                <a:latin typeface="Century Gothic" panose="020B0502020202020204" pitchFamily="34" charset="0"/>
              </a:rPr>
              <a:t>Otros Ingresos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56584" y="5800309"/>
            <a:ext cx="3496577" cy="400797"/>
          </a:xfrm>
          <a:prstGeom prst="rect">
            <a:avLst/>
          </a:prstGeom>
          <a:solidFill>
            <a:srgbClr val="FF6969"/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latin typeface="Century Gothic" panose="020B0502020202020204" pitchFamily="34" charset="0"/>
              </a:rPr>
              <a:t>Impuestos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56584" y="6214335"/>
            <a:ext cx="3496577" cy="395658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latin typeface="Century Gothic" panose="020B0502020202020204" pitchFamily="34" charset="0"/>
              </a:rPr>
              <a:t>Utilidad Neta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56585" y="4137404"/>
            <a:ext cx="3496577" cy="468733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latin typeface="Century Gothic" panose="020B0502020202020204" pitchFamily="34" charset="0"/>
              </a:rPr>
              <a:t>EBIT (UAII)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56586" y="1933045"/>
            <a:ext cx="3496577" cy="479214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Ingresos Ordinarios</a:t>
            </a:r>
          </a:p>
        </p:txBody>
      </p:sp>
      <p:sp>
        <p:nvSpPr>
          <p:cNvPr id="12" name="Left Brace 9"/>
          <p:cNvSpPr/>
          <p:nvPr/>
        </p:nvSpPr>
        <p:spPr>
          <a:xfrm rot="10800000">
            <a:off x="9103331" y="1972734"/>
            <a:ext cx="393651" cy="2164669"/>
          </a:xfrm>
          <a:prstGeom prst="leftBrac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6"/>
          <p:cNvSpPr txBox="1">
            <a:spLocks/>
          </p:cNvSpPr>
          <p:nvPr/>
        </p:nvSpPr>
        <p:spPr>
          <a:xfrm>
            <a:off x="9483107" y="2883891"/>
            <a:ext cx="1979747" cy="428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_tradnl" sz="1800" b="1">
                <a:solidFill>
                  <a:schemeClr val="accent1"/>
                </a:solidFill>
                <a:latin typeface="Century Gothic" panose="020B0502020202020204" pitchFamily="34" charset="0"/>
              </a:rPr>
              <a:t>Operacionales</a:t>
            </a:r>
          </a:p>
        </p:txBody>
      </p:sp>
      <p:sp>
        <p:nvSpPr>
          <p:cNvPr id="17" name="Left Brace 9"/>
          <p:cNvSpPr/>
          <p:nvPr/>
        </p:nvSpPr>
        <p:spPr>
          <a:xfrm rot="10800000">
            <a:off x="9089456" y="4606135"/>
            <a:ext cx="393651" cy="755846"/>
          </a:xfrm>
          <a:prstGeom prst="leftBrac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6"/>
          <p:cNvSpPr txBox="1">
            <a:spLocks/>
          </p:cNvSpPr>
          <p:nvPr/>
        </p:nvSpPr>
        <p:spPr>
          <a:xfrm>
            <a:off x="9496982" y="4769019"/>
            <a:ext cx="2257338" cy="428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_tradnl" sz="1800" b="1">
                <a:solidFill>
                  <a:schemeClr val="accent6"/>
                </a:solidFill>
                <a:latin typeface="Century Gothic" panose="020B0502020202020204" pitchFamily="34" charset="0"/>
              </a:rPr>
              <a:t>No Operacionales</a:t>
            </a:r>
          </a:p>
        </p:txBody>
      </p:sp>
      <p:sp>
        <p:nvSpPr>
          <p:cNvPr id="19" name="Rectangle 8"/>
          <p:cNvSpPr/>
          <p:nvPr/>
        </p:nvSpPr>
        <p:spPr>
          <a:xfrm>
            <a:off x="5456586" y="2911939"/>
            <a:ext cx="3496577" cy="400797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latin typeface="Century Gothic" panose="020B0502020202020204" pitchFamily="34" charset="0"/>
              </a:rPr>
              <a:t>Utilidad Bruta</a:t>
            </a:r>
          </a:p>
        </p:txBody>
      </p:sp>
      <p:sp>
        <p:nvSpPr>
          <p:cNvPr id="20" name="Rectangle 8"/>
          <p:cNvSpPr/>
          <p:nvPr/>
        </p:nvSpPr>
        <p:spPr>
          <a:xfrm>
            <a:off x="5456584" y="3726918"/>
            <a:ext cx="3496577" cy="400797"/>
          </a:xfrm>
          <a:prstGeom prst="rect">
            <a:avLst/>
          </a:prstGeom>
          <a:solidFill>
            <a:srgbClr val="FF6969"/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latin typeface="Century Gothic" panose="020B0502020202020204" pitchFamily="34" charset="0"/>
              </a:rPr>
              <a:t>Depreciación/Amortización</a:t>
            </a:r>
          </a:p>
        </p:txBody>
      </p:sp>
      <p:sp>
        <p:nvSpPr>
          <p:cNvPr id="23" name="Rectangle 13"/>
          <p:cNvSpPr/>
          <p:nvPr/>
        </p:nvSpPr>
        <p:spPr>
          <a:xfrm>
            <a:off x="5456584" y="4983442"/>
            <a:ext cx="3496577" cy="378540"/>
          </a:xfrm>
          <a:prstGeom prst="rect">
            <a:avLst/>
          </a:prstGeom>
          <a:solidFill>
            <a:srgbClr val="FF6969"/>
          </a:solidFill>
          <a:ln>
            <a:noFill/>
          </a:ln>
          <a:effectLst/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chemeClr val="bg1"/>
                </a:solidFill>
                <a:latin typeface="Century Gothic" panose="020B0502020202020204" pitchFamily="34" charset="0"/>
              </a:rPr>
              <a:t>Otros Egresos</a:t>
            </a:r>
          </a:p>
        </p:txBody>
      </p:sp>
      <p:sp>
        <p:nvSpPr>
          <p:cNvPr id="24" name="Rectangle 2"/>
          <p:cNvSpPr/>
          <p:nvPr/>
        </p:nvSpPr>
        <p:spPr>
          <a:xfrm>
            <a:off x="5456586" y="5339982"/>
            <a:ext cx="3496577" cy="468733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latin typeface="Century Gothic" panose="020B0502020202020204" pitchFamily="34" charset="0"/>
              </a:rPr>
              <a:t>Utilidad Antes de Impuestos (UAI)</a:t>
            </a:r>
          </a:p>
        </p:txBody>
      </p:sp>
      <p:pic>
        <p:nvPicPr>
          <p:cNvPr id="2050" name="Picture 2" descr="Resultado de imagen para resultados de gestion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7FAEF2"/>
              </a:clrFrom>
              <a:clrTo>
                <a:srgbClr val="7FAEF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478" y="3621129"/>
            <a:ext cx="3017549" cy="179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2B2C680D-30BB-37C1-9D4B-634DE0D043D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96B80A16-6C0D-E1E2-F136-0A949E371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840C12C1-3813-D29C-B821-AE7EB6275B2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9089BE53-7D95-ACAF-78F8-685590AD2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35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20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4" grpId="0" animBg="1"/>
      <p:bldP spid="15" grpId="0" animBg="1"/>
      <p:bldP spid="16" grpId="0" animBg="1"/>
      <p:bldP spid="3" grpId="0" animBg="1"/>
      <p:bldP spid="6" grpId="0" animBg="1"/>
      <p:bldP spid="12" grpId="0" animBg="1"/>
      <p:bldP spid="13" grpId="0"/>
      <p:bldP spid="17" grpId="0" animBg="1"/>
      <p:bldP spid="18" grpId="0"/>
      <p:bldP spid="19" grpId="0" animBg="1"/>
      <p:bldP spid="20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8BBAC-55A5-DE17-A675-06D9355B3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C6FCFFD-3EE1-EC73-5E42-591C4B88A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687" y="993246"/>
            <a:ext cx="10645869" cy="803647"/>
          </a:xfrm>
        </p:spPr>
        <p:txBody>
          <a:bodyPr/>
          <a:lstStyle/>
          <a:p>
            <a:r>
              <a:rPr lang="es-ES_tradnl">
                <a:latin typeface="Century Gothic" panose="020B0502020202020204" pitchFamily="34" charset="0"/>
              </a:rPr>
              <a:t>ESTADO DE 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F7BF1B-174B-B159-9CA0-1D57A62E8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687" y="2037363"/>
            <a:ext cx="5928246" cy="3678303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Construyamos un Estado de Resultados muy sencillo. </a:t>
            </a:r>
            <a:r>
              <a:rPr lang="es-CO">
                <a:solidFill>
                  <a:schemeClr val="accent1"/>
                </a:solidFill>
                <a:latin typeface="Century Gothic" panose="020B0502020202020204" pitchFamily="34" charset="0"/>
              </a:rPr>
              <a:t>La misma empresa que ya montó le proporciona esta información.</a:t>
            </a:r>
          </a:p>
          <a:p>
            <a:pPr marL="0" indent="0" algn="just">
              <a:buNone/>
            </a:pPr>
            <a:endParaRPr lang="es-ES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Después de operar un año, su empresa vendió 30 millones de pesos.</a:t>
            </a:r>
          </a:p>
          <a:p>
            <a:pPr algn="just">
              <a:buFont typeface="Wingdings" pitchFamily="2" charset="2"/>
              <a:buChar char="q"/>
            </a:pP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Sus costos de ventas fueron de 10 millones de pesos.</a:t>
            </a:r>
          </a:p>
          <a:p>
            <a:pPr algn="just">
              <a:buFont typeface="Wingdings" pitchFamily="2" charset="2"/>
              <a:buChar char="q"/>
            </a:pP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Los gastos de administración fueron 6 millones de pesos.</a:t>
            </a:r>
          </a:p>
          <a:p>
            <a:pPr algn="just">
              <a:buFont typeface="Wingdings" pitchFamily="2" charset="2"/>
              <a:buChar char="q"/>
            </a:pP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La depreciación de sus activos fue de 2 millones de pesos.</a:t>
            </a:r>
          </a:p>
          <a:p>
            <a:pPr algn="just">
              <a:buFont typeface="Wingdings" pitchFamily="2" charset="2"/>
              <a:buChar char="q"/>
            </a:pP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Los gastos financieros fueron de 2 millones de pesos.</a:t>
            </a:r>
          </a:p>
          <a:p>
            <a:pPr algn="just">
              <a:buFont typeface="Wingdings" pitchFamily="2" charset="2"/>
              <a:buChar char="q"/>
            </a:pPr>
            <a:r>
              <a:rPr lang="es-ES">
                <a:solidFill>
                  <a:schemeClr val="accent1"/>
                </a:solidFill>
                <a:latin typeface="Century Gothic" panose="020B0502020202020204" pitchFamily="34" charset="0"/>
              </a:rPr>
              <a:t>Usted pagó impuestos a una tasa de 30%.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F3F3F86-B921-6AFF-11D1-085FE40AA69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DA21941B-C55C-517E-9476-D6D05458A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D46AE10-EAD2-D1E0-CA15-FCC91D51B82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1D01CE-CE3C-B99E-4D47-EE7B9297506D}"/>
              </a:ext>
            </a:extLst>
          </p:cNvPr>
          <p:cNvSpPr/>
          <p:nvPr/>
        </p:nvSpPr>
        <p:spPr>
          <a:xfrm>
            <a:off x="6540320" y="2384623"/>
            <a:ext cx="3496577" cy="5019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chemeClr val="accent1"/>
                </a:solidFill>
                <a:latin typeface="Century Gothic" panose="020B0502020202020204" pitchFamily="34" charset="0"/>
              </a:rPr>
              <a:t>(-) Costo de Ventas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FDB344-7519-5308-C104-58A77EB3B6E3}"/>
              </a:ext>
            </a:extLst>
          </p:cNvPr>
          <p:cNvSpPr/>
          <p:nvPr/>
        </p:nvSpPr>
        <p:spPr>
          <a:xfrm>
            <a:off x="6540319" y="3300719"/>
            <a:ext cx="3496577" cy="4007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chemeClr val="accent1"/>
                </a:solidFill>
                <a:latin typeface="Century Gothic" panose="020B0502020202020204" pitchFamily="34" charset="0"/>
              </a:rPr>
              <a:t>(-) Gastos AOM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E3860ABC-262E-D04D-549E-E3FBC7B783A2}"/>
              </a:ext>
            </a:extLst>
          </p:cNvPr>
          <p:cNvSpPr/>
          <p:nvPr/>
        </p:nvSpPr>
        <p:spPr>
          <a:xfrm>
            <a:off x="6540318" y="5402371"/>
            <a:ext cx="3496577" cy="4007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chemeClr val="accent1"/>
                </a:solidFill>
                <a:latin typeface="Century Gothic" panose="020B0502020202020204" pitchFamily="34" charset="0"/>
              </a:rPr>
              <a:t>(-) Impuestos</a:t>
            </a:r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6608B396-B480-A580-44C3-12866F1EBC9A}"/>
              </a:ext>
            </a:extLst>
          </p:cNvPr>
          <p:cNvSpPr/>
          <p:nvPr/>
        </p:nvSpPr>
        <p:spPr>
          <a:xfrm>
            <a:off x="6540318" y="5816397"/>
            <a:ext cx="3496577" cy="395658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latin typeface="Century Gothic" panose="020B0502020202020204" pitchFamily="34" charset="0"/>
              </a:rPr>
              <a:t>Utilidad Neta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8A3F081-9331-47A1-9798-6BC3B74268B0}"/>
              </a:ext>
            </a:extLst>
          </p:cNvPr>
          <p:cNvSpPr/>
          <p:nvPr/>
        </p:nvSpPr>
        <p:spPr>
          <a:xfrm>
            <a:off x="6540319" y="4112003"/>
            <a:ext cx="3496577" cy="468733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latin typeface="Century Gothic" panose="020B0502020202020204" pitchFamily="34" charset="0"/>
              </a:rPr>
              <a:t>EBIT (UAII)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BA3A1A0F-353E-814E-0B7F-7896E3ABB94B}"/>
              </a:ext>
            </a:extLst>
          </p:cNvPr>
          <p:cNvSpPr/>
          <p:nvPr/>
        </p:nvSpPr>
        <p:spPr>
          <a:xfrm>
            <a:off x="6540320" y="1907644"/>
            <a:ext cx="3496577" cy="4792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Ingresos Ordinarios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2E2F36D5-DCFF-17EC-C24C-6EF462C72FFB}"/>
              </a:ext>
            </a:extLst>
          </p:cNvPr>
          <p:cNvSpPr/>
          <p:nvPr/>
        </p:nvSpPr>
        <p:spPr>
          <a:xfrm>
            <a:off x="6540320" y="2886538"/>
            <a:ext cx="3496577" cy="400797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latin typeface="Century Gothic" panose="020B0502020202020204" pitchFamily="34" charset="0"/>
              </a:rPr>
              <a:t>Utilidad Bruta</a:t>
            </a: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7BEFECB3-48A3-057D-6B61-18380128E7A6}"/>
              </a:ext>
            </a:extLst>
          </p:cNvPr>
          <p:cNvSpPr/>
          <p:nvPr/>
        </p:nvSpPr>
        <p:spPr>
          <a:xfrm>
            <a:off x="6540318" y="3701517"/>
            <a:ext cx="3496577" cy="4007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(-) Depreciación &amp; Amortización</a:t>
            </a:r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1471B657-DC83-9020-C355-6C9C182E68AB}"/>
              </a:ext>
            </a:extLst>
          </p:cNvPr>
          <p:cNvSpPr/>
          <p:nvPr/>
        </p:nvSpPr>
        <p:spPr>
          <a:xfrm>
            <a:off x="6540318" y="4585504"/>
            <a:ext cx="3496577" cy="3785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chemeClr val="accent1"/>
                </a:solidFill>
                <a:latin typeface="Century Gothic" panose="020B0502020202020204" pitchFamily="34" charset="0"/>
              </a:rPr>
              <a:t>(-) Otros Egresos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10B5FD4C-E831-A94E-0DA9-5998B1DA9CDB}"/>
              </a:ext>
            </a:extLst>
          </p:cNvPr>
          <p:cNvSpPr/>
          <p:nvPr/>
        </p:nvSpPr>
        <p:spPr>
          <a:xfrm>
            <a:off x="6540320" y="4942044"/>
            <a:ext cx="3496577" cy="468733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latin typeface="Century Gothic" panose="020B0502020202020204" pitchFamily="34" charset="0"/>
              </a:rPr>
              <a:t>Utilidad Antes de Impuestos (UAI)</a:t>
            </a: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6DCEA783-E2D9-2B31-C33B-4EAFF47C9D49}"/>
              </a:ext>
            </a:extLst>
          </p:cNvPr>
          <p:cNvSpPr/>
          <p:nvPr/>
        </p:nvSpPr>
        <p:spPr>
          <a:xfrm>
            <a:off x="9954962" y="2384265"/>
            <a:ext cx="1206680" cy="5019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chemeClr val="accent1"/>
                </a:solidFill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7644CD10-5D96-1631-685E-14232926F918}"/>
              </a:ext>
            </a:extLst>
          </p:cNvPr>
          <p:cNvSpPr/>
          <p:nvPr/>
        </p:nvSpPr>
        <p:spPr>
          <a:xfrm>
            <a:off x="9954961" y="3300361"/>
            <a:ext cx="1206680" cy="4007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chemeClr val="accent1"/>
                </a:solidFill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ABB21015-ED66-04FF-6516-CD3F6F43630D}"/>
              </a:ext>
            </a:extLst>
          </p:cNvPr>
          <p:cNvSpPr/>
          <p:nvPr/>
        </p:nvSpPr>
        <p:spPr>
          <a:xfrm>
            <a:off x="9954960" y="5402013"/>
            <a:ext cx="1206680" cy="4007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6BDB88D4-D396-CC80-418F-C66036473AE3}"/>
              </a:ext>
            </a:extLst>
          </p:cNvPr>
          <p:cNvSpPr/>
          <p:nvPr/>
        </p:nvSpPr>
        <p:spPr>
          <a:xfrm>
            <a:off x="9954960" y="5816039"/>
            <a:ext cx="1206680" cy="395658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latin typeface="Century Gothic" panose="020B0502020202020204" pitchFamily="34" charset="0"/>
              </a:rPr>
              <a:t>7</a:t>
            </a: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95258D86-BEFE-E8C5-F780-782EF35BB9C3}"/>
              </a:ext>
            </a:extLst>
          </p:cNvPr>
          <p:cNvSpPr/>
          <p:nvPr/>
        </p:nvSpPr>
        <p:spPr>
          <a:xfrm>
            <a:off x="9954961" y="4111645"/>
            <a:ext cx="1206680" cy="468733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latin typeface="Century Gothic" panose="020B0502020202020204" pitchFamily="34" charset="0"/>
              </a:rPr>
              <a:t>12</a:t>
            </a:r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8B827310-4605-D167-86B2-A5927DE00E8A}"/>
              </a:ext>
            </a:extLst>
          </p:cNvPr>
          <p:cNvSpPr/>
          <p:nvPr/>
        </p:nvSpPr>
        <p:spPr>
          <a:xfrm>
            <a:off x="9954962" y="1907286"/>
            <a:ext cx="1206680" cy="4792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chemeClr val="accent1"/>
                </a:solidFill>
                <a:latin typeface="Century Gothic" panose="020B0502020202020204" pitchFamily="34" charset="0"/>
              </a:rPr>
              <a:t>30</a:t>
            </a:r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C96F8D20-5627-34A6-9A98-A9878668C80D}"/>
              </a:ext>
            </a:extLst>
          </p:cNvPr>
          <p:cNvSpPr/>
          <p:nvPr/>
        </p:nvSpPr>
        <p:spPr>
          <a:xfrm>
            <a:off x="9954962" y="2886180"/>
            <a:ext cx="1206680" cy="400797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27" name="Rectangle 8">
            <a:extLst>
              <a:ext uri="{FF2B5EF4-FFF2-40B4-BE49-F238E27FC236}">
                <a16:creationId xmlns:a16="http://schemas.microsoft.com/office/drawing/2014/main" id="{34C53DE5-2654-0C75-291D-126BE9231C06}"/>
              </a:ext>
            </a:extLst>
          </p:cNvPr>
          <p:cNvSpPr/>
          <p:nvPr/>
        </p:nvSpPr>
        <p:spPr>
          <a:xfrm>
            <a:off x="9954960" y="3701159"/>
            <a:ext cx="1206680" cy="4007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92746CE3-65D2-D0C7-E16F-2AF068FF274D}"/>
              </a:ext>
            </a:extLst>
          </p:cNvPr>
          <p:cNvSpPr/>
          <p:nvPr/>
        </p:nvSpPr>
        <p:spPr>
          <a:xfrm>
            <a:off x="9954960" y="4585146"/>
            <a:ext cx="1206680" cy="3785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bliqueTopRight"/>
            <a:lightRig rig="threePt" dir="tl"/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A0E482ED-2686-D99B-2163-0AC32BA44081}"/>
              </a:ext>
            </a:extLst>
          </p:cNvPr>
          <p:cNvSpPr/>
          <p:nvPr/>
        </p:nvSpPr>
        <p:spPr>
          <a:xfrm>
            <a:off x="9954962" y="4941686"/>
            <a:ext cx="1206680" cy="468733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5" name="Marcador de número de diapositiva 3">
            <a:extLst>
              <a:ext uri="{FF2B5EF4-FFF2-40B4-BE49-F238E27FC236}">
                <a16:creationId xmlns:a16="http://schemas.microsoft.com/office/drawing/2014/main" id="{93DF25B3-497B-462C-183E-12FF28CA9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36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23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>
                <a:latin typeface="Century Gothic" panose="020B0502020202020204" pitchFamily="34" charset="0"/>
              </a:rPr>
              <a:t>¿Cómo SE ESTIMA EL EFECTIVO?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76607" y="2277834"/>
            <a:ext cx="8595360" cy="36783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Con lo anterior en mente, ¿Qué utilizarían ustedes como flujos de caja para evaluar un proyecto/compañía?</a:t>
            </a:r>
          </a:p>
          <a:p>
            <a:pPr marL="0" indent="0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Una primera aproximación a los flujos de caja es, entonces, la utilidad.</a:t>
            </a:r>
          </a:p>
          <a:p>
            <a:pPr marL="0" indent="0">
              <a:buNone/>
            </a:pPr>
            <a:endParaRPr lang="es-ES" dirty="0"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Pero ¿es la utilidad adecuada para reflejar los flujos de efectivo de un proyecto/compañía?</a:t>
            </a:r>
          </a:p>
          <a:p>
            <a:pPr marL="0" indent="0" algn="ctr">
              <a:buNone/>
            </a:pPr>
            <a:endParaRPr lang="es-ES" dirty="0">
              <a:solidFill>
                <a:srgbClr val="800000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Veamos varios ejemplos ilustrativos para demostrar que</a:t>
            </a:r>
            <a:r>
              <a:rPr lang="es-ES" dirty="0"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NO</a:t>
            </a:r>
            <a:r>
              <a:rPr lang="es-ES" dirty="0">
                <a:latin typeface="Century Gothic" panose="020B0502020202020204" pitchFamily="34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es así.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6D04C5D-92E2-8381-6E03-83C4B11397D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2" descr="Clientes y aliados | Centro de Evaluación | Uniandes">
            <a:extLst>
              <a:ext uri="{FF2B5EF4-FFF2-40B4-BE49-F238E27FC236}">
                <a16:creationId xmlns:a16="http://schemas.microsoft.com/office/drawing/2014/main" id="{E7BF6818-F5E1-44D5-D914-674DA7083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F37FF22-0477-1ED4-710C-26A592B26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259" y="3427856"/>
            <a:ext cx="2555114" cy="175843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6E97902-63D4-8618-3842-7EB60545676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Marcador de número de diapositiva 3">
            <a:extLst>
              <a:ext uri="{FF2B5EF4-FFF2-40B4-BE49-F238E27FC236}">
                <a16:creationId xmlns:a16="http://schemas.microsoft.com/office/drawing/2014/main" id="{70AA94D2-30D0-7571-D65C-C5C20792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37</a:t>
            </a:fld>
            <a:endParaRPr lang="en-US" sz="20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443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318</TotalTime>
  <Words>2952</Words>
  <Application>Microsoft Macintosh PowerPoint</Application>
  <PresentationFormat>Widescreen</PresentationFormat>
  <Paragraphs>485</Paragraphs>
  <Slides>37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Calibri</vt:lpstr>
      <vt:lpstr>Century Gothic</vt:lpstr>
      <vt:lpstr>Courier New</vt:lpstr>
      <vt:lpstr>Gill Sans MT</vt:lpstr>
      <vt:lpstr>Wingdings</vt:lpstr>
      <vt:lpstr>Wingdings 2</vt:lpstr>
      <vt:lpstr>Dividendo</vt:lpstr>
      <vt:lpstr>LA CONSTRUCCIÓN DEL FLUJO DE CAJA LIBRE DE UN PROYECTO (parte i)</vt:lpstr>
      <vt:lpstr>AGENDA PROPUESTA</vt:lpstr>
      <vt:lpstr>PowerPoint Presentation</vt:lpstr>
      <vt:lpstr>Construcción del flujo de caja libre</vt:lpstr>
      <vt:lpstr>Construcción del flujo de caja libre</vt:lpstr>
      <vt:lpstr>¿Qué es la contabilidad?</vt:lpstr>
      <vt:lpstr>AGENDA PROPUESTA</vt:lpstr>
      <vt:lpstr>¿Dónde se registra la contabilidad?</vt:lpstr>
      <vt:lpstr>LOS ESTADOS FINANCIEROS (E.E.F.F.)</vt:lpstr>
      <vt:lpstr>¿Qué es el ESTADO DE SITUACIÓN FINANCIERA?</vt:lpstr>
      <vt:lpstr>¿Qué es el ESTADO DE SITUACIÓN FINANCIERA?</vt:lpstr>
      <vt:lpstr>EL ESTADO DE SITUACIÓN FINANCIERA</vt:lpstr>
      <vt:lpstr>EL ESTADO DE SITUACIÓN FINANCIERA</vt:lpstr>
      <vt:lpstr>¿Cómo es la estructura del ESTADO DE SITUACIÓN FINANCIERA?</vt:lpstr>
      <vt:lpstr>¿Qué es un activo?</vt:lpstr>
      <vt:lpstr>Activos Corrientes</vt:lpstr>
      <vt:lpstr>¿Cómo es la estructura del ESTADO DE SITUACIÓN FINANCIERA?</vt:lpstr>
      <vt:lpstr>Activos NO CORRIENTES</vt:lpstr>
      <vt:lpstr>¿Cómo es la estructura del ESTADO DE SITUACIÓN FINANCIERA?</vt:lpstr>
      <vt:lpstr>Los Pasivos</vt:lpstr>
      <vt:lpstr>Los Pasivos</vt:lpstr>
      <vt:lpstr>PowerPoint Presentation</vt:lpstr>
      <vt:lpstr>El Patrimonio</vt:lpstr>
      <vt:lpstr>El Patrimonio</vt:lpstr>
      <vt:lpstr>Los Pasivos</vt:lpstr>
      <vt:lpstr>EL ESTADO DE SITUACIÓN FINANCIERA</vt:lpstr>
      <vt:lpstr>EL ESTADO DE SITUACIÓN FINANCIERA</vt:lpstr>
      <vt:lpstr>EL ESTADO DE SITUACIÓN FINANCIERA</vt:lpstr>
      <vt:lpstr>EL ESTADO DE SITUACIÓN FINANCIERA</vt:lpstr>
      <vt:lpstr>EL ESTADO DE SITUACIÓN FINANCIERA</vt:lpstr>
      <vt:lpstr>EL ESTADO DE SITUACIÓN FINANCIERA</vt:lpstr>
      <vt:lpstr>EL ESTADO DE SITUACIÓN FINANCIERA</vt:lpstr>
      <vt:lpstr>EL ESTADO DE SITUACIÓN FINANCIERA</vt:lpstr>
      <vt:lpstr>EL ESTADO DE SITUACIÓN FINANCIERA</vt:lpstr>
      <vt:lpstr>ESTADO DE RESULTADOS</vt:lpstr>
      <vt:lpstr>ESTADO DE RESULTADOS</vt:lpstr>
      <vt:lpstr>¿Cómo SE ESTIMA EL EFECTIVO?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DESDE UNA ÓPTICA ECONOMÉTRICA DE LA PREVISIBILIDAD DE LAS VARIACIONES DEL TRÁFICO DEL CORREDOR BOGOTÁ – PUERTO GAITÁN TENIENDO EN CUENTA EL COMPORTAMIENTO HISTÓRICO DEL TRÁFICO Y DEL PRECIO DEL PETRÓLEO WTI</dc:title>
  <dc:creator>Sebastian Joseph Sanchez Oyola</dc:creator>
  <cp:lastModifiedBy>Brigitte Castañeda</cp:lastModifiedBy>
  <cp:revision>6</cp:revision>
  <dcterms:created xsi:type="dcterms:W3CDTF">2019-06-20T04:25:04Z</dcterms:created>
  <dcterms:modified xsi:type="dcterms:W3CDTF">2026-02-24T02:25:39Z</dcterms:modified>
</cp:coreProperties>
</file>