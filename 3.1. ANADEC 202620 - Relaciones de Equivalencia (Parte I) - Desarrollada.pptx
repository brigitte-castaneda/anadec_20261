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37"/>
  </p:notesMasterIdLst>
  <p:handoutMasterIdLst>
    <p:handoutMasterId r:id="rId38"/>
  </p:handoutMasterIdLst>
  <p:sldIdLst>
    <p:sldId id="398" r:id="rId2"/>
    <p:sldId id="354" r:id="rId3"/>
    <p:sldId id="425" r:id="rId4"/>
    <p:sldId id="257" r:id="rId5"/>
    <p:sldId id="258" r:id="rId6"/>
    <p:sldId id="259" r:id="rId7"/>
    <p:sldId id="595" r:id="rId8"/>
    <p:sldId id="260" r:id="rId9"/>
    <p:sldId id="261" r:id="rId10"/>
    <p:sldId id="584" r:id="rId11"/>
    <p:sldId id="263" r:id="rId12"/>
    <p:sldId id="264" r:id="rId13"/>
    <p:sldId id="283" r:id="rId14"/>
    <p:sldId id="284" r:id="rId15"/>
    <p:sldId id="359" r:id="rId16"/>
    <p:sldId id="285" r:id="rId17"/>
    <p:sldId id="286" r:id="rId18"/>
    <p:sldId id="265" r:id="rId19"/>
    <p:sldId id="266" r:id="rId20"/>
    <p:sldId id="287" r:id="rId21"/>
    <p:sldId id="288" r:id="rId22"/>
    <p:sldId id="396" r:id="rId23"/>
    <p:sldId id="378" r:id="rId24"/>
    <p:sldId id="379" r:id="rId25"/>
    <p:sldId id="361" r:id="rId26"/>
    <p:sldId id="362" r:id="rId27"/>
    <p:sldId id="588" r:id="rId28"/>
    <p:sldId id="590" r:id="rId29"/>
    <p:sldId id="594" r:id="rId30"/>
    <p:sldId id="593" r:id="rId31"/>
    <p:sldId id="591" r:id="rId32"/>
    <p:sldId id="596" r:id="rId33"/>
    <p:sldId id="598" r:id="rId34"/>
    <p:sldId id="599" r:id="rId35"/>
    <p:sldId id="589"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48BE7A"/>
    <a:srgbClr val="002F90"/>
    <a:srgbClr val="6666FF"/>
    <a:srgbClr val="FF6600"/>
    <a:srgbClr val="93FFFF"/>
    <a:srgbClr val="FFF4E6"/>
    <a:srgbClr val="DFFFFF"/>
    <a:srgbClr val="88D5A9"/>
    <a:srgbClr val="E8F8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4D6C46-6DDC-2E47-817C-A4AF8BD97E94}" v="9" dt="2026-08-20T16:43:25.28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3"/>
    <p:restoredTop sz="94678"/>
  </p:normalViewPr>
  <p:slideViewPr>
    <p:cSldViewPr snapToGrid="0">
      <p:cViewPr varScale="1">
        <p:scale>
          <a:sx n="150" d="100"/>
          <a:sy n="150" d="100"/>
        </p:scale>
        <p:origin x="9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20/08/26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20/08/26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1692708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a:t>
            </a:fld>
            <a:endParaRPr lang="en-US"/>
          </a:p>
        </p:txBody>
      </p:sp>
    </p:spTree>
    <p:extLst>
      <p:ext uri="{BB962C8B-B14F-4D97-AF65-F5344CB8AC3E}">
        <p14:creationId xmlns:p14="http://schemas.microsoft.com/office/powerpoint/2010/main" val="4032681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a:p>
        </p:txBody>
      </p:sp>
    </p:spTree>
    <p:extLst>
      <p:ext uri="{BB962C8B-B14F-4D97-AF65-F5344CB8AC3E}">
        <p14:creationId xmlns:p14="http://schemas.microsoft.com/office/powerpoint/2010/main" val="40166433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18</a:t>
            </a:fld>
            <a:endParaRPr lang="en-US"/>
          </a:p>
        </p:txBody>
      </p:sp>
    </p:spTree>
    <p:extLst>
      <p:ext uri="{BB962C8B-B14F-4D97-AF65-F5344CB8AC3E}">
        <p14:creationId xmlns:p14="http://schemas.microsoft.com/office/powerpoint/2010/main" val="3546958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a:p>
        </p:txBody>
      </p:sp>
    </p:spTree>
    <p:extLst>
      <p:ext uri="{BB962C8B-B14F-4D97-AF65-F5344CB8AC3E}">
        <p14:creationId xmlns:p14="http://schemas.microsoft.com/office/powerpoint/2010/main" val="9755408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39040-7975-D83A-DA9C-6C0A92E918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45608-0651-6C7F-E1EE-FC440E88E2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18A3FA-C855-7608-8D3B-A45287C97B3E}"/>
              </a:ext>
            </a:extLst>
          </p:cNvPr>
          <p:cNvSpPr>
            <a:spLocks noGrp="1"/>
          </p:cNvSpPr>
          <p:nvPr>
            <p:ph type="body" idx="1"/>
          </p:nvPr>
        </p:nvSpPr>
        <p:spPr/>
        <p:txBody>
          <a:bodyPr/>
          <a:lstStyle/>
          <a:p>
            <a:endParaRPr lang="es-ES_tradnl"/>
          </a:p>
        </p:txBody>
      </p:sp>
    </p:spTree>
    <p:extLst>
      <p:ext uri="{BB962C8B-B14F-4D97-AF65-F5344CB8AC3E}">
        <p14:creationId xmlns:p14="http://schemas.microsoft.com/office/powerpoint/2010/main" val="368778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10A4C-CA84-E719-07BE-5C6A009179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0BAFC9-1560-E233-5BCA-EFFFA7A000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18298-B745-CB5F-8469-281743FFD910}"/>
              </a:ext>
            </a:extLst>
          </p:cNvPr>
          <p:cNvSpPr>
            <a:spLocks noGrp="1"/>
          </p:cNvSpPr>
          <p:nvPr>
            <p:ph type="body" idx="1"/>
          </p:nvPr>
        </p:nvSpPr>
        <p:spPr/>
        <p:txBody>
          <a:bodyPr/>
          <a:lstStyle/>
          <a:p>
            <a:endParaRPr lang="es-ES_tradnl"/>
          </a:p>
        </p:txBody>
      </p:sp>
    </p:spTree>
    <p:extLst>
      <p:ext uri="{BB962C8B-B14F-4D97-AF65-F5344CB8AC3E}">
        <p14:creationId xmlns:p14="http://schemas.microsoft.com/office/powerpoint/2010/main" val="31740544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98E9D-017E-9ECD-5286-8E838B6769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25CFCD-BE3A-6D18-3E1A-BACF9D86BD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B50DD-F6E8-5AC5-B2AF-B14930661A6C}"/>
              </a:ext>
            </a:extLst>
          </p:cNvPr>
          <p:cNvSpPr>
            <a:spLocks noGrp="1"/>
          </p:cNvSpPr>
          <p:nvPr>
            <p:ph type="body" idx="1"/>
          </p:nvPr>
        </p:nvSpPr>
        <p:spPr/>
        <p:txBody>
          <a:bodyPr/>
          <a:lstStyle/>
          <a:p>
            <a:endParaRPr lang="es-ES_tradnl"/>
          </a:p>
        </p:txBody>
      </p:sp>
    </p:spTree>
    <p:extLst>
      <p:ext uri="{BB962C8B-B14F-4D97-AF65-F5344CB8AC3E}">
        <p14:creationId xmlns:p14="http://schemas.microsoft.com/office/powerpoint/2010/main" val="321445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8A7D3-5037-353D-74B2-406D9D97A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61610-DED2-24C7-6263-AC97E65BF9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0BE6E7-7FC3-C859-C24F-4CE40B42FB2E}"/>
              </a:ext>
            </a:extLst>
          </p:cNvPr>
          <p:cNvSpPr>
            <a:spLocks noGrp="1"/>
          </p:cNvSpPr>
          <p:nvPr>
            <p:ph type="body" idx="1"/>
          </p:nvPr>
        </p:nvSpPr>
        <p:spPr/>
        <p:txBody>
          <a:bodyPr/>
          <a:lstStyle/>
          <a:p>
            <a:endParaRPr lang="es-ES_tradnl"/>
          </a:p>
        </p:txBody>
      </p:sp>
    </p:spTree>
    <p:extLst>
      <p:ext uri="{BB962C8B-B14F-4D97-AF65-F5344CB8AC3E}">
        <p14:creationId xmlns:p14="http://schemas.microsoft.com/office/powerpoint/2010/main" val="40112639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B8399-8DDC-7522-66AE-A27EF5A36B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98B0A4-1D37-DF5B-56CD-6D9874450B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7F5CCA-61AE-544F-3D5E-484905B7A255}"/>
              </a:ext>
            </a:extLst>
          </p:cNvPr>
          <p:cNvSpPr>
            <a:spLocks noGrp="1"/>
          </p:cNvSpPr>
          <p:nvPr>
            <p:ph type="body" idx="1"/>
          </p:nvPr>
        </p:nvSpPr>
        <p:spPr/>
        <p:txBody>
          <a:bodyPr/>
          <a:lstStyle/>
          <a:p>
            <a:endParaRPr lang="es-ES_tradnl"/>
          </a:p>
        </p:txBody>
      </p:sp>
    </p:spTree>
    <p:extLst>
      <p:ext uri="{BB962C8B-B14F-4D97-AF65-F5344CB8AC3E}">
        <p14:creationId xmlns:p14="http://schemas.microsoft.com/office/powerpoint/2010/main" val="828940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102AC-4E6B-E5A6-098C-C58D9B237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B3881B-EF4E-6798-22CB-054A8934D9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FE129-300D-040C-2EF0-CC1F012E3822}"/>
              </a:ext>
            </a:extLst>
          </p:cNvPr>
          <p:cNvSpPr>
            <a:spLocks noGrp="1"/>
          </p:cNvSpPr>
          <p:nvPr>
            <p:ph type="body" idx="1"/>
          </p:nvPr>
        </p:nvSpPr>
        <p:spPr/>
        <p:txBody>
          <a:bodyPr/>
          <a:lstStyle/>
          <a:p>
            <a:endParaRPr lang="es-ES_tradnl"/>
          </a:p>
        </p:txBody>
      </p:sp>
    </p:spTree>
    <p:extLst>
      <p:ext uri="{BB962C8B-B14F-4D97-AF65-F5344CB8AC3E}">
        <p14:creationId xmlns:p14="http://schemas.microsoft.com/office/powerpoint/2010/main" val="18341325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13BFD-64FC-4DB3-7970-563A3F4C6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57E729-57E5-7DFF-718F-E5F28D9B2B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693A1D-D515-2E44-16D5-0261B538D77A}"/>
              </a:ext>
            </a:extLst>
          </p:cNvPr>
          <p:cNvSpPr>
            <a:spLocks noGrp="1"/>
          </p:cNvSpPr>
          <p:nvPr>
            <p:ph type="body" idx="1"/>
          </p:nvPr>
        </p:nvSpPr>
        <p:spPr/>
        <p:txBody>
          <a:bodyPr/>
          <a:lstStyle/>
          <a:p>
            <a:endParaRPr lang="es-ES_tradnl"/>
          </a:p>
        </p:txBody>
      </p:sp>
    </p:spTree>
    <p:extLst>
      <p:ext uri="{BB962C8B-B14F-4D97-AF65-F5344CB8AC3E}">
        <p14:creationId xmlns:p14="http://schemas.microsoft.com/office/powerpoint/2010/main" val="46124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346D2-63C4-5969-6BF4-748077D748E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75AE18-46CE-8A29-7248-4BC6CFC2E1C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11523FE-4C10-3028-D896-6BBC6CAC9DE0}"/>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2303026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8/20/26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265646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208898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8/20/26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0629501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33062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439691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84610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095273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8/20/26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029683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779410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20996383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8/20/26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237869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8/20/26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Tree>
    <p:extLst>
      <p:ext uri="{BB962C8B-B14F-4D97-AF65-F5344CB8AC3E}">
        <p14:creationId xmlns:p14="http://schemas.microsoft.com/office/powerpoint/2010/main" val="1686623261"/>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a:t>Relaciones de equivalencia (</a:t>
            </a:r>
            <a:r>
              <a:rPr lang="es-CO" sz="4000">
                <a:solidFill>
                  <a:srgbClr val="D7A700"/>
                </a:solidFill>
              </a:rPr>
              <a:t>parte i</a:t>
            </a:r>
            <a:r>
              <a:rPr lang="es-CO" sz="4000"/>
              <a:t>)</a:t>
            </a: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A3AD51E0-45F2-4944-F542-877DA066F08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D4A5762F-1C2D-FD38-E811-7AC845A38582}"/>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rPr>
              <a:t>													</a:t>
            </a:r>
            <a:endParaRPr lang="es-CO" sz="2000" b="1" u="sng">
              <a:solidFill>
                <a:schemeClr val="bg1"/>
              </a:solidFill>
            </a:endParaRPr>
          </a:p>
          <a:p>
            <a:endParaRPr lang="es-CO" sz="1000" b="1">
              <a:solidFill>
                <a:schemeClr val="bg1"/>
              </a:solidFill>
            </a:endParaRPr>
          </a:p>
          <a:p>
            <a:r>
              <a:rPr lang="es-CO" sz="2000" b="1">
                <a:solidFill>
                  <a:schemeClr val="bg1"/>
                </a:solidFill>
              </a:rPr>
              <a:t>DEPARTAMENTO DE INGENIERÍA INDUSTRIAL</a:t>
            </a:r>
          </a:p>
          <a:p>
            <a:r>
              <a:rPr lang="es-CO" sz="2000" b="1">
                <a:solidFill>
                  <a:schemeClr val="bg1"/>
                </a:solidFill>
              </a:rPr>
              <a:t>FACULTAD DE INGENIERÍA</a:t>
            </a:r>
          </a:p>
          <a:p>
            <a:r>
              <a:rPr lang="es-CO" sz="1000" b="1" u="sng">
                <a:solidFill>
                  <a:schemeClr val="bg1"/>
                </a:solidFill>
              </a:rPr>
              <a:t>													</a:t>
            </a:r>
          </a:p>
          <a:p>
            <a:endParaRPr lang="es-CO" sz="2000" b="1">
              <a:solidFill>
                <a:schemeClr val="bg1"/>
              </a:solidFill>
            </a:endParaRPr>
          </a:p>
          <a:p>
            <a:r>
              <a:rPr lang="es-CO" sz="2000" b="1">
                <a:solidFill>
                  <a:schemeClr val="bg1"/>
                </a:solidFill>
              </a:rPr>
              <a:t>Curso       </a:t>
            </a:r>
            <a:r>
              <a:rPr lang="es-CO" sz="2000">
                <a:solidFill>
                  <a:schemeClr val="bg1"/>
                </a:solidFill>
              </a:rPr>
              <a:t>ANÁLISIS DE DECISIONES DE INVERSIÓN</a:t>
            </a:r>
          </a:p>
          <a:p>
            <a:r>
              <a:rPr lang="es-CO" sz="2000" b="1">
                <a:solidFill>
                  <a:schemeClr val="bg1"/>
                </a:solidFill>
              </a:rPr>
              <a:t>Correo     </a:t>
            </a:r>
            <a:r>
              <a:rPr lang="es-CO" sz="2000">
                <a:solidFill>
                  <a:schemeClr val="bg1"/>
                </a:solidFill>
              </a:rPr>
              <a:t>cursoanadec@uniandes.edu.co</a:t>
            </a:r>
          </a:p>
          <a:p>
            <a:endParaRPr lang="es-CO" sz="2000" b="1">
              <a:solidFill>
                <a:schemeClr val="bg1"/>
              </a:solidFill>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mj-lt"/>
              </a:rPr>
              <a:pPr/>
              <a:t>2</a:t>
            </a:fld>
            <a:endParaRPr lang="en-US" sz="2000" b="1">
              <a:latin typeface="+mj-lt"/>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3173020" y="2503099"/>
            <a:ext cx="8540907" cy="2308324"/>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endParaRPr lang="es-ES" sz="2400">
              <a:solidFill>
                <a:schemeClr val="accent1"/>
              </a:solidFill>
              <a:cs typeface="Arial"/>
            </a:endParaRPr>
          </a:p>
          <a:p>
            <a:pPr marL="342900" indent="-342900">
              <a:buClr>
                <a:schemeClr val="accent3">
                  <a:lumMod val="75000"/>
                </a:schemeClr>
              </a:buClr>
              <a:buFont typeface="Gill Sans MT" panose="020B0502020104020203"/>
              <a:buAutoNum type="arabicPeriod"/>
            </a:pPr>
            <a:endParaRPr lang="es-ES" sz="2400">
              <a:solidFill>
                <a:schemeClr val="accent1"/>
              </a:solidFill>
              <a:cs typeface="Arial"/>
            </a:endParaRPr>
          </a:p>
          <a:p>
            <a:pPr marL="342900" indent="-342900">
              <a:buClr>
                <a:schemeClr val="accent3">
                  <a:lumMod val="75000"/>
                </a:schemeClr>
              </a:buClr>
              <a:buFont typeface="Gill Sans MT" panose="020B0502020104020203"/>
              <a:buAutoNum type="arabicPeriod"/>
            </a:pPr>
            <a:r>
              <a:rPr lang="es-ES" sz="2400">
                <a:solidFill>
                  <a:schemeClr val="accent1"/>
                </a:solidFill>
                <a:cs typeface="Arial"/>
              </a:rPr>
              <a:t>Introducción a las Relaciones de Equivalencia y supuestos</a:t>
            </a:r>
          </a:p>
          <a:p>
            <a:pPr marL="342900" indent="-342900">
              <a:buClr>
                <a:srgbClr val="2C7C9F"/>
              </a:buClr>
              <a:buFontTx/>
              <a:buAutoNum type="arabicPeriod"/>
            </a:pPr>
            <a:endParaRPr lang="es-CO" sz="2400">
              <a:solidFill>
                <a:schemeClr val="accent1"/>
              </a:solidFill>
              <a:cs typeface="Arial"/>
            </a:endParaRPr>
          </a:p>
          <a:p>
            <a:pPr marL="342900" indent="-342900">
              <a:buClr>
                <a:srgbClr val="48BE7A"/>
              </a:buClr>
              <a:buAutoNum type="arabicPeriod"/>
            </a:pPr>
            <a:r>
              <a:rPr lang="es-CO" sz="2400">
                <a:solidFill>
                  <a:schemeClr val="accent1"/>
                </a:solidFill>
                <a:cs typeface="Arial"/>
              </a:rPr>
              <a:t>Valor Presente y Valor Futuro.</a:t>
            </a:r>
          </a:p>
          <a:p>
            <a:pPr>
              <a:buClr>
                <a:srgbClr val="48BE7A"/>
              </a:buClr>
            </a:pPr>
            <a:endParaRPr lang="es-CO" sz="2400">
              <a:solidFill>
                <a:schemeClr val="accent1"/>
              </a:solidFill>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7CCA6F4-3C8A-C61E-D855-42886A54578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mj-lt"/>
              </a:rPr>
              <a:pPr/>
              <a:t>3</a:t>
            </a:fld>
            <a:endParaRPr lang="en-US" sz="2000" b="1">
              <a:latin typeface="+mj-lt"/>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3173020" y="2503099"/>
            <a:ext cx="8540907" cy="2308324"/>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endParaRPr lang="es-ES" sz="2400">
              <a:solidFill>
                <a:schemeClr val="accent1"/>
              </a:solidFill>
              <a:latin typeface="+mj-lt"/>
              <a:cs typeface="Arial"/>
            </a:endParaRPr>
          </a:p>
          <a:p>
            <a:pPr marL="342900" indent="-342900">
              <a:buClr>
                <a:schemeClr val="accent3">
                  <a:lumMod val="75000"/>
                </a:schemeClr>
              </a:buClr>
              <a:buFont typeface="Gill Sans MT" panose="020B0502020104020203"/>
              <a:buAutoNum type="arabicPeriod"/>
            </a:pPr>
            <a:endParaRPr lang="es-ES" sz="2400">
              <a:solidFill>
                <a:schemeClr val="accent1"/>
              </a:solidFill>
              <a:latin typeface="+mj-lt"/>
              <a:cs typeface="Arial"/>
            </a:endParaRPr>
          </a:p>
          <a:p>
            <a:pPr marL="342900" indent="-342900">
              <a:buClr>
                <a:schemeClr val="accent3">
                  <a:lumMod val="75000"/>
                </a:schemeClr>
              </a:buClr>
              <a:buFont typeface="Gill Sans MT" panose="020B0502020104020203"/>
              <a:buAutoNum type="arabicPeriod"/>
            </a:pPr>
            <a:r>
              <a:rPr lang="es-ES" sz="2400">
                <a:solidFill>
                  <a:schemeClr val="accent1"/>
                </a:solidFill>
                <a:latin typeface="+mj-lt"/>
                <a:cs typeface="Arial"/>
              </a:rPr>
              <a:t>Introducción a las Relaciones de Equivalencia y supuestos</a:t>
            </a:r>
          </a:p>
          <a:p>
            <a:pPr marL="342900" indent="-342900">
              <a:buClr>
                <a:srgbClr val="2C7C9F"/>
              </a:buClr>
              <a:buFontTx/>
              <a:buAutoNum type="arabicPeriod"/>
            </a:pPr>
            <a:endParaRPr lang="es-CO" sz="2400">
              <a:solidFill>
                <a:schemeClr val="accent1"/>
              </a:solidFill>
              <a:latin typeface="+mj-lt"/>
              <a:cs typeface="Arial"/>
            </a:endParaRPr>
          </a:p>
          <a:p>
            <a:pPr marL="342900" indent="-342900">
              <a:buClr>
                <a:srgbClr val="48BE7A"/>
              </a:buClr>
              <a:buAutoNum type="arabicPeriod"/>
            </a:pPr>
            <a:r>
              <a:rPr lang="es-CO" sz="2400">
                <a:solidFill>
                  <a:schemeClr val="bg2">
                    <a:lumMod val="90000"/>
                  </a:schemeClr>
                </a:solidFill>
                <a:latin typeface="+mj-lt"/>
                <a:cs typeface="Arial"/>
              </a:rPr>
              <a:t>Valor Presente y Valor Futuro.</a:t>
            </a:r>
          </a:p>
          <a:p>
            <a:pPr>
              <a:buClr>
                <a:srgbClr val="48BE7A"/>
              </a:buClr>
            </a:pPr>
            <a:endParaRPr lang="es-CO" sz="2400">
              <a:solidFill>
                <a:schemeClr val="bg2">
                  <a:lumMod val="90000"/>
                </a:schemeClr>
              </a:solidFill>
              <a:latin typeface="+mj-lt"/>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0CBF1C7D-60A8-87A6-A88F-8AF0C30B775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066602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09114" y="2082965"/>
            <a:ext cx="7886700" cy="759526"/>
          </a:xfrm>
        </p:spPr>
        <p:txBody>
          <a:bodyPr>
            <a:normAutofit/>
          </a:bodyPr>
          <a:lstStyle/>
          <a:p>
            <a:pPr marL="0" indent="0" algn="ctr">
              <a:buNone/>
            </a:pPr>
            <a:r>
              <a:rPr lang="es-ES_tradnl" sz="2400">
                <a:solidFill>
                  <a:srgbClr val="C00000"/>
                </a:solidFill>
              </a:rPr>
              <a:t>¿Invertiría usted en este proyecto?</a:t>
            </a:r>
          </a:p>
        </p:txBody>
      </p:sp>
      <p:sp>
        <p:nvSpPr>
          <p:cNvPr id="4" name="Slide Number Placeholder 3"/>
          <p:cNvSpPr>
            <a:spLocks noGrp="1"/>
          </p:cNvSpPr>
          <p:nvPr>
            <p:ph type="sldNum" sz="quarter" idx="12"/>
          </p:nvPr>
        </p:nvSpPr>
        <p:spPr/>
        <p:txBody>
          <a:bodyPr/>
          <a:lstStyle/>
          <a:p>
            <a:fld id="{5E3E23BA-6E79-2442-BA73-D218A5E297C3}" type="slidenum">
              <a:rPr lang="en-US" sz="2000" smtClean="0"/>
              <a:t>4</a:t>
            </a:fld>
            <a:endParaRPr lang="en-US" sz="2000"/>
          </a:p>
        </p:txBody>
      </p:sp>
      <p:cxnSp>
        <p:nvCxnSpPr>
          <p:cNvPr id="5" name="Straight Connector 4"/>
          <p:cNvCxnSpPr/>
          <p:nvPr/>
        </p:nvCxnSpPr>
        <p:spPr>
          <a:xfrm>
            <a:off x="3131107" y="4389393"/>
            <a:ext cx="6191592"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a:off x="3131107" y="4389394"/>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flipV="1">
            <a:off x="4051031" y="3930667"/>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5124460" y="3930668"/>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6183934" y="3697682"/>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V="1">
            <a:off x="7189796" y="3697682"/>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flipV="1">
            <a:off x="8263225" y="3446461"/>
            <a:ext cx="0" cy="942935"/>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flipH="1" flipV="1">
            <a:off x="9322699" y="3446461"/>
            <a:ext cx="2" cy="942935"/>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p:cNvSpPr>
            <a:spLocks/>
          </p:cNvSpPr>
          <p:nvPr/>
        </p:nvSpPr>
        <p:spPr bwMode="auto">
          <a:xfrm flipH="1">
            <a:off x="3045506" y="4015396"/>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4" name="Rectangle 13"/>
          <p:cNvSpPr>
            <a:spLocks/>
          </p:cNvSpPr>
          <p:nvPr/>
        </p:nvSpPr>
        <p:spPr bwMode="auto">
          <a:xfrm>
            <a:off x="3867442" y="44817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p:cNvSpPr>
            <a:spLocks/>
          </p:cNvSpPr>
          <p:nvPr/>
        </p:nvSpPr>
        <p:spPr bwMode="auto">
          <a:xfrm>
            <a:off x="4955930" y="44817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p:cNvSpPr>
            <a:spLocks/>
          </p:cNvSpPr>
          <p:nvPr/>
        </p:nvSpPr>
        <p:spPr bwMode="auto">
          <a:xfrm>
            <a:off x="6015404" y="449568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16"/>
          <p:cNvSpPr>
            <a:spLocks/>
          </p:cNvSpPr>
          <p:nvPr/>
        </p:nvSpPr>
        <p:spPr bwMode="auto">
          <a:xfrm>
            <a:off x="7021266" y="451214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8" name="Rectangle 17"/>
          <p:cNvSpPr>
            <a:spLocks/>
          </p:cNvSpPr>
          <p:nvPr/>
        </p:nvSpPr>
        <p:spPr bwMode="auto">
          <a:xfrm>
            <a:off x="8094695" y="44817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9" name="Rectangle 18"/>
          <p:cNvSpPr>
            <a:spLocks/>
          </p:cNvSpPr>
          <p:nvPr/>
        </p:nvSpPr>
        <p:spPr bwMode="auto">
          <a:xfrm>
            <a:off x="9154169" y="44817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0" name="Rectangle 19"/>
          <p:cNvSpPr>
            <a:spLocks/>
          </p:cNvSpPr>
          <p:nvPr/>
        </p:nvSpPr>
        <p:spPr bwMode="auto">
          <a:xfrm>
            <a:off x="2187524" y="5397794"/>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a:t>
            </a:r>
          </a:p>
        </p:txBody>
      </p:sp>
      <p:sp>
        <p:nvSpPr>
          <p:cNvPr id="21" name="Rectangle 20"/>
          <p:cNvSpPr>
            <a:spLocks/>
          </p:cNvSpPr>
          <p:nvPr/>
        </p:nvSpPr>
        <p:spPr bwMode="auto">
          <a:xfrm>
            <a:off x="3412305" y="3548513"/>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a:t>
            </a:r>
          </a:p>
        </p:txBody>
      </p:sp>
      <p:sp>
        <p:nvSpPr>
          <p:cNvPr id="22" name="Rectangle 21"/>
          <p:cNvSpPr>
            <a:spLocks/>
          </p:cNvSpPr>
          <p:nvPr/>
        </p:nvSpPr>
        <p:spPr bwMode="auto">
          <a:xfrm>
            <a:off x="5441379" y="3334933"/>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200</a:t>
            </a:r>
          </a:p>
        </p:txBody>
      </p:sp>
      <p:sp>
        <p:nvSpPr>
          <p:cNvPr id="27" name="Rectangle 26"/>
          <p:cNvSpPr>
            <a:spLocks/>
          </p:cNvSpPr>
          <p:nvPr/>
        </p:nvSpPr>
        <p:spPr bwMode="auto">
          <a:xfrm>
            <a:off x="6376745" y="3334933"/>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200</a:t>
            </a:r>
          </a:p>
        </p:txBody>
      </p:sp>
      <p:sp>
        <p:nvSpPr>
          <p:cNvPr id="28" name="Rectangle 27"/>
          <p:cNvSpPr>
            <a:spLocks/>
          </p:cNvSpPr>
          <p:nvPr/>
        </p:nvSpPr>
        <p:spPr bwMode="auto">
          <a:xfrm>
            <a:off x="7480259" y="3088712"/>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sp>
        <p:nvSpPr>
          <p:cNvPr id="29" name="Rectangle 28"/>
          <p:cNvSpPr>
            <a:spLocks/>
          </p:cNvSpPr>
          <p:nvPr/>
        </p:nvSpPr>
        <p:spPr bwMode="auto">
          <a:xfrm>
            <a:off x="8522612" y="3088712"/>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sp>
        <p:nvSpPr>
          <p:cNvPr id="30" name="Rectangle 29"/>
          <p:cNvSpPr>
            <a:spLocks/>
          </p:cNvSpPr>
          <p:nvPr/>
        </p:nvSpPr>
        <p:spPr bwMode="auto">
          <a:xfrm>
            <a:off x="4485734" y="3540645"/>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a:t>
            </a:r>
          </a:p>
        </p:txBody>
      </p:sp>
      <p:sp>
        <p:nvSpPr>
          <p:cNvPr id="23" name="CuadroTexto 22"/>
          <p:cNvSpPr txBox="1"/>
          <p:nvPr/>
        </p:nvSpPr>
        <p:spPr>
          <a:xfrm>
            <a:off x="9471178" y="4157128"/>
            <a:ext cx="724878" cy="400110"/>
          </a:xfrm>
          <a:prstGeom prst="rect">
            <a:avLst/>
          </a:prstGeom>
          <a:noFill/>
        </p:spPr>
        <p:txBody>
          <a:bodyPr wrap="none" rtlCol="0">
            <a:spAutoFit/>
          </a:bodyPr>
          <a:lstStyle/>
          <a:p>
            <a:r>
              <a:rPr lang="es-CO" sz="2000"/>
              <a:t>Años</a:t>
            </a:r>
          </a:p>
        </p:txBody>
      </p:sp>
      <p:sp>
        <p:nvSpPr>
          <p:cNvPr id="34" name="Title 1">
            <a:extLst>
              <a:ext uri="{FF2B5EF4-FFF2-40B4-BE49-F238E27FC236}">
                <a16:creationId xmlns:a16="http://schemas.microsoft.com/office/drawing/2014/main" id="{3F30623A-47BF-82DF-41BB-E7B4052182C7}"/>
              </a:ext>
            </a:extLst>
          </p:cNvPr>
          <p:cNvSpPr>
            <a:spLocks noGrp="1"/>
          </p:cNvSpPr>
          <p:nvPr>
            <p:ph type="title"/>
          </p:nvPr>
        </p:nvSpPr>
        <p:spPr>
          <a:xfrm>
            <a:off x="581192" y="702156"/>
            <a:ext cx="11029616" cy="1013800"/>
          </a:xfrm>
        </p:spPr>
        <p:txBody>
          <a:bodyPr>
            <a:normAutofit/>
          </a:bodyPr>
          <a:lstStyle/>
          <a:p>
            <a:r>
              <a:rPr lang="es-ES_tradnl" sz="3200"/>
              <a:t>RELACIONES DE EQUIVALENCIA</a:t>
            </a:r>
          </a:p>
        </p:txBody>
      </p:sp>
      <p:sp>
        <p:nvSpPr>
          <p:cNvPr id="35" name="Rectángulo 34">
            <a:extLst>
              <a:ext uri="{FF2B5EF4-FFF2-40B4-BE49-F238E27FC236}">
                <a16:creationId xmlns:a16="http://schemas.microsoft.com/office/drawing/2014/main" id="{803CED1B-8E57-F27A-202E-661D8C2316E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6" name="Picture 2" descr="Clientes y aliados | Centro de Evaluación | Uniandes">
            <a:extLst>
              <a:ext uri="{FF2B5EF4-FFF2-40B4-BE49-F238E27FC236}">
                <a16:creationId xmlns:a16="http://schemas.microsoft.com/office/drawing/2014/main" id="{B5098769-C082-80BC-C8B6-9660D009F3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7" name="Rectángulo 36">
            <a:extLst>
              <a:ext uri="{FF2B5EF4-FFF2-40B4-BE49-F238E27FC236}">
                <a16:creationId xmlns:a16="http://schemas.microsoft.com/office/drawing/2014/main" id="{8D1C7640-29B7-B5D8-F63B-F5343F407AB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382795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2299248"/>
            <a:ext cx="11029616" cy="3839451"/>
          </a:xfrm>
        </p:spPr>
        <p:txBody>
          <a:bodyPr>
            <a:noAutofit/>
          </a:bodyPr>
          <a:lstStyle/>
          <a:p>
            <a:pPr algn="just"/>
            <a:r>
              <a:rPr lang="es-ES_tradnl" sz="2400"/>
              <a:t>Si no se cuenta con información adicional, no se podrá dar una respuesta técnica a la anterior pregunta.</a:t>
            </a:r>
          </a:p>
          <a:p>
            <a:pPr algn="just"/>
            <a:r>
              <a:rPr lang="es-ES_tradnl" sz="2400"/>
              <a:t>Es importante recordar los conceptos vistos hasta ahora:</a:t>
            </a:r>
          </a:p>
          <a:p>
            <a:pPr marL="0" indent="0" algn="just">
              <a:buNone/>
            </a:pPr>
            <a:r>
              <a:rPr lang="es-ES_tradnl" sz="2400"/>
              <a:t>	-VDT</a:t>
            </a:r>
          </a:p>
          <a:p>
            <a:pPr marL="0" indent="0" algn="just">
              <a:buNone/>
            </a:pPr>
            <a:r>
              <a:rPr lang="es-ES_tradnl" sz="2400"/>
              <a:t>	-Costo de Oportunidad</a:t>
            </a:r>
          </a:p>
        </p:txBody>
      </p:sp>
      <p:sp>
        <p:nvSpPr>
          <p:cNvPr id="4" name="Slide Number Placeholder 3"/>
          <p:cNvSpPr>
            <a:spLocks noGrp="1"/>
          </p:cNvSpPr>
          <p:nvPr>
            <p:ph type="sldNum" sz="quarter" idx="12"/>
          </p:nvPr>
        </p:nvSpPr>
        <p:spPr/>
        <p:txBody>
          <a:bodyPr/>
          <a:lstStyle/>
          <a:p>
            <a:fld id="{5E3E23BA-6E79-2442-BA73-D218A5E297C3}" type="slidenum">
              <a:rPr lang="en-US" sz="2000" smtClean="0"/>
              <a:t>5</a:t>
            </a:fld>
            <a:endParaRPr lang="en-US" sz="2000"/>
          </a:p>
        </p:txBody>
      </p:sp>
      <p:sp>
        <p:nvSpPr>
          <p:cNvPr id="6" name="Title 1">
            <a:extLst>
              <a:ext uri="{FF2B5EF4-FFF2-40B4-BE49-F238E27FC236}">
                <a16:creationId xmlns:a16="http://schemas.microsoft.com/office/drawing/2014/main" id="{0691A800-2C32-87B0-6B25-90486F4199BA}"/>
              </a:ext>
            </a:extLst>
          </p:cNvPr>
          <p:cNvSpPr>
            <a:spLocks noGrp="1"/>
          </p:cNvSpPr>
          <p:nvPr>
            <p:ph type="title"/>
          </p:nvPr>
        </p:nvSpPr>
        <p:spPr>
          <a:xfrm>
            <a:off x="581192" y="702156"/>
            <a:ext cx="11029616" cy="1013800"/>
          </a:xfrm>
        </p:spPr>
        <p:txBody>
          <a:bodyPr>
            <a:normAutofit/>
          </a:bodyPr>
          <a:lstStyle/>
          <a:p>
            <a:r>
              <a:rPr lang="es-ES_tradnl" sz="3200"/>
              <a:t>RELACIONES DE EQUIVALENCIA</a:t>
            </a:r>
          </a:p>
        </p:txBody>
      </p:sp>
      <p:sp>
        <p:nvSpPr>
          <p:cNvPr id="7" name="Rectángulo 6">
            <a:extLst>
              <a:ext uri="{FF2B5EF4-FFF2-40B4-BE49-F238E27FC236}">
                <a16:creationId xmlns:a16="http://schemas.microsoft.com/office/drawing/2014/main" id="{0C3CA7A9-59CF-6D44-D194-61C008BA247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1D703278-F61E-8E84-73B4-E7FD578538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B8E05C71-2E5D-9219-2AB1-87CE8E1D5DF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635362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0419" y="2650495"/>
            <a:ext cx="11029616" cy="3670767"/>
          </a:xfrm>
        </p:spPr>
        <p:txBody>
          <a:bodyPr>
            <a:noAutofit/>
          </a:bodyPr>
          <a:lstStyle/>
          <a:p>
            <a:pPr algn="just"/>
            <a:r>
              <a:rPr lang="es-ES_tradnl" sz="2400"/>
              <a:t>Trayendo a colación los anteriores conceptos, para cualquier agente económico </a:t>
            </a:r>
            <a:r>
              <a:rPr lang="es-ES_tradnl" sz="2400">
                <a:solidFill>
                  <a:srgbClr val="C00000"/>
                </a:solidFill>
              </a:rPr>
              <a:t>el dinero pierde valor en el tiempo</a:t>
            </a:r>
            <a:r>
              <a:rPr lang="es-ES_tradnl" sz="2400"/>
              <a:t>.</a:t>
            </a:r>
          </a:p>
          <a:p>
            <a:pPr algn="just"/>
            <a:r>
              <a:rPr lang="es-ES_tradnl" sz="2400"/>
              <a:t>Es decir, sumas de dinero en diferentes momentos del tiempo </a:t>
            </a:r>
            <a:r>
              <a:rPr lang="es-ES_tradnl" sz="2400">
                <a:solidFill>
                  <a:srgbClr val="C00000"/>
                </a:solidFill>
              </a:rPr>
              <a:t>no son directamente comparables</a:t>
            </a:r>
            <a:r>
              <a:rPr lang="es-ES_tradnl" sz="2400"/>
              <a:t>.</a:t>
            </a:r>
          </a:p>
          <a:p>
            <a:pPr algn="just"/>
            <a:r>
              <a:rPr lang="es-ES_tradnl" sz="2400"/>
              <a:t>En la vida práctica es necesario manipular cantidades monetarias que están puestas en diferentes momentos del tiempo.</a:t>
            </a:r>
          </a:p>
          <a:p>
            <a:pPr algn="just"/>
            <a:endParaRPr lang="es-ES_tradnl" sz="2400"/>
          </a:p>
          <a:p>
            <a:pPr marL="0" indent="0" algn="ctr">
              <a:buNone/>
            </a:pPr>
            <a:r>
              <a:rPr lang="es-ES_tradnl" sz="2400">
                <a:solidFill>
                  <a:srgbClr val="800000"/>
                </a:solidFill>
              </a:rPr>
              <a:t>¿Cómo se puede hacer lo anterior sin violar NUNCA el VDT?</a:t>
            </a:r>
          </a:p>
          <a:p>
            <a:pPr marL="0" indent="0" algn="ctr">
              <a:buNone/>
            </a:pPr>
            <a:br>
              <a:rPr lang="es-ES_tradnl" sz="2400">
                <a:solidFill>
                  <a:srgbClr val="800000"/>
                </a:solidFill>
              </a:rPr>
            </a:br>
            <a:r>
              <a:rPr lang="es-ES_tradnl" sz="2400">
                <a:solidFill>
                  <a:srgbClr val="800000"/>
                </a:solidFill>
              </a:rPr>
              <a:t>	¡Las relaciones de equivalencia!</a:t>
            </a:r>
            <a:endParaRPr lang="es-ES_tradnl" sz="2400"/>
          </a:p>
          <a:p>
            <a:pPr marL="0" indent="0" algn="ctr">
              <a:buNone/>
            </a:pPr>
            <a:endParaRPr lang="es-ES_tradnl" sz="2400">
              <a:solidFill>
                <a:srgbClr val="800000"/>
              </a:solidFill>
            </a:endParaRPr>
          </a:p>
        </p:txBody>
      </p:sp>
      <p:sp>
        <p:nvSpPr>
          <p:cNvPr id="4" name="Slide Number Placeholder 3"/>
          <p:cNvSpPr>
            <a:spLocks noGrp="1"/>
          </p:cNvSpPr>
          <p:nvPr>
            <p:ph type="sldNum" sz="quarter" idx="12"/>
          </p:nvPr>
        </p:nvSpPr>
        <p:spPr/>
        <p:txBody>
          <a:bodyPr/>
          <a:lstStyle/>
          <a:p>
            <a:fld id="{5E3E23BA-6E79-2442-BA73-D218A5E297C3}" type="slidenum">
              <a:rPr lang="en-US" sz="2000" smtClean="0"/>
              <a:t>6</a:t>
            </a:fld>
            <a:endParaRPr lang="en-US" sz="2000"/>
          </a:p>
        </p:txBody>
      </p:sp>
      <p:sp>
        <p:nvSpPr>
          <p:cNvPr id="6" name="Title 1">
            <a:extLst>
              <a:ext uri="{FF2B5EF4-FFF2-40B4-BE49-F238E27FC236}">
                <a16:creationId xmlns:a16="http://schemas.microsoft.com/office/drawing/2014/main" id="{73BCC7AC-681D-6B0E-AC65-EE4B8C302DC0}"/>
              </a:ext>
            </a:extLst>
          </p:cNvPr>
          <p:cNvSpPr>
            <a:spLocks noGrp="1"/>
          </p:cNvSpPr>
          <p:nvPr>
            <p:ph type="title"/>
          </p:nvPr>
        </p:nvSpPr>
        <p:spPr>
          <a:xfrm>
            <a:off x="581192" y="702156"/>
            <a:ext cx="11029616" cy="1013800"/>
          </a:xfrm>
        </p:spPr>
        <p:txBody>
          <a:bodyPr>
            <a:normAutofit/>
          </a:bodyPr>
          <a:lstStyle/>
          <a:p>
            <a:r>
              <a:rPr lang="es-ES_tradnl" sz="3200"/>
              <a:t>RELACIONES DE EQUIVALENCIA</a:t>
            </a:r>
          </a:p>
        </p:txBody>
      </p:sp>
      <p:sp>
        <p:nvSpPr>
          <p:cNvPr id="7" name="Rectángulo 6">
            <a:extLst>
              <a:ext uri="{FF2B5EF4-FFF2-40B4-BE49-F238E27FC236}">
                <a16:creationId xmlns:a16="http://schemas.microsoft.com/office/drawing/2014/main" id="{F28D07D5-8049-6CD2-3D66-3CDA67988F4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B34AC43-2B8E-D55C-BC05-6FAB71FDE9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5DEA47E9-C718-13E6-8874-33F6D0356BF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21213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1E7E8-E703-EE94-4A10-3427C183168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1658BC-5C10-1689-4029-71F8B1E1E67D}"/>
              </a:ext>
            </a:extLst>
          </p:cNvPr>
          <p:cNvSpPr>
            <a:spLocks noGrp="1"/>
          </p:cNvSpPr>
          <p:nvPr>
            <p:ph idx="1"/>
          </p:nvPr>
        </p:nvSpPr>
        <p:spPr>
          <a:xfrm>
            <a:off x="520419" y="2374270"/>
            <a:ext cx="11029616" cy="3670767"/>
          </a:xfrm>
        </p:spPr>
        <p:txBody>
          <a:bodyPr>
            <a:noAutofit/>
          </a:bodyPr>
          <a:lstStyle/>
          <a:p>
            <a:pPr marL="0" indent="0" algn="ctr">
              <a:buNone/>
            </a:pPr>
            <a:r>
              <a:rPr lang="es-ES_tradnl" sz="2400">
                <a:solidFill>
                  <a:srgbClr val="800000"/>
                </a:solidFill>
              </a:rPr>
              <a:t>Principio de equivalencia</a:t>
            </a:r>
          </a:p>
          <a:p>
            <a:pPr marL="0" indent="0" algn="ctr">
              <a:buNone/>
            </a:pPr>
            <a:endParaRPr lang="es-ES_tradnl" sz="2000"/>
          </a:p>
          <a:p>
            <a:pPr marL="0" indent="0" algn="ctr">
              <a:spcBef>
                <a:spcPts val="0"/>
              </a:spcBef>
              <a:spcAft>
                <a:spcPts val="0"/>
              </a:spcAft>
              <a:buNone/>
            </a:pPr>
            <a:r>
              <a:rPr lang="es-ES_tradnl" sz="2400"/>
              <a:t>Dos cantidades de dinero en distintos momentos del tiempo son equivalentes si, al aplicar una tasa de interés apropiada, producen el mismo valor en un momento específico (ya sea en el presente o en el futuro).</a:t>
            </a:r>
          </a:p>
          <a:p>
            <a:pPr marL="0" indent="0" algn="ctr">
              <a:spcBef>
                <a:spcPts val="0"/>
              </a:spcBef>
              <a:spcAft>
                <a:spcPts val="0"/>
              </a:spcAft>
              <a:buNone/>
            </a:pPr>
            <a:endParaRPr lang="es-ES_tradnl" sz="2000"/>
          </a:p>
          <a:p>
            <a:pPr marL="0" indent="0" algn="ctr">
              <a:spcBef>
                <a:spcPts val="0"/>
              </a:spcBef>
              <a:spcAft>
                <a:spcPts val="0"/>
              </a:spcAft>
              <a:buNone/>
            </a:pPr>
            <a:r>
              <a:rPr lang="es-ES_tradnl" sz="2400"/>
              <a:t>La equivalencia se establece mediante el uso de fórmulas que permiten convertir cantidades de dinero que se encuentran en diferentes periodos de tiempo a un periodo de referencia. </a:t>
            </a:r>
            <a:endParaRPr lang="es-ES_tradnl" sz="2400">
              <a:solidFill>
                <a:srgbClr val="800000"/>
              </a:solidFill>
            </a:endParaRPr>
          </a:p>
        </p:txBody>
      </p:sp>
      <p:sp>
        <p:nvSpPr>
          <p:cNvPr id="4" name="Slide Number Placeholder 3">
            <a:extLst>
              <a:ext uri="{FF2B5EF4-FFF2-40B4-BE49-F238E27FC236}">
                <a16:creationId xmlns:a16="http://schemas.microsoft.com/office/drawing/2014/main" id="{F87C9F04-1303-5992-7E59-C0FE1881BADE}"/>
              </a:ext>
            </a:extLst>
          </p:cNvPr>
          <p:cNvSpPr>
            <a:spLocks noGrp="1"/>
          </p:cNvSpPr>
          <p:nvPr>
            <p:ph type="sldNum" sz="quarter" idx="12"/>
          </p:nvPr>
        </p:nvSpPr>
        <p:spPr/>
        <p:txBody>
          <a:bodyPr/>
          <a:lstStyle/>
          <a:p>
            <a:fld id="{5E3E23BA-6E79-2442-BA73-D218A5E297C3}" type="slidenum">
              <a:rPr lang="en-US" sz="2000" smtClean="0"/>
              <a:t>7</a:t>
            </a:fld>
            <a:endParaRPr lang="en-US" sz="2000"/>
          </a:p>
        </p:txBody>
      </p:sp>
      <p:sp>
        <p:nvSpPr>
          <p:cNvPr id="6" name="Title 1">
            <a:extLst>
              <a:ext uri="{FF2B5EF4-FFF2-40B4-BE49-F238E27FC236}">
                <a16:creationId xmlns:a16="http://schemas.microsoft.com/office/drawing/2014/main" id="{40CF043E-C764-87C2-7F95-DC3CD57C230D}"/>
              </a:ext>
            </a:extLst>
          </p:cNvPr>
          <p:cNvSpPr>
            <a:spLocks noGrp="1"/>
          </p:cNvSpPr>
          <p:nvPr>
            <p:ph type="title"/>
          </p:nvPr>
        </p:nvSpPr>
        <p:spPr>
          <a:xfrm>
            <a:off x="581192" y="702156"/>
            <a:ext cx="11029616" cy="1013800"/>
          </a:xfrm>
        </p:spPr>
        <p:txBody>
          <a:bodyPr>
            <a:normAutofit/>
          </a:bodyPr>
          <a:lstStyle/>
          <a:p>
            <a:r>
              <a:rPr lang="es-ES_tradnl" sz="3200"/>
              <a:t>RELACIONES DE EQUIVALENCIA</a:t>
            </a:r>
          </a:p>
        </p:txBody>
      </p:sp>
      <p:sp>
        <p:nvSpPr>
          <p:cNvPr id="7" name="Rectángulo 6">
            <a:extLst>
              <a:ext uri="{FF2B5EF4-FFF2-40B4-BE49-F238E27FC236}">
                <a16:creationId xmlns:a16="http://schemas.microsoft.com/office/drawing/2014/main" id="{C43B2AC2-DA5D-CEC0-C5E4-865F4A6BB1E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E1ACB27-2B7D-862A-622D-94CFF5EF54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CA594010-1258-D4D1-9AB8-E3EBC4A45DF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065132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706618"/>
            <a:ext cx="11029616" cy="4252748"/>
          </a:xfrm>
        </p:spPr>
        <p:txBody>
          <a:bodyPr>
            <a:normAutofit/>
          </a:bodyPr>
          <a:lstStyle/>
          <a:p>
            <a:pPr marL="0" indent="0" algn="ctr">
              <a:buNone/>
            </a:pPr>
            <a:r>
              <a:rPr lang="es-ES_tradnl" sz="2400"/>
              <a:t>Las matemáticas financieras nos permiten manejar y comparar cantidades monetarias a lo largo del tiempo.</a:t>
            </a:r>
          </a:p>
          <a:p>
            <a:pPr marL="0" indent="0" algn="ctr">
              <a:buNone/>
            </a:pPr>
            <a:endParaRPr lang="es-ES_tradnl" sz="2400"/>
          </a:p>
          <a:p>
            <a:r>
              <a:rPr lang="es-ES_tradnl" sz="2400"/>
              <a:t>Para su uso técnico y adecuado, se deben tener en cuenta ciertas consideraciones:</a:t>
            </a:r>
          </a:p>
          <a:p>
            <a:pPr marL="0" indent="0">
              <a:buNone/>
            </a:pPr>
            <a:r>
              <a:rPr lang="es-ES_tradnl" sz="2400">
                <a:solidFill>
                  <a:srgbClr val="800000"/>
                </a:solidFill>
              </a:rPr>
              <a:t>Supuesto 1: </a:t>
            </a:r>
            <a:r>
              <a:rPr lang="es-ES_tradnl" sz="2400"/>
              <a:t>Se asume reinversión de interés. </a:t>
            </a:r>
          </a:p>
          <a:p>
            <a:pPr marL="0" indent="0">
              <a:buNone/>
            </a:pPr>
            <a:r>
              <a:rPr lang="es-ES_tradnl" sz="2400">
                <a:solidFill>
                  <a:srgbClr val="800000"/>
                </a:solidFill>
              </a:rPr>
              <a:t>Supuesto 2: </a:t>
            </a:r>
            <a:r>
              <a:rPr lang="es-ES_tradnl" sz="2400"/>
              <a:t>Se asume interés vencido.</a:t>
            </a:r>
          </a:p>
          <a:p>
            <a:pPr marL="0" indent="0">
              <a:buNone/>
            </a:pPr>
            <a:r>
              <a:rPr lang="es-ES_tradnl" sz="2400">
                <a:solidFill>
                  <a:srgbClr val="800000"/>
                </a:solidFill>
              </a:rPr>
              <a:t>Supuesto 3:</a:t>
            </a:r>
            <a:r>
              <a:rPr lang="es-ES_tradnl" sz="2400"/>
              <a:t> La tasa de interés permanece constante durante el periodo de análisis.</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8</a:t>
            </a:fld>
            <a:endParaRPr lang="en-US" sz="2000"/>
          </a:p>
        </p:txBody>
      </p:sp>
      <p:sp>
        <p:nvSpPr>
          <p:cNvPr id="6" name="Title 1">
            <a:extLst>
              <a:ext uri="{FF2B5EF4-FFF2-40B4-BE49-F238E27FC236}">
                <a16:creationId xmlns:a16="http://schemas.microsoft.com/office/drawing/2014/main" id="{278CC989-7D02-F3B2-ED6D-C46DB2C25D3A}"/>
              </a:ext>
            </a:extLst>
          </p:cNvPr>
          <p:cNvSpPr>
            <a:spLocks noGrp="1"/>
          </p:cNvSpPr>
          <p:nvPr>
            <p:ph type="title"/>
          </p:nvPr>
        </p:nvSpPr>
        <p:spPr>
          <a:xfrm>
            <a:off x="581192" y="702156"/>
            <a:ext cx="11029616" cy="1013800"/>
          </a:xfrm>
        </p:spPr>
        <p:txBody>
          <a:bodyPr>
            <a:normAutofit/>
          </a:bodyPr>
          <a:lstStyle/>
          <a:p>
            <a:r>
              <a:rPr lang="es-ES_tradnl" sz="3200"/>
              <a:t>RELACIONES DE EQUIVALENCIA</a:t>
            </a:r>
          </a:p>
        </p:txBody>
      </p:sp>
      <p:sp>
        <p:nvSpPr>
          <p:cNvPr id="7" name="Rectángulo 6">
            <a:extLst>
              <a:ext uri="{FF2B5EF4-FFF2-40B4-BE49-F238E27FC236}">
                <a16:creationId xmlns:a16="http://schemas.microsoft.com/office/drawing/2014/main" id="{4BFA0D5A-5CA9-E7FE-29AF-7AA41B0934E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5A43A97-B608-6F96-7A6B-5665C85BB8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BBB5628E-EC80-D73C-FD36-EDF2CAE4355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00343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6230" y="1934613"/>
            <a:ext cx="7610476" cy="567086"/>
          </a:xfrm>
        </p:spPr>
        <p:txBody>
          <a:bodyPr>
            <a:normAutofit/>
          </a:bodyPr>
          <a:lstStyle/>
          <a:p>
            <a:r>
              <a:rPr lang="es-ES_tradnl" sz="2400"/>
              <a:t>Volvamos al ejemplo anterior</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9</a:t>
            </a:fld>
            <a:endParaRPr lang="en-US" sz="2000"/>
          </a:p>
        </p:txBody>
      </p:sp>
      <p:cxnSp>
        <p:nvCxnSpPr>
          <p:cNvPr id="5" name="Straight Connector 4"/>
          <p:cNvCxnSpPr/>
          <p:nvPr/>
        </p:nvCxnSpPr>
        <p:spPr>
          <a:xfrm>
            <a:off x="2850160" y="4015701"/>
            <a:ext cx="6191592"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a:off x="2850160" y="4015702"/>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flipV="1">
            <a:off x="3770084" y="3556975"/>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4843513" y="3556976"/>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5902987" y="3323990"/>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V="1">
            <a:off x="6908849" y="3323990"/>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flipV="1">
            <a:off x="7982278" y="3072769"/>
            <a:ext cx="0" cy="942935"/>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flipH="1" flipV="1">
            <a:off x="9041752" y="3072769"/>
            <a:ext cx="2" cy="942935"/>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p:cNvSpPr>
            <a:spLocks/>
          </p:cNvSpPr>
          <p:nvPr/>
        </p:nvSpPr>
        <p:spPr bwMode="auto">
          <a:xfrm flipH="1">
            <a:off x="2764559" y="3641704"/>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4" name="Rectangle 13"/>
          <p:cNvSpPr>
            <a:spLocks/>
          </p:cNvSpPr>
          <p:nvPr/>
        </p:nvSpPr>
        <p:spPr bwMode="auto">
          <a:xfrm>
            <a:off x="3586495" y="410803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p:cNvSpPr>
            <a:spLocks/>
          </p:cNvSpPr>
          <p:nvPr/>
        </p:nvSpPr>
        <p:spPr bwMode="auto">
          <a:xfrm>
            <a:off x="4674983" y="410803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p:cNvSpPr>
            <a:spLocks/>
          </p:cNvSpPr>
          <p:nvPr/>
        </p:nvSpPr>
        <p:spPr bwMode="auto">
          <a:xfrm>
            <a:off x="5734457" y="412199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16"/>
          <p:cNvSpPr>
            <a:spLocks/>
          </p:cNvSpPr>
          <p:nvPr/>
        </p:nvSpPr>
        <p:spPr bwMode="auto">
          <a:xfrm>
            <a:off x="6740319" y="413844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8" name="Rectangle 17"/>
          <p:cNvSpPr>
            <a:spLocks/>
          </p:cNvSpPr>
          <p:nvPr/>
        </p:nvSpPr>
        <p:spPr bwMode="auto">
          <a:xfrm>
            <a:off x="7813748" y="410803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9" name="Rectangle 18"/>
          <p:cNvSpPr>
            <a:spLocks/>
          </p:cNvSpPr>
          <p:nvPr/>
        </p:nvSpPr>
        <p:spPr bwMode="auto">
          <a:xfrm>
            <a:off x="8873222" y="410803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0" name="Rectangle 19"/>
          <p:cNvSpPr>
            <a:spLocks/>
          </p:cNvSpPr>
          <p:nvPr/>
        </p:nvSpPr>
        <p:spPr bwMode="auto">
          <a:xfrm>
            <a:off x="1906577" y="5024102"/>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a:t>
            </a:r>
          </a:p>
        </p:txBody>
      </p:sp>
      <p:sp>
        <p:nvSpPr>
          <p:cNvPr id="21" name="Rectangle 20"/>
          <p:cNvSpPr>
            <a:spLocks/>
          </p:cNvSpPr>
          <p:nvPr/>
        </p:nvSpPr>
        <p:spPr bwMode="auto">
          <a:xfrm>
            <a:off x="3131358" y="3174821"/>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a:t>
            </a:r>
          </a:p>
        </p:txBody>
      </p:sp>
      <p:sp>
        <p:nvSpPr>
          <p:cNvPr id="22" name="Rectangle 21"/>
          <p:cNvSpPr>
            <a:spLocks/>
          </p:cNvSpPr>
          <p:nvPr/>
        </p:nvSpPr>
        <p:spPr bwMode="auto">
          <a:xfrm>
            <a:off x="5160432" y="2961241"/>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200</a:t>
            </a:r>
          </a:p>
        </p:txBody>
      </p:sp>
      <p:sp>
        <p:nvSpPr>
          <p:cNvPr id="23" name="Rectangle 22"/>
          <p:cNvSpPr>
            <a:spLocks/>
          </p:cNvSpPr>
          <p:nvPr/>
        </p:nvSpPr>
        <p:spPr bwMode="auto">
          <a:xfrm>
            <a:off x="6095798" y="2961241"/>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200</a:t>
            </a:r>
          </a:p>
        </p:txBody>
      </p:sp>
      <p:sp>
        <p:nvSpPr>
          <p:cNvPr id="24" name="Rectangle 23"/>
          <p:cNvSpPr>
            <a:spLocks/>
          </p:cNvSpPr>
          <p:nvPr/>
        </p:nvSpPr>
        <p:spPr bwMode="auto">
          <a:xfrm>
            <a:off x="7199312" y="2715020"/>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sp>
        <p:nvSpPr>
          <p:cNvPr id="25" name="Rectangle 24"/>
          <p:cNvSpPr>
            <a:spLocks/>
          </p:cNvSpPr>
          <p:nvPr/>
        </p:nvSpPr>
        <p:spPr bwMode="auto">
          <a:xfrm>
            <a:off x="8241665" y="2715020"/>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sp>
        <p:nvSpPr>
          <p:cNvPr id="26" name="Rectangle 25"/>
          <p:cNvSpPr>
            <a:spLocks/>
          </p:cNvSpPr>
          <p:nvPr/>
        </p:nvSpPr>
        <p:spPr bwMode="auto">
          <a:xfrm>
            <a:off x="4204787" y="3166953"/>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a:t>
            </a:r>
          </a:p>
        </p:txBody>
      </p:sp>
      <p:sp>
        <p:nvSpPr>
          <p:cNvPr id="27" name="Content Placeholder 2"/>
          <p:cNvSpPr txBox="1">
            <a:spLocks/>
          </p:cNvSpPr>
          <p:nvPr/>
        </p:nvSpPr>
        <p:spPr>
          <a:xfrm>
            <a:off x="639097" y="5551624"/>
            <a:ext cx="10913805" cy="717456"/>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2400">
                <a:solidFill>
                  <a:srgbClr val="800000"/>
                </a:solidFill>
              </a:rPr>
              <a:t>¿Es correcto afirmar que el proyecto es bueno porque deja 200 de ganancia?</a:t>
            </a:r>
          </a:p>
        </p:txBody>
      </p:sp>
      <p:sp>
        <p:nvSpPr>
          <p:cNvPr id="29" name="Title 1">
            <a:extLst>
              <a:ext uri="{FF2B5EF4-FFF2-40B4-BE49-F238E27FC236}">
                <a16:creationId xmlns:a16="http://schemas.microsoft.com/office/drawing/2014/main" id="{91F646BB-A291-478C-7AB4-0C63EB61215E}"/>
              </a:ext>
            </a:extLst>
          </p:cNvPr>
          <p:cNvSpPr>
            <a:spLocks noGrp="1"/>
          </p:cNvSpPr>
          <p:nvPr>
            <p:ph type="title"/>
          </p:nvPr>
        </p:nvSpPr>
        <p:spPr>
          <a:xfrm>
            <a:off x="581192" y="702156"/>
            <a:ext cx="11029616" cy="1013800"/>
          </a:xfrm>
        </p:spPr>
        <p:txBody>
          <a:bodyPr>
            <a:normAutofit/>
          </a:bodyPr>
          <a:lstStyle/>
          <a:p>
            <a:r>
              <a:rPr lang="es-ES_tradnl" sz="3200"/>
              <a:t>RELACIONES DE EQUIVALENCIA</a:t>
            </a:r>
          </a:p>
        </p:txBody>
      </p:sp>
      <p:sp>
        <p:nvSpPr>
          <p:cNvPr id="30" name="Rectángulo 29">
            <a:extLst>
              <a:ext uri="{FF2B5EF4-FFF2-40B4-BE49-F238E27FC236}">
                <a16:creationId xmlns:a16="http://schemas.microsoft.com/office/drawing/2014/main" id="{77669ABF-B714-2111-4798-6368E341D7E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1" name="Picture 2" descr="Clientes y aliados | Centro de Evaluación | Uniandes">
            <a:extLst>
              <a:ext uri="{FF2B5EF4-FFF2-40B4-BE49-F238E27FC236}">
                <a16:creationId xmlns:a16="http://schemas.microsoft.com/office/drawing/2014/main" id="{D2CA0705-23B9-1066-357A-D22C454160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2" name="Rectángulo 31">
            <a:extLst>
              <a:ext uri="{FF2B5EF4-FFF2-40B4-BE49-F238E27FC236}">
                <a16:creationId xmlns:a16="http://schemas.microsoft.com/office/drawing/2014/main" id="{16E98EF5-6768-57D6-C1FA-52D735B056A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025238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DACB-35FB-1322-D65C-DC580DE7D34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946EECE-D88F-40FB-17E1-318C3D041368}"/>
              </a:ext>
            </a:extLst>
          </p:cNvPr>
          <p:cNvSpPr>
            <a:spLocks noGrp="1"/>
          </p:cNvSpPr>
          <p:nvPr>
            <p:ph type="title"/>
          </p:nvPr>
        </p:nvSpPr>
        <p:spPr/>
        <p:txBody>
          <a:bodyPr>
            <a:normAutofit/>
          </a:bodyPr>
          <a:lstStyle/>
          <a:p>
            <a:r>
              <a:rPr lang="es-CO" sz="3200">
                <a:latin typeface="+mn-lt"/>
              </a:rPr>
              <a:t>AGENDA PROPUESTA</a:t>
            </a:r>
          </a:p>
        </p:txBody>
      </p:sp>
      <p:sp>
        <p:nvSpPr>
          <p:cNvPr id="4" name="Marcador de número de diapositiva 3">
            <a:extLst>
              <a:ext uri="{FF2B5EF4-FFF2-40B4-BE49-F238E27FC236}">
                <a16:creationId xmlns:a16="http://schemas.microsoft.com/office/drawing/2014/main" id="{8FCDC307-CD7B-0490-3571-9ADD2C481317}"/>
              </a:ext>
            </a:extLst>
          </p:cNvPr>
          <p:cNvSpPr>
            <a:spLocks noGrp="1"/>
          </p:cNvSpPr>
          <p:nvPr>
            <p:ph type="sldNum" sz="quarter" idx="12"/>
          </p:nvPr>
        </p:nvSpPr>
        <p:spPr/>
        <p:txBody>
          <a:bodyPr vert="horz" lIns="91440" tIns="45720" rIns="91440" bIns="45720" rtlCol="0" anchor="ctr"/>
          <a:lstStyle/>
          <a:p>
            <a:fld id="{D57F1E4F-1CFF-5643-939E-217C01CDF565}" type="slidenum">
              <a:rPr lang="en-US" sz="2000" smtClean="0"/>
              <a:pPr/>
              <a:t>10</a:t>
            </a:fld>
            <a:endParaRPr lang="en-US" sz="2000"/>
          </a:p>
        </p:txBody>
      </p:sp>
      <p:pic>
        <p:nvPicPr>
          <p:cNvPr id="6" name="Picture 6" descr="Resultado de imagen para RELOJ VECTOR">
            <a:extLst>
              <a:ext uri="{FF2B5EF4-FFF2-40B4-BE49-F238E27FC236}">
                <a16:creationId xmlns:a16="http://schemas.microsoft.com/office/drawing/2014/main" id="{A5A90D05-2BE6-9C32-B274-4801FF64B214}"/>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E1C321F3-6C52-7958-17CD-7CB7D6DFF7F5}"/>
              </a:ext>
            </a:extLst>
          </p:cNvPr>
          <p:cNvSpPr/>
          <p:nvPr/>
        </p:nvSpPr>
        <p:spPr>
          <a:xfrm>
            <a:off x="3173020" y="2503099"/>
            <a:ext cx="8540907" cy="2308324"/>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endParaRPr lang="es-ES" sz="2400">
              <a:solidFill>
                <a:schemeClr val="bg2">
                  <a:lumMod val="90000"/>
                </a:schemeClr>
              </a:solidFill>
              <a:cs typeface="Arial"/>
            </a:endParaRPr>
          </a:p>
          <a:p>
            <a:pPr marL="342900" indent="-342900">
              <a:buClr>
                <a:schemeClr val="accent3">
                  <a:lumMod val="75000"/>
                </a:schemeClr>
              </a:buClr>
              <a:buFont typeface="Gill Sans MT" panose="020B0502020104020203"/>
              <a:buAutoNum type="arabicPeriod"/>
            </a:pPr>
            <a:endParaRPr lang="es-ES" sz="2400">
              <a:solidFill>
                <a:schemeClr val="bg2">
                  <a:lumMod val="90000"/>
                </a:schemeClr>
              </a:solidFill>
              <a:cs typeface="Arial"/>
            </a:endParaRPr>
          </a:p>
          <a:p>
            <a:pPr marL="342900" indent="-342900">
              <a:buClr>
                <a:schemeClr val="accent3">
                  <a:lumMod val="75000"/>
                </a:schemeClr>
              </a:buClr>
              <a:buFont typeface="Gill Sans MT" panose="020B0502020104020203"/>
              <a:buAutoNum type="arabicPeriod"/>
            </a:pPr>
            <a:r>
              <a:rPr lang="es-ES" sz="2400">
                <a:solidFill>
                  <a:schemeClr val="bg2">
                    <a:lumMod val="90000"/>
                  </a:schemeClr>
                </a:solidFill>
                <a:cs typeface="Arial"/>
              </a:rPr>
              <a:t>Introducción a las Relaciones de Equivalencia y supuestos</a:t>
            </a:r>
          </a:p>
          <a:p>
            <a:pPr marL="342900" indent="-342900">
              <a:buClr>
                <a:srgbClr val="2C7C9F"/>
              </a:buClr>
              <a:buFontTx/>
              <a:buAutoNum type="arabicPeriod"/>
            </a:pPr>
            <a:endParaRPr lang="es-CO" sz="2400">
              <a:solidFill>
                <a:schemeClr val="accent1"/>
              </a:solidFill>
              <a:cs typeface="Arial"/>
            </a:endParaRPr>
          </a:p>
          <a:p>
            <a:pPr marL="342900" indent="-342900">
              <a:buClr>
                <a:srgbClr val="48BE7A"/>
              </a:buClr>
              <a:buAutoNum type="arabicPeriod"/>
            </a:pPr>
            <a:r>
              <a:rPr lang="es-CO" sz="2400">
                <a:solidFill>
                  <a:schemeClr val="accent1"/>
                </a:solidFill>
                <a:cs typeface="Arial"/>
              </a:rPr>
              <a:t>Valor Presente y Valor Futuro</a:t>
            </a:r>
            <a:r>
              <a:rPr lang="es-CO" sz="2400">
                <a:solidFill>
                  <a:schemeClr val="bg2">
                    <a:lumMod val="90000"/>
                  </a:schemeClr>
                </a:solidFill>
                <a:cs typeface="Arial"/>
              </a:rPr>
              <a:t>.</a:t>
            </a:r>
          </a:p>
          <a:p>
            <a:pPr marL="342900" indent="-342900">
              <a:buClr>
                <a:srgbClr val="48BE7A"/>
              </a:buClr>
              <a:buAutoNum type="arabicPeriod"/>
            </a:pPr>
            <a:endParaRPr lang="es-CO" sz="2400">
              <a:solidFill>
                <a:schemeClr val="bg2">
                  <a:lumMod val="90000"/>
                </a:schemeClr>
              </a:solidFill>
              <a:cs typeface="Arial"/>
            </a:endParaRPr>
          </a:p>
        </p:txBody>
      </p:sp>
      <p:sp>
        <p:nvSpPr>
          <p:cNvPr id="3" name="Rectángulo 2">
            <a:extLst>
              <a:ext uri="{FF2B5EF4-FFF2-40B4-BE49-F238E27FC236}">
                <a16:creationId xmlns:a16="http://schemas.microsoft.com/office/drawing/2014/main" id="{CC6420EE-6ECE-F1B1-8AC1-62C40C15109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A04F559D-F01A-E457-814D-8D423E7B71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9CD6513-E3B7-25D8-BCB4-3E226308415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291199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581191" y="1966326"/>
            <a:ext cx="11029615" cy="1426637"/>
          </a:xfrm>
        </p:spPr>
        <p:txBody>
          <a:bodyPr>
            <a:normAutofit/>
          </a:bodyPr>
          <a:lstStyle/>
          <a:p>
            <a:pPr marL="0" indent="0" algn="ctr">
              <a:buNone/>
            </a:pPr>
            <a:r>
              <a:rPr lang="es-ES_tradnl" sz="2400">
                <a:solidFill>
                  <a:srgbClr val="800000"/>
                </a:solidFill>
              </a:rPr>
              <a:t>¿Cuál es el valor futuro equivalente a un valor presente?</a:t>
            </a:r>
          </a:p>
          <a:p>
            <a:pPr marL="0" indent="0" algn="just">
              <a:buNone/>
            </a:pPr>
            <a:r>
              <a:rPr lang="es-ES_tradnl" sz="2400"/>
              <a:t>Es la relación de equivalencia básica y a su vez la más importante a la hora de entender las demás equivalencias.</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11</a:t>
            </a:fld>
            <a:endParaRPr lang="en-US" sz="2000"/>
          </a:p>
        </p:txBody>
      </p:sp>
      <p:cxnSp>
        <p:nvCxnSpPr>
          <p:cNvPr id="6" name="Straight Connector 5"/>
          <p:cNvCxnSpPr/>
          <p:nvPr/>
        </p:nvCxnSpPr>
        <p:spPr>
          <a:xfrm>
            <a:off x="2804112" y="5070538"/>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a:cxnSpLocks/>
          </p:cNvCxnSpPr>
          <p:nvPr/>
        </p:nvCxnSpPr>
        <p:spPr>
          <a:xfrm>
            <a:off x="2804111" y="5076986"/>
            <a:ext cx="0" cy="979200"/>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8" name="Rectangle 7"/>
          <p:cNvSpPr>
            <a:spLocks/>
          </p:cNvSpPr>
          <p:nvPr/>
        </p:nvSpPr>
        <p:spPr bwMode="auto">
          <a:xfrm>
            <a:off x="3128510" y="516287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9" name="Rectangle 8"/>
          <p:cNvSpPr>
            <a:spLocks/>
          </p:cNvSpPr>
          <p:nvPr/>
        </p:nvSpPr>
        <p:spPr bwMode="auto">
          <a:xfrm>
            <a:off x="3719249" y="516287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0" name="Rectangle 9"/>
          <p:cNvSpPr>
            <a:spLocks/>
          </p:cNvSpPr>
          <p:nvPr/>
        </p:nvSpPr>
        <p:spPr bwMode="auto">
          <a:xfrm>
            <a:off x="4332465" y="517682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12" name="Rectangle 11"/>
          <p:cNvSpPr>
            <a:spLocks/>
          </p:cNvSpPr>
          <p:nvPr/>
        </p:nvSpPr>
        <p:spPr bwMode="auto">
          <a:xfrm>
            <a:off x="2635581" y="469551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5" name="Rectangle 14"/>
          <p:cNvSpPr>
            <a:spLocks/>
          </p:cNvSpPr>
          <p:nvPr/>
        </p:nvSpPr>
        <p:spPr bwMode="auto">
          <a:xfrm>
            <a:off x="4951454" y="517682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cxnSp>
        <p:nvCxnSpPr>
          <p:cNvPr id="16" name="Straight Connector 15"/>
          <p:cNvCxnSpPr/>
          <p:nvPr/>
        </p:nvCxnSpPr>
        <p:spPr>
          <a:xfrm>
            <a:off x="7333274" y="4979654"/>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9649146" y="4001564"/>
            <a:ext cx="0" cy="97809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a:spLocks/>
          </p:cNvSpPr>
          <p:nvPr/>
        </p:nvSpPr>
        <p:spPr bwMode="auto">
          <a:xfrm>
            <a:off x="7657672" y="507198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9" name="Rectangle 18"/>
          <p:cNvSpPr>
            <a:spLocks/>
          </p:cNvSpPr>
          <p:nvPr/>
        </p:nvSpPr>
        <p:spPr bwMode="auto">
          <a:xfrm>
            <a:off x="8248411" y="507198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0" name="Rectangle 19"/>
          <p:cNvSpPr>
            <a:spLocks/>
          </p:cNvSpPr>
          <p:nvPr/>
        </p:nvSpPr>
        <p:spPr bwMode="auto">
          <a:xfrm>
            <a:off x="8861627" y="50859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21" name="Rectangle 20"/>
          <p:cNvSpPr>
            <a:spLocks/>
          </p:cNvSpPr>
          <p:nvPr/>
        </p:nvSpPr>
        <p:spPr bwMode="auto">
          <a:xfrm>
            <a:off x="7164743" y="50859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2" name="Rectangle 21"/>
          <p:cNvSpPr>
            <a:spLocks/>
          </p:cNvSpPr>
          <p:nvPr/>
        </p:nvSpPr>
        <p:spPr bwMode="auto">
          <a:xfrm>
            <a:off x="9480616" y="50859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24" name="Right Arrow 23"/>
          <p:cNvSpPr/>
          <p:nvPr/>
        </p:nvSpPr>
        <p:spPr>
          <a:xfrm>
            <a:off x="5608879" y="4689184"/>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5" name="Rectangle 24"/>
          <p:cNvSpPr>
            <a:spLocks/>
          </p:cNvSpPr>
          <p:nvPr/>
        </p:nvSpPr>
        <p:spPr bwMode="auto">
          <a:xfrm>
            <a:off x="2635581" y="605618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VP</a:t>
            </a:r>
          </a:p>
        </p:txBody>
      </p:sp>
      <p:sp>
        <p:nvSpPr>
          <p:cNvPr id="27" name="Rectangle 26"/>
          <p:cNvSpPr>
            <a:spLocks/>
          </p:cNvSpPr>
          <p:nvPr/>
        </p:nvSpPr>
        <p:spPr bwMode="auto">
          <a:xfrm>
            <a:off x="9480616" y="37106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VF</a:t>
            </a:r>
          </a:p>
        </p:txBody>
      </p:sp>
      <p:sp>
        <p:nvSpPr>
          <p:cNvPr id="3" name="Title 1">
            <a:extLst>
              <a:ext uri="{FF2B5EF4-FFF2-40B4-BE49-F238E27FC236}">
                <a16:creationId xmlns:a16="http://schemas.microsoft.com/office/drawing/2014/main" id="{F4955FFB-00C6-BB68-CAC1-BB2C2DFAFF7B}"/>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1" name="Rectángulo 10">
            <a:extLst>
              <a:ext uri="{FF2B5EF4-FFF2-40B4-BE49-F238E27FC236}">
                <a16:creationId xmlns:a16="http://schemas.microsoft.com/office/drawing/2014/main" id="{4E60A475-26E4-AAAA-6C62-6F35DC5A81B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7B6EE384-F14D-A9CA-48FA-507F1A6E01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13">
            <a:extLst>
              <a:ext uri="{FF2B5EF4-FFF2-40B4-BE49-F238E27FC236}">
                <a16:creationId xmlns:a16="http://schemas.microsoft.com/office/drawing/2014/main" id="{D73B1EAD-70BE-6456-997C-D1399E31B79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364718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P spid="15" grpId="0"/>
      <p:bldP spid="18" grpId="0"/>
      <p:bldP spid="19" grpId="0"/>
      <p:bldP spid="20" grpId="0"/>
      <p:bldP spid="21" grpId="0"/>
      <p:bldP spid="22" grpId="0"/>
      <p:bldP spid="24" grpId="0" animBg="1"/>
      <p:bldP spid="25" grpId="0"/>
      <p:bldP spid="2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2215493"/>
            <a:ext cx="7610476" cy="517215"/>
          </a:xfrm>
        </p:spPr>
        <p:txBody>
          <a:bodyPr>
            <a:normAutofit/>
          </a:bodyPr>
          <a:lstStyle/>
          <a:p>
            <a:pPr marL="0" indent="0" algn="just">
              <a:buNone/>
            </a:pPr>
            <a:r>
              <a:rPr lang="es-ES_tradnl" sz="2400"/>
              <a:t>Matemáticamente, se tiene que:</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12</a:t>
            </a:fld>
            <a:endParaRPr lang="en-US" sz="2000"/>
          </a:p>
        </p:txBody>
      </p:sp>
      <p:pic>
        <p:nvPicPr>
          <p:cNvPr id="5" name="Picture 4"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6375" y="4539520"/>
            <a:ext cx="3073400" cy="482600"/>
          </a:xfrm>
          <a:prstGeom prst="rect">
            <a:avLst/>
          </a:prstGeom>
        </p:spPr>
      </p:pic>
      <p:pic>
        <p:nvPicPr>
          <p:cNvPr id="6" name="Picture 5"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6375" y="3174112"/>
            <a:ext cx="2984500" cy="482600"/>
          </a:xfrm>
          <a:prstGeom prst="rect">
            <a:avLst/>
          </a:prstGeom>
        </p:spPr>
      </p:pic>
      <p:sp>
        <p:nvSpPr>
          <p:cNvPr id="12" name="Title 1">
            <a:extLst>
              <a:ext uri="{FF2B5EF4-FFF2-40B4-BE49-F238E27FC236}">
                <a16:creationId xmlns:a16="http://schemas.microsoft.com/office/drawing/2014/main" id="{6F36658B-943A-5305-5108-3E39F91D2C6C}"/>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3" name="Rectángulo 12">
            <a:extLst>
              <a:ext uri="{FF2B5EF4-FFF2-40B4-BE49-F238E27FC236}">
                <a16:creationId xmlns:a16="http://schemas.microsoft.com/office/drawing/2014/main" id="{BFCE00F5-61F3-0A14-C8E6-9BB445DB2E6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ABCC4EA7-DDAA-B1CE-A5C0-D541F1AACB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D8772340-EDF2-A0C4-43CF-AD34943CC20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651731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a:spLocks noGrp="1"/>
          </p:cNvSpPr>
          <p:nvPr>
            <p:ph idx="1"/>
          </p:nvPr>
        </p:nvSpPr>
        <p:spPr>
          <a:xfrm>
            <a:off x="581192" y="2080790"/>
            <a:ext cx="11029615" cy="1007735"/>
          </a:xfrm>
        </p:spPr>
        <p:txBody>
          <a:bodyPr>
            <a:normAutofit/>
          </a:bodyPr>
          <a:lstStyle/>
          <a:p>
            <a:pPr marL="0" indent="0" algn="just">
              <a:buNone/>
            </a:pPr>
            <a:r>
              <a:rPr lang="es-ES_tradnl" sz="2400"/>
              <a:t>Ejemplo: Usted depositó 1’300.000 en una cuenta de ahorros que rinde 10% NA/SV. ¿Cuánto tendría a los 6 meses si el interés se recibe semestral?</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13</a:t>
            </a:fld>
            <a:endParaRPr lang="en-US" sz="2000"/>
          </a:p>
        </p:txBody>
      </p:sp>
      <p:cxnSp>
        <p:nvCxnSpPr>
          <p:cNvPr id="7" name="Straight Connector 6"/>
          <p:cNvCxnSpPr/>
          <p:nvPr/>
        </p:nvCxnSpPr>
        <p:spPr>
          <a:xfrm>
            <a:off x="2791985" y="4805656"/>
            <a:ext cx="616085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a:off x="2791984" y="4793129"/>
            <a:ext cx="0" cy="865131"/>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sp>
        <p:nvSpPr>
          <p:cNvPr id="15" name="Rectangle 14"/>
          <p:cNvSpPr>
            <a:spLocks/>
          </p:cNvSpPr>
          <p:nvPr/>
        </p:nvSpPr>
        <p:spPr bwMode="auto">
          <a:xfrm flipH="1">
            <a:off x="2741512" y="4435506"/>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3" name="Rectangle 22"/>
          <p:cNvSpPr>
            <a:spLocks/>
          </p:cNvSpPr>
          <p:nvPr/>
        </p:nvSpPr>
        <p:spPr bwMode="auto">
          <a:xfrm>
            <a:off x="2150133" y="5676687"/>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1’300.000</a:t>
            </a:r>
          </a:p>
        </p:txBody>
      </p:sp>
      <p:sp>
        <p:nvSpPr>
          <p:cNvPr id="29" name="Rectangle 28"/>
          <p:cNvSpPr>
            <a:spLocks/>
          </p:cNvSpPr>
          <p:nvPr/>
        </p:nvSpPr>
        <p:spPr bwMode="auto">
          <a:xfrm>
            <a:off x="8756701" y="487311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cxnSp>
        <p:nvCxnSpPr>
          <p:cNvPr id="30" name="Straight Arrow Connector 29"/>
          <p:cNvCxnSpPr/>
          <p:nvPr/>
        </p:nvCxnSpPr>
        <p:spPr>
          <a:xfrm flipV="1">
            <a:off x="8939036" y="3628828"/>
            <a:ext cx="0" cy="116430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34"/>
          <p:cNvSpPr>
            <a:spLocks/>
          </p:cNvSpPr>
          <p:nvPr/>
        </p:nvSpPr>
        <p:spPr bwMode="auto">
          <a:xfrm>
            <a:off x="8314115" y="3209432"/>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VF = ?</a:t>
            </a:r>
          </a:p>
        </p:txBody>
      </p:sp>
      <p:sp>
        <p:nvSpPr>
          <p:cNvPr id="3" name="CuadroTexto 2"/>
          <p:cNvSpPr txBox="1"/>
          <p:nvPr/>
        </p:nvSpPr>
        <p:spPr>
          <a:xfrm>
            <a:off x="9160199" y="4654629"/>
            <a:ext cx="1149354" cy="400110"/>
          </a:xfrm>
          <a:prstGeom prst="rect">
            <a:avLst/>
          </a:prstGeom>
          <a:noFill/>
        </p:spPr>
        <p:txBody>
          <a:bodyPr wrap="none" rtlCol="0">
            <a:spAutoFit/>
          </a:bodyPr>
          <a:lstStyle/>
          <a:p>
            <a:r>
              <a:rPr lang="es-CO" sz="2000"/>
              <a:t>Semestre</a:t>
            </a:r>
          </a:p>
        </p:txBody>
      </p:sp>
      <p:sp>
        <p:nvSpPr>
          <p:cNvPr id="10" name="Title 1">
            <a:extLst>
              <a:ext uri="{FF2B5EF4-FFF2-40B4-BE49-F238E27FC236}">
                <a16:creationId xmlns:a16="http://schemas.microsoft.com/office/drawing/2014/main" id="{B1EB6D8C-D4AA-4EFD-EE22-E0C7670D7CC5}"/>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1" name="Rectángulo 10">
            <a:extLst>
              <a:ext uri="{FF2B5EF4-FFF2-40B4-BE49-F238E27FC236}">
                <a16:creationId xmlns:a16="http://schemas.microsoft.com/office/drawing/2014/main" id="{704023DD-F745-CA75-56F2-1EA5B097477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A42C154E-DC94-6147-F1C0-A096C71458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6E0F14FD-C453-D2AD-F9B7-008F0D057A4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3994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3" grpId="0"/>
      <p:bldP spid="29" grpId="0"/>
      <p:bldP spid="35"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2154500"/>
            <a:ext cx="11029616" cy="1007735"/>
          </a:xfrm>
        </p:spPr>
        <p:txBody>
          <a:bodyPr>
            <a:normAutofit/>
          </a:bodyPr>
          <a:lstStyle/>
          <a:p>
            <a:pPr marL="0" indent="0" algn="just">
              <a:buNone/>
            </a:pPr>
            <a:r>
              <a:rPr lang="es-ES_tradnl" sz="2400"/>
              <a:t>Ejemplo: Usted depositó 1’300.000 en una cuenta de ahorros que rinde 10% NA/SV. ¿Cuánto tendría a los 6 meses si el interés se recibe semestral?</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14</a:t>
            </a:fld>
            <a:endParaRPr lang="en-US" sz="2000"/>
          </a:p>
        </p:txBody>
      </p:sp>
      <p:sp>
        <p:nvSpPr>
          <p:cNvPr id="18" name="Content Placeholder 2"/>
          <p:cNvSpPr txBox="1">
            <a:spLocks/>
          </p:cNvSpPr>
          <p:nvPr/>
        </p:nvSpPr>
        <p:spPr>
          <a:xfrm>
            <a:off x="1823183" y="3600779"/>
            <a:ext cx="8151463" cy="545202"/>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2400">
                <a:solidFill>
                  <a:srgbClr val="800000"/>
                </a:solidFill>
              </a:rPr>
              <a:t>i= 10% NA/SV		i=5% SV</a:t>
            </a:r>
          </a:p>
        </p:txBody>
      </p:sp>
      <p:pic>
        <p:nvPicPr>
          <p:cNvPr id="8" name="Picture 7"/>
          <p:cNvPicPr>
            <a:picLocks noChangeAspect="1"/>
          </p:cNvPicPr>
          <p:nvPr/>
        </p:nvPicPr>
        <p:blipFill>
          <a:blip r:embed="rId3"/>
          <a:stretch>
            <a:fillRect/>
          </a:stretch>
        </p:blipFill>
        <p:spPr>
          <a:xfrm>
            <a:off x="3016250" y="4775934"/>
            <a:ext cx="6159500" cy="469900"/>
          </a:xfrm>
          <a:prstGeom prst="rect">
            <a:avLst/>
          </a:prstGeom>
        </p:spPr>
      </p:pic>
      <p:sp>
        <p:nvSpPr>
          <p:cNvPr id="10" name="Title 1">
            <a:extLst>
              <a:ext uri="{FF2B5EF4-FFF2-40B4-BE49-F238E27FC236}">
                <a16:creationId xmlns:a16="http://schemas.microsoft.com/office/drawing/2014/main" id="{E7A5C585-9CE2-70D8-45DF-B20F2E3714B7}"/>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1" name="Rectángulo 10">
            <a:extLst>
              <a:ext uri="{FF2B5EF4-FFF2-40B4-BE49-F238E27FC236}">
                <a16:creationId xmlns:a16="http://schemas.microsoft.com/office/drawing/2014/main" id="{1D5B6228-3FB5-0258-F2E8-3F3A462F8D2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1F32DD86-E595-D509-A6E3-79637CD1B5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6A7D83EC-1BC5-D698-955B-4148DB65CDF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798789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a:spLocks noGrp="1"/>
          </p:cNvSpPr>
          <p:nvPr>
            <p:ph idx="1"/>
          </p:nvPr>
        </p:nvSpPr>
        <p:spPr>
          <a:xfrm>
            <a:off x="581192" y="2112415"/>
            <a:ext cx="11029615" cy="1007735"/>
          </a:xfrm>
        </p:spPr>
        <p:txBody>
          <a:bodyPr>
            <a:normAutofit/>
          </a:bodyPr>
          <a:lstStyle/>
          <a:p>
            <a:pPr marL="0" indent="0" algn="just">
              <a:buNone/>
            </a:pPr>
            <a:r>
              <a:rPr lang="es-ES_tradnl" sz="2400"/>
              <a:t>Ejemplo: Usted depositó 1’300.000 en una cuenta de ahorros que rinde 10% NA/SV. ¿Cuánto tendría a los 6 meses si el interés se recibe de manera mensual?</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15</a:t>
            </a:fld>
            <a:endParaRPr lang="en-US" sz="2000"/>
          </a:p>
        </p:txBody>
      </p:sp>
      <p:sp>
        <p:nvSpPr>
          <p:cNvPr id="18" name="Content Placeholder 2"/>
          <p:cNvSpPr txBox="1">
            <a:spLocks/>
          </p:cNvSpPr>
          <p:nvPr/>
        </p:nvSpPr>
        <p:spPr>
          <a:xfrm>
            <a:off x="2108324" y="3758909"/>
            <a:ext cx="8151463" cy="600611"/>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2400">
                <a:solidFill>
                  <a:srgbClr val="800000"/>
                </a:solidFill>
              </a:rPr>
              <a:t>i= 10% NA/SV		i=5% SV		i=0,82% MV</a:t>
            </a:r>
          </a:p>
          <a:p>
            <a:pPr marL="0" indent="0" algn="ctr">
              <a:buNone/>
            </a:pPr>
            <a:endParaRPr lang="es-ES_tradnl" sz="2400">
              <a:solidFill>
                <a:srgbClr val="800000"/>
              </a:solidFill>
            </a:endParaRPr>
          </a:p>
        </p:txBody>
      </p:sp>
      <p:pic>
        <p:nvPicPr>
          <p:cNvPr id="3" name="Picture 2"/>
          <p:cNvPicPr>
            <a:picLocks noChangeAspect="1"/>
          </p:cNvPicPr>
          <p:nvPr/>
        </p:nvPicPr>
        <p:blipFill>
          <a:blip r:embed="rId2"/>
          <a:stretch>
            <a:fillRect/>
          </a:stretch>
        </p:blipFill>
        <p:spPr>
          <a:xfrm>
            <a:off x="2590799" y="4998279"/>
            <a:ext cx="7010400" cy="520700"/>
          </a:xfrm>
          <a:prstGeom prst="rect">
            <a:avLst/>
          </a:prstGeom>
        </p:spPr>
      </p:pic>
      <p:sp>
        <p:nvSpPr>
          <p:cNvPr id="8" name="Title 1">
            <a:extLst>
              <a:ext uri="{FF2B5EF4-FFF2-40B4-BE49-F238E27FC236}">
                <a16:creationId xmlns:a16="http://schemas.microsoft.com/office/drawing/2014/main" id="{01BCFD30-4EF0-D1A3-A909-743601BF94A8}"/>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1" name="Rectángulo 10">
            <a:extLst>
              <a:ext uri="{FF2B5EF4-FFF2-40B4-BE49-F238E27FC236}">
                <a16:creationId xmlns:a16="http://schemas.microsoft.com/office/drawing/2014/main" id="{AFF3836F-33CB-1858-00BA-49479E4D244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286BF2C3-1155-2DED-D42F-3473314D50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D6DEB4EA-A6EE-B528-4322-6D3B4340424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796263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43753"/>
            <a:ext cx="11029616" cy="1327208"/>
          </a:xfrm>
        </p:spPr>
        <p:txBody>
          <a:bodyPr>
            <a:normAutofit/>
          </a:bodyPr>
          <a:lstStyle/>
          <a:p>
            <a:pPr marL="0" indent="0" algn="just">
              <a:buNone/>
            </a:pPr>
            <a:r>
              <a:rPr lang="es-ES_tradnl" sz="2400">
                <a:solidFill>
                  <a:schemeClr val="tx1"/>
                </a:solidFill>
              </a:rPr>
              <a:t>Ejemplo 2</a:t>
            </a:r>
            <a:r>
              <a:rPr lang="es-ES_tradnl" sz="2400"/>
              <a:t>: Usted se enfrenta a los siguientes flujos mensuales de efectivo. Si su costo de oportunidad es 12% NA/TV, ¿Cuál es el valor futuro (en el mes 6) de sus flujos de efectivo totales?</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16</a:t>
            </a:fld>
            <a:endParaRPr lang="en-US" sz="2000"/>
          </a:p>
        </p:txBody>
      </p:sp>
      <p:sp>
        <p:nvSpPr>
          <p:cNvPr id="5" name="CuadroTexto 4"/>
          <p:cNvSpPr txBox="1"/>
          <p:nvPr/>
        </p:nvSpPr>
        <p:spPr>
          <a:xfrm>
            <a:off x="9129298" y="4205617"/>
            <a:ext cx="830677" cy="400110"/>
          </a:xfrm>
          <a:prstGeom prst="rect">
            <a:avLst/>
          </a:prstGeom>
          <a:noFill/>
        </p:spPr>
        <p:txBody>
          <a:bodyPr wrap="none" rtlCol="0">
            <a:spAutoFit/>
          </a:bodyPr>
          <a:lstStyle/>
          <a:p>
            <a:r>
              <a:rPr lang="es-CO" sz="2000"/>
              <a:t>Meses</a:t>
            </a:r>
          </a:p>
        </p:txBody>
      </p:sp>
      <p:sp>
        <p:nvSpPr>
          <p:cNvPr id="9" name="Title 1">
            <a:extLst>
              <a:ext uri="{FF2B5EF4-FFF2-40B4-BE49-F238E27FC236}">
                <a16:creationId xmlns:a16="http://schemas.microsoft.com/office/drawing/2014/main" id="{1AF84C01-D531-3D70-F464-E474FC7C613D}"/>
              </a:ext>
            </a:extLst>
          </p:cNvPr>
          <p:cNvSpPr>
            <a:spLocks noGrp="1"/>
          </p:cNvSpPr>
          <p:nvPr>
            <p:ph type="title"/>
          </p:nvPr>
        </p:nvSpPr>
        <p:spPr>
          <a:xfrm>
            <a:off x="581192" y="702156"/>
            <a:ext cx="11029616" cy="1013800"/>
          </a:xfrm>
        </p:spPr>
        <p:txBody>
          <a:bodyPr anchor="b">
            <a:normAutofit/>
          </a:bodyPr>
          <a:lstStyle/>
          <a:p>
            <a:r>
              <a:rPr lang="es-ES_tradnl" sz="3200"/>
              <a:t>VALOR PRESENTE Y VALOR FUTURO</a:t>
            </a:r>
          </a:p>
        </p:txBody>
      </p:sp>
      <p:sp>
        <p:nvSpPr>
          <p:cNvPr id="10" name="Rectángulo 9">
            <a:extLst>
              <a:ext uri="{FF2B5EF4-FFF2-40B4-BE49-F238E27FC236}">
                <a16:creationId xmlns:a16="http://schemas.microsoft.com/office/drawing/2014/main" id="{8375C73F-E7DC-B492-5CF9-6BA61953ED9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DD45E1DD-BDE0-3161-5955-69C621D3EA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87925034-DD50-BBCB-88B4-B665AEC88E5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47" name="Straight Connector 12">
            <a:extLst>
              <a:ext uri="{FF2B5EF4-FFF2-40B4-BE49-F238E27FC236}">
                <a16:creationId xmlns:a16="http://schemas.microsoft.com/office/drawing/2014/main" id="{9273D042-AB74-E473-C087-16C37DED97E4}"/>
              </a:ext>
            </a:extLst>
          </p:cNvPr>
          <p:cNvCxnSpPr/>
          <p:nvPr/>
        </p:nvCxnSpPr>
        <p:spPr>
          <a:xfrm>
            <a:off x="2961108" y="5018934"/>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 name="Straight Arrow Connector 13">
            <a:extLst>
              <a:ext uri="{FF2B5EF4-FFF2-40B4-BE49-F238E27FC236}">
                <a16:creationId xmlns:a16="http://schemas.microsoft.com/office/drawing/2014/main" id="{CD2D54B9-30CD-DE69-7D46-18EBD9443218}"/>
              </a:ext>
            </a:extLst>
          </p:cNvPr>
          <p:cNvCxnSpPr/>
          <p:nvPr/>
        </p:nvCxnSpPr>
        <p:spPr>
          <a:xfrm>
            <a:off x="2961108" y="5018935"/>
            <a:ext cx="0" cy="843530"/>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49" name="Straight Arrow Connector 17">
            <a:extLst>
              <a:ext uri="{FF2B5EF4-FFF2-40B4-BE49-F238E27FC236}">
                <a16:creationId xmlns:a16="http://schemas.microsoft.com/office/drawing/2014/main" id="{F10FB638-7395-1786-A0AF-A5260EB4EB86}"/>
              </a:ext>
            </a:extLst>
          </p:cNvPr>
          <p:cNvCxnSpPr/>
          <p:nvPr/>
        </p:nvCxnSpPr>
        <p:spPr>
          <a:xfrm flipV="1">
            <a:off x="4954461" y="4560209"/>
            <a:ext cx="0" cy="45872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0" name="Straight Arrow Connector 19">
            <a:extLst>
              <a:ext uri="{FF2B5EF4-FFF2-40B4-BE49-F238E27FC236}">
                <a16:creationId xmlns:a16="http://schemas.microsoft.com/office/drawing/2014/main" id="{5DABD416-275A-3DFB-5E4D-383B07F3CFD5}"/>
              </a:ext>
            </a:extLst>
          </p:cNvPr>
          <p:cNvCxnSpPr/>
          <p:nvPr/>
        </p:nvCxnSpPr>
        <p:spPr>
          <a:xfrm flipV="1">
            <a:off x="7019797" y="4327223"/>
            <a:ext cx="0" cy="69171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21">
            <a:extLst>
              <a:ext uri="{FF2B5EF4-FFF2-40B4-BE49-F238E27FC236}">
                <a16:creationId xmlns:a16="http://schemas.microsoft.com/office/drawing/2014/main" id="{589E82F7-8006-DC65-F091-A91AAF093DDE}"/>
              </a:ext>
            </a:extLst>
          </p:cNvPr>
          <p:cNvCxnSpPr/>
          <p:nvPr/>
        </p:nvCxnSpPr>
        <p:spPr>
          <a:xfrm flipH="1" flipV="1">
            <a:off x="9152700" y="4076002"/>
            <a:ext cx="2" cy="942935"/>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2" name="Rectangle 23">
            <a:extLst>
              <a:ext uri="{FF2B5EF4-FFF2-40B4-BE49-F238E27FC236}">
                <a16:creationId xmlns:a16="http://schemas.microsoft.com/office/drawing/2014/main" id="{C2677DE7-E3E8-3D3B-9629-0FFE741D1CD1}"/>
              </a:ext>
            </a:extLst>
          </p:cNvPr>
          <p:cNvSpPr>
            <a:spLocks/>
          </p:cNvSpPr>
          <p:nvPr/>
        </p:nvSpPr>
        <p:spPr bwMode="auto">
          <a:xfrm flipH="1">
            <a:off x="2875507" y="4644937"/>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53" name="Rectangle 24">
            <a:extLst>
              <a:ext uri="{FF2B5EF4-FFF2-40B4-BE49-F238E27FC236}">
                <a16:creationId xmlns:a16="http://schemas.microsoft.com/office/drawing/2014/main" id="{2CA701AB-F4BA-5C4F-2089-94878CBDFCE0}"/>
              </a:ext>
            </a:extLst>
          </p:cNvPr>
          <p:cNvSpPr>
            <a:spLocks/>
          </p:cNvSpPr>
          <p:nvPr/>
        </p:nvSpPr>
        <p:spPr bwMode="auto">
          <a:xfrm>
            <a:off x="3697443"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54" name="Rectangle 25">
            <a:extLst>
              <a:ext uri="{FF2B5EF4-FFF2-40B4-BE49-F238E27FC236}">
                <a16:creationId xmlns:a16="http://schemas.microsoft.com/office/drawing/2014/main" id="{5760411C-A536-590D-6B47-409A27C84A58}"/>
              </a:ext>
            </a:extLst>
          </p:cNvPr>
          <p:cNvSpPr>
            <a:spLocks/>
          </p:cNvSpPr>
          <p:nvPr/>
        </p:nvSpPr>
        <p:spPr bwMode="auto">
          <a:xfrm>
            <a:off x="4785931"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55" name="Rectangle 26">
            <a:extLst>
              <a:ext uri="{FF2B5EF4-FFF2-40B4-BE49-F238E27FC236}">
                <a16:creationId xmlns:a16="http://schemas.microsoft.com/office/drawing/2014/main" id="{DBE242FB-EDF4-EE1D-030A-1E09AFC580D4}"/>
              </a:ext>
            </a:extLst>
          </p:cNvPr>
          <p:cNvSpPr>
            <a:spLocks/>
          </p:cNvSpPr>
          <p:nvPr/>
        </p:nvSpPr>
        <p:spPr bwMode="auto">
          <a:xfrm>
            <a:off x="5845405" y="512522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56" name="Rectangle 27">
            <a:extLst>
              <a:ext uri="{FF2B5EF4-FFF2-40B4-BE49-F238E27FC236}">
                <a16:creationId xmlns:a16="http://schemas.microsoft.com/office/drawing/2014/main" id="{BDF2656A-2D85-4AFB-6FB9-039641C3F4C7}"/>
              </a:ext>
            </a:extLst>
          </p:cNvPr>
          <p:cNvSpPr>
            <a:spLocks/>
          </p:cNvSpPr>
          <p:nvPr/>
        </p:nvSpPr>
        <p:spPr bwMode="auto">
          <a:xfrm>
            <a:off x="6851267" y="51416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57" name="Rectangle 30">
            <a:extLst>
              <a:ext uri="{FF2B5EF4-FFF2-40B4-BE49-F238E27FC236}">
                <a16:creationId xmlns:a16="http://schemas.microsoft.com/office/drawing/2014/main" id="{1B64835B-2E63-8DC7-165E-AD7FA45E7BDB}"/>
              </a:ext>
            </a:extLst>
          </p:cNvPr>
          <p:cNvSpPr>
            <a:spLocks/>
          </p:cNvSpPr>
          <p:nvPr/>
        </p:nvSpPr>
        <p:spPr bwMode="auto">
          <a:xfrm>
            <a:off x="7924696"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58" name="Rectangle 31">
            <a:extLst>
              <a:ext uri="{FF2B5EF4-FFF2-40B4-BE49-F238E27FC236}">
                <a16:creationId xmlns:a16="http://schemas.microsoft.com/office/drawing/2014/main" id="{D7AC9950-BB69-1458-E739-FC3851F59B6D}"/>
              </a:ext>
            </a:extLst>
          </p:cNvPr>
          <p:cNvSpPr>
            <a:spLocks/>
          </p:cNvSpPr>
          <p:nvPr/>
        </p:nvSpPr>
        <p:spPr bwMode="auto">
          <a:xfrm>
            <a:off x="8984170"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59" name="Rectangle 32">
            <a:extLst>
              <a:ext uri="{FF2B5EF4-FFF2-40B4-BE49-F238E27FC236}">
                <a16:creationId xmlns:a16="http://schemas.microsoft.com/office/drawing/2014/main" id="{DC7B4A45-CB71-4299-2433-32374E67D2F2}"/>
              </a:ext>
            </a:extLst>
          </p:cNvPr>
          <p:cNvSpPr>
            <a:spLocks/>
          </p:cNvSpPr>
          <p:nvPr/>
        </p:nvSpPr>
        <p:spPr bwMode="auto">
          <a:xfrm>
            <a:off x="2017525" y="602733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a:t>
            </a:r>
          </a:p>
        </p:txBody>
      </p:sp>
      <p:sp>
        <p:nvSpPr>
          <p:cNvPr id="60" name="Rectangle 36">
            <a:extLst>
              <a:ext uri="{FF2B5EF4-FFF2-40B4-BE49-F238E27FC236}">
                <a16:creationId xmlns:a16="http://schemas.microsoft.com/office/drawing/2014/main" id="{45EF1643-4FC7-4A7A-B09F-4269890F87BA}"/>
              </a:ext>
            </a:extLst>
          </p:cNvPr>
          <p:cNvSpPr>
            <a:spLocks/>
          </p:cNvSpPr>
          <p:nvPr/>
        </p:nvSpPr>
        <p:spPr bwMode="auto">
          <a:xfrm>
            <a:off x="6568128" y="3938818"/>
            <a:ext cx="85955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
        <p:nvSpPr>
          <p:cNvPr id="61" name="Rectangle 38">
            <a:extLst>
              <a:ext uri="{FF2B5EF4-FFF2-40B4-BE49-F238E27FC236}">
                <a16:creationId xmlns:a16="http://schemas.microsoft.com/office/drawing/2014/main" id="{CD4960D1-4DC7-2840-B66F-874C2849D9CC}"/>
              </a:ext>
            </a:extLst>
          </p:cNvPr>
          <p:cNvSpPr>
            <a:spLocks/>
          </p:cNvSpPr>
          <p:nvPr/>
        </p:nvSpPr>
        <p:spPr bwMode="auto">
          <a:xfrm>
            <a:off x="8352613" y="3718253"/>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120</a:t>
            </a:r>
          </a:p>
        </p:txBody>
      </p:sp>
      <p:sp>
        <p:nvSpPr>
          <p:cNvPr id="62" name="Rectangle 39">
            <a:extLst>
              <a:ext uri="{FF2B5EF4-FFF2-40B4-BE49-F238E27FC236}">
                <a16:creationId xmlns:a16="http://schemas.microsoft.com/office/drawing/2014/main" id="{47C70F6E-F5CC-7709-7FC4-1BAE70C532BB}"/>
              </a:ext>
            </a:extLst>
          </p:cNvPr>
          <p:cNvSpPr>
            <a:spLocks/>
          </p:cNvSpPr>
          <p:nvPr/>
        </p:nvSpPr>
        <p:spPr bwMode="auto">
          <a:xfrm>
            <a:off x="4315735" y="4170186"/>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Tree>
    <p:extLst>
      <p:ext uri="{BB962C8B-B14F-4D97-AF65-F5344CB8AC3E}">
        <p14:creationId xmlns:p14="http://schemas.microsoft.com/office/powerpoint/2010/main" val="3898919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17</a:t>
            </a:fld>
            <a:endParaRPr lang="en-US" sz="2000"/>
          </a:p>
        </p:txBody>
      </p:sp>
      <p:cxnSp>
        <p:nvCxnSpPr>
          <p:cNvPr id="13" name="Straight Connector 12"/>
          <p:cNvCxnSpPr/>
          <p:nvPr/>
        </p:nvCxnSpPr>
        <p:spPr>
          <a:xfrm>
            <a:off x="2961108" y="5018934"/>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2961108" y="5018935"/>
            <a:ext cx="0" cy="843530"/>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flipV="1">
            <a:off x="4954461" y="4560209"/>
            <a:ext cx="0" cy="458727"/>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7019797" y="4327223"/>
            <a:ext cx="0" cy="691713"/>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H="1" flipV="1">
            <a:off x="9152700" y="4076002"/>
            <a:ext cx="2" cy="942935"/>
          </a:xfrm>
          <a:prstGeom prst="straightConnector1">
            <a:avLst/>
          </a:prstGeom>
          <a:ln>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23"/>
          <p:cNvSpPr>
            <a:spLocks/>
          </p:cNvSpPr>
          <p:nvPr/>
        </p:nvSpPr>
        <p:spPr bwMode="auto">
          <a:xfrm flipH="1">
            <a:off x="2875507" y="4644937"/>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5" name="Rectangle 24"/>
          <p:cNvSpPr>
            <a:spLocks/>
          </p:cNvSpPr>
          <p:nvPr/>
        </p:nvSpPr>
        <p:spPr bwMode="auto">
          <a:xfrm>
            <a:off x="3697443"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6" name="Rectangle 25"/>
          <p:cNvSpPr>
            <a:spLocks/>
          </p:cNvSpPr>
          <p:nvPr/>
        </p:nvSpPr>
        <p:spPr bwMode="auto">
          <a:xfrm>
            <a:off x="4785931"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7" name="Rectangle 26"/>
          <p:cNvSpPr>
            <a:spLocks/>
          </p:cNvSpPr>
          <p:nvPr/>
        </p:nvSpPr>
        <p:spPr bwMode="auto">
          <a:xfrm>
            <a:off x="5845405" y="512522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8" name="Rectangle 27"/>
          <p:cNvSpPr>
            <a:spLocks/>
          </p:cNvSpPr>
          <p:nvPr/>
        </p:nvSpPr>
        <p:spPr bwMode="auto">
          <a:xfrm>
            <a:off x="6851267" y="514168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31" name="Rectangle 30"/>
          <p:cNvSpPr>
            <a:spLocks/>
          </p:cNvSpPr>
          <p:nvPr/>
        </p:nvSpPr>
        <p:spPr bwMode="auto">
          <a:xfrm>
            <a:off x="7924696"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32" name="Rectangle 31"/>
          <p:cNvSpPr>
            <a:spLocks/>
          </p:cNvSpPr>
          <p:nvPr/>
        </p:nvSpPr>
        <p:spPr bwMode="auto">
          <a:xfrm>
            <a:off x="8984170" y="5111267"/>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33" name="Rectangle 32"/>
          <p:cNvSpPr>
            <a:spLocks/>
          </p:cNvSpPr>
          <p:nvPr/>
        </p:nvSpPr>
        <p:spPr bwMode="auto">
          <a:xfrm>
            <a:off x="2017525" y="602733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a:t>
            </a:r>
          </a:p>
        </p:txBody>
      </p:sp>
      <p:sp>
        <p:nvSpPr>
          <p:cNvPr id="37" name="Rectangle 36"/>
          <p:cNvSpPr>
            <a:spLocks/>
          </p:cNvSpPr>
          <p:nvPr/>
        </p:nvSpPr>
        <p:spPr bwMode="auto">
          <a:xfrm>
            <a:off x="6568128" y="3938818"/>
            <a:ext cx="859555"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
        <p:nvSpPr>
          <p:cNvPr id="39" name="Rectangle 38"/>
          <p:cNvSpPr>
            <a:spLocks/>
          </p:cNvSpPr>
          <p:nvPr/>
        </p:nvSpPr>
        <p:spPr bwMode="auto">
          <a:xfrm>
            <a:off x="8352613" y="3718253"/>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120</a:t>
            </a:r>
          </a:p>
        </p:txBody>
      </p:sp>
      <p:sp>
        <p:nvSpPr>
          <p:cNvPr id="40" name="Rectangle 39"/>
          <p:cNvSpPr>
            <a:spLocks/>
          </p:cNvSpPr>
          <p:nvPr/>
        </p:nvSpPr>
        <p:spPr bwMode="auto">
          <a:xfrm>
            <a:off x="4315735" y="4170186"/>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sp>
        <p:nvSpPr>
          <p:cNvPr id="21" name="Content Placeholder 2"/>
          <p:cNvSpPr txBox="1">
            <a:spLocks/>
          </p:cNvSpPr>
          <p:nvPr/>
        </p:nvSpPr>
        <p:spPr>
          <a:xfrm>
            <a:off x="2512392" y="2136934"/>
            <a:ext cx="7610476" cy="2538780"/>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a:solidFill>
                  <a:srgbClr val="800000"/>
                </a:solidFill>
              </a:rPr>
              <a:t>i= 12% NA/TV		i=3% TV		i=0,99% MV</a:t>
            </a:r>
          </a:p>
          <a:p>
            <a:pPr marL="0" indent="0" algn="ctr">
              <a:buNone/>
            </a:pPr>
            <a:endParaRPr lang="es-ES_tradnl">
              <a:solidFill>
                <a:srgbClr val="800000"/>
              </a:solidFill>
            </a:endParaRPr>
          </a:p>
        </p:txBody>
      </p:sp>
      <p:pic>
        <p:nvPicPr>
          <p:cNvPr id="8" name="Picture 7"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7339" y="2781876"/>
            <a:ext cx="8524443" cy="356475"/>
          </a:xfrm>
          <a:prstGeom prst="rect">
            <a:avLst/>
          </a:prstGeom>
        </p:spPr>
      </p:pic>
      <p:sp>
        <p:nvSpPr>
          <p:cNvPr id="3" name="Elipse 2"/>
          <p:cNvSpPr/>
          <p:nvPr/>
        </p:nvSpPr>
        <p:spPr>
          <a:xfrm>
            <a:off x="2372987" y="2571384"/>
            <a:ext cx="2581475" cy="76461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sp>
        <p:nvSpPr>
          <p:cNvPr id="29" name="Elipse 28"/>
          <p:cNvSpPr/>
          <p:nvPr/>
        </p:nvSpPr>
        <p:spPr>
          <a:xfrm>
            <a:off x="2598581" y="5913777"/>
            <a:ext cx="725054" cy="53287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cxnSp>
        <p:nvCxnSpPr>
          <p:cNvPr id="6" name="Conector curvado 5"/>
          <p:cNvCxnSpPr>
            <a:stCxn id="29" idx="6"/>
            <a:endCxn id="32" idx="2"/>
          </p:cNvCxnSpPr>
          <p:nvPr/>
        </p:nvCxnSpPr>
        <p:spPr>
          <a:xfrm flipV="1">
            <a:off x="3323635" y="5419044"/>
            <a:ext cx="5829065" cy="761168"/>
          </a:xfrm>
          <a:prstGeom prst="curved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Elipse 10"/>
          <p:cNvSpPr/>
          <p:nvPr/>
        </p:nvSpPr>
        <p:spPr>
          <a:xfrm>
            <a:off x="4605264" y="4114486"/>
            <a:ext cx="718434" cy="422495"/>
          </a:xfrm>
          <a:prstGeom prst="ellipse">
            <a:avLst/>
          </a:prstGeom>
          <a:no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cxnSp>
        <p:nvCxnSpPr>
          <p:cNvPr id="15" name="Conector curvado 14"/>
          <p:cNvCxnSpPr>
            <a:endCxn id="32" idx="0"/>
          </p:cNvCxnSpPr>
          <p:nvPr/>
        </p:nvCxnSpPr>
        <p:spPr>
          <a:xfrm>
            <a:off x="5323698" y="4327222"/>
            <a:ext cx="3829002" cy="784045"/>
          </a:xfrm>
          <a:prstGeom prst="curvedConnector2">
            <a:avLst/>
          </a:prstGeom>
          <a:ln>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17" name="Elipse 16"/>
          <p:cNvSpPr/>
          <p:nvPr/>
        </p:nvSpPr>
        <p:spPr>
          <a:xfrm>
            <a:off x="5122991" y="2571384"/>
            <a:ext cx="2163572" cy="764614"/>
          </a:xfrm>
          <a:prstGeom prst="ellipse">
            <a:avLst/>
          </a:pr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sp>
        <p:nvSpPr>
          <p:cNvPr id="19" name="Elipse 18"/>
          <p:cNvSpPr/>
          <p:nvPr/>
        </p:nvSpPr>
        <p:spPr>
          <a:xfrm>
            <a:off x="6657935" y="3956768"/>
            <a:ext cx="679947" cy="331971"/>
          </a:xfrm>
          <a:prstGeom prst="ellipse">
            <a:avLst/>
          </a:prstGeom>
          <a:noFill/>
          <a:ln>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cxnSp>
        <p:nvCxnSpPr>
          <p:cNvPr id="30" name="Conector curvado 29"/>
          <p:cNvCxnSpPr>
            <a:endCxn id="32" idx="0"/>
          </p:cNvCxnSpPr>
          <p:nvPr/>
        </p:nvCxnSpPr>
        <p:spPr>
          <a:xfrm>
            <a:off x="7337882" y="4114486"/>
            <a:ext cx="1814818" cy="996781"/>
          </a:xfrm>
          <a:prstGeom prst="curvedConnector2">
            <a:avLst/>
          </a:prstGeom>
          <a:ln>
            <a:solidFill>
              <a:srgbClr val="008000"/>
            </a:solidFill>
            <a:tailEnd type="arrow"/>
          </a:ln>
        </p:spPr>
        <p:style>
          <a:lnRef idx="2">
            <a:schemeClr val="accent1"/>
          </a:lnRef>
          <a:fillRef idx="0">
            <a:schemeClr val="accent1"/>
          </a:fillRef>
          <a:effectRef idx="1">
            <a:schemeClr val="accent1"/>
          </a:effectRef>
          <a:fontRef idx="minor">
            <a:schemeClr val="tx1"/>
          </a:fontRef>
        </p:style>
      </p:cxnSp>
      <p:sp>
        <p:nvSpPr>
          <p:cNvPr id="34" name="Elipse 33"/>
          <p:cNvSpPr/>
          <p:nvPr/>
        </p:nvSpPr>
        <p:spPr>
          <a:xfrm>
            <a:off x="7427682" y="2635522"/>
            <a:ext cx="2232280" cy="700476"/>
          </a:xfrm>
          <a:prstGeom prst="ellipse">
            <a:avLst/>
          </a:prstGeom>
          <a:noFill/>
          <a:ln>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sp>
        <p:nvSpPr>
          <p:cNvPr id="5" name="CuadroTexto 4"/>
          <p:cNvSpPr txBox="1"/>
          <p:nvPr/>
        </p:nvSpPr>
        <p:spPr>
          <a:xfrm>
            <a:off x="1787339" y="3615184"/>
            <a:ext cx="1721541" cy="400110"/>
          </a:xfrm>
          <a:prstGeom prst="rect">
            <a:avLst/>
          </a:prstGeom>
          <a:noFill/>
        </p:spPr>
        <p:txBody>
          <a:bodyPr wrap="square" rtlCol="0">
            <a:spAutoFit/>
          </a:bodyPr>
          <a:lstStyle/>
          <a:p>
            <a:r>
              <a:rPr lang="es-CO" sz="2000" err="1">
                <a:solidFill>
                  <a:schemeClr val="accent6"/>
                </a:solidFill>
              </a:rPr>
              <a:t>Vf</a:t>
            </a:r>
            <a:r>
              <a:rPr lang="es-CO" sz="2000">
                <a:solidFill>
                  <a:schemeClr val="accent6"/>
                </a:solidFill>
              </a:rPr>
              <a:t> = 89,15</a:t>
            </a:r>
          </a:p>
        </p:txBody>
      </p:sp>
      <p:sp>
        <p:nvSpPr>
          <p:cNvPr id="12" name="Title 1">
            <a:extLst>
              <a:ext uri="{FF2B5EF4-FFF2-40B4-BE49-F238E27FC236}">
                <a16:creationId xmlns:a16="http://schemas.microsoft.com/office/drawing/2014/main" id="{6E86578A-690E-93D3-C145-5DD867335620}"/>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6" name="Rectángulo 15">
            <a:extLst>
              <a:ext uri="{FF2B5EF4-FFF2-40B4-BE49-F238E27FC236}">
                <a16:creationId xmlns:a16="http://schemas.microsoft.com/office/drawing/2014/main" id="{EDDAEB5C-8C8D-0273-146D-18008824315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3" name="Picture 2" descr="Clientes y aliados | Centro de Evaluación | Uniandes">
            <a:extLst>
              <a:ext uri="{FF2B5EF4-FFF2-40B4-BE49-F238E27FC236}">
                <a16:creationId xmlns:a16="http://schemas.microsoft.com/office/drawing/2014/main" id="{7A29ADFF-EF7F-E32A-1BF3-EE879D4008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6" name="Rectángulo 35">
            <a:extLst>
              <a:ext uri="{FF2B5EF4-FFF2-40B4-BE49-F238E27FC236}">
                <a16:creationId xmlns:a16="http://schemas.microsoft.com/office/drawing/2014/main" id="{421A85BB-A3E5-89F8-3F11-DF8FF2D31FF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44626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 grpId="0" animBg="1"/>
      <p:bldP spid="29" grpId="0" animBg="1"/>
      <p:bldP spid="11" grpId="0" animBg="1"/>
      <p:bldP spid="17" grpId="0" animBg="1"/>
      <p:bldP spid="19" grpId="0" animBg="1"/>
      <p:bldP spid="34" grpId="0" animBg="1"/>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581192" y="1989939"/>
            <a:ext cx="11029615" cy="1248504"/>
          </a:xfrm>
        </p:spPr>
        <p:txBody>
          <a:bodyPr>
            <a:normAutofit lnSpcReduction="10000"/>
          </a:bodyPr>
          <a:lstStyle/>
          <a:p>
            <a:pPr marL="0" indent="0" algn="ctr">
              <a:buNone/>
            </a:pPr>
            <a:r>
              <a:rPr lang="es-ES_tradnl" sz="2400">
                <a:solidFill>
                  <a:srgbClr val="800000"/>
                </a:solidFill>
              </a:rPr>
              <a:t>¿Cuál es el valor presente equivalente a un valor futuro?</a:t>
            </a:r>
          </a:p>
          <a:p>
            <a:pPr marL="0" indent="0" algn="just">
              <a:buNone/>
            </a:pPr>
            <a:r>
              <a:rPr lang="es-ES_tradnl" sz="2400"/>
              <a:t>De igual manera, si se tiene un valor futuro, es de interés encontrar su valor equivalente en valor presente. Esto no es más que la relación inversa de la anterior fórmula.</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18</a:t>
            </a:fld>
            <a:endParaRPr lang="en-US" sz="2000"/>
          </a:p>
        </p:txBody>
      </p:sp>
      <p:cxnSp>
        <p:nvCxnSpPr>
          <p:cNvPr id="6" name="Straight Connector 5"/>
          <p:cNvCxnSpPr/>
          <p:nvPr/>
        </p:nvCxnSpPr>
        <p:spPr>
          <a:xfrm>
            <a:off x="2500083" y="4748103"/>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a:cxnSpLocks/>
          </p:cNvCxnSpPr>
          <p:nvPr/>
        </p:nvCxnSpPr>
        <p:spPr>
          <a:xfrm>
            <a:off x="2500082" y="4764711"/>
            <a:ext cx="0" cy="979200"/>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8" name="Rectangle 7"/>
          <p:cNvSpPr>
            <a:spLocks/>
          </p:cNvSpPr>
          <p:nvPr/>
        </p:nvSpPr>
        <p:spPr bwMode="auto">
          <a:xfrm>
            <a:off x="2824481" y="484043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9" name="Rectangle 8"/>
          <p:cNvSpPr>
            <a:spLocks/>
          </p:cNvSpPr>
          <p:nvPr/>
        </p:nvSpPr>
        <p:spPr bwMode="auto">
          <a:xfrm>
            <a:off x="3415220" y="4840435"/>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0" name="Rectangle 9"/>
          <p:cNvSpPr>
            <a:spLocks/>
          </p:cNvSpPr>
          <p:nvPr/>
        </p:nvSpPr>
        <p:spPr bwMode="auto">
          <a:xfrm>
            <a:off x="4028436" y="485439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12" name="Rectangle 11"/>
          <p:cNvSpPr>
            <a:spLocks/>
          </p:cNvSpPr>
          <p:nvPr/>
        </p:nvSpPr>
        <p:spPr bwMode="auto">
          <a:xfrm>
            <a:off x="2331552" y="434046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5" name="Rectangle 14"/>
          <p:cNvSpPr>
            <a:spLocks/>
          </p:cNvSpPr>
          <p:nvPr/>
        </p:nvSpPr>
        <p:spPr bwMode="auto">
          <a:xfrm>
            <a:off x="4647425" y="485439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cxnSp>
        <p:nvCxnSpPr>
          <p:cNvPr id="16" name="Straight Connector 15"/>
          <p:cNvCxnSpPr/>
          <p:nvPr/>
        </p:nvCxnSpPr>
        <p:spPr>
          <a:xfrm>
            <a:off x="7029245" y="4657219"/>
            <a:ext cx="2315873" cy="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9345117" y="3679129"/>
            <a:ext cx="0" cy="978091"/>
          </a:xfrm>
          <a:prstGeom prst="straightConnector1">
            <a:avLst/>
          </a:prstGeom>
          <a:ln>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a:spLocks/>
          </p:cNvSpPr>
          <p:nvPr/>
        </p:nvSpPr>
        <p:spPr bwMode="auto">
          <a:xfrm>
            <a:off x="7353643" y="474955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9" name="Rectangle 18"/>
          <p:cNvSpPr>
            <a:spLocks/>
          </p:cNvSpPr>
          <p:nvPr/>
        </p:nvSpPr>
        <p:spPr bwMode="auto">
          <a:xfrm>
            <a:off x="7944382" y="474955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0" name="Rectangle 19"/>
          <p:cNvSpPr>
            <a:spLocks/>
          </p:cNvSpPr>
          <p:nvPr/>
        </p:nvSpPr>
        <p:spPr bwMode="auto">
          <a:xfrm>
            <a:off x="8557598" y="47635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a:t>
            </a:r>
          </a:p>
        </p:txBody>
      </p:sp>
      <p:sp>
        <p:nvSpPr>
          <p:cNvPr id="21" name="Rectangle 20"/>
          <p:cNvSpPr>
            <a:spLocks/>
          </p:cNvSpPr>
          <p:nvPr/>
        </p:nvSpPr>
        <p:spPr bwMode="auto">
          <a:xfrm>
            <a:off x="6860714" y="47635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2" name="Rectangle 21"/>
          <p:cNvSpPr>
            <a:spLocks/>
          </p:cNvSpPr>
          <p:nvPr/>
        </p:nvSpPr>
        <p:spPr bwMode="auto">
          <a:xfrm>
            <a:off x="9176587" y="47635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N</a:t>
            </a:r>
          </a:p>
        </p:txBody>
      </p:sp>
      <p:sp>
        <p:nvSpPr>
          <p:cNvPr id="24" name="Right Arrow 23"/>
          <p:cNvSpPr/>
          <p:nvPr/>
        </p:nvSpPr>
        <p:spPr>
          <a:xfrm rot="10800000">
            <a:off x="5304850" y="4366749"/>
            <a:ext cx="1046624" cy="518421"/>
          </a:xfrm>
          <a:prstGeom prst="rightArrow">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5" name="Rectangle 24"/>
          <p:cNvSpPr>
            <a:spLocks/>
          </p:cNvSpPr>
          <p:nvPr/>
        </p:nvSpPr>
        <p:spPr bwMode="auto">
          <a:xfrm>
            <a:off x="2322114" y="574391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VP</a:t>
            </a:r>
          </a:p>
        </p:txBody>
      </p:sp>
      <p:sp>
        <p:nvSpPr>
          <p:cNvPr id="27" name="Rectangle 26"/>
          <p:cNvSpPr>
            <a:spLocks/>
          </p:cNvSpPr>
          <p:nvPr/>
        </p:nvSpPr>
        <p:spPr bwMode="auto">
          <a:xfrm>
            <a:off x="9176587" y="338817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VF</a:t>
            </a:r>
          </a:p>
        </p:txBody>
      </p:sp>
      <p:sp>
        <p:nvSpPr>
          <p:cNvPr id="14" name="Title 1">
            <a:extLst>
              <a:ext uri="{FF2B5EF4-FFF2-40B4-BE49-F238E27FC236}">
                <a16:creationId xmlns:a16="http://schemas.microsoft.com/office/drawing/2014/main" id="{8E77C616-F369-8E67-28B9-4B6B9F82F49A}"/>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23" name="Rectángulo 22">
            <a:extLst>
              <a:ext uri="{FF2B5EF4-FFF2-40B4-BE49-F238E27FC236}">
                <a16:creationId xmlns:a16="http://schemas.microsoft.com/office/drawing/2014/main" id="{1E927601-3F6A-FC1D-970C-0D899BD9830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8" name="Picture 2" descr="Clientes y aliados | Centro de Evaluación | Uniandes">
            <a:extLst>
              <a:ext uri="{FF2B5EF4-FFF2-40B4-BE49-F238E27FC236}">
                <a16:creationId xmlns:a16="http://schemas.microsoft.com/office/drawing/2014/main" id="{595F80D3-893B-B8A7-7267-FC709FE4DA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9" name="Rectángulo 28">
            <a:extLst>
              <a:ext uri="{FF2B5EF4-FFF2-40B4-BE49-F238E27FC236}">
                <a16:creationId xmlns:a16="http://schemas.microsoft.com/office/drawing/2014/main" id="{D18AA611-D0D8-08E8-B4A1-F244C659DCA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788989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P spid="15" grpId="0"/>
      <p:bldP spid="18" grpId="0"/>
      <p:bldP spid="19" grpId="0"/>
      <p:bldP spid="20" grpId="0"/>
      <p:bldP spid="21" grpId="0"/>
      <p:bldP spid="22" grpId="0"/>
      <p:bldP spid="24" grpId="0" animBg="1"/>
      <p:bldP spid="25" grpId="0"/>
      <p:bldP spid="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2180496"/>
            <a:ext cx="11029615" cy="769533"/>
          </a:xfrm>
        </p:spPr>
        <p:txBody>
          <a:bodyPr>
            <a:normAutofit/>
          </a:bodyPr>
          <a:lstStyle/>
          <a:p>
            <a:pPr marL="0" indent="0" algn="just">
              <a:buNone/>
            </a:pPr>
            <a:r>
              <a:rPr lang="es-ES_tradnl" sz="2400"/>
              <a:t>Matemáticamente, se tiene que:</a:t>
            </a:r>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19</a:t>
            </a:fld>
            <a:endParaRPr lang="en-US" sz="2000"/>
          </a:p>
        </p:txBody>
      </p:sp>
      <p:pic>
        <p:nvPicPr>
          <p:cNvPr id="7" name="Picture 6"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5969" y="3431173"/>
            <a:ext cx="2984500" cy="482600"/>
          </a:xfrm>
          <a:prstGeom prst="rect">
            <a:avLst/>
          </a:prstGeom>
        </p:spPr>
      </p:pic>
      <p:pic>
        <p:nvPicPr>
          <p:cNvPr id="9" name="Picture 8"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4595" y="4484433"/>
            <a:ext cx="2679700" cy="1054100"/>
          </a:xfrm>
          <a:prstGeom prst="rect">
            <a:avLst/>
          </a:prstGeom>
        </p:spPr>
      </p:pic>
      <p:sp>
        <p:nvSpPr>
          <p:cNvPr id="11" name="Title 1">
            <a:extLst>
              <a:ext uri="{FF2B5EF4-FFF2-40B4-BE49-F238E27FC236}">
                <a16:creationId xmlns:a16="http://schemas.microsoft.com/office/drawing/2014/main" id="{92AE2CAD-B060-5DC6-5E15-9181802A93C8}"/>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2" name="Rectángulo 11">
            <a:extLst>
              <a:ext uri="{FF2B5EF4-FFF2-40B4-BE49-F238E27FC236}">
                <a16:creationId xmlns:a16="http://schemas.microsoft.com/office/drawing/2014/main" id="{7F7FAC12-74B9-A196-EAA3-E7AB053B86F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8F550324-FC16-EFF6-391D-D83DF455A1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13">
            <a:extLst>
              <a:ext uri="{FF2B5EF4-FFF2-40B4-BE49-F238E27FC236}">
                <a16:creationId xmlns:a16="http://schemas.microsoft.com/office/drawing/2014/main" id="{E40BF862-D1D9-7368-765A-4D768C79CF3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069732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3" y="2125030"/>
            <a:ext cx="11029615" cy="1325742"/>
          </a:xfrm>
        </p:spPr>
        <p:txBody>
          <a:bodyPr>
            <a:normAutofit/>
          </a:bodyPr>
          <a:lstStyle/>
          <a:p>
            <a:pPr marL="0" indent="0" algn="just">
              <a:buNone/>
            </a:pPr>
            <a:r>
              <a:rPr lang="es-ES_tradnl" sz="2400"/>
              <a:t>Ejemplo: Usted sabe que el valor de su matrícula universitaria en 6 meses es 22 millones. Si usted sabe que su cuenta de ahorros tiene una tasa del 10% E.S. ¿cuánto debería ahorrar hoy?</a:t>
            </a:r>
          </a:p>
          <a:p>
            <a:pPr marL="0" indent="0" algn="just">
              <a:buNone/>
            </a:pPr>
            <a:endParaRPr lang="es-ES_tradnl" sz="2400"/>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20</a:t>
            </a:fld>
            <a:endParaRPr lang="en-US" sz="2000"/>
          </a:p>
        </p:txBody>
      </p:sp>
      <p:cxnSp>
        <p:nvCxnSpPr>
          <p:cNvPr id="13" name="Straight Connector 12"/>
          <p:cNvCxnSpPr/>
          <p:nvPr/>
        </p:nvCxnSpPr>
        <p:spPr>
          <a:xfrm>
            <a:off x="2826000" y="5101200"/>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a:cxnSpLocks/>
          </p:cNvCxnSpPr>
          <p:nvPr/>
        </p:nvCxnSpPr>
        <p:spPr>
          <a:xfrm flipH="1" flipV="1">
            <a:off x="9027364" y="4280750"/>
            <a:ext cx="2" cy="806400"/>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23"/>
          <p:cNvSpPr>
            <a:spLocks/>
          </p:cNvSpPr>
          <p:nvPr/>
        </p:nvSpPr>
        <p:spPr bwMode="auto">
          <a:xfrm flipH="1">
            <a:off x="2769956" y="4731708"/>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32" name="Rectangle 31"/>
          <p:cNvSpPr>
            <a:spLocks/>
          </p:cNvSpPr>
          <p:nvPr/>
        </p:nvSpPr>
        <p:spPr bwMode="auto">
          <a:xfrm>
            <a:off x="8858834" y="515900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3" name="Rectangle 32"/>
          <p:cNvSpPr>
            <a:spLocks/>
          </p:cNvSpPr>
          <p:nvPr/>
        </p:nvSpPr>
        <p:spPr bwMode="auto">
          <a:xfrm>
            <a:off x="8074009" y="396663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22’000.000</a:t>
            </a:r>
          </a:p>
        </p:txBody>
      </p:sp>
      <p:sp>
        <p:nvSpPr>
          <p:cNvPr id="23" name="Rectangle 22"/>
          <p:cNvSpPr>
            <a:spLocks/>
          </p:cNvSpPr>
          <p:nvPr/>
        </p:nvSpPr>
        <p:spPr bwMode="auto">
          <a:xfrm>
            <a:off x="2187273" y="5927991"/>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VP = ?</a:t>
            </a:r>
          </a:p>
        </p:txBody>
      </p:sp>
      <p:cxnSp>
        <p:nvCxnSpPr>
          <p:cNvPr id="29" name="Straight Arrow Connector 28"/>
          <p:cNvCxnSpPr/>
          <p:nvPr/>
        </p:nvCxnSpPr>
        <p:spPr>
          <a:xfrm>
            <a:off x="2826000" y="5087150"/>
            <a:ext cx="9821" cy="8072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5" name="CuadroTexto 4"/>
          <p:cNvSpPr txBox="1"/>
          <p:nvPr/>
        </p:nvSpPr>
        <p:spPr>
          <a:xfrm>
            <a:off x="9073491" y="4409098"/>
            <a:ext cx="1149354" cy="400110"/>
          </a:xfrm>
          <a:prstGeom prst="rect">
            <a:avLst/>
          </a:prstGeom>
          <a:noFill/>
        </p:spPr>
        <p:txBody>
          <a:bodyPr wrap="none" rtlCol="0">
            <a:spAutoFit/>
          </a:bodyPr>
          <a:lstStyle/>
          <a:p>
            <a:r>
              <a:rPr lang="es-CO" sz="2000"/>
              <a:t>Semestre</a:t>
            </a:r>
          </a:p>
        </p:txBody>
      </p:sp>
      <p:sp>
        <p:nvSpPr>
          <p:cNvPr id="9" name="Title 1">
            <a:extLst>
              <a:ext uri="{FF2B5EF4-FFF2-40B4-BE49-F238E27FC236}">
                <a16:creationId xmlns:a16="http://schemas.microsoft.com/office/drawing/2014/main" id="{9CD3EE01-210C-5A69-0D61-675E92839171}"/>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0" name="Rectángulo 9">
            <a:extLst>
              <a:ext uri="{FF2B5EF4-FFF2-40B4-BE49-F238E27FC236}">
                <a16:creationId xmlns:a16="http://schemas.microsoft.com/office/drawing/2014/main" id="{5E929437-D2DF-F8BA-1049-EF2D4608711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7BD0AD77-C92F-AC12-3B97-15F4139253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406852CD-1F47-E8EF-BEC9-3322596F64F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730606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2" grpId="0"/>
      <p:bldP spid="33" grpId="0"/>
      <p:bldP spid="23" grpId="0"/>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21</a:t>
            </a:fld>
            <a:endParaRPr lang="en-US" sz="2000"/>
          </a:p>
        </p:txBody>
      </p:sp>
      <p:sp>
        <p:nvSpPr>
          <p:cNvPr id="9" name="Title 1">
            <a:extLst>
              <a:ext uri="{FF2B5EF4-FFF2-40B4-BE49-F238E27FC236}">
                <a16:creationId xmlns:a16="http://schemas.microsoft.com/office/drawing/2014/main" id="{28FEEC7E-4D3A-F6B5-DBD9-FA7927961159}"/>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0" name="Rectángulo 9">
            <a:extLst>
              <a:ext uri="{FF2B5EF4-FFF2-40B4-BE49-F238E27FC236}">
                <a16:creationId xmlns:a16="http://schemas.microsoft.com/office/drawing/2014/main" id="{3896B485-BDF7-494D-A603-36203B97DEA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BDB60368-35DD-08AA-F4D8-085F6EF2BC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E762160B-D7F5-E668-35B7-198395D9E70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34" name="Rectángulo 33">
                <a:extLst>
                  <a:ext uri="{FF2B5EF4-FFF2-40B4-BE49-F238E27FC236}">
                    <a16:creationId xmlns:a16="http://schemas.microsoft.com/office/drawing/2014/main" id="{60092F3C-3528-0B02-D0D7-D7B62EEAA93D}"/>
                  </a:ext>
                </a:extLst>
              </p:cNvPr>
              <p:cNvSpPr/>
              <p:nvPr/>
            </p:nvSpPr>
            <p:spPr>
              <a:xfrm>
                <a:off x="4624244" y="2880000"/>
                <a:ext cx="2943513" cy="651973"/>
              </a:xfrm>
              <a:prstGeom prst="rect">
                <a:avLst/>
              </a:prstGeom>
            </p:spPr>
            <p:txBody>
              <a:bodyPr wrap="square">
                <a:spAutoFit/>
              </a:bodyPr>
              <a:lstStyle/>
              <a:p>
                <a:pPr/>
                <a14:m>
                  <m:oMathPara xmlns:m="http://schemas.openxmlformats.org/officeDocument/2006/math">
                    <m:oMath>
                      <m:r>
                        <a:rPr lang="es-CO" i="1" smtClean="0">
                          <a:latin typeface="Cambria Math" panose="02040503050406030204" pitchFamily="18" charset="0"/>
                        </a:rPr>
                        <m:t>𝑉𝑃</m:t>
                      </m:r>
                      <m:r>
                        <a:rPr lang="es-CO">
                          <a:latin typeface="Cambria Math" panose="02040503050406030204" pitchFamily="18" charset="0"/>
                        </a:rPr>
                        <m:t>=</m:t>
                      </m:r>
                      <m:f>
                        <m:fPr>
                          <m:ctrlPr>
                            <a:rPr lang="es-ES" b="0" i="0" smtClean="0">
                              <a:latin typeface="Cambria Math" panose="02040503050406030204" pitchFamily="18" charset="0"/>
                            </a:rPr>
                          </m:ctrlPr>
                        </m:fPr>
                        <m:num>
                          <m:r>
                            <a:rPr lang="es-ES" b="0" i="0" smtClean="0">
                              <a:latin typeface="Cambria Math" panose="02040503050406030204" pitchFamily="18" charset="0"/>
                            </a:rPr>
                            <m:t>22</m:t>
                          </m:r>
                          <m:r>
                            <a:rPr lang="es-CO">
                              <a:latin typeface="Cambria Math" panose="02040503050406030204" pitchFamily="18" charset="0"/>
                            </a:rPr>
                            <m:t>.000.000</m:t>
                          </m:r>
                        </m:num>
                        <m:den>
                          <m:sSup>
                            <m:sSupPr>
                              <m:ctrlPr>
                                <a:rPr lang="es-CO" i="1">
                                  <a:latin typeface="Cambria Math" panose="02040503050406030204" pitchFamily="18" charset="0"/>
                                </a:rPr>
                              </m:ctrlPr>
                            </m:sSupPr>
                            <m:e>
                              <m:d>
                                <m:dPr>
                                  <m:ctrlPr>
                                    <a:rPr lang="es-CO">
                                      <a:latin typeface="Cambria Math" panose="02040503050406030204" pitchFamily="18" charset="0"/>
                                    </a:rPr>
                                  </m:ctrlPr>
                                </m:dPr>
                                <m:e>
                                  <m:r>
                                    <a:rPr lang="es-CO">
                                      <a:latin typeface="Cambria Math" panose="02040503050406030204" pitchFamily="18" charset="0"/>
                                    </a:rPr>
                                    <m:t>1+</m:t>
                                  </m:r>
                                  <m:r>
                                    <a:rPr lang="es-ES" b="0" i="0" smtClean="0">
                                      <a:latin typeface="Cambria Math" panose="02040503050406030204" pitchFamily="18" charset="0"/>
                                    </a:rPr>
                                    <m:t>10</m:t>
                                  </m:r>
                                  <m:r>
                                    <a:rPr lang="es-CO">
                                      <a:latin typeface="Cambria Math" panose="02040503050406030204" pitchFamily="18" charset="0"/>
                                    </a:rPr>
                                    <m:t>%</m:t>
                                  </m:r>
                                </m:e>
                              </m:d>
                            </m:e>
                            <m:sup>
                              <m:r>
                                <a:rPr lang="es-ES" b="0" i="1" smtClean="0">
                                  <a:latin typeface="Cambria Math" panose="02040503050406030204" pitchFamily="18" charset="0"/>
                                </a:rPr>
                                <m:t>1</m:t>
                              </m:r>
                            </m:sup>
                          </m:sSup>
                        </m:den>
                      </m:f>
                    </m:oMath>
                  </m:oMathPara>
                </a14:m>
                <a:endParaRPr lang="es-CO"/>
              </a:p>
            </p:txBody>
          </p:sp>
        </mc:Choice>
        <mc:Fallback xmlns="">
          <p:sp>
            <p:nvSpPr>
              <p:cNvPr id="34" name="Rectángulo 33">
                <a:extLst>
                  <a:ext uri="{FF2B5EF4-FFF2-40B4-BE49-F238E27FC236}">
                    <a16:creationId xmlns:a16="http://schemas.microsoft.com/office/drawing/2014/main" id="{60092F3C-3528-0B02-D0D7-D7B62EEAA93D}"/>
                  </a:ext>
                </a:extLst>
              </p:cNvPr>
              <p:cNvSpPr>
                <a:spLocks noRot="1" noChangeAspect="1" noMove="1" noResize="1" noEditPoints="1" noAdjustHandles="1" noChangeArrowheads="1" noChangeShapeType="1" noTextEdit="1"/>
              </p:cNvSpPr>
              <p:nvPr/>
            </p:nvSpPr>
            <p:spPr>
              <a:xfrm>
                <a:off x="4624244" y="2880000"/>
                <a:ext cx="2943513" cy="65197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ángulo 34">
                <a:extLst>
                  <a:ext uri="{FF2B5EF4-FFF2-40B4-BE49-F238E27FC236}">
                    <a16:creationId xmlns:a16="http://schemas.microsoft.com/office/drawing/2014/main" id="{5C524E00-BBD7-2192-03BF-67C2171D39FD}"/>
                  </a:ext>
                </a:extLst>
              </p:cNvPr>
              <p:cNvSpPr/>
              <p:nvPr/>
            </p:nvSpPr>
            <p:spPr>
              <a:xfrm>
                <a:off x="4624244" y="3600000"/>
                <a:ext cx="2943513" cy="369332"/>
              </a:xfrm>
              <a:prstGeom prst="rect">
                <a:avLst/>
              </a:prstGeom>
            </p:spPr>
            <p:txBody>
              <a:bodyPr wrap="square">
                <a:spAutoFit/>
              </a:bodyPr>
              <a:lstStyle/>
              <a:p>
                <a:pPr/>
                <a14:m>
                  <m:oMathPara xmlns:m="http://schemas.openxmlformats.org/officeDocument/2006/math">
                    <m:oMath>
                      <m:r>
                        <a:rPr lang="es-CO" i="1" smtClean="0">
                          <a:latin typeface="Cambria Math" panose="02040503050406030204" pitchFamily="18" charset="0"/>
                        </a:rPr>
                        <m:t>𝑉𝑃</m:t>
                      </m:r>
                      <m:r>
                        <a:rPr lang="es-CO">
                          <a:latin typeface="Cambria Math" panose="02040503050406030204" pitchFamily="18" charset="0"/>
                        </a:rPr>
                        <m:t>=</m:t>
                      </m:r>
                      <m:r>
                        <a:rPr lang="es-ES" b="0" i="1" smtClean="0">
                          <a:latin typeface="Cambria Math" panose="02040503050406030204" pitchFamily="18" charset="0"/>
                        </a:rPr>
                        <m:t>20.000.000</m:t>
                      </m:r>
                    </m:oMath>
                  </m:oMathPara>
                </a14:m>
                <a:endParaRPr lang="es-CO"/>
              </a:p>
            </p:txBody>
          </p:sp>
        </mc:Choice>
        <mc:Fallback xmlns="">
          <p:sp>
            <p:nvSpPr>
              <p:cNvPr id="35" name="Rectángulo 34">
                <a:extLst>
                  <a:ext uri="{FF2B5EF4-FFF2-40B4-BE49-F238E27FC236}">
                    <a16:creationId xmlns:a16="http://schemas.microsoft.com/office/drawing/2014/main" id="{5C524E00-BBD7-2192-03BF-67C2171D39FD}"/>
                  </a:ext>
                </a:extLst>
              </p:cNvPr>
              <p:cNvSpPr>
                <a:spLocks noRot="1" noChangeAspect="1" noMove="1" noResize="1" noEditPoints="1" noAdjustHandles="1" noChangeArrowheads="1" noChangeShapeType="1" noTextEdit="1"/>
              </p:cNvSpPr>
              <p:nvPr/>
            </p:nvSpPr>
            <p:spPr>
              <a:xfrm>
                <a:off x="4624244" y="3600000"/>
                <a:ext cx="2943513" cy="369332"/>
              </a:xfrm>
              <a:prstGeom prst="rect">
                <a:avLst/>
              </a:prstGeom>
              <a:blipFill>
                <a:blip r:embed="rId4"/>
                <a:stretch>
                  <a:fillRect/>
                </a:stretch>
              </a:blipFill>
            </p:spPr>
            <p:txBody>
              <a:bodyPr/>
              <a:lstStyle/>
              <a:p>
                <a:r>
                  <a:rPr lang="en-US">
                    <a:noFill/>
                  </a:rPr>
                  <a:t> </a:t>
                </a:r>
              </a:p>
            </p:txBody>
          </p:sp>
        </mc:Fallback>
      </mc:AlternateContent>
      <p:cxnSp>
        <p:nvCxnSpPr>
          <p:cNvPr id="2" name="Straight Connector 12">
            <a:extLst>
              <a:ext uri="{FF2B5EF4-FFF2-40B4-BE49-F238E27FC236}">
                <a16:creationId xmlns:a16="http://schemas.microsoft.com/office/drawing/2014/main" id="{A907484A-3428-416C-2893-3F34D4911A48}"/>
              </a:ext>
            </a:extLst>
          </p:cNvPr>
          <p:cNvCxnSpPr/>
          <p:nvPr/>
        </p:nvCxnSpPr>
        <p:spPr>
          <a:xfrm>
            <a:off x="2826000" y="5101200"/>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 name="Straight Arrow Connector 13">
            <a:extLst>
              <a:ext uri="{FF2B5EF4-FFF2-40B4-BE49-F238E27FC236}">
                <a16:creationId xmlns:a16="http://schemas.microsoft.com/office/drawing/2014/main" id="{0CAA8B0F-0301-9E2C-4F2A-7DF9C5DD7010}"/>
              </a:ext>
            </a:extLst>
          </p:cNvPr>
          <p:cNvCxnSpPr>
            <a:cxnSpLocks/>
          </p:cNvCxnSpPr>
          <p:nvPr/>
        </p:nvCxnSpPr>
        <p:spPr>
          <a:xfrm flipH="1" flipV="1">
            <a:off x="9027364" y="4280750"/>
            <a:ext cx="2" cy="806400"/>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 name="Rectangle 23">
            <a:extLst>
              <a:ext uri="{FF2B5EF4-FFF2-40B4-BE49-F238E27FC236}">
                <a16:creationId xmlns:a16="http://schemas.microsoft.com/office/drawing/2014/main" id="{BA13B86F-10F6-D855-8F77-0E62DD844561}"/>
              </a:ext>
            </a:extLst>
          </p:cNvPr>
          <p:cNvSpPr>
            <a:spLocks/>
          </p:cNvSpPr>
          <p:nvPr/>
        </p:nvSpPr>
        <p:spPr bwMode="auto">
          <a:xfrm flipH="1">
            <a:off x="2769956" y="4731708"/>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6" name="Rectangle 31">
            <a:extLst>
              <a:ext uri="{FF2B5EF4-FFF2-40B4-BE49-F238E27FC236}">
                <a16:creationId xmlns:a16="http://schemas.microsoft.com/office/drawing/2014/main" id="{40BA7EA9-6A92-6423-6C9C-0D4C2389549A}"/>
              </a:ext>
            </a:extLst>
          </p:cNvPr>
          <p:cNvSpPr>
            <a:spLocks/>
          </p:cNvSpPr>
          <p:nvPr/>
        </p:nvSpPr>
        <p:spPr bwMode="auto">
          <a:xfrm>
            <a:off x="8858834" y="515900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7" name="Rectangle 32">
            <a:extLst>
              <a:ext uri="{FF2B5EF4-FFF2-40B4-BE49-F238E27FC236}">
                <a16:creationId xmlns:a16="http://schemas.microsoft.com/office/drawing/2014/main" id="{FD1A8887-A39C-CFCD-9D89-74CCB0CEDD19}"/>
              </a:ext>
            </a:extLst>
          </p:cNvPr>
          <p:cNvSpPr>
            <a:spLocks/>
          </p:cNvSpPr>
          <p:nvPr/>
        </p:nvSpPr>
        <p:spPr bwMode="auto">
          <a:xfrm>
            <a:off x="8074009" y="396663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22’000.000</a:t>
            </a:r>
          </a:p>
        </p:txBody>
      </p:sp>
      <p:sp>
        <p:nvSpPr>
          <p:cNvPr id="8" name="Rectangle 22">
            <a:extLst>
              <a:ext uri="{FF2B5EF4-FFF2-40B4-BE49-F238E27FC236}">
                <a16:creationId xmlns:a16="http://schemas.microsoft.com/office/drawing/2014/main" id="{AEF497E3-F0F8-AE01-A29B-A89B5F0E7CB2}"/>
              </a:ext>
            </a:extLst>
          </p:cNvPr>
          <p:cNvSpPr>
            <a:spLocks/>
          </p:cNvSpPr>
          <p:nvPr/>
        </p:nvSpPr>
        <p:spPr bwMode="auto">
          <a:xfrm>
            <a:off x="2187273" y="5927991"/>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VP = ?</a:t>
            </a:r>
          </a:p>
        </p:txBody>
      </p:sp>
      <p:cxnSp>
        <p:nvCxnSpPr>
          <p:cNvPr id="13" name="Straight Arrow Connector 28">
            <a:extLst>
              <a:ext uri="{FF2B5EF4-FFF2-40B4-BE49-F238E27FC236}">
                <a16:creationId xmlns:a16="http://schemas.microsoft.com/office/drawing/2014/main" id="{0947027E-8360-400F-573D-A24CEEFA5646}"/>
              </a:ext>
            </a:extLst>
          </p:cNvPr>
          <p:cNvCxnSpPr/>
          <p:nvPr/>
        </p:nvCxnSpPr>
        <p:spPr>
          <a:xfrm>
            <a:off x="2826000" y="5087150"/>
            <a:ext cx="9821" cy="8072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14" name="CuadroTexto 13">
            <a:extLst>
              <a:ext uri="{FF2B5EF4-FFF2-40B4-BE49-F238E27FC236}">
                <a16:creationId xmlns:a16="http://schemas.microsoft.com/office/drawing/2014/main" id="{018F424B-99C6-4CE2-C595-7114EC4664D7}"/>
              </a:ext>
            </a:extLst>
          </p:cNvPr>
          <p:cNvSpPr txBox="1"/>
          <p:nvPr/>
        </p:nvSpPr>
        <p:spPr>
          <a:xfrm>
            <a:off x="9073491" y="4409098"/>
            <a:ext cx="1149354" cy="400110"/>
          </a:xfrm>
          <a:prstGeom prst="rect">
            <a:avLst/>
          </a:prstGeom>
          <a:noFill/>
        </p:spPr>
        <p:txBody>
          <a:bodyPr wrap="none" rtlCol="0">
            <a:spAutoFit/>
          </a:bodyPr>
          <a:lstStyle/>
          <a:p>
            <a:r>
              <a:rPr lang="es-CO" sz="2000"/>
              <a:t>Semestre</a:t>
            </a:r>
          </a:p>
        </p:txBody>
      </p:sp>
      <p:sp>
        <p:nvSpPr>
          <p:cNvPr id="15" name="Rectángulo 14">
            <a:extLst>
              <a:ext uri="{FF2B5EF4-FFF2-40B4-BE49-F238E27FC236}">
                <a16:creationId xmlns:a16="http://schemas.microsoft.com/office/drawing/2014/main" id="{87154536-0A66-75A8-363E-743CFE320F5E}"/>
              </a:ext>
            </a:extLst>
          </p:cNvPr>
          <p:cNvSpPr/>
          <p:nvPr/>
        </p:nvSpPr>
        <p:spPr>
          <a:xfrm>
            <a:off x="2795588" y="1989939"/>
            <a:ext cx="6600825" cy="461665"/>
          </a:xfrm>
          <a:prstGeom prst="rect">
            <a:avLst/>
          </a:prstGeom>
        </p:spPr>
        <p:txBody>
          <a:bodyPr wrap="square">
            <a:spAutoFit/>
          </a:bodyPr>
          <a:lstStyle/>
          <a:p>
            <a:pPr algn="ctr"/>
            <a:r>
              <a:rPr lang="es-ES_tradnl" sz="2400"/>
              <a:t>¿Cuánto debería ahorrar hoy?</a:t>
            </a:r>
          </a:p>
        </p:txBody>
      </p:sp>
    </p:spTree>
    <p:extLst>
      <p:ext uri="{BB962C8B-B14F-4D97-AF65-F5344CB8AC3E}">
        <p14:creationId xmlns:p14="http://schemas.microsoft.com/office/powerpoint/2010/main" val="2045765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22</a:t>
            </a:fld>
            <a:endParaRPr lang="en-US" sz="2000"/>
          </a:p>
        </p:txBody>
      </p:sp>
      <p:sp>
        <p:nvSpPr>
          <p:cNvPr id="3" name="Rectángulo 2"/>
          <p:cNvSpPr/>
          <p:nvPr/>
        </p:nvSpPr>
        <p:spPr>
          <a:xfrm>
            <a:off x="2795588" y="1989939"/>
            <a:ext cx="6600825" cy="461665"/>
          </a:xfrm>
          <a:prstGeom prst="rect">
            <a:avLst/>
          </a:prstGeom>
        </p:spPr>
        <p:txBody>
          <a:bodyPr wrap="square">
            <a:spAutoFit/>
          </a:bodyPr>
          <a:lstStyle/>
          <a:p>
            <a:pPr algn="ctr"/>
            <a:r>
              <a:rPr lang="es-ES_tradnl" sz="2400"/>
              <a:t>¿Qué pasaría si hubiese hecho mi flujo en meses?</a:t>
            </a:r>
          </a:p>
        </p:txBody>
      </p:sp>
      <mc:AlternateContent xmlns:mc="http://schemas.openxmlformats.org/markup-compatibility/2006" xmlns:a14="http://schemas.microsoft.com/office/drawing/2010/main">
        <mc:Choice Requires="a14">
          <p:sp>
            <p:nvSpPr>
              <p:cNvPr id="5" name="Rectángulo 4"/>
              <p:cNvSpPr/>
              <p:nvPr/>
            </p:nvSpPr>
            <p:spPr>
              <a:xfrm>
                <a:off x="4624244" y="2880000"/>
                <a:ext cx="2943513" cy="651973"/>
              </a:xfrm>
              <a:prstGeom prst="rect">
                <a:avLst/>
              </a:prstGeom>
            </p:spPr>
            <p:txBody>
              <a:bodyPr wrap="square">
                <a:spAutoFit/>
              </a:bodyPr>
              <a:lstStyle/>
              <a:p>
                <a:pPr/>
                <a14:m>
                  <m:oMathPara xmlns:m="http://schemas.openxmlformats.org/officeDocument/2006/math">
                    <m:oMath>
                      <m:r>
                        <a:rPr lang="es-CO" i="1" smtClean="0">
                          <a:latin typeface="Cambria Math" panose="02040503050406030204" pitchFamily="18" charset="0"/>
                        </a:rPr>
                        <m:t>𝑉𝑃</m:t>
                      </m:r>
                      <m:r>
                        <a:rPr lang="es-CO">
                          <a:latin typeface="Cambria Math" panose="02040503050406030204" pitchFamily="18" charset="0"/>
                        </a:rPr>
                        <m:t>=</m:t>
                      </m:r>
                      <m:f>
                        <m:fPr>
                          <m:ctrlPr>
                            <a:rPr lang="es-ES" b="0" i="0" smtClean="0">
                              <a:latin typeface="Cambria Math" panose="02040503050406030204" pitchFamily="18" charset="0"/>
                            </a:rPr>
                          </m:ctrlPr>
                        </m:fPr>
                        <m:num>
                          <m:r>
                            <a:rPr lang="es-ES" b="0" i="0" smtClean="0">
                              <a:latin typeface="Cambria Math" panose="02040503050406030204" pitchFamily="18" charset="0"/>
                            </a:rPr>
                            <m:t>22</m:t>
                          </m:r>
                          <m:r>
                            <a:rPr lang="es-CO">
                              <a:latin typeface="Cambria Math" panose="02040503050406030204" pitchFamily="18" charset="0"/>
                            </a:rPr>
                            <m:t>.000.000</m:t>
                          </m:r>
                        </m:num>
                        <m:den>
                          <m:sSup>
                            <m:sSupPr>
                              <m:ctrlPr>
                                <a:rPr lang="es-CO" i="1">
                                  <a:latin typeface="Cambria Math" panose="02040503050406030204" pitchFamily="18" charset="0"/>
                                </a:rPr>
                              </m:ctrlPr>
                            </m:sSupPr>
                            <m:e>
                              <m:d>
                                <m:dPr>
                                  <m:ctrlPr>
                                    <a:rPr lang="es-CO">
                                      <a:latin typeface="Cambria Math" panose="02040503050406030204" pitchFamily="18" charset="0"/>
                                    </a:rPr>
                                  </m:ctrlPr>
                                </m:dPr>
                                <m:e>
                                  <m:r>
                                    <a:rPr lang="es-CO">
                                      <a:latin typeface="Cambria Math" panose="02040503050406030204" pitchFamily="18" charset="0"/>
                                    </a:rPr>
                                    <m:t>1+1,6%</m:t>
                                  </m:r>
                                </m:e>
                              </m:d>
                            </m:e>
                            <m:sup>
                              <m:r>
                                <a:rPr lang="es-CO">
                                  <a:latin typeface="Cambria Math" panose="02040503050406030204" pitchFamily="18" charset="0"/>
                                </a:rPr>
                                <m:t>6</m:t>
                              </m:r>
                            </m:sup>
                          </m:sSup>
                        </m:den>
                      </m:f>
                    </m:oMath>
                  </m:oMathPara>
                </a14:m>
                <a:endParaRPr lang="es-CO"/>
              </a:p>
            </p:txBody>
          </p:sp>
        </mc:Choice>
        <mc:Fallback xmlns="">
          <p:sp>
            <p:nvSpPr>
              <p:cNvPr id="5" name="Rectángulo 4"/>
              <p:cNvSpPr>
                <a:spLocks noRot="1" noChangeAspect="1" noMove="1" noResize="1" noEditPoints="1" noAdjustHandles="1" noChangeArrowheads="1" noChangeShapeType="1" noTextEdit="1"/>
              </p:cNvSpPr>
              <p:nvPr/>
            </p:nvSpPr>
            <p:spPr>
              <a:xfrm>
                <a:off x="4624244" y="2880000"/>
                <a:ext cx="2943513" cy="651973"/>
              </a:xfrm>
              <a:prstGeom prst="rect">
                <a:avLst/>
              </a:prstGeom>
              <a:blipFill>
                <a:blip r:embed="rId2"/>
                <a:stretch>
                  <a:fillRect/>
                </a:stretch>
              </a:blipFill>
            </p:spPr>
            <p:txBody>
              <a:bodyPr/>
              <a:lstStyle/>
              <a:p>
                <a:r>
                  <a:rPr lang="en-US">
                    <a:noFill/>
                  </a:rPr>
                  <a:t> </a:t>
                </a:r>
              </a:p>
            </p:txBody>
          </p:sp>
        </mc:Fallback>
      </mc:AlternateContent>
      <p:sp>
        <p:nvSpPr>
          <p:cNvPr id="10" name="Title 1">
            <a:extLst>
              <a:ext uri="{FF2B5EF4-FFF2-40B4-BE49-F238E27FC236}">
                <a16:creationId xmlns:a16="http://schemas.microsoft.com/office/drawing/2014/main" id="{2A47E601-9C0A-9A6F-4BCC-5B90C563C3F7}"/>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1" name="Rectángulo 10">
            <a:extLst>
              <a:ext uri="{FF2B5EF4-FFF2-40B4-BE49-F238E27FC236}">
                <a16:creationId xmlns:a16="http://schemas.microsoft.com/office/drawing/2014/main" id="{57D19485-5B5B-9094-9684-04720C1DC21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AF2E0372-0B4F-7BCF-D3C8-8B67C0C200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C32D8118-1EA0-1206-8718-41924F34497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18" name="Rectángulo 17">
                <a:extLst>
                  <a:ext uri="{FF2B5EF4-FFF2-40B4-BE49-F238E27FC236}">
                    <a16:creationId xmlns:a16="http://schemas.microsoft.com/office/drawing/2014/main" id="{4C358EF1-38E6-CC08-313B-BAC15C6EAABE}"/>
                  </a:ext>
                </a:extLst>
              </p:cNvPr>
              <p:cNvSpPr/>
              <p:nvPr/>
            </p:nvSpPr>
            <p:spPr>
              <a:xfrm>
                <a:off x="4624244" y="3600000"/>
                <a:ext cx="2943513" cy="369332"/>
              </a:xfrm>
              <a:prstGeom prst="rect">
                <a:avLst/>
              </a:prstGeom>
            </p:spPr>
            <p:txBody>
              <a:bodyPr wrap="square">
                <a:spAutoFit/>
              </a:bodyPr>
              <a:lstStyle/>
              <a:p>
                <a:pPr/>
                <a14:m>
                  <m:oMathPara xmlns:m="http://schemas.openxmlformats.org/officeDocument/2006/math">
                    <m:oMath>
                      <m:r>
                        <a:rPr lang="es-CO" i="1" smtClean="0">
                          <a:latin typeface="Cambria Math" panose="02040503050406030204" pitchFamily="18" charset="0"/>
                        </a:rPr>
                        <m:t>𝑉𝑃</m:t>
                      </m:r>
                      <m:r>
                        <a:rPr lang="es-CO">
                          <a:latin typeface="Cambria Math" panose="02040503050406030204" pitchFamily="18" charset="0"/>
                        </a:rPr>
                        <m:t>=</m:t>
                      </m:r>
                      <m:r>
                        <a:rPr lang="es-ES" b="0" i="1" smtClean="0">
                          <a:latin typeface="Cambria Math" panose="02040503050406030204" pitchFamily="18" charset="0"/>
                        </a:rPr>
                        <m:t>20.000.000</m:t>
                      </m:r>
                    </m:oMath>
                  </m:oMathPara>
                </a14:m>
                <a:endParaRPr lang="es-CO"/>
              </a:p>
            </p:txBody>
          </p:sp>
        </mc:Choice>
        <mc:Fallback xmlns="">
          <p:sp>
            <p:nvSpPr>
              <p:cNvPr id="18" name="Rectángulo 17">
                <a:extLst>
                  <a:ext uri="{FF2B5EF4-FFF2-40B4-BE49-F238E27FC236}">
                    <a16:creationId xmlns:a16="http://schemas.microsoft.com/office/drawing/2014/main" id="{4C358EF1-38E6-CC08-313B-BAC15C6EAABE}"/>
                  </a:ext>
                </a:extLst>
              </p:cNvPr>
              <p:cNvSpPr>
                <a:spLocks noRot="1" noChangeAspect="1" noMove="1" noResize="1" noEditPoints="1" noAdjustHandles="1" noChangeArrowheads="1" noChangeShapeType="1" noTextEdit="1"/>
              </p:cNvSpPr>
              <p:nvPr/>
            </p:nvSpPr>
            <p:spPr>
              <a:xfrm>
                <a:off x="4624244" y="3600000"/>
                <a:ext cx="2943513" cy="369332"/>
              </a:xfrm>
              <a:prstGeom prst="rect">
                <a:avLst/>
              </a:prstGeom>
              <a:blipFill>
                <a:blip r:embed="rId4"/>
                <a:stretch>
                  <a:fillRect/>
                </a:stretch>
              </a:blipFill>
            </p:spPr>
            <p:txBody>
              <a:bodyPr/>
              <a:lstStyle/>
              <a:p>
                <a:r>
                  <a:rPr lang="en-US">
                    <a:noFill/>
                  </a:rPr>
                  <a:t> </a:t>
                </a:r>
              </a:p>
            </p:txBody>
          </p:sp>
        </mc:Fallback>
      </mc:AlternateContent>
      <p:cxnSp>
        <p:nvCxnSpPr>
          <p:cNvPr id="2" name="Straight Connector 12">
            <a:extLst>
              <a:ext uri="{FF2B5EF4-FFF2-40B4-BE49-F238E27FC236}">
                <a16:creationId xmlns:a16="http://schemas.microsoft.com/office/drawing/2014/main" id="{CF275614-94C1-BBD2-DD9C-EA6BDB5A603E}"/>
              </a:ext>
            </a:extLst>
          </p:cNvPr>
          <p:cNvCxnSpPr/>
          <p:nvPr/>
        </p:nvCxnSpPr>
        <p:spPr>
          <a:xfrm>
            <a:off x="2826000" y="5101200"/>
            <a:ext cx="61915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13">
            <a:extLst>
              <a:ext uri="{FF2B5EF4-FFF2-40B4-BE49-F238E27FC236}">
                <a16:creationId xmlns:a16="http://schemas.microsoft.com/office/drawing/2014/main" id="{B6F08892-0683-5090-FCD0-131361B92805}"/>
              </a:ext>
            </a:extLst>
          </p:cNvPr>
          <p:cNvCxnSpPr>
            <a:cxnSpLocks/>
          </p:cNvCxnSpPr>
          <p:nvPr/>
        </p:nvCxnSpPr>
        <p:spPr>
          <a:xfrm flipH="1" flipV="1">
            <a:off x="9027364" y="4280750"/>
            <a:ext cx="2" cy="806400"/>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7" name="Rectangle 23">
            <a:extLst>
              <a:ext uri="{FF2B5EF4-FFF2-40B4-BE49-F238E27FC236}">
                <a16:creationId xmlns:a16="http://schemas.microsoft.com/office/drawing/2014/main" id="{955CA8DA-3406-1FBD-0A68-154B508DE34D}"/>
              </a:ext>
            </a:extLst>
          </p:cNvPr>
          <p:cNvSpPr>
            <a:spLocks/>
          </p:cNvSpPr>
          <p:nvPr/>
        </p:nvSpPr>
        <p:spPr bwMode="auto">
          <a:xfrm flipH="1">
            <a:off x="2769956" y="4731708"/>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8" name="Rectangle 31">
            <a:extLst>
              <a:ext uri="{FF2B5EF4-FFF2-40B4-BE49-F238E27FC236}">
                <a16:creationId xmlns:a16="http://schemas.microsoft.com/office/drawing/2014/main" id="{8F041D01-4B6E-2E39-AFBE-54ECCD591445}"/>
              </a:ext>
            </a:extLst>
          </p:cNvPr>
          <p:cNvSpPr>
            <a:spLocks/>
          </p:cNvSpPr>
          <p:nvPr/>
        </p:nvSpPr>
        <p:spPr bwMode="auto">
          <a:xfrm>
            <a:off x="8858834" y="5159009"/>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9" name="Rectangle 32">
            <a:extLst>
              <a:ext uri="{FF2B5EF4-FFF2-40B4-BE49-F238E27FC236}">
                <a16:creationId xmlns:a16="http://schemas.microsoft.com/office/drawing/2014/main" id="{9B8E32FA-EB0D-0055-EFCC-01F602125BF5}"/>
              </a:ext>
            </a:extLst>
          </p:cNvPr>
          <p:cNvSpPr>
            <a:spLocks/>
          </p:cNvSpPr>
          <p:nvPr/>
        </p:nvSpPr>
        <p:spPr bwMode="auto">
          <a:xfrm>
            <a:off x="8074009" y="396663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22’000.000</a:t>
            </a:r>
          </a:p>
        </p:txBody>
      </p:sp>
      <p:sp>
        <p:nvSpPr>
          <p:cNvPr id="17" name="Rectangle 22">
            <a:extLst>
              <a:ext uri="{FF2B5EF4-FFF2-40B4-BE49-F238E27FC236}">
                <a16:creationId xmlns:a16="http://schemas.microsoft.com/office/drawing/2014/main" id="{DA0AFF5E-21C5-258A-B1BC-6C58CE52E772}"/>
              </a:ext>
            </a:extLst>
          </p:cNvPr>
          <p:cNvSpPr>
            <a:spLocks/>
          </p:cNvSpPr>
          <p:nvPr/>
        </p:nvSpPr>
        <p:spPr bwMode="auto">
          <a:xfrm>
            <a:off x="2187273" y="5927991"/>
            <a:ext cx="1277453"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VP = ?</a:t>
            </a:r>
          </a:p>
        </p:txBody>
      </p:sp>
      <p:cxnSp>
        <p:nvCxnSpPr>
          <p:cNvPr id="19" name="Straight Arrow Connector 28">
            <a:extLst>
              <a:ext uri="{FF2B5EF4-FFF2-40B4-BE49-F238E27FC236}">
                <a16:creationId xmlns:a16="http://schemas.microsoft.com/office/drawing/2014/main" id="{D6A02866-1CC3-D069-BC57-C069B9F1411C}"/>
              </a:ext>
            </a:extLst>
          </p:cNvPr>
          <p:cNvCxnSpPr/>
          <p:nvPr/>
        </p:nvCxnSpPr>
        <p:spPr>
          <a:xfrm>
            <a:off x="2826000" y="5087150"/>
            <a:ext cx="9821" cy="8072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0" name="CuadroTexto 19">
            <a:extLst>
              <a:ext uri="{FF2B5EF4-FFF2-40B4-BE49-F238E27FC236}">
                <a16:creationId xmlns:a16="http://schemas.microsoft.com/office/drawing/2014/main" id="{9BAD8297-5297-9959-ABCB-D542DBA5507E}"/>
              </a:ext>
            </a:extLst>
          </p:cNvPr>
          <p:cNvSpPr txBox="1"/>
          <p:nvPr/>
        </p:nvSpPr>
        <p:spPr>
          <a:xfrm>
            <a:off x="9073491" y="4409098"/>
            <a:ext cx="1149354" cy="400110"/>
          </a:xfrm>
          <a:prstGeom prst="rect">
            <a:avLst/>
          </a:prstGeom>
          <a:noFill/>
        </p:spPr>
        <p:txBody>
          <a:bodyPr wrap="none" rtlCol="0">
            <a:spAutoFit/>
          </a:bodyPr>
          <a:lstStyle/>
          <a:p>
            <a:r>
              <a:rPr lang="es-CO" sz="2000"/>
              <a:t>Semestre</a:t>
            </a:r>
          </a:p>
        </p:txBody>
      </p:sp>
    </p:spTree>
    <p:extLst>
      <p:ext uri="{BB962C8B-B14F-4D97-AF65-F5344CB8AC3E}">
        <p14:creationId xmlns:p14="http://schemas.microsoft.com/office/powerpoint/2010/main" val="3153782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3" y="1989940"/>
            <a:ext cx="11029615" cy="1395976"/>
          </a:xfrm>
        </p:spPr>
        <p:txBody>
          <a:bodyPr>
            <a:normAutofit/>
          </a:bodyPr>
          <a:lstStyle/>
          <a:p>
            <a:pPr marL="0" indent="0" algn="just">
              <a:buNone/>
            </a:pPr>
            <a:r>
              <a:rPr lang="es-ES_tradnl" sz="2400"/>
              <a:t>Ejemplo 2: Usted tiene el siguiente esquema de pagos mensuales a un banco que le prestó al 9% NA/SV. ¿Cuánto debería pagar usted si quiere cambiar el esquema de pago por un único pago en el mes 4?</a:t>
            </a:r>
          </a:p>
          <a:p>
            <a:pPr marL="0" indent="0" algn="just">
              <a:buNone/>
            </a:pPr>
            <a:endParaRPr lang="es-ES_tradnl" sz="2400"/>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23</a:t>
            </a:fld>
            <a:endParaRPr lang="en-US" sz="2000"/>
          </a:p>
        </p:txBody>
      </p:sp>
      <p:cxnSp>
        <p:nvCxnSpPr>
          <p:cNvPr id="13" name="Straight Connector 12"/>
          <p:cNvCxnSpPr/>
          <p:nvPr/>
        </p:nvCxnSpPr>
        <p:spPr>
          <a:xfrm flipV="1">
            <a:off x="3311284" y="4503945"/>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H="1">
            <a:off x="8774819" y="4510810"/>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23"/>
          <p:cNvSpPr>
            <a:spLocks/>
          </p:cNvSpPr>
          <p:nvPr/>
        </p:nvSpPr>
        <p:spPr bwMode="auto">
          <a:xfrm flipH="1">
            <a:off x="3225682" y="4138162"/>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33" name="Rectangle 32"/>
          <p:cNvSpPr>
            <a:spLocks/>
          </p:cNvSpPr>
          <p:nvPr/>
        </p:nvSpPr>
        <p:spPr bwMode="auto">
          <a:xfrm>
            <a:off x="7841095" y="5622580"/>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470</a:t>
            </a:r>
          </a:p>
        </p:txBody>
      </p:sp>
      <p:sp>
        <p:nvSpPr>
          <p:cNvPr id="12" name="Rectangle 11"/>
          <p:cNvSpPr>
            <a:spLocks/>
          </p:cNvSpPr>
          <p:nvPr/>
        </p:nvSpPr>
        <p:spPr bwMode="auto">
          <a:xfrm>
            <a:off x="3937190"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p:cNvSpPr>
            <a:spLocks/>
          </p:cNvSpPr>
          <p:nvPr/>
        </p:nvSpPr>
        <p:spPr bwMode="auto">
          <a:xfrm>
            <a:off x="4793091" y="412967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p:cNvSpPr>
            <a:spLocks/>
          </p:cNvSpPr>
          <p:nvPr/>
        </p:nvSpPr>
        <p:spPr bwMode="auto">
          <a:xfrm>
            <a:off x="5566164"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16"/>
          <p:cNvSpPr>
            <a:spLocks/>
          </p:cNvSpPr>
          <p:nvPr/>
        </p:nvSpPr>
        <p:spPr bwMode="auto">
          <a:xfrm>
            <a:off x="6311627"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8" name="Rectangle 17"/>
          <p:cNvSpPr>
            <a:spLocks/>
          </p:cNvSpPr>
          <p:nvPr/>
        </p:nvSpPr>
        <p:spPr bwMode="auto">
          <a:xfrm>
            <a:off x="7026609"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9" name="Rectangle 18"/>
          <p:cNvSpPr>
            <a:spLocks/>
          </p:cNvSpPr>
          <p:nvPr/>
        </p:nvSpPr>
        <p:spPr bwMode="auto">
          <a:xfrm>
            <a:off x="7882510"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20" name="Rectangle 19"/>
          <p:cNvSpPr>
            <a:spLocks/>
          </p:cNvSpPr>
          <p:nvPr/>
        </p:nvSpPr>
        <p:spPr bwMode="auto">
          <a:xfrm>
            <a:off x="8611642" y="41525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21" name="Straight Arrow Connector 20"/>
          <p:cNvCxnSpPr/>
          <p:nvPr/>
        </p:nvCxnSpPr>
        <p:spPr>
          <a:xfrm flipH="1">
            <a:off x="6511367" y="4510810"/>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p:cNvSpPr>
            <a:spLocks/>
          </p:cNvSpPr>
          <p:nvPr/>
        </p:nvSpPr>
        <p:spPr bwMode="auto">
          <a:xfrm>
            <a:off x="5567786" y="5253248"/>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p:sp>
        <p:nvSpPr>
          <p:cNvPr id="25" name="Rectangle 24"/>
          <p:cNvSpPr>
            <a:spLocks/>
          </p:cNvSpPr>
          <p:nvPr/>
        </p:nvSpPr>
        <p:spPr bwMode="auto">
          <a:xfrm>
            <a:off x="4007836" y="5648360"/>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cxnSp>
        <p:nvCxnSpPr>
          <p:cNvPr id="26" name="Straight Arrow Connector 25"/>
          <p:cNvCxnSpPr/>
          <p:nvPr/>
        </p:nvCxnSpPr>
        <p:spPr>
          <a:xfrm flipH="1">
            <a:off x="4951417" y="449856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a:off x="3311283" y="4504472"/>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27"/>
          <p:cNvSpPr>
            <a:spLocks/>
          </p:cNvSpPr>
          <p:nvPr/>
        </p:nvSpPr>
        <p:spPr bwMode="auto">
          <a:xfrm>
            <a:off x="2387084" y="518802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sp>
        <p:nvSpPr>
          <p:cNvPr id="5" name="CuadroTexto 4"/>
          <p:cNvSpPr txBox="1"/>
          <p:nvPr/>
        </p:nvSpPr>
        <p:spPr>
          <a:xfrm>
            <a:off x="8948703" y="4343528"/>
            <a:ext cx="830677" cy="400110"/>
          </a:xfrm>
          <a:prstGeom prst="rect">
            <a:avLst/>
          </a:prstGeom>
          <a:noFill/>
        </p:spPr>
        <p:txBody>
          <a:bodyPr wrap="none" rtlCol="0">
            <a:spAutoFit/>
          </a:bodyPr>
          <a:lstStyle/>
          <a:p>
            <a:r>
              <a:rPr lang="es-CO" sz="2000"/>
              <a:t>Meses</a:t>
            </a:r>
          </a:p>
        </p:txBody>
      </p:sp>
      <p:sp>
        <p:nvSpPr>
          <p:cNvPr id="9" name="Title 1">
            <a:extLst>
              <a:ext uri="{FF2B5EF4-FFF2-40B4-BE49-F238E27FC236}">
                <a16:creationId xmlns:a16="http://schemas.microsoft.com/office/drawing/2014/main" id="{5C0B716F-65EE-1C6A-0663-E10ACC9A1BBA}"/>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0" name="Rectángulo 9">
            <a:extLst>
              <a:ext uri="{FF2B5EF4-FFF2-40B4-BE49-F238E27FC236}">
                <a16:creationId xmlns:a16="http://schemas.microsoft.com/office/drawing/2014/main" id="{E1E9DD0F-4E0A-D30C-F5B0-94B37F989C2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545E0BA0-C276-5F74-84C4-E69CA83E2A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EC1C8794-AB53-0B07-B5DC-862D105394C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8729283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E3E23BA-6E79-2442-BA73-D218A5E297C3}" type="slidenum">
              <a:rPr lang="en-US" smtClean="0"/>
              <a:t>24</a:t>
            </a:fld>
            <a:endParaRPr lang="en-US"/>
          </a:p>
        </p:txBody>
      </p:sp>
      <p:sp>
        <p:nvSpPr>
          <p:cNvPr id="23" name="Content Placeholder 2"/>
          <p:cNvSpPr txBox="1">
            <a:spLocks/>
          </p:cNvSpPr>
          <p:nvPr/>
        </p:nvSpPr>
        <p:spPr>
          <a:xfrm>
            <a:off x="2290762" y="1974942"/>
            <a:ext cx="7610476" cy="529636"/>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a:solidFill>
                  <a:srgbClr val="800000"/>
                </a:solidFill>
              </a:rPr>
              <a:t>i= 9% NA/SV		i=4,5% SV		i=0,74% MV</a:t>
            </a:r>
          </a:p>
          <a:p>
            <a:pPr marL="0" indent="0" algn="ctr">
              <a:buNone/>
            </a:pPr>
            <a:endParaRPr lang="es-ES_tradnl" sz="1800">
              <a:solidFill>
                <a:srgbClr val="800000"/>
              </a:solidFill>
            </a:endParaRPr>
          </a:p>
        </p:txBody>
      </p:sp>
      <p:pic>
        <p:nvPicPr>
          <p:cNvPr id="6" name="Picture 5" descr="latex-image-1.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1663" y="2599647"/>
            <a:ext cx="6668675" cy="540000"/>
          </a:xfrm>
          <a:prstGeom prst="rect">
            <a:avLst/>
          </a:prstGeom>
        </p:spPr>
      </p:pic>
      <p:pic>
        <p:nvPicPr>
          <p:cNvPr id="7" name="Picture 6"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2501" y="3507808"/>
            <a:ext cx="1646998" cy="216000"/>
          </a:xfrm>
          <a:prstGeom prst="rect">
            <a:avLst/>
          </a:prstGeom>
        </p:spPr>
      </p:pic>
      <p:sp>
        <p:nvSpPr>
          <p:cNvPr id="9" name="Title 1">
            <a:extLst>
              <a:ext uri="{FF2B5EF4-FFF2-40B4-BE49-F238E27FC236}">
                <a16:creationId xmlns:a16="http://schemas.microsoft.com/office/drawing/2014/main" id="{488F86FE-CF1D-3301-447C-C8B44312B14F}"/>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0" name="Rectángulo 9">
            <a:extLst>
              <a:ext uri="{FF2B5EF4-FFF2-40B4-BE49-F238E27FC236}">
                <a16:creationId xmlns:a16="http://schemas.microsoft.com/office/drawing/2014/main" id="{6D287C4F-85D6-6C54-E45B-95FA3963AEA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9130A9A9-049C-368D-E931-BB380D3738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0" name="Rectángulo 29">
            <a:extLst>
              <a:ext uri="{FF2B5EF4-FFF2-40B4-BE49-F238E27FC236}">
                <a16:creationId xmlns:a16="http://schemas.microsoft.com/office/drawing/2014/main" id="{6CBF8F4C-930F-21F2-27BF-0C0AAA932FE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31" name="Straight Connector 12">
            <a:extLst>
              <a:ext uri="{FF2B5EF4-FFF2-40B4-BE49-F238E27FC236}">
                <a16:creationId xmlns:a16="http://schemas.microsoft.com/office/drawing/2014/main" id="{D216F0E6-B489-5304-330E-DEB85BAB0122}"/>
              </a:ext>
            </a:extLst>
          </p:cNvPr>
          <p:cNvCxnSpPr/>
          <p:nvPr/>
        </p:nvCxnSpPr>
        <p:spPr>
          <a:xfrm flipV="1">
            <a:off x="3311284" y="4503945"/>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Arrow Connector 13">
            <a:extLst>
              <a:ext uri="{FF2B5EF4-FFF2-40B4-BE49-F238E27FC236}">
                <a16:creationId xmlns:a16="http://schemas.microsoft.com/office/drawing/2014/main" id="{816140DD-28CA-AF46-0FFF-5D06E5521924}"/>
              </a:ext>
            </a:extLst>
          </p:cNvPr>
          <p:cNvCxnSpPr/>
          <p:nvPr/>
        </p:nvCxnSpPr>
        <p:spPr>
          <a:xfrm flipH="1">
            <a:off x="8774819" y="4510810"/>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23">
            <a:extLst>
              <a:ext uri="{FF2B5EF4-FFF2-40B4-BE49-F238E27FC236}">
                <a16:creationId xmlns:a16="http://schemas.microsoft.com/office/drawing/2014/main" id="{A4E82CFC-ABFE-1EA9-B998-5F9B04BAF95F}"/>
              </a:ext>
            </a:extLst>
          </p:cNvPr>
          <p:cNvSpPr>
            <a:spLocks/>
          </p:cNvSpPr>
          <p:nvPr/>
        </p:nvSpPr>
        <p:spPr bwMode="auto">
          <a:xfrm flipH="1">
            <a:off x="3225682" y="4138162"/>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35" name="Rectangle 32">
            <a:extLst>
              <a:ext uri="{FF2B5EF4-FFF2-40B4-BE49-F238E27FC236}">
                <a16:creationId xmlns:a16="http://schemas.microsoft.com/office/drawing/2014/main" id="{8F486E45-D24E-3EA9-F3CB-89D5C4A791BA}"/>
              </a:ext>
            </a:extLst>
          </p:cNvPr>
          <p:cNvSpPr>
            <a:spLocks/>
          </p:cNvSpPr>
          <p:nvPr/>
        </p:nvSpPr>
        <p:spPr bwMode="auto">
          <a:xfrm>
            <a:off x="7841095" y="5622580"/>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470</a:t>
            </a:r>
          </a:p>
        </p:txBody>
      </p:sp>
      <p:sp>
        <p:nvSpPr>
          <p:cNvPr id="36" name="Rectangle 11">
            <a:extLst>
              <a:ext uri="{FF2B5EF4-FFF2-40B4-BE49-F238E27FC236}">
                <a16:creationId xmlns:a16="http://schemas.microsoft.com/office/drawing/2014/main" id="{8F87C472-266C-2BBA-78E7-F7FEB02596B9}"/>
              </a:ext>
            </a:extLst>
          </p:cNvPr>
          <p:cNvSpPr>
            <a:spLocks/>
          </p:cNvSpPr>
          <p:nvPr/>
        </p:nvSpPr>
        <p:spPr bwMode="auto">
          <a:xfrm>
            <a:off x="3937190"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7" name="Rectangle 14">
            <a:extLst>
              <a:ext uri="{FF2B5EF4-FFF2-40B4-BE49-F238E27FC236}">
                <a16:creationId xmlns:a16="http://schemas.microsoft.com/office/drawing/2014/main" id="{24CBF3D3-A4EE-876F-0778-BF9154F68A34}"/>
              </a:ext>
            </a:extLst>
          </p:cNvPr>
          <p:cNvSpPr>
            <a:spLocks/>
          </p:cNvSpPr>
          <p:nvPr/>
        </p:nvSpPr>
        <p:spPr bwMode="auto">
          <a:xfrm>
            <a:off x="4793091" y="4129674"/>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8" name="Rectangle 15">
            <a:extLst>
              <a:ext uri="{FF2B5EF4-FFF2-40B4-BE49-F238E27FC236}">
                <a16:creationId xmlns:a16="http://schemas.microsoft.com/office/drawing/2014/main" id="{34905BF4-12FA-FFEA-B831-461D3095FE16}"/>
              </a:ext>
            </a:extLst>
          </p:cNvPr>
          <p:cNvSpPr>
            <a:spLocks/>
          </p:cNvSpPr>
          <p:nvPr/>
        </p:nvSpPr>
        <p:spPr bwMode="auto">
          <a:xfrm>
            <a:off x="5566164"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9" name="Rectangle 16">
            <a:extLst>
              <a:ext uri="{FF2B5EF4-FFF2-40B4-BE49-F238E27FC236}">
                <a16:creationId xmlns:a16="http://schemas.microsoft.com/office/drawing/2014/main" id="{C6953834-9DA6-2DEE-0248-F0C7717EB9D1}"/>
              </a:ext>
            </a:extLst>
          </p:cNvPr>
          <p:cNvSpPr>
            <a:spLocks/>
          </p:cNvSpPr>
          <p:nvPr/>
        </p:nvSpPr>
        <p:spPr bwMode="auto">
          <a:xfrm>
            <a:off x="6311627"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40" name="Rectangle 17">
            <a:extLst>
              <a:ext uri="{FF2B5EF4-FFF2-40B4-BE49-F238E27FC236}">
                <a16:creationId xmlns:a16="http://schemas.microsoft.com/office/drawing/2014/main" id="{04FB6335-5ABF-8971-6A31-0FA802ACFD50}"/>
              </a:ext>
            </a:extLst>
          </p:cNvPr>
          <p:cNvSpPr>
            <a:spLocks/>
          </p:cNvSpPr>
          <p:nvPr/>
        </p:nvSpPr>
        <p:spPr bwMode="auto">
          <a:xfrm>
            <a:off x="7026609"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41" name="Rectangle 18">
            <a:extLst>
              <a:ext uri="{FF2B5EF4-FFF2-40B4-BE49-F238E27FC236}">
                <a16:creationId xmlns:a16="http://schemas.microsoft.com/office/drawing/2014/main" id="{9214B179-BD97-6DCC-B3C9-9F344DF171E8}"/>
              </a:ext>
            </a:extLst>
          </p:cNvPr>
          <p:cNvSpPr>
            <a:spLocks/>
          </p:cNvSpPr>
          <p:nvPr/>
        </p:nvSpPr>
        <p:spPr bwMode="auto">
          <a:xfrm>
            <a:off x="7882510" y="413816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42" name="Rectangle 19">
            <a:extLst>
              <a:ext uri="{FF2B5EF4-FFF2-40B4-BE49-F238E27FC236}">
                <a16:creationId xmlns:a16="http://schemas.microsoft.com/office/drawing/2014/main" id="{4F37A373-A984-2123-92A4-BF20EB3148F7}"/>
              </a:ext>
            </a:extLst>
          </p:cNvPr>
          <p:cNvSpPr>
            <a:spLocks/>
          </p:cNvSpPr>
          <p:nvPr/>
        </p:nvSpPr>
        <p:spPr bwMode="auto">
          <a:xfrm>
            <a:off x="8611642" y="41525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43" name="Straight Arrow Connector 20">
            <a:extLst>
              <a:ext uri="{FF2B5EF4-FFF2-40B4-BE49-F238E27FC236}">
                <a16:creationId xmlns:a16="http://schemas.microsoft.com/office/drawing/2014/main" id="{FAC3E56B-1B4F-C653-872E-24348BB44DAD}"/>
              </a:ext>
            </a:extLst>
          </p:cNvPr>
          <p:cNvCxnSpPr/>
          <p:nvPr/>
        </p:nvCxnSpPr>
        <p:spPr>
          <a:xfrm flipH="1">
            <a:off x="6511367" y="4510810"/>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4" name="Rectangle 21">
            <a:extLst>
              <a:ext uri="{FF2B5EF4-FFF2-40B4-BE49-F238E27FC236}">
                <a16:creationId xmlns:a16="http://schemas.microsoft.com/office/drawing/2014/main" id="{16D80CF5-C1CA-1C28-48AC-594D51843E2E}"/>
              </a:ext>
            </a:extLst>
          </p:cNvPr>
          <p:cNvSpPr>
            <a:spLocks/>
          </p:cNvSpPr>
          <p:nvPr/>
        </p:nvSpPr>
        <p:spPr bwMode="auto">
          <a:xfrm>
            <a:off x="5567786" y="5253248"/>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p:sp>
        <p:nvSpPr>
          <p:cNvPr id="45" name="Rectangle 24">
            <a:extLst>
              <a:ext uri="{FF2B5EF4-FFF2-40B4-BE49-F238E27FC236}">
                <a16:creationId xmlns:a16="http://schemas.microsoft.com/office/drawing/2014/main" id="{1416332E-9E39-4604-8E9B-C1243105409C}"/>
              </a:ext>
            </a:extLst>
          </p:cNvPr>
          <p:cNvSpPr>
            <a:spLocks/>
          </p:cNvSpPr>
          <p:nvPr/>
        </p:nvSpPr>
        <p:spPr bwMode="auto">
          <a:xfrm>
            <a:off x="4007836" y="5648360"/>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cxnSp>
        <p:nvCxnSpPr>
          <p:cNvPr id="46" name="Straight Arrow Connector 25">
            <a:extLst>
              <a:ext uri="{FF2B5EF4-FFF2-40B4-BE49-F238E27FC236}">
                <a16:creationId xmlns:a16="http://schemas.microsoft.com/office/drawing/2014/main" id="{CD2AE337-8F88-F56F-6F5D-DCA6ADDAC42C}"/>
              </a:ext>
            </a:extLst>
          </p:cNvPr>
          <p:cNvCxnSpPr/>
          <p:nvPr/>
        </p:nvCxnSpPr>
        <p:spPr>
          <a:xfrm flipH="1">
            <a:off x="4951417" y="449856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26">
            <a:extLst>
              <a:ext uri="{FF2B5EF4-FFF2-40B4-BE49-F238E27FC236}">
                <a16:creationId xmlns:a16="http://schemas.microsoft.com/office/drawing/2014/main" id="{2B06942D-BE6A-23AC-DB1F-08B11613B4B1}"/>
              </a:ext>
            </a:extLst>
          </p:cNvPr>
          <p:cNvCxnSpPr/>
          <p:nvPr/>
        </p:nvCxnSpPr>
        <p:spPr>
          <a:xfrm>
            <a:off x="3311283" y="4504472"/>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8" name="Rectangle 27">
            <a:extLst>
              <a:ext uri="{FF2B5EF4-FFF2-40B4-BE49-F238E27FC236}">
                <a16:creationId xmlns:a16="http://schemas.microsoft.com/office/drawing/2014/main" id="{7D8B15F8-E14C-68A4-063F-B89AEBA23105}"/>
              </a:ext>
            </a:extLst>
          </p:cNvPr>
          <p:cNvSpPr>
            <a:spLocks/>
          </p:cNvSpPr>
          <p:nvPr/>
        </p:nvSpPr>
        <p:spPr bwMode="auto">
          <a:xfrm>
            <a:off x="2387084" y="518802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sp>
        <p:nvSpPr>
          <p:cNvPr id="49" name="CuadroTexto 48">
            <a:extLst>
              <a:ext uri="{FF2B5EF4-FFF2-40B4-BE49-F238E27FC236}">
                <a16:creationId xmlns:a16="http://schemas.microsoft.com/office/drawing/2014/main" id="{EFDB4BF7-DA89-6409-9CB6-B1FFE07DE70E}"/>
              </a:ext>
            </a:extLst>
          </p:cNvPr>
          <p:cNvSpPr txBox="1"/>
          <p:nvPr/>
        </p:nvSpPr>
        <p:spPr>
          <a:xfrm>
            <a:off x="8948703" y="4343528"/>
            <a:ext cx="830677" cy="400110"/>
          </a:xfrm>
          <a:prstGeom prst="rect">
            <a:avLst/>
          </a:prstGeom>
          <a:noFill/>
        </p:spPr>
        <p:txBody>
          <a:bodyPr wrap="none" rtlCol="0">
            <a:spAutoFit/>
          </a:bodyPr>
          <a:lstStyle/>
          <a:p>
            <a:r>
              <a:rPr lang="es-CO" sz="2000"/>
              <a:t>Meses</a:t>
            </a:r>
          </a:p>
        </p:txBody>
      </p:sp>
    </p:spTree>
    <p:extLst>
      <p:ext uri="{BB962C8B-B14F-4D97-AF65-F5344CB8AC3E}">
        <p14:creationId xmlns:p14="http://schemas.microsoft.com/office/powerpoint/2010/main" val="1355242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7502" y="2035466"/>
            <a:ext cx="11029615" cy="1564898"/>
          </a:xfrm>
        </p:spPr>
        <p:txBody>
          <a:bodyPr>
            <a:normAutofit lnSpcReduction="10000"/>
          </a:bodyPr>
          <a:lstStyle/>
          <a:p>
            <a:pPr marL="0" indent="0" algn="just">
              <a:buNone/>
            </a:pPr>
            <a:r>
              <a:rPr lang="es-ES_tradnl" sz="2400">
                <a:solidFill>
                  <a:schemeClr val="tx1"/>
                </a:solidFill>
              </a:rPr>
              <a:t>Ejemplo 3: </a:t>
            </a:r>
            <a:r>
              <a:rPr lang="es-ES_tradnl" sz="2400"/>
              <a:t>Usted puede pedir 1000 dólares a dos bancos. Dependiendo del banco, el esquema de pago mensual sería como el que se muestra a continuación. </a:t>
            </a:r>
            <a:r>
              <a:rPr lang="es-MX" sz="2400"/>
              <a:t>¿Qué flujo de pagos prefiere si ambas alternativas consideran una tasa de 12% NA/MV? </a:t>
            </a:r>
            <a:r>
              <a:rPr lang="es-ES_tradnl" sz="2400"/>
              <a:t>Compare en USD del momento cero y en USD del momento 3 </a:t>
            </a:r>
            <a:r>
              <a:rPr lang="es-ES_tradnl" sz="2400" b="1"/>
              <a:t>(VP &amp; VF)</a:t>
            </a:r>
            <a:r>
              <a:rPr lang="es-ES_tradnl" sz="2400"/>
              <a:t>.</a:t>
            </a:r>
          </a:p>
          <a:p>
            <a:pPr marL="0" indent="0" algn="just">
              <a:buNone/>
            </a:pPr>
            <a:endParaRPr lang="es-ES_tradnl" sz="2400"/>
          </a:p>
        </p:txBody>
      </p:sp>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25</a:t>
            </a:fld>
            <a:endParaRPr lang="en-US" sz="2000"/>
          </a:p>
        </p:txBody>
      </p:sp>
      <p:cxnSp>
        <p:nvCxnSpPr>
          <p:cNvPr id="13" name="Straight Connector 12"/>
          <p:cNvCxnSpPr/>
          <p:nvPr/>
        </p:nvCxnSpPr>
        <p:spPr>
          <a:xfrm>
            <a:off x="1237949" y="4832105"/>
            <a:ext cx="3200084"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2044634" y="4838224"/>
            <a:ext cx="0" cy="647883"/>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23"/>
          <p:cNvSpPr>
            <a:spLocks/>
          </p:cNvSpPr>
          <p:nvPr/>
        </p:nvSpPr>
        <p:spPr bwMode="auto">
          <a:xfrm flipH="1">
            <a:off x="1152348" y="4458108"/>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2" name="Rectangle 11"/>
          <p:cNvSpPr>
            <a:spLocks/>
          </p:cNvSpPr>
          <p:nvPr/>
        </p:nvSpPr>
        <p:spPr bwMode="auto">
          <a:xfrm>
            <a:off x="1863856"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p:cNvSpPr>
            <a:spLocks/>
          </p:cNvSpPr>
          <p:nvPr/>
        </p:nvSpPr>
        <p:spPr bwMode="auto">
          <a:xfrm>
            <a:off x="2719757" y="444962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p:cNvSpPr>
            <a:spLocks/>
          </p:cNvSpPr>
          <p:nvPr/>
        </p:nvSpPr>
        <p:spPr bwMode="auto">
          <a:xfrm>
            <a:off x="3492830"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16"/>
          <p:cNvSpPr>
            <a:spLocks/>
          </p:cNvSpPr>
          <p:nvPr/>
        </p:nvSpPr>
        <p:spPr bwMode="auto">
          <a:xfrm>
            <a:off x="4238293"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21" name="Straight Arrow Connector 20"/>
          <p:cNvCxnSpPr/>
          <p:nvPr/>
        </p:nvCxnSpPr>
        <p:spPr>
          <a:xfrm flipH="1">
            <a:off x="4438033" y="4830756"/>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p:cNvSpPr>
            <a:spLocks/>
          </p:cNvSpPr>
          <p:nvPr/>
        </p:nvSpPr>
        <p:spPr bwMode="auto">
          <a:xfrm>
            <a:off x="3492830" y="533804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p:sp>
        <p:nvSpPr>
          <p:cNvPr id="25" name="Rectangle 24"/>
          <p:cNvSpPr>
            <a:spLocks/>
          </p:cNvSpPr>
          <p:nvPr/>
        </p:nvSpPr>
        <p:spPr bwMode="auto">
          <a:xfrm>
            <a:off x="1942724" y="596830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cxnSp>
        <p:nvCxnSpPr>
          <p:cNvPr id="26" name="Straight Arrow Connector 25"/>
          <p:cNvCxnSpPr/>
          <p:nvPr/>
        </p:nvCxnSpPr>
        <p:spPr>
          <a:xfrm flipH="1">
            <a:off x="2878083" y="4818515"/>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27"/>
          <p:cNvSpPr>
            <a:spLocks/>
          </p:cNvSpPr>
          <p:nvPr/>
        </p:nvSpPr>
        <p:spPr bwMode="auto">
          <a:xfrm>
            <a:off x="1091446" y="546115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cxnSp>
        <p:nvCxnSpPr>
          <p:cNvPr id="29" name="Straight Connector 28"/>
          <p:cNvCxnSpPr/>
          <p:nvPr/>
        </p:nvCxnSpPr>
        <p:spPr>
          <a:xfrm>
            <a:off x="6633939" y="4838223"/>
            <a:ext cx="3200084"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a:off x="7440624" y="4844342"/>
            <a:ext cx="0" cy="647883"/>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p:cNvSpPr>
            <a:spLocks/>
          </p:cNvSpPr>
          <p:nvPr/>
        </p:nvSpPr>
        <p:spPr bwMode="auto">
          <a:xfrm flipH="1">
            <a:off x="6548338" y="4464226"/>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32" name="Rectangle 31"/>
          <p:cNvSpPr>
            <a:spLocks/>
          </p:cNvSpPr>
          <p:nvPr/>
        </p:nvSpPr>
        <p:spPr bwMode="auto">
          <a:xfrm>
            <a:off x="7259846"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4" name="Rectangle 33"/>
          <p:cNvSpPr>
            <a:spLocks/>
          </p:cNvSpPr>
          <p:nvPr/>
        </p:nvSpPr>
        <p:spPr bwMode="auto">
          <a:xfrm>
            <a:off x="8115747" y="445573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5" name="Rectangle 34"/>
          <p:cNvSpPr>
            <a:spLocks/>
          </p:cNvSpPr>
          <p:nvPr/>
        </p:nvSpPr>
        <p:spPr bwMode="auto">
          <a:xfrm>
            <a:off x="8888820"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6" name="Rectangle 35"/>
          <p:cNvSpPr>
            <a:spLocks/>
          </p:cNvSpPr>
          <p:nvPr/>
        </p:nvSpPr>
        <p:spPr bwMode="auto">
          <a:xfrm>
            <a:off x="9634283"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37" name="Straight Arrow Connector 36"/>
          <p:cNvCxnSpPr/>
          <p:nvPr/>
        </p:nvCxnSpPr>
        <p:spPr>
          <a:xfrm>
            <a:off x="9834025" y="4836875"/>
            <a:ext cx="0" cy="32804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8" name="Rectangle 37"/>
          <p:cNvSpPr>
            <a:spLocks/>
          </p:cNvSpPr>
          <p:nvPr/>
        </p:nvSpPr>
        <p:spPr bwMode="auto">
          <a:xfrm>
            <a:off x="8929855" y="5134734"/>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a:t>
            </a:r>
          </a:p>
        </p:txBody>
      </p:sp>
      <p:sp>
        <p:nvSpPr>
          <p:cNvPr id="39" name="Rectangle 38"/>
          <p:cNvSpPr>
            <a:spLocks/>
          </p:cNvSpPr>
          <p:nvPr/>
        </p:nvSpPr>
        <p:spPr bwMode="auto">
          <a:xfrm>
            <a:off x="7338714" y="534416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250</a:t>
            </a:r>
          </a:p>
        </p:txBody>
      </p:sp>
      <p:cxnSp>
        <p:nvCxnSpPr>
          <p:cNvPr id="40" name="Straight Arrow Connector 39"/>
          <p:cNvCxnSpPr/>
          <p:nvPr/>
        </p:nvCxnSpPr>
        <p:spPr>
          <a:xfrm flipH="1">
            <a:off x="8274073" y="4824634"/>
            <a:ext cx="2" cy="54418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1" name="Rectangle 40"/>
          <p:cNvSpPr>
            <a:spLocks/>
          </p:cNvSpPr>
          <p:nvPr/>
        </p:nvSpPr>
        <p:spPr bwMode="auto">
          <a:xfrm>
            <a:off x="6487436" y="546727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440</a:t>
            </a:r>
          </a:p>
        </p:txBody>
      </p:sp>
      <p:sp>
        <p:nvSpPr>
          <p:cNvPr id="42" name="Rectangle 41"/>
          <p:cNvSpPr>
            <a:spLocks/>
          </p:cNvSpPr>
          <p:nvPr/>
        </p:nvSpPr>
        <p:spPr bwMode="auto">
          <a:xfrm>
            <a:off x="8115747" y="5332218"/>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250</a:t>
            </a:r>
          </a:p>
        </p:txBody>
      </p:sp>
      <p:cxnSp>
        <p:nvCxnSpPr>
          <p:cNvPr id="43" name="Straight Arrow Connector 42"/>
          <p:cNvCxnSpPr/>
          <p:nvPr/>
        </p:nvCxnSpPr>
        <p:spPr>
          <a:xfrm flipH="1">
            <a:off x="9051106" y="4812689"/>
            <a:ext cx="2" cy="54418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200917" y="3940934"/>
            <a:ext cx="1105111" cy="400110"/>
          </a:xfrm>
          <a:prstGeom prst="rect">
            <a:avLst/>
          </a:prstGeom>
          <a:noFill/>
        </p:spPr>
        <p:txBody>
          <a:bodyPr wrap="none" rtlCol="0">
            <a:spAutoFit/>
          </a:bodyPr>
          <a:lstStyle/>
          <a:p>
            <a:r>
              <a:rPr lang="en-US" sz="2000" b="1" i="1" u="sng" err="1"/>
              <a:t>Banco</a:t>
            </a:r>
            <a:r>
              <a:rPr lang="en-US" sz="2000" b="1" i="1" u="sng"/>
              <a:t> A</a:t>
            </a:r>
          </a:p>
        </p:txBody>
      </p:sp>
      <p:sp>
        <p:nvSpPr>
          <p:cNvPr id="33" name="TextBox 32"/>
          <p:cNvSpPr txBox="1"/>
          <p:nvPr/>
        </p:nvSpPr>
        <p:spPr>
          <a:xfrm>
            <a:off x="7785597" y="3944177"/>
            <a:ext cx="1128835" cy="400110"/>
          </a:xfrm>
          <a:prstGeom prst="rect">
            <a:avLst/>
          </a:prstGeom>
          <a:noFill/>
        </p:spPr>
        <p:txBody>
          <a:bodyPr wrap="none" rtlCol="0">
            <a:spAutoFit/>
          </a:bodyPr>
          <a:lstStyle/>
          <a:p>
            <a:r>
              <a:rPr lang="en-US" sz="2000" b="1" i="1" u="sng" err="1"/>
              <a:t>Banco</a:t>
            </a:r>
            <a:r>
              <a:rPr lang="en-US" sz="2000" b="1" i="1" u="sng"/>
              <a:t> B</a:t>
            </a:r>
          </a:p>
        </p:txBody>
      </p:sp>
      <p:sp>
        <p:nvSpPr>
          <p:cNvPr id="6" name="CuadroTexto 5"/>
          <p:cNvSpPr txBox="1"/>
          <p:nvPr/>
        </p:nvSpPr>
        <p:spPr>
          <a:xfrm>
            <a:off x="9873439" y="4645591"/>
            <a:ext cx="827471" cy="400110"/>
          </a:xfrm>
          <a:prstGeom prst="rect">
            <a:avLst/>
          </a:prstGeom>
          <a:noFill/>
        </p:spPr>
        <p:txBody>
          <a:bodyPr wrap="none" rtlCol="0">
            <a:spAutoFit/>
          </a:bodyPr>
          <a:lstStyle/>
          <a:p>
            <a:r>
              <a:rPr lang="es-CO" sz="2000"/>
              <a:t>meses</a:t>
            </a:r>
          </a:p>
        </p:txBody>
      </p:sp>
      <p:sp>
        <p:nvSpPr>
          <p:cNvPr id="44" name="CuadroTexto 43"/>
          <p:cNvSpPr txBox="1"/>
          <p:nvPr/>
        </p:nvSpPr>
        <p:spPr>
          <a:xfrm>
            <a:off x="4427354" y="4697976"/>
            <a:ext cx="827471" cy="400110"/>
          </a:xfrm>
          <a:prstGeom prst="rect">
            <a:avLst/>
          </a:prstGeom>
          <a:noFill/>
        </p:spPr>
        <p:txBody>
          <a:bodyPr wrap="none" rtlCol="0">
            <a:spAutoFit/>
          </a:bodyPr>
          <a:lstStyle/>
          <a:p>
            <a:r>
              <a:rPr lang="es-CO" sz="2000"/>
              <a:t>meses</a:t>
            </a:r>
          </a:p>
        </p:txBody>
      </p:sp>
      <p:sp>
        <p:nvSpPr>
          <p:cNvPr id="11" name="Title 1">
            <a:extLst>
              <a:ext uri="{FF2B5EF4-FFF2-40B4-BE49-F238E27FC236}">
                <a16:creationId xmlns:a16="http://schemas.microsoft.com/office/drawing/2014/main" id="{30F192D1-60CD-3446-42B2-7EAF62B3222D}"/>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8" name="Rectángulo 17">
            <a:extLst>
              <a:ext uri="{FF2B5EF4-FFF2-40B4-BE49-F238E27FC236}">
                <a16:creationId xmlns:a16="http://schemas.microsoft.com/office/drawing/2014/main" id="{0CFE96EF-5AA9-39E4-2A60-F638065FD15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14635F97-B4BF-CB3D-6284-6CA8E1A20A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7E71169D-5B59-2735-5794-AC9443F91EE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684681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26</a:t>
            </a:fld>
            <a:endParaRPr lang="en-US" sz="2000"/>
          </a:p>
        </p:txBody>
      </p:sp>
      <p:sp>
        <p:nvSpPr>
          <p:cNvPr id="10" name="Title 1">
            <a:extLst>
              <a:ext uri="{FF2B5EF4-FFF2-40B4-BE49-F238E27FC236}">
                <a16:creationId xmlns:a16="http://schemas.microsoft.com/office/drawing/2014/main" id="{904B2943-B2BD-8ADF-CF91-88161D3794FD}"/>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1" name="Rectángulo 10">
            <a:extLst>
              <a:ext uri="{FF2B5EF4-FFF2-40B4-BE49-F238E27FC236}">
                <a16:creationId xmlns:a16="http://schemas.microsoft.com/office/drawing/2014/main" id="{7DFF14BD-E3B9-A823-32F1-B9F74B45363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04D4B20C-99DF-76AC-46CA-8CD4475062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BC5139B0-077A-B6BD-B375-C5EF557AA67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14" name="Straight Connector 12">
            <a:extLst>
              <a:ext uri="{FF2B5EF4-FFF2-40B4-BE49-F238E27FC236}">
                <a16:creationId xmlns:a16="http://schemas.microsoft.com/office/drawing/2014/main" id="{D3295CA1-1F8A-9829-B62C-6332B2DA15B5}"/>
              </a:ext>
            </a:extLst>
          </p:cNvPr>
          <p:cNvCxnSpPr/>
          <p:nvPr/>
        </p:nvCxnSpPr>
        <p:spPr>
          <a:xfrm>
            <a:off x="1237949" y="4832105"/>
            <a:ext cx="3200084"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Arrow Connector 13">
            <a:extLst>
              <a:ext uri="{FF2B5EF4-FFF2-40B4-BE49-F238E27FC236}">
                <a16:creationId xmlns:a16="http://schemas.microsoft.com/office/drawing/2014/main" id="{40085AF6-10FA-05CB-BC75-D357E02EB4E8}"/>
              </a:ext>
            </a:extLst>
          </p:cNvPr>
          <p:cNvCxnSpPr/>
          <p:nvPr/>
        </p:nvCxnSpPr>
        <p:spPr>
          <a:xfrm>
            <a:off x="2044634" y="4838224"/>
            <a:ext cx="0" cy="647883"/>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C447B4D9-26F5-7934-E38F-D1B00159D8E3}"/>
              </a:ext>
            </a:extLst>
          </p:cNvPr>
          <p:cNvSpPr>
            <a:spLocks/>
          </p:cNvSpPr>
          <p:nvPr/>
        </p:nvSpPr>
        <p:spPr bwMode="auto">
          <a:xfrm flipH="1">
            <a:off x="1152348" y="4458108"/>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7" name="Rectangle 11">
            <a:extLst>
              <a:ext uri="{FF2B5EF4-FFF2-40B4-BE49-F238E27FC236}">
                <a16:creationId xmlns:a16="http://schemas.microsoft.com/office/drawing/2014/main" id="{87F62C57-09E6-EB17-D3CA-65D156F06CCF}"/>
              </a:ext>
            </a:extLst>
          </p:cNvPr>
          <p:cNvSpPr>
            <a:spLocks/>
          </p:cNvSpPr>
          <p:nvPr/>
        </p:nvSpPr>
        <p:spPr bwMode="auto">
          <a:xfrm>
            <a:off x="1863856"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8" name="Rectangle 14">
            <a:extLst>
              <a:ext uri="{FF2B5EF4-FFF2-40B4-BE49-F238E27FC236}">
                <a16:creationId xmlns:a16="http://schemas.microsoft.com/office/drawing/2014/main" id="{32FE4B01-3347-1A26-3FE7-8F4CFBD6BFCA}"/>
              </a:ext>
            </a:extLst>
          </p:cNvPr>
          <p:cNvSpPr>
            <a:spLocks/>
          </p:cNvSpPr>
          <p:nvPr/>
        </p:nvSpPr>
        <p:spPr bwMode="auto">
          <a:xfrm>
            <a:off x="2719757" y="444962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9" name="Rectangle 15">
            <a:extLst>
              <a:ext uri="{FF2B5EF4-FFF2-40B4-BE49-F238E27FC236}">
                <a16:creationId xmlns:a16="http://schemas.microsoft.com/office/drawing/2014/main" id="{C725026A-48F8-63FB-5E18-31267B3AFF57}"/>
              </a:ext>
            </a:extLst>
          </p:cNvPr>
          <p:cNvSpPr>
            <a:spLocks/>
          </p:cNvSpPr>
          <p:nvPr/>
        </p:nvSpPr>
        <p:spPr bwMode="auto">
          <a:xfrm>
            <a:off x="3492830"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0" name="Rectangle 16">
            <a:extLst>
              <a:ext uri="{FF2B5EF4-FFF2-40B4-BE49-F238E27FC236}">
                <a16:creationId xmlns:a16="http://schemas.microsoft.com/office/drawing/2014/main" id="{0481E20E-8198-E622-CF6F-AD85593FB397}"/>
              </a:ext>
            </a:extLst>
          </p:cNvPr>
          <p:cNvSpPr>
            <a:spLocks/>
          </p:cNvSpPr>
          <p:nvPr/>
        </p:nvSpPr>
        <p:spPr bwMode="auto">
          <a:xfrm>
            <a:off x="4238293"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21" name="Straight Arrow Connector 20">
            <a:extLst>
              <a:ext uri="{FF2B5EF4-FFF2-40B4-BE49-F238E27FC236}">
                <a16:creationId xmlns:a16="http://schemas.microsoft.com/office/drawing/2014/main" id="{D552E5EE-61DD-B401-1CB9-84949C49D8A0}"/>
              </a:ext>
            </a:extLst>
          </p:cNvPr>
          <p:cNvCxnSpPr/>
          <p:nvPr/>
        </p:nvCxnSpPr>
        <p:spPr>
          <a:xfrm flipH="1">
            <a:off x="4438033" y="4830756"/>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32B129D9-BFE0-ABBB-156A-2366B100C3B5}"/>
              </a:ext>
            </a:extLst>
          </p:cNvPr>
          <p:cNvSpPr>
            <a:spLocks/>
          </p:cNvSpPr>
          <p:nvPr/>
        </p:nvSpPr>
        <p:spPr bwMode="auto">
          <a:xfrm>
            <a:off x="3492830" y="533804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p:sp>
        <p:nvSpPr>
          <p:cNvPr id="23" name="Rectangle 24">
            <a:extLst>
              <a:ext uri="{FF2B5EF4-FFF2-40B4-BE49-F238E27FC236}">
                <a16:creationId xmlns:a16="http://schemas.microsoft.com/office/drawing/2014/main" id="{814E593D-D4D9-47DE-B125-350882A3EBDD}"/>
              </a:ext>
            </a:extLst>
          </p:cNvPr>
          <p:cNvSpPr>
            <a:spLocks/>
          </p:cNvSpPr>
          <p:nvPr/>
        </p:nvSpPr>
        <p:spPr bwMode="auto">
          <a:xfrm>
            <a:off x="1942724" y="596830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cxnSp>
        <p:nvCxnSpPr>
          <p:cNvPr id="24" name="Straight Arrow Connector 25">
            <a:extLst>
              <a:ext uri="{FF2B5EF4-FFF2-40B4-BE49-F238E27FC236}">
                <a16:creationId xmlns:a16="http://schemas.microsoft.com/office/drawing/2014/main" id="{F9A13250-8BA0-2AB3-B818-9E037366FED8}"/>
              </a:ext>
            </a:extLst>
          </p:cNvPr>
          <p:cNvCxnSpPr/>
          <p:nvPr/>
        </p:nvCxnSpPr>
        <p:spPr>
          <a:xfrm flipH="1">
            <a:off x="2878083" y="4818515"/>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27">
            <a:extLst>
              <a:ext uri="{FF2B5EF4-FFF2-40B4-BE49-F238E27FC236}">
                <a16:creationId xmlns:a16="http://schemas.microsoft.com/office/drawing/2014/main" id="{B3DC9A90-3F9C-9387-A555-204CA4314583}"/>
              </a:ext>
            </a:extLst>
          </p:cNvPr>
          <p:cNvSpPr>
            <a:spLocks/>
          </p:cNvSpPr>
          <p:nvPr/>
        </p:nvSpPr>
        <p:spPr bwMode="auto">
          <a:xfrm>
            <a:off x="1091446" y="546115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cxnSp>
        <p:nvCxnSpPr>
          <p:cNvPr id="26" name="Straight Connector 28">
            <a:extLst>
              <a:ext uri="{FF2B5EF4-FFF2-40B4-BE49-F238E27FC236}">
                <a16:creationId xmlns:a16="http://schemas.microsoft.com/office/drawing/2014/main" id="{5808CD0C-66BE-C929-9F2F-576F0E07BD05}"/>
              </a:ext>
            </a:extLst>
          </p:cNvPr>
          <p:cNvCxnSpPr/>
          <p:nvPr/>
        </p:nvCxnSpPr>
        <p:spPr>
          <a:xfrm>
            <a:off x="6633939" y="4838223"/>
            <a:ext cx="3200084"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Arrow Connector 29">
            <a:extLst>
              <a:ext uri="{FF2B5EF4-FFF2-40B4-BE49-F238E27FC236}">
                <a16:creationId xmlns:a16="http://schemas.microsoft.com/office/drawing/2014/main" id="{D8789E6D-CA25-6D33-2807-FE3D9B321318}"/>
              </a:ext>
            </a:extLst>
          </p:cNvPr>
          <p:cNvCxnSpPr/>
          <p:nvPr/>
        </p:nvCxnSpPr>
        <p:spPr>
          <a:xfrm>
            <a:off x="7440624" y="4844342"/>
            <a:ext cx="0" cy="647883"/>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30">
            <a:extLst>
              <a:ext uri="{FF2B5EF4-FFF2-40B4-BE49-F238E27FC236}">
                <a16:creationId xmlns:a16="http://schemas.microsoft.com/office/drawing/2014/main" id="{F243F3B5-D73C-A3C4-AA28-DF3D1288FD05}"/>
              </a:ext>
            </a:extLst>
          </p:cNvPr>
          <p:cNvSpPr>
            <a:spLocks/>
          </p:cNvSpPr>
          <p:nvPr/>
        </p:nvSpPr>
        <p:spPr bwMode="auto">
          <a:xfrm flipH="1">
            <a:off x="6548338" y="4464226"/>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9" name="Rectangle 31">
            <a:extLst>
              <a:ext uri="{FF2B5EF4-FFF2-40B4-BE49-F238E27FC236}">
                <a16:creationId xmlns:a16="http://schemas.microsoft.com/office/drawing/2014/main" id="{1415F1E5-55B6-8CA1-5A59-5B379C8580DF}"/>
              </a:ext>
            </a:extLst>
          </p:cNvPr>
          <p:cNvSpPr>
            <a:spLocks/>
          </p:cNvSpPr>
          <p:nvPr/>
        </p:nvSpPr>
        <p:spPr bwMode="auto">
          <a:xfrm>
            <a:off x="7259846"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0" name="Rectangle 33">
            <a:extLst>
              <a:ext uri="{FF2B5EF4-FFF2-40B4-BE49-F238E27FC236}">
                <a16:creationId xmlns:a16="http://schemas.microsoft.com/office/drawing/2014/main" id="{4935EC00-B916-F6D3-09CA-BD9AECF9ADC5}"/>
              </a:ext>
            </a:extLst>
          </p:cNvPr>
          <p:cNvSpPr>
            <a:spLocks/>
          </p:cNvSpPr>
          <p:nvPr/>
        </p:nvSpPr>
        <p:spPr bwMode="auto">
          <a:xfrm>
            <a:off x="8115747" y="445573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1" name="Rectangle 34">
            <a:extLst>
              <a:ext uri="{FF2B5EF4-FFF2-40B4-BE49-F238E27FC236}">
                <a16:creationId xmlns:a16="http://schemas.microsoft.com/office/drawing/2014/main" id="{533D7219-64D3-B84F-D51D-F79A100451BA}"/>
              </a:ext>
            </a:extLst>
          </p:cNvPr>
          <p:cNvSpPr>
            <a:spLocks/>
          </p:cNvSpPr>
          <p:nvPr/>
        </p:nvSpPr>
        <p:spPr bwMode="auto">
          <a:xfrm>
            <a:off x="8888820"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2" name="Rectangle 35">
            <a:extLst>
              <a:ext uri="{FF2B5EF4-FFF2-40B4-BE49-F238E27FC236}">
                <a16:creationId xmlns:a16="http://schemas.microsoft.com/office/drawing/2014/main" id="{F11C9D6C-5769-513E-2F7E-36BFE01FBA64}"/>
              </a:ext>
            </a:extLst>
          </p:cNvPr>
          <p:cNvSpPr>
            <a:spLocks/>
          </p:cNvSpPr>
          <p:nvPr/>
        </p:nvSpPr>
        <p:spPr bwMode="auto">
          <a:xfrm>
            <a:off x="9634283"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34" name="Straight Arrow Connector 36">
            <a:extLst>
              <a:ext uri="{FF2B5EF4-FFF2-40B4-BE49-F238E27FC236}">
                <a16:creationId xmlns:a16="http://schemas.microsoft.com/office/drawing/2014/main" id="{B2C247C7-7630-2CB5-5FDD-DD43D455BB99}"/>
              </a:ext>
            </a:extLst>
          </p:cNvPr>
          <p:cNvCxnSpPr/>
          <p:nvPr/>
        </p:nvCxnSpPr>
        <p:spPr>
          <a:xfrm>
            <a:off x="9834025" y="4836875"/>
            <a:ext cx="0" cy="32804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37">
            <a:extLst>
              <a:ext uri="{FF2B5EF4-FFF2-40B4-BE49-F238E27FC236}">
                <a16:creationId xmlns:a16="http://schemas.microsoft.com/office/drawing/2014/main" id="{023F0CCE-A667-9492-8D2B-A62FF6DBD070}"/>
              </a:ext>
            </a:extLst>
          </p:cNvPr>
          <p:cNvSpPr>
            <a:spLocks/>
          </p:cNvSpPr>
          <p:nvPr/>
        </p:nvSpPr>
        <p:spPr bwMode="auto">
          <a:xfrm>
            <a:off x="8929855" y="5134734"/>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a:t>
            </a:r>
          </a:p>
        </p:txBody>
      </p:sp>
      <p:sp>
        <p:nvSpPr>
          <p:cNvPr id="36" name="Rectangle 38">
            <a:extLst>
              <a:ext uri="{FF2B5EF4-FFF2-40B4-BE49-F238E27FC236}">
                <a16:creationId xmlns:a16="http://schemas.microsoft.com/office/drawing/2014/main" id="{1AAB0316-A554-7896-C599-7C33D383B6CE}"/>
              </a:ext>
            </a:extLst>
          </p:cNvPr>
          <p:cNvSpPr>
            <a:spLocks/>
          </p:cNvSpPr>
          <p:nvPr/>
        </p:nvSpPr>
        <p:spPr bwMode="auto">
          <a:xfrm>
            <a:off x="7338714" y="534416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250</a:t>
            </a:r>
          </a:p>
        </p:txBody>
      </p:sp>
      <p:cxnSp>
        <p:nvCxnSpPr>
          <p:cNvPr id="37" name="Straight Arrow Connector 39">
            <a:extLst>
              <a:ext uri="{FF2B5EF4-FFF2-40B4-BE49-F238E27FC236}">
                <a16:creationId xmlns:a16="http://schemas.microsoft.com/office/drawing/2014/main" id="{D54D2B5B-8233-6845-F1BA-378467F652E8}"/>
              </a:ext>
            </a:extLst>
          </p:cNvPr>
          <p:cNvCxnSpPr/>
          <p:nvPr/>
        </p:nvCxnSpPr>
        <p:spPr>
          <a:xfrm flipH="1">
            <a:off x="8274073" y="4824634"/>
            <a:ext cx="2" cy="54418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8" name="Rectangle 40">
            <a:extLst>
              <a:ext uri="{FF2B5EF4-FFF2-40B4-BE49-F238E27FC236}">
                <a16:creationId xmlns:a16="http://schemas.microsoft.com/office/drawing/2014/main" id="{FB7559EB-87E6-7FB0-49C4-821B29FB6F10}"/>
              </a:ext>
            </a:extLst>
          </p:cNvPr>
          <p:cNvSpPr>
            <a:spLocks/>
          </p:cNvSpPr>
          <p:nvPr/>
        </p:nvSpPr>
        <p:spPr bwMode="auto">
          <a:xfrm>
            <a:off x="6487436" y="546727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440</a:t>
            </a:r>
          </a:p>
        </p:txBody>
      </p:sp>
      <p:sp>
        <p:nvSpPr>
          <p:cNvPr id="39" name="Rectangle 41">
            <a:extLst>
              <a:ext uri="{FF2B5EF4-FFF2-40B4-BE49-F238E27FC236}">
                <a16:creationId xmlns:a16="http://schemas.microsoft.com/office/drawing/2014/main" id="{0FB4BD8D-05B9-1E75-1C26-B869BD48E4E9}"/>
              </a:ext>
            </a:extLst>
          </p:cNvPr>
          <p:cNvSpPr>
            <a:spLocks/>
          </p:cNvSpPr>
          <p:nvPr/>
        </p:nvSpPr>
        <p:spPr bwMode="auto">
          <a:xfrm>
            <a:off x="8115747" y="5332218"/>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250</a:t>
            </a:r>
          </a:p>
        </p:txBody>
      </p:sp>
      <p:cxnSp>
        <p:nvCxnSpPr>
          <p:cNvPr id="40" name="Straight Arrow Connector 42">
            <a:extLst>
              <a:ext uri="{FF2B5EF4-FFF2-40B4-BE49-F238E27FC236}">
                <a16:creationId xmlns:a16="http://schemas.microsoft.com/office/drawing/2014/main" id="{E290062C-9C70-79E6-3B08-784A6D8580A6}"/>
              </a:ext>
            </a:extLst>
          </p:cNvPr>
          <p:cNvCxnSpPr/>
          <p:nvPr/>
        </p:nvCxnSpPr>
        <p:spPr>
          <a:xfrm flipH="1">
            <a:off x="9051106" y="4812689"/>
            <a:ext cx="2" cy="54418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1" name="TextBox 4">
            <a:extLst>
              <a:ext uri="{FF2B5EF4-FFF2-40B4-BE49-F238E27FC236}">
                <a16:creationId xmlns:a16="http://schemas.microsoft.com/office/drawing/2014/main" id="{3466AED6-8830-509F-98AE-00051009EE70}"/>
              </a:ext>
            </a:extLst>
          </p:cNvPr>
          <p:cNvSpPr txBox="1"/>
          <p:nvPr/>
        </p:nvSpPr>
        <p:spPr>
          <a:xfrm>
            <a:off x="2200917" y="3940934"/>
            <a:ext cx="1105111" cy="400110"/>
          </a:xfrm>
          <a:prstGeom prst="rect">
            <a:avLst/>
          </a:prstGeom>
          <a:noFill/>
        </p:spPr>
        <p:txBody>
          <a:bodyPr wrap="none" rtlCol="0">
            <a:spAutoFit/>
          </a:bodyPr>
          <a:lstStyle/>
          <a:p>
            <a:r>
              <a:rPr lang="en-US" sz="2000" b="1" i="1" u="sng" err="1"/>
              <a:t>Banco</a:t>
            </a:r>
            <a:r>
              <a:rPr lang="en-US" sz="2000" b="1" i="1" u="sng"/>
              <a:t> A</a:t>
            </a:r>
          </a:p>
        </p:txBody>
      </p:sp>
      <p:sp>
        <p:nvSpPr>
          <p:cNvPr id="42" name="TextBox 32">
            <a:extLst>
              <a:ext uri="{FF2B5EF4-FFF2-40B4-BE49-F238E27FC236}">
                <a16:creationId xmlns:a16="http://schemas.microsoft.com/office/drawing/2014/main" id="{4DC81E9A-6C5D-C0E3-A497-D2A2F4142510}"/>
              </a:ext>
            </a:extLst>
          </p:cNvPr>
          <p:cNvSpPr txBox="1"/>
          <p:nvPr/>
        </p:nvSpPr>
        <p:spPr>
          <a:xfrm>
            <a:off x="7785597" y="3944177"/>
            <a:ext cx="1128835" cy="400110"/>
          </a:xfrm>
          <a:prstGeom prst="rect">
            <a:avLst/>
          </a:prstGeom>
          <a:noFill/>
        </p:spPr>
        <p:txBody>
          <a:bodyPr wrap="none" rtlCol="0">
            <a:spAutoFit/>
          </a:bodyPr>
          <a:lstStyle/>
          <a:p>
            <a:r>
              <a:rPr lang="en-US" sz="2000" b="1" i="1" u="sng" err="1"/>
              <a:t>Banco</a:t>
            </a:r>
            <a:r>
              <a:rPr lang="en-US" sz="2000" b="1" i="1" u="sng"/>
              <a:t> B</a:t>
            </a:r>
          </a:p>
        </p:txBody>
      </p:sp>
      <p:sp>
        <p:nvSpPr>
          <p:cNvPr id="43" name="CuadroTexto 42">
            <a:extLst>
              <a:ext uri="{FF2B5EF4-FFF2-40B4-BE49-F238E27FC236}">
                <a16:creationId xmlns:a16="http://schemas.microsoft.com/office/drawing/2014/main" id="{6D3BCEDE-5EBA-2CA2-04BC-CC05348A021D}"/>
              </a:ext>
            </a:extLst>
          </p:cNvPr>
          <p:cNvSpPr txBox="1"/>
          <p:nvPr/>
        </p:nvSpPr>
        <p:spPr>
          <a:xfrm>
            <a:off x="9873439" y="4645591"/>
            <a:ext cx="827471" cy="400110"/>
          </a:xfrm>
          <a:prstGeom prst="rect">
            <a:avLst/>
          </a:prstGeom>
          <a:noFill/>
        </p:spPr>
        <p:txBody>
          <a:bodyPr wrap="none" rtlCol="0">
            <a:spAutoFit/>
          </a:bodyPr>
          <a:lstStyle/>
          <a:p>
            <a:r>
              <a:rPr lang="es-CO" sz="2000"/>
              <a:t>meses</a:t>
            </a:r>
          </a:p>
        </p:txBody>
      </p:sp>
      <p:sp>
        <p:nvSpPr>
          <p:cNvPr id="73" name="CuadroTexto 72">
            <a:extLst>
              <a:ext uri="{FF2B5EF4-FFF2-40B4-BE49-F238E27FC236}">
                <a16:creationId xmlns:a16="http://schemas.microsoft.com/office/drawing/2014/main" id="{8983E88F-8E4C-6F6F-2B64-9D39A40C78F2}"/>
              </a:ext>
            </a:extLst>
          </p:cNvPr>
          <p:cNvSpPr txBox="1"/>
          <p:nvPr/>
        </p:nvSpPr>
        <p:spPr>
          <a:xfrm>
            <a:off x="4427354" y="4697976"/>
            <a:ext cx="827471" cy="400110"/>
          </a:xfrm>
          <a:prstGeom prst="rect">
            <a:avLst/>
          </a:prstGeom>
          <a:noFill/>
        </p:spPr>
        <p:txBody>
          <a:bodyPr wrap="none" rtlCol="0">
            <a:spAutoFit/>
          </a:bodyPr>
          <a:lstStyle/>
          <a:p>
            <a:r>
              <a:rPr lang="es-CO" sz="2000"/>
              <a:t>meses</a:t>
            </a:r>
          </a:p>
        </p:txBody>
      </p:sp>
      <mc:AlternateContent xmlns:mc="http://schemas.openxmlformats.org/markup-compatibility/2006" xmlns:a14="http://schemas.microsoft.com/office/drawing/2010/main">
        <mc:Choice Requires="a14">
          <p:sp>
            <p:nvSpPr>
              <p:cNvPr id="74" name="CuadroTexto 73">
                <a:extLst>
                  <a:ext uri="{FF2B5EF4-FFF2-40B4-BE49-F238E27FC236}">
                    <a16:creationId xmlns:a16="http://schemas.microsoft.com/office/drawing/2014/main" id="{589CAFA7-C139-EB0C-8B2D-B10E19F8F522}"/>
                  </a:ext>
                </a:extLst>
              </p:cNvPr>
              <p:cNvSpPr txBox="1"/>
              <p:nvPr/>
            </p:nvSpPr>
            <p:spPr>
              <a:xfrm>
                <a:off x="3475924" y="2628000"/>
                <a:ext cx="5366213" cy="439544"/>
              </a:xfrm>
              <a:prstGeom prst="rect">
                <a:avLst/>
              </a:prstGeom>
              <a:noFill/>
            </p:spPr>
            <p:txBody>
              <a:bodyPr wrap="none" lIns="0" tIns="0" rIns="0" bIns="0" rtlCol="0">
                <a:spAutoFit/>
              </a:bodyPr>
              <a:lstStyle/>
              <a:p>
                <a:pPr/>
                <a14:m>
                  <m:oMathPara xmlns:m="http://schemas.openxmlformats.org/officeDocument/2006/math">
                    <m:oMath>
                      <m:sSub>
                        <m:sSubPr>
                          <m:ctrlPr>
                            <a:rPr lang="es-CO" sz="1400" i="1">
                              <a:solidFill>
                                <a:schemeClr val="tx1"/>
                              </a:solidFill>
                              <a:latin typeface="Cambria Math" panose="02040503050406030204" pitchFamily="18" charset="0"/>
                            </a:rPr>
                          </m:ctrlPr>
                        </m:sSubPr>
                        <m:e>
                          <m:r>
                            <a:rPr lang="es-CO" sz="1400" i="1">
                              <a:solidFill>
                                <a:schemeClr val="tx1"/>
                              </a:solidFill>
                              <a:latin typeface="Cambria Math" panose="02040503050406030204" pitchFamily="18" charset="0"/>
                            </a:rPr>
                            <m:t>𝑉</m:t>
                          </m:r>
                        </m:e>
                        <m:sub>
                          <m:r>
                            <a:rPr lang="es-CO" sz="1400" i="1">
                              <a:solidFill>
                                <a:schemeClr val="tx1"/>
                              </a:solidFill>
                              <a:latin typeface="Cambria Math" panose="02040503050406030204" pitchFamily="18" charset="0"/>
                            </a:rPr>
                            <m:t>𝑡</m:t>
                          </m:r>
                          <m:r>
                            <a:rPr lang="es-CO" sz="1400" i="1">
                              <a:solidFill>
                                <a:schemeClr val="tx1"/>
                              </a:solidFill>
                              <a:latin typeface="Cambria Math" panose="02040503050406030204" pitchFamily="18" charset="0"/>
                            </a:rPr>
                            <m:t>=0</m:t>
                          </m:r>
                        </m:sub>
                      </m:sSub>
                      <m:d>
                        <m:dPr>
                          <m:ctrlPr>
                            <a:rPr lang="es-CO" sz="1400" i="1">
                              <a:solidFill>
                                <a:schemeClr val="tx1"/>
                              </a:solidFill>
                              <a:latin typeface="Cambria Math" panose="02040503050406030204" pitchFamily="18" charset="0"/>
                            </a:rPr>
                          </m:ctrlPr>
                        </m:dPr>
                        <m:e>
                          <m:r>
                            <a:rPr lang="es-CO" sz="1400" i="1">
                              <a:solidFill>
                                <a:schemeClr val="tx1"/>
                              </a:solidFill>
                              <a:latin typeface="Cambria Math" panose="02040503050406030204" pitchFamily="18" charset="0"/>
                            </a:rPr>
                            <m:t>𝐵𝑎𝑛𝑐𝑜</m:t>
                          </m:r>
                          <m:r>
                            <a:rPr lang="es-CO" sz="1400" i="1">
                              <a:solidFill>
                                <a:schemeClr val="tx1"/>
                              </a:solidFill>
                              <a:latin typeface="Cambria Math" panose="02040503050406030204" pitchFamily="18" charset="0"/>
                            </a:rPr>
                            <m:t> </m:t>
                          </m:r>
                          <m:r>
                            <a:rPr lang="es-CO" sz="1400" i="1">
                              <a:solidFill>
                                <a:schemeClr val="tx1"/>
                              </a:solidFill>
                              <a:latin typeface="Cambria Math" panose="02040503050406030204" pitchFamily="18" charset="0"/>
                            </a:rPr>
                            <m:t>𝐴</m:t>
                          </m:r>
                        </m:e>
                      </m:d>
                      <m:r>
                        <a:rPr lang="es-MX" sz="1400" b="0" i="1" smtClean="0">
                          <a:solidFill>
                            <a:schemeClr val="tx1"/>
                          </a:solidFill>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300</m:t>
                          </m:r>
                        </m:num>
                        <m:den>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den>
                      </m:f>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500</m:t>
                          </m:r>
                        </m:num>
                        <m:den>
                          <m:sSup>
                            <m:sSupPr>
                              <m:ctrlPr>
                                <a:rPr lang="es-ES" sz="1400" b="0" i="1" smtClean="0">
                                  <a:latin typeface="Cambria Math" panose="02040503050406030204" pitchFamily="18" charset="0"/>
                                </a:rPr>
                              </m:ctrlPr>
                            </m:sSupPr>
                            <m:e>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e>
                            <m:sup>
                              <m:r>
                                <a:rPr lang="es-ES" sz="1400" b="0" i="1" smtClean="0">
                                  <a:latin typeface="Cambria Math" panose="02040503050406030204" pitchFamily="18" charset="0"/>
                                </a:rPr>
                                <m:t>2</m:t>
                              </m:r>
                            </m:sup>
                          </m:sSup>
                        </m:den>
                      </m:f>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240</m:t>
                          </m:r>
                        </m:num>
                        <m:den>
                          <m:sSup>
                            <m:sSupPr>
                              <m:ctrlPr>
                                <a:rPr lang="es-ES" sz="1400" i="1">
                                  <a:latin typeface="Cambria Math" panose="02040503050406030204" pitchFamily="18" charset="0"/>
                                </a:rPr>
                              </m:ctrlPr>
                            </m:sSupPr>
                            <m:e>
                              <m:d>
                                <m:dPr>
                                  <m:ctrlPr>
                                    <a:rPr lang="es-ES" sz="1400" i="1">
                                      <a:latin typeface="Cambria Math" panose="02040503050406030204" pitchFamily="18" charset="0"/>
                                    </a:rPr>
                                  </m:ctrlPr>
                                </m:dPr>
                                <m:e>
                                  <m:r>
                                    <a:rPr lang="es-ES" sz="1400" i="1">
                                      <a:latin typeface="Cambria Math" panose="02040503050406030204" pitchFamily="18" charset="0"/>
                                    </a:rPr>
                                    <m:t>1+1%</m:t>
                                  </m:r>
                                </m:e>
                              </m:d>
                            </m:e>
                            <m:sup>
                              <m:r>
                                <a:rPr lang="es-ES" sz="1400" b="0" i="1" smtClean="0">
                                  <a:latin typeface="Cambria Math" panose="02040503050406030204" pitchFamily="18" charset="0"/>
                                </a:rPr>
                                <m:t>4</m:t>
                              </m:r>
                            </m:sup>
                          </m:sSup>
                        </m:den>
                      </m:f>
                      <m:r>
                        <a:rPr lang="es-MX" sz="1400" i="1">
                          <a:latin typeface="Cambria Math" panose="02040503050406030204" pitchFamily="18" charset="0"/>
                        </a:rPr>
                        <m:t>=</m:t>
                      </m:r>
                      <m:r>
                        <a:rPr lang="es-CO" sz="1400" i="1">
                          <a:latin typeface="Cambria Math" panose="02040503050406030204" pitchFamily="18" charset="0"/>
                        </a:rPr>
                        <m:t> </m:t>
                      </m:r>
                      <m:r>
                        <a:rPr lang="es-MX" sz="1400" b="0" i="1" smtClean="0">
                          <a:latin typeface="Cambria Math" panose="02040503050406030204" pitchFamily="18" charset="0"/>
                        </a:rPr>
                        <m:t>−</m:t>
                      </m:r>
                      <m:r>
                        <a:rPr lang="es-ES" sz="1400" b="0" i="1" smtClean="0">
                          <a:latin typeface="Cambria Math" panose="02040503050406030204" pitchFamily="18" charset="0"/>
                        </a:rPr>
                        <m:t>1.017,8 </m:t>
                      </m:r>
                    </m:oMath>
                  </m:oMathPara>
                </a14:m>
                <a:endParaRPr lang="es-CO" sz="1400"/>
              </a:p>
            </p:txBody>
          </p:sp>
        </mc:Choice>
        <mc:Fallback xmlns="">
          <p:sp>
            <p:nvSpPr>
              <p:cNvPr id="74" name="CuadroTexto 73">
                <a:extLst>
                  <a:ext uri="{FF2B5EF4-FFF2-40B4-BE49-F238E27FC236}">
                    <a16:creationId xmlns:a16="http://schemas.microsoft.com/office/drawing/2014/main" id="{589CAFA7-C139-EB0C-8B2D-B10E19F8F522}"/>
                  </a:ext>
                </a:extLst>
              </p:cNvPr>
              <p:cNvSpPr txBox="1">
                <a:spLocks noRot="1" noChangeAspect="1" noMove="1" noResize="1" noEditPoints="1" noAdjustHandles="1" noChangeArrowheads="1" noChangeShapeType="1" noTextEdit="1"/>
              </p:cNvSpPr>
              <p:nvPr/>
            </p:nvSpPr>
            <p:spPr>
              <a:xfrm>
                <a:off x="3475924" y="2628000"/>
                <a:ext cx="5366213" cy="439544"/>
              </a:xfrm>
              <a:prstGeom prst="rect">
                <a:avLst/>
              </a:prstGeom>
              <a:blipFill>
                <a:blip r:embed="rId3"/>
                <a:stretch>
                  <a:fillRect l="-227"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CuadroTexto 74">
                <a:extLst>
                  <a:ext uri="{FF2B5EF4-FFF2-40B4-BE49-F238E27FC236}">
                    <a16:creationId xmlns:a16="http://schemas.microsoft.com/office/drawing/2014/main" id="{8CD296C9-7B6D-634C-61E3-F2F141917AC7}"/>
                  </a:ext>
                </a:extLst>
              </p:cNvPr>
              <p:cNvSpPr txBox="1"/>
              <p:nvPr/>
            </p:nvSpPr>
            <p:spPr>
              <a:xfrm>
                <a:off x="2982167" y="3312000"/>
                <a:ext cx="6352188" cy="447302"/>
              </a:xfrm>
              <a:prstGeom prst="rect">
                <a:avLst/>
              </a:prstGeom>
              <a:noFill/>
            </p:spPr>
            <p:txBody>
              <a:bodyPr wrap="none" lIns="0" tIns="0" rIns="0" bIns="0" rtlCol="0">
                <a:spAutoFit/>
              </a:bodyPr>
              <a:lstStyle/>
              <a:p>
                <a:pPr/>
                <a14:m>
                  <m:oMathPara xmlns:m="http://schemas.openxmlformats.org/officeDocument/2006/math">
                    <m:oMath>
                      <m:sSub>
                        <m:sSubPr>
                          <m:ctrlPr>
                            <a:rPr lang="es-CO" sz="1400" i="1">
                              <a:latin typeface="Cambria Math" panose="02040503050406030204" pitchFamily="18" charset="0"/>
                            </a:rPr>
                          </m:ctrlPr>
                        </m:sSubPr>
                        <m:e>
                          <m:r>
                            <a:rPr lang="es-CO" sz="1400" i="1">
                              <a:latin typeface="Cambria Math" panose="02040503050406030204" pitchFamily="18" charset="0"/>
                            </a:rPr>
                            <m:t>𝑉</m:t>
                          </m:r>
                        </m:e>
                        <m:sub>
                          <m:r>
                            <a:rPr lang="es-CO" sz="1400" i="1">
                              <a:latin typeface="Cambria Math" panose="02040503050406030204" pitchFamily="18" charset="0"/>
                            </a:rPr>
                            <m:t>𝑡</m:t>
                          </m:r>
                          <m:r>
                            <a:rPr lang="es-CO" sz="1400" i="1">
                              <a:latin typeface="Cambria Math" panose="02040503050406030204" pitchFamily="18" charset="0"/>
                            </a:rPr>
                            <m:t>=0</m:t>
                          </m:r>
                        </m:sub>
                      </m:sSub>
                      <m:d>
                        <m:dPr>
                          <m:ctrlPr>
                            <a:rPr lang="es-CO" sz="1400" i="1">
                              <a:latin typeface="Cambria Math" panose="02040503050406030204" pitchFamily="18" charset="0"/>
                            </a:rPr>
                          </m:ctrlPr>
                        </m:dPr>
                        <m:e>
                          <m:r>
                            <a:rPr lang="es-CO" sz="1400" i="1">
                              <a:latin typeface="Cambria Math" panose="02040503050406030204" pitchFamily="18" charset="0"/>
                            </a:rPr>
                            <m:t>𝐵𝑎𝑛𝑐𝑜</m:t>
                          </m:r>
                          <m:r>
                            <a:rPr lang="es-CO" sz="1400" i="1">
                              <a:latin typeface="Cambria Math" panose="02040503050406030204" pitchFamily="18" charset="0"/>
                            </a:rPr>
                            <m:t> </m:t>
                          </m:r>
                          <m:r>
                            <a:rPr lang="es-MX" sz="1400" b="0" i="1" smtClean="0">
                              <a:latin typeface="Cambria Math" panose="02040503050406030204" pitchFamily="18" charset="0"/>
                            </a:rPr>
                            <m:t>𝐵</m:t>
                          </m:r>
                        </m:e>
                      </m:d>
                      <m:r>
                        <a:rPr lang="es-MX" sz="1400" i="1">
                          <a:latin typeface="Cambria Math" panose="02040503050406030204" pitchFamily="18" charset="0"/>
                        </a:rPr>
                        <m:t>=</m:t>
                      </m:r>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440</m:t>
                          </m:r>
                        </m:num>
                        <m:den>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den>
                      </m:f>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250</m:t>
                          </m:r>
                        </m:num>
                        <m:den>
                          <m:sSup>
                            <m:sSupPr>
                              <m:ctrlPr>
                                <a:rPr lang="es-ES" sz="1400" b="0" i="1" smtClean="0">
                                  <a:latin typeface="Cambria Math" panose="02040503050406030204" pitchFamily="18" charset="0"/>
                                </a:rPr>
                              </m:ctrlPr>
                            </m:sSupPr>
                            <m:e>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e>
                            <m:sup>
                              <m:r>
                                <a:rPr lang="es-ES" sz="1400" b="0" i="1" smtClean="0">
                                  <a:latin typeface="Cambria Math" panose="02040503050406030204" pitchFamily="18" charset="0"/>
                                </a:rPr>
                                <m:t>2</m:t>
                              </m:r>
                            </m:sup>
                          </m:sSup>
                        </m:den>
                      </m:f>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250</m:t>
                          </m:r>
                        </m:num>
                        <m:den>
                          <m:sSup>
                            <m:sSupPr>
                              <m:ctrlPr>
                                <a:rPr lang="es-ES" sz="1400" b="0" i="1" smtClean="0">
                                  <a:latin typeface="Cambria Math" panose="02040503050406030204" pitchFamily="18" charset="0"/>
                                </a:rPr>
                              </m:ctrlPr>
                            </m:sSupPr>
                            <m:e>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e>
                            <m:sup>
                              <m:r>
                                <a:rPr lang="es-ES" sz="1400" b="0" i="1" smtClean="0">
                                  <a:latin typeface="Cambria Math" panose="02040503050406030204" pitchFamily="18" charset="0"/>
                                </a:rPr>
                                <m:t>3</m:t>
                              </m:r>
                            </m:sup>
                          </m:sSup>
                        </m:den>
                      </m:f>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100</m:t>
                          </m:r>
                        </m:num>
                        <m:den>
                          <m:sSup>
                            <m:sSupPr>
                              <m:ctrlPr>
                                <a:rPr lang="es-ES" sz="1400" i="1">
                                  <a:latin typeface="Cambria Math" panose="02040503050406030204" pitchFamily="18" charset="0"/>
                                </a:rPr>
                              </m:ctrlPr>
                            </m:sSupPr>
                            <m:e>
                              <m:d>
                                <m:dPr>
                                  <m:ctrlPr>
                                    <a:rPr lang="es-ES" sz="1400" i="1">
                                      <a:latin typeface="Cambria Math" panose="02040503050406030204" pitchFamily="18" charset="0"/>
                                    </a:rPr>
                                  </m:ctrlPr>
                                </m:dPr>
                                <m:e>
                                  <m:r>
                                    <a:rPr lang="es-ES" sz="1400" i="1">
                                      <a:latin typeface="Cambria Math" panose="02040503050406030204" pitchFamily="18" charset="0"/>
                                    </a:rPr>
                                    <m:t>1+1%</m:t>
                                  </m:r>
                                </m:e>
                              </m:d>
                            </m:e>
                            <m:sup>
                              <m:r>
                                <a:rPr lang="es-ES" sz="1400" b="0" i="1" smtClean="0">
                                  <a:latin typeface="Cambria Math" panose="02040503050406030204" pitchFamily="18" charset="0"/>
                                </a:rPr>
                                <m:t>4</m:t>
                              </m:r>
                            </m:sup>
                          </m:sSup>
                        </m:den>
                      </m:f>
                      <m:r>
                        <a:rPr lang="es-MX" sz="1400" b="0" i="1" smtClean="0">
                          <a:latin typeface="Cambria Math" panose="02040503050406030204" pitchFamily="18" charset="0"/>
                        </a:rPr>
                        <m:t>=−</m:t>
                      </m:r>
                      <m:r>
                        <a:rPr lang="es-ES" sz="1400" b="0" i="1" smtClean="0">
                          <a:latin typeface="Cambria Math" panose="02040503050406030204" pitchFamily="18" charset="0"/>
                        </a:rPr>
                        <m:t>1.019,4 </m:t>
                      </m:r>
                    </m:oMath>
                  </m:oMathPara>
                </a14:m>
                <a:endParaRPr lang="es-CO" sz="1400"/>
              </a:p>
            </p:txBody>
          </p:sp>
        </mc:Choice>
        <mc:Fallback xmlns="">
          <p:sp>
            <p:nvSpPr>
              <p:cNvPr id="75" name="CuadroTexto 74">
                <a:extLst>
                  <a:ext uri="{FF2B5EF4-FFF2-40B4-BE49-F238E27FC236}">
                    <a16:creationId xmlns:a16="http://schemas.microsoft.com/office/drawing/2014/main" id="{8CD296C9-7B6D-634C-61E3-F2F141917AC7}"/>
                  </a:ext>
                </a:extLst>
              </p:cNvPr>
              <p:cNvSpPr txBox="1">
                <a:spLocks noRot="1" noChangeAspect="1" noMove="1" noResize="1" noEditPoints="1" noAdjustHandles="1" noChangeArrowheads="1" noChangeShapeType="1" noTextEdit="1"/>
              </p:cNvSpPr>
              <p:nvPr/>
            </p:nvSpPr>
            <p:spPr>
              <a:xfrm>
                <a:off x="2982167" y="3312000"/>
                <a:ext cx="6352188" cy="447302"/>
              </a:xfrm>
              <a:prstGeom prst="rect">
                <a:avLst/>
              </a:prstGeom>
              <a:blipFill>
                <a:blip r:embed="rId4"/>
                <a:stretch>
                  <a:fillRect l="-96" b="-5405"/>
                </a:stretch>
              </a:blipFill>
            </p:spPr>
            <p:txBody>
              <a:bodyPr/>
              <a:lstStyle/>
              <a:p>
                <a:r>
                  <a:rPr lang="en-US">
                    <a:noFill/>
                  </a:rPr>
                  <a:t> </a:t>
                </a:r>
              </a:p>
            </p:txBody>
          </p:sp>
        </mc:Fallback>
      </mc:AlternateContent>
      <p:sp>
        <p:nvSpPr>
          <p:cNvPr id="76" name="Content Placeholder 2">
            <a:extLst>
              <a:ext uri="{FF2B5EF4-FFF2-40B4-BE49-F238E27FC236}">
                <a16:creationId xmlns:a16="http://schemas.microsoft.com/office/drawing/2014/main" id="{A8F0FBD9-3AD5-D0BC-D2E0-35DF188C824D}"/>
              </a:ext>
            </a:extLst>
          </p:cNvPr>
          <p:cNvSpPr>
            <a:spLocks noGrp="1"/>
          </p:cNvSpPr>
          <p:nvPr>
            <p:ph idx="1"/>
          </p:nvPr>
        </p:nvSpPr>
        <p:spPr>
          <a:xfrm>
            <a:off x="581192" y="1977247"/>
            <a:ext cx="11029615" cy="530570"/>
          </a:xfrm>
        </p:spPr>
        <p:txBody>
          <a:bodyPr>
            <a:normAutofit/>
          </a:bodyPr>
          <a:lstStyle/>
          <a:p>
            <a:pPr marL="0" indent="0" algn="ctr">
              <a:buNone/>
            </a:pPr>
            <a:r>
              <a:rPr lang="es-ES_tradnl" sz="2400">
                <a:solidFill>
                  <a:schemeClr val="tx1"/>
                </a:solidFill>
              </a:rPr>
              <a:t>Comparación en USD del mes cero</a:t>
            </a:r>
            <a:endParaRPr lang="es-ES_tradnl" sz="2400"/>
          </a:p>
        </p:txBody>
      </p:sp>
    </p:spTree>
    <p:extLst>
      <p:ext uri="{BB962C8B-B14F-4D97-AF65-F5344CB8AC3E}">
        <p14:creationId xmlns:p14="http://schemas.microsoft.com/office/powerpoint/2010/main" val="4020796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4CA3D-2350-BA1B-BA78-B2155880A2F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900E8F-C656-CE08-D8B2-E2F77D16311E}"/>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27</a:t>
            </a:fld>
            <a:endParaRPr lang="en-US" sz="2000"/>
          </a:p>
        </p:txBody>
      </p:sp>
      <p:sp>
        <p:nvSpPr>
          <p:cNvPr id="10" name="Title 1">
            <a:extLst>
              <a:ext uri="{FF2B5EF4-FFF2-40B4-BE49-F238E27FC236}">
                <a16:creationId xmlns:a16="http://schemas.microsoft.com/office/drawing/2014/main" id="{97DE0776-9BCE-4E65-F16E-6D88F8A06805}"/>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1" name="Rectángulo 10">
            <a:extLst>
              <a:ext uri="{FF2B5EF4-FFF2-40B4-BE49-F238E27FC236}">
                <a16:creationId xmlns:a16="http://schemas.microsoft.com/office/drawing/2014/main" id="{E920CFAF-B9F9-B1CA-3E85-13292EAC96B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11FCBB7F-8EBC-3E3A-8343-B25BA93236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A52785FA-8B8D-31A9-16C3-D910AA53B1F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14" name="Straight Connector 12">
            <a:extLst>
              <a:ext uri="{FF2B5EF4-FFF2-40B4-BE49-F238E27FC236}">
                <a16:creationId xmlns:a16="http://schemas.microsoft.com/office/drawing/2014/main" id="{1148B111-CB0F-5833-BE2B-AE8EE2570BC0}"/>
              </a:ext>
            </a:extLst>
          </p:cNvPr>
          <p:cNvCxnSpPr/>
          <p:nvPr/>
        </p:nvCxnSpPr>
        <p:spPr>
          <a:xfrm>
            <a:off x="1237949" y="4832105"/>
            <a:ext cx="3200084"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Arrow Connector 13">
            <a:extLst>
              <a:ext uri="{FF2B5EF4-FFF2-40B4-BE49-F238E27FC236}">
                <a16:creationId xmlns:a16="http://schemas.microsoft.com/office/drawing/2014/main" id="{84679E08-A6C7-5964-C207-6814FD81A23F}"/>
              </a:ext>
            </a:extLst>
          </p:cNvPr>
          <p:cNvCxnSpPr/>
          <p:nvPr/>
        </p:nvCxnSpPr>
        <p:spPr>
          <a:xfrm>
            <a:off x="2044634" y="4838224"/>
            <a:ext cx="0" cy="647883"/>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02076CF5-98C9-0EAD-AE59-92C2A597446C}"/>
              </a:ext>
            </a:extLst>
          </p:cNvPr>
          <p:cNvSpPr>
            <a:spLocks/>
          </p:cNvSpPr>
          <p:nvPr/>
        </p:nvSpPr>
        <p:spPr bwMode="auto">
          <a:xfrm flipH="1">
            <a:off x="1152348" y="4458108"/>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7" name="Rectangle 11">
            <a:extLst>
              <a:ext uri="{FF2B5EF4-FFF2-40B4-BE49-F238E27FC236}">
                <a16:creationId xmlns:a16="http://schemas.microsoft.com/office/drawing/2014/main" id="{91A291C7-A9E5-75F6-B4AB-546D7E9F90A3}"/>
              </a:ext>
            </a:extLst>
          </p:cNvPr>
          <p:cNvSpPr>
            <a:spLocks/>
          </p:cNvSpPr>
          <p:nvPr/>
        </p:nvSpPr>
        <p:spPr bwMode="auto">
          <a:xfrm>
            <a:off x="1863856"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8" name="Rectangle 14">
            <a:extLst>
              <a:ext uri="{FF2B5EF4-FFF2-40B4-BE49-F238E27FC236}">
                <a16:creationId xmlns:a16="http://schemas.microsoft.com/office/drawing/2014/main" id="{3646D90C-25B0-6BE8-38D6-38CE9A79FC13}"/>
              </a:ext>
            </a:extLst>
          </p:cNvPr>
          <p:cNvSpPr>
            <a:spLocks/>
          </p:cNvSpPr>
          <p:nvPr/>
        </p:nvSpPr>
        <p:spPr bwMode="auto">
          <a:xfrm>
            <a:off x="2719757" y="4449620"/>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9" name="Rectangle 15">
            <a:extLst>
              <a:ext uri="{FF2B5EF4-FFF2-40B4-BE49-F238E27FC236}">
                <a16:creationId xmlns:a16="http://schemas.microsoft.com/office/drawing/2014/main" id="{BDE2F8FD-5F8E-41FF-3918-AB7FFC914BC9}"/>
              </a:ext>
            </a:extLst>
          </p:cNvPr>
          <p:cNvSpPr>
            <a:spLocks/>
          </p:cNvSpPr>
          <p:nvPr/>
        </p:nvSpPr>
        <p:spPr bwMode="auto">
          <a:xfrm>
            <a:off x="3492830"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0" name="Rectangle 16">
            <a:extLst>
              <a:ext uri="{FF2B5EF4-FFF2-40B4-BE49-F238E27FC236}">
                <a16:creationId xmlns:a16="http://schemas.microsoft.com/office/drawing/2014/main" id="{864D8B3D-2E5E-A6DC-A928-656D6CB1CF52}"/>
              </a:ext>
            </a:extLst>
          </p:cNvPr>
          <p:cNvSpPr>
            <a:spLocks/>
          </p:cNvSpPr>
          <p:nvPr/>
        </p:nvSpPr>
        <p:spPr bwMode="auto">
          <a:xfrm>
            <a:off x="4238293" y="445810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21" name="Straight Arrow Connector 20">
            <a:extLst>
              <a:ext uri="{FF2B5EF4-FFF2-40B4-BE49-F238E27FC236}">
                <a16:creationId xmlns:a16="http://schemas.microsoft.com/office/drawing/2014/main" id="{8FF1BFE1-235B-4EB7-1B65-DCEBA7F2BC92}"/>
              </a:ext>
            </a:extLst>
          </p:cNvPr>
          <p:cNvCxnSpPr/>
          <p:nvPr/>
        </p:nvCxnSpPr>
        <p:spPr>
          <a:xfrm flipH="1">
            <a:off x="4438033" y="4830756"/>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09D279BF-A701-5E89-FF5A-8A4EF07C88E0}"/>
              </a:ext>
            </a:extLst>
          </p:cNvPr>
          <p:cNvSpPr>
            <a:spLocks/>
          </p:cNvSpPr>
          <p:nvPr/>
        </p:nvSpPr>
        <p:spPr bwMode="auto">
          <a:xfrm>
            <a:off x="3492830" y="533804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p:sp>
        <p:nvSpPr>
          <p:cNvPr id="23" name="Rectangle 24">
            <a:extLst>
              <a:ext uri="{FF2B5EF4-FFF2-40B4-BE49-F238E27FC236}">
                <a16:creationId xmlns:a16="http://schemas.microsoft.com/office/drawing/2014/main" id="{5ACF6F89-C34A-E320-FF14-D38C562886FD}"/>
              </a:ext>
            </a:extLst>
          </p:cNvPr>
          <p:cNvSpPr>
            <a:spLocks/>
          </p:cNvSpPr>
          <p:nvPr/>
        </p:nvSpPr>
        <p:spPr bwMode="auto">
          <a:xfrm>
            <a:off x="1942724" y="596830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cxnSp>
        <p:nvCxnSpPr>
          <p:cNvPr id="24" name="Straight Arrow Connector 25">
            <a:extLst>
              <a:ext uri="{FF2B5EF4-FFF2-40B4-BE49-F238E27FC236}">
                <a16:creationId xmlns:a16="http://schemas.microsoft.com/office/drawing/2014/main" id="{221D1E93-9BBD-EA50-F11C-AA479A87EAEC}"/>
              </a:ext>
            </a:extLst>
          </p:cNvPr>
          <p:cNvCxnSpPr/>
          <p:nvPr/>
        </p:nvCxnSpPr>
        <p:spPr>
          <a:xfrm flipH="1">
            <a:off x="2878083" y="4818515"/>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27">
            <a:extLst>
              <a:ext uri="{FF2B5EF4-FFF2-40B4-BE49-F238E27FC236}">
                <a16:creationId xmlns:a16="http://schemas.microsoft.com/office/drawing/2014/main" id="{1620D150-9C83-C38B-8FA5-EB7A064397AC}"/>
              </a:ext>
            </a:extLst>
          </p:cNvPr>
          <p:cNvSpPr>
            <a:spLocks/>
          </p:cNvSpPr>
          <p:nvPr/>
        </p:nvSpPr>
        <p:spPr bwMode="auto">
          <a:xfrm>
            <a:off x="1091446" y="546115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cxnSp>
        <p:nvCxnSpPr>
          <p:cNvPr id="26" name="Straight Connector 28">
            <a:extLst>
              <a:ext uri="{FF2B5EF4-FFF2-40B4-BE49-F238E27FC236}">
                <a16:creationId xmlns:a16="http://schemas.microsoft.com/office/drawing/2014/main" id="{9C931E4C-DCF1-47EC-56F1-A7829890918D}"/>
              </a:ext>
            </a:extLst>
          </p:cNvPr>
          <p:cNvCxnSpPr/>
          <p:nvPr/>
        </p:nvCxnSpPr>
        <p:spPr>
          <a:xfrm>
            <a:off x="6633939" y="4838223"/>
            <a:ext cx="3200084"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Arrow Connector 29">
            <a:extLst>
              <a:ext uri="{FF2B5EF4-FFF2-40B4-BE49-F238E27FC236}">
                <a16:creationId xmlns:a16="http://schemas.microsoft.com/office/drawing/2014/main" id="{AF77C9EF-45AE-5851-36FA-0B171CEF1956}"/>
              </a:ext>
            </a:extLst>
          </p:cNvPr>
          <p:cNvCxnSpPr/>
          <p:nvPr/>
        </p:nvCxnSpPr>
        <p:spPr>
          <a:xfrm>
            <a:off x="7440624" y="4844342"/>
            <a:ext cx="0" cy="647883"/>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30">
            <a:extLst>
              <a:ext uri="{FF2B5EF4-FFF2-40B4-BE49-F238E27FC236}">
                <a16:creationId xmlns:a16="http://schemas.microsoft.com/office/drawing/2014/main" id="{E85F3D40-6176-6288-B720-37C243634881}"/>
              </a:ext>
            </a:extLst>
          </p:cNvPr>
          <p:cNvSpPr>
            <a:spLocks/>
          </p:cNvSpPr>
          <p:nvPr/>
        </p:nvSpPr>
        <p:spPr bwMode="auto">
          <a:xfrm flipH="1">
            <a:off x="6548338" y="4464226"/>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9" name="Rectangle 31">
            <a:extLst>
              <a:ext uri="{FF2B5EF4-FFF2-40B4-BE49-F238E27FC236}">
                <a16:creationId xmlns:a16="http://schemas.microsoft.com/office/drawing/2014/main" id="{3EF86D39-2AAC-2307-274C-5B05DC1B9F90}"/>
              </a:ext>
            </a:extLst>
          </p:cNvPr>
          <p:cNvSpPr>
            <a:spLocks/>
          </p:cNvSpPr>
          <p:nvPr/>
        </p:nvSpPr>
        <p:spPr bwMode="auto">
          <a:xfrm>
            <a:off x="7259846"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30" name="Rectangle 33">
            <a:extLst>
              <a:ext uri="{FF2B5EF4-FFF2-40B4-BE49-F238E27FC236}">
                <a16:creationId xmlns:a16="http://schemas.microsoft.com/office/drawing/2014/main" id="{9EADCE5B-392B-1E9C-ED04-8CAF8460BC8B}"/>
              </a:ext>
            </a:extLst>
          </p:cNvPr>
          <p:cNvSpPr>
            <a:spLocks/>
          </p:cNvSpPr>
          <p:nvPr/>
        </p:nvSpPr>
        <p:spPr bwMode="auto">
          <a:xfrm>
            <a:off x="8115747" y="4455738"/>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31" name="Rectangle 34">
            <a:extLst>
              <a:ext uri="{FF2B5EF4-FFF2-40B4-BE49-F238E27FC236}">
                <a16:creationId xmlns:a16="http://schemas.microsoft.com/office/drawing/2014/main" id="{CCB96E62-BC23-C50F-D36D-341D195E60FA}"/>
              </a:ext>
            </a:extLst>
          </p:cNvPr>
          <p:cNvSpPr>
            <a:spLocks/>
          </p:cNvSpPr>
          <p:nvPr/>
        </p:nvSpPr>
        <p:spPr bwMode="auto">
          <a:xfrm>
            <a:off x="8888820"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32" name="Rectangle 35">
            <a:extLst>
              <a:ext uri="{FF2B5EF4-FFF2-40B4-BE49-F238E27FC236}">
                <a16:creationId xmlns:a16="http://schemas.microsoft.com/office/drawing/2014/main" id="{EB92CF30-65CB-6921-65A6-DCB9A3FF4F24}"/>
              </a:ext>
            </a:extLst>
          </p:cNvPr>
          <p:cNvSpPr>
            <a:spLocks/>
          </p:cNvSpPr>
          <p:nvPr/>
        </p:nvSpPr>
        <p:spPr bwMode="auto">
          <a:xfrm>
            <a:off x="9634283" y="4464226"/>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34" name="Straight Arrow Connector 36">
            <a:extLst>
              <a:ext uri="{FF2B5EF4-FFF2-40B4-BE49-F238E27FC236}">
                <a16:creationId xmlns:a16="http://schemas.microsoft.com/office/drawing/2014/main" id="{CF4E64DA-D0DE-D2F5-D589-AE1B0545756E}"/>
              </a:ext>
            </a:extLst>
          </p:cNvPr>
          <p:cNvCxnSpPr/>
          <p:nvPr/>
        </p:nvCxnSpPr>
        <p:spPr>
          <a:xfrm>
            <a:off x="9834025" y="4836875"/>
            <a:ext cx="0" cy="32804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37">
            <a:extLst>
              <a:ext uri="{FF2B5EF4-FFF2-40B4-BE49-F238E27FC236}">
                <a16:creationId xmlns:a16="http://schemas.microsoft.com/office/drawing/2014/main" id="{FDA7A25F-4C8C-BEEB-F36C-8969631ADAAA}"/>
              </a:ext>
            </a:extLst>
          </p:cNvPr>
          <p:cNvSpPr>
            <a:spLocks/>
          </p:cNvSpPr>
          <p:nvPr/>
        </p:nvSpPr>
        <p:spPr bwMode="auto">
          <a:xfrm>
            <a:off x="8929855" y="5134734"/>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a:t>
            </a:r>
          </a:p>
        </p:txBody>
      </p:sp>
      <p:sp>
        <p:nvSpPr>
          <p:cNvPr id="36" name="Rectangle 38">
            <a:extLst>
              <a:ext uri="{FF2B5EF4-FFF2-40B4-BE49-F238E27FC236}">
                <a16:creationId xmlns:a16="http://schemas.microsoft.com/office/drawing/2014/main" id="{FAA4FC94-EA49-CE3C-E15D-EFAA5B9EA51D}"/>
              </a:ext>
            </a:extLst>
          </p:cNvPr>
          <p:cNvSpPr>
            <a:spLocks/>
          </p:cNvSpPr>
          <p:nvPr/>
        </p:nvSpPr>
        <p:spPr bwMode="auto">
          <a:xfrm>
            <a:off x="7338714" y="534416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250</a:t>
            </a:r>
          </a:p>
        </p:txBody>
      </p:sp>
      <p:cxnSp>
        <p:nvCxnSpPr>
          <p:cNvPr id="37" name="Straight Arrow Connector 39">
            <a:extLst>
              <a:ext uri="{FF2B5EF4-FFF2-40B4-BE49-F238E27FC236}">
                <a16:creationId xmlns:a16="http://schemas.microsoft.com/office/drawing/2014/main" id="{9432B657-C511-06CF-47C6-18345FF7C8FD}"/>
              </a:ext>
            </a:extLst>
          </p:cNvPr>
          <p:cNvCxnSpPr/>
          <p:nvPr/>
        </p:nvCxnSpPr>
        <p:spPr>
          <a:xfrm flipH="1">
            <a:off x="8274073" y="4824634"/>
            <a:ext cx="2" cy="54418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8" name="Rectangle 40">
            <a:extLst>
              <a:ext uri="{FF2B5EF4-FFF2-40B4-BE49-F238E27FC236}">
                <a16:creationId xmlns:a16="http://schemas.microsoft.com/office/drawing/2014/main" id="{9261B424-438C-3C59-7E27-C87978567784}"/>
              </a:ext>
            </a:extLst>
          </p:cNvPr>
          <p:cNvSpPr>
            <a:spLocks/>
          </p:cNvSpPr>
          <p:nvPr/>
        </p:nvSpPr>
        <p:spPr bwMode="auto">
          <a:xfrm>
            <a:off x="6487436" y="5467273"/>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440</a:t>
            </a:r>
          </a:p>
        </p:txBody>
      </p:sp>
      <p:sp>
        <p:nvSpPr>
          <p:cNvPr id="39" name="Rectangle 41">
            <a:extLst>
              <a:ext uri="{FF2B5EF4-FFF2-40B4-BE49-F238E27FC236}">
                <a16:creationId xmlns:a16="http://schemas.microsoft.com/office/drawing/2014/main" id="{8A337929-155F-0441-1090-283647CAD78C}"/>
              </a:ext>
            </a:extLst>
          </p:cNvPr>
          <p:cNvSpPr>
            <a:spLocks/>
          </p:cNvSpPr>
          <p:nvPr/>
        </p:nvSpPr>
        <p:spPr bwMode="auto">
          <a:xfrm>
            <a:off x="8115747" y="5332218"/>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250</a:t>
            </a:r>
          </a:p>
        </p:txBody>
      </p:sp>
      <p:cxnSp>
        <p:nvCxnSpPr>
          <p:cNvPr id="40" name="Straight Arrow Connector 42">
            <a:extLst>
              <a:ext uri="{FF2B5EF4-FFF2-40B4-BE49-F238E27FC236}">
                <a16:creationId xmlns:a16="http://schemas.microsoft.com/office/drawing/2014/main" id="{B559C03D-0529-745B-7D7C-76A4277EFE35}"/>
              </a:ext>
            </a:extLst>
          </p:cNvPr>
          <p:cNvCxnSpPr/>
          <p:nvPr/>
        </p:nvCxnSpPr>
        <p:spPr>
          <a:xfrm flipH="1">
            <a:off x="9051106" y="4812689"/>
            <a:ext cx="2" cy="54418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1" name="TextBox 4">
            <a:extLst>
              <a:ext uri="{FF2B5EF4-FFF2-40B4-BE49-F238E27FC236}">
                <a16:creationId xmlns:a16="http://schemas.microsoft.com/office/drawing/2014/main" id="{8CB436CD-306C-E84F-3DF6-AA916DBC3BA0}"/>
              </a:ext>
            </a:extLst>
          </p:cNvPr>
          <p:cNvSpPr txBox="1"/>
          <p:nvPr/>
        </p:nvSpPr>
        <p:spPr>
          <a:xfrm>
            <a:off x="2200917" y="3940934"/>
            <a:ext cx="1105111" cy="400110"/>
          </a:xfrm>
          <a:prstGeom prst="rect">
            <a:avLst/>
          </a:prstGeom>
          <a:noFill/>
        </p:spPr>
        <p:txBody>
          <a:bodyPr wrap="none" rtlCol="0">
            <a:spAutoFit/>
          </a:bodyPr>
          <a:lstStyle/>
          <a:p>
            <a:r>
              <a:rPr lang="en-US" sz="2000" b="1" i="1" u="sng" err="1"/>
              <a:t>Banco</a:t>
            </a:r>
            <a:r>
              <a:rPr lang="en-US" sz="2000" b="1" i="1" u="sng"/>
              <a:t> A</a:t>
            </a:r>
          </a:p>
        </p:txBody>
      </p:sp>
      <p:sp>
        <p:nvSpPr>
          <p:cNvPr id="42" name="TextBox 32">
            <a:extLst>
              <a:ext uri="{FF2B5EF4-FFF2-40B4-BE49-F238E27FC236}">
                <a16:creationId xmlns:a16="http://schemas.microsoft.com/office/drawing/2014/main" id="{F6281D4A-1AA8-CC4C-A58B-2DD8C65F3BA3}"/>
              </a:ext>
            </a:extLst>
          </p:cNvPr>
          <p:cNvSpPr txBox="1"/>
          <p:nvPr/>
        </p:nvSpPr>
        <p:spPr>
          <a:xfrm>
            <a:off x="7785597" y="3944177"/>
            <a:ext cx="1128835" cy="400110"/>
          </a:xfrm>
          <a:prstGeom prst="rect">
            <a:avLst/>
          </a:prstGeom>
          <a:noFill/>
        </p:spPr>
        <p:txBody>
          <a:bodyPr wrap="none" rtlCol="0">
            <a:spAutoFit/>
          </a:bodyPr>
          <a:lstStyle/>
          <a:p>
            <a:r>
              <a:rPr lang="en-US" sz="2000" b="1" i="1" u="sng" err="1"/>
              <a:t>Banco</a:t>
            </a:r>
            <a:r>
              <a:rPr lang="en-US" sz="2000" b="1" i="1" u="sng"/>
              <a:t> B</a:t>
            </a:r>
          </a:p>
        </p:txBody>
      </p:sp>
      <p:sp>
        <p:nvSpPr>
          <p:cNvPr id="43" name="CuadroTexto 42">
            <a:extLst>
              <a:ext uri="{FF2B5EF4-FFF2-40B4-BE49-F238E27FC236}">
                <a16:creationId xmlns:a16="http://schemas.microsoft.com/office/drawing/2014/main" id="{DFCFA18F-F4A2-733D-5948-9D33B51F2E6D}"/>
              </a:ext>
            </a:extLst>
          </p:cNvPr>
          <p:cNvSpPr txBox="1"/>
          <p:nvPr/>
        </p:nvSpPr>
        <p:spPr>
          <a:xfrm>
            <a:off x="9873439" y="4645591"/>
            <a:ext cx="827471" cy="400110"/>
          </a:xfrm>
          <a:prstGeom prst="rect">
            <a:avLst/>
          </a:prstGeom>
          <a:noFill/>
        </p:spPr>
        <p:txBody>
          <a:bodyPr wrap="none" rtlCol="0">
            <a:spAutoFit/>
          </a:bodyPr>
          <a:lstStyle/>
          <a:p>
            <a:r>
              <a:rPr lang="es-CO" sz="2000"/>
              <a:t>meses</a:t>
            </a:r>
          </a:p>
        </p:txBody>
      </p:sp>
      <p:sp>
        <p:nvSpPr>
          <p:cNvPr id="73" name="CuadroTexto 72">
            <a:extLst>
              <a:ext uri="{FF2B5EF4-FFF2-40B4-BE49-F238E27FC236}">
                <a16:creationId xmlns:a16="http://schemas.microsoft.com/office/drawing/2014/main" id="{FB693D14-6B7E-ABD3-9ACE-AC248291670A}"/>
              </a:ext>
            </a:extLst>
          </p:cNvPr>
          <p:cNvSpPr txBox="1"/>
          <p:nvPr/>
        </p:nvSpPr>
        <p:spPr>
          <a:xfrm>
            <a:off x="4427354" y="4697976"/>
            <a:ext cx="827471" cy="400110"/>
          </a:xfrm>
          <a:prstGeom prst="rect">
            <a:avLst/>
          </a:prstGeom>
          <a:noFill/>
        </p:spPr>
        <p:txBody>
          <a:bodyPr wrap="none" rtlCol="0">
            <a:spAutoFit/>
          </a:bodyPr>
          <a:lstStyle/>
          <a:p>
            <a:r>
              <a:rPr lang="es-CO" sz="2000"/>
              <a:t>meses</a:t>
            </a:r>
          </a:p>
        </p:txBody>
      </p:sp>
      <mc:AlternateContent xmlns:mc="http://schemas.openxmlformats.org/markup-compatibility/2006" xmlns:a14="http://schemas.microsoft.com/office/drawing/2010/main">
        <mc:Choice Requires="a14">
          <p:sp>
            <p:nvSpPr>
              <p:cNvPr id="74" name="CuadroTexto 73">
                <a:extLst>
                  <a:ext uri="{FF2B5EF4-FFF2-40B4-BE49-F238E27FC236}">
                    <a16:creationId xmlns:a16="http://schemas.microsoft.com/office/drawing/2014/main" id="{682C00F3-F488-466F-B349-E396358C304C}"/>
                  </a:ext>
                </a:extLst>
              </p:cNvPr>
              <p:cNvSpPr txBox="1"/>
              <p:nvPr/>
            </p:nvSpPr>
            <p:spPr>
              <a:xfrm>
                <a:off x="2728925" y="2627756"/>
                <a:ext cx="5928739" cy="435184"/>
              </a:xfrm>
              <a:prstGeom prst="rect">
                <a:avLst/>
              </a:prstGeom>
              <a:noFill/>
            </p:spPr>
            <p:txBody>
              <a:bodyPr wrap="none" lIns="0" tIns="0" rIns="0" bIns="0" rtlCol="0">
                <a:spAutoFit/>
              </a:bodyPr>
              <a:lstStyle/>
              <a:p>
                <a:pPr/>
                <a14:m>
                  <m:oMathPara xmlns:m="http://schemas.openxmlformats.org/officeDocument/2006/math">
                    <m:oMath>
                      <m:sSub>
                        <m:sSubPr>
                          <m:ctrlPr>
                            <a:rPr lang="es-CO" sz="1400" i="1">
                              <a:latin typeface="Cambria Math" panose="02040503050406030204" pitchFamily="18" charset="0"/>
                            </a:rPr>
                          </m:ctrlPr>
                        </m:sSubPr>
                        <m:e>
                          <m:r>
                            <a:rPr lang="es-CO" sz="1400" i="1">
                              <a:latin typeface="Cambria Math" panose="02040503050406030204" pitchFamily="18" charset="0"/>
                            </a:rPr>
                            <m:t>𝑉</m:t>
                          </m:r>
                        </m:e>
                        <m:sub>
                          <m:r>
                            <a:rPr lang="es-CO" sz="1400" i="1">
                              <a:latin typeface="Cambria Math" panose="02040503050406030204" pitchFamily="18" charset="0"/>
                            </a:rPr>
                            <m:t>𝑡</m:t>
                          </m:r>
                          <m:r>
                            <a:rPr lang="es-CO" sz="1400" i="1">
                              <a:latin typeface="Cambria Math" panose="02040503050406030204" pitchFamily="18" charset="0"/>
                            </a:rPr>
                            <m:t>=3</m:t>
                          </m:r>
                        </m:sub>
                      </m:sSub>
                      <m:d>
                        <m:dPr>
                          <m:ctrlPr>
                            <a:rPr lang="es-CO" sz="1400" i="1">
                              <a:latin typeface="Cambria Math" panose="02040503050406030204" pitchFamily="18" charset="0"/>
                            </a:rPr>
                          </m:ctrlPr>
                        </m:dPr>
                        <m:e>
                          <m:r>
                            <a:rPr lang="es-CO" sz="1400" i="1">
                              <a:latin typeface="Cambria Math" panose="02040503050406030204" pitchFamily="18" charset="0"/>
                            </a:rPr>
                            <m:t>𝐵𝑎𝑛𝑐𝑜</m:t>
                          </m:r>
                          <m:r>
                            <a:rPr lang="es-CO" sz="1400" i="1">
                              <a:latin typeface="Cambria Math" panose="02040503050406030204" pitchFamily="18" charset="0"/>
                            </a:rPr>
                            <m:t> </m:t>
                          </m:r>
                          <m:r>
                            <a:rPr lang="es-CO" sz="1400" i="1">
                              <a:latin typeface="Cambria Math" panose="02040503050406030204" pitchFamily="18" charset="0"/>
                            </a:rPr>
                            <m:t>𝐴</m:t>
                          </m:r>
                        </m:e>
                      </m:d>
                      <m:r>
                        <a:rPr lang="es-MX" sz="1400" i="1">
                          <a:latin typeface="Cambria Math" panose="02040503050406030204" pitchFamily="18" charset="0"/>
                        </a:rPr>
                        <m:t>=</m:t>
                      </m:r>
                      <m:r>
                        <a:rPr lang="es-MX" sz="1400" b="0" i="1" smtClean="0">
                          <a:latin typeface="Cambria Math" panose="02040503050406030204" pitchFamily="18" charset="0"/>
                        </a:rPr>
                        <m:t>−300</m:t>
                      </m:r>
                      <m:sSup>
                        <m:sSupPr>
                          <m:ctrlPr>
                            <a:rPr lang="es-ES" sz="1400" b="0" i="1" smtClean="0">
                              <a:latin typeface="Cambria Math" panose="02040503050406030204" pitchFamily="18" charset="0"/>
                            </a:rPr>
                          </m:ctrlPr>
                        </m:sSupPr>
                        <m:e>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e>
                        <m:sup>
                          <m:r>
                            <a:rPr lang="es-ES" sz="1400" b="0" i="1" smtClean="0">
                              <a:latin typeface="Cambria Math" panose="02040503050406030204" pitchFamily="18" charset="0"/>
                            </a:rPr>
                            <m:t>2</m:t>
                          </m:r>
                        </m:sup>
                      </m:sSup>
                      <m:r>
                        <a:rPr lang="es-ES" sz="1400" b="0" i="1" smtClean="0">
                          <a:latin typeface="Cambria Math" panose="02040503050406030204" pitchFamily="18" charset="0"/>
                        </a:rPr>
                        <m:t>±</m:t>
                      </m:r>
                      <m:r>
                        <a:rPr lang="es-MX" sz="1400" b="0" i="1" smtClean="0">
                          <a:latin typeface="Cambria Math" panose="02040503050406030204" pitchFamily="18" charset="0"/>
                        </a:rPr>
                        <m:t>500</m:t>
                      </m:r>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r>
                        <a:rPr lang="es-MX" sz="1400" b="0" i="1" smtClean="0">
                          <a:latin typeface="Cambria Math" panose="02040503050406030204" pitchFamily="18" charset="0"/>
                        </a:rPr>
                        <m:t>−</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240</m:t>
                          </m:r>
                        </m:num>
                        <m:den>
                          <m:sSup>
                            <m:sSupPr>
                              <m:ctrlPr>
                                <a:rPr lang="es-ES" sz="1400" i="1">
                                  <a:latin typeface="Cambria Math" panose="02040503050406030204" pitchFamily="18" charset="0"/>
                                </a:rPr>
                              </m:ctrlPr>
                            </m:sSupPr>
                            <m:e>
                              <m:d>
                                <m:dPr>
                                  <m:ctrlPr>
                                    <a:rPr lang="es-ES" sz="1400" i="1">
                                      <a:latin typeface="Cambria Math" panose="02040503050406030204" pitchFamily="18" charset="0"/>
                                    </a:rPr>
                                  </m:ctrlPr>
                                </m:dPr>
                                <m:e>
                                  <m:r>
                                    <a:rPr lang="es-ES" sz="1400" i="1">
                                      <a:latin typeface="Cambria Math" panose="02040503050406030204" pitchFamily="18" charset="0"/>
                                    </a:rPr>
                                    <m:t>1+1%</m:t>
                                  </m:r>
                                </m:e>
                              </m:d>
                            </m:e>
                            <m:sup>
                              <m:r>
                                <a:rPr lang="es-ES" sz="1400" b="0" i="1" smtClean="0">
                                  <a:latin typeface="Cambria Math" panose="02040503050406030204" pitchFamily="18" charset="0"/>
                                </a:rPr>
                                <m:t>1</m:t>
                              </m:r>
                            </m:sup>
                          </m:sSup>
                        </m:den>
                      </m:f>
                      <m:r>
                        <a:rPr lang="es-MX" sz="1400" i="1">
                          <a:latin typeface="Cambria Math" panose="02040503050406030204" pitchFamily="18" charset="0"/>
                        </a:rPr>
                        <m:t>=</m:t>
                      </m:r>
                      <m:r>
                        <a:rPr lang="es-CO" sz="1400" i="1">
                          <a:latin typeface="Cambria Math" panose="02040503050406030204" pitchFamily="18" charset="0"/>
                        </a:rPr>
                        <m:t> </m:t>
                      </m:r>
                      <m:r>
                        <a:rPr lang="es-MX" sz="1400" b="0" i="1" smtClean="0">
                          <a:latin typeface="Cambria Math" panose="02040503050406030204" pitchFamily="18" charset="0"/>
                        </a:rPr>
                        <m:t>−</m:t>
                      </m:r>
                      <m:r>
                        <a:rPr lang="es-ES" sz="1400" b="0" i="1" smtClean="0">
                          <a:latin typeface="Cambria Math" panose="02040503050406030204" pitchFamily="18" charset="0"/>
                        </a:rPr>
                        <m:t>1.048,6 </m:t>
                      </m:r>
                    </m:oMath>
                  </m:oMathPara>
                </a14:m>
                <a:endParaRPr lang="es-CO" sz="1400"/>
              </a:p>
            </p:txBody>
          </p:sp>
        </mc:Choice>
        <mc:Fallback xmlns="">
          <p:sp>
            <p:nvSpPr>
              <p:cNvPr id="74" name="CuadroTexto 73">
                <a:extLst>
                  <a:ext uri="{FF2B5EF4-FFF2-40B4-BE49-F238E27FC236}">
                    <a16:creationId xmlns:a16="http://schemas.microsoft.com/office/drawing/2014/main" id="{682C00F3-F488-466F-B349-E396358C304C}"/>
                  </a:ext>
                </a:extLst>
              </p:cNvPr>
              <p:cNvSpPr txBox="1">
                <a:spLocks noRot="1" noChangeAspect="1" noMove="1" noResize="1" noEditPoints="1" noAdjustHandles="1" noChangeArrowheads="1" noChangeShapeType="1" noTextEdit="1"/>
              </p:cNvSpPr>
              <p:nvPr/>
            </p:nvSpPr>
            <p:spPr>
              <a:xfrm>
                <a:off x="2728925" y="2627756"/>
                <a:ext cx="5928739" cy="435184"/>
              </a:xfrm>
              <a:prstGeom prst="rect">
                <a:avLst/>
              </a:prstGeom>
              <a:blipFill>
                <a:blip r:embed="rId3"/>
                <a:stretch>
                  <a:fillRect l="-103" b="-84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CuadroTexto 74">
                <a:extLst>
                  <a:ext uri="{FF2B5EF4-FFF2-40B4-BE49-F238E27FC236}">
                    <a16:creationId xmlns:a16="http://schemas.microsoft.com/office/drawing/2014/main" id="{FF439D3C-F1C3-06A9-26D8-AE4C3AF7B6D4}"/>
                  </a:ext>
                </a:extLst>
              </p:cNvPr>
              <p:cNvSpPr txBox="1"/>
              <p:nvPr/>
            </p:nvSpPr>
            <p:spPr>
              <a:xfrm>
                <a:off x="2290792" y="3312129"/>
                <a:ext cx="6695872" cy="435184"/>
              </a:xfrm>
              <a:prstGeom prst="rect">
                <a:avLst/>
              </a:prstGeom>
              <a:noFill/>
            </p:spPr>
            <p:txBody>
              <a:bodyPr wrap="none" lIns="0" tIns="0" rIns="0" bIns="0" rtlCol="0">
                <a:spAutoFit/>
              </a:bodyPr>
              <a:lstStyle/>
              <a:p>
                <a:pPr/>
                <a14:m>
                  <m:oMathPara xmlns:m="http://schemas.openxmlformats.org/officeDocument/2006/math">
                    <m:oMath>
                      <m:sSub>
                        <m:sSubPr>
                          <m:ctrlPr>
                            <a:rPr lang="es-CO" sz="1400" i="1">
                              <a:latin typeface="Cambria Math" panose="02040503050406030204" pitchFamily="18" charset="0"/>
                            </a:rPr>
                          </m:ctrlPr>
                        </m:sSubPr>
                        <m:e>
                          <m:r>
                            <a:rPr lang="es-CO" sz="1400" i="1">
                              <a:latin typeface="Cambria Math" panose="02040503050406030204" pitchFamily="18" charset="0"/>
                            </a:rPr>
                            <m:t>𝑉</m:t>
                          </m:r>
                        </m:e>
                        <m:sub>
                          <m:r>
                            <a:rPr lang="es-CO" sz="1400" i="1">
                              <a:latin typeface="Cambria Math" panose="02040503050406030204" pitchFamily="18" charset="0"/>
                            </a:rPr>
                            <m:t>𝑡</m:t>
                          </m:r>
                          <m:r>
                            <a:rPr lang="es-CO" sz="1400" i="1">
                              <a:latin typeface="Cambria Math" panose="02040503050406030204" pitchFamily="18" charset="0"/>
                            </a:rPr>
                            <m:t>=3</m:t>
                          </m:r>
                        </m:sub>
                      </m:sSub>
                      <m:d>
                        <m:dPr>
                          <m:ctrlPr>
                            <a:rPr lang="es-CO" sz="1400" i="1">
                              <a:latin typeface="Cambria Math" panose="02040503050406030204" pitchFamily="18" charset="0"/>
                            </a:rPr>
                          </m:ctrlPr>
                        </m:dPr>
                        <m:e>
                          <m:r>
                            <a:rPr lang="es-CO" sz="1400" i="1">
                              <a:latin typeface="Cambria Math" panose="02040503050406030204" pitchFamily="18" charset="0"/>
                            </a:rPr>
                            <m:t>𝐵𝑎𝑛𝑐𝑜</m:t>
                          </m:r>
                          <m:r>
                            <a:rPr lang="es-CO" sz="1400" i="1">
                              <a:latin typeface="Cambria Math" panose="02040503050406030204" pitchFamily="18" charset="0"/>
                            </a:rPr>
                            <m:t> </m:t>
                          </m:r>
                          <m:r>
                            <a:rPr lang="es-MX" sz="1400" b="0" i="1" smtClean="0">
                              <a:latin typeface="Cambria Math" panose="02040503050406030204" pitchFamily="18" charset="0"/>
                            </a:rPr>
                            <m:t>𝐵</m:t>
                          </m:r>
                        </m:e>
                      </m:d>
                      <m:r>
                        <a:rPr lang="es-MX" sz="1400" i="1">
                          <a:latin typeface="Cambria Math" panose="02040503050406030204" pitchFamily="18" charset="0"/>
                        </a:rPr>
                        <m:t>=</m:t>
                      </m:r>
                      <m:r>
                        <a:rPr lang="es-MX" sz="1400" b="0" i="1" smtClean="0">
                          <a:latin typeface="Cambria Math" panose="02040503050406030204" pitchFamily="18" charset="0"/>
                        </a:rPr>
                        <m:t>−</m:t>
                      </m:r>
                      <m:r>
                        <a:rPr lang="es-ES" sz="1400" b="0" i="1" smtClean="0">
                          <a:latin typeface="Cambria Math" panose="02040503050406030204" pitchFamily="18" charset="0"/>
                        </a:rPr>
                        <m:t>440</m:t>
                      </m:r>
                      <m:sSup>
                        <m:sSupPr>
                          <m:ctrlPr>
                            <a:rPr lang="es-ES" sz="1400" b="0" i="1" smtClean="0">
                              <a:latin typeface="Cambria Math" panose="02040503050406030204" pitchFamily="18" charset="0"/>
                            </a:rPr>
                          </m:ctrlPr>
                        </m:sSupPr>
                        <m:e>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e>
                        <m:sup>
                          <m:r>
                            <a:rPr lang="es-ES" sz="1400" b="0" i="1" smtClean="0">
                              <a:latin typeface="Cambria Math" panose="02040503050406030204" pitchFamily="18" charset="0"/>
                            </a:rPr>
                            <m:t>2</m:t>
                          </m:r>
                        </m:sup>
                      </m:sSup>
                      <m:r>
                        <a:rPr lang="es-MX" sz="1400" b="0" i="1" smtClean="0">
                          <a:latin typeface="Cambria Math" panose="02040503050406030204" pitchFamily="18" charset="0"/>
                        </a:rPr>
                        <m:t>−</m:t>
                      </m:r>
                      <m:r>
                        <a:rPr lang="es-ES" sz="1400" b="0" i="1" smtClean="0">
                          <a:latin typeface="Cambria Math" panose="02040503050406030204" pitchFamily="18" charset="0"/>
                        </a:rPr>
                        <m:t>250</m:t>
                      </m:r>
                      <m:sSup>
                        <m:sSupPr>
                          <m:ctrlPr>
                            <a:rPr lang="es-ES" sz="1400" b="0" i="1" smtClean="0">
                              <a:latin typeface="Cambria Math" panose="02040503050406030204" pitchFamily="18" charset="0"/>
                            </a:rPr>
                          </m:ctrlPr>
                        </m:sSupPr>
                        <m:e>
                          <m:d>
                            <m:dPr>
                              <m:ctrlPr>
                                <a:rPr lang="es-ES" sz="1400" b="0" i="1" smtClean="0">
                                  <a:latin typeface="Cambria Math" panose="02040503050406030204" pitchFamily="18" charset="0"/>
                                </a:rPr>
                              </m:ctrlPr>
                            </m:dPr>
                            <m:e>
                              <m:r>
                                <a:rPr lang="es-ES" sz="1400" b="0" i="1" smtClean="0">
                                  <a:latin typeface="Cambria Math" panose="02040503050406030204" pitchFamily="18" charset="0"/>
                                </a:rPr>
                                <m:t>1+1%</m:t>
                              </m:r>
                            </m:e>
                          </m:d>
                        </m:e>
                        <m:sup>
                          <m:r>
                            <a:rPr lang="es-ES" sz="1400" b="0" i="1" smtClean="0">
                              <a:latin typeface="Cambria Math" panose="02040503050406030204" pitchFamily="18" charset="0"/>
                            </a:rPr>
                            <m:t>1</m:t>
                          </m:r>
                        </m:sup>
                      </m:sSup>
                      <m:r>
                        <a:rPr lang="es-MX" sz="1400" b="0" i="1" smtClean="0">
                          <a:latin typeface="Cambria Math" panose="02040503050406030204" pitchFamily="18" charset="0"/>
                        </a:rPr>
                        <m:t>−250−</m:t>
                      </m:r>
                      <m:f>
                        <m:fPr>
                          <m:ctrlPr>
                            <a:rPr lang="es-ES" sz="1400" b="0" i="1" smtClean="0">
                              <a:latin typeface="Cambria Math" panose="02040503050406030204" pitchFamily="18" charset="0"/>
                            </a:rPr>
                          </m:ctrlPr>
                        </m:fPr>
                        <m:num>
                          <m:r>
                            <a:rPr lang="es-ES" sz="1400" b="0" i="1" smtClean="0">
                              <a:latin typeface="Cambria Math" panose="02040503050406030204" pitchFamily="18" charset="0"/>
                            </a:rPr>
                            <m:t>100</m:t>
                          </m:r>
                        </m:num>
                        <m:den>
                          <m:sSup>
                            <m:sSupPr>
                              <m:ctrlPr>
                                <a:rPr lang="es-ES" sz="1400" i="1">
                                  <a:latin typeface="Cambria Math" panose="02040503050406030204" pitchFamily="18" charset="0"/>
                                </a:rPr>
                              </m:ctrlPr>
                            </m:sSupPr>
                            <m:e>
                              <m:d>
                                <m:dPr>
                                  <m:ctrlPr>
                                    <a:rPr lang="es-ES" sz="1400" i="1">
                                      <a:latin typeface="Cambria Math" panose="02040503050406030204" pitchFamily="18" charset="0"/>
                                    </a:rPr>
                                  </m:ctrlPr>
                                </m:dPr>
                                <m:e>
                                  <m:r>
                                    <a:rPr lang="es-ES" sz="1400" i="1">
                                      <a:latin typeface="Cambria Math" panose="02040503050406030204" pitchFamily="18" charset="0"/>
                                    </a:rPr>
                                    <m:t>1+1%</m:t>
                                  </m:r>
                                </m:e>
                              </m:d>
                            </m:e>
                            <m:sup>
                              <m:r>
                                <a:rPr lang="es-ES" sz="1400" b="0" i="1" smtClean="0">
                                  <a:latin typeface="Cambria Math" panose="02040503050406030204" pitchFamily="18" charset="0"/>
                                </a:rPr>
                                <m:t>1</m:t>
                              </m:r>
                            </m:sup>
                          </m:sSup>
                        </m:den>
                      </m:f>
                      <m:r>
                        <a:rPr lang="es-MX" sz="1400" i="1">
                          <a:latin typeface="Cambria Math" panose="02040503050406030204" pitchFamily="18" charset="0"/>
                        </a:rPr>
                        <m:t>=</m:t>
                      </m:r>
                      <m:r>
                        <a:rPr lang="es-MX" sz="1400" b="0" i="1" smtClean="0">
                          <a:latin typeface="Cambria Math" panose="02040503050406030204" pitchFamily="18" charset="0"/>
                        </a:rPr>
                        <m:t>−</m:t>
                      </m:r>
                      <m:r>
                        <a:rPr lang="es-ES" sz="1400" b="0" i="1" smtClean="0">
                          <a:latin typeface="Cambria Math" panose="02040503050406030204" pitchFamily="18" charset="0"/>
                        </a:rPr>
                        <m:t>1.050,3</m:t>
                      </m:r>
                    </m:oMath>
                  </m:oMathPara>
                </a14:m>
                <a:endParaRPr lang="es-CO" sz="1400"/>
              </a:p>
            </p:txBody>
          </p:sp>
        </mc:Choice>
        <mc:Fallback xmlns="">
          <p:sp>
            <p:nvSpPr>
              <p:cNvPr id="75" name="CuadroTexto 74">
                <a:extLst>
                  <a:ext uri="{FF2B5EF4-FFF2-40B4-BE49-F238E27FC236}">
                    <a16:creationId xmlns:a16="http://schemas.microsoft.com/office/drawing/2014/main" id="{FF439D3C-F1C3-06A9-26D8-AE4C3AF7B6D4}"/>
                  </a:ext>
                </a:extLst>
              </p:cNvPr>
              <p:cNvSpPr txBox="1">
                <a:spLocks noRot="1" noChangeAspect="1" noMove="1" noResize="1" noEditPoints="1" noAdjustHandles="1" noChangeArrowheads="1" noChangeShapeType="1" noTextEdit="1"/>
              </p:cNvSpPr>
              <p:nvPr/>
            </p:nvSpPr>
            <p:spPr>
              <a:xfrm>
                <a:off x="2290792" y="3312129"/>
                <a:ext cx="6695872" cy="435184"/>
              </a:xfrm>
              <a:prstGeom prst="rect">
                <a:avLst/>
              </a:prstGeom>
              <a:blipFill>
                <a:blip r:embed="rId4"/>
                <a:stretch>
                  <a:fillRect b="-6944"/>
                </a:stretch>
              </a:blipFill>
            </p:spPr>
            <p:txBody>
              <a:bodyPr/>
              <a:lstStyle/>
              <a:p>
                <a:r>
                  <a:rPr lang="en-US">
                    <a:noFill/>
                  </a:rPr>
                  <a:t> </a:t>
                </a:r>
              </a:p>
            </p:txBody>
          </p:sp>
        </mc:Fallback>
      </mc:AlternateContent>
      <p:sp>
        <p:nvSpPr>
          <p:cNvPr id="76" name="Content Placeholder 2">
            <a:extLst>
              <a:ext uri="{FF2B5EF4-FFF2-40B4-BE49-F238E27FC236}">
                <a16:creationId xmlns:a16="http://schemas.microsoft.com/office/drawing/2014/main" id="{31E93702-227C-771A-27C8-72839402BE69}"/>
              </a:ext>
            </a:extLst>
          </p:cNvPr>
          <p:cNvSpPr>
            <a:spLocks noGrp="1"/>
          </p:cNvSpPr>
          <p:nvPr>
            <p:ph idx="1"/>
          </p:nvPr>
        </p:nvSpPr>
        <p:spPr>
          <a:xfrm>
            <a:off x="581192" y="1977247"/>
            <a:ext cx="11029615" cy="530570"/>
          </a:xfrm>
        </p:spPr>
        <p:txBody>
          <a:bodyPr>
            <a:normAutofit/>
          </a:bodyPr>
          <a:lstStyle/>
          <a:p>
            <a:pPr marL="0" indent="0" algn="ctr">
              <a:buNone/>
            </a:pPr>
            <a:r>
              <a:rPr lang="es-ES_tradnl" sz="2400">
                <a:solidFill>
                  <a:schemeClr val="tx1"/>
                </a:solidFill>
              </a:rPr>
              <a:t>Comparación en USD del mes tres</a:t>
            </a:r>
            <a:endParaRPr lang="es-ES_tradnl" sz="2400"/>
          </a:p>
        </p:txBody>
      </p:sp>
    </p:spTree>
    <p:extLst>
      <p:ext uri="{BB962C8B-B14F-4D97-AF65-F5344CB8AC3E}">
        <p14:creationId xmlns:p14="http://schemas.microsoft.com/office/powerpoint/2010/main" val="934172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8C8C3-E7EA-1D89-7DCF-0D8D7CB2D78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5C996F-1B0C-DF63-6677-14C923A9CF6A}"/>
              </a:ext>
            </a:extLst>
          </p:cNvPr>
          <p:cNvSpPr>
            <a:spLocks noGrp="1"/>
          </p:cNvSpPr>
          <p:nvPr>
            <p:ph idx="1"/>
          </p:nvPr>
        </p:nvSpPr>
        <p:spPr>
          <a:xfrm>
            <a:off x="607502" y="2035466"/>
            <a:ext cx="11029615" cy="1564898"/>
          </a:xfrm>
        </p:spPr>
        <p:txBody>
          <a:bodyPr>
            <a:normAutofit/>
          </a:bodyPr>
          <a:lstStyle/>
          <a:p>
            <a:pPr marL="0" indent="0" algn="just">
              <a:buNone/>
            </a:pPr>
            <a:r>
              <a:rPr lang="es-ES_tradnl" sz="2400" b="1">
                <a:solidFill>
                  <a:schemeClr val="tx1"/>
                </a:solidFill>
              </a:rPr>
              <a:t>Ejercicio 1: </a:t>
            </a:r>
            <a:r>
              <a:rPr lang="es-MX" sz="2400"/>
              <a:t>Usted tiene el siguiente esquema de pagos mensuales a un banco que le prestó al 3% MV entre el mes 1 y el 3, y al 2% MV entre el mes 4 y 7. ¿Cuánto debería pagar usted si quiere hacer un único pago en el mes 0?</a:t>
            </a:r>
          </a:p>
          <a:p>
            <a:pPr marL="0" indent="0" algn="just">
              <a:buNone/>
            </a:pPr>
            <a:endParaRPr lang="es-ES_tradnl" sz="2400"/>
          </a:p>
        </p:txBody>
      </p:sp>
      <p:sp>
        <p:nvSpPr>
          <p:cNvPr id="4" name="Slide Number Placeholder 3">
            <a:extLst>
              <a:ext uri="{FF2B5EF4-FFF2-40B4-BE49-F238E27FC236}">
                <a16:creationId xmlns:a16="http://schemas.microsoft.com/office/drawing/2014/main" id="{5DEDFE8D-E93F-94E7-A395-10074A0BE5EC}"/>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28</a:t>
            </a:fld>
            <a:endParaRPr lang="en-US" sz="2000"/>
          </a:p>
        </p:txBody>
      </p:sp>
      <p:sp>
        <p:nvSpPr>
          <p:cNvPr id="11" name="Title 1">
            <a:extLst>
              <a:ext uri="{FF2B5EF4-FFF2-40B4-BE49-F238E27FC236}">
                <a16:creationId xmlns:a16="http://schemas.microsoft.com/office/drawing/2014/main" id="{69B9A805-7D94-43DA-A1B8-A9F5B69E3E72}"/>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8" name="Rectángulo 17">
            <a:extLst>
              <a:ext uri="{FF2B5EF4-FFF2-40B4-BE49-F238E27FC236}">
                <a16:creationId xmlns:a16="http://schemas.microsoft.com/office/drawing/2014/main" id="{BCAACF8F-B386-53FE-110D-E4813F7BF0E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37113658-1188-AD6E-4506-398FB313C2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9A523F1F-66CA-4BC3-7675-8AFA4F40534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Connector 12">
            <a:extLst>
              <a:ext uri="{FF2B5EF4-FFF2-40B4-BE49-F238E27FC236}">
                <a16:creationId xmlns:a16="http://schemas.microsoft.com/office/drawing/2014/main" id="{3BE7E475-4DE3-222F-AFD4-2BDD28E5406F}"/>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13">
            <a:extLst>
              <a:ext uri="{FF2B5EF4-FFF2-40B4-BE49-F238E27FC236}">
                <a16:creationId xmlns:a16="http://schemas.microsoft.com/office/drawing/2014/main" id="{B3A9A1FC-8C51-D1E2-CAF9-EF444167FBF4}"/>
              </a:ext>
            </a:extLst>
          </p:cNvPr>
          <p:cNvCxnSpPr/>
          <p:nvPr/>
        </p:nvCxnSpPr>
        <p:spPr>
          <a:xfrm flipH="1">
            <a:off x="8741430" y="456257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8" name="Rectangle 23">
            <a:extLst>
              <a:ext uri="{FF2B5EF4-FFF2-40B4-BE49-F238E27FC236}">
                <a16:creationId xmlns:a16="http://schemas.microsoft.com/office/drawing/2014/main" id="{E97B14CD-2EA6-3E84-3265-08EB23D5C153}"/>
              </a:ext>
            </a:extLst>
          </p:cNvPr>
          <p:cNvSpPr>
            <a:spLocks/>
          </p:cNvSpPr>
          <p:nvPr/>
        </p:nvSpPr>
        <p:spPr bwMode="auto">
          <a:xfrm flipH="1">
            <a:off x="3192293" y="418993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9" name="Rectangle 32">
            <a:extLst>
              <a:ext uri="{FF2B5EF4-FFF2-40B4-BE49-F238E27FC236}">
                <a16:creationId xmlns:a16="http://schemas.microsoft.com/office/drawing/2014/main" id="{DCB23D3C-E15F-8CDB-5BFD-6087CD8B7159}"/>
              </a:ext>
            </a:extLst>
          </p:cNvPr>
          <p:cNvSpPr>
            <a:spLocks/>
          </p:cNvSpPr>
          <p:nvPr/>
        </p:nvSpPr>
        <p:spPr bwMode="auto">
          <a:xfrm>
            <a:off x="7807706" y="567434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470</a:t>
            </a:r>
          </a:p>
        </p:txBody>
      </p:sp>
      <p:sp>
        <p:nvSpPr>
          <p:cNvPr id="10" name="Rectangle 11">
            <a:extLst>
              <a:ext uri="{FF2B5EF4-FFF2-40B4-BE49-F238E27FC236}">
                <a16:creationId xmlns:a16="http://schemas.microsoft.com/office/drawing/2014/main" id="{69DF1846-71DD-AC86-22EE-94B09B1E5941}"/>
              </a:ext>
            </a:extLst>
          </p:cNvPr>
          <p:cNvSpPr>
            <a:spLocks/>
          </p:cNvSpPr>
          <p:nvPr/>
        </p:nvSpPr>
        <p:spPr bwMode="auto">
          <a:xfrm>
            <a:off x="390380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3" name="Rectangle 14">
            <a:extLst>
              <a:ext uri="{FF2B5EF4-FFF2-40B4-BE49-F238E27FC236}">
                <a16:creationId xmlns:a16="http://schemas.microsoft.com/office/drawing/2014/main" id="{3374C68A-C4A0-C277-F51E-CECC42B08842}"/>
              </a:ext>
            </a:extLst>
          </p:cNvPr>
          <p:cNvSpPr>
            <a:spLocks/>
          </p:cNvSpPr>
          <p:nvPr/>
        </p:nvSpPr>
        <p:spPr bwMode="auto">
          <a:xfrm>
            <a:off x="4759702" y="41814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7" name="Rectangle 15">
            <a:extLst>
              <a:ext uri="{FF2B5EF4-FFF2-40B4-BE49-F238E27FC236}">
                <a16:creationId xmlns:a16="http://schemas.microsoft.com/office/drawing/2014/main" id="{9001F623-3A27-6A5D-DCE8-867094DB3804}"/>
              </a:ext>
            </a:extLst>
          </p:cNvPr>
          <p:cNvSpPr>
            <a:spLocks/>
          </p:cNvSpPr>
          <p:nvPr/>
        </p:nvSpPr>
        <p:spPr bwMode="auto">
          <a:xfrm>
            <a:off x="5532775"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45" name="Rectangle 16">
            <a:extLst>
              <a:ext uri="{FF2B5EF4-FFF2-40B4-BE49-F238E27FC236}">
                <a16:creationId xmlns:a16="http://schemas.microsoft.com/office/drawing/2014/main" id="{0B164CE4-4BD2-BCBE-7C18-829AB23324CB}"/>
              </a:ext>
            </a:extLst>
          </p:cNvPr>
          <p:cNvSpPr>
            <a:spLocks/>
          </p:cNvSpPr>
          <p:nvPr/>
        </p:nvSpPr>
        <p:spPr bwMode="auto">
          <a:xfrm>
            <a:off x="6278238"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46" name="Rectangle 17">
            <a:extLst>
              <a:ext uri="{FF2B5EF4-FFF2-40B4-BE49-F238E27FC236}">
                <a16:creationId xmlns:a16="http://schemas.microsoft.com/office/drawing/2014/main" id="{8CBB90AE-5DDA-C475-18B5-21FA8289AA4B}"/>
              </a:ext>
            </a:extLst>
          </p:cNvPr>
          <p:cNvSpPr>
            <a:spLocks/>
          </p:cNvSpPr>
          <p:nvPr/>
        </p:nvSpPr>
        <p:spPr bwMode="auto">
          <a:xfrm>
            <a:off x="6993220"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47" name="Rectangle 18">
            <a:extLst>
              <a:ext uri="{FF2B5EF4-FFF2-40B4-BE49-F238E27FC236}">
                <a16:creationId xmlns:a16="http://schemas.microsoft.com/office/drawing/2014/main" id="{F1F267E0-FD0A-BF9C-E504-8237F3B443A8}"/>
              </a:ext>
            </a:extLst>
          </p:cNvPr>
          <p:cNvSpPr>
            <a:spLocks/>
          </p:cNvSpPr>
          <p:nvPr/>
        </p:nvSpPr>
        <p:spPr bwMode="auto">
          <a:xfrm>
            <a:off x="784912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48" name="Rectangle 19">
            <a:extLst>
              <a:ext uri="{FF2B5EF4-FFF2-40B4-BE49-F238E27FC236}">
                <a16:creationId xmlns:a16="http://schemas.microsoft.com/office/drawing/2014/main" id="{264F2198-A723-BAE1-867C-8885F85A53C5}"/>
              </a:ext>
            </a:extLst>
          </p:cNvPr>
          <p:cNvSpPr>
            <a:spLocks/>
          </p:cNvSpPr>
          <p:nvPr/>
        </p:nvSpPr>
        <p:spPr bwMode="auto">
          <a:xfrm>
            <a:off x="8578253" y="420431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49" name="Straight Arrow Connector 20">
            <a:extLst>
              <a:ext uri="{FF2B5EF4-FFF2-40B4-BE49-F238E27FC236}">
                <a16:creationId xmlns:a16="http://schemas.microsoft.com/office/drawing/2014/main" id="{4CC5E5C6-177C-1B7A-9D28-A043DFAE88FA}"/>
              </a:ext>
            </a:extLst>
          </p:cNvPr>
          <p:cNvCxnSpPr/>
          <p:nvPr/>
        </p:nvCxnSpPr>
        <p:spPr>
          <a:xfrm flipH="1">
            <a:off x="6477978" y="456257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50" name="Rectangle 21">
            <a:extLst>
              <a:ext uri="{FF2B5EF4-FFF2-40B4-BE49-F238E27FC236}">
                <a16:creationId xmlns:a16="http://schemas.microsoft.com/office/drawing/2014/main" id="{0EF6E7CA-79ED-5AD8-EEB4-9A8F4B99E2FB}"/>
              </a:ext>
            </a:extLst>
          </p:cNvPr>
          <p:cNvSpPr>
            <a:spLocks/>
          </p:cNvSpPr>
          <p:nvPr/>
        </p:nvSpPr>
        <p:spPr bwMode="auto">
          <a:xfrm>
            <a:off x="5534397" y="530501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p:sp>
        <p:nvSpPr>
          <p:cNvPr id="51" name="Rectangle 24">
            <a:extLst>
              <a:ext uri="{FF2B5EF4-FFF2-40B4-BE49-F238E27FC236}">
                <a16:creationId xmlns:a16="http://schemas.microsoft.com/office/drawing/2014/main" id="{03FD167B-3144-0D8A-5C2B-633B41393AD6}"/>
              </a:ext>
            </a:extLst>
          </p:cNvPr>
          <p:cNvSpPr>
            <a:spLocks/>
          </p:cNvSpPr>
          <p:nvPr/>
        </p:nvSpPr>
        <p:spPr bwMode="auto">
          <a:xfrm>
            <a:off x="3974447" y="570012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cxnSp>
        <p:nvCxnSpPr>
          <p:cNvPr id="52" name="Straight Arrow Connector 25">
            <a:extLst>
              <a:ext uri="{FF2B5EF4-FFF2-40B4-BE49-F238E27FC236}">
                <a16:creationId xmlns:a16="http://schemas.microsoft.com/office/drawing/2014/main" id="{8D282354-2ADF-9882-9AD6-0A3D2FB5C83B}"/>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26">
            <a:extLst>
              <a:ext uri="{FF2B5EF4-FFF2-40B4-BE49-F238E27FC236}">
                <a16:creationId xmlns:a16="http://schemas.microsoft.com/office/drawing/2014/main" id="{31A64B39-D8B4-A7A7-337C-76851D6B63DA}"/>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54" name="Rectangle 27">
            <a:extLst>
              <a:ext uri="{FF2B5EF4-FFF2-40B4-BE49-F238E27FC236}">
                <a16:creationId xmlns:a16="http://schemas.microsoft.com/office/drawing/2014/main" id="{DCBA689D-66E2-7DB3-508D-A735C0CEBE51}"/>
              </a:ext>
            </a:extLst>
          </p:cNvPr>
          <p:cNvSpPr>
            <a:spLocks/>
          </p:cNvSpPr>
          <p:nvPr/>
        </p:nvSpPr>
        <p:spPr bwMode="auto">
          <a:xfrm>
            <a:off x="2353695" y="523979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spTree>
    <p:extLst>
      <p:ext uri="{BB962C8B-B14F-4D97-AF65-F5344CB8AC3E}">
        <p14:creationId xmlns:p14="http://schemas.microsoft.com/office/powerpoint/2010/main" val="1698022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23" grpId="0"/>
      <p:bldP spid="27" grpId="0"/>
      <p:bldP spid="45" grpId="0"/>
      <p:bldP spid="46" grpId="0"/>
      <p:bldP spid="47" grpId="0"/>
      <p:bldP spid="48" grpId="0"/>
      <p:bldP spid="50" grpId="0"/>
      <p:bldP spid="51" grpId="0"/>
      <p:bldP spid="5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F7195-DDB4-E0F8-B093-94DA5A90D2A6}"/>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372A8A39-3917-9ED9-E8F6-BE081FFE3AFB}"/>
              </a:ext>
            </a:extLst>
          </p:cNvPr>
          <p:cNvSpPr>
            <a:spLocks/>
          </p:cNvSpPr>
          <p:nvPr/>
        </p:nvSpPr>
        <p:spPr bwMode="auto">
          <a:xfrm flipH="1">
            <a:off x="3192293" y="418993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5" name="Rectangle 11">
            <a:extLst>
              <a:ext uri="{FF2B5EF4-FFF2-40B4-BE49-F238E27FC236}">
                <a16:creationId xmlns:a16="http://schemas.microsoft.com/office/drawing/2014/main" id="{746F8C3D-C198-CE4C-0D57-5148D7608C50}"/>
              </a:ext>
            </a:extLst>
          </p:cNvPr>
          <p:cNvSpPr>
            <a:spLocks/>
          </p:cNvSpPr>
          <p:nvPr/>
        </p:nvSpPr>
        <p:spPr bwMode="auto">
          <a:xfrm>
            <a:off x="390380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6" name="Rectangle 14">
            <a:extLst>
              <a:ext uri="{FF2B5EF4-FFF2-40B4-BE49-F238E27FC236}">
                <a16:creationId xmlns:a16="http://schemas.microsoft.com/office/drawing/2014/main" id="{24451E39-E346-BF0F-9EC1-87B803319FB9}"/>
              </a:ext>
            </a:extLst>
          </p:cNvPr>
          <p:cNvSpPr>
            <a:spLocks/>
          </p:cNvSpPr>
          <p:nvPr/>
        </p:nvSpPr>
        <p:spPr bwMode="auto">
          <a:xfrm>
            <a:off x="4759702" y="41814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7" name="Rectangle 24">
            <a:extLst>
              <a:ext uri="{FF2B5EF4-FFF2-40B4-BE49-F238E27FC236}">
                <a16:creationId xmlns:a16="http://schemas.microsoft.com/office/drawing/2014/main" id="{E4E803ED-4946-B0FE-553E-0C7197B0D816}"/>
              </a:ext>
            </a:extLst>
          </p:cNvPr>
          <p:cNvSpPr>
            <a:spLocks/>
          </p:cNvSpPr>
          <p:nvPr/>
        </p:nvSpPr>
        <p:spPr bwMode="auto">
          <a:xfrm>
            <a:off x="3974447" y="570012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cxnSp>
        <p:nvCxnSpPr>
          <p:cNvPr id="28" name="Straight Arrow Connector 25">
            <a:extLst>
              <a:ext uri="{FF2B5EF4-FFF2-40B4-BE49-F238E27FC236}">
                <a16:creationId xmlns:a16="http://schemas.microsoft.com/office/drawing/2014/main" id="{C1C8D3B1-5F52-D004-4283-54016AD0CEA8}"/>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6">
            <a:extLst>
              <a:ext uri="{FF2B5EF4-FFF2-40B4-BE49-F238E27FC236}">
                <a16:creationId xmlns:a16="http://schemas.microsoft.com/office/drawing/2014/main" id="{D4E4FD05-66E3-A142-C866-652656724398}"/>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27">
            <a:extLst>
              <a:ext uri="{FF2B5EF4-FFF2-40B4-BE49-F238E27FC236}">
                <a16:creationId xmlns:a16="http://schemas.microsoft.com/office/drawing/2014/main" id="{6A513013-6D88-9CA1-6E96-7B6F22744F73}"/>
              </a:ext>
            </a:extLst>
          </p:cNvPr>
          <p:cNvSpPr>
            <a:spLocks/>
          </p:cNvSpPr>
          <p:nvPr/>
        </p:nvSpPr>
        <p:spPr bwMode="auto">
          <a:xfrm>
            <a:off x="2353695" y="523979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pic>
        <p:nvPicPr>
          <p:cNvPr id="38" name="Imagen 37">
            <a:extLst>
              <a:ext uri="{FF2B5EF4-FFF2-40B4-BE49-F238E27FC236}">
                <a16:creationId xmlns:a16="http://schemas.microsoft.com/office/drawing/2014/main" id="{4E2DB461-9B0F-3EC4-1F1E-2D17A74FDEBD}"/>
              </a:ext>
            </a:extLst>
          </p:cNvPr>
          <p:cNvPicPr>
            <a:picLocks noChangeAspect="1"/>
          </p:cNvPicPr>
          <p:nvPr/>
        </p:nvPicPr>
        <p:blipFill>
          <a:blip r:embed="rId3"/>
          <a:srcRect l="-2849" t="-4365" r="-1" b="3"/>
          <a:stretch>
            <a:fillRect/>
          </a:stretch>
        </p:blipFill>
        <p:spPr>
          <a:xfrm>
            <a:off x="5401845" y="3644143"/>
            <a:ext cx="3683149" cy="2572655"/>
          </a:xfrm>
          <a:prstGeom prst="rect">
            <a:avLst/>
          </a:prstGeom>
        </p:spPr>
      </p:pic>
      <p:sp>
        <p:nvSpPr>
          <p:cNvPr id="4" name="Slide Number Placeholder 3">
            <a:extLst>
              <a:ext uri="{FF2B5EF4-FFF2-40B4-BE49-F238E27FC236}">
                <a16:creationId xmlns:a16="http://schemas.microsoft.com/office/drawing/2014/main" id="{224AEAF1-44E3-03CC-65DC-0756E42C2EFD}"/>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29</a:t>
            </a:fld>
            <a:endParaRPr lang="en-US" sz="2000"/>
          </a:p>
        </p:txBody>
      </p:sp>
      <p:sp>
        <p:nvSpPr>
          <p:cNvPr id="11" name="Title 1">
            <a:extLst>
              <a:ext uri="{FF2B5EF4-FFF2-40B4-BE49-F238E27FC236}">
                <a16:creationId xmlns:a16="http://schemas.microsoft.com/office/drawing/2014/main" id="{08CB08BB-41A2-8832-9BB1-F255CDABD11B}"/>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8" name="Rectángulo 17">
            <a:extLst>
              <a:ext uri="{FF2B5EF4-FFF2-40B4-BE49-F238E27FC236}">
                <a16:creationId xmlns:a16="http://schemas.microsoft.com/office/drawing/2014/main" id="{0DB440B2-A1A7-5318-5B86-E4E556DB95F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AB362C67-5503-F753-2824-4A16113F85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955CD7B1-F812-749B-410D-1C5A6B35559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2" name="Content Placeholder 2">
            <a:extLst>
              <a:ext uri="{FF2B5EF4-FFF2-40B4-BE49-F238E27FC236}">
                <a16:creationId xmlns:a16="http://schemas.microsoft.com/office/drawing/2014/main" id="{6F6BCA68-73FA-B400-2C58-2CB49FA29A15}"/>
              </a:ext>
            </a:extLst>
          </p:cNvPr>
          <p:cNvSpPr>
            <a:spLocks noGrp="1"/>
          </p:cNvSpPr>
          <p:nvPr>
            <p:ph idx="1"/>
          </p:nvPr>
        </p:nvSpPr>
        <p:spPr>
          <a:xfrm>
            <a:off x="581192" y="1977247"/>
            <a:ext cx="11029615" cy="530570"/>
          </a:xfrm>
        </p:spPr>
        <p:txBody>
          <a:bodyPr>
            <a:normAutofit/>
          </a:bodyPr>
          <a:lstStyle/>
          <a:p>
            <a:pPr marL="0" indent="0" algn="ctr">
              <a:buNone/>
            </a:pPr>
            <a:r>
              <a:rPr lang="es-ES_tradnl" sz="2400"/>
              <a:t>¿Cuánto debería pagar usted si quiere hacer un único pago en el </a:t>
            </a:r>
            <a:r>
              <a:rPr lang="es-ES_tradnl" sz="2400" b="1"/>
              <a:t>mes 0</a:t>
            </a:r>
            <a:r>
              <a:rPr lang="es-ES_tradnl" sz="2400"/>
              <a:t>?</a:t>
            </a:r>
          </a:p>
        </p:txBody>
      </p:sp>
      <p:cxnSp>
        <p:nvCxnSpPr>
          <p:cNvPr id="93" name="Straight Connector 12">
            <a:extLst>
              <a:ext uri="{FF2B5EF4-FFF2-40B4-BE49-F238E27FC236}">
                <a16:creationId xmlns:a16="http://schemas.microsoft.com/office/drawing/2014/main" id="{36FE80ED-881A-7A3F-83A6-7B4F1F4AFED6}"/>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4" name="Straight Arrow Connector 13">
            <a:extLst>
              <a:ext uri="{FF2B5EF4-FFF2-40B4-BE49-F238E27FC236}">
                <a16:creationId xmlns:a16="http://schemas.microsoft.com/office/drawing/2014/main" id="{699195C6-8B9E-1338-DFF9-039F14AB8968}"/>
              </a:ext>
            </a:extLst>
          </p:cNvPr>
          <p:cNvCxnSpPr/>
          <p:nvPr/>
        </p:nvCxnSpPr>
        <p:spPr>
          <a:xfrm flipH="1">
            <a:off x="8741430" y="456257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95" name="Rectangle 23">
            <a:extLst>
              <a:ext uri="{FF2B5EF4-FFF2-40B4-BE49-F238E27FC236}">
                <a16:creationId xmlns:a16="http://schemas.microsoft.com/office/drawing/2014/main" id="{E4BBE2CE-77BC-81F6-B597-ADE133FA102B}"/>
              </a:ext>
            </a:extLst>
          </p:cNvPr>
          <p:cNvSpPr>
            <a:spLocks/>
          </p:cNvSpPr>
          <p:nvPr/>
        </p:nvSpPr>
        <p:spPr bwMode="auto">
          <a:xfrm flipH="1">
            <a:off x="3192293" y="418993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solidFill>
                  <a:schemeClr val="bg1">
                    <a:lumMod val="65000"/>
                  </a:schemeClr>
                </a:solidFill>
              </a:rPr>
              <a:t>0</a:t>
            </a:r>
          </a:p>
        </p:txBody>
      </p:sp>
      <p:sp>
        <p:nvSpPr>
          <p:cNvPr id="96" name="Rectangle 32">
            <a:extLst>
              <a:ext uri="{FF2B5EF4-FFF2-40B4-BE49-F238E27FC236}">
                <a16:creationId xmlns:a16="http://schemas.microsoft.com/office/drawing/2014/main" id="{95FD7E18-5197-99E2-6B43-EED6F8F58956}"/>
              </a:ext>
            </a:extLst>
          </p:cNvPr>
          <p:cNvSpPr>
            <a:spLocks/>
          </p:cNvSpPr>
          <p:nvPr/>
        </p:nvSpPr>
        <p:spPr bwMode="auto">
          <a:xfrm>
            <a:off x="7807706" y="567434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470</a:t>
            </a:r>
          </a:p>
        </p:txBody>
      </p:sp>
      <p:sp>
        <p:nvSpPr>
          <p:cNvPr id="97" name="Rectangle 11">
            <a:extLst>
              <a:ext uri="{FF2B5EF4-FFF2-40B4-BE49-F238E27FC236}">
                <a16:creationId xmlns:a16="http://schemas.microsoft.com/office/drawing/2014/main" id="{7BA2DD86-86D8-2125-B399-8EA0BBC98BB3}"/>
              </a:ext>
            </a:extLst>
          </p:cNvPr>
          <p:cNvSpPr>
            <a:spLocks/>
          </p:cNvSpPr>
          <p:nvPr/>
        </p:nvSpPr>
        <p:spPr bwMode="auto">
          <a:xfrm>
            <a:off x="390380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solidFill>
                  <a:schemeClr val="bg1">
                    <a:lumMod val="65000"/>
                  </a:schemeClr>
                </a:solidFill>
              </a:rPr>
              <a:t>1</a:t>
            </a:r>
          </a:p>
        </p:txBody>
      </p:sp>
      <p:sp>
        <p:nvSpPr>
          <p:cNvPr id="98" name="Rectangle 14">
            <a:extLst>
              <a:ext uri="{FF2B5EF4-FFF2-40B4-BE49-F238E27FC236}">
                <a16:creationId xmlns:a16="http://schemas.microsoft.com/office/drawing/2014/main" id="{32D81293-560F-9E5A-5620-E0E43D8E90F5}"/>
              </a:ext>
            </a:extLst>
          </p:cNvPr>
          <p:cNvSpPr>
            <a:spLocks/>
          </p:cNvSpPr>
          <p:nvPr/>
        </p:nvSpPr>
        <p:spPr bwMode="auto">
          <a:xfrm>
            <a:off x="4759702" y="41814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solidFill>
                  <a:schemeClr val="bg1">
                    <a:lumMod val="65000"/>
                  </a:schemeClr>
                </a:solidFill>
              </a:rPr>
              <a:t>2</a:t>
            </a:r>
          </a:p>
        </p:txBody>
      </p:sp>
      <p:sp>
        <p:nvSpPr>
          <p:cNvPr id="99" name="Rectangle 15">
            <a:extLst>
              <a:ext uri="{FF2B5EF4-FFF2-40B4-BE49-F238E27FC236}">
                <a16:creationId xmlns:a16="http://schemas.microsoft.com/office/drawing/2014/main" id="{DC7C87AA-6E13-A95D-C332-3258DFA29D34}"/>
              </a:ext>
            </a:extLst>
          </p:cNvPr>
          <p:cNvSpPr>
            <a:spLocks/>
          </p:cNvSpPr>
          <p:nvPr/>
        </p:nvSpPr>
        <p:spPr bwMode="auto">
          <a:xfrm>
            <a:off x="5532775"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00" name="Rectangle 16">
            <a:extLst>
              <a:ext uri="{FF2B5EF4-FFF2-40B4-BE49-F238E27FC236}">
                <a16:creationId xmlns:a16="http://schemas.microsoft.com/office/drawing/2014/main" id="{556BAD48-4E63-5032-1D5B-563B1781AA86}"/>
              </a:ext>
            </a:extLst>
          </p:cNvPr>
          <p:cNvSpPr>
            <a:spLocks/>
          </p:cNvSpPr>
          <p:nvPr/>
        </p:nvSpPr>
        <p:spPr bwMode="auto">
          <a:xfrm>
            <a:off x="6278238"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01" name="Rectangle 17">
            <a:extLst>
              <a:ext uri="{FF2B5EF4-FFF2-40B4-BE49-F238E27FC236}">
                <a16:creationId xmlns:a16="http://schemas.microsoft.com/office/drawing/2014/main" id="{2CD8A702-8C5F-239C-3BBB-E388849B08AF}"/>
              </a:ext>
            </a:extLst>
          </p:cNvPr>
          <p:cNvSpPr>
            <a:spLocks/>
          </p:cNvSpPr>
          <p:nvPr/>
        </p:nvSpPr>
        <p:spPr bwMode="auto">
          <a:xfrm>
            <a:off x="6993220"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02" name="Rectangle 18">
            <a:extLst>
              <a:ext uri="{FF2B5EF4-FFF2-40B4-BE49-F238E27FC236}">
                <a16:creationId xmlns:a16="http://schemas.microsoft.com/office/drawing/2014/main" id="{9F3D33DB-9CD8-5776-317C-26EDA13BE3DD}"/>
              </a:ext>
            </a:extLst>
          </p:cNvPr>
          <p:cNvSpPr>
            <a:spLocks/>
          </p:cNvSpPr>
          <p:nvPr/>
        </p:nvSpPr>
        <p:spPr bwMode="auto">
          <a:xfrm>
            <a:off x="784912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03" name="Rectangle 19">
            <a:extLst>
              <a:ext uri="{FF2B5EF4-FFF2-40B4-BE49-F238E27FC236}">
                <a16:creationId xmlns:a16="http://schemas.microsoft.com/office/drawing/2014/main" id="{13FBB31F-FAA2-8AE2-62EE-A27F216DC90B}"/>
              </a:ext>
            </a:extLst>
          </p:cNvPr>
          <p:cNvSpPr>
            <a:spLocks/>
          </p:cNvSpPr>
          <p:nvPr/>
        </p:nvSpPr>
        <p:spPr bwMode="auto">
          <a:xfrm>
            <a:off x="8578253" y="420431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104" name="Straight Arrow Connector 20">
            <a:extLst>
              <a:ext uri="{FF2B5EF4-FFF2-40B4-BE49-F238E27FC236}">
                <a16:creationId xmlns:a16="http://schemas.microsoft.com/office/drawing/2014/main" id="{F6AB1D39-8A13-4808-BA25-DE3CE63480AB}"/>
              </a:ext>
            </a:extLst>
          </p:cNvPr>
          <p:cNvCxnSpPr/>
          <p:nvPr/>
        </p:nvCxnSpPr>
        <p:spPr>
          <a:xfrm flipH="1">
            <a:off x="6477978" y="456257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5" name="Rectangle 21">
            <a:extLst>
              <a:ext uri="{FF2B5EF4-FFF2-40B4-BE49-F238E27FC236}">
                <a16:creationId xmlns:a16="http://schemas.microsoft.com/office/drawing/2014/main" id="{3CD0A6AC-0481-735C-E614-5F61FDC6D5EE}"/>
              </a:ext>
            </a:extLst>
          </p:cNvPr>
          <p:cNvSpPr>
            <a:spLocks/>
          </p:cNvSpPr>
          <p:nvPr/>
        </p:nvSpPr>
        <p:spPr bwMode="auto">
          <a:xfrm>
            <a:off x="5534397" y="530501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p:sp>
        <p:nvSpPr>
          <p:cNvPr id="106" name="Rectangle 24">
            <a:extLst>
              <a:ext uri="{FF2B5EF4-FFF2-40B4-BE49-F238E27FC236}">
                <a16:creationId xmlns:a16="http://schemas.microsoft.com/office/drawing/2014/main" id="{8C03F8B9-35EC-F74E-15DC-75329C67CBCA}"/>
              </a:ext>
            </a:extLst>
          </p:cNvPr>
          <p:cNvSpPr>
            <a:spLocks/>
          </p:cNvSpPr>
          <p:nvPr/>
        </p:nvSpPr>
        <p:spPr bwMode="auto">
          <a:xfrm>
            <a:off x="3974447" y="570012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solidFill>
                  <a:schemeClr val="bg1">
                    <a:lumMod val="65000"/>
                  </a:schemeClr>
                </a:solidFill>
              </a:rPr>
              <a:t>500</a:t>
            </a:r>
          </a:p>
        </p:txBody>
      </p:sp>
      <p:cxnSp>
        <p:nvCxnSpPr>
          <p:cNvPr id="107" name="Straight Arrow Connector 25">
            <a:extLst>
              <a:ext uri="{FF2B5EF4-FFF2-40B4-BE49-F238E27FC236}">
                <a16:creationId xmlns:a16="http://schemas.microsoft.com/office/drawing/2014/main" id="{E5C358D6-6C12-E722-A245-16FC83A1FF67}"/>
              </a:ext>
            </a:extLst>
          </p:cNvPr>
          <p:cNvCxnSpPr/>
          <p:nvPr/>
        </p:nvCxnSpPr>
        <p:spPr>
          <a:xfrm flipH="1">
            <a:off x="4918028" y="4550338"/>
            <a:ext cx="2" cy="1061198"/>
          </a:xfrm>
          <a:prstGeom prst="straightConnector1">
            <a:avLst/>
          </a:prstGeom>
          <a:ln w="28575">
            <a:solidFill>
              <a:schemeClr val="bg1">
                <a:lumMod val="6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08" name="Straight Arrow Connector 26">
            <a:extLst>
              <a:ext uri="{FF2B5EF4-FFF2-40B4-BE49-F238E27FC236}">
                <a16:creationId xmlns:a16="http://schemas.microsoft.com/office/drawing/2014/main" id="{33FF4955-313C-CDCB-8CA0-451378D6E03A}"/>
              </a:ext>
            </a:extLst>
          </p:cNvPr>
          <p:cNvCxnSpPr/>
          <p:nvPr/>
        </p:nvCxnSpPr>
        <p:spPr>
          <a:xfrm>
            <a:off x="3277894" y="4556241"/>
            <a:ext cx="0" cy="530599"/>
          </a:xfrm>
          <a:prstGeom prst="straightConnector1">
            <a:avLst/>
          </a:prstGeom>
          <a:ln w="28575">
            <a:solidFill>
              <a:schemeClr val="bg1">
                <a:lumMod val="65000"/>
              </a:schemeClr>
            </a:solidFill>
            <a:tailEnd type="arrow"/>
          </a:ln>
        </p:spPr>
        <p:style>
          <a:lnRef idx="2">
            <a:schemeClr val="accent1"/>
          </a:lnRef>
          <a:fillRef idx="0">
            <a:schemeClr val="accent1"/>
          </a:fillRef>
          <a:effectRef idx="1">
            <a:schemeClr val="accent1"/>
          </a:effectRef>
          <a:fontRef idx="minor">
            <a:schemeClr val="tx1"/>
          </a:fontRef>
        </p:style>
      </p:cxnSp>
      <p:sp>
        <p:nvSpPr>
          <p:cNvPr id="109" name="Rectangle 27">
            <a:extLst>
              <a:ext uri="{FF2B5EF4-FFF2-40B4-BE49-F238E27FC236}">
                <a16:creationId xmlns:a16="http://schemas.microsoft.com/office/drawing/2014/main" id="{F1D7F55A-95B2-2ADB-8E20-90842A1EB782}"/>
              </a:ext>
            </a:extLst>
          </p:cNvPr>
          <p:cNvSpPr>
            <a:spLocks/>
          </p:cNvSpPr>
          <p:nvPr/>
        </p:nvSpPr>
        <p:spPr bwMode="auto">
          <a:xfrm>
            <a:off x="2353695" y="523979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solidFill>
                  <a:schemeClr val="bg1">
                    <a:lumMod val="65000"/>
                  </a:schemeClr>
                </a:solidFill>
              </a:rPr>
              <a:t>300</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13CD92D4-C7FF-9B89-EBD2-8EFF26602701}"/>
                  </a:ext>
                </a:extLst>
              </p:cNvPr>
              <p:cNvSpPr txBox="1"/>
              <p:nvPr/>
            </p:nvSpPr>
            <p:spPr>
              <a:xfrm>
                <a:off x="4240861" y="2936024"/>
                <a:ext cx="3483646" cy="442942"/>
              </a:xfrm>
              <a:prstGeom prst="rect">
                <a:avLst/>
              </a:prstGeom>
              <a:noFill/>
            </p:spPr>
            <p:txBody>
              <a:bodyPr wrap="none" lIns="0" tIns="0" rIns="0" bIns="0" rtlCol="0">
                <a:spAutoFit/>
              </a:bodyPr>
              <a:lstStyle/>
              <a:p>
                <a:pPr/>
                <a14:m>
                  <m:oMathPara xmlns:m="http://schemas.openxmlformats.org/officeDocument/2006/math">
                    <m:oMath>
                      <m:r>
                        <a:rPr lang="es-CO" sz="1400" b="0" i="1" smtClean="0">
                          <a:latin typeface="Cambria Math" panose="02040503050406030204" pitchFamily="18" charset="0"/>
                          <a:ea typeface="Cambria Math" panose="02040503050406030204" pitchFamily="18" charset="0"/>
                        </a:rPr>
                        <m:t>𝑉</m:t>
                      </m:r>
                      <m:sSub>
                        <m:sSubPr>
                          <m:ctrlPr>
                            <a:rPr lang="es-CO" sz="1400" b="0" i="1" smtClean="0">
                              <a:latin typeface="Cambria Math" panose="02040503050406030204" pitchFamily="18" charset="0"/>
                              <a:ea typeface="Cambria Math" panose="02040503050406030204" pitchFamily="18" charset="0"/>
                            </a:rPr>
                          </m:ctrlPr>
                        </m:sSubPr>
                        <m:e>
                          <m:r>
                            <a:rPr lang="es-CO" sz="1400" b="0" i="1" smtClean="0">
                              <a:latin typeface="Cambria Math" panose="02040503050406030204" pitchFamily="18" charset="0"/>
                              <a:ea typeface="Cambria Math" panose="02040503050406030204" pitchFamily="18" charset="0"/>
                            </a:rPr>
                            <m:t>𝑃</m:t>
                          </m:r>
                        </m:e>
                        <m:sub>
                          <m:r>
                            <a:rPr lang="es-CO"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3</m:t>
                          </m:r>
                          <m:r>
                            <a:rPr lang="es-CO" sz="1400" b="0" i="1" smtClean="0">
                              <a:latin typeface="Cambria Math" panose="02040503050406030204" pitchFamily="18" charset="0"/>
                              <a:ea typeface="Cambria Math" panose="02040503050406030204" pitchFamily="18" charset="0"/>
                            </a:rPr>
                            <m:t>)</m:t>
                          </m:r>
                        </m:sub>
                      </m:sSub>
                      <m:r>
                        <a:rPr lang="es-CO" sz="1400" b="0" i="1" smtClean="0">
                          <a:latin typeface="Cambria Math" panose="02040503050406030204" pitchFamily="18" charset="0"/>
                          <a:ea typeface="Cambria Math" panose="02040503050406030204" pitchFamily="18" charset="0"/>
                        </a:rPr>
                        <m:t>=</m:t>
                      </m:r>
                      <m:r>
                        <a:rPr lang="es-CO" sz="1400" i="1">
                          <a:latin typeface="Cambria Math" panose="02040503050406030204" pitchFamily="18" charset="0"/>
                        </a:rPr>
                        <m:t>−</m:t>
                      </m:r>
                      <m:f>
                        <m:fPr>
                          <m:ctrlPr>
                            <a:rPr lang="es-CO" sz="1400" i="1">
                              <a:latin typeface="Cambria Math" panose="02040503050406030204" pitchFamily="18" charset="0"/>
                            </a:rPr>
                          </m:ctrlPr>
                        </m:fPr>
                        <m:num>
                          <m:r>
                            <a:rPr lang="es-CO" sz="1400" i="1">
                              <a:latin typeface="Cambria Math" panose="02040503050406030204" pitchFamily="18" charset="0"/>
                            </a:rPr>
                            <m:t>240</m:t>
                          </m:r>
                        </m:num>
                        <m:den>
                          <m:d>
                            <m:dPr>
                              <m:ctrlPr>
                                <a:rPr lang="es-CO" sz="1400" i="1">
                                  <a:latin typeface="Cambria Math" panose="02040503050406030204" pitchFamily="18" charset="0"/>
                                </a:rPr>
                              </m:ctrlPr>
                            </m:dPr>
                            <m:e>
                              <m:r>
                                <a:rPr lang="es-CO" sz="1400" i="1">
                                  <a:latin typeface="Cambria Math" panose="02040503050406030204" pitchFamily="18" charset="0"/>
                                </a:rPr>
                                <m:t>1+2%</m:t>
                              </m:r>
                            </m:e>
                          </m:d>
                        </m:den>
                      </m:f>
                      <m:r>
                        <a:rPr lang="es-CO" sz="1400" i="1">
                          <a:latin typeface="Cambria Math" panose="02040503050406030204" pitchFamily="18" charset="0"/>
                        </a:rPr>
                        <m:t>−</m:t>
                      </m:r>
                      <m:f>
                        <m:fPr>
                          <m:ctrlPr>
                            <a:rPr lang="es-CO" sz="1400" i="1">
                              <a:latin typeface="Cambria Math" panose="02040503050406030204" pitchFamily="18" charset="0"/>
                            </a:rPr>
                          </m:ctrlPr>
                        </m:fPr>
                        <m:num>
                          <m:r>
                            <a:rPr lang="es-CO" sz="1400" i="1">
                              <a:latin typeface="Cambria Math" panose="02040503050406030204" pitchFamily="18" charset="0"/>
                            </a:rPr>
                            <m:t>470</m:t>
                          </m:r>
                        </m:num>
                        <m:den>
                          <m:sSup>
                            <m:sSupPr>
                              <m:ctrlPr>
                                <a:rPr lang="es-CO" sz="1400" i="1">
                                  <a:latin typeface="Cambria Math" panose="02040503050406030204" pitchFamily="18" charset="0"/>
                                </a:rPr>
                              </m:ctrlPr>
                            </m:sSupPr>
                            <m:e>
                              <m:r>
                                <a:rPr lang="es-CO" sz="1400" i="1">
                                  <a:latin typeface="Cambria Math" panose="02040503050406030204" pitchFamily="18" charset="0"/>
                                </a:rPr>
                                <m:t>(1+2%)</m:t>
                              </m:r>
                            </m:e>
                            <m:sup>
                              <m:r>
                                <a:rPr lang="es-CO" sz="1400" i="1">
                                  <a:latin typeface="Cambria Math" panose="02040503050406030204" pitchFamily="18" charset="0"/>
                                </a:rPr>
                                <m:t>4</m:t>
                              </m:r>
                            </m:sup>
                          </m:sSup>
                        </m:den>
                      </m:f>
                      <m:r>
                        <a:rPr lang="es-MX" sz="1400">
                          <a:latin typeface="Cambria Math" panose="02040503050406030204" pitchFamily="18" charset="0"/>
                          <a:ea typeface="Cambria Math" panose="02040503050406030204" pitchFamily="18" charset="0"/>
                        </a:rPr>
                        <m:t>=</m:t>
                      </m:r>
                      <m:r>
                        <a:rPr lang="es-CO" sz="1400" i="1">
                          <a:latin typeface="Cambria Math" panose="02040503050406030204" pitchFamily="18" charset="0"/>
                        </a:rPr>
                        <m:t>−669,50</m:t>
                      </m:r>
                    </m:oMath>
                  </m:oMathPara>
                </a14:m>
                <a:endParaRPr lang="es-CO" sz="1400">
                  <a:latin typeface="Cambria Math" panose="02040503050406030204" pitchFamily="18" charset="0"/>
                  <a:ea typeface="Cambria Math" panose="02040503050406030204" pitchFamily="18" charset="0"/>
                </a:endParaRPr>
              </a:p>
            </p:txBody>
          </p:sp>
        </mc:Choice>
        <mc:Fallback xmlns="">
          <p:sp>
            <p:nvSpPr>
              <p:cNvPr id="39" name="CuadroTexto 38">
                <a:extLst>
                  <a:ext uri="{FF2B5EF4-FFF2-40B4-BE49-F238E27FC236}">
                    <a16:creationId xmlns:a16="http://schemas.microsoft.com/office/drawing/2014/main" id="{13CD92D4-C7FF-9B89-EBD2-8EFF26602701}"/>
                  </a:ext>
                </a:extLst>
              </p:cNvPr>
              <p:cNvSpPr txBox="1">
                <a:spLocks noRot="1" noChangeAspect="1" noMove="1" noResize="1" noEditPoints="1" noAdjustHandles="1" noChangeArrowheads="1" noChangeShapeType="1" noTextEdit="1"/>
              </p:cNvSpPr>
              <p:nvPr/>
            </p:nvSpPr>
            <p:spPr>
              <a:xfrm>
                <a:off x="4240861" y="2936024"/>
                <a:ext cx="3483646" cy="442942"/>
              </a:xfrm>
              <a:prstGeom prst="rect">
                <a:avLst/>
              </a:prstGeom>
              <a:blipFill>
                <a:blip r:embed="rId5"/>
                <a:stretch>
                  <a:fillRect l="-701" t="-1389" r="-701" b="-16667"/>
                </a:stretch>
              </a:blipFill>
            </p:spPr>
            <p:txBody>
              <a:bodyPr/>
              <a:lstStyle/>
              <a:p>
                <a:r>
                  <a:rPr lang="en-US">
                    <a:noFill/>
                  </a:rPr>
                  <a:t> </a:t>
                </a:r>
              </a:p>
            </p:txBody>
          </p:sp>
        </mc:Fallback>
      </mc:AlternateContent>
    </p:spTree>
    <p:extLst>
      <p:ext uri="{BB962C8B-B14F-4D97-AF65-F5344CB8AC3E}">
        <p14:creationId xmlns:p14="http://schemas.microsoft.com/office/powerpoint/2010/main" val="3577285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0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30" grpId="0"/>
      <p:bldP spid="95" grpId="0"/>
      <p:bldP spid="96" grpId="0"/>
      <p:bldP spid="97" grpId="0"/>
      <p:bldP spid="98" grpId="0"/>
      <p:bldP spid="99" grpId="0"/>
      <p:bldP spid="100" grpId="0"/>
      <p:bldP spid="101" grpId="0"/>
      <p:bldP spid="102" grpId="0"/>
      <p:bldP spid="103" grpId="0"/>
      <p:bldP spid="105" grpId="0"/>
      <p:bldP spid="106" grpId="0"/>
      <p:bldP spid="109" grpId="0"/>
      <p:bldP spid="3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A36FE-BC20-007F-0A85-F69C73722B29}"/>
            </a:ext>
          </a:extLst>
        </p:cNvPr>
        <p:cNvGrpSpPr/>
        <p:nvPr/>
      </p:nvGrpSpPr>
      <p:grpSpPr>
        <a:xfrm>
          <a:off x="0" y="0"/>
          <a:ext cx="0" cy="0"/>
          <a:chOff x="0" y="0"/>
          <a:chExt cx="0" cy="0"/>
        </a:xfrm>
      </p:grpSpPr>
      <p:cxnSp>
        <p:nvCxnSpPr>
          <p:cNvPr id="2" name="Straight Arrow Connector 13">
            <a:extLst>
              <a:ext uri="{FF2B5EF4-FFF2-40B4-BE49-F238E27FC236}">
                <a16:creationId xmlns:a16="http://schemas.microsoft.com/office/drawing/2014/main" id="{5F525472-E521-B630-218E-AEC342E9D6BC}"/>
              </a:ext>
            </a:extLst>
          </p:cNvPr>
          <p:cNvCxnSpPr/>
          <p:nvPr/>
        </p:nvCxnSpPr>
        <p:spPr>
          <a:xfrm flipH="1">
            <a:off x="8741096" y="456578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 name="Rectangle 32">
            <a:extLst>
              <a:ext uri="{FF2B5EF4-FFF2-40B4-BE49-F238E27FC236}">
                <a16:creationId xmlns:a16="http://schemas.microsoft.com/office/drawing/2014/main" id="{432F146F-32C7-BFB7-8368-84BE1F287F80}"/>
              </a:ext>
            </a:extLst>
          </p:cNvPr>
          <p:cNvSpPr>
            <a:spLocks/>
          </p:cNvSpPr>
          <p:nvPr/>
        </p:nvSpPr>
        <p:spPr bwMode="auto">
          <a:xfrm>
            <a:off x="7807372" y="567755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470</a:t>
            </a:r>
          </a:p>
        </p:txBody>
      </p:sp>
      <p:sp>
        <p:nvSpPr>
          <p:cNvPr id="5" name="Rectangle 16">
            <a:extLst>
              <a:ext uri="{FF2B5EF4-FFF2-40B4-BE49-F238E27FC236}">
                <a16:creationId xmlns:a16="http://schemas.microsoft.com/office/drawing/2014/main" id="{75D4741F-2822-6A2E-111F-036A7AE53ACF}"/>
              </a:ext>
            </a:extLst>
          </p:cNvPr>
          <p:cNvSpPr>
            <a:spLocks/>
          </p:cNvSpPr>
          <p:nvPr/>
        </p:nvSpPr>
        <p:spPr bwMode="auto">
          <a:xfrm>
            <a:off x="6277904" y="419314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6" name="Rectangle 17">
            <a:extLst>
              <a:ext uri="{FF2B5EF4-FFF2-40B4-BE49-F238E27FC236}">
                <a16:creationId xmlns:a16="http://schemas.microsoft.com/office/drawing/2014/main" id="{18707495-EE63-BDA1-187E-AC866BDD54EA}"/>
              </a:ext>
            </a:extLst>
          </p:cNvPr>
          <p:cNvSpPr>
            <a:spLocks/>
          </p:cNvSpPr>
          <p:nvPr/>
        </p:nvSpPr>
        <p:spPr bwMode="auto">
          <a:xfrm>
            <a:off x="6992886" y="419314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7" name="Rectangle 18">
            <a:extLst>
              <a:ext uri="{FF2B5EF4-FFF2-40B4-BE49-F238E27FC236}">
                <a16:creationId xmlns:a16="http://schemas.microsoft.com/office/drawing/2014/main" id="{EB138E5B-91C1-55EB-48F2-79806522E041}"/>
              </a:ext>
            </a:extLst>
          </p:cNvPr>
          <p:cNvSpPr>
            <a:spLocks/>
          </p:cNvSpPr>
          <p:nvPr/>
        </p:nvSpPr>
        <p:spPr bwMode="auto">
          <a:xfrm>
            <a:off x="7848787" y="419314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8" name="Rectangle 19">
            <a:extLst>
              <a:ext uri="{FF2B5EF4-FFF2-40B4-BE49-F238E27FC236}">
                <a16:creationId xmlns:a16="http://schemas.microsoft.com/office/drawing/2014/main" id="{0F50BA7F-E34E-BE10-BBDB-E4D4F9FFF429}"/>
              </a:ext>
            </a:extLst>
          </p:cNvPr>
          <p:cNvSpPr>
            <a:spLocks/>
          </p:cNvSpPr>
          <p:nvPr/>
        </p:nvSpPr>
        <p:spPr bwMode="auto">
          <a:xfrm>
            <a:off x="8577919" y="420752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9" name="Straight Arrow Connector 20">
            <a:extLst>
              <a:ext uri="{FF2B5EF4-FFF2-40B4-BE49-F238E27FC236}">
                <a16:creationId xmlns:a16="http://schemas.microsoft.com/office/drawing/2014/main" id="{0F8F315A-F3A4-9B97-0DF2-5B9B9660996D}"/>
              </a:ext>
            </a:extLst>
          </p:cNvPr>
          <p:cNvCxnSpPr/>
          <p:nvPr/>
        </p:nvCxnSpPr>
        <p:spPr>
          <a:xfrm flipH="1">
            <a:off x="6477644" y="456578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21">
            <a:extLst>
              <a:ext uri="{FF2B5EF4-FFF2-40B4-BE49-F238E27FC236}">
                <a16:creationId xmlns:a16="http://schemas.microsoft.com/office/drawing/2014/main" id="{AA4B922D-C9CB-3D37-5C19-E62DCFFC55CF}"/>
              </a:ext>
            </a:extLst>
          </p:cNvPr>
          <p:cNvSpPr>
            <a:spLocks/>
          </p:cNvSpPr>
          <p:nvPr/>
        </p:nvSpPr>
        <p:spPr bwMode="auto">
          <a:xfrm>
            <a:off x="5534063" y="530822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p:pic>
        <p:nvPicPr>
          <p:cNvPr id="38" name="Imagen 37">
            <a:extLst>
              <a:ext uri="{FF2B5EF4-FFF2-40B4-BE49-F238E27FC236}">
                <a16:creationId xmlns:a16="http://schemas.microsoft.com/office/drawing/2014/main" id="{0FD4DA9B-23D2-3EBD-4D1B-12AFB6F9B6DE}"/>
              </a:ext>
            </a:extLst>
          </p:cNvPr>
          <p:cNvPicPr>
            <a:picLocks noChangeAspect="1"/>
          </p:cNvPicPr>
          <p:nvPr/>
        </p:nvPicPr>
        <p:blipFill>
          <a:blip r:embed="rId3"/>
          <a:srcRect l="1348" t="90515"/>
          <a:stretch>
            <a:fillRect/>
          </a:stretch>
        </p:blipFill>
        <p:spPr>
          <a:xfrm>
            <a:off x="6010221" y="6010260"/>
            <a:ext cx="3037268" cy="198324"/>
          </a:xfrm>
          <a:prstGeom prst="rect">
            <a:avLst/>
          </a:prstGeom>
        </p:spPr>
      </p:pic>
      <p:sp>
        <p:nvSpPr>
          <p:cNvPr id="4" name="Slide Number Placeholder 3">
            <a:extLst>
              <a:ext uri="{FF2B5EF4-FFF2-40B4-BE49-F238E27FC236}">
                <a16:creationId xmlns:a16="http://schemas.microsoft.com/office/drawing/2014/main" id="{71362785-D1D0-32FD-F420-5AB0099B269E}"/>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30</a:t>
            </a:fld>
            <a:endParaRPr lang="en-US" sz="2000"/>
          </a:p>
        </p:txBody>
      </p:sp>
      <p:sp>
        <p:nvSpPr>
          <p:cNvPr id="11" name="Title 1">
            <a:extLst>
              <a:ext uri="{FF2B5EF4-FFF2-40B4-BE49-F238E27FC236}">
                <a16:creationId xmlns:a16="http://schemas.microsoft.com/office/drawing/2014/main" id="{4AAFEE1F-7BD8-C19B-EBA2-55F6042BF89B}"/>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8" name="Rectángulo 17">
            <a:extLst>
              <a:ext uri="{FF2B5EF4-FFF2-40B4-BE49-F238E27FC236}">
                <a16:creationId xmlns:a16="http://schemas.microsoft.com/office/drawing/2014/main" id="{BA9CBFFA-9AC0-75C0-E625-60AF8F6C50D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40C88902-F242-7A74-49CD-646272F08D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F5C7AFDF-1702-95ED-AD86-D60974E4395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2" name="Content Placeholder 2">
            <a:extLst>
              <a:ext uri="{FF2B5EF4-FFF2-40B4-BE49-F238E27FC236}">
                <a16:creationId xmlns:a16="http://schemas.microsoft.com/office/drawing/2014/main" id="{21E459FD-1D84-D89E-8BAD-81D63F251D8D}"/>
              </a:ext>
            </a:extLst>
          </p:cNvPr>
          <p:cNvSpPr>
            <a:spLocks noGrp="1"/>
          </p:cNvSpPr>
          <p:nvPr>
            <p:ph idx="1"/>
          </p:nvPr>
        </p:nvSpPr>
        <p:spPr>
          <a:xfrm>
            <a:off x="581192" y="1977247"/>
            <a:ext cx="11029615" cy="530570"/>
          </a:xfrm>
        </p:spPr>
        <p:txBody>
          <a:bodyPr>
            <a:normAutofit/>
          </a:bodyPr>
          <a:lstStyle/>
          <a:p>
            <a:pPr marL="0" indent="0" algn="ctr">
              <a:buNone/>
            </a:pPr>
            <a:r>
              <a:rPr lang="es-ES_tradnl" sz="2400"/>
              <a:t>¿Cuánto debería pagar usted si quiere hacer un único pago en el </a:t>
            </a:r>
            <a:r>
              <a:rPr lang="es-ES_tradnl" sz="2400" b="1"/>
              <a:t>mes 0</a:t>
            </a:r>
            <a:r>
              <a:rPr lang="es-ES_tradnl" sz="2400"/>
              <a:t>?</a:t>
            </a:r>
          </a:p>
        </p:txBody>
      </p:sp>
      <p:cxnSp>
        <p:nvCxnSpPr>
          <p:cNvPr id="93" name="Straight Connector 12">
            <a:extLst>
              <a:ext uri="{FF2B5EF4-FFF2-40B4-BE49-F238E27FC236}">
                <a16:creationId xmlns:a16="http://schemas.microsoft.com/office/drawing/2014/main" id="{E1FEC88A-0E38-6B69-8F01-C8144C212DA2}"/>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4" name="Straight Arrow Connector 13">
            <a:extLst>
              <a:ext uri="{FF2B5EF4-FFF2-40B4-BE49-F238E27FC236}">
                <a16:creationId xmlns:a16="http://schemas.microsoft.com/office/drawing/2014/main" id="{D2DC7D1B-564C-D17F-93AF-77D4F1F85FD6}"/>
              </a:ext>
            </a:extLst>
          </p:cNvPr>
          <p:cNvCxnSpPr/>
          <p:nvPr/>
        </p:nvCxnSpPr>
        <p:spPr>
          <a:xfrm flipH="1">
            <a:off x="8741430" y="4562579"/>
            <a:ext cx="2" cy="1061198"/>
          </a:xfrm>
          <a:prstGeom prst="straightConnector1">
            <a:avLst/>
          </a:prstGeom>
          <a:ln w="28575">
            <a:solidFill>
              <a:schemeClr val="bg1">
                <a:lumMod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95" name="Rectangle 23">
            <a:extLst>
              <a:ext uri="{FF2B5EF4-FFF2-40B4-BE49-F238E27FC236}">
                <a16:creationId xmlns:a16="http://schemas.microsoft.com/office/drawing/2014/main" id="{33D74D45-013A-ADAF-19EA-7DC0126EE84A}"/>
              </a:ext>
            </a:extLst>
          </p:cNvPr>
          <p:cNvSpPr>
            <a:spLocks/>
          </p:cNvSpPr>
          <p:nvPr/>
        </p:nvSpPr>
        <p:spPr bwMode="auto">
          <a:xfrm flipH="1">
            <a:off x="3192293" y="418993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96" name="Rectangle 32">
            <a:extLst>
              <a:ext uri="{FF2B5EF4-FFF2-40B4-BE49-F238E27FC236}">
                <a16:creationId xmlns:a16="http://schemas.microsoft.com/office/drawing/2014/main" id="{AD235C0B-E9B4-87E1-9453-983429BB5C5F}"/>
              </a:ext>
            </a:extLst>
          </p:cNvPr>
          <p:cNvSpPr>
            <a:spLocks/>
          </p:cNvSpPr>
          <p:nvPr/>
        </p:nvSpPr>
        <p:spPr bwMode="auto">
          <a:xfrm>
            <a:off x="7807706" y="567434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solidFill>
                  <a:schemeClr val="bg1">
                    <a:lumMod val="65000"/>
                  </a:schemeClr>
                </a:solidFill>
              </a:rPr>
              <a:t>470</a:t>
            </a:r>
          </a:p>
        </p:txBody>
      </p:sp>
      <p:sp>
        <p:nvSpPr>
          <p:cNvPr id="97" name="Rectangle 11">
            <a:extLst>
              <a:ext uri="{FF2B5EF4-FFF2-40B4-BE49-F238E27FC236}">
                <a16:creationId xmlns:a16="http://schemas.microsoft.com/office/drawing/2014/main" id="{43C0140A-9292-ADD2-3364-41C1EA4A43BC}"/>
              </a:ext>
            </a:extLst>
          </p:cNvPr>
          <p:cNvSpPr>
            <a:spLocks/>
          </p:cNvSpPr>
          <p:nvPr/>
        </p:nvSpPr>
        <p:spPr bwMode="auto">
          <a:xfrm>
            <a:off x="390380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98" name="Rectangle 14">
            <a:extLst>
              <a:ext uri="{FF2B5EF4-FFF2-40B4-BE49-F238E27FC236}">
                <a16:creationId xmlns:a16="http://schemas.microsoft.com/office/drawing/2014/main" id="{C699BB66-C0A9-F9CE-C10E-1DD851838C06}"/>
              </a:ext>
            </a:extLst>
          </p:cNvPr>
          <p:cNvSpPr>
            <a:spLocks/>
          </p:cNvSpPr>
          <p:nvPr/>
        </p:nvSpPr>
        <p:spPr bwMode="auto">
          <a:xfrm>
            <a:off x="4759702" y="41814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99" name="Rectangle 15">
            <a:extLst>
              <a:ext uri="{FF2B5EF4-FFF2-40B4-BE49-F238E27FC236}">
                <a16:creationId xmlns:a16="http://schemas.microsoft.com/office/drawing/2014/main" id="{56F7C65B-F9C6-1020-6A2D-0835DED3EA5A}"/>
              </a:ext>
            </a:extLst>
          </p:cNvPr>
          <p:cNvSpPr>
            <a:spLocks/>
          </p:cNvSpPr>
          <p:nvPr/>
        </p:nvSpPr>
        <p:spPr bwMode="auto">
          <a:xfrm>
            <a:off x="5532775"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00" name="Rectangle 16">
            <a:extLst>
              <a:ext uri="{FF2B5EF4-FFF2-40B4-BE49-F238E27FC236}">
                <a16:creationId xmlns:a16="http://schemas.microsoft.com/office/drawing/2014/main" id="{8A1220E1-F476-D7F1-63BD-7A320F095EC7}"/>
              </a:ext>
            </a:extLst>
          </p:cNvPr>
          <p:cNvSpPr>
            <a:spLocks/>
          </p:cNvSpPr>
          <p:nvPr/>
        </p:nvSpPr>
        <p:spPr bwMode="auto">
          <a:xfrm>
            <a:off x="6278238"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solidFill>
                  <a:schemeClr val="bg1">
                    <a:lumMod val="65000"/>
                  </a:schemeClr>
                </a:solidFill>
              </a:rPr>
              <a:t>4</a:t>
            </a:r>
          </a:p>
        </p:txBody>
      </p:sp>
      <p:sp>
        <p:nvSpPr>
          <p:cNvPr id="101" name="Rectangle 17">
            <a:extLst>
              <a:ext uri="{FF2B5EF4-FFF2-40B4-BE49-F238E27FC236}">
                <a16:creationId xmlns:a16="http://schemas.microsoft.com/office/drawing/2014/main" id="{CDC13FD6-1A7C-B912-3998-57CA13933B6C}"/>
              </a:ext>
            </a:extLst>
          </p:cNvPr>
          <p:cNvSpPr>
            <a:spLocks/>
          </p:cNvSpPr>
          <p:nvPr/>
        </p:nvSpPr>
        <p:spPr bwMode="auto">
          <a:xfrm>
            <a:off x="6993220"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solidFill>
                  <a:schemeClr val="bg1">
                    <a:lumMod val="65000"/>
                  </a:schemeClr>
                </a:solidFill>
              </a:rPr>
              <a:t>5</a:t>
            </a:r>
          </a:p>
        </p:txBody>
      </p:sp>
      <p:sp>
        <p:nvSpPr>
          <p:cNvPr id="102" name="Rectangle 18">
            <a:extLst>
              <a:ext uri="{FF2B5EF4-FFF2-40B4-BE49-F238E27FC236}">
                <a16:creationId xmlns:a16="http://schemas.microsoft.com/office/drawing/2014/main" id="{FC2BD1DA-F35E-243E-2BDE-658670E31916}"/>
              </a:ext>
            </a:extLst>
          </p:cNvPr>
          <p:cNvSpPr>
            <a:spLocks/>
          </p:cNvSpPr>
          <p:nvPr/>
        </p:nvSpPr>
        <p:spPr bwMode="auto">
          <a:xfrm>
            <a:off x="784912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solidFill>
                  <a:schemeClr val="bg1">
                    <a:lumMod val="65000"/>
                  </a:schemeClr>
                </a:solidFill>
              </a:rPr>
              <a:t>6</a:t>
            </a:r>
          </a:p>
        </p:txBody>
      </p:sp>
      <p:sp>
        <p:nvSpPr>
          <p:cNvPr id="103" name="Rectangle 19">
            <a:extLst>
              <a:ext uri="{FF2B5EF4-FFF2-40B4-BE49-F238E27FC236}">
                <a16:creationId xmlns:a16="http://schemas.microsoft.com/office/drawing/2014/main" id="{088C9C6E-43F0-1437-A7E6-E578BC60936C}"/>
              </a:ext>
            </a:extLst>
          </p:cNvPr>
          <p:cNvSpPr>
            <a:spLocks/>
          </p:cNvSpPr>
          <p:nvPr/>
        </p:nvSpPr>
        <p:spPr bwMode="auto">
          <a:xfrm>
            <a:off x="8578253" y="420431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solidFill>
                  <a:schemeClr val="bg1">
                    <a:lumMod val="65000"/>
                  </a:schemeClr>
                </a:solidFill>
              </a:rPr>
              <a:t>7</a:t>
            </a:r>
          </a:p>
        </p:txBody>
      </p:sp>
      <p:cxnSp>
        <p:nvCxnSpPr>
          <p:cNvPr id="104" name="Straight Arrow Connector 20">
            <a:extLst>
              <a:ext uri="{FF2B5EF4-FFF2-40B4-BE49-F238E27FC236}">
                <a16:creationId xmlns:a16="http://schemas.microsoft.com/office/drawing/2014/main" id="{655F718B-F98A-A55B-F62F-0B93C5EF7B99}"/>
              </a:ext>
            </a:extLst>
          </p:cNvPr>
          <p:cNvCxnSpPr/>
          <p:nvPr/>
        </p:nvCxnSpPr>
        <p:spPr>
          <a:xfrm flipH="1">
            <a:off x="6477978" y="4562579"/>
            <a:ext cx="2" cy="538066"/>
          </a:xfrm>
          <a:prstGeom prst="straightConnector1">
            <a:avLst/>
          </a:prstGeom>
          <a:ln w="28575">
            <a:solidFill>
              <a:schemeClr val="bg1">
                <a:lumMod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105" name="Rectangle 21">
            <a:extLst>
              <a:ext uri="{FF2B5EF4-FFF2-40B4-BE49-F238E27FC236}">
                <a16:creationId xmlns:a16="http://schemas.microsoft.com/office/drawing/2014/main" id="{BA656F77-6F01-D8DD-F93B-EEA4E901302E}"/>
              </a:ext>
            </a:extLst>
          </p:cNvPr>
          <p:cNvSpPr>
            <a:spLocks/>
          </p:cNvSpPr>
          <p:nvPr/>
        </p:nvSpPr>
        <p:spPr bwMode="auto">
          <a:xfrm>
            <a:off x="5534397" y="530501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solidFill>
                  <a:schemeClr val="bg1">
                    <a:lumMod val="65000"/>
                  </a:schemeClr>
                </a:solidFill>
              </a:rPr>
              <a:t>240</a:t>
            </a:r>
          </a:p>
        </p:txBody>
      </p:sp>
      <p:sp>
        <p:nvSpPr>
          <p:cNvPr id="106" name="Rectangle 24">
            <a:extLst>
              <a:ext uri="{FF2B5EF4-FFF2-40B4-BE49-F238E27FC236}">
                <a16:creationId xmlns:a16="http://schemas.microsoft.com/office/drawing/2014/main" id="{F22BCACF-7F2C-64DD-80D1-83F82ED65537}"/>
              </a:ext>
            </a:extLst>
          </p:cNvPr>
          <p:cNvSpPr>
            <a:spLocks/>
          </p:cNvSpPr>
          <p:nvPr/>
        </p:nvSpPr>
        <p:spPr bwMode="auto">
          <a:xfrm>
            <a:off x="3974447" y="570012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cxnSp>
        <p:nvCxnSpPr>
          <p:cNvPr id="107" name="Straight Arrow Connector 25">
            <a:extLst>
              <a:ext uri="{FF2B5EF4-FFF2-40B4-BE49-F238E27FC236}">
                <a16:creationId xmlns:a16="http://schemas.microsoft.com/office/drawing/2014/main" id="{E97AE4BF-4655-2B21-546B-59BEDA5630C2}"/>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08" name="Straight Arrow Connector 26">
            <a:extLst>
              <a:ext uri="{FF2B5EF4-FFF2-40B4-BE49-F238E27FC236}">
                <a16:creationId xmlns:a16="http://schemas.microsoft.com/office/drawing/2014/main" id="{9E7E9D29-D138-251F-BDA0-8E548953848A}"/>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9" name="Rectangle 27">
            <a:extLst>
              <a:ext uri="{FF2B5EF4-FFF2-40B4-BE49-F238E27FC236}">
                <a16:creationId xmlns:a16="http://schemas.microsoft.com/office/drawing/2014/main" id="{591EE000-0267-71B0-7C93-7DDE32ABBBD2}"/>
              </a:ext>
            </a:extLst>
          </p:cNvPr>
          <p:cNvSpPr>
            <a:spLocks/>
          </p:cNvSpPr>
          <p:nvPr/>
        </p:nvSpPr>
        <p:spPr bwMode="auto">
          <a:xfrm>
            <a:off x="2353695" y="523979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cxnSp>
        <p:nvCxnSpPr>
          <p:cNvPr id="40" name="Straight Arrow Connector 13">
            <a:extLst>
              <a:ext uri="{FF2B5EF4-FFF2-40B4-BE49-F238E27FC236}">
                <a16:creationId xmlns:a16="http://schemas.microsoft.com/office/drawing/2014/main" id="{429BC30E-9DFE-0414-8819-57E040C90F42}"/>
              </a:ext>
            </a:extLst>
          </p:cNvPr>
          <p:cNvCxnSpPr>
            <a:cxnSpLocks/>
          </p:cNvCxnSpPr>
          <p:nvPr/>
        </p:nvCxnSpPr>
        <p:spPr>
          <a:xfrm>
            <a:off x="5701305" y="4564383"/>
            <a:ext cx="12683" cy="1515777"/>
          </a:xfrm>
          <a:prstGeom prst="straightConnector1">
            <a:avLst/>
          </a:prstGeom>
          <a:ln w="28575">
            <a:solidFill>
              <a:srgbClr val="FF0000"/>
            </a:solidFill>
            <a:prstDash val="sysDot"/>
            <a:tailEnd type="arrow"/>
          </a:ln>
        </p:spPr>
        <p:style>
          <a:lnRef idx="2">
            <a:schemeClr val="accent1"/>
          </a:lnRef>
          <a:fillRef idx="0">
            <a:schemeClr val="accent1"/>
          </a:fillRef>
          <a:effectRef idx="1">
            <a:schemeClr val="accent1"/>
          </a:effectRef>
          <a:fontRef idx="minor">
            <a:schemeClr val="tx1"/>
          </a:fontRef>
        </p:style>
      </p:cxnSp>
      <p:pic>
        <p:nvPicPr>
          <p:cNvPr id="42" name="Imagen 41">
            <a:extLst>
              <a:ext uri="{FF2B5EF4-FFF2-40B4-BE49-F238E27FC236}">
                <a16:creationId xmlns:a16="http://schemas.microsoft.com/office/drawing/2014/main" id="{E002C086-8924-B81C-F463-CE742976E884}"/>
              </a:ext>
            </a:extLst>
          </p:cNvPr>
          <p:cNvPicPr>
            <a:picLocks noChangeAspect="1"/>
          </p:cNvPicPr>
          <p:nvPr/>
        </p:nvPicPr>
        <p:blipFill>
          <a:blip r:embed="rId3"/>
          <a:srcRect l="75186" t="86544"/>
          <a:stretch>
            <a:fillRect/>
          </a:stretch>
        </p:blipFill>
        <p:spPr>
          <a:xfrm>
            <a:off x="6081791" y="5533664"/>
            <a:ext cx="763957" cy="281369"/>
          </a:xfrm>
          <a:prstGeom prst="rect">
            <a:avLst/>
          </a:prstGeom>
        </p:spPr>
      </p:pic>
      <p:sp>
        <p:nvSpPr>
          <p:cNvPr id="43" name="Rectangle 24">
            <a:extLst>
              <a:ext uri="{FF2B5EF4-FFF2-40B4-BE49-F238E27FC236}">
                <a16:creationId xmlns:a16="http://schemas.microsoft.com/office/drawing/2014/main" id="{CC21B102-098C-D260-68DD-C2EBC02E8467}"/>
              </a:ext>
            </a:extLst>
          </p:cNvPr>
          <p:cNvSpPr>
            <a:spLocks/>
          </p:cNvSpPr>
          <p:nvPr/>
        </p:nvSpPr>
        <p:spPr bwMode="auto">
          <a:xfrm>
            <a:off x="4770405" y="6013485"/>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669.50</a:t>
            </a:r>
          </a:p>
        </p:txBody>
      </p:sp>
      <p:pic>
        <p:nvPicPr>
          <p:cNvPr id="12" name="Imagen 11">
            <a:extLst>
              <a:ext uri="{FF2B5EF4-FFF2-40B4-BE49-F238E27FC236}">
                <a16:creationId xmlns:a16="http://schemas.microsoft.com/office/drawing/2014/main" id="{04197D53-C936-CCD7-B169-8CCF8F207F3D}"/>
              </a:ext>
            </a:extLst>
          </p:cNvPr>
          <p:cNvPicPr>
            <a:picLocks noChangeAspect="1"/>
          </p:cNvPicPr>
          <p:nvPr/>
        </p:nvPicPr>
        <p:blipFill>
          <a:blip r:embed="rId5"/>
          <a:stretch>
            <a:fillRect/>
          </a:stretch>
        </p:blipFill>
        <p:spPr>
          <a:xfrm>
            <a:off x="2722141" y="3057525"/>
            <a:ext cx="6077525" cy="687866"/>
          </a:xfrm>
          <a:prstGeom prst="rect">
            <a:avLst/>
          </a:prstGeom>
        </p:spPr>
      </p:pic>
    </p:spTree>
    <p:extLst>
      <p:ext uri="{BB962C8B-B14F-4D97-AF65-F5344CB8AC3E}">
        <p14:creationId xmlns:p14="http://schemas.microsoft.com/office/powerpoint/2010/main" val="879655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P spid="10" grpId="0"/>
      <p:bldP spid="95" grpId="0"/>
      <p:bldP spid="96" grpId="0"/>
      <p:bldP spid="97" grpId="0"/>
      <p:bldP spid="98" grpId="0"/>
      <p:bldP spid="99" grpId="0"/>
      <p:bldP spid="100" grpId="0"/>
      <p:bldP spid="101" grpId="0"/>
      <p:bldP spid="102" grpId="0"/>
      <p:bldP spid="103" grpId="0"/>
      <p:bldP spid="105" grpId="0"/>
      <p:bldP spid="106" grpId="0"/>
      <p:bldP spid="109" grpId="0"/>
      <p:bldP spid="4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5E7C8-E1C3-EC0D-CC3D-853D39CE707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935B9C2-8858-0C6D-2D66-16A8DE4E79E1}"/>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31</a:t>
            </a:fld>
            <a:endParaRPr lang="en-US" sz="2000"/>
          </a:p>
        </p:txBody>
      </p:sp>
      <p:sp>
        <p:nvSpPr>
          <p:cNvPr id="11" name="Title 1">
            <a:extLst>
              <a:ext uri="{FF2B5EF4-FFF2-40B4-BE49-F238E27FC236}">
                <a16:creationId xmlns:a16="http://schemas.microsoft.com/office/drawing/2014/main" id="{E94C6143-A99E-DDE6-E5A1-6D353DEB6611}"/>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8" name="Rectángulo 17">
            <a:extLst>
              <a:ext uri="{FF2B5EF4-FFF2-40B4-BE49-F238E27FC236}">
                <a16:creationId xmlns:a16="http://schemas.microsoft.com/office/drawing/2014/main" id="{02AC3CFC-0FF5-5617-2FE0-6433B27DBA9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4204E3F2-8AC4-0E44-2413-662B7D2677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B273699A-10EF-9CC4-ED3F-FB48790DD75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91" name="CuadroTexto 90">
                <a:extLst>
                  <a:ext uri="{FF2B5EF4-FFF2-40B4-BE49-F238E27FC236}">
                    <a16:creationId xmlns:a16="http://schemas.microsoft.com/office/drawing/2014/main" id="{C66D0B6F-5DC5-EF36-B6B8-81D1ACE58614}"/>
                  </a:ext>
                </a:extLst>
              </p:cNvPr>
              <p:cNvSpPr txBox="1"/>
              <p:nvPr/>
            </p:nvSpPr>
            <p:spPr>
              <a:xfrm>
                <a:off x="3312354" y="2845210"/>
                <a:ext cx="5567293" cy="621196"/>
              </a:xfrm>
              <a:prstGeom prst="rect">
                <a:avLst/>
              </a:prstGeom>
              <a:noFill/>
            </p:spPr>
            <p:txBody>
              <a:bodyPr wrap="none" lIns="0" tIns="0" rIns="0" bIns="0" rtlCol="0">
                <a:spAutoFit/>
              </a:bodyPr>
              <a:lstStyle/>
              <a:p>
                <a:pPr/>
                <a14:m>
                  <m:oMathPara xmlns:m="http://schemas.openxmlformats.org/officeDocument/2006/math">
                    <m:oMath>
                      <m:r>
                        <a:rPr lang="es-CO" sz="1400" b="0" i="1" smtClean="0">
                          <a:latin typeface="Cambria Math" panose="02040503050406030204" pitchFamily="18" charset="0"/>
                        </a:rPr>
                        <m:t>𝑉</m:t>
                      </m:r>
                      <m:sSub>
                        <m:sSubPr>
                          <m:ctrlPr>
                            <a:rPr lang="es-CO" sz="1400" b="0" i="1" smtClean="0">
                              <a:latin typeface="Cambria Math" panose="02040503050406030204" pitchFamily="18" charset="0"/>
                            </a:rPr>
                          </m:ctrlPr>
                        </m:sSubPr>
                        <m:e>
                          <m:r>
                            <a:rPr lang="es-CO" sz="1400" b="0" i="1" smtClean="0">
                              <a:latin typeface="Cambria Math" panose="02040503050406030204" pitchFamily="18" charset="0"/>
                            </a:rPr>
                            <m:t>𝑃</m:t>
                          </m:r>
                        </m:e>
                        <m:sub>
                          <m:r>
                            <a:rPr lang="es-CO" sz="1400" b="0" i="1" smtClean="0">
                              <a:latin typeface="Cambria Math" panose="02040503050406030204" pitchFamily="18" charset="0"/>
                            </a:rPr>
                            <m:t>(0)</m:t>
                          </m:r>
                        </m:sub>
                      </m:sSub>
                      <m:r>
                        <a:rPr lang="es-CO" sz="1400" b="0" i="1" smtClean="0">
                          <a:latin typeface="Cambria Math" panose="02040503050406030204" pitchFamily="18" charset="0"/>
                        </a:rPr>
                        <m:t>=−300−</m:t>
                      </m:r>
                      <m:f>
                        <m:fPr>
                          <m:ctrlPr>
                            <a:rPr lang="es-CO" sz="1400" b="0" i="1" smtClean="0">
                              <a:latin typeface="Cambria Math" panose="02040503050406030204" pitchFamily="18" charset="0"/>
                            </a:rPr>
                          </m:ctrlPr>
                        </m:fPr>
                        <m:num>
                          <m:r>
                            <a:rPr lang="es-CO" sz="1400" b="0" i="1" smtClean="0">
                              <a:latin typeface="Cambria Math" panose="02040503050406030204" pitchFamily="18" charset="0"/>
                            </a:rPr>
                            <m:t>500</m:t>
                          </m:r>
                        </m:num>
                        <m:den>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m:t>
                                  </m:r>
                                  <m:r>
                                    <a:rPr lang="es-CO" sz="1400" b="0" i="1" smtClean="0">
                                      <a:latin typeface="Cambria Math" panose="02040503050406030204" pitchFamily="18" charset="0"/>
                                    </a:rPr>
                                    <m:t>3</m:t>
                                  </m:r>
                                  <m:r>
                                    <a:rPr lang="es-CO" sz="1400" i="1">
                                      <a:latin typeface="Cambria Math" panose="02040503050406030204" pitchFamily="18" charset="0"/>
                                    </a:rPr>
                                    <m:t>%</m:t>
                                  </m:r>
                                </m:e>
                              </m:d>
                            </m:e>
                            <m:sup>
                              <m:r>
                                <a:rPr lang="es-CO" sz="1400" b="0" i="1" smtClean="0">
                                  <a:latin typeface="Cambria Math" panose="02040503050406030204" pitchFamily="18" charset="0"/>
                                </a:rPr>
                                <m:t>2</m:t>
                              </m:r>
                            </m:sup>
                          </m:sSup>
                        </m:den>
                      </m:f>
                      <m:r>
                        <a:rPr lang="es-CO" sz="1400" b="0" i="1" smtClean="0">
                          <a:latin typeface="Cambria Math" panose="02040503050406030204" pitchFamily="18" charset="0"/>
                        </a:rPr>
                        <m:t>−</m:t>
                      </m:r>
                      <m:f>
                        <m:fPr>
                          <m:ctrlPr>
                            <a:rPr lang="es-CO" sz="1400" b="0" i="1" smtClean="0">
                              <a:latin typeface="Cambria Math" panose="02040503050406030204" pitchFamily="18" charset="0"/>
                            </a:rPr>
                          </m:ctrlPr>
                        </m:fPr>
                        <m:num>
                          <m:d>
                            <m:dPr>
                              <m:ctrlPr>
                                <a:rPr lang="es-CO" sz="1400" i="1">
                                  <a:latin typeface="Cambria Math" panose="02040503050406030204" pitchFamily="18" charset="0"/>
                                </a:rPr>
                              </m:ctrlPr>
                            </m:dPr>
                            <m:e>
                              <m:f>
                                <m:fPr>
                                  <m:ctrlPr>
                                    <a:rPr lang="es-CO" sz="1400" i="1">
                                      <a:latin typeface="Cambria Math" panose="02040503050406030204" pitchFamily="18" charset="0"/>
                                    </a:rPr>
                                  </m:ctrlPr>
                                </m:fPr>
                                <m:num>
                                  <m:r>
                                    <a:rPr lang="es-CO" sz="1400" i="1">
                                      <a:latin typeface="Cambria Math" panose="02040503050406030204" pitchFamily="18" charset="0"/>
                                    </a:rPr>
                                    <m:t>240</m:t>
                                  </m:r>
                                </m:num>
                                <m:den>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1+2%</m:t>
                                          </m:r>
                                        </m:e>
                                      </m:d>
                                    </m:e>
                                    <m:sup>
                                      <m:r>
                                        <a:rPr lang="es-CO" sz="1400" i="1">
                                          <a:latin typeface="Cambria Math" panose="02040503050406030204" pitchFamily="18" charset="0"/>
                                        </a:rPr>
                                        <m:t>1</m:t>
                                      </m:r>
                                    </m:sup>
                                  </m:sSup>
                                </m:den>
                              </m:f>
                            </m:e>
                          </m:d>
                        </m:num>
                        <m:den>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1+3%</m:t>
                                  </m:r>
                                </m:e>
                              </m:d>
                            </m:e>
                            <m:sup>
                              <m:r>
                                <a:rPr lang="es-CO" sz="1400" b="0" i="1" smtClean="0">
                                  <a:latin typeface="Cambria Math" panose="02040503050406030204" pitchFamily="18" charset="0"/>
                                </a:rPr>
                                <m:t>3</m:t>
                              </m:r>
                            </m:sup>
                          </m:sSup>
                        </m:den>
                      </m:f>
                      <m:r>
                        <a:rPr lang="es-CO" sz="1400" b="0" i="1" smtClean="0">
                          <a:latin typeface="Cambria Math" panose="02040503050406030204" pitchFamily="18" charset="0"/>
                        </a:rPr>
                        <m:t>−</m:t>
                      </m:r>
                      <m:f>
                        <m:fPr>
                          <m:ctrlPr>
                            <a:rPr lang="es-CO" sz="1400" i="1">
                              <a:latin typeface="Cambria Math" panose="02040503050406030204" pitchFamily="18" charset="0"/>
                            </a:rPr>
                          </m:ctrlPr>
                        </m:fPr>
                        <m:num>
                          <m:d>
                            <m:dPr>
                              <m:ctrlPr>
                                <a:rPr lang="es-CO" sz="1400" i="1">
                                  <a:latin typeface="Cambria Math" panose="02040503050406030204" pitchFamily="18" charset="0"/>
                                </a:rPr>
                              </m:ctrlPr>
                            </m:dPr>
                            <m:e>
                              <m:f>
                                <m:fPr>
                                  <m:ctrlPr>
                                    <a:rPr lang="es-CO" sz="1400" b="0" i="1" smtClean="0">
                                      <a:latin typeface="Cambria Math" panose="02040503050406030204" pitchFamily="18" charset="0"/>
                                    </a:rPr>
                                  </m:ctrlPr>
                                </m:fPr>
                                <m:num>
                                  <m:r>
                                    <a:rPr lang="es-CO" sz="1400" b="0" i="1" smtClean="0">
                                      <a:latin typeface="Cambria Math" panose="02040503050406030204" pitchFamily="18" charset="0"/>
                                    </a:rPr>
                                    <m:t>470</m:t>
                                  </m:r>
                                </m:num>
                                <m:den>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1+2%</m:t>
                                          </m:r>
                                        </m:e>
                                      </m:d>
                                    </m:e>
                                    <m:sup>
                                      <m:r>
                                        <a:rPr lang="es-CO" sz="1400" b="0" i="1" smtClean="0">
                                          <a:latin typeface="Cambria Math" panose="02040503050406030204" pitchFamily="18" charset="0"/>
                                        </a:rPr>
                                        <m:t>4</m:t>
                                      </m:r>
                                    </m:sup>
                                  </m:sSup>
                                </m:den>
                              </m:f>
                            </m:e>
                          </m:d>
                        </m:num>
                        <m:den>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1+3%</m:t>
                                  </m:r>
                                </m:e>
                              </m:d>
                            </m:e>
                            <m:sup>
                              <m:r>
                                <a:rPr lang="es-CO" sz="1400" i="1">
                                  <a:latin typeface="Cambria Math" panose="02040503050406030204" pitchFamily="18" charset="0"/>
                                </a:rPr>
                                <m:t>3</m:t>
                              </m:r>
                            </m:sup>
                          </m:sSup>
                        </m:den>
                      </m:f>
                      <m:r>
                        <a:rPr lang="es-CO" sz="1400" b="0" i="1" smtClean="0">
                          <a:latin typeface="Cambria Math" panose="02040503050406030204" pitchFamily="18" charset="0"/>
                        </a:rPr>
                        <m:t>=−1.383,99</m:t>
                      </m:r>
                    </m:oMath>
                  </m:oMathPara>
                </a14:m>
                <a:endParaRPr lang="es-CO" sz="1400"/>
              </a:p>
            </p:txBody>
          </p:sp>
        </mc:Choice>
        <mc:Fallback xmlns="">
          <p:sp>
            <p:nvSpPr>
              <p:cNvPr id="91" name="CuadroTexto 90">
                <a:extLst>
                  <a:ext uri="{FF2B5EF4-FFF2-40B4-BE49-F238E27FC236}">
                    <a16:creationId xmlns:a16="http://schemas.microsoft.com/office/drawing/2014/main" id="{C66D0B6F-5DC5-EF36-B6B8-81D1ACE58614}"/>
                  </a:ext>
                </a:extLst>
              </p:cNvPr>
              <p:cNvSpPr txBox="1">
                <a:spLocks noRot="1" noChangeAspect="1" noMove="1" noResize="1" noEditPoints="1" noAdjustHandles="1" noChangeArrowheads="1" noChangeShapeType="1" noTextEdit="1"/>
              </p:cNvSpPr>
              <p:nvPr/>
            </p:nvSpPr>
            <p:spPr>
              <a:xfrm>
                <a:off x="3312354" y="2845210"/>
                <a:ext cx="5567293" cy="621196"/>
              </a:xfrm>
              <a:prstGeom prst="rect">
                <a:avLst/>
              </a:prstGeom>
              <a:blipFill>
                <a:blip r:embed="rId4"/>
                <a:stretch>
                  <a:fillRect/>
                </a:stretch>
              </a:blipFill>
            </p:spPr>
            <p:txBody>
              <a:bodyPr/>
              <a:lstStyle/>
              <a:p>
                <a:r>
                  <a:rPr lang="en-US">
                    <a:noFill/>
                  </a:rPr>
                  <a:t> </a:t>
                </a:r>
              </a:p>
            </p:txBody>
          </p:sp>
        </mc:Fallback>
      </mc:AlternateContent>
      <p:sp>
        <p:nvSpPr>
          <p:cNvPr id="92" name="Content Placeholder 2">
            <a:extLst>
              <a:ext uri="{FF2B5EF4-FFF2-40B4-BE49-F238E27FC236}">
                <a16:creationId xmlns:a16="http://schemas.microsoft.com/office/drawing/2014/main" id="{1D46C4BE-FBC9-7B09-2011-85A8C4B049B9}"/>
              </a:ext>
            </a:extLst>
          </p:cNvPr>
          <p:cNvSpPr>
            <a:spLocks noGrp="1"/>
          </p:cNvSpPr>
          <p:nvPr>
            <p:ph idx="1"/>
          </p:nvPr>
        </p:nvSpPr>
        <p:spPr>
          <a:xfrm>
            <a:off x="581192" y="1977247"/>
            <a:ext cx="11029615" cy="530570"/>
          </a:xfrm>
        </p:spPr>
        <p:txBody>
          <a:bodyPr>
            <a:normAutofit/>
          </a:bodyPr>
          <a:lstStyle/>
          <a:p>
            <a:pPr marL="0" indent="0" algn="ctr">
              <a:buNone/>
            </a:pPr>
            <a:r>
              <a:rPr lang="es-ES_tradnl" sz="2400"/>
              <a:t>¿Cuánto debería pagar usted si quiere hacer un único pago en el </a:t>
            </a:r>
            <a:r>
              <a:rPr lang="es-ES_tradnl" sz="2400" b="1"/>
              <a:t>mes 0</a:t>
            </a:r>
            <a:r>
              <a:rPr lang="es-ES_tradnl" sz="2400"/>
              <a:t>?</a:t>
            </a:r>
          </a:p>
        </p:txBody>
      </p:sp>
      <p:cxnSp>
        <p:nvCxnSpPr>
          <p:cNvPr id="93" name="Straight Connector 12">
            <a:extLst>
              <a:ext uri="{FF2B5EF4-FFF2-40B4-BE49-F238E27FC236}">
                <a16:creationId xmlns:a16="http://schemas.microsoft.com/office/drawing/2014/main" id="{B79BF65E-C218-1ED1-317F-B1575094EE18}"/>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4" name="Straight Arrow Connector 13">
            <a:extLst>
              <a:ext uri="{FF2B5EF4-FFF2-40B4-BE49-F238E27FC236}">
                <a16:creationId xmlns:a16="http://schemas.microsoft.com/office/drawing/2014/main" id="{7AD8B9F7-B67D-DA6E-039C-0D8BF2DFC054}"/>
              </a:ext>
            </a:extLst>
          </p:cNvPr>
          <p:cNvCxnSpPr/>
          <p:nvPr/>
        </p:nvCxnSpPr>
        <p:spPr>
          <a:xfrm flipH="1">
            <a:off x="8741430" y="456257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95" name="Rectangle 23">
            <a:extLst>
              <a:ext uri="{FF2B5EF4-FFF2-40B4-BE49-F238E27FC236}">
                <a16:creationId xmlns:a16="http://schemas.microsoft.com/office/drawing/2014/main" id="{223B5D93-BD40-8DA9-123C-8BE68CB3416B}"/>
              </a:ext>
            </a:extLst>
          </p:cNvPr>
          <p:cNvSpPr>
            <a:spLocks/>
          </p:cNvSpPr>
          <p:nvPr/>
        </p:nvSpPr>
        <p:spPr bwMode="auto">
          <a:xfrm flipH="1">
            <a:off x="3192293" y="418993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96" name="Rectangle 32">
            <a:extLst>
              <a:ext uri="{FF2B5EF4-FFF2-40B4-BE49-F238E27FC236}">
                <a16:creationId xmlns:a16="http://schemas.microsoft.com/office/drawing/2014/main" id="{DD156884-62CA-F755-FDD8-751A5C08535F}"/>
              </a:ext>
            </a:extLst>
          </p:cNvPr>
          <p:cNvSpPr>
            <a:spLocks/>
          </p:cNvSpPr>
          <p:nvPr/>
        </p:nvSpPr>
        <p:spPr bwMode="auto">
          <a:xfrm>
            <a:off x="7807706" y="567434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470</a:t>
            </a:r>
          </a:p>
        </p:txBody>
      </p:sp>
      <p:sp>
        <p:nvSpPr>
          <p:cNvPr id="97" name="Rectangle 11">
            <a:extLst>
              <a:ext uri="{FF2B5EF4-FFF2-40B4-BE49-F238E27FC236}">
                <a16:creationId xmlns:a16="http://schemas.microsoft.com/office/drawing/2014/main" id="{B303B35F-6BCC-FE22-E26D-7979104B1927}"/>
              </a:ext>
            </a:extLst>
          </p:cNvPr>
          <p:cNvSpPr>
            <a:spLocks/>
          </p:cNvSpPr>
          <p:nvPr/>
        </p:nvSpPr>
        <p:spPr bwMode="auto">
          <a:xfrm>
            <a:off x="390380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98" name="Rectangle 14">
            <a:extLst>
              <a:ext uri="{FF2B5EF4-FFF2-40B4-BE49-F238E27FC236}">
                <a16:creationId xmlns:a16="http://schemas.microsoft.com/office/drawing/2014/main" id="{F9C94D9A-B644-2A10-27E9-2B369CB036C4}"/>
              </a:ext>
            </a:extLst>
          </p:cNvPr>
          <p:cNvSpPr>
            <a:spLocks/>
          </p:cNvSpPr>
          <p:nvPr/>
        </p:nvSpPr>
        <p:spPr bwMode="auto">
          <a:xfrm>
            <a:off x="4759702" y="41814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99" name="Rectangle 15">
            <a:extLst>
              <a:ext uri="{FF2B5EF4-FFF2-40B4-BE49-F238E27FC236}">
                <a16:creationId xmlns:a16="http://schemas.microsoft.com/office/drawing/2014/main" id="{3BB4AF90-2C46-B1CD-63AF-59D60E5140B0}"/>
              </a:ext>
            </a:extLst>
          </p:cNvPr>
          <p:cNvSpPr>
            <a:spLocks/>
          </p:cNvSpPr>
          <p:nvPr/>
        </p:nvSpPr>
        <p:spPr bwMode="auto">
          <a:xfrm>
            <a:off x="5532775"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00" name="Rectangle 16">
            <a:extLst>
              <a:ext uri="{FF2B5EF4-FFF2-40B4-BE49-F238E27FC236}">
                <a16:creationId xmlns:a16="http://schemas.microsoft.com/office/drawing/2014/main" id="{1F452A9A-F9D0-95AB-E1EC-ACB94DE97DD8}"/>
              </a:ext>
            </a:extLst>
          </p:cNvPr>
          <p:cNvSpPr>
            <a:spLocks/>
          </p:cNvSpPr>
          <p:nvPr/>
        </p:nvSpPr>
        <p:spPr bwMode="auto">
          <a:xfrm>
            <a:off x="6278238"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01" name="Rectangle 17">
            <a:extLst>
              <a:ext uri="{FF2B5EF4-FFF2-40B4-BE49-F238E27FC236}">
                <a16:creationId xmlns:a16="http://schemas.microsoft.com/office/drawing/2014/main" id="{74EC8223-AF33-C871-A8DE-2420D17AC860}"/>
              </a:ext>
            </a:extLst>
          </p:cNvPr>
          <p:cNvSpPr>
            <a:spLocks/>
          </p:cNvSpPr>
          <p:nvPr/>
        </p:nvSpPr>
        <p:spPr bwMode="auto">
          <a:xfrm>
            <a:off x="6993220"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02" name="Rectangle 18">
            <a:extLst>
              <a:ext uri="{FF2B5EF4-FFF2-40B4-BE49-F238E27FC236}">
                <a16:creationId xmlns:a16="http://schemas.microsoft.com/office/drawing/2014/main" id="{1E5F2C85-235C-B214-7A75-C68A5C9BCBED}"/>
              </a:ext>
            </a:extLst>
          </p:cNvPr>
          <p:cNvSpPr>
            <a:spLocks/>
          </p:cNvSpPr>
          <p:nvPr/>
        </p:nvSpPr>
        <p:spPr bwMode="auto">
          <a:xfrm>
            <a:off x="784912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03" name="Rectangle 19">
            <a:extLst>
              <a:ext uri="{FF2B5EF4-FFF2-40B4-BE49-F238E27FC236}">
                <a16:creationId xmlns:a16="http://schemas.microsoft.com/office/drawing/2014/main" id="{BAC1BFBC-3A73-E40E-B77D-62526F8623F3}"/>
              </a:ext>
            </a:extLst>
          </p:cNvPr>
          <p:cNvSpPr>
            <a:spLocks/>
          </p:cNvSpPr>
          <p:nvPr/>
        </p:nvSpPr>
        <p:spPr bwMode="auto">
          <a:xfrm>
            <a:off x="8578253" y="420431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104" name="Straight Arrow Connector 20">
            <a:extLst>
              <a:ext uri="{FF2B5EF4-FFF2-40B4-BE49-F238E27FC236}">
                <a16:creationId xmlns:a16="http://schemas.microsoft.com/office/drawing/2014/main" id="{28FD5360-5869-2602-AF42-0AF972A0EDE8}"/>
              </a:ext>
            </a:extLst>
          </p:cNvPr>
          <p:cNvCxnSpPr/>
          <p:nvPr/>
        </p:nvCxnSpPr>
        <p:spPr>
          <a:xfrm flipH="1">
            <a:off x="6477978" y="456257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5" name="Rectangle 21">
            <a:extLst>
              <a:ext uri="{FF2B5EF4-FFF2-40B4-BE49-F238E27FC236}">
                <a16:creationId xmlns:a16="http://schemas.microsoft.com/office/drawing/2014/main" id="{6C671AA9-D85A-1194-9EE9-B0E29C613170}"/>
              </a:ext>
            </a:extLst>
          </p:cNvPr>
          <p:cNvSpPr>
            <a:spLocks/>
          </p:cNvSpPr>
          <p:nvPr/>
        </p:nvSpPr>
        <p:spPr bwMode="auto">
          <a:xfrm>
            <a:off x="5534397" y="530501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p:sp>
        <p:nvSpPr>
          <p:cNvPr id="106" name="Rectangle 24">
            <a:extLst>
              <a:ext uri="{FF2B5EF4-FFF2-40B4-BE49-F238E27FC236}">
                <a16:creationId xmlns:a16="http://schemas.microsoft.com/office/drawing/2014/main" id="{E57C5499-375F-5102-2251-78A5EFC0E03E}"/>
              </a:ext>
            </a:extLst>
          </p:cNvPr>
          <p:cNvSpPr>
            <a:spLocks/>
          </p:cNvSpPr>
          <p:nvPr/>
        </p:nvSpPr>
        <p:spPr bwMode="auto">
          <a:xfrm>
            <a:off x="3974447" y="570012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cxnSp>
        <p:nvCxnSpPr>
          <p:cNvPr id="107" name="Straight Arrow Connector 25">
            <a:extLst>
              <a:ext uri="{FF2B5EF4-FFF2-40B4-BE49-F238E27FC236}">
                <a16:creationId xmlns:a16="http://schemas.microsoft.com/office/drawing/2014/main" id="{E821FCCD-44AD-940F-117A-EC7AE7425848}"/>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08" name="Straight Arrow Connector 26">
            <a:extLst>
              <a:ext uri="{FF2B5EF4-FFF2-40B4-BE49-F238E27FC236}">
                <a16:creationId xmlns:a16="http://schemas.microsoft.com/office/drawing/2014/main" id="{E22A2E74-B9DD-F07C-F491-2B7DD6C69FD7}"/>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9" name="Rectangle 27">
            <a:extLst>
              <a:ext uri="{FF2B5EF4-FFF2-40B4-BE49-F238E27FC236}">
                <a16:creationId xmlns:a16="http://schemas.microsoft.com/office/drawing/2014/main" id="{8EABDEA5-29E4-BD03-C114-4302E54BB4C8}"/>
              </a:ext>
            </a:extLst>
          </p:cNvPr>
          <p:cNvSpPr>
            <a:spLocks/>
          </p:cNvSpPr>
          <p:nvPr/>
        </p:nvSpPr>
        <p:spPr bwMode="auto">
          <a:xfrm>
            <a:off x="2353695" y="523979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spTree>
    <p:extLst>
      <p:ext uri="{BB962C8B-B14F-4D97-AF65-F5344CB8AC3E}">
        <p14:creationId xmlns:p14="http://schemas.microsoft.com/office/powerpoint/2010/main" val="1118791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5" grpId="0"/>
      <p:bldP spid="96" grpId="0"/>
      <p:bldP spid="97" grpId="0"/>
      <p:bldP spid="98" grpId="0"/>
      <p:bldP spid="99" grpId="0"/>
      <p:bldP spid="100" grpId="0"/>
      <p:bldP spid="101" grpId="0"/>
      <p:bldP spid="102" grpId="0"/>
      <p:bldP spid="103" grpId="0"/>
      <p:bldP spid="105" grpId="0"/>
      <p:bldP spid="106" grpId="0"/>
      <p:bldP spid="10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7D66B-CFF4-41A7-20A9-1D08E549780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55F085-997D-8E88-4372-03ABAC35CBF3}"/>
              </a:ext>
            </a:extLst>
          </p:cNvPr>
          <p:cNvSpPr>
            <a:spLocks noGrp="1"/>
          </p:cNvSpPr>
          <p:nvPr>
            <p:ph idx="1"/>
          </p:nvPr>
        </p:nvSpPr>
        <p:spPr>
          <a:xfrm>
            <a:off x="607502" y="2035466"/>
            <a:ext cx="11029615" cy="1564898"/>
          </a:xfrm>
        </p:spPr>
        <p:txBody>
          <a:bodyPr>
            <a:normAutofit/>
          </a:bodyPr>
          <a:lstStyle/>
          <a:p>
            <a:pPr marL="0" indent="0" algn="just">
              <a:buNone/>
            </a:pPr>
            <a:r>
              <a:rPr lang="es-ES_tradnl" sz="2400" b="1">
                <a:solidFill>
                  <a:schemeClr val="tx1"/>
                </a:solidFill>
              </a:rPr>
              <a:t>Ejercicio 2: </a:t>
            </a:r>
            <a:r>
              <a:rPr lang="es-MX" sz="2400"/>
              <a:t>Usted tiene el siguiente esquema de pagos mensuales a un banco que le prestó al 3% MV entre el mes 1 y el 3, y al 2% MV entre el mes 4 y 7. ¿Cuánto debería pagar usted si quiere hacer un único pago en el mes 7?</a:t>
            </a:r>
          </a:p>
          <a:p>
            <a:pPr marL="0" indent="0" algn="just">
              <a:buNone/>
            </a:pPr>
            <a:endParaRPr lang="es-ES_tradnl" sz="2400"/>
          </a:p>
        </p:txBody>
      </p:sp>
      <p:sp>
        <p:nvSpPr>
          <p:cNvPr id="4" name="Slide Number Placeholder 3">
            <a:extLst>
              <a:ext uri="{FF2B5EF4-FFF2-40B4-BE49-F238E27FC236}">
                <a16:creationId xmlns:a16="http://schemas.microsoft.com/office/drawing/2014/main" id="{3B7EFEA5-7EA7-827D-2D75-75AC21F9DE12}"/>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32</a:t>
            </a:fld>
            <a:endParaRPr lang="en-US" sz="2000"/>
          </a:p>
        </p:txBody>
      </p:sp>
      <p:sp>
        <p:nvSpPr>
          <p:cNvPr id="11" name="Title 1">
            <a:extLst>
              <a:ext uri="{FF2B5EF4-FFF2-40B4-BE49-F238E27FC236}">
                <a16:creationId xmlns:a16="http://schemas.microsoft.com/office/drawing/2014/main" id="{099D4E44-C621-EF6E-B92C-A1E6C55F5C87}"/>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8" name="Rectángulo 17">
            <a:extLst>
              <a:ext uri="{FF2B5EF4-FFF2-40B4-BE49-F238E27FC236}">
                <a16:creationId xmlns:a16="http://schemas.microsoft.com/office/drawing/2014/main" id="{D2833E81-6682-10E7-F113-DE9406885C9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ED8404CD-C710-7521-2693-98C21DEFF1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45AC2E44-7398-075B-733F-552AD6E744D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 name="Straight Connector 12">
            <a:extLst>
              <a:ext uri="{FF2B5EF4-FFF2-40B4-BE49-F238E27FC236}">
                <a16:creationId xmlns:a16="http://schemas.microsoft.com/office/drawing/2014/main" id="{5106E129-6315-3066-24BE-B47601959C72}"/>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13">
            <a:extLst>
              <a:ext uri="{FF2B5EF4-FFF2-40B4-BE49-F238E27FC236}">
                <a16:creationId xmlns:a16="http://schemas.microsoft.com/office/drawing/2014/main" id="{DC2082A7-2701-7012-CD3B-47EE2B53236E}"/>
              </a:ext>
            </a:extLst>
          </p:cNvPr>
          <p:cNvCxnSpPr/>
          <p:nvPr/>
        </p:nvCxnSpPr>
        <p:spPr>
          <a:xfrm flipH="1">
            <a:off x="8741430" y="456257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8" name="Rectangle 23">
            <a:extLst>
              <a:ext uri="{FF2B5EF4-FFF2-40B4-BE49-F238E27FC236}">
                <a16:creationId xmlns:a16="http://schemas.microsoft.com/office/drawing/2014/main" id="{DBF36D4F-DF13-E356-4F63-6EAE215C20F5}"/>
              </a:ext>
            </a:extLst>
          </p:cNvPr>
          <p:cNvSpPr>
            <a:spLocks/>
          </p:cNvSpPr>
          <p:nvPr/>
        </p:nvSpPr>
        <p:spPr bwMode="auto">
          <a:xfrm flipH="1">
            <a:off x="3192293" y="418993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9" name="Rectangle 32">
            <a:extLst>
              <a:ext uri="{FF2B5EF4-FFF2-40B4-BE49-F238E27FC236}">
                <a16:creationId xmlns:a16="http://schemas.microsoft.com/office/drawing/2014/main" id="{623FCDFC-8966-448F-3670-0C7CB3AF1C36}"/>
              </a:ext>
            </a:extLst>
          </p:cNvPr>
          <p:cNvSpPr>
            <a:spLocks/>
          </p:cNvSpPr>
          <p:nvPr/>
        </p:nvSpPr>
        <p:spPr bwMode="auto">
          <a:xfrm>
            <a:off x="7807706" y="567434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470</a:t>
            </a:r>
          </a:p>
        </p:txBody>
      </p:sp>
      <p:sp>
        <p:nvSpPr>
          <p:cNvPr id="10" name="Rectangle 11">
            <a:extLst>
              <a:ext uri="{FF2B5EF4-FFF2-40B4-BE49-F238E27FC236}">
                <a16:creationId xmlns:a16="http://schemas.microsoft.com/office/drawing/2014/main" id="{93BA4BE1-1BB6-DD4C-F608-D93DC8ABEDC1}"/>
              </a:ext>
            </a:extLst>
          </p:cNvPr>
          <p:cNvSpPr>
            <a:spLocks/>
          </p:cNvSpPr>
          <p:nvPr/>
        </p:nvSpPr>
        <p:spPr bwMode="auto">
          <a:xfrm>
            <a:off x="390380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3" name="Rectangle 14">
            <a:extLst>
              <a:ext uri="{FF2B5EF4-FFF2-40B4-BE49-F238E27FC236}">
                <a16:creationId xmlns:a16="http://schemas.microsoft.com/office/drawing/2014/main" id="{2F974710-7002-64FB-0AC8-3BFCFEABF54A}"/>
              </a:ext>
            </a:extLst>
          </p:cNvPr>
          <p:cNvSpPr>
            <a:spLocks/>
          </p:cNvSpPr>
          <p:nvPr/>
        </p:nvSpPr>
        <p:spPr bwMode="auto">
          <a:xfrm>
            <a:off x="4759702" y="41814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7" name="Rectangle 15">
            <a:extLst>
              <a:ext uri="{FF2B5EF4-FFF2-40B4-BE49-F238E27FC236}">
                <a16:creationId xmlns:a16="http://schemas.microsoft.com/office/drawing/2014/main" id="{67188D5B-F565-D1D8-9109-08358D9F08BB}"/>
              </a:ext>
            </a:extLst>
          </p:cNvPr>
          <p:cNvSpPr>
            <a:spLocks/>
          </p:cNvSpPr>
          <p:nvPr/>
        </p:nvSpPr>
        <p:spPr bwMode="auto">
          <a:xfrm>
            <a:off x="5532775"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45" name="Rectangle 16">
            <a:extLst>
              <a:ext uri="{FF2B5EF4-FFF2-40B4-BE49-F238E27FC236}">
                <a16:creationId xmlns:a16="http://schemas.microsoft.com/office/drawing/2014/main" id="{8821C58F-C152-BE43-1777-4B68169F1052}"/>
              </a:ext>
            </a:extLst>
          </p:cNvPr>
          <p:cNvSpPr>
            <a:spLocks/>
          </p:cNvSpPr>
          <p:nvPr/>
        </p:nvSpPr>
        <p:spPr bwMode="auto">
          <a:xfrm>
            <a:off x="6278238"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46" name="Rectangle 17">
            <a:extLst>
              <a:ext uri="{FF2B5EF4-FFF2-40B4-BE49-F238E27FC236}">
                <a16:creationId xmlns:a16="http://schemas.microsoft.com/office/drawing/2014/main" id="{08541D1B-1ED3-0B5F-EC9F-67852DE9B20C}"/>
              </a:ext>
            </a:extLst>
          </p:cNvPr>
          <p:cNvSpPr>
            <a:spLocks/>
          </p:cNvSpPr>
          <p:nvPr/>
        </p:nvSpPr>
        <p:spPr bwMode="auto">
          <a:xfrm>
            <a:off x="6993220"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47" name="Rectangle 18">
            <a:extLst>
              <a:ext uri="{FF2B5EF4-FFF2-40B4-BE49-F238E27FC236}">
                <a16:creationId xmlns:a16="http://schemas.microsoft.com/office/drawing/2014/main" id="{7F764ED3-153C-8648-7FDB-6170E6DEEB0A}"/>
              </a:ext>
            </a:extLst>
          </p:cNvPr>
          <p:cNvSpPr>
            <a:spLocks/>
          </p:cNvSpPr>
          <p:nvPr/>
        </p:nvSpPr>
        <p:spPr bwMode="auto">
          <a:xfrm>
            <a:off x="784912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48" name="Rectangle 19">
            <a:extLst>
              <a:ext uri="{FF2B5EF4-FFF2-40B4-BE49-F238E27FC236}">
                <a16:creationId xmlns:a16="http://schemas.microsoft.com/office/drawing/2014/main" id="{A6D48559-4D18-1B6A-6422-BF36A29263C8}"/>
              </a:ext>
            </a:extLst>
          </p:cNvPr>
          <p:cNvSpPr>
            <a:spLocks/>
          </p:cNvSpPr>
          <p:nvPr/>
        </p:nvSpPr>
        <p:spPr bwMode="auto">
          <a:xfrm>
            <a:off x="8578253" y="420431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49" name="Straight Arrow Connector 20">
            <a:extLst>
              <a:ext uri="{FF2B5EF4-FFF2-40B4-BE49-F238E27FC236}">
                <a16:creationId xmlns:a16="http://schemas.microsoft.com/office/drawing/2014/main" id="{2AA1863B-4191-BD2C-C5F9-77C9B115FD41}"/>
              </a:ext>
            </a:extLst>
          </p:cNvPr>
          <p:cNvCxnSpPr/>
          <p:nvPr/>
        </p:nvCxnSpPr>
        <p:spPr>
          <a:xfrm flipH="1">
            <a:off x="6477978" y="456257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50" name="Rectangle 21">
            <a:extLst>
              <a:ext uri="{FF2B5EF4-FFF2-40B4-BE49-F238E27FC236}">
                <a16:creationId xmlns:a16="http://schemas.microsoft.com/office/drawing/2014/main" id="{B21AFC10-A619-E74E-A589-C43C38B6AEC9}"/>
              </a:ext>
            </a:extLst>
          </p:cNvPr>
          <p:cNvSpPr>
            <a:spLocks/>
          </p:cNvSpPr>
          <p:nvPr/>
        </p:nvSpPr>
        <p:spPr bwMode="auto">
          <a:xfrm>
            <a:off x="5534397" y="530501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p:sp>
        <p:nvSpPr>
          <p:cNvPr id="51" name="Rectangle 24">
            <a:extLst>
              <a:ext uri="{FF2B5EF4-FFF2-40B4-BE49-F238E27FC236}">
                <a16:creationId xmlns:a16="http://schemas.microsoft.com/office/drawing/2014/main" id="{89F5C078-44FF-B9FC-E562-21D3981A2D33}"/>
              </a:ext>
            </a:extLst>
          </p:cNvPr>
          <p:cNvSpPr>
            <a:spLocks/>
          </p:cNvSpPr>
          <p:nvPr/>
        </p:nvSpPr>
        <p:spPr bwMode="auto">
          <a:xfrm>
            <a:off x="3974447" y="570012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cxnSp>
        <p:nvCxnSpPr>
          <p:cNvPr id="52" name="Straight Arrow Connector 25">
            <a:extLst>
              <a:ext uri="{FF2B5EF4-FFF2-40B4-BE49-F238E27FC236}">
                <a16:creationId xmlns:a16="http://schemas.microsoft.com/office/drawing/2014/main" id="{AC8174CE-3E21-6FDC-81A7-41834E2BC545}"/>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26">
            <a:extLst>
              <a:ext uri="{FF2B5EF4-FFF2-40B4-BE49-F238E27FC236}">
                <a16:creationId xmlns:a16="http://schemas.microsoft.com/office/drawing/2014/main" id="{A1D11AD8-7B1D-5A8D-D8CF-7AD9C5DB6A11}"/>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54" name="Rectangle 27">
            <a:extLst>
              <a:ext uri="{FF2B5EF4-FFF2-40B4-BE49-F238E27FC236}">
                <a16:creationId xmlns:a16="http://schemas.microsoft.com/office/drawing/2014/main" id="{1FEE5BF1-3DA5-E048-969B-3D807A37D8BD}"/>
              </a:ext>
            </a:extLst>
          </p:cNvPr>
          <p:cNvSpPr>
            <a:spLocks/>
          </p:cNvSpPr>
          <p:nvPr/>
        </p:nvSpPr>
        <p:spPr bwMode="auto">
          <a:xfrm>
            <a:off x="2353695" y="523979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spTree>
    <p:extLst>
      <p:ext uri="{BB962C8B-B14F-4D97-AF65-F5344CB8AC3E}">
        <p14:creationId xmlns:p14="http://schemas.microsoft.com/office/powerpoint/2010/main" val="1271665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23" grpId="0"/>
      <p:bldP spid="27" grpId="0"/>
      <p:bldP spid="45" grpId="0"/>
      <p:bldP spid="46" grpId="0"/>
      <p:bldP spid="47" grpId="0"/>
      <p:bldP spid="48" grpId="0"/>
      <p:bldP spid="50" grpId="0"/>
      <p:bldP spid="51" grpId="0"/>
      <p:bldP spid="5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3D4C4-13B1-F2D7-222A-E8238574809C}"/>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031A1B20-F427-B5F1-C9F5-0F28291C8475}"/>
              </a:ext>
            </a:extLst>
          </p:cNvPr>
          <p:cNvSpPr>
            <a:spLocks/>
          </p:cNvSpPr>
          <p:nvPr/>
        </p:nvSpPr>
        <p:spPr bwMode="auto">
          <a:xfrm flipH="1">
            <a:off x="3192293" y="418993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5" name="Rectangle 11">
            <a:extLst>
              <a:ext uri="{FF2B5EF4-FFF2-40B4-BE49-F238E27FC236}">
                <a16:creationId xmlns:a16="http://schemas.microsoft.com/office/drawing/2014/main" id="{B544EB4A-BD32-0908-9BB7-64E0C80E0159}"/>
              </a:ext>
            </a:extLst>
          </p:cNvPr>
          <p:cNvSpPr>
            <a:spLocks/>
          </p:cNvSpPr>
          <p:nvPr/>
        </p:nvSpPr>
        <p:spPr bwMode="auto">
          <a:xfrm>
            <a:off x="390380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6" name="Rectangle 14">
            <a:extLst>
              <a:ext uri="{FF2B5EF4-FFF2-40B4-BE49-F238E27FC236}">
                <a16:creationId xmlns:a16="http://schemas.microsoft.com/office/drawing/2014/main" id="{15429710-63E1-AA2B-514E-3279ED3F15A2}"/>
              </a:ext>
            </a:extLst>
          </p:cNvPr>
          <p:cNvSpPr>
            <a:spLocks/>
          </p:cNvSpPr>
          <p:nvPr/>
        </p:nvSpPr>
        <p:spPr bwMode="auto">
          <a:xfrm>
            <a:off x="4759702" y="41814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7" name="Rectangle 24">
            <a:extLst>
              <a:ext uri="{FF2B5EF4-FFF2-40B4-BE49-F238E27FC236}">
                <a16:creationId xmlns:a16="http://schemas.microsoft.com/office/drawing/2014/main" id="{0EABE99B-2B42-E279-9D02-4487D31080F8}"/>
              </a:ext>
            </a:extLst>
          </p:cNvPr>
          <p:cNvSpPr>
            <a:spLocks/>
          </p:cNvSpPr>
          <p:nvPr/>
        </p:nvSpPr>
        <p:spPr bwMode="auto">
          <a:xfrm>
            <a:off x="3974447" y="570012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cxnSp>
        <p:nvCxnSpPr>
          <p:cNvPr id="28" name="Straight Arrow Connector 25">
            <a:extLst>
              <a:ext uri="{FF2B5EF4-FFF2-40B4-BE49-F238E27FC236}">
                <a16:creationId xmlns:a16="http://schemas.microsoft.com/office/drawing/2014/main" id="{75B0B7BC-7A66-9240-1CBA-1CA9CB8E90FF}"/>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6">
            <a:extLst>
              <a:ext uri="{FF2B5EF4-FFF2-40B4-BE49-F238E27FC236}">
                <a16:creationId xmlns:a16="http://schemas.microsoft.com/office/drawing/2014/main" id="{55FD3FC9-058F-7C36-7A83-D19C5377CDCB}"/>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27">
            <a:extLst>
              <a:ext uri="{FF2B5EF4-FFF2-40B4-BE49-F238E27FC236}">
                <a16:creationId xmlns:a16="http://schemas.microsoft.com/office/drawing/2014/main" id="{A8FE55CC-FBCC-1F86-1DE9-43F1C0147F1A}"/>
              </a:ext>
            </a:extLst>
          </p:cNvPr>
          <p:cNvSpPr>
            <a:spLocks/>
          </p:cNvSpPr>
          <p:nvPr/>
        </p:nvSpPr>
        <p:spPr bwMode="auto">
          <a:xfrm>
            <a:off x="2353695" y="523979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pic>
        <p:nvPicPr>
          <p:cNvPr id="38" name="Imagen 37">
            <a:extLst>
              <a:ext uri="{FF2B5EF4-FFF2-40B4-BE49-F238E27FC236}">
                <a16:creationId xmlns:a16="http://schemas.microsoft.com/office/drawing/2014/main" id="{B3E8E22E-38DB-5305-B635-62B4ABFABB1E}"/>
              </a:ext>
            </a:extLst>
          </p:cNvPr>
          <p:cNvPicPr>
            <a:picLocks noChangeAspect="1"/>
          </p:cNvPicPr>
          <p:nvPr/>
        </p:nvPicPr>
        <p:blipFill>
          <a:blip r:embed="rId3"/>
          <a:srcRect l="-2849" t="-4365" r="-1" b="3"/>
          <a:stretch>
            <a:fillRect/>
          </a:stretch>
        </p:blipFill>
        <p:spPr>
          <a:xfrm>
            <a:off x="2983766" y="3644143"/>
            <a:ext cx="2877848" cy="2572655"/>
          </a:xfrm>
          <a:prstGeom prst="rect">
            <a:avLst/>
          </a:prstGeom>
        </p:spPr>
      </p:pic>
      <p:sp>
        <p:nvSpPr>
          <p:cNvPr id="4" name="Slide Number Placeholder 3">
            <a:extLst>
              <a:ext uri="{FF2B5EF4-FFF2-40B4-BE49-F238E27FC236}">
                <a16:creationId xmlns:a16="http://schemas.microsoft.com/office/drawing/2014/main" id="{A4794547-495F-E6C8-A874-31D82AF51AB4}"/>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33</a:t>
            </a:fld>
            <a:endParaRPr lang="en-US" sz="2000"/>
          </a:p>
        </p:txBody>
      </p:sp>
      <p:sp>
        <p:nvSpPr>
          <p:cNvPr id="11" name="Title 1">
            <a:extLst>
              <a:ext uri="{FF2B5EF4-FFF2-40B4-BE49-F238E27FC236}">
                <a16:creationId xmlns:a16="http://schemas.microsoft.com/office/drawing/2014/main" id="{37C06176-4BA2-7461-25AE-2F61BCA6A239}"/>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8" name="Rectángulo 17">
            <a:extLst>
              <a:ext uri="{FF2B5EF4-FFF2-40B4-BE49-F238E27FC236}">
                <a16:creationId xmlns:a16="http://schemas.microsoft.com/office/drawing/2014/main" id="{BAC73A88-0F82-142F-FAFA-04DF084B7FA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DC55D8E6-8A2D-098E-A083-432E392A65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28C03645-275E-2BDE-13C9-7BE0DC0C346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2" name="Content Placeholder 2">
            <a:extLst>
              <a:ext uri="{FF2B5EF4-FFF2-40B4-BE49-F238E27FC236}">
                <a16:creationId xmlns:a16="http://schemas.microsoft.com/office/drawing/2014/main" id="{EE666630-670C-9164-EDAD-C1658B5C36E8}"/>
              </a:ext>
            </a:extLst>
          </p:cNvPr>
          <p:cNvSpPr>
            <a:spLocks noGrp="1"/>
          </p:cNvSpPr>
          <p:nvPr>
            <p:ph idx="1"/>
          </p:nvPr>
        </p:nvSpPr>
        <p:spPr>
          <a:xfrm>
            <a:off x="581192" y="1977247"/>
            <a:ext cx="11029615" cy="530570"/>
          </a:xfrm>
        </p:spPr>
        <p:txBody>
          <a:bodyPr>
            <a:normAutofit/>
          </a:bodyPr>
          <a:lstStyle/>
          <a:p>
            <a:pPr marL="0" indent="0" algn="ctr">
              <a:buNone/>
            </a:pPr>
            <a:r>
              <a:rPr lang="es-ES_tradnl" sz="2400"/>
              <a:t>¿Cuánto debería pagar usted si quiere hacer un único pago en el </a:t>
            </a:r>
            <a:r>
              <a:rPr lang="es-ES_tradnl" sz="2400" b="1"/>
              <a:t>mes 7</a:t>
            </a:r>
            <a:r>
              <a:rPr lang="es-ES_tradnl" sz="2400"/>
              <a:t>?</a:t>
            </a:r>
          </a:p>
        </p:txBody>
      </p:sp>
      <p:cxnSp>
        <p:nvCxnSpPr>
          <p:cNvPr id="93" name="Straight Connector 12">
            <a:extLst>
              <a:ext uri="{FF2B5EF4-FFF2-40B4-BE49-F238E27FC236}">
                <a16:creationId xmlns:a16="http://schemas.microsoft.com/office/drawing/2014/main" id="{BE953CD0-C867-E22F-655E-D7A89D7975EC}"/>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4" name="Straight Arrow Connector 13">
            <a:extLst>
              <a:ext uri="{FF2B5EF4-FFF2-40B4-BE49-F238E27FC236}">
                <a16:creationId xmlns:a16="http://schemas.microsoft.com/office/drawing/2014/main" id="{BFD7A86F-81A7-1911-8CDE-724F8644428A}"/>
              </a:ext>
            </a:extLst>
          </p:cNvPr>
          <p:cNvCxnSpPr/>
          <p:nvPr/>
        </p:nvCxnSpPr>
        <p:spPr>
          <a:xfrm flipH="1">
            <a:off x="8741430" y="456257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96" name="Rectangle 32">
            <a:extLst>
              <a:ext uri="{FF2B5EF4-FFF2-40B4-BE49-F238E27FC236}">
                <a16:creationId xmlns:a16="http://schemas.microsoft.com/office/drawing/2014/main" id="{F73D7DDD-D7DE-0DC2-7A14-91C3071071FA}"/>
              </a:ext>
            </a:extLst>
          </p:cNvPr>
          <p:cNvSpPr>
            <a:spLocks/>
          </p:cNvSpPr>
          <p:nvPr/>
        </p:nvSpPr>
        <p:spPr bwMode="auto">
          <a:xfrm>
            <a:off x="7807706" y="567434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470</a:t>
            </a:r>
          </a:p>
        </p:txBody>
      </p:sp>
      <p:sp>
        <p:nvSpPr>
          <p:cNvPr id="99" name="Rectangle 15">
            <a:extLst>
              <a:ext uri="{FF2B5EF4-FFF2-40B4-BE49-F238E27FC236}">
                <a16:creationId xmlns:a16="http://schemas.microsoft.com/office/drawing/2014/main" id="{0221EFF0-875E-AEC3-597A-7387369ED75F}"/>
              </a:ext>
            </a:extLst>
          </p:cNvPr>
          <p:cNvSpPr>
            <a:spLocks/>
          </p:cNvSpPr>
          <p:nvPr/>
        </p:nvSpPr>
        <p:spPr bwMode="auto">
          <a:xfrm>
            <a:off x="5532775"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00" name="Rectangle 16">
            <a:extLst>
              <a:ext uri="{FF2B5EF4-FFF2-40B4-BE49-F238E27FC236}">
                <a16:creationId xmlns:a16="http://schemas.microsoft.com/office/drawing/2014/main" id="{8339AD27-17A4-A833-CC48-098054B0CC61}"/>
              </a:ext>
            </a:extLst>
          </p:cNvPr>
          <p:cNvSpPr>
            <a:spLocks/>
          </p:cNvSpPr>
          <p:nvPr/>
        </p:nvSpPr>
        <p:spPr bwMode="auto">
          <a:xfrm>
            <a:off x="6278238"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01" name="Rectangle 17">
            <a:extLst>
              <a:ext uri="{FF2B5EF4-FFF2-40B4-BE49-F238E27FC236}">
                <a16:creationId xmlns:a16="http://schemas.microsoft.com/office/drawing/2014/main" id="{19D45C6D-E4DE-C48F-0FA9-374F1C3CDEC7}"/>
              </a:ext>
            </a:extLst>
          </p:cNvPr>
          <p:cNvSpPr>
            <a:spLocks/>
          </p:cNvSpPr>
          <p:nvPr/>
        </p:nvSpPr>
        <p:spPr bwMode="auto">
          <a:xfrm>
            <a:off x="6993220"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02" name="Rectangle 18">
            <a:extLst>
              <a:ext uri="{FF2B5EF4-FFF2-40B4-BE49-F238E27FC236}">
                <a16:creationId xmlns:a16="http://schemas.microsoft.com/office/drawing/2014/main" id="{605EAE5A-272B-C600-F0A3-18D155D9E586}"/>
              </a:ext>
            </a:extLst>
          </p:cNvPr>
          <p:cNvSpPr>
            <a:spLocks/>
          </p:cNvSpPr>
          <p:nvPr/>
        </p:nvSpPr>
        <p:spPr bwMode="auto">
          <a:xfrm>
            <a:off x="784912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03" name="Rectangle 19">
            <a:extLst>
              <a:ext uri="{FF2B5EF4-FFF2-40B4-BE49-F238E27FC236}">
                <a16:creationId xmlns:a16="http://schemas.microsoft.com/office/drawing/2014/main" id="{3FA1A1FF-8790-23EA-A979-3B264062D168}"/>
              </a:ext>
            </a:extLst>
          </p:cNvPr>
          <p:cNvSpPr>
            <a:spLocks/>
          </p:cNvSpPr>
          <p:nvPr/>
        </p:nvSpPr>
        <p:spPr bwMode="auto">
          <a:xfrm>
            <a:off x="8578253" y="420431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104" name="Straight Arrow Connector 20">
            <a:extLst>
              <a:ext uri="{FF2B5EF4-FFF2-40B4-BE49-F238E27FC236}">
                <a16:creationId xmlns:a16="http://schemas.microsoft.com/office/drawing/2014/main" id="{35C93853-DF9E-0281-F5E1-3EF4888D2C03}"/>
              </a:ext>
            </a:extLst>
          </p:cNvPr>
          <p:cNvCxnSpPr/>
          <p:nvPr/>
        </p:nvCxnSpPr>
        <p:spPr>
          <a:xfrm flipH="1">
            <a:off x="6477978" y="456257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5" name="Rectangle 21">
            <a:extLst>
              <a:ext uri="{FF2B5EF4-FFF2-40B4-BE49-F238E27FC236}">
                <a16:creationId xmlns:a16="http://schemas.microsoft.com/office/drawing/2014/main" id="{C8AABB90-9955-0A76-AC7F-64A664BC4B96}"/>
              </a:ext>
            </a:extLst>
          </p:cNvPr>
          <p:cNvSpPr>
            <a:spLocks/>
          </p:cNvSpPr>
          <p:nvPr/>
        </p:nvSpPr>
        <p:spPr bwMode="auto">
          <a:xfrm>
            <a:off x="5534397" y="530501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99958D28-88A1-7AA3-FED8-6CCC6229BD32}"/>
                  </a:ext>
                </a:extLst>
              </p:cNvPr>
              <p:cNvSpPr txBox="1"/>
              <p:nvPr/>
            </p:nvSpPr>
            <p:spPr>
              <a:xfrm>
                <a:off x="4240861" y="2936024"/>
                <a:ext cx="4048096" cy="240387"/>
              </a:xfrm>
              <a:prstGeom prst="rect">
                <a:avLst/>
              </a:prstGeom>
              <a:noFill/>
            </p:spPr>
            <p:txBody>
              <a:bodyPr wrap="none" lIns="0" tIns="0" rIns="0" bIns="0" rtlCol="0">
                <a:spAutoFit/>
              </a:bodyPr>
              <a:lstStyle/>
              <a:p>
                <a:pPr/>
                <a14:m>
                  <m:oMathPara xmlns:m="http://schemas.openxmlformats.org/officeDocument/2006/math">
                    <m:oMath>
                      <m:r>
                        <a:rPr lang="es-CO" sz="1400" b="0" i="1" smtClean="0">
                          <a:latin typeface="Cambria Math" panose="02040503050406030204" pitchFamily="18" charset="0"/>
                          <a:ea typeface="Cambria Math" panose="02040503050406030204" pitchFamily="18" charset="0"/>
                        </a:rPr>
                        <m:t>𝑉</m:t>
                      </m:r>
                      <m:sSub>
                        <m:sSubPr>
                          <m:ctrlPr>
                            <a:rPr lang="es-MX" sz="1400" b="0" i="1" smtClean="0">
                              <a:latin typeface="Cambria Math" panose="02040503050406030204" pitchFamily="18" charset="0"/>
                              <a:ea typeface="Cambria Math" panose="02040503050406030204" pitchFamily="18" charset="0"/>
                            </a:rPr>
                          </m:ctrlPr>
                        </m:sSubPr>
                        <m:e>
                          <m:r>
                            <a:rPr lang="es-MX" sz="1400" b="0" i="1" smtClean="0">
                              <a:latin typeface="Cambria Math" panose="02040503050406030204" pitchFamily="18" charset="0"/>
                              <a:ea typeface="Cambria Math" panose="02040503050406030204" pitchFamily="18" charset="0"/>
                            </a:rPr>
                            <m:t>𝐹</m:t>
                          </m:r>
                        </m:e>
                        <m:sub>
                          <m:r>
                            <a:rPr lang="es-CO"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3</m:t>
                          </m:r>
                          <m:r>
                            <a:rPr lang="es-CO" sz="1400" b="0" i="1" smtClean="0">
                              <a:latin typeface="Cambria Math" panose="02040503050406030204" pitchFamily="18" charset="0"/>
                              <a:ea typeface="Cambria Math" panose="02040503050406030204" pitchFamily="18" charset="0"/>
                            </a:rPr>
                            <m:t>)</m:t>
                          </m:r>
                        </m:sub>
                      </m:sSub>
                      <m:r>
                        <a:rPr lang="es-CO" sz="1400" b="0" i="1" smtClean="0">
                          <a:latin typeface="Cambria Math" panose="02040503050406030204" pitchFamily="18" charset="0"/>
                          <a:ea typeface="Cambria Math" panose="02040503050406030204" pitchFamily="18" charset="0"/>
                        </a:rPr>
                        <m:t>=</m:t>
                      </m:r>
                      <m:r>
                        <a:rPr lang="es-CO" sz="1400" i="1">
                          <a:latin typeface="Cambria Math" panose="02040503050406030204" pitchFamily="18" charset="0"/>
                        </a:rPr>
                        <m:t>−</m:t>
                      </m:r>
                      <m:r>
                        <a:rPr lang="es-MX" sz="1400" b="0" i="1" smtClean="0">
                          <a:latin typeface="Cambria Math" panose="02040503050406030204" pitchFamily="18" charset="0"/>
                        </a:rPr>
                        <m:t>300</m:t>
                      </m:r>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m:t>
                              </m:r>
                              <m:r>
                                <a:rPr lang="es-MX" sz="1400" b="0" i="1" smtClean="0">
                                  <a:latin typeface="Cambria Math" panose="02040503050406030204" pitchFamily="18" charset="0"/>
                                </a:rPr>
                                <m:t>3</m:t>
                              </m:r>
                              <m:r>
                                <a:rPr lang="es-CO" sz="1400" i="1">
                                  <a:latin typeface="Cambria Math" panose="02040503050406030204" pitchFamily="18" charset="0"/>
                                </a:rPr>
                                <m:t>%</m:t>
                              </m:r>
                            </m:e>
                          </m:d>
                        </m:e>
                        <m:sup>
                          <m:r>
                            <a:rPr lang="es-MX" sz="1400" b="0" i="1" smtClean="0">
                              <a:latin typeface="Cambria Math" panose="02040503050406030204" pitchFamily="18" charset="0"/>
                            </a:rPr>
                            <m:t>3</m:t>
                          </m:r>
                        </m:sup>
                      </m:sSup>
                      <m:r>
                        <a:rPr lang="es-MX" sz="1400" b="0" i="1" smtClean="0">
                          <a:latin typeface="Cambria Math" panose="02040503050406030204" pitchFamily="18" charset="0"/>
                        </a:rPr>
                        <m:t>−500</m:t>
                      </m:r>
                      <m:r>
                        <a:rPr lang="es-MX" sz="1400" i="1" smtClean="0">
                          <a:latin typeface="Cambria Math" panose="02040503050406030204" pitchFamily="18" charset="0"/>
                        </a:rPr>
                        <m:t>(</m:t>
                      </m:r>
                      <m:r>
                        <a:rPr lang="es-MX" sz="1400" b="0" i="1" smtClean="0">
                          <a:latin typeface="Cambria Math" panose="02040503050406030204" pitchFamily="18" charset="0"/>
                        </a:rPr>
                        <m:t>1+3%)</m:t>
                      </m:r>
                      <m:r>
                        <a:rPr lang="es-MX" sz="1400">
                          <a:latin typeface="Cambria Math" panose="02040503050406030204" pitchFamily="18" charset="0"/>
                          <a:ea typeface="Cambria Math" panose="02040503050406030204" pitchFamily="18" charset="0"/>
                        </a:rPr>
                        <m:t>=</m:t>
                      </m:r>
                      <m:r>
                        <a:rPr lang="es-MX" sz="1400" b="0" i="0" smtClean="0">
                          <a:latin typeface="Cambria Math" panose="02040503050406030204" pitchFamily="18" charset="0"/>
                          <a:ea typeface="Cambria Math" panose="02040503050406030204" pitchFamily="18" charset="0"/>
                        </a:rPr>
                        <m:t>−842,81</m:t>
                      </m:r>
                    </m:oMath>
                  </m:oMathPara>
                </a14:m>
                <a:endParaRPr lang="es-CO" sz="1400">
                  <a:latin typeface="Cambria Math" panose="02040503050406030204" pitchFamily="18" charset="0"/>
                  <a:ea typeface="Cambria Math" panose="02040503050406030204" pitchFamily="18" charset="0"/>
                </a:endParaRPr>
              </a:p>
            </p:txBody>
          </p:sp>
        </mc:Choice>
        <mc:Fallback xmlns="">
          <p:sp>
            <p:nvSpPr>
              <p:cNvPr id="39" name="CuadroTexto 38">
                <a:extLst>
                  <a:ext uri="{FF2B5EF4-FFF2-40B4-BE49-F238E27FC236}">
                    <a16:creationId xmlns:a16="http://schemas.microsoft.com/office/drawing/2014/main" id="{99958D28-88A1-7AA3-FED8-6CCC6229BD32}"/>
                  </a:ext>
                </a:extLst>
              </p:cNvPr>
              <p:cNvSpPr txBox="1">
                <a:spLocks noRot="1" noChangeAspect="1" noMove="1" noResize="1" noEditPoints="1" noAdjustHandles="1" noChangeArrowheads="1" noChangeShapeType="1" noTextEdit="1"/>
              </p:cNvSpPr>
              <p:nvPr/>
            </p:nvSpPr>
            <p:spPr>
              <a:xfrm>
                <a:off x="4240861" y="2936024"/>
                <a:ext cx="4048096" cy="240387"/>
              </a:xfrm>
              <a:prstGeom prst="rect">
                <a:avLst/>
              </a:prstGeom>
              <a:blipFill>
                <a:blip r:embed="rId5"/>
                <a:stretch>
                  <a:fillRect l="-602" r="-452" b="-25641"/>
                </a:stretch>
              </a:blipFill>
            </p:spPr>
            <p:txBody>
              <a:bodyPr/>
              <a:lstStyle/>
              <a:p>
                <a:r>
                  <a:rPr lang="en-US">
                    <a:noFill/>
                  </a:rPr>
                  <a:t> </a:t>
                </a:r>
              </a:p>
            </p:txBody>
          </p:sp>
        </mc:Fallback>
      </mc:AlternateContent>
    </p:spTree>
    <p:extLst>
      <p:ext uri="{BB962C8B-B14F-4D97-AF65-F5344CB8AC3E}">
        <p14:creationId xmlns:p14="http://schemas.microsoft.com/office/powerpoint/2010/main" val="1475777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30" grpId="0"/>
      <p:bldP spid="96" grpId="0"/>
      <p:bldP spid="99" grpId="0"/>
      <p:bldP spid="100" grpId="0"/>
      <p:bldP spid="101" grpId="0"/>
      <p:bldP spid="102" grpId="0"/>
      <p:bldP spid="103" grpId="0"/>
      <p:bldP spid="105" grpId="0"/>
      <p:bldP spid="3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6F157-3604-220B-E4F2-398F9A272AA7}"/>
            </a:ext>
          </a:extLst>
        </p:cNvPr>
        <p:cNvGrpSpPr/>
        <p:nvPr/>
      </p:nvGrpSpPr>
      <p:grpSpPr>
        <a:xfrm>
          <a:off x="0" y="0"/>
          <a:ext cx="0" cy="0"/>
          <a:chOff x="0" y="0"/>
          <a:chExt cx="0" cy="0"/>
        </a:xfrm>
      </p:grpSpPr>
      <p:cxnSp>
        <p:nvCxnSpPr>
          <p:cNvPr id="5" name="Straight Arrow Connector 13">
            <a:extLst>
              <a:ext uri="{FF2B5EF4-FFF2-40B4-BE49-F238E27FC236}">
                <a16:creationId xmlns:a16="http://schemas.microsoft.com/office/drawing/2014/main" id="{5BBA73F5-6C3D-310B-C6F6-AA7E69593867}"/>
              </a:ext>
            </a:extLst>
          </p:cNvPr>
          <p:cNvCxnSpPr>
            <a:cxnSpLocks/>
          </p:cNvCxnSpPr>
          <p:nvPr/>
        </p:nvCxnSpPr>
        <p:spPr>
          <a:xfrm>
            <a:off x="5688622" y="4616739"/>
            <a:ext cx="12683" cy="1515777"/>
          </a:xfrm>
          <a:prstGeom prst="straightConnector1">
            <a:avLst/>
          </a:prstGeom>
          <a:ln w="28575">
            <a:solidFill>
              <a:srgbClr val="FF0000"/>
            </a:solidFill>
            <a:prstDash val="sysDot"/>
            <a:tailEnd type="arrow"/>
          </a:ln>
        </p:spPr>
        <p:style>
          <a:lnRef idx="2">
            <a:schemeClr val="accent1"/>
          </a:lnRef>
          <a:fillRef idx="0">
            <a:schemeClr val="accent1"/>
          </a:fillRef>
          <a:effectRef idx="1">
            <a:schemeClr val="accent1"/>
          </a:effectRef>
          <a:fontRef idx="minor">
            <a:schemeClr val="tx1"/>
          </a:fontRef>
        </p:style>
      </p:cxnSp>
      <p:sp>
        <p:nvSpPr>
          <p:cNvPr id="6" name="Rectangle 24">
            <a:extLst>
              <a:ext uri="{FF2B5EF4-FFF2-40B4-BE49-F238E27FC236}">
                <a16:creationId xmlns:a16="http://schemas.microsoft.com/office/drawing/2014/main" id="{C153EEFC-F6A7-60D0-1B46-8596A99DBC60}"/>
              </a:ext>
            </a:extLst>
          </p:cNvPr>
          <p:cNvSpPr>
            <a:spLocks/>
          </p:cNvSpPr>
          <p:nvPr/>
        </p:nvSpPr>
        <p:spPr bwMode="auto">
          <a:xfrm>
            <a:off x="4745039" y="6258240"/>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842,81</a:t>
            </a:r>
          </a:p>
        </p:txBody>
      </p:sp>
      <p:sp>
        <p:nvSpPr>
          <p:cNvPr id="24" name="Rectangle 23">
            <a:extLst>
              <a:ext uri="{FF2B5EF4-FFF2-40B4-BE49-F238E27FC236}">
                <a16:creationId xmlns:a16="http://schemas.microsoft.com/office/drawing/2014/main" id="{5A2F8B80-DFB8-37A9-F2A4-18C380D04358}"/>
              </a:ext>
            </a:extLst>
          </p:cNvPr>
          <p:cNvSpPr>
            <a:spLocks/>
          </p:cNvSpPr>
          <p:nvPr/>
        </p:nvSpPr>
        <p:spPr bwMode="auto">
          <a:xfrm flipH="1">
            <a:off x="3192293" y="418993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5" name="Rectangle 11">
            <a:extLst>
              <a:ext uri="{FF2B5EF4-FFF2-40B4-BE49-F238E27FC236}">
                <a16:creationId xmlns:a16="http://schemas.microsoft.com/office/drawing/2014/main" id="{5A70D992-8228-DAFF-0497-E272A1FD5615}"/>
              </a:ext>
            </a:extLst>
          </p:cNvPr>
          <p:cNvSpPr>
            <a:spLocks/>
          </p:cNvSpPr>
          <p:nvPr/>
        </p:nvSpPr>
        <p:spPr bwMode="auto">
          <a:xfrm>
            <a:off x="390380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6" name="Rectangle 14">
            <a:extLst>
              <a:ext uri="{FF2B5EF4-FFF2-40B4-BE49-F238E27FC236}">
                <a16:creationId xmlns:a16="http://schemas.microsoft.com/office/drawing/2014/main" id="{52003ED5-6D2A-F991-C017-7D840349B4F0}"/>
              </a:ext>
            </a:extLst>
          </p:cNvPr>
          <p:cNvSpPr>
            <a:spLocks/>
          </p:cNvSpPr>
          <p:nvPr/>
        </p:nvSpPr>
        <p:spPr bwMode="auto">
          <a:xfrm>
            <a:off x="4759702" y="418144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7" name="Rectangle 24">
            <a:extLst>
              <a:ext uri="{FF2B5EF4-FFF2-40B4-BE49-F238E27FC236}">
                <a16:creationId xmlns:a16="http://schemas.microsoft.com/office/drawing/2014/main" id="{27B6C1A7-B7F9-924E-3EA4-D622B5A72781}"/>
              </a:ext>
            </a:extLst>
          </p:cNvPr>
          <p:cNvSpPr>
            <a:spLocks/>
          </p:cNvSpPr>
          <p:nvPr/>
        </p:nvSpPr>
        <p:spPr bwMode="auto">
          <a:xfrm>
            <a:off x="3974447" y="570012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a:t>
            </a:r>
          </a:p>
        </p:txBody>
      </p:sp>
      <p:cxnSp>
        <p:nvCxnSpPr>
          <p:cNvPr id="28" name="Straight Arrow Connector 25">
            <a:extLst>
              <a:ext uri="{FF2B5EF4-FFF2-40B4-BE49-F238E27FC236}">
                <a16:creationId xmlns:a16="http://schemas.microsoft.com/office/drawing/2014/main" id="{F6867F8C-ABF5-7A4C-0474-1022F26EA7FF}"/>
              </a:ext>
            </a:extLst>
          </p:cNvPr>
          <p:cNvCxnSpPr/>
          <p:nvPr/>
        </p:nvCxnSpPr>
        <p:spPr>
          <a:xfrm flipH="1">
            <a:off x="4918028" y="4550338"/>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6">
            <a:extLst>
              <a:ext uri="{FF2B5EF4-FFF2-40B4-BE49-F238E27FC236}">
                <a16:creationId xmlns:a16="http://schemas.microsoft.com/office/drawing/2014/main" id="{59872105-2A3D-09B6-7B95-D076F1EE8F12}"/>
              </a:ext>
            </a:extLst>
          </p:cNvPr>
          <p:cNvCxnSpPr/>
          <p:nvPr/>
        </p:nvCxnSpPr>
        <p:spPr>
          <a:xfrm>
            <a:off x="3277894" y="4556241"/>
            <a:ext cx="0" cy="530599"/>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27">
            <a:extLst>
              <a:ext uri="{FF2B5EF4-FFF2-40B4-BE49-F238E27FC236}">
                <a16:creationId xmlns:a16="http://schemas.microsoft.com/office/drawing/2014/main" id="{3EFF0506-2231-75D1-DF3D-6111D67B61CD}"/>
              </a:ext>
            </a:extLst>
          </p:cNvPr>
          <p:cNvSpPr>
            <a:spLocks/>
          </p:cNvSpPr>
          <p:nvPr/>
        </p:nvSpPr>
        <p:spPr bwMode="auto">
          <a:xfrm>
            <a:off x="2353695" y="523979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300</a:t>
            </a:r>
          </a:p>
        </p:txBody>
      </p:sp>
      <p:sp>
        <p:nvSpPr>
          <p:cNvPr id="4" name="Slide Number Placeholder 3">
            <a:extLst>
              <a:ext uri="{FF2B5EF4-FFF2-40B4-BE49-F238E27FC236}">
                <a16:creationId xmlns:a16="http://schemas.microsoft.com/office/drawing/2014/main" id="{1E8483C8-38E3-6E36-09BF-2BA512FB02DA}"/>
              </a:ext>
            </a:extLst>
          </p:cNvPr>
          <p:cNvSpPr>
            <a:spLocks noGrp="1"/>
          </p:cNvSpPr>
          <p:nvPr>
            <p:ph type="sldNum" sz="quarter" idx="12"/>
          </p:nvPr>
        </p:nvSpPr>
        <p:spPr/>
        <p:txBody>
          <a:bodyPr vert="horz" lIns="91440" tIns="45720" rIns="91440" bIns="45720" rtlCol="0" anchor="ctr"/>
          <a:lstStyle/>
          <a:p>
            <a:fld id="{5E3E23BA-6E79-2442-BA73-D218A5E297C3}" type="slidenum">
              <a:rPr lang="en-US" sz="2000" smtClean="0"/>
              <a:pPr/>
              <a:t>34</a:t>
            </a:fld>
            <a:endParaRPr lang="en-US" sz="2000"/>
          </a:p>
        </p:txBody>
      </p:sp>
      <p:sp>
        <p:nvSpPr>
          <p:cNvPr id="11" name="Title 1">
            <a:extLst>
              <a:ext uri="{FF2B5EF4-FFF2-40B4-BE49-F238E27FC236}">
                <a16:creationId xmlns:a16="http://schemas.microsoft.com/office/drawing/2014/main" id="{ED24A75D-76A7-F4EC-8F69-9F54124B68F1}"/>
              </a:ext>
            </a:extLst>
          </p:cNvPr>
          <p:cNvSpPr>
            <a:spLocks noGrp="1"/>
          </p:cNvSpPr>
          <p:nvPr>
            <p:ph type="title"/>
          </p:nvPr>
        </p:nvSpPr>
        <p:spPr>
          <a:xfrm>
            <a:off x="581192" y="702156"/>
            <a:ext cx="11029616" cy="1013800"/>
          </a:xfrm>
        </p:spPr>
        <p:txBody>
          <a:bodyPr>
            <a:normAutofit/>
          </a:bodyPr>
          <a:lstStyle/>
          <a:p>
            <a:r>
              <a:rPr lang="es-ES_tradnl" sz="3200"/>
              <a:t>VALOR PRESENTE Y VALOR FUTURO</a:t>
            </a:r>
          </a:p>
        </p:txBody>
      </p:sp>
      <p:sp>
        <p:nvSpPr>
          <p:cNvPr id="18" name="Rectángulo 17">
            <a:extLst>
              <a:ext uri="{FF2B5EF4-FFF2-40B4-BE49-F238E27FC236}">
                <a16:creationId xmlns:a16="http://schemas.microsoft.com/office/drawing/2014/main" id="{740946C5-B677-ABEE-74D9-511C1917FA8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9" name="Picture 2" descr="Clientes y aliados | Centro de Evaluación | Uniandes">
            <a:extLst>
              <a:ext uri="{FF2B5EF4-FFF2-40B4-BE49-F238E27FC236}">
                <a16:creationId xmlns:a16="http://schemas.microsoft.com/office/drawing/2014/main" id="{AB18AA34-A723-0E57-19A7-A1B2E6AD3D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ángulo 19">
            <a:extLst>
              <a:ext uri="{FF2B5EF4-FFF2-40B4-BE49-F238E27FC236}">
                <a16:creationId xmlns:a16="http://schemas.microsoft.com/office/drawing/2014/main" id="{B47A6D72-C1C8-BBE6-0C31-A910F6B8A2F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2" name="Content Placeholder 2">
            <a:extLst>
              <a:ext uri="{FF2B5EF4-FFF2-40B4-BE49-F238E27FC236}">
                <a16:creationId xmlns:a16="http://schemas.microsoft.com/office/drawing/2014/main" id="{D942EAF4-E9B9-8747-B52F-86BD25742BD6}"/>
              </a:ext>
            </a:extLst>
          </p:cNvPr>
          <p:cNvSpPr>
            <a:spLocks noGrp="1"/>
          </p:cNvSpPr>
          <p:nvPr>
            <p:ph idx="1"/>
          </p:nvPr>
        </p:nvSpPr>
        <p:spPr>
          <a:xfrm>
            <a:off x="581192" y="1977247"/>
            <a:ext cx="11029615" cy="530570"/>
          </a:xfrm>
        </p:spPr>
        <p:txBody>
          <a:bodyPr>
            <a:normAutofit/>
          </a:bodyPr>
          <a:lstStyle/>
          <a:p>
            <a:pPr marL="0" indent="0" algn="ctr">
              <a:buNone/>
            </a:pPr>
            <a:r>
              <a:rPr lang="es-ES_tradnl" sz="2400"/>
              <a:t>¿Cuánto debería pagar usted si quiere hacer un único pago en el </a:t>
            </a:r>
            <a:r>
              <a:rPr lang="es-ES_tradnl" sz="2400" b="1"/>
              <a:t>mes 7</a:t>
            </a:r>
            <a:r>
              <a:rPr lang="es-ES_tradnl" sz="2400"/>
              <a:t>?</a:t>
            </a:r>
          </a:p>
        </p:txBody>
      </p:sp>
      <p:cxnSp>
        <p:nvCxnSpPr>
          <p:cNvPr id="93" name="Straight Connector 12">
            <a:extLst>
              <a:ext uri="{FF2B5EF4-FFF2-40B4-BE49-F238E27FC236}">
                <a16:creationId xmlns:a16="http://schemas.microsoft.com/office/drawing/2014/main" id="{6F3E0483-A402-209E-4050-34B2E3D0F500}"/>
              </a:ext>
            </a:extLst>
          </p:cNvPr>
          <p:cNvCxnSpPr/>
          <p:nvPr/>
        </p:nvCxnSpPr>
        <p:spPr>
          <a:xfrm flipV="1">
            <a:off x="3277895" y="4555714"/>
            <a:ext cx="5477341" cy="82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4" name="Straight Arrow Connector 13">
            <a:extLst>
              <a:ext uri="{FF2B5EF4-FFF2-40B4-BE49-F238E27FC236}">
                <a16:creationId xmlns:a16="http://schemas.microsoft.com/office/drawing/2014/main" id="{391DD596-2124-EDB1-F16A-A5258D744B89}"/>
              </a:ext>
            </a:extLst>
          </p:cNvPr>
          <p:cNvCxnSpPr/>
          <p:nvPr/>
        </p:nvCxnSpPr>
        <p:spPr>
          <a:xfrm flipH="1">
            <a:off x="8741430" y="4562579"/>
            <a:ext cx="2" cy="1061198"/>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96" name="Rectangle 32">
            <a:extLst>
              <a:ext uri="{FF2B5EF4-FFF2-40B4-BE49-F238E27FC236}">
                <a16:creationId xmlns:a16="http://schemas.microsoft.com/office/drawing/2014/main" id="{4CB6B4A2-DC75-A981-EC0D-DCA356594FBE}"/>
              </a:ext>
            </a:extLst>
          </p:cNvPr>
          <p:cNvSpPr>
            <a:spLocks/>
          </p:cNvSpPr>
          <p:nvPr/>
        </p:nvSpPr>
        <p:spPr bwMode="auto">
          <a:xfrm>
            <a:off x="7807706" y="567434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470</a:t>
            </a:r>
          </a:p>
        </p:txBody>
      </p:sp>
      <p:sp>
        <p:nvSpPr>
          <p:cNvPr id="99" name="Rectangle 15">
            <a:extLst>
              <a:ext uri="{FF2B5EF4-FFF2-40B4-BE49-F238E27FC236}">
                <a16:creationId xmlns:a16="http://schemas.microsoft.com/office/drawing/2014/main" id="{49C408D7-74D8-DD5C-3E17-17CD1AD70C10}"/>
              </a:ext>
            </a:extLst>
          </p:cNvPr>
          <p:cNvSpPr>
            <a:spLocks/>
          </p:cNvSpPr>
          <p:nvPr/>
        </p:nvSpPr>
        <p:spPr bwMode="auto">
          <a:xfrm>
            <a:off x="5532775"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00" name="Rectangle 16">
            <a:extLst>
              <a:ext uri="{FF2B5EF4-FFF2-40B4-BE49-F238E27FC236}">
                <a16:creationId xmlns:a16="http://schemas.microsoft.com/office/drawing/2014/main" id="{3A05AE1C-7FA3-7C0A-C3B1-DA18666DBA99}"/>
              </a:ext>
            </a:extLst>
          </p:cNvPr>
          <p:cNvSpPr>
            <a:spLocks/>
          </p:cNvSpPr>
          <p:nvPr/>
        </p:nvSpPr>
        <p:spPr bwMode="auto">
          <a:xfrm>
            <a:off x="6278238"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01" name="Rectangle 17">
            <a:extLst>
              <a:ext uri="{FF2B5EF4-FFF2-40B4-BE49-F238E27FC236}">
                <a16:creationId xmlns:a16="http://schemas.microsoft.com/office/drawing/2014/main" id="{2698175A-ABD1-0652-D771-5AAB15D5DB17}"/>
              </a:ext>
            </a:extLst>
          </p:cNvPr>
          <p:cNvSpPr>
            <a:spLocks/>
          </p:cNvSpPr>
          <p:nvPr/>
        </p:nvSpPr>
        <p:spPr bwMode="auto">
          <a:xfrm>
            <a:off x="6993220"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102" name="Rectangle 18">
            <a:extLst>
              <a:ext uri="{FF2B5EF4-FFF2-40B4-BE49-F238E27FC236}">
                <a16:creationId xmlns:a16="http://schemas.microsoft.com/office/drawing/2014/main" id="{F3FED9EB-95C3-F242-ED3A-8E46C9CAA531}"/>
              </a:ext>
            </a:extLst>
          </p:cNvPr>
          <p:cNvSpPr>
            <a:spLocks/>
          </p:cNvSpPr>
          <p:nvPr/>
        </p:nvSpPr>
        <p:spPr bwMode="auto">
          <a:xfrm>
            <a:off x="7849121" y="418993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a:t>
            </a:r>
          </a:p>
        </p:txBody>
      </p:sp>
      <p:sp>
        <p:nvSpPr>
          <p:cNvPr id="103" name="Rectangle 19">
            <a:extLst>
              <a:ext uri="{FF2B5EF4-FFF2-40B4-BE49-F238E27FC236}">
                <a16:creationId xmlns:a16="http://schemas.microsoft.com/office/drawing/2014/main" id="{CD54A723-5542-37AD-25C0-28F3A550BD08}"/>
              </a:ext>
            </a:extLst>
          </p:cNvPr>
          <p:cNvSpPr>
            <a:spLocks/>
          </p:cNvSpPr>
          <p:nvPr/>
        </p:nvSpPr>
        <p:spPr bwMode="auto">
          <a:xfrm>
            <a:off x="8578253" y="4204312"/>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7</a:t>
            </a:r>
          </a:p>
        </p:txBody>
      </p:sp>
      <p:cxnSp>
        <p:nvCxnSpPr>
          <p:cNvPr id="104" name="Straight Arrow Connector 20">
            <a:extLst>
              <a:ext uri="{FF2B5EF4-FFF2-40B4-BE49-F238E27FC236}">
                <a16:creationId xmlns:a16="http://schemas.microsoft.com/office/drawing/2014/main" id="{20D57357-F50C-A7B9-0337-35474E2505CA}"/>
              </a:ext>
            </a:extLst>
          </p:cNvPr>
          <p:cNvCxnSpPr/>
          <p:nvPr/>
        </p:nvCxnSpPr>
        <p:spPr>
          <a:xfrm flipH="1">
            <a:off x="6477978" y="4562579"/>
            <a:ext cx="2" cy="538066"/>
          </a:xfrm>
          <a:prstGeom prst="straightConnector1">
            <a:avLst/>
          </a:prstGeom>
          <a:ln w="2857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05" name="Rectangle 21">
            <a:extLst>
              <a:ext uri="{FF2B5EF4-FFF2-40B4-BE49-F238E27FC236}">
                <a16:creationId xmlns:a16="http://schemas.microsoft.com/office/drawing/2014/main" id="{48149DB7-A138-0ED5-F187-94FB8B90A310}"/>
              </a:ext>
            </a:extLst>
          </p:cNvPr>
          <p:cNvSpPr>
            <a:spLocks/>
          </p:cNvSpPr>
          <p:nvPr/>
        </p:nvSpPr>
        <p:spPr bwMode="auto">
          <a:xfrm>
            <a:off x="5534397" y="5305017"/>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240</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8D198375-1379-85BE-0B14-405B45C41542}"/>
                  </a:ext>
                </a:extLst>
              </p:cNvPr>
              <p:cNvSpPr txBox="1"/>
              <p:nvPr/>
            </p:nvSpPr>
            <p:spPr>
              <a:xfrm>
                <a:off x="3670210" y="2936024"/>
                <a:ext cx="4851585" cy="240387"/>
              </a:xfrm>
              <a:prstGeom prst="rect">
                <a:avLst/>
              </a:prstGeom>
              <a:noFill/>
            </p:spPr>
            <p:txBody>
              <a:bodyPr wrap="none" lIns="0" tIns="0" rIns="0" bIns="0" rtlCol="0">
                <a:spAutoFit/>
              </a:bodyPr>
              <a:lstStyle/>
              <a:p>
                <a:pPr algn="ctr"/>
                <a14:m>
                  <m:oMath xmlns:m="http://schemas.openxmlformats.org/officeDocument/2006/math">
                    <m:r>
                      <a:rPr lang="es-CO" sz="1400" b="0" i="1" smtClean="0">
                        <a:latin typeface="Cambria Math" panose="02040503050406030204" pitchFamily="18" charset="0"/>
                        <a:ea typeface="Cambria Math" panose="02040503050406030204" pitchFamily="18" charset="0"/>
                      </a:rPr>
                      <m:t>𝑉</m:t>
                    </m:r>
                    <m:sSub>
                      <m:sSubPr>
                        <m:ctrlPr>
                          <a:rPr lang="es-MX" sz="1400" b="0" i="1" smtClean="0">
                            <a:latin typeface="Cambria Math" panose="02040503050406030204" pitchFamily="18" charset="0"/>
                            <a:ea typeface="Cambria Math" panose="02040503050406030204" pitchFamily="18" charset="0"/>
                          </a:rPr>
                        </m:ctrlPr>
                      </m:sSubPr>
                      <m:e>
                        <m:r>
                          <a:rPr lang="es-MX" sz="1400" b="0" i="1" smtClean="0">
                            <a:latin typeface="Cambria Math" panose="02040503050406030204" pitchFamily="18" charset="0"/>
                            <a:ea typeface="Cambria Math" panose="02040503050406030204" pitchFamily="18" charset="0"/>
                          </a:rPr>
                          <m:t>𝐹</m:t>
                        </m:r>
                      </m:e>
                      <m:sub>
                        <m:r>
                          <a:rPr lang="es-CO"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7</m:t>
                        </m:r>
                        <m:r>
                          <a:rPr lang="es-CO" sz="1400" b="0" i="1" smtClean="0">
                            <a:latin typeface="Cambria Math" panose="02040503050406030204" pitchFamily="18" charset="0"/>
                            <a:ea typeface="Cambria Math" panose="02040503050406030204" pitchFamily="18" charset="0"/>
                          </a:rPr>
                          <m:t>)</m:t>
                        </m:r>
                      </m:sub>
                    </m:sSub>
                    <m:r>
                      <a:rPr lang="es-CO" sz="1400" b="0" i="1" smtClean="0">
                        <a:latin typeface="Cambria Math" panose="02040503050406030204" pitchFamily="18" charset="0"/>
                        <a:ea typeface="Cambria Math" panose="02040503050406030204" pitchFamily="18" charset="0"/>
                      </a:rPr>
                      <m:t>=</m:t>
                    </m:r>
                    <m:r>
                      <a:rPr lang="es-CO" sz="1400" i="1">
                        <a:latin typeface="Cambria Math" panose="02040503050406030204" pitchFamily="18" charset="0"/>
                      </a:rPr>
                      <m:t>−</m:t>
                    </m:r>
                    <m:r>
                      <a:rPr lang="es-MX" sz="1400" b="0" i="1" smtClean="0">
                        <a:latin typeface="Cambria Math" panose="02040503050406030204" pitchFamily="18" charset="0"/>
                      </a:rPr>
                      <m:t>842,81</m:t>
                    </m:r>
                    <m:sSup>
                      <m:sSupPr>
                        <m:ctrlPr>
                          <a:rPr lang="es-CO" sz="1400" i="1">
                            <a:latin typeface="Cambria Math" panose="02040503050406030204" pitchFamily="18" charset="0"/>
                          </a:rPr>
                        </m:ctrlPr>
                      </m:sSupPr>
                      <m:e>
                        <m:d>
                          <m:dPr>
                            <m:ctrlPr>
                              <a:rPr lang="es-CO" sz="1400" i="1">
                                <a:latin typeface="Cambria Math" panose="02040503050406030204" pitchFamily="18" charset="0"/>
                              </a:rPr>
                            </m:ctrlPr>
                          </m:dPr>
                          <m:e>
                            <m:r>
                              <a:rPr lang="es-CO" sz="1400" i="1">
                                <a:latin typeface="Cambria Math" panose="02040503050406030204" pitchFamily="18" charset="0"/>
                              </a:rPr>
                              <m:t>1+</m:t>
                            </m:r>
                            <m:r>
                              <a:rPr lang="es-MX" sz="1400" b="0" i="1" smtClean="0">
                                <a:latin typeface="Cambria Math" panose="02040503050406030204" pitchFamily="18" charset="0"/>
                              </a:rPr>
                              <m:t>2</m:t>
                            </m:r>
                            <m:r>
                              <a:rPr lang="es-CO" sz="1400" i="1">
                                <a:latin typeface="Cambria Math" panose="02040503050406030204" pitchFamily="18" charset="0"/>
                              </a:rPr>
                              <m:t>%</m:t>
                            </m:r>
                          </m:e>
                        </m:d>
                      </m:e>
                      <m:sup>
                        <m:r>
                          <a:rPr lang="es-MX" sz="1400" b="0" i="1" smtClean="0">
                            <a:latin typeface="Cambria Math" panose="02040503050406030204" pitchFamily="18" charset="0"/>
                          </a:rPr>
                          <m:t>4</m:t>
                        </m:r>
                      </m:sup>
                    </m:sSup>
                    <m:r>
                      <a:rPr lang="es-MX" sz="1400" b="0" i="1" smtClean="0">
                        <a:latin typeface="Cambria Math" panose="02040503050406030204" pitchFamily="18" charset="0"/>
                      </a:rPr>
                      <m:t>−</m:t>
                    </m:r>
                    <m:sSup>
                      <m:sSupPr>
                        <m:ctrlPr>
                          <a:rPr lang="es-MX" sz="1400" b="0" i="1" smtClean="0">
                            <a:latin typeface="Cambria Math" panose="02040503050406030204" pitchFamily="18" charset="0"/>
                          </a:rPr>
                        </m:ctrlPr>
                      </m:sSupPr>
                      <m:e>
                        <m:r>
                          <a:rPr lang="es-MX" sz="1400" b="0" i="1" smtClean="0">
                            <a:latin typeface="Cambria Math" panose="02040503050406030204" pitchFamily="18" charset="0"/>
                          </a:rPr>
                          <m:t>240</m:t>
                        </m:r>
                        <m:d>
                          <m:dPr>
                            <m:ctrlPr>
                              <a:rPr lang="es-CO" sz="1400" i="1">
                                <a:latin typeface="Cambria Math" panose="02040503050406030204" pitchFamily="18" charset="0"/>
                              </a:rPr>
                            </m:ctrlPr>
                          </m:dPr>
                          <m:e>
                            <m:r>
                              <a:rPr lang="es-CO" sz="1400" i="1">
                                <a:latin typeface="Cambria Math" panose="02040503050406030204" pitchFamily="18" charset="0"/>
                              </a:rPr>
                              <m:t>1+</m:t>
                            </m:r>
                            <m:r>
                              <a:rPr lang="es-MX" sz="1400" b="0" i="1" smtClean="0">
                                <a:latin typeface="Cambria Math" panose="02040503050406030204" pitchFamily="18" charset="0"/>
                              </a:rPr>
                              <m:t>2</m:t>
                            </m:r>
                            <m:r>
                              <a:rPr lang="es-CO" sz="1400" i="1">
                                <a:latin typeface="Cambria Math" panose="02040503050406030204" pitchFamily="18" charset="0"/>
                              </a:rPr>
                              <m:t>%</m:t>
                            </m:r>
                          </m:e>
                        </m:d>
                      </m:e>
                      <m:sup>
                        <m:r>
                          <a:rPr lang="es-MX" sz="1400" b="0" i="1" smtClean="0">
                            <a:latin typeface="Cambria Math" panose="02040503050406030204" pitchFamily="18" charset="0"/>
                          </a:rPr>
                          <m:t>3</m:t>
                        </m:r>
                      </m:sup>
                    </m:sSup>
                    <m:r>
                      <a:rPr lang="es-MX" sz="1400" b="0" i="1" smtClean="0">
                        <a:latin typeface="Cambria Math" panose="02040503050406030204" pitchFamily="18" charset="0"/>
                      </a:rPr>
                      <m:t>−470</m:t>
                    </m:r>
                    <m:r>
                      <a:rPr lang="es-MX" sz="1400">
                        <a:latin typeface="Cambria Math" panose="02040503050406030204" pitchFamily="18" charset="0"/>
                        <a:ea typeface="Cambria Math" panose="02040503050406030204" pitchFamily="18" charset="0"/>
                      </a:rPr>
                      <m:t>=</m:t>
                    </m:r>
                  </m:oMath>
                </a14:m>
                <a:r>
                  <a:rPr lang="es-CO" sz="1400">
                    <a:latin typeface="Cambria Math" panose="02040503050406030204" pitchFamily="18" charset="0"/>
                    <a:ea typeface="Cambria Math" panose="02040503050406030204" pitchFamily="18" charset="0"/>
                  </a:rPr>
                  <a:t>-1.636,98</a:t>
                </a:r>
              </a:p>
            </p:txBody>
          </p:sp>
        </mc:Choice>
        <mc:Fallback xmlns="">
          <p:sp>
            <p:nvSpPr>
              <p:cNvPr id="39" name="CuadroTexto 38">
                <a:extLst>
                  <a:ext uri="{FF2B5EF4-FFF2-40B4-BE49-F238E27FC236}">
                    <a16:creationId xmlns:a16="http://schemas.microsoft.com/office/drawing/2014/main" id="{8D198375-1379-85BE-0B14-405B45C41542}"/>
                  </a:ext>
                </a:extLst>
              </p:cNvPr>
              <p:cNvSpPr txBox="1">
                <a:spLocks noRot="1" noChangeAspect="1" noMove="1" noResize="1" noEditPoints="1" noAdjustHandles="1" noChangeArrowheads="1" noChangeShapeType="1" noTextEdit="1"/>
              </p:cNvSpPr>
              <p:nvPr/>
            </p:nvSpPr>
            <p:spPr>
              <a:xfrm>
                <a:off x="3670210" y="2936024"/>
                <a:ext cx="4851585" cy="240387"/>
              </a:xfrm>
              <a:prstGeom prst="rect">
                <a:avLst/>
              </a:prstGeom>
              <a:blipFill>
                <a:blip r:embed="rId4"/>
                <a:stretch>
                  <a:fillRect l="-754" t="-28205" r="-1759" b="-33333"/>
                </a:stretch>
              </a:blipFill>
            </p:spPr>
            <p:txBody>
              <a:bodyPr/>
              <a:lstStyle/>
              <a:p>
                <a:r>
                  <a:rPr lang="en-US">
                    <a:noFill/>
                  </a:rPr>
                  <a:t> </a:t>
                </a:r>
              </a:p>
            </p:txBody>
          </p:sp>
        </mc:Fallback>
      </mc:AlternateContent>
      <p:pic>
        <p:nvPicPr>
          <p:cNvPr id="2" name="Imagen 1">
            <a:extLst>
              <a:ext uri="{FF2B5EF4-FFF2-40B4-BE49-F238E27FC236}">
                <a16:creationId xmlns:a16="http://schemas.microsoft.com/office/drawing/2014/main" id="{81191741-FAEE-D6B8-AF2B-FF83ECE940AD}"/>
              </a:ext>
            </a:extLst>
          </p:cNvPr>
          <p:cNvPicPr>
            <a:picLocks noChangeAspect="1"/>
          </p:cNvPicPr>
          <p:nvPr/>
        </p:nvPicPr>
        <p:blipFill>
          <a:blip r:embed="rId5"/>
          <a:srcRect l="20941" t="90515"/>
          <a:stretch>
            <a:fillRect/>
          </a:stretch>
        </p:blipFill>
        <p:spPr>
          <a:xfrm flipH="1">
            <a:off x="3258157" y="6352625"/>
            <a:ext cx="2434032" cy="198324"/>
          </a:xfrm>
          <a:prstGeom prst="rect">
            <a:avLst/>
          </a:prstGeom>
        </p:spPr>
      </p:pic>
      <p:pic>
        <p:nvPicPr>
          <p:cNvPr id="3" name="Imagen 2">
            <a:extLst>
              <a:ext uri="{FF2B5EF4-FFF2-40B4-BE49-F238E27FC236}">
                <a16:creationId xmlns:a16="http://schemas.microsoft.com/office/drawing/2014/main" id="{20B8263B-8D80-E00F-BACB-A63D60B7E906}"/>
              </a:ext>
            </a:extLst>
          </p:cNvPr>
          <p:cNvPicPr>
            <a:picLocks noChangeAspect="1"/>
          </p:cNvPicPr>
          <p:nvPr/>
        </p:nvPicPr>
        <p:blipFill>
          <a:blip r:embed="rId5"/>
          <a:srcRect l="75186" t="86544"/>
          <a:stretch>
            <a:fillRect/>
          </a:stretch>
        </p:blipFill>
        <p:spPr>
          <a:xfrm flipH="1">
            <a:off x="4907912" y="5956137"/>
            <a:ext cx="763957" cy="281369"/>
          </a:xfrm>
          <a:prstGeom prst="rect">
            <a:avLst/>
          </a:prstGeom>
        </p:spPr>
      </p:pic>
      <p:sp>
        <p:nvSpPr>
          <p:cNvPr id="7" name="Rectangle 23">
            <a:extLst>
              <a:ext uri="{FF2B5EF4-FFF2-40B4-BE49-F238E27FC236}">
                <a16:creationId xmlns:a16="http://schemas.microsoft.com/office/drawing/2014/main" id="{2F7A5B2C-322D-047D-4EC6-AD59741830CE}"/>
              </a:ext>
            </a:extLst>
          </p:cNvPr>
          <p:cNvSpPr>
            <a:spLocks/>
          </p:cNvSpPr>
          <p:nvPr/>
        </p:nvSpPr>
        <p:spPr bwMode="auto">
          <a:xfrm flipH="1">
            <a:off x="3192293" y="4179771"/>
            <a:ext cx="131729"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solidFill>
                  <a:schemeClr val="bg1">
                    <a:lumMod val="65000"/>
                  </a:schemeClr>
                </a:solidFill>
              </a:rPr>
              <a:t>0</a:t>
            </a:r>
          </a:p>
        </p:txBody>
      </p:sp>
      <p:sp>
        <p:nvSpPr>
          <p:cNvPr id="8" name="Rectangle 11">
            <a:extLst>
              <a:ext uri="{FF2B5EF4-FFF2-40B4-BE49-F238E27FC236}">
                <a16:creationId xmlns:a16="http://schemas.microsoft.com/office/drawing/2014/main" id="{B6EB5C57-79D1-72FC-D68F-AA717DD92853}"/>
              </a:ext>
            </a:extLst>
          </p:cNvPr>
          <p:cNvSpPr>
            <a:spLocks/>
          </p:cNvSpPr>
          <p:nvPr/>
        </p:nvSpPr>
        <p:spPr bwMode="auto">
          <a:xfrm>
            <a:off x="3903801" y="4179771"/>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solidFill>
                  <a:schemeClr val="bg1">
                    <a:lumMod val="65000"/>
                  </a:schemeClr>
                </a:solidFill>
              </a:rPr>
              <a:t>1</a:t>
            </a:r>
          </a:p>
        </p:txBody>
      </p:sp>
      <p:sp>
        <p:nvSpPr>
          <p:cNvPr id="9" name="Rectangle 14">
            <a:extLst>
              <a:ext uri="{FF2B5EF4-FFF2-40B4-BE49-F238E27FC236}">
                <a16:creationId xmlns:a16="http://schemas.microsoft.com/office/drawing/2014/main" id="{B4D20105-2189-1845-7629-077E0CBC595D}"/>
              </a:ext>
            </a:extLst>
          </p:cNvPr>
          <p:cNvSpPr>
            <a:spLocks/>
          </p:cNvSpPr>
          <p:nvPr/>
        </p:nvSpPr>
        <p:spPr bwMode="auto">
          <a:xfrm>
            <a:off x="4759702" y="4171283"/>
            <a:ext cx="337060"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solidFill>
                  <a:schemeClr val="bg1">
                    <a:lumMod val="65000"/>
                  </a:schemeClr>
                </a:solidFill>
              </a:rPr>
              <a:t>2</a:t>
            </a:r>
          </a:p>
        </p:txBody>
      </p:sp>
      <p:sp>
        <p:nvSpPr>
          <p:cNvPr id="10" name="Rectangle 24">
            <a:extLst>
              <a:ext uri="{FF2B5EF4-FFF2-40B4-BE49-F238E27FC236}">
                <a16:creationId xmlns:a16="http://schemas.microsoft.com/office/drawing/2014/main" id="{CE012297-DD21-8EB5-E77A-BA9B7F2C72D7}"/>
              </a:ext>
            </a:extLst>
          </p:cNvPr>
          <p:cNvSpPr>
            <a:spLocks/>
          </p:cNvSpPr>
          <p:nvPr/>
        </p:nvSpPr>
        <p:spPr bwMode="auto">
          <a:xfrm>
            <a:off x="3974447" y="5689969"/>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solidFill>
                  <a:schemeClr val="bg1">
                    <a:lumMod val="65000"/>
                  </a:schemeClr>
                </a:solidFill>
              </a:rPr>
              <a:t>500</a:t>
            </a:r>
          </a:p>
        </p:txBody>
      </p:sp>
      <p:cxnSp>
        <p:nvCxnSpPr>
          <p:cNvPr id="12" name="Straight Arrow Connector 25">
            <a:extLst>
              <a:ext uri="{FF2B5EF4-FFF2-40B4-BE49-F238E27FC236}">
                <a16:creationId xmlns:a16="http://schemas.microsoft.com/office/drawing/2014/main" id="{E5D13093-EA8A-6DE7-3346-90F3624861D0}"/>
              </a:ext>
            </a:extLst>
          </p:cNvPr>
          <p:cNvCxnSpPr/>
          <p:nvPr/>
        </p:nvCxnSpPr>
        <p:spPr>
          <a:xfrm flipH="1">
            <a:off x="4918028" y="4560498"/>
            <a:ext cx="2" cy="1061198"/>
          </a:xfrm>
          <a:prstGeom prst="straightConnector1">
            <a:avLst/>
          </a:prstGeom>
          <a:ln w="28575">
            <a:solidFill>
              <a:schemeClr val="bg1">
                <a:lumMod val="65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26">
            <a:extLst>
              <a:ext uri="{FF2B5EF4-FFF2-40B4-BE49-F238E27FC236}">
                <a16:creationId xmlns:a16="http://schemas.microsoft.com/office/drawing/2014/main" id="{6DF4723E-C6AC-750F-DB70-2EF377C6D94A}"/>
              </a:ext>
            </a:extLst>
          </p:cNvPr>
          <p:cNvCxnSpPr/>
          <p:nvPr/>
        </p:nvCxnSpPr>
        <p:spPr>
          <a:xfrm>
            <a:off x="3277894" y="4566401"/>
            <a:ext cx="0" cy="530599"/>
          </a:xfrm>
          <a:prstGeom prst="straightConnector1">
            <a:avLst/>
          </a:prstGeom>
          <a:ln w="28575">
            <a:solidFill>
              <a:schemeClr val="bg1">
                <a:lumMod val="65000"/>
              </a:schemeClr>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27">
            <a:extLst>
              <a:ext uri="{FF2B5EF4-FFF2-40B4-BE49-F238E27FC236}">
                <a16:creationId xmlns:a16="http://schemas.microsoft.com/office/drawing/2014/main" id="{16907DF1-A140-21E5-96A3-925B6AB74CBF}"/>
              </a:ext>
            </a:extLst>
          </p:cNvPr>
          <p:cNvSpPr>
            <a:spLocks/>
          </p:cNvSpPr>
          <p:nvPr/>
        </p:nvSpPr>
        <p:spPr bwMode="auto">
          <a:xfrm>
            <a:off x="2353695" y="5229636"/>
            <a:ext cx="1887166"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solidFill>
                  <a:schemeClr val="bg1">
                    <a:lumMod val="65000"/>
                  </a:schemeClr>
                </a:solidFill>
              </a:rPr>
              <a:t>300</a:t>
            </a:r>
          </a:p>
        </p:txBody>
      </p:sp>
    </p:spTree>
    <p:extLst>
      <p:ext uri="{BB962C8B-B14F-4D97-AF65-F5344CB8AC3E}">
        <p14:creationId xmlns:p14="http://schemas.microsoft.com/office/powerpoint/2010/main" val="3034903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4" grpId="0"/>
      <p:bldP spid="25" grpId="0"/>
      <p:bldP spid="26" grpId="0"/>
      <p:bldP spid="27" grpId="0"/>
      <p:bldP spid="30" grpId="0"/>
      <p:bldP spid="96" grpId="0"/>
      <p:bldP spid="99" grpId="0"/>
      <p:bldP spid="100" grpId="0"/>
      <p:bldP spid="101" grpId="0"/>
      <p:bldP spid="102" grpId="0"/>
      <p:bldP spid="103" grpId="0"/>
      <p:bldP spid="105" grpId="0"/>
      <p:bldP spid="39" grpId="0"/>
      <p:bldP spid="7" grpId="0"/>
      <p:bldP spid="8" grpId="0"/>
      <p:bldP spid="9" grpId="0"/>
      <p:bldP spid="10" grpId="0"/>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DB286-73B8-0176-C211-D4D29006EC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BC6E629-FA5E-A3D6-D0CE-FC712EBF898B}"/>
              </a:ext>
            </a:extLst>
          </p:cNvPr>
          <p:cNvSpPr>
            <a:spLocks noGrp="1"/>
          </p:cNvSpPr>
          <p:nvPr>
            <p:ph type="ctrTitle"/>
          </p:nvPr>
        </p:nvSpPr>
        <p:spPr>
          <a:xfrm>
            <a:off x="470868" y="1814732"/>
            <a:ext cx="10359896" cy="826833"/>
          </a:xfrm>
        </p:spPr>
        <p:txBody>
          <a:bodyPr>
            <a:noAutofit/>
          </a:bodyPr>
          <a:lstStyle/>
          <a:p>
            <a:r>
              <a:rPr lang="es-CO" sz="4000"/>
              <a:t>Relaciones de equivalencia (</a:t>
            </a:r>
            <a:r>
              <a:rPr lang="es-CO" sz="4000">
                <a:solidFill>
                  <a:srgbClr val="D7A700"/>
                </a:solidFill>
              </a:rPr>
              <a:t>parte i</a:t>
            </a:r>
            <a:r>
              <a:rPr lang="es-CO" sz="4000"/>
              <a:t>)</a:t>
            </a:r>
          </a:p>
        </p:txBody>
      </p:sp>
      <p:sp>
        <p:nvSpPr>
          <p:cNvPr id="8" name="Rectángulo 7">
            <a:extLst>
              <a:ext uri="{FF2B5EF4-FFF2-40B4-BE49-F238E27FC236}">
                <a16:creationId xmlns:a16="http://schemas.microsoft.com/office/drawing/2014/main" id="{1C896130-5968-6639-0987-F3C9933FE79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92CB6D03-8FC1-56F6-E6AE-7127FC23DF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CE3B885B-CEB5-2197-1E65-EDA60A5A10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D49E7288-348A-DF63-D6FC-C1A09EF7199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50781BA5-22C7-8458-BAF8-1C993B46766C}"/>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rPr>
              <a:t>													</a:t>
            </a:r>
            <a:endParaRPr lang="es-CO" sz="2000" b="1" u="sng">
              <a:solidFill>
                <a:schemeClr val="bg1"/>
              </a:solidFill>
            </a:endParaRPr>
          </a:p>
          <a:p>
            <a:endParaRPr lang="es-CO" sz="1000" b="1">
              <a:solidFill>
                <a:schemeClr val="bg1"/>
              </a:solidFill>
            </a:endParaRPr>
          </a:p>
          <a:p>
            <a:r>
              <a:rPr lang="es-CO" sz="2000" b="1">
                <a:solidFill>
                  <a:schemeClr val="bg1"/>
                </a:solidFill>
              </a:rPr>
              <a:t>DEPARTAMENTO DE INGENIERÍA INDUSTRIAL</a:t>
            </a:r>
          </a:p>
          <a:p>
            <a:r>
              <a:rPr lang="es-CO" sz="2000" b="1">
                <a:solidFill>
                  <a:schemeClr val="bg1"/>
                </a:solidFill>
              </a:rPr>
              <a:t>FACULTAD DE INGENIERÍA</a:t>
            </a:r>
          </a:p>
          <a:p>
            <a:r>
              <a:rPr lang="es-CO" sz="1000" b="1" u="sng">
                <a:solidFill>
                  <a:schemeClr val="bg1"/>
                </a:solidFill>
              </a:rPr>
              <a:t>													</a:t>
            </a:r>
          </a:p>
          <a:p>
            <a:endParaRPr lang="es-CO" sz="2000" b="1">
              <a:solidFill>
                <a:schemeClr val="bg1"/>
              </a:solidFill>
            </a:endParaRPr>
          </a:p>
          <a:p>
            <a:r>
              <a:rPr lang="es-CO" sz="2000" b="1">
                <a:solidFill>
                  <a:schemeClr val="bg1"/>
                </a:solidFill>
              </a:rPr>
              <a:t>Curso       </a:t>
            </a:r>
            <a:r>
              <a:rPr lang="es-CO" sz="2000">
                <a:solidFill>
                  <a:schemeClr val="bg1"/>
                </a:solidFill>
              </a:rPr>
              <a:t>ANÁLISIS DE DECISIONES DE INVERSIÓN</a:t>
            </a:r>
          </a:p>
          <a:p>
            <a:r>
              <a:rPr lang="es-CO" sz="2000" b="1">
                <a:solidFill>
                  <a:schemeClr val="bg1"/>
                </a:solidFill>
              </a:rPr>
              <a:t>Correo     </a:t>
            </a:r>
            <a:r>
              <a:rPr lang="es-CO" sz="2000">
                <a:solidFill>
                  <a:schemeClr val="bg1"/>
                </a:solidFill>
              </a:rPr>
              <a:t>cursoanadec@uniandes.edu.co</a:t>
            </a:r>
          </a:p>
          <a:p>
            <a:endParaRPr lang="es-CO" sz="2000" b="1">
              <a:solidFill>
                <a:schemeClr val="bg1"/>
              </a:solidFill>
            </a:endParaRPr>
          </a:p>
        </p:txBody>
      </p:sp>
    </p:spTree>
    <p:extLst>
      <p:ext uri="{BB962C8B-B14F-4D97-AF65-F5344CB8AC3E}">
        <p14:creationId xmlns:p14="http://schemas.microsoft.com/office/powerpoint/2010/main" val="1580968964"/>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59c0f78d-6fc1-47c2-b059-fed23358a506}" enabled="1" method="Standard" siteId="{1b779eaf-dae5-4983-b600-0da6174a3c82}" contentBits="0" removed="0"/>
  <clbl:label id="{fabd047c-ff48-492a-8bbb-8f98b9fb9cca}" enabled="0" method="" siteId="{fabd047c-ff48-492a-8bbb-8f98b9fb9cca}" removed="1"/>
</clbl:labelList>
</file>

<file path=docProps/app.xml><?xml version="1.0" encoding="utf-8"?>
<Properties xmlns="http://schemas.openxmlformats.org/officeDocument/2006/extended-properties" xmlns:vt="http://schemas.openxmlformats.org/officeDocument/2006/docPropsVTypes">
  <Template>{7D419497-B805-D64B-B6E0-457F12115DD4}tf10001123</Template>
  <TotalTime>2</TotalTime>
  <Words>2060</Words>
  <Application>Microsoft Macintosh PowerPoint</Application>
  <PresentationFormat>Widescreen</PresentationFormat>
  <Paragraphs>523</Paragraphs>
  <Slides>35</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Cambria Math</vt:lpstr>
      <vt:lpstr>Century Gothic</vt:lpstr>
      <vt:lpstr>Gill Sans MT</vt:lpstr>
      <vt:lpstr>Wingdings 2</vt:lpstr>
      <vt:lpstr>Dividendo</vt:lpstr>
      <vt:lpstr>Relaciones de equivalencia (parte i)</vt:lpstr>
      <vt:lpstr>AGENDA PROPUESTA</vt:lpstr>
      <vt:lpstr>AGENDA PROPUESTA</vt:lpstr>
      <vt:lpstr>RELACIONES DE EQUIVALENCIA</vt:lpstr>
      <vt:lpstr>RELACIONES DE EQUIVALENCIA</vt:lpstr>
      <vt:lpstr>RELACIONES DE EQUIVALENCIA</vt:lpstr>
      <vt:lpstr>RELACIONES DE EQUIVALENCIA</vt:lpstr>
      <vt:lpstr>RELACIONES DE EQUIVALENCIA</vt:lpstr>
      <vt:lpstr>RELACIONES DE EQUIVALENCIA</vt:lpstr>
      <vt:lpstr>AGENDA PROPUESTA</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VALOR PRESENTE Y VALOR FUTURO</vt:lpstr>
      <vt:lpstr>Relaciones de equivalencia (parte 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2</cp:revision>
  <dcterms:created xsi:type="dcterms:W3CDTF">2019-06-20T04:25:04Z</dcterms:created>
  <dcterms:modified xsi:type="dcterms:W3CDTF">2026-08-20T16:43:26Z</dcterms:modified>
</cp:coreProperties>
</file>