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71"/>
  </p:notesMasterIdLst>
  <p:handoutMasterIdLst>
    <p:handoutMasterId r:id="rId72"/>
  </p:handoutMasterIdLst>
  <p:sldIdLst>
    <p:sldId id="577" r:id="rId2"/>
    <p:sldId id="354" r:id="rId3"/>
    <p:sldId id="498" r:id="rId4"/>
    <p:sldId id="366" r:id="rId5"/>
    <p:sldId id="497" r:id="rId6"/>
    <p:sldId id="457" r:id="rId7"/>
    <p:sldId id="443" r:id="rId8"/>
    <p:sldId id="367" r:id="rId9"/>
    <p:sldId id="434" r:id="rId10"/>
    <p:sldId id="458" r:id="rId11"/>
    <p:sldId id="442" r:id="rId12"/>
    <p:sldId id="439" r:id="rId13"/>
    <p:sldId id="437" r:id="rId14"/>
    <p:sldId id="486" r:id="rId15"/>
    <p:sldId id="563" r:id="rId16"/>
    <p:sldId id="564" r:id="rId17"/>
    <p:sldId id="570" r:id="rId18"/>
    <p:sldId id="566" r:id="rId19"/>
    <p:sldId id="567" r:id="rId20"/>
    <p:sldId id="487" r:id="rId21"/>
    <p:sldId id="391" r:id="rId22"/>
    <p:sldId id="500" r:id="rId23"/>
    <p:sldId id="499" r:id="rId24"/>
    <p:sldId id="488" r:id="rId25"/>
    <p:sldId id="444" r:id="rId26"/>
    <p:sldId id="489" r:id="rId27"/>
    <p:sldId id="490" r:id="rId28"/>
    <p:sldId id="501" r:id="rId29"/>
    <p:sldId id="502" r:id="rId30"/>
    <p:sldId id="579" r:id="rId31"/>
    <p:sldId id="580" r:id="rId32"/>
    <p:sldId id="622" r:id="rId33"/>
    <p:sldId id="581" r:id="rId34"/>
    <p:sldId id="582" r:id="rId35"/>
    <p:sldId id="583" r:id="rId36"/>
    <p:sldId id="584" r:id="rId37"/>
    <p:sldId id="585" r:id="rId38"/>
    <p:sldId id="586" r:id="rId39"/>
    <p:sldId id="587" r:id="rId40"/>
    <p:sldId id="588" r:id="rId41"/>
    <p:sldId id="589" r:id="rId42"/>
    <p:sldId id="590" r:id="rId43"/>
    <p:sldId id="591" r:id="rId44"/>
    <p:sldId id="592" r:id="rId45"/>
    <p:sldId id="593" r:id="rId46"/>
    <p:sldId id="594" r:id="rId47"/>
    <p:sldId id="595" r:id="rId48"/>
    <p:sldId id="596" r:id="rId49"/>
    <p:sldId id="597" r:id="rId50"/>
    <p:sldId id="598" r:id="rId51"/>
    <p:sldId id="599" r:id="rId52"/>
    <p:sldId id="600" r:id="rId53"/>
    <p:sldId id="601" r:id="rId54"/>
    <p:sldId id="602" r:id="rId55"/>
    <p:sldId id="603" r:id="rId56"/>
    <p:sldId id="604" r:id="rId57"/>
    <p:sldId id="605" r:id="rId58"/>
    <p:sldId id="606" r:id="rId59"/>
    <p:sldId id="607" r:id="rId60"/>
    <p:sldId id="608" r:id="rId61"/>
    <p:sldId id="609" r:id="rId62"/>
    <p:sldId id="610" r:id="rId63"/>
    <p:sldId id="611" r:id="rId64"/>
    <p:sldId id="612" r:id="rId65"/>
    <p:sldId id="613" r:id="rId66"/>
    <p:sldId id="614" r:id="rId67"/>
    <p:sldId id="615" r:id="rId68"/>
    <p:sldId id="616" r:id="rId69"/>
    <p:sldId id="621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E6CB"/>
    <a:srgbClr val="48BE7A"/>
    <a:srgbClr val="FFFFFF"/>
    <a:srgbClr val="D7A700"/>
    <a:srgbClr val="6666FF"/>
    <a:srgbClr val="FFF4E6"/>
    <a:srgbClr val="002F90"/>
    <a:srgbClr val="E8F8FA"/>
    <a:srgbClr val="DFFF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210FCF-418E-BA47-9C39-D4A96DE12CA6}" v="1" dt="2026-04-30T15:47:25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81"/>
    <p:restoredTop sz="94632"/>
  </p:normalViewPr>
  <p:slideViewPr>
    <p:cSldViewPr snapToGrid="0">
      <p:cViewPr varScale="1">
        <p:scale>
          <a:sx n="160" d="100"/>
          <a:sy n="160" d="100"/>
        </p:scale>
        <p:origin x="1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ommentAuthors" Target="commentAuthor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30/04/26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30/04/26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777FC-D74C-D726-6CE4-81C04A9C5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F8F45-09B3-7492-A43E-FC976433A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1F635-04D9-0ED5-BDCE-5D265D990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05536-317B-D503-9956-FB45F3D058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02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39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79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C4A9-88CB-DEB1-618C-9A86937B2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EE92A-4BC2-64B5-3538-62BE14102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13F30-2335-5552-B19F-98D451663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38C43-7B1A-B3C3-D45C-AE4C5FE97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16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491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960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05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5C0E-0FA7-8A69-68D5-970405A4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17656-ED52-5E36-B874-04528A417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9C56E-1E3F-DB79-4D56-BFF0E9858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E79A0-DEE5-1B26-C6B8-141ABFBB6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7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352C8-FD75-637D-878C-A0C5ABFEA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8CCCA-922D-DC9D-4DD9-70E53F4C3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B2CB5-3946-9819-5DA8-DA104C876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83501-80B8-3AF8-B885-754DD91DDD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34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F533-D5AA-B54E-EBD1-4E80287F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61BDF-C98C-CCFD-0A0E-FA0C547BB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9516C-8893-A67F-1261-310E2C0FB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6BAB5-C24A-EF35-C528-F817E58F4B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00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717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1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4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25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1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1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5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6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9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6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2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8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im.mx/que-es-la-inflacion/" TargetMode="Externa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adeblinnea.pages.dev/lngxqwf-cuando-se-conoce-la-inflacion-de-enero-2024-images-uruzuqt/" TargetMode="External"/><Relationship Id="rId4" Type="http://schemas.openxmlformats.org/officeDocument/2006/relationships/image" Target="../media/image3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orbes.com.mx/inflacion-se-modera-en-mexico-en-primera-mitad-de-junio/" TargetMode="Externa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7" y="1814732"/>
            <a:ext cx="11079167" cy="826833"/>
          </a:xfrm>
        </p:spPr>
        <p:txBody>
          <a:bodyPr>
            <a:noAutofit/>
          </a:bodyPr>
          <a:lstStyle/>
          <a:p>
            <a:r>
              <a:rPr lang="es-CO" sz="3200" dirty="0">
                <a:latin typeface="Century Gothic"/>
              </a:rPr>
              <a:t>INFLACIÓN y SU IMPACTO EN EL FLUJO DE CAJA DE UN PROYECTO 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E3B9B72-D13E-2CBF-D0CA-6E449C2508E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A2076B-5CA2-165C-9873-6BBE655A1318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14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77272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Introducción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Precios Corrientes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Precios constantes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EE3CE35-619F-43F6-D5D0-2216339336D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E790377C-813D-BD19-50C9-E65975815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9A04E29-88CB-E108-07FF-5E71BAEAF61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9DB9DBC-F3A8-714D-75FD-BB60DD91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5497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85600-0FCC-B093-940B-9B509B40D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26394-C7BA-A127-6AA8-683367C6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98828572-4577-9176-4B79-FE0E3A0EDF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F1851C6F-AAB4-9D8D-5BBB-38F427FFD24A}"/>
              </a:ext>
            </a:extLst>
          </p:cNvPr>
          <p:cNvSpPr/>
          <p:nvPr/>
        </p:nvSpPr>
        <p:spPr>
          <a:xfrm>
            <a:off x="2806200" y="277272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Introducción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Precios Corrientes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Precios constantes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3620AF-EDD9-2E81-578B-49A4024F5CE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91490DAD-5AE9-E4B5-222A-9864DECF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28981F7-3F40-B40A-297C-F602FA92F98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4A4DC39-353B-B1FD-D512-5B929041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5449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¿QUÉ ES LA INFLACIÓN?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E72642-6263-1A89-0177-1F22CAC0A3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CDE2DC4-59DB-0CD3-0D43-01BC74A55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06CC5B3-45B8-243C-2890-D7A2C7362CF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InflaciÃ³n ">
            <a:extLst>
              <a:ext uri="{FF2B5EF4-FFF2-40B4-BE49-F238E27FC236}">
                <a16:creationId xmlns:a16="http://schemas.microsoft.com/office/drawing/2014/main" id="{912095A7-EB8A-CC12-B480-AC8C3ABC0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540" y="1950335"/>
            <a:ext cx="2165620" cy="176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nflaciÃ³n">
            <a:extLst>
              <a:ext uri="{FF2B5EF4-FFF2-40B4-BE49-F238E27FC236}">
                <a16:creationId xmlns:a16="http://schemas.microsoft.com/office/drawing/2014/main" id="{FFD85CB5-FBAA-658E-CB49-69BAE97E8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608" y="1903285"/>
            <a:ext cx="2668038" cy="176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canasta familiar">
            <a:extLst>
              <a:ext uri="{FF2B5EF4-FFF2-40B4-BE49-F238E27FC236}">
                <a16:creationId xmlns:a16="http://schemas.microsoft.com/office/drawing/2014/main" id="{5FA738A1-BB32-6C8E-0DBA-1F4B9A988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967" y="1934262"/>
            <a:ext cx="2116277" cy="176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5D774C4-4D6C-D64E-BD6C-5C66B0019E50}"/>
              </a:ext>
            </a:extLst>
          </p:cNvPr>
          <p:cNvSpPr txBox="1"/>
          <p:nvPr/>
        </p:nvSpPr>
        <p:spPr>
          <a:xfrm>
            <a:off x="581192" y="3844035"/>
            <a:ext cx="109861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inflación es el aumento generalizado y sostenido de los precios de bienes y servicios en una economía durante un periodo de tiempo. Esto significa que con la misma cantidad de dinero, puedes comprar menos que antes.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40981FF-AF98-26EE-A2D4-BCE12C3AAF31}"/>
              </a:ext>
            </a:extLst>
          </p:cNvPr>
          <p:cNvSpPr txBox="1"/>
          <p:nvPr/>
        </p:nvSpPr>
        <p:spPr>
          <a:xfrm>
            <a:off x="581192" y="5016519"/>
            <a:ext cx="98236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¿Por qué importa en proyectos de inversión?</a:t>
            </a:r>
            <a:endParaRPr lang="es-CO" sz="2000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C0B2C50-9739-DCC6-E286-76B6F19E7C16}"/>
              </a:ext>
            </a:extLst>
          </p:cNvPr>
          <p:cNvSpPr txBox="1"/>
          <p:nvPr/>
        </p:nvSpPr>
        <p:spPr>
          <a:xfrm>
            <a:off x="581192" y="5438058"/>
            <a:ext cx="109161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inflación afecta directamente el valor del dinero en el tiempo, por lo que es fundamental ajustar flujos de caja, tasas de descuento y rendimientos esperados cuando se evalúan proyectos.</a:t>
            </a:r>
          </a:p>
        </p:txBody>
      </p:sp>
    </p:spTree>
    <p:extLst>
      <p:ext uri="{BB962C8B-B14F-4D97-AF65-F5344CB8AC3E}">
        <p14:creationId xmlns:p14="http://schemas.microsoft.com/office/powerpoint/2010/main" val="224191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9AD1A-AD24-8C15-5D53-9ABB6A39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81F5-7AEA-2BCD-AD47-30770D487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4EE46-7A26-8756-3F43-A7DA79EF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</a:t>
            </a:fld>
            <a:endParaRPr lang="en-US" sz="18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945B63-7235-5585-93C2-E7C9E28C2A2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37679407-0D6D-DB65-9925-EEB5FA2A1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F53B4A9A-70D6-733D-B08E-382782D8CA2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79B3A65-9DA3-9CE8-9FDE-53286F0DE27B}"/>
              </a:ext>
            </a:extLst>
          </p:cNvPr>
          <p:cNvSpPr txBox="1">
            <a:spLocks/>
          </p:cNvSpPr>
          <p:nvPr/>
        </p:nvSpPr>
        <p:spPr>
          <a:xfrm>
            <a:off x="435893" y="1593616"/>
            <a:ext cx="11325183" cy="3670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Hasta el momento en el curso, lo que hemos hecho es trabajar con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flujos de caja expresados en pesos corrientes</a:t>
            </a:r>
            <a:r>
              <a:rPr lang="es-ES_tradnl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(nominales) o, en algunos casos, suponíamos una inflación de cero para simplificar los análisis.</a:t>
            </a:r>
          </a:p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Empero, la inflación es un factor trascendental a la hora de evaluar proyectos.</a:t>
            </a:r>
          </a:p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En países desarrollados, la inflación es muy baja y puede no ser tan relevante. Pero en países emergentes, las inflaciones son más altas y por consiguiente es un elemento fundamental.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2D2D515-B8E1-8B01-33F1-A7A686AF3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06" y="4698124"/>
            <a:ext cx="2405368" cy="189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1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B3FE409-7D0A-58C7-94CC-FF71DAC17FD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441CBAAD-97DF-B955-E0A1-1A44E34CD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F6920EF-CAAF-FA9F-D7C3-6E161607554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86B543F5-C01E-642C-8B57-538E19EE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</a:t>
            </a:fld>
            <a:endParaRPr lang="en-US" sz="1800" dirty="0"/>
          </a:p>
        </p:txBody>
      </p:sp>
      <p:pic>
        <p:nvPicPr>
          <p:cNvPr id="6" name="Picture 5" descr="A map of the world&#10;&#10;Description automatically generated">
            <a:extLst>
              <a:ext uri="{FF2B5EF4-FFF2-40B4-BE49-F238E27FC236}">
                <a16:creationId xmlns:a16="http://schemas.microsoft.com/office/drawing/2014/main" id="{9893291A-1950-BCE7-E69C-5EDACC33A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106" y="1867768"/>
            <a:ext cx="7002561" cy="49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85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</a:t>
            </a:fld>
            <a:endParaRPr lang="en-US" sz="180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370C518-B6DD-3F19-EF30-BD085C43619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45970841-5EFB-5AA8-A326-EB8A53B9D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47A03364-53A5-BF43-27F0-D4ECB85762E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70A1A2-27BC-EA37-1255-6F3BBCEC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868" y="1829227"/>
            <a:ext cx="7209927" cy="500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1257F1-87CB-9CE6-DAB1-572FF52A85EB}"/>
              </a:ext>
            </a:extLst>
          </p:cNvPr>
          <p:cNvSpPr txBox="1"/>
          <p:nvPr/>
        </p:nvSpPr>
        <p:spPr>
          <a:xfrm>
            <a:off x="9148795" y="6601389"/>
            <a:ext cx="5449240" cy="23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900" dirty="0"/>
              <a:t>Elaboración propia con datos del Banco de la República.</a:t>
            </a:r>
            <a:endParaRPr lang="es-ES_tradnl" sz="900" dirty="0"/>
          </a:p>
        </p:txBody>
      </p:sp>
    </p:spTree>
    <p:extLst>
      <p:ext uri="{BB962C8B-B14F-4D97-AF65-F5344CB8AC3E}">
        <p14:creationId xmlns:p14="http://schemas.microsoft.com/office/powerpoint/2010/main" val="639075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8E3A5C-07D2-74B2-5A8D-05200E55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35B867B-B079-503E-8747-B990670AF0D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C668A1EB-F5CC-022E-6EA4-F2B270040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A2809C6-5E13-0098-5FB2-198FF1938A0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4381339-B6E5-2935-8D98-6E432A028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5" y="2181225"/>
            <a:ext cx="11029950" cy="36782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se incorpora el efecto de la inflación en la evaluación de proyectos?</a:t>
            </a:r>
          </a:p>
          <a:p>
            <a:pPr marL="0" indent="0" algn="ctr">
              <a:buNone/>
            </a:pPr>
            <a:endParaRPr lang="es-ES_tradnl" sz="24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¿Cambiarán las decisiones de realizar o no un proyecto si se incluye la inflación en el análisis?</a:t>
            </a:r>
          </a:p>
        </p:txBody>
      </p:sp>
    </p:spTree>
    <p:extLst>
      <p:ext uri="{BB962C8B-B14F-4D97-AF65-F5344CB8AC3E}">
        <p14:creationId xmlns:p14="http://schemas.microsoft.com/office/powerpoint/2010/main" val="349601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2CDBD20-01C8-0677-D575-CA3555BD2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9</a:t>
            </a:fld>
            <a:endParaRPr lang="en-US" sz="18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2E759B8-E6AD-6E19-D11F-CF3CE2EDBCB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25F83C2A-5A2D-4172-FED3-3A4C37B26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2864FFC-55A2-6DFC-6DA4-38C51CD069B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F3BA9664-7C9D-EDE6-883D-768C26DAE01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80858" y="3168655"/>
            <a:ext cx="1102995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El capítulo explica que la inflación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distorsiona la valoración de proyectos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por lo que debe incorporarse explícitamente en el análisis.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accent1"/>
                </a:solidFill>
                <a:latin typeface="Century Gothic"/>
              </a:rPr>
              <a:t>Propone dos enfoques principales: usar </a:t>
            </a:r>
            <a:r>
              <a:rPr lang="es-CO" sz="2000" b="1" dirty="0">
                <a:solidFill>
                  <a:srgbClr val="C00000"/>
                </a:solidFill>
                <a:latin typeface="Century Gothic"/>
              </a:rPr>
              <a:t>precios nominales o corrientes y pesos constantes o reales descontando la inflación proyectada.</a:t>
            </a:r>
            <a:endParaRPr lang="es-CO" sz="2000" dirty="0">
              <a:solidFill>
                <a:srgbClr val="C00000"/>
              </a:solidFill>
              <a:latin typeface="Century Gothic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Destaca que la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consistencia entre el tipo de precios y la tasa de descuento</a:t>
            </a:r>
            <a:r>
              <a:rPr lang="es-CO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es clave para obtener resultados correctos.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Enfatiza que tratar adecuadamente la inflación es esencial, especialmente en economías con tasas de inflación significativas.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DB6D5EAD-2AD7-2110-97C5-CBB5A5E8A0EF}"/>
              </a:ext>
            </a:extLst>
          </p:cNvPr>
          <p:cNvSpPr txBox="1">
            <a:spLocks/>
          </p:cNvSpPr>
          <p:nvPr/>
        </p:nvSpPr>
        <p:spPr>
          <a:xfrm>
            <a:off x="641964" y="1895921"/>
            <a:ext cx="11029615" cy="9102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CO" b="1" dirty="0">
                <a:latin typeface="Century Gothic" panose="020B0502020202020204" pitchFamily="34" charset="0"/>
              </a:rPr>
              <a:t>Lectura recomendada:</a:t>
            </a:r>
          </a:p>
          <a:p>
            <a:r>
              <a:rPr lang="es-CO" dirty="0">
                <a:latin typeface="Century Gothic" panose="020B0502020202020204" pitchFamily="34" charset="0"/>
              </a:rPr>
              <a:t>Vélez-Pareja, I., &amp; Castilla, J. (2001). Evaluación de flujo de caja en inflación. En </a:t>
            </a:r>
            <a:r>
              <a:rPr lang="es-CO" i="1" dirty="0">
                <a:latin typeface="Century Gothic" panose="020B0502020202020204" pitchFamily="34" charset="0"/>
              </a:rPr>
              <a:t>Finanzas corporativas con énfasis en valoración y decisiones de inversión</a:t>
            </a:r>
            <a:r>
              <a:rPr lang="es-CO" dirty="0">
                <a:latin typeface="Century Gothic" panose="020B0502020202020204" pitchFamily="34" charset="0"/>
              </a:rPr>
              <a:t> (Cap. “Evaluación de FC en inflación”). ISSN 0120-3592.</a:t>
            </a:r>
          </a:p>
        </p:txBody>
      </p:sp>
    </p:spTree>
    <p:extLst>
      <p:ext uri="{BB962C8B-B14F-4D97-AF65-F5344CB8AC3E}">
        <p14:creationId xmlns:p14="http://schemas.microsoft.com/office/powerpoint/2010/main" val="46351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B8AB005-BEC4-EDCC-47DD-06CB8AF490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EF890B0A-C763-EC64-4D9F-8AB939769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8E1D78A-973F-012A-C97E-DF0DBB60B63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6607A242-567E-F802-19E5-B0D37825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10</a:t>
            </a:fld>
            <a:endParaRPr lang="en-US" sz="1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2995B5-E0BD-5D56-91F1-675571171E9B}"/>
              </a:ext>
            </a:extLst>
          </p:cNvPr>
          <p:cNvSpPr txBox="1"/>
          <p:nvPr/>
        </p:nvSpPr>
        <p:spPr>
          <a:xfrm>
            <a:off x="2195912" y="1929460"/>
            <a:ext cx="7800176" cy="70788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Flujos de caja en precios corrientes o nominales: </a:t>
            </a:r>
          </a:p>
          <a:p>
            <a:pPr algn="ctr"/>
            <a:r>
              <a:rPr lang="es-CO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Se evalúan con tasas corrientes.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312832-1462-C5C7-289B-6962C3CF00E5}"/>
              </a:ext>
            </a:extLst>
          </p:cNvPr>
          <p:cNvSpPr txBox="1"/>
          <p:nvPr/>
        </p:nvSpPr>
        <p:spPr>
          <a:xfrm>
            <a:off x="3419610" y="2758488"/>
            <a:ext cx="5352781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Flujos de caja en precios constantes: </a:t>
            </a:r>
          </a:p>
          <a:p>
            <a:pPr algn="ctr"/>
            <a:r>
              <a:rPr lang="es-CO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Se evalúan con tasas reales.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3D5CAB3-BC63-4F34-2B23-16E93279C6E5}"/>
              </a:ext>
            </a:extLst>
          </p:cNvPr>
          <p:cNvGrpSpPr/>
          <p:nvPr/>
        </p:nvGrpSpPr>
        <p:grpSpPr>
          <a:xfrm>
            <a:off x="2930856" y="3699816"/>
            <a:ext cx="6330285" cy="1015663"/>
            <a:chOff x="2188529" y="3949137"/>
            <a:chExt cx="6330285" cy="1015663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4056D7A3-CD84-71DE-70BE-7ECFB76A0D10}"/>
                </a:ext>
              </a:extLst>
            </p:cNvPr>
            <p:cNvSpPr txBox="1"/>
            <p:nvPr/>
          </p:nvSpPr>
          <p:spPr>
            <a:xfrm>
              <a:off x="2188529" y="3949137"/>
              <a:ext cx="2210862" cy="10156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000" b="1" dirty="0">
                  <a:latin typeface="Century Gothic" panose="020B0502020202020204" pitchFamily="34" charset="0"/>
                </a:rPr>
                <a:t>Precios Nominales o Corrientes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F06648FE-4F00-FF4B-CE3D-D7E4032ED6B6}"/>
                </a:ext>
              </a:extLst>
            </p:cNvPr>
            <p:cNvSpPr txBox="1"/>
            <p:nvPr/>
          </p:nvSpPr>
          <p:spPr>
            <a:xfrm>
              <a:off x="6307952" y="3949137"/>
              <a:ext cx="2210862" cy="10156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000" b="1" dirty="0">
                  <a:latin typeface="Century Gothic" panose="020B0502020202020204" pitchFamily="34" charset="0"/>
                </a:rPr>
                <a:t>Precios Constantes o Reales</a:t>
              </a:r>
            </a:p>
          </p:txBody>
        </p:sp>
        <p:sp>
          <p:nvSpPr>
            <p:cNvPr id="13" name="Flecha derecha 9">
              <a:extLst>
                <a:ext uri="{FF2B5EF4-FFF2-40B4-BE49-F238E27FC236}">
                  <a16:creationId xmlns:a16="http://schemas.microsoft.com/office/drawing/2014/main" id="{F2199530-AB2C-B327-C612-196E2336C1E2}"/>
                </a:ext>
              </a:extLst>
            </p:cNvPr>
            <p:cNvSpPr/>
            <p:nvPr/>
          </p:nvSpPr>
          <p:spPr>
            <a:xfrm>
              <a:off x="4495409" y="4242165"/>
              <a:ext cx="1716524" cy="610617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>
                  <a:latin typeface="Century Gothic" panose="020B0502020202020204" pitchFamily="34" charset="0"/>
                </a:rPr>
                <a:t>Deflactor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BC568EE-A0DE-3F5C-44A5-C00B7E9FADBB}"/>
                </a:ext>
              </a:extLst>
            </p:cNvPr>
            <p:cNvSpPr txBox="1"/>
            <p:nvPr/>
          </p:nvSpPr>
          <p:spPr>
            <a:xfrm>
              <a:off x="4790692" y="4016542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Donde: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7DEA5AB-6505-69D0-9CC7-A618B3C747A4}"/>
              </a:ext>
            </a:extLst>
          </p:cNvPr>
          <p:cNvSpPr txBox="1"/>
          <p:nvPr/>
        </p:nvSpPr>
        <p:spPr>
          <a:xfrm>
            <a:off x="887378" y="4967735"/>
            <a:ext cx="102870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Deflactor de Precios: </a:t>
            </a:r>
            <a:r>
              <a:rPr lang="es-CO" sz="2000" dirty="0">
                <a:latin typeface="Century Gothic" panose="020B0502020202020204" pitchFamily="34" charset="0"/>
              </a:rPr>
              <a:t>Factor que elimina el efecto de la inflación para expresar en términos de poder adquisitivo constante.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1638F28-E75E-4EDD-0392-B1C0697593D4}"/>
              </a:ext>
            </a:extLst>
          </p:cNvPr>
          <p:cNvSpPr txBox="1"/>
          <p:nvPr/>
        </p:nvSpPr>
        <p:spPr>
          <a:xfrm>
            <a:off x="887378" y="5716578"/>
            <a:ext cx="104172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Uso Precios Reales: </a:t>
            </a:r>
            <a:r>
              <a:rPr lang="es-CO" sz="2000" dirty="0">
                <a:latin typeface="Century Gothic" panose="020B0502020202020204" pitchFamily="34" charset="0"/>
              </a:rPr>
              <a:t>Permiten comparar valores a lo largo del tiempo sin el efecto de la inflación y utilizar tasas de descuento reales.</a:t>
            </a:r>
          </a:p>
        </p:txBody>
      </p:sp>
    </p:spTree>
    <p:extLst>
      <p:ext uri="{BB962C8B-B14F-4D97-AF65-F5344CB8AC3E}">
        <p14:creationId xmlns:p14="http://schemas.microsoft.com/office/powerpoint/2010/main" val="265722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11</a:t>
            </a:fld>
            <a:endParaRPr lang="en-US" sz="180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8605C0-22DF-FAEB-AADB-4462ED9439C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D6A7077F-34C0-CFCB-8B37-F8904F38E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AA1FA03-FE61-6A5D-ED29-6EA1DA5C8D3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9F0ADCE2-71D2-5CC7-DAB2-5A17B0BFB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661" y="1826298"/>
            <a:ext cx="11159147" cy="2969922"/>
          </a:xfrm>
        </p:spPr>
        <p:txBody>
          <a:bodyPr>
            <a:normAutofit/>
          </a:bodyPr>
          <a:lstStyle/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Deflactar</a:t>
            </a:r>
            <a:r>
              <a:rPr lang="es-CO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Eliminar de un valor monetario, los efectos producidos por los cambios en los precios (inflación o deflación).</a:t>
            </a:r>
          </a:p>
          <a:p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Así, deflactar equivale en transformar una magnitud medida en términos nominales o corrientes, en otra expresada en términos monetarios reales o constantes.</a:t>
            </a:r>
          </a:p>
          <a:p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Es decir, este proceso de términos nominales (corrientes) a reales (constantes) consiste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en eliminar el efecto producido por la inflación</a:t>
            </a:r>
            <a:r>
              <a:rPr lang="es-CO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; 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a este proceso se le conoce con el término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DEFLACTAR</a:t>
            </a:r>
            <a:r>
              <a:rPr lang="es-CO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12" name="Picture 2" descr="Dibujos Animados De Contabilidad Imágenes y Fotos - 123RF">
            <a:extLst>
              <a:ext uri="{FF2B5EF4-FFF2-40B4-BE49-F238E27FC236}">
                <a16:creationId xmlns:a16="http://schemas.microsoft.com/office/drawing/2014/main" id="{DBAD83D1-A43D-C6F7-426D-75B2F5F8F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953" y="4558012"/>
            <a:ext cx="2121386" cy="2069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06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12</a:t>
            </a:fld>
            <a:endParaRPr lang="en-US" sz="18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3F41D7-2BB6-C8AB-6780-BE881DD4E7B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416E5C34-570E-2BC2-7F9A-1C3600664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F685E8D-C8AA-A3AA-D6D7-6C3E3E56424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Flecha derecha 12">
            <a:extLst>
              <a:ext uri="{FF2B5EF4-FFF2-40B4-BE49-F238E27FC236}">
                <a16:creationId xmlns:a16="http://schemas.microsoft.com/office/drawing/2014/main" id="{C5EE9F87-D7DB-FBB9-99CF-C6D693664F68}"/>
              </a:ext>
            </a:extLst>
          </p:cNvPr>
          <p:cNvSpPr/>
          <p:nvPr/>
        </p:nvSpPr>
        <p:spPr>
          <a:xfrm>
            <a:off x="4630252" y="3580446"/>
            <a:ext cx="2845906" cy="125030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DEFLACTAR</a:t>
            </a:r>
          </a:p>
        </p:txBody>
      </p:sp>
      <p:graphicFrame>
        <p:nvGraphicFramePr>
          <p:cNvPr id="21" name="Table 6">
            <a:extLst>
              <a:ext uri="{FF2B5EF4-FFF2-40B4-BE49-F238E27FC236}">
                <a16:creationId xmlns:a16="http://schemas.microsoft.com/office/drawing/2014/main" id="{49D27BD5-4E76-08E0-8407-9FAD32631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79919"/>
              </p:ext>
            </p:extLst>
          </p:nvPr>
        </p:nvGraphicFramePr>
        <p:xfrm>
          <a:off x="1045026" y="2089932"/>
          <a:ext cx="3391109" cy="423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1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6098"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Términos NOMINALES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9567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Expresado en precios CORRIENTES o NOMINALES 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567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Precios del momento en el que se realiza la operación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098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Incluye el efecto INFLACIÓN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Table 6">
            <a:extLst>
              <a:ext uri="{FF2B5EF4-FFF2-40B4-BE49-F238E27FC236}">
                <a16:creationId xmlns:a16="http://schemas.microsoft.com/office/drawing/2014/main" id="{39AC573D-85E1-C1EA-00EE-17484FBAF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077373"/>
              </p:ext>
            </p:extLst>
          </p:nvPr>
        </p:nvGraphicFramePr>
        <p:xfrm>
          <a:off x="7670275" y="2089932"/>
          <a:ext cx="3391109" cy="423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1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6098"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Términos REALES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9567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 precios  CONSTANTES O REALES 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567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Precios en un periodo tomado como referencia.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098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Tiene descontado el efecto INFLACIÓN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17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latin typeface="Century Gothic" panose="020B0502020202020204" pitchFamily="34" charset="0"/>
              </a:rPr>
              <a:t>Ejemplo 1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13</a:t>
            </a:fld>
            <a:endParaRPr lang="en-US" sz="18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1838F64-62E1-1588-E516-89278CB2354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EF4D652-280A-E69A-274A-FD6894F90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1271AA26-55F5-8F89-95E7-AC8CC7FD454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A4430E-256A-F77C-C02A-F9BE4E2EA293}"/>
              </a:ext>
            </a:extLst>
          </p:cNvPr>
          <p:cNvSpPr txBox="1"/>
          <p:nvPr/>
        </p:nvSpPr>
        <p:spPr>
          <a:xfrm>
            <a:off x="458729" y="2238338"/>
            <a:ext cx="11369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 1: 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Ingreso proyectado año 3: </a:t>
            </a:r>
            <a:r>
              <a:rPr lang="es-CO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$120,000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 (incluye inflación esperada del 6% anual constante).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7D7A241-1FC6-8577-0F46-10029A6FA7C2}"/>
              </a:ext>
            </a:extLst>
          </p:cNvPr>
          <p:cNvSpPr txBox="1"/>
          <p:nvPr/>
        </p:nvSpPr>
        <p:spPr>
          <a:xfrm>
            <a:off x="2497873" y="5730865"/>
            <a:ext cx="8160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Ingreso </a:t>
            </a:r>
            <a:r>
              <a:rPr lang="es-CO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real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 año 3: </a:t>
            </a:r>
            <a:r>
              <a:rPr lang="es-CO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$100,754 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en pesos del año base.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529B974-D838-5734-0572-A61FF00BF9E1}"/>
              </a:ext>
            </a:extLst>
          </p:cNvPr>
          <p:cNvSpPr txBox="1"/>
          <p:nvPr/>
        </p:nvSpPr>
        <p:spPr>
          <a:xfrm>
            <a:off x="2094940" y="3066999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Deflactor de Precios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88B65BB-1218-C376-A189-FE88A3978AC3}"/>
                  </a:ext>
                </a:extLst>
              </p:cNvPr>
              <p:cNvSpPr txBox="1"/>
              <p:nvPr/>
            </p:nvSpPr>
            <p:spPr>
              <a:xfrm>
                <a:off x="1738079" y="3533634"/>
                <a:ext cx="3149004" cy="57509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𝑟𝑒𝑎𝑙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𝑁𝑜𝑚𝑖𝑛𝑎𝑙</m:t>
                          </m:r>
                        </m:num>
                        <m:den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88B65BB-1218-C376-A189-FE88A3978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079" y="3533634"/>
                <a:ext cx="3149004" cy="575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9C2B245-17C5-E1C0-BB71-060A223E408E}"/>
                  </a:ext>
                </a:extLst>
              </p:cNvPr>
              <p:cNvSpPr txBox="1"/>
              <p:nvPr/>
            </p:nvSpPr>
            <p:spPr>
              <a:xfrm>
                <a:off x="711652" y="4157164"/>
                <a:ext cx="56334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Donde </a:t>
                </a:r>
                <a14:m>
                  <m:oMath xmlns:m="http://schemas.openxmlformats.org/officeDocument/2006/math">
                    <m:r>
                      <a:rPr lang="es-CO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 es la tasa de </a:t>
                </a:r>
                <a:r>
                  <a:rPr lang="es-CO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inflación</a:t>
                </a: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. 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s-419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:  </m:t>
                    </m:r>
                  </m:oMath>
                </a14:m>
                <a:r>
                  <a:rPr lang="es-CO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Factor Inflacionario</a:t>
                </a: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9C2B245-17C5-E1C0-BB71-060A223E4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52" y="4157164"/>
                <a:ext cx="5633433" cy="646331"/>
              </a:xfrm>
              <a:prstGeom prst="rect">
                <a:avLst/>
              </a:prstGeom>
              <a:blipFill>
                <a:blip r:embed="rId5"/>
                <a:stretch>
                  <a:fillRect t="-5769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upo 20">
            <a:extLst>
              <a:ext uri="{FF2B5EF4-FFF2-40B4-BE49-F238E27FC236}">
                <a16:creationId xmlns:a16="http://schemas.microsoft.com/office/drawing/2014/main" id="{ABC2223E-A97E-5063-BD4E-FBD67FFAD6FD}"/>
              </a:ext>
            </a:extLst>
          </p:cNvPr>
          <p:cNvGrpSpPr/>
          <p:nvPr/>
        </p:nvGrpSpPr>
        <p:grpSpPr>
          <a:xfrm>
            <a:off x="6761033" y="3198091"/>
            <a:ext cx="2559482" cy="1918145"/>
            <a:chOff x="7991228" y="3253995"/>
            <a:chExt cx="2559482" cy="19181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1AD14B2A-3DCE-447A-0613-FC7BA180F54B}"/>
                    </a:ext>
                  </a:extLst>
                </p:cNvPr>
                <p:cNvSpPr txBox="1"/>
                <p:nvPr/>
              </p:nvSpPr>
              <p:spPr>
                <a:xfrm>
                  <a:off x="7991228" y="3253995"/>
                  <a:ext cx="2559482" cy="586251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𝑃𝑟𝑒𝑐𝑖𝑜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$120,000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6%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s-CO" dirty="0">
                    <a:latin typeface="Century Gothic" panose="020B0502020202020204" pitchFamily="34" charset="0"/>
                  </a:endParaRPr>
                </a:p>
              </p:txBody>
            </p:sp>
          </mc:Choice>
          <mc:Fallback xmlns="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1AD14B2A-3DCE-447A-0613-FC7BA180F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1228" y="3253995"/>
                  <a:ext cx="2559482" cy="58625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DF34277D-EE6D-1F5B-61AE-C10B1E0475D3}"/>
                    </a:ext>
                  </a:extLst>
                </p:cNvPr>
                <p:cNvSpPr txBox="1"/>
                <p:nvPr/>
              </p:nvSpPr>
              <p:spPr>
                <a:xfrm>
                  <a:off x="8061728" y="4895141"/>
                  <a:ext cx="2418483" cy="276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b="0" i="1">
                      <a:latin typeface="Cambria Math" panose="02040503050406030204" pitchFamily="18" charset="0"/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𝑟𝑒𝑎𝑙</m:t>
                      </m:r>
                      <m:r>
                        <a:rPr lang="es-419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CO" i="0" dirty="0">
                      <a:latin typeface="Century Gothic" panose="020B0502020202020204" pitchFamily="34" charset="0"/>
                    </a:rPr>
                    <a:t> $100,754</a:t>
                  </a:r>
                </a:p>
              </p:txBody>
            </p:sp>
          </mc:Choice>
          <mc:Fallback xmlns="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DF34277D-EE6D-1F5B-61AE-C10B1E0475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1728" y="4895141"/>
                  <a:ext cx="241848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535" t="-28889" r="-5051" b="-5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Flecha abajo 25">
              <a:extLst>
                <a:ext uri="{FF2B5EF4-FFF2-40B4-BE49-F238E27FC236}">
                  <a16:creationId xmlns:a16="http://schemas.microsoft.com/office/drawing/2014/main" id="{4B320570-2913-AF79-56EC-99BF6EA7805E}"/>
                </a:ext>
              </a:extLst>
            </p:cNvPr>
            <p:cNvSpPr/>
            <p:nvPr/>
          </p:nvSpPr>
          <p:spPr>
            <a:xfrm>
              <a:off x="8848938" y="4058639"/>
              <a:ext cx="844062" cy="673235"/>
            </a:xfrm>
            <a:prstGeom prst="downArrow">
              <a:avLst>
                <a:gd name="adj1" fmla="val 50000"/>
                <a:gd name="adj2" fmla="val 4902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37366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 animBg="1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0735-5938-E5AC-1124-C6509C05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20F6-A97A-A4CD-0CBB-C9FAE55E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Ejemplo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77542-2590-A707-DF3F-C95C8264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14</a:t>
            </a:fld>
            <a:endParaRPr lang="en-US" sz="1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0B9E8C-3C50-1945-9623-524962A92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605879"/>
              </p:ext>
            </p:extLst>
          </p:nvPr>
        </p:nvGraphicFramePr>
        <p:xfrm>
          <a:off x="461701" y="1995776"/>
          <a:ext cx="7405291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6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Año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Precio Nominal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Inflación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Precio Real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2015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/>
                        </a:rPr>
                        <a:t>1.000,00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/>
                        </a:rPr>
                        <a:t>1.000,00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2016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1.020,00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2,6%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/>
                        </a:rPr>
                        <a:t>993,50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2017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1.040,40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6,9%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948,58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2018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1.061,21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8,5%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891,75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88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2019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1.082,43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3,3%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832,19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027145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6CFC86CA-5231-006A-B1C4-F725054980F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0CE23D1B-AA7F-4F51-965E-515808DF5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3DD0599-3E8D-0A4F-0F81-4078FDC7BC4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661AF68-4047-7303-E790-C257FBAA5DAE}"/>
              </a:ext>
            </a:extLst>
          </p:cNvPr>
          <p:cNvSpPr txBox="1"/>
          <p:nvPr/>
        </p:nvSpPr>
        <p:spPr>
          <a:xfrm>
            <a:off x="8139227" y="2994706"/>
            <a:ext cx="3409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Deflactar respecto al año 2015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C025F2A-E23B-123A-0154-3E84AF13AFE5}"/>
              </a:ext>
            </a:extLst>
          </p:cNvPr>
          <p:cNvSpPr txBox="1"/>
          <p:nvPr/>
        </p:nvSpPr>
        <p:spPr>
          <a:xfrm>
            <a:off x="8261688" y="2303286"/>
            <a:ext cx="31646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Año de referencia: 2015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6572703-E6EE-4F6E-822E-89439190BD6A}"/>
              </a:ext>
            </a:extLst>
          </p:cNvPr>
          <p:cNvSpPr/>
          <p:nvPr/>
        </p:nvSpPr>
        <p:spPr>
          <a:xfrm>
            <a:off x="461702" y="4441992"/>
            <a:ext cx="7405291" cy="2060295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DB37334-98B3-41DA-9F41-9883F63594D0}"/>
                  </a:ext>
                </a:extLst>
              </p:cNvPr>
              <p:cNvSpPr txBox="1"/>
              <p:nvPr/>
            </p:nvSpPr>
            <p:spPr>
              <a:xfrm>
                <a:off x="589848" y="4498272"/>
                <a:ext cx="5643724" cy="560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</m:e>
                        <m:sub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 2016</m:t>
                          </m:r>
                        </m:sub>
                      </m:sSub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O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00" i="1">
                                  <a:latin typeface="Cambria Math" panose="02040503050406030204" pitchFamily="18" charset="0"/>
                                </a:rPr>
                                <m:t>𝑃𝑟𝑒𝑐𝑖𝑜</m:t>
                              </m:r>
                            </m:e>
                            <m:sub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𝑁𝑜𝑚</m:t>
                              </m:r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2016</m:t>
                              </m:r>
                            </m:sub>
                          </m:sSub>
                        </m:num>
                        <m:den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1+2.6%</m:t>
                          </m:r>
                        </m:den>
                      </m:f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1020</m:t>
                          </m:r>
                        </m:num>
                        <m:den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1+2.6%</m:t>
                          </m:r>
                        </m:den>
                      </m:f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=993.5</m:t>
                      </m:r>
                    </m:oMath>
                  </m:oMathPara>
                </a14:m>
                <a:endParaRPr lang="es-CO" sz="190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DB37334-98B3-41DA-9F41-9883F6359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48" y="4498272"/>
                <a:ext cx="5643724" cy="5607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1F929DB-6ECE-8832-B6B9-B6397D97B01D}"/>
                  </a:ext>
                </a:extLst>
              </p:cNvPr>
              <p:cNvSpPr txBox="1"/>
              <p:nvPr/>
            </p:nvSpPr>
            <p:spPr>
              <a:xfrm>
                <a:off x="581192" y="5146170"/>
                <a:ext cx="5653342" cy="591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</m:e>
                        <m:sub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2017</m:t>
                          </m:r>
                        </m:sub>
                      </m:sSub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040.40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1+6.9%</m:t>
                                  </m:r>
                                </m:e>
                              </m:d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1+2.6%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=948.58</m:t>
                      </m:r>
                    </m:oMath>
                  </m:oMathPara>
                </a14:m>
                <a:endParaRPr lang="es-CO" sz="190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1F929DB-6ECE-8832-B6B9-B6397D97B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5146170"/>
                <a:ext cx="5653342" cy="591252"/>
              </a:xfrm>
              <a:prstGeom prst="rect">
                <a:avLst/>
              </a:prstGeom>
              <a:blipFill>
                <a:blip r:embed="rId5"/>
                <a:stretch>
                  <a:fillRect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4E629F4-4D6D-0DD6-1A25-966FFAE27807}"/>
                  </a:ext>
                </a:extLst>
              </p:cNvPr>
              <p:cNvSpPr txBox="1"/>
              <p:nvPr/>
            </p:nvSpPr>
            <p:spPr>
              <a:xfrm>
                <a:off x="581192" y="5824590"/>
                <a:ext cx="6635919" cy="591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</m:e>
                        <m:sub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 2018</m:t>
                          </m:r>
                        </m:sub>
                      </m:sSub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061.21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1+2.6%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1+6.9%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1+8.5%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s-CO" sz="1900" b="0" i="0" smtClean="0">
                          <a:latin typeface="Cambria Math" panose="02040503050406030204" pitchFamily="18" charset="0"/>
                        </a:rPr>
                        <m:t>=891.75</m:t>
                      </m:r>
                    </m:oMath>
                  </m:oMathPara>
                </a14:m>
                <a:endParaRPr lang="es-CO" sz="1900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4E629F4-4D6D-0DD6-1A25-966FFAE27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5824590"/>
                <a:ext cx="6635919" cy="591252"/>
              </a:xfrm>
              <a:prstGeom prst="rect">
                <a:avLst/>
              </a:prstGeom>
              <a:blipFill>
                <a:blip r:embed="rId6"/>
                <a:stretch>
                  <a:fillRect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9">
            <a:extLst>
              <a:ext uri="{FF2B5EF4-FFF2-40B4-BE49-F238E27FC236}">
                <a16:creationId xmlns:a16="http://schemas.microsoft.com/office/drawing/2014/main" id="{3599E6B0-870C-D8CB-2F24-969A832C6C68}"/>
              </a:ext>
            </a:extLst>
          </p:cNvPr>
          <p:cNvSpPr txBox="1"/>
          <p:nvPr/>
        </p:nvSpPr>
        <p:spPr>
          <a:xfrm>
            <a:off x="8399257" y="4626833"/>
            <a:ext cx="2762729" cy="1015663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Del 2016 al 2017: </a:t>
            </a:r>
          </a:p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-4.52% real </a:t>
            </a:r>
          </a:p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2% nominal 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5124B687-F3D8-50F6-1DC7-7379C766E30C}"/>
              </a:ext>
            </a:extLst>
          </p:cNvPr>
          <p:cNvSpPr/>
          <p:nvPr/>
        </p:nvSpPr>
        <p:spPr>
          <a:xfrm>
            <a:off x="7871457" y="4744128"/>
            <a:ext cx="401695" cy="68874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911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8B504-484D-55D9-9D9B-3D0EA32C1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Ecuación</a:t>
            </a:r>
            <a:r>
              <a:rPr lang="en-US" dirty="0"/>
              <a:t> fisher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47618DB-0729-9192-FB44-386FB10F5D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1831477"/>
                <a:ext cx="11029615" cy="4324367"/>
              </a:xfrm>
            </p:spPr>
            <p:txBody>
              <a:bodyPr anchor="t" anchorCtr="0">
                <a:normAutofit lnSpcReduction="10000"/>
              </a:bodyPr>
              <a:lstStyle/>
              <a:p>
                <a:r>
                  <a:rPr lang="es-ES_tradnl" sz="2000" noProof="0" dirty="0">
                    <a:latin typeface="Century Gothic" panose="020B0502020202020204" pitchFamily="34" charset="0"/>
                  </a:rPr>
                  <a:t>En el caso de tasas, estas no se deflactan, sino se ajustan por la </a:t>
                </a:r>
                <a:r>
                  <a:rPr lang="es-ES_tradnl" sz="2000" b="1" noProof="0" dirty="0">
                    <a:latin typeface="Century Gothic" panose="020B0502020202020204" pitchFamily="34" charset="0"/>
                  </a:rPr>
                  <a:t>Ecuación de Fisher</a:t>
                </a:r>
                <a:r>
                  <a:rPr lang="es-ES_tradnl" sz="2000" noProof="0" dirty="0">
                    <a:latin typeface="Century Gothic" panose="020B0502020202020204" pitchFamily="34" charset="0"/>
                  </a:rPr>
                  <a:t>.</a:t>
                </a:r>
              </a:p>
              <a:p>
                <a:r>
                  <a:rPr lang="es-ES_tradnl" sz="2000" noProof="0" dirty="0">
                    <a:latin typeface="Century Gothic" panose="020B0502020202020204" pitchFamily="34" charset="0"/>
                  </a:rPr>
                  <a:t>Ejemplo, cuando nos interesa evaluar proyectos en distintos países, debemos analizar rentabilidades reales, no nominales. La ecuación de Fisher permite conocer la tasa real con la inflación esperada.</a:t>
                </a:r>
              </a:p>
              <a:p>
                <a:endParaRPr lang="es-ES_tradnl" sz="2000" b="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</m:sub>
                          </m:sSub>
                        </m:e>
                      </m:d>
                      <m:r>
                        <a:rPr lang="es-ES_tradnl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  <m:t>𝑟𝑒𝑎𝑙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ES_tradnl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𝑖𝑛𝑓𝑙𝑎𝑐𝑖</m:t>
                              </m:r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sz="2000" b="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ES_tradnl" sz="2000" b="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</m:sub>
                      </m:sSub>
                      <m:r>
                        <a:rPr lang="es-ES_tradnl" sz="2000" noProof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_tradnl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ES_tradnl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sz="2000" noProof="0" smtClean="0">
                                  <a:latin typeface="Cambria Math" panose="02040503050406030204" pitchFamily="18" charset="0"/>
                                </a:rPr>
                                <m:t>𝑛𝑜𝑚𝑖𝑛𝑎𝑙</m:t>
                              </m:r>
                            </m:sub>
                          </m:sSub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𝑖𝑛𝑓𝑙𝑎𝑐𝑖</m:t>
                              </m:r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ES_tradnl" sz="2000" noProof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ES_tradnl" sz="2000" noProof="0" dirty="0">
                  <a:latin typeface="Century Gothic" panose="020B0502020202020204" pitchFamily="34" charset="0"/>
                </a:endParaRPr>
              </a:p>
              <a:p>
                <a:r>
                  <a:rPr lang="es-ES_tradnl" sz="2000" noProof="0" dirty="0">
                    <a:latin typeface="Century Gothic" panose="020B0502020202020204" pitchFamily="34" charset="0"/>
                  </a:rPr>
                  <a:t>Este concepto igualmente nos dirige al concepto de la tasa real anualizada y al cálculo con factores.</a:t>
                </a:r>
              </a:p>
              <a:p>
                <a:endParaRPr lang="en-US" sz="2000" dirty="0">
                  <a:latin typeface="Century Gothic" panose="020B0502020202020204" pitchFamily="34" charset="0"/>
                </a:endParaRPr>
              </a:p>
              <a:p>
                <a:endParaRPr lang="en-US" sz="2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47618DB-0729-9192-FB44-386FB10F5D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1831477"/>
                <a:ext cx="11029615" cy="4324367"/>
              </a:xfrm>
              <a:blipFill>
                <a:blip r:embed="rId2"/>
                <a:stretch>
                  <a:fillRect l="-230" t="-1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99C2D1-81F3-7168-2A31-EE9592DE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48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78A12-0081-936F-4A8E-E45FA9622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415F2A1-9494-AC6C-5075-B65A5B4DA4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1203" y="1820132"/>
                <a:ext cx="11029615" cy="4927032"/>
              </a:xfrm>
            </p:spPr>
            <p:txBody>
              <a:bodyPr anchor="t" anchorCtr="0">
                <a:normAutofit/>
              </a:bodyPr>
              <a:lstStyle/>
              <a:p>
                <a:r>
                  <a:rPr lang="es-ES_tradnl" sz="2000" dirty="0">
                    <a:latin typeface="Century Gothic" panose="020B0502020202020204" pitchFamily="34" charset="0"/>
                  </a:rPr>
                  <a:t>Los factores nos permiten simplificar algunos cálculos. En particular en el caso de evaluación de proyectos en diferentes países, es común emplear los factores.</a:t>
                </a:r>
              </a:p>
              <a:p>
                <a:r>
                  <a:rPr lang="es-ES_tradnl" sz="2000" dirty="0">
                    <a:latin typeface="Century Gothic" panose="020B0502020202020204" pitchFamily="34" charset="0"/>
                  </a:rPr>
                  <a:t>Un primer factor es aquel que relaciona la inflación:</a:t>
                </a:r>
              </a:p>
              <a:p>
                <a:pPr marL="0" indent="0" algn="ctr">
                  <a:buNone/>
                </a:pPr>
                <a:r>
                  <a:rPr lang="es-419" sz="2000" b="1" dirty="0">
                    <a:ea typeface="Cambria Math" panose="02040503050406030204" pitchFamily="18" charset="0"/>
                  </a:rPr>
                  <a:t>Inflación Acumulada, </a:t>
                </a:r>
                <a14:m>
                  <m:oMath xmlns:m="http://schemas.openxmlformats.org/officeDocument/2006/math">
                    <m:r>
                      <a:rPr lang="es-419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s-419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𝑨𝒄𝒖𝒎𝒖𝒍𝒂𝒅𝒂</m:t>
                        </m:r>
                      </m:sub>
                    </m:sSub>
                    <m:r>
                      <a:rPr lang="es-419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s-419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20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s-419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s-419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…(1+</m:t>
                    </m:r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419" sz="20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s-419" sz="20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Este se llama Factor Inflacionario o tambien, inflación acumulada.</a:t>
                </a:r>
              </a:p>
              <a:p>
                <a:endParaRPr lang="es-419" sz="20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s-419" sz="20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Podemos calcular tambien la tasa nominal acumulada: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𝑵𝒐𝒎𝒊𝒏𝒂𝒍</m:t>
                          </m:r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𝑨𝒄𝒖𝒎𝒖𝒍𝒂𝒅𝒂</m:t>
                          </m:r>
                        </m:sub>
                      </m:sSub>
                      <m:r>
                        <a:rPr lang="es-419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419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s-419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419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s-419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∙…</m:t>
                          </m:r>
                          <m:sSub>
                            <m:sSubPr>
                              <m:ctrlP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b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419" sz="20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s-ES_tradnl" sz="2000" dirty="0">
                    <a:latin typeface="Century Gothic" panose="020B0502020202020204" pitchFamily="34" charset="0"/>
                  </a:rPr>
                  <a:t>Es a partir de estas que, podemos conocer las tasas equivalentes anualizadas y emplear la ecuación de Fisher para conocer alguno de sus elementos.</a:t>
                </a:r>
                <a:endParaRPr lang="en-US" sz="2000" dirty="0"/>
              </a:p>
              <a:p>
                <a:endParaRPr lang="es-ES_tradnl" sz="2400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415F2A1-9494-AC6C-5075-B65A5B4DA4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1203" y="1820132"/>
                <a:ext cx="11029615" cy="4927032"/>
              </a:xfrm>
              <a:blipFill>
                <a:blip r:embed="rId3"/>
                <a:stretch>
                  <a:fillRect l="-230" t="-771" b="-7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FB6874-B7CB-2046-7074-95001035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64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35BD48-6AA6-3BB6-EC83-F9E4B5D4C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529" y="4058112"/>
            <a:ext cx="3489897" cy="255766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15DD813-2FCD-30F7-9D21-BE8070EB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F933AF-900F-43E1-B23F-38C071E12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8722"/>
            <a:ext cx="11160234" cy="1013800"/>
          </a:xfrm>
        </p:spPr>
        <p:txBody>
          <a:bodyPr/>
          <a:lstStyle/>
          <a:p>
            <a:r>
              <a:rPr lang="en-US" sz="2000" dirty="0">
                <a:latin typeface="Century Gothic" panose="020B0502020202020204" pitchFamily="34" charset="0"/>
              </a:rPr>
              <a:t>Donde la </a:t>
            </a:r>
            <a:r>
              <a:rPr lang="en-US" sz="2000" dirty="0" err="1">
                <a:latin typeface="Century Gothic" panose="020B0502020202020204" pitchFamily="34" charset="0"/>
              </a:rPr>
              <a:t>relación</a:t>
            </a:r>
            <a:r>
              <a:rPr lang="en-US" sz="2000" dirty="0">
                <a:latin typeface="Century Gothic" panose="020B0502020202020204" pitchFamily="34" charset="0"/>
              </a:rPr>
              <a:t> de Fisher, para </a:t>
            </a:r>
            <a:r>
              <a:rPr lang="en-US" sz="2000" dirty="0" err="1">
                <a:latin typeface="Century Gothic" panose="020B0502020202020204" pitchFamily="34" charset="0"/>
              </a:rPr>
              <a:t>el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cálculo</a:t>
            </a:r>
            <a:r>
              <a:rPr lang="en-US" sz="2000" dirty="0">
                <a:latin typeface="Century Gothic" panose="020B0502020202020204" pitchFamily="34" charset="0"/>
              </a:rPr>
              <a:t> de </a:t>
            </a:r>
            <a:r>
              <a:rPr lang="en-US" sz="2000" dirty="0" err="1">
                <a:latin typeface="Century Gothic" panose="020B0502020202020204" pitchFamily="34" charset="0"/>
              </a:rPr>
              <a:t>tasa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anualizada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quedaría</a:t>
            </a:r>
            <a:r>
              <a:rPr lang="en-US" sz="2000" dirty="0">
                <a:latin typeface="Century Gothic" panose="020B0502020202020204" pitchFamily="34" charset="0"/>
              </a:rPr>
              <a:t>: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019817-5769-6A0B-F515-A21FCAA0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D60FFB2-6E37-4EEE-F1CE-0454CF0B6F41}"/>
                  </a:ext>
                </a:extLst>
              </p:cNvPr>
              <p:cNvSpPr txBox="1"/>
              <p:nvPr/>
            </p:nvSpPr>
            <p:spPr>
              <a:xfrm>
                <a:off x="2566201" y="3085027"/>
                <a:ext cx="6095999" cy="733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1+</m:t>
                      </m:r>
                      <m:sSub>
                        <m:sSubPr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𝐴𝑐𝑢𝑚𝑢𝑙𝑎𝑑𝑎</m:t>
                          </m:r>
                        </m:sub>
                      </m:sSub>
                      <m:r>
                        <a:rPr lang="es-419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419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𝑎𝑐𝑢𝑚𝑢𝑙𝑎𝑑𝑎</m:t>
                              </m:r>
                            </m:sub>
                          </m:sSub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𝑎𝑐𝑢𝑚𝑢𝑙𝑎𝑑𝑎</m:t>
                              </m:r>
                            </m:sub>
                          </m:sSub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419" sz="2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D60FFB2-6E37-4EEE-F1CE-0454CF0B6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201" y="3085027"/>
                <a:ext cx="6095999" cy="733149"/>
              </a:xfrm>
              <a:prstGeom prst="rect">
                <a:avLst/>
              </a:prstGeom>
              <a:blipFill>
                <a:blip r:embed="rId3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B9AB3DE-2F6F-7AD5-345F-D84DF77A8123}"/>
                  </a:ext>
                </a:extLst>
              </p:cNvPr>
              <p:cNvSpPr txBox="1"/>
              <p:nvPr/>
            </p:nvSpPr>
            <p:spPr>
              <a:xfrm>
                <a:off x="2842590" y="5105648"/>
                <a:ext cx="6188764" cy="850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𝐴𝑛𝑢𝑎𝑙</m:t>
                          </m:r>
                        </m:sub>
                      </m:sSub>
                      <m:r>
                        <a:rPr lang="es-419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sSub>
                                    <m:sSubPr>
                                      <m:ctrlP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𝑛𝑜𝑚</m:t>
                                      </m:r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𝑎𝑐𝑢𝑚𝑢𝑙𝑎𝑑𝑎</m:t>
                                      </m:r>
                                    </m:sub>
                                  </m:sSub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𝑎𝑐𝑢𝑚𝑢𝑙𝑎𝑑𝑎</m:t>
                                      </m:r>
                                    </m:sub>
                                  </m:sSub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419" sz="2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B9AB3DE-2F6F-7AD5-345F-D84DF77A8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590" y="5105648"/>
                <a:ext cx="6188764" cy="850489"/>
              </a:xfrm>
              <a:prstGeom prst="rect">
                <a:avLst/>
              </a:prstGeom>
              <a:blipFill>
                <a:blip r:embed="rId4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4B6F00A-4CCA-750C-E832-96BBAFD6E325}"/>
                  </a:ext>
                </a:extLst>
              </p:cNvPr>
              <p:cNvSpPr txBox="1"/>
              <p:nvPr/>
            </p:nvSpPr>
            <p:spPr>
              <a:xfrm>
                <a:off x="2499060" y="4339994"/>
                <a:ext cx="6096000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𝑅𝑒𝑎𝑙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𝐴𝑛𝑢𝑎𝑙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419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419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419" sz="1800" i="1"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  <m:r>
                                <a:rPr lang="es-419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</a:rPr>
                                <m:t>𝑎𝑐𝑢𝑚𝑢𝑙𝑎𝑑𝑎</m:t>
                              </m:r>
                            </m:sub>
                          </m:sSub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</a:rPr>
                                <m:t>𝑎𝑐𝑢𝑚𝑢𝑙𝑎𝑑𝑎</m:t>
                              </m:r>
                            </m:sub>
                          </m:sSub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419" sz="18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4B6F00A-4CCA-750C-E832-96BBAFD6E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060" y="4339994"/>
                <a:ext cx="6096000" cy="669094"/>
              </a:xfrm>
              <a:prstGeom prst="rect">
                <a:avLst/>
              </a:prstGeom>
              <a:blipFill>
                <a:blip r:embed="rId5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220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4E59-08EC-8737-3B48-9CC7627C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1ECE8-1ABC-3E07-8F12-2935D120C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EJEMPLO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22FF08-1E35-6276-CF75-CCFF0DC1B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203" y="1820132"/>
            <a:ext cx="11029615" cy="4136005"/>
          </a:xfrm>
        </p:spPr>
        <p:txBody>
          <a:bodyPr anchor="t" anchorCtr="0">
            <a:normAutofit/>
          </a:bodyPr>
          <a:lstStyle/>
          <a:p>
            <a:r>
              <a:rPr lang="es-ES_tradnl" sz="2000" dirty="0">
                <a:latin typeface="Century Gothic" panose="020B0502020202020204" pitchFamily="34" charset="0"/>
              </a:rPr>
              <a:t>Por ejemplo, supongamos que nos interesa conocer y comparar una tasa de rentabilidad real anualizada a partir de una tasa nominal constante del 11% EA en España y en Alemania, donde las inflaciones para los siguientes tres años, se espera sean</a:t>
            </a:r>
            <a:r>
              <a:rPr lang="es-ES_tradnl" sz="2400" dirty="0">
                <a:latin typeface="Century Gothic" panose="020B0502020202020204" pitchFamily="34" charset="0"/>
              </a:rPr>
              <a:t>:</a:t>
            </a:r>
            <a:endParaRPr lang="es-ES_tradnl" sz="2400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98EE49-DE53-88FE-095B-A1D2136D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BBD6492-746F-41F8-2271-E8056175A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081482"/>
              </p:ext>
            </p:extLst>
          </p:nvPr>
        </p:nvGraphicFramePr>
        <p:xfrm>
          <a:off x="1982010" y="3097594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283293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487958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91325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75325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País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Inflación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año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Inflación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año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2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Inflación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año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3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8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España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2,1%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828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Alemania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1,9%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59605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5326ECAE-EE29-A905-DEA3-126B71BE4351}"/>
              </a:ext>
            </a:extLst>
          </p:cNvPr>
          <p:cNvSpPr txBox="1"/>
          <p:nvPr/>
        </p:nvSpPr>
        <p:spPr>
          <a:xfrm>
            <a:off x="481213" y="4363893"/>
            <a:ext cx="1041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Calculamos</a:t>
            </a:r>
            <a:r>
              <a:rPr lang="en-US" sz="2000" dirty="0">
                <a:solidFill>
                  <a:schemeClr val="tx2"/>
                </a:solidFill>
                <a:latin typeface="Century Gothic" panose="020B0502020202020204" pitchFamily="34" charset="0"/>
              </a:rPr>
              <a:t> la </a:t>
            </a:r>
            <a:r>
              <a:rPr lang="en-US" sz="20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inflación</a:t>
            </a:r>
            <a:r>
              <a:rPr lang="en-US" sz="2000" dirty="0">
                <a:solidFill>
                  <a:schemeClr val="tx2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acumulada</a:t>
            </a:r>
            <a:r>
              <a:rPr lang="en-US" sz="2000" dirty="0">
                <a:solidFill>
                  <a:schemeClr val="tx2"/>
                </a:solidFill>
                <a:latin typeface="Century Gothic" panose="020B0502020202020204" pitchFamily="34" charset="0"/>
              </a:rPr>
              <a:t> de </a:t>
            </a:r>
            <a:r>
              <a:rPr lang="en-US" sz="20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cada</a:t>
            </a:r>
            <a:r>
              <a:rPr lang="en-US" sz="2000" dirty="0">
                <a:solidFill>
                  <a:schemeClr val="tx2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país</a:t>
            </a:r>
            <a:r>
              <a:rPr lang="en-US" sz="2000" dirty="0">
                <a:solidFill>
                  <a:schemeClr val="tx2"/>
                </a:solidFill>
                <a:latin typeface="Century Gothic" panose="020B050202020202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08D3261-D3FE-7A9D-7FD5-4A2C324A2F5E}"/>
                  </a:ext>
                </a:extLst>
              </p:cNvPr>
              <p:cNvSpPr txBox="1"/>
              <p:nvPr/>
            </p:nvSpPr>
            <p:spPr>
              <a:xfrm>
                <a:off x="2819947" y="4917782"/>
                <a:ext cx="5339732" cy="778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𝚷</m:t>
                          </m:r>
                        </m:e>
                        <m:sub>
                          <m:r>
                            <a:rPr lang="es-419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𝐄𝐬𝐩𝐚</m:t>
                          </m:r>
                          <m:r>
                            <a:rPr lang="es-419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ñ</m:t>
                          </m:r>
                          <m:r>
                            <a:rPr lang="es-419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𝐚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=1,03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∙1,024∙1,021=1,076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08D3261-D3FE-7A9D-7FD5-4A2C324A2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947" y="4917782"/>
                <a:ext cx="5339732" cy="778739"/>
              </a:xfrm>
              <a:prstGeom prst="rect">
                <a:avLst/>
              </a:prstGeom>
              <a:blipFill>
                <a:blip r:embed="rId2"/>
                <a:stretch>
                  <a:fillRect l="-475" t="-112903" r="-238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27C988F-322D-8453-B596-43493FC5EB65}"/>
                  </a:ext>
                </a:extLst>
              </p:cNvPr>
              <p:cNvSpPr txBox="1"/>
              <p:nvPr/>
            </p:nvSpPr>
            <p:spPr>
              <a:xfrm>
                <a:off x="2441813" y="5703163"/>
                <a:ext cx="6096000" cy="871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𝚷</m:t>
                          </m:r>
                        </m:e>
                        <m:sub>
                          <m:r>
                            <a:rPr lang="es-419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𝐀𝐥𝐞𝐦𝐚𝐧𝐢𝐚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=1,022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∙1,018∙1,019=1,059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27C988F-322D-8453-B596-43493FC5E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813" y="5703163"/>
                <a:ext cx="6096000" cy="871072"/>
              </a:xfrm>
              <a:prstGeom prst="rect">
                <a:avLst/>
              </a:prstGeom>
              <a:blipFill>
                <a:blip r:embed="rId3"/>
                <a:stretch>
                  <a:fillRect t="-95652" b="-1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B0495D45-6915-9629-7416-B871CE128F32}"/>
              </a:ext>
            </a:extLst>
          </p:cNvPr>
          <p:cNvSpPr txBox="1"/>
          <p:nvPr/>
        </p:nvSpPr>
        <p:spPr>
          <a:xfrm>
            <a:off x="8925903" y="4880913"/>
            <a:ext cx="2634915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000" dirty="0">
                <a:solidFill>
                  <a:srgbClr val="00B050"/>
                </a:solidFill>
              </a:rPr>
              <a:t>Observación: En 3 años, el nivel de precios en España sube 7,6%, mientras que en Alemania, solo 5,9%.</a:t>
            </a:r>
          </a:p>
        </p:txBody>
      </p:sp>
    </p:spTree>
    <p:extLst>
      <p:ext uri="{BB962C8B-B14F-4D97-AF65-F5344CB8AC3E}">
        <p14:creationId xmlns:p14="http://schemas.microsoft.com/office/powerpoint/2010/main" val="443304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E3316-62BF-125F-AF25-05C9159B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r>
              <a:rPr lang="en-US" dirty="0"/>
              <a:t>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9CA82A-FF5A-DF8F-D51D-446F19337DD4}"/>
              </a:ext>
            </a:extLst>
          </p:cNvPr>
          <p:cNvSpPr txBox="1"/>
          <p:nvPr/>
        </p:nvSpPr>
        <p:spPr>
          <a:xfrm>
            <a:off x="423726" y="1971841"/>
            <a:ext cx="111870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400" dirty="0" err="1">
                <a:solidFill>
                  <a:schemeClr val="tx2"/>
                </a:solidFill>
              </a:rPr>
              <a:t>Posteriormente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calculamos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</a:t>
            </a:r>
            <a:r>
              <a:rPr lang="en-US" sz="2400" dirty="0">
                <a:solidFill>
                  <a:schemeClr val="tx2"/>
                </a:solidFill>
              </a:rPr>
              <a:t> factor nominal </a:t>
            </a:r>
            <a:r>
              <a:rPr lang="en-US" sz="2400" dirty="0" err="1">
                <a:solidFill>
                  <a:schemeClr val="tx2"/>
                </a:solidFill>
              </a:rPr>
              <a:t>acumulado</a:t>
            </a:r>
            <a:r>
              <a:rPr lang="en-US" sz="2400" dirty="0">
                <a:solidFill>
                  <a:schemeClr val="tx2"/>
                </a:solidFill>
              </a:rPr>
              <a:t> y la </a:t>
            </a:r>
            <a:r>
              <a:rPr lang="en-US" sz="2400" dirty="0" err="1">
                <a:solidFill>
                  <a:schemeClr val="tx2"/>
                </a:solidFill>
              </a:rPr>
              <a:t>tasa</a:t>
            </a:r>
            <a:r>
              <a:rPr lang="en-US" sz="2400" dirty="0">
                <a:solidFill>
                  <a:schemeClr val="tx2"/>
                </a:solidFill>
              </a:rPr>
              <a:t> real </a:t>
            </a:r>
            <a:r>
              <a:rPr lang="en-US" sz="2400" dirty="0" err="1">
                <a:solidFill>
                  <a:schemeClr val="tx2"/>
                </a:solidFill>
              </a:rPr>
              <a:t>anualizada</a:t>
            </a:r>
            <a:r>
              <a:rPr lang="en-US" sz="2400" dirty="0">
                <a:solidFill>
                  <a:schemeClr val="tx2"/>
                </a:solidFill>
              </a:rPr>
              <a:t> para </a:t>
            </a:r>
            <a:r>
              <a:rPr lang="en-US" sz="2400" dirty="0" err="1">
                <a:solidFill>
                  <a:schemeClr val="tx2"/>
                </a:solidFill>
              </a:rPr>
              <a:t>cada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país</a:t>
            </a:r>
            <a:r>
              <a:rPr lang="en-US" sz="2400" dirty="0">
                <a:solidFill>
                  <a:schemeClr val="tx2"/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D2368B4-9967-111E-540E-9F3AC7659250}"/>
                  </a:ext>
                </a:extLst>
              </p:cNvPr>
              <p:cNvSpPr txBox="1"/>
              <p:nvPr/>
            </p:nvSpPr>
            <p:spPr>
              <a:xfrm>
                <a:off x="0" y="2690183"/>
                <a:ext cx="7267157" cy="848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𝑁𝑜𝑚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𝐴𝑐𝑢𝑚𝑢𝑙𝑎𝑑𝑎</m:t>
                          </m:r>
                        </m:sub>
                      </m:sSub>
                      <m:r>
                        <a:rPr lang="es-419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419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s-419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18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419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s-419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∙…</m:t>
                          </m:r>
                          <m:sSub>
                            <m:sSubPr>
                              <m:ctrlP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b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D2368B4-9967-111E-540E-9F3AC7659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90183"/>
                <a:ext cx="7267157" cy="848502"/>
              </a:xfrm>
              <a:prstGeom prst="rect">
                <a:avLst/>
              </a:prstGeom>
              <a:blipFill>
                <a:blip r:embed="rId2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E3FD029F-BAAB-70F6-7A82-BC5E7F0CFA5E}"/>
                  </a:ext>
                </a:extLst>
              </p:cNvPr>
              <p:cNvSpPr txBox="1"/>
              <p:nvPr/>
            </p:nvSpPr>
            <p:spPr>
              <a:xfrm>
                <a:off x="7767679" y="2834983"/>
                <a:ext cx="3843130" cy="427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𝑵𝒐𝒎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𝑨𝒄𝒖𝒎𝒖𝒍𝒂𝒅𝒂</m:t>
                          </m:r>
                        </m:sub>
                      </m:sSub>
                      <m:r>
                        <a:rPr lang="es-419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%)</m:t>
                          </m:r>
                        </m:e>
                        <m:sup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E3FD029F-BAAB-70F6-7A82-BC5E7F0C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679" y="2834983"/>
                <a:ext cx="3843130" cy="427618"/>
              </a:xfrm>
              <a:prstGeom prst="rect">
                <a:avLst/>
              </a:prstGeom>
              <a:blipFill>
                <a:blip r:embed="rId3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3876EBD7-6E3E-A83A-1969-CE28F8836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113" y="3519158"/>
            <a:ext cx="5087075" cy="536005"/>
          </a:xfrm>
        </p:spPr>
        <p:txBody>
          <a:bodyPr/>
          <a:lstStyle/>
          <a:p>
            <a:r>
              <a:rPr lang="en-US" dirty="0"/>
              <a:t>Tasa Real </a:t>
            </a:r>
            <a:r>
              <a:rPr lang="en-US" dirty="0" err="1"/>
              <a:t>Anual</a:t>
            </a:r>
            <a:r>
              <a:rPr lang="en-US" dirty="0"/>
              <a:t> España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Marcador de contenido 3">
                <a:extLst>
                  <a:ext uri="{FF2B5EF4-FFF2-40B4-BE49-F238E27FC236}">
                    <a16:creationId xmlns:a16="http://schemas.microsoft.com/office/drawing/2014/main" id="{18D21A0B-4939-EDAE-9D47-C159F2E35E0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08113" y="4071799"/>
                <a:ext cx="5393100" cy="1977198"/>
              </a:xfrm>
              <a:ln>
                <a:solidFill>
                  <a:schemeClr val="accent2"/>
                </a:solidFill>
              </a:ln>
            </p:spPr>
            <p:txBody>
              <a:bodyPr>
                <a:normAutofit/>
              </a:bodyPr>
              <a:lstStyle/>
              <a:p>
                <a:r>
                  <a:rPr lang="en-US" sz="2000" dirty="0" err="1"/>
                  <a:t>Inflación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Acumulada</a:t>
                </a:r>
                <a:r>
                  <a:rPr lang="en-US" sz="200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419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𝜫</m:t>
                        </m:r>
                      </m:e>
                      <m:sub>
                        <m:r>
                          <a:rPr lang="es-419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𝑬𝒔𝒑𝒂</m:t>
                        </m:r>
                        <m:r>
                          <a:rPr lang="es-419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ñ</m:t>
                        </m:r>
                        <m:r>
                          <a:rPr lang="es-419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s-419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=1,076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8" name="Marcador de contenido 3">
                <a:extLst>
                  <a:ext uri="{FF2B5EF4-FFF2-40B4-BE49-F238E27FC236}">
                    <a16:creationId xmlns:a16="http://schemas.microsoft.com/office/drawing/2014/main" id="{18D21A0B-4939-EDAE-9D47-C159F2E35E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08113" y="4071799"/>
                <a:ext cx="5393100" cy="1977198"/>
              </a:xfrm>
              <a:blipFill>
                <a:blip r:embed="rId4"/>
                <a:stretch>
                  <a:fillRect l="-468" t="-1911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Marcador de texto 4">
            <a:extLst>
              <a:ext uri="{FF2B5EF4-FFF2-40B4-BE49-F238E27FC236}">
                <a16:creationId xmlns:a16="http://schemas.microsoft.com/office/drawing/2014/main" id="{B185B470-1B00-A6A1-B7FB-FC1941B80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709" y="3521493"/>
            <a:ext cx="5087073" cy="553373"/>
          </a:xfrm>
        </p:spPr>
        <p:txBody>
          <a:bodyPr/>
          <a:lstStyle/>
          <a:p>
            <a:r>
              <a:rPr lang="en-US" dirty="0"/>
              <a:t>Tasa Real </a:t>
            </a:r>
            <a:r>
              <a:rPr lang="en-US" dirty="0" err="1"/>
              <a:t>Anual</a:t>
            </a:r>
            <a:r>
              <a:rPr lang="en-US" dirty="0"/>
              <a:t> Alemania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Marcador de contenido 5">
                <a:extLst>
                  <a:ext uri="{FF2B5EF4-FFF2-40B4-BE49-F238E27FC236}">
                    <a16:creationId xmlns:a16="http://schemas.microsoft.com/office/drawing/2014/main" id="{7443BB75-389F-2ED5-A81E-9C38315DBF82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217709" y="4071799"/>
                <a:ext cx="5393100" cy="1977197"/>
              </a:xfrm>
              <a:ln>
                <a:solidFill>
                  <a:schemeClr val="accent2"/>
                </a:solidFill>
              </a:ln>
            </p:spPr>
            <p:txBody>
              <a:bodyPr>
                <a:normAutofit/>
              </a:bodyPr>
              <a:lstStyle/>
              <a:p>
                <a:r>
                  <a:rPr lang="en-US" sz="2000" dirty="0" err="1"/>
                  <a:t>Inflación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Acumulada</a:t>
                </a:r>
                <a:r>
                  <a:rPr lang="en-US" sz="200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419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𝜫</m:t>
                        </m:r>
                      </m:e>
                      <m:sub>
                        <m:r>
                          <a:rPr lang="es-419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𝑨𝒍𝒆𝒎𝒂𝒏𝒊𝒂</m:t>
                        </m:r>
                      </m:sub>
                    </m:sSub>
                    <m:r>
                      <a:rPr lang="es-419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1,059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0" name="Marcador de contenido 5">
                <a:extLst>
                  <a:ext uri="{FF2B5EF4-FFF2-40B4-BE49-F238E27FC236}">
                    <a16:creationId xmlns:a16="http://schemas.microsoft.com/office/drawing/2014/main" id="{7443BB75-389F-2ED5-A81E-9C38315DBF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217709" y="4071799"/>
                <a:ext cx="5393100" cy="1977197"/>
              </a:xfrm>
              <a:blipFill>
                <a:blip r:embed="rId5"/>
                <a:stretch>
                  <a:fillRect l="-469" t="-1911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5BEB2210-7B40-4FA2-4020-C97FDCF45CAB}"/>
                  </a:ext>
                </a:extLst>
              </p:cNvPr>
              <p:cNvSpPr txBox="1"/>
              <p:nvPr/>
            </p:nvSpPr>
            <p:spPr>
              <a:xfrm>
                <a:off x="508113" y="5265833"/>
                <a:ext cx="4663452" cy="783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𝐴𝑛𝑢𝑎𝑙</m:t>
                          </m:r>
                        </m:sub>
                      </m:sSub>
                      <m:r>
                        <a:rPr lang="es-419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(1,11)</m:t>
                                      </m:r>
                                    </m:e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(1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,076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  <m:r>
                        <a:rPr lang="es-419" sz="1800" b="0" i="1" smtClean="0">
                          <a:latin typeface="Cambria Math" panose="02040503050406030204" pitchFamily="18" charset="0"/>
                        </a:rPr>
                        <m:t>−1=</m:t>
                      </m:r>
                      <m:r>
                        <a:rPr lang="es-419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419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𝟐𝟗</m:t>
                      </m:r>
                      <m:r>
                        <a:rPr lang="es-419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s-419" sz="1800" b="1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5BEB2210-7B40-4FA2-4020-C97FDCF45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13" y="5265833"/>
                <a:ext cx="4663452" cy="783163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15E758C2-0748-C670-2E3B-DF823C23F6A0}"/>
                  </a:ext>
                </a:extLst>
              </p:cNvPr>
              <p:cNvSpPr txBox="1"/>
              <p:nvPr/>
            </p:nvSpPr>
            <p:spPr>
              <a:xfrm>
                <a:off x="6017267" y="5265832"/>
                <a:ext cx="5064236" cy="783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𝐴𝑛𝑢𝑎𝑙</m:t>
                          </m:r>
                        </m:sub>
                      </m:sSub>
                      <m:r>
                        <a:rPr lang="es-419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(1,11)</m:t>
                                      </m:r>
                                    </m:e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(1,0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59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  <m:r>
                        <a:rPr lang="es-419" i="1">
                          <a:latin typeface="Cambria Math" panose="02040503050406030204" pitchFamily="18" charset="0"/>
                        </a:rPr>
                        <m:t>−1=</m:t>
                      </m:r>
                      <m:r>
                        <a:rPr lang="es-419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419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𝟖𝟔</m:t>
                      </m:r>
                      <m:r>
                        <a:rPr lang="es-419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s-419" sz="1800" b="1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15E758C2-0748-C670-2E3B-DF823C23F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267" y="5265832"/>
                <a:ext cx="5064236" cy="783163"/>
              </a:xfrm>
              <a:prstGeom prst="rect">
                <a:avLst/>
              </a:prstGeom>
              <a:blipFill>
                <a:blip r:embed="rId7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Flecha izquierda 42">
            <a:extLst>
              <a:ext uri="{FF2B5EF4-FFF2-40B4-BE49-F238E27FC236}">
                <a16:creationId xmlns:a16="http://schemas.microsoft.com/office/drawing/2014/main" id="{DBF29CE2-7531-4785-04D3-3F84128E90F4}"/>
              </a:ext>
            </a:extLst>
          </p:cNvPr>
          <p:cNvSpPr/>
          <p:nvPr/>
        </p:nvSpPr>
        <p:spPr>
          <a:xfrm flipH="1">
            <a:off x="6907037" y="2892929"/>
            <a:ext cx="720240" cy="447931"/>
          </a:xfrm>
          <a:prstGeom prst="leftArrow">
            <a:avLst/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42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A497-3069-01D0-18B9-323C07A3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ADCBC-D8F0-7F86-E471-57FBB01B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4E3117-CDCC-158E-1C27-140ABF60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20</a:t>
            </a:fld>
            <a:endParaRPr lang="en-US" sz="180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ECD5DDF-5471-97E3-EA34-1F999BAEBE9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AD641FC0-80A6-FEF7-06CA-746EDB865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B3BA802-323B-428D-5484-41106C2A855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CBEDC69-1CC4-5E88-C22F-D75D017C4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302" y="3188545"/>
            <a:ext cx="2832733" cy="222799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AEFCB6-336E-89F6-0A78-7AA3170C7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95" y="2180497"/>
            <a:ext cx="8272211" cy="3678303"/>
          </a:xfrm>
        </p:spPr>
        <p:txBody>
          <a:bodyPr>
            <a:normAutofit/>
          </a:bodyPr>
          <a:lstStyle/>
          <a:p>
            <a:pPr algn="just"/>
            <a:r>
              <a:rPr lang="es-ES_tradnl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Recordemos, todo costo de oportunidad está conformado por dos componentes:</a:t>
            </a:r>
          </a:p>
          <a:p>
            <a:pPr algn="just"/>
            <a:endParaRPr lang="es-ES_tradnl" sz="2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sz="2400" b="1" i="1" dirty="0">
                <a:solidFill>
                  <a:srgbClr val="C00000"/>
                </a:solidFill>
                <a:latin typeface="Century Gothic" panose="020B0502020202020204" pitchFamily="34" charset="0"/>
              </a:rPr>
              <a:t>C.O. = Tasa libre de riesgo + Prima por Riesgo</a:t>
            </a:r>
          </a:p>
        </p:txBody>
      </p:sp>
    </p:spTree>
    <p:extLst>
      <p:ext uri="{BB962C8B-B14F-4D97-AF65-F5344CB8AC3E}">
        <p14:creationId xmlns:p14="http://schemas.microsoft.com/office/powerpoint/2010/main" val="165959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EJEMPLO 4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581192" y="2304109"/>
                <a:ext cx="8464697" cy="3212771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s-ES_tradnl" sz="2400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Ejemplo:</a:t>
                </a:r>
              </a:p>
              <a:p>
                <a:pPr marL="0" indent="0" algn="just">
                  <a:buNone/>
                </a:pPr>
                <a:r>
                  <a:rPr lang="es-ES_tradnl" sz="2000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Suponga un banco que le ofrece una tasa de interés del 6% NA/SV </a:t>
                </a:r>
                <a:r>
                  <a:rPr lang="es-ES_tradnl" sz="2000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(6.09% EA). </a:t>
                </a:r>
              </a:p>
              <a:p>
                <a:pPr marL="0" indent="0" algn="just">
                  <a:buNone/>
                </a:pPr>
                <a:r>
                  <a:rPr lang="es-ES_tradnl" sz="2000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Dentro de dicha tasa, debe existir (Según la Ecuación de Fisher): </a:t>
                </a:r>
              </a:p>
              <a:p>
                <a:pPr marL="0" indent="0" algn="just">
                  <a:buNone/>
                </a:pPr>
                <a:endParaRPr lang="es-ES_tradnl" sz="24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_tradnl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𝒏𝒐𝒎𝒊𝒏𝒂𝒍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𝒄𝒐𝒓𝒓𝒊𝒆𝒏𝒕𝒆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s-ES_tradnl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O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𝒓𝒆𝒂𝒍</m:t>
                              </m:r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s-CO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𝒄𝒐𝒏𝒔𝒕𝒂𝒏𝒕𝒆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d>
                        <m:dPr>
                          <m:ctrlPr>
                            <a:rPr lang="es-CO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𝒊𝒏𝒇𝒍𝒂𝒄𝒊</m:t>
                              </m:r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sz="2400" b="1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304109"/>
                <a:ext cx="8464697" cy="3212771"/>
              </a:xfrm>
              <a:blipFill>
                <a:blip r:embed="rId2"/>
                <a:stretch>
                  <a:fillRect l="-1080" r="-72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21</a:t>
            </a:fld>
            <a:endParaRPr lang="en-US" sz="1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D1BD194-6719-EA9D-16C9-FC99A7A57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889" y="2961846"/>
            <a:ext cx="2441136" cy="149894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01F7363-0234-66F1-B80B-5750FE96FC3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4B0F58DD-7B40-6337-C7FC-E9F7A6211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E554093-B6F7-D5C0-64FC-A9633C0539E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427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6474B-D657-7697-A526-FF590E05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B6286-E8A7-FF9E-4EFD-ABF3D087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EJEMPLO 4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F65E13D-A564-4B66-0BE7-CD8421069C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8175" y="1828801"/>
                <a:ext cx="11195649" cy="491108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s-CO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Componente Real:  </a:t>
                </a:r>
                <a:r>
                  <a:rPr lang="es-CO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Separamos el componente de inflación para tener la parte Real</a:t>
                </a:r>
              </a:p>
              <a:p>
                <a:pPr marL="0" indent="0" algn="ctr">
                  <a:buNone/>
                </a:pP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Suponer que la inflación esperada es del 3.5 % anual.</a:t>
                </a:r>
                <a:b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</a:br>
                <a14:m>
                  <m:oMath xmlns:m="http://schemas.openxmlformats.org/officeDocument/2006/math">
                    <m:r>
                      <a:rPr lang="es-419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  <m:r>
                      <a:rPr lang="es-419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1+0.0609</m:t>
                        </m:r>
                      </m:num>
                      <m:den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1+0.035</m:t>
                        </m:r>
                      </m:den>
                    </m:f>
                    <m:r>
                      <a:rPr lang="es-419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−1=2.5%</m:t>
                    </m:r>
                  </m:oMath>
                </a14:m>
                <a:r>
                  <a:rPr lang="es-ES_tradnl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,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s-419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𝒓𝒆𝒂𝒍</m:t>
                        </m:r>
                      </m:sub>
                    </m:sSub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endParaRPr lang="es-CO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Sin embargo, ese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</m:oMath>
                </a14:m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 tiene dos partes</a:t>
                </a:r>
                <a:endParaRPr lang="es-ES_tradnl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s-ES_tradnl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1) Tasa libre de riesgo (VDT)</a:t>
                </a:r>
                <a:r>
                  <a:rPr lang="es-ES_tradnl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: </a:t>
                </a:r>
                <a:r>
                  <a:rPr lang="es-ES_tradnl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Es la remuneración por aplazar el consumo hoy (ej. Ante un bono soberano).  Valor aproximado: 2%</a:t>
                </a:r>
              </a:p>
              <a:p>
                <a:pPr marL="0" indent="0" algn="just">
                  <a:buNone/>
                </a:pPr>
                <a:r>
                  <a:rPr lang="es-ES_tradnl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2) Prima de Riesgo</a:t>
                </a:r>
                <a:r>
                  <a:rPr lang="es-ES_tradnl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: </a:t>
                </a:r>
                <a:r>
                  <a:rPr lang="es-ES_tradnl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Compensación por riesgos adicionales (riesgo de crédito, mercado, liquidez, </a:t>
                </a:r>
                <a:r>
                  <a:rPr lang="es-ES_tradnl" dirty="0" err="1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etc</a:t>
                </a:r>
                <a:r>
                  <a:rPr lang="es-ES_tradnl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). Valor aproximado: 0.50%</a:t>
                </a:r>
                <a:r>
                  <a:rPr lang="es-ES_tradnl" dirty="0">
                    <a:latin typeface="Century Gothic" panose="020B0502020202020204" pitchFamily="34" charset="0"/>
                  </a:rPr>
                  <a:t> </a:t>
                </a:r>
                <a:r>
                  <a:rPr lang="es-ES_tradnl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Así, la tasa nominal aproximada es: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𝑡𝑎𝑠𝑎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𝑛𝑜𝑚𝑖𝑛𝑎𝑙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 ≈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𝑡𝑎𝑠𝑎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𝑟𝑒𝑎𝑙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𝑖𝑛𝑓𝑙𝑎𝑐𝑖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ó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=2.00%+0.5%+3.5%≈6 %</m:t>
                    </m:r>
                  </m:oMath>
                </a14:m>
                <a:r>
                  <a:rPr lang="es-CO" dirty="0">
                    <a:latin typeface="Century Gothic" panose="020B0502020202020204" pitchFamily="34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Y de manera más precisa (</a:t>
                </a:r>
                <a:r>
                  <a:rPr lang="es-CO" dirty="0" err="1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Ec</a:t>
                </a: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. Fisher):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𝑛𝑜𝑚𝑖𝑛𝑎𝑙</m:t>
                          </m:r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𝑐𝑜𝑟𝑟𝑖𝑒𝑛𝑡𝑒</m:t>
                          </m:r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s-ES_tradnl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O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CO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𝑟𝑒𝑎𝑙</m:t>
                              </m:r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s-CO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𝑐𝑜𝑛𝑠𝑡𝑎𝑛𝑡𝑒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d>
                        <m:dPr>
                          <m:ctrlPr>
                            <a:rPr lang="es-CO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CO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𝑖𝑛𝑓𝑙𝑎𝑐𝑖</m:t>
                              </m:r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dirty="0">
                  <a:latin typeface="Century Gothic" panose="020B0502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s-CO" dirty="0"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𝑛𝑜𝑚𝑖𝑛𝑎𝑙</m:t>
                        </m:r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𝑐𝑜𝑟𝑟𝑖𝑒𝑛𝑡𝑒</m:t>
                        </m:r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s-ES_tradnl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O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s-419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2.5%</m:t>
                        </m:r>
                      </m:e>
                    </m:d>
                    <m:d>
                      <m:dPr>
                        <m:ctrlPr>
                          <a:rPr lang="es-CO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s-419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3.5%</m:t>
                        </m:r>
                      </m:e>
                    </m:d>
                    <m:r>
                      <a:rPr lang="es-419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−1=</m:t>
                    </m:r>
                  </m:oMath>
                </a14:m>
                <a:r>
                  <a:rPr lang="es-419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419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s-419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419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𝟎𝟗</m:t>
                    </m:r>
                    <m:r>
                      <a:rPr lang="es-419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s-CO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 EA</a:t>
                </a:r>
                <a:endParaRPr lang="es-ES_tradnl" b="1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F65E13D-A564-4B66-0BE7-CD8421069C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8175" y="1828801"/>
                <a:ext cx="11195649" cy="4911089"/>
              </a:xfrm>
              <a:blipFill>
                <a:blip r:embed="rId2"/>
                <a:stretch>
                  <a:fillRect l="-490" r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888545-A096-06A3-CDEB-292D5E57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22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148FF55-1534-8AE9-E066-F73587BA511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57881F69-142B-5E0B-6193-51CB57D66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660AE5C-6B53-260D-17A6-0BB4BDDB2F8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96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9B5DE-822B-B8D7-A5D4-B2B715D7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82AF1-1167-F82C-EA80-B3866F7A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dependientes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ECB96B-2FAB-7796-768E-27831B664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93251"/>
            <a:ext cx="8464697" cy="234671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_tradnl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Las tasas ofrecidas en el mercado ya incorporan un componente inflacionario. Es decir, son </a:t>
            </a:r>
            <a:r>
              <a:rPr lang="es-ES_tradnl" sz="2400" b="1" i="1" dirty="0">
                <a:solidFill>
                  <a:srgbClr val="C00000"/>
                </a:solidFill>
                <a:latin typeface="Century Gothic" panose="020B0502020202020204" pitchFamily="34" charset="0"/>
              </a:rPr>
              <a:t>tasas nominales.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110F26-ABB2-9E8B-1FE6-C954D1D6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23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112032A-E99F-6EEF-A21F-BA2C98A6B45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3098E92C-C5F9-39B3-9885-E45A13AAB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5D753A5-1CD2-5761-984E-4FF7616E252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2C3CE65-23BB-19F1-1B92-86F8AD0D7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940" y="3581034"/>
            <a:ext cx="3489897" cy="255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18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E1A1-0169-87A3-C167-CA8209DA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6D315-A5F6-13D9-85AC-D47D4376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EAF2EF-2A3C-8882-2423-3EC512943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24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698AD39-3AA3-7771-DFE3-7E42D64DC33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F9C9CF37-E737-890D-00F0-1D27B36C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B58AA1E-7F04-6F58-A3CD-037E2F04A81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3B2967-D21A-7ED5-5910-344C77FCE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885" y="3686613"/>
            <a:ext cx="7159903" cy="2269524"/>
          </a:xfrm>
        </p:spPr>
        <p:txBody>
          <a:bodyPr>
            <a:normAutofit/>
          </a:bodyPr>
          <a:lstStyle/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Recordemos que el WACC se estima a partir de los costos de las fuentes de financiación; costos de mercado expresados en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términos  nominales</a:t>
            </a:r>
            <a:r>
              <a:rPr lang="es-ES_tradnl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.</a:t>
            </a:r>
          </a:p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Así las cosas, resulta lógico que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si</a:t>
            </a:r>
            <a:r>
              <a:rPr lang="es-ES_tradnl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el WACC </a:t>
            </a:r>
            <a:r>
              <a:rPr lang="es-ES_tradnl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(tasa de descuento)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 incorpora un componente inflacionario, también lo hagan los flujos de caja</a:t>
            </a:r>
            <a:r>
              <a:rPr lang="es-ES_tradnl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BBED58-C2C8-1A59-181D-0AD251097EE3}"/>
              </a:ext>
            </a:extLst>
          </p:cNvPr>
          <p:cNvSpPr txBox="1"/>
          <p:nvPr/>
        </p:nvSpPr>
        <p:spPr>
          <a:xfrm>
            <a:off x="841681" y="2414592"/>
            <a:ext cx="7004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¿El </a:t>
            </a:r>
            <a:r>
              <a:rPr lang="es-ES_tradnl" sz="2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WACC</a:t>
            </a: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 que hemos calculado está expresado en términos nominales o reales?</a:t>
            </a:r>
          </a:p>
        </p:txBody>
      </p:sp>
      <p:pic>
        <p:nvPicPr>
          <p:cNvPr id="12" name="Picture 2" descr="Dibujos Animados De Contabilidad Imágenes y Fotos - 123RF">
            <a:extLst>
              <a:ext uri="{FF2B5EF4-FFF2-40B4-BE49-F238E27FC236}">
                <a16:creationId xmlns:a16="http://schemas.microsoft.com/office/drawing/2014/main" id="{ECF541E9-A7C6-DE30-13FD-51133AFBD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9257" y="2556568"/>
            <a:ext cx="2762765" cy="269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46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25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C4F215-CF73-212D-0CFC-70A0A418BF1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2683A3B6-9CF8-D3FF-9294-5A65CACD1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FB39CC8-9419-7FE2-9702-4E66C992FA6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35D215F-360E-A49D-ECD3-65E26ACC3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12" y="2127675"/>
            <a:ext cx="8680321" cy="148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incorporar la inflación en nuestro análisis?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Evaluación de proyectos en pesos corrientes (nominales)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Evaluación de proyectos en pesos constantes (reales)</a:t>
            </a:r>
            <a:endParaRPr lang="es-ES_tradnl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8320D9A-4B8A-ABF0-1101-C8DA84215383}"/>
              </a:ext>
            </a:extLst>
          </p:cNvPr>
          <p:cNvSpPr txBox="1"/>
          <p:nvPr/>
        </p:nvSpPr>
        <p:spPr>
          <a:xfrm>
            <a:off x="3621157" y="4389068"/>
            <a:ext cx="7678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¿Cuál metodología dará un mayor valor?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9BBE627-5EC1-0E16-3614-5BEB40483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91888" y="3839831"/>
            <a:ext cx="2979192" cy="190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44B94-7B86-3948-F22A-6282EDDE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5815-6244-FE3D-098F-7D0C13F2C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737C8-7BA7-EA54-887D-67704DFC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26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A34004B-F391-8DBB-C749-1E156BD66F1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7EE7CE6-880B-85D3-009C-D5A831D39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F72756A-CCB4-978B-0E90-0E362A04296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D4C0B3E-5792-59E6-4B44-88A388CD3BEE}"/>
              </a:ext>
            </a:extLst>
          </p:cNvPr>
          <p:cNvSpPr txBox="1"/>
          <p:nvPr/>
        </p:nvSpPr>
        <p:spPr>
          <a:xfrm>
            <a:off x="641965" y="2147382"/>
            <a:ext cx="109080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Sin importar que metodología se utilice, se deberán </a:t>
            </a:r>
            <a:r>
              <a:rPr lang="es-ES_tradnl" sz="28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obtener los mismos resultados</a:t>
            </a:r>
            <a:endParaRPr lang="es-ES_tradnl" sz="24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3" name="Straight Connector 5">
            <a:extLst>
              <a:ext uri="{FF2B5EF4-FFF2-40B4-BE49-F238E27FC236}">
                <a16:creationId xmlns:a16="http://schemas.microsoft.com/office/drawing/2014/main" id="{DAC64FE6-666C-CCFE-91BB-6337FA1E0E37}"/>
              </a:ext>
            </a:extLst>
          </p:cNvPr>
          <p:cNvCxnSpPr/>
          <p:nvPr/>
        </p:nvCxnSpPr>
        <p:spPr>
          <a:xfrm>
            <a:off x="6521669" y="3422057"/>
            <a:ext cx="0" cy="289920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9ED1E189-6ECC-7952-1E2F-98546704CBC3}"/>
              </a:ext>
            </a:extLst>
          </p:cNvPr>
          <p:cNvSpPr txBox="1"/>
          <p:nvPr/>
        </p:nvSpPr>
        <p:spPr>
          <a:xfrm>
            <a:off x="3415728" y="3837561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FCL (Nominal)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47482D83-0200-EA32-EA24-0D7EAB7E5132}"/>
              </a:ext>
            </a:extLst>
          </p:cNvPr>
          <p:cNvSpPr txBox="1"/>
          <p:nvPr/>
        </p:nvSpPr>
        <p:spPr>
          <a:xfrm>
            <a:off x="7490668" y="3837561"/>
            <a:ext cx="1680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FCL (Real)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45C68B7E-0493-18F7-8009-A9C31509127D}"/>
              </a:ext>
            </a:extLst>
          </p:cNvPr>
          <p:cNvSpPr txBox="1"/>
          <p:nvPr/>
        </p:nvSpPr>
        <p:spPr>
          <a:xfrm>
            <a:off x="3184094" y="5149643"/>
            <a:ext cx="2739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WACC (Nominal)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9B2AC7B1-1138-30CF-1815-8C5958FD10FB}"/>
              </a:ext>
            </a:extLst>
          </p:cNvPr>
          <p:cNvSpPr txBox="1"/>
          <p:nvPr/>
        </p:nvSpPr>
        <p:spPr>
          <a:xfrm>
            <a:off x="7312296" y="5163552"/>
            <a:ext cx="2143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WACC (Real)</a:t>
            </a:r>
          </a:p>
        </p:txBody>
      </p:sp>
      <p:sp>
        <p:nvSpPr>
          <p:cNvPr id="18" name="Down Arrow 11">
            <a:extLst>
              <a:ext uri="{FF2B5EF4-FFF2-40B4-BE49-F238E27FC236}">
                <a16:creationId xmlns:a16="http://schemas.microsoft.com/office/drawing/2014/main" id="{6CE5137B-EC06-47F6-7DA5-3AE3837289A5}"/>
              </a:ext>
            </a:extLst>
          </p:cNvPr>
          <p:cNvSpPr/>
          <p:nvPr/>
        </p:nvSpPr>
        <p:spPr>
          <a:xfrm>
            <a:off x="4342358" y="4445733"/>
            <a:ext cx="423325" cy="557403"/>
          </a:xfrm>
          <a:prstGeom prst="downArrow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latin typeface="Century Gothic" panose="020B0502020202020204" pitchFamily="34" charset="0"/>
            </a:endParaRPr>
          </a:p>
        </p:txBody>
      </p:sp>
      <p:sp>
        <p:nvSpPr>
          <p:cNvPr id="19" name="Down Arrow 12">
            <a:extLst>
              <a:ext uri="{FF2B5EF4-FFF2-40B4-BE49-F238E27FC236}">
                <a16:creationId xmlns:a16="http://schemas.microsoft.com/office/drawing/2014/main" id="{A49361F6-7F7B-89A3-DE7B-58D60092E520}"/>
              </a:ext>
            </a:extLst>
          </p:cNvPr>
          <p:cNvSpPr/>
          <p:nvPr/>
        </p:nvSpPr>
        <p:spPr>
          <a:xfrm>
            <a:off x="8153115" y="4452687"/>
            <a:ext cx="423325" cy="557403"/>
          </a:xfrm>
          <a:prstGeom prst="downArrow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438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10755-2485-92EC-6559-69FCDD71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EB05-AAB2-ED1E-EEC1-C7A78516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Precios corrientes (Nominales)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1D566-114F-DFF5-21B5-A2589276C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27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F73C56C-34F2-337E-199E-23BC8F6E2E0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57E2F05-90FD-493D-9A69-D24A0438B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2D1C349-1657-502E-6DEC-080816E9295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Marcador de contenido 23">
            <a:extLst>
              <a:ext uri="{FF2B5EF4-FFF2-40B4-BE49-F238E27FC236}">
                <a16:creationId xmlns:a16="http://schemas.microsoft.com/office/drawing/2014/main" id="{06B411E7-100F-245E-206D-362990CE9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8392"/>
            <a:ext cx="11029615" cy="20071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Los precios se proyectan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incluyendo, entre otros, el efecto de la inflación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es decir, con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crecimientos nominales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. Los flujos de caja reflejan el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valor monetario esperado en el momento futuro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sin ajustar por pérdida de poder adquisitivo. Los flujos se descuentan utilizando una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tasa de descuento nominal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que también incluye inflación.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18A34A98-A55D-A7DF-7B6D-FA67662AA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495799" y="4022244"/>
            <a:ext cx="32004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50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1C08B-4CF8-E499-BA28-9CACD9993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D97B-9283-683E-DF57-877167D8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Precios constantes (reales)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32E43-3EF3-FA17-F583-5C0BFC02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28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5173BEB-28B6-FE2A-8B16-5E15D4589A6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A1A4550-A48A-B1BA-0B8B-03B5A1F59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B17DEF1-1993-7E6D-E057-0752A4248AC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Marcador de contenido 23">
            <a:extLst>
              <a:ext uri="{FF2B5EF4-FFF2-40B4-BE49-F238E27FC236}">
                <a16:creationId xmlns:a16="http://schemas.microsoft.com/office/drawing/2014/main" id="{5CD2F27C-C619-00C9-DE1E-91CDC773A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26" y="2157242"/>
            <a:ext cx="11029615" cy="20071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Las proyecciones se realizan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sin incorporar el efecto de la inflación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mostrando valores en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términos de poder adquisitivo actual</a:t>
            </a:r>
            <a:r>
              <a:rPr lang="es-CO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. 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Para obtener estos flujos, se deben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deflactar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 los valores nominales usando la inflación esperada. Los flujos reales o constantes se descuentan (deflactan) con una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tasa de descuento real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es decir, libre del componente inflacionario.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000A5B-D9CF-28FE-21AE-271568F0C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545418" y="4271087"/>
            <a:ext cx="3568650" cy="200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22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A06CE-B751-0773-3EC2-081F835E2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D61C4-3DBC-5242-1B50-C1645D6D1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C8FE4252-244D-CF99-9058-C967CD71A8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A53F40E8-38FF-C63E-C084-A715B85127EC}"/>
              </a:ext>
            </a:extLst>
          </p:cNvPr>
          <p:cNvSpPr/>
          <p:nvPr/>
        </p:nvSpPr>
        <p:spPr>
          <a:xfrm>
            <a:off x="2806200" y="277272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Introducción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Precios Corrientes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Precios constantes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2A0002-8295-FCDA-8EF4-D160E01D4CA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A7185984-9C36-CC27-23ED-8E81FE155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1E89569-3781-8533-637F-B0D34D32F24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BD6B0EC-AAD2-FBCE-1E24-178EB655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29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535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EJEMPLO 5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2189" y="1989939"/>
            <a:ext cx="6982198" cy="4458158"/>
          </a:xfrm>
        </p:spPr>
        <p:txBody>
          <a:bodyPr anchor="t">
            <a:noAutofit/>
          </a:bodyPr>
          <a:lstStyle/>
          <a:p>
            <a:pPr marL="0" indent="0" algn="just">
              <a:buNone/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</a:t>
            </a:r>
            <a:r>
              <a:rPr lang="es-ES_tradnl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</a:p>
          <a:p>
            <a:pPr marL="0" indent="0" algn="just">
              <a:buNone/>
            </a:pP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Una compañía de insumos químicos está evaluando un nuevo proyecto de inversión que consiste en producir y distribuir un nuevo tipo de producto personal (cremas dentales).</a:t>
            </a:r>
          </a:p>
          <a:p>
            <a:pPr marL="0" indent="0" algn="just">
              <a:buNone/>
            </a:pP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La inversión en maquinaria es de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20 millones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, depreciable a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5 años en línea recta y sin valor de salvamento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Se esperan tener ventas de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1.000 unidades (constantes todo el proyecto). 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Actualmente, las cremas tienen un precio de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10.000 COP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. Los costos totales son el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25% de las ventas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. </a:t>
            </a:r>
          </a:p>
          <a:p>
            <a:pPr marL="0" indent="0" algn="just">
              <a:buNone/>
            </a:pPr>
            <a:r>
              <a:rPr lang="es-ES_tradnl" dirty="0">
                <a:solidFill>
                  <a:schemeClr val="accent1"/>
                </a:solidFill>
                <a:latin typeface="Century Gothic"/>
              </a:rPr>
              <a:t>El </a:t>
            </a:r>
            <a:r>
              <a:rPr lang="es-ES_tradnl" err="1">
                <a:solidFill>
                  <a:schemeClr val="accent1"/>
                </a:solidFill>
                <a:latin typeface="Century Gothic"/>
              </a:rPr>
              <a:t>WACC</a:t>
            </a:r>
            <a:r>
              <a:rPr lang="es-ES_tradnl" dirty="0">
                <a:solidFill>
                  <a:schemeClr val="accent1"/>
                </a:solidFill>
                <a:latin typeface="Century Gothic"/>
              </a:rPr>
              <a:t> de la compañía es del </a:t>
            </a:r>
            <a:r>
              <a:rPr lang="es-ES_tradnl" b="1" dirty="0">
                <a:solidFill>
                  <a:schemeClr val="accent1"/>
                </a:solidFill>
                <a:latin typeface="Century Gothic"/>
              </a:rPr>
              <a:t>15% </a:t>
            </a:r>
            <a:r>
              <a:rPr lang="es-ES_tradnl" b="1" err="1">
                <a:solidFill>
                  <a:schemeClr val="accent1"/>
                </a:solidFill>
                <a:latin typeface="Century Gothic"/>
              </a:rPr>
              <a:t>E.A</a:t>
            </a:r>
            <a:r>
              <a:rPr lang="es-ES_tradnl" dirty="0">
                <a:solidFill>
                  <a:schemeClr val="accent1"/>
                </a:solidFill>
                <a:latin typeface="Century Gothic"/>
              </a:rPr>
              <a:t>. La inflación anual es el </a:t>
            </a:r>
            <a:r>
              <a:rPr lang="es-ES_tradnl" b="1">
                <a:solidFill>
                  <a:schemeClr val="accent1"/>
                </a:solidFill>
                <a:latin typeface="Century Gothic"/>
              </a:rPr>
              <a:t>6% </a:t>
            </a:r>
            <a:r>
              <a:rPr lang="es-ES_tradnl" dirty="0">
                <a:solidFill>
                  <a:schemeClr val="accent1"/>
                </a:solidFill>
                <a:latin typeface="Century Gothic"/>
              </a:rPr>
              <a:t>y la tasa de impuestos es del </a:t>
            </a:r>
            <a:r>
              <a:rPr lang="es-ES_tradnl" b="1" dirty="0">
                <a:solidFill>
                  <a:schemeClr val="accent1"/>
                </a:solidFill>
                <a:latin typeface="Century Gothic"/>
              </a:rPr>
              <a:t>33%.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30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48A15CE-2EB9-961C-83BC-05B52564978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8BE75B0-2524-0C43-A847-011EECCE0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4526344-BD67-551F-5EB7-FD4FD8FD793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6F8BC46-6E3B-A8AF-5D6D-0802997A9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044" y="2038392"/>
            <a:ext cx="3825767" cy="391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5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EJEMPLO 5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965" y="2154740"/>
            <a:ext cx="10371622" cy="211771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_tradnl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Note que todas las cifras están expresadas en precios de hoy (corrientes  o nominales de 2025). </a:t>
            </a:r>
          </a:p>
          <a:p>
            <a:pPr marL="0" indent="0" algn="ctr">
              <a:buNone/>
            </a:pPr>
            <a:r>
              <a:rPr lang="es-ES_tradnl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Además, el </a:t>
            </a:r>
            <a:r>
              <a:rPr lang="es-ES_tradnl" sz="24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WACC</a:t>
            </a:r>
            <a:r>
              <a:rPr lang="es-ES_tradnl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 está expresado en </a:t>
            </a: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términos nominales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31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B16C4BD-2F94-BF8B-4E7C-8E0CA7854E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67907AE-B19F-6281-195D-FDAC7E6A4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B31DE06-2C43-239E-FC7B-F75C8E85275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Dibujos Animados Brillante Bombilla De Luz Amarilla. Idea Creativa.  Concepto De Inspiración. Ilustración De Vector Dibujado A Mano Aislada  Sobre Fondo Blanco. Ilustraciones svg, vectoriales, clip art vectorizado  libre de derechos. Image">
            <a:extLst>
              <a:ext uri="{FF2B5EF4-FFF2-40B4-BE49-F238E27FC236}">
                <a16:creationId xmlns:a16="http://schemas.microsoft.com/office/drawing/2014/main" id="{901B9BD2-F205-5514-9996-7475BE67A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71" y="4017856"/>
            <a:ext cx="2142117" cy="214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13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8F7F-EBA8-9290-3BC3-22501411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Excel repaso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6AA9F-03F7-A9A4-9557-BD4B5097D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solidFill>
                  <a:srgbClr val="FF0000"/>
                </a:solidFill>
              </a:rPr>
              <a:t>https://</a:t>
            </a:r>
            <a:r>
              <a:rPr lang="es-ES_tradnl" sz="3200" dirty="0" err="1">
                <a:solidFill>
                  <a:srgbClr val="FF0000"/>
                </a:solidFill>
              </a:rPr>
              <a:t>shorturl.at</a:t>
            </a:r>
            <a:r>
              <a:rPr lang="es-ES_tradnl" sz="3200" dirty="0">
                <a:solidFill>
                  <a:srgbClr val="FF0000"/>
                </a:solidFill>
              </a:rPr>
              <a:t>/</a:t>
            </a:r>
            <a:r>
              <a:rPr lang="es-ES_tradnl" sz="3200" dirty="0" err="1">
                <a:solidFill>
                  <a:srgbClr val="FF0000"/>
                </a:solidFill>
              </a:rPr>
              <a:t>yEPBT</a:t>
            </a:r>
            <a:endParaRPr lang="es-ES_tradnl" sz="32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78689-1E5A-86E0-106B-20456217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38190-5E20-018E-337C-B6A662C8A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207" y="1981846"/>
            <a:ext cx="37211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199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33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7D08D61-CF5D-5316-5125-7A6422CF891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2948DE3F-105D-49F4-8031-BADBF8089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32B4ADA-9601-AD16-F3DC-134698D6BE7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21D91CE6-0181-A527-AC00-BF5DDD724EE5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01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8DE2A-047D-93C7-7CEF-086BDA9E2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7D41F-0FE8-3859-CB15-31426F125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9BFAE-CB81-899E-1AC3-08BC6F8B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34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C32042-ADF3-AF75-DBB8-4ED77279837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4489CA0-0E06-72D0-EC99-278644E27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EB358DE-716D-8AFF-DE2E-EEF75D37D46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33A663F7-C0D9-5684-60D6-DF605DB9FA40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353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79BC9-ED59-D8AF-8887-733167485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84F1-72E9-E460-BCB0-B78A03B6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A9450-C583-4FE4-93BE-24F21D64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35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8978C04-A2E5-BD97-73F3-0B9D67C2D19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34FCC276-4823-C93F-4CEE-E7F8B24E8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CBDB10E-9B34-D49E-5B67-2A5ED6C3FF2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735DD1CF-6DE0-462E-79E1-0C630465FF61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82564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12C76-C291-5631-5CFB-DCAE3014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D55E-EDE9-1A2E-9689-E1302460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F65F3-A3EE-E464-0791-EDE8F8B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36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BAF056-75D8-7F31-F8A3-AB9661CC511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E613E62-FDDB-FF65-CE66-BCA3DB759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7DE9157-800D-409F-5C8F-52C2B027902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FF4D4EBE-A25D-B660-C30D-3006C3C13089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043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2CD1F-C20B-FF71-AE4C-9610166C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E5A5-7752-046D-F1AD-E5740AF7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D8645-495D-DA46-8C83-761AEB46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37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7861484-D20F-4CC6-F634-EABFD8D4C18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511089CF-0AF6-A864-336C-5151DA0E5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149BA03-DBD5-00BB-1759-A209F39E245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1A7F5F08-268B-F1D6-4A34-1E013C927860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916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9236-2A42-9916-90D7-8B07224E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2C29-1388-6F6B-91AD-09A6B5C8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4AED7-7ADD-EBC6-FC6E-19AF090C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38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7782BB-D11C-C60D-8E00-862018E01FB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2AA6FD5D-D4FA-5F79-8EEB-02F0B9834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7886F68-A198-E7A9-AFA2-A99F4D4F3B7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58B97BEA-60F8-8469-1238-295F9EA212C5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5174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97962-16FC-8884-1593-6BC7F3B7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9413-828F-B008-EF95-10A8E7F3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01ED0-1A26-983F-4273-0FE188EC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39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DAB63F4-E496-A7B1-7D2E-AEC2863976A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057291A-446D-4141-FF82-DB70DC26A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38E455F-6508-0EC9-6F88-090E089D874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A04379FB-E204-6292-424C-21ADB83983D7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821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EE7EB-5958-D515-0B4A-697BF41A0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F9F5-5A7C-0B71-9A00-CB6CDB72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2440-AD62-62F6-D94B-71872732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40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25943E-EDE0-ED75-093A-887C25A53AC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39060319-97DB-FEB5-0CC1-69C9C30AA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EE85D00-2FE8-6EA6-ABA3-0B86AA23229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CD87A4D4-1CC6-C582-FE10-12E89E0A3F24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780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FB5C-9DB9-E642-A1F0-E6156033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269F-76FF-AB43-E1E4-2CFEDCB8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D0EC3-4D85-E1B5-9F70-F8C3B9DD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41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CCC6A30-A286-2F83-75FD-6405EB7E6E1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C9545CAE-7569-1B57-A5EF-60A9752FD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C6B398B-2AEA-881F-52FA-0D15E153747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7F8DF6D9-7B19-E2A8-7318-42F0F6194228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5377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7B4C-7DF9-E40B-CBF1-B6884153F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CE29-A6EA-3632-4351-8F524DBA8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EEE00-6C5E-1971-D9DA-B2A5922B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42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7870D04-A2F0-F582-D166-B1D94A45F7C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1DDB04B-249B-D408-9FAB-5DD44E7A9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72EE2B5-11BA-0F92-CE12-B5B5F0419FE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33743C62-13FF-D45C-D257-2EF43FC0417C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2034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61C26-16DE-1268-9FA9-3203BF62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C5593-53A3-7F65-333D-EABF92093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007EA-7D2C-5BC8-D690-43D5EDC6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43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8538FDD-E34F-E510-B63B-F119AD1049D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84489C7-AC8A-BDAF-A7B6-3991CAD45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E9537AC-F4D0-E094-D824-FF52E680E60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EDEFB697-A83C-5441-CC57-ABD695FA6A6C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$1.303.500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$1.460.910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$1.627.765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$1.804.630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$1.992.108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$6.646.500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$6.966.090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$7.304.855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$7.663.947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$8.044.584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4336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8926E-536D-ABCE-39CB-86FF71B6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56F6C-BEDD-0372-497F-CAB241D6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456EC-AD61-4BDF-91BD-CDBFEDD8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44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D165F0C-BBB4-06D2-9C7E-C223F894B79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88FF801-A20E-FB9B-49CA-1A120AD5F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72D714A-1077-A129-A67E-E3004D1A3AC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1D531876-8AE6-B3B2-F670-23E4E4C547F8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$1.303.500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$1.460.910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$1.627.765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$1.804.630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$1.992.108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$6.646.500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$6.966.090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$7.304.855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$7.663.947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$8.044.584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3DE647C6-D4E0-55C9-4355-4310B70439E5}"/>
              </a:ext>
            </a:extLst>
          </p:cNvPr>
          <p:cNvGraphicFramePr>
            <a:graphicFrameLocks noGrp="1"/>
          </p:cNvGraphicFramePr>
          <p:nvPr/>
        </p:nvGraphicFramePr>
        <p:xfrm>
          <a:off x="581190" y="5905879"/>
          <a:ext cx="3468993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23,32%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Corriente/</a:t>
                      </a:r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Nom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8186AF4F-C57B-A594-3451-FD918B85684C}"/>
              </a:ext>
            </a:extLst>
          </p:cNvPr>
          <p:cNvSpPr txBox="1"/>
          <p:nvPr/>
        </p:nvSpPr>
        <p:spPr>
          <a:xfrm>
            <a:off x="5708608" y="6155844"/>
            <a:ext cx="284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WACC 15%</a:t>
            </a:r>
          </a:p>
        </p:txBody>
      </p:sp>
    </p:spTree>
    <p:extLst>
      <p:ext uri="{BB962C8B-B14F-4D97-AF65-F5344CB8AC3E}">
        <p14:creationId xmlns:p14="http://schemas.microsoft.com/office/powerpoint/2010/main" val="26334976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D3AA6-FA22-3925-8503-DCC8F53A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9CE06-F033-416A-DBA8-5A360F3E6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32DB813C-D508-E8CE-53A6-1D71AAF9D8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F8F3A497-989F-BA5B-B933-48C140BCA53E}"/>
              </a:ext>
            </a:extLst>
          </p:cNvPr>
          <p:cNvSpPr/>
          <p:nvPr/>
        </p:nvSpPr>
        <p:spPr>
          <a:xfrm>
            <a:off x="2806200" y="277272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Introducción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Precios Corrientes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Precios constantes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4679C8-371A-2B8A-F356-69BFA639C95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B3FBA869-60F5-CF16-6FC0-10084137F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7A2B610E-9C36-4342-1231-1744DBCB208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1D0B002-50A5-5A60-8637-8DFF16B3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3064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D331B-714F-8997-DBB7-7FDFC2F60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2B85-A6C5-9EA2-6BA2-4974726B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(REALES)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E406D-415A-5F64-818C-018EB51F7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154740"/>
            <a:ext cx="10908070" cy="2117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Métodos: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Deflactando cada cuenta del </a:t>
            </a:r>
            <a:r>
              <a:rPr lang="es-MX" sz="24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 mediante el Factor Inflacionario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Aplicando el Factor inflacionario directamente al </a:t>
            </a:r>
            <a:r>
              <a:rPr lang="es-MX" sz="24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8F713-93D1-771E-4F51-8B2391C2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46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2F8B2BC-C42B-EFAE-1104-BD9E4C0659C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2614E05-DC1B-837D-520B-D24676CFD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E1FABFC-97C7-4792-2404-AEEF9854552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Dibujos Animados Brillante Bombilla De Luz Amarilla. Idea Creativa.  Concepto De Inspiración. Ilustración De Vector Dibujado A Mano Aislada  Sobre Fondo Blanco. Ilustraciones svg, vectoriales, clip art vectorizado  libre de derechos. Image">
            <a:extLst>
              <a:ext uri="{FF2B5EF4-FFF2-40B4-BE49-F238E27FC236}">
                <a16:creationId xmlns:a16="http://schemas.microsoft.com/office/drawing/2014/main" id="{D7579377-E001-B28E-0201-B1B16ABC7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71" y="4017856"/>
            <a:ext cx="2142117" cy="214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29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2AD3F-A752-7EDA-8024-B38C58BF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FBA9-CE3A-12DD-4454-B84297F3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(REALES)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72E21-9464-7749-E4E6-6EB9475AF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154740"/>
            <a:ext cx="10908070" cy="2117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Métodos: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Deflactando cada cuenta del </a:t>
            </a:r>
            <a:r>
              <a:rPr lang="es-MX" sz="2400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 mediante el Factor Inflacionario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Aplicando el Factor inflacionario directamente al </a:t>
            </a:r>
            <a:r>
              <a:rPr lang="es-MX" sz="24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2F940-37C9-0BDE-9FBD-4BC69F80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47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140E284-B598-40A9-9C6A-E00246E9092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8DCEF57-C8B4-0336-B6F4-AA3ED6D11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486B79C-AF6A-423C-EAFE-F27751818B4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Dibujos Animados Brillante Bombilla De Luz Amarilla. Idea Creativa.  Concepto De Inspiración. Ilustración De Vector Dibujado A Mano Aislada  Sobre Fondo Blanco. Ilustraciones svg, vectoriales, clip art vectorizado  libre de derechos. Image">
            <a:extLst>
              <a:ext uri="{FF2B5EF4-FFF2-40B4-BE49-F238E27FC236}">
                <a16:creationId xmlns:a16="http://schemas.microsoft.com/office/drawing/2014/main" id="{76941373-0E4F-37F6-EBD1-342138F76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71" y="4017856"/>
            <a:ext cx="2142117" cy="214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1982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5987F-75C1-4BEF-8C9C-79B841C9F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9D85A-55C9-178E-139A-2DCF11820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factor inflacionario 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84D69-89D9-8645-70C9-7E40FDEE1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48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047000-8B71-DEE0-51D3-027050247A7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312C1D2-B84A-F067-BDFF-2DCDAFF87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D048F3A-395A-04B7-D436-9D50C79F634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20A99D74-2C94-B0CA-75A0-A307C65E40D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20A99D74-2C94-B0CA-75A0-A307C65E40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8687158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31089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0172-146F-7E82-4CF6-EC2025809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6E2A-8A15-201D-85A6-1E4DE729D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 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3ABF4-89CB-A8E4-55A5-27DA8426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49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6E40BF5-D4EA-D799-4308-0E8C1982272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C0A0723-C940-D579-0962-2FAA358A1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1B657EE-BC4D-9742-3193-3FDDCF784ED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B71605F4-1CCE-2FCD-93C3-0BAC78C8DC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B71605F4-1CCE-2FCD-93C3-0BAC78C8DC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8817251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Conector angular 14">
            <a:extLst>
              <a:ext uri="{FF2B5EF4-FFF2-40B4-BE49-F238E27FC236}">
                <a16:creationId xmlns:a16="http://schemas.microsoft.com/office/drawing/2014/main" id="{41E5A3AC-07E1-EF6E-7442-E4E3811E54CA}"/>
              </a:ext>
            </a:extLst>
          </p:cNvPr>
          <p:cNvCxnSpPr>
            <a:cxnSpLocks/>
            <a:stCxn id="23" idx="1"/>
            <a:endCxn id="16" idx="1"/>
          </p:cNvCxnSpPr>
          <p:nvPr/>
        </p:nvCxnSpPr>
        <p:spPr>
          <a:xfrm rot="10800000" flipH="1" flipV="1">
            <a:off x="4196966" y="2395728"/>
            <a:ext cx="1824357" cy="3881040"/>
          </a:xfrm>
          <a:prstGeom prst="bentConnector3">
            <a:avLst>
              <a:gd name="adj1" fmla="val -125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56BE7CE7-47B8-417F-C66F-F90F6E0E89B1}"/>
                  </a:ext>
                </a:extLst>
              </p:cNvPr>
              <p:cNvSpPr txBox="1"/>
              <p:nvPr/>
            </p:nvSpPr>
            <p:spPr>
              <a:xfrm>
                <a:off x="6021324" y="6040645"/>
                <a:ext cx="1591781" cy="4722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10.600</m:t>
                          </m:r>
                        </m:num>
                        <m:den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1+6%</m:t>
                          </m:r>
                        </m:den>
                      </m:f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=10.000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56BE7CE7-47B8-417F-C66F-F90F6E0E8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324" y="6040645"/>
                <a:ext cx="1591781" cy="4722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angular 14">
            <a:extLst>
              <a:ext uri="{FF2B5EF4-FFF2-40B4-BE49-F238E27FC236}">
                <a16:creationId xmlns:a16="http://schemas.microsoft.com/office/drawing/2014/main" id="{E6259BB2-ABE5-50C1-1F37-ED3B918FC03E}"/>
              </a:ext>
            </a:extLst>
          </p:cNvPr>
          <p:cNvCxnSpPr>
            <a:cxnSpLocks/>
            <a:stCxn id="16" idx="3"/>
            <a:endCxn id="22" idx="3"/>
          </p:cNvCxnSpPr>
          <p:nvPr/>
        </p:nvCxnSpPr>
        <p:spPr>
          <a:xfrm flipH="1" flipV="1">
            <a:off x="5367529" y="2688256"/>
            <a:ext cx="2245576" cy="3588512"/>
          </a:xfrm>
          <a:prstGeom prst="bentConnector3">
            <a:avLst>
              <a:gd name="adj1" fmla="val -101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A9A39F-DF09-1B21-6433-14F3F33F3FEF}"/>
              </a:ext>
            </a:extLst>
          </p:cNvPr>
          <p:cNvSpPr/>
          <p:nvPr/>
        </p:nvSpPr>
        <p:spPr>
          <a:xfrm>
            <a:off x="4196965" y="2545734"/>
            <a:ext cx="1170564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0644C8D-5DC6-E0CB-3180-A699722C6006}"/>
              </a:ext>
            </a:extLst>
          </p:cNvPr>
          <p:cNvSpPr/>
          <p:nvPr/>
        </p:nvSpPr>
        <p:spPr>
          <a:xfrm>
            <a:off x="4196967" y="2253206"/>
            <a:ext cx="1170562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024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2E5D-3C18-0497-F2A2-4BF18504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5387-14D1-97A0-3DBE-3D46C7766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3BB4B-13A5-5307-8343-BF60236C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50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E5B26D-BB6D-735A-7AF2-8B92A4233A9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CC80E2DC-C63A-3312-E149-EB11B7D01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3D92878-F2B2-9BDE-4252-D679F92D704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7A8974A-17DB-6447-D14C-750F45433E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7A8974A-17DB-6447-D14C-750F45433E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4097589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Conector angular 14">
            <a:extLst>
              <a:ext uri="{FF2B5EF4-FFF2-40B4-BE49-F238E27FC236}">
                <a16:creationId xmlns:a16="http://schemas.microsoft.com/office/drawing/2014/main" id="{2787BEA3-4497-4C14-5A27-344CD9B8CF1D}"/>
              </a:ext>
            </a:extLst>
          </p:cNvPr>
          <p:cNvCxnSpPr>
            <a:cxnSpLocks/>
            <a:stCxn id="10" idx="3"/>
            <a:endCxn id="22" idx="3"/>
          </p:cNvCxnSpPr>
          <p:nvPr/>
        </p:nvCxnSpPr>
        <p:spPr>
          <a:xfrm flipH="1" flipV="1">
            <a:off x="6885429" y="2684927"/>
            <a:ext cx="1513828" cy="3521257"/>
          </a:xfrm>
          <a:prstGeom prst="bentConnector3">
            <a:avLst>
              <a:gd name="adj1" fmla="val -151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936F1C4-885B-2864-E79D-7FCB32AF1167}"/>
                  </a:ext>
                </a:extLst>
              </p:cNvPr>
              <p:cNvSpPr txBox="1"/>
              <p:nvPr/>
            </p:nvSpPr>
            <p:spPr>
              <a:xfrm>
                <a:off x="6373861" y="5953038"/>
                <a:ext cx="2025396" cy="506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11.236</m:t>
                          </m:r>
                        </m:num>
                        <m:den>
                          <m:sSup>
                            <m:sSupPr>
                              <m:ctrlP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sz="1600" i="1">
                                  <a:latin typeface="Cambria Math" panose="02040503050406030204" pitchFamily="18" charset="0"/>
                                </a:rPr>
                                <m:t>1+6%</m:t>
                              </m:r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=10.000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936F1C4-885B-2864-E79D-7FCB32AF1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861" y="5953038"/>
                <a:ext cx="2025396" cy="506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angular 14">
            <a:extLst>
              <a:ext uri="{FF2B5EF4-FFF2-40B4-BE49-F238E27FC236}">
                <a16:creationId xmlns:a16="http://schemas.microsoft.com/office/drawing/2014/main" id="{BEBF1E0E-AD79-486D-C682-04B96B1A1FCA}"/>
              </a:ext>
            </a:extLst>
          </p:cNvPr>
          <p:cNvCxnSpPr>
            <a:cxnSpLocks/>
            <a:stCxn id="21" idx="1"/>
            <a:endCxn id="10" idx="2"/>
          </p:cNvCxnSpPr>
          <p:nvPr/>
        </p:nvCxnSpPr>
        <p:spPr>
          <a:xfrm rot="10800000" flipH="1" flipV="1">
            <a:off x="5702531" y="2393252"/>
            <a:ext cx="1684027" cy="4066077"/>
          </a:xfrm>
          <a:prstGeom prst="bentConnector4">
            <a:avLst>
              <a:gd name="adj1" fmla="val -13575"/>
              <a:gd name="adj2" fmla="val 105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9E571C9-04FE-C233-F252-EEE0AD4EE262}"/>
              </a:ext>
            </a:extLst>
          </p:cNvPr>
          <p:cNvSpPr/>
          <p:nvPr/>
        </p:nvSpPr>
        <p:spPr>
          <a:xfrm>
            <a:off x="5702532" y="2250731"/>
            <a:ext cx="1182898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8F3B550-20E6-D098-1267-E0E1BF486BF2}"/>
              </a:ext>
            </a:extLst>
          </p:cNvPr>
          <p:cNvSpPr/>
          <p:nvPr/>
        </p:nvSpPr>
        <p:spPr>
          <a:xfrm>
            <a:off x="5702530" y="2542405"/>
            <a:ext cx="1182899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38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96939-8400-D1FE-9088-2EE331961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52E0-B292-A7B0-8E63-BD60A56E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1FF80-BEFD-8377-F1CB-6DA3245D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51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3E4FCF-EA87-3152-A29E-94338B0394F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A0CB365-7D05-00C5-C119-94BC8E415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BCDCD95-C89B-C165-D5AF-0D243366067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47FF5DF1-B3AD-5EE5-14B9-95A939D6F8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47FF5DF1-B3AD-5EE5-14B9-95A939D6F8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2492208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298251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E2A8E-4F6E-56F1-3469-79598184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36AD-7118-DB88-0FAC-B2E40CB6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DC762-C65D-CA7D-C3E4-7FFA6F204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52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5BE62A-A29F-B30B-353E-D9845EFDB75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FDB7B224-878F-DD2A-385E-F545CB416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5CDC928-D5A5-1096-8281-355E424D5C6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DEC4461B-0954-BB24-CA7C-7ABAEDF94AB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DEC4461B-0954-BB24-CA7C-7ABAEDF94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957348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387415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0227-7609-3C5A-DD45-DDD31CDBF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A1F06-2DCC-80C9-DC32-370D5E52C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E5A9F-F31A-252B-ACA1-8B85829C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53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308705A-FD19-9258-C91F-F18D4C52964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70885092-76DD-58ED-ED02-4000207D7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99C0A88-274D-E64B-D318-43C28230F3A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58FD637-A691-F1DD-A154-6A76D92A089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$4.000.000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58FD637-A691-F1DD-A154-6A76D92A08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8249954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$4.000.000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93674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906F1-F823-24C9-21D6-A4D860B2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F8ED-9956-71C7-8A14-595F31D47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AAC21-7266-4298-50B9-762E501AD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54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693BAC-BA76-593F-A7CA-0D1028E457D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D293A47-4354-B8D5-31AE-13D7AC28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664EB8B-C19E-3FAD-3B43-5CE54F5E925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C1A1A6D-62A0-3D08-3353-7A80103B17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C1A1A6D-62A0-3D08-3353-7A80103B17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9624515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Conector angular 14">
            <a:extLst>
              <a:ext uri="{FF2B5EF4-FFF2-40B4-BE49-F238E27FC236}">
                <a16:creationId xmlns:a16="http://schemas.microsoft.com/office/drawing/2014/main" id="{9F554E2B-AC0B-D9F9-CDCD-BD5AC097CFA1}"/>
              </a:ext>
            </a:extLst>
          </p:cNvPr>
          <p:cNvCxnSpPr>
            <a:cxnSpLocks/>
            <a:stCxn id="7" idx="3"/>
            <a:endCxn id="21" idx="2"/>
          </p:cNvCxnSpPr>
          <p:nvPr/>
        </p:nvCxnSpPr>
        <p:spPr>
          <a:xfrm flipH="1" flipV="1">
            <a:off x="4809744" y="4343399"/>
            <a:ext cx="3813047" cy="1933369"/>
          </a:xfrm>
          <a:prstGeom prst="bentConnector4">
            <a:avLst>
              <a:gd name="adj1" fmla="val -5995"/>
              <a:gd name="adj2" fmla="val 621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B72B5D0-BB8E-07A2-99EC-C8876C6A1688}"/>
                  </a:ext>
                </a:extLst>
              </p:cNvPr>
              <p:cNvSpPr txBox="1"/>
              <p:nvPr/>
            </p:nvSpPr>
            <p:spPr>
              <a:xfrm>
                <a:off x="6597395" y="6023622"/>
                <a:ext cx="2025396" cy="506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4.000.000</m:t>
                          </m:r>
                        </m:num>
                        <m:den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(1+6%)</m:t>
                          </m:r>
                        </m:den>
                      </m:f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=3.773.585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B72B5D0-BB8E-07A2-99EC-C8876C6A1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395" y="6023622"/>
                <a:ext cx="2025396" cy="506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angular 14">
            <a:extLst>
              <a:ext uri="{FF2B5EF4-FFF2-40B4-BE49-F238E27FC236}">
                <a16:creationId xmlns:a16="http://schemas.microsoft.com/office/drawing/2014/main" id="{20F0DA31-9E8D-AC40-D1BD-6800A2B42145}"/>
              </a:ext>
            </a:extLst>
          </p:cNvPr>
          <p:cNvCxnSpPr>
            <a:cxnSpLocks/>
            <a:stCxn id="22" idx="1"/>
            <a:endCxn id="7" idx="2"/>
          </p:cNvCxnSpPr>
          <p:nvPr/>
        </p:nvCxnSpPr>
        <p:spPr>
          <a:xfrm rot="10800000" flipH="1" flipV="1">
            <a:off x="4233671" y="2376230"/>
            <a:ext cx="3376422" cy="4153683"/>
          </a:xfrm>
          <a:prstGeom prst="bentConnector4">
            <a:avLst>
              <a:gd name="adj1" fmla="val -6770"/>
              <a:gd name="adj2" fmla="val 1055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C06903D-2A87-0D3E-3222-E8FC84BEBFC6}"/>
              </a:ext>
            </a:extLst>
          </p:cNvPr>
          <p:cNvSpPr/>
          <p:nvPr/>
        </p:nvSpPr>
        <p:spPr>
          <a:xfrm>
            <a:off x="4261103" y="4058356"/>
            <a:ext cx="1097281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5CAE380-01AD-BCF9-1F89-1688185F02ED}"/>
              </a:ext>
            </a:extLst>
          </p:cNvPr>
          <p:cNvSpPr/>
          <p:nvPr/>
        </p:nvSpPr>
        <p:spPr>
          <a:xfrm>
            <a:off x="4233671" y="2233709"/>
            <a:ext cx="1097281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299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45D8-3227-1280-BAB2-204CD7006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25B7-58D5-7B19-2B03-747EADAA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8F9B1-F86A-84FA-EA6B-A6D20779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55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9F6C9C3-0D56-6F4D-4C69-CB5F8C315DC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76309C0B-3877-87C6-1777-8F1B7D995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00AD430-1459-B747-CCB0-40D7A7DAA8A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D98C1BBF-D208-AB5E-57E6-402743D3FC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D98C1BBF-D208-AB5E-57E6-402743D3FC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0014152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Conector angular 14">
            <a:extLst>
              <a:ext uri="{FF2B5EF4-FFF2-40B4-BE49-F238E27FC236}">
                <a16:creationId xmlns:a16="http://schemas.microsoft.com/office/drawing/2014/main" id="{9A308B2F-A620-A6EB-A18B-B967EC9B71A6}"/>
              </a:ext>
            </a:extLst>
          </p:cNvPr>
          <p:cNvCxnSpPr>
            <a:cxnSpLocks/>
            <a:stCxn id="7" idx="3"/>
            <a:endCxn id="26" idx="2"/>
          </p:cNvCxnSpPr>
          <p:nvPr/>
        </p:nvCxnSpPr>
        <p:spPr>
          <a:xfrm flipH="1" flipV="1">
            <a:off x="6300216" y="4335829"/>
            <a:ext cx="2761488" cy="2073161"/>
          </a:xfrm>
          <a:prstGeom prst="bentConnector4">
            <a:avLst>
              <a:gd name="adj1" fmla="val -113"/>
              <a:gd name="adj2" fmla="val 470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0790210-76C8-1D49-F791-460CB3CAEA6A}"/>
                  </a:ext>
                </a:extLst>
              </p:cNvPr>
              <p:cNvSpPr txBox="1"/>
              <p:nvPr/>
            </p:nvSpPr>
            <p:spPr>
              <a:xfrm>
                <a:off x="6597396" y="6155844"/>
                <a:ext cx="2464308" cy="506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4.000.000</m:t>
                          </m:r>
                        </m:num>
                        <m:den>
                          <m:sSup>
                            <m:sSupPr>
                              <m:ctrlP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(1+6%)</m:t>
                              </m:r>
                            </m:e>
                            <m:sup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=3.559.986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0790210-76C8-1D49-F791-460CB3CAE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396" y="6155844"/>
                <a:ext cx="2464308" cy="506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angular 14">
            <a:extLst>
              <a:ext uri="{FF2B5EF4-FFF2-40B4-BE49-F238E27FC236}">
                <a16:creationId xmlns:a16="http://schemas.microsoft.com/office/drawing/2014/main" id="{B4E2ED3E-13C9-DDD8-CAB3-D8AD92B4D254}"/>
              </a:ext>
            </a:extLst>
          </p:cNvPr>
          <p:cNvCxnSpPr>
            <a:cxnSpLocks/>
            <a:stCxn id="25" idx="1"/>
            <a:endCxn id="7" idx="1"/>
          </p:cNvCxnSpPr>
          <p:nvPr/>
        </p:nvCxnSpPr>
        <p:spPr>
          <a:xfrm rot="10800000" flipH="1" flipV="1">
            <a:off x="5704402" y="2389970"/>
            <a:ext cx="892993" cy="4019020"/>
          </a:xfrm>
          <a:prstGeom prst="bentConnector3">
            <a:avLst>
              <a:gd name="adj1" fmla="val -255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284D46E-A6B9-D86E-EC4F-3E647FF456B2}"/>
              </a:ext>
            </a:extLst>
          </p:cNvPr>
          <p:cNvSpPr/>
          <p:nvPr/>
        </p:nvSpPr>
        <p:spPr>
          <a:xfrm>
            <a:off x="5704403" y="2247345"/>
            <a:ext cx="1192959" cy="2852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3A01344-B6E4-952F-0719-25B56CEDEFDB}"/>
              </a:ext>
            </a:extLst>
          </p:cNvPr>
          <p:cNvSpPr/>
          <p:nvPr/>
        </p:nvSpPr>
        <p:spPr>
          <a:xfrm>
            <a:off x="5751575" y="4050786"/>
            <a:ext cx="1097281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13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9E3B9-A4A4-0A84-EEF1-86964EC84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B174-1EB9-18E5-BEDC-8EF78D281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AA820-4358-59FA-2FC4-980625AAD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56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63A8F0-AE72-66F5-4A5C-79C61BC8BF0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C00CF14-FB9B-3227-2CCB-81CD3103D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9B39086-7F3F-721F-EA41-3F0D1F55CB1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89C8D256-4133-315C-16EA-9E9C7232FA3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89C8D256-4133-315C-16EA-9E9C7232FA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7439343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313103DC-C0D5-302F-EA57-46843F75A30F}"/>
              </a:ext>
            </a:extLst>
          </p:cNvPr>
          <p:cNvSpPr/>
          <p:nvPr/>
        </p:nvSpPr>
        <p:spPr>
          <a:xfrm>
            <a:off x="581191" y="4050786"/>
            <a:ext cx="11029616" cy="2957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104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DF06-8F14-BAEE-83F4-823BA41D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7604-7D64-0B4A-C1A1-1FC84F8A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112F4-A3A5-50BA-2B74-30DF7A70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57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C98E68-8297-5C1C-3200-85AEEA3069D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9EDAAE1-E997-C8FD-C5BB-FAD349C24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8E088A2-6F42-A96E-C1AC-EA2F3522B6A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5D86BF4D-BEBC-D390-CB09-3D59DD09F35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5D86BF4D-BEBC-D390-CB09-3D59DD09F3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3589675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111325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A6440-067D-E666-ABAA-6B46C5C4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6342-A6A3-D4A2-3C0E-5D9B70F31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EFA3A-1DCF-D912-457E-F76C24C5C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58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209F247-8BC7-95C8-4084-AFF856ADEED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C5CCC9A-5284-62A4-961E-AC3045B1D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3BD0574-63D5-442C-C945-AC7ABDB0703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36AA77C5-305E-3E53-923C-08E46006BF6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368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36AA77C5-305E-3E53-923C-08E46006BF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94901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090120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ED05-8AC8-0103-0D84-7886EAC9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67987-35B3-D0C8-55AF-55103E42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3DCC-B9F5-45C7-716B-AFEF9B30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59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638DEC-CD6B-489F-AC74-FFFD817C07A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F8CE213-908E-B2BF-D873-2C7FE8EBB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854F2DB-F4A1-7647-18AB-B004CB08DD4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29741BDB-EBB3-25B1-4F25-5444CC9A0D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368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29741BDB-EBB3-25B1-4F25-5444CC9A0D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4674440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4E87BB4-6D51-94A9-4213-65F4CF8D7F40}"/>
              </a:ext>
            </a:extLst>
          </p:cNvPr>
          <p:cNvGraphicFramePr>
            <a:graphicFrameLocks noGrp="1"/>
          </p:cNvGraphicFramePr>
          <p:nvPr/>
        </p:nvGraphicFramePr>
        <p:xfrm>
          <a:off x="581190" y="5870335"/>
          <a:ext cx="3468993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16,34%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Constante/Real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9ECECAC4-89BC-8FFE-9F73-E06920D46A33}"/>
              </a:ext>
            </a:extLst>
          </p:cNvPr>
          <p:cNvSpPr txBox="1"/>
          <p:nvPr/>
        </p:nvSpPr>
        <p:spPr>
          <a:xfrm>
            <a:off x="4453951" y="6131274"/>
            <a:ext cx="2075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Century Gothic" panose="020B0502020202020204" pitchFamily="34" charset="0"/>
              </a:rPr>
              <a:t>Wacc</a:t>
            </a:r>
            <a:r>
              <a:rPr lang="en-US" sz="1400" b="1" dirty="0">
                <a:latin typeface="Century Gothic" panose="020B0502020202020204" pitchFamily="34" charset="0"/>
              </a:rPr>
              <a:t> real = 8,49%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66797A7-6504-F9A8-3381-876D871B3844}"/>
                  </a:ext>
                </a:extLst>
              </p:cNvPr>
              <p:cNvSpPr txBox="1"/>
              <p:nvPr/>
            </p:nvSpPr>
            <p:spPr>
              <a:xfrm>
                <a:off x="6933537" y="5999603"/>
                <a:ext cx="4019754" cy="571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</m:sub>
                      </m:sSub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𝑛𝑜𝑚𝑖𝑛𝑎𝑙</m:t>
                              </m:r>
                            </m:sub>
                          </m:sSub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𝑖𝑛𝑓𝑙𝑎𝑐𝑖𝑜𝑛</m:t>
                              </m:r>
                            </m:sub>
                          </m:sSub>
                          <m:r>
                            <a:rPr lang="es-CO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−1=</m:t>
                      </m:r>
                      <m:f>
                        <m:fPr>
                          <m:ctrlPr>
                            <a:rPr lang="es-CO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1.15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.06</m:t>
                              </m:r>
                            </m:e>
                          </m:d>
                        </m:den>
                      </m:f>
                      <m:r>
                        <a:rPr lang="es-CO" sz="1400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=8.49%</m:t>
                      </m:r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66797A7-6504-F9A8-3381-876D871B3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537" y="5999603"/>
                <a:ext cx="4019754" cy="571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echa abajo 25">
            <a:extLst>
              <a:ext uri="{FF2B5EF4-FFF2-40B4-BE49-F238E27FC236}">
                <a16:creationId xmlns:a16="http://schemas.microsoft.com/office/drawing/2014/main" id="{88302835-9D02-80B6-8BC6-BD231770907F}"/>
              </a:ext>
            </a:extLst>
          </p:cNvPr>
          <p:cNvSpPr/>
          <p:nvPr/>
        </p:nvSpPr>
        <p:spPr>
          <a:xfrm rot="16200000">
            <a:off x="6557804" y="6092694"/>
            <a:ext cx="347698" cy="384938"/>
          </a:xfrm>
          <a:prstGeom prst="downArrow">
            <a:avLst>
              <a:gd name="adj1" fmla="val 50000"/>
              <a:gd name="adj2" fmla="val 490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489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A6CDD-37C0-F0E9-F4DD-BCB0A623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D5D1-BD86-5DE5-F648-65276020F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030DD-8853-2412-2526-738D48757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60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8F63DCD-94EB-5022-D6BD-BF02638ECC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822A826-B2E0-0B89-ADBA-404BA6E0A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6AB9DE2-7EB6-80D7-2492-6FE4D50FDC6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B3E2ABB7-129B-8672-1E7E-43E9D75AF60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368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B3E2ABB7-129B-8672-1E7E-43E9D75AF6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5548600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3B4CAD8-D5BD-FBA3-BF9B-0EA890E50B5F}"/>
              </a:ext>
            </a:extLst>
          </p:cNvPr>
          <p:cNvGraphicFramePr>
            <a:graphicFrameLocks noGrp="1"/>
          </p:cNvGraphicFramePr>
          <p:nvPr/>
        </p:nvGraphicFramePr>
        <p:xfrm>
          <a:off x="581190" y="5870335"/>
          <a:ext cx="3468993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16,34%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Constante/Real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3EEB617-ECDC-4330-42DA-A7333E350A09}"/>
              </a:ext>
            </a:extLst>
          </p:cNvPr>
          <p:cNvSpPr txBox="1"/>
          <p:nvPr/>
        </p:nvSpPr>
        <p:spPr>
          <a:xfrm>
            <a:off x="4453951" y="6131274"/>
            <a:ext cx="2075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Century Gothic" panose="020B0502020202020204" pitchFamily="34" charset="0"/>
              </a:rPr>
              <a:t>Wacc</a:t>
            </a:r>
            <a:r>
              <a:rPr lang="en-US" sz="1400" b="1" dirty="0">
                <a:latin typeface="Century Gothic" panose="020B0502020202020204" pitchFamily="34" charset="0"/>
              </a:rPr>
              <a:t> real = 8,49%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DA87018-F184-D888-C1ED-513E9E7C32C4}"/>
                  </a:ext>
                </a:extLst>
              </p:cNvPr>
              <p:cNvSpPr txBox="1"/>
              <p:nvPr/>
            </p:nvSpPr>
            <p:spPr>
              <a:xfrm>
                <a:off x="6933537" y="5999603"/>
                <a:ext cx="4019754" cy="571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</m:sub>
                      </m:sSub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𝑛𝑜𝑚𝑖𝑛𝑎𝑙</m:t>
                              </m:r>
                            </m:sub>
                          </m:sSub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𝑖𝑛𝑓𝑙𝑎𝑐𝑖𝑜𝑛</m:t>
                              </m:r>
                            </m:sub>
                          </m:sSub>
                          <m:r>
                            <a:rPr lang="es-CO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−1=</m:t>
                      </m:r>
                      <m:f>
                        <m:fPr>
                          <m:ctrlPr>
                            <a:rPr lang="es-CO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1.15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.06</m:t>
                              </m:r>
                            </m:e>
                          </m:d>
                        </m:den>
                      </m:f>
                      <m:r>
                        <a:rPr lang="es-CO" sz="1400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=8.49%</m:t>
                      </m:r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DA87018-F184-D888-C1ED-513E9E7C3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537" y="5999603"/>
                <a:ext cx="4019754" cy="571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echa abajo 25">
            <a:extLst>
              <a:ext uri="{FF2B5EF4-FFF2-40B4-BE49-F238E27FC236}">
                <a16:creationId xmlns:a16="http://schemas.microsoft.com/office/drawing/2014/main" id="{A07712BB-7D95-34C7-F4A4-EE63BFF0A328}"/>
              </a:ext>
            </a:extLst>
          </p:cNvPr>
          <p:cNvSpPr/>
          <p:nvPr/>
        </p:nvSpPr>
        <p:spPr>
          <a:xfrm rot="16200000">
            <a:off x="6557804" y="6092694"/>
            <a:ext cx="347698" cy="384938"/>
          </a:xfrm>
          <a:prstGeom prst="downArrow">
            <a:avLst>
              <a:gd name="adj1" fmla="val 50000"/>
              <a:gd name="adj2" fmla="val 490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629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672D1-53F4-B878-C00E-6C7CA05C4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C6C8-F451-8FBA-B0D8-DF9D38370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954CE-D272-6861-12E0-EB79F4CB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61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D2E8300-7F69-0756-2614-4403F7540ED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D25E901-6C66-2860-4356-B86F2CC31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41AD7FE-0250-CDF2-7C00-610429BE841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92DCB61D-092A-C7DA-1F0A-E83297BDE3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368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92DCB61D-092A-C7DA-1F0A-E83297BDE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9809231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662424F-A015-F4CE-01A6-E65B9ECBC2C8}"/>
              </a:ext>
            </a:extLst>
          </p:cNvPr>
          <p:cNvGraphicFramePr>
            <a:graphicFrameLocks noGrp="1"/>
          </p:cNvGraphicFramePr>
          <p:nvPr/>
        </p:nvGraphicFramePr>
        <p:xfrm>
          <a:off x="581190" y="5880403"/>
          <a:ext cx="3468993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16,34%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Constante/Real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63DA6377-CF3B-84C0-95E8-1A6682B212EA}"/>
              </a:ext>
            </a:extLst>
          </p:cNvPr>
          <p:cNvSpPr txBox="1"/>
          <p:nvPr/>
        </p:nvSpPr>
        <p:spPr>
          <a:xfrm>
            <a:off x="4341217" y="5980503"/>
            <a:ext cx="28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VPN CORRIENTE/NOMINAL</a:t>
            </a:r>
          </a:p>
          <a:p>
            <a:pPr algn="ctr"/>
            <a:r>
              <a:rPr lang="es-ES_tradnl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$4.231.457</a:t>
            </a:r>
            <a:r>
              <a:rPr lang="en-US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67AFEC5-5668-01DF-8B4F-7EDEE7385775}"/>
              </a:ext>
            </a:extLst>
          </p:cNvPr>
          <p:cNvSpPr txBox="1"/>
          <p:nvPr/>
        </p:nvSpPr>
        <p:spPr>
          <a:xfrm>
            <a:off x="7518367" y="5980503"/>
            <a:ext cx="28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VPN CONSTANTE/REAL</a:t>
            </a:r>
          </a:p>
          <a:p>
            <a:pPr algn="ctr"/>
            <a:r>
              <a:rPr lang="es-ES_tradnl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$4.231.457</a:t>
            </a:r>
            <a:r>
              <a:rPr lang="en-US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C52E88-5613-ACF3-DE7E-CFFF44248AA9}"/>
              </a:ext>
            </a:extLst>
          </p:cNvPr>
          <p:cNvSpPr txBox="1"/>
          <p:nvPr/>
        </p:nvSpPr>
        <p:spPr>
          <a:xfrm>
            <a:off x="7066355" y="6057447"/>
            <a:ext cx="891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Century Gothic" panose="020B0502020202020204" pitchFamily="34" charset="0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4510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6F96B-638F-2DDD-09F4-3EAA9F97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684E-2C6E-2470-3990-2F8C3F1B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(REALES)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14362-BFCA-D52A-7D7D-C8C922B02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154740"/>
            <a:ext cx="10908070" cy="2117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Métodos: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Deflactando cada cuenta del </a:t>
            </a:r>
            <a:r>
              <a:rPr lang="es-MX" sz="24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 mediante el Factor Inflacionario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Aplicando el Factor inflacionario directamente al </a:t>
            </a:r>
            <a:r>
              <a:rPr lang="es-MX" sz="2400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503FE-2978-CA27-236D-73C18408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62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E3508EE-7919-53FC-7827-FFCDEC65CC7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6B75F30-7FAF-BCBE-3082-7F185E268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7FA6C458-47DB-9871-564F-CAA3DC4B4CF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Dibujos Animados Brillante Bombilla De Luz Amarilla. Idea Creativa.  Concepto De Inspiración. Ilustración De Vector Dibujado A Mano Aislada  Sobre Fondo Blanco. Ilustraciones svg, vectoriales, clip art vectorizado  libre de derechos. Image">
            <a:extLst>
              <a:ext uri="{FF2B5EF4-FFF2-40B4-BE49-F238E27FC236}">
                <a16:creationId xmlns:a16="http://schemas.microsoft.com/office/drawing/2014/main" id="{BFFE2AAC-E332-4281-270B-44D6134F3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71" y="4017856"/>
            <a:ext cx="2142117" cy="214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7139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5D5C-9727-F644-B2FE-07DBA5E5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3F9F-316E-6015-2A5D-EEA26C6C3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(REALES)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991D5-BF1D-F96E-371C-1604B3AC1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305032"/>
            <a:ext cx="10908070" cy="792000"/>
          </a:xfrm>
        </p:spPr>
        <p:txBody>
          <a:bodyPr>
            <a:noAutofit/>
          </a:bodyPr>
          <a:lstStyle/>
          <a:p>
            <a:r>
              <a:rPr lang="es-CO" sz="2000" dirty="0">
                <a:latin typeface="Century Gothic" panose="020B0502020202020204" pitchFamily="34" charset="0"/>
              </a:rPr>
              <a:t>Partimos del resultado del FCL del modelo Nominal y aplicamos el Factor Inflacionario.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6032E-0AFB-E152-5F62-0504332D9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63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43B9D3-C3D4-524B-F5AF-D7CDA7D32D9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3ED337D0-6534-02CB-BC84-39BF0FF56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6C517DA-3EDD-97DA-0B0D-4DC17F0AE4D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8E5D4F-3D61-4BCE-473B-E33E44DB76B3}"/>
                  </a:ext>
                </a:extLst>
              </p:cNvPr>
              <p:cNvSpPr txBox="1"/>
              <p:nvPr/>
            </p:nvSpPr>
            <p:spPr>
              <a:xfrm>
                <a:off x="1045026" y="3337354"/>
                <a:ext cx="5450146" cy="792000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𝑟𝑒𝑎</m:t>
                      </m:r>
                      <m:sSub>
                        <m:sSub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𝑁𝑜𝑚𝑖𝑛𝑎</m:t>
                          </m:r>
                          <m:sSub>
                            <m:sSubPr>
                              <m:ctrlP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s-419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𝑭𝒂𝒄𝒕𝒐𝒓</m:t>
                          </m:r>
                          <m:r>
                            <a:rPr lang="es-419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𝑰𝒏𝒇𝒍𝒂𝒄𝒊𝒐𝒏𝒂𝒓𝒊</m:t>
                          </m:r>
                          <m:sSub>
                            <m:sSubPr>
                              <m:ctrlPr>
                                <a:rPr lang="es-419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e>
                            <m:sub>
                              <m:r>
                                <a:rPr lang="es-419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24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8E5D4F-3D61-4BCE-473B-E33E44DB7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6" y="3337354"/>
                <a:ext cx="5450146" cy="79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05A3F0E-ACFE-AB14-BF30-697F53A7DD40}"/>
                  </a:ext>
                </a:extLst>
              </p:cNvPr>
              <p:cNvSpPr txBox="1"/>
              <p:nvPr/>
            </p:nvSpPr>
            <p:spPr>
              <a:xfrm>
                <a:off x="7350998" y="3337354"/>
                <a:ext cx="3356688" cy="73866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𝑭𝒂𝒄𝒕𝒐𝒓</m:t>
                      </m:r>
                      <m:r>
                        <a:rPr lang="es-419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𝑰𝒏𝒇𝒍𝒂𝒄𝒊𝒐𝒏𝒂𝒓𝒊𝒐</m:t>
                      </m:r>
                    </m:oMath>
                  </m:oMathPara>
                </a14:m>
                <a:endParaRPr lang="es-CO" sz="2400" b="1" dirty="0">
                  <a:solidFill>
                    <a:srgbClr val="0070C0"/>
                  </a:solidFill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∙(1+</m:t>
                      </m:r>
                      <m:sSub>
                        <m:sSubPr>
                          <m:ctrlPr>
                            <a:rPr lang="es-419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419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2400" b="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05A3F0E-ACFE-AB14-BF30-697F53A7D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998" y="3337354"/>
                <a:ext cx="3356688" cy="738664"/>
              </a:xfrm>
              <a:prstGeom prst="rect">
                <a:avLst/>
              </a:prstGeom>
              <a:blipFill>
                <a:blip r:embed="rId4"/>
                <a:stretch>
                  <a:fillRect r="-1081" b="-1587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F222C40-7A0E-94B8-33D7-A6FCE2F181B9}"/>
                  </a:ext>
                </a:extLst>
              </p:cNvPr>
              <p:cNvSpPr txBox="1"/>
              <p:nvPr/>
            </p:nvSpPr>
            <p:spPr>
              <a:xfrm>
                <a:off x="581192" y="4382570"/>
                <a:ext cx="9838466" cy="12670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342900">
                  <a:spcBef>
                    <a:spcPct val="20000"/>
                  </a:spcBef>
                  <a:spcAft>
                    <a:spcPts val="450"/>
                  </a:spcAft>
                  <a:buClr>
                    <a:schemeClr val="accent2"/>
                  </a:buClr>
                  <a:buSzPct val="92000"/>
                </a:pPr>
                <a:r>
                  <a:rPr lang="es-CO" sz="2000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Donde: </a:t>
                </a:r>
              </a:p>
              <a:p>
                <a:pPr marL="229500" indent="-229500" defTabSz="342900">
                  <a:spcBef>
                    <a:spcPct val="20000"/>
                  </a:spcBef>
                  <a:spcAft>
                    <a:spcPts val="45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CO" sz="2000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 es la inflación del periodo </a:t>
                </a:r>
                <a:r>
                  <a:rPr lang="es-CO" sz="2000" i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t</a:t>
                </a:r>
                <a:r>
                  <a:rPr lang="es-CO" sz="2000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.</a:t>
                </a:r>
              </a:p>
              <a:p>
                <a:pPr marL="229500" indent="-229500" defTabSz="342900">
                  <a:spcBef>
                    <a:spcPct val="20000"/>
                  </a:spcBef>
                  <a:spcAft>
                    <a:spcPts val="45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</a:pPr>
                <a:r>
                  <a:rPr lang="es-CO" sz="2000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Factor Inflacionario en el periodo de referencia es uno.</a:t>
                </a: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F222C40-7A0E-94B8-33D7-A6FCE2F18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4382570"/>
                <a:ext cx="9838466" cy="1267014"/>
              </a:xfrm>
              <a:prstGeom prst="rect">
                <a:avLst/>
              </a:prstGeom>
              <a:blipFill>
                <a:blip r:embed="rId5"/>
                <a:stretch>
                  <a:fillRect l="-620" t="-288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90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1C4FA-0935-0F6B-5B35-70DEBFC1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4EFCE-3F46-17DC-865C-9CEC64A1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CF238-5126-285C-8F3B-4C75D874D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64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C1474-E9C6-1A06-07C8-B8D48719BEE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CF15084-892A-A979-5274-6EFDA5EEA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1CFB9A9-624F-FFB8-76C1-CFB34403A91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62B1D261-B4EA-074A-548B-92AC41468DED}"/>
              </a:ext>
            </a:extLst>
          </p:cNvPr>
          <p:cNvGraphicFramePr>
            <a:graphicFrameLocks noGrp="1"/>
          </p:cNvGraphicFramePr>
          <p:nvPr/>
        </p:nvGraphicFramePr>
        <p:xfrm>
          <a:off x="581191" y="2219278"/>
          <a:ext cx="11029618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81425"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463863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$1.303.500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$1.460.910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$1.627.765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$1.804.630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$1.992.108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$6.646.500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$6.966.090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$7.304.855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$7.663.947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$8.044.584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97CAA691-47EF-39D0-12D1-DD028487F4E4}"/>
              </a:ext>
            </a:extLst>
          </p:cNvPr>
          <p:cNvGraphicFramePr>
            <a:graphicFrameLocks noGrp="1"/>
          </p:cNvGraphicFramePr>
          <p:nvPr/>
        </p:nvGraphicFramePr>
        <p:xfrm>
          <a:off x="581188" y="5892118"/>
          <a:ext cx="3468993" cy="601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23,32%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Corriente/</a:t>
                      </a:r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Nom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9F1734FF-8515-13AF-0C8B-B6600951EA52}"/>
              </a:ext>
            </a:extLst>
          </p:cNvPr>
          <p:cNvSpPr txBox="1"/>
          <p:nvPr/>
        </p:nvSpPr>
        <p:spPr>
          <a:xfrm>
            <a:off x="4592376" y="6122879"/>
            <a:ext cx="1656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WACC 15%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EDB83E8-52C8-D774-024F-C39A9C359277}"/>
              </a:ext>
            </a:extLst>
          </p:cNvPr>
          <p:cNvSpPr txBox="1"/>
          <p:nvPr/>
        </p:nvSpPr>
        <p:spPr>
          <a:xfrm>
            <a:off x="581188" y="183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FCL nominal o corriente ya construido</a:t>
            </a:r>
            <a:endParaRPr lang="en-US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3A1BCD0-23A1-4D64-139E-25DEDAA6D647}"/>
                  </a:ext>
                </a:extLst>
              </p:cNvPr>
              <p:cNvSpPr txBox="1"/>
              <p:nvPr/>
            </p:nvSpPr>
            <p:spPr>
              <a:xfrm>
                <a:off x="6947731" y="6030545"/>
                <a:ext cx="2046393" cy="4924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𝐹𝑎𝑐𝑡𝑜𝑟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𝐼𝑛𝑓𝑙𝑎𝑐𝑖𝑜𝑛𝑎𝑟𝑖𝑜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s-CO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∙(1+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1600" b="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3A1BCD0-23A1-4D64-139E-25DEDAA6D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731" y="6030545"/>
                <a:ext cx="2046393" cy="492443"/>
              </a:xfrm>
              <a:prstGeom prst="rect">
                <a:avLst/>
              </a:prstGeom>
              <a:blipFill>
                <a:blip r:embed="rId3"/>
                <a:stretch>
                  <a:fillRect l="-1791" r="-896" b="-17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373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EA872-1E1C-D493-4005-22FAB00A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3292-726A-F031-CB2F-29002701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B00D-179D-ED0A-A48E-1109B5E5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65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226AB7-3805-177C-3F43-F68EFC1F64E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AA6B8F8-F909-2B9C-9601-B5FAF6389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8BF4173-80F5-5264-784C-F963A394347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08798C5-C830-E122-A648-4BE76749FFA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85" y="2325196"/>
              <a:ext cx="11029618" cy="11732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281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42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  <a:tr h="281425">
                    <a:tc vMerge="1">
                      <a:txBody>
                        <a:bodyPr/>
                        <a:lstStyle/>
                        <a:p>
                          <a:pPr algn="l"/>
                          <a:endParaRPr lang="es-ES_tradnl" sz="13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1,06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1,1236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1,1910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1,2624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1,3382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47086"/>
                      </a:ext>
                    </a:extLst>
                  </a:tr>
                  <a:tr h="28142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3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 Nominal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-$20.000.000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$6.646.500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$6.966.090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$7.304.855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$7.663.947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$8.044.584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51723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08798C5-C830-E122-A648-4BE76749FF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2636596"/>
                  </p:ext>
                </p:extLst>
              </p:nvPr>
            </p:nvGraphicFramePr>
            <p:xfrm>
              <a:off x="581185" y="2325196"/>
              <a:ext cx="11029618" cy="11732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2895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  <a:tr h="281425">
                    <a:tc vMerge="1">
                      <a:txBody>
                        <a:bodyPr/>
                        <a:lstStyle/>
                        <a:p>
                          <a:pPr algn="l"/>
                          <a:endParaRPr lang="es-ES_tradnl" sz="13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1,06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1,1236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1,1910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1,2624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1,3382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47086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3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 Nominal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-$20.000.000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$6.646.500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$6.966.090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$7.304.855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$7.663.947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$8.044.584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517233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01CB87C3-662A-77C2-848F-4E90C6E0EE30}"/>
              </a:ext>
            </a:extLst>
          </p:cNvPr>
          <p:cNvGraphicFramePr>
            <a:graphicFrameLocks noGrp="1"/>
          </p:cNvGraphicFramePr>
          <p:nvPr/>
        </p:nvGraphicFramePr>
        <p:xfrm>
          <a:off x="581184" y="5543635"/>
          <a:ext cx="3468993" cy="89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16,34%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Corriente/</a:t>
                      </a:r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Nom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Constante/Real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042503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E90FCA9B-7F83-6868-4A47-97CB9FC68419}"/>
              </a:ext>
            </a:extLst>
          </p:cNvPr>
          <p:cNvSpPr txBox="1"/>
          <p:nvPr/>
        </p:nvSpPr>
        <p:spPr>
          <a:xfrm>
            <a:off x="4196966" y="5963635"/>
            <a:ext cx="284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WACC Real 8,49%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F620BCE-AAC5-F02F-EE71-4286E5000D97}"/>
              </a:ext>
            </a:extLst>
          </p:cNvPr>
          <p:cNvSpPr txBox="1"/>
          <p:nvPr/>
        </p:nvSpPr>
        <p:spPr>
          <a:xfrm>
            <a:off x="581188" y="1900884"/>
            <a:ext cx="11029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Century Gothic" panose="020B0502020202020204" pitchFamily="34" charset="0"/>
              </a:rPr>
              <a:t>Retomamos el Factor Inflacionario. Recordar que es un escenario con Inflación constante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48BC031B-94B6-69E7-7483-B253B91779C8}"/>
              </a:ext>
            </a:extLst>
          </p:cNvPr>
          <p:cNvGraphicFramePr>
            <a:graphicFrameLocks noGrp="1"/>
          </p:cNvGraphicFramePr>
          <p:nvPr/>
        </p:nvGraphicFramePr>
        <p:xfrm>
          <a:off x="581185" y="4981059"/>
          <a:ext cx="1102961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81425"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-$20.000.000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$6.270.283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$6.199.795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$6.133.297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$6.070.564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$6.011.381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68F41E1F-14A5-4C5A-90B8-19E8A340DE95}"/>
              </a:ext>
            </a:extLst>
          </p:cNvPr>
          <p:cNvSpPr txBox="1"/>
          <p:nvPr/>
        </p:nvSpPr>
        <p:spPr>
          <a:xfrm>
            <a:off x="641965" y="36705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Calculamos el FCL real o constante.</a:t>
            </a:r>
            <a:endParaRPr lang="en-US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E0D655B-F8A8-CC93-9805-68BD71C5966B}"/>
                  </a:ext>
                </a:extLst>
              </p:cNvPr>
              <p:cNvSpPr txBox="1"/>
              <p:nvPr/>
            </p:nvSpPr>
            <p:spPr>
              <a:xfrm>
                <a:off x="6808125" y="4106823"/>
                <a:ext cx="3608617" cy="493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𝑟𝑒𝑎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6.646.500</m:t>
                          </m:r>
                        </m:num>
                        <m:den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1,06</m:t>
                          </m:r>
                        </m:den>
                      </m:f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𝟐𝟕𝟎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𝟐𝟖𝟑</m:t>
                      </m:r>
                    </m:oMath>
                  </m:oMathPara>
                </a14:m>
                <a:endParaRPr lang="es-CO" sz="1600" b="1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E0D655B-F8A8-CC93-9805-68BD71C59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125" y="4106823"/>
                <a:ext cx="3608617" cy="4936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E4B2C6D-83FF-B761-F40D-364AE09354FF}"/>
                  </a:ext>
                </a:extLst>
              </p:cNvPr>
              <p:cNvSpPr txBox="1"/>
              <p:nvPr/>
            </p:nvSpPr>
            <p:spPr>
              <a:xfrm>
                <a:off x="1448088" y="4102210"/>
                <a:ext cx="3644780" cy="510653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𝑟𝑒𝑎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𝑁𝑜𝑚𝑖𝑛𝑎</m:t>
                          </m:r>
                          <m:sSub>
                            <m:sSubPr>
                              <m:ctrlPr>
                                <a:rPr lang="es-419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6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419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s-419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𝑭𝒂𝒄𝒕𝒐𝒓</m:t>
                          </m:r>
                          <m:r>
                            <a:rPr lang="es-419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𝑰𝒏𝒇𝒍𝒂𝒄𝒊𝒐𝒏𝒂𝒓𝒊</m:t>
                          </m:r>
                          <m:sSub>
                            <m:sSubPr>
                              <m:ctrlPr>
                                <a:rPr lang="es-419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e>
                            <m:sub>
                              <m:r>
                                <a:rPr lang="es-419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E4B2C6D-83FF-B761-F40D-364AE0935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088" y="4102210"/>
                <a:ext cx="3644780" cy="5106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lecha abajo 25">
            <a:extLst>
              <a:ext uri="{FF2B5EF4-FFF2-40B4-BE49-F238E27FC236}">
                <a16:creationId xmlns:a16="http://schemas.microsoft.com/office/drawing/2014/main" id="{A6B85A5F-04A0-34DD-7EAC-45C116BAB34D}"/>
              </a:ext>
            </a:extLst>
          </p:cNvPr>
          <p:cNvSpPr/>
          <p:nvPr/>
        </p:nvSpPr>
        <p:spPr>
          <a:xfrm rot="16200000">
            <a:off x="5701440" y="4035392"/>
            <a:ext cx="498111" cy="641972"/>
          </a:xfrm>
          <a:prstGeom prst="downArrow">
            <a:avLst>
              <a:gd name="adj1" fmla="val 50000"/>
              <a:gd name="adj2" fmla="val 490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01B16EA1-847C-5427-1150-5DC47A1F95CC}"/>
              </a:ext>
            </a:extLst>
          </p:cNvPr>
          <p:cNvCxnSpPr>
            <a:cxnSpLocks/>
            <a:stCxn id="12" idx="3"/>
            <a:endCxn id="26" idx="0"/>
          </p:cNvCxnSpPr>
          <p:nvPr/>
        </p:nvCxnSpPr>
        <p:spPr>
          <a:xfrm flipH="1">
            <a:off x="4794058" y="4353654"/>
            <a:ext cx="5622684" cy="905391"/>
          </a:xfrm>
          <a:prstGeom prst="bentConnector4">
            <a:avLst>
              <a:gd name="adj1" fmla="val -4066"/>
              <a:gd name="adj2" fmla="val 467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3E442E8-2AE5-B8AD-2643-D9D8607034C3}"/>
              </a:ext>
            </a:extLst>
          </p:cNvPr>
          <p:cNvSpPr/>
          <p:nvPr/>
        </p:nvSpPr>
        <p:spPr>
          <a:xfrm>
            <a:off x="4196966" y="5259045"/>
            <a:ext cx="1194184" cy="2941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EFD4E580-B228-8011-4463-41595C4038F7}"/>
              </a:ext>
            </a:extLst>
          </p:cNvPr>
          <p:cNvCxnSpPr>
            <a:cxnSpLocks/>
            <a:stCxn id="34" idx="2"/>
            <a:endCxn id="12" idx="0"/>
          </p:cNvCxnSpPr>
          <p:nvPr/>
        </p:nvCxnSpPr>
        <p:spPr>
          <a:xfrm rot="16200000" flipH="1">
            <a:off x="6399074" y="1893463"/>
            <a:ext cx="608344" cy="38183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26F0D64-D32F-0CB6-DB64-FBB03C40E6B1}"/>
              </a:ext>
            </a:extLst>
          </p:cNvPr>
          <p:cNvSpPr/>
          <p:nvPr/>
        </p:nvSpPr>
        <p:spPr>
          <a:xfrm>
            <a:off x="4196966" y="2925484"/>
            <a:ext cx="1194184" cy="5729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871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" grpId="0"/>
      <p:bldP spid="12" grpId="0"/>
      <p:bldP spid="13" grpId="0" animBg="1"/>
      <p:bldP spid="14" grpId="0" animBg="1"/>
      <p:bldP spid="26" grpId="0" animBg="1"/>
      <p:bldP spid="3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D8E8-3133-9EFC-719A-BE248829A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1F03-3686-58C5-853D-1C7F34F91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(REALES)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72291-294A-5F72-5434-0015F993A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1923548"/>
            <a:ext cx="10908070" cy="283505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_tradnl" sz="2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Conclusiones</a:t>
            </a:r>
          </a:p>
          <a:p>
            <a:pPr algn="just"/>
            <a:r>
              <a:rPr lang="es-ES_tradnl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Sin importar  la metodología empleada, siempre que sea consistente, el resultado en ambos casos será idéntico.</a:t>
            </a:r>
          </a:p>
          <a:p>
            <a:pPr algn="just"/>
            <a:r>
              <a:rPr lang="es-ES_tradnl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En el ejemplo, se concluye que se debe realizar el proyecto porque éste genera valor. Nótese que la metodología utilizada no afecta la viabilidad financiera del proyecto.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3A79D-F96B-E10F-313F-D44A53A5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66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A379AB5-4C4A-570A-EB7E-17F43CC6C10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E3E8477-9759-A3FA-967D-AB64FD2A4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1697C8F-78CF-A071-2C09-30B49718810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B70E643-B32E-25DD-D151-D78EE1429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055" y="4758607"/>
            <a:ext cx="1673890" cy="16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586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D93B-7D79-3A10-0996-4E0C4903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BA17-DCA3-3882-CA19-750ACE02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(REALES)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2472E-7853-8413-4C2B-77051198D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38848"/>
            <a:ext cx="8964742" cy="4316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_tradnl" sz="2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¿Cuáles son los supuestos de la valoración en precios constantes?</a:t>
            </a:r>
          </a:p>
          <a:p>
            <a:pPr marL="0" indent="0">
              <a:buNone/>
            </a:pPr>
            <a:endParaRPr lang="es-ES_tradnl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Se deben deflactar los precios corrientes.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Se deben deflactar las depreciaciones.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Si la inflación cambia en el tiempo, igualmente lo hará la tasa de descuento y los precios.</a:t>
            </a:r>
          </a:p>
          <a:p>
            <a:pPr marL="1008000" lvl="3" indent="0" algn="just">
              <a:buNone/>
            </a:pPr>
            <a:r>
              <a:rPr lang="es-ES_tradnl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La tasa WACC debe ser ajustada con la inflación empleando la fórmula de Fisher.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No existe valor del salvamento del proyecto (si lo hay, se debe deflactar)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0D155-0707-47E3-2117-F276A195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67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84D309-49CA-9E8D-DEAD-F8BD2E0BFD8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DC2403C-8630-CAE1-650A-E0D2C4FDA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293BF08-C656-FC78-906B-9F2A46692CE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11463B-DA2A-660D-48F5-02BAFED55C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18"/>
          <a:stretch/>
        </p:blipFill>
        <p:spPr>
          <a:xfrm>
            <a:off x="9794984" y="3094133"/>
            <a:ext cx="1755051" cy="222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0646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D9F0C-F535-4ABD-AFAD-74325016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34BA-9C0F-0030-3393-7A1A53219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INFLACIÓN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94676-D6CD-3F5C-89BD-604328859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38848"/>
            <a:ext cx="5771982" cy="4316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Cálculo con Deflactores</a:t>
            </a:r>
          </a:p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Es posible derivar los diferentes Flujos de Caja a partir de Factores Inflacionarios o Coeficientes Deflactores.</a:t>
            </a:r>
          </a:p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Este planteamiento surge de la variación del IPC; que al igual que la definición de la inflación, genera un factor. </a:t>
            </a:r>
          </a:p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Este método genera el mismo resultado que emplear el Factor Inflacionario.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B26E5-B29B-7EA4-B850-476AB8D8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68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9E5D841-BA38-D5A1-6805-71818FEC0BC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97EC5FE-DB49-0714-5753-24A58FBAD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5321983-2022-D81D-F1A1-BFDA38A3A1C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35" descr="https://yirepa.es/____impro/1/onewebmedia/TABLA%20NOMINALES%20REALES%20y%20variacion%20reales%20base%202016_edited1.jpg?etag=W%2F%2243d92-58ac9747%22&amp;sourceContentType=image%2Fjpeg&amp;ignoreAspectRatio&amp;resize=506%2B336&amp;quality=85">
            <a:extLst>
              <a:ext uri="{FF2B5EF4-FFF2-40B4-BE49-F238E27FC236}">
                <a16:creationId xmlns:a16="http://schemas.microsoft.com/office/drawing/2014/main" id="{4B33D3BE-1EA7-1863-92A1-AC9DFB8BD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739" y="1922884"/>
            <a:ext cx="4373935" cy="290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7" descr="https://yirepa.es/____impro/1/onewebmedia/coeficiente%20deflactor_edited1.JPG?etag=W%2F%221deaf-58653882%22&amp;sourceContentType=image%2Fjpeg&amp;ignoreAspectRatio&amp;resize=370%2B65&amp;quality=85">
            <a:extLst>
              <a:ext uri="{FF2B5EF4-FFF2-40B4-BE49-F238E27FC236}">
                <a16:creationId xmlns:a16="http://schemas.microsoft.com/office/drawing/2014/main" id="{F6A79F84-66B3-CD61-C233-A284BC4ED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582" y="4997214"/>
            <a:ext cx="3524250" cy="61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7716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7" y="1814732"/>
            <a:ext cx="11079167" cy="826833"/>
          </a:xfrm>
        </p:spPr>
        <p:txBody>
          <a:bodyPr>
            <a:noAutofit/>
          </a:bodyPr>
          <a:lstStyle/>
          <a:p>
            <a:r>
              <a:rPr lang="es-CO" sz="3200" dirty="0">
                <a:latin typeface="Century Gothic"/>
              </a:rPr>
              <a:t>INFLACIÓN y SU IMPACTO EN EL FLUJO DE CAJA DE UN PROYECTO 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E3B9B72-D13E-2CBF-D0CA-6E449C2508E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A2076B-5CA2-165C-9873-6BBE655A1318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8179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3837</TotalTime>
  <Words>5744</Words>
  <Application>Microsoft Macintosh PowerPoint</Application>
  <PresentationFormat>Widescreen</PresentationFormat>
  <Paragraphs>2035</Paragraphs>
  <Slides>69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8" baseType="lpstr">
      <vt:lpstr>Arial</vt:lpstr>
      <vt:lpstr>Calibri</vt:lpstr>
      <vt:lpstr>Cambria Math</vt:lpstr>
      <vt:lpstr>Century Gothic</vt:lpstr>
      <vt:lpstr>Gill Sans MT</vt:lpstr>
      <vt:lpstr>Verdana</vt:lpstr>
      <vt:lpstr>Wingdings</vt:lpstr>
      <vt:lpstr>Wingdings 2</vt:lpstr>
      <vt:lpstr>Dividendo</vt:lpstr>
      <vt:lpstr>INFLACIÓN y SU IMPACTO EN EL FLUJO DE CAJA DE UN PROYECTO (PARTE I)</vt:lpstr>
      <vt:lpstr>AGENDA PROPUESTA</vt:lpstr>
      <vt:lpstr>AGENDA PROPUESTA</vt:lpstr>
      <vt:lpstr>¿QUÉ ES LA INFLACIÓN?</vt:lpstr>
      <vt:lpstr>Inflación</vt:lpstr>
      <vt:lpstr>INFLACIÓN</vt:lpstr>
      <vt:lpstr>INFLACIÓN</vt:lpstr>
      <vt:lpstr>Inflación</vt:lpstr>
      <vt:lpstr>Inflación</vt:lpstr>
      <vt:lpstr>INFLACIÓN</vt:lpstr>
      <vt:lpstr>INFLACIÓN</vt:lpstr>
      <vt:lpstr>INFLACIÓN</vt:lpstr>
      <vt:lpstr>Ejemplo 1</vt:lpstr>
      <vt:lpstr>Ejemplo 2</vt:lpstr>
      <vt:lpstr>Ecuación fisher </vt:lpstr>
      <vt:lpstr>FACTORES</vt:lpstr>
      <vt:lpstr>FACTORES</vt:lpstr>
      <vt:lpstr>EJEMPLO 3</vt:lpstr>
      <vt:lpstr>Ejemplo 3</vt:lpstr>
      <vt:lpstr>INFLACIÓN</vt:lpstr>
      <vt:lpstr>EJEMPLO 4</vt:lpstr>
      <vt:lpstr>EJEMPLO 4</vt:lpstr>
      <vt:lpstr>Proyectos dependientes</vt:lpstr>
      <vt:lpstr>INFLACIÓN</vt:lpstr>
      <vt:lpstr>INFLACIÓN</vt:lpstr>
      <vt:lpstr>inflación</vt:lpstr>
      <vt:lpstr>Precios corrientes (Nominales)</vt:lpstr>
      <vt:lpstr>Precios constantes (reales)</vt:lpstr>
      <vt:lpstr>AGENDA PROPUESTA</vt:lpstr>
      <vt:lpstr>EJEMPLO 5</vt:lpstr>
      <vt:lpstr>EJEMPLO 5</vt:lpstr>
      <vt:lpstr>Excel repaso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AGENDA PROPUESTA</vt:lpstr>
      <vt:lpstr>Precios constantes (REALES)</vt:lpstr>
      <vt:lpstr>Precios constantes (REALES)</vt:lpstr>
      <vt:lpstr>Precios constantes – factor inflacionario </vt:lpstr>
      <vt:lpstr>Precios constantes – inflación 6% 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(REALES)</vt:lpstr>
      <vt:lpstr>Precios constantes (REALES)</vt:lpstr>
      <vt:lpstr>Precios corrientes</vt:lpstr>
      <vt:lpstr>Precios corrientes</vt:lpstr>
      <vt:lpstr>Precios constantes (REALES)</vt:lpstr>
      <vt:lpstr>Precios constantes (REALES)</vt:lpstr>
      <vt:lpstr>INFLACIÓN</vt:lpstr>
      <vt:lpstr>INFLACIÓN y SU IMPACTO EN EL FLUJO DE CAJA DE UN PROYECTO (PARTE 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</cp:lastModifiedBy>
  <cp:revision>89</cp:revision>
  <dcterms:created xsi:type="dcterms:W3CDTF">2019-06-20T04:25:04Z</dcterms:created>
  <dcterms:modified xsi:type="dcterms:W3CDTF">2026-04-30T15:48:14Z</dcterms:modified>
</cp:coreProperties>
</file>