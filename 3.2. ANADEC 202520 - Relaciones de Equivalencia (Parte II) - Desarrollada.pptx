
<file path=[Content_Types].xml><?xml version="1.0" encoding="utf-8"?>
<Types xmlns="http://schemas.openxmlformats.org/package/2006/content-types">
  <Default Extension="docx" ContentType="application/vnd.openxmlformats-officedocument.wordprocessingml.documen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35.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36.xml" ContentType="application/vnd.openxmlformats-officedocument.presentationml.notesSl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3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732" r:id="rId1"/>
  </p:sldMasterIdLst>
  <p:notesMasterIdLst>
    <p:notesMasterId r:id="rId92"/>
  </p:notesMasterIdLst>
  <p:handoutMasterIdLst>
    <p:handoutMasterId r:id="rId93"/>
  </p:handoutMasterIdLst>
  <p:sldIdLst>
    <p:sldId id="402" r:id="rId2"/>
    <p:sldId id="593" r:id="rId3"/>
    <p:sldId id="594" r:id="rId4"/>
    <p:sldId id="264" r:id="rId5"/>
    <p:sldId id="579" r:id="rId6"/>
    <p:sldId id="437" r:id="rId7"/>
    <p:sldId id="586" r:id="rId8"/>
    <p:sldId id="296" r:id="rId9"/>
    <p:sldId id="340" r:id="rId10"/>
    <p:sldId id="339" r:id="rId11"/>
    <p:sldId id="410" r:id="rId12"/>
    <p:sldId id="411" r:id="rId13"/>
    <p:sldId id="409" r:id="rId14"/>
    <p:sldId id="412" r:id="rId15"/>
    <p:sldId id="578" r:id="rId16"/>
    <p:sldId id="358" r:id="rId17"/>
    <p:sldId id="581" r:id="rId18"/>
    <p:sldId id="345" r:id="rId19"/>
    <p:sldId id="346" r:id="rId20"/>
    <p:sldId id="347" r:id="rId21"/>
    <p:sldId id="348" r:id="rId22"/>
    <p:sldId id="595" r:id="rId23"/>
    <p:sldId id="349" r:id="rId24"/>
    <p:sldId id="297" r:id="rId25"/>
    <p:sldId id="299" r:id="rId26"/>
    <p:sldId id="303" r:id="rId27"/>
    <p:sldId id="304" r:id="rId28"/>
    <p:sldId id="305" r:id="rId29"/>
    <p:sldId id="306" r:id="rId30"/>
    <p:sldId id="307" r:id="rId31"/>
    <p:sldId id="308" r:id="rId32"/>
    <p:sldId id="309" r:id="rId33"/>
    <p:sldId id="350" r:id="rId34"/>
    <p:sldId id="310" r:id="rId35"/>
    <p:sldId id="336" r:id="rId36"/>
    <p:sldId id="335" r:id="rId37"/>
    <p:sldId id="600" r:id="rId38"/>
    <p:sldId id="596" r:id="rId39"/>
    <p:sldId id="599" r:id="rId40"/>
    <p:sldId id="414" r:id="rId41"/>
    <p:sldId id="413" r:id="rId42"/>
    <p:sldId id="415" r:id="rId43"/>
    <p:sldId id="416" r:id="rId44"/>
    <p:sldId id="601" r:id="rId45"/>
    <p:sldId id="602" r:id="rId46"/>
    <p:sldId id="603" r:id="rId47"/>
    <p:sldId id="591" r:id="rId48"/>
    <p:sldId id="398" r:id="rId49"/>
    <p:sldId id="354" r:id="rId50"/>
    <p:sldId id="587" r:id="rId51"/>
    <p:sldId id="311" r:id="rId52"/>
    <p:sldId id="312" r:id="rId53"/>
    <p:sldId id="313" r:id="rId54"/>
    <p:sldId id="314" r:id="rId55"/>
    <p:sldId id="315" r:id="rId56"/>
    <p:sldId id="316" r:id="rId57"/>
    <p:sldId id="317" r:id="rId58"/>
    <p:sldId id="318" r:id="rId59"/>
    <p:sldId id="319" r:id="rId60"/>
    <p:sldId id="320" r:id="rId61"/>
    <p:sldId id="321" r:id="rId62"/>
    <p:sldId id="407" r:id="rId63"/>
    <p:sldId id="408" r:id="rId64"/>
    <p:sldId id="322" r:id="rId65"/>
    <p:sldId id="401" r:id="rId66"/>
    <p:sldId id="325" r:id="rId67"/>
    <p:sldId id="326" r:id="rId68"/>
    <p:sldId id="355" r:id="rId69"/>
    <p:sldId id="327" r:id="rId70"/>
    <p:sldId id="424" r:id="rId71"/>
    <p:sldId id="582" r:id="rId72"/>
    <p:sldId id="426" r:id="rId73"/>
    <p:sldId id="427" r:id="rId74"/>
    <p:sldId id="604" r:id="rId75"/>
    <p:sldId id="418" r:id="rId76"/>
    <p:sldId id="419" r:id="rId77"/>
    <p:sldId id="420" r:id="rId78"/>
    <p:sldId id="421" r:id="rId79"/>
    <p:sldId id="422" r:id="rId80"/>
    <p:sldId id="583" r:id="rId81"/>
    <p:sldId id="605" r:id="rId82"/>
    <p:sldId id="337" r:id="rId83"/>
    <p:sldId id="380" r:id="rId84"/>
    <p:sldId id="382" r:id="rId85"/>
    <p:sldId id="383" r:id="rId86"/>
    <p:sldId id="384" r:id="rId87"/>
    <p:sldId id="400" r:id="rId88"/>
    <p:sldId id="592" r:id="rId89"/>
    <p:sldId id="606" r:id="rId90"/>
    <p:sldId id="607" r:id="rId9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ebastian Joseph Sanchez Oyola" initials="SJSO" lastIdx="1" clrIdx="0">
    <p:extLst>
      <p:ext uri="{19B8F6BF-5375-455C-9EA6-DF929625EA0E}">
        <p15:presenceInfo xmlns:p15="http://schemas.microsoft.com/office/powerpoint/2012/main" userId="Sebastian Joseph Sanchez Oyola"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7A700"/>
    <a:srgbClr val="48BE7A"/>
    <a:srgbClr val="002F90"/>
    <a:srgbClr val="6666FF"/>
    <a:srgbClr val="FF6600"/>
    <a:srgbClr val="93FFFF"/>
    <a:srgbClr val="FFF4E6"/>
    <a:srgbClr val="DFFFFF"/>
    <a:srgbClr val="88D5A9"/>
    <a:srgbClr val="E8F8F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7AA0D05-DDFA-344D-BB5F-30936F954B71}" v="27" dt="2026-02-12T15:08:10.076"/>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CAF9ED-07DC-4A11-8D7F-57B35C25682E}" styleName="Estilo medio 1 - Énfasis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72833802-FEF1-4C79-8D5D-14CF1EAF98D9}" styleName="Estilo claro 2 - Acento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0660B408-B3CF-4A94-85FC-2B1E0A45F4A2}" styleName="Estilo oscuro 2 - Énfasis 1/Énfasis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5DA37D80-6434-44D0-A028-1B22A696006F}" styleName="Estilo claro 3 - Acento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21E4AEA4-8DFA-4A89-87EB-49C32662AFE0}" styleName="Estilo medio 2 - Énfasis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DF18680-E054-41AD-8BC1-D1AEF772440D}" styleName="Estilo medio 2 - Énfasis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5AB1C69-6EDB-4FF4-983F-18BD219EF322}" styleName="Estilo medio 2 - Énfasis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73A0DAA-6AF3-43AB-8588-CEC1D06C72B9}" styleName="Estilo medio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Sin estilo, cuadrícula de la tabla">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671" autoAdjust="0"/>
    <p:restoredTop sz="94681"/>
  </p:normalViewPr>
  <p:slideViewPr>
    <p:cSldViewPr snapToGrid="0">
      <p:cViewPr varScale="1">
        <p:scale>
          <a:sx n="149" d="100"/>
          <a:sy n="149" d="100"/>
        </p:scale>
        <p:origin x="200" y="6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presProps" Target="presProp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commentAuthors" Target="commentAuthors.xml"/><Relationship Id="rId9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notesMaster" Target="notesMasters/notesMaster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microsoft.com/office/2015/10/relationships/revisionInfo" Target="revisionInfo.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handoutMaster" Target="handoutMasters/handoutMaster1.xml"/><Relationship Id="rId98"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rigitte Castañeda Rodriguez" userId="5c201908-82f6-498c-9281-7eaa96fb17b4" providerId="ADAL" clId="{A7AA0D05-DDFA-344D-BB5F-30936F954B71}"/>
    <pc:docChg chg="undo custSel addSld delSld modSld">
      <pc:chgData name="Brigitte Castañeda Rodriguez" userId="5c201908-82f6-498c-9281-7eaa96fb17b4" providerId="ADAL" clId="{A7AA0D05-DDFA-344D-BB5F-30936F954B71}" dt="2026-02-12T15:08:14.704" v="131" actId="14100"/>
      <pc:docMkLst>
        <pc:docMk/>
      </pc:docMkLst>
      <pc:sldChg chg="add">
        <pc:chgData name="Brigitte Castañeda Rodriguez" userId="5c201908-82f6-498c-9281-7eaa96fb17b4" providerId="ADAL" clId="{A7AA0D05-DDFA-344D-BB5F-30936F954B71}" dt="2026-02-12T14:06:47.883" v="53"/>
        <pc:sldMkLst>
          <pc:docMk/>
          <pc:sldMk cId="3651731225" sldId="264"/>
        </pc:sldMkLst>
      </pc:sldChg>
      <pc:sldChg chg="del">
        <pc:chgData name="Brigitte Castañeda Rodriguez" userId="5c201908-82f6-498c-9281-7eaa96fb17b4" providerId="ADAL" clId="{A7AA0D05-DDFA-344D-BB5F-30936F954B71}" dt="2026-02-11T02:42:10.230" v="22" actId="2696"/>
        <pc:sldMkLst>
          <pc:docMk/>
          <pc:sldMk cId="2671394050" sldId="268"/>
        </pc:sldMkLst>
      </pc:sldChg>
      <pc:sldChg chg="del">
        <pc:chgData name="Brigitte Castañeda Rodriguez" userId="5c201908-82f6-498c-9281-7eaa96fb17b4" providerId="ADAL" clId="{A7AA0D05-DDFA-344D-BB5F-30936F954B71}" dt="2026-02-11T02:42:10.122" v="3" actId="2696"/>
        <pc:sldMkLst>
          <pc:docMk/>
          <pc:sldMk cId="2841608102" sldId="269"/>
        </pc:sldMkLst>
      </pc:sldChg>
      <pc:sldChg chg="del">
        <pc:chgData name="Brigitte Castañeda Rodriguez" userId="5c201908-82f6-498c-9281-7eaa96fb17b4" providerId="ADAL" clId="{A7AA0D05-DDFA-344D-BB5F-30936F954B71}" dt="2026-02-11T02:42:10.220" v="19" actId="2696"/>
        <pc:sldMkLst>
          <pc:docMk/>
          <pc:sldMk cId="795352772" sldId="270"/>
        </pc:sldMkLst>
      </pc:sldChg>
      <pc:sldChg chg="del">
        <pc:chgData name="Brigitte Castañeda Rodriguez" userId="5c201908-82f6-498c-9281-7eaa96fb17b4" providerId="ADAL" clId="{A7AA0D05-DDFA-344D-BB5F-30936F954B71}" dt="2026-02-11T02:42:10.115" v="1" actId="2696"/>
        <pc:sldMkLst>
          <pc:docMk/>
          <pc:sldMk cId="2668955713" sldId="271"/>
        </pc:sldMkLst>
      </pc:sldChg>
      <pc:sldChg chg="del">
        <pc:chgData name="Brigitte Castañeda Rodriguez" userId="5c201908-82f6-498c-9281-7eaa96fb17b4" providerId="ADAL" clId="{A7AA0D05-DDFA-344D-BB5F-30936F954B71}" dt="2026-02-11T02:42:10.210" v="16" actId="2696"/>
        <pc:sldMkLst>
          <pc:docMk/>
          <pc:sldMk cId="1881068491" sldId="272"/>
        </pc:sldMkLst>
      </pc:sldChg>
      <pc:sldChg chg="del">
        <pc:chgData name="Brigitte Castañeda Rodriguez" userId="5c201908-82f6-498c-9281-7eaa96fb17b4" providerId="ADAL" clId="{A7AA0D05-DDFA-344D-BB5F-30936F954B71}" dt="2026-02-11T02:42:10.200" v="14" actId="2696"/>
        <pc:sldMkLst>
          <pc:docMk/>
          <pc:sldMk cId="1729933346" sldId="273"/>
        </pc:sldMkLst>
      </pc:sldChg>
      <pc:sldChg chg="del">
        <pc:chgData name="Brigitte Castañeda Rodriguez" userId="5c201908-82f6-498c-9281-7eaa96fb17b4" providerId="ADAL" clId="{A7AA0D05-DDFA-344D-BB5F-30936F954B71}" dt="2026-02-11T02:42:10.159" v="11" actId="2696"/>
        <pc:sldMkLst>
          <pc:docMk/>
          <pc:sldMk cId="2727821876" sldId="274"/>
        </pc:sldMkLst>
      </pc:sldChg>
      <pc:sldChg chg="del">
        <pc:chgData name="Brigitte Castañeda Rodriguez" userId="5c201908-82f6-498c-9281-7eaa96fb17b4" providerId="ADAL" clId="{A7AA0D05-DDFA-344D-BB5F-30936F954B71}" dt="2026-02-11T02:42:10.202" v="15" actId="2696"/>
        <pc:sldMkLst>
          <pc:docMk/>
          <pc:sldMk cId="4183779654" sldId="276"/>
        </pc:sldMkLst>
      </pc:sldChg>
      <pc:sldChg chg="del">
        <pc:chgData name="Brigitte Castañeda Rodriguez" userId="5c201908-82f6-498c-9281-7eaa96fb17b4" providerId="ADAL" clId="{A7AA0D05-DDFA-344D-BB5F-30936F954B71}" dt="2026-02-11T02:42:10.233" v="23" actId="2696"/>
        <pc:sldMkLst>
          <pc:docMk/>
          <pc:sldMk cId="3838012178" sldId="277"/>
        </pc:sldMkLst>
      </pc:sldChg>
      <pc:sldChg chg="del">
        <pc:chgData name="Brigitte Castañeda Rodriguez" userId="5c201908-82f6-498c-9281-7eaa96fb17b4" providerId="ADAL" clId="{A7AA0D05-DDFA-344D-BB5F-30936F954B71}" dt="2026-02-11T02:42:10.217" v="18" actId="2696"/>
        <pc:sldMkLst>
          <pc:docMk/>
          <pc:sldMk cId="2853619529" sldId="278"/>
        </pc:sldMkLst>
      </pc:sldChg>
      <pc:sldChg chg="del">
        <pc:chgData name="Brigitte Castañeda Rodriguez" userId="5c201908-82f6-498c-9281-7eaa96fb17b4" providerId="ADAL" clId="{A7AA0D05-DDFA-344D-BB5F-30936F954B71}" dt="2026-02-11T02:42:10.238" v="24" actId="2696"/>
        <pc:sldMkLst>
          <pc:docMk/>
          <pc:sldMk cId="306343461" sldId="279"/>
        </pc:sldMkLst>
      </pc:sldChg>
      <pc:sldChg chg="modSp mod">
        <pc:chgData name="Brigitte Castañeda Rodriguez" userId="5c201908-82f6-498c-9281-7eaa96fb17b4" providerId="ADAL" clId="{A7AA0D05-DDFA-344D-BB5F-30936F954B71}" dt="2026-02-11T02:44:18.318" v="26" actId="33524"/>
        <pc:sldMkLst>
          <pc:docMk/>
          <pc:sldMk cId="332641775" sldId="296"/>
        </pc:sldMkLst>
        <pc:spChg chg="mod">
          <ac:chgData name="Brigitte Castañeda Rodriguez" userId="5c201908-82f6-498c-9281-7eaa96fb17b4" providerId="ADAL" clId="{A7AA0D05-DDFA-344D-BB5F-30936F954B71}" dt="2026-02-11T02:44:18.318" v="26" actId="33524"/>
          <ac:spMkLst>
            <pc:docMk/>
            <pc:sldMk cId="332641775" sldId="296"/>
            <ac:spMk id="3" creationId="{00000000-0000-0000-0000-000000000000}"/>
          </ac:spMkLst>
        </pc:spChg>
      </pc:sldChg>
      <pc:sldChg chg="modSp mod">
        <pc:chgData name="Brigitte Castañeda Rodriguez" userId="5c201908-82f6-498c-9281-7eaa96fb17b4" providerId="ADAL" clId="{A7AA0D05-DDFA-344D-BB5F-30936F954B71}" dt="2026-02-11T02:56:16.973" v="44" actId="33524"/>
        <pc:sldMkLst>
          <pc:docMk/>
          <pc:sldMk cId="593585955" sldId="305"/>
        </pc:sldMkLst>
        <pc:spChg chg="mod">
          <ac:chgData name="Brigitte Castañeda Rodriguez" userId="5c201908-82f6-498c-9281-7eaa96fb17b4" providerId="ADAL" clId="{A7AA0D05-DDFA-344D-BB5F-30936F954B71}" dt="2026-02-11T02:56:16.973" v="44" actId="33524"/>
          <ac:spMkLst>
            <pc:docMk/>
            <pc:sldMk cId="593585955" sldId="305"/>
            <ac:spMk id="3" creationId="{00000000-0000-0000-0000-000000000000}"/>
          </ac:spMkLst>
        </pc:spChg>
      </pc:sldChg>
      <pc:sldChg chg="modSp add mod">
        <pc:chgData name="Brigitte Castañeda Rodriguez" userId="5c201908-82f6-498c-9281-7eaa96fb17b4" providerId="ADAL" clId="{A7AA0D05-DDFA-344D-BB5F-30936F954B71}" dt="2026-02-11T02:59:40.933" v="45"/>
        <pc:sldMkLst>
          <pc:docMk/>
          <pc:sldMk cId="3519537061" sldId="311"/>
        </pc:sldMkLst>
        <pc:spChg chg="mod">
          <ac:chgData name="Brigitte Castañeda Rodriguez" userId="5c201908-82f6-498c-9281-7eaa96fb17b4" providerId="ADAL" clId="{A7AA0D05-DDFA-344D-BB5F-30936F954B71}" dt="2026-02-11T02:59:40.933" v="45"/>
          <ac:spMkLst>
            <pc:docMk/>
            <pc:sldMk cId="3519537061" sldId="311"/>
            <ac:spMk id="3" creationId="{00000000-0000-0000-0000-000000000000}"/>
          </ac:spMkLst>
        </pc:spChg>
      </pc:sldChg>
      <pc:sldChg chg="add">
        <pc:chgData name="Brigitte Castañeda Rodriguez" userId="5c201908-82f6-498c-9281-7eaa96fb17b4" providerId="ADAL" clId="{A7AA0D05-DDFA-344D-BB5F-30936F954B71}" dt="2026-02-11T02:43:00.312" v="25"/>
        <pc:sldMkLst>
          <pc:docMk/>
          <pc:sldMk cId="1917011515" sldId="312"/>
        </pc:sldMkLst>
      </pc:sldChg>
      <pc:sldChg chg="add mod modShow">
        <pc:chgData name="Brigitte Castañeda Rodriguez" userId="5c201908-82f6-498c-9281-7eaa96fb17b4" providerId="ADAL" clId="{A7AA0D05-DDFA-344D-BB5F-30936F954B71}" dt="2026-02-12T15:04:39.840" v="83" actId="729"/>
        <pc:sldMkLst>
          <pc:docMk/>
          <pc:sldMk cId="1564040955" sldId="313"/>
        </pc:sldMkLst>
      </pc:sldChg>
      <pc:sldChg chg="add">
        <pc:chgData name="Brigitte Castañeda Rodriguez" userId="5c201908-82f6-498c-9281-7eaa96fb17b4" providerId="ADAL" clId="{A7AA0D05-DDFA-344D-BB5F-30936F954B71}" dt="2026-02-11T02:43:00.312" v="25"/>
        <pc:sldMkLst>
          <pc:docMk/>
          <pc:sldMk cId="214683825" sldId="314"/>
        </pc:sldMkLst>
      </pc:sldChg>
      <pc:sldChg chg="add">
        <pc:chgData name="Brigitte Castañeda Rodriguez" userId="5c201908-82f6-498c-9281-7eaa96fb17b4" providerId="ADAL" clId="{A7AA0D05-DDFA-344D-BB5F-30936F954B71}" dt="2026-02-11T02:43:00.312" v="25"/>
        <pc:sldMkLst>
          <pc:docMk/>
          <pc:sldMk cId="392666156" sldId="315"/>
        </pc:sldMkLst>
      </pc:sldChg>
      <pc:sldChg chg="add">
        <pc:chgData name="Brigitte Castañeda Rodriguez" userId="5c201908-82f6-498c-9281-7eaa96fb17b4" providerId="ADAL" clId="{A7AA0D05-DDFA-344D-BB5F-30936F954B71}" dt="2026-02-11T02:43:00.312" v="25"/>
        <pc:sldMkLst>
          <pc:docMk/>
          <pc:sldMk cId="1878738384" sldId="316"/>
        </pc:sldMkLst>
      </pc:sldChg>
      <pc:sldChg chg="add mod modShow">
        <pc:chgData name="Brigitte Castañeda Rodriguez" userId="5c201908-82f6-498c-9281-7eaa96fb17b4" providerId="ADAL" clId="{A7AA0D05-DDFA-344D-BB5F-30936F954B71}" dt="2026-02-12T15:05:01.725" v="84" actId="729"/>
        <pc:sldMkLst>
          <pc:docMk/>
          <pc:sldMk cId="841245230" sldId="317"/>
        </pc:sldMkLst>
      </pc:sldChg>
      <pc:sldChg chg="add mod modShow">
        <pc:chgData name="Brigitte Castañeda Rodriguez" userId="5c201908-82f6-498c-9281-7eaa96fb17b4" providerId="ADAL" clId="{A7AA0D05-DDFA-344D-BB5F-30936F954B71}" dt="2026-02-12T15:05:27.241" v="87" actId="729"/>
        <pc:sldMkLst>
          <pc:docMk/>
          <pc:sldMk cId="1143137923" sldId="318"/>
        </pc:sldMkLst>
      </pc:sldChg>
      <pc:sldChg chg="add mod modShow">
        <pc:chgData name="Brigitte Castañeda Rodriguez" userId="5c201908-82f6-498c-9281-7eaa96fb17b4" providerId="ADAL" clId="{A7AA0D05-DDFA-344D-BB5F-30936F954B71}" dt="2026-02-12T15:05:17.342" v="85" actId="729"/>
        <pc:sldMkLst>
          <pc:docMk/>
          <pc:sldMk cId="1617629590" sldId="319"/>
        </pc:sldMkLst>
      </pc:sldChg>
      <pc:sldChg chg="add mod modShow">
        <pc:chgData name="Brigitte Castañeda Rodriguez" userId="5c201908-82f6-498c-9281-7eaa96fb17b4" providerId="ADAL" clId="{A7AA0D05-DDFA-344D-BB5F-30936F954B71}" dt="2026-02-12T15:05:20.722" v="86" actId="729"/>
        <pc:sldMkLst>
          <pc:docMk/>
          <pc:sldMk cId="4108932025" sldId="320"/>
        </pc:sldMkLst>
      </pc:sldChg>
      <pc:sldChg chg="add mod modShow">
        <pc:chgData name="Brigitte Castañeda Rodriguez" userId="5c201908-82f6-498c-9281-7eaa96fb17b4" providerId="ADAL" clId="{A7AA0D05-DDFA-344D-BB5F-30936F954B71}" dt="2026-02-12T15:07:40.044" v="125" actId="729"/>
        <pc:sldMkLst>
          <pc:docMk/>
          <pc:sldMk cId="1575738082" sldId="321"/>
        </pc:sldMkLst>
      </pc:sldChg>
      <pc:sldChg chg="add mod modShow">
        <pc:chgData name="Brigitte Castañeda Rodriguez" userId="5c201908-82f6-498c-9281-7eaa96fb17b4" providerId="ADAL" clId="{A7AA0D05-DDFA-344D-BB5F-30936F954B71}" dt="2026-02-12T15:07:40.044" v="125" actId="729"/>
        <pc:sldMkLst>
          <pc:docMk/>
          <pc:sldMk cId="4149029755" sldId="322"/>
        </pc:sldMkLst>
      </pc:sldChg>
      <pc:sldChg chg="add">
        <pc:chgData name="Brigitte Castañeda Rodriguez" userId="5c201908-82f6-498c-9281-7eaa96fb17b4" providerId="ADAL" clId="{A7AA0D05-DDFA-344D-BB5F-30936F954B71}" dt="2026-02-11T02:43:00.312" v="25"/>
        <pc:sldMkLst>
          <pc:docMk/>
          <pc:sldMk cId="663861830" sldId="325"/>
        </pc:sldMkLst>
      </pc:sldChg>
      <pc:sldChg chg="add">
        <pc:chgData name="Brigitte Castañeda Rodriguez" userId="5c201908-82f6-498c-9281-7eaa96fb17b4" providerId="ADAL" clId="{A7AA0D05-DDFA-344D-BB5F-30936F954B71}" dt="2026-02-11T02:43:00.312" v="25"/>
        <pc:sldMkLst>
          <pc:docMk/>
          <pc:sldMk cId="324206918" sldId="326"/>
        </pc:sldMkLst>
      </pc:sldChg>
      <pc:sldChg chg="add">
        <pc:chgData name="Brigitte Castañeda Rodriguez" userId="5c201908-82f6-498c-9281-7eaa96fb17b4" providerId="ADAL" clId="{A7AA0D05-DDFA-344D-BB5F-30936F954B71}" dt="2026-02-11T02:43:00.312" v="25"/>
        <pc:sldMkLst>
          <pc:docMk/>
          <pc:sldMk cId="1559781721" sldId="327"/>
        </pc:sldMkLst>
      </pc:sldChg>
      <pc:sldChg chg="add">
        <pc:chgData name="Brigitte Castañeda Rodriguez" userId="5c201908-82f6-498c-9281-7eaa96fb17b4" providerId="ADAL" clId="{A7AA0D05-DDFA-344D-BB5F-30936F954B71}" dt="2026-02-11T02:43:00.312" v="25"/>
        <pc:sldMkLst>
          <pc:docMk/>
          <pc:sldMk cId="1237486251" sldId="337"/>
        </pc:sldMkLst>
      </pc:sldChg>
      <pc:sldChg chg="mod modShow">
        <pc:chgData name="Brigitte Castañeda Rodriguez" userId="5c201908-82f6-498c-9281-7eaa96fb17b4" providerId="ADAL" clId="{A7AA0D05-DDFA-344D-BB5F-30936F954B71}" dt="2026-02-12T14:57:09.577" v="80" actId="729"/>
        <pc:sldMkLst>
          <pc:docMk/>
          <pc:sldMk cId="3048716194" sldId="347"/>
        </pc:sldMkLst>
      </pc:sldChg>
      <pc:sldChg chg="mod modShow">
        <pc:chgData name="Brigitte Castañeda Rodriguez" userId="5c201908-82f6-498c-9281-7eaa96fb17b4" providerId="ADAL" clId="{A7AA0D05-DDFA-344D-BB5F-30936F954B71}" dt="2026-02-12T14:57:09.577" v="80" actId="729"/>
        <pc:sldMkLst>
          <pc:docMk/>
          <pc:sldMk cId="642138002" sldId="348"/>
        </pc:sldMkLst>
      </pc:sldChg>
      <pc:sldChg chg="del">
        <pc:chgData name="Brigitte Castañeda Rodriguez" userId="5c201908-82f6-498c-9281-7eaa96fb17b4" providerId="ADAL" clId="{A7AA0D05-DDFA-344D-BB5F-30936F954B71}" dt="2026-02-11T02:42:10.212" v="17" actId="2696"/>
        <pc:sldMkLst>
          <pc:docMk/>
          <pc:sldMk cId="1611901610" sldId="351"/>
        </pc:sldMkLst>
      </pc:sldChg>
      <pc:sldChg chg="del">
        <pc:chgData name="Brigitte Castañeda Rodriguez" userId="5c201908-82f6-498c-9281-7eaa96fb17b4" providerId="ADAL" clId="{A7AA0D05-DDFA-344D-BB5F-30936F954B71}" dt="2026-02-11T02:42:10.104" v="0" actId="2696"/>
        <pc:sldMkLst>
          <pc:docMk/>
          <pc:sldMk cId="3711165451" sldId="352"/>
        </pc:sldMkLst>
      </pc:sldChg>
      <pc:sldChg chg="add del">
        <pc:chgData name="Brigitte Castañeda Rodriguez" userId="5c201908-82f6-498c-9281-7eaa96fb17b4" providerId="ADAL" clId="{A7AA0D05-DDFA-344D-BB5F-30936F954B71}" dt="2026-02-11T02:43:00.312" v="25"/>
        <pc:sldMkLst>
          <pc:docMk/>
          <pc:sldMk cId="3254971150" sldId="354"/>
        </pc:sldMkLst>
      </pc:sldChg>
      <pc:sldChg chg="add">
        <pc:chgData name="Brigitte Castañeda Rodriguez" userId="5c201908-82f6-498c-9281-7eaa96fb17b4" providerId="ADAL" clId="{A7AA0D05-DDFA-344D-BB5F-30936F954B71}" dt="2026-02-11T02:43:00.312" v="25"/>
        <pc:sldMkLst>
          <pc:docMk/>
          <pc:sldMk cId="2685482830" sldId="355"/>
        </pc:sldMkLst>
      </pc:sldChg>
      <pc:sldChg chg="modSp mod">
        <pc:chgData name="Brigitte Castañeda Rodriguez" userId="5c201908-82f6-498c-9281-7eaa96fb17b4" providerId="ADAL" clId="{A7AA0D05-DDFA-344D-BB5F-30936F954B71}" dt="2026-02-11T02:50:58.956" v="43" actId="14100"/>
        <pc:sldMkLst>
          <pc:docMk/>
          <pc:sldMk cId="2456379702" sldId="358"/>
        </pc:sldMkLst>
        <pc:spChg chg="mod">
          <ac:chgData name="Brigitte Castañeda Rodriguez" userId="5c201908-82f6-498c-9281-7eaa96fb17b4" providerId="ADAL" clId="{A7AA0D05-DDFA-344D-BB5F-30936F954B71}" dt="2026-02-11T02:50:58.956" v="43" actId="14100"/>
          <ac:spMkLst>
            <pc:docMk/>
            <pc:sldMk cId="2456379702" sldId="358"/>
            <ac:spMk id="2" creationId="{68DF8E08-72D2-0827-2241-DBDA66FB4BBF}"/>
          </ac:spMkLst>
        </pc:spChg>
      </pc:sldChg>
      <pc:sldChg chg="del">
        <pc:chgData name="Brigitte Castañeda Rodriguez" userId="5c201908-82f6-498c-9281-7eaa96fb17b4" providerId="ADAL" clId="{A7AA0D05-DDFA-344D-BB5F-30936F954B71}" dt="2026-02-11T02:42:10.148" v="8" actId="2696"/>
        <pc:sldMkLst>
          <pc:docMk/>
          <pc:sldMk cId="766255527" sldId="364"/>
        </pc:sldMkLst>
      </pc:sldChg>
      <pc:sldChg chg="del">
        <pc:chgData name="Brigitte Castañeda Rodriguez" userId="5c201908-82f6-498c-9281-7eaa96fb17b4" providerId="ADAL" clId="{A7AA0D05-DDFA-344D-BB5F-30936F954B71}" dt="2026-02-11T02:42:10.197" v="13" actId="2696"/>
        <pc:sldMkLst>
          <pc:docMk/>
          <pc:sldMk cId="2437242304" sldId="365"/>
        </pc:sldMkLst>
      </pc:sldChg>
      <pc:sldChg chg="del">
        <pc:chgData name="Brigitte Castañeda Rodriguez" userId="5c201908-82f6-498c-9281-7eaa96fb17b4" providerId="ADAL" clId="{A7AA0D05-DDFA-344D-BB5F-30936F954B71}" dt="2026-02-11T02:42:10.228" v="21" actId="2696"/>
        <pc:sldMkLst>
          <pc:docMk/>
          <pc:sldMk cId="1124056790" sldId="366"/>
        </pc:sldMkLst>
      </pc:sldChg>
      <pc:sldChg chg="del">
        <pc:chgData name="Brigitte Castañeda Rodriguez" userId="5c201908-82f6-498c-9281-7eaa96fb17b4" providerId="ADAL" clId="{A7AA0D05-DDFA-344D-BB5F-30936F954B71}" dt="2026-02-11T02:42:10.162" v="12" actId="2696"/>
        <pc:sldMkLst>
          <pc:docMk/>
          <pc:sldMk cId="1925115927" sldId="368"/>
        </pc:sldMkLst>
      </pc:sldChg>
      <pc:sldChg chg="del">
        <pc:chgData name="Brigitte Castañeda Rodriguez" userId="5c201908-82f6-498c-9281-7eaa96fb17b4" providerId="ADAL" clId="{A7AA0D05-DDFA-344D-BB5F-30936F954B71}" dt="2026-02-11T02:42:10.127" v="4" actId="2696"/>
        <pc:sldMkLst>
          <pc:docMk/>
          <pc:sldMk cId="462053" sldId="371"/>
        </pc:sldMkLst>
      </pc:sldChg>
      <pc:sldChg chg="add">
        <pc:chgData name="Brigitte Castañeda Rodriguez" userId="5c201908-82f6-498c-9281-7eaa96fb17b4" providerId="ADAL" clId="{A7AA0D05-DDFA-344D-BB5F-30936F954B71}" dt="2026-02-11T02:43:00.312" v="25"/>
        <pc:sldMkLst>
          <pc:docMk/>
          <pc:sldMk cId="3100077071" sldId="380"/>
        </pc:sldMkLst>
      </pc:sldChg>
      <pc:sldChg chg="add">
        <pc:chgData name="Brigitte Castañeda Rodriguez" userId="5c201908-82f6-498c-9281-7eaa96fb17b4" providerId="ADAL" clId="{A7AA0D05-DDFA-344D-BB5F-30936F954B71}" dt="2026-02-11T02:43:00.312" v="25"/>
        <pc:sldMkLst>
          <pc:docMk/>
          <pc:sldMk cId="2148594671" sldId="382"/>
        </pc:sldMkLst>
      </pc:sldChg>
      <pc:sldChg chg="add">
        <pc:chgData name="Brigitte Castañeda Rodriguez" userId="5c201908-82f6-498c-9281-7eaa96fb17b4" providerId="ADAL" clId="{A7AA0D05-DDFA-344D-BB5F-30936F954B71}" dt="2026-02-11T02:43:00.312" v="25"/>
        <pc:sldMkLst>
          <pc:docMk/>
          <pc:sldMk cId="3248142960" sldId="383"/>
        </pc:sldMkLst>
      </pc:sldChg>
      <pc:sldChg chg="add">
        <pc:chgData name="Brigitte Castañeda Rodriguez" userId="5c201908-82f6-498c-9281-7eaa96fb17b4" providerId="ADAL" clId="{A7AA0D05-DDFA-344D-BB5F-30936F954B71}" dt="2026-02-11T02:43:00.312" v="25"/>
        <pc:sldMkLst>
          <pc:docMk/>
          <pc:sldMk cId="3981616200" sldId="384"/>
        </pc:sldMkLst>
      </pc:sldChg>
      <pc:sldChg chg="add del">
        <pc:chgData name="Brigitte Castañeda Rodriguez" userId="5c201908-82f6-498c-9281-7eaa96fb17b4" providerId="ADAL" clId="{A7AA0D05-DDFA-344D-BB5F-30936F954B71}" dt="2026-02-11T02:43:00.312" v="25"/>
        <pc:sldMkLst>
          <pc:docMk/>
          <pc:sldMk cId="1142674507" sldId="398"/>
        </pc:sldMkLst>
      </pc:sldChg>
      <pc:sldChg chg="add">
        <pc:chgData name="Brigitte Castañeda Rodriguez" userId="5c201908-82f6-498c-9281-7eaa96fb17b4" providerId="ADAL" clId="{A7AA0D05-DDFA-344D-BB5F-30936F954B71}" dt="2026-02-11T02:43:00.312" v="25"/>
        <pc:sldMkLst>
          <pc:docMk/>
          <pc:sldMk cId="748436791" sldId="400"/>
        </pc:sldMkLst>
      </pc:sldChg>
      <pc:sldChg chg="addSp modSp add mod modAnim">
        <pc:chgData name="Brigitte Castañeda Rodriguez" userId="5c201908-82f6-498c-9281-7eaa96fb17b4" providerId="ADAL" clId="{A7AA0D05-DDFA-344D-BB5F-30936F954B71}" dt="2026-02-12T15:08:14.704" v="131" actId="14100"/>
        <pc:sldMkLst>
          <pc:docMk/>
          <pc:sldMk cId="3187654006" sldId="401"/>
        </pc:sldMkLst>
        <pc:spChg chg="mod">
          <ac:chgData name="Brigitte Castañeda Rodriguez" userId="5c201908-82f6-498c-9281-7eaa96fb17b4" providerId="ADAL" clId="{A7AA0D05-DDFA-344D-BB5F-30936F954B71}" dt="2026-02-12T15:07:21.204" v="120" actId="20577"/>
          <ac:spMkLst>
            <pc:docMk/>
            <pc:sldMk cId="3187654006" sldId="401"/>
            <ac:spMk id="3" creationId="{A13E283C-9128-B592-6E97-7EFEF42F53F4}"/>
          </ac:spMkLst>
        </pc:spChg>
        <pc:spChg chg="add mod">
          <ac:chgData name="Brigitte Castañeda Rodriguez" userId="5c201908-82f6-498c-9281-7eaa96fb17b4" providerId="ADAL" clId="{A7AA0D05-DDFA-344D-BB5F-30936F954B71}" dt="2026-02-12T15:08:08.715" v="128" actId="14100"/>
          <ac:spMkLst>
            <pc:docMk/>
            <pc:sldMk cId="3187654006" sldId="401"/>
            <ac:spMk id="7" creationId="{16088C6C-96A3-48A0-F2E1-7F87A9527F55}"/>
          </ac:spMkLst>
        </pc:spChg>
        <pc:spChg chg="add mod">
          <ac:chgData name="Brigitte Castañeda Rodriguez" userId="5c201908-82f6-498c-9281-7eaa96fb17b4" providerId="ADAL" clId="{A7AA0D05-DDFA-344D-BB5F-30936F954B71}" dt="2026-02-12T15:08:14.704" v="131" actId="14100"/>
          <ac:spMkLst>
            <pc:docMk/>
            <pc:sldMk cId="3187654006" sldId="401"/>
            <ac:spMk id="8" creationId="{C121A039-768A-A151-B76E-E79178259C32}"/>
          </ac:spMkLst>
        </pc:spChg>
        <pc:picChg chg="add mod">
          <ac:chgData name="Brigitte Castañeda Rodriguez" userId="5c201908-82f6-498c-9281-7eaa96fb17b4" providerId="ADAL" clId="{A7AA0D05-DDFA-344D-BB5F-30936F954B71}" dt="2026-02-12T15:07:30.741" v="124" actId="1076"/>
          <ac:picMkLst>
            <pc:docMk/>
            <pc:sldMk cId="3187654006" sldId="401"/>
            <ac:picMk id="2" creationId="{4C218672-C4C8-863F-9CCC-247D8A4DA561}"/>
          </ac:picMkLst>
        </pc:picChg>
      </pc:sldChg>
      <pc:sldChg chg="add mod modShow">
        <pc:chgData name="Brigitte Castañeda Rodriguez" userId="5c201908-82f6-498c-9281-7eaa96fb17b4" providerId="ADAL" clId="{A7AA0D05-DDFA-344D-BB5F-30936F954B71}" dt="2026-02-12T15:07:40.044" v="125" actId="729"/>
        <pc:sldMkLst>
          <pc:docMk/>
          <pc:sldMk cId="816780263" sldId="407"/>
        </pc:sldMkLst>
      </pc:sldChg>
      <pc:sldChg chg="add mod modShow">
        <pc:chgData name="Brigitte Castañeda Rodriguez" userId="5c201908-82f6-498c-9281-7eaa96fb17b4" providerId="ADAL" clId="{A7AA0D05-DDFA-344D-BB5F-30936F954B71}" dt="2026-02-12T15:07:40.044" v="125" actId="729"/>
        <pc:sldMkLst>
          <pc:docMk/>
          <pc:sldMk cId="1556784761" sldId="408"/>
        </pc:sldMkLst>
      </pc:sldChg>
      <pc:sldChg chg="modSp mod modShow">
        <pc:chgData name="Brigitte Castañeda Rodriguez" userId="5c201908-82f6-498c-9281-7eaa96fb17b4" providerId="ADAL" clId="{A7AA0D05-DDFA-344D-BB5F-30936F954B71}" dt="2026-02-11T02:49:05.424" v="31" actId="729"/>
        <pc:sldMkLst>
          <pc:docMk/>
          <pc:sldMk cId="1595692035" sldId="409"/>
        </pc:sldMkLst>
        <pc:spChg chg="mod">
          <ac:chgData name="Brigitte Castañeda Rodriguez" userId="5c201908-82f6-498c-9281-7eaa96fb17b4" providerId="ADAL" clId="{A7AA0D05-DDFA-344D-BB5F-30936F954B71}" dt="2026-02-11T02:47:06.349" v="27"/>
          <ac:spMkLst>
            <pc:docMk/>
            <pc:sldMk cId="1595692035" sldId="409"/>
            <ac:spMk id="16" creationId="{88D93EEB-8B33-60A4-CE48-474569471249}"/>
          </ac:spMkLst>
        </pc:spChg>
      </pc:sldChg>
      <pc:sldChg chg="addSp delSp modSp mod">
        <pc:chgData name="Brigitte Castañeda Rodriguez" userId="5c201908-82f6-498c-9281-7eaa96fb17b4" providerId="ADAL" clId="{A7AA0D05-DDFA-344D-BB5F-30936F954B71}" dt="2026-02-11T02:49:55.234" v="37" actId="1076"/>
        <pc:sldMkLst>
          <pc:docMk/>
          <pc:sldMk cId="4134304306" sldId="411"/>
        </pc:sldMkLst>
        <pc:spChg chg="add mod">
          <ac:chgData name="Brigitte Castañeda Rodriguez" userId="5c201908-82f6-498c-9281-7eaa96fb17b4" providerId="ADAL" clId="{A7AA0D05-DDFA-344D-BB5F-30936F954B71}" dt="2026-02-11T02:49:55.234" v="37" actId="1076"/>
          <ac:spMkLst>
            <pc:docMk/>
            <pc:sldMk cId="4134304306" sldId="411"/>
            <ac:spMk id="4" creationId="{EA055E01-72DF-928A-5641-0CA91D91832D}"/>
          </ac:spMkLst>
        </pc:spChg>
        <pc:spChg chg="del">
          <ac:chgData name="Brigitte Castañeda Rodriguez" userId="5c201908-82f6-498c-9281-7eaa96fb17b4" providerId="ADAL" clId="{A7AA0D05-DDFA-344D-BB5F-30936F954B71}" dt="2026-02-11T02:49:38.542" v="35" actId="478"/>
          <ac:spMkLst>
            <pc:docMk/>
            <pc:sldMk cId="4134304306" sldId="411"/>
            <ac:spMk id="6" creationId="{CF6F98DB-CB21-79CA-84F9-80A1BDF83921}"/>
          </ac:spMkLst>
        </pc:spChg>
        <pc:spChg chg="mod">
          <ac:chgData name="Brigitte Castañeda Rodriguez" userId="5c201908-82f6-498c-9281-7eaa96fb17b4" providerId="ADAL" clId="{A7AA0D05-DDFA-344D-BB5F-30936F954B71}" dt="2026-02-11T02:49:35.681" v="34" actId="20577"/>
          <ac:spMkLst>
            <pc:docMk/>
            <pc:sldMk cId="4134304306" sldId="411"/>
            <ac:spMk id="11" creationId="{08BA28BD-8DC6-2C34-B311-7F21688CD877}"/>
          </ac:spMkLst>
        </pc:spChg>
      </pc:sldChg>
      <pc:sldChg chg="modSp mod modShow">
        <pc:chgData name="Brigitte Castañeda Rodriguez" userId="5c201908-82f6-498c-9281-7eaa96fb17b4" providerId="ADAL" clId="{A7AA0D05-DDFA-344D-BB5F-30936F954B71}" dt="2026-02-11T02:49:10.074" v="32" actId="729"/>
        <pc:sldMkLst>
          <pc:docMk/>
          <pc:sldMk cId="3790929224" sldId="412"/>
        </pc:sldMkLst>
        <pc:spChg chg="mod">
          <ac:chgData name="Brigitte Castañeda Rodriguez" userId="5c201908-82f6-498c-9281-7eaa96fb17b4" providerId="ADAL" clId="{A7AA0D05-DDFA-344D-BB5F-30936F954B71}" dt="2026-02-11T02:47:31.892" v="30" actId="1582"/>
          <ac:spMkLst>
            <pc:docMk/>
            <pc:sldMk cId="3790929224" sldId="412"/>
            <ac:spMk id="11" creationId="{0282780E-5DD0-418B-A3F0-4B360529A3A9}"/>
          </ac:spMkLst>
        </pc:spChg>
      </pc:sldChg>
      <pc:sldChg chg="add">
        <pc:chgData name="Brigitte Castañeda Rodriguez" userId="5c201908-82f6-498c-9281-7eaa96fb17b4" providerId="ADAL" clId="{A7AA0D05-DDFA-344D-BB5F-30936F954B71}" dt="2026-02-11T02:43:00.312" v="25"/>
        <pc:sldMkLst>
          <pc:docMk/>
          <pc:sldMk cId="835575611" sldId="418"/>
        </pc:sldMkLst>
      </pc:sldChg>
      <pc:sldChg chg="add">
        <pc:chgData name="Brigitte Castañeda Rodriguez" userId="5c201908-82f6-498c-9281-7eaa96fb17b4" providerId="ADAL" clId="{A7AA0D05-DDFA-344D-BB5F-30936F954B71}" dt="2026-02-11T02:43:00.312" v="25"/>
        <pc:sldMkLst>
          <pc:docMk/>
          <pc:sldMk cId="2003900263" sldId="419"/>
        </pc:sldMkLst>
      </pc:sldChg>
      <pc:sldChg chg="add">
        <pc:chgData name="Brigitte Castañeda Rodriguez" userId="5c201908-82f6-498c-9281-7eaa96fb17b4" providerId="ADAL" clId="{A7AA0D05-DDFA-344D-BB5F-30936F954B71}" dt="2026-02-11T02:43:00.312" v="25"/>
        <pc:sldMkLst>
          <pc:docMk/>
          <pc:sldMk cId="2935240965" sldId="420"/>
        </pc:sldMkLst>
      </pc:sldChg>
      <pc:sldChg chg="add">
        <pc:chgData name="Brigitte Castañeda Rodriguez" userId="5c201908-82f6-498c-9281-7eaa96fb17b4" providerId="ADAL" clId="{A7AA0D05-DDFA-344D-BB5F-30936F954B71}" dt="2026-02-11T02:43:00.312" v="25"/>
        <pc:sldMkLst>
          <pc:docMk/>
          <pc:sldMk cId="2918233135" sldId="421"/>
        </pc:sldMkLst>
      </pc:sldChg>
      <pc:sldChg chg="add">
        <pc:chgData name="Brigitte Castañeda Rodriguez" userId="5c201908-82f6-498c-9281-7eaa96fb17b4" providerId="ADAL" clId="{A7AA0D05-DDFA-344D-BB5F-30936F954B71}" dt="2026-02-11T02:43:00.312" v="25"/>
        <pc:sldMkLst>
          <pc:docMk/>
          <pc:sldMk cId="3113374818" sldId="422"/>
        </pc:sldMkLst>
      </pc:sldChg>
      <pc:sldChg chg="add">
        <pc:chgData name="Brigitte Castañeda Rodriguez" userId="5c201908-82f6-498c-9281-7eaa96fb17b4" providerId="ADAL" clId="{A7AA0D05-DDFA-344D-BB5F-30936F954B71}" dt="2026-02-11T02:43:00.312" v="25"/>
        <pc:sldMkLst>
          <pc:docMk/>
          <pc:sldMk cId="1869928123" sldId="424"/>
        </pc:sldMkLst>
      </pc:sldChg>
      <pc:sldChg chg="add">
        <pc:chgData name="Brigitte Castañeda Rodriguez" userId="5c201908-82f6-498c-9281-7eaa96fb17b4" providerId="ADAL" clId="{A7AA0D05-DDFA-344D-BB5F-30936F954B71}" dt="2026-02-11T02:43:00.312" v="25"/>
        <pc:sldMkLst>
          <pc:docMk/>
          <pc:sldMk cId="2905986765" sldId="426"/>
        </pc:sldMkLst>
      </pc:sldChg>
      <pc:sldChg chg="add">
        <pc:chgData name="Brigitte Castañeda Rodriguez" userId="5c201908-82f6-498c-9281-7eaa96fb17b4" providerId="ADAL" clId="{A7AA0D05-DDFA-344D-BB5F-30936F954B71}" dt="2026-02-11T02:43:00.312" v="25"/>
        <pc:sldMkLst>
          <pc:docMk/>
          <pc:sldMk cId="3702409694" sldId="427"/>
        </pc:sldMkLst>
      </pc:sldChg>
      <pc:sldChg chg="add">
        <pc:chgData name="Brigitte Castañeda Rodriguez" userId="5c201908-82f6-498c-9281-7eaa96fb17b4" providerId="ADAL" clId="{A7AA0D05-DDFA-344D-BB5F-30936F954B71}" dt="2026-02-12T14:10:13.137" v="63"/>
        <pc:sldMkLst>
          <pc:docMk/>
          <pc:sldMk cId="2844688977" sldId="437"/>
        </pc:sldMkLst>
      </pc:sldChg>
      <pc:sldChg chg="modSp mod">
        <pc:chgData name="Brigitte Castañeda Rodriguez" userId="5c201908-82f6-498c-9281-7eaa96fb17b4" providerId="ADAL" clId="{A7AA0D05-DDFA-344D-BB5F-30936F954B71}" dt="2026-02-11T02:50:23.596" v="40" actId="1582"/>
        <pc:sldMkLst>
          <pc:docMk/>
          <pc:sldMk cId="3233103579" sldId="578"/>
        </pc:sldMkLst>
        <pc:spChg chg="mod">
          <ac:chgData name="Brigitte Castañeda Rodriguez" userId="5c201908-82f6-498c-9281-7eaa96fb17b4" providerId="ADAL" clId="{A7AA0D05-DDFA-344D-BB5F-30936F954B71}" dt="2026-02-11T02:50:23.596" v="40" actId="1582"/>
          <ac:spMkLst>
            <pc:docMk/>
            <pc:sldMk cId="3233103579" sldId="578"/>
            <ac:spMk id="12" creationId="{78043439-B270-4FB9-B6ED-E64CF6411A28}"/>
          </ac:spMkLst>
        </pc:spChg>
      </pc:sldChg>
      <pc:sldChg chg="addSp delSp modSp add del mod modAnim">
        <pc:chgData name="Brigitte Castañeda Rodriguez" userId="5c201908-82f6-498c-9281-7eaa96fb17b4" providerId="ADAL" clId="{A7AA0D05-DDFA-344D-BB5F-30936F954B71}" dt="2026-02-12T14:13:03.952" v="68" actId="1076"/>
        <pc:sldMkLst>
          <pc:docMk/>
          <pc:sldMk cId="642506386" sldId="579"/>
        </pc:sldMkLst>
        <pc:spChg chg="add del mod">
          <ac:chgData name="Brigitte Castañeda Rodriguez" userId="5c201908-82f6-498c-9281-7eaa96fb17b4" providerId="ADAL" clId="{A7AA0D05-DDFA-344D-BB5F-30936F954B71}" dt="2026-02-12T14:13:03.952" v="68" actId="1076"/>
          <ac:spMkLst>
            <pc:docMk/>
            <pc:sldMk cId="642506386" sldId="579"/>
            <ac:spMk id="3" creationId="{B8946E11-53AA-13C6-8C77-2BFC22B92593}"/>
          </ac:spMkLst>
        </pc:spChg>
        <pc:spChg chg="add mod">
          <ac:chgData name="Brigitte Castañeda Rodriguez" userId="5c201908-82f6-498c-9281-7eaa96fb17b4" providerId="ADAL" clId="{A7AA0D05-DDFA-344D-BB5F-30936F954B71}" dt="2026-02-12T14:07:31.911" v="56" actId="1076"/>
          <ac:spMkLst>
            <pc:docMk/>
            <pc:sldMk cId="642506386" sldId="579"/>
            <ac:spMk id="16" creationId="{CC47D63C-5F69-9539-C5DD-1403FA6BEE17}"/>
          </ac:spMkLst>
        </pc:spChg>
        <pc:spChg chg="add mod">
          <ac:chgData name="Brigitte Castañeda Rodriguez" userId="5c201908-82f6-498c-9281-7eaa96fb17b4" providerId="ADAL" clId="{A7AA0D05-DDFA-344D-BB5F-30936F954B71}" dt="2026-02-12T14:07:37.534" v="58" actId="1076"/>
          <ac:spMkLst>
            <pc:docMk/>
            <pc:sldMk cId="642506386" sldId="579"/>
            <ac:spMk id="17" creationId="{83EED2D5-9681-5DF0-6938-9F691BA069EC}"/>
          </ac:spMkLst>
        </pc:spChg>
        <pc:spChg chg="add del mod">
          <ac:chgData name="Brigitte Castañeda Rodriguez" userId="5c201908-82f6-498c-9281-7eaa96fb17b4" providerId="ADAL" clId="{A7AA0D05-DDFA-344D-BB5F-30936F954B71}" dt="2026-02-12T14:13:03.386" v="67" actId="21"/>
          <ac:spMkLst>
            <pc:docMk/>
            <pc:sldMk cId="642506386" sldId="579"/>
            <ac:spMk id="19" creationId="{8C17F93F-F434-2349-4232-27B86DFE9939}"/>
          </ac:spMkLst>
        </pc:spChg>
      </pc:sldChg>
      <pc:sldChg chg="del">
        <pc:chgData name="Brigitte Castañeda Rodriguez" userId="5c201908-82f6-498c-9281-7eaa96fb17b4" providerId="ADAL" clId="{A7AA0D05-DDFA-344D-BB5F-30936F954B71}" dt="2026-02-11T02:42:10.153" v="10" actId="2696"/>
        <pc:sldMkLst>
          <pc:docMk/>
          <pc:sldMk cId="3102876668" sldId="580"/>
        </pc:sldMkLst>
      </pc:sldChg>
      <pc:sldChg chg="addSp modSp mod">
        <pc:chgData name="Brigitte Castañeda Rodriguez" userId="5c201908-82f6-498c-9281-7eaa96fb17b4" providerId="ADAL" clId="{A7AA0D05-DDFA-344D-BB5F-30936F954B71}" dt="2026-02-12T14:29:46.034" v="72"/>
        <pc:sldMkLst>
          <pc:docMk/>
          <pc:sldMk cId="3624729145" sldId="581"/>
        </pc:sldMkLst>
        <pc:spChg chg="add mod">
          <ac:chgData name="Brigitte Castañeda Rodriguez" userId="5c201908-82f6-498c-9281-7eaa96fb17b4" providerId="ADAL" clId="{A7AA0D05-DDFA-344D-BB5F-30936F954B71}" dt="2026-02-12T14:29:45.311" v="70"/>
          <ac:spMkLst>
            <pc:docMk/>
            <pc:sldMk cId="3624729145" sldId="581"/>
            <ac:spMk id="4" creationId="{41A31AA6-F3D9-433F-EAAB-600A5E2860D3}"/>
          </ac:spMkLst>
        </pc:spChg>
        <pc:spChg chg="add mod">
          <ac:chgData name="Brigitte Castañeda Rodriguez" userId="5c201908-82f6-498c-9281-7eaa96fb17b4" providerId="ADAL" clId="{A7AA0D05-DDFA-344D-BB5F-30936F954B71}" dt="2026-02-12T14:29:45.732" v="71"/>
          <ac:spMkLst>
            <pc:docMk/>
            <pc:sldMk cId="3624729145" sldId="581"/>
            <ac:spMk id="7" creationId="{26995AB1-3088-D3B9-E7DA-BA951E2761C7}"/>
          </ac:spMkLst>
        </pc:spChg>
        <pc:spChg chg="mod">
          <ac:chgData name="Brigitte Castañeda Rodriguez" userId="5c201908-82f6-498c-9281-7eaa96fb17b4" providerId="ADAL" clId="{A7AA0D05-DDFA-344D-BB5F-30936F954B71}" dt="2026-02-12T14:28:34.617" v="69" actId="1076"/>
          <ac:spMkLst>
            <pc:docMk/>
            <pc:sldMk cId="3624729145" sldId="581"/>
            <ac:spMk id="8" creationId="{FACB76DD-709E-A5CC-1D3C-59314F184563}"/>
          </ac:spMkLst>
        </pc:spChg>
        <pc:spChg chg="add mod">
          <ac:chgData name="Brigitte Castañeda Rodriguez" userId="5c201908-82f6-498c-9281-7eaa96fb17b4" providerId="ADAL" clId="{A7AA0D05-DDFA-344D-BB5F-30936F954B71}" dt="2026-02-12T14:29:46.034" v="72"/>
          <ac:spMkLst>
            <pc:docMk/>
            <pc:sldMk cId="3624729145" sldId="581"/>
            <ac:spMk id="10" creationId="{0C05412B-DB74-A8F5-D336-D2B7B80A31A2}"/>
          </ac:spMkLst>
        </pc:spChg>
      </pc:sldChg>
      <pc:sldChg chg="add">
        <pc:chgData name="Brigitte Castañeda Rodriguez" userId="5c201908-82f6-498c-9281-7eaa96fb17b4" providerId="ADAL" clId="{A7AA0D05-DDFA-344D-BB5F-30936F954B71}" dt="2026-02-11T02:43:00.312" v="25"/>
        <pc:sldMkLst>
          <pc:docMk/>
          <pc:sldMk cId="3020122887" sldId="582"/>
        </pc:sldMkLst>
      </pc:sldChg>
      <pc:sldChg chg="add">
        <pc:chgData name="Brigitte Castañeda Rodriguez" userId="5c201908-82f6-498c-9281-7eaa96fb17b4" providerId="ADAL" clId="{A7AA0D05-DDFA-344D-BB5F-30936F954B71}" dt="2026-02-11T02:43:00.312" v="25"/>
        <pc:sldMkLst>
          <pc:docMk/>
          <pc:sldMk cId="2600266633" sldId="583"/>
        </pc:sldMkLst>
      </pc:sldChg>
      <pc:sldChg chg="del">
        <pc:chgData name="Brigitte Castañeda Rodriguez" userId="5c201908-82f6-498c-9281-7eaa96fb17b4" providerId="ADAL" clId="{A7AA0D05-DDFA-344D-BB5F-30936F954B71}" dt="2026-02-11T02:42:10.151" v="9" actId="2696"/>
        <pc:sldMkLst>
          <pc:docMk/>
          <pc:sldMk cId="174674879" sldId="585"/>
        </pc:sldMkLst>
      </pc:sldChg>
      <pc:sldChg chg="add">
        <pc:chgData name="Brigitte Castañeda Rodriguez" userId="5c201908-82f6-498c-9281-7eaa96fb17b4" providerId="ADAL" clId="{A7AA0D05-DDFA-344D-BB5F-30936F954B71}" dt="2026-02-11T02:43:00.312" v="25"/>
        <pc:sldMkLst>
          <pc:docMk/>
          <pc:sldMk cId="3657027441" sldId="587"/>
        </pc:sldMkLst>
      </pc:sldChg>
      <pc:sldChg chg="del">
        <pc:chgData name="Brigitte Castañeda Rodriguez" userId="5c201908-82f6-498c-9281-7eaa96fb17b4" providerId="ADAL" clId="{A7AA0D05-DDFA-344D-BB5F-30936F954B71}" dt="2026-02-11T02:42:10.134" v="5" actId="2696"/>
        <pc:sldMkLst>
          <pc:docMk/>
          <pc:sldMk cId="1147818470" sldId="589"/>
        </pc:sldMkLst>
      </pc:sldChg>
      <pc:sldChg chg="del">
        <pc:chgData name="Brigitte Castañeda Rodriguez" userId="5c201908-82f6-498c-9281-7eaa96fb17b4" providerId="ADAL" clId="{A7AA0D05-DDFA-344D-BB5F-30936F954B71}" dt="2026-02-11T02:42:10.118" v="2" actId="2696"/>
        <pc:sldMkLst>
          <pc:docMk/>
          <pc:sldMk cId="1934853730" sldId="592"/>
        </pc:sldMkLst>
      </pc:sldChg>
      <pc:sldChg chg="add">
        <pc:chgData name="Brigitte Castañeda Rodriguez" userId="5c201908-82f6-498c-9281-7eaa96fb17b4" providerId="ADAL" clId="{A7AA0D05-DDFA-344D-BB5F-30936F954B71}" dt="2026-02-11T02:43:00.312" v="25"/>
        <pc:sldMkLst>
          <pc:docMk/>
          <pc:sldMk cId="3730433650" sldId="592"/>
        </pc:sldMkLst>
      </pc:sldChg>
      <pc:sldChg chg="delSp modSp mod">
        <pc:chgData name="Brigitte Castañeda Rodriguez" userId="5c201908-82f6-498c-9281-7eaa96fb17b4" providerId="ADAL" clId="{A7AA0D05-DDFA-344D-BB5F-30936F954B71}" dt="2026-02-12T14:05:30.642" v="49"/>
        <pc:sldMkLst>
          <pc:docMk/>
          <pc:sldMk cId="3389481548" sldId="593"/>
        </pc:sldMkLst>
        <pc:spChg chg="del mod">
          <ac:chgData name="Brigitte Castañeda Rodriguez" userId="5c201908-82f6-498c-9281-7eaa96fb17b4" providerId="ADAL" clId="{A7AA0D05-DDFA-344D-BB5F-30936F954B71}" dt="2026-02-12T14:05:30.642" v="49"/>
          <ac:spMkLst>
            <pc:docMk/>
            <pc:sldMk cId="3389481548" sldId="593"/>
            <ac:spMk id="7" creationId="{6D2C1075-6484-EE39-2996-6A9BC2DDC8D6}"/>
          </ac:spMkLst>
        </pc:spChg>
        <pc:cxnChg chg="mod">
          <ac:chgData name="Brigitte Castañeda Rodriguez" userId="5c201908-82f6-498c-9281-7eaa96fb17b4" providerId="ADAL" clId="{A7AA0D05-DDFA-344D-BB5F-30936F954B71}" dt="2026-02-12T14:05:28.146" v="47" actId="14100"/>
          <ac:cxnSpMkLst>
            <pc:docMk/>
            <pc:sldMk cId="3389481548" sldId="593"/>
            <ac:cxnSpMk id="4" creationId="{BCA4568E-4EEC-DB88-CEE5-6C83351B2F6B}"/>
          </ac:cxnSpMkLst>
        </pc:cxnChg>
      </pc:sldChg>
      <pc:sldChg chg="delSp modSp mod modShow">
        <pc:chgData name="Brigitte Castañeda Rodriguez" userId="5c201908-82f6-498c-9281-7eaa96fb17b4" providerId="ADAL" clId="{A7AA0D05-DDFA-344D-BB5F-30936F954B71}" dt="2026-02-12T14:57:09.577" v="80" actId="729"/>
        <pc:sldMkLst>
          <pc:docMk/>
          <pc:sldMk cId="2495069417" sldId="595"/>
        </pc:sldMkLst>
        <pc:spChg chg="mod">
          <ac:chgData name="Brigitte Castañeda Rodriguez" userId="5c201908-82f6-498c-9281-7eaa96fb17b4" providerId="ADAL" clId="{A7AA0D05-DDFA-344D-BB5F-30936F954B71}" dt="2026-02-12T14:54:52.382" v="77" actId="20577"/>
          <ac:spMkLst>
            <pc:docMk/>
            <pc:sldMk cId="2495069417" sldId="595"/>
            <ac:spMk id="13" creationId="{6110B945-CB36-5707-6889-D17677D7CEA6}"/>
          </ac:spMkLst>
        </pc:spChg>
        <pc:cxnChg chg="del">
          <ac:chgData name="Brigitte Castañeda Rodriguez" userId="5c201908-82f6-498c-9281-7eaa96fb17b4" providerId="ADAL" clId="{A7AA0D05-DDFA-344D-BB5F-30936F954B71}" dt="2026-02-12T14:54:57.216" v="78" actId="478"/>
          <ac:cxnSpMkLst>
            <pc:docMk/>
            <pc:sldMk cId="2495069417" sldId="595"/>
            <ac:cxnSpMk id="25" creationId="{8F322C59-5D62-B5C6-9FBB-605E79F2F405}"/>
          </ac:cxnSpMkLst>
        </pc:cxnChg>
        <pc:cxnChg chg="mod">
          <ac:chgData name="Brigitte Castañeda Rodriguez" userId="5c201908-82f6-498c-9281-7eaa96fb17b4" providerId="ADAL" clId="{A7AA0D05-DDFA-344D-BB5F-30936F954B71}" dt="2026-02-12T14:55:00.870" v="79" actId="14100"/>
          <ac:cxnSpMkLst>
            <pc:docMk/>
            <pc:sldMk cId="2495069417" sldId="595"/>
            <ac:cxnSpMk id="59" creationId="{A5F59367-9D9E-57C4-E612-8A7C1F77CF58}"/>
          </ac:cxnSpMkLst>
        </pc:cxnChg>
      </pc:sldChg>
      <pc:sldChg chg="modSp">
        <pc:chgData name="Brigitte Castañeda Rodriguez" userId="5c201908-82f6-498c-9281-7eaa96fb17b4" providerId="ADAL" clId="{A7AA0D05-DDFA-344D-BB5F-30936F954B71}" dt="2026-02-12T15:02:29.726" v="82" actId="20577"/>
        <pc:sldMkLst>
          <pc:docMk/>
          <pc:sldMk cId="3683971656" sldId="600"/>
        </pc:sldMkLst>
        <pc:spChg chg="mod">
          <ac:chgData name="Brigitte Castañeda Rodriguez" userId="5c201908-82f6-498c-9281-7eaa96fb17b4" providerId="ADAL" clId="{A7AA0D05-DDFA-344D-BB5F-30936F954B71}" dt="2026-02-12T15:02:29.726" v="82" actId="20577"/>
          <ac:spMkLst>
            <pc:docMk/>
            <pc:sldMk cId="3683971656" sldId="600"/>
            <ac:spMk id="19" creationId="{74A7D5AC-8BBE-30CF-78F1-6AD320D4BE10}"/>
          </ac:spMkLst>
        </pc:spChg>
      </pc:sldChg>
      <pc:sldChg chg="add">
        <pc:chgData name="Brigitte Castañeda Rodriguez" userId="5c201908-82f6-498c-9281-7eaa96fb17b4" providerId="ADAL" clId="{A7AA0D05-DDFA-344D-BB5F-30936F954B71}" dt="2026-02-11T02:43:00.312" v="25"/>
        <pc:sldMkLst>
          <pc:docMk/>
          <pc:sldMk cId="3238352289" sldId="604"/>
        </pc:sldMkLst>
      </pc:sldChg>
      <pc:sldChg chg="add">
        <pc:chgData name="Brigitte Castañeda Rodriguez" userId="5c201908-82f6-498c-9281-7eaa96fb17b4" providerId="ADAL" clId="{A7AA0D05-DDFA-344D-BB5F-30936F954B71}" dt="2026-02-11T02:43:00.312" v="25"/>
        <pc:sldMkLst>
          <pc:docMk/>
          <pc:sldMk cId="681333294" sldId="605"/>
        </pc:sldMkLst>
      </pc:sldChg>
      <pc:sldChg chg="add">
        <pc:chgData name="Brigitte Castañeda Rodriguez" userId="5c201908-82f6-498c-9281-7eaa96fb17b4" providerId="ADAL" clId="{A7AA0D05-DDFA-344D-BB5F-30936F954B71}" dt="2026-02-11T02:43:00.312" v="25"/>
        <pc:sldMkLst>
          <pc:docMk/>
          <pc:sldMk cId="2426423182" sldId="606"/>
        </pc:sldMkLst>
      </pc:sldChg>
      <pc:sldChg chg="add">
        <pc:chgData name="Brigitte Castañeda Rodriguez" userId="5c201908-82f6-498c-9281-7eaa96fb17b4" providerId="ADAL" clId="{A7AA0D05-DDFA-344D-BB5F-30936F954B71}" dt="2026-02-11T02:43:00.312" v="25"/>
        <pc:sldMkLst>
          <pc:docMk/>
          <pc:sldMk cId="1559436318" sldId="607"/>
        </pc:sldMkLst>
      </pc:sldChg>
      <pc:sldChg chg="new del">
        <pc:chgData name="Brigitte Castañeda Rodriguez" userId="5c201908-82f6-498c-9281-7eaa96fb17b4" providerId="ADAL" clId="{A7AA0D05-DDFA-344D-BB5F-30936F954B71}" dt="2026-02-12T14:05:51.201" v="51" actId="2696"/>
        <pc:sldMkLst>
          <pc:docMk/>
          <pc:sldMk cId="275331098" sldId="608"/>
        </pc:sldMkLst>
      </pc:sldChg>
      <pc:sldChg chg="new del">
        <pc:chgData name="Brigitte Castañeda Rodriguez" userId="5c201908-82f6-498c-9281-7eaa96fb17b4" providerId="ADAL" clId="{A7AA0D05-DDFA-344D-BB5F-30936F954B71}" dt="2026-02-12T14:10:14.847" v="64" actId="2696"/>
        <pc:sldMkLst>
          <pc:docMk/>
          <pc:sldMk cId="3399949487" sldId="608"/>
        </pc:sldMkLst>
      </pc:sldChg>
      <pc:sldChg chg="new del">
        <pc:chgData name="Brigitte Castañeda Rodriguez" userId="5c201908-82f6-498c-9281-7eaa96fb17b4" providerId="ADAL" clId="{A7AA0D05-DDFA-344D-BB5F-30936F954B71}" dt="2026-02-12T14:08:19.768" v="61" actId="2696"/>
        <pc:sldMkLst>
          <pc:docMk/>
          <pc:sldMk cId="4143072629" sldId="608"/>
        </pc:sldMkLst>
      </pc:sldChg>
      <pc:sldChg chg="add del">
        <pc:chgData name="Brigitte Castañeda Rodriguez" userId="5c201908-82f6-498c-9281-7eaa96fb17b4" providerId="ADAL" clId="{A7AA0D05-DDFA-344D-BB5F-30936F954B71}" dt="2026-02-12T14:08:18.125" v="60" actId="2696"/>
        <pc:sldMkLst>
          <pc:docMk/>
          <pc:sldMk cId="191443311" sldId="609"/>
        </pc:sldMkLst>
      </pc:sldChg>
    </pc:docChg>
  </pc:docChgLst>
  <pc:docChgLst>
    <pc:chgData name="Juan Camilo Ceron Castañeda" userId="4f259f7b-99c1-4cd2-bae5-f45189be4fe0" providerId="ADAL" clId="{D6E3336E-175B-414E-AFB9-1FE22974619B}"/>
    <pc:docChg chg="undo custSel addSld delSld modSld sldOrd">
      <pc:chgData name="Juan Camilo Ceron Castañeda" userId="4f259f7b-99c1-4cd2-bae5-f45189be4fe0" providerId="ADAL" clId="{D6E3336E-175B-414E-AFB9-1FE22974619B}" dt="2026-02-10T02:25:24.768" v="638" actId="113"/>
      <pc:docMkLst>
        <pc:docMk/>
      </pc:docMkLst>
      <pc:sldChg chg="modSp mod">
        <pc:chgData name="Juan Camilo Ceron Castañeda" userId="4f259f7b-99c1-4cd2-bae5-f45189be4fe0" providerId="ADAL" clId="{D6E3336E-175B-414E-AFB9-1FE22974619B}" dt="2026-02-10T02:19:09.640" v="597" actId="207"/>
        <pc:sldMkLst>
          <pc:docMk/>
          <pc:sldMk cId="2490395044" sldId="303"/>
        </pc:sldMkLst>
        <pc:spChg chg="mod">
          <ac:chgData name="Juan Camilo Ceron Castañeda" userId="4f259f7b-99c1-4cd2-bae5-f45189be4fe0" providerId="ADAL" clId="{D6E3336E-175B-414E-AFB9-1FE22974619B}" dt="2026-02-10T02:19:09.640" v="597" actId="207"/>
          <ac:spMkLst>
            <pc:docMk/>
            <pc:sldMk cId="2490395044" sldId="303"/>
            <ac:spMk id="3" creationId="{00000000-0000-0000-0000-000000000000}"/>
          </ac:spMkLst>
        </pc:spChg>
      </pc:sldChg>
      <pc:sldChg chg="modSp mod">
        <pc:chgData name="Juan Camilo Ceron Castañeda" userId="4f259f7b-99c1-4cd2-bae5-f45189be4fe0" providerId="ADAL" clId="{D6E3336E-175B-414E-AFB9-1FE22974619B}" dt="2026-02-10T02:18:55.378" v="596" actId="207"/>
        <pc:sldMkLst>
          <pc:docMk/>
          <pc:sldMk cId="36294030" sldId="308"/>
        </pc:sldMkLst>
        <pc:spChg chg="mod">
          <ac:chgData name="Juan Camilo Ceron Castañeda" userId="4f259f7b-99c1-4cd2-bae5-f45189be4fe0" providerId="ADAL" clId="{D6E3336E-175B-414E-AFB9-1FE22974619B}" dt="2026-02-10T02:18:55.378" v="596" actId="207"/>
          <ac:spMkLst>
            <pc:docMk/>
            <pc:sldMk cId="36294030" sldId="308"/>
            <ac:spMk id="3" creationId="{00000000-0000-0000-0000-000000000000}"/>
          </ac:spMkLst>
        </pc:spChg>
      </pc:sldChg>
      <pc:sldChg chg="modSp mod">
        <pc:chgData name="Juan Camilo Ceron Castañeda" userId="4f259f7b-99c1-4cd2-bae5-f45189be4fe0" providerId="ADAL" clId="{D6E3336E-175B-414E-AFB9-1FE22974619B}" dt="2026-02-10T02:18:44.934" v="595" actId="207"/>
        <pc:sldMkLst>
          <pc:docMk/>
          <pc:sldMk cId="224570825" sldId="335"/>
        </pc:sldMkLst>
        <pc:spChg chg="mod">
          <ac:chgData name="Juan Camilo Ceron Castañeda" userId="4f259f7b-99c1-4cd2-bae5-f45189be4fe0" providerId="ADAL" clId="{D6E3336E-175B-414E-AFB9-1FE22974619B}" dt="2026-02-10T02:18:44.934" v="595" actId="207"/>
          <ac:spMkLst>
            <pc:docMk/>
            <pc:sldMk cId="224570825" sldId="335"/>
            <ac:spMk id="3" creationId="{00000000-0000-0000-0000-000000000000}"/>
          </ac:spMkLst>
        </pc:spChg>
      </pc:sldChg>
      <pc:sldChg chg="modSp mod">
        <pc:chgData name="Juan Camilo Ceron Castañeda" userId="4f259f7b-99c1-4cd2-bae5-f45189be4fe0" providerId="ADAL" clId="{D6E3336E-175B-414E-AFB9-1FE22974619B}" dt="2026-02-10T02:19:26.176" v="599" actId="207"/>
        <pc:sldMkLst>
          <pc:docMk/>
          <pc:sldMk cId="773255042" sldId="345"/>
        </pc:sldMkLst>
        <pc:spChg chg="mod">
          <ac:chgData name="Juan Camilo Ceron Castañeda" userId="4f259f7b-99c1-4cd2-bae5-f45189be4fe0" providerId="ADAL" clId="{D6E3336E-175B-414E-AFB9-1FE22974619B}" dt="2026-02-10T02:19:26.176" v="599" actId="207"/>
          <ac:spMkLst>
            <pc:docMk/>
            <pc:sldMk cId="773255042" sldId="345"/>
            <ac:spMk id="35" creationId="{00000000-0000-0000-0000-000000000000}"/>
          </ac:spMkLst>
        </pc:spChg>
      </pc:sldChg>
      <pc:sldChg chg="modSp mod">
        <pc:chgData name="Juan Camilo Ceron Castañeda" userId="4f259f7b-99c1-4cd2-bae5-f45189be4fe0" providerId="ADAL" clId="{D6E3336E-175B-414E-AFB9-1FE22974619B}" dt="2026-02-10T02:19:17.675" v="598" actId="207"/>
        <pc:sldMkLst>
          <pc:docMk/>
          <pc:sldMk cId="3048716194" sldId="347"/>
        </pc:sldMkLst>
        <pc:spChg chg="mod">
          <ac:chgData name="Juan Camilo Ceron Castañeda" userId="4f259f7b-99c1-4cd2-bae5-f45189be4fe0" providerId="ADAL" clId="{D6E3336E-175B-414E-AFB9-1FE22974619B}" dt="2026-02-10T02:19:17.675" v="598" actId="207"/>
          <ac:spMkLst>
            <pc:docMk/>
            <pc:sldMk cId="3048716194" sldId="347"/>
            <ac:spMk id="35" creationId="{00000000-0000-0000-0000-000000000000}"/>
          </ac:spMkLst>
        </pc:spChg>
      </pc:sldChg>
      <pc:sldChg chg="modSp mod">
        <pc:chgData name="Juan Camilo Ceron Castañeda" userId="4f259f7b-99c1-4cd2-bae5-f45189be4fe0" providerId="ADAL" clId="{D6E3336E-175B-414E-AFB9-1FE22974619B}" dt="2026-02-10T02:20:15.349" v="604" actId="207"/>
        <pc:sldMkLst>
          <pc:docMk/>
          <pc:sldMk cId="1124056790" sldId="366"/>
        </pc:sldMkLst>
        <pc:spChg chg="mod">
          <ac:chgData name="Juan Camilo Ceron Castañeda" userId="4f259f7b-99c1-4cd2-bae5-f45189be4fe0" providerId="ADAL" clId="{D6E3336E-175B-414E-AFB9-1FE22974619B}" dt="2026-02-10T02:20:15.349" v="604" actId="207"/>
          <ac:spMkLst>
            <pc:docMk/>
            <pc:sldMk cId="1124056790" sldId="366"/>
            <ac:spMk id="3" creationId="{00000000-0000-0000-0000-000000000000}"/>
          </ac:spMkLst>
        </pc:spChg>
      </pc:sldChg>
      <pc:sldChg chg="modSp mod">
        <pc:chgData name="Juan Camilo Ceron Castañeda" userId="4f259f7b-99c1-4cd2-bae5-f45189be4fe0" providerId="ADAL" clId="{D6E3336E-175B-414E-AFB9-1FE22974619B}" dt="2026-02-10T02:20:01.558" v="603" actId="207"/>
        <pc:sldMkLst>
          <pc:docMk/>
          <pc:sldMk cId="1925115927" sldId="368"/>
        </pc:sldMkLst>
        <pc:spChg chg="mod">
          <ac:chgData name="Juan Camilo Ceron Castañeda" userId="4f259f7b-99c1-4cd2-bae5-f45189be4fe0" providerId="ADAL" clId="{D6E3336E-175B-414E-AFB9-1FE22974619B}" dt="2026-02-10T02:20:01.558" v="603" actId="207"/>
          <ac:spMkLst>
            <pc:docMk/>
            <pc:sldMk cId="1925115927" sldId="368"/>
            <ac:spMk id="3" creationId="{00000000-0000-0000-0000-000000000000}"/>
          </ac:spMkLst>
        </pc:spChg>
      </pc:sldChg>
      <pc:sldChg chg="modSp mod">
        <pc:chgData name="Juan Camilo Ceron Castañeda" userId="4f259f7b-99c1-4cd2-bae5-f45189be4fe0" providerId="ADAL" clId="{D6E3336E-175B-414E-AFB9-1FE22974619B}" dt="2026-02-10T02:19:51.189" v="602" actId="207"/>
        <pc:sldMkLst>
          <pc:docMk/>
          <pc:sldMk cId="282370818" sldId="402"/>
        </pc:sldMkLst>
        <pc:spChg chg="mod">
          <ac:chgData name="Juan Camilo Ceron Castañeda" userId="4f259f7b-99c1-4cd2-bae5-f45189be4fe0" providerId="ADAL" clId="{D6E3336E-175B-414E-AFB9-1FE22974619B}" dt="2026-02-10T02:19:51.189" v="602" actId="207"/>
          <ac:spMkLst>
            <pc:docMk/>
            <pc:sldMk cId="282370818" sldId="402"/>
            <ac:spMk id="5" creationId="{00000000-0000-0000-0000-000000000000}"/>
          </ac:spMkLst>
        </pc:spChg>
      </pc:sldChg>
      <pc:sldChg chg="modSp mod">
        <pc:chgData name="Juan Camilo Ceron Castañeda" userId="4f259f7b-99c1-4cd2-bae5-f45189be4fe0" providerId="ADAL" clId="{D6E3336E-175B-414E-AFB9-1FE22974619B}" dt="2026-02-10T02:19:45.076" v="601" actId="207"/>
        <pc:sldMkLst>
          <pc:docMk/>
          <pc:sldMk cId="3389481548" sldId="593"/>
        </pc:sldMkLst>
        <pc:spChg chg="mod">
          <ac:chgData name="Juan Camilo Ceron Castañeda" userId="4f259f7b-99c1-4cd2-bae5-f45189be4fe0" providerId="ADAL" clId="{D6E3336E-175B-414E-AFB9-1FE22974619B}" dt="2026-02-10T02:19:45.076" v="601" actId="207"/>
          <ac:spMkLst>
            <pc:docMk/>
            <pc:sldMk cId="3389481548" sldId="593"/>
            <ac:spMk id="5" creationId="{CDABAC36-5C65-DC79-84DC-69D2C6FAA673}"/>
          </ac:spMkLst>
        </pc:spChg>
      </pc:sldChg>
      <pc:sldChg chg="modSp mod">
        <pc:chgData name="Juan Camilo Ceron Castañeda" userId="4f259f7b-99c1-4cd2-bae5-f45189be4fe0" providerId="ADAL" clId="{D6E3336E-175B-414E-AFB9-1FE22974619B}" dt="2026-02-10T02:19:40.237" v="600" actId="207"/>
        <pc:sldMkLst>
          <pc:docMk/>
          <pc:sldMk cId="821986805" sldId="594"/>
        </pc:sldMkLst>
        <pc:spChg chg="mod">
          <ac:chgData name="Juan Camilo Ceron Castañeda" userId="4f259f7b-99c1-4cd2-bae5-f45189be4fe0" providerId="ADAL" clId="{D6E3336E-175B-414E-AFB9-1FE22974619B}" dt="2026-02-10T02:19:40.237" v="600" actId="207"/>
          <ac:spMkLst>
            <pc:docMk/>
            <pc:sldMk cId="821986805" sldId="594"/>
            <ac:spMk id="5" creationId="{D5F191D2-8A9A-C25A-1A7F-3D44B817A956}"/>
          </ac:spMkLst>
        </pc:spChg>
      </pc:sldChg>
      <pc:sldChg chg="addSp delSp modSp mod">
        <pc:chgData name="Juan Camilo Ceron Castañeda" userId="4f259f7b-99c1-4cd2-bae5-f45189be4fe0" providerId="ADAL" clId="{D6E3336E-175B-414E-AFB9-1FE22974619B}" dt="2026-02-10T00:36:24.823" v="299" actId="11"/>
        <pc:sldMkLst>
          <pc:docMk/>
          <pc:sldMk cId="2574756242" sldId="596"/>
        </pc:sldMkLst>
        <pc:spChg chg="mod">
          <ac:chgData name="Juan Camilo Ceron Castañeda" userId="4f259f7b-99c1-4cd2-bae5-f45189be4fe0" providerId="ADAL" clId="{D6E3336E-175B-414E-AFB9-1FE22974619B}" dt="2026-02-10T00:36:24.823" v="299" actId="11"/>
          <ac:spMkLst>
            <pc:docMk/>
            <pc:sldMk cId="2574756242" sldId="596"/>
            <ac:spMk id="3" creationId="{11CE659F-9555-CAD6-6061-3AE938F24994}"/>
          </ac:spMkLst>
        </pc:spChg>
        <pc:spChg chg="mod">
          <ac:chgData name="Juan Camilo Ceron Castañeda" userId="4f259f7b-99c1-4cd2-bae5-f45189be4fe0" providerId="ADAL" clId="{D6E3336E-175B-414E-AFB9-1FE22974619B}" dt="2026-02-10T00:36:02.842" v="298" actId="12788"/>
          <ac:spMkLst>
            <pc:docMk/>
            <pc:sldMk cId="2574756242" sldId="596"/>
            <ac:spMk id="4" creationId="{D860292E-7328-6B2D-A2E8-0D8C7285F353}"/>
          </ac:spMkLst>
        </pc:spChg>
        <pc:spChg chg="del mod">
          <ac:chgData name="Juan Camilo Ceron Castañeda" userId="4f259f7b-99c1-4cd2-bae5-f45189be4fe0" providerId="ADAL" clId="{D6E3336E-175B-414E-AFB9-1FE22974619B}" dt="2026-02-10T00:35:51.246" v="296" actId="478"/>
          <ac:spMkLst>
            <pc:docMk/>
            <pc:sldMk cId="2574756242" sldId="596"/>
            <ac:spMk id="19" creationId="{E70856FD-4530-14FD-28A1-90D1AE3B9DFA}"/>
          </ac:spMkLst>
        </pc:spChg>
        <pc:spChg chg="del mod">
          <ac:chgData name="Juan Camilo Ceron Castañeda" userId="4f259f7b-99c1-4cd2-bae5-f45189be4fe0" providerId="ADAL" clId="{D6E3336E-175B-414E-AFB9-1FE22974619B}" dt="2026-02-10T00:35:51.246" v="296" actId="478"/>
          <ac:spMkLst>
            <pc:docMk/>
            <pc:sldMk cId="2574756242" sldId="596"/>
            <ac:spMk id="20" creationId="{D56C3585-5FC3-4931-F3EE-1655CD9EAB9F}"/>
          </ac:spMkLst>
        </pc:spChg>
        <pc:picChg chg="add del mod">
          <ac:chgData name="Juan Camilo Ceron Castañeda" userId="4f259f7b-99c1-4cd2-bae5-f45189be4fe0" providerId="ADAL" clId="{D6E3336E-175B-414E-AFB9-1FE22974619B}" dt="2026-02-10T00:25:52.885" v="137" actId="478"/>
          <ac:picMkLst>
            <pc:docMk/>
            <pc:sldMk cId="2574756242" sldId="596"/>
            <ac:picMk id="25" creationId="{6DC26719-14AA-FB46-A00F-1CF57E77D5D4}"/>
          </ac:picMkLst>
        </pc:picChg>
        <pc:picChg chg="add del mod">
          <ac:chgData name="Juan Camilo Ceron Castañeda" userId="4f259f7b-99c1-4cd2-bae5-f45189be4fe0" providerId="ADAL" clId="{D6E3336E-175B-414E-AFB9-1FE22974619B}" dt="2026-02-10T00:25:54.212" v="138" actId="478"/>
          <ac:picMkLst>
            <pc:docMk/>
            <pc:sldMk cId="2574756242" sldId="596"/>
            <ac:picMk id="31" creationId="{C2EFA78D-539A-9AD2-144D-C3C2D66D257A}"/>
          </ac:picMkLst>
        </pc:picChg>
      </pc:sldChg>
      <pc:sldChg chg="del">
        <pc:chgData name="Juan Camilo Ceron Castañeda" userId="4f259f7b-99c1-4cd2-bae5-f45189be4fe0" providerId="ADAL" clId="{D6E3336E-175B-414E-AFB9-1FE22974619B}" dt="2026-02-10T00:36:29.716" v="301" actId="47"/>
        <pc:sldMkLst>
          <pc:docMk/>
          <pc:sldMk cId="2828576974" sldId="597"/>
        </pc:sldMkLst>
      </pc:sldChg>
      <pc:sldChg chg="del">
        <pc:chgData name="Juan Camilo Ceron Castañeda" userId="4f259f7b-99c1-4cd2-bae5-f45189be4fe0" providerId="ADAL" clId="{D6E3336E-175B-414E-AFB9-1FE22974619B}" dt="2026-02-10T00:36:27.438" v="300" actId="47"/>
        <pc:sldMkLst>
          <pc:docMk/>
          <pc:sldMk cId="1524370361" sldId="598"/>
        </pc:sldMkLst>
      </pc:sldChg>
      <pc:sldChg chg="addSp delSp modSp mod ord">
        <pc:chgData name="Juan Camilo Ceron Castañeda" userId="4f259f7b-99c1-4cd2-bae5-f45189be4fe0" providerId="ADAL" clId="{D6E3336E-175B-414E-AFB9-1FE22974619B}" dt="2026-02-10T01:05:07.076" v="312" actId="20577"/>
        <pc:sldMkLst>
          <pc:docMk/>
          <pc:sldMk cId="335594308" sldId="599"/>
        </pc:sldMkLst>
        <pc:spChg chg="mod">
          <ac:chgData name="Juan Camilo Ceron Castañeda" userId="4f259f7b-99c1-4cd2-bae5-f45189be4fe0" providerId="ADAL" clId="{D6E3336E-175B-414E-AFB9-1FE22974619B}" dt="2026-02-10T01:05:07.076" v="312" actId="20577"/>
          <ac:spMkLst>
            <pc:docMk/>
            <pc:sldMk cId="335594308" sldId="599"/>
            <ac:spMk id="49" creationId="{A25905D0-BC18-1A33-1330-6EECFA676974}"/>
          </ac:spMkLst>
        </pc:spChg>
        <pc:picChg chg="add del">
          <ac:chgData name="Juan Camilo Ceron Castañeda" userId="4f259f7b-99c1-4cd2-bae5-f45189be4fe0" providerId="ADAL" clId="{D6E3336E-175B-414E-AFB9-1FE22974619B}" dt="2026-02-10T00:36:58.846" v="306" actId="478"/>
          <ac:picMkLst>
            <pc:docMk/>
            <pc:sldMk cId="335594308" sldId="599"/>
            <ac:picMk id="6" creationId="{E061E736-97FD-923A-DB7E-F66C37FCD0F1}"/>
          </ac:picMkLst>
        </pc:picChg>
      </pc:sldChg>
      <pc:sldChg chg="delSp add mod ord">
        <pc:chgData name="Juan Camilo Ceron Castañeda" userId="4f259f7b-99c1-4cd2-bae5-f45189be4fe0" providerId="ADAL" clId="{D6E3336E-175B-414E-AFB9-1FE22974619B}" dt="2026-02-10T00:25:50.478" v="136"/>
        <pc:sldMkLst>
          <pc:docMk/>
          <pc:sldMk cId="3683971656" sldId="600"/>
        </pc:sldMkLst>
        <pc:picChg chg="del">
          <ac:chgData name="Juan Camilo Ceron Castañeda" userId="4f259f7b-99c1-4cd2-bae5-f45189be4fe0" providerId="ADAL" clId="{D6E3336E-175B-414E-AFB9-1FE22974619B}" dt="2026-02-10T00:25:44.005" v="133" actId="478"/>
          <ac:picMkLst>
            <pc:docMk/>
            <pc:sldMk cId="3683971656" sldId="600"/>
            <ac:picMk id="25" creationId="{BAD7FF36-6295-86A1-8E92-F1304E14AEB5}"/>
          </ac:picMkLst>
        </pc:picChg>
        <pc:picChg chg="del">
          <ac:chgData name="Juan Camilo Ceron Castañeda" userId="4f259f7b-99c1-4cd2-bae5-f45189be4fe0" providerId="ADAL" clId="{D6E3336E-175B-414E-AFB9-1FE22974619B}" dt="2026-02-10T00:25:45.515" v="134" actId="478"/>
          <ac:picMkLst>
            <pc:docMk/>
            <pc:sldMk cId="3683971656" sldId="600"/>
            <ac:picMk id="31" creationId="{3B74A7DB-AE4E-7879-AABA-24E5274B2771}"/>
          </ac:picMkLst>
        </pc:picChg>
      </pc:sldChg>
      <pc:sldChg chg="addSp delSp modSp add mod delAnim">
        <pc:chgData name="Juan Camilo Ceron Castañeda" userId="4f259f7b-99c1-4cd2-bae5-f45189be4fe0" providerId="ADAL" clId="{D6E3336E-175B-414E-AFB9-1FE22974619B}" dt="2026-02-10T02:18:10.061" v="573" actId="207"/>
        <pc:sldMkLst>
          <pc:docMk/>
          <pc:sldMk cId="325318454" sldId="601"/>
        </pc:sldMkLst>
        <pc:spChg chg="del">
          <ac:chgData name="Juan Camilo Ceron Castañeda" userId="4f259f7b-99c1-4cd2-bae5-f45189be4fe0" providerId="ADAL" clId="{D6E3336E-175B-414E-AFB9-1FE22974619B}" dt="2026-02-10T01:58:52.988" v="332" actId="478"/>
          <ac:spMkLst>
            <pc:docMk/>
            <pc:sldMk cId="325318454" sldId="601"/>
            <ac:spMk id="3" creationId="{7F8D8A49-3D40-4FC2-DBCC-BCAA324886FA}"/>
          </ac:spMkLst>
        </pc:spChg>
        <pc:spChg chg="del">
          <ac:chgData name="Juan Camilo Ceron Castañeda" userId="4f259f7b-99c1-4cd2-bae5-f45189be4fe0" providerId="ADAL" clId="{D6E3336E-175B-414E-AFB9-1FE22974619B}" dt="2026-02-10T01:58:58.395" v="333" actId="478"/>
          <ac:spMkLst>
            <pc:docMk/>
            <pc:sldMk cId="325318454" sldId="601"/>
            <ac:spMk id="10" creationId="{0EC0094D-4088-05A2-3DF6-DA757B305364}"/>
          </ac:spMkLst>
        </pc:spChg>
        <pc:spChg chg="del">
          <ac:chgData name="Juan Camilo Ceron Castañeda" userId="4f259f7b-99c1-4cd2-bae5-f45189be4fe0" providerId="ADAL" clId="{D6E3336E-175B-414E-AFB9-1FE22974619B}" dt="2026-02-10T01:58:58.395" v="333" actId="478"/>
          <ac:spMkLst>
            <pc:docMk/>
            <pc:sldMk cId="325318454" sldId="601"/>
            <ac:spMk id="12" creationId="{6D7E145B-99BE-44C0-3E9D-A21922601A2E}"/>
          </ac:spMkLst>
        </pc:spChg>
        <pc:spChg chg="del">
          <ac:chgData name="Juan Camilo Ceron Castañeda" userId="4f259f7b-99c1-4cd2-bae5-f45189be4fe0" providerId="ADAL" clId="{D6E3336E-175B-414E-AFB9-1FE22974619B}" dt="2026-02-10T01:58:58.395" v="333" actId="478"/>
          <ac:spMkLst>
            <pc:docMk/>
            <pc:sldMk cId="325318454" sldId="601"/>
            <ac:spMk id="13" creationId="{BC183D15-4EDA-9F1C-6CB3-CB8E16A1E776}"/>
          </ac:spMkLst>
        </pc:spChg>
        <pc:spChg chg="del">
          <ac:chgData name="Juan Camilo Ceron Castañeda" userId="4f259f7b-99c1-4cd2-bae5-f45189be4fe0" providerId="ADAL" clId="{D6E3336E-175B-414E-AFB9-1FE22974619B}" dt="2026-02-10T01:58:58.395" v="333" actId="478"/>
          <ac:spMkLst>
            <pc:docMk/>
            <pc:sldMk cId="325318454" sldId="601"/>
            <ac:spMk id="15" creationId="{95CD3CB7-83A5-8939-7182-F665C7F56D7F}"/>
          </ac:spMkLst>
        </pc:spChg>
        <pc:spChg chg="add del mod">
          <ac:chgData name="Juan Camilo Ceron Castañeda" userId="4f259f7b-99c1-4cd2-bae5-f45189be4fe0" providerId="ADAL" clId="{D6E3336E-175B-414E-AFB9-1FE22974619B}" dt="2026-02-10T01:59:23.567" v="336" actId="478"/>
          <ac:spMkLst>
            <pc:docMk/>
            <pc:sldMk cId="325318454" sldId="601"/>
            <ac:spMk id="16" creationId="{7B23EA7E-FD07-18DB-BAEB-A15B67C87E3B}"/>
          </ac:spMkLst>
        </pc:spChg>
        <pc:spChg chg="del">
          <ac:chgData name="Juan Camilo Ceron Castañeda" userId="4f259f7b-99c1-4cd2-bae5-f45189be4fe0" providerId="ADAL" clId="{D6E3336E-175B-414E-AFB9-1FE22974619B}" dt="2026-02-10T01:58:58.395" v="333" actId="478"/>
          <ac:spMkLst>
            <pc:docMk/>
            <pc:sldMk cId="325318454" sldId="601"/>
            <ac:spMk id="17" creationId="{6E7FA573-0458-672F-8209-59103E0DC457}"/>
          </ac:spMkLst>
        </pc:spChg>
        <pc:spChg chg="del">
          <ac:chgData name="Juan Camilo Ceron Castañeda" userId="4f259f7b-99c1-4cd2-bae5-f45189be4fe0" providerId="ADAL" clId="{D6E3336E-175B-414E-AFB9-1FE22974619B}" dt="2026-02-10T01:58:58.395" v="333" actId="478"/>
          <ac:spMkLst>
            <pc:docMk/>
            <pc:sldMk cId="325318454" sldId="601"/>
            <ac:spMk id="18" creationId="{0C77D0DA-74CB-09E6-BF54-AE24D6ACB6DA}"/>
          </ac:spMkLst>
        </pc:spChg>
        <pc:spChg chg="del">
          <ac:chgData name="Juan Camilo Ceron Castañeda" userId="4f259f7b-99c1-4cd2-bae5-f45189be4fe0" providerId="ADAL" clId="{D6E3336E-175B-414E-AFB9-1FE22974619B}" dt="2026-02-10T01:58:58.395" v="333" actId="478"/>
          <ac:spMkLst>
            <pc:docMk/>
            <pc:sldMk cId="325318454" sldId="601"/>
            <ac:spMk id="19" creationId="{535494E9-5A6B-4AE2-8596-E60D8D55BDD1}"/>
          </ac:spMkLst>
        </pc:spChg>
        <pc:spChg chg="del">
          <ac:chgData name="Juan Camilo Ceron Castañeda" userId="4f259f7b-99c1-4cd2-bae5-f45189be4fe0" providerId="ADAL" clId="{D6E3336E-175B-414E-AFB9-1FE22974619B}" dt="2026-02-10T01:58:58.395" v="333" actId="478"/>
          <ac:spMkLst>
            <pc:docMk/>
            <pc:sldMk cId="325318454" sldId="601"/>
            <ac:spMk id="20" creationId="{234DCAC8-EA30-7CFD-BAC3-D14588A4361C}"/>
          </ac:spMkLst>
        </pc:spChg>
        <pc:spChg chg="add">
          <ac:chgData name="Juan Camilo Ceron Castañeda" userId="4f259f7b-99c1-4cd2-bae5-f45189be4fe0" providerId="ADAL" clId="{D6E3336E-175B-414E-AFB9-1FE22974619B}" dt="2026-02-10T01:59:12.750" v="335"/>
          <ac:spMkLst>
            <pc:docMk/>
            <pc:sldMk cId="325318454" sldId="601"/>
            <ac:spMk id="22" creationId="{E6152626-BD63-D178-DF7F-A50916A0BAA8}"/>
          </ac:spMkLst>
        </pc:spChg>
        <pc:spChg chg="del">
          <ac:chgData name="Juan Camilo Ceron Castañeda" userId="4f259f7b-99c1-4cd2-bae5-f45189be4fe0" providerId="ADAL" clId="{D6E3336E-175B-414E-AFB9-1FE22974619B}" dt="2026-02-10T01:59:04.164" v="334" actId="478"/>
          <ac:spMkLst>
            <pc:docMk/>
            <pc:sldMk cId="325318454" sldId="601"/>
            <ac:spMk id="23" creationId="{26A375E3-0C64-E337-FB78-58AE0E92FED8}"/>
          </ac:spMkLst>
        </pc:spChg>
        <pc:spChg chg="mod">
          <ac:chgData name="Juan Camilo Ceron Castañeda" userId="4f259f7b-99c1-4cd2-bae5-f45189be4fe0" providerId="ADAL" clId="{D6E3336E-175B-414E-AFB9-1FE22974619B}" dt="2026-02-10T01:58:50.778" v="331" actId="20577"/>
          <ac:spMkLst>
            <pc:docMk/>
            <pc:sldMk cId="325318454" sldId="601"/>
            <ac:spMk id="24" creationId="{D268D65F-40D9-5340-96C2-91EEAF53C77B}"/>
          </ac:spMkLst>
        </pc:spChg>
        <pc:spChg chg="add">
          <ac:chgData name="Juan Camilo Ceron Castañeda" userId="4f259f7b-99c1-4cd2-bae5-f45189be4fe0" providerId="ADAL" clId="{D6E3336E-175B-414E-AFB9-1FE22974619B}" dt="2026-02-10T01:59:12.750" v="335"/>
          <ac:spMkLst>
            <pc:docMk/>
            <pc:sldMk cId="325318454" sldId="601"/>
            <ac:spMk id="31" creationId="{5A6AE5C1-8092-ECFA-40D3-808499C4EB2E}"/>
          </ac:spMkLst>
        </pc:spChg>
        <pc:spChg chg="add mod">
          <ac:chgData name="Juan Camilo Ceron Castañeda" userId="4f259f7b-99c1-4cd2-bae5-f45189be4fe0" providerId="ADAL" clId="{D6E3336E-175B-414E-AFB9-1FE22974619B}" dt="2026-02-10T02:18:10.061" v="573" actId="207"/>
          <ac:spMkLst>
            <pc:docMk/>
            <pc:sldMk cId="325318454" sldId="601"/>
            <ac:spMk id="33" creationId="{2BBAFD57-C03C-B986-5FB7-A6FB6FCDF5F2}"/>
          </ac:spMkLst>
        </pc:spChg>
        <pc:spChg chg="add mod">
          <ac:chgData name="Juan Camilo Ceron Castañeda" userId="4f259f7b-99c1-4cd2-bae5-f45189be4fe0" providerId="ADAL" clId="{D6E3336E-175B-414E-AFB9-1FE22974619B}" dt="2026-02-10T02:03:37.094" v="395" actId="1076"/>
          <ac:spMkLst>
            <pc:docMk/>
            <pc:sldMk cId="325318454" sldId="601"/>
            <ac:spMk id="36" creationId="{114CC3BA-E39D-8AB1-AE3A-C3271A020B68}"/>
          </ac:spMkLst>
        </pc:spChg>
        <pc:spChg chg="add mod">
          <ac:chgData name="Juan Camilo Ceron Castañeda" userId="4f259f7b-99c1-4cd2-bae5-f45189be4fe0" providerId="ADAL" clId="{D6E3336E-175B-414E-AFB9-1FE22974619B}" dt="2026-02-10T02:03:33.066" v="394" actId="1076"/>
          <ac:spMkLst>
            <pc:docMk/>
            <pc:sldMk cId="325318454" sldId="601"/>
            <ac:spMk id="38" creationId="{C816B44F-B9BE-DB0B-CAFC-33AEC3D7E163}"/>
          </ac:spMkLst>
        </pc:spChg>
        <pc:spChg chg="del">
          <ac:chgData name="Juan Camilo Ceron Castañeda" userId="4f259f7b-99c1-4cd2-bae5-f45189be4fe0" providerId="ADAL" clId="{D6E3336E-175B-414E-AFB9-1FE22974619B}" dt="2026-02-10T01:58:58.395" v="333" actId="478"/>
          <ac:spMkLst>
            <pc:docMk/>
            <pc:sldMk cId="325318454" sldId="601"/>
            <ac:spMk id="39" creationId="{2E724881-23E0-93F0-A9F2-F00552C1EF49}"/>
          </ac:spMkLst>
        </pc:spChg>
        <pc:graphicFrameChg chg="add">
          <ac:chgData name="Juan Camilo Ceron Castañeda" userId="4f259f7b-99c1-4cd2-bae5-f45189be4fe0" providerId="ADAL" clId="{D6E3336E-175B-414E-AFB9-1FE22974619B}" dt="2026-02-10T01:59:12.750" v="335"/>
          <ac:graphicFrameMkLst>
            <pc:docMk/>
            <pc:sldMk cId="325318454" sldId="601"/>
            <ac:graphicFrameMk id="26" creationId="{4CF30BA7-9013-47CC-B93C-451D8C88EFF0}"/>
          </ac:graphicFrameMkLst>
        </pc:graphicFrameChg>
        <pc:graphicFrameChg chg="add mod">
          <ac:chgData name="Juan Camilo Ceron Castañeda" userId="4f259f7b-99c1-4cd2-bae5-f45189be4fe0" providerId="ADAL" clId="{D6E3336E-175B-414E-AFB9-1FE22974619B}" dt="2026-02-10T02:01:55.646" v="371" actId="12788"/>
          <ac:graphicFrameMkLst>
            <pc:docMk/>
            <pc:sldMk cId="325318454" sldId="601"/>
            <ac:graphicFrameMk id="34" creationId="{4CF30BA7-9013-47CC-B93C-451D8C88EFF0}"/>
          </ac:graphicFrameMkLst>
        </pc:graphicFrameChg>
      </pc:sldChg>
      <pc:sldChg chg="addSp delSp modSp add mod">
        <pc:chgData name="Juan Camilo Ceron Castañeda" userId="4f259f7b-99c1-4cd2-bae5-f45189be4fe0" providerId="ADAL" clId="{D6E3336E-175B-414E-AFB9-1FE22974619B}" dt="2026-02-10T02:24:25.833" v="606" actId="113"/>
        <pc:sldMkLst>
          <pc:docMk/>
          <pc:sldMk cId="3995588712" sldId="602"/>
        </pc:sldMkLst>
        <pc:spChg chg="add mod">
          <ac:chgData name="Juan Camilo Ceron Castañeda" userId="4f259f7b-99c1-4cd2-bae5-f45189be4fe0" providerId="ADAL" clId="{D6E3336E-175B-414E-AFB9-1FE22974619B}" dt="2026-02-10T02:24:25.833" v="606" actId="113"/>
          <ac:spMkLst>
            <pc:docMk/>
            <pc:sldMk cId="3995588712" sldId="602"/>
            <ac:spMk id="4" creationId="{037E9B95-BA46-DEB4-151F-CBEFF5CC5189}"/>
          </ac:spMkLst>
        </pc:spChg>
        <pc:spChg chg="add del mod">
          <ac:chgData name="Juan Camilo Ceron Castañeda" userId="4f259f7b-99c1-4cd2-bae5-f45189be4fe0" providerId="ADAL" clId="{D6E3336E-175B-414E-AFB9-1FE22974619B}" dt="2026-02-10T02:08:25.361" v="436" actId="478"/>
          <ac:spMkLst>
            <pc:docMk/>
            <pc:sldMk cId="3995588712" sldId="602"/>
            <ac:spMk id="6" creationId="{22753D29-FD27-F7A7-D7CE-A858F71E321A}"/>
          </ac:spMkLst>
        </pc:spChg>
        <pc:spChg chg="mod">
          <ac:chgData name="Juan Camilo Ceron Castañeda" userId="4f259f7b-99c1-4cd2-bae5-f45189be4fe0" providerId="ADAL" clId="{D6E3336E-175B-414E-AFB9-1FE22974619B}" dt="2026-02-10T02:18:31.034" v="594" actId="207"/>
          <ac:spMkLst>
            <pc:docMk/>
            <pc:sldMk cId="3995588712" sldId="602"/>
            <ac:spMk id="33" creationId="{0774FE2F-3654-CE33-53F4-7E6872B3789A}"/>
          </ac:spMkLst>
        </pc:spChg>
      </pc:sldChg>
      <pc:sldChg chg="delSp modSp add mod">
        <pc:chgData name="Juan Camilo Ceron Castañeda" userId="4f259f7b-99c1-4cd2-bae5-f45189be4fe0" providerId="ADAL" clId="{D6E3336E-175B-414E-AFB9-1FE22974619B}" dt="2026-02-10T02:25:24.768" v="638" actId="113"/>
        <pc:sldMkLst>
          <pc:docMk/>
          <pc:sldMk cId="319412477" sldId="603"/>
        </pc:sldMkLst>
        <pc:spChg chg="del">
          <ac:chgData name="Juan Camilo Ceron Castañeda" userId="4f259f7b-99c1-4cd2-bae5-f45189be4fe0" providerId="ADAL" clId="{D6E3336E-175B-414E-AFB9-1FE22974619B}" dt="2026-02-10T02:15:51.534" v="463" actId="478"/>
          <ac:spMkLst>
            <pc:docMk/>
            <pc:sldMk cId="319412477" sldId="603"/>
            <ac:spMk id="4" creationId="{72B94278-91A9-5EE1-A61A-EAB099EF3994}"/>
          </ac:spMkLst>
        </pc:spChg>
        <pc:spChg chg="mod">
          <ac:chgData name="Juan Camilo Ceron Castañeda" userId="4f259f7b-99c1-4cd2-bae5-f45189be4fe0" providerId="ADAL" clId="{D6E3336E-175B-414E-AFB9-1FE22974619B}" dt="2026-02-10T02:25:24.768" v="638" actId="113"/>
          <ac:spMkLst>
            <pc:docMk/>
            <pc:sldMk cId="319412477" sldId="603"/>
            <ac:spMk id="33" creationId="{6328A393-7858-44F2-3C17-F2F753A3611E}"/>
          </ac:spMkLst>
        </pc:sp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https://uniandes-my.sharepoint.com/personal/ay_cortes_uniandes_edu_co/Documents/ANADEC/ASISTENCIA/Semestre%202022-20/Elkin%20Ram&#237;rez/Relaciones%20de%20equivalencia/Soluci&#243;n_RE.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Libro1"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Libro1"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Libro1" TargetMode="External"/><Relationship Id="rId2" Type="http://schemas.microsoft.com/office/2011/relationships/chartColorStyle" Target="colors4.xml"/><Relationship Id="rId1" Type="http://schemas.microsoft.com/office/2011/relationships/chartStyle" Target="style4.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spPr>
            <a:solidFill>
              <a:schemeClr val="accent6"/>
            </a:solidFill>
            <a:ln>
              <a:noFill/>
            </a:ln>
            <a:effectLst/>
          </c:spPr>
          <c:invertIfNegative val="0"/>
          <c:dLbls>
            <c:spPr>
              <a:noFill/>
              <a:ln>
                <a:noFill/>
              </a:ln>
              <a:effectLst/>
            </c:spPr>
            <c:txPr>
              <a:bodyPr rot="0" spcFirstLastPara="1" vertOverflow="ellipsis" vert="horz" wrap="square" anchor="ctr" anchorCtr="1"/>
              <a:lstStyle/>
              <a:p>
                <a:pPr>
                  <a:defRPr sz="900" b="0" i="0" u="none" strike="noStrike" kern="1200" baseline="0">
                    <a:solidFill>
                      <a:schemeClr val="tx1">
                        <a:lumMod val="75000"/>
                        <a:lumOff val="25000"/>
                      </a:schemeClr>
                    </a:solidFill>
                    <a:latin typeface="Verdana" panose="020B0604030504040204" pitchFamily="34" charset="0"/>
                    <a:ea typeface="Verdana" panose="020B0604030504040204" pitchFamily="34" charset="0"/>
                    <a:cs typeface="Times New Roman" panose="02020603050405020304" pitchFamily="18" charset="0"/>
                  </a:defRPr>
                </a:pPr>
                <a:endParaRPr lang="en-CO"/>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Hoja1!$A$14:$A$20</c:f>
              <c:numCache>
                <c:formatCode>General</c:formatCode>
                <c:ptCount val="7"/>
                <c:pt idx="0">
                  <c:v>1</c:v>
                </c:pt>
                <c:pt idx="1">
                  <c:v>2</c:v>
                </c:pt>
                <c:pt idx="2">
                  <c:v>3</c:v>
                </c:pt>
                <c:pt idx="3">
                  <c:v>4</c:v>
                </c:pt>
                <c:pt idx="4">
                  <c:v>5</c:v>
                </c:pt>
                <c:pt idx="5">
                  <c:v>6</c:v>
                </c:pt>
                <c:pt idx="6">
                  <c:v>7</c:v>
                </c:pt>
              </c:numCache>
            </c:numRef>
          </c:cat>
          <c:val>
            <c:numRef>
              <c:f>Hoja1!$B$14:$B$20</c:f>
              <c:numCache>
                <c:formatCode>_("$"* #,##0.00_);_("$"* \(#,##0.00\);_("$"* "-"??_);_(@_)</c:formatCode>
                <c:ptCount val="7"/>
                <c:pt idx="0">
                  <c:v>50</c:v>
                </c:pt>
                <c:pt idx="1">
                  <c:v>50</c:v>
                </c:pt>
                <c:pt idx="2">
                  <c:v>60</c:v>
                </c:pt>
                <c:pt idx="3">
                  <c:v>70</c:v>
                </c:pt>
                <c:pt idx="4">
                  <c:v>80</c:v>
                </c:pt>
                <c:pt idx="5">
                  <c:v>65</c:v>
                </c:pt>
                <c:pt idx="6">
                  <c:v>50</c:v>
                </c:pt>
              </c:numCache>
            </c:numRef>
          </c:val>
          <c:extLst>
            <c:ext xmlns:c16="http://schemas.microsoft.com/office/drawing/2014/chart" uri="{C3380CC4-5D6E-409C-BE32-E72D297353CC}">
              <c16:uniqueId val="{00000000-B009-4D75-96D9-AB485F012A6F}"/>
            </c:ext>
          </c:extLst>
        </c:ser>
        <c:dLbls>
          <c:dLblPos val="outEnd"/>
          <c:showLegendKey val="0"/>
          <c:showVal val="1"/>
          <c:showCatName val="0"/>
          <c:showSerName val="0"/>
          <c:showPercent val="0"/>
          <c:showBubbleSize val="0"/>
        </c:dLbls>
        <c:gapWidth val="219"/>
        <c:overlap val="-27"/>
        <c:axId val="981512879"/>
        <c:axId val="981515375"/>
      </c:barChart>
      <c:catAx>
        <c:axId val="981512879"/>
        <c:scaling>
          <c:orientation val="minMax"/>
        </c:scaling>
        <c:delete val="0"/>
        <c:axPos val="b"/>
        <c:title>
          <c:tx>
            <c:rich>
              <a:bodyPr rot="0" spcFirstLastPara="1" vertOverflow="ellipsis" vert="horz" wrap="square" anchor="ctr" anchorCtr="1"/>
              <a:lstStyle/>
              <a:p>
                <a:pPr>
                  <a:defRPr sz="900" b="0" i="0" u="none" strike="noStrike" kern="1200" baseline="0">
                    <a:solidFill>
                      <a:schemeClr val="tx1">
                        <a:lumMod val="65000"/>
                        <a:lumOff val="35000"/>
                      </a:schemeClr>
                    </a:solidFill>
                    <a:latin typeface="Verdana" panose="020B0604030504040204" pitchFamily="34" charset="0"/>
                    <a:ea typeface="Verdana" panose="020B0604030504040204" pitchFamily="34" charset="0"/>
                    <a:cs typeface="Times New Roman" panose="02020603050405020304" pitchFamily="18" charset="0"/>
                  </a:defRPr>
                </a:pPr>
                <a:r>
                  <a:rPr lang="es-CO"/>
                  <a:t>Año</a:t>
                </a:r>
              </a:p>
            </c:rich>
          </c:tx>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Verdana" panose="020B0604030504040204" pitchFamily="34" charset="0"/>
                  <a:ea typeface="Verdana" panose="020B0604030504040204" pitchFamily="34" charset="0"/>
                  <a:cs typeface="Times New Roman" panose="02020603050405020304" pitchFamily="18" charset="0"/>
                </a:defRPr>
              </a:pPr>
              <a:endParaRPr lang="en-CO"/>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Verdana" panose="020B0604030504040204" pitchFamily="34" charset="0"/>
                <a:ea typeface="Verdana" panose="020B0604030504040204" pitchFamily="34" charset="0"/>
                <a:cs typeface="Times New Roman" panose="02020603050405020304" pitchFamily="18" charset="0"/>
              </a:defRPr>
            </a:pPr>
            <a:endParaRPr lang="en-CO"/>
          </a:p>
        </c:txPr>
        <c:crossAx val="981515375"/>
        <c:crosses val="autoZero"/>
        <c:auto val="1"/>
        <c:lblAlgn val="ctr"/>
        <c:lblOffset val="100"/>
        <c:noMultiLvlLbl val="0"/>
      </c:catAx>
      <c:valAx>
        <c:axId val="981515375"/>
        <c:scaling>
          <c:orientation val="minMax"/>
          <c:max val="110"/>
          <c:min val="0"/>
        </c:scaling>
        <c:delete val="0"/>
        <c:axPos val="l"/>
        <c:title>
          <c:tx>
            <c:rich>
              <a:bodyPr rot="-5400000" spcFirstLastPara="1" vertOverflow="ellipsis" vert="horz" wrap="square" anchor="ctr" anchorCtr="1"/>
              <a:lstStyle/>
              <a:p>
                <a:pPr>
                  <a:defRPr sz="900" b="0" i="0" u="none" strike="noStrike" kern="1200" baseline="0">
                    <a:solidFill>
                      <a:schemeClr val="tx1">
                        <a:lumMod val="65000"/>
                        <a:lumOff val="35000"/>
                      </a:schemeClr>
                    </a:solidFill>
                    <a:latin typeface="Verdana" panose="020B0604030504040204" pitchFamily="34" charset="0"/>
                    <a:ea typeface="Verdana" panose="020B0604030504040204" pitchFamily="34" charset="0"/>
                    <a:cs typeface="Times New Roman" panose="02020603050405020304" pitchFamily="18" charset="0"/>
                  </a:defRPr>
                </a:pPr>
                <a:r>
                  <a:rPr lang="es-CO"/>
                  <a:t>Flujo</a:t>
                </a:r>
              </a:p>
            </c:rich>
          </c:tx>
          <c:overlay val="0"/>
          <c:spPr>
            <a:noFill/>
            <a:ln>
              <a:noFill/>
            </a:ln>
            <a:effectLst/>
          </c:spPr>
          <c:txPr>
            <a:bodyPr rot="-5400000" spcFirstLastPara="1" vertOverflow="ellipsis" vert="horz" wrap="square" anchor="ctr" anchorCtr="1"/>
            <a:lstStyle/>
            <a:p>
              <a:pPr>
                <a:defRPr sz="900" b="0" i="0" u="none" strike="noStrike" kern="1200" baseline="0">
                  <a:solidFill>
                    <a:schemeClr val="tx1">
                      <a:lumMod val="65000"/>
                      <a:lumOff val="35000"/>
                    </a:schemeClr>
                  </a:solidFill>
                  <a:latin typeface="Verdana" panose="020B0604030504040204" pitchFamily="34" charset="0"/>
                  <a:ea typeface="Verdana" panose="020B0604030504040204" pitchFamily="34" charset="0"/>
                  <a:cs typeface="Times New Roman" panose="02020603050405020304" pitchFamily="18" charset="0"/>
                </a:defRPr>
              </a:pPr>
              <a:endParaRPr lang="en-CO"/>
            </a:p>
          </c:txPr>
        </c:title>
        <c:numFmt formatCode="_(&quot;$&quot;* #,##0.00_);_(&quot;$&quot;* \(#,##0.00\);_(&quot;$&quot;* &quot;-&quot;??_);_(@_)"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Verdana" panose="020B0604030504040204" pitchFamily="34" charset="0"/>
                <a:ea typeface="Verdana" panose="020B0604030504040204" pitchFamily="34" charset="0"/>
                <a:cs typeface="Times New Roman" panose="02020603050405020304" pitchFamily="18" charset="0"/>
              </a:defRPr>
            </a:pPr>
            <a:endParaRPr lang="en-CO"/>
          </a:p>
        </c:txPr>
        <c:crossAx val="981512879"/>
        <c:crosses val="autoZero"/>
        <c:crossBetween val="between"/>
      </c:valAx>
      <c:spPr>
        <a:noFill/>
        <a:ln>
          <a:noFill/>
        </a:ln>
        <a:effectLst/>
      </c:spPr>
    </c:plotArea>
    <c:plotVisOnly val="1"/>
    <c:dispBlanksAs val="gap"/>
    <c:showDLblsOverMax val="0"/>
  </c:chart>
  <c:spPr>
    <a:noFill/>
    <a:ln>
      <a:noFill/>
    </a:ln>
    <a:effectLst/>
  </c:spPr>
  <c:txPr>
    <a:bodyPr/>
    <a:lstStyle/>
    <a:p>
      <a:pPr>
        <a:defRPr sz="900">
          <a:latin typeface="Verdana" panose="020B0604030504040204" pitchFamily="34" charset="0"/>
          <a:ea typeface="Verdana" panose="020B0604030504040204" pitchFamily="34" charset="0"/>
          <a:cs typeface="Times New Roman" panose="02020603050405020304" pitchFamily="18" charset="0"/>
        </a:defRPr>
      </a:pPr>
      <a:endParaRPr lang="en-CO"/>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v>Serie</c:v>
          </c:tx>
          <c:spPr>
            <a:solidFill>
              <a:schemeClr val="accent6"/>
            </a:solidFill>
            <a:ln>
              <a:noFill/>
            </a:ln>
            <a:effectLst/>
          </c:spPr>
          <c:invertIfNegative val="0"/>
          <c:cat>
            <c:numRef>
              <c:f>Hoja1!$B$1:$V$1</c:f>
              <c:numCache>
                <c:formatCode>General</c:formatCode>
                <c:ptCount val="2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numCache>
            </c:numRef>
          </c:cat>
          <c:val>
            <c:numRef>
              <c:f>Hoja1!$B$2:$V$2</c:f>
              <c:numCache>
                <c:formatCode>General</c:formatCode>
                <c:ptCount val="21"/>
                <c:pt idx="1">
                  <c:v>200</c:v>
                </c:pt>
                <c:pt idx="2">
                  <c:v>200</c:v>
                </c:pt>
                <c:pt idx="3">
                  <c:v>200</c:v>
                </c:pt>
                <c:pt idx="4">
                  <c:v>200</c:v>
                </c:pt>
                <c:pt idx="5">
                  <c:v>210</c:v>
                </c:pt>
                <c:pt idx="6">
                  <c:v>220</c:v>
                </c:pt>
                <c:pt idx="7">
                  <c:v>230</c:v>
                </c:pt>
                <c:pt idx="8">
                  <c:v>240</c:v>
                </c:pt>
                <c:pt idx="9">
                  <c:v>250</c:v>
                </c:pt>
                <c:pt idx="10">
                  <c:v>260</c:v>
                </c:pt>
                <c:pt idx="11">
                  <c:v>255</c:v>
                </c:pt>
                <c:pt idx="12">
                  <c:v>250</c:v>
                </c:pt>
                <c:pt idx="13">
                  <c:v>245</c:v>
                </c:pt>
                <c:pt idx="14">
                  <c:v>240</c:v>
                </c:pt>
                <c:pt idx="15">
                  <c:v>235</c:v>
                </c:pt>
                <c:pt idx="16" formatCode="0.0">
                  <c:v>242.05</c:v>
                </c:pt>
                <c:pt idx="17" formatCode="0.0">
                  <c:v>249.31150000000002</c:v>
                </c:pt>
                <c:pt idx="18" formatCode="0.0">
                  <c:v>256.79084500000005</c:v>
                </c:pt>
                <c:pt idx="19" formatCode="0.0">
                  <c:v>264.49457035000006</c:v>
                </c:pt>
                <c:pt idx="20" formatCode="0.0">
                  <c:v>272.42940746050004</c:v>
                </c:pt>
              </c:numCache>
            </c:numRef>
          </c:val>
          <c:extLst>
            <c:ext xmlns:c16="http://schemas.microsoft.com/office/drawing/2014/chart" uri="{C3380CC4-5D6E-409C-BE32-E72D297353CC}">
              <c16:uniqueId val="{00000000-14AD-6C47-9F46-B58FB8D89E27}"/>
            </c:ext>
          </c:extLst>
        </c:ser>
        <c:dLbls>
          <c:showLegendKey val="0"/>
          <c:showVal val="0"/>
          <c:showCatName val="0"/>
          <c:showSerName val="0"/>
          <c:showPercent val="0"/>
          <c:showBubbleSize val="0"/>
        </c:dLbls>
        <c:gapWidth val="219"/>
        <c:overlap val="-27"/>
        <c:axId val="-773301904"/>
        <c:axId val="-773301360"/>
      </c:barChart>
      <c:catAx>
        <c:axId val="-77330190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600" b="0" i="0" u="none" strike="noStrike" kern="1200" baseline="0">
                <a:solidFill>
                  <a:schemeClr val="accent1"/>
                </a:solidFill>
                <a:latin typeface="Century Gothic" panose="020B0502020202020204" pitchFamily="34" charset="0"/>
                <a:ea typeface="+mn-ea"/>
                <a:cs typeface="+mn-cs"/>
              </a:defRPr>
            </a:pPr>
            <a:endParaRPr lang="en-CO"/>
          </a:p>
        </c:txPr>
        <c:crossAx val="-773301360"/>
        <c:crosses val="autoZero"/>
        <c:auto val="1"/>
        <c:lblAlgn val="ctr"/>
        <c:lblOffset val="100"/>
        <c:noMultiLvlLbl val="0"/>
      </c:catAx>
      <c:valAx>
        <c:axId val="-773301360"/>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600" b="0" i="0" u="none" strike="noStrike" kern="1200" baseline="0">
                <a:solidFill>
                  <a:schemeClr val="accent1"/>
                </a:solidFill>
                <a:latin typeface="Century Gothic" panose="020B0502020202020204" pitchFamily="34" charset="0"/>
                <a:ea typeface="+mn-ea"/>
                <a:cs typeface="+mn-cs"/>
              </a:defRPr>
            </a:pPr>
            <a:endParaRPr lang="en-CO"/>
          </a:p>
        </c:txPr>
        <c:crossAx val="-773301904"/>
        <c:crosses val="autoZero"/>
        <c:crossBetween val="between"/>
      </c:valAx>
      <c:spPr>
        <a:noFill/>
        <a:ln>
          <a:noFill/>
        </a:ln>
        <a:effectLst/>
      </c:spPr>
    </c:plotArea>
    <c:plotVisOnly val="1"/>
    <c:dispBlanksAs val="gap"/>
    <c:showDLblsOverMax val="0"/>
  </c:chart>
  <c:spPr>
    <a:noFill/>
    <a:ln>
      <a:noFill/>
    </a:ln>
    <a:effectLst/>
  </c:spPr>
  <c:txPr>
    <a:bodyPr/>
    <a:lstStyle/>
    <a:p>
      <a:pPr>
        <a:defRPr sz="1600">
          <a:solidFill>
            <a:schemeClr val="accent1"/>
          </a:solidFill>
          <a:latin typeface="Century Gothic" panose="020B0502020202020204" pitchFamily="34" charset="0"/>
        </a:defRPr>
      </a:pPr>
      <a:endParaRPr lang="en-CO"/>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v>Serie</c:v>
          </c:tx>
          <c:spPr>
            <a:solidFill>
              <a:schemeClr val="accent1"/>
            </a:solidFill>
            <a:ln>
              <a:noFill/>
            </a:ln>
            <a:effectLst/>
          </c:spPr>
          <c:invertIfNegative val="0"/>
          <c:dPt>
            <c:idx val="1"/>
            <c:invertIfNegative val="0"/>
            <c:bubble3D val="0"/>
            <c:spPr>
              <a:solidFill>
                <a:schemeClr val="accent6"/>
              </a:solidFill>
              <a:ln>
                <a:solidFill>
                  <a:schemeClr val="accent6">
                    <a:lumMod val="50000"/>
                  </a:schemeClr>
                </a:solidFill>
              </a:ln>
              <a:effectLst/>
            </c:spPr>
            <c:extLst>
              <c:ext xmlns:c16="http://schemas.microsoft.com/office/drawing/2014/chart" uri="{C3380CC4-5D6E-409C-BE32-E72D297353CC}">
                <c16:uniqueId val="{00000018-9CFD-8B48-AD17-CB8BE998DD08}"/>
              </c:ext>
            </c:extLst>
          </c:dPt>
          <c:dPt>
            <c:idx val="2"/>
            <c:invertIfNegative val="0"/>
            <c:bubble3D val="0"/>
            <c:spPr>
              <a:solidFill>
                <a:schemeClr val="accent6"/>
              </a:solidFill>
              <a:ln>
                <a:solidFill>
                  <a:schemeClr val="accent6">
                    <a:lumMod val="50000"/>
                  </a:schemeClr>
                </a:solidFill>
              </a:ln>
              <a:effectLst/>
            </c:spPr>
            <c:extLst>
              <c:ext xmlns:c16="http://schemas.microsoft.com/office/drawing/2014/chart" uri="{C3380CC4-5D6E-409C-BE32-E72D297353CC}">
                <c16:uniqueId val="{00000019-9CFD-8B48-AD17-CB8BE998DD08}"/>
              </c:ext>
            </c:extLst>
          </c:dPt>
          <c:dPt>
            <c:idx val="3"/>
            <c:invertIfNegative val="0"/>
            <c:bubble3D val="0"/>
            <c:spPr>
              <a:solidFill>
                <a:schemeClr val="accent6"/>
              </a:solidFill>
              <a:ln>
                <a:solidFill>
                  <a:schemeClr val="accent6">
                    <a:lumMod val="50000"/>
                  </a:schemeClr>
                </a:solidFill>
              </a:ln>
              <a:effectLst/>
            </c:spPr>
            <c:extLst>
              <c:ext xmlns:c16="http://schemas.microsoft.com/office/drawing/2014/chart" uri="{C3380CC4-5D6E-409C-BE32-E72D297353CC}">
                <c16:uniqueId val="{0000001A-9CFD-8B48-AD17-CB8BE998DD08}"/>
              </c:ext>
            </c:extLst>
          </c:dPt>
          <c:dPt>
            <c:idx val="4"/>
            <c:invertIfNegative val="0"/>
            <c:bubble3D val="0"/>
            <c:spPr>
              <a:solidFill>
                <a:schemeClr val="accent3"/>
              </a:solidFill>
              <a:ln>
                <a:solidFill>
                  <a:schemeClr val="accent3">
                    <a:lumMod val="50000"/>
                  </a:schemeClr>
                </a:solidFill>
              </a:ln>
              <a:effectLst/>
            </c:spPr>
            <c:extLst>
              <c:ext xmlns:c16="http://schemas.microsoft.com/office/drawing/2014/chart" uri="{C3380CC4-5D6E-409C-BE32-E72D297353CC}">
                <c16:uniqueId val="{00000001-6713-4210-B267-4C9B3DC2E9AF}"/>
              </c:ext>
            </c:extLst>
          </c:dPt>
          <c:dPt>
            <c:idx val="5"/>
            <c:invertIfNegative val="0"/>
            <c:bubble3D val="0"/>
            <c:spPr>
              <a:solidFill>
                <a:schemeClr val="accent3"/>
              </a:solidFill>
              <a:ln>
                <a:solidFill>
                  <a:schemeClr val="accent3">
                    <a:lumMod val="50000"/>
                  </a:schemeClr>
                </a:solidFill>
              </a:ln>
              <a:effectLst/>
            </c:spPr>
            <c:extLst>
              <c:ext xmlns:c16="http://schemas.microsoft.com/office/drawing/2014/chart" uri="{C3380CC4-5D6E-409C-BE32-E72D297353CC}">
                <c16:uniqueId val="{00000003-6713-4210-B267-4C9B3DC2E9AF}"/>
              </c:ext>
            </c:extLst>
          </c:dPt>
          <c:dPt>
            <c:idx val="6"/>
            <c:invertIfNegative val="0"/>
            <c:bubble3D val="0"/>
            <c:spPr>
              <a:solidFill>
                <a:schemeClr val="accent3"/>
              </a:solidFill>
              <a:ln>
                <a:solidFill>
                  <a:schemeClr val="accent3">
                    <a:lumMod val="50000"/>
                  </a:schemeClr>
                </a:solidFill>
              </a:ln>
              <a:effectLst/>
            </c:spPr>
            <c:extLst>
              <c:ext xmlns:c16="http://schemas.microsoft.com/office/drawing/2014/chart" uri="{C3380CC4-5D6E-409C-BE32-E72D297353CC}">
                <c16:uniqueId val="{00000005-6713-4210-B267-4C9B3DC2E9AF}"/>
              </c:ext>
            </c:extLst>
          </c:dPt>
          <c:dPt>
            <c:idx val="7"/>
            <c:invertIfNegative val="0"/>
            <c:bubble3D val="0"/>
            <c:spPr>
              <a:solidFill>
                <a:schemeClr val="accent3"/>
              </a:solidFill>
              <a:ln>
                <a:solidFill>
                  <a:schemeClr val="accent3">
                    <a:lumMod val="50000"/>
                  </a:schemeClr>
                </a:solidFill>
              </a:ln>
              <a:effectLst/>
            </c:spPr>
            <c:extLst>
              <c:ext xmlns:c16="http://schemas.microsoft.com/office/drawing/2014/chart" uri="{C3380CC4-5D6E-409C-BE32-E72D297353CC}">
                <c16:uniqueId val="{00000007-6713-4210-B267-4C9B3DC2E9AF}"/>
              </c:ext>
            </c:extLst>
          </c:dPt>
          <c:dPt>
            <c:idx val="8"/>
            <c:invertIfNegative val="0"/>
            <c:bubble3D val="0"/>
            <c:spPr>
              <a:solidFill>
                <a:schemeClr val="accent3"/>
              </a:solidFill>
              <a:ln>
                <a:solidFill>
                  <a:schemeClr val="accent3">
                    <a:lumMod val="50000"/>
                  </a:schemeClr>
                </a:solidFill>
              </a:ln>
              <a:effectLst/>
            </c:spPr>
            <c:extLst>
              <c:ext xmlns:c16="http://schemas.microsoft.com/office/drawing/2014/chart" uri="{C3380CC4-5D6E-409C-BE32-E72D297353CC}">
                <c16:uniqueId val="{00000009-6713-4210-B267-4C9B3DC2E9AF}"/>
              </c:ext>
            </c:extLst>
          </c:dPt>
          <c:dPt>
            <c:idx val="9"/>
            <c:invertIfNegative val="0"/>
            <c:bubble3D val="0"/>
            <c:spPr>
              <a:solidFill>
                <a:schemeClr val="accent3"/>
              </a:solidFill>
              <a:ln>
                <a:solidFill>
                  <a:schemeClr val="accent3">
                    <a:lumMod val="50000"/>
                  </a:schemeClr>
                </a:solidFill>
              </a:ln>
              <a:effectLst/>
            </c:spPr>
            <c:extLst>
              <c:ext xmlns:c16="http://schemas.microsoft.com/office/drawing/2014/chart" uri="{C3380CC4-5D6E-409C-BE32-E72D297353CC}">
                <c16:uniqueId val="{0000000B-6713-4210-B267-4C9B3DC2E9AF}"/>
              </c:ext>
            </c:extLst>
          </c:dPt>
          <c:dPt>
            <c:idx val="10"/>
            <c:invertIfNegative val="0"/>
            <c:bubble3D val="0"/>
            <c:spPr>
              <a:solidFill>
                <a:schemeClr val="accent3"/>
              </a:solidFill>
              <a:ln>
                <a:solidFill>
                  <a:schemeClr val="accent3">
                    <a:lumMod val="50000"/>
                  </a:schemeClr>
                </a:solidFill>
              </a:ln>
              <a:effectLst/>
            </c:spPr>
            <c:extLst>
              <c:ext xmlns:c16="http://schemas.microsoft.com/office/drawing/2014/chart" uri="{C3380CC4-5D6E-409C-BE32-E72D297353CC}">
                <c16:uniqueId val="{0000000D-6713-4210-B267-4C9B3DC2E9AF}"/>
              </c:ext>
            </c:extLst>
          </c:dPt>
          <c:dPt>
            <c:idx val="11"/>
            <c:invertIfNegative val="0"/>
            <c:bubble3D val="0"/>
            <c:spPr>
              <a:solidFill>
                <a:schemeClr val="accent5">
                  <a:lumMod val="25000"/>
                </a:schemeClr>
              </a:solidFill>
              <a:ln>
                <a:noFill/>
              </a:ln>
              <a:effectLst/>
            </c:spPr>
            <c:extLst>
              <c:ext xmlns:c16="http://schemas.microsoft.com/office/drawing/2014/chart" uri="{C3380CC4-5D6E-409C-BE32-E72D297353CC}">
                <c16:uniqueId val="{0000000F-6713-4210-B267-4C9B3DC2E9AF}"/>
              </c:ext>
            </c:extLst>
          </c:dPt>
          <c:dPt>
            <c:idx val="12"/>
            <c:invertIfNegative val="0"/>
            <c:bubble3D val="0"/>
            <c:spPr>
              <a:solidFill>
                <a:schemeClr val="accent5">
                  <a:lumMod val="25000"/>
                </a:schemeClr>
              </a:solidFill>
              <a:ln>
                <a:noFill/>
              </a:ln>
              <a:effectLst/>
            </c:spPr>
            <c:extLst>
              <c:ext xmlns:c16="http://schemas.microsoft.com/office/drawing/2014/chart" uri="{C3380CC4-5D6E-409C-BE32-E72D297353CC}">
                <c16:uniqueId val="{00000011-6713-4210-B267-4C9B3DC2E9AF}"/>
              </c:ext>
            </c:extLst>
          </c:dPt>
          <c:dPt>
            <c:idx val="13"/>
            <c:invertIfNegative val="0"/>
            <c:bubble3D val="0"/>
            <c:spPr>
              <a:solidFill>
                <a:schemeClr val="accent5">
                  <a:lumMod val="25000"/>
                </a:schemeClr>
              </a:solidFill>
              <a:ln>
                <a:noFill/>
              </a:ln>
              <a:effectLst/>
            </c:spPr>
            <c:extLst>
              <c:ext xmlns:c16="http://schemas.microsoft.com/office/drawing/2014/chart" uri="{C3380CC4-5D6E-409C-BE32-E72D297353CC}">
                <c16:uniqueId val="{00000013-6713-4210-B267-4C9B3DC2E9AF}"/>
              </c:ext>
            </c:extLst>
          </c:dPt>
          <c:dPt>
            <c:idx val="14"/>
            <c:invertIfNegative val="0"/>
            <c:bubble3D val="0"/>
            <c:spPr>
              <a:solidFill>
                <a:schemeClr val="accent5">
                  <a:lumMod val="25000"/>
                </a:schemeClr>
              </a:solidFill>
              <a:ln>
                <a:noFill/>
              </a:ln>
              <a:effectLst/>
            </c:spPr>
            <c:extLst>
              <c:ext xmlns:c16="http://schemas.microsoft.com/office/drawing/2014/chart" uri="{C3380CC4-5D6E-409C-BE32-E72D297353CC}">
                <c16:uniqueId val="{00000015-6713-4210-B267-4C9B3DC2E9AF}"/>
              </c:ext>
            </c:extLst>
          </c:dPt>
          <c:dPt>
            <c:idx val="15"/>
            <c:invertIfNegative val="0"/>
            <c:bubble3D val="0"/>
            <c:spPr>
              <a:solidFill>
                <a:schemeClr val="accent5">
                  <a:lumMod val="25000"/>
                </a:schemeClr>
              </a:solidFill>
              <a:ln>
                <a:noFill/>
              </a:ln>
              <a:effectLst/>
            </c:spPr>
            <c:extLst>
              <c:ext xmlns:c16="http://schemas.microsoft.com/office/drawing/2014/chart" uri="{C3380CC4-5D6E-409C-BE32-E72D297353CC}">
                <c16:uniqueId val="{00000017-6713-4210-B267-4C9B3DC2E9AF}"/>
              </c:ext>
            </c:extLst>
          </c:dPt>
          <c:dPt>
            <c:idx val="16"/>
            <c:invertIfNegative val="0"/>
            <c:bubble3D val="0"/>
            <c:spPr>
              <a:solidFill>
                <a:schemeClr val="accent1"/>
              </a:solidFill>
              <a:ln>
                <a:noFill/>
              </a:ln>
              <a:effectLst/>
            </c:spPr>
            <c:extLst>
              <c:ext xmlns:c16="http://schemas.microsoft.com/office/drawing/2014/chart" uri="{C3380CC4-5D6E-409C-BE32-E72D297353CC}">
                <c16:uniqueId val="{0000001B-9CFD-8B48-AD17-CB8BE998DD08}"/>
              </c:ext>
            </c:extLst>
          </c:dPt>
          <c:dPt>
            <c:idx val="17"/>
            <c:invertIfNegative val="0"/>
            <c:bubble3D val="0"/>
            <c:spPr>
              <a:solidFill>
                <a:schemeClr val="accent1"/>
              </a:solidFill>
              <a:ln>
                <a:noFill/>
              </a:ln>
              <a:effectLst/>
            </c:spPr>
            <c:extLst>
              <c:ext xmlns:c16="http://schemas.microsoft.com/office/drawing/2014/chart" uri="{C3380CC4-5D6E-409C-BE32-E72D297353CC}">
                <c16:uniqueId val="{0000001C-9CFD-8B48-AD17-CB8BE998DD08}"/>
              </c:ext>
            </c:extLst>
          </c:dPt>
          <c:dPt>
            <c:idx val="18"/>
            <c:invertIfNegative val="0"/>
            <c:bubble3D val="0"/>
            <c:spPr>
              <a:solidFill>
                <a:schemeClr val="accent1"/>
              </a:solidFill>
              <a:ln>
                <a:noFill/>
              </a:ln>
              <a:effectLst/>
            </c:spPr>
            <c:extLst>
              <c:ext xmlns:c16="http://schemas.microsoft.com/office/drawing/2014/chart" uri="{C3380CC4-5D6E-409C-BE32-E72D297353CC}">
                <c16:uniqueId val="{0000001D-9CFD-8B48-AD17-CB8BE998DD08}"/>
              </c:ext>
            </c:extLst>
          </c:dPt>
          <c:dPt>
            <c:idx val="19"/>
            <c:invertIfNegative val="0"/>
            <c:bubble3D val="0"/>
            <c:spPr>
              <a:solidFill>
                <a:schemeClr val="accent1"/>
              </a:solidFill>
              <a:ln>
                <a:noFill/>
              </a:ln>
              <a:effectLst/>
            </c:spPr>
            <c:extLst>
              <c:ext xmlns:c16="http://schemas.microsoft.com/office/drawing/2014/chart" uri="{C3380CC4-5D6E-409C-BE32-E72D297353CC}">
                <c16:uniqueId val="{0000001E-9CFD-8B48-AD17-CB8BE998DD08}"/>
              </c:ext>
            </c:extLst>
          </c:dPt>
          <c:dPt>
            <c:idx val="20"/>
            <c:invertIfNegative val="0"/>
            <c:bubble3D val="0"/>
            <c:spPr>
              <a:solidFill>
                <a:schemeClr val="accent1"/>
              </a:solidFill>
              <a:ln>
                <a:noFill/>
              </a:ln>
              <a:effectLst/>
            </c:spPr>
            <c:extLst>
              <c:ext xmlns:c16="http://schemas.microsoft.com/office/drawing/2014/chart" uri="{C3380CC4-5D6E-409C-BE32-E72D297353CC}">
                <c16:uniqueId val="{0000001F-9CFD-8B48-AD17-CB8BE998DD08}"/>
              </c:ext>
            </c:extLst>
          </c:dPt>
          <c:dLbls>
            <c:spPr>
              <a:noFill/>
              <a:ln>
                <a:noFill/>
              </a:ln>
              <a:effectLst/>
            </c:spPr>
            <c:txPr>
              <a:bodyPr rot="0" spcFirstLastPara="1" vertOverflow="ellipsis" vert="horz" wrap="square" anchor="ctr" anchorCtr="1"/>
              <a:lstStyle/>
              <a:p>
                <a:pPr>
                  <a:defRPr sz="1200" b="0" i="0" u="none" strike="noStrike" kern="1200" baseline="0">
                    <a:solidFill>
                      <a:schemeClr val="accent1"/>
                    </a:solidFill>
                    <a:latin typeface="Century Gothic" panose="020B0502020202020204" pitchFamily="34" charset="0"/>
                    <a:ea typeface="+mn-ea"/>
                    <a:cs typeface="+mn-cs"/>
                  </a:defRPr>
                </a:pPr>
                <a:endParaRPr lang="en-CO"/>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Hoja1!$B$1:$V$1</c:f>
              <c:numCache>
                <c:formatCode>General</c:formatCode>
                <c:ptCount val="2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numCache>
            </c:numRef>
          </c:cat>
          <c:val>
            <c:numRef>
              <c:f>Hoja1!$B$2:$V$2</c:f>
              <c:numCache>
                <c:formatCode>General</c:formatCode>
                <c:ptCount val="21"/>
                <c:pt idx="1">
                  <c:v>200</c:v>
                </c:pt>
                <c:pt idx="2">
                  <c:v>200</c:v>
                </c:pt>
                <c:pt idx="3">
                  <c:v>200</c:v>
                </c:pt>
                <c:pt idx="4">
                  <c:v>200</c:v>
                </c:pt>
                <c:pt idx="5">
                  <c:v>210</c:v>
                </c:pt>
                <c:pt idx="6">
                  <c:v>220</c:v>
                </c:pt>
                <c:pt idx="7">
                  <c:v>230</c:v>
                </c:pt>
                <c:pt idx="8">
                  <c:v>240</c:v>
                </c:pt>
                <c:pt idx="9">
                  <c:v>250</c:v>
                </c:pt>
                <c:pt idx="10">
                  <c:v>260</c:v>
                </c:pt>
                <c:pt idx="11">
                  <c:v>255</c:v>
                </c:pt>
                <c:pt idx="12">
                  <c:v>250</c:v>
                </c:pt>
                <c:pt idx="13">
                  <c:v>245</c:v>
                </c:pt>
                <c:pt idx="14">
                  <c:v>240</c:v>
                </c:pt>
                <c:pt idx="15">
                  <c:v>235</c:v>
                </c:pt>
                <c:pt idx="16" formatCode="0.0">
                  <c:v>242.05</c:v>
                </c:pt>
                <c:pt idx="17" formatCode="0.0">
                  <c:v>249.31150000000002</c:v>
                </c:pt>
                <c:pt idx="18" formatCode="0.0">
                  <c:v>256.79084500000005</c:v>
                </c:pt>
                <c:pt idx="19" formatCode="0.0">
                  <c:v>264.49457035000006</c:v>
                </c:pt>
                <c:pt idx="20" formatCode="0.0">
                  <c:v>272.42940746050004</c:v>
                </c:pt>
              </c:numCache>
            </c:numRef>
          </c:val>
          <c:extLst>
            <c:ext xmlns:c16="http://schemas.microsoft.com/office/drawing/2014/chart" uri="{C3380CC4-5D6E-409C-BE32-E72D297353CC}">
              <c16:uniqueId val="{00000018-6713-4210-B267-4C9B3DC2E9AF}"/>
            </c:ext>
          </c:extLst>
        </c:ser>
        <c:dLbls>
          <c:dLblPos val="outEnd"/>
          <c:showLegendKey val="0"/>
          <c:showVal val="1"/>
          <c:showCatName val="0"/>
          <c:showSerName val="0"/>
          <c:showPercent val="0"/>
          <c:showBubbleSize val="0"/>
        </c:dLbls>
        <c:gapWidth val="219"/>
        <c:overlap val="-27"/>
        <c:axId val="-575863088"/>
        <c:axId val="-575865264"/>
      </c:barChart>
      <c:catAx>
        <c:axId val="-57586308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chemeClr val="accent1"/>
                </a:solidFill>
                <a:latin typeface="Century Gothic" panose="020B0502020202020204" pitchFamily="34" charset="0"/>
                <a:ea typeface="+mn-ea"/>
                <a:cs typeface="+mn-cs"/>
              </a:defRPr>
            </a:pPr>
            <a:endParaRPr lang="en-CO"/>
          </a:p>
        </c:txPr>
        <c:crossAx val="-575865264"/>
        <c:crosses val="autoZero"/>
        <c:auto val="1"/>
        <c:lblAlgn val="ctr"/>
        <c:lblOffset val="100"/>
        <c:noMultiLvlLbl val="0"/>
      </c:catAx>
      <c:valAx>
        <c:axId val="-575865264"/>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accent1"/>
                </a:solidFill>
                <a:latin typeface="Century Gothic" panose="020B0502020202020204" pitchFamily="34" charset="0"/>
                <a:ea typeface="+mn-ea"/>
                <a:cs typeface="+mn-cs"/>
              </a:defRPr>
            </a:pPr>
            <a:endParaRPr lang="en-CO"/>
          </a:p>
        </c:txPr>
        <c:crossAx val="-575863088"/>
        <c:crosses val="autoZero"/>
        <c:crossBetween val="between"/>
      </c:valAx>
      <c:spPr>
        <a:noFill/>
        <a:ln>
          <a:noFill/>
        </a:ln>
        <a:effectLst/>
      </c:spPr>
    </c:plotArea>
    <c:plotVisOnly val="1"/>
    <c:dispBlanksAs val="gap"/>
    <c:showDLblsOverMax val="0"/>
  </c:chart>
  <c:spPr>
    <a:noFill/>
    <a:ln>
      <a:noFill/>
    </a:ln>
    <a:effectLst/>
  </c:spPr>
  <c:txPr>
    <a:bodyPr/>
    <a:lstStyle/>
    <a:p>
      <a:pPr>
        <a:defRPr sz="1200">
          <a:solidFill>
            <a:schemeClr val="accent1"/>
          </a:solidFill>
          <a:latin typeface="Century Gothic" panose="020B0502020202020204" pitchFamily="34" charset="0"/>
        </a:defRPr>
      </a:pPr>
      <a:endParaRPr lang="en-CO"/>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v>Serie</c:v>
          </c:tx>
          <c:spPr>
            <a:solidFill>
              <a:schemeClr val="accent1"/>
            </a:solidFill>
            <a:ln>
              <a:noFill/>
            </a:ln>
            <a:effectLst/>
          </c:spPr>
          <c:invertIfNegative val="0"/>
          <c:dPt>
            <c:idx val="1"/>
            <c:invertIfNegative val="0"/>
            <c:bubble3D val="0"/>
            <c:spPr>
              <a:solidFill>
                <a:schemeClr val="accent6"/>
              </a:solidFill>
              <a:ln>
                <a:solidFill>
                  <a:schemeClr val="accent6">
                    <a:lumMod val="50000"/>
                  </a:schemeClr>
                </a:solidFill>
              </a:ln>
              <a:effectLst/>
            </c:spPr>
            <c:extLst>
              <c:ext xmlns:c16="http://schemas.microsoft.com/office/drawing/2014/chart" uri="{C3380CC4-5D6E-409C-BE32-E72D297353CC}">
                <c16:uniqueId val="{00000001-EB70-1247-9A83-51FEF0869592}"/>
              </c:ext>
            </c:extLst>
          </c:dPt>
          <c:dPt>
            <c:idx val="2"/>
            <c:invertIfNegative val="0"/>
            <c:bubble3D val="0"/>
            <c:spPr>
              <a:solidFill>
                <a:schemeClr val="accent6"/>
              </a:solidFill>
              <a:ln>
                <a:solidFill>
                  <a:schemeClr val="accent6">
                    <a:lumMod val="50000"/>
                  </a:schemeClr>
                </a:solidFill>
              </a:ln>
              <a:effectLst/>
            </c:spPr>
            <c:extLst>
              <c:ext xmlns:c16="http://schemas.microsoft.com/office/drawing/2014/chart" uri="{C3380CC4-5D6E-409C-BE32-E72D297353CC}">
                <c16:uniqueId val="{00000003-EB70-1247-9A83-51FEF0869592}"/>
              </c:ext>
            </c:extLst>
          </c:dPt>
          <c:dPt>
            <c:idx val="3"/>
            <c:invertIfNegative val="0"/>
            <c:bubble3D val="0"/>
            <c:spPr>
              <a:solidFill>
                <a:schemeClr val="accent6"/>
              </a:solidFill>
              <a:ln>
                <a:solidFill>
                  <a:schemeClr val="accent6">
                    <a:lumMod val="50000"/>
                  </a:schemeClr>
                </a:solidFill>
              </a:ln>
              <a:effectLst/>
            </c:spPr>
            <c:extLst>
              <c:ext xmlns:c16="http://schemas.microsoft.com/office/drawing/2014/chart" uri="{C3380CC4-5D6E-409C-BE32-E72D297353CC}">
                <c16:uniqueId val="{00000005-EB70-1247-9A83-51FEF0869592}"/>
              </c:ext>
            </c:extLst>
          </c:dPt>
          <c:dPt>
            <c:idx val="4"/>
            <c:invertIfNegative val="0"/>
            <c:bubble3D val="0"/>
            <c:spPr>
              <a:solidFill>
                <a:schemeClr val="accent3"/>
              </a:solidFill>
              <a:ln>
                <a:solidFill>
                  <a:schemeClr val="accent3">
                    <a:lumMod val="50000"/>
                  </a:schemeClr>
                </a:solidFill>
              </a:ln>
              <a:effectLst/>
            </c:spPr>
            <c:extLst>
              <c:ext xmlns:c16="http://schemas.microsoft.com/office/drawing/2014/chart" uri="{C3380CC4-5D6E-409C-BE32-E72D297353CC}">
                <c16:uniqueId val="{00000007-EB70-1247-9A83-51FEF0869592}"/>
              </c:ext>
            </c:extLst>
          </c:dPt>
          <c:dPt>
            <c:idx val="5"/>
            <c:invertIfNegative val="0"/>
            <c:bubble3D val="0"/>
            <c:spPr>
              <a:solidFill>
                <a:schemeClr val="accent3"/>
              </a:solidFill>
              <a:ln>
                <a:solidFill>
                  <a:schemeClr val="accent3">
                    <a:lumMod val="50000"/>
                  </a:schemeClr>
                </a:solidFill>
              </a:ln>
              <a:effectLst/>
            </c:spPr>
            <c:extLst>
              <c:ext xmlns:c16="http://schemas.microsoft.com/office/drawing/2014/chart" uri="{C3380CC4-5D6E-409C-BE32-E72D297353CC}">
                <c16:uniqueId val="{00000009-EB70-1247-9A83-51FEF0869592}"/>
              </c:ext>
            </c:extLst>
          </c:dPt>
          <c:dPt>
            <c:idx val="6"/>
            <c:invertIfNegative val="0"/>
            <c:bubble3D val="0"/>
            <c:spPr>
              <a:solidFill>
                <a:schemeClr val="accent3"/>
              </a:solidFill>
              <a:ln>
                <a:solidFill>
                  <a:schemeClr val="accent3">
                    <a:lumMod val="50000"/>
                  </a:schemeClr>
                </a:solidFill>
              </a:ln>
              <a:effectLst/>
            </c:spPr>
            <c:extLst>
              <c:ext xmlns:c16="http://schemas.microsoft.com/office/drawing/2014/chart" uri="{C3380CC4-5D6E-409C-BE32-E72D297353CC}">
                <c16:uniqueId val="{0000000B-EB70-1247-9A83-51FEF0869592}"/>
              </c:ext>
            </c:extLst>
          </c:dPt>
          <c:dPt>
            <c:idx val="7"/>
            <c:invertIfNegative val="0"/>
            <c:bubble3D val="0"/>
            <c:spPr>
              <a:solidFill>
                <a:schemeClr val="accent3"/>
              </a:solidFill>
              <a:ln>
                <a:solidFill>
                  <a:schemeClr val="accent3">
                    <a:lumMod val="50000"/>
                  </a:schemeClr>
                </a:solidFill>
              </a:ln>
              <a:effectLst/>
            </c:spPr>
            <c:extLst>
              <c:ext xmlns:c16="http://schemas.microsoft.com/office/drawing/2014/chart" uri="{C3380CC4-5D6E-409C-BE32-E72D297353CC}">
                <c16:uniqueId val="{0000000D-EB70-1247-9A83-51FEF0869592}"/>
              </c:ext>
            </c:extLst>
          </c:dPt>
          <c:dPt>
            <c:idx val="8"/>
            <c:invertIfNegative val="0"/>
            <c:bubble3D val="0"/>
            <c:spPr>
              <a:solidFill>
                <a:schemeClr val="accent3"/>
              </a:solidFill>
              <a:ln>
                <a:solidFill>
                  <a:schemeClr val="accent3">
                    <a:lumMod val="50000"/>
                  </a:schemeClr>
                </a:solidFill>
              </a:ln>
              <a:effectLst/>
            </c:spPr>
            <c:extLst>
              <c:ext xmlns:c16="http://schemas.microsoft.com/office/drawing/2014/chart" uri="{C3380CC4-5D6E-409C-BE32-E72D297353CC}">
                <c16:uniqueId val="{0000000F-EB70-1247-9A83-51FEF0869592}"/>
              </c:ext>
            </c:extLst>
          </c:dPt>
          <c:dPt>
            <c:idx val="9"/>
            <c:invertIfNegative val="0"/>
            <c:bubble3D val="0"/>
            <c:spPr>
              <a:solidFill>
                <a:schemeClr val="accent3"/>
              </a:solidFill>
              <a:ln>
                <a:solidFill>
                  <a:schemeClr val="accent3">
                    <a:lumMod val="50000"/>
                  </a:schemeClr>
                </a:solidFill>
              </a:ln>
              <a:effectLst/>
            </c:spPr>
            <c:extLst>
              <c:ext xmlns:c16="http://schemas.microsoft.com/office/drawing/2014/chart" uri="{C3380CC4-5D6E-409C-BE32-E72D297353CC}">
                <c16:uniqueId val="{00000011-EB70-1247-9A83-51FEF0869592}"/>
              </c:ext>
            </c:extLst>
          </c:dPt>
          <c:dPt>
            <c:idx val="10"/>
            <c:invertIfNegative val="0"/>
            <c:bubble3D val="0"/>
            <c:spPr>
              <a:solidFill>
                <a:schemeClr val="accent3"/>
              </a:solidFill>
              <a:ln>
                <a:solidFill>
                  <a:schemeClr val="accent3">
                    <a:lumMod val="50000"/>
                  </a:schemeClr>
                </a:solidFill>
              </a:ln>
              <a:effectLst/>
            </c:spPr>
            <c:extLst>
              <c:ext xmlns:c16="http://schemas.microsoft.com/office/drawing/2014/chart" uri="{C3380CC4-5D6E-409C-BE32-E72D297353CC}">
                <c16:uniqueId val="{00000013-EB70-1247-9A83-51FEF0869592}"/>
              </c:ext>
            </c:extLst>
          </c:dPt>
          <c:dPt>
            <c:idx val="11"/>
            <c:invertIfNegative val="0"/>
            <c:bubble3D val="0"/>
            <c:spPr>
              <a:solidFill>
                <a:schemeClr val="accent5">
                  <a:lumMod val="25000"/>
                </a:schemeClr>
              </a:solidFill>
              <a:ln>
                <a:noFill/>
              </a:ln>
              <a:effectLst/>
            </c:spPr>
            <c:extLst>
              <c:ext xmlns:c16="http://schemas.microsoft.com/office/drawing/2014/chart" uri="{C3380CC4-5D6E-409C-BE32-E72D297353CC}">
                <c16:uniqueId val="{00000015-EB70-1247-9A83-51FEF0869592}"/>
              </c:ext>
            </c:extLst>
          </c:dPt>
          <c:dPt>
            <c:idx val="12"/>
            <c:invertIfNegative val="0"/>
            <c:bubble3D val="0"/>
            <c:spPr>
              <a:solidFill>
                <a:schemeClr val="accent5">
                  <a:lumMod val="25000"/>
                </a:schemeClr>
              </a:solidFill>
              <a:ln>
                <a:noFill/>
              </a:ln>
              <a:effectLst/>
            </c:spPr>
            <c:extLst>
              <c:ext xmlns:c16="http://schemas.microsoft.com/office/drawing/2014/chart" uri="{C3380CC4-5D6E-409C-BE32-E72D297353CC}">
                <c16:uniqueId val="{00000017-EB70-1247-9A83-51FEF0869592}"/>
              </c:ext>
            </c:extLst>
          </c:dPt>
          <c:dPt>
            <c:idx val="13"/>
            <c:invertIfNegative val="0"/>
            <c:bubble3D val="0"/>
            <c:spPr>
              <a:solidFill>
                <a:schemeClr val="accent5">
                  <a:lumMod val="25000"/>
                </a:schemeClr>
              </a:solidFill>
              <a:ln>
                <a:noFill/>
              </a:ln>
              <a:effectLst/>
            </c:spPr>
            <c:extLst>
              <c:ext xmlns:c16="http://schemas.microsoft.com/office/drawing/2014/chart" uri="{C3380CC4-5D6E-409C-BE32-E72D297353CC}">
                <c16:uniqueId val="{00000019-EB70-1247-9A83-51FEF0869592}"/>
              </c:ext>
            </c:extLst>
          </c:dPt>
          <c:dPt>
            <c:idx val="14"/>
            <c:invertIfNegative val="0"/>
            <c:bubble3D val="0"/>
            <c:spPr>
              <a:solidFill>
                <a:schemeClr val="accent5">
                  <a:lumMod val="25000"/>
                </a:schemeClr>
              </a:solidFill>
              <a:ln>
                <a:noFill/>
              </a:ln>
              <a:effectLst/>
            </c:spPr>
            <c:extLst>
              <c:ext xmlns:c16="http://schemas.microsoft.com/office/drawing/2014/chart" uri="{C3380CC4-5D6E-409C-BE32-E72D297353CC}">
                <c16:uniqueId val="{0000001B-EB70-1247-9A83-51FEF0869592}"/>
              </c:ext>
            </c:extLst>
          </c:dPt>
          <c:dPt>
            <c:idx val="15"/>
            <c:invertIfNegative val="0"/>
            <c:bubble3D val="0"/>
            <c:spPr>
              <a:solidFill>
                <a:schemeClr val="accent5">
                  <a:lumMod val="25000"/>
                </a:schemeClr>
              </a:solidFill>
              <a:ln>
                <a:noFill/>
              </a:ln>
              <a:effectLst/>
            </c:spPr>
            <c:extLst>
              <c:ext xmlns:c16="http://schemas.microsoft.com/office/drawing/2014/chart" uri="{C3380CC4-5D6E-409C-BE32-E72D297353CC}">
                <c16:uniqueId val="{0000001D-EB70-1247-9A83-51FEF0869592}"/>
              </c:ext>
            </c:extLst>
          </c:dPt>
          <c:dPt>
            <c:idx val="16"/>
            <c:invertIfNegative val="0"/>
            <c:bubble3D val="0"/>
            <c:spPr>
              <a:solidFill>
                <a:schemeClr val="accent1"/>
              </a:solidFill>
              <a:ln>
                <a:noFill/>
              </a:ln>
              <a:effectLst/>
            </c:spPr>
            <c:extLst>
              <c:ext xmlns:c16="http://schemas.microsoft.com/office/drawing/2014/chart" uri="{C3380CC4-5D6E-409C-BE32-E72D297353CC}">
                <c16:uniqueId val="{0000001F-EB70-1247-9A83-51FEF0869592}"/>
              </c:ext>
            </c:extLst>
          </c:dPt>
          <c:dPt>
            <c:idx val="17"/>
            <c:invertIfNegative val="0"/>
            <c:bubble3D val="0"/>
            <c:spPr>
              <a:solidFill>
                <a:schemeClr val="accent1"/>
              </a:solidFill>
              <a:ln>
                <a:noFill/>
              </a:ln>
              <a:effectLst/>
            </c:spPr>
            <c:extLst>
              <c:ext xmlns:c16="http://schemas.microsoft.com/office/drawing/2014/chart" uri="{C3380CC4-5D6E-409C-BE32-E72D297353CC}">
                <c16:uniqueId val="{00000021-EB70-1247-9A83-51FEF0869592}"/>
              </c:ext>
            </c:extLst>
          </c:dPt>
          <c:dPt>
            <c:idx val="18"/>
            <c:invertIfNegative val="0"/>
            <c:bubble3D val="0"/>
            <c:spPr>
              <a:solidFill>
                <a:schemeClr val="accent1"/>
              </a:solidFill>
              <a:ln>
                <a:noFill/>
              </a:ln>
              <a:effectLst/>
            </c:spPr>
            <c:extLst>
              <c:ext xmlns:c16="http://schemas.microsoft.com/office/drawing/2014/chart" uri="{C3380CC4-5D6E-409C-BE32-E72D297353CC}">
                <c16:uniqueId val="{00000023-EB70-1247-9A83-51FEF0869592}"/>
              </c:ext>
            </c:extLst>
          </c:dPt>
          <c:dPt>
            <c:idx val="19"/>
            <c:invertIfNegative val="0"/>
            <c:bubble3D val="0"/>
            <c:spPr>
              <a:solidFill>
                <a:schemeClr val="accent1"/>
              </a:solidFill>
              <a:ln>
                <a:noFill/>
              </a:ln>
              <a:effectLst/>
            </c:spPr>
            <c:extLst>
              <c:ext xmlns:c16="http://schemas.microsoft.com/office/drawing/2014/chart" uri="{C3380CC4-5D6E-409C-BE32-E72D297353CC}">
                <c16:uniqueId val="{00000025-EB70-1247-9A83-51FEF0869592}"/>
              </c:ext>
            </c:extLst>
          </c:dPt>
          <c:dPt>
            <c:idx val="20"/>
            <c:invertIfNegative val="0"/>
            <c:bubble3D val="0"/>
            <c:spPr>
              <a:solidFill>
                <a:schemeClr val="accent1"/>
              </a:solidFill>
              <a:ln>
                <a:noFill/>
              </a:ln>
              <a:effectLst/>
            </c:spPr>
            <c:extLst>
              <c:ext xmlns:c16="http://schemas.microsoft.com/office/drawing/2014/chart" uri="{C3380CC4-5D6E-409C-BE32-E72D297353CC}">
                <c16:uniqueId val="{00000027-EB70-1247-9A83-51FEF0869592}"/>
              </c:ext>
            </c:extLst>
          </c:dPt>
          <c:dLbls>
            <c:spPr>
              <a:noFill/>
              <a:ln>
                <a:noFill/>
              </a:ln>
              <a:effectLst/>
            </c:spPr>
            <c:txPr>
              <a:bodyPr rot="0" spcFirstLastPara="1" vertOverflow="ellipsis" vert="horz" wrap="square" anchor="ctr" anchorCtr="1"/>
              <a:lstStyle/>
              <a:p>
                <a:pPr>
                  <a:defRPr sz="1200" b="0" i="0" u="none" strike="noStrike" kern="1200" baseline="0">
                    <a:solidFill>
                      <a:schemeClr val="accent1"/>
                    </a:solidFill>
                    <a:latin typeface="Century Gothic" panose="020B0502020202020204" pitchFamily="34" charset="0"/>
                    <a:ea typeface="+mn-ea"/>
                    <a:cs typeface="+mn-cs"/>
                  </a:defRPr>
                </a:pPr>
                <a:endParaRPr lang="en-CO"/>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Hoja1!$B$1:$V$1</c:f>
              <c:numCache>
                <c:formatCode>General</c:formatCode>
                <c:ptCount val="2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numCache>
            </c:numRef>
          </c:cat>
          <c:val>
            <c:numRef>
              <c:f>Hoja1!$B$2:$V$2</c:f>
              <c:numCache>
                <c:formatCode>General</c:formatCode>
                <c:ptCount val="21"/>
                <c:pt idx="1">
                  <c:v>200</c:v>
                </c:pt>
                <c:pt idx="2">
                  <c:v>200</c:v>
                </c:pt>
                <c:pt idx="3">
                  <c:v>200</c:v>
                </c:pt>
                <c:pt idx="4">
                  <c:v>200</c:v>
                </c:pt>
                <c:pt idx="5">
                  <c:v>210</c:v>
                </c:pt>
                <c:pt idx="6">
                  <c:v>220</c:v>
                </c:pt>
                <c:pt idx="7">
                  <c:v>230</c:v>
                </c:pt>
                <c:pt idx="8">
                  <c:v>240</c:v>
                </c:pt>
                <c:pt idx="9">
                  <c:v>250</c:v>
                </c:pt>
                <c:pt idx="10">
                  <c:v>260</c:v>
                </c:pt>
                <c:pt idx="11">
                  <c:v>255</c:v>
                </c:pt>
                <c:pt idx="12">
                  <c:v>250</c:v>
                </c:pt>
                <c:pt idx="13">
                  <c:v>245</c:v>
                </c:pt>
                <c:pt idx="14">
                  <c:v>240</c:v>
                </c:pt>
                <c:pt idx="15">
                  <c:v>235</c:v>
                </c:pt>
                <c:pt idx="16" formatCode="0.0">
                  <c:v>242.05</c:v>
                </c:pt>
                <c:pt idx="17" formatCode="0.0">
                  <c:v>249.31150000000002</c:v>
                </c:pt>
                <c:pt idx="18" formatCode="0.0">
                  <c:v>256.79084500000005</c:v>
                </c:pt>
                <c:pt idx="19" formatCode="0.0">
                  <c:v>264.49457035000006</c:v>
                </c:pt>
                <c:pt idx="20" formatCode="0.0">
                  <c:v>272.42940746050004</c:v>
                </c:pt>
              </c:numCache>
            </c:numRef>
          </c:val>
          <c:extLst>
            <c:ext xmlns:c16="http://schemas.microsoft.com/office/drawing/2014/chart" uri="{C3380CC4-5D6E-409C-BE32-E72D297353CC}">
              <c16:uniqueId val="{00000028-EB70-1247-9A83-51FEF0869592}"/>
            </c:ext>
          </c:extLst>
        </c:ser>
        <c:dLbls>
          <c:dLblPos val="outEnd"/>
          <c:showLegendKey val="0"/>
          <c:showVal val="1"/>
          <c:showCatName val="0"/>
          <c:showSerName val="0"/>
          <c:showPercent val="0"/>
          <c:showBubbleSize val="0"/>
        </c:dLbls>
        <c:gapWidth val="219"/>
        <c:overlap val="-27"/>
        <c:axId val="-575863088"/>
        <c:axId val="-575865264"/>
      </c:barChart>
      <c:catAx>
        <c:axId val="-57586308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chemeClr val="accent1"/>
                </a:solidFill>
                <a:latin typeface="Century Gothic" panose="020B0502020202020204" pitchFamily="34" charset="0"/>
                <a:ea typeface="+mn-ea"/>
                <a:cs typeface="+mn-cs"/>
              </a:defRPr>
            </a:pPr>
            <a:endParaRPr lang="en-CO"/>
          </a:p>
        </c:txPr>
        <c:crossAx val="-575865264"/>
        <c:crosses val="autoZero"/>
        <c:auto val="1"/>
        <c:lblAlgn val="ctr"/>
        <c:lblOffset val="100"/>
        <c:noMultiLvlLbl val="0"/>
      </c:catAx>
      <c:valAx>
        <c:axId val="-575865264"/>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accent1"/>
                </a:solidFill>
                <a:latin typeface="Century Gothic" panose="020B0502020202020204" pitchFamily="34" charset="0"/>
                <a:ea typeface="+mn-ea"/>
                <a:cs typeface="+mn-cs"/>
              </a:defRPr>
            </a:pPr>
            <a:endParaRPr lang="en-CO"/>
          </a:p>
        </c:txPr>
        <c:crossAx val="-575863088"/>
        <c:crosses val="autoZero"/>
        <c:crossBetween val="between"/>
      </c:valAx>
      <c:spPr>
        <a:noFill/>
        <a:ln>
          <a:noFill/>
        </a:ln>
        <a:effectLst/>
      </c:spPr>
    </c:plotArea>
    <c:plotVisOnly val="1"/>
    <c:dispBlanksAs val="gap"/>
    <c:showDLblsOverMax val="0"/>
  </c:chart>
  <c:spPr>
    <a:noFill/>
    <a:ln>
      <a:noFill/>
    </a:ln>
    <a:effectLst/>
  </c:spPr>
  <c:txPr>
    <a:bodyPr/>
    <a:lstStyle/>
    <a:p>
      <a:pPr>
        <a:defRPr sz="1200">
          <a:solidFill>
            <a:schemeClr val="accent1"/>
          </a:solidFill>
          <a:latin typeface="Century Gothic" panose="020B0502020202020204" pitchFamily="34" charset="0"/>
        </a:defRPr>
      </a:pPr>
      <a:endParaRPr lang="en-CO"/>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1">
  <a:schemeClr val="accent1"/>
  <a:schemeClr val="accent3"/>
  <a:schemeClr val="accent5"/>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97909239-6EB4-4F64-9166-01BA8CB152A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s-CO"/>
              <a:t>Profesor Sebastián Joseph Sánchez Oyola</a:t>
            </a:r>
          </a:p>
        </p:txBody>
      </p:sp>
      <p:sp>
        <p:nvSpPr>
          <p:cNvPr id="3" name="Marcador de fecha 2">
            <a:extLst>
              <a:ext uri="{FF2B5EF4-FFF2-40B4-BE49-F238E27FC236}">
                <a16:creationId xmlns:a16="http://schemas.microsoft.com/office/drawing/2014/main" id="{C0D4A5E1-CC2B-4E68-93DE-1741C2D8FCC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1EBC9B1-33DC-462F-829C-1E37E99682B9}" type="datetimeFigureOut">
              <a:rPr lang="es-CO" smtClean="0"/>
              <a:t>12/02/26</a:t>
            </a:fld>
            <a:endParaRPr lang="es-CO"/>
          </a:p>
        </p:txBody>
      </p:sp>
      <p:sp>
        <p:nvSpPr>
          <p:cNvPr id="4" name="Marcador de pie de página 3">
            <a:extLst>
              <a:ext uri="{FF2B5EF4-FFF2-40B4-BE49-F238E27FC236}">
                <a16:creationId xmlns:a16="http://schemas.microsoft.com/office/drawing/2014/main" id="{36E42B93-8418-4C73-AFC5-AD8733D5618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5" name="Marcador de número de diapositiva 4">
            <a:extLst>
              <a:ext uri="{FF2B5EF4-FFF2-40B4-BE49-F238E27FC236}">
                <a16:creationId xmlns:a16="http://schemas.microsoft.com/office/drawing/2014/main" id="{2BF5AB0F-F981-4352-8DA3-CAD02A4EF5C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C9216A6-D02D-421D-81B5-58C62FCB13EF}" type="slidenum">
              <a:rPr lang="es-CO" smtClean="0"/>
              <a:t>‹#›</a:t>
            </a:fld>
            <a:endParaRPr lang="es-CO"/>
          </a:p>
        </p:txBody>
      </p:sp>
    </p:spTree>
    <p:extLst>
      <p:ext uri="{BB962C8B-B14F-4D97-AF65-F5344CB8AC3E}">
        <p14:creationId xmlns:p14="http://schemas.microsoft.com/office/powerpoint/2010/main" val="3094247631"/>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s-CO"/>
              <a:t>Profesor Sebastián Joseph Sánchez Oyola</a:t>
            </a:r>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BED2E0-4743-4E03-93B8-12386FF60236}" type="datetimeFigureOut">
              <a:rPr lang="es-CO" smtClean="0"/>
              <a:t>12/02/26</a:t>
            </a:fld>
            <a:endParaRPr lang="es-CO"/>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O"/>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EAB8670-524E-4520-AA44-FE672760293D}" type="slidenum">
              <a:rPr lang="es-CO" smtClean="0"/>
              <a:t>‹#›</a:t>
            </a:fld>
            <a:endParaRPr lang="es-CO"/>
          </a:p>
        </p:txBody>
      </p:sp>
    </p:spTree>
    <p:extLst>
      <p:ext uri="{BB962C8B-B14F-4D97-AF65-F5344CB8AC3E}">
        <p14:creationId xmlns:p14="http://schemas.microsoft.com/office/powerpoint/2010/main" val="3044258673"/>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02C4E94-3DB4-C84A-925E-628A397D8BB4}"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7927164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S_tradnl" dirty="0"/>
              <a:t>https://</a:t>
            </a:r>
            <a:r>
              <a:rPr lang="es-ES_tradnl" dirty="0" err="1"/>
              <a:t>docs.google.com</a:t>
            </a:r>
            <a:r>
              <a:rPr lang="es-ES_tradnl" dirty="0"/>
              <a:t>/</a:t>
            </a:r>
            <a:r>
              <a:rPr lang="es-ES_tradnl" dirty="0" err="1"/>
              <a:t>spreadsheets</a:t>
            </a:r>
            <a:r>
              <a:rPr lang="es-ES_tradnl" dirty="0"/>
              <a:t>/d/1B465VMJC3aQyovJ58wA1vTbQRuscmWDZmCORWNJvhxM/</a:t>
            </a:r>
            <a:r>
              <a:rPr lang="es-ES_tradnl" dirty="0" err="1"/>
              <a:t>edit?usp</a:t>
            </a:r>
            <a:r>
              <a:rPr lang="es-ES_tradnl" dirty="0"/>
              <a:t>=</a:t>
            </a:r>
            <a:r>
              <a:rPr lang="es-ES_tradnl" dirty="0" err="1"/>
              <a:t>sharing</a:t>
            </a:r>
            <a:endParaRPr lang="es-ES_tradnl" dirty="0"/>
          </a:p>
          <a:p>
            <a:endParaRPr lang="es-ES_tradnl" dirty="0"/>
          </a:p>
        </p:txBody>
      </p:sp>
    </p:spTree>
    <p:extLst>
      <p:ext uri="{BB962C8B-B14F-4D97-AF65-F5344CB8AC3E}">
        <p14:creationId xmlns:p14="http://schemas.microsoft.com/office/powerpoint/2010/main" val="26329600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02C4E94-3DB4-C84A-925E-628A397D8BB4}" type="slidenum">
              <a:rPr lang="en-US" smtClean="0"/>
              <a:t>8</a:t>
            </a:fld>
            <a:endParaRPr lang="en-US"/>
          </a:p>
        </p:txBody>
      </p:sp>
    </p:spTree>
    <p:extLst>
      <p:ext uri="{BB962C8B-B14F-4D97-AF65-F5344CB8AC3E}">
        <p14:creationId xmlns:p14="http://schemas.microsoft.com/office/powerpoint/2010/main" val="19121865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02C4E94-3DB4-C84A-925E-628A397D8BB4}" type="slidenum">
              <a:rPr lang="en-US" smtClean="0"/>
              <a:t>9</a:t>
            </a:fld>
            <a:endParaRPr lang="en-US"/>
          </a:p>
        </p:txBody>
      </p:sp>
    </p:spTree>
    <p:extLst>
      <p:ext uri="{BB962C8B-B14F-4D97-AF65-F5344CB8AC3E}">
        <p14:creationId xmlns:p14="http://schemas.microsoft.com/office/powerpoint/2010/main" val="18731472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02C4E94-3DB4-C84A-925E-628A397D8BB4}" type="slidenum">
              <a:rPr lang="en-US" smtClean="0"/>
              <a:t>10</a:t>
            </a:fld>
            <a:endParaRPr lang="en-US"/>
          </a:p>
        </p:txBody>
      </p:sp>
    </p:spTree>
    <p:extLst>
      <p:ext uri="{BB962C8B-B14F-4D97-AF65-F5344CB8AC3E}">
        <p14:creationId xmlns:p14="http://schemas.microsoft.com/office/powerpoint/2010/main" val="28487330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02C4E94-3DB4-C84A-925E-628A397D8BB4}" type="slidenum">
              <a:rPr lang="en-US" smtClean="0"/>
              <a:t>11</a:t>
            </a:fld>
            <a:endParaRPr lang="en-US"/>
          </a:p>
        </p:txBody>
      </p:sp>
    </p:spTree>
    <p:extLst>
      <p:ext uri="{BB962C8B-B14F-4D97-AF65-F5344CB8AC3E}">
        <p14:creationId xmlns:p14="http://schemas.microsoft.com/office/powerpoint/2010/main" val="12355331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02C4E94-3DB4-C84A-925E-628A397D8BB4}" type="slidenum">
              <a:rPr lang="en-US" smtClean="0"/>
              <a:t>12</a:t>
            </a:fld>
            <a:endParaRPr lang="en-US"/>
          </a:p>
        </p:txBody>
      </p:sp>
    </p:spTree>
    <p:extLst>
      <p:ext uri="{BB962C8B-B14F-4D97-AF65-F5344CB8AC3E}">
        <p14:creationId xmlns:p14="http://schemas.microsoft.com/office/powerpoint/2010/main" val="398022291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02C4E94-3DB4-C84A-925E-628A397D8BB4}" type="slidenum">
              <a:rPr lang="en-US" smtClean="0"/>
              <a:t>13</a:t>
            </a:fld>
            <a:endParaRPr lang="en-US"/>
          </a:p>
        </p:txBody>
      </p:sp>
    </p:spTree>
    <p:extLst>
      <p:ext uri="{BB962C8B-B14F-4D97-AF65-F5344CB8AC3E}">
        <p14:creationId xmlns:p14="http://schemas.microsoft.com/office/powerpoint/2010/main" val="292959251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02C4E94-3DB4-C84A-925E-628A397D8BB4}" type="slidenum">
              <a:rPr lang="en-US" smtClean="0"/>
              <a:t>14</a:t>
            </a:fld>
            <a:endParaRPr lang="en-US"/>
          </a:p>
        </p:txBody>
      </p:sp>
    </p:spTree>
    <p:extLst>
      <p:ext uri="{BB962C8B-B14F-4D97-AF65-F5344CB8AC3E}">
        <p14:creationId xmlns:p14="http://schemas.microsoft.com/office/powerpoint/2010/main" val="316743518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02C4E94-3DB4-C84A-925E-628A397D8BB4}"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24556287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02C4E94-3DB4-C84A-925E-628A397D8BB4}" type="slidenum">
              <a:rPr lang="en-US" smtClean="0"/>
              <a:t>18</a:t>
            </a:fld>
            <a:endParaRPr lang="en-US"/>
          </a:p>
        </p:txBody>
      </p:sp>
    </p:spTree>
    <p:extLst>
      <p:ext uri="{BB962C8B-B14F-4D97-AF65-F5344CB8AC3E}">
        <p14:creationId xmlns:p14="http://schemas.microsoft.com/office/powerpoint/2010/main" val="106034687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02C4E94-3DB4-C84A-925E-628A397D8BB4}" type="slidenum">
              <a:rPr lang="en-US" smtClean="0"/>
              <a:t>19</a:t>
            </a:fld>
            <a:endParaRPr lang="en-US"/>
          </a:p>
        </p:txBody>
      </p:sp>
    </p:spTree>
    <p:extLst>
      <p:ext uri="{BB962C8B-B14F-4D97-AF65-F5344CB8AC3E}">
        <p14:creationId xmlns:p14="http://schemas.microsoft.com/office/powerpoint/2010/main" val="223622995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02C4E94-3DB4-C84A-925E-628A397D8BB4}" type="slidenum">
              <a:rPr lang="en-US" smtClean="0"/>
              <a:t>20</a:t>
            </a:fld>
            <a:endParaRPr lang="en-US"/>
          </a:p>
        </p:txBody>
      </p:sp>
    </p:spTree>
    <p:extLst>
      <p:ext uri="{BB962C8B-B14F-4D97-AF65-F5344CB8AC3E}">
        <p14:creationId xmlns:p14="http://schemas.microsoft.com/office/powerpoint/2010/main" val="81916396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02C4E94-3DB4-C84A-925E-628A397D8BB4}" type="slidenum">
              <a:rPr lang="en-US" smtClean="0"/>
              <a:t>21</a:t>
            </a:fld>
            <a:endParaRPr lang="en-US"/>
          </a:p>
        </p:txBody>
      </p:sp>
    </p:spTree>
    <p:extLst>
      <p:ext uri="{BB962C8B-B14F-4D97-AF65-F5344CB8AC3E}">
        <p14:creationId xmlns:p14="http://schemas.microsoft.com/office/powerpoint/2010/main" val="406168305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1366AE-9DE3-E95B-4FDB-3036359C6B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603EA0-FA98-A039-BE95-6837E4131B8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DB35059-8457-0951-FA9D-9BDCA1A5071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79477D6-802E-B585-2472-C52FE55963A7}"/>
              </a:ext>
            </a:extLst>
          </p:cNvPr>
          <p:cNvSpPr>
            <a:spLocks noGrp="1"/>
          </p:cNvSpPr>
          <p:nvPr>
            <p:ph type="sldNum" sz="quarter" idx="10"/>
          </p:nvPr>
        </p:nvSpPr>
        <p:spPr/>
        <p:txBody>
          <a:bodyPr/>
          <a:lstStyle/>
          <a:p>
            <a:fld id="{602C4E94-3DB4-C84A-925E-628A397D8BB4}" type="slidenum">
              <a:rPr lang="en-US" smtClean="0"/>
              <a:t>22</a:t>
            </a:fld>
            <a:endParaRPr lang="en-US"/>
          </a:p>
        </p:txBody>
      </p:sp>
    </p:spTree>
    <p:extLst>
      <p:ext uri="{BB962C8B-B14F-4D97-AF65-F5344CB8AC3E}">
        <p14:creationId xmlns:p14="http://schemas.microsoft.com/office/powerpoint/2010/main" val="294557656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02C4E94-3DB4-C84A-925E-628A397D8BB4}" type="slidenum">
              <a:rPr lang="en-US" smtClean="0"/>
              <a:t>40</a:t>
            </a:fld>
            <a:endParaRPr lang="en-US"/>
          </a:p>
        </p:txBody>
      </p:sp>
    </p:spTree>
    <p:extLst>
      <p:ext uri="{BB962C8B-B14F-4D97-AF65-F5344CB8AC3E}">
        <p14:creationId xmlns:p14="http://schemas.microsoft.com/office/powerpoint/2010/main" val="310749951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02C4E94-3DB4-C84A-925E-628A397D8BB4}" type="slidenum">
              <a:rPr lang="en-US" smtClean="0"/>
              <a:t>41</a:t>
            </a:fld>
            <a:endParaRPr lang="en-US"/>
          </a:p>
        </p:txBody>
      </p:sp>
    </p:spTree>
    <p:extLst>
      <p:ext uri="{BB962C8B-B14F-4D97-AF65-F5344CB8AC3E}">
        <p14:creationId xmlns:p14="http://schemas.microsoft.com/office/powerpoint/2010/main" val="140906233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02C4E94-3DB4-C84A-925E-628A397D8BB4}" type="slidenum">
              <a:rPr lang="en-US" smtClean="0"/>
              <a:t>42</a:t>
            </a:fld>
            <a:endParaRPr lang="en-US"/>
          </a:p>
        </p:txBody>
      </p:sp>
    </p:spTree>
    <p:extLst>
      <p:ext uri="{BB962C8B-B14F-4D97-AF65-F5344CB8AC3E}">
        <p14:creationId xmlns:p14="http://schemas.microsoft.com/office/powerpoint/2010/main" val="389033446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02C4E94-3DB4-C84A-925E-628A397D8BB4}" type="slidenum">
              <a:rPr lang="en-US" smtClean="0"/>
              <a:t>43</a:t>
            </a:fld>
            <a:endParaRPr lang="en-US"/>
          </a:p>
        </p:txBody>
      </p:sp>
    </p:spTree>
    <p:extLst>
      <p:ext uri="{BB962C8B-B14F-4D97-AF65-F5344CB8AC3E}">
        <p14:creationId xmlns:p14="http://schemas.microsoft.com/office/powerpoint/2010/main" val="172851888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78BB01-A517-D459-FCCC-BA7583D955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C2B1DC-2B55-D13F-274C-34661EABB06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A75A2AE-FB35-38E9-4EFB-ABA8B84E24B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086EBA1-F180-2D2F-88FF-07336470A639}"/>
              </a:ext>
            </a:extLst>
          </p:cNvPr>
          <p:cNvSpPr>
            <a:spLocks noGrp="1"/>
          </p:cNvSpPr>
          <p:nvPr>
            <p:ph type="sldNum" sz="quarter" idx="10"/>
          </p:nvPr>
        </p:nvSpPr>
        <p:spPr/>
        <p:txBody>
          <a:bodyPr/>
          <a:lstStyle/>
          <a:p>
            <a:fld id="{602C4E94-3DB4-C84A-925E-628A397D8BB4}" type="slidenum">
              <a:rPr lang="en-US" smtClean="0"/>
              <a:t>44</a:t>
            </a:fld>
            <a:endParaRPr lang="en-US"/>
          </a:p>
        </p:txBody>
      </p:sp>
    </p:spTree>
    <p:extLst>
      <p:ext uri="{BB962C8B-B14F-4D97-AF65-F5344CB8AC3E}">
        <p14:creationId xmlns:p14="http://schemas.microsoft.com/office/powerpoint/2010/main" val="308110543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041527-7995-2CEF-E725-73B5A24CFE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2E08CD-7021-F158-4BED-76F57FCC5D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05D256E-BD4B-E1A1-A7F9-217EB96A919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2702C02-0294-3E32-A3B5-346EE43D6864}"/>
              </a:ext>
            </a:extLst>
          </p:cNvPr>
          <p:cNvSpPr>
            <a:spLocks noGrp="1"/>
          </p:cNvSpPr>
          <p:nvPr>
            <p:ph type="sldNum" sz="quarter" idx="10"/>
          </p:nvPr>
        </p:nvSpPr>
        <p:spPr/>
        <p:txBody>
          <a:bodyPr/>
          <a:lstStyle/>
          <a:p>
            <a:fld id="{602C4E94-3DB4-C84A-925E-628A397D8BB4}" type="slidenum">
              <a:rPr lang="en-US" smtClean="0"/>
              <a:t>45</a:t>
            </a:fld>
            <a:endParaRPr lang="en-US"/>
          </a:p>
        </p:txBody>
      </p:sp>
    </p:spTree>
    <p:extLst>
      <p:ext uri="{BB962C8B-B14F-4D97-AF65-F5344CB8AC3E}">
        <p14:creationId xmlns:p14="http://schemas.microsoft.com/office/powerpoint/2010/main" val="135793290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6E488A-DD4E-54FF-A905-E8D5357648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225C1D-6B8F-9D0A-61EB-B4F09B1B010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5D0AA7B-B796-4CD7-7FA3-B71A0111E33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9597527-7FC4-C1C8-1044-DD165C40FE93}"/>
              </a:ext>
            </a:extLst>
          </p:cNvPr>
          <p:cNvSpPr>
            <a:spLocks noGrp="1"/>
          </p:cNvSpPr>
          <p:nvPr>
            <p:ph type="sldNum" sz="quarter" idx="10"/>
          </p:nvPr>
        </p:nvSpPr>
        <p:spPr/>
        <p:txBody>
          <a:bodyPr/>
          <a:lstStyle/>
          <a:p>
            <a:fld id="{602C4E94-3DB4-C84A-925E-628A397D8BB4}" type="slidenum">
              <a:rPr lang="en-US" smtClean="0"/>
              <a:t>46</a:t>
            </a:fld>
            <a:endParaRPr lang="en-US"/>
          </a:p>
        </p:txBody>
      </p:sp>
    </p:spTree>
    <p:extLst>
      <p:ext uri="{BB962C8B-B14F-4D97-AF65-F5344CB8AC3E}">
        <p14:creationId xmlns:p14="http://schemas.microsoft.com/office/powerpoint/2010/main" val="263540619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210917-9106-7CDF-E67E-ED302B02E0C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A1F5A873-A08B-BACA-0AA0-C37A11EA3B7D}"/>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B8E02E47-6EC8-FF5A-2642-D2B96E8B710A}"/>
              </a:ext>
            </a:extLst>
          </p:cNvPr>
          <p:cNvSpPr>
            <a:spLocks noGrp="1"/>
          </p:cNvSpPr>
          <p:nvPr>
            <p:ph type="body" idx="1"/>
          </p:nvPr>
        </p:nvSpPr>
        <p:spPr/>
        <p:txBody>
          <a:bodyPr/>
          <a:lstStyle/>
          <a:p>
            <a:endParaRPr lang="es-CO"/>
          </a:p>
        </p:txBody>
      </p:sp>
    </p:spTree>
    <p:extLst>
      <p:ext uri="{BB962C8B-B14F-4D97-AF65-F5344CB8AC3E}">
        <p14:creationId xmlns:p14="http://schemas.microsoft.com/office/powerpoint/2010/main" val="123723351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a:p>
        </p:txBody>
      </p:sp>
    </p:spTree>
    <p:extLst>
      <p:ext uri="{BB962C8B-B14F-4D97-AF65-F5344CB8AC3E}">
        <p14:creationId xmlns:p14="http://schemas.microsoft.com/office/powerpoint/2010/main" val="169270826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02C4E94-3DB4-C84A-925E-628A397D8BB4}" type="slidenum">
              <a:rPr lang="en-US" smtClean="0"/>
              <a:t>75</a:t>
            </a:fld>
            <a:endParaRPr lang="en-US"/>
          </a:p>
        </p:txBody>
      </p:sp>
    </p:spTree>
    <p:extLst>
      <p:ext uri="{BB962C8B-B14F-4D97-AF65-F5344CB8AC3E}">
        <p14:creationId xmlns:p14="http://schemas.microsoft.com/office/powerpoint/2010/main" val="322754639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02C4E94-3DB4-C84A-925E-628A397D8BB4}" type="slidenum">
              <a:rPr lang="en-US" smtClean="0"/>
              <a:t>76</a:t>
            </a:fld>
            <a:endParaRPr lang="en-US"/>
          </a:p>
        </p:txBody>
      </p:sp>
    </p:spTree>
    <p:extLst>
      <p:ext uri="{BB962C8B-B14F-4D97-AF65-F5344CB8AC3E}">
        <p14:creationId xmlns:p14="http://schemas.microsoft.com/office/powerpoint/2010/main" val="419039559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02C4E94-3DB4-C84A-925E-628A397D8BB4}" type="slidenum">
              <a:rPr lang="en-US" smtClean="0"/>
              <a:t>77</a:t>
            </a:fld>
            <a:endParaRPr lang="en-US"/>
          </a:p>
        </p:txBody>
      </p:sp>
    </p:spTree>
    <p:extLst>
      <p:ext uri="{BB962C8B-B14F-4D97-AF65-F5344CB8AC3E}">
        <p14:creationId xmlns:p14="http://schemas.microsoft.com/office/powerpoint/2010/main" val="392843760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02C4E94-3DB4-C84A-925E-628A397D8BB4}" type="slidenum">
              <a:rPr lang="en-US" smtClean="0"/>
              <a:t>78</a:t>
            </a:fld>
            <a:endParaRPr lang="en-US"/>
          </a:p>
        </p:txBody>
      </p:sp>
    </p:spTree>
    <p:extLst>
      <p:ext uri="{BB962C8B-B14F-4D97-AF65-F5344CB8AC3E}">
        <p14:creationId xmlns:p14="http://schemas.microsoft.com/office/powerpoint/2010/main" val="110372352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02C4E94-3DB4-C84A-925E-628A397D8BB4}" type="slidenum">
              <a:rPr lang="en-US" smtClean="0"/>
              <a:t>79</a:t>
            </a:fld>
            <a:endParaRPr lang="en-US"/>
          </a:p>
        </p:txBody>
      </p:sp>
    </p:spTree>
    <p:extLst>
      <p:ext uri="{BB962C8B-B14F-4D97-AF65-F5344CB8AC3E}">
        <p14:creationId xmlns:p14="http://schemas.microsoft.com/office/powerpoint/2010/main" val="104698618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02C4E94-3DB4-C84A-925E-628A397D8BB4}"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80</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68980502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02C4E94-3DB4-C84A-925E-628A397D8BB4}" type="slidenum">
              <a:rPr lang="en-US" smtClean="0"/>
              <a:t>83</a:t>
            </a:fld>
            <a:endParaRPr lang="en-US"/>
          </a:p>
        </p:txBody>
      </p:sp>
    </p:spTree>
    <p:extLst>
      <p:ext uri="{BB962C8B-B14F-4D97-AF65-F5344CB8AC3E}">
        <p14:creationId xmlns:p14="http://schemas.microsoft.com/office/powerpoint/2010/main" val="225103820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02C4E94-3DB4-C84A-925E-628A397D8BB4}" type="slidenum">
              <a:rPr lang="en-US" smtClean="0"/>
              <a:t>84</a:t>
            </a:fld>
            <a:endParaRPr lang="en-US"/>
          </a:p>
        </p:txBody>
      </p:sp>
    </p:spTree>
    <p:extLst>
      <p:ext uri="{BB962C8B-B14F-4D97-AF65-F5344CB8AC3E}">
        <p14:creationId xmlns:p14="http://schemas.microsoft.com/office/powerpoint/2010/main" val="314370910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02C4E94-3DB4-C84A-925E-628A397D8BB4}" type="slidenum">
              <a:rPr lang="en-US" smtClean="0"/>
              <a:t>85</a:t>
            </a:fld>
            <a:endParaRPr lang="en-US"/>
          </a:p>
        </p:txBody>
      </p:sp>
    </p:spTree>
    <p:extLst>
      <p:ext uri="{BB962C8B-B14F-4D97-AF65-F5344CB8AC3E}">
        <p14:creationId xmlns:p14="http://schemas.microsoft.com/office/powerpoint/2010/main" val="328212502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02C4E94-3DB4-C84A-925E-628A397D8BB4}" type="slidenum">
              <a:rPr lang="en-US" smtClean="0"/>
              <a:t>86</a:t>
            </a:fld>
            <a:endParaRPr lang="en-US"/>
          </a:p>
        </p:txBody>
      </p:sp>
    </p:spTree>
    <p:extLst>
      <p:ext uri="{BB962C8B-B14F-4D97-AF65-F5344CB8AC3E}">
        <p14:creationId xmlns:p14="http://schemas.microsoft.com/office/powerpoint/2010/main" val="158772931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a:p>
        </p:txBody>
      </p:sp>
      <p:sp>
        <p:nvSpPr>
          <p:cNvPr id="4" name="Marcador de número de diapositiva 3"/>
          <p:cNvSpPr>
            <a:spLocks noGrp="1"/>
          </p:cNvSpPr>
          <p:nvPr>
            <p:ph type="sldNum" sz="quarter" idx="10"/>
          </p:nvPr>
        </p:nvSpPr>
        <p:spPr/>
        <p:txBody>
          <a:bodyPr/>
          <a:lstStyle/>
          <a:p>
            <a:fld id="{602C4E94-3DB4-C84A-925E-628A397D8BB4}" type="slidenum">
              <a:rPr lang="en-US" smtClean="0"/>
              <a:t>88</a:t>
            </a:fld>
            <a:endParaRPr lang="en-US"/>
          </a:p>
        </p:txBody>
      </p:sp>
    </p:spTree>
    <p:extLst>
      <p:ext uri="{BB962C8B-B14F-4D97-AF65-F5344CB8AC3E}">
        <p14:creationId xmlns:p14="http://schemas.microsoft.com/office/powerpoint/2010/main" val="123291243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a:p>
        </p:txBody>
      </p:sp>
      <p:sp>
        <p:nvSpPr>
          <p:cNvPr id="4" name="Marcador de número de diapositiva 3"/>
          <p:cNvSpPr>
            <a:spLocks noGrp="1"/>
          </p:cNvSpPr>
          <p:nvPr>
            <p:ph type="sldNum" sz="quarter" idx="10"/>
          </p:nvPr>
        </p:nvSpPr>
        <p:spPr/>
        <p:txBody>
          <a:bodyPr/>
          <a:lstStyle/>
          <a:p>
            <a:fld id="{602C4E94-3DB4-C84A-925E-628A397D8BB4}" type="slidenum">
              <a:rPr lang="en-US" smtClean="0"/>
              <a:t>89</a:t>
            </a:fld>
            <a:endParaRPr lang="en-US"/>
          </a:p>
        </p:txBody>
      </p:sp>
    </p:spTree>
    <p:extLst>
      <p:ext uri="{BB962C8B-B14F-4D97-AF65-F5344CB8AC3E}">
        <p14:creationId xmlns:p14="http://schemas.microsoft.com/office/powerpoint/2010/main" val="81186608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DB9899-16BB-9EFB-4ED9-E2688F44AD52}"/>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5433883-593A-C565-50F6-095A3C17B80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8477CDB7-1CE9-AD02-8851-AD36342DC55A}"/>
              </a:ext>
            </a:extLst>
          </p:cNvPr>
          <p:cNvSpPr>
            <a:spLocks noGrp="1"/>
          </p:cNvSpPr>
          <p:nvPr>
            <p:ph type="body" idx="1"/>
          </p:nvPr>
        </p:nvSpPr>
        <p:spPr/>
        <p:txBody>
          <a:bodyPr/>
          <a:lstStyle/>
          <a:p>
            <a:endParaRPr lang="es-CO"/>
          </a:p>
        </p:txBody>
      </p:sp>
    </p:spTree>
    <p:extLst>
      <p:ext uri="{BB962C8B-B14F-4D97-AF65-F5344CB8AC3E}">
        <p14:creationId xmlns:p14="http://schemas.microsoft.com/office/powerpoint/2010/main" val="32704096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MX"/>
          </a:p>
        </p:txBody>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s-MX"/>
              <a:t>Haz clic para modificar el estilo de título del patrón</a:t>
            </a:r>
            <a:endParaRPr lang="en-US"/>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MX"/>
              <a:t>Haz clic para editar el estilo de subtítulo del patrón</a:t>
            </a:r>
            <a:endParaRPr lang="en-US"/>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9AFD365D-553E-437E-906F-693C2E6CE28D}" type="datetime1">
              <a:rPr lang="en-US" smtClean="0"/>
              <a:t>2/12/26</a:t>
            </a:fld>
            <a:endParaRPr lang="en-US"/>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a:p>
        </p:txBody>
      </p:sp>
    </p:spTree>
    <p:extLst>
      <p:ext uri="{BB962C8B-B14F-4D97-AF65-F5344CB8AC3E}">
        <p14:creationId xmlns:p14="http://schemas.microsoft.com/office/powerpoint/2010/main" val="42656461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MX"/>
          </a:p>
        </p:txBody>
      </p:sp>
      <p:sp>
        <p:nvSpPr>
          <p:cNvPr id="2" name="Title 1"/>
          <p:cNvSpPr>
            <a:spLocks noGrp="1"/>
          </p:cNvSpPr>
          <p:nvPr>
            <p:ph type="title"/>
          </p:nvPr>
        </p:nvSpPr>
        <p:spPr>
          <a:xfrm>
            <a:off x="581192" y="702156"/>
            <a:ext cx="11029616" cy="1013800"/>
          </a:xfrm>
        </p:spPr>
        <p:txBody>
          <a:bodyPr/>
          <a:lstStyle/>
          <a:p>
            <a:r>
              <a:rPr lang="es-MX"/>
              <a:t>Haz clic para modificar el estilo de título del patrón</a:t>
            </a:r>
            <a:endParaRPr lang="en-US"/>
          </a:p>
        </p:txBody>
      </p:sp>
      <p:sp>
        <p:nvSpPr>
          <p:cNvPr id="3" name="Content Placeholder 2"/>
          <p:cNvSpPr>
            <a:spLocks noGrp="1"/>
          </p:cNvSpPr>
          <p:nvPr>
            <p:ph idx="1"/>
          </p:nvPr>
        </p:nvSpPr>
        <p:spPr>
          <a:xfrm>
            <a:off x="581192" y="2180496"/>
            <a:ext cx="11029615" cy="3678303"/>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4" name="Date Placeholder 3"/>
          <p:cNvSpPr>
            <a:spLocks noGrp="1"/>
          </p:cNvSpPr>
          <p:nvPr>
            <p:ph type="dt" sz="half" idx="10"/>
          </p:nvPr>
        </p:nvSpPr>
        <p:spPr/>
        <p:txBody>
          <a:bodyPr/>
          <a:lstStyle/>
          <a:p>
            <a:fld id="{A523018D-1CC0-468E-BE3B-579A148A0691}" type="datetime1">
              <a:rPr lang="en-US" smtClean="0"/>
              <a:t>2/12/26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0558300" y="5956137"/>
            <a:ext cx="1052508" cy="365125"/>
          </a:xfrm>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32088987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s-MX"/>
              <a:t>Haz clic para modificar el estilo de título del patrón</a:t>
            </a:r>
            <a:endParaRPr lang="en-US"/>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MX"/>
              <a:t>Haga clic para modificar los estilos de texto del patrón</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CE7F702F-46BE-40AA-9A05-7C69E0403EE7}" type="datetime1">
              <a:rPr lang="en-US" smtClean="0"/>
              <a:t>2/12/26</a:t>
            </a:fld>
            <a:endParaRPr lang="en-US"/>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a:p>
        </p:txBody>
      </p:sp>
    </p:spTree>
    <p:extLst>
      <p:ext uri="{BB962C8B-B14F-4D97-AF65-F5344CB8AC3E}">
        <p14:creationId xmlns:p14="http://schemas.microsoft.com/office/powerpoint/2010/main" val="406295011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s-MX"/>
              <a:t>Haz clic para modificar el estilo de título del patrón</a:t>
            </a:r>
            <a:endParaRPr lang="en-US"/>
          </a:p>
        </p:txBody>
      </p:sp>
      <p:sp>
        <p:nvSpPr>
          <p:cNvPr id="3" name="Content Placeholder 2"/>
          <p:cNvSpPr>
            <a:spLocks noGrp="1"/>
          </p:cNvSpPr>
          <p:nvPr>
            <p:ph sz="half" idx="1"/>
          </p:nvPr>
        </p:nvSpPr>
        <p:spPr>
          <a:xfrm>
            <a:off x="581193" y="2228003"/>
            <a:ext cx="5422390" cy="3633047"/>
          </a:xfrm>
        </p:spPr>
        <p:txBody>
          <a:bodyPr>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5" name="Date Placeholder 4"/>
          <p:cNvSpPr>
            <a:spLocks noGrp="1"/>
          </p:cNvSpPr>
          <p:nvPr>
            <p:ph type="dt" sz="half" idx="10"/>
          </p:nvPr>
        </p:nvSpPr>
        <p:spPr/>
        <p:txBody>
          <a:bodyPr/>
          <a:lstStyle/>
          <a:p>
            <a:fld id="{C51F0D08-E4F7-43DB-810A-34BADF6468F7}" type="datetime1">
              <a:rPr lang="en-US" smtClean="0"/>
              <a:t>2/12/26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42330620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s-MX"/>
              <a:t>Haz clic para modificar el estilo de título del patrón</a:t>
            </a:r>
            <a:endParaRPr lang="en-US"/>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7" name="Date Placeholder 6"/>
          <p:cNvSpPr>
            <a:spLocks noGrp="1"/>
          </p:cNvSpPr>
          <p:nvPr>
            <p:ph type="dt" sz="half" idx="10"/>
          </p:nvPr>
        </p:nvSpPr>
        <p:spPr/>
        <p:txBody>
          <a:bodyPr/>
          <a:lstStyle/>
          <a:p>
            <a:fld id="{ADFE1DAC-EC09-4DEA-BBB4-788DDBA09515}" type="datetime1">
              <a:rPr lang="en-US" smtClean="0"/>
              <a:t>2/12/26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24396910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s-MX"/>
              <a:t>Haz clic para modificar el estilo de título del patrón</a:t>
            </a:r>
            <a:endParaRPr lang="en-US"/>
          </a:p>
        </p:txBody>
      </p:sp>
      <p:sp>
        <p:nvSpPr>
          <p:cNvPr id="3" name="Date Placeholder 2"/>
          <p:cNvSpPr>
            <a:spLocks noGrp="1"/>
          </p:cNvSpPr>
          <p:nvPr>
            <p:ph type="dt" sz="half" idx="10"/>
          </p:nvPr>
        </p:nvSpPr>
        <p:spPr/>
        <p:txBody>
          <a:bodyPr/>
          <a:lstStyle/>
          <a:p>
            <a:fld id="{A9BFF582-E74C-4A8A-87B2-214B0CF47F99}" type="datetime1">
              <a:rPr lang="en-US" smtClean="0"/>
              <a:t>2/12/26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21846102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3FC8AEA-E303-4B9D-B167-0A45CB59E0C2}" type="datetime1">
              <a:rPr lang="en-US" smtClean="0"/>
              <a:t>2/12/26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20952737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s-MX"/>
              <a:t>Haz clic para modificar el estilo de título del patrón</a:t>
            </a:r>
            <a:endParaRPr lang="en-US"/>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MX"/>
              <a:t>Haga clic para modificar los estilos de texto del patrón</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7EBE2AAB-C9FD-4A72-8C62-A7C81FA189B4}" type="datetime1">
              <a:rPr lang="en-US" smtClean="0"/>
              <a:t>2/12/26</a:t>
            </a:fld>
            <a:endParaRPr lang="en-US"/>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a:p>
        </p:txBody>
      </p:sp>
    </p:spTree>
    <p:extLst>
      <p:ext uri="{BB962C8B-B14F-4D97-AF65-F5344CB8AC3E}">
        <p14:creationId xmlns:p14="http://schemas.microsoft.com/office/powerpoint/2010/main" val="30296831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s-MX"/>
              <a:t>Haz clic para modificar el estilo de título del patrón</a:t>
            </a:r>
            <a:endParaRPr lang="en-US"/>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MX"/>
              <a:t>Haz clic en el icono para agregar una imagen</a:t>
            </a:r>
            <a:endParaRPr lang="en-US"/>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MX"/>
              <a:t>Haga clic para modificar los estilos de texto del patrón</a:t>
            </a:r>
          </a:p>
        </p:txBody>
      </p:sp>
      <p:sp>
        <p:nvSpPr>
          <p:cNvPr id="5" name="Date Placeholder 4"/>
          <p:cNvSpPr>
            <a:spLocks noGrp="1"/>
          </p:cNvSpPr>
          <p:nvPr>
            <p:ph type="dt" sz="half" idx="10"/>
          </p:nvPr>
        </p:nvSpPr>
        <p:spPr/>
        <p:txBody>
          <a:bodyPr/>
          <a:lstStyle/>
          <a:p>
            <a:fld id="{F4D9D4CC-5FC5-4711-9ACC-A7971700D612}" type="datetime1">
              <a:rPr lang="en-US" smtClean="0"/>
              <a:t>2/12/26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7794109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s-MX"/>
              <a:t>Haz clic para modificar el estilo de título del patrón</a:t>
            </a:r>
            <a:endParaRPr lang="en-US"/>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Tree>
    <p:extLst>
      <p:ext uri="{BB962C8B-B14F-4D97-AF65-F5344CB8AC3E}">
        <p14:creationId xmlns:p14="http://schemas.microsoft.com/office/powerpoint/2010/main" val="209963836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s-MX"/>
              <a:t>Haz clic para modificar el estilo de título del patrón</a:t>
            </a:r>
            <a:endParaRPr lang="en-US"/>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D119C4A7-5D51-4E42-9C0C-1785329211C5}" type="datetime1">
              <a:rPr lang="en-US" smtClean="0"/>
              <a:t>2/12/26</a:t>
            </a:fld>
            <a:endParaRPr lang="en-US"/>
          </a:p>
        </p:txBody>
      </p:sp>
      <p:sp>
        <p:nvSpPr>
          <p:cNvPr id="5" name="Footer Placeholder 4"/>
          <p:cNvSpPr>
            <a:spLocks noGrp="1"/>
          </p:cNvSpPr>
          <p:nvPr>
            <p:ph type="ftr" sz="quarter" idx="11"/>
          </p:nvPr>
        </p:nvSpPr>
        <p:spPr>
          <a:xfrm>
            <a:off x="774923" y="5951811"/>
            <a:ext cx="7896279" cy="365125"/>
          </a:xfrm>
        </p:spPr>
        <p:txBody>
          <a:bodyPr/>
          <a:lstStyle/>
          <a:p>
            <a:endParaRPr lang="en-US"/>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a:p>
        </p:txBody>
      </p:sp>
    </p:spTree>
    <p:extLst>
      <p:ext uri="{BB962C8B-B14F-4D97-AF65-F5344CB8AC3E}">
        <p14:creationId xmlns:p14="http://schemas.microsoft.com/office/powerpoint/2010/main" val="32378699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s-MX"/>
              <a:t>Haz clic para modificar el estilo de título del patrón</a:t>
            </a:r>
            <a:endParaRPr lang="en-US"/>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D8027E5A-4482-46C4-A2DC-45BEF00C1E0A}" type="datetime1">
              <a:rPr lang="en-US" smtClean="0"/>
              <a:t>2/12/26</a:t>
            </a:fld>
            <a:endParaRPr lang="en-US"/>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D57F1E4F-1CFF-5643-939E-217C01CDF565}" type="slidenum">
              <a:rPr lang="en-US" smtClean="0"/>
              <a:pPr/>
              <a:t>‹#›</a:t>
            </a:fld>
            <a:endParaRPr lang="en-US"/>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MX"/>
          </a:p>
        </p:txBody>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MX"/>
          </a:p>
        </p:txBody>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MX"/>
          </a:p>
        </p:txBody>
      </p:sp>
    </p:spTree>
    <p:extLst>
      <p:ext uri="{BB962C8B-B14F-4D97-AF65-F5344CB8AC3E}">
        <p14:creationId xmlns:p14="http://schemas.microsoft.com/office/powerpoint/2010/main" val="1686623261"/>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hf hdr="0" ftr="0" dt="0"/>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emf"/><Relationship Id="rId1" Type="http://schemas.openxmlformats.org/officeDocument/2006/relationships/slideLayout" Target="../slideLayouts/slideLayout2.xml"/><Relationship Id="rId4" Type="http://schemas.openxmlformats.org/officeDocument/2006/relationships/image" Target="../media/image3.emf"/></Relationships>
</file>

<file path=ppt/slides/_rels/slide5.xml.rels><?xml version="1.0" encoding="UTF-8" standalone="yes"?>
<Relationships xmlns="http://schemas.openxmlformats.org/package/2006/relationships"><Relationship Id="rId3" Type="http://schemas.openxmlformats.org/officeDocument/2006/relationships/image" Target="../media/image4.emf"/><Relationship Id="rId7"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7.emf"/><Relationship Id="rId5" Type="http://schemas.openxmlformats.org/officeDocument/2006/relationships/image" Target="../media/image6.emf"/><Relationship Id="rId4" Type="http://schemas.openxmlformats.org/officeDocument/2006/relationships/image" Target="../media/image5.emf"/></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3" Type="http://schemas.openxmlformats.org/officeDocument/2006/relationships/image" Target="../media/image40.png"/><Relationship Id="rId7"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41.png"/></Relationships>
</file>

<file path=ppt/slides/_rels/slide1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png"/><Relationship Id="rId5" Type="http://schemas.openxmlformats.org/officeDocument/2006/relationships/image" Target="../media/image5.png"/><Relationship Id="rId4" Type="http://schemas.openxmlformats.org/officeDocument/2006/relationships/image" Target="../media/image45.png"/></Relationships>
</file>

<file path=ppt/slides/_rels/slide15.xml.rels><?xml version="1.0" encoding="UTF-8" standalone="yes"?>
<Relationships xmlns="http://schemas.openxmlformats.org/package/2006/relationships"><Relationship Id="rId3" Type="http://schemas.openxmlformats.org/officeDocument/2006/relationships/image" Target="../media/image47.png"/><Relationship Id="rId7"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49.png"/><Relationship Id="rId4" Type="http://schemas.openxmlformats.org/officeDocument/2006/relationships/image" Target="../media/image48.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1.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7.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11.emf"/><Relationship Id="rId1" Type="http://schemas.openxmlformats.org/officeDocument/2006/relationships/slideLayout" Target="../slideLayouts/slideLayout2.xml"/><Relationship Id="rId5" Type="http://schemas.openxmlformats.org/officeDocument/2006/relationships/image" Target="../media/image1.png"/><Relationship Id="rId4" Type="http://schemas.openxmlformats.org/officeDocument/2006/relationships/image" Target="../media/image12.emf"/></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package" Target="../embeddings/Microsoft_Word_Document.docx"/><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57.png"/><Relationship Id="rId5" Type="http://schemas.openxmlformats.org/officeDocument/2006/relationships/image" Target="../media/image1.png"/><Relationship Id="rId4" Type="http://schemas.openxmlformats.org/officeDocument/2006/relationships/image" Target="../media/image13.emf"/></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28.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image" Target="../media/image15.emf"/><Relationship Id="rId1" Type="http://schemas.openxmlformats.org/officeDocument/2006/relationships/slideLayout" Target="../slideLayouts/slideLayout2.xml"/><Relationship Id="rId5" Type="http://schemas.openxmlformats.org/officeDocument/2006/relationships/image" Target="../media/image1.png"/><Relationship Id="rId4" Type="http://schemas.openxmlformats.org/officeDocument/2006/relationships/image" Target="../media/image17.emf"/></Relationships>
</file>

<file path=ppt/slides/_rels/slide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image" Target="../media/image7.emf"/><Relationship Id="rId7" Type="http://schemas.openxmlformats.org/officeDocument/2006/relationships/image" Target="../media/image21.emf"/><Relationship Id="rId2" Type="http://schemas.openxmlformats.org/officeDocument/2006/relationships/image" Target="../media/image12.emf"/><Relationship Id="rId1" Type="http://schemas.openxmlformats.org/officeDocument/2006/relationships/slideLayout" Target="../slideLayouts/slideLayout2.xml"/><Relationship Id="rId6" Type="http://schemas.openxmlformats.org/officeDocument/2006/relationships/image" Target="../media/image20.emf"/><Relationship Id="rId11" Type="http://schemas.openxmlformats.org/officeDocument/2006/relationships/image" Target="../media/image71.png"/><Relationship Id="rId5" Type="http://schemas.openxmlformats.org/officeDocument/2006/relationships/image" Target="../media/image19.emf"/><Relationship Id="rId10" Type="http://schemas.openxmlformats.org/officeDocument/2006/relationships/image" Target="../media/image70.png"/><Relationship Id="rId4" Type="http://schemas.openxmlformats.org/officeDocument/2006/relationships/image" Target="../media/image18.emf"/><Relationship Id="rId9" Type="http://schemas.openxmlformats.org/officeDocument/2006/relationships/image" Target="../media/image69.png"/></Relationships>
</file>

<file path=ppt/slides/_rels/slide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image" Target="../media/image22.emf"/><Relationship Id="rId1" Type="http://schemas.openxmlformats.org/officeDocument/2006/relationships/slideLayout" Target="../slideLayouts/slideLayout2.xml"/><Relationship Id="rId6" Type="http://schemas.openxmlformats.org/officeDocument/2006/relationships/image" Target="../media/image1.png"/><Relationship Id="rId5" Type="http://schemas.openxmlformats.org/officeDocument/2006/relationships/image" Target="../media/image25.emf"/><Relationship Id="rId4" Type="http://schemas.openxmlformats.org/officeDocument/2006/relationships/image" Target="../media/image24.emf"/></Relationships>
</file>

<file path=ppt/slides/_rels/slide3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56.png"/><Relationship Id="rId4" Type="http://schemas.openxmlformats.org/officeDocument/2006/relationships/image" Target="../media/image26.png"/></Relationships>
</file>

<file path=ppt/slides/_rels/slide38.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7.emf"/><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4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60.png"/><Relationship Id="rId5" Type="http://schemas.openxmlformats.org/officeDocument/2006/relationships/image" Target="../media/image59.png"/><Relationship Id="rId4" Type="http://schemas.openxmlformats.org/officeDocument/2006/relationships/chart" Target="../charts/chart1.xml"/></Relationships>
</file>

<file path=ppt/slides/_rels/slide4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61.png"/></Relationships>
</file>

<file path=ppt/slides/_rels/slide4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1.xml"/><Relationship Id="rId5" Type="http://schemas.openxmlformats.org/officeDocument/2006/relationships/image" Target="../media/image30.svg"/><Relationship Id="rId4" Type="http://schemas.openxmlformats.org/officeDocument/2006/relationships/image" Target="../media/image29.png"/></Relationships>
</file>

<file path=ppt/slides/_rels/slide4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1.xml"/><Relationship Id="rId5" Type="http://schemas.openxmlformats.org/officeDocument/2006/relationships/image" Target="../media/image30.svg"/><Relationship Id="rId4" Type="http://schemas.openxmlformats.org/officeDocument/2006/relationships/image" Target="../media/image29.png"/></Relationships>
</file>

<file path=ppt/slides/_rels/slide4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32.emf"/><Relationship Id="rId7" Type="http://schemas.openxmlformats.org/officeDocument/2006/relationships/image" Target="../media/image82.png"/><Relationship Id="rId2" Type="http://schemas.openxmlformats.org/officeDocument/2006/relationships/image" Target="../media/image31.emf"/><Relationship Id="rId1" Type="http://schemas.openxmlformats.org/officeDocument/2006/relationships/slideLayout" Target="../slideLayouts/slideLayout2.xml"/><Relationship Id="rId6" Type="http://schemas.openxmlformats.org/officeDocument/2006/relationships/image" Target="../media/image1.png"/><Relationship Id="rId5" Type="http://schemas.openxmlformats.org/officeDocument/2006/relationships/image" Target="../media/image34.emf"/><Relationship Id="rId4" Type="http://schemas.openxmlformats.org/officeDocument/2006/relationships/image" Target="../media/image33.emf"/></Relationships>
</file>

<file path=ppt/slides/_rels/slide60.xml.rels><?xml version="1.0" encoding="UTF-8" standalone="yes"?>
<Relationships xmlns="http://schemas.openxmlformats.org/package/2006/relationships"><Relationship Id="rId3" Type="http://schemas.openxmlformats.org/officeDocument/2006/relationships/image" Target="../media/image35.emf"/><Relationship Id="rId2" Type="http://schemas.openxmlformats.org/officeDocument/2006/relationships/image" Target="../media/image83.png"/><Relationship Id="rId1" Type="http://schemas.openxmlformats.org/officeDocument/2006/relationships/slideLayout" Target="../slideLayouts/slideLayout2.xml"/><Relationship Id="rId6" Type="http://schemas.openxmlformats.org/officeDocument/2006/relationships/image" Target="../media/image1.png"/><Relationship Id="rId5" Type="http://schemas.openxmlformats.org/officeDocument/2006/relationships/image" Target="../media/image37.emf"/><Relationship Id="rId4" Type="http://schemas.openxmlformats.org/officeDocument/2006/relationships/image" Target="../media/image36.emf"/></Relationships>
</file>

<file path=ppt/slides/_rels/slide6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8.emf"/><Relationship Id="rId1" Type="http://schemas.openxmlformats.org/officeDocument/2006/relationships/slideLayout" Target="../slideLayouts/slideLayout2.xml"/><Relationship Id="rId4" Type="http://schemas.openxmlformats.org/officeDocument/2006/relationships/image" Target="../media/image88.png"/></Relationships>
</file>

<file path=ppt/slides/_rels/slide62.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image" Target="../media/image89.png"/><Relationship Id="rId1" Type="http://schemas.openxmlformats.org/officeDocument/2006/relationships/slideLayout" Target="../slideLayouts/slideLayout2.xml"/><Relationship Id="rId6" Type="http://schemas.openxmlformats.org/officeDocument/2006/relationships/image" Target="../media/image92.png"/><Relationship Id="rId5" Type="http://schemas.openxmlformats.org/officeDocument/2006/relationships/image" Target="../media/image1.png"/><Relationship Id="rId4" Type="http://schemas.openxmlformats.org/officeDocument/2006/relationships/image" Target="../media/image91.png"/></Relationships>
</file>

<file path=ppt/slides/_rels/slide6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93.png"/><Relationship Id="rId1" Type="http://schemas.openxmlformats.org/officeDocument/2006/relationships/slideLayout" Target="../slideLayouts/slideLayout2.xml"/><Relationship Id="rId5" Type="http://schemas.openxmlformats.org/officeDocument/2006/relationships/image" Target="../media/image95.png"/><Relationship Id="rId4" Type="http://schemas.openxmlformats.org/officeDocument/2006/relationships/image" Target="../media/image94.png"/></Relationships>
</file>

<file path=ppt/slides/_rels/slide6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9.emf"/><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97.png"/><Relationship Id="rId1" Type="http://schemas.openxmlformats.org/officeDocument/2006/relationships/slideLayout" Target="../slideLayouts/slideLayout2.xml"/><Relationship Id="rId5" Type="http://schemas.openxmlformats.org/officeDocument/2006/relationships/image" Target="../media/image38.emf"/><Relationship Id="rId4" Type="http://schemas.openxmlformats.org/officeDocument/2006/relationships/image" Target="../media/image98.png"/></Relationships>
</file>

<file path=ppt/slides/_rels/slide6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41.emf"/><Relationship Id="rId2" Type="http://schemas.openxmlformats.org/officeDocument/2006/relationships/image" Target="../media/image40.emf"/><Relationship Id="rId1" Type="http://schemas.openxmlformats.org/officeDocument/2006/relationships/slideLayout" Target="../slideLayouts/slideLayout2.xml"/><Relationship Id="rId5" Type="http://schemas.openxmlformats.org/officeDocument/2006/relationships/image" Target="../media/image1.png"/><Relationship Id="rId4" Type="http://schemas.openxmlformats.org/officeDocument/2006/relationships/image" Target="../media/image42.emf"/></Relationships>
</file>

<file path=ppt/slides/_rels/slide7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103.png"/></Relationships>
</file>

<file path=ppt/slides/_rels/slide7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103.png"/></Relationships>
</file>

<file path=ppt/slides/_rels/slide7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79.xml.rels><?xml version="1.0" encoding="UTF-8" standalone="yes"?>
<Relationships xmlns="http://schemas.openxmlformats.org/package/2006/relationships"><Relationship Id="rId3" Type="http://schemas.openxmlformats.org/officeDocument/2006/relationships/image" Target="../media/image106.pn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8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notesSlide" Target="../notesSlides/notesSlide32.xml"/><Relationship Id="rId1" Type="http://schemas.openxmlformats.org/officeDocument/2006/relationships/slideLayout" Target="../slideLayouts/slideLayout2.xml"/><Relationship Id="rId6" Type="http://schemas.openxmlformats.org/officeDocument/2006/relationships/image" Target="../media/image1.png"/><Relationship Id="rId5" Type="http://schemas.openxmlformats.org/officeDocument/2006/relationships/image" Target="../media/image110.png"/><Relationship Id="rId4" Type="http://schemas.openxmlformats.org/officeDocument/2006/relationships/image" Target="../media/image109.png"/></Relationships>
</file>

<file path=ppt/slides/_rels/slide85.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notesSlide" Target="../notesSlides/notesSlide33.xml"/><Relationship Id="rId1" Type="http://schemas.openxmlformats.org/officeDocument/2006/relationships/slideLayout" Target="../slideLayouts/slideLayout2.xml"/><Relationship Id="rId5" Type="http://schemas.openxmlformats.org/officeDocument/2006/relationships/image" Target="../media/image1.png"/><Relationship Id="rId4" Type="http://schemas.openxmlformats.org/officeDocument/2006/relationships/image" Target="../media/image112.png"/></Relationships>
</file>

<file path=ppt/slides/_rels/slide86.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notesSlide" Target="../notesSlides/notesSlide34.xml"/><Relationship Id="rId1" Type="http://schemas.openxmlformats.org/officeDocument/2006/relationships/slideLayout" Target="../slideLayouts/slideLayout2.xml"/><Relationship Id="rId5" Type="http://schemas.openxmlformats.org/officeDocument/2006/relationships/image" Target="../media/image1.png"/><Relationship Id="rId4" Type="http://schemas.openxmlformats.org/officeDocument/2006/relationships/image" Target="../media/image114.png"/></Relationships>
</file>

<file path=ppt/slides/_rels/slide8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chart" Target="../charts/chart2.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8" Type="http://schemas.openxmlformats.org/officeDocument/2006/relationships/image" Target="../media/image120.png"/><Relationship Id="rId13" Type="http://schemas.openxmlformats.org/officeDocument/2006/relationships/image" Target="../media/image1.png"/><Relationship Id="rId3" Type="http://schemas.openxmlformats.org/officeDocument/2006/relationships/image" Target="../media/image115.png"/><Relationship Id="rId7" Type="http://schemas.openxmlformats.org/officeDocument/2006/relationships/image" Target="../media/image119.png"/><Relationship Id="rId12" Type="http://schemas.openxmlformats.org/officeDocument/2006/relationships/chart" Target="../charts/chart3.xml"/><Relationship Id="rId2" Type="http://schemas.openxmlformats.org/officeDocument/2006/relationships/notesSlide" Target="../notesSlides/notesSlide35.xml"/><Relationship Id="rId1" Type="http://schemas.openxmlformats.org/officeDocument/2006/relationships/slideLayout" Target="../slideLayouts/slideLayout2.xml"/><Relationship Id="rId6" Type="http://schemas.openxmlformats.org/officeDocument/2006/relationships/image" Target="../media/image118.png"/><Relationship Id="rId11" Type="http://schemas.openxmlformats.org/officeDocument/2006/relationships/image" Target="../media/image123.png"/><Relationship Id="rId5" Type="http://schemas.openxmlformats.org/officeDocument/2006/relationships/image" Target="../media/image117.png"/><Relationship Id="rId10" Type="http://schemas.openxmlformats.org/officeDocument/2006/relationships/image" Target="../media/image122.png"/><Relationship Id="rId4" Type="http://schemas.openxmlformats.org/officeDocument/2006/relationships/image" Target="../media/image116.png"/><Relationship Id="rId9" Type="http://schemas.openxmlformats.org/officeDocument/2006/relationships/image" Target="../media/image121.png"/></Relationships>
</file>

<file path=ppt/slides/_rels/slide89.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image" Target="../media/image124.png"/><Relationship Id="rId7" Type="http://schemas.openxmlformats.org/officeDocument/2006/relationships/image" Target="../media/image128.png"/><Relationship Id="rId2" Type="http://schemas.openxmlformats.org/officeDocument/2006/relationships/notesSlide" Target="../notesSlides/notesSlide36.xml"/><Relationship Id="rId1" Type="http://schemas.openxmlformats.org/officeDocument/2006/relationships/slideLayout" Target="../slideLayouts/slideLayout2.xml"/><Relationship Id="rId6" Type="http://schemas.openxmlformats.org/officeDocument/2006/relationships/image" Target="../media/image127.png"/><Relationship Id="rId5" Type="http://schemas.openxmlformats.org/officeDocument/2006/relationships/image" Target="../media/image126.png"/><Relationship Id="rId4" Type="http://schemas.openxmlformats.org/officeDocument/2006/relationships/image" Target="../media/image125.png"/><Relationship Id="rId9" Type="http://schemas.openxmlformats.org/officeDocument/2006/relationships/chart" Target="../charts/chart4.xml"/></Relationships>
</file>

<file path=ppt/slides/_rels/slide9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7.xml"/><Relationship Id="rId1" Type="http://schemas.openxmlformats.org/officeDocument/2006/relationships/slideLayout" Target="../slideLayouts/slideLayout1.xml"/><Relationship Id="rId5" Type="http://schemas.openxmlformats.org/officeDocument/2006/relationships/image" Target="../media/image30.svg"/><Relationship Id="rId4" Type="http://schemas.openxmlformats.org/officeDocument/2006/relationships/image" Target="../media/image2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ángulo 4"/>
          <p:cNvSpPr/>
          <p:nvPr/>
        </p:nvSpPr>
        <p:spPr>
          <a:xfrm>
            <a:off x="583598" y="2143275"/>
            <a:ext cx="11029615" cy="4154984"/>
          </a:xfrm>
          <a:prstGeom prst="rect">
            <a:avLst/>
          </a:prstGeom>
        </p:spPr>
        <p:txBody>
          <a:bodyPr wrap="square">
            <a:spAutoFit/>
          </a:bodyPr>
          <a:lstStyle/>
          <a:p>
            <a:pPr algn="just"/>
            <a:r>
              <a:rPr lang="es-ES_tradnl" sz="2400" b="1" dirty="0">
                <a:solidFill>
                  <a:srgbClr val="D7A700"/>
                </a:solidFill>
                <a:latin typeface="Gill Sans MT (Cuerpo)"/>
                <a:ea typeface="MS Mincho" panose="02020609040205080304" pitchFamily="49" charset="-128"/>
                <a:cs typeface="Times New Roman" panose="02020603050405020304" pitchFamily="18" charset="0"/>
              </a:rPr>
              <a:t>Ejercicio 1: </a:t>
            </a:r>
            <a:r>
              <a:rPr lang="es-ES_tradnl" sz="2400" dirty="0">
                <a:latin typeface="Gill Sans MT (Cuerpo)"/>
                <a:ea typeface="MS Mincho" panose="02020609040205080304" pitchFamily="49" charset="-128"/>
                <a:cs typeface="Times New Roman" panose="02020603050405020304" pitchFamily="18" charset="0"/>
              </a:rPr>
              <a:t>Estamos en enero y este fin de año su familia irá de paseo a Argentina. Para esto se propuso ahorrar de la siguiente forma en una cuenta que rinde el 1,05% efectivo mensual: </a:t>
            </a:r>
            <a:endParaRPr lang="es-CO" sz="2400" dirty="0">
              <a:latin typeface="Gill Sans MT (Cuerpo)"/>
              <a:ea typeface="MS Mincho" panose="02020609040205080304" pitchFamily="49" charset="-128"/>
              <a:cs typeface="Times New Roman" panose="02020603050405020304" pitchFamily="18" charset="0"/>
            </a:endParaRPr>
          </a:p>
          <a:p>
            <a:pPr marL="457200"/>
            <a:r>
              <a:rPr lang="es-ES_tradnl" sz="2400" dirty="0">
                <a:latin typeface="Gill Sans MT (Cuerpo)"/>
                <a:ea typeface="MS Mincho" panose="02020609040205080304" pitchFamily="49" charset="-128"/>
                <a:cs typeface="Times New Roman" panose="02020603050405020304" pitchFamily="18" charset="0"/>
              </a:rPr>
              <a:t> </a:t>
            </a:r>
            <a:endParaRPr lang="es-CO" sz="2400" dirty="0">
              <a:latin typeface="Gill Sans MT (Cuerpo)"/>
              <a:ea typeface="MS Mincho" panose="02020609040205080304" pitchFamily="49" charset="-128"/>
              <a:cs typeface="Times New Roman" panose="02020603050405020304" pitchFamily="18" charset="0"/>
            </a:endParaRPr>
          </a:p>
          <a:p>
            <a:pPr marL="447675" indent="-265113">
              <a:buFont typeface="Arial" panose="020B0604020202020204" pitchFamily="34" charset="0"/>
              <a:buChar char="•"/>
            </a:pPr>
            <a:r>
              <a:rPr lang="es-ES_tradnl" sz="2400" dirty="0">
                <a:latin typeface="Gill Sans MT (Cuerpo)"/>
                <a:ea typeface="MS Mincho" panose="02020609040205080304" pitchFamily="49" charset="-128"/>
                <a:cs typeface="Times New Roman" panose="02020603050405020304" pitchFamily="18" charset="0"/>
              </a:rPr>
              <a:t>En el presente (Enero) hacer un depósito de $1.000.000</a:t>
            </a:r>
            <a:endParaRPr lang="es-CO" sz="2400" dirty="0">
              <a:latin typeface="Gill Sans MT (Cuerpo)"/>
              <a:ea typeface="MS Mincho" panose="02020609040205080304" pitchFamily="49" charset="-128"/>
              <a:cs typeface="Times New Roman" panose="02020603050405020304" pitchFamily="18" charset="0"/>
            </a:endParaRPr>
          </a:p>
          <a:p>
            <a:pPr marL="447675" indent="-265113" algn="just">
              <a:buFont typeface="Arial" panose="020B0604020202020204" pitchFamily="34" charset="0"/>
              <a:buChar char="•"/>
            </a:pPr>
            <a:r>
              <a:rPr lang="es-ES_tradnl" sz="2400" dirty="0">
                <a:latin typeface="Gill Sans MT (Cuerpo)"/>
                <a:ea typeface="MS Mincho" panose="02020609040205080304" pitchFamily="49" charset="-128"/>
                <a:cs typeface="Times New Roman" panose="02020603050405020304" pitchFamily="18" charset="0"/>
              </a:rPr>
              <a:t>De febrero a noviembre ahorrar mensualmente $300.000 </a:t>
            </a:r>
            <a:endParaRPr lang="es-CO" sz="2400" dirty="0">
              <a:latin typeface="Gill Sans MT (Cuerpo)"/>
              <a:ea typeface="MS Mincho" panose="02020609040205080304" pitchFamily="49" charset="-128"/>
              <a:cs typeface="Times New Roman" panose="02020603050405020304" pitchFamily="18" charset="0"/>
            </a:endParaRPr>
          </a:p>
          <a:p>
            <a:pPr marL="447675" indent="-265113" algn="just">
              <a:buFont typeface="Arial" panose="020B0604020202020204" pitchFamily="34" charset="0"/>
              <a:buChar char="•"/>
            </a:pPr>
            <a:r>
              <a:rPr lang="es-ES_tradnl" sz="2400" dirty="0">
                <a:latin typeface="Gill Sans MT (Cuerpo)"/>
                <a:ea typeface="MS Mincho" panose="02020609040205080304" pitchFamily="49" charset="-128"/>
                <a:cs typeface="Times New Roman" panose="02020603050405020304" pitchFamily="18" charset="0"/>
              </a:rPr>
              <a:t>En agosto hacer un abono adicional a los 300 mil COP de $900.000</a:t>
            </a:r>
            <a:endParaRPr lang="es-CO" sz="2400" dirty="0">
              <a:latin typeface="Gill Sans MT (Cuerpo)"/>
              <a:ea typeface="MS Mincho" panose="02020609040205080304" pitchFamily="49" charset="-128"/>
              <a:cs typeface="Times New Roman" panose="02020603050405020304" pitchFamily="18" charset="0"/>
            </a:endParaRPr>
          </a:p>
          <a:p>
            <a:pPr marL="447675" indent="-265113" algn="just">
              <a:buFont typeface="Arial" panose="020B0604020202020204" pitchFamily="34" charset="0"/>
              <a:buChar char="•"/>
            </a:pPr>
            <a:r>
              <a:rPr lang="es-ES_tradnl" sz="2400" dirty="0">
                <a:latin typeface="Gill Sans MT (Cuerpo)"/>
                <a:ea typeface="MS Mincho" panose="02020609040205080304" pitchFamily="49" charset="-128"/>
                <a:cs typeface="Times New Roman" panose="02020603050405020304" pitchFamily="18" charset="0"/>
              </a:rPr>
              <a:t>Recoger el dinero en diciembre para ir al paseo</a:t>
            </a:r>
          </a:p>
          <a:p>
            <a:pPr marL="457200" algn="just"/>
            <a:endParaRPr lang="es-ES_tradnl" sz="2400" dirty="0">
              <a:latin typeface="Gill Sans MT (Cuerpo)"/>
              <a:ea typeface="MS Mincho" panose="02020609040205080304" pitchFamily="49" charset="-128"/>
              <a:cs typeface="Times New Roman" panose="02020603050405020304" pitchFamily="18" charset="0"/>
            </a:endParaRPr>
          </a:p>
          <a:p>
            <a:pPr algn="just"/>
            <a:r>
              <a:rPr lang="es-ES_tradnl" sz="2400" dirty="0">
                <a:latin typeface="Gill Sans MT (Cuerpo)"/>
                <a:ea typeface="MS Mincho" panose="02020609040205080304" pitchFamily="49" charset="-128"/>
                <a:cs typeface="Times New Roman" panose="02020603050405020304" pitchFamily="18" charset="0"/>
              </a:rPr>
              <a:t>Si el paseo vale $5.200.000 en diciembre, </a:t>
            </a:r>
            <a:r>
              <a:rPr lang="es-MX" sz="2400" dirty="0">
                <a:latin typeface="Gill Sans MT (Cuerpo)"/>
                <a:ea typeface="MS Mincho" panose="02020609040205080304" pitchFamily="49" charset="-128"/>
                <a:cs typeface="Times New Roman" panose="02020603050405020304" pitchFamily="18" charset="0"/>
              </a:rPr>
              <a:t>¿podrá ir usted al paseo?</a:t>
            </a:r>
          </a:p>
          <a:p>
            <a:pPr marL="457200" algn="just"/>
            <a:endParaRPr lang="es-CO" sz="2400" dirty="0">
              <a:latin typeface="Gill Sans MT (Cuerpo)"/>
              <a:ea typeface="MS Mincho" panose="02020609040205080304" pitchFamily="49" charset="-128"/>
              <a:cs typeface="Times New Roman" panose="02020603050405020304" pitchFamily="18" charset="0"/>
            </a:endParaRPr>
          </a:p>
        </p:txBody>
      </p:sp>
      <p:sp>
        <p:nvSpPr>
          <p:cNvPr id="3" name="Title 1">
            <a:extLst>
              <a:ext uri="{FF2B5EF4-FFF2-40B4-BE49-F238E27FC236}">
                <a16:creationId xmlns:a16="http://schemas.microsoft.com/office/drawing/2014/main" id="{BEB59DD0-88B3-B0FC-E75F-65A5907B9D9C}"/>
              </a:ext>
            </a:extLst>
          </p:cNvPr>
          <p:cNvSpPr>
            <a:spLocks noGrp="1"/>
          </p:cNvSpPr>
          <p:nvPr>
            <p:ph type="title"/>
          </p:nvPr>
        </p:nvSpPr>
        <p:spPr>
          <a:xfrm>
            <a:off x="581192" y="702156"/>
            <a:ext cx="11029616" cy="1013800"/>
          </a:xfrm>
        </p:spPr>
        <p:txBody>
          <a:bodyPr>
            <a:normAutofit/>
          </a:bodyPr>
          <a:lstStyle/>
          <a:p>
            <a:r>
              <a:rPr lang="es-ES_tradnl" sz="3200" dirty="0">
                <a:latin typeface="Gill Sans MT (titulo)"/>
              </a:rPr>
              <a:t>Series uniformes / anualidades</a:t>
            </a:r>
          </a:p>
        </p:txBody>
      </p:sp>
      <p:sp>
        <p:nvSpPr>
          <p:cNvPr id="8" name="Rectángulo 7">
            <a:extLst>
              <a:ext uri="{FF2B5EF4-FFF2-40B4-BE49-F238E27FC236}">
                <a16:creationId xmlns:a16="http://schemas.microsoft.com/office/drawing/2014/main" id="{82C823A8-A87D-4FD0-C5D9-475B68FF349A}"/>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9" name="Picture 2" descr="Clientes y aliados | Centro de Evaluación | Uniandes">
            <a:extLst>
              <a:ext uri="{FF2B5EF4-FFF2-40B4-BE49-F238E27FC236}">
                <a16:creationId xmlns:a16="http://schemas.microsoft.com/office/drawing/2014/main" id="{86F2D163-778D-4D6E-2E63-6DA85C7C5B1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0" name="Rectángulo 9">
            <a:extLst>
              <a:ext uri="{FF2B5EF4-FFF2-40B4-BE49-F238E27FC236}">
                <a16:creationId xmlns:a16="http://schemas.microsoft.com/office/drawing/2014/main" id="{71A66573-C16D-5F2C-E24E-45853500B0FF}"/>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2" name="Slide Number Placeholder 3">
            <a:extLst>
              <a:ext uri="{FF2B5EF4-FFF2-40B4-BE49-F238E27FC236}">
                <a16:creationId xmlns:a16="http://schemas.microsoft.com/office/drawing/2014/main" id="{2AB6FDE7-80F8-B451-C919-F5591E4A6E46}"/>
              </a:ext>
            </a:extLst>
          </p:cNvPr>
          <p:cNvSpPr>
            <a:spLocks noGrp="1"/>
          </p:cNvSpPr>
          <p:nvPr>
            <p:ph type="sldNum" sz="quarter" idx="12"/>
          </p:nvPr>
        </p:nvSpPr>
        <p:spPr>
          <a:xfrm>
            <a:off x="10558300" y="5956137"/>
            <a:ext cx="1052508" cy="365125"/>
          </a:xfrm>
        </p:spPr>
        <p:txBody>
          <a:bodyPr/>
          <a:lstStyle/>
          <a:p>
            <a:fld id="{5E3E23BA-6E79-2442-BA73-D218A5E297C3}" type="slidenum">
              <a:rPr lang="en-US" sz="2000" b="1" smtClean="0">
                <a:latin typeface="Gill Sans MT (Títulos)"/>
              </a:rPr>
              <a:t>1</a:t>
            </a:fld>
            <a:endParaRPr lang="en-US" sz="2000" b="1" dirty="0">
              <a:latin typeface="Gill Sans MT (Títulos)"/>
            </a:endParaRPr>
          </a:p>
        </p:txBody>
      </p:sp>
    </p:spTree>
    <p:extLst>
      <p:ext uri="{BB962C8B-B14F-4D97-AF65-F5344CB8AC3E}">
        <p14:creationId xmlns:p14="http://schemas.microsoft.com/office/powerpoint/2010/main" val="2823708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14BA93-937E-B372-583A-F5430F3B95D0}"/>
            </a:ext>
          </a:extLst>
        </p:cNvPr>
        <p:cNvGrpSpPr/>
        <p:nvPr/>
      </p:nvGrpSpPr>
      <p:grpSpPr>
        <a:xfrm>
          <a:off x="0" y="0"/>
          <a:ext cx="0" cy="0"/>
          <a:chOff x="0" y="0"/>
          <a:chExt cx="0" cy="0"/>
        </a:xfrm>
      </p:grpSpPr>
      <p:sp>
        <p:nvSpPr>
          <p:cNvPr id="5" name="Rectángulo 4">
            <a:extLst>
              <a:ext uri="{FF2B5EF4-FFF2-40B4-BE49-F238E27FC236}">
                <a16:creationId xmlns:a16="http://schemas.microsoft.com/office/drawing/2014/main" id="{CDABAC36-5C65-DC79-84DC-69D2C6FAA673}"/>
              </a:ext>
            </a:extLst>
          </p:cNvPr>
          <p:cNvSpPr/>
          <p:nvPr/>
        </p:nvSpPr>
        <p:spPr>
          <a:xfrm>
            <a:off x="583598" y="2143275"/>
            <a:ext cx="11029615" cy="830997"/>
          </a:xfrm>
          <a:prstGeom prst="rect">
            <a:avLst/>
          </a:prstGeom>
        </p:spPr>
        <p:txBody>
          <a:bodyPr wrap="square">
            <a:spAutoFit/>
          </a:bodyPr>
          <a:lstStyle/>
          <a:p>
            <a:pPr algn="just"/>
            <a:r>
              <a:rPr lang="es-ES_tradnl" sz="2400" b="1" dirty="0">
                <a:solidFill>
                  <a:srgbClr val="D7A700"/>
                </a:solidFill>
                <a:latin typeface="Gill Sans MT (Cuerpo)"/>
                <a:ea typeface="MS Mincho" panose="02020609040205080304" pitchFamily="49" charset="-128"/>
                <a:cs typeface="Times New Roman" panose="02020603050405020304" pitchFamily="18" charset="0"/>
              </a:rPr>
              <a:t>Ejercicio 1: </a:t>
            </a:r>
            <a:r>
              <a:rPr lang="es-MX" sz="2400" dirty="0">
                <a:latin typeface="Gill Sans MT (Cuerpo)"/>
                <a:ea typeface="MS Mincho" panose="02020609040205080304" pitchFamily="49" charset="-128"/>
                <a:cs typeface="Times New Roman" panose="02020603050405020304" pitchFamily="18" charset="0"/>
              </a:rPr>
              <a:t>¿Podrá ir usted al paseo?</a:t>
            </a:r>
          </a:p>
          <a:p>
            <a:pPr algn="just"/>
            <a:endParaRPr lang="es-CO" sz="2400" dirty="0">
              <a:latin typeface="Gill Sans MT (Cuerpo)"/>
              <a:ea typeface="MS Mincho" panose="02020609040205080304" pitchFamily="49" charset="-128"/>
              <a:cs typeface="Times New Roman" panose="02020603050405020304" pitchFamily="18" charset="0"/>
            </a:endParaRPr>
          </a:p>
        </p:txBody>
      </p:sp>
      <p:sp>
        <p:nvSpPr>
          <p:cNvPr id="3" name="Title 1">
            <a:extLst>
              <a:ext uri="{FF2B5EF4-FFF2-40B4-BE49-F238E27FC236}">
                <a16:creationId xmlns:a16="http://schemas.microsoft.com/office/drawing/2014/main" id="{04C5DC07-D23E-6931-6F3E-28EA1B4CC5E6}"/>
              </a:ext>
            </a:extLst>
          </p:cNvPr>
          <p:cNvSpPr>
            <a:spLocks noGrp="1"/>
          </p:cNvSpPr>
          <p:nvPr>
            <p:ph type="title"/>
          </p:nvPr>
        </p:nvSpPr>
        <p:spPr>
          <a:xfrm>
            <a:off x="581192" y="702156"/>
            <a:ext cx="11029616" cy="1013800"/>
          </a:xfrm>
        </p:spPr>
        <p:txBody>
          <a:bodyPr>
            <a:normAutofit/>
          </a:bodyPr>
          <a:lstStyle/>
          <a:p>
            <a:r>
              <a:rPr lang="es-ES_tradnl" sz="3200">
                <a:latin typeface="Gill Sans MT (titulo)"/>
              </a:rPr>
              <a:t>Series uniformes / anualidades</a:t>
            </a:r>
          </a:p>
        </p:txBody>
      </p:sp>
      <p:sp>
        <p:nvSpPr>
          <p:cNvPr id="8" name="Rectángulo 7">
            <a:extLst>
              <a:ext uri="{FF2B5EF4-FFF2-40B4-BE49-F238E27FC236}">
                <a16:creationId xmlns:a16="http://schemas.microsoft.com/office/drawing/2014/main" id="{489A9D24-E8B8-0CBA-3C02-8A5C54FE3041}"/>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9" name="Picture 2" descr="Clientes y aliados | Centro de Evaluación | Uniandes">
            <a:extLst>
              <a:ext uri="{FF2B5EF4-FFF2-40B4-BE49-F238E27FC236}">
                <a16:creationId xmlns:a16="http://schemas.microsoft.com/office/drawing/2014/main" id="{3B19E70C-A019-27C9-AA04-B613E811206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0" name="Rectángulo 9">
            <a:extLst>
              <a:ext uri="{FF2B5EF4-FFF2-40B4-BE49-F238E27FC236}">
                <a16:creationId xmlns:a16="http://schemas.microsoft.com/office/drawing/2014/main" id="{27730A8C-8E2A-73C7-AC4F-F37251E6DC01}"/>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2" name="Slide Number Placeholder 3">
            <a:extLst>
              <a:ext uri="{FF2B5EF4-FFF2-40B4-BE49-F238E27FC236}">
                <a16:creationId xmlns:a16="http://schemas.microsoft.com/office/drawing/2014/main" id="{2CD066C1-1D1C-78DF-6CD6-B290A9D1C3D7}"/>
              </a:ext>
            </a:extLst>
          </p:cNvPr>
          <p:cNvSpPr>
            <a:spLocks noGrp="1"/>
          </p:cNvSpPr>
          <p:nvPr>
            <p:ph type="sldNum" sz="quarter" idx="12"/>
          </p:nvPr>
        </p:nvSpPr>
        <p:spPr>
          <a:xfrm>
            <a:off x="10558300" y="5956137"/>
            <a:ext cx="1052508" cy="365125"/>
          </a:xfrm>
        </p:spPr>
        <p:txBody>
          <a:bodyPr/>
          <a:lstStyle/>
          <a:p>
            <a:fld id="{5E3E23BA-6E79-2442-BA73-D218A5E297C3}" type="slidenum">
              <a:rPr lang="en-US" sz="2000" b="1" smtClean="0">
                <a:latin typeface="Gill Sans MT (Títulos)"/>
              </a:rPr>
              <a:t>2</a:t>
            </a:fld>
            <a:endParaRPr lang="en-US" sz="2000" b="1" dirty="0">
              <a:latin typeface="Gill Sans MT (Títulos)"/>
            </a:endParaRPr>
          </a:p>
        </p:txBody>
      </p:sp>
      <p:cxnSp>
        <p:nvCxnSpPr>
          <p:cNvPr id="4" name="Straight Connector 12">
            <a:extLst>
              <a:ext uri="{FF2B5EF4-FFF2-40B4-BE49-F238E27FC236}">
                <a16:creationId xmlns:a16="http://schemas.microsoft.com/office/drawing/2014/main" id="{BCA4568E-4EEC-DB88-CEE5-6C83351B2F6B}"/>
              </a:ext>
            </a:extLst>
          </p:cNvPr>
          <p:cNvCxnSpPr>
            <a:cxnSpLocks/>
          </p:cNvCxnSpPr>
          <p:nvPr/>
        </p:nvCxnSpPr>
        <p:spPr>
          <a:xfrm flipV="1">
            <a:off x="3404116" y="4490077"/>
            <a:ext cx="6308214" cy="9283"/>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11" name="Rectangle 11">
            <a:extLst>
              <a:ext uri="{FF2B5EF4-FFF2-40B4-BE49-F238E27FC236}">
                <a16:creationId xmlns:a16="http://schemas.microsoft.com/office/drawing/2014/main" id="{DEB90576-4A05-1CF6-8C2B-DCBB003E70E3}"/>
              </a:ext>
            </a:extLst>
          </p:cNvPr>
          <p:cNvSpPr>
            <a:spLocks/>
          </p:cNvSpPr>
          <p:nvPr/>
        </p:nvSpPr>
        <p:spPr bwMode="auto">
          <a:xfrm>
            <a:off x="3243047" y="4108940"/>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a:t>
            </a:r>
          </a:p>
        </p:txBody>
      </p:sp>
      <p:sp>
        <p:nvSpPr>
          <p:cNvPr id="12" name="Rectangle 14">
            <a:extLst>
              <a:ext uri="{FF2B5EF4-FFF2-40B4-BE49-F238E27FC236}">
                <a16:creationId xmlns:a16="http://schemas.microsoft.com/office/drawing/2014/main" id="{697E2A55-12AE-CAB3-FFB2-D3E80FDB2BFB}"/>
              </a:ext>
            </a:extLst>
          </p:cNvPr>
          <p:cNvSpPr>
            <a:spLocks/>
          </p:cNvSpPr>
          <p:nvPr/>
        </p:nvSpPr>
        <p:spPr bwMode="auto">
          <a:xfrm>
            <a:off x="3803661" y="4108940"/>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2</a:t>
            </a:r>
          </a:p>
        </p:txBody>
      </p:sp>
      <p:sp>
        <p:nvSpPr>
          <p:cNvPr id="13" name="Rectangle 15">
            <a:extLst>
              <a:ext uri="{FF2B5EF4-FFF2-40B4-BE49-F238E27FC236}">
                <a16:creationId xmlns:a16="http://schemas.microsoft.com/office/drawing/2014/main" id="{0DBD33D4-00DA-3089-4870-74B8E2EBC0A1}"/>
              </a:ext>
            </a:extLst>
          </p:cNvPr>
          <p:cNvSpPr>
            <a:spLocks/>
          </p:cNvSpPr>
          <p:nvPr/>
        </p:nvSpPr>
        <p:spPr bwMode="auto">
          <a:xfrm>
            <a:off x="4367518" y="4108940"/>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3</a:t>
            </a:r>
          </a:p>
        </p:txBody>
      </p:sp>
      <p:sp>
        <p:nvSpPr>
          <p:cNvPr id="14" name="Rectangle 16">
            <a:extLst>
              <a:ext uri="{FF2B5EF4-FFF2-40B4-BE49-F238E27FC236}">
                <a16:creationId xmlns:a16="http://schemas.microsoft.com/office/drawing/2014/main" id="{581A6B80-FEF4-70E0-3C29-4CCFE5D97486}"/>
              </a:ext>
            </a:extLst>
          </p:cNvPr>
          <p:cNvSpPr>
            <a:spLocks/>
          </p:cNvSpPr>
          <p:nvPr/>
        </p:nvSpPr>
        <p:spPr bwMode="auto">
          <a:xfrm>
            <a:off x="4974043" y="4108940"/>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4</a:t>
            </a:r>
          </a:p>
        </p:txBody>
      </p:sp>
      <p:sp>
        <p:nvSpPr>
          <p:cNvPr id="15" name="Rectangle 17">
            <a:extLst>
              <a:ext uri="{FF2B5EF4-FFF2-40B4-BE49-F238E27FC236}">
                <a16:creationId xmlns:a16="http://schemas.microsoft.com/office/drawing/2014/main" id="{2C7F7976-B6D9-9CD1-2DD5-12897007A0DD}"/>
              </a:ext>
            </a:extLst>
          </p:cNvPr>
          <p:cNvSpPr>
            <a:spLocks/>
          </p:cNvSpPr>
          <p:nvPr/>
        </p:nvSpPr>
        <p:spPr bwMode="auto">
          <a:xfrm>
            <a:off x="5577151" y="4089816"/>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5</a:t>
            </a:r>
          </a:p>
        </p:txBody>
      </p:sp>
      <p:sp>
        <p:nvSpPr>
          <p:cNvPr id="16" name="Rectangle 18">
            <a:extLst>
              <a:ext uri="{FF2B5EF4-FFF2-40B4-BE49-F238E27FC236}">
                <a16:creationId xmlns:a16="http://schemas.microsoft.com/office/drawing/2014/main" id="{2748EA6D-81BA-688F-0A44-FB9B3C1DD6D8}"/>
              </a:ext>
            </a:extLst>
          </p:cNvPr>
          <p:cNvSpPr>
            <a:spLocks/>
          </p:cNvSpPr>
          <p:nvPr/>
        </p:nvSpPr>
        <p:spPr bwMode="auto">
          <a:xfrm>
            <a:off x="6096000" y="4108940"/>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6</a:t>
            </a:r>
          </a:p>
        </p:txBody>
      </p:sp>
      <p:sp>
        <p:nvSpPr>
          <p:cNvPr id="17" name="Rectangle 19">
            <a:extLst>
              <a:ext uri="{FF2B5EF4-FFF2-40B4-BE49-F238E27FC236}">
                <a16:creationId xmlns:a16="http://schemas.microsoft.com/office/drawing/2014/main" id="{0D3147DE-D889-6163-B042-E6EFB033E2C3}"/>
              </a:ext>
            </a:extLst>
          </p:cNvPr>
          <p:cNvSpPr>
            <a:spLocks/>
          </p:cNvSpPr>
          <p:nvPr/>
        </p:nvSpPr>
        <p:spPr bwMode="auto">
          <a:xfrm>
            <a:off x="6702523" y="4108940"/>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7</a:t>
            </a:r>
          </a:p>
        </p:txBody>
      </p:sp>
      <p:cxnSp>
        <p:nvCxnSpPr>
          <p:cNvPr id="18" name="Straight Arrow Connector 26">
            <a:extLst>
              <a:ext uri="{FF2B5EF4-FFF2-40B4-BE49-F238E27FC236}">
                <a16:creationId xmlns:a16="http://schemas.microsoft.com/office/drawing/2014/main" id="{E44EBCC6-20AE-CAC4-9AA1-4BE42B8CF6B6}"/>
              </a:ext>
            </a:extLst>
          </p:cNvPr>
          <p:cNvCxnSpPr/>
          <p:nvPr/>
        </p:nvCxnSpPr>
        <p:spPr>
          <a:xfrm>
            <a:off x="3404116" y="4477836"/>
            <a:ext cx="0" cy="1289915"/>
          </a:xfrm>
          <a:prstGeom prst="straightConnector1">
            <a:avLst/>
          </a:prstGeom>
          <a:ln>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19" name="Rectangle 27">
            <a:extLst>
              <a:ext uri="{FF2B5EF4-FFF2-40B4-BE49-F238E27FC236}">
                <a16:creationId xmlns:a16="http://schemas.microsoft.com/office/drawing/2014/main" id="{652D899D-28B1-55EF-9A3E-BB18BE2843FA}"/>
              </a:ext>
            </a:extLst>
          </p:cNvPr>
          <p:cNvSpPr>
            <a:spLocks/>
          </p:cNvSpPr>
          <p:nvPr/>
        </p:nvSpPr>
        <p:spPr bwMode="auto">
          <a:xfrm>
            <a:off x="2460533" y="5848067"/>
            <a:ext cx="188716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1’000.000</a:t>
            </a:r>
          </a:p>
        </p:txBody>
      </p:sp>
      <p:sp>
        <p:nvSpPr>
          <p:cNvPr id="20" name="Rectangle 28">
            <a:extLst>
              <a:ext uri="{FF2B5EF4-FFF2-40B4-BE49-F238E27FC236}">
                <a16:creationId xmlns:a16="http://schemas.microsoft.com/office/drawing/2014/main" id="{3C670985-F28B-34E2-24FA-29564A57EF37}"/>
              </a:ext>
            </a:extLst>
          </p:cNvPr>
          <p:cNvSpPr>
            <a:spLocks/>
          </p:cNvSpPr>
          <p:nvPr/>
        </p:nvSpPr>
        <p:spPr bwMode="auto">
          <a:xfrm>
            <a:off x="7257196" y="4108940"/>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8</a:t>
            </a:r>
          </a:p>
        </p:txBody>
      </p:sp>
      <p:sp>
        <p:nvSpPr>
          <p:cNvPr id="21" name="Rectangle 29">
            <a:extLst>
              <a:ext uri="{FF2B5EF4-FFF2-40B4-BE49-F238E27FC236}">
                <a16:creationId xmlns:a16="http://schemas.microsoft.com/office/drawing/2014/main" id="{DFAC5B7F-0D59-62E6-3F5D-00DEC7C6D4C3}"/>
              </a:ext>
            </a:extLst>
          </p:cNvPr>
          <p:cNvSpPr>
            <a:spLocks/>
          </p:cNvSpPr>
          <p:nvPr/>
        </p:nvSpPr>
        <p:spPr bwMode="auto">
          <a:xfrm>
            <a:off x="7851352" y="4117428"/>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9</a:t>
            </a:r>
          </a:p>
        </p:txBody>
      </p:sp>
      <p:sp>
        <p:nvSpPr>
          <p:cNvPr id="22" name="Rectangle 30">
            <a:extLst>
              <a:ext uri="{FF2B5EF4-FFF2-40B4-BE49-F238E27FC236}">
                <a16:creationId xmlns:a16="http://schemas.microsoft.com/office/drawing/2014/main" id="{D479B1B3-549E-FBC9-428A-AEBEE9723B5B}"/>
              </a:ext>
            </a:extLst>
          </p:cNvPr>
          <p:cNvSpPr>
            <a:spLocks/>
          </p:cNvSpPr>
          <p:nvPr/>
        </p:nvSpPr>
        <p:spPr bwMode="auto">
          <a:xfrm>
            <a:off x="8472571" y="4108940"/>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10</a:t>
            </a:r>
          </a:p>
        </p:txBody>
      </p:sp>
      <p:sp>
        <p:nvSpPr>
          <p:cNvPr id="23" name="Rectangle 31">
            <a:extLst>
              <a:ext uri="{FF2B5EF4-FFF2-40B4-BE49-F238E27FC236}">
                <a16:creationId xmlns:a16="http://schemas.microsoft.com/office/drawing/2014/main" id="{36BC37CB-1A07-3A51-1B60-6AF065E5FBBE}"/>
              </a:ext>
            </a:extLst>
          </p:cNvPr>
          <p:cNvSpPr>
            <a:spLocks/>
          </p:cNvSpPr>
          <p:nvPr/>
        </p:nvSpPr>
        <p:spPr bwMode="auto">
          <a:xfrm>
            <a:off x="8975832" y="4108940"/>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11</a:t>
            </a:r>
          </a:p>
        </p:txBody>
      </p:sp>
      <p:sp>
        <p:nvSpPr>
          <p:cNvPr id="24" name="Rectangle 33">
            <a:extLst>
              <a:ext uri="{FF2B5EF4-FFF2-40B4-BE49-F238E27FC236}">
                <a16:creationId xmlns:a16="http://schemas.microsoft.com/office/drawing/2014/main" id="{0B46945F-F04D-6CC4-F470-66CE7C3E6364}"/>
              </a:ext>
            </a:extLst>
          </p:cNvPr>
          <p:cNvSpPr>
            <a:spLocks/>
          </p:cNvSpPr>
          <p:nvPr/>
        </p:nvSpPr>
        <p:spPr bwMode="auto">
          <a:xfrm>
            <a:off x="9521417" y="4089816"/>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12</a:t>
            </a:r>
          </a:p>
        </p:txBody>
      </p:sp>
      <p:cxnSp>
        <p:nvCxnSpPr>
          <p:cNvPr id="25" name="Straight Arrow Connector 34">
            <a:extLst>
              <a:ext uri="{FF2B5EF4-FFF2-40B4-BE49-F238E27FC236}">
                <a16:creationId xmlns:a16="http://schemas.microsoft.com/office/drawing/2014/main" id="{FD28453F-3CA8-73ED-D1E1-BBD00257544C}"/>
              </a:ext>
            </a:extLst>
          </p:cNvPr>
          <p:cNvCxnSpPr/>
          <p:nvPr/>
        </p:nvCxnSpPr>
        <p:spPr>
          <a:xfrm>
            <a:off x="4024541" y="4490077"/>
            <a:ext cx="0" cy="620901"/>
          </a:xfrm>
          <a:prstGeom prst="straightConnector1">
            <a:avLst/>
          </a:prstGeom>
          <a:ln>
            <a:solidFill>
              <a:srgbClr val="FF0000"/>
            </a:solidFill>
            <a:tailEnd type="arrow"/>
          </a:ln>
        </p:spPr>
        <p:style>
          <a:lnRef idx="2">
            <a:schemeClr val="accent1"/>
          </a:lnRef>
          <a:fillRef idx="0">
            <a:schemeClr val="accent1"/>
          </a:fillRef>
          <a:effectRef idx="1">
            <a:schemeClr val="accent1"/>
          </a:effectRef>
          <a:fontRef idx="minor">
            <a:schemeClr val="tx1"/>
          </a:fontRef>
        </p:style>
      </p:cxnSp>
      <p:cxnSp>
        <p:nvCxnSpPr>
          <p:cNvPr id="26" name="Straight Arrow Connector 35">
            <a:extLst>
              <a:ext uri="{FF2B5EF4-FFF2-40B4-BE49-F238E27FC236}">
                <a16:creationId xmlns:a16="http://schemas.microsoft.com/office/drawing/2014/main" id="{C9A1199A-287B-5453-FEAF-0C28BFF55718}"/>
              </a:ext>
            </a:extLst>
          </p:cNvPr>
          <p:cNvCxnSpPr/>
          <p:nvPr/>
        </p:nvCxnSpPr>
        <p:spPr>
          <a:xfrm>
            <a:off x="9153529" y="4490077"/>
            <a:ext cx="0" cy="620901"/>
          </a:xfrm>
          <a:prstGeom prst="straightConnector1">
            <a:avLst/>
          </a:prstGeom>
          <a:ln>
            <a:solidFill>
              <a:srgbClr val="FF0000"/>
            </a:solidFill>
            <a:tailEnd type="arrow"/>
          </a:ln>
        </p:spPr>
        <p:style>
          <a:lnRef idx="2">
            <a:schemeClr val="accent1"/>
          </a:lnRef>
          <a:fillRef idx="0">
            <a:schemeClr val="accent1"/>
          </a:fillRef>
          <a:effectRef idx="1">
            <a:schemeClr val="accent1"/>
          </a:effectRef>
          <a:fontRef idx="minor">
            <a:schemeClr val="tx1"/>
          </a:fontRef>
        </p:style>
      </p:cxnSp>
      <p:cxnSp>
        <p:nvCxnSpPr>
          <p:cNvPr id="27" name="Straight Arrow Connector 36">
            <a:extLst>
              <a:ext uri="{FF2B5EF4-FFF2-40B4-BE49-F238E27FC236}">
                <a16:creationId xmlns:a16="http://schemas.microsoft.com/office/drawing/2014/main" id="{CCDAA05A-AA16-B6CA-472C-0D8B1171F37A}"/>
              </a:ext>
            </a:extLst>
          </p:cNvPr>
          <p:cNvCxnSpPr>
            <a:cxnSpLocks/>
          </p:cNvCxnSpPr>
          <p:nvPr/>
        </p:nvCxnSpPr>
        <p:spPr>
          <a:xfrm>
            <a:off x="4026943" y="5110977"/>
            <a:ext cx="5126586" cy="1"/>
          </a:xfrm>
          <a:prstGeom prst="straightConnector1">
            <a:avLst/>
          </a:prstGeom>
          <a:ln>
            <a:solidFill>
              <a:srgbClr val="FF0000"/>
            </a:solidFill>
            <a:headEnd type="none"/>
            <a:tailEnd type="none"/>
          </a:ln>
        </p:spPr>
        <p:style>
          <a:lnRef idx="2">
            <a:schemeClr val="accent1"/>
          </a:lnRef>
          <a:fillRef idx="0">
            <a:schemeClr val="accent1"/>
          </a:fillRef>
          <a:effectRef idx="1">
            <a:schemeClr val="accent1"/>
          </a:effectRef>
          <a:fontRef idx="minor">
            <a:schemeClr val="tx1"/>
          </a:fontRef>
        </p:style>
      </p:cxnSp>
      <p:sp>
        <p:nvSpPr>
          <p:cNvPr id="28" name="Rectangle 37">
            <a:extLst>
              <a:ext uri="{FF2B5EF4-FFF2-40B4-BE49-F238E27FC236}">
                <a16:creationId xmlns:a16="http://schemas.microsoft.com/office/drawing/2014/main" id="{42ED4C21-CCB6-E966-C2BB-14D7E813D012}"/>
              </a:ext>
            </a:extLst>
          </p:cNvPr>
          <p:cNvSpPr>
            <a:spLocks/>
          </p:cNvSpPr>
          <p:nvPr/>
        </p:nvSpPr>
        <p:spPr bwMode="auto">
          <a:xfrm>
            <a:off x="5489477" y="4716533"/>
            <a:ext cx="188716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A = 300.000</a:t>
            </a:r>
          </a:p>
        </p:txBody>
      </p:sp>
      <p:cxnSp>
        <p:nvCxnSpPr>
          <p:cNvPr id="31" name="Straight Arrow Connector 35">
            <a:extLst>
              <a:ext uri="{FF2B5EF4-FFF2-40B4-BE49-F238E27FC236}">
                <a16:creationId xmlns:a16="http://schemas.microsoft.com/office/drawing/2014/main" id="{4932F134-5A7D-F9B2-0719-F3CF71577DFE}"/>
              </a:ext>
            </a:extLst>
          </p:cNvPr>
          <p:cNvCxnSpPr>
            <a:cxnSpLocks/>
          </p:cNvCxnSpPr>
          <p:nvPr/>
        </p:nvCxnSpPr>
        <p:spPr>
          <a:xfrm>
            <a:off x="7407123" y="5110977"/>
            <a:ext cx="0" cy="667900"/>
          </a:xfrm>
          <a:prstGeom prst="straightConnector1">
            <a:avLst/>
          </a:prstGeom>
          <a:ln>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34" name="Rectangle 27">
            <a:extLst>
              <a:ext uri="{FF2B5EF4-FFF2-40B4-BE49-F238E27FC236}">
                <a16:creationId xmlns:a16="http://schemas.microsoft.com/office/drawing/2014/main" id="{F77D9451-A73B-F456-F727-2A8768F77D82}"/>
              </a:ext>
            </a:extLst>
          </p:cNvPr>
          <p:cNvSpPr>
            <a:spLocks/>
          </p:cNvSpPr>
          <p:nvPr/>
        </p:nvSpPr>
        <p:spPr bwMode="auto">
          <a:xfrm>
            <a:off x="6433060" y="5848067"/>
            <a:ext cx="188716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900.000</a:t>
            </a:r>
          </a:p>
        </p:txBody>
      </p:sp>
      <p:cxnSp>
        <p:nvCxnSpPr>
          <p:cNvPr id="35" name="Straight Arrow Connector 35">
            <a:extLst>
              <a:ext uri="{FF2B5EF4-FFF2-40B4-BE49-F238E27FC236}">
                <a16:creationId xmlns:a16="http://schemas.microsoft.com/office/drawing/2014/main" id="{36B5D4A8-BBE3-19EA-9B0D-06F6182DF5D8}"/>
              </a:ext>
            </a:extLst>
          </p:cNvPr>
          <p:cNvCxnSpPr>
            <a:cxnSpLocks/>
          </p:cNvCxnSpPr>
          <p:nvPr/>
        </p:nvCxnSpPr>
        <p:spPr>
          <a:xfrm flipV="1">
            <a:off x="9712330" y="3210560"/>
            <a:ext cx="0" cy="1288800"/>
          </a:xfrm>
          <a:prstGeom prst="straightConnector1">
            <a:avLst/>
          </a:prstGeom>
          <a:ln>
            <a:solidFill>
              <a:schemeClr val="accent3"/>
            </a:solidFill>
            <a:tailEnd type="arrow"/>
          </a:ln>
        </p:spPr>
        <p:style>
          <a:lnRef idx="2">
            <a:schemeClr val="accent1"/>
          </a:lnRef>
          <a:fillRef idx="0">
            <a:schemeClr val="accent1"/>
          </a:fillRef>
          <a:effectRef idx="1">
            <a:schemeClr val="accent1"/>
          </a:effectRef>
          <a:fontRef idx="minor">
            <a:schemeClr val="tx1"/>
          </a:fontRef>
        </p:style>
      </p:cxnSp>
      <p:sp>
        <p:nvSpPr>
          <p:cNvPr id="37" name="Rectangle 27">
            <a:extLst>
              <a:ext uri="{FF2B5EF4-FFF2-40B4-BE49-F238E27FC236}">
                <a16:creationId xmlns:a16="http://schemas.microsoft.com/office/drawing/2014/main" id="{57E62DEF-DA5C-C40A-51C9-D8193572C384}"/>
              </a:ext>
            </a:extLst>
          </p:cNvPr>
          <p:cNvSpPr>
            <a:spLocks/>
          </p:cNvSpPr>
          <p:nvPr/>
        </p:nvSpPr>
        <p:spPr bwMode="auto">
          <a:xfrm>
            <a:off x="8746364" y="2830215"/>
            <a:ext cx="188716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a:t>
            </a:r>
          </a:p>
        </p:txBody>
      </p:sp>
    </p:spTree>
    <p:extLst>
      <p:ext uri="{BB962C8B-B14F-4D97-AF65-F5344CB8AC3E}">
        <p14:creationId xmlns:p14="http://schemas.microsoft.com/office/powerpoint/2010/main" val="33894815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25D852-D2FF-DA09-63A0-C14F07D94497}"/>
            </a:ext>
          </a:extLst>
        </p:cNvPr>
        <p:cNvGrpSpPr/>
        <p:nvPr/>
      </p:nvGrpSpPr>
      <p:grpSpPr>
        <a:xfrm>
          <a:off x="0" y="0"/>
          <a:ext cx="0" cy="0"/>
          <a:chOff x="0" y="0"/>
          <a:chExt cx="0" cy="0"/>
        </a:xfrm>
      </p:grpSpPr>
      <p:sp>
        <p:nvSpPr>
          <p:cNvPr id="5" name="Rectángulo 4">
            <a:extLst>
              <a:ext uri="{FF2B5EF4-FFF2-40B4-BE49-F238E27FC236}">
                <a16:creationId xmlns:a16="http://schemas.microsoft.com/office/drawing/2014/main" id="{D5F191D2-8A9A-C25A-1A7F-3D44B817A956}"/>
              </a:ext>
            </a:extLst>
          </p:cNvPr>
          <p:cNvSpPr/>
          <p:nvPr/>
        </p:nvSpPr>
        <p:spPr>
          <a:xfrm>
            <a:off x="583598" y="2143275"/>
            <a:ext cx="11029615" cy="830997"/>
          </a:xfrm>
          <a:prstGeom prst="rect">
            <a:avLst/>
          </a:prstGeom>
        </p:spPr>
        <p:txBody>
          <a:bodyPr wrap="square">
            <a:spAutoFit/>
          </a:bodyPr>
          <a:lstStyle/>
          <a:p>
            <a:pPr algn="just"/>
            <a:r>
              <a:rPr lang="es-ES_tradnl" sz="2400" b="1" dirty="0">
                <a:solidFill>
                  <a:srgbClr val="D7A700"/>
                </a:solidFill>
                <a:latin typeface="Gill Sans MT (Cuerpo)"/>
                <a:ea typeface="MS Mincho" panose="02020609040205080304" pitchFamily="49" charset="-128"/>
                <a:cs typeface="Times New Roman" panose="02020603050405020304" pitchFamily="18" charset="0"/>
              </a:rPr>
              <a:t>Ejercicio 1: </a:t>
            </a:r>
            <a:r>
              <a:rPr lang="es-MX" sz="2400" dirty="0">
                <a:latin typeface="Gill Sans MT (Cuerpo)"/>
                <a:ea typeface="MS Mincho" panose="02020609040205080304" pitchFamily="49" charset="-128"/>
                <a:cs typeface="Times New Roman" panose="02020603050405020304" pitchFamily="18" charset="0"/>
              </a:rPr>
              <a:t>¿Podrá ir usted al paseo?</a:t>
            </a:r>
          </a:p>
          <a:p>
            <a:pPr algn="just"/>
            <a:endParaRPr lang="es-CO" sz="2400" dirty="0">
              <a:latin typeface="Gill Sans MT (Cuerpo)"/>
              <a:ea typeface="MS Mincho" panose="02020609040205080304" pitchFamily="49" charset="-128"/>
              <a:cs typeface="Times New Roman" panose="02020603050405020304" pitchFamily="18" charset="0"/>
            </a:endParaRPr>
          </a:p>
        </p:txBody>
      </p:sp>
      <p:sp>
        <p:nvSpPr>
          <p:cNvPr id="3" name="Title 1">
            <a:extLst>
              <a:ext uri="{FF2B5EF4-FFF2-40B4-BE49-F238E27FC236}">
                <a16:creationId xmlns:a16="http://schemas.microsoft.com/office/drawing/2014/main" id="{60859305-6F5B-01BB-1E67-7109441F7BF0}"/>
              </a:ext>
            </a:extLst>
          </p:cNvPr>
          <p:cNvSpPr>
            <a:spLocks noGrp="1"/>
          </p:cNvSpPr>
          <p:nvPr>
            <p:ph type="title"/>
          </p:nvPr>
        </p:nvSpPr>
        <p:spPr>
          <a:xfrm>
            <a:off x="581192" y="702156"/>
            <a:ext cx="11029616" cy="1013800"/>
          </a:xfrm>
        </p:spPr>
        <p:txBody>
          <a:bodyPr>
            <a:normAutofit/>
          </a:bodyPr>
          <a:lstStyle/>
          <a:p>
            <a:r>
              <a:rPr lang="es-ES_tradnl" sz="3200" dirty="0">
                <a:latin typeface="Gill Sans MT (titulo)"/>
              </a:rPr>
              <a:t>Series uniformes / anualidades</a:t>
            </a:r>
          </a:p>
        </p:txBody>
      </p:sp>
      <p:sp>
        <p:nvSpPr>
          <p:cNvPr id="8" name="Rectángulo 7">
            <a:extLst>
              <a:ext uri="{FF2B5EF4-FFF2-40B4-BE49-F238E27FC236}">
                <a16:creationId xmlns:a16="http://schemas.microsoft.com/office/drawing/2014/main" id="{E779F359-3BF0-DEC2-F8A9-524114C3AFB4}"/>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9" name="Picture 2" descr="Clientes y aliados | Centro de Evaluación | Uniandes">
            <a:extLst>
              <a:ext uri="{FF2B5EF4-FFF2-40B4-BE49-F238E27FC236}">
                <a16:creationId xmlns:a16="http://schemas.microsoft.com/office/drawing/2014/main" id="{4AD72BB3-59C6-FA7B-2E20-5DE69A23D68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0" name="Rectángulo 9">
            <a:extLst>
              <a:ext uri="{FF2B5EF4-FFF2-40B4-BE49-F238E27FC236}">
                <a16:creationId xmlns:a16="http://schemas.microsoft.com/office/drawing/2014/main" id="{6AF05E00-928F-3449-EC86-F27277410D46}"/>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2" name="Slide Number Placeholder 3">
            <a:extLst>
              <a:ext uri="{FF2B5EF4-FFF2-40B4-BE49-F238E27FC236}">
                <a16:creationId xmlns:a16="http://schemas.microsoft.com/office/drawing/2014/main" id="{EBD21F99-4E7E-FF24-4D45-61C88AD6023A}"/>
              </a:ext>
            </a:extLst>
          </p:cNvPr>
          <p:cNvSpPr>
            <a:spLocks noGrp="1"/>
          </p:cNvSpPr>
          <p:nvPr>
            <p:ph type="sldNum" sz="quarter" idx="12"/>
          </p:nvPr>
        </p:nvSpPr>
        <p:spPr>
          <a:xfrm>
            <a:off x="10558300" y="5956137"/>
            <a:ext cx="1052508" cy="365125"/>
          </a:xfrm>
        </p:spPr>
        <p:txBody>
          <a:bodyPr/>
          <a:lstStyle/>
          <a:p>
            <a:fld id="{5E3E23BA-6E79-2442-BA73-D218A5E297C3}" type="slidenum">
              <a:rPr lang="en-US" sz="2000" b="1" smtClean="0">
                <a:latin typeface="Gill Sans MT (Títulos)"/>
              </a:rPr>
              <a:t>3</a:t>
            </a:fld>
            <a:endParaRPr lang="en-US" sz="2000" b="1" dirty="0">
              <a:latin typeface="Gill Sans MT (Títulos)"/>
            </a:endParaRPr>
          </a:p>
        </p:txBody>
      </p:sp>
      <mc:AlternateContent xmlns:mc="http://schemas.openxmlformats.org/markup-compatibility/2006" xmlns:a14="http://schemas.microsoft.com/office/drawing/2010/main">
        <mc:Choice Requires="a14">
          <p:sp>
            <p:nvSpPr>
              <p:cNvPr id="29" name="CuadroTexto 28">
                <a:extLst>
                  <a:ext uri="{FF2B5EF4-FFF2-40B4-BE49-F238E27FC236}">
                    <a16:creationId xmlns:a16="http://schemas.microsoft.com/office/drawing/2014/main" id="{A6A95107-00A5-0FC3-96F0-D00374D4D18C}"/>
                  </a:ext>
                </a:extLst>
              </p:cNvPr>
              <p:cNvSpPr txBox="1"/>
              <p:nvPr/>
            </p:nvSpPr>
            <p:spPr>
              <a:xfrm>
                <a:off x="3430751" y="2971800"/>
                <a:ext cx="5199116" cy="897297"/>
              </a:xfrm>
              <a:prstGeom prst="rect">
                <a:avLst/>
              </a:prstGeom>
              <a:noFill/>
            </p:spPr>
            <p:txBody>
              <a:bodyPr wrap="none" lIns="0" tIns="0" rIns="0" bIns="0" rtlCol="0">
                <a:spAutoFit/>
              </a:bodyPr>
              <a:lstStyle/>
              <a:p>
                <a14:m>
                  <m:oMath xmlns:m="http://schemas.openxmlformats.org/officeDocument/2006/math">
                    <m:sSub>
                      <m:sSubPr>
                        <m:ctrlPr>
                          <a:rPr lang="es-MX" sz="2300" i="1" smtClean="0">
                            <a:latin typeface="Cambria Math" panose="02040503050406030204" pitchFamily="18" charset="0"/>
                          </a:rPr>
                        </m:ctrlPr>
                      </m:sSubPr>
                      <m:e>
                        <m:r>
                          <a:rPr lang="es-MX" sz="2300" b="0" i="1" smtClean="0">
                            <a:latin typeface="Cambria Math" panose="02040503050406030204" pitchFamily="18" charset="0"/>
                          </a:rPr>
                          <m:t>𝑉</m:t>
                        </m:r>
                      </m:e>
                      <m:sub>
                        <m:r>
                          <a:rPr lang="es-MX" sz="2300" b="0" i="1" smtClean="0">
                            <a:latin typeface="Cambria Math" panose="02040503050406030204" pitchFamily="18" charset="0"/>
                          </a:rPr>
                          <m:t>𝑓</m:t>
                        </m:r>
                      </m:sub>
                    </m:sSub>
                    <m:r>
                      <a:rPr lang="es-MX" sz="2300" b="0" i="1" smtClean="0">
                        <a:latin typeface="Cambria Math" panose="02040503050406030204" pitchFamily="18" charset="0"/>
                      </a:rPr>
                      <m:t>=</m:t>
                    </m:r>
                    <m:sSub>
                      <m:sSubPr>
                        <m:ctrlPr>
                          <a:rPr lang="es-MX" sz="2300" b="0" i="1" smtClean="0">
                            <a:latin typeface="Cambria Math" panose="02040503050406030204" pitchFamily="18" charset="0"/>
                          </a:rPr>
                        </m:ctrlPr>
                      </m:sSubPr>
                      <m:e>
                        <m:r>
                          <a:rPr lang="es-MX" sz="2300" b="0" i="1" smtClean="0">
                            <a:latin typeface="Cambria Math" panose="02040503050406030204" pitchFamily="18" charset="0"/>
                          </a:rPr>
                          <m:t>𝑉</m:t>
                        </m:r>
                      </m:e>
                      <m:sub>
                        <m:r>
                          <a:rPr lang="es-MX" sz="2300" b="0" i="1" smtClean="0">
                            <a:latin typeface="Cambria Math" panose="02040503050406030204" pitchFamily="18" charset="0"/>
                          </a:rPr>
                          <m:t>𝑝</m:t>
                        </m:r>
                      </m:sub>
                    </m:sSub>
                    <m:sSup>
                      <m:sSupPr>
                        <m:ctrlPr>
                          <a:rPr lang="es-MX" sz="2300" b="0" i="1" smtClean="0">
                            <a:latin typeface="Cambria Math" panose="02040503050406030204" pitchFamily="18" charset="0"/>
                          </a:rPr>
                        </m:ctrlPr>
                      </m:sSupPr>
                      <m:e>
                        <m:r>
                          <a:rPr lang="es-MX" sz="2300" i="1">
                            <a:latin typeface="Cambria Math" panose="02040503050406030204" pitchFamily="18" charset="0"/>
                          </a:rPr>
                          <m:t>(1+</m:t>
                        </m:r>
                        <m:r>
                          <a:rPr lang="es-MX" sz="2300" i="1">
                            <a:latin typeface="Cambria Math" panose="02040503050406030204" pitchFamily="18" charset="0"/>
                          </a:rPr>
                          <m:t>𝑖</m:t>
                        </m:r>
                        <m:r>
                          <a:rPr lang="es-MX" sz="2300" i="1">
                            <a:latin typeface="Cambria Math" panose="02040503050406030204" pitchFamily="18" charset="0"/>
                          </a:rPr>
                          <m:t>)</m:t>
                        </m:r>
                      </m:e>
                      <m:sup>
                        <m:r>
                          <a:rPr lang="es-MX" sz="2300" b="0" i="1" smtClean="0">
                            <a:latin typeface="Cambria Math" panose="02040503050406030204" pitchFamily="18" charset="0"/>
                          </a:rPr>
                          <m:t>𝑛</m:t>
                        </m:r>
                      </m:sup>
                    </m:sSup>
                    <m:r>
                      <a:rPr lang="es-MX" sz="2300" b="0" i="1" smtClean="0">
                        <a:latin typeface="Cambria Math" panose="02040503050406030204" pitchFamily="18" charset="0"/>
                      </a:rPr>
                      <m:t>+</m:t>
                    </m:r>
                    <m:r>
                      <a:rPr lang="es-MX" sz="2300" b="0" i="1" smtClean="0">
                        <a:latin typeface="Cambria Math" panose="02040503050406030204" pitchFamily="18" charset="0"/>
                      </a:rPr>
                      <m:t>𝐴</m:t>
                    </m:r>
                    <m:d>
                      <m:dPr>
                        <m:begChr m:val="["/>
                        <m:endChr m:val="]"/>
                        <m:ctrlPr>
                          <a:rPr lang="es-MX" sz="2300" b="0" i="1" smtClean="0">
                            <a:latin typeface="Cambria Math" panose="02040503050406030204" pitchFamily="18" charset="0"/>
                          </a:rPr>
                        </m:ctrlPr>
                      </m:dPr>
                      <m:e>
                        <m:f>
                          <m:fPr>
                            <m:ctrlPr>
                              <a:rPr lang="es-MX" sz="2300" b="0" i="1" smtClean="0">
                                <a:latin typeface="Cambria Math" panose="02040503050406030204" pitchFamily="18" charset="0"/>
                              </a:rPr>
                            </m:ctrlPr>
                          </m:fPr>
                          <m:num>
                            <m:sSup>
                              <m:sSupPr>
                                <m:ctrlPr>
                                  <a:rPr lang="es-MX" sz="2300" b="0" i="1" smtClean="0">
                                    <a:latin typeface="Cambria Math" panose="02040503050406030204" pitchFamily="18" charset="0"/>
                                  </a:rPr>
                                </m:ctrlPr>
                              </m:sSupPr>
                              <m:e>
                                <m:r>
                                  <a:rPr lang="es-MX" sz="2300" b="0" i="1" smtClean="0">
                                    <a:latin typeface="Cambria Math" panose="02040503050406030204" pitchFamily="18" charset="0"/>
                                  </a:rPr>
                                  <m:t>(1+</m:t>
                                </m:r>
                                <m:r>
                                  <a:rPr lang="es-MX" sz="2300" b="0" i="1" smtClean="0">
                                    <a:latin typeface="Cambria Math" panose="02040503050406030204" pitchFamily="18" charset="0"/>
                                  </a:rPr>
                                  <m:t>𝑖</m:t>
                                </m:r>
                                <m:r>
                                  <a:rPr lang="es-MX" sz="2300" b="0" i="1" smtClean="0">
                                    <a:latin typeface="Cambria Math" panose="02040503050406030204" pitchFamily="18" charset="0"/>
                                  </a:rPr>
                                  <m:t>)</m:t>
                                </m:r>
                              </m:e>
                              <m:sup>
                                <m:r>
                                  <a:rPr lang="es-MX" sz="2300" b="0" i="1" smtClean="0">
                                    <a:latin typeface="Cambria Math" panose="02040503050406030204" pitchFamily="18" charset="0"/>
                                  </a:rPr>
                                  <m:t>𝑛</m:t>
                                </m:r>
                              </m:sup>
                            </m:sSup>
                            <m:r>
                              <a:rPr lang="es-MX" sz="2300" b="0" i="1" smtClean="0">
                                <a:latin typeface="Cambria Math" panose="02040503050406030204" pitchFamily="18" charset="0"/>
                              </a:rPr>
                              <m:t>−1</m:t>
                            </m:r>
                          </m:num>
                          <m:den>
                            <m:r>
                              <a:rPr lang="es-MX" sz="2300" b="0" i="1" smtClean="0">
                                <a:latin typeface="Cambria Math" panose="02040503050406030204" pitchFamily="18" charset="0"/>
                              </a:rPr>
                              <m:t>𝑖</m:t>
                            </m:r>
                          </m:den>
                        </m:f>
                      </m:e>
                    </m:d>
                  </m:oMath>
                </a14:m>
                <a:r>
                  <a:rPr lang="es-MX" sz="2300" b="0" dirty="0"/>
                  <a:t>+</a:t>
                </a:r>
                <a:r>
                  <a:rPr lang="es-MX" sz="2300" dirty="0"/>
                  <a:t> </a:t>
                </a:r>
                <a14:m>
                  <m:oMath xmlns:m="http://schemas.openxmlformats.org/officeDocument/2006/math">
                    <m:sSub>
                      <m:sSubPr>
                        <m:ctrlPr>
                          <a:rPr lang="es-MX" sz="2300" i="1">
                            <a:latin typeface="Cambria Math" panose="02040503050406030204" pitchFamily="18" charset="0"/>
                          </a:rPr>
                        </m:ctrlPr>
                      </m:sSubPr>
                      <m:e>
                        <m:r>
                          <a:rPr lang="es-MX" sz="2300" i="1">
                            <a:latin typeface="Cambria Math" panose="02040503050406030204" pitchFamily="18" charset="0"/>
                          </a:rPr>
                          <m:t>𝑉</m:t>
                        </m:r>
                      </m:e>
                      <m:sub>
                        <m:r>
                          <a:rPr lang="es-MX" sz="2300" i="1">
                            <a:latin typeface="Cambria Math" panose="02040503050406030204" pitchFamily="18" charset="0"/>
                          </a:rPr>
                          <m:t>𝑝</m:t>
                        </m:r>
                      </m:sub>
                    </m:sSub>
                    <m:sSup>
                      <m:sSupPr>
                        <m:ctrlPr>
                          <a:rPr lang="es-MX" sz="2300" i="1">
                            <a:latin typeface="Cambria Math" panose="02040503050406030204" pitchFamily="18" charset="0"/>
                          </a:rPr>
                        </m:ctrlPr>
                      </m:sSupPr>
                      <m:e>
                        <m:r>
                          <a:rPr lang="es-MX" sz="2300" i="1">
                            <a:latin typeface="Cambria Math" panose="02040503050406030204" pitchFamily="18" charset="0"/>
                          </a:rPr>
                          <m:t>(1+</m:t>
                        </m:r>
                        <m:r>
                          <a:rPr lang="es-MX" sz="2300" i="1">
                            <a:latin typeface="Cambria Math" panose="02040503050406030204" pitchFamily="18" charset="0"/>
                          </a:rPr>
                          <m:t>𝑖</m:t>
                        </m:r>
                        <m:r>
                          <a:rPr lang="es-MX" sz="2300" i="1">
                            <a:latin typeface="Cambria Math" panose="02040503050406030204" pitchFamily="18" charset="0"/>
                          </a:rPr>
                          <m:t>)</m:t>
                        </m:r>
                      </m:e>
                      <m:sup>
                        <m:r>
                          <a:rPr lang="es-MX" sz="2300" i="1">
                            <a:latin typeface="Cambria Math" panose="02040503050406030204" pitchFamily="18" charset="0"/>
                          </a:rPr>
                          <m:t>𝑛</m:t>
                        </m:r>
                      </m:sup>
                    </m:sSup>
                  </m:oMath>
                </a14:m>
                <a:endParaRPr lang="es-MX" sz="2300" b="0" dirty="0"/>
              </a:p>
              <a:p>
                <a:endParaRPr lang="es-MX" sz="2300" dirty="0"/>
              </a:p>
            </p:txBody>
          </p:sp>
        </mc:Choice>
        <mc:Fallback xmlns="">
          <p:sp>
            <p:nvSpPr>
              <p:cNvPr id="29" name="CuadroTexto 28">
                <a:extLst>
                  <a:ext uri="{FF2B5EF4-FFF2-40B4-BE49-F238E27FC236}">
                    <a16:creationId xmlns:a16="http://schemas.microsoft.com/office/drawing/2014/main" id="{A6A95107-00A5-0FC3-96F0-D00374D4D18C}"/>
                  </a:ext>
                </a:extLst>
              </p:cNvPr>
              <p:cNvSpPr txBox="1">
                <a:spLocks noRot="1" noChangeAspect="1" noMove="1" noResize="1" noEditPoints="1" noAdjustHandles="1" noChangeArrowheads="1" noChangeShapeType="1" noTextEdit="1"/>
              </p:cNvSpPr>
              <p:nvPr/>
            </p:nvSpPr>
            <p:spPr>
              <a:xfrm>
                <a:off x="3430751" y="2971800"/>
                <a:ext cx="5199116" cy="897297"/>
              </a:xfrm>
              <a:prstGeom prst="rect">
                <a:avLst/>
              </a:prstGeom>
              <a:blipFill>
                <a:blip r:embed="rId3"/>
                <a:stretch>
                  <a:fillRect/>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32" name="CuadroTexto 31">
                <a:extLst>
                  <a:ext uri="{FF2B5EF4-FFF2-40B4-BE49-F238E27FC236}">
                    <a16:creationId xmlns:a16="http://schemas.microsoft.com/office/drawing/2014/main" id="{1754B6D0-1798-2634-4733-F06F56863833}"/>
                  </a:ext>
                </a:extLst>
              </p:cNvPr>
              <p:cNvSpPr txBox="1"/>
              <p:nvPr/>
            </p:nvSpPr>
            <p:spPr>
              <a:xfrm>
                <a:off x="356127" y="3869097"/>
                <a:ext cx="11479746" cy="579005"/>
              </a:xfrm>
              <a:prstGeom prst="rect">
                <a:avLst/>
              </a:prstGeom>
              <a:noFill/>
            </p:spPr>
            <p:txBody>
              <a:bodyPr wrap="none" lIns="0" tIns="0" rIns="0" bIns="0" rtlCol="0">
                <a:spAutoFit/>
              </a:bodyPr>
              <a:lstStyle/>
              <a:p>
                <a14:m>
                  <m:oMath xmlns:m="http://schemas.openxmlformats.org/officeDocument/2006/math">
                    <m:sSub>
                      <m:sSubPr>
                        <m:ctrlPr>
                          <a:rPr lang="es-MX" sz="2300" i="1" smtClean="0">
                            <a:latin typeface="Cambria Math" panose="02040503050406030204" pitchFamily="18" charset="0"/>
                          </a:rPr>
                        </m:ctrlPr>
                      </m:sSubPr>
                      <m:e>
                        <m:r>
                          <a:rPr lang="es-MX" sz="2300" b="0" i="1" smtClean="0">
                            <a:latin typeface="Cambria Math" panose="02040503050406030204" pitchFamily="18" charset="0"/>
                          </a:rPr>
                          <m:t>𝑉</m:t>
                        </m:r>
                      </m:e>
                      <m:sub>
                        <m:r>
                          <a:rPr lang="es-MX" sz="2300" b="0" i="1" smtClean="0">
                            <a:latin typeface="Cambria Math" panose="02040503050406030204" pitchFamily="18" charset="0"/>
                          </a:rPr>
                          <m:t>𝑓</m:t>
                        </m:r>
                      </m:sub>
                    </m:sSub>
                    <m:r>
                      <a:rPr lang="es-MX" sz="2300" b="0" i="1" smtClean="0">
                        <a:latin typeface="Cambria Math" panose="02040503050406030204" pitchFamily="18" charset="0"/>
                      </a:rPr>
                      <m:t>=1.000.000</m:t>
                    </m:r>
                    <m:sSup>
                      <m:sSupPr>
                        <m:ctrlPr>
                          <a:rPr lang="es-MX" sz="2300" b="0" i="1" smtClean="0">
                            <a:latin typeface="Cambria Math" panose="02040503050406030204" pitchFamily="18" charset="0"/>
                          </a:rPr>
                        </m:ctrlPr>
                      </m:sSupPr>
                      <m:e>
                        <m:r>
                          <a:rPr lang="es-MX" sz="2300" i="1">
                            <a:latin typeface="Cambria Math" panose="02040503050406030204" pitchFamily="18" charset="0"/>
                          </a:rPr>
                          <m:t>(1+</m:t>
                        </m:r>
                        <m:r>
                          <a:rPr lang="es-MX" sz="2300" b="0" i="1" smtClean="0">
                            <a:latin typeface="Cambria Math" panose="02040503050406030204" pitchFamily="18" charset="0"/>
                          </a:rPr>
                          <m:t>1,05%</m:t>
                        </m:r>
                        <m:r>
                          <a:rPr lang="es-MX" sz="2300" i="1">
                            <a:latin typeface="Cambria Math" panose="02040503050406030204" pitchFamily="18" charset="0"/>
                          </a:rPr>
                          <m:t>)</m:t>
                        </m:r>
                      </m:e>
                      <m:sup>
                        <m:r>
                          <a:rPr lang="es-MX" sz="2300" b="0" i="1" smtClean="0">
                            <a:latin typeface="Cambria Math" panose="02040503050406030204" pitchFamily="18" charset="0"/>
                          </a:rPr>
                          <m:t>11</m:t>
                        </m:r>
                      </m:sup>
                    </m:sSup>
                    <m:r>
                      <a:rPr lang="es-MX" sz="2300" b="0" i="1" smtClean="0">
                        <a:latin typeface="Cambria Math" panose="02040503050406030204" pitchFamily="18" charset="0"/>
                      </a:rPr>
                      <m:t>+300.000</m:t>
                    </m:r>
                    <m:d>
                      <m:dPr>
                        <m:begChr m:val="["/>
                        <m:endChr m:val="]"/>
                        <m:ctrlPr>
                          <a:rPr lang="es-MX" sz="2300" b="0" i="1" smtClean="0">
                            <a:latin typeface="Cambria Math" panose="02040503050406030204" pitchFamily="18" charset="0"/>
                          </a:rPr>
                        </m:ctrlPr>
                      </m:dPr>
                      <m:e>
                        <m:f>
                          <m:fPr>
                            <m:ctrlPr>
                              <a:rPr lang="es-MX" sz="2300" b="0" i="1" smtClean="0">
                                <a:latin typeface="Cambria Math" panose="02040503050406030204" pitchFamily="18" charset="0"/>
                              </a:rPr>
                            </m:ctrlPr>
                          </m:fPr>
                          <m:num>
                            <m:sSup>
                              <m:sSupPr>
                                <m:ctrlPr>
                                  <a:rPr lang="es-MX" sz="2300" b="0" i="1" smtClean="0">
                                    <a:latin typeface="Cambria Math" panose="02040503050406030204" pitchFamily="18" charset="0"/>
                                  </a:rPr>
                                </m:ctrlPr>
                              </m:sSupPr>
                              <m:e>
                                <m:d>
                                  <m:dPr>
                                    <m:ctrlPr>
                                      <a:rPr lang="es-MX" sz="2300" b="0" i="1" smtClean="0">
                                        <a:latin typeface="Cambria Math" panose="02040503050406030204" pitchFamily="18" charset="0"/>
                                      </a:rPr>
                                    </m:ctrlPr>
                                  </m:dPr>
                                  <m:e>
                                    <m:r>
                                      <a:rPr lang="es-MX" sz="2300" b="0" i="1" smtClean="0">
                                        <a:latin typeface="Cambria Math" panose="02040503050406030204" pitchFamily="18" charset="0"/>
                                      </a:rPr>
                                      <m:t>1+1,05%</m:t>
                                    </m:r>
                                  </m:e>
                                </m:d>
                              </m:e>
                              <m:sup>
                                <m:r>
                                  <a:rPr lang="es-MX" sz="2300" b="0" i="1" smtClean="0">
                                    <a:latin typeface="Cambria Math" panose="02040503050406030204" pitchFamily="18" charset="0"/>
                                  </a:rPr>
                                  <m:t>10</m:t>
                                </m:r>
                              </m:sup>
                            </m:sSup>
                            <m:r>
                              <a:rPr lang="es-MX" sz="2300" b="0" i="1" smtClean="0">
                                <a:latin typeface="Cambria Math" panose="02040503050406030204" pitchFamily="18" charset="0"/>
                              </a:rPr>
                              <m:t>−1</m:t>
                            </m:r>
                          </m:num>
                          <m:den>
                            <m:r>
                              <a:rPr lang="es-MX" sz="2300" b="0" i="1" smtClean="0">
                                <a:latin typeface="Cambria Math" panose="02040503050406030204" pitchFamily="18" charset="0"/>
                              </a:rPr>
                              <m:t>1,</m:t>
                            </m:r>
                            <m:r>
                              <a:rPr lang="es-MX" sz="2300" i="1">
                                <a:latin typeface="Cambria Math" panose="02040503050406030204" pitchFamily="18" charset="0"/>
                              </a:rPr>
                              <m:t>05</m:t>
                            </m:r>
                            <m:r>
                              <a:rPr lang="es-MX" sz="2300" b="0" i="1" smtClean="0">
                                <a:latin typeface="Cambria Math" panose="02040503050406030204" pitchFamily="18" charset="0"/>
                              </a:rPr>
                              <m:t>%</m:t>
                            </m:r>
                          </m:den>
                        </m:f>
                      </m:e>
                    </m:d>
                    <m:r>
                      <a:rPr lang="es-MX" sz="2300" b="0" i="1" smtClean="0">
                        <a:latin typeface="Cambria Math" panose="02040503050406030204" pitchFamily="18" charset="0"/>
                      </a:rPr>
                      <m:t>(1+1,05%)</m:t>
                    </m:r>
                  </m:oMath>
                </a14:m>
                <a:r>
                  <a:rPr lang="es-MX" sz="2300" b="0" dirty="0"/>
                  <a:t>+</a:t>
                </a:r>
                <a:r>
                  <a:rPr lang="es-MX" sz="2300" dirty="0"/>
                  <a:t> </a:t>
                </a:r>
                <a14:m>
                  <m:oMath xmlns:m="http://schemas.openxmlformats.org/officeDocument/2006/math">
                    <m:r>
                      <a:rPr lang="es-MX" sz="2300" b="0" i="1" smtClean="0">
                        <a:latin typeface="Cambria Math" panose="02040503050406030204" pitchFamily="18" charset="0"/>
                      </a:rPr>
                      <m:t>900.000</m:t>
                    </m:r>
                    <m:sSup>
                      <m:sSupPr>
                        <m:ctrlPr>
                          <a:rPr lang="es-MX" sz="2300" i="1">
                            <a:latin typeface="Cambria Math" panose="02040503050406030204" pitchFamily="18" charset="0"/>
                          </a:rPr>
                        </m:ctrlPr>
                      </m:sSupPr>
                      <m:e>
                        <m:r>
                          <a:rPr lang="es-MX" sz="2300" i="1">
                            <a:latin typeface="Cambria Math" panose="02040503050406030204" pitchFamily="18" charset="0"/>
                          </a:rPr>
                          <m:t>(1+1</m:t>
                        </m:r>
                        <m:r>
                          <a:rPr lang="es-MX" sz="2300" b="0" i="1" smtClean="0">
                            <a:latin typeface="Cambria Math" panose="02040503050406030204" pitchFamily="18" charset="0"/>
                          </a:rPr>
                          <m:t>,0</m:t>
                        </m:r>
                        <m:r>
                          <a:rPr lang="es-MX" sz="2300" i="1">
                            <a:latin typeface="Cambria Math" panose="02040503050406030204" pitchFamily="18" charset="0"/>
                          </a:rPr>
                          <m:t>5</m:t>
                        </m:r>
                        <m:r>
                          <a:rPr lang="es-MX" sz="2300" b="0" i="1" smtClean="0">
                            <a:latin typeface="Cambria Math" panose="02040503050406030204" pitchFamily="18" charset="0"/>
                          </a:rPr>
                          <m:t>%</m:t>
                        </m:r>
                        <m:r>
                          <a:rPr lang="es-MX" sz="2300" i="1">
                            <a:latin typeface="Cambria Math" panose="02040503050406030204" pitchFamily="18" charset="0"/>
                          </a:rPr>
                          <m:t>)</m:t>
                        </m:r>
                      </m:e>
                      <m:sup>
                        <m:r>
                          <a:rPr lang="es-MX" sz="2300" b="0" i="1" smtClean="0">
                            <a:latin typeface="Cambria Math" panose="02040503050406030204" pitchFamily="18" charset="0"/>
                          </a:rPr>
                          <m:t>4</m:t>
                        </m:r>
                      </m:sup>
                    </m:sSup>
                  </m:oMath>
                </a14:m>
                <a:endParaRPr lang="es-MX" sz="2300" dirty="0"/>
              </a:p>
            </p:txBody>
          </p:sp>
        </mc:Choice>
        <mc:Fallback xmlns="">
          <p:sp>
            <p:nvSpPr>
              <p:cNvPr id="32" name="CuadroTexto 31">
                <a:extLst>
                  <a:ext uri="{FF2B5EF4-FFF2-40B4-BE49-F238E27FC236}">
                    <a16:creationId xmlns:a16="http://schemas.microsoft.com/office/drawing/2014/main" id="{1754B6D0-1798-2634-4733-F06F56863833}"/>
                  </a:ext>
                </a:extLst>
              </p:cNvPr>
              <p:cNvSpPr txBox="1">
                <a:spLocks noRot="1" noChangeAspect="1" noMove="1" noResize="1" noEditPoints="1" noAdjustHandles="1" noChangeArrowheads="1" noChangeShapeType="1" noTextEdit="1"/>
              </p:cNvSpPr>
              <p:nvPr/>
            </p:nvSpPr>
            <p:spPr>
              <a:xfrm>
                <a:off x="356127" y="3869097"/>
                <a:ext cx="11479746" cy="579005"/>
              </a:xfrm>
              <a:prstGeom prst="rect">
                <a:avLst/>
              </a:prstGeom>
              <a:blipFill>
                <a:blip r:embed="rId4"/>
                <a:stretch>
                  <a:fillRect b="-10526"/>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33" name="CuadroTexto 32">
                <a:extLst>
                  <a:ext uri="{FF2B5EF4-FFF2-40B4-BE49-F238E27FC236}">
                    <a16:creationId xmlns:a16="http://schemas.microsoft.com/office/drawing/2014/main" id="{553260E4-1E2E-9873-0A6E-7BBE90ABACEC}"/>
                  </a:ext>
                </a:extLst>
              </p:cNvPr>
              <p:cNvSpPr txBox="1"/>
              <p:nvPr/>
            </p:nvSpPr>
            <p:spPr>
              <a:xfrm>
                <a:off x="3587750" y="4766394"/>
                <a:ext cx="5016501" cy="382349"/>
              </a:xfrm>
              <a:prstGeom prst="rect">
                <a:avLst/>
              </a:prstGeom>
              <a:noFill/>
            </p:spPr>
            <p:txBody>
              <a:bodyPr wrap="none" lIns="0" tIns="0" rIns="0" bIns="0" rtlCol="0">
                <a:spAutoFit/>
              </a:bodyPr>
              <a:lstStyle/>
              <a:p>
                <a:pPr algn="ctr"/>
                <a14:m>
                  <m:oMathPara xmlns:m="http://schemas.openxmlformats.org/officeDocument/2006/math">
                    <m:oMathParaPr>
                      <m:jc m:val="centerGroup"/>
                    </m:oMathParaPr>
                    <m:oMath xmlns:m="http://schemas.openxmlformats.org/officeDocument/2006/math">
                      <m:sSub>
                        <m:sSubPr>
                          <m:ctrlPr>
                            <a:rPr lang="es-MX" sz="2300" i="1" smtClean="0">
                              <a:latin typeface="Cambria Math" panose="02040503050406030204" pitchFamily="18" charset="0"/>
                            </a:rPr>
                          </m:ctrlPr>
                        </m:sSubPr>
                        <m:e>
                          <m:r>
                            <a:rPr lang="es-MX" sz="2300" b="0" i="1" smtClean="0">
                              <a:latin typeface="Cambria Math" panose="02040503050406030204" pitchFamily="18" charset="0"/>
                            </a:rPr>
                            <m:t>𝑉</m:t>
                          </m:r>
                        </m:e>
                        <m:sub>
                          <m:r>
                            <a:rPr lang="es-MX" sz="2300" b="0" i="1" smtClean="0">
                              <a:latin typeface="Cambria Math" panose="02040503050406030204" pitchFamily="18" charset="0"/>
                            </a:rPr>
                            <m:t>𝑓</m:t>
                          </m:r>
                        </m:sub>
                      </m:sSub>
                      <m:r>
                        <a:rPr lang="es-MX" sz="2300" i="1">
                          <a:latin typeface="Cambria Math" panose="02040503050406030204" pitchFamily="18" charset="0"/>
                        </a:rPr>
                        <m:t>=1.121.759+3.1</m:t>
                      </m:r>
                      <m:r>
                        <a:rPr lang="es-MX" sz="2300" b="0" i="1" smtClean="0">
                          <a:latin typeface="Cambria Math" panose="02040503050406030204" pitchFamily="18" charset="0"/>
                        </a:rPr>
                        <m:t>78.824</m:t>
                      </m:r>
                      <m:r>
                        <a:rPr lang="es-MX" sz="2300" i="1">
                          <a:latin typeface="Cambria Math" panose="02040503050406030204" pitchFamily="18" charset="0"/>
                        </a:rPr>
                        <m:t>+938.3</m:t>
                      </m:r>
                      <m:r>
                        <a:rPr lang="es-MX" sz="2300" b="0" i="1" smtClean="0">
                          <a:latin typeface="Cambria Math" panose="02040503050406030204" pitchFamily="18" charset="0"/>
                        </a:rPr>
                        <m:t>9</m:t>
                      </m:r>
                      <m:r>
                        <a:rPr lang="es-MX" sz="2300" i="1">
                          <a:latin typeface="Cambria Math" panose="02040503050406030204" pitchFamily="18" charset="0"/>
                        </a:rPr>
                        <m:t>9</m:t>
                      </m:r>
                    </m:oMath>
                  </m:oMathPara>
                </a14:m>
                <a:endParaRPr lang="es-MX" sz="2300" dirty="0"/>
              </a:p>
            </p:txBody>
          </p:sp>
        </mc:Choice>
        <mc:Fallback xmlns="">
          <p:sp>
            <p:nvSpPr>
              <p:cNvPr id="33" name="CuadroTexto 32">
                <a:extLst>
                  <a:ext uri="{FF2B5EF4-FFF2-40B4-BE49-F238E27FC236}">
                    <a16:creationId xmlns:a16="http://schemas.microsoft.com/office/drawing/2014/main" id="{553260E4-1E2E-9873-0A6E-7BBE90ABACEC}"/>
                  </a:ext>
                </a:extLst>
              </p:cNvPr>
              <p:cNvSpPr txBox="1">
                <a:spLocks noRot="1" noChangeAspect="1" noMove="1" noResize="1" noEditPoints="1" noAdjustHandles="1" noChangeArrowheads="1" noChangeShapeType="1" noTextEdit="1"/>
              </p:cNvSpPr>
              <p:nvPr/>
            </p:nvSpPr>
            <p:spPr>
              <a:xfrm>
                <a:off x="3587750" y="4766394"/>
                <a:ext cx="5016501" cy="382349"/>
              </a:xfrm>
              <a:prstGeom prst="rect">
                <a:avLst/>
              </a:prstGeom>
              <a:blipFill>
                <a:blip r:embed="rId5"/>
                <a:stretch>
                  <a:fillRect l="-1582" b="-25397"/>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36" name="CuadroTexto 35">
                <a:extLst>
                  <a:ext uri="{FF2B5EF4-FFF2-40B4-BE49-F238E27FC236}">
                    <a16:creationId xmlns:a16="http://schemas.microsoft.com/office/drawing/2014/main" id="{5F4D888A-FE2A-A782-5B2E-85606FFC226C}"/>
                  </a:ext>
                </a:extLst>
              </p:cNvPr>
              <p:cNvSpPr txBox="1"/>
              <p:nvPr/>
            </p:nvSpPr>
            <p:spPr>
              <a:xfrm>
                <a:off x="5092586" y="5508167"/>
                <a:ext cx="2006831" cy="382349"/>
              </a:xfrm>
              <a:prstGeom prst="rect">
                <a:avLst/>
              </a:prstGeom>
              <a:noFill/>
            </p:spPr>
            <p:txBody>
              <a:bodyPr wrap="none" lIns="0" tIns="0" rIns="0" bIns="0" rtlCol="0">
                <a:spAutoFit/>
              </a:bodyPr>
              <a:lstStyle/>
              <a:p>
                <a:pPr algn="ctr"/>
                <a14:m>
                  <m:oMathPara xmlns:m="http://schemas.openxmlformats.org/officeDocument/2006/math">
                    <m:oMathParaPr>
                      <m:jc m:val="centerGroup"/>
                    </m:oMathParaPr>
                    <m:oMath xmlns:m="http://schemas.openxmlformats.org/officeDocument/2006/math">
                      <m:sSub>
                        <m:sSubPr>
                          <m:ctrlPr>
                            <a:rPr lang="es-MX" sz="2300" i="1" smtClean="0">
                              <a:latin typeface="Cambria Math" panose="02040503050406030204" pitchFamily="18" charset="0"/>
                            </a:rPr>
                          </m:ctrlPr>
                        </m:sSubPr>
                        <m:e>
                          <m:r>
                            <a:rPr lang="es-MX" sz="2300" b="0" i="1" smtClean="0">
                              <a:latin typeface="Cambria Math" panose="02040503050406030204" pitchFamily="18" charset="0"/>
                            </a:rPr>
                            <m:t>𝑉</m:t>
                          </m:r>
                        </m:e>
                        <m:sub>
                          <m:r>
                            <a:rPr lang="es-MX" sz="2300" b="0" i="1" smtClean="0">
                              <a:latin typeface="Cambria Math" panose="02040503050406030204" pitchFamily="18" charset="0"/>
                            </a:rPr>
                            <m:t>𝑓</m:t>
                          </m:r>
                        </m:sub>
                      </m:sSub>
                      <m:r>
                        <a:rPr lang="es-MX" sz="2300" i="1">
                          <a:latin typeface="Cambria Math" panose="02040503050406030204" pitchFamily="18" charset="0"/>
                        </a:rPr>
                        <m:t>=</m:t>
                      </m:r>
                      <m:r>
                        <a:rPr lang="es-MX" sz="2300" b="0" i="1" smtClean="0">
                          <a:latin typeface="Cambria Math" panose="02040503050406030204" pitchFamily="18" charset="0"/>
                        </a:rPr>
                        <m:t>5.238.982</m:t>
                      </m:r>
                    </m:oMath>
                  </m:oMathPara>
                </a14:m>
                <a:endParaRPr lang="es-MX" sz="2300" dirty="0"/>
              </a:p>
            </p:txBody>
          </p:sp>
        </mc:Choice>
        <mc:Fallback xmlns="">
          <p:sp>
            <p:nvSpPr>
              <p:cNvPr id="36" name="CuadroTexto 35">
                <a:extLst>
                  <a:ext uri="{FF2B5EF4-FFF2-40B4-BE49-F238E27FC236}">
                    <a16:creationId xmlns:a16="http://schemas.microsoft.com/office/drawing/2014/main" id="{5F4D888A-FE2A-A782-5B2E-85606FFC226C}"/>
                  </a:ext>
                </a:extLst>
              </p:cNvPr>
              <p:cNvSpPr txBox="1">
                <a:spLocks noRot="1" noChangeAspect="1" noMove="1" noResize="1" noEditPoints="1" noAdjustHandles="1" noChangeArrowheads="1" noChangeShapeType="1" noTextEdit="1"/>
              </p:cNvSpPr>
              <p:nvPr/>
            </p:nvSpPr>
            <p:spPr>
              <a:xfrm>
                <a:off x="5092586" y="5508167"/>
                <a:ext cx="2006831" cy="382349"/>
              </a:xfrm>
              <a:prstGeom prst="rect">
                <a:avLst/>
              </a:prstGeom>
              <a:blipFill>
                <a:blip r:embed="rId6"/>
                <a:stretch>
                  <a:fillRect l="-4545" r="-606" b="-27419"/>
                </a:stretch>
              </a:blipFill>
            </p:spPr>
            <p:txBody>
              <a:bodyPr/>
              <a:lstStyle/>
              <a:p>
                <a:r>
                  <a:rPr lang="es-MX">
                    <a:noFill/>
                  </a:rPr>
                  <a:t> </a:t>
                </a:r>
              </a:p>
            </p:txBody>
          </p:sp>
        </mc:Fallback>
      </mc:AlternateContent>
    </p:spTree>
    <p:extLst>
      <p:ext uri="{BB962C8B-B14F-4D97-AF65-F5344CB8AC3E}">
        <p14:creationId xmlns:p14="http://schemas.microsoft.com/office/powerpoint/2010/main" val="8219868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1192" y="2215493"/>
            <a:ext cx="7610476" cy="517215"/>
          </a:xfrm>
        </p:spPr>
        <p:txBody>
          <a:bodyPr>
            <a:normAutofit/>
          </a:bodyPr>
          <a:lstStyle/>
          <a:p>
            <a:pPr marL="0" indent="0" algn="just">
              <a:buNone/>
            </a:pPr>
            <a:r>
              <a:rPr lang="es-ES_tradnl" sz="2400" dirty="0"/>
              <a:t>Matemáticamente, se tiene que:</a:t>
            </a:r>
          </a:p>
        </p:txBody>
      </p:sp>
      <p:sp>
        <p:nvSpPr>
          <p:cNvPr id="4" name="Slide Number Placeholder 3"/>
          <p:cNvSpPr>
            <a:spLocks noGrp="1"/>
          </p:cNvSpPr>
          <p:nvPr>
            <p:ph type="sldNum" sz="quarter" idx="12"/>
          </p:nvPr>
        </p:nvSpPr>
        <p:spPr/>
        <p:txBody>
          <a:bodyPr vert="horz" lIns="91440" tIns="45720" rIns="91440" bIns="45720" rtlCol="0" anchor="ctr"/>
          <a:lstStyle/>
          <a:p>
            <a:fld id="{5E3E23BA-6E79-2442-BA73-D218A5E297C3}" type="slidenum">
              <a:rPr lang="en-US" sz="2000" smtClean="0"/>
              <a:pPr/>
              <a:t>4</a:t>
            </a:fld>
            <a:endParaRPr lang="en-US" sz="2000" dirty="0"/>
          </a:p>
        </p:txBody>
      </p:sp>
      <p:pic>
        <p:nvPicPr>
          <p:cNvPr id="5" name="Picture 4" descr="latex-image-1.pdf"/>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01556" y="3746051"/>
            <a:ext cx="3073400" cy="482600"/>
          </a:xfrm>
          <a:prstGeom prst="rect">
            <a:avLst/>
          </a:prstGeom>
          <a:ln w="38100">
            <a:solidFill>
              <a:srgbClr val="FF0000"/>
            </a:solidFill>
          </a:ln>
        </p:spPr>
      </p:pic>
      <p:sp>
        <p:nvSpPr>
          <p:cNvPr id="12" name="Title 1">
            <a:extLst>
              <a:ext uri="{FF2B5EF4-FFF2-40B4-BE49-F238E27FC236}">
                <a16:creationId xmlns:a16="http://schemas.microsoft.com/office/drawing/2014/main" id="{6F36658B-943A-5305-5108-3E39F91D2C6C}"/>
              </a:ext>
            </a:extLst>
          </p:cNvPr>
          <p:cNvSpPr>
            <a:spLocks noGrp="1"/>
          </p:cNvSpPr>
          <p:nvPr>
            <p:ph type="title"/>
          </p:nvPr>
        </p:nvSpPr>
        <p:spPr>
          <a:xfrm>
            <a:off x="581192" y="702156"/>
            <a:ext cx="11029616" cy="1013800"/>
          </a:xfrm>
        </p:spPr>
        <p:txBody>
          <a:bodyPr>
            <a:normAutofit/>
          </a:bodyPr>
          <a:lstStyle/>
          <a:p>
            <a:r>
              <a:rPr lang="es-ES_tradnl" sz="3200" dirty="0"/>
              <a:t>VALOR PRESENTE Y VALOR FUTURO</a:t>
            </a:r>
          </a:p>
        </p:txBody>
      </p:sp>
      <p:sp>
        <p:nvSpPr>
          <p:cNvPr id="13" name="Rectángulo 12">
            <a:extLst>
              <a:ext uri="{FF2B5EF4-FFF2-40B4-BE49-F238E27FC236}">
                <a16:creationId xmlns:a16="http://schemas.microsoft.com/office/drawing/2014/main" id="{BFCE00F5-61F3-0A14-C8E6-9BB445DB2E60}"/>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4" name="Picture 2" descr="Clientes y aliados | Centro de Evaluación | Uniandes">
            <a:extLst>
              <a:ext uri="{FF2B5EF4-FFF2-40B4-BE49-F238E27FC236}">
                <a16:creationId xmlns:a16="http://schemas.microsoft.com/office/drawing/2014/main" id="{ABCC4EA7-DDAA-B1CE-A5C0-D541F1AACBA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5" name="Rectángulo 14">
            <a:extLst>
              <a:ext uri="{FF2B5EF4-FFF2-40B4-BE49-F238E27FC236}">
                <a16:creationId xmlns:a16="http://schemas.microsoft.com/office/drawing/2014/main" id="{D8772340-EDF2-A0C4-43CF-AD34943CC201}"/>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pic>
        <p:nvPicPr>
          <p:cNvPr id="2" name="Picture 1" descr="latex-image-1.pdf">
            <a:extLst>
              <a:ext uri="{FF2B5EF4-FFF2-40B4-BE49-F238E27FC236}">
                <a16:creationId xmlns:a16="http://schemas.microsoft.com/office/drawing/2014/main" id="{592CAA6A-2979-4C61-5C64-D6BE0E94352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417045" y="3460301"/>
            <a:ext cx="2679700" cy="1054100"/>
          </a:xfrm>
          <a:prstGeom prst="rect">
            <a:avLst/>
          </a:prstGeom>
          <a:ln w="38100">
            <a:solidFill>
              <a:srgbClr val="FF0000"/>
            </a:solidFill>
          </a:ln>
        </p:spPr>
      </p:pic>
    </p:spTree>
    <p:extLst>
      <p:ext uri="{BB962C8B-B14F-4D97-AF65-F5344CB8AC3E}">
        <p14:creationId xmlns:p14="http://schemas.microsoft.com/office/powerpoint/2010/main" val="36517312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p:cNvSpPr>
            <a:spLocks noGrp="1"/>
          </p:cNvSpPr>
          <p:nvPr>
            <p:ph idx="1"/>
          </p:nvPr>
        </p:nvSpPr>
        <p:spPr>
          <a:xfrm>
            <a:off x="2279877" y="3606095"/>
            <a:ext cx="7610476" cy="414338"/>
          </a:xfrm>
        </p:spPr>
        <p:txBody>
          <a:bodyPr>
            <a:normAutofit fontScale="92500" lnSpcReduction="10000"/>
          </a:bodyPr>
          <a:lstStyle/>
          <a:p>
            <a:pPr marL="0" indent="0" algn="ctr">
              <a:buNone/>
            </a:pPr>
            <a:r>
              <a:rPr lang="es-ES_tradnl" sz="2400">
                <a:solidFill>
                  <a:srgbClr val="800000"/>
                </a:solidFill>
              </a:rPr>
              <a:t>¿Cuál es el monto uniforme equivalente a un valor futuro?</a:t>
            </a:r>
          </a:p>
        </p:txBody>
      </p:sp>
      <p:sp>
        <p:nvSpPr>
          <p:cNvPr id="4" name="Slide Number Placeholder 3"/>
          <p:cNvSpPr>
            <a:spLocks noGrp="1"/>
          </p:cNvSpPr>
          <p:nvPr>
            <p:ph type="sldNum" sz="quarter" idx="12"/>
          </p:nvPr>
        </p:nvSpPr>
        <p:spPr/>
        <p:txBody>
          <a:bodyPr/>
          <a:lstStyle/>
          <a:p>
            <a:pPr>
              <a:defRPr/>
            </a:pPr>
            <a:fld id="{5E3E23BA-6E79-2442-BA73-D218A5E297C3}" type="slidenum">
              <a:rPr lang="en-US">
                <a:solidFill>
                  <a:prstClr val="black">
                    <a:tint val="75000"/>
                  </a:prstClr>
                </a:solidFill>
                <a:latin typeface="Calibri" panose="020F0502020204030204"/>
              </a:rPr>
              <a:pPr>
                <a:defRPr/>
              </a:pPr>
              <a:t>5</a:t>
            </a:fld>
            <a:endParaRPr lang="en-US">
              <a:solidFill>
                <a:prstClr val="black">
                  <a:tint val="75000"/>
                </a:prstClr>
              </a:solidFill>
              <a:latin typeface="Calibri" panose="020F0502020204030204"/>
            </a:endParaRPr>
          </a:p>
        </p:txBody>
      </p:sp>
      <p:pic>
        <p:nvPicPr>
          <p:cNvPr id="6" name="Picture 5" descr="latex-image-1.pdf"/>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87401" y="4239512"/>
            <a:ext cx="3238070" cy="828565"/>
          </a:xfrm>
          <a:prstGeom prst="rect">
            <a:avLst/>
          </a:prstGeom>
        </p:spPr>
      </p:pic>
      <p:sp>
        <p:nvSpPr>
          <p:cNvPr id="7" name="Content Placeholder 2"/>
          <p:cNvSpPr txBox="1">
            <a:spLocks/>
          </p:cNvSpPr>
          <p:nvPr/>
        </p:nvSpPr>
        <p:spPr>
          <a:xfrm>
            <a:off x="2159333" y="5159303"/>
            <a:ext cx="7610476" cy="585777"/>
          </a:xfrm>
          <a:prstGeom prst="rect">
            <a:avLst/>
          </a:prstGeom>
        </p:spPr>
        <p:txBody>
          <a:bodyPr vert="horz" lIns="91440" tIns="45720" rIns="91440" bIns="45720" rtlCol="0">
            <a:normAutofit/>
          </a:bodyPr>
          <a:lstStyle>
            <a:lvl1pPr marL="342900" indent="-342900" algn="l" defTabSz="914400" rtl="0" eaLnBrk="1" latinLnBrk="0" hangingPunct="1">
              <a:spcBef>
                <a:spcPts val="2000"/>
              </a:spcBef>
              <a:buClr>
                <a:schemeClr val="accent1"/>
              </a:buClr>
              <a:buFont typeface="Wingdings 2" pitchFamily="18" charset="2"/>
              <a:buChar char=""/>
              <a:defRPr sz="2000" kern="1200">
                <a:solidFill>
                  <a:schemeClr val="tx1">
                    <a:lumMod val="65000"/>
                    <a:lumOff val="35000"/>
                  </a:schemeClr>
                </a:solidFill>
                <a:latin typeface="+mn-lt"/>
                <a:ea typeface="+mn-ea"/>
                <a:cs typeface="+mn-cs"/>
              </a:defRPr>
            </a:lvl1pPr>
            <a:lvl2pPr marL="6858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2pPr>
            <a:lvl3pPr marL="10350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3pPr>
            <a:lvl4pPr marL="13716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4pPr>
            <a:lvl5pPr marL="17208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5pPr>
            <a:lvl6pPr marL="2055813"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6pPr>
            <a:lvl7pPr marL="2398713" indent="-344488" algn="l" defTabSz="914400" rtl="0" eaLnBrk="1" latinLnBrk="0" hangingPunct="1">
              <a:spcBef>
                <a:spcPct val="20000"/>
              </a:spcBef>
              <a:buClr>
                <a:schemeClr val="accent1"/>
              </a:buClr>
              <a:buFont typeface="Wingdings 2" pitchFamily="18" charset="2"/>
              <a:buChar char=""/>
              <a:defRPr lang="en-US" sz="1800" kern="1200" dirty="0" smtClean="0">
                <a:solidFill>
                  <a:schemeClr val="tx1">
                    <a:lumMod val="65000"/>
                    <a:lumOff val="35000"/>
                  </a:schemeClr>
                </a:solidFill>
                <a:latin typeface="+mn-lt"/>
                <a:ea typeface="+mn-ea"/>
                <a:cs typeface="+mn-cs"/>
              </a:defRPr>
            </a:lvl7pPr>
            <a:lvl8pPr marL="2743200"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8pPr>
            <a:lvl9pPr marL="3087688" indent="-344488" algn="l" defTabSz="914400" rtl="0" eaLnBrk="1" latinLnBrk="0" hangingPunct="1">
              <a:spcBef>
                <a:spcPct val="20000"/>
              </a:spcBef>
              <a:buClr>
                <a:schemeClr val="accent1"/>
              </a:buClr>
              <a:buFont typeface="Wingdings 2" pitchFamily="18" charset="2"/>
              <a:buChar char=""/>
              <a:defRPr lang="en-US" sz="1800" kern="1200" dirty="0">
                <a:solidFill>
                  <a:schemeClr val="tx1">
                    <a:lumMod val="65000"/>
                    <a:lumOff val="35000"/>
                  </a:schemeClr>
                </a:solidFill>
                <a:latin typeface="+mn-lt"/>
                <a:ea typeface="+mn-ea"/>
                <a:cs typeface="+mn-cs"/>
              </a:defRPr>
            </a:lvl9pPr>
          </a:lstStyle>
          <a:p>
            <a:pPr marL="0" indent="0" algn="ctr">
              <a:buClr>
                <a:srgbClr val="4472C4"/>
              </a:buClr>
              <a:buNone/>
              <a:defRPr/>
            </a:pPr>
            <a:r>
              <a:rPr lang="es-ES_tradnl" sz="2200">
                <a:solidFill>
                  <a:srgbClr val="800000"/>
                </a:solidFill>
                <a:latin typeface="Calibri" panose="020F0502020204030204"/>
              </a:rPr>
              <a:t>¿Cuál es el flujo constante equivalente a un valor presente?</a:t>
            </a:r>
          </a:p>
        </p:txBody>
      </p:sp>
      <p:pic>
        <p:nvPicPr>
          <p:cNvPr id="8" name="Picture 2" descr="latex-image-1.pdf"/>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587401" y="5768898"/>
            <a:ext cx="3238070" cy="773891"/>
          </a:xfrm>
          <a:prstGeom prst="rect">
            <a:avLst/>
          </a:prstGeom>
        </p:spPr>
      </p:pic>
      <p:pic>
        <p:nvPicPr>
          <p:cNvPr id="12" name="Picture 11" descr="latex-image-1.pdf">
            <a:extLst>
              <a:ext uri="{FF2B5EF4-FFF2-40B4-BE49-F238E27FC236}">
                <a16:creationId xmlns:a16="http://schemas.microsoft.com/office/drawing/2014/main" id="{48297504-65CE-4DB3-A9DD-EC144F7BD8F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474279" y="2677476"/>
            <a:ext cx="3230339" cy="829025"/>
          </a:xfrm>
          <a:prstGeom prst="rect">
            <a:avLst/>
          </a:prstGeom>
        </p:spPr>
      </p:pic>
      <p:pic>
        <p:nvPicPr>
          <p:cNvPr id="13" name="Picture 12" descr="latex-image-1.pdf">
            <a:extLst>
              <a:ext uri="{FF2B5EF4-FFF2-40B4-BE49-F238E27FC236}">
                <a16:creationId xmlns:a16="http://schemas.microsoft.com/office/drawing/2014/main" id="{3340B55C-929A-4D40-87EB-14D41047BFF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465616" y="2585893"/>
            <a:ext cx="3396193" cy="876762"/>
          </a:xfrm>
          <a:prstGeom prst="rect">
            <a:avLst/>
          </a:prstGeom>
        </p:spPr>
      </p:pic>
      <p:sp>
        <p:nvSpPr>
          <p:cNvPr id="14" name="Content Placeholder 2">
            <a:extLst>
              <a:ext uri="{FF2B5EF4-FFF2-40B4-BE49-F238E27FC236}">
                <a16:creationId xmlns:a16="http://schemas.microsoft.com/office/drawing/2014/main" id="{DEA7CF25-24BA-41CF-BA9B-C4A45F3EFDA0}"/>
              </a:ext>
            </a:extLst>
          </p:cNvPr>
          <p:cNvSpPr txBox="1">
            <a:spLocks/>
          </p:cNvSpPr>
          <p:nvPr/>
        </p:nvSpPr>
        <p:spPr>
          <a:xfrm>
            <a:off x="2290762" y="1943755"/>
            <a:ext cx="7610476" cy="414338"/>
          </a:xfrm>
          <a:prstGeom prst="rect">
            <a:avLst/>
          </a:prstGeom>
        </p:spPr>
        <p:txBody>
          <a:bodyPr vert="horz" lIns="91440" tIns="45720" rIns="91440" bIns="45720" rtlCol="0">
            <a:normAutofit lnSpcReduction="10000"/>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ctr">
              <a:buNone/>
            </a:pPr>
            <a:r>
              <a:rPr lang="es-ES_tradnl" sz="2400">
                <a:solidFill>
                  <a:srgbClr val="800000"/>
                </a:solidFill>
              </a:rPr>
              <a:t>Si sabemos que:</a:t>
            </a:r>
          </a:p>
        </p:txBody>
      </p:sp>
      <p:sp>
        <p:nvSpPr>
          <p:cNvPr id="3" name="Title 1">
            <a:extLst>
              <a:ext uri="{FF2B5EF4-FFF2-40B4-BE49-F238E27FC236}">
                <a16:creationId xmlns:a16="http://schemas.microsoft.com/office/drawing/2014/main" id="{B8946E11-53AA-13C6-8C77-2BFC22B92593}"/>
              </a:ext>
            </a:extLst>
          </p:cNvPr>
          <p:cNvSpPr>
            <a:spLocks noGrp="1"/>
          </p:cNvSpPr>
          <p:nvPr>
            <p:ph type="title"/>
          </p:nvPr>
        </p:nvSpPr>
        <p:spPr>
          <a:xfrm>
            <a:off x="581192" y="702156"/>
            <a:ext cx="11029616" cy="1013800"/>
          </a:xfrm>
        </p:spPr>
        <p:txBody>
          <a:bodyPr/>
          <a:lstStyle/>
          <a:p>
            <a:r>
              <a:rPr lang="es-ES_tradnl" dirty="0">
                <a:latin typeface="Century Gothic" panose="020B0502020202020204" pitchFamily="34" charset="0"/>
              </a:rPr>
              <a:t>Series uniformes / anualidades</a:t>
            </a:r>
          </a:p>
        </p:txBody>
      </p:sp>
      <p:sp>
        <p:nvSpPr>
          <p:cNvPr id="10" name="Rectángulo 9">
            <a:extLst>
              <a:ext uri="{FF2B5EF4-FFF2-40B4-BE49-F238E27FC236}">
                <a16:creationId xmlns:a16="http://schemas.microsoft.com/office/drawing/2014/main" id="{86E02B3A-DED6-5A91-BF08-C9804E994498}"/>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1" name="Picture 2" descr="Clientes y aliados | Centro de Evaluación | Uniandes">
            <a:extLst>
              <a:ext uri="{FF2B5EF4-FFF2-40B4-BE49-F238E27FC236}">
                <a16:creationId xmlns:a16="http://schemas.microsoft.com/office/drawing/2014/main" id="{14B2EC37-BA2C-A3A3-09A8-AEFDF8838485}"/>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5" name="Rectángulo 14">
            <a:extLst>
              <a:ext uri="{FF2B5EF4-FFF2-40B4-BE49-F238E27FC236}">
                <a16:creationId xmlns:a16="http://schemas.microsoft.com/office/drawing/2014/main" id="{0A75EC6D-E47F-EFEE-2D73-7AEDFB46CE91}"/>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2" name="Rectángulo 5">
            <a:extLst>
              <a:ext uri="{FF2B5EF4-FFF2-40B4-BE49-F238E27FC236}">
                <a16:creationId xmlns:a16="http://schemas.microsoft.com/office/drawing/2014/main" id="{8B0B3C53-F20A-C329-3ED4-4388C5B3ABC0}"/>
              </a:ext>
            </a:extLst>
          </p:cNvPr>
          <p:cNvSpPr/>
          <p:nvPr/>
        </p:nvSpPr>
        <p:spPr>
          <a:xfrm>
            <a:off x="4389359" y="4050674"/>
            <a:ext cx="3634154" cy="1137139"/>
          </a:xfrm>
          <a:prstGeom prst="rect">
            <a:avLst/>
          </a:prstGeom>
          <a:noFill/>
          <a:ln w="38100">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O"/>
          </a:p>
        </p:txBody>
      </p:sp>
      <p:sp>
        <p:nvSpPr>
          <p:cNvPr id="9" name="Rectángulo 5">
            <a:extLst>
              <a:ext uri="{FF2B5EF4-FFF2-40B4-BE49-F238E27FC236}">
                <a16:creationId xmlns:a16="http://schemas.microsoft.com/office/drawing/2014/main" id="{5F25DCA3-27F0-27A8-5981-8C3A3405C089}"/>
              </a:ext>
            </a:extLst>
          </p:cNvPr>
          <p:cNvSpPr/>
          <p:nvPr/>
        </p:nvSpPr>
        <p:spPr>
          <a:xfrm>
            <a:off x="4389359" y="5570129"/>
            <a:ext cx="3634154" cy="1137139"/>
          </a:xfrm>
          <a:prstGeom prst="rect">
            <a:avLst/>
          </a:prstGeom>
          <a:noFill/>
          <a:ln w="38100">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O"/>
          </a:p>
        </p:txBody>
      </p:sp>
      <p:sp>
        <p:nvSpPr>
          <p:cNvPr id="16" name="Rectángulo 5">
            <a:extLst>
              <a:ext uri="{FF2B5EF4-FFF2-40B4-BE49-F238E27FC236}">
                <a16:creationId xmlns:a16="http://schemas.microsoft.com/office/drawing/2014/main" id="{CC47D63C-5F69-9539-C5DD-1403FA6BEE17}"/>
              </a:ext>
            </a:extLst>
          </p:cNvPr>
          <p:cNvSpPr/>
          <p:nvPr/>
        </p:nvSpPr>
        <p:spPr>
          <a:xfrm>
            <a:off x="2330191" y="2488191"/>
            <a:ext cx="3634154" cy="1137139"/>
          </a:xfrm>
          <a:prstGeom prst="rect">
            <a:avLst/>
          </a:prstGeom>
          <a:noFill/>
          <a:ln w="38100">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O"/>
          </a:p>
        </p:txBody>
      </p:sp>
      <p:sp>
        <p:nvSpPr>
          <p:cNvPr id="17" name="Rectángulo 5">
            <a:extLst>
              <a:ext uri="{FF2B5EF4-FFF2-40B4-BE49-F238E27FC236}">
                <a16:creationId xmlns:a16="http://schemas.microsoft.com/office/drawing/2014/main" id="{83EED2D5-9681-5DF0-6938-9F691BA069EC}"/>
              </a:ext>
            </a:extLst>
          </p:cNvPr>
          <p:cNvSpPr/>
          <p:nvPr/>
        </p:nvSpPr>
        <p:spPr>
          <a:xfrm>
            <a:off x="6346635" y="2465547"/>
            <a:ext cx="3634154" cy="1137139"/>
          </a:xfrm>
          <a:prstGeom prst="rect">
            <a:avLst/>
          </a:prstGeom>
          <a:noFill/>
          <a:ln w="38100">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O"/>
          </a:p>
        </p:txBody>
      </p:sp>
    </p:spTree>
    <p:extLst>
      <p:ext uri="{BB962C8B-B14F-4D97-AF65-F5344CB8AC3E}">
        <p14:creationId xmlns:p14="http://schemas.microsoft.com/office/powerpoint/2010/main" val="6425063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9" grpId="0" animBg="1"/>
      <p:bldP spid="16" grpId="0" animBg="1"/>
      <p:bldP spid="17"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B1228D-B948-FB24-3A64-844AD2CF2D55}"/>
              </a:ext>
            </a:extLst>
          </p:cNvPr>
          <p:cNvSpPr>
            <a:spLocks noGrp="1"/>
          </p:cNvSpPr>
          <p:nvPr>
            <p:ph type="title"/>
          </p:nvPr>
        </p:nvSpPr>
        <p:spPr/>
        <p:txBody>
          <a:bodyPr/>
          <a:lstStyle/>
          <a:p>
            <a:r>
              <a:rPr lang="es-ES_tradnl" dirty="0"/>
              <a:t>repaso</a:t>
            </a:r>
          </a:p>
        </p:txBody>
      </p:sp>
      <p:pic>
        <p:nvPicPr>
          <p:cNvPr id="5" name="Content Placeholder 4">
            <a:extLst>
              <a:ext uri="{FF2B5EF4-FFF2-40B4-BE49-F238E27FC236}">
                <a16:creationId xmlns:a16="http://schemas.microsoft.com/office/drawing/2014/main" id="{25907938-31EA-98EC-9FB8-B7FCBD8F1792}"/>
              </a:ext>
            </a:extLst>
          </p:cNvPr>
          <p:cNvPicPr>
            <a:picLocks noGrp="1" noChangeAspect="1"/>
          </p:cNvPicPr>
          <p:nvPr>
            <p:ph idx="1"/>
          </p:nvPr>
        </p:nvPicPr>
        <p:blipFill>
          <a:blip r:embed="rId3"/>
          <a:stretch>
            <a:fillRect/>
          </a:stretch>
        </p:blipFill>
        <p:spPr>
          <a:xfrm>
            <a:off x="5916853" y="1899667"/>
            <a:ext cx="4641447" cy="4631268"/>
          </a:xfrm>
          <a:prstGeom prst="rect">
            <a:avLst/>
          </a:prstGeom>
        </p:spPr>
      </p:pic>
      <p:sp>
        <p:nvSpPr>
          <p:cNvPr id="4" name="Slide Number Placeholder 3">
            <a:extLst>
              <a:ext uri="{FF2B5EF4-FFF2-40B4-BE49-F238E27FC236}">
                <a16:creationId xmlns:a16="http://schemas.microsoft.com/office/drawing/2014/main" id="{9A97A21C-B76F-2166-6F67-58DF57A8E4F4}"/>
              </a:ext>
            </a:extLst>
          </p:cNvPr>
          <p:cNvSpPr>
            <a:spLocks noGrp="1"/>
          </p:cNvSpPr>
          <p:nvPr>
            <p:ph type="sldNum" sz="quarter" idx="12"/>
          </p:nvPr>
        </p:nvSpPr>
        <p:spPr/>
        <p:txBody>
          <a:bodyPr/>
          <a:lstStyle/>
          <a:p>
            <a:fld id="{D57F1E4F-1CFF-5643-939E-217C01CDF565}" type="slidenum">
              <a:rPr lang="en-US" smtClean="0"/>
              <a:pPr/>
              <a:t>6</a:t>
            </a:fld>
            <a:endParaRPr lang="en-US"/>
          </a:p>
        </p:txBody>
      </p:sp>
      <p:sp>
        <p:nvSpPr>
          <p:cNvPr id="6" name="TextBox 5">
            <a:extLst>
              <a:ext uri="{FF2B5EF4-FFF2-40B4-BE49-F238E27FC236}">
                <a16:creationId xmlns:a16="http://schemas.microsoft.com/office/drawing/2014/main" id="{4BF23E7D-F246-AF44-47DA-73EE4AABDFFA}"/>
              </a:ext>
            </a:extLst>
          </p:cNvPr>
          <p:cNvSpPr txBox="1"/>
          <p:nvPr/>
        </p:nvSpPr>
        <p:spPr>
          <a:xfrm>
            <a:off x="1054916" y="3244334"/>
            <a:ext cx="4453517" cy="584775"/>
          </a:xfrm>
          <a:prstGeom prst="rect">
            <a:avLst/>
          </a:prstGeom>
          <a:noFill/>
        </p:spPr>
        <p:txBody>
          <a:bodyPr wrap="square">
            <a:spAutoFit/>
          </a:bodyPr>
          <a:lstStyle/>
          <a:p>
            <a:r>
              <a:rPr lang="es-ES_tradnl" sz="3200" dirty="0">
                <a:solidFill>
                  <a:srgbClr val="FF0000"/>
                </a:solidFill>
              </a:rPr>
              <a:t>https://</a:t>
            </a:r>
            <a:r>
              <a:rPr lang="es-ES_tradnl" sz="3200" dirty="0" err="1">
                <a:solidFill>
                  <a:srgbClr val="FF0000"/>
                </a:solidFill>
              </a:rPr>
              <a:t>shorturl.at</a:t>
            </a:r>
            <a:r>
              <a:rPr lang="es-ES_tradnl" sz="3200" dirty="0">
                <a:solidFill>
                  <a:srgbClr val="FF0000"/>
                </a:solidFill>
              </a:rPr>
              <a:t>/</a:t>
            </a:r>
            <a:r>
              <a:rPr lang="es-ES_tradnl" sz="3200" dirty="0" err="1">
                <a:solidFill>
                  <a:srgbClr val="FF0000"/>
                </a:solidFill>
              </a:rPr>
              <a:t>fgvHs</a:t>
            </a:r>
            <a:endParaRPr lang="es-ES_tradnl" sz="3200" dirty="0">
              <a:solidFill>
                <a:srgbClr val="FF0000"/>
              </a:solidFill>
            </a:endParaRPr>
          </a:p>
        </p:txBody>
      </p:sp>
    </p:spTree>
    <p:extLst>
      <p:ext uri="{BB962C8B-B14F-4D97-AF65-F5344CB8AC3E}">
        <p14:creationId xmlns:p14="http://schemas.microsoft.com/office/powerpoint/2010/main" val="28446889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0E9983-80BD-4B68-9635-1A220E2E03EC}"/>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451B88D6-ACD4-EAA1-99BE-1D1349394E76}"/>
              </a:ext>
            </a:extLst>
          </p:cNvPr>
          <p:cNvSpPr>
            <a:spLocks noGrp="1"/>
          </p:cNvSpPr>
          <p:nvPr>
            <p:ph type="title"/>
          </p:nvPr>
        </p:nvSpPr>
        <p:spPr/>
        <p:txBody>
          <a:bodyPr>
            <a:normAutofit/>
          </a:bodyPr>
          <a:lstStyle/>
          <a:p>
            <a:r>
              <a:rPr lang="es-CO" sz="3200" dirty="0">
                <a:latin typeface="Gill Sans MT (titulo)"/>
              </a:rPr>
              <a:t>AGENDA PROPUESTA</a:t>
            </a:r>
          </a:p>
        </p:txBody>
      </p:sp>
      <p:pic>
        <p:nvPicPr>
          <p:cNvPr id="6" name="Picture 6" descr="Resultado de imagen para RELOJ VECTOR">
            <a:extLst>
              <a:ext uri="{FF2B5EF4-FFF2-40B4-BE49-F238E27FC236}">
                <a16:creationId xmlns:a16="http://schemas.microsoft.com/office/drawing/2014/main" id="{1FA5E1E6-0B36-C124-3B94-28102095035C}"/>
              </a:ext>
            </a:extLst>
          </p:cNvPr>
          <p:cNvPicPr>
            <a:picLocks noChangeAspect="1" noChangeArrowheads="1"/>
          </p:cNvPicPr>
          <p:nvPr/>
        </p:nvPicPr>
        <p:blipFill rotWithShape="1">
          <a:blip r:embed="rId2" cstate="print">
            <a:clrChange>
              <a:clrFrom>
                <a:srgbClr val="F6F6F6"/>
              </a:clrFrom>
              <a:clrTo>
                <a:srgbClr val="F6F6F6">
                  <a:alpha val="0"/>
                </a:srgbClr>
              </a:clrTo>
            </a:clrChange>
            <a:duotone>
              <a:schemeClr val="accent3">
                <a:shade val="45000"/>
                <a:satMod val="135000"/>
              </a:schemeClr>
              <a:prstClr val="white"/>
            </a:duotone>
            <a:extLst>
              <a:ext uri="{28A0092B-C50C-407E-A947-70E740481C1C}">
                <a14:useLocalDpi xmlns:a14="http://schemas.microsoft.com/office/drawing/2010/main" val="0"/>
              </a:ext>
            </a:extLst>
          </a:blip>
          <a:srcRect l="24517" t="6285" r="24815" b="6503"/>
          <a:stretch/>
        </p:blipFill>
        <p:spPr bwMode="auto">
          <a:xfrm>
            <a:off x="1448088" y="2903629"/>
            <a:ext cx="1236705" cy="1246074"/>
          </a:xfrm>
          <a:prstGeom prst="rect">
            <a:avLst/>
          </a:prstGeom>
          <a:noFill/>
          <a:extLst>
            <a:ext uri="{909E8E84-426E-40DD-AFC4-6F175D3DCCD1}">
              <a14:hiddenFill xmlns:a14="http://schemas.microsoft.com/office/drawing/2010/main">
                <a:solidFill>
                  <a:srgbClr val="FFFFFF"/>
                </a:solidFill>
              </a14:hiddenFill>
            </a:ext>
          </a:extLst>
        </p:spPr>
      </p:pic>
      <p:sp>
        <p:nvSpPr>
          <p:cNvPr id="23" name="Rectángulo 22">
            <a:extLst>
              <a:ext uri="{FF2B5EF4-FFF2-40B4-BE49-F238E27FC236}">
                <a16:creationId xmlns:a16="http://schemas.microsoft.com/office/drawing/2014/main" id="{9047570A-7931-9931-6AD2-EB1C159ED948}"/>
              </a:ext>
            </a:extLst>
          </p:cNvPr>
          <p:cNvSpPr/>
          <p:nvPr/>
        </p:nvSpPr>
        <p:spPr>
          <a:xfrm>
            <a:off x="3173020" y="2503099"/>
            <a:ext cx="8540907" cy="1938992"/>
          </a:xfrm>
          <a:prstGeom prst="rect">
            <a:avLst/>
          </a:prstGeom>
        </p:spPr>
        <p:txBody>
          <a:bodyPr wrap="square" lIns="91440" tIns="45720" rIns="91440" bIns="45720" anchor="t">
            <a:spAutoFit/>
          </a:bodyPr>
          <a:lstStyle/>
          <a:p>
            <a:pPr marL="342900" indent="-342900">
              <a:buClr>
                <a:srgbClr val="48BE7A"/>
              </a:buClr>
              <a:buAutoNum type="arabicPeriod"/>
            </a:pPr>
            <a:endParaRPr lang="es-CO" sz="2400" dirty="0">
              <a:solidFill>
                <a:schemeClr val="bg2">
                  <a:lumMod val="90000"/>
                </a:schemeClr>
              </a:solidFill>
              <a:latin typeface="Gill Sans MT (Cuerpo)"/>
              <a:cs typeface="Arial"/>
            </a:endParaRPr>
          </a:p>
          <a:p>
            <a:pPr marL="342900" indent="-342900">
              <a:buClr>
                <a:srgbClr val="48BE7A"/>
              </a:buClr>
              <a:buAutoNum type="arabicPeriod"/>
            </a:pPr>
            <a:r>
              <a:rPr lang="es-CO" sz="2400" dirty="0">
                <a:solidFill>
                  <a:schemeClr val="bg2">
                    <a:lumMod val="90000"/>
                  </a:schemeClr>
                </a:solidFill>
                <a:latin typeface="Gill Sans MT (Cuerpo)"/>
                <a:cs typeface="Arial"/>
              </a:rPr>
              <a:t>Series Uniformes o Anualidades.</a:t>
            </a:r>
          </a:p>
          <a:p>
            <a:pPr marL="342900" indent="-342900">
              <a:buClr>
                <a:srgbClr val="48BE7A"/>
              </a:buClr>
              <a:buAutoNum type="arabicPeriod"/>
            </a:pPr>
            <a:endParaRPr lang="es-CO" sz="2400" dirty="0">
              <a:solidFill>
                <a:schemeClr val="bg2">
                  <a:lumMod val="90000"/>
                </a:schemeClr>
              </a:solidFill>
              <a:latin typeface="Gill Sans MT (Cuerpo)"/>
              <a:cs typeface="Arial"/>
            </a:endParaRPr>
          </a:p>
          <a:p>
            <a:pPr marL="342900" indent="-342900">
              <a:buClr>
                <a:srgbClr val="48BE7A"/>
              </a:buClr>
              <a:buAutoNum type="arabicPeriod"/>
            </a:pPr>
            <a:r>
              <a:rPr lang="es-CO" sz="2400" dirty="0">
                <a:solidFill>
                  <a:schemeClr val="accent1"/>
                </a:solidFill>
                <a:latin typeface="Gill Sans MT (Cuerpo)"/>
                <a:cs typeface="Arial"/>
              </a:rPr>
              <a:t>Gradiente Aritmético.</a:t>
            </a:r>
          </a:p>
          <a:p>
            <a:pPr>
              <a:buClr>
                <a:srgbClr val="48BE7A"/>
              </a:buClr>
            </a:pPr>
            <a:endParaRPr lang="es-CO" sz="2400" dirty="0">
              <a:solidFill>
                <a:schemeClr val="bg2">
                  <a:lumMod val="90000"/>
                </a:schemeClr>
              </a:solidFill>
              <a:latin typeface="Gill Sans MT (Cuerpo)"/>
              <a:cs typeface="Arial"/>
            </a:endParaRPr>
          </a:p>
        </p:txBody>
      </p:sp>
      <p:sp>
        <p:nvSpPr>
          <p:cNvPr id="3" name="Rectángulo 2">
            <a:extLst>
              <a:ext uri="{FF2B5EF4-FFF2-40B4-BE49-F238E27FC236}">
                <a16:creationId xmlns:a16="http://schemas.microsoft.com/office/drawing/2014/main" id="{C0C4D0CA-3DA4-ADDA-D52E-0727D87EE10C}"/>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F95A25A9-680A-CAFD-720D-5850A4C3160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2BDDF68D-34C1-2C68-8153-855B7582DF18}"/>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5" name="Slide Number Placeholder 3">
            <a:extLst>
              <a:ext uri="{FF2B5EF4-FFF2-40B4-BE49-F238E27FC236}">
                <a16:creationId xmlns:a16="http://schemas.microsoft.com/office/drawing/2014/main" id="{660FEF54-4766-999A-D3AE-AF561855BC4E}"/>
              </a:ext>
            </a:extLst>
          </p:cNvPr>
          <p:cNvSpPr>
            <a:spLocks noGrp="1"/>
          </p:cNvSpPr>
          <p:nvPr>
            <p:ph type="sldNum" sz="quarter" idx="12"/>
          </p:nvPr>
        </p:nvSpPr>
        <p:spPr>
          <a:xfrm>
            <a:off x="10558300" y="5956137"/>
            <a:ext cx="1052508" cy="365125"/>
          </a:xfrm>
        </p:spPr>
        <p:txBody>
          <a:bodyPr/>
          <a:lstStyle/>
          <a:p>
            <a:fld id="{5E3E23BA-6E79-2442-BA73-D218A5E297C3}" type="slidenum">
              <a:rPr lang="en-US" sz="2000" b="1" smtClean="0">
                <a:latin typeface="Gill Sans MT (Títulos)"/>
              </a:rPr>
              <a:t>7</a:t>
            </a:fld>
            <a:endParaRPr lang="en-US" sz="2000" b="1" dirty="0">
              <a:latin typeface="Gill Sans MT (Títulos)"/>
            </a:endParaRPr>
          </a:p>
        </p:txBody>
      </p:sp>
    </p:spTree>
    <p:extLst>
      <p:ext uri="{BB962C8B-B14F-4D97-AF65-F5344CB8AC3E}">
        <p14:creationId xmlns:p14="http://schemas.microsoft.com/office/powerpoint/2010/main" val="3645564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42"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animEffect transition="in" filter="fade">
                                      <p:cBhvr>
                                        <p:cTn id="9" dur="1000"/>
                                        <p:tgtEl>
                                          <p:spTgt spid="23"/>
                                        </p:tgtEl>
                                      </p:cBhvr>
                                    </p:animEffect>
                                    <p:anim calcmode="lin" valueType="num">
                                      <p:cBhvr>
                                        <p:cTn id="10" dur="1000" fill="hold"/>
                                        <p:tgtEl>
                                          <p:spTgt spid="23"/>
                                        </p:tgtEl>
                                        <p:attrNameLst>
                                          <p:attrName>ppt_x</p:attrName>
                                        </p:attrNameLst>
                                      </p:cBhvr>
                                      <p:tavLst>
                                        <p:tav tm="0">
                                          <p:val>
                                            <p:strVal val="#ppt_x"/>
                                          </p:val>
                                        </p:tav>
                                        <p:tav tm="100000">
                                          <p:val>
                                            <p:strVal val="#ppt_x"/>
                                          </p:val>
                                        </p:tav>
                                      </p:tavLst>
                                    </p:anim>
                                    <p:anim calcmode="lin" valueType="num">
                                      <p:cBhvr>
                                        <p:cTn id="11"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1193" y="1992101"/>
            <a:ext cx="11029615" cy="4329161"/>
          </a:xfrm>
        </p:spPr>
        <p:txBody>
          <a:bodyPr>
            <a:normAutofit lnSpcReduction="10000"/>
          </a:bodyPr>
          <a:lstStyle/>
          <a:p>
            <a:pPr marL="0" indent="0" algn="just">
              <a:buNone/>
            </a:pPr>
            <a:r>
              <a:rPr lang="es-ES" sz="2400" dirty="0"/>
              <a:t>Las equivalencias que hemos derivado hasta el momento para las anualidades (A) están limitadas a un valor constante a lo largo del tiempo</a:t>
            </a:r>
          </a:p>
          <a:p>
            <a:pPr marL="0" indent="0" algn="just">
              <a:buNone/>
            </a:pPr>
            <a:endParaRPr lang="es-ES" sz="2400" dirty="0"/>
          </a:p>
          <a:p>
            <a:pPr marL="0" indent="0" algn="just">
              <a:buNone/>
            </a:pPr>
            <a:r>
              <a:rPr lang="es-ES" sz="2400" dirty="0">
                <a:solidFill>
                  <a:srgbClr val="800000"/>
                </a:solidFill>
              </a:rPr>
              <a:t>¿Qué sucede ahora, si tenemos unos flujos anuales que no son constantes y que crecen en un monto determinado?</a:t>
            </a:r>
          </a:p>
          <a:p>
            <a:pPr marL="0" indent="0" algn="just">
              <a:buNone/>
            </a:pPr>
            <a:endParaRPr lang="es-ES" sz="2400" dirty="0">
              <a:solidFill>
                <a:srgbClr val="800000"/>
              </a:solidFill>
            </a:endParaRPr>
          </a:p>
          <a:p>
            <a:pPr marL="0" indent="0" algn="just">
              <a:buNone/>
            </a:pPr>
            <a:r>
              <a:rPr lang="es-ES" sz="2400" dirty="0"/>
              <a:t>Existen otro tipo de relaciones de equivalencia con particular interés en las matemáticas financieras. Se trata de las relaciones de equivalencia cuando los pagos vencidos periódicos no se comportan de manera constante, sino que por el contrario </a:t>
            </a:r>
            <a:r>
              <a:rPr lang="es-ES" sz="2400" b="1" dirty="0"/>
              <a:t>crecen en el tiempo en valor constante conocido (“G”)</a:t>
            </a:r>
            <a:r>
              <a:rPr lang="es-ES" sz="2400" dirty="0"/>
              <a:t>. </a:t>
            </a:r>
          </a:p>
        </p:txBody>
      </p:sp>
      <p:sp>
        <p:nvSpPr>
          <p:cNvPr id="8" name="Title 1">
            <a:extLst>
              <a:ext uri="{FF2B5EF4-FFF2-40B4-BE49-F238E27FC236}">
                <a16:creationId xmlns:a16="http://schemas.microsoft.com/office/drawing/2014/main" id="{88FC7E52-1484-A7CD-8880-2DCF371A5289}"/>
              </a:ext>
            </a:extLst>
          </p:cNvPr>
          <p:cNvSpPr>
            <a:spLocks noGrp="1"/>
          </p:cNvSpPr>
          <p:nvPr>
            <p:ph type="title"/>
          </p:nvPr>
        </p:nvSpPr>
        <p:spPr>
          <a:xfrm>
            <a:off x="581192" y="702156"/>
            <a:ext cx="11029616" cy="1013800"/>
          </a:xfrm>
        </p:spPr>
        <p:txBody>
          <a:bodyPr>
            <a:normAutofit/>
          </a:bodyPr>
          <a:lstStyle/>
          <a:p>
            <a:r>
              <a:rPr lang="es-ES_tradnl" sz="3200" dirty="0">
                <a:latin typeface="Gill Sans MT (titulo)"/>
              </a:rPr>
              <a:t>Gradientes aritméticos</a:t>
            </a:r>
          </a:p>
        </p:txBody>
      </p:sp>
      <p:sp>
        <p:nvSpPr>
          <p:cNvPr id="9" name="Rectángulo 8">
            <a:extLst>
              <a:ext uri="{FF2B5EF4-FFF2-40B4-BE49-F238E27FC236}">
                <a16:creationId xmlns:a16="http://schemas.microsoft.com/office/drawing/2014/main" id="{CD4D712C-053F-028B-C5BD-53677AD70D29}"/>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0" name="Picture 2" descr="Clientes y aliados | Centro de Evaluación | Uniandes">
            <a:extLst>
              <a:ext uri="{FF2B5EF4-FFF2-40B4-BE49-F238E27FC236}">
                <a16:creationId xmlns:a16="http://schemas.microsoft.com/office/drawing/2014/main" id="{0C729116-AE34-A25E-7CB0-4C9344F3A2A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1" name="Rectángulo 10">
            <a:extLst>
              <a:ext uri="{FF2B5EF4-FFF2-40B4-BE49-F238E27FC236}">
                <a16:creationId xmlns:a16="http://schemas.microsoft.com/office/drawing/2014/main" id="{AB05587D-F860-B686-917B-EA82F902575B}"/>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2" name="Slide Number Placeholder 3">
            <a:extLst>
              <a:ext uri="{FF2B5EF4-FFF2-40B4-BE49-F238E27FC236}">
                <a16:creationId xmlns:a16="http://schemas.microsoft.com/office/drawing/2014/main" id="{A04E1E33-4269-E43D-EC4F-3246B5509719}"/>
              </a:ext>
            </a:extLst>
          </p:cNvPr>
          <p:cNvSpPr>
            <a:spLocks noGrp="1"/>
          </p:cNvSpPr>
          <p:nvPr>
            <p:ph type="sldNum" sz="quarter" idx="12"/>
          </p:nvPr>
        </p:nvSpPr>
        <p:spPr>
          <a:xfrm>
            <a:off x="10558300" y="5956137"/>
            <a:ext cx="1052508" cy="365125"/>
          </a:xfrm>
        </p:spPr>
        <p:txBody>
          <a:bodyPr/>
          <a:lstStyle/>
          <a:p>
            <a:fld id="{5E3E23BA-6E79-2442-BA73-D218A5E297C3}" type="slidenum">
              <a:rPr lang="en-US" sz="2000" b="1" smtClean="0">
                <a:latin typeface="Gill Sans MT (Títulos)"/>
              </a:rPr>
              <a:t>8</a:t>
            </a:fld>
            <a:endParaRPr lang="en-US" sz="2000" b="1" dirty="0">
              <a:latin typeface="Gill Sans MT (Títulos)"/>
            </a:endParaRPr>
          </a:p>
        </p:txBody>
      </p:sp>
    </p:spTree>
    <p:extLst>
      <p:ext uri="{BB962C8B-B14F-4D97-AF65-F5344CB8AC3E}">
        <p14:creationId xmlns:p14="http://schemas.microsoft.com/office/powerpoint/2010/main" val="3326417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Content Placeholder 2"/>
          <p:cNvSpPr>
            <a:spLocks noGrp="1"/>
          </p:cNvSpPr>
          <p:nvPr>
            <p:ph idx="1"/>
          </p:nvPr>
        </p:nvSpPr>
        <p:spPr>
          <a:xfrm>
            <a:off x="581191" y="1933785"/>
            <a:ext cx="11029615" cy="922553"/>
          </a:xfrm>
        </p:spPr>
        <p:txBody>
          <a:bodyPr>
            <a:normAutofit/>
          </a:bodyPr>
          <a:lstStyle/>
          <a:p>
            <a:pPr marL="0" indent="0" algn="just">
              <a:buNone/>
            </a:pPr>
            <a:r>
              <a:rPr lang="es-ES" sz="2400"/>
              <a:t>Imagínese unos flujos como los qué se muestran a continuación. ¿Cómo crecen dichos flujos?</a:t>
            </a:r>
          </a:p>
        </p:txBody>
      </p:sp>
      <p:cxnSp>
        <p:nvCxnSpPr>
          <p:cNvPr id="6" name="Straight Connector 6"/>
          <p:cNvCxnSpPr/>
          <p:nvPr/>
        </p:nvCxnSpPr>
        <p:spPr>
          <a:xfrm flipV="1">
            <a:off x="2696339" y="5227529"/>
            <a:ext cx="6372951" cy="12001"/>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 name="Straight Arrow Connector 9"/>
          <p:cNvCxnSpPr/>
          <p:nvPr/>
        </p:nvCxnSpPr>
        <p:spPr>
          <a:xfrm flipV="1">
            <a:off x="4677208" y="4944818"/>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8" name="Rectangle 35"/>
          <p:cNvSpPr>
            <a:spLocks/>
          </p:cNvSpPr>
          <p:nvPr/>
        </p:nvSpPr>
        <p:spPr bwMode="auto">
          <a:xfrm>
            <a:off x="2632217" y="5234810"/>
            <a:ext cx="12824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0</a:t>
            </a:r>
          </a:p>
        </p:txBody>
      </p:sp>
      <p:sp>
        <p:nvSpPr>
          <p:cNvPr id="9" name="Rectangle 36"/>
          <p:cNvSpPr>
            <a:spLocks/>
          </p:cNvSpPr>
          <p:nvPr/>
        </p:nvSpPr>
        <p:spPr bwMode="auto">
          <a:xfrm>
            <a:off x="3445502" y="5209981"/>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a:t>
            </a:r>
          </a:p>
        </p:txBody>
      </p:sp>
      <p:sp>
        <p:nvSpPr>
          <p:cNvPr id="10" name="Rectangle 37"/>
          <p:cNvSpPr>
            <a:spLocks/>
          </p:cNvSpPr>
          <p:nvPr/>
        </p:nvSpPr>
        <p:spPr bwMode="auto">
          <a:xfrm>
            <a:off x="4533990" y="5209981"/>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2</a:t>
            </a:r>
          </a:p>
        </p:txBody>
      </p:sp>
      <p:sp>
        <p:nvSpPr>
          <p:cNvPr id="11" name="Rectangle 38"/>
          <p:cNvSpPr>
            <a:spLocks/>
          </p:cNvSpPr>
          <p:nvPr/>
        </p:nvSpPr>
        <p:spPr bwMode="auto">
          <a:xfrm>
            <a:off x="5593464" y="5223938"/>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3</a:t>
            </a:r>
          </a:p>
        </p:txBody>
      </p:sp>
      <p:sp>
        <p:nvSpPr>
          <p:cNvPr id="12" name="Rectangle 39"/>
          <p:cNvSpPr>
            <a:spLocks/>
          </p:cNvSpPr>
          <p:nvPr/>
        </p:nvSpPr>
        <p:spPr bwMode="auto">
          <a:xfrm>
            <a:off x="6599326" y="5240395"/>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4</a:t>
            </a:r>
          </a:p>
        </p:txBody>
      </p:sp>
      <p:sp>
        <p:nvSpPr>
          <p:cNvPr id="13" name="Rectangle 40"/>
          <p:cNvSpPr>
            <a:spLocks/>
          </p:cNvSpPr>
          <p:nvPr/>
        </p:nvSpPr>
        <p:spPr bwMode="auto">
          <a:xfrm>
            <a:off x="7672755" y="5209981"/>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5</a:t>
            </a:r>
          </a:p>
        </p:txBody>
      </p:sp>
      <p:sp>
        <p:nvSpPr>
          <p:cNvPr id="14" name="Rectangle 41"/>
          <p:cNvSpPr>
            <a:spLocks/>
          </p:cNvSpPr>
          <p:nvPr/>
        </p:nvSpPr>
        <p:spPr bwMode="auto">
          <a:xfrm>
            <a:off x="8732229" y="5209981"/>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6</a:t>
            </a:r>
          </a:p>
        </p:txBody>
      </p:sp>
      <p:sp>
        <p:nvSpPr>
          <p:cNvPr id="15" name="Rectangle 35"/>
          <p:cNvSpPr>
            <a:spLocks/>
          </p:cNvSpPr>
          <p:nvPr/>
        </p:nvSpPr>
        <p:spPr bwMode="auto">
          <a:xfrm>
            <a:off x="4612289" y="4644832"/>
            <a:ext cx="12824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5</a:t>
            </a:r>
          </a:p>
        </p:txBody>
      </p:sp>
      <p:sp>
        <p:nvSpPr>
          <p:cNvPr id="17" name="Rectangle 35"/>
          <p:cNvSpPr>
            <a:spLocks/>
          </p:cNvSpPr>
          <p:nvPr/>
        </p:nvSpPr>
        <p:spPr bwMode="auto">
          <a:xfrm>
            <a:off x="5686154" y="4348891"/>
            <a:ext cx="256481"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10</a:t>
            </a:r>
          </a:p>
        </p:txBody>
      </p:sp>
      <p:sp>
        <p:nvSpPr>
          <p:cNvPr id="18" name="Rectangle 35"/>
          <p:cNvSpPr>
            <a:spLocks/>
          </p:cNvSpPr>
          <p:nvPr/>
        </p:nvSpPr>
        <p:spPr bwMode="auto">
          <a:xfrm>
            <a:off x="6697738" y="4049522"/>
            <a:ext cx="256481"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15</a:t>
            </a:r>
          </a:p>
        </p:txBody>
      </p:sp>
      <p:sp>
        <p:nvSpPr>
          <p:cNvPr id="19" name="Rectangle 35"/>
          <p:cNvSpPr>
            <a:spLocks/>
          </p:cNvSpPr>
          <p:nvPr/>
        </p:nvSpPr>
        <p:spPr bwMode="auto">
          <a:xfrm>
            <a:off x="7704583" y="3757265"/>
            <a:ext cx="256481"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20</a:t>
            </a:r>
          </a:p>
        </p:txBody>
      </p:sp>
      <p:sp>
        <p:nvSpPr>
          <p:cNvPr id="20" name="Rectangle 35"/>
          <p:cNvSpPr>
            <a:spLocks/>
          </p:cNvSpPr>
          <p:nvPr/>
        </p:nvSpPr>
        <p:spPr bwMode="auto">
          <a:xfrm>
            <a:off x="8794684" y="3162183"/>
            <a:ext cx="256481"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25</a:t>
            </a:r>
          </a:p>
        </p:txBody>
      </p:sp>
      <p:cxnSp>
        <p:nvCxnSpPr>
          <p:cNvPr id="21" name="Straight Arrow Connector 9"/>
          <p:cNvCxnSpPr/>
          <p:nvPr/>
        </p:nvCxnSpPr>
        <p:spPr>
          <a:xfrm flipV="1">
            <a:off x="5800516" y="4747606"/>
            <a:ext cx="0" cy="497850"/>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27" name="Straight Arrow Connector 9"/>
          <p:cNvCxnSpPr/>
          <p:nvPr/>
        </p:nvCxnSpPr>
        <p:spPr>
          <a:xfrm flipV="1">
            <a:off x="7831322" y="4112264"/>
            <a:ext cx="0" cy="1086699"/>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28" name="Straight Arrow Connector 9"/>
          <p:cNvCxnSpPr/>
          <p:nvPr/>
        </p:nvCxnSpPr>
        <p:spPr>
          <a:xfrm flipV="1">
            <a:off x="6825978" y="4370976"/>
            <a:ext cx="0" cy="827987"/>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32" name="Straight Arrow Connector 9"/>
          <p:cNvCxnSpPr/>
          <p:nvPr/>
        </p:nvCxnSpPr>
        <p:spPr>
          <a:xfrm flipV="1">
            <a:off x="8922924" y="3584713"/>
            <a:ext cx="0" cy="1670003"/>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16" name="Title 1">
            <a:extLst>
              <a:ext uri="{FF2B5EF4-FFF2-40B4-BE49-F238E27FC236}">
                <a16:creationId xmlns:a16="http://schemas.microsoft.com/office/drawing/2014/main" id="{274D0DAB-C8EA-ACD0-D634-77BDA2E47115}"/>
              </a:ext>
            </a:extLst>
          </p:cNvPr>
          <p:cNvSpPr>
            <a:spLocks noGrp="1"/>
          </p:cNvSpPr>
          <p:nvPr>
            <p:ph type="title"/>
          </p:nvPr>
        </p:nvSpPr>
        <p:spPr>
          <a:xfrm>
            <a:off x="581192" y="702156"/>
            <a:ext cx="11029616" cy="1013800"/>
          </a:xfrm>
        </p:spPr>
        <p:txBody>
          <a:bodyPr/>
          <a:lstStyle/>
          <a:p>
            <a:r>
              <a:rPr lang="es-ES_tradnl">
                <a:latin typeface="Century Gothic" panose="020B0502020202020204" pitchFamily="34" charset="0"/>
              </a:rPr>
              <a:t>Gradientes aritméticos</a:t>
            </a:r>
          </a:p>
        </p:txBody>
      </p:sp>
      <p:sp>
        <p:nvSpPr>
          <p:cNvPr id="22" name="Rectángulo 21">
            <a:extLst>
              <a:ext uri="{FF2B5EF4-FFF2-40B4-BE49-F238E27FC236}">
                <a16:creationId xmlns:a16="http://schemas.microsoft.com/office/drawing/2014/main" id="{CCA6D095-82C8-9A89-07BC-291C33916901}"/>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24" name="Picture 2" descr="Clientes y aliados | Centro de Evaluación | Uniandes">
            <a:extLst>
              <a:ext uri="{FF2B5EF4-FFF2-40B4-BE49-F238E27FC236}">
                <a16:creationId xmlns:a16="http://schemas.microsoft.com/office/drawing/2014/main" id="{5830F081-B4C3-1931-6E9A-7DA8A27BC72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25" name="Rectángulo 24">
            <a:extLst>
              <a:ext uri="{FF2B5EF4-FFF2-40B4-BE49-F238E27FC236}">
                <a16:creationId xmlns:a16="http://schemas.microsoft.com/office/drawing/2014/main" id="{F346A0D0-3F10-E954-DAD2-9C6FE9DC7318}"/>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2" name="Slide Number Placeholder 3">
            <a:extLst>
              <a:ext uri="{FF2B5EF4-FFF2-40B4-BE49-F238E27FC236}">
                <a16:creationId xmlns:a16="http://schemas.microsoft.com/office/drawing/2014/main" id="{1386A5D9-4211-012E-490C-28318A151B16}"/>
              </a:ext>
            </a:extLst>
          </p:cNvPr>
          <p:cNvSpPr>
            <a:spLocks noGrp="1"/>
          </p:cNvSpPr>
          <p:nvPr>
            <p:ph type="sldNum" sz="quarter" idx="12"/>
          </p:nvPr>
        </p:nvSpPr>
        <p:spPr>
          <a:xfrm>
            <a:off x="10558300" y="5956137"/>
            <a:ext cx="1052508" cy="365125"/>
          </a:xfrm>
        </p:spPr>
        <p:txBody>
          <a:bodyPr/>
          <a:lstStyle/>
          <a:p>
            <a:fld id="{5E3E23BA-6E79-2442-BA73-D218A5E297C3}" type="slidenum">
              <a:rPr lang="en-US" sz="2000" b="1" smtClean="0">
                <a:latin typeface="Gill Sans MT (Títulos)"/>
              </a:rPr>
              <a:t>9</a:t>
            </a:fld>
            <a:endParaRPr lang="en-US" sz="2000" b="1" dirty="0">
              <a:latin typeface="Gill Sans MT (Títulos)"/>
            </a:endParaRPr>
          </a:p>
        </p:txBody>
      </p:sp>
    </p:spTree>
    <p:extLst>
      <p:ext uri="{BB962C8B-B14F-4D97-AF65-F5344CB8AC3E}">
        <p14:creationId xmlns:p14="http://schemas.microsoft.com/office/powerpoint/2010/main" val="17107737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Straight Connector 6"/>
          <p:cNvCxnSpPr/>
          <p:nvPr/>
        </p:nvCxnSpPr>
        <p:spPr>
          <a:xfrm flipV="1">
            <a:off x="2696339" y="5227529"/>
            <a:ext cx="6372951" cy="12001"/>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 name="Straight Arrow Connector 9"/>
          <p:cNvCxnSpPr/>
          <p:nvPr/>
        </p:nvCxnSpPr>
        <p:spPr>
          <a:xfrm flipV="1">
            <a:off x="4677208" y="4944818"/>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8" name="Rectangle 35"/>
          <p:cNvSpPr>
            <a:spLocks/>
          </p:cNvSpPr>
          <p:nvPr/>
        </p:nvSpPr>
        <p:spPr bwMode="auto">
          <a:xfrm>
            <a:off x="2632217" y="5234810"/>
            <a:ext cx="12824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0</a:t>
            </a:r>
          </a:p>
        </p:txBody>
      </p:sp>
      <p:sp>
        <p:nvSpPr>
          <p:cNvPr id="9" name="Rectangle 36"/>
          <p:cNvSpPr>
            <a:spLocks/>
          </p:cNvSpPr>
          <p:nvPr/>
        </p:nvSpPr>
        <p:spPr bwMode="auto">
          <a:xfrm>
            <a:off x="3445502" y="5209981"/>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a:t>
            </a:r>
          </a:p>
        </p:txBody>
      </p:sp>
      <p:sp>
        <p:nvSpPr>
          <p:cNvPr id="10" name="Rectangle 37"/>
          <p:cNvSpPr>
            <a:spLocks/>
          </p:cNvSpPr>
          <p:nvPr/>
        </p:nvSpPr>
        <p:spPr bwMode="auto">
          <a:xfrm>
            <a:off x="4533990" y="5209981"/>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2</a:t>
            </a:r>
          </a:p>
        </p:txBody>
      </p:sp>
      <p:sp>
        <p:nvSpPr>
          <p:cNvPr id="11" name="Rectangle 38"/>
          <p:cNvSpPr>
            <a:spLocks/>
          </p:cNvSpPr>
          <p:nvPr/>
        </p:nvSpPr>
        <p:spPr bwMode="auto">
          <a:xfrm>
            <a:off x="5593464" y="5223938"/>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3</a:t>
            </a:r>
          </a:p>
        </p:txBody>
      </p:sp>
      <p:sp>
        <p:nvSpPr>
          <p:cNvPr id="12" name="Rectangle 39"/>
          <p:cNvSpPr>
            <a:spLocks/>
          </p:cNvSpPr>
          <p:nvPr/>
        </p:nvSpPr>
        <p:spPr bwMode="auto">
          <a:xfrm>
            <a:off x="6599326" y="5240395"/>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4</a:t>
            </a:r>
          </a:p>
        </p:txBody>
      </p:sp>
      <p:sp>
        <p:nvSpPr>
          <p:cNvPr id="13" name="Rectangle 40"/>
          <p:cNvSpPr>
            <a:spLocks/>
          </p:cNvSpPr>
          <p:nvPr/>
        </p:nvSpPr>
        <p:spPr bwMode="auto">
          <a:xfrm>
            <a:off x="7672755" y="5209981"/>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5</a:t>
            </a:r>
          </a:p>
        </p:txBody>
      </p:sp>
      <p:sp>
        <p:nvSpPr>
          <p:cNvPr id="14" name="Rectangle 41"/>
          <p:cNvSpPr>
            <a:spLocks/>
          </p:cNvSpPr>
          <p:nvPr/>
        </p:nvSpPr>
        <p:spPr bwMode="auto">
          <a:xfrm>
            <a:off x="8732229" y="5209981"/>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n</a:t>
            </a:r>
          </a:p>
        </p:txBody>
      </p:sp>
      <p:sp>
        <p:nvSpPr>
          <p:cNvPr id="15" name="Rectangle 35"/>
          <p:cNvSpPr>
            <a:spLocks/>
          </p:cNvSpPr>
          <p:nvPr/>
        </p:nvSpPr>
        <p:spPr bwMode="auto">
          <a:xfrm>
            <a:off x="4581831" y="4644832"/>
            <a:ext cx="189155"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G</a:t>
            </a:r>
          </a:p>
        </p:txBody>
      </p:sp>
      <p:cxnSp>
        <p:nvCxnSpPr>
          <p:cNvPr id="16" name="Straight Arrow Connector 9"/>
          <p:cNvCxnSpPr/>
          <p:nvPr/>
        </p:nvCxnSpPr>
        <p:spPr>
          <a:xfrm flipV="1">
            <a:off x="5800516" y="4928828"/>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17" name="Rectangle 35"/>
          <p:cNvSpPr>
            <a:spLocks/>
          </p:cNvSpPr>
          <p:nvPr/>
        </p:nvSpPr>
        <p:spPr bwMode="auto">
          <a:xfrm>
            <a:off x="5655696" y="4348891"/>
            <a:ext cx="31739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2G</a:t>
            </a:r>
          </a:p>
        </p:txBody>
      </p:sp>
      <p:sp>
        <p:nvSpPr>
          <p:cNvPr id="18" name="Rectangle 35"/>
          <p:cNvSpPr>
            <a:spLocks/>
          </p:cNvSpPr>
          <p:nvPr/>
        </p:nvSpPr>
        <p:spPr bwMode="auto">
          <a:xfrm>
            <a:off x="6667280" y="4049522"/>
            <a:ext cx="31739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3G</a:t>
            </a:r>
          </a:p>
        </p:txBody>
      </p:sp>
      <p:sp>
        <p:nvSpPr>
          <p:cNvPr id="19" name="Rectangle 35"/>
          <p:cNvSpPr>
            <a:spLocks/>
          </p:cNvSpPr>
          <p:nvPr/>
        </p:nvSpPr>
        <p:spPr bwMode="auto">
          <a:xfrm>
            <a:off x="7674125" y="3757265"/>
            <a:ext cx="31739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4G</a:t>
            </a:r>
          </a:p>
        </p:txBody>
      </p:sp>
      <p:sp>
        <p:nvSpPr>
          <p:cNvPr id="20" name="Rectangle 35"/>
          <p:cNvSpPr>
            <a:spLocks/>
          </p:cNvSpPr>
          <p:nvPr/>
        </p:nvSpPr>
        <p:spPr bwMode="auto">
          <a:xfrm>
            <a:off x="8575073" y="3162183"/>
            <a:ext cx="695703"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(n-1)G</a:t>
            </a:r>
          </a:p>
        </p:txBody>
      </p:sp>
      <p:cxnSp>
        <p:nvCxnSpPr>
          <p:cNvPr id="21" name="Straight Arrow Connector 9"/>
          <p:cNvCxnSpPr/>
          <p:nvPr/>
        </p:nvCxnSpPr>
        <p:spPr>
          <a:xfrm flipV="1">
            <a:off x="5800516" y="4639120"/>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22" name="Straight Arrow Connector 9"/>
          <p:cNvCxnSpPr/>
          <p:nvPr/>
        </p:nvCxnSpPr>
        <p:spPr>
          <a:xfrm flipV="1">
            <a:off x="6825978" y="4919988"/>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23" name="Straight Arrow Connector 9"/>
          <p:cNvCxnSpPr/>
          <p:nvPr/>
        </p:nvCxnSpPr>
        <p:spPr>
          <a:xfrm flipV="1">
            <a:off x="6825978" y="4630280"/>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24" name="Straight Arrow Connector 9"/>
          <p:cNvCxnSpPr/>
          <p:nvPr/>
        </p:nvCxnSpPr>
        <p:spPr>
          <a:xfrm flipV="1">
            <a:off x="7831322" y="4919988"/>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25" name="Straight Arrow Connector 9"/>
          <p:cNvCxnSpPr/>
          <p:nvPr/>
        </p:nvCxnSpPr>
        <p:spPr>
          <a:xfrm flipV="1">
            <a:off x="7831322" y="4630280"/>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26" name="Straight Arrow Connector 9"/>
          <p:cNvCxnSpPr/>
          <p:nvPr/>
        </p:nvCxnSpPr>
        <p:spPr>
          <a:xfrm flipV="1">
            <a:off x="7831322" y="4339979"/>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27" name="Straight Arrow Connector 9"/>
          <p:cNvCxnSpPr/>
          <p:nvPr/>
        </p:nvCxnSpPr>
        <p:spPr>
          <a:xfrm flipV="1">
            <a:off x="7831322" y="4050271"/>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28" name="Straight Arrow Connector 9"/>
          <p:cNvCxnSpPr/>
          <p:nvPr/>
        </p:nvCxnSpPr>
        <p:spPr>
          <a:xfrm flipV="1">
            <a:off x="6825978" y="4339979"/>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29" name="Straight Arrow Connector 9"/>
          <p:cNvCxnSpPr/>
          <p:nvPr/>
        </p:nvCxnSpPr>
        <p:spPr>
          <a:xfrm flipV="1">
            <a:off x="8922924" y="4919988"/>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30" name="Straight Arrow Connector 9"/>
          <p:cNvCxnSpPr/>
          <p:nvPr/>
        </p:nvCxnSpPr>
        <p:spPr>
          <a:xfrm flipV="1">
            <a:off x="8922924" y="4630280"/>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31" name="Straight Arrow Connector 9"/>
          <p:cNvCxnSpPr/>
          <p:nvPr/>
        </p:nvCxnSpPr>
        <p:spPr>
          <a:xfrm flipV="1">
            <a:off x="8922924" y="3877944"/>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32" name="Straight Arrow Connector 9"/>
          <p:cNvCxnSpPr/>
          <p:nvPr/>
        </p:nvCxnSpPr>
        <p:spPr>
          <a:xfrm flipV="1">
            <a:off x="8922924" y="3584712"/>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33" name="CuadroTexto 72"/>
          <p:cNvSpPr txBox="1"/>
          <p:nvPr/>
        </p:nvSpPr>
        <p:spPr>
          <a:xfrm>
            <a:off x="8184527" y="5136970"/>
            <a:ext cx="1295747" cy="400110"/>
          </a:xfrm>
          <a:prstGeom prst="rect">
            <a:avLst/>
          </a:prstGeom>
          <a:noFill/>
        </p:spPr>
        <p:txBody>
          <a:bodyPr wrap="square" rtlCol="0">
            <a:spAutoFit/>
          </a:bodyPr>
          <a:lstStyle/>
          <a:p>
            <a:r>
              <a:rPr lang="es-ES" sz="2000"/>
              <a:t>…</a:t>
            </a:r>
          </a:p>
        </p:txBody>
      </p:sp>
      <p:sp>
        <p:nvSpPr>
          <p:cNvPr id="34" name="Rectangle 35"/>
          <p:cNvSpPr>
            <a:spLocks/>
          </p:cNvSpPr>
          <p:nvPr/>
        </p:nvSpPr>
        <p:spPr bwMode="auto">
          <a:xfrm>
            <a:off x="8118387" y="4150717"/>
            <a:ext cx="1576141" cy="4843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lnSpc>
                <a:spcPct val="50000"/>
              </a:lnSpc>
            </a:pPr>
            <a:r>
              <a:rPr lang="en-US" sz="2000"/>
              <a:t>.</a:t>
            </a:r>
          </a:p>
          <a:p>
            <a:pPr algn="ctr">
              <a:lnSpc>
                <a:spcPct val="50000"/>
              </a:lnSpc>
            </a:pPr>
            <a:r>
              <a:rPr lang="en-US" sz="2000"/>
              <a:t>.</a:t>
            </a:r>
          </a:p>
          <a:p>
            <a:pPr algn="ctr">
              <a:lnSpc>
                <a:spcPct val="50000"/>
              </a:lnSpc>
            </a:pPr>
            <a:r>
              <a:rPr lang="en-US" sz="2000"/>
              <a:t>.</a:t>
            </a:r>
          </a:p>
        </p:txBody>
      </p:sp>
      <p:sp>
        <p:nvSpPr>
          <p:cNvPr id="36" name="Rectangle 35"/>
          <p:cNvSpPr>
            <a:spLocks/>
          </p:cNvSpPr>
          <p:nvPr/>
        </p:nvSpPr>
        <p:spPr bwMode="auto">
          <a:xfrm>
            <a:off x="3221001" y="4735044"/>
            <a:ext cx="786063" cy="307777"/>
          </a:xfrm>
          <a:prstGeom prst="rect">
            <a:avLst/>
          </a:prstGeom>
          <a:noFill/>
          <a:ln w="9525">
            <a:solidFill>
              <a:srgbClr val="C00000"/>
            </a:solidFill>
            <a:miter lim="800000"/>
            <a:headEnd/>
            <a:tailEnd/>
          </a:ln>
          <a:extLst>
            <a:ext uri="{909E8E84-426E-40dd-AFC4-6F175D3DCCD1}">
              <a14:hiddenFill xmlns="" xmlns:a14="http://schemas.microsoft.com/office/drawing/2010/main">
                <a:solidFill>
                  <a:srgbClr val="FFFFFF"/>
                </a:solidFill>
              </a14:hiddenFill>
            </a:ext>
          </a:extLst>
        </p:spPr>
        <p:txBody>
          <a:bodyPr wrap="square" lIns="0" tIns="0" rIns="0" bIns="0" anchor="ctr">
            <a:spAutoFit/>
          </a:bodyPr>
          <a:lstStyle/>
          <a:p>
            <a:pPr algn="ctr"/>
            <a:r>
              <a:rPr lang="en-US" sz="2000"/>
              <a:t>0*G</a:t>
            </a:r>
          </a:p>
        </p:txBody>
      </p:sp>
      <p:sp>
        <p:nvSpPr>
          <p:cNvPr id="3" name="Title 1">
            <a:extLst>
              <a:ext uri="{FF2B5EF4-FFF2-40B4-BE49-F238E27FC236}">
                <a16:creationId xmlns:a16="http://schemas.microsoft.com/office/drawing/2014/main" id="{B75323B6-DDCE-C0B5-7A35-2D98C1FB198A}"/>
              </a:ext>
            </a:extLst>
          </p:cNvPr>
          <p:cNvSpPr>
            <a:spLocks noGrp="1"/>
          </p:cNvSpPr>
          <p:nvPr>
            <p:ph type="title"/>
          </p:nvPr>
        </p:nvSpPr>
        <p:spPr>
          <a:xfrm>
            <a:off x="581192" y="702156"/>
            <a:ext cx="11029616" cy="1013800"/>
          </a:xfrm>
        </p:spPr>
        <p:txBody>
          <a:bodyPr>
            <a:normAutofit/>
          </a:bodyPr>
          <a:lstStyle/>
          <a:p>
            <a:r>
              <a:rPr lang="es-ES_tradnl" sz="3200" dirty="0">
                <a:latin typeface="Gill Sans MT (titulo)"/>
              </a:rPr>
              <a:t>Gradientes aritméticos</a:t>
            </a:r>
          </a:p>
        </p:txBody>
      </p:sp>
      <p:sp>
        <p:nvSpPr>
          <p:cNvPr id="5" name="Rectángulo 4">
            <a:extLst>
              <a:ext uri="{FF2B5EF4-FFF2-40B4-BE49-F238E27FC236}">
                <a16:creationId xmlns:a16="http://schemas.microsoft.com/office/drawing/2014/main" id="{0BC1864D-0BF3-C3B3-A557-AB109534B50D}"/>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38" name="Picture 2" descr="Clientes y aliados | Centro de Evaluación | Uniandes">
            <a:extLst>
              <a:ext uri="{FF2B5EF4-FFF2-40B4-BE49-F238E27FC236}">
                <a16:creationId xmlns:a16="http://schemas.microsoft.com/office/drawing/2014/main" id="{DBCE8DF6-BC50-2EEB-B9BA-A24C63E26B1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39" name="Rectángulo 38">
            <a:extLst>
              <a:ext uri="{FF2B5EF4-FFF2-40B4-BE49-F238E27FC236}">
                <a16:creationId xmlns:a16="http://schemas.microsoft.com/office/drawing/2014/main" id="{3B6414F5-EC1B-A71B-718C-A27F95D78DD1}"/>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40" name="Content Placeholder 2">
            <a:extLst>
              <a:ext uri="{FF2B5EF4-FFF2-40B4-BE49-F238E27FC236}">
                <a16:creationId xmlns:a16="http://schemas.microsoft.com/office/drawing/2014/main" id="{2556E3F4-B1F5-7E7B-6235-EA8D9766738D}"/>
              </a:ext>
            </a:extLst>
          </p:cNvPr>
          <p:cNvSpPr>
            <a:spLocks noGrp="1"/>
          </p:cNvSpPr>
          <p:nvPr>
            <p:ph idx="1"/>
          </p:nvPr>
        </p:nvSpPr>
        <p:spPr>
          <a:xfrm>
            <a:off x="581191" y="1933785"/>
            <a:ext cx="11029615" cy="922553"/>
          </a:xfrm>
        </p:spPr>
        <p:txBody>
          <a:bodyPr>
            <a:normAutofit/>
          </a:bodyPr>
          <a:lstStyle/>
          <a:p>
            <a:pPr marL="0" indent="0" algn="just">
              <a:buNone/>
            </a:pPr>
            <a:r>
              <a:rPr lang="es-ES" sz="2400" dirty="0"/>
              <a:t>Imagínese unos flujos como los qué se muestran a continuación. ¿Cómo crecen dichos flujos?</a:t>
            </a:r>
          </a:p>
        </p:txBody>
      </p:sp>
      <p:sp>
        <p:nvSpPr>
          <p:cNvPr id="2" name="Slide Number Placeholder 3">
            <a:extLst>
              <a:ext uri="{FF2B5EF4-FFF2-40B4-BE49-F238E27FC236}">
                <a16:creationId xmlns:a16="http://schemas.microsoft.com/office/drawing/2014/main" id="{9C5FE065-9C02-6C21-9ED6-D82135AECC54}"/>
              </a:ext>
            </a:extLst>
          </p:cNvPr>
          <p:cNvSpPr>
            <a:spLocks noGrp="1"/>
          </p:cNvSpPr>
          <p:nvPr>
            <p:ph type="sldNum" sz="quarter" idx="12"/>
          </p:nvPr>
        </p:nvSpPr>
        <p:spPr>
          <a:xfrm>
            <a:off x="10558300" y="5956137"/>
            <a:ext cx="1052508" cy="365125"/>
          </a:xfrm>
        </p:spPr>
        <p:txBody>
          <a:bodyPr/>
          <a:lstStyle/>
          <a:p>
            <a:fld id="{5E3E23BA-6E79-2442-BA73-D218A5E297C3}" type="slidenum">
              <a:rPr lang="en-US" sz="2000" b="1" smtClean="0">
                <a:latin typeface="Gill Sans MT (Títulos)"/>
              </a:rPr>
              <a:t>10</a:t>
            </a:fld>
            <a:endParaRPr lang="en-US" sz="2000" b="1" dirty="0">
              <a:latin typeface="Gill Sans MT (Títulos)"/>
            </a:endParaRPr>
          </a:p>
        </p:txBody>
      </p:sp>
    </p:spTree>
    <p:extLst>
      <p:ext uri="{BB962C8B-B14F-4D97-AF65-F5344CB8AC3E}">
        <p14:creationId xmlns:p14="http://schemas.microsoft.com/office/powerpoint/2010/main" val="7493164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5" name="Straight Connector 15">
            <a:extLst>
              <a:ext uri="{FF2B5EF4-FFF2-40B4-BE49-F238E27FC236}">
                <a16:creationId xmlns:a16="http://schemas.microsoft.com/office/drawing/2014/main" id="{740A7954-65D4-5498-B205-1AD739E5359B}"/>
              </a:ext>
            </a:extLst>
          </p:cNvPr>
          <p:cNvCxnSpPr/>
          <p:nvPr/>
        </p:nvCxnSpPr>
        <p:spPr>
          <a:xfrm>
            <a:off x="8073898" y="5787603"/>
            <a:ext cx="2315873" cy="1"/>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6" name="Straight Arrow Connector 16">
            <a:extLst>
              <a:ext uri="{FF2B5EF4-FFF2-40B4-BE49-F238E27FC236}">
                <a16:creationId xmlns:a16="http://schemas.microsoft.com/office/drawing/2014/main" id="{7B321424-5AD4-F7EF-DE80-14AB2027FAAD}"/>
              </a:ext>
            </a:extLst>
          </p:cNvPr>
          <p:cNvCxnSpPr>
            <a:cxnSpLocks/>
            <a:endCxn id="52" idx="2"/>
          </p:cNvCxnSpPr>
          <p:nvPr/>
        </p:nvCxnSpPr>
        <p:spPr>
          <a:xfrm flipV="1">
            <a:off x="10389770" y="4338716"/>
            <a:ext cx="0" cy="1448888"/>
          </a:xfrm>
          <a:prstGeom prst="straightConnector1">
            <a:avLst/>
          </a:prstGeom>
          <a:ln w="57150">
            <a:solidFill>
              <a:schemeClr val="accent3"/>
            </a:solidFill>
            <a:tailEnd type="arrow"/>
          </a:ln>
        </p:spPr>
        <p:style>
          <a:lnRef idx="2">
            <a:schemeClr val="accent1"/>
          </a:lnRef>
          <a:fillRef idx="0">
            <a:schemeClr val="accent1"/>
          </a:fillRef>
          <a:effectRef idx="1">
            <a:schemeClr val="accent1"/>
          </a:effectRef>
          <a:fontRef idx="minor">
            <a:schemeClr val="tx1"/>
          </a:fontRef>
        </p:style>
      </p:cxnSp>
      <p:sp>
        <p:nvSpPr>
          <p:cNvPr id="47" name="Rectangle 17">
            <a:extLst>
              <a:ext uri="{FF2B5EF4-FFF2-40B4-BE49-F238E27FC236}">
                <a16:creationId xmlns:a16="http://schemas.microsoft.com/office/drawing/2014/main" id="{A7DCF05D-E0B0-040B-0783-2D32FED9361B}"/>
              </a:ext>
            </a:extLst>
          </p:cNvPr>
          <p:cNvSpPr>
            <a:spLocks/>
          </p:cNvSpPr>
          <p:nvPr/>
        </p:nvSpPr>
        <p:spPr bwMode="auto">
          <a:xfrm>
            <a:off x="8398296" y="5879935"/>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a:t>
            </a:r>
          </a:p>
        </p:txBody>
      </p:sp>
      <p:sp>
        <p:nvSpPr>
          <p:cNvPr id="48" name="Rectangle 18">
            <a:extLst>
              <a:ext uri="{FF2B5EF4-FFF2-40B4-BE49-F238E27FC236}">
                <a16:creationId xmlns:a16="http://schemas.microsoft.com/office/drawing/2014/main" id="{76FAB677-279F-EC9D-6114-7D4ABE5437EA}"/>
              </a:ext>
            </a:extLst>
          </p:cNvPr>
          <p:cNvSpPr>
            <a:spLocks/>
          </p:cNvSpPr>
          <p:nvPr/>
        </p:nvSpPr>
        <p:spPr bwMode="auto">
          <a:xfrm>
            <a:off x="8989035" y="5879935"/>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2</a:t>
            </a:r>
          </a:p>
        </p:txBody>
      </p:sp>
      <p:sp>
        <p:nvSpPr>
          <p:cNvPr id="49" name="Rectangle 19">
            <a:extLst>
              <a:ext uri="{FF2B5EF4-FFF2-40B4-BE49-F238E27FC236}">
                <a16:creationId xmlns:a16="http://schemas.microsoft.com/office/drawing/2014/main" id="{D09703AB-592C-6B4B-7DE8-15F1F6DB8BCC}"/>
              </a:ext>
            </a:extLst>
          </p:cNvPr>
          <p:cNvSpPr>
            <a:spLocks/>
          </p:cNvSpPr>
          <p:nvPr/>
        </p:nvSpPr>
        <p:spPr bwMode="auto">
          <a:xfrm>
            <a:off x="9602251" y="5740004"/>
            <a:ext cx="337060" cy="61555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a:t>
            </a:r>
          </a:p>
        </p:txBody>
      </p:sp>
      <p:sp>
        <p:nvSpPr>
          <p:cNvPr id="50" name="Rectangle 20">
            <a:extLst>
              <a:ext uri="{FF2B5EF4-FFF2-40B4-BE49-F238E27FC236}">
                <a16:creationId xmlns:a16="http://schemas.microsoft.com/office/drawing/2014/main" id="{2A5523AE-6903-98CA-B5E0-65A5A31961C7}"/>
              </a:ext>
            </a:extLst>
          </p:cNvPr>
          <p:cNvSpPr>
            <a:spLocks/>
          </p:cNvSpPr>
          <p:nvPr/>
        </p:nvSpPr>
        <p:spPr bwMode="auto">
          <a:xfrm>
            <a:off x="7905367" y="5893892"/>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0</a:t>
            </a:r>
          </a:p>
        </p:txBody>
      </p:sp>
      <p:sp>
        <p:nvSpPr>
          <p:cNvPr id="51" name="Rectangle 21">
            <a:extLst>
              <a:ext uri="{FF2B5EF4-FFF2-40B4-BE49-F238E27FC236}">
                <a16:creationId xmlns:a16="http://schemas.microsoft.com/office/drawing/2014/main" id="{87F099AF-835D-5393-02A0-9C6805792D30}"/>
              </a:ext>
            </a:extLst>
          </p:cNvPr>
          <p:cNvSpPr>
            <a:spLocks/>
          </p:cNvSpPr>
          <p:nvPr/>
        </p:nvSpPr>
        <p:spPr bwMode="auto">
          <a:xfrm>
            <a:off x="10221240" y="5893892"/>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N</a:t>
            </a:r>
          </a:p>
        </p:txBody>
      </p:sp>
      <p:sp>
        <p:nvSpPr>
          <p:cNvPr id="52" name="Rectangle 26">
            <a:extLst>
              <a:ext uri="{FF2B5EF4-FFF2-40B4-BE49-F238E27FC236}">
                <a16:creationId xmlns:a16="http://schemas.microsoft.com/office/drawing/2014/main" id="{3AA37E0E-1541-E883-039C-A57983D1F146}"/>
              </a:ext>
            </a:extLst>
          </p:cNvPr>
          <p:cNvSpPr>
            <a:spLocks/>
          </p:cNvSpPr>
          <p:nvPr/>
        </p:nvSpPr>
        <p:spPr bwMode="auto">
          <a:xfrm>
            <a:off x="10221240" y="4030939"/>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VF</a:t>
            </a:r>
          </a:p>
        </p:txBody>
      </p:sp>
      <p:sp>
        <p:nvSpPr>
          <p:cNvPr id="53" name="Right Arrow 23">
            <a:extLst>
              <a:ext uri="{FF2B5EF4-FFF2-40B4-BE49-F238E27FC236}">
                <a16:creationId xmlns:a16="http://schemas.microsoft.com/office/drawing/2014/main" id="{E9CB0CC1-28D6-91EA-E7DF-75FD2309DF2B}"/>
              </a:ext>
            </a:extLst>
          </p:cNvPr>
          <p:cNvSpPr/>
          <p:nvPr/>
        </p:nvSpPr>
        <p:spPr>
          <a:xfrm>
            <a:off x="6342301" y="4550302"/>
            <a:ext cx="1046624" cy="518421"/>
          </a:xfrm>
          <a:prstGeom prst="rightArrow">
            <a:avLst/>
          </a:prstGeom>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63" name="Picture 62">
            <a:extLst>
              <a:ext uri="{FF2B5EF4-FFF2-40B4-BE49-F238E27FC236}">
                <a16:creationId xmlns:a16="http://schemas.microsoft.com/office/drawing/2014/main" id="{D58CB934-2756-460B-88FA-87695CF5A6F4}"/>
              </a:ext>
            </a:extLst>
          </p:cNvPr>
          <p:cNvPicPr>
            <a:picLocks noChangeAspect="1"/>
          </p:cNvPicPr>
          <p:nvPr/>
        </p:nvPicPr>
        <p:blipFill>
          <a:blip r:embed="rId3"/>
          <a:stretch>
            <a:fillRect/>
          </a:stretch>
        </p:blipFill>
        <p:spPr>
          <a:xfrm>
            <a:off x="384267" y="3939007"/>
            <a:ext cx="5789504" cy="2216837"/>
          </a:xfrm>
          <a:prstGeom prst="rect">
            <a:avLst/>
          </a:prstGeom>
        </p:spPr>
      </p:pic>
      <p:sp>
        <p:nvSpPr>
          <p:cNvPr id="3" name="Title 1">
            <a:extLst>
              <a:ext uri="{FF2B5EF4-FFF2-40B4-BE49-F238E27FC236}">
                <a16:creationId xmlns:a16="http://schemas.microsoft.com/office/drawing/2014/main" id="{F28AC5A7-90A2-5961-979D-A6FC2A683687}"/>
              </a:ext>
            </a:extLst>
          </p:cNvPr>
          <p:cNvSpPr>
            <a:spLocks noGrp="1"/>
          </p:cNvSpPr>
          <p:nvPr>
            <p:ph type="title"/>
          </p:nvPr>
        </p:nvSpPr>
        <p:spPr>
          <a:xfrm>
            <a:off x="581192" y="702156"/>
            <a:ext cx="11029616" cy="1013800"/>
          </a:xfrm>
        </p:spPr>
        <p:txBody>
          <a:bodyPr>
            <a:normAutofit/>
          </a:bodyPr>
          <a:lstStyle/>
          <a:p>
            <a:r>
              <a:rPr lang="es-ES_tradnl" sz="3200" dirty="0">
                <a:latin typeface="Gill Sans MT (titulo)"/>
              </a:rPr>
              <a:t>Gradientes aritméticos</a:t>
            </a:r>
          </a:p>
        </p:txBody>
      </p:sp>
      <p:sp>
        <p:nvSpPr>
          <p:cNvPr id="5" name="Rectángulo 4">
            <a:extLst>
              <a:ext uri="{FF2B5EF4-FFF2-40B4-BE49-F238E27FC236}">
                <a16:creationId xmlns:a16="http://schemas.microsoft.com/office/drawing/2014/main" id="{3681FA2E-02AF-FFBC-B523-7D7472B2ADD8}"/>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6" name="Picture 2" descr="Clientes y aliados | Centro de Evaluación | Uniandes">
            <a:extLst>
              <a:ext uri="{FF2B5EF4-FFF2-40B4-BE49-F238E27FC236}">
                <a16:creationId xmlns:a16="http://schemas.microsoft.com/office/drawing/2014/main" id="{74B092DF-95C0-1F43-92BB-B0C074C5648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79DFFC22-B86E-362A-462D-AA03861EE644}"/>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10" name="Content Placeholder 2">
            <a:extLst>
              <a:ext uri="{FF2B5EF4-FFF2-40B4-BE49-F238E27FC236}">
                <a16:creationId xmlns:a16="http://schemas.microsoft.com/office/drawing/2014/main" id="{D16E8211-28AD-62FE-7C25-89B006E8F8AD}"/>
              </a:ext>
            </a:extLst>
          </p:cNvPr>
          <p:cNvSpPr txBox="1">
            <a:spLocks/>
          </p:cNvSpPr>
          <p:nvPr/>
        </p:nvSpPr>
        <p:spPr>
          <a:xfrm>
            <a:off x="581192" y="2014988"/>
            <a:ext cx="11029616" cy="1642608"/>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lgn="ctr">
              <a:buFont typeface="Wingdings 2" panose="05020102010507070707" pitchFamily="18" charset="2"/>
              <a:buNone/>
            </a:pPr>
            <a:r>
              <a:rPr lang="es-ES_tradnl" sz="2400" dirty="0">
                <a:solidFill>
                  <a:srgbClr val="800000"/>
                </a:solidFill>
              </a:rPr>
              <a:t>¿Cuál es el valor futuro equivalente a una serie de flujos que crecen en un gradiente G?</a:t>
            </a:r>
          </a:p>
          <a:p>
            <a:pPr marL="0" indent="0" algn="ctr">
              <a:buFont typeface="Wingdings 2" panose="05020102010507070707" pitchFamily="18" charset="2"/>
              <a:buNone/>
            </a:pPr>
            <a:endParaRPr lang="es-ES_tradnl" sz="2400" dirty="0">
              <a:solidFill>
                <a:srgbClr val="800000"/>
              </a:solidFill>
            </a:endParaRPr>
          </a:p>
          <a:p>
            <a:pPr marL="0" indent="0" algn="just">
              <a:buFont typeface="Wingdings 2" panose="05020102010507070707" pitchFamily="18" charset="2"/>
              <a:buNone/>
            </a:pPr>
            <a:r>
              <a:rPr lang="es-ES_tradnl" sz="2400" dirty="0"/>
              <a:t>La primera aproximación no es más que utilizar las fórmulas vistas hasta ahora.</a:t>
            </a:r>
          </a:p>
        </p:txBody>
      </p:sp>
      <p:sp>
        <p:nvSpPr>
          <p:cNvPr id="2" name="Slide Number Placeholder 3">
            <a:extLst>
              <a:ext uri="{FF2B5EF4-FFF2-40B4-BE49-F238E27FC236}">
                <a16:creationId xmlns:a16="http://schemas.microsoft.com/office/drawing/2014/main" id="{E8528280-E567-8380-39CF-D621081E8ED0}"/>
              </a:ext>
            </a:extLst>
          </p:cNvPr>
          <p:cNvSpPr>
            <a:spLocks noGrp="1"/>
          </p:cNvSpPr>
          <p:nvPr>
            <p:ph type="sldNum" sz="quarter" idx="12"/>
          </p:nvPr>
        </p:nvSpPr>
        <p:spPr>
          <a:xfrm>
            <a:off x="10558300" y="5956137"/>
            <a:ext cx="1052508" cy="365125"/>
          </a:xfrm>
        </p:spPr>
        <p:txBody>
          <a:bodyPr/>
          <a:lstStyle/>
          <a:p>
            <a:fld id="{5E3E23BA-6E79-2442-BA73-D218A5E297C3}" type="slidenum">
              <a:rPr lang="en-US" sz="2000" b="1" smtClean="0">
                <a:latin typeface="Gill Sans MT (Títulos)"/>
              </a:rPr>
              <a:t>11</a:t>
            </a:fld>
            <a:endParaRPr lang="en-US" sz="2000" b="1" dirty="0">
              <a:latin typeface="Gill Sans MT (Títulos)"/>
            </a:endParaRPr>
          </a:p>
        </p:txBody>
      </p:sp>
    </p:spTree>
    <p:extLst>
      <p:ext uri="{BB962C8B-B14F-4D97-AF65-F5344CB8AC3E}">
        <p14:creationId xmlns:p14="http://schemas.microsoft.com/office/powerpoint/2010/main" val="28439249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P spid="48" grpId="0"/>
      <p:bldP spid="49" grpId="0"/>
      <p:bldP spid="50" grpId="0"/>
      <p:bldP spid="51" grpId="0"/>
      <p:bldP spid="5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8C2994ED-E351-A9DF-2227-F27849DCA8F0}"/>
              </a:ext>
            </a:extLst>
          </p:cNvPr>
          <p:cNvSpPr>
            <a:spLocks noGrp="1"/>
          </p:cNvSpPr>
          <p:nvPr>
            <p:ph type="title"/>
          </p:nvPr>
        </p:nvSpPr>
        <p:spPr>
          <a:xfrm>
            <a:off x="581192" y="702156"/>
            <a:ext cx="11029616" cy="1013800"/>
          </a:xfrm>
        </p:spPr>
        <p:txBody>
          <a:bodyPr>
            <a:normAutofit/>
          </a:bodyPr>
          <a:lstStyle/>
          <a:p>
            <a:r>
              <a:rPr lang="es-ES_tradnl" sz="3200" dirty="0">
                <a:latin typeface="Gill Sans MT (titulo)"/>
              </a:rPr>
              <a:t>Gradientes aritméticos</a:t>
            </a:r>
          </a:p>
        </p:txBody>
      </p:sp>
      <p:sp>
        <p:nvSpPr>
          <p:cNvPr id="7" name="Rectángulo 6">
            <a:extLst>
              <a:ext uri="{FF2B5EF4-FFF2-40B4-BE49-F238E27FC236}">
                <a16:creationId xmlns:a16="http://schemas.microsoft.com/office/drawing/2014/main" id="{5B921D91-46AB-4B99-C7E7-2EA49D58EF15}"/>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9" name="Picture 2" descr="Clientes y aliados | Centro de Evaluación | Uniandes">
            <a:extLst>
              <a:ext uri="{FF2B5EF4-FFF2-40B4-BE49-F238E27FC236}">
                <a16:creationId xmlns:a16="http://schemas.microsoft.com/office/drawing/2014/main" id="{327339F9-5DA3-FD65-A000-7109676542D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0" name="Rectángulo 9">
            <a:extLst>
              <a:ext uri="{FF2B5EF4-FFF2-40B4-BE49-F238E27FC236}">
                <a16:creationId xmlns:a16="http://schemas.microsoft.com/office/drawing/2014/main" id="{BB4F06F0-4528-735D-7BD1-50A2ED4386B2}"/>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11" name="Content Placeholder 2">
            <a:extLst>
              <a:ext uri="{FF2B5EF4-FFF2-40B4-BE49-F238E27FC236}">
                <a16:creationId xmlns:a16="http://schemas.microsoft.com/office/drawing/2014/main" id="{08BA28BD-8DC6-2C34-B311-7F21688CD877}"/>
              </a:ext>
            </a:extLst>
          </p:cNvPr>
          <p:cNvSpPr>
            <a:spLocks noGrp="1"/>
          </p:cNvSpPr>
          <p:nvPr>
            <p:ph idx="1"/>
          </p:nvPr>
        </p:nvSpPr>
        <p:spPr>
          <a:xfrm>
            <a:off x="581192" y="2156506"/>
            <a:ext cx="11029616" cy="1642608"/>
          </a:xfrm>
        </p:spPr>
        <p:txBody>
          <a:bodyPr>
            <a:normAutofit/>
          </a:bodyPr>
          <a:lstStyle/>
          <a:p>
            <a:pPr marL="0" indent="0" algn="ctr">
              <a:buNone/>
            </a:pPr>
            <a:r>
              <a:rPr lang="es-ES_tradnl" sz="2400" dirty="0">
                <a:solidFill>
                  <a:srgbClr val="800000"/>
                </a:solidFill>
              </a:rPr>
              <a:t>¿Cuál es el valor futuro equivalente a una serie de flujos que crecen en un gradiente G?</a:t>
            </a:r>
          </a:p>
        </p:txBody>
      </p:sp>
      <p:sp>
        <p:nvSpPr>
          <p:cNvPr id="2" name="Slide Number Placeholder 3">
            <a:extLst>
              <a:ext uri="{FF2B5EF4-FFF2-40B4-BE49-F238E27FC236}">
                <a16:creationId xmlns:a16="http://schemas.microsoft.com/office/drawing/2014/main" id="{D93F69E9-CB81-1567-6A54-6234E15BA97C}"/>
              </a:ext>
            </a:extLst>
          </p:cNvPr>
          <p:cNvSpPr>
            <a:spLocks noGrp="1"/>
          </p:cNvSpPr>
          <p:nvPr>
            <p:ph type="sldNum" sz="quarter" idx="12"/>
          </p:nvPr>
        </p:nvSpPr>
        <p:spPr>
          <a:xfrm>
            <a:off x="10558300" y="5956137"/>
            <a:ext cx="1052508" cy="365125"/>
          </a:xfrm>
        </p:spPr>
        <p:txBody>
          <a:bodyPr/>
          <a:lstStyle/>
          <a:p>
            <a:fld id="{5E3E23BA-6E79-2442-BA73-D218A5E297C3}" type="slidenum">
              <a:rPr lang="en-US" sz="2000" b="1" smtClean="0">
                <a:latin typeface="Gill Sans MT (Títulos)"/>
              </a:rPr>
              <a:t>12</a:t>
            </a:fld>
            <a:endParaRPr lang="en-US" sz="2000" b="1" dirty="0">
              <a:latin typeface="Gill Sans MT (Títulos)"/>
            </a:endParaRPr>
          </a:p>
        </p:txBody>
      </p:sp>
      <mc:AlternateContent xmlns:mc="http://schemas.openxmlformats.org/markup-compatibility/2006" xmlns:a14="http://schemas.microsoft.com/office/drawing/2010/main">
        <mc:Choice Requires="a14">
          <p:sp>
            <p:nvSpPr>
              <p:cNvPr id="4" name="CuadroTexto 5">
                <a:extLst>
                  <a:ext uri="{FF2B5EF4-FFF2-40B4-BE49-F238E27FC236}">
                    <a16:creationId xmlns:a16="http://schemas.microsoft.com/office/drawing/2014/main" id="{EA055E01-72DF-928A-5641-0CA91D91832D}"/>
                  </a:ext>
                </a:extLst>
              </p:cNvPr>
              <p:cNvSpPr txBox="1"/>
              <p:nvPr/>
            </p:nvSpPr>
            <p:spPr>
              <a:xfrm>
                <a:off x="3740518" y="3799114"/>
                <a:ext cx="4226222" cy="795282"/>
              </a:xfrm>
              <a:prstGeom prst="rect">
                <a:avLst/>
              </a:prstGeom>
              <a:ln w="38100">
                <a:solidFill>
                  <a:srgbClr val="FF0000"/>
                </a:solidFill>
              </a:ln>
            </p:spPr>
            <p:style>
              <a:lnRef idx="2">
                <a:schemeClr val="accent2"/>
              </a:lnRef>
              <a:fillRef idx="1">
                <a:schemeClr val="lt1"/>
              </a:fillRef>
              <a:effectRef idx="0">
                <a:schemeClr val="accent2"/>
              </a:effectRef>
              <a:fontRef idx="minor">
                <a:schemeClr val="dk1"/>
              </a:fontRef>
            </p:style>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CO" sz="2300" i="1">
                          <a:latin typeface="Cambria Math" panose="02040503050406030204" pitchFamily="18" charset="0"/>
                        </a:rPr>
                        <m:t>𝑉𝑓</m:t>
                      </m:r>
                      <m:r>
                        <a:rPr lang="es-CO" sz="2300" i="1">
                          <a:latin typeface="Cambria Math" panose="02040503050406030204" pitchFamily="18" charset="0"/>
                        </a:rPr>
                        <m:t>=</m:t>
                      </m:r>
                      <m:r>
                        <a:rPr lang="es-CO" sz="2300" i="1">
                          <a:latin typeface="Cambria Math" panose="02040503050406030204" pitchFamily="18" charset="0"/>
                        </a:rPr>
                        <m:t>𝐺</m:t>
                      </m:r>
                      <m:d>
                        <m:dPr>
                          <m:begChr m:val="["/>
                          <m:endChr m:val="]"/>
                          <m:ctrlPr>
                            <a:rPr lang="es-CO" sz="2300" i="1">
                              <a:latin typeface="Cambria Math" panose="02040503050406030204" pitchFamily="18" charset="0"/>
                            </a:rPr>
                          </m:ctrlPr>
                        </m:dPr>
                        <m:e>
                          <m:d>
                            <m:dPr>
                              <m:ctrlPr>
                                <a:rPr lang="es-CO" sz="2300" i="1">
                                  <a:latin typeface="Cambria Math" panose="02040503050406030204" pitchFamily="18" charset="0"/>
                                </a:rPr>
                              </m:ctrlPr>
                            </m:dPr>
                            <m:e>
                              <m:f>
                                <m:fPr>
                                  <m:ctrlPr>
                                    <a:rPr lang="es-ES" sz="2300" i="1">
                                      <a:latin typeface="Cambria Math" panose="02040503050406030204" pitchFamily="18" charset="0"/>
                                    </a:rPr>
                                  </m:ctrlPr>
                                </m:fPr>
                                <m:num>
                                  <m:r>
                                    <a:rPr lang="es-ES" sz="2300" i="1">
                                      <a:latin typeface="Cambria Math" panose="02040503050406030204" pitchFamily="18" charset="0"/>
                                    </a:rPr>
                                    <m:t>1</m:t>
                                  </m:r>
                                </m:num>
                                <m:den>
                                  <m:r>
                                    <a:rPr lang="es-ES" sz="2300" i="1">
                                      <a:latin typeface="Cambria Math" panose="02040503050406030204" pitchFamily="18" charset="0"/>
                                    </a:rPr>
                                    <m:t>𝑖</m:t>
                                  </m:r>
                                </m:den>
                              </m:f>
                            </m:e>
                          </m:d>
                          <m:d>
                            <m:dPr>
                              <m:ctrlPr>
                                <a:rPr lang="es-CO" sz="2300" i="1">
                                  <a:latin typeface="Cambria Math" panose="02040503050406030204" pitchFamily="18" charset="0"/>
                                </a:rPr>
                              </m:ctrlPr>
                            </m:dPr>
                            <m:e>
                              <m:f>
                                <m:fPr>
                                  <m:ctrlPr>
                                    <a:rPr lang="es-ES" sz="2300" i="1">
                                      <a:latin typeface="Cambria Math" panose="02040503050406030204" pitchFamily="18" charset="0"/>
                                    </a:rPr>
                                  </m:ctrlPr>
                                </m:fPr>
                                <m:num>
                                  <m:sSup>
                                    <m:sSupPr>
                                      <m:ctrlPr>
                                        <a:rPr lang="es-ES" sz="2300" i="1">
                                          <a:latin typeface="Cambria Math" panose="02040503050406030204" pitchFamily="18" charset="0"/>
                                        </a:rPr>
                                      </m:ctrlPr>
                                    </m:sSupPr>
                                    <m:e>
                                      <m:d>
                                        <m:dPr>
                                          <m:ctrlPr>
                                            <a:rPr lang="es-ES" sz="2300" i="1">
                                              <a:latin typeface="Cambria Math" panose="02040503050406030204" pitchFamily="18" charset="0"/>
                                            </a:rPr>
                                          </m:ctrlPr>
                                        </m:dPr>
                                        <m:e>
                                          <m:r>
                                            <a:rPr lang="es-ES" sz="2300" i="1">
                                              <a:latin typeface="Cambria Math" panose="02040503050406030204" pitchFamily="18" charset="0"/>
                                            </a:rPr>
                                            <m:t>1+</m:t>
                                          </m:r>
                                          <m:r>
                                            <a:rPr lang="es-ES" sz="2300" i="1">
                                              <a:latin typeface="Cambria Math" panose="02040503050406030204" pitchFamily="18" charset="0"/>
                                            </a:rPr>
                                            <m:t>𝑖</m:t>
                                          </m:r>
                                        </m:e>
                                      </m:d>
                                    </m:e>
                                    <m:sup>
                                      <m:r>
                                        <a:rPr lang="es-ES" sz="2300" i="1">
                                          <a:latin typeface="Cambria Math" panose="02040503050406030204" pitchFamily="18" charset="0"/>
                                        </a:rPr>
                                        <m:t>𝑛</m:t>
                                      </m:r>
                                    </m:sup>
                                  </m:sSup>
                                  <m:r>
                                    <a:rPr lang="es-ES" sz="2300" i="1">
                                      <a:latin typeface="Cambria Math" panose="02040503050406030204" pitchFamily="18" charset="0"/>
                                    </a:rPr>
                                    <m:t>−1</m:t>
                                  </m:r>
                                </m:num>
                                <m:den>
                                  <m:r>
                                    <a:rPr lang="es-ES" sz="2300" i="1">
                                      <a:latin typeface="Cambria Math" panose="02040503050406030204" pitchFamily="18" charset="0"/>
                                    </a:rPr>
                                    <m:t>𝑖</m:t>
                                  </m:r>
                                </m:den>
                              </m:f>
                              <m:r>
                                <a:rPr lang="es-ES" sz="2300" i="1">
                                  <a:latin typeface="Cambria Math" panose="02040503050406030204" pitchFamily="18" charset="0"/>
                                </a:rPr>
                                <m:t>−</m:t>
                              </m:r>
                              <m:r>
                                <a:rPr lang="es-ES" sz="2300" i="1">
                                  <a:latin typeface="Cambria Math" panose="02040503050406030204" pitchFamily="18" charset="0"/>
                                </a:rPr>
                                <m:t>𝑛</m:t>
                              </m:r>
                            </m:e>
                          </m:d>
                        </m:e>
                      </m:d>
                    </m:oMath>
                  </m:oMathPara>
                </a14:m>
                <a:endParaRPr lang="es-CO" sz="2300" dirty="0"/>
              </a:p>
            </p:txBody>
          </p:sp>
        </mc:Choice>
        <mc:Fallback xmlns="">
          <p:sp>
            <p:nvSpPr>
              <p:cNvPr id="4" name="CuadroTexto 5">
                <a:extLst>
                  <a:ext uri="{FF2B5EF4-FFF2-40B4-BE49-F238E27FC236}">
                    <a16:creationId xmlns:a16="http://schemas.microsoft.com/office/drawing/2014/main" id="{EA055E01-72DF-928A-5641-0CA91D91832D}"/>
                  </a:ext>
                </a:extLst>
              </p:cNvPr>
              <p:cNvSpPr txBox="1">
                <a:spLocks noRot="1" noChangeAspect="1" noMove="1" noResize="1" noEditPoints="1" noAdjustHandles="1" noChangeArrowheads="1" noChangeShapeType="1" noTextEdit="1"/>
              </p:cNvSpPr>
              <p:nvPr/>
            </p:nvSpPr>
            <p:spPr>
              <a:xfrm>
                <a:off x="3740518" y="3799114"/>
                <a:ext cx="4226222" cy="795282"/>
              </a:xfrm>
              <a:prstGeom prst="rect">
                <a:avLst/>
              </a:prstGeom>
              <a:blipFill>
                <a:blip r:embed="rId4"/>
                <a:stretch>
                  <a:fillRect l="-1190"/>
                </a:stretch>
              </a:blipFill>
              <a:ln w="38100">
                <a:solidFill>
                  <a:srgbClr val="FF0000"/>
                </a:solidFill>
              </a:ln>
            </p:spPr>
            <p:txBody>
              <a:bodyPr/>
              <a:lstStyle/>
              <a:p>
                <a:r>
                  <a:rPr lang="es-ES_tradnl">
                    <a:noFill/>
                  </a:rPr>
                  <a:t> </a:t>
                </a:r>
              </a:p>
            </p:txBody>
          </p:sp>
        </mc:Fallback>
      </mc:AlternateContent>
    </p:spTree>
    <p:extLst>
      <p:ext uri="{BB962C8B-B14F-4D97-AF65-F5344CB8AC3E}">
        <p14:creationId xmlns:p14="http://schemas.microsoft.com/office/powerpoint/2010/main" val="41343043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1" name="Content Placeholder 2"/>
          <p:cNvSpPr>
            <a:spLocks noGrp="1"/>
          </p:cNvSpPr>
          <p:nvPr>
            <p:ph idx="1"/>
          </p:nvPr>
        </p:nvSpPr>
        <p:spPr>
          <a:xfrm>
            <a:off x="581191" y="3285195"/>
            <a:ext cx="11029615" cy="855955"/>
          </a:xfrm>
        </p:spPr>
        <p:txBody>
          <a:bodyPr>
            <a:normAutofit/>
          </a:bodyPr>
          <a:lstStyle/>
          <a:p>
            <a:pPr marL="0" indent="0" algn="ctr">
              <a:buNone/>
            </a:pPr>
            <a:r>
              <a:rPr lang="es-ES_tradnl" sz="2400" dirty="0"/>
              <a:t>Podemos manipular algebraicamente las dos anteriores ecuaciones y demostrar que, si restamos 2 – 1, se obtiene:</a:t>
            </a:r>
          </a:p>
        </p:txBody>
      </p:sp>
      <p:sp>
        <p:nvSpPr>
          <p:cNvPr id="9" name="TextBox 8"/>
          <p:cNvSpPr txBox="1"/>
          <p:nvPr/>
        </p:nvSpPr>
        <p:spPr>
          <a:xfrm>
            <a:off x="1335058" y="1915625"/>
            <a:ext cx="524585" cy="1200329"/>
          </a:xfrm>
          <a:prstGeom prst="rect">
            <a:avLst/>
          </a:prstGeom>
          <a:noFill/>
        </p:spPr>
        <p:txBody>
          <a:bodyPr wrap="square" rtlCol="0">
            <a:spAutoFit/>
          </a:bodyPr>
          <a:lstStyle/>
          <a:p>
            <a:pPr algn="ctr"/>
            <a:r>
              <a:rPr lang="en-US"/>
              <a:t>1.</a:t>
            </a:r>
          </a:p>
          <a:p>
            <a:pPr algn="ctr"/>
            <a:endParaRPr lang="en-US"/>
          </a:p>
          <a:p>
            <a:pPr algn="ctr"/>
            <a:endParaRPr lang="en-US"/>
          </a:p>
          <a:p>
            <a:pPr algn="ctr"/>
            <a:r>
              <a:rPr lang="en-US"/>
              <a:t>2.</a:t>
            </a:r>
          </a:p>
        </p:txBody>
      </p:sp>
      <mc:AlternateContent xmlns:mc="http://schemas.openxmlformats.org/markup-compatibility/2006" xmlns:a14="http://schemas.microsoft.com/office/drawing/2010/main">
        <mc:Choice Requires="a14">
          <p:sp>
            <p:nvSpPr>
              <p:cNvPr id="7" name="CuadroTexto 6">
                <a:extLst>
                  <a:ext uri="{FF2B5EF4-FFF2-40B4-BE49-F238E27FC236}">
                    <a16:creationId xmlns:a16="http://schemas.microsoft.com/office/drawing/2014/main" id="{090A64C3-6708-CEC0-F2D6-9F376E542E31}"/>
                  </a:ext>
                </a:extLst>
              </p:cNvPr>
              <p:cNvSpPr txBox="1"/>
              <p:nvPr/>
            </p:nvSpPr>
            <p:spPr>
              <a:xfrm>
                <a:off x="1827306" y="1945736"/>
                <a:ext cx="8680261" cy="353943"/>
              </a:xfrm>
              <a:prstGeom prst="rect">
                <a:avLst/>
              </a:prstGeom>
              <a:noFill/>
            </p:spPr>
            <p:txBody>
              <a:bodyPr wrap="none" lIns="0" tIns="0" rIns="0" bIns="0" rtlCol="0">
                <a:spAutoFit/>
              </a:bodyPr>
              <a:lstStyle/>
              <a:p>
                <a14:m>
                  <m:oMath xmlns:m="http://schemas.openxmlformats.org/officeDocument/2006/math">
                    <m:r>
                      <a:rPr lang="es-CO" sz="2300" i="1">
                        <a:latin typeface="Cambria Math" panose="02040503050406030204" pitchFamily="18" charset="0"/>
                      </a:rPr>
                      <m:t>𝑉𝑓</m:t>
                    </m:r>
                    <m:r>
                      <a:rPr lang="es-CO" sz="2300" i="1">
                        <a:latin typeface="Cambria Math" panose="02040503050406030204" pitchFamily="18" charset="0"/>
                      </a:rPr>
                      <m:t>=0</m:t>
                    </m:r>
                    <m:r>
                      <a:rPr lang="es-CO" sz="2300" i="1">
                        <a:latin typeface="Cambria Math" panose="02040503050406030204" pitchFamily="18" charset="0"/>
                      </a:rPr>
                      <m:t>𝐺</m:t>
                    </m:r>
                    <m:sSup>
                      <m:sSupPr>
                        <m:ctrlPr>
                          <a:rPr lang="es-CO" sz="2300" i="1">
                            <a:latin typeface="Cambria Math" panose="02040503050406030204" pitchFamily="18" charset="0"/>
                          </a:rPr>
                        </m:ctrlPr>
                      </m:sSupPr>
                      <m:e>
                        <m:d>
                          <m:dPr>
                            <m:ctrlPr>
                              <a:rPr lang="es-CO" sz="2300" i="1">
                                <a:latin typeface="Cambria Math" panose="02040503050406030204" pitchFamily="18" charset="0"/>
                              </a:rPr>
                            </m:ctrlPr>
                          </m:dPr>
                          <m:e>
                            <m:r>
                              <a:rPr lang="es-CO" sz="2300" i="1">
                                <a:latin typeface="Cambria Math" panose="02040503050406030204" pitchFamily="18" charset="0"/>
                              </a:rPr>
                              <m:t>1+</m:t>
                            </m:r>
                            <m:r>
                              <a:rPr lang="es-CO" sz="2300" i="1">
                                <a:latin typeface="Cambria Math" panose="02040503050406030204" pitchFamily="18" charset="0"/>
                              </a:rPr>
                              <m:t>𝑖</m:t>
                            </m:r>
                          </m:e>
                        </m:d>
                      </m:e>
                      <m:sup>
                        <m:r>
                          <a:rPr lang="es-CO" sz="2300" i="1">
                            <a:latin typeface="Cambria Math" panose="02040503050406030204" pitchFamily="18" charset="0"/>
                          </a:rPr>
                          <m:t>𝑛</m:t>
                        </m:r>
                        <m:r>
                          <a:rPr lang="es-CO" sz="2300" i="1">
                            <a:latin typeface="Cambria Math" panose="02040503050406030204" pitchFamily="18" charset="0"/>
                          </a:rPr>
                          <m:t>−1</m:t>
                        </m:r>
                      </m:sup>
                    </m:sSup>
                    <m:r>
                      <a:rPr lang="es-CO" sz="2300" i="1">
                        <a:latin typeface="Cambria Math" panose="02040503050406030204" pitchFamily="18" charset="0"/>
                      </a:rPr>
                      <m:t>+</m:t>
                    </m:r>
                    <m:r>
                      <a:rPr lang="es-CO" sz="2300" i="1">
                        <a:latin typeface="Cambria Math" panose="02040503050406030204" pitchFamily="18" charset="0"/>
                      </a:rPr>
                      <m:t>𝐺</m:t>
                    </m:r>
                    <m:sSup>
                      <m:sSupPr>
                        <m:ctrlPr>
                          <a:rPr lang="es-CO" sz="2300" i="1">
                            <a:latin typeface="Cambria Math" panose="02040503050406030204" pitchFamily="18" charset="0"/>
                          </a:rPr>
                        </m:ctrlPr>
                      </m:sSupPr>
                      <m:e>
                        <m:d>
                          <m:dPr>
                            <m:ctrlPr>
                              <a:rPr lang="es-CO" sz="2300" i="1">
                                <a:latin typeface="Cambria Math" panose="02040503050406030204" pitchFamily="18" charset="0"/>
                              </a:rPr>
                            </m:ctrlPr>
                          </m:dPr>
                          <m:e>
                            <m:r>
                              <a:rPr lang="es-CO" sz="2300" i="1">
                                <a:latin typeface="Cambria Math" panose="02040503050406030204" pitchFamily="18" charset="0"/>
                              </a:rPr>
                              <m:t>1+</m:t>
                            </m:r>
                            <m:r>
                              <a:rPr lang="es-CO" sz="2300" i="1">
                                <a:latin typeface="Cambria Math" panose="02040503050406030204" pitchFamily="18" charset="0"/>
                              </a:rPr>
                              <m:t>𝑖</m:t>
                            </m:r>
                          </m:e>
                        </m:d>
                      </m:e>
                      <m:sup>
                        <m:r>
                          <a:rPr lang="es-CO" sz="2300" i="1">
                            <a:latin typeface="Cambria Math" panose="02040503050406030204" pitchFamily="18" charset="0"/>
                          </a:rPr>
                          <m:t>𝑛</m:t>
                        </m:r>
                        <m:r>
                          <a:rPr lang="es-CO" sz="2300" i="1">
                            <a:latin typeface="Cambria Math" panose="02040503050406030204" pitchFamily="18" charset="0"/>
                          </a:rPr>
                          <m:t>−2</m:t>
                        </m:r>
                      </m:sup>
                    </m:sSup>
                    <m:r>
                      <a:rPr lang="es-CO" sz="2300" i="1">
                        <a:latin typeface="Cambria Math" panose="02040503050406030204" pitchFamily="18" charset="0"/>
                      </a:rPr>
                      <m:t>+…+</m:t>
                    </m:r>
                  </m:oMath>
                </a14:m>
                <a:r>
                  <a:rPr lang="es-CO" sz="2300"/>
                  <a:t> </a:t>
                </a:r>
                <a14:m>
                  <m:oMath xmlns:m="http://schemas.openxmlformats.org/officeDocument/2006/math">
                    <m:d>
                      <m:dPr>
                        <m:ctrlPr>
                          <a:rPr lang="es-CO" sz="2300" i="1" dirty="0">
                            <a:latin typeface="Cambria Math" panose="02040503050406030204" pitchFamily="18" charset="0"/>
                          </a:rPr>
                        </m:ctrlPr>
                      </m:dPr>
                      <m:e>
                        <m:r>
                          <a:rPr lang="es-CO" sz="2300" i="1" dirty="0">
                            <a:latin typeface="Cambria Math" panose="02040503050406030204" pitchFamily="18" charset="0"/>
                          </a:rPr>
                          <m:t>𝑛</m:t>
                        </m:r>
                        <m:r>
                          <a:rPr lang="es-CO" sz="2300" i="1" dirty="0">
                            <a:latin typeface="Cambria Math" panose="02040503050406030204" pitchFamily="18" charset="0"/>
                          </a:rPr>
                          <m:t>−2</m:t>
                        </m:r>
                      </m:e>
                    </m:d>
                    <m:r>
                      <a:rPr lang="es-CO" sz="2300" i="1">
                        <a:latin typeface="Cambria Math" panose="02040503050406030204" pitchFamily="18" charset="0"/>
                      </a:rPr>
                      <m:t>𝐺</m:t>
                    </m:r>
                    <m:d>
                      <m:dPr>
                        <m:ctrlPr>
                          <a:rPr lang="es-CO" sz="2300" i="1">
                            <a:latin typeface="Cambria Math" panose="02040503050406030204" pitchFamily="18" charset="0"/>
                          </a:rPr>
                        </m:ctrlPr>
                      </m:dPr>
                      <m:e>
                        <m:r>
                          <a:rPr lang="es-CO" sz="2300" i="1">
                            <a:latin typeface="Cambria Math" panose="02040503050406030204" pitchFamily="18" charset="0"/>
                          </a:rPr>
                          <m:t>1+</m:t>
                        </m:r>
                        <m:r>
                          <a:rPr lang="es-CO" sz="2300" i="1">
                            <a:latin typeface="Cambria Math" panose="02040503050406030204" pitchFamily="18" charset="0"/>
                          </a:rPr>
                          <m:t>𝑖</m:t>
                        </m:r>
                      </m:e>
                    </m:d>
                    <m:r>
                      <a:rPr lang="es-CO" sz="2300" i="1">
                        <a:latin typeface="Cambria Math" panose="02040503050406030204" pitchFamily="18" charset="0"/>
                      </a:rPr>
                      <m:t>+</m:t>
                    </m:r>
                    <m:d>
                      <m:dPr>
                        <m:ctrlPr>
                          <a:rPr lang="es-CO" sz="2300" i="1">
                            <a:latin typeface="Cambria Math" panose="02040503050406030204" pitchFamily="18" charset="0"/>
                          </a:rPr>
                        </m:ctrlPr>
                      </m:dPr>
                      <m:e>
                        <m:r>
                          <a:rPr lang="es-CO" sz="2300" i="1">
                            <a:latin typeface="Cambria Math" panose="02040503050406030204" pitchFamily="18" charset="0"/>
                          </a:rPr>
                          <m:t>𝑛</m:t>
                        </m:r>
                        <m:r>
                          <a:rPr lang="es-CO" sz="2300" i="1">
                            <a:latin typeface="Cambria Math" panose="02040503050406030204" pitchFamily="18" charset="0"/>
                          </a:rPr>
                          <m:t>−1</m:t>
                        </m:r>
                      </m:e>
                    </m:d>
                    <m:r>
                      <a:rPr lang="es-CO" sz="2300" i="1">
                        <a:latin typeface="Cambria Math" panose="02040503050406030204" pitchFamily="18" charset="0"/>
                      </a:rPr>
                      <m:t>𝐺</m:t>
                    </m:r>
                  </m:oMath>
                </a14:m>
                <a:endParaRPr lang="es-CO" sz="2300"/>
              </a:p>
            </p:txBody>
          </p:sp>
        </mc:Choice>
        <mc:Fallback xmlns="">
          <p:sp>
            <p:nvSpPr>
              <p:cNvPr id="7" name="CuadroTexto 6">
                <a:extLst>
                  <a:ext uri="{FF2B5EF4-FFF2-40B4-BE49-F238E27FC236}">
                    <a16:creationId xmlns:a16="http://schemas.microsoft.com/office/drawing/2014/main" id="{090A64C3-6708-CEC0-F2D6-9F376E542E31}"/>
                  </a:ext>
                </a:extLst>
              </p:cNvPr>
              <p:cNvSpPr txBox="1">
                <a:spLocks noRot="1" noChangeAspect="1" noMove="1" noResize="1" noEditPoints="1" noAdjustHandles="1" noChangeArrowheads="1" noChangeShapeType="1" noTextEdit="1"/>
              </p:cNvSpPr>
              <p:nvPr/>
            </p:nvSpPr>
            <p:spPr>
              <a:xfrm>
                <a:off x="1827306" y="1945736"/>
                <a:ext cx="8680261" cy="353943"/>
              </a:xfrm>
              <a:prstGeom prst="rect">
                <a:avLst/>
              </a:prstGeom>
              <a:blipFill>
                <a:blip r:embed="rId3"/>
                <a:stretch>
                  <a:fillRect l="-1754" r="-146" b="-39286"/>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8" name="CuadroTexto 7">
                <a:extLst>
                  <a:ext uri="{FF2B5EF4-FFF2-40B4-BE49-F238E27FC236}">
                    <a16:creationId xmlns:a16="http://schemas.microsoft.com/office/drawing/2014/main" id="{ED098E3D-0019-4BED-F333-E19BC3F0838B}"/>
                  </a:ext>
                </a:extLst>
              </p:cNvPr>
              <p:cNvSpPr txBox="1"/>
              <p:nvPr/>
            </p:nvSpPr>
            <p:spPr>
              <a:xfrm>
                <a:off x="1761796" y="2696833"/>
                <a:ext cx="8943730" cy="307777"/>
              </a:xfrm>
              <a:prstGeom prst="rect">
                <a:avLst/>
              </a:prstGeom>
              <a:noFill/>
            </p:spPr>
            <p:txBody>
              <a:bodyPr wrap="none" lIns="0" tIns="0" rIns="0" bIns="0" rtlCol="0">
                <a:spAutoFit/>
              </a:bodyPr>
              <a:lstStyle/>
              <a:p>
                <a14:m>
                  <m:oMath xmlns:m="http://schemas.openxmlformats.org/officeDocument/2006/math">
                    <m:r>
                      <a:rPr lang="es-CO" sz="2000" i="1">
                        <a:latin typeface="Cambria Math" panose="02040503050406030204" pitchFamily="18" charset="0"/>
                      </a:rPr>
                      <m:t>𝑉𝑓</m:t>
                    </m:r>
                    <m:r>
                      <a:rPr lang="es-CO" sz="2000" i="1">
                        <a:latin typeface="Cambria Math" panose="02040503050406030204" pitchFamily="18" charset="0"/>
                      </a:rPr>
                      <m:t>(1+</m:t>
                    </m:r>
                    <m:r>
                      <a:rPr lang="es-CO" sz="2000" i="1">
                        <a:latin typeface="Cambria Math" panose="02040503050406030204" pitchFamily="18" charset="0"/>
                      </a:rPr>
                      <m:t>𝑖</m:t>
                    </m:r>
                    <m:r>
                      <a:rPr lang="es-CO" sz="2000" i="1">
                        <a:latin typeface="Cambria Math" panose="02040503050406030204" pitchFamily="18" charset="0"/>
                      </a:rPr>
                      <m:t>)=0</m:t>
                    </m:r>
                    <m:r>
                      <a:rPr lang="es-CO" sz="2000" i="1">
                        <a:latin typeface="Cambria Math" panose="02040503050406030204" pitchFamily="18" charset="0"/>
                      </a:rPr>
                      <m:t>𝐺</m:t>
                    </m:r>
                    <m:sSup>
                      <m:sSupPr>
                        <m:ctrlPr>
                          <a:rPr lang="es-CO" sz="2000" i="1">
                            <a:latin typeface="Cambria Math" panose="02040503050406030204" pitchFamily="18" charset="0"/>
                          </a:rPr>
                        </m:ctrlPr>
                      </m:sSupPr>
                      <m:e>
                        <m:d>
                          <m:dPr>
                            <m:ctrlPr>
                              <a:rPr lang="es-CO" sz="2000" i="1">
                                <a:latin typeface="Cambria Math" panose="02040503050406030204" pitchFamily="18" charset="0"/>
                              </a:rPr>
                            </m:ctrlPr>
                          </m:dPr>
                          <m:e>
                            <m:r>
                              <a:rPr lang="es-CO" sz="2000" i="1">
                                <a:latin typeface="Cambria Math" panose="02040503050406030204" pitchFamily="18" charset="0"/>
                              </a:rPr>
                              <m:t>1+</m:t>
                            </m:r>
                            <m:r>
                              <a:rPr lang="es-CO" sz="2000" i="1">
                                <a:latin typeface="Cambria Math" panose="02040503050406030204" pitchFamily="18" charset="0"/>
                              </a:rPr>
                              <m:t>𝑖</m:t>
                            </m:r>
                          </m:e>
                        </m:d>
                      </m:e>
                      <m:sup>
                        <m:r>
                          <a:rPr lang="es-CO" sz="2000" i="1">
                            <a:latin typeface="Cambria Math" panose="02040503050406030204" pitchFamily="18" charset="0"/>
                          </a:rPr>
                          <m:t>𝑛</m:t>
                        </m:r>
                      </m:sup>
                    </m:sSup>
                    <m:r>
                      <a:rPr lang="es-CO" sz="2000" i="1">
                        <a:latin typeface="Cambria Math" panose="02040503050406030204" pitchFamily="18" charset="0"/>
                      </a:rPr>
                      <m:t>+</m:t>
                    </m:r>
                    <m:r>
                      <a:rPr lang="es-CO" sz="2000" i="1">
                        <a:latin typeface="Cambria Math" panose="02040503050406030204" pitchFamily="18" charset="0"/>
                      </a:rPr>
                      <m:t>𝐺</m:t>
                    </m:r>
                    <m:sSup>
                      <m:sSupPr>
                        <m:ctrlPr>
                          <a:rPr lang="es-CO" sz="2000" i="1">
                            <a:latin typeface="Cambria Math" panose="02040503050406030204" pitchFamily="18" charset="0"/>
                          </a:rPr>
                        </m:ctrlPr>
                      </m:sSupPr>
                      <m:e>
                        <m:d>
                          <m:dPr>
                            <m:ctrlPr>
                              <a:rPr lang="es-CO" sz="2000" i="1">
                                <a:latin typeface="Cambria Math" panose="02040503050406030204" pitchFamily="18" charset="0"/>
                              </a:rPr>
                            </m:ctrlPr>
                          </m:dPr>
                          <m:e>
                            <m:r>
                              <a:rPr lang="es-CO" sz="2000" i="1">
                                <a:latin typeface="Cambria Math" panose="02040503050406030204" pitchFamily="18" charset="0"/>
                              </a:rPr>
                              <m:t>1+</m:t>
                            </m:r>
                            <m:r>
                              <a:rPr lang="es-CO" sz="2000" i="1">
                                <a:latin typeface="Cambria Math" panose="02040503050406030204" pitchFamily="18" charset="0"/>
                              </a:rPr>
                              <m:t>𝑖</m:t>
                            </m:r>
                          </m:e>
                        </m:d>
                      </m:e>
                      <m:sup>
                        <m:r>
                          <a:rPr lang="es-CO" sz="2000" i="1">
                            <a:latin typeface="Cambria Math" panose="02040503050406030204" pitchFamily="18" charset="0"/>
                          </a:rPr>
                          <m:t>𝑛</m:t>
                        </m:r>
                        <m:r>
                          <a:rPr lang="es-CO" sz="2000" i="1">
                            <a:latin typeface="Cambria Math" panose="02040503050406030204" pitchFamily="18" charset="0"/>
                          </a:rPr>
                          <m:t>−1</m:t>
                        </m:r>
                      </m:sup>
                    </m:sSup>
                    <m:r>
                      <a:rPr lang="es-CO" sz="2000" i="1">
                        <a:latin typeface="Cambria Math" panose="02040503050406030204" pitchFamily="18" charset="0"/>
                      </a:rPr>
                      <m:t>+…+</m:t>
                    </m:r>
                  </m:oMath>
                </a14:m>
                <a:r>
                  <a:rPr lang="es-CO" sz="2000"/>
                  <a:t> </a:t>
                </a:r>
                <a14:m>
                  <m:oMath xmlns:m="http://schemas.openxmlformats.org/officeDocument/2006/math">
                    <m:d>
                      <m:dPr>
                        <m:ctrlPr>
                          <a:rPr lang="es-CO" sz="2000" i="1" dirty="0">
                            <a:latin typeface="Cambria Math" panose="02040503050406030204" pitchFamily="18" charset="0"/>
                          </a:rPr>
                        </m:ctrlPr>
                      </m:dPr>
                      <m:e>
                        <m:r>
                          <a:rPr lang="es-CO" sz="2000" i="1" dirty="0">
                            <a:latin typeface="Cambria Math" panose="02040503050406030204" pitchFamily="18" charset="0"/>
                          </a:rPr>
                          <m:t>𝑛</m:t>
                        </m:r>
                        <m:r>
                          <a:rPr lang="es-CO" sz="2000" i="1" dirty="0">
                            <a:latin typeface="Cambria Math" panose="02040503050406030204" pitchFamily="18" charset="0"/>
                          </a:rPr>
                          <m:t>−2</m:t>
                        </m:r>
                      </m:e>
                    </m:d>
                    <m:r>
                      <a:rPr lang="es-CO" sz="2000" i="1">
                        <a:latin typeface="Cambria Math" panose="02040503050406030204" pitchFamily="18" charset="0"/>
                      </a:rPr>
                      <m:t>𝐺</m:t>
                    </m:r>
                    <m:sSup>
                      <m:sSupPr>
                        <m:ctrlPr>
                          <a:rPr lang="es-CO" sz="2000" i="1">
                            <a:latin typeface="Cambria Math" panose="02040503050406030204" pitchFamily="18" charset="0"/>
                          </a:rPr>
                        </m:ctrlPr>
                      </m:sSupPr>
                      <m:e>
                        <m:d>
                          <m:dPr>
                            <m:ctrlPr>
                              <a:rPr lang="es-CO" sz="2000" i="1">
                                <a:latin typeface="Cambria Math" panose="02040503050406030204" pitchFamily="18" charset="0"/>
                              </a:rPr>
                            </m:ctrlPr>
                          </m:dPr>
                          <m:e>
                            <m:r>
                              <a:rPr lang="es-CO" sz="2000" i="1">
                                <a:latin typeface="Cambria Math" panose="02040503050406030204" pitchFamily="18" charset="0"/>
                              </a:rPr>
                              <m:t>1+</m:t>
                            </m:r>
                            <m:r>
                              <a:rPr lang="es-CO" sz="2000" i="1">
                                <a:latin typeface="Cambria Math" panose="02040503050406030204" pitchFamily="18" charset="0"/>
                              </a:rPr>
                              <m:t>𝑖</m:t>
                            </m:r>
                          </m:e>
                        </m:d>
                      </m:e>
                      <m:sup>
                        <m:r>
                          <a:rPr lang="es-CO" sz="2000" i="1">
                            <a:latin typeface="Cambria Math" panose="02040503050406030204" pitchFamily="18" charset="0"/>
                          </a:rPr>
                          <m:t>2</m:t>
                        </m:r>
                      </m:sup>
                    </m:sSup>
                    <m:r>
                      <a:rPr lang="es-CO" sz="2000" i="1">
                        <a:latin typeface="Cambria Math" panose="02040503050406030204" pitchFamily="18" charset="0"/>
                      </a:rPr>
                      <m:t>+</m:t>
                    </m:r>
                    <m:d>
                      <m:dPr>
                        <m:ctrlPr>
                          <a:rPr lang="es-CO" sz="2000" i="1">
                            <a:latin typeface="Cambria Math" panose="02040503050406030204" pitchFamily="18" charset="0"/>
                          </a:rPr>
                        </m:ctrlPr>
                      </m:dPr>
                      <m:e>
                        <m:r>
                          <a:rPr lang="es-CO" sz="2000" i="1">
                            <a:latin typeface="Cambria Math" panose="02040503050406030204" pitchFamily="18" charset="0"/>
                          </a:rPr>
                          <m:t>𝑛</m:t>
                        </m:r>
                        <m:r>
                          <a:rPr lang="es-CO" sz="2000" i="1">
                            <a:latin typeface="Cambria Math" panose="02040503050406030204" pitchFamily="18" charset="0"/>
                          </a:rPr>
                          <m:t>−1</m:t>
                        </m:r>
                      </m:e>
                    </m:d>
                    <m:r>
                      <a:rPr lang="es-CO" sz="2000" i="1">
                        <a:latin typeface="Cambria Math" panose="02040503050406030204" pitchFamily="18" charset="0"/>
                      </a:rPr>
                      <m:t>𝐺</m:t>
                    </m:r>
                    <m:r>
                      <a:rPr lang="es-CO" sz="2000" i="1">
                        <a:latin typeface="Cambria Math" panose="02040503050406030204" pitchFamily="18" charset="0"/>
                      </a:rPr>
                      <m:t>(1+</m:t>
                    </m:r>
                    <m:r>
                      <a:rPr lang="es-CO" sz="2000" i="1">
                        <a:latin typeface="Cambria Math" panose="02040503050406030204" pitchFamily="18" charset="0"/>
                      </a:rPr>
                      <m:t>𝑖</m:t>
                    </m:r>
                    <m:r>
                      <a:rPr lang="es-CO" sz="2000" i="1">
                        <a:latin typeface="Cambria Math" panose="02040503050406030204" pitchFamily="18" charset="0"/>
                      </a:rPr>
                      <m:t>)</m:t>
                    </m:r>
                  </m:oMath>
                </a14:m>
                <a:endParaRPr lang="es-CO" sz="2000"/>
              </a:p>
            </p:txBody>
          </p:sp>
        </mc:Choice>
        <mc:Fallback xmlns="">
          <p:sp>
            <p:nvSpPr>
              <p:cNvPr id="8" name="CuadroTexto 7">
                <a:extLst>
                  <a:ext uri="{FF2B5EF4-FFF2-40B4-BE49-F238E27FC236}">
                    <a16:creationId xmlns:a16="http://schemas.microsoft.com/office/drawing/2014/main" id="{ED098E3D-0019-4BED-F333-E19BC3F0838B}"/>
                  </a:ext>
                </a:extLst>
              </p:cNvPr>
              <p:cNvSpPr txBox="1">
                <a:spLocks noRot="1" noChangeAspect="1" noMove="1" noResize="1" noEditPoints="1" noAdjustHandles="1" noChangeArrowheads="1" noChangeShapeType="1" noTextEdit="1"/>
              </p:cNvSpPr>
              <p:nvPr/>
            </p:nvSpPr>
            <p:spPr>
              <a:xfrm>
                <a:off x="1761796" y="2696833"/>
                <a:ext cx="8943730" cy="307777"/>
              </a:xfrm>
              <a:prstGeom prst="rect">
                <a:avLst/>
              </a:prstGeom>
              <a:blipFill>
                <a:blip r:embed="rId4"/>
                <a:stretch>
                  <a:fillRect l="-1277" r="-426" b="-32000"/>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10" name="CuadroTexto 9">
                <a:extLst>
                  <a:ext uri="{FF2B5EF4-FFF2-40B4-BE49-F238E27FC236}">
                    <a16:creationId xmlns:a16="http://schemas.microsoft.com/office/drawing/2014/main" id="{4DFB4344-77F6-8FE3-53F3-FFCCF0B3C709}"/>
                  </a:ext>
                </a:extLst>
              </p:cNvPr>
              <p:cNvSpPr txBox="1"/>
              <p:nvPr/>
            </p:nvSpPr>
            <p:spPr>
              <a:xfrm>
                <a:off x="2033938" y="4405275"/>
                <a:ext cx="8024376" cy="3539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CO" sz="2300" i="1">
                          <a:latin typeface="Cambria Math" panose="02040503050406030204" pitchFamily="18" charset="0"/>
                        </a:rPr>
                        <m:t>𝑉𝑓</m:t>
                      </m:r>
                      <m:r>
                        <a:rPr lang="es-CO" sz="2300" i="1">
                          <a:latin typeface="Cambria Math" panose="02040503050406030204" pitchFamily="18" charset="0"/>
                        </a:rPr>
                        <m:t>∗</m:t>
                      </m:r>
                      <m:r>
                        <a:rPr lang="es-CO" sz="2300" i="1">
                          <a:latin typeface="Cambria Math" panose="02040503050406030204" pitchFamily="18" charset="0"/>
                        </a:rPr>
                        <m:t>𝑖</m:t>
                      </m:r>
                      <m:r>
                        <a:rPr lang="es-CO" sz="2300" i="1">
                          <a:latin typeface="Cambria Math" panose="02040503050406030204" pitchFamily="18" charset="0"/>
                        </a:rPr>
                        <m:t>=</m:t>
                      </m:r>
                      <m:r>
                        <a:rPr lang="es-CO" sz="2300" i="1">
                          <a:latin typeface="Cambria Math" panose="02040503050406030204" pitchFamily="18" charset="0"/>
                        </a:rPr>
                        <m:t>𝐺</m:t>
                      </m:r>
                      <m:sSup>
                        <m:sSupPr>
                          <m:ctrlPr>
                            <a:rPr lang="es-CO" sz="2300" i="1">
                              <a:latin typeface="Cambria Math" panose="02040503050406030204" pitchFamily="18" charset="0"/>
                            </a:rPr>
                          </m:ctrlPr>
                        </m:sSupPr>
                        <m:e>
                          <m:d>
                            <m:dPr>
                              <m:ctrlPr>
                                <a:rPr lang="es-CO" sz="2300" i="1">
                                  <a:latin typeface="Cambria Math" panose="02040503050406030204" pitchFamily="18" charset="0"/>
                                </a:rPr>
                              </m:ctrlPr>
                            </m:dPr>
                            <m:e>
                              <m:r>
                                <a:rPr lang="es-CO" sz="2300" i="1">
                                  <a:latin typeface="Cambria Math" panose="02040503050406030204" pitchFamily="18" charset="0"/>
                                </a:rPr>
                                <m:t>1+</m:t>
                              </m:r>
                              <m:r>
                                <a:rPr lang="es-CO" sz="2300" i="1">
                                  <a:latin typeface="Cambria Math" panose="02040503050406030204" pitchFamily="18" charset="0"/>
                                </a:rPr>
                                <m:t>𝑖</m:t>
                              </m:r>
                            </m:e>
                          </m:d>
                        </m:e>
                        <m:sup>
                          <m:r>
                            <a:rPr lang="es-CO" sz="2300" i="1">
                              <a:latin typeface="Cambria Math" panose="02040503050406030204" pitchFamily="18" charset="0"/>
                            </a:rPr>
                            <m:t>𝑛</m:t>
                          </m:r>
                          <m:r>
                            <a:rPr lang="es-CO" sz="2300" i="1">
                              <a:latin typeface="Cambria Math" panose="02040503050406030204" pitchFamily="18" charset="0"/>
                            </a:rPr>
                            <m:t>−1</m:t>
                          </m:r>
                        </m:sup>
                      </m:sSup>
                      <m:r>
                        <a:rPr lang="es-CO" sz="2300" i="1">
                          <a:latin typeface="Cambria Math" panose="02040503050406030204" pitchFamily="18" charset="0"/>
                        </a:rPr>
                        <m:t>+</m:t>
                      </m:r>
                      <m:r>
                        <a:rPr lang="es-CO" sz="2300" i="1">
                          <a:latin typeface="Cambria Math" panose="02040503050406030204" pitchFamily="18" charset="0"/>
                        </a:rPr>
                        <m:t>𝐺</m:t>
                      </m:r>
                      <m:sSup>
                        <m:sSupPr>
                          <m:ctrlPr>
                            <a:rPr lang="es-CO" sz="2300" i="1">
                              <a:latin typeface="Cambria Math" panose="02040503050406030204" pitchFamily="18" charset="0"/>
                            </a:rPr>
                          </m:ctrlPr>
                        </m:sSupPr>
                        <m:e>
                          <m:d>
                            <m:dPr>
                              <m:ctrlPr>
                                <a:rPr lang="es-CO" sz="2300" i="1">
                                  <a:latin typeface="Cambria Math" panose="02040503050406030204" pitchFamily="18" charset="0"/>
                                </a:rPr>
                              </m:ctrlPr>
                            </m:dPr>
                            <m:e>
                              <m:r>
                                <a:rPr lang="es-CO" sz="2300" i="1">
                                  <a:latin typeface="Cambria Math" panose="02040503050406030204" pitchFamily="18" charset="0"/>
                                </a:rPr>
                                <m:t>1+</m:t>
                              </m:r>
                              <m:r>
                                <a:rPr lang="es-CO" sz="2300" i="1">
                                  <a:latin typeface="Cambria Math" panose="02040503050406030204" pitchFamily="18" charset="0"/>
                                </a:rPr>
                                <m:t>𝑖</m:t>
                              </m:r>
                            </m:e>
                          </m:d>
                        </m:e>
                        <m:sup>
                          <m:r>
                            <a:rPr lang="es-CO" sz="2300" i="1">
                              <a:latin typeface="Cambria Math" panose="02040503050406030204" pitchFamily="18" charset="0"/>
                            </a:rPr>
                            <m:t>𝑛</m:t>
                          </m:r>
                          <m:r>
                            <a:rPr lang="es-CO" sz="2300" i="1">
                              <a:latin typeface="Cambria Math" panose="02040503050406030204" pitchFamily="18" charset="0"/>
                            </a:rPr>
                            <m:t>−2</m:t>
                          </m:r>
                        </m:sup>
                      </m:sSup>
                      <m:r>
                        <a:rPr lang="es-CO" sz="2300" i="1">
                          <a:latin typeface="Cambria Math" panose="02040503050406030204" pitchFamily="18" charset="0"/>
                        </a:rPr>
                        <m:t>+…+</m:t>
                      </m:r>
                      <m:r>
                        <a:rPr lang="es-CO" sz="2300" i="1">
                          <a:latin typeface="Cambria Math" panose="02040503050406030204" pitchFamily="18" charset="0"/>
                        </a:rPr>
                        <m:t>𝐺</m:t>
                      </m:r>
                      <m:d>
                        <m:dPr>
                          <m:ctrlPr>
                            <a:rPr lang="es-CO" sz="2300" i="1">
                              <a:latin typeface="Cambria Math" panose="02040503050406030204" pitchFamily="18" charset="0"/>
                            </a:rPr>
                          </m:ctrlPr>
                        </m:dPr>
                        <m:e>
                          <m:r>
                            <a:rPr lang="es-CO" sz="2300" i="1">
                              <a:latin typeface="Cambria Math" panose="02040503050406030204" pitchFamily="18" charset="0"/>
                            </a:rPr>
                            <m:t>1+</m:t>
                          </m:r>
                          <m:r>
                            <a:rPr lang="es-CO" sz="2300" i="1">
                              <a:latin typeface="Cambria Math" panose="02040503050406030204" pitchFamily="18" charset="0"/>
                            </a:rPr>
                            <m:t>𝑖</m:t>
                          </m:r>
                        </m:e>
                      </m:d>
                      <m:r>
                        <a:rPr lang="es-CO" sz="2300" i="1">
                          <a:latin typeface="Cambria Math" panose="02040503050406030204" pitchFamily="18" charset="0"/>
                        </a:rPr>
                        <m:t>−</m:t>
                      </m:r>
                      <m:d>
                        <m:dPr>
                          <m:ctrlPr>
                            <a:rPr lang="es-CO" sz="2300" i="1">
                              <a:latin typeface="Cambria Math" panose="02040503050406030204" pitchFamily="18" charset="0"/>
                            </a:rPr>
                          </m:ctrlPr>
                        </m:dPr>
                        <m:e>
                          <m:r>
                            <a:rPr lang="es-CO" sz="2300" i="1">
                              <a:latin typeface="Cambria Math" panose="02040503050406030204" pitchFamily="18" charset="0"/>
                            </a:rPr>
                            <m:t>𝑛</m:t>
                          </m:r>
                          <m:r>
                            <a:rPr lang="es-CO" sz="2300" i="1">
                              <a:latin typeface="Cambria Math" panose="02040503050406030204" pitchFamily="18" charset="0"/>
                            </a:rPr>
                            <m:t>−1</m:t>
                          </m:r>
                        </m:e>
                      </m:d>
                      <m:r>
                        <a:rPr lang="es-CO" sz="2300" i="1">
                          <a:latin typeface="Cambria Math" panose="02040503050406030204" pitchFamily="18" charset="0"/>
                        </a:rPr>
                        <m:t>𝐺</m:t>
                      </m:r>
                    </m:oMath>
                  </m:oMathPara>
                </a14:m>
                <a:endParaRPr lang="es-CO" sz="2300"/>
              </a:p>
            </p:txBody>
          </p:sp>
        </mc:Choice>
        <mc:Fallback xmlns="">
          <p:sp>
            <p:nvSpPr>
              <p:cNvPr id="10" name="CuadroTexto 9">
                <a:extLst>
                  <a:ext uri="{FF2B5EF4-FFF2-40B4-BE49-F238E27FC236}">
                    <a16:creationId xmlns:a16="http://schemas.microsoft.com/office/drawing/2014/main" id="{4DFB4344-77F6-8FE3-53F3-FFCCF0B3C709}"/>
                  </a:ext>
                </a:extLst>
              </p:cNvPr>
              <p:cNvSpPr txBox="1">
                <a:spLocks noRot="1" noChangeAspect="1" noMove="1" noResize="1" noEditPoints="1" noAdjustHandles="1" noChangeArrowheads="1" noChangeShapeType="1" noTextEdit="1"/>
              </p:cNvSpPr>
              <p:nvPr/>
            </p:nvSpPr>
            <p:spPr>
              <a:xfrm>
                <a:off x="2033938" y="4405275"/>
                <a:ext cx="8024376" cy="353943"/>
              </a:xfrm>
              <a:prstGeom prst="rect">
                <a:avLst/>
              </a:prstGeom>
              <a:blipFill>
                <a:blip r:embed="rId5"/>
                <a:stretch>
                  <a:fillRect l="-791" r="-158" b="-35714"/>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13" name="CuadroTexto 12">
                <a:extLst>
                  <a:ext uri="{FF2B5EF4-FFF2-40B4-BE49-F238E27FC236}">
                    <a16:creationId xmlns:a16="http://schemas.microsoft.com/office/drawing/2014/main" id="{D13EDEB0-8C4A-1EA3-7525-78D15B8A03DF}"/>
                  </a:ext>
                </a:extLst>
              </p:cNvPr>
              <p:cNvSpPr txBox="1"/>
              <p:nvPr/>
            </p:nvSpPr>
            <p:spPr>
              <a:xfrm>
                <a:off x="2033938" y="4959660"/>
                <a:ext cx="7875618" cy="3539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CO" sz="2300" i="1">
                          <a:latin typeface="Cambria Math" panose="02040503050406030204" pitchFamily="18" charset="0"/>
                        </a:rPr>
                        <m:t>𝑉𝑓</m:t>
                      </m:r>
                      <m:r>
                        <a:rPr lang="es-CO" sz="2300" i="1">
                          <a:latin typeface="Cambria Math" panose="02040503050406030204" pitchFamily="18" charset="0"/>
                        </a:rPr>
                        <m:t>∗</m:t>
                      </m:r>
                      <m:r>
                        <a:rPr lang="es-CO" sz="2300" i="1">
                          <a:latin typeface="Cambria Math" panose="02040503050406030204" pitchFamily="18" charset="0"/>
                        </a:rPr>
                        <m:t>𝑖</m:t>
                      </m:r>
                      <m:r>
                        <a:rPr lang="es-CO" sz="2300" i="1">
                          <a:latin typeface="Cambria Math" panose="02040503050406030204" pitchFamily="18" charset="0"/>
                        </a:rPr>
                        <m:t>=</m:t>
                      </m:r>
                      <m:r>
                        <a:rPr lang="es-CO" sz="2300" i="1">
                          <a:latin typeface="Cambria Math" panose="02040503050406030204" pitchFamily="18" charset="0"/>
                        </a:rPr>
                        <m:t>𝐺</m:t>
                      </m:r>
                      <m:sSup>
                        <m:sSupPr>
                          <m:ctrlPr>
                            <a:rPr lang="es-CO" sz="2300" i="1">
                              <a:latin typeface="Cambria Math" panose="02040503050406030204" pitchFamily="18" charset="0"/>
                            </a:rPr>
                          </m:ctrlPr>
                        </m:sSupPr>
                        <m:e>
                          <m:d>
                            <m:dPr>
                              <m:ctrlPr>
                                <a:rPr lang="es-CO" sz="2300" i="1">
                                  <a:latin typeface="Cambria Math" panose="02040503050406030204" pitchFamily="18" charset="0"/>
                                </a:rPr>
                              </m:ctrlPr>
                            </m:dPr>
                            <m:e>
                              <m:r>
                                <a:rPr lang="es-CO" sz="2300" i="1">
                                  <a:latin typeface="Cambria Math" panose="02040503050406030204" pitchFamily="18" charset="0"/>
                                </a:rPr>
                                <m:t>1+</m:t>
                              </m:r>
                              <m:r>
                                <a:rPr lang="es-CO" sz="2300" i="1">
                                  <a:latin typeface="Cambria Math" panose="02040503050406030204" pitchFamily="18" charset="0"/>
                                </a:rPr>
                                <m:t>𝑖</m:t>
                              </m:r>
                            </m:e>
                          </m:d>
                        </m:e>
                        <m:sup>
                          <m:r>
                            <a:rPr lang="es-CO" sz="2300" i="1">
                              <a:latin typeface="Cambria Math" panose="02040503050406030204" pitchFamily="18" charset="0"/>
                            </a:rPr>
                            <m:t>𝑛</m:t>
                          </m:r>
                          <m:r>
                            <a:rPr lang="es-CO" sz="2300" i="1">
                              <a:latin typeface="Cambria Math" panose="02040503050406030204" pitchFamily="18" charset="0"/>
                            </a:rPr>
                            <m:t>−1</m:t>
                          </m:r>
                        </m:sup>
                      </m:sSup>
                      <m:r>
                        <a:rPr lang="es-CO" sz="2300" i="1">
                          <a:latin typeface="Cambria Math" panose="02040503050406030204" pitchFamily="18" charset="0"/>
                        </a:rPr>
                        <m:t>+</m:t>
                      </m:r>
                      <m:r>
                        <a:rPr lang="es-CO" sz="2300" i="1">
                          <a:latin typeface="Cambria Math" panose="02040503050406030204" pitchFamily="18" charset="0"/>
                        </a:rPr>
                        <m:t>𝐺</m:t>
                      </m:r>
                      <m:sSup>
                        <m:sSupPr>
                          <m:ctrlPr>
                            <a:rPr lang="es-CO" sz="2300" i="1">
                              <a:latin typeface="Cambria Math" panose="02040503050406030204" pitchFamily="18" charset="0"/>
                            </a:rPr>
                          </m:ctrlPr>
                        </m:sSupPr>
                        <m:e>
                          <m:d>
                            <m:dPr>
                              <m:ctrlPr>
                                <a:rPr lang="es-CO" sz="2300" i="1">
                                  <a:latin typeface="Cambria Math" panose="02040503050406030204" pitchFamily="18" charset="0"/>
                                </a:rPr>
                              </m:ctrlPr>
                            </m:dPr>
                            <m:e>
                              <m:r>
                                <a:rPr lang="es-CO" sz="2300" i="1">
                                  <a:latin typeface="Cambria Math" panose="02040503050406030204" pitchFamily="18" charset="0"/>
                                </a:rPr>
                                <m:t>1+</m:t>
                              </m:r>
                              <m:r>
                                <a:rPr lang="es-CO" sz="2300" i="1">
                                  <a:latin typeface="Cambria Math" panose="02040503050406030204" pitchFamily="18" charset="0"/>
                                </a:rPr>
                                <m:t>𝑖</m:t>
                              </m:r>
                            </m:e>
                          </m:d>
                        </m:e>
                        <m:sup>
                          <m:r>
                            <a:rPr lang="es-CO" sz="2300" i="1">
                              <a:latin typeface="Cambria Math" panose="02040503050406030204" pitchFamily="18" charset="0"/>
                            </a:rPr>
                            <m:t>𝑛</m:t>
                          </m:r>
                          <m:r>
                            <a:rPr lang="es-CO" sz="2300" i="1">
                              <a:latin typeface="Cambria Math" panose="02040503050406030204" pitchFamily="18" charset="0"/>
                            </a:rPr>
                            <m:t>−2</m:t>
                          </m:r>
                        </m:sup>
                      </m:sSup>
                      <m:r>
                        <a:rPr lang="es-CO" sz="2300" i="1">
                          <a:latin typeface="Cambria Math" panose="02040503050406030204" pitchFamily="18" charset="0"/>
                        </a:rPr>
                        <m:t>+…+</m:t>
                      </m:r>
                      <m:r>
                        <a:rPr lang="es-CO" sz="2300" i="1">
                          <a:latin typeface="Cambria Math" panose="02040503050406030204" pitchFamily="18" charset="0"/>
                        </a:rPr>
                        <m:t>𝐺</m:t>
                      </m:r>
                      <m:d>
                        <m:dPr>
                          <m:ctrlPr>
                            <a:rPr lang="es-CO" sz="2300" i="1">
                              <a:latin typeface="Cambria Math" panose="02040503050406030204" pitchFamily="18" charset="0"/>
                            </a:rPr>
                          </m:ctrlPr>
                        </m:dPr>
                        <m:e>
                          <m:r>
                            <a:rPr lang="es-CO" sz="2300" i="1">
                              <a:latin typeface="Cambria Math" panose="02040503050406030204" pitchFamily="18" charset="0"/>
                            </a:rPr>
                            <m:t>1+</m:t>
                          </m:r>
                          <m:r>
                            <a:rPr lang="es-CO" sz="2300" i="1">
                              <a:latin typeface="Cambria Math" panose="02040503050406030204" pitchFamily="18" charset="0"/>
                            </a:rPr>
                            <m:t>𝑖</m:t>
                          </m:r>
                        </m:e>
                      </m:d>
                      <m:r>
                        <a:rPr lang="es-CO" sz="2300" i="1">
                          <a:latin typeface="Cambria Math" panose="02040503050406030204" pitchFamily="18" charset="0"/>
                        </a:rPr>
                        <m:t>+</m:t>
                      </m:r>
                      <m:r>
                        <a:rPr lang="es-CO" sz="2300" i="1">
                          <a:latin typeface="Cambria Math" panose="02040503050406030204" pitchFamily="18" charset="0"/>
                        </a:rPr>
                        <m:t>𝐺</m:t>
                      </m:r>
                      <m:r>
                        <a:rPr lang="es-CO" sz="2300" i="1">
                          <a:latin typeface="Cambria Math" panose="02040503050406030204" pitchFamily="18" charset="0"/>
                        </a:rPr>
                        <m:t> −</m:t>
                      </m:r>
                      <m:r>
                        <a:rPr lang="es-CO" sz="2300" i="1">
                          <a:latin typeface="Cambria Math" panose="02040503050406030204" pitchFamily="18" charset="0"/>
                        </a:rPr>
                        <m:t>𝑛𝐺</m:t>
                      </m:r>
                    </m:oMath>
                  </m:oMathPara>
                </a14:m>
                <a:endParaRPr lang="es-CO" sz="2300"/>
              </a:p>
            </p:txBody>
          </p:sp>
        </mc:Choice>
        <mc:Fallback xmlns="">
          <p:sp>
            <p:nvSpPr>
              <p:cNvPr id="13" name="CuadroTexto 12">
                <a:extLst>
                  <a:ext uri="{FF2B5EF4-FFF2-40B4-BE49-F238E27FC236}">
                    <a16:creationId xmlns:a16="http://schemas.microsoft.com/office/drawing/2014/main" id="{D13EDEB0-8C4A-1EA3-7525-78D15B8A03DF}"/>
                  </a:ext>
                </a:extLst>
              </p:cNvPr>
              <p:cNvSpPr txBox="1">
                <a:spLocks noRot="1" noChangeAspect="1" noMove="1" noResize="1" noEditPoints="1" noAdjustHandles="1" noChangeArrowheads="1" noChangeShapeType="1" noTextEdit="1"/>
              </p:cNvSpPr>
              <p:nvPr/>
            </p:nvSpPr>
            <p:spPr>
              <a:xfrm>
                <a:off x="2033938" y="4959660"/>
                <a:ext cx="7875618" cy="353943"/>
              </a:xfrm>
              <a:prstGeom prst="rect">
                <a:avLst/>
              </a:prstGeom>
              <a:blipFill>
                <a:blip r:embed="rId6"/>
                <a:stretch>
                  <a:fillRect l="-805" t="-6897" r="-161" b="-37931"/>
                </a:stretch>
              </a:blipFill>
            </p:spPr>
            <p:txBody>
              <a:bodyPr/>
              <a:lstStyle/>
              <a:p>
                <a:r>
                  <a:rPr lang="es-CO">
                    <a:noFill/>
                  </a:rPr>
                  <a:t> </a:t>
                </a:r>
              </a:p>
            </p:txBody>
          </p:sp>
        </mc:Fallback>
      </mc:AlternateContent>
      <p:sp>
        <p:nvSpPr>
          <p:cNvPr id="15" name="Abrir llave 14">
            <a:extLst>
              <a:ext uri="{FF2B5EF4-FFF2-40B4-BE49-F238E27FC236}">
                <a16:creationId xmlns:a16="http://schemas.microsoft.com/office/drawing/2014/main" id="{B2793CA2-5E54-BABD-ECAB-A941CF045E81}"/>
              </a:ext>
            </a:extLst>
          </p:cNvPr>
          <p:cNvSpPr/>
          <p:nvPr/>
        </p:nvSpPr>
        <p:spPr>
          <a:xfrm rot="16200000">
            <a:off x="6011884" y="2635100"/>
            <a:ext cx="353944" cy="5757888"/>
          </a:xfrm>
          <a:prstGeom prst="leftBrace">
            <a:avLst/>
          </a:prstGeom>
        </p:spPr>
        <p:style>
          <a:lnRef idx="1">
            <a:schemeClr val="accent6"/>
          </a:lnRef>
          <a:fillRef idx="0">
            <a:schemeClr val="accent6"/>
          </a:fillRef>
          <a:effectRef idx="0">
            <a:schemeClr val="accent6"/>
          </a:effectRef>
          <a:fontRef idx="minor">
            <a:schemeClr val="tx1"/>
          </a:fontRef>
        </p:style>
        <p:txBody>
          <a:bodyPr rtlCol="0" anchor="ctr"/>
          <a:lstStyle/>
          <a:p>
            <a:pPr algn="ctr"/>
            <a:endParaRPr lang="es-CO"/>
          </a:p>
        </p:txBody>
      </p:sp>
      <p:sp>
        <p:nvSpPr>
          <p:cNvPr id="16" name="Content Placeholder 2">
            <a:extLst>
              <a:ext uri="{FF2B5EF4-FFF2-40B4-BE49-F238E27FC236}">
                <a16:creationId xmlns:a16="http://schemas.microsoft.com/office/drawing/2014/main" id="{88D93EEB-8B33-60A4-CE48-474569471249}"/>
              </a:ext>
            </a:extLst>
          </p:cNvPr>
          <p:cNvSpPr txBox="1">
            <a:spLocks/>
          </p:cNvSpPr>
          <p:nvPr/>
        </p:nvSpPr>
        <p:spPr>
          <a:xfrm>
            <a:off x="2290762" y="5836209"/>
            <a:ext cx="7610476" cy="485053"/>
          </a:xfrm>
          <a:prstGeom prst="rect">
            <a:avLst/>
          </a:prstGeom>
        </p:spPr>
        <p:txBody>
          <a:bodyPr vert="horz" lIns="91440" tIns="45720" rIns="91440" bIns="45720" rtlCol="0">
            <a:normAutofit/>
          </a:bodyPr>
          <a:lstStyle>
            <a:lvl1pPr marL="342900" indent="-342900" algn="l" defTabSz="914400" rtl="0" eaLnBrk="1" latinLnBrk="0" hangingPunct="1">
              <a:spcBef>
                <a:spcPts val="2000"/>
              </a:spcBef>
              <a:buClr>
                <a:schemeClr val="accent1"/>
              </a:buClr>
              <a:buFont typeface="Wingdings 2" pitchFamily="18" charset="2"/>
              <a:buChar char=""/>
              <a:defRPr sz="2000" kern="1200">
                <a:solidFill>
                  <a:schemeClr val="tx1">
                    <a:lumMod val="65000"/>
                    <a:lumOff val="35000"/>
                  </a:schemeClr>
                </a:solidFill>
                <a:latin typeface="+mn-lt"/>
                <a:ea typeface="+mn-ea"/>
                <a:cs typeface="+mn-cs"/>
              </a:defRPr>
            </a:lvl1pPr>
            <a:lvl2pPr marL="6858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2pPr>
            <a:lvl3pPr marL="10350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3pPr>
            <a:lvl4pPr marL="13716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4pPr>
            <a:lvl5pPr marL="17208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5pPr>
            <a:lvl6pPr marL="2055813"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6pPr>
            <a:lvl7pPr marL="2398713" indent="-344488" algn="l" defTabSz="914400" rtl="0" eaLnBrk="1" latinLnBrk="0" hangingPunct="1">
              <a:spcBef>
                <a:spcPct val="20000"/>
              </a:spcBef>
              <a:buClr>
                <a:schemeClr val="accent1"/>
              </a:buClr>
              <a:buFont typeface="Wingdings 2" pitchFamily="18" charset="2"/>
              <a:buChar char=""/>
              <a:defRPr lang="en-US" sz="1800" kern="1200" dirty="0" smtClean="0">
                <a:solidFill>
                  <a:schemeClr val="tx1">
                    <a:lumMod val="65000"/>
                    <a:lumOff val="35000"/>
                  </a:schemeClr>
                </a:solidFill>
                <a:latin typeface="+mn-lt"/>
                <a:ea typeface="+mn-ea"/>
                <a:cs typeface="+mn-cs"/>
              </a:defRPr>
            </a:lvl7pPr>
            <a:lvl8pPr marL="2743200"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8pPr>
            <a:lvl9pPr marL="3087688" indent="-344488" algn="l" defTabSz="914400" rtl="0" eaLnBrk="1" latinLnBrk="0" hangingPunct="1">
              <a:spcBef>
                <a:spcPct val="20000"/>
              </a:spcBef>
              <a:buClr>
                <a:schemeClr val="accent1"/>
              </a:buClr>
              <a:buFont typeface="Wingdings 2" pitchFamily="18" charset="2"/>
              <a:buChar char=""/>
              <a:defRPr lang="en-US" sz="1800" kern="1200" dirty="0">
                <a:solidFill>
                  <a:schemeClr val="tx1">
                    <a:lumMod val="65000"/>
                    <a:lumOff val="35000"/>
                  </a:schemeClr>
                </a:solidFill>
                <a:latin typeface="+mn-lt"/>
                <a:ea typeface="+mn-ea"/>
                <a:cs typeface="+mn-cs"/>
              </a:defRPr>
            </a:lvl9pPr>
          </a:lstStyle>
          <a:p>
            <a:pPr marL="0" indent="0" algn="ctr">
              <a:buNone/>
            </a:pPr>
            <a:r>
              <a:rPr lang="es-ES_tradnl" sz="2400" dirty="0">
                <a:solidFill>
                  <a:srgbClr val="800000"/>
                </a:solidFill>
              </a:rPr>
              <a:t>¿a qué les recuerda esto?</a:t>
            </a:r>
            <a:endParaRPr lang="es-ES_tradnl" sz="2400" dirty="0"/>
          </a:p>
        </p:txBody>
      </p:sp>
      <p:sp>
        <p:nvSpPr>
          <p:cNvPr id="6" name="Title 1">
            <a:extLst>
              <a:ext uri="{FF2B5EF4-FFF2-40B4-BE49-F238E27FC236}">
                <a16:creationId xmlns:a16="http://schemas.microsoft.com/office/drawing/2014/main" id="{096CBA22-FF09-F281-8726-962A09994274}"/>
              </a:ext>
            </a:extLst>
          </p:cNvPr>
          <p:cNvSpPr>
            <a:spLocks noGrp="1"/>
          </p:cNvSpPr>
          <p:nvPr>
            <p:ph type="title"/>
          </p:nvPr>
        </p:nvSpPr>
        <p:spPr>
          <a:xfrm>
            <a:off x="581192" y="702156"/>
            <a:ext cx="11029616" cy="1013800"/>
          </a:xfrm>
        </p:spPr>
        <p:txBody>
          <a:bodyPr>
            <a:normAutofit/>
          </a:bodyPr>
          <a:lstStyle/>
          <a:p>
            <a:r>
              <a:rPr lang="es-ES_tradnl" sz="3200" dirty="0">
                <a:latin typeface="Gill Sans MT (titulo)"/>
              </a:rPr>
              <a:t>Gradientes aritméticos</a:t>
            </a:r>
          </a:p>
        </p:txBody>
      </p:sp>
      <p:sp>
        <p:nvSpPr>
          <p:cNvPr id="14" name="Rectángulo 13">
            <a:extLst>
              <a:ext uri="{FF2B5EF4-FFF2-40B4-BE49-F238E27FC236}">
                <a16:creationId xmlns:a16="http://schemas.microsoft.com/office/drawing/2014/main" id="{176A9F84-5100-1325-D0F5-6A3798DBD456}"/>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7" name="Picture 2" descr="Clientes y aliados | Centro de Evaluación | Uniandes">
            <a:extLst>
              <a:ext uri="{FF2B5EF4-FFF2-40B4-BE49-F238E27FC236}">
                <a16:creationId xmlns:a16="http://schemas.microsoft.com/office/drawing/2014/main" id="{7D971321-5CCD-4142-3E76-FB379DA5B298}"/>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8" name="Rectángulo 17">
            <a:extLst>
              <a:ext uri="{FF2B5EF4-FFF2-40B4-BE49-F238E27FC236}">
                <a16:creationId xmlns:a16="http://schemas.microsoft.com/office/drawing/2014/main" id="{D3016F56-D3BE-EF89-97E9-D249C0C4821E}"/>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2" name="Slide Number Placeholder 3">
            <a:extLst>
              <a:ext uri="{FF2B5EF4-FFF2-40B4-BE49-F238E27FC236}">
                <a16:creationId xmlns:a16="http://schemas.microsoft.com/office/drawing/2014/main" id="{86C4CFA9-9CDC-DB24-D842-6173482B3381}"/>
              </a:ext>
            </a:extLst>
          </p:cNvPr>
          <p:cNvSpPr>
            <a:spLocks noGrp="1"/>
          </p:cNvSpPr>
          <p:nvPr>
            <p:ph type="sldNum" sz="quarter" idx="12"/>
          </p:nvPr>
        </p:nvSpPr>
        <p:spPr>
          <a:xfrm>
            <a:off x="10558300" y="5956137"/>
            <a:ext cx="1052508" cy="365125"/>
          </a:xfrm>
        </p:spPr>
        <p:txBody>
          <a:bodyPr/>
          <a:lstStyle/>
          <a:p>
            <a:fld id="{5E3E23BA-6E79-2442-BA73-D218A5E297C3}" type="slidenum">
              <a:rPr lang="en-US" sz="2000" b="1" smtClean="0">
                <a:latin typeface="Gill Sans MT (Títulos)"/>
              </a:rPr>
              <a:t>13</a:t>
            </a:fld>
            <a:endParaRPr lang="en-US" sz="2000" b="1" dirty="0">
              <a:latin typeface="Gill Sans MT (Títulos)"/>
            </a:endParaRPr>
          </a:p>
        </p:txBody>
      </p:sp>
    </p:spTree>
    <p:extLst>
      <p:ext uri="{BB962C8B-B14F-4D97-AF65-F5344CB8AC3E}">
        <p14:creationId xmlns:p14="http://schemas.microsoft.com/office/powerpoint/2010/main" val="15956920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uild="p"/>
    </p:bldLst>
  </p:timing>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3" name="CuadroTexto 12">
                <a:extLst>
                  <a:ext uri="{FF2B5EF4-FFF2-40B4-BE49-F238E27FC236}">
                    <a16:creationId xmlns:a16="http://schemas.microsoft.com/office/drawing/2014/main" id="{D13EDEB0-8C4A-1EA3-7525-78D15B8A03DF}"/>
                  </a:ext>
                </a:extLst>
              </p:cNvPr>
              <p:cNvSpPr txBox="1"/>
              <p:nvPr/>
            </p:nvSpPr>
            <p:spPr>
              <a:xfrm>
                <a:off x="2158191" y="2525167"/>
                <a:ext cx="7875618" cy="3539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CO" sz="2300" i="1">
                          <a:latin typeface="Cambria Math" panose="02040503050406030204" pitchFamily="18" charset="0"/>
                        </a:rPr>
                        <m:t>𝑉𝑓</m:t>
                      </m:r>
                      <m:r>
                        <a:rPr lang="es-CO" sz="2300" i="1">
                          <a:latin typeface="Cambria Math" panose="02040503050406030204" pitchFamily="18" charset="0"/>
                        </a:rPr>
                        <m:t>∗</m:t>
                      </m:r>
                      <m:r>
                        <a:rPr lang="es-CO" sz="2300" i="1">
                          <a:latin typeface="Cambria Math" panose="02040503050406030204" pitchFamily="18" charset="0"/>
                        </a:rPr>
                        <m:t>𝑖</m:t>
                      </m:r>
                      <m:r>
                        <a:rPr lang="es-CO" sz="2300" i="1">
                          <a:latin typeface="Cambria Math" panose="02040503050406030204" pitchFamily="18" charset="0"/>
                        </a:rPr>
                        <m:t>=</m:t>
                      </m:r>
                      <m:r>
                        <a:rPr lang="es-CO" sz="2300" i="1">
                          <a:latin typeface="Cambria Math" panose="02040503050406030204" pitchFamily="18" charset="0"/>
                        </a:rPr>
                        <m:t>𝐺</m:t>
                      </m:r>
                      <m:sSup>
                        <m:sSupPr>
                          <m:ctrlPr>
                            <a:rPr lang="es-CO" sz="2300" i="1">
                              <a:latin typeface="Cambria Math" panose="02040503050406030204" pitchFamily="18" charset="0"/>
                            </a:rPr>
                          </m:ctrlPr>
                        </m:sSupPr>
                        <m:e>
                          <m:d>
                            <m:dPr>
                              <m:ctrlPr>
                                <a:rPr lang="es-CO" sz="2300" i="1">
                                  <a:latin typeface="Cambria Math" panose="02040503050406030204" pitchFamily="18" charset="0"/>
                                </a:rPr>
                              </m:ctrlPr>
                            </m:dPr>
                            <m:e>
                              <m:r>
                                <a:rPr lang="es-CO" sz="2300" i="1">
                                  <a:latin typeface="Cambria Math" panose="02040503050406030204" pitchFamily="18" charset="0"/>
                                </a:rPr>
                                <m:t>1+</m:t>
                              </m:r>
                              <m:r>
                                <a:rPr lang="es-CO" sz="2300" i="1">
                                  <a:latin typeface="Cambria Math" panose="02040503050406030204" pitchFamily="18" charset="0"/>
                                </a:rPr>
                                <m:t>𝑖</m:t>
                              </m:r>
                            </m:e>
                          </m:d>
                        </m:e>
                        <m:sup>
                          <m:r>
                            <a:rPr lang="es-CO" sz="2300" i="1">
                              <a:latin typeface="Cambria Math" panose="02040503050406030204" pitchFamily="18" charset="0"/>
                            </a:rPr>
                            <m:t>𝑛</m:t>
                          </m:r>
                          <m:r>
                            <a:rPr lang="es-CO" sz="2300" i="1">
                              <a:latin typeface="Cambria Math" panose="02040503050406030204" pitchFamily="18" charset="0"/>
                            </a:rPr>
                            <m:t>−1</m:t>
                          </m:r>
                        </m:sup>
                      </m:sSup>
                      <m:r>
                        <a:rPr lang="es-CO" sz="2300" i="1">
                          <a:latin typeface="Cambria Math" panose="02040503050406030204" pitchFamily="18" charset="0"/>
                        </a:rPr>
                        <m:t>+</m:t>
                      </m:r>
                      <m:r>
                        <a:rPr lang="es-CO" sz="2300" i="1">
                          <a:latin typeface="Cambria Math" panose="02040503050406030204" pitchFamily="18" charset="0"/>
                        </a:rPr>
                        <m:t>𝐺</m:t>
                      </m:r>
                      <m:sSup>
                        <m:sSupPr>
                          <m:ctrlPr>
                            <a:rPr lang="es-CO" sz="2300" i="1">
                              <a:latin typeface="Cambria Math" panose="02040503050406030204" pitchFamily="18" charset="0"/>
                            </a:rPr>
                          </m:ctrlPr>
                        </m:sSupPr>
                        <m:e>
                          <m:d>
                            <m:dPr>
                              <m:ctrlPr>
                                <a:rPr lang="es-CO" sz="2300" i="1">
                                  <a:latin typeface="Cambria Math" panose="02040503050406030204" pitchFamily="18" charset="0"/>
                                </a:rPr>
                              </m:ctrlPr>
                            </m:dPr>
                            <m:e>
                              <m:r>
                                <a:rPr lang="es-CO" sz="2300" i="1">
                                  <a:latin typeface="Cambria Math" panose="02040503050406030204" pitchFamily="18" charset="0"/>
                                </a:rPr>
                                <m:t>1+</m:t>
                              </m:r>
                              <m:r>
                                <a:rPr lang="es-CO" sz="2300" i="1">
                                  <a:latin typeface="Cambria Math" panose="02040503050406030204" pitchFamily="18" charset="0"/>
                                </a:rPr>
                                <m:t>𝑖</m:t>
                              </m:r>
                            </m:e>
                          </m:d>
                        </m:e>
                        <m:sup>
                          <m:r>
                            <a:rPr lang="es-CO" sz="2300" i="1">
                              <a:latin typeface="Cambria Math" panose="02040503050406030204" pitchFamily="18" charset="0"/>
                            </a:rPr>
                            <m:t>𝑛</m:t>
                          </m:r>
                          <m:r>
                            <a:rPr lang="es-CO" sz="2300" i="1">
                              <a:latin typeface="Cambria Math" panose="02040503050406030204" pitchFamily="18" charset="0"/>
                            </a:rPr>
                            <m:t>−2</m:t>
                          </m:r>
                        </m:sup>
                      </m:sSup>
                      <m:r>
                        <a:rPr lang="es-CO" sz="2300" i="1">
                          <a:latin typeface="Cambria Math" panose="02040503050406030204" pitchFamily="18" charset="0"/>
                        </a:rPr>
                        <m:t>+…+</m:t>
                      </m:r>
                      <m:r>
                        <a:rPr lang="es-CO" sz="2300" i="1">
                          <a:latin typeface="Cambria Math" panose="02040503050406030204" pitchFamily="18" charset="0"/>
                        </a:rPr>
                        <m:t>𝐺</m:t>
                      </m:r>
                      <m:d>
                        <m:dPr>
                          <m:ctrlPr>
                            <a:rPr lang="es-CO" sz="2300" i="1">
                              <a:latin typeface="Cambria Math" panose="02040503050406030204" pitchFamily="18" charset="0"/>
                            </a:rPr>
                          </m:ctrlPr>
                        </m:dPr>
                        <m:e>
                          <m:r>
                            <a:rPr lang="es-CO" sz="2300" i="1">
                              <a:latin typeface="Cambria Math" panose="02040503050406030204" pitchFamily="18" charset="0"/>
                            </a:rPr>
                            <m:t>1+</m:t>
                          </m:r>
                          <m:r>
                            <a:rPr lang="es-CO" sz="2300" i="1">
                              <a:latin typeface="Cambria Math" panose="02040503050406030204" pitchFamily="18" charset="0"/>
                            </a:rPr>
                            <m:t>𝑖</m:t>
                          </m:r>
                        </m:e>
                      </m:d>
                      <m:r>
                        <a:rPr lang="es-CO" sz="2300" i="1">
                          <a:latin typeface="Cambria Math" panose="02040503050406030204" pitchFamily="18" charset="0"/>
                        </a:rPr>
                        <m:t>+</m:t>
                      </m:r>
                      <m:r>
                        <a:rPr lang="es-CO" sz="2300" i="1">
                          <a:latin typeface="Cambria Math" panose="02040503050406030204" pitchFamily="18" charset="0"/>
                        </a:rPr>
                        <m:t>𝐺</m:t>
                      </m:r>
                      <m:r>
                        <a:rPr lang="es-CO" sz="2300" i="1">
                          <a:latin typeface="Cambria Math" panose="02040503050406030204" pitchFamily="18" charset="0"/>
                        </a:rPr>
                        <m:t> −</m:t>
                      </m:r>
                      <m:r>
                        <a:rPr lang="es-CO" sz="2300" i="1">
                          <a:latin typeface="Cambria Math" panose="02040503050406030204" pitchFamily="18" charset="0"/>
                        </a:rPr>
                        <m:t>𝑛𝐺</m:t>
                      </m:r>
                    </m:oMath>
                  </m:oMathPara>
                </a14:m>
                <a:endParaRPr lang="es-CO" sz="2300"/>
              </a:p>
            </p:txBody>
          </p:sp>
        </mc:Choice>
        <mc:Fallback xmlns="">
          <p:sp>
            <p:nvSpPr>
              <p:cNvPr id="13" name="CuadroTexto 12">
                <a:extLst>
                  <a:ext uri="{FF2B5EF4-FFF2-40B4-BE49-F238E27FC236}">
                    <a16:creationId xmlns:a16="http://schemas.microsoft.com/office/drawing/2014/main" id="{D13EDEB0-8C4A-1EA3-7525-78D15B8A03DF}"/>
                  </a:ext>
                </a:extLst>
              </p:cNvPr>
              <p:cNvSpPr txBox="1">
                <a:spLocks noRot="1" noChangeAspect="1" noMove="1" noResize="1" noEditPoints="1" noAdjustHandles="1" noChangeArrowheads="1" noChangeShapeType="1" noTextEdit="1"/>
              </p:cNvSpPr>
              <p:nvPr/>
            </p:nvSpPr>
            <p:spPr>
              <a:xfrm>
                <a:off x="2158191" y="2525167"/>
                <a:ext cx="7875618" cy="353943"/>
              </a:xfrm>
              <a:prstGeom prst="rect">
                <a:avLst/>
              </a:prstGeom>
              <a:blipFill>
                <a:blip r:embed="rId3"/>
                <a:stretch>
                  <a:fillRect l="-643" t="-6897" r="-161" b="-37931"/>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6" name="CuadroTexto 5">
                <a:extLst>
                  <a:ext uri="{FF2B5EF4-FFF2-40B4-BE49-F238E27FC236}">
                    <a16:creationId xmlns:a16="http://schemas.microsoft.com/office/drawing/2014/main" id="{6B7A14C3-6AC1-EBCE-9BF2-50A60ABE8193}"/>
                  </a:ext>
                </a:extLst>
              </p:cNvPr>
              <p:cNvSpPr txBox="1"/>
              <p:nvPr/>
            </p:nvSpPr>
            <p:spPr>
              <a:xfrm>
                <a:off x="4079454" y="3688322"/>
                <a:ext cx="4033092" cy="79528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CO" sz="2300" i="1">
                          <a:latin typeface="Cambria Math" panose="02040503050406030204" pitchFamily="18" charset="0"/>
                        </a:rPr>
                        <m:t>𝑉𝑓</m:t>
                      </m:r>
                      <m:r>
                        <a:rPr lang="es-CO" sz="2300" i="1">
                          <a:latin typeface="Cambria Math" panose="02040503050406030204" pitchFamily="18" charset="0"/>
                        </a:rPr>
                        <m:t>∗</m:t>
                      </m:r>
                      <m:r>
                        <a:rPr lang="es-CO" sz="2300" i="1">
                          <a:latin typeface="Cambria Math" panose="02040503050406030204" pitchFamily="18" charset="0"/>
                        </a:rPr>
                        <m:t>𝑖</m:t>
                      </m:r>
                      <m:r>
                        <a:rPr lang="es-CO" sz="2300" i="1">
                          <a:latin typeface="Cambria Math" panose="02040503050406030204" pitchFamily="18" charset="0"/>
                        </a:rPr>
                        <m:t>=</m:t>
                      </m:r>
                      <m:r>
                        <a:rPr lang="es-CO" sz="2300" i="1">
                          <a:latin typeface="Cambria Math" panose="02040503050406030204" pitchFamily="18" charset="0"/>
                        </a:rPr>
                        <m:t>𝐺</m:t>
                      </m:r>
                      <m:d>
                        <m:dPr>
                          <m:ctrlPr>
                            <a:rPr lang="es-CO" sz="2300" i="1">
                              <a:latin typeface="Cambria Math" panose="02040503050406030204" pitchFamily="18" charset="0"/>
                            </a:rPr>
                          </m:ctrlPr>
                        </m:dPr>
                        <m:e>
                          <m:f>
                            <m:fPr>
                              <m:type m:val="noBar"/>
                              <m:ctrlPr>
                                <a:rPr lang="es-CO" sz="2300" i="1">
                                  <a:latin typeface="Cambria Math" panose="02040503050406030204" pitchFamily="18" charset="0"/>
                                </a:rPr>
                              </m:ctrlPr>
                            </m:fPr>
                            <m:num>
                              <m:sSup>
                                <m:sSupPr>
                                  <m:ctrlPr>
                                    <a:rPr lang="es-CO" sz="2300" i="1">
                                      <a:latin typeface="Cambria Math" panose="02040503050406030204" pitchFamily="18" charset="0"/>
                                    </a:rPr>
                                  </m:ctrlPr>
                                </m:sSupPr>
                                <m:e>
                                  <m:d>
                                    <m:dPr>
                                      <m:ctrlPr>
                                        <a:rPr lang="es-CO" sz="2300" i="1">
                                          <a:latin typeface="Cambria Math" panose="02040503050406030204" pitchFamily="18" charset="0"/>
                                        </a:rPr>
                                      </m:ctrlPr>
                                    </m:dPr>
                                    <m:e>
                                      <m:r>
                                        <a:rPr lang="es-CO" sz="2300" i="1">
                                          <a:latin typeface="Cambria Math" panose="02040503050406030204" pitchFamily="18" charset="0"/>
                                        </a:rPr>
                                        <m:t>1+</m:t>
                                      </m:r>
                                      <m:r>
                                        <a:rPr lang="es-CO" sz="2300" i="1">
                                          <a:latin typeface="Cambria Math" panose="02040503050406030204" pitchFamily="18" charset="0"/>
                                        </a:rPr>
                                        <m:t>𝑖</m:t>
                                      </m:r>
                                    </m:e>
                                  </m:d>
                                </m:e>
                                <m:sup>
                                  <m:r>
                                    <a:rPr lang="es-CO" sz="2300" i="1">
                                      <a:latin typeface="Cambria Math" panose="02040503050406030204" pitchFamily="18" charset="0"/>
                                    </a:rPr>
                                    <m:t>𝑛</m:t>
                                  </m:r>
                                </m:sup>
                              </m:sSup>
                              <m:r>
                                <a:rPr lang="es-CO" sz="2300" i="1">
                                  <a:latin typeface="Cambria Math" panose="02040503050406030204" pitchFamily="18" charset="0"/>
                                </a:rPr>
                                <m:t>−1</m:t>
                              </m:r>
                            </m:num>
                            <m:den>
                              <m:r>
                                <a:rPr lang="es-CO" sz="2300" i="1">
                                  <a:latin typeface="Cambria Math" panose="02040503050406030204" pitchFamily="18" charset="0"/>
                                </a:rPr>
                                <m:t>𝑖</m:t>
                              </m:r>
                            </m:den>
                          </m:f>
                        </m:e>
                      </m:d>
                      <m:r>
                        <a:rPr lang="es-CO" sz="2300" i="1">
                          <a:latin typeface="Cambria Math" panose="02040503050406030204" pitchFamily="18" charset="0"/>
                        </a:rPr>
                        <m:t>−</m:t>
                      </m:r>
                      <m:r>
                        <a:rPr lang="es-CO" sz="2300" i="1">
                          <a:latin typeface="Cambria Math" panose="02040503050406030204" pitchFamily="18" charset="0"/>
                        </a:rPr>
                        <m:t>𝑛𝐺</m:t>
                      </m:r>
                    </m:oMath>
                  </m:oMathPara>
                </a14:m>
                <a:endParaRPr lang="es-CO" sz="2300"/>
              </a:p>
            </p:txBody>
          </p:sp>
        </mc:Choice>
        <mc:Fallback xmlns="">
          <p:sp>
            <p:nvSpPr>
              <p:cNvPr id="6" name="CuadroTexto 5">
                <a:extLst>
                  <a:ext uri="{FF2B5EF4-FFF2-40B4-BE49-F238E27FC236}">
                    <a16:creationId xmlns:a16="http://schemas.microsoft.com/office/drawing/2014/main" id="{6B7A14C3-6AC1-EBCE-9BF2-50A60ABE8193}"/>
                  </a:ext>
                </a:extLst>
              </p:cNvPr>
              <p:cNvSpPr txBox="1">
                <a:spLocks noRot="1" noChangeAspect="1" noMove="1" noResize="1" noEditPoints="1" noAdjustHandles="1" noChangeArrowheads="1" noChangeShapeType="1" noTextEdit="1"/>
              </p:cNvSpPr>
              <p:nvPr/>
            </p:nvSpPr>
            <p:spPr>
              <a:xfrm>
                <a:off x="4079454" y="3688322"/>
                <a:ext cx="4033092" cy="795282"/>
              </a:xfrm>
              <a:prstGeom prst="rect">
                <a:avLst/>
              </a:prstGeom>
              <a:blipFill>
                <a:blip r:embed="rId4"/>
                <a:stretch>
                  <a:fillRect l="-1887" r="-943" b="-1587"/>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11" name="CuadroTexto 5">
                <a:extLst>
                  <a:ext uri="{FF2B5EF4-FFF2-40B4-BE49-F238E27FC236}">
                    <a16:creationId xmlns:a16="http://schemas.microsoft.com/office/drawing/2014/main" id="{0282780E-5DD0-418B-A3F0-4B360529A3A9}"/>
                  </a:ext>
                </a:extLst>
              </p:cNvPr>
              <p:cNvSpPr txBox="1"/>
              <p:nvPr/>
            </p:nvSpPr>
            <p:spPr>
              <a:xfrm>
                <a:off x="3982889" y="5160855"/>
                <a:ext cx="4226222" cy="795282"/>
              </a:xfrm>
              <a:prstGeom prst="rect">
                <a:avLst/>
              </a:prstGeom>
              <a:ln w="38100">
                <a:solidFill>
                  <a:srgbClr val="FF0000"/>
                </a:solidFill>
              </a:ln>
            </p:spPr>
            <p:style>
              <a:lnRef idx="2">
                <a:schemeClr val="accent2"/>
              </a:lnRef>
              <a:fillRef idx="1">
                <a:schemeClr val="lt1"/>
              </a:fillRef>
              <a:effectRef idx="0">
                <a:schemeClr val="accent2"/>
              </a:effectRef>
              <a:fontRef idx="minor">
                <a:schemeClr val="dk1"/>
              </a:fontRef>
            </p:style>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CO" sz="2300" i="1">
                          <a:latin typeface="Cambria Math" panose="02040503050406030204" pitchFamily="18" charset="0"/>
                        </a:rPr>
                        <m:t>𝑉𝑓</m:t>
                      </m:r>
                      <m:r>
                        <a:rPr lang="es-CO" sz="2300" i="1">
                          <a:latin typeface="Cambria Math" panose="02040503050406030204" pitchFamily="18" charset="0"/>
                        </a:rPr>
                        <m:t>=</m:t>
                      </m:r>
                      <m:r>
                        <a:rPr lang="es-CO" sz="2300" i="1">
                          <a:latin typeface="Cambria Math" panose="02040503050406030204" pitchFamily="18" charset="0"/>
                        </a:rPr>
                        <m:t>𝐺</m:t>
                      </m:r>
                      <m:d>
                        <m:dPr>
                          <m:begChr m:val="["/>
                          <m:endChr m:val="]"/>
                          <m:ctrlPr>
                            <a:rPr lang="es-CO" sz="2300" i="1">
                              <a:latin typeface="Cambria Math" panose="02040503050406030204" pitchFamily="18" charset="0"/>
                            </a:rPr>
                          </m:ctrlPr>
                        </m:dPr>
                        <m:e>
                          <m:d>
                            <m:dPr>
                              <m:ctrlPr>
                                <a:rPr lang="es-CO" sz="2300" i="1">
                                  <a:latin typeface="Cambria Math" panose="02040503050406030204" pitchFamily="18" charset="0"/>
                                </a:rPr>
                              </m:ctrlPr>
                            </m:dPr>
                            <m:e>
                              <m:f>
                                <m:fPr>
                                  <m:ctrlPr>
                                    <a:rPr lang="es-ES" sz="2300" i="1">
                                      <a:latin typeface="Cambria Math" panose="02040503050406030204" pitchFamily="18" charset="0"/>
                                    </a:rPr>
                                  </m:ctrlPr>
                                </m:fPr>
                                <m:num>
                                  <m:r>
                                    <a:rPr lang="es-ES" sz="2300" i="1">
                                      <a:latin typeface="Cambria Math" panose="02040503050406030204" pitchFamily="18" charset="0"/>
                                    </a:rPr>
                                    <m:t>1</m:t>
                                  </m:r>
                                </m:num>
                                <m:den>
                                  <m:r>
                                    <a:rPr lang="es-ES" sz="2300" i="1">
                                      <a:latin typeface="Cambria Math" panose="02040503050406030204" pitchFamily="18" charset="0"/>
                                    </a:rPr>
                                    <m:t>𝑖</m:t>
                                  </m:r>
                                </m:den>
                              </m:f>
                            </m:e>
                          </m:d>
                          <m:d>
                            <m:dPr>
                              <m:ctrlPr>
                                <a:rPr lang="es-CO" sz="2300" i="1">
                                  <a:latin typeface="Cambria Math" panose="02040503050406030204" pitchFamily="18" charset="0"/>
                                </a:rPr>
                              </m:ctrlPr>
                            </m:dPr>
                            <m:e>
                              <m:f>
                                <m:fPr>
                                  <m:ctrlPr>
                                    <a:rPr lang="es-ES" sz="2300" i="1">
                                      <a:latin typeface="Cambria Math" panose="02040503050406030204" pitchFamily="18" charset="0"/>
                                    </a:rPr>
                                  </m:ctrlPr>
                                </m:fPr>
                                <m:num>
                                  <m:sSup>
                                    <m:sSupPr>
                                      <m:ctrlPr>
                                        <a:rPr lang="es-ES" sz="2300" i="1">
                                          <a:latin typeface="Cambria Math" panose="02040503050406030204" pitchFamily="18" charset="0"/>
                                        </a:rPr>
                                      </m:ctrlPr>
                                    </m:sSupPr>
                                    <m:e>
                                      <m:d>
                                        <m:dPr>
                                          <m:ctrlPr>
                                            <a:rPr lang="es-ES" sz="2300" i="1">
                                              <a:latin typeface="Cambria Math" panose="02040503050406030204" pitchFamily="18" charset="0"/>
                                            </a:rPr>
                                          </m:ctrlPr>
                                        </m:dPr>
                                        <m:e>
                                          <m:r>
                                            <a:rPr lang="es-ES" sz="2300" i="1">
                                              <a:latin typeface="Cambria Math" panose="02040503050406030204" pitchFamily="18" charset="0"/>
                                            </a:rPr>
                                            <m:t>1+</m:t>
                                          </m:r>
                                          <m:r>
                                            <a:rPr lang="es-ES" sz="2300" i="1">
                                              <a:latin typeface="Cambria Math" panose="02040503050406030204" pitchFamily="18" charset="0"/>
                                            </a:rPr>
                                            <m:t>𝑖</m:t>
                                          </m:r>
                                        </m:e>
                                      </m:d>
                                    </m:e>
                                    <m:sup>
                                      <m:r>
                                        <a:rPr lang="es-ES" sz="2300" i="1">
                                          <a:latin typeface="Cambria Math" panose="02040503050406030204" pitchFamily="18" charset="0"/>
                                        </a:rPr>
                                        <m:t>𝑛</m:t>
                                      </m:r>
                                    </m:sup>
                                  </m:sSup>
                                  <m:r>
                                    <a:rPr lang="es-ES" sz="2300" i="1">
                                      <a:latin typeface="Cambria Math" panose="02040503050406030204" pitchFamily="18" charset="0"/>
                                    </a:rPr>
                                    <m:t>−1</m:t>
                                  </m:r>
                                </m:num>
                                <m:den>
                                  <m:r>
                                    <a:rPr lang="es-ES" sz="2300" i="1">
                                      <a:latin typeface="Cambria Math" panose="02040503050406030204" pitchFamily="18" charset="0"/>
                                    </a:rPr>
                                    <m:t>𝑖</m:t>
                                  </m:r>
                                </m:den>
                              </m:f>
                              <m:r>
                                <a:rPr lang="es-ES" sz="2300" i="1">
                                  <a:latin typeface="Cambria Math" panose="02040503050406030204" pitchFamily="18" charset="0"/>
                                </a:rPr>
                                <m:t>−</m:t>
                              </m:r>
                              <m:r>
                                <a:rPr lang="es-ES" sz="2300" i="1">
                                  <a:latin typeface="Cambria Math" panose="02040503050406030204" pitchFamily="18" charset="0"/>
                                </a:rPr>
                                <m:t>𝑛</m:t>
                              </m:r>
                            </m:e>
                          </m:d>
                        </m:e>
                      </m:d>
                    </m:oMath>
                  </m:oMathPara>
                </a14:m>
                <a:endParaRPr lang="es-CO" sz="2300" dirty="0"/>
              </a:p>
            </p:txBody>
          </p:sp>
        </mc:Choice>
        <mc:Fallback xmlns="">
          <p:sp>
            <p:nvSpPr>
              <p:cNvPr id="11" name="CuadroTexto 5">
                <a:extLst>
                  <a:ext uri="{FF2B5EF4-FFF2-40B4-BE49-F238E27FC236}">
                    <a16:creationId xmlns:a16="http://schemas.microsoft.com/office/drawing/2014/main" id="{0282780E-5DD0-418B-A3F0-4B360529A3A9}"/>
                  </a:ext>
                </a:extLst>
              </p:cNvPr>
              <p:cNvSpPr txBox="1">
                <a:spLocks noRot="1" noChangeAspect="1" noMove="1" noResize="1" noEditPoints="1" noAdjustHandles="1" noChangeArrowheads="1" noChangeShapeType="1" noTextEdit="1"/>
              </p:cNvSpPr>
              <p:nvPr/>
            </p:nvSpPr>
            <p:spPr>
              <a:xfrm>
                <a:off x="3982889" y="5160855"/>
                <a:ext cx="4226222" cy="795282"/>
              </a:xfrm>
              <a:prstGeom prst="rect">
                <a:avLst/>
              </a:prstGeom>
              <a:blipFill>
                <a:blip r:embed="rId5"/>
                <a:stretch>
                  <a:fillRect l="-893"/>
                </a:stretch>
              </a:blipFill>
              <a:ln w="38100">
                <a:solidFill>
                  <a:srgbClr val="FF0000"/>
                </a:solidFill>
              </a:ln>
            </p:spPr>
            <p:txBody>
              <a:bodyPr/>
              <a:lstStyle/>
              <a:p>
                <a:r>
                  <a:rPr lang="es-ES_tradnl">
                    <a:noFill/>
                  </a:rPr>
                  <a:t> </a:t>
                </a:r>
              </a:p>
            </p:txBody>
          </p:sp>
        </mc:Fallback>
      </mc:AlternateContent>
      <p:sp>
        <p:nvSpPr>
          <p:cNvPr id="10" name="Title 1">
            <a:extLst>
              <a:ext uri="{FF2B5EF4-FFF2-40B4-BE49-F238E27FC236}">
                <a16:creationId xmlns:a16="http://schemas.microsoft.com/office/drawing/2014/main" id="{444CFF9C-EDB4-2EE2-86F8-63BD0A697220}"/>
              </a:ext>
            </a:extLst>
          </p:cNvPr>
          <p:cNvSpPr>
            <a:spLocks noGrp="1"/>
          </p:cNvSpPr>
          <p:nvPr>
            <p:ph type="title"/>
          </p:nvPr>
        </p:nvSpPr>
        <p:spPr>
          <a:xfrm>
            <a:off x="581192" y="702156"/>
            <a:ext cx="11029616" cy="1013800"/>
          </a:xfrm>
        </p:spPr>
        <p:txBody>
          <a:bodyPr>
            <a:normAutofit/>
          </a:bodyPr>
          <a:lstStyle/>
          <a:p>
            <a:r>
              <a:rPr lang="es-ES_tradnl" sz="3200">
                <a:latin typeface="Gill Sans MT (titulo)"/>
              </a:rPr>
              <a:t>Gradientes aritméticos</a:t>
            </a:r>
          </a:p>
        </p:txBody>
      </p:sp>
      <p:sp>
        <p:nvSpPr>
          <p:cNvPr id="12" name="Rectángulo 11">
            <a:extLst>
              <a:ext uri="{FF2B5EF4-FFF2-40B4-BE49-F238E27FC236}">
                <a16:creationId xmlns:a16="http://schemas.microsoft.com/office/drawing/2014/main" id="{94A4AD89-6DAB-7832-5400-3A40F5750EDA}"/>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4" name="Picture 2" descr="Clientes y aliados | Centro de Evaluación | Uniandes">
            <a:extLst>
              <a:ext uri="{FF2B5EF4-FFF2-40B4-BE49-F238E27FC236}">
                <a16:creationId xmlns:a16="http://schemas.microsoft.com/office/drawing/2014/main" id="{EABE9819-D3B9-F559-2A90-D3926B198B9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5" name="Rectángulo 14">
            <a:extLst>
              <a:ext uri="{FF2B5EF4-FFF2-40B4-BE49-F238E27FC236}">
                <a16:creationId xmlns:a16="http://schemas.microsoft.com/office/drawing/2014/main" id="{279BD46B-B1E5-BB8F-AD16-C3F8251AB648}"/>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2" name="Slide Number Placeholder 3">
            <a:extLst>
              <a:ext uri="{FF2B5EF4-FFF2-40B4-BE49-F238E27FC236}">
                <a16:creationId xmlns:a16="http://schemas.microsoft.com/office/drawing/2014/main" id="{93C159F2-5197-6469-BB95-01F338BEC72C}"/>
              </a:ext>
            </a:extLst>
          </p:cNvPr>
          <p:cNvSpPr>
            <a:spLocks noGrp="1"/>
          </p:cNvSpPr>
          <p:nvPr>
            <p:ph type="sldNum" sz="quarter" idx="12"/>
          </p:nvPr>
        </p:nvSpPr>
        <p:spPr>
          <a:xfrm>
            <a:off x="10558300" y="5956137"/>
            <a:ext cx="1052508" cy="365125"/>
          </a:xfrm>
        </p:spPr>
        <p:txBody>
          <a:bodyPr/>
          <a:lstStyle/>
          <a:p>
            <a:fld id="{5E3E23BA-6E79-2442-BA73-D218A5E297C3}" type="slidenum">
              <a:rPr lang="en-US" sz="2000" b="1" smtClean="0">
                <a:latin typeface="Gill Sans MT (Títulos)"/>
              </a:rPr>
              <a:t>14</a:t>
            </a:fld>
            <a:endParaRPr lang="en-US" sz="2000" b="1" dirty="0">
              <a:latin typeface="Gill Sans MT (Títulos)"/>
            </a:endParaRPr>
          </a:p>
        </p:txBody>
      </p:sp>
    </p:spTree>
    <p:extLst>
      <p:ext uri="{BB962C8B-B14F-4D97-AF65-F5344CB8AC3E}">
        <p14:creationId xmlns:p14="http://schemas.microsoft.com/office/powerpoint/2010/main" val="37909292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 name="CuadroTexto 5">
                <a:extLst>
                  <a:ext uri="{FF2B5EF4-FFF2-40B4-BE49-F238E27FC236}">
                    <a16:creationId xmlns:a16="http://schemas.microsoft.com/office/drawing/2014/main" id="{0282780E-5DD0-418B-A3F0-4B360529A3A9}"/>
                  </a:ext>
                </a:extLst>
              </p:cNvPr>
              <p:cNvSpPr txBox="1"/>
              <p:nvPr/>
            </p:nvSpPr>
            <p:spPr>
              <a:xfrm>
                <a:off x="3982889" y="1989939"/>
                <a:ext cx="4226222" cy="795282"/>
              </a:xfrm>
              <a:prstGeom prst="rect">
                <a:avLst/>
              </a:prstGeom>
              <a:noFill/>
            </p:spPr>
            <p:txBody>
              <a:bodyPr wrap="none" lIns="0" tIns="0" rIns="0" bIns="0" rtlCol="0">
                <a:spAutoFit/>
              </a:bodyPr>
              <a:lstStyle/>
              <a:p>
                <a:pPr>
                  <a:defRPr/>
                </a:pPr>
                <a14:m>
                  <m:oMathPara xmlns:m="http://schemas.openxmlformats.org/officeDocument/2006/math">
                    <m:oMathParaPr>
                      <m:jc m:val="centerGroup"/>
                    </m:oMathParaPr>
                    <m:oMath xmlns:m="http://schemas.openxmlformats.org/officeDocument/2006/math">
                      <m:r>
                        <a:rPr lang="es-CO" sz="2300" i="1">
                          <a:solidFill>
                            <a:prstClr val="black"/>
                          </a:solidFill>
                          <a:latin typeface="Cambria Math" panose="02040503050406030204" pitchFamily="18" charset="0"/>
                        </a:rPr>
                        <m:t>𝑉𝑓</m:t>
                      </m:r>
                      <m:r>
                        <a:rPr lang="es-CO" sz="2300" i="1">
                          <a:solidFill>
                            <a:prstClr val="black"/>
                          </a:solidFill>
                          <a:latin typeface="Cambria Math" panose="02040503050406030204" pitchFamily="18" charset="0"/>
                        </a:rPr>
                        <m:t>=</m:t>
                      </m:r>
                      <m:r>
                        <a:rPr lang="es-CO" sz="2300" i="1">
                          <a:solidFill>
                            <a:prstClr val="black"/>
                          </a:solidFill>
                          <a:latin typeface="Cambria Math" panose="02040503050406030204" pitchFamily="18" charset="0"/>
                        </a:rPr>
                        <m:t>𝐺</m:t>
                      </m:r>
                      <m:d>
                        <m:dPr>
                          <m:begChr m:val="["/>
                          <m:endChr m:val="]"/>
                          <m:ctrlPr>
                            <a:rPr lang="es-CO" sz="2300" i="1">
                              <a:solidFill>
                                <a:prstClr val="black"/>
                              </a:solidFill>
                              <a:latin typeface="Cambria Math" panose="02040503050406030204" pitchFamily="18" charset="0"/>
                            </a:rPr>
                          </m:ctrlPr>
                        </m:dPr>
                        <m:e>
                          <m:d>
                            <m:dPr>
                              <m:ctrlPr>
                                <a:rPr lang="es-CO" sz="2300" i="1">
                                  <a:solidFill>
                                    <a:prstClr val="black"/>
                                  </a:solidFill>
                                  <a:latin typeface="Cambria Math" panose="02040503050406030204" pitchFamily="18" charset="0"/>
                                </a:rPr>
                              </m:ctrlPr>
                            </m:dPr>
                            <m:e>
                              <m:f>
                                <m:fPr>
                                  <m:ctrlPr>
                                    <a:rPr lang="es-ES" sz="2300" i="1">
                                      <a:solidFill>
                                        <a:prstClr val="black"/>
                                      </a:solidFill>
                                      <a:latin typeface="Cambria Math" panose="02040503050406030204" pitchFamily="18" charset="0"/>
                                    </a:rPr>
                                  </m:ctrlPr>
                                </m:fPr>
                                <m:num>
                                  <m:r>
                                    <a:rPr lang="es-ES" sz="2300" i="1">
                                      <a:solidFill>
                                        <a:prstClr val="black"/>
                                      </a:solidFill>
                                      <a:latin typeface="Cambria Math" panose="02040503050406030204" pitchFamily="18" charset="0"/>
                                    </a:rPr>
                                    <m:t>1</m:t>
                                  </m:r>
                                </m:num>
                                <m:den>
                                  <m:r>
                                    <a:rPr lang="es-ES" sz="2300" i="1">
                                      <a:solidFill>
                                        <a:prstClr val="black"/>
                                      </a:solidFill>
                                      <a:latin typeface="Cambria Math" panose="02040503050406030204" pitchFamily="18" charset="0"/>
                                    </a:rPr>
                                    <m:t>𝑖</m:t>
                                  </m:r>
                                </m:den>
                              </m:f>
                            </m:e>
                          </m:d>
                          <m:d>
                            <m:dPr>
                              <m:ctrlPr>
                                <a:rPr lang="es-CO" sz="2300" i="1">
                                  <a:solidFill>
                                    <a:prstClr val="black"/>
                                  </a:solidFill>
                                  <a:latin typeface="Cambria Math" panose="02040503050406030204" pitchFamily="18" charset="0"/>
                                </a:rPr>
                              </m:ctrlPr>
                            </m:dPr>
                            <m:e>
                              <m:f>
                                <m:fPr>
                                  <m:ctrlPr>
                                    <a:rPr lang="es-ES" sz="2300" i="1">
                                      <a:solidFill>
                                        <a:prstClr val="black"/>
                                      </a:solidFill>
                                      <a:latin typeface="Cambria Math" panose="02040503050406030204" pitchFamily="18" charset="0"/>
                                    </a:rPr>
                                  </m:ctrlPr>
                                </m:fPr>
                                <m:num>
                                  <m:sSup>
                                    <m:sSupPr>
                                      <m:ctrlPr>
                                        <a:rPr lang="es-ES" sz="2300" i="1">
                                          <a:solidFill>
                                            <a:prstClr val="black"/>
                                          </a:solidFill>
                                          <a:latin typeface="Cambria Math" panose="02040503050406030204" pitchFamily="18" charset="0"/>
                                        </a:rPr>
                                      </m:ctrlPr>
                                    </m:sSupPr>
                                    <m:e>
                                      <m:d>
                                        <m:dPr>
                                          <m:ctrlPr>
                                            <a:rPr lang="es-ES" sz="2300" i="1">
                                              <a:solidFill>
                                                <a:prstClr val="black"/>
                                              </a:solidFill>
                                              <a:latin typeface="Cambria Math" panose="02040503050406030204" pitchFamily="18" charset="0"/>
                                            </a:rPr>
                                          </m:ctrlPr>
                                        </m:dPr>
                                        <m:e>
                                          <m:r>
                                            <a:rPr lang="es-ES" sz="2300" i="1">
                                              <a:solidFill>
                                                <a:prstClr val="black"/>
                                              </a:solidFill>
                                              <a:latin typeface="Cambria Math" panose="02040503050406030204" pitchFamily="18" charset="0"/>
                                            </a:rPr>
                                            <m:t>1+</m:t>
                                          </m:r>
                                          <m:r>
                                            <a:rPr lang="es-ES" sz="2300" i="1">
                                              <a:solidFill>
                                                <a:prstClr val="black"/>
                                              </a:solidFill>
                                              <a:latin typeface="Cambria Math" panose="02040503050406030204" pitchFamily="18" charset="0"/>
                                            </a:rPr>
                                            <m:t>𝑖</m:t>
                                          </m:r>
                                        </m:e>
                                      </m:d>
                                    </m:e>
                                    <m:sup>
                                      <m:r>
                                        <a:rPr lang="es-ES" sz="2300" i="1">
                                          <a:solidFill>
                                            <a:prstClr val="black"/>
                                          </a:solidFill>
                                          <a:latin typeface="Cambria Math" panose="02040503050406030204" pitchFamily="18" charset="0"/>
                                        </a:rPr>
                                        <m:t>𝑛</m:t>
                                      </m:r>
                                    </m:sup>
                                  </m:sSup>
                                  <m:r>
                                    <a:rPr lang="es-ES" sz="2300" i="1">
                                      <a:solidFill>
                                        <a:prstClr val="black"/>
                                      </a:solidFill>
                                      <a:latin typeface="Cambria Math" panose="02040503050406030204" pitchFamily="18" charset="0"/>
                                    </a:rPr>
                                    <m:t>−1</m:t>
                                  </m:r>
                                </m:num>
                                <m:den>
                                  <m:r>
                                    <a:rPr lang="es-ES" sz="2300" i="1">
                                      <a:solidFill>
                                        <a:prstClr val="black"/>
                                      </a:solidFill>
                                      <a:latin typeface="Cambria Math" panose="02040503050406030204" pitchFamily="18" charset="0"/>
                                    </a:rPr>
                                    <m:t>𝑖</m:t>
                                  </m:r>
                                </m:den>
                              </m:f>
                              <m:r>
                                <a:rPr lang="es-ES" sz="2300" i="1">
                                  <a:solidFill>
                                    <a:prstClr val="black"/>
                                  </a:solidFill>
                                  <a:latin typeface="Cambria Math" panose="02040503050406030204" pitchFamily="18" charset="0"/>
                                </a:rPr>
                                <m:t>−</m:t>
                              </m:r>
                              <m:r>
                                <a:rPr lang="es-ES" sz="2300" i="1">
                                  <a:solidFill>
                                    <a:prstClr val="black"/>
                                  </a:solidFill>
                                  <a:latin typeface="Cambria Math" panose="02040503050406030204" pitchFamily="18" charset="0"/>
                                </a:rPr>
                                <m:t>𝑛</m:t>
                              </m:r>
                            </m:e>
                          </m:d>
                        </m:e>
                      </m:d>
                    </m:oMath>
                  </m:oMathPara>
                </a14:m>
                <a:endParaRPr lang="es-CO" sz="2300" dirty="0">
                  <a:solidFill>
                    <a:prstClr val="black"/>
                  </a:solidFill>
                  <a:latin typeface="Calibri" panose="020F0502020204030204"/>
                </a:endParaRPr>
              </a:p>
            </p:txBody>
          </p:sp>
        </mc:Choice>
        <mc:Fallback xmlns="">
          <p:sp>
            <p:nvSpPr>
              <p:cNvPr id="11" name="CuadroTexto 5">
                <a:extLst>
                  <a:ext uri="{FF2B5EF4-FFF2-40B4-BE49-F238E27FC236}">
                    <a16:creationId xmlns:a16="http://schemas.microsoft.com/office/drawing/2014/main" id="{0282780E-5DD0-418B-A3F0-4B360529A3A9}"/>
                  </a:ext>
                </a:extLst>
              </p:cNvPr>
              <p:cNvSpPr txBox="1">
                <a:spLocks noRot="1" noChangeAspect="1" noMove="1" noResize="1" noEditPoints="1" noAdjustHandles="1" noChangeArrowheads="1" noChangeShapeType="1" noTextEdit="1"/>
              </p:cNvSpPr>
              <p:nvPr/>
            </p:nvSpPr>
            <p:spPr>
              <a:xfrm>
                <a:off x="3982889" y="1989939"/>
                <a:ext cx="4226222" cy="795282"/>
              </a:xfrm>
              <a:prstGeom prst="rect">
                <a:avLst/>
              </a:prstGeom>
              <a:blipFill>
                <a:blip r:embed="rId3"/>
                <a:stretch>
                  <a:fillRect l="-1198"/>
                </a:stretch>
              </a:blipFill>
            </p:spPr>
            <p:txBody>
              <a:bodyPr/>
              <a:lstStyle/>
              <a:p>
                <a:r>
                  <a:rPr lang="es-CO">
                    <a:noFill/>
                  </a:rPr>
                  <a:t> </a:t>
                </a:r>
              </a:p>
            </p:txBody>
          </p:sp>
        </mc:Fallback>
      </mc:AlternateContent>
      <p:sp>
        <p:nvSpPr>
          <p:cNvPr id="8" name="Marcador de contenido 2">
            <a:extLst>
              <a:ext uri="{FF2B5EF4-FFF2-40B4-BE49-F238E27FC236}">
                <a16:creationId xmlns:a16="http://schemas.microsoft.com/office/drawing/2014/main" id="{9EF42E38-24E7-4CC7-9450-D99F7E5C8A03}"/>
              </a:ext>
            </a:extLst>
          </p:cNvPr>
          <p:cNvSpPr>
            <a:spLocks noGrp="1"/>
          </p:cNvSpPr>
          <p:nvPr>
            <p:ph idx="1"/>
          </p:nvPr>
        </p:nvSpPr>
        <p:spPr>
          <a:xfrm>
            <a:off x="1518709" y="2737056"/>
            <a:ext cx="9154583" cy="1492261"/>
          </a:xfrm>
        </p:spPr>
        <p:txBody>
          <a:bodyPr>
            <a:noAutofit/>
          </a:bodyPr>
          <a:lstStyle/>
          <a:p>
            <a:pPr marL="0" indent="0" algn="ctr">
              <a:buNone/>
            </a:pPr>
            <a:r>
              <a:rPr lang="es-ES" sz="2400" dirty="0">
                <a:latin typeface="Gill Sans MT (Cuerpo)"/>
              </a:rPr>
              <a:t>Si la pasada expresión nos da el valor futuro de un gradiente aritmético</a:t>
            </a:r>
          </a:p>
          <a:p>
            <a:pPr marL="0" indent="0" algn="ctr">
              <a:buNone/>
            </a:pPr>
            <a:r>
              <a:rPr lang="es-ES" sz="2400" b="1" dirty="0">
                <a:latin typeface="Gill Sans MT (Cuerpo)"/>
              </a:rPr>
              <a:t>¿Cómo hallamos el VP de un gradiente aritmético? </a:t>
            </a:r>
          </a:p>
        </p:txBody>
      </p:sp>
      <mc:AlternateContent xmlns:mc="http://schemas.openxmlformats.org/markup-compatibility/2006" xmlns:a14="http://schemas.microsoft.com/office/drawing/2010/main">
        <mc:Choice Requires="a14">
          <p:sp>
            <p:nvSpPr>
              <p:cNvPr id="9" name="CuadroTexto 5">
                <a:extLst>
                  <a:ext uri="{FF2B5EF4-FFF2-40B4-BE49-F238E27FC236}">
                    <a16:creationId xmlns:a16="http://schemas.microsoft.com/office/drawing/2014/main" id="{0B39B8CC-3BD4-4179-AF50-0BE7A6DC5EF0}"/>
                  </a:ext>
                </a:extLst>
              </p:cNvPr>
              <p:cNvSpPr txBox="1"/>
              <p:nvPr/>
            </p:nvSpPr>
            <p:spPr>
              <a:xfrm>
                <a:off x="6211613" y="4380325"/>
                <a:ext cx="4226222" cy="1039644"/>
              </a:xfrm>
              <a:prstGeom prst="rect">
                <a:avLst/>
              </a:prstGeom>
              <a:noFill/>
            </p:spPr>
            <p:txBody>
              <a:bodyPr wrap="square" lIns="0" tIns="0" rIns="0" bIns="0" rtlCol="0">
                <a:spAutoFit/>
              </a:bodyPr>
              <a:lstStyle/>
              <a:p>
                <a:pPr>
                  <a:defRPr/>
                </a:pPr>
                <a14:m>
                  <m:oMathPara xmlns:m="http://schemas.openxmlformats.org/officeDocument/2006/math">
                    <m:oMathParaPr>
                      <m:jc m:val="centerGroup"/>
                    </m:oMathParaPr>
                    <m:oMath xmlns:m="http://schemas.openxmlformats.org/officeDocument/2006/math">
                      <m:r>
                        <a:rPr lang="es-CO" sz="2300" i="1">
                          <a:solidFill>
                            <a:prstClr val="black"/>
                          </a:solidFill>
                          <a:latin typeface="Cambria Math" panose="02040503050406030204" pitchFamily="18" charset="0"/>
                        </a:rPr>
                        <m:t>𝑉</m:t>
                      </m:r>
                      <m:r>
                        <a:rPr lang="es-ES" sz="2300" i="1">
                          <a:solidFill>
                            <a:prstClr val="black"/>
                          </a:solidFill>
                          <a:latin typeface="Cambria Math" panose="02040503050406030204" pitchFamily="18" charset="0"/>
                        </a:rPr>
                        <m:t>𝑃</m:t>
                      </m:r>
                      <m:r>
                        <a:rPr lang="es-CO" sz="2300" i="1">
                          <a:solidFill>
                            <a:prstClr val="black"/>
                          </a:solidFill>
                          <a:latin typeface="Cambria Math" panose="02040503050406030204" pitchFamily="18" charset="0"/>
                        </a:rPr>
                        <m:t>=</m:t>
                      </m:r>
                      <m:f>
                        <m:fPr>
                          <m:ctrlPr>
                            <a:rPr lang="es-ES" sz="2300" i="1">
                              <a:solidFill>
                                <a:prstClr val="black"/>
                              </a:solidFill>
                              <a:latin typeface="Cambria Math" panose="02040503050406030204" pitchFamily="18" charset="0"/>
                            </a:rPr>
                          </m:ctrlPr>
                        </m:fPr>
                        <m:num>
                          <m:r>
                            <a:rPr lang="es-CO" sz="2300" i="1">
                              <a:solidFill>
                                <a:prstClr val="black"/>
                              </a:solidFill>
                              <a:latin typeface="Cambria Math" panose="02040503050406030204" pitchFamily="18" charset="0"/>
                            </a:rPr>
                            <m:t>𝐺</m:t>
                          </m:r>
                          <m:d>
                            <m:dPr>
                              <m:begChr m:val="["/>
                              <m:endChr m:val="]"/>
                              <m:ctrlPr>
                                <a:rPr lang="es-CO" sz="2300" i="1">
                                  <a:solidFill>
                                    <a:prstClr val="black"/>
                                  </a:solidFill>
                                  <a:latin typeface="Cambria Math" panose="02040503050406030204" pitchFamily="18" charset="0"/>
                                </a:rPr>
                              </m:ctrlPr>
                            </m:dPr>
                            <m:e>
                              <m:d>
                                <m:dPr>
                                  <m:ctrlPr>
                                    <a:rPr lang="es-CO" sz="2300" i="1">
                                      <a:solidFill>
                                        <a:prstClr val="black"/>
                                      </a:solidFill>
                                      <a:latin typeface="Cambria Math" panose="02040503050406030204" pitchFamily="18" charset="0"/>
                                    </a:rPr>
                                  </m:ctrlPr>
                                </m:dPr>
                                <m:e>
                                  <m:f>
                                    <m:fPr>
                                      <m:ctrlPr>
                                        <a:rPr lang="es-ES" sz="2300" i="1">
                                          <a:solidFill>
                                            <a:prstClr val="black"/>
                                          </a:solidFill>
                                          <a:latin typeface="Cambria Math" panose="02040503050406030204" pitchFamily="18" charset="0"/>
                                        </a:rPr>
                                      </m:ctrlPr>
                                    </m:fPr>
                                    <m:num>
                                      <m:r>
                                        <a:rPr lang="es-ES" sz="2300" i="1">
                                          <a:solidFill>
                                            <a:prstClr val="black"/>
                                          </a:solidFill>
                                          <a:latin typeface="Cambria Math" panose="02040503050406030204" pitchFamily="18" charset="0"/>
                                        </a:rPr>
                                        <m:t>1</m:t>
                                      </m:r>
                                    </m:num>
                                    <m:den>
                                      <m:r>
                                        <a:rPr lang="es-ES" sz="2300" i="1">
                                          <a:solidFill>
                                            <a:prstClr val="black"/>
                                          </a:solidFill>
                                          <a:latin typeface="Cambria Math" panose="02040503050406030204" pitchFamily="18" charset="0"/>
                                        </a:rPr>
                                        <m:t>𝑖</m:t>
                                      </m:r>
                                    </m:den>
                                  </m:f>
                                </m:e>
                              </m:d>
                              <m:d>
                                <m:dPr>
                                  <m:ctrlPr>
                                    <a:rPr lang="es-CO" sz="2300" i="1">
                                      <a:solidFill>
                                        <a:prstClr val="black"/>
                                      </a:solidFill>
                                      <a:latin typeface="Cambria Math" panose="02040503050406030204" pitchFamily="18" charset="0"/>
                                    </a:rPr>
                                  </m:ctrlPr>
                                </m:dPr>
                                <m:e>
                                  <m:f>
                                    <m:fPr>
                                      <m:ctrlPr>
                                        <a:rPr lang="es-ES" sz="2300" i="1">
                                          <a:solidFill>
                                            <a:prstClr val="black"/>
                                          </a:solidFill>
                                          <a:latin typeface="Cambria Math" panose="02040503050406030204" pitchFamily="18" charset="0"/>
                                        </a:rPr>
                                      </m:ctrlPr>
                                    </m:fPr>
                                    <m:num>
                                      <m:sSup>
                                        <m:sSupPr>
                                          <m:ctrlPr>
                                            <a:rPr lang="es-ES" sz="2300" i="1">
                                              <a:solidFill>
                                                <a:prstClr val="black"/>
                                              </a:solidFill>
                                              <a:latin typeface="Cambria Math" panose="02040503050406030204" pitchFamily="18" charset="0"/>
                                            </a:rPr>
                                          </m:ctrlPr>
                                        </m:sSupPr>
                                        <m:e>
                                          <m:d>
                                            <m:dPr>
                                              <m:ctrlPr>
                                                <a:rPr lang="es-ES" sz="2300" i="1">
                                                  <a:solidFill>
                                                    <a:prstClr val="black"/>
                                                  </a:solidFill>
                                                  <a:latin typeface="Cambria Math" panose="02040503050406030204" pitchFamily="18" charset="0"/>
                                                </a:rPr>
                                              </m:ctrlPr>
                                            </m:dPr>
                                            <m:e>
                                              <m:r>
                                                <a:rPr lang="es-ES" sz="2300" i="1">
                                                  <a:solidFill>
                                                    <a:prstClr val="black"/>
                                                  </a:solidFill>
                                                  <a:latin typeface="Cambria Math" panose="02040503050406030204" pitchFamily="18" charset="0"/>
                                                </a:rPr>
                                                <m:t>1+</m:t>
                                              </m:r>
                                              <m:r>
                                                <a:rPr lang="es-ES" sz="2300" i="1">
                                                  <a:solidFill>
                                                    <a:prstClr val="black"/>
                                                  </a:solidFill>
                                                  <a:latin typeface="Cambria Math" panose="02040503050406030204" pitchFamily="18" charset="0"/>
                                                </a:rPr>
                                                <m:t>𝑖</m:t>
                                              </m:r>
                                            </m:e>
                                          </m:d>
                                        </m:e>
                                        <m:sup>
                                          <m:r>
                                            <a:rPr lang="es-ES" sz="2300" i="1">
                                              <a:solidFill>
                                                <a:prstClr val="black"/>
                                              </a:solidFill>
                                              <a:latin typeface="Cambria Math" panose="02040503050406030204" pitchFamily="18" charset="0"/>
                                            </a:rPr>
                                            <m:t>𝑛</m:t>
                                          </m:r>
                                        </m:sup>
                                      </m:sSup>
                                      <m:r>
                                        <a:rPr lang="es-ES" sz="2300" i="1">
                                          <a:solidFill>
                                            <a:prstClr val="black"/>
                                          </a:solidFill>
                                          <a:latin typeface="Cambria Math" panose="02040503050406030204" pitchFamily="18" charset="0"/>
                                        </a:rPr>
                                        <m:t>−1</m:t>
                                      </m:r>
                                    </m:num>
                                    <m:den>
                                      <m:r>
                                        <a:rPr lang="es-ES" sz="2300" i="1">
                                          <a:solidFill>
                                            <a:prstClr val="black"/>
                                          </a:solidFill>
                                          <a:latin typeface="Cambria Math" panose="02040503050406030204" pitchFamily="18" charset="0"/>
                                        </a:rPr>
                                        <m:t>𝑖</m:t>
                                      </m:r>
                                    </m:den>
                                  </m:f>
                                  <m:r>
                                    <a:rPr lang="es-ES" sz="2300" i="1">
                                      <a:solidFill>
                                        <a:prstClr val="black"/>
                                      </a:solidFill>
                                      <a:latin typeface="Cambria Math" panose="02040503050406030204" pitchFamily="18" charset="0"/>
                                    </a:rPr>
                                    <m:t>−</m:t>
                                  </m:r>
                                  <m:r>
                                    <a:rPr lang="es-ES" sz="2300" i="1">
                                      <a:solidFill>
                                        <a:prstClr val="black"/>
                                      </a:solidFill>
                                      <a:latin typeface="Cambria Math" panose="02040503050406030204" pitchFamily="18" charset="0"/>
                                    </a:rPr>
                                    <m:t>𝑛</m:t>
                                  </m:r>
                                </m:e>
                              </m:d>
                            </m:e>
                          </m:d>
                        </m:num>
                        <m:den>
                          <m:sSup>
                            <m:sSupPr>
                              <m:ctrlPr>
                                <a:rPr lang="es-ES" sz="2300" i="1">
                                  <a:solidFill>
                                    <a:prstClr val="black"/>
                                  </a:solidFill>
                                  <a:latin typeface="Cambria Math" panose="02040503050406030204" pitchFamily="18" charset="0"/>
                                </a:rPr>
                              </m:ctrlPr>
                            </m:sSupPr>
                            <m:e>
                              <m:d>
                                <m:dPr>
                                  <m:ctrlPr>
                                    <a:rPr lang="es-ES" sz="2300" i="1">
                                      <a:solidFill>
                                        <a:prstClr val="black"/>
                                      </a:solidFill>
                                      <a:latin typeface="Cambria Math" panose="02040503050406030204" pitchFamily="18" charset="0"/>
                                    </a:rPr>
                                  </m:ctrlPr>
                                </m:dPr>
                                <m:e>
                                  <m:r>
                                    <a:rPr lang="es-ES" sz="2300" i="1">
                                      <a:solidFill>
                                        <a:prstClr val="black"/>
                                      </a:solidFill>
                                      <a:latin typeface="Cambria Math" panose="02040503050406030204" pitchFamily="18" charset="0"/>
                                    </a:rPr>
                                    <m:t>1+</m:t>
                                  </m:r>
                                  <m:r>
                                    <a:rPr lang="es-ES" sz="2300" i="1">
                                      <a:solidFill>
                                        <a:prstClr val="black"/>
                                      </a:solidFill>
                                      <a:latin typeface="Cambria Math" panose="02040503050406030204" pitchFamily="18" charset="0"/>
                                    </a:rPr>
                                    <m:t>𝑖</m:t>
                                  </m:r>
                                </m:e>
                              </m:d>
                            </m:e>
                            <m:sup>
                              <m:r>
                                <a:rPr lang="es-ES" sz="2300" i="1">
                                  <a:solidFill>
                                    <a:prstClr val="black"/>
                                  </a:solidFill>
                                  <a:latin typeface="Cambria Math" panose="02040503050406030204" pitchFamily="18" charset="0"/>
                                </a:rPr>
                                <m:t>𝑛</m:t>
                              </m:r>
                            </m:sup>
                          </m:sSup>
                        </m:den>
                      </m:f>
                    </m:oMath>
                  </m:oMathPara>
                </a14:m>
                <a:endParaRPr lang="es-CO" sz="2300" dirty="0">
                  <a:solidFill>
                    <a:prstClr val="black"/>
                  </a:solidFill>
                  <a:latin typeface="Calibri" panose="020F0502020204030204"/>
                </a:endParaRPr>
              </a:p>
            </p:txBody>
          </p:sp>
        </mc:Choice>
        <mc:Fallback xmlns="">
          <p:sp>
            <p:nvSpPr>
              <p:cNvPr id="9" name="CuadroTexto 5">
                <a:extLst>
                  <a:ext uri="{FF2B5EF4-FFF2-40B4-BE49-F238E27FC236}">
                    <a16:creationId xmlns:a16="http://schemas.microsoft.com/office/drawing/2014/main" id="{0B39B8CC-3BD4-4179-AF50-0BE7A6DC5EF0}"/>
                  </a:ext>
                </a:extLst>
              </p:cNvPr>
              <p:cNvSpPr txBox="1">
                <a:spLocks noRot="1" noChangeAspect="1" noMove="1" noResize="1" noEditPoints="1" noAdjustHandles="1" noChangeArrowheads="1" noChangeShapeType="1" noTextEdit="1"/>
              </p:cNvSpPr>
              <p:nvPr/>
            </p:nvSpPr>
            <p:spPr>
              <a:xfrm>
                <a:off x="6211613" y="4380325"/>
                <a:ext cx="4226222" cy="1039644"/>
              </a:xfrm>
              <a:prstGeom prst="rect">
                <a:avLst/>
              </a:prstGeom>
              <a:blipFill>
                <a:blip r:embed="rId4"/>
                <a:stretch>
                  <a:fillRect l="-300" b="-3659"/>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10" name="CuadroTexto 5">
                <a:extLst>
                  <a:ext uri="{FF2B5EF4-FFF2-40B4-BE49-F238E27FC236}">
                    <a16:creationId xmlns:a16="http://schemas.microsoft.com/office/drawing/2014/main" id="{0B63BC1D-02F3-41F5-8F95-57C65AF2E436}"/>
                  </a:ext>
                </a:extLst>
              </p:cNvPr>
              <p:cNvSpPr txBox="1"/>
              <p:nvPr/>
            </p:nvSpPr>
            <p:spPr>
              <a:xfrm>
                <a:off x="2102696" y="4410173"/>
                <a:ext cx="2908082" cy="735586"/>
              </a:xfrm>
              <a:prstGeom prst="rect">
                <a:avLst/>
              </a:prstGeom>
              <a:noFill/>
            </p:spPr>
            <p:txBody>
              <a:bodyPr wrap="square" lIns="0" tIns="0" rIns="0" bIns="0" rtlCol="0">
                <a:spAutoFit/>
              </a:bodyPr>
              <a:lstStyle/>
              <a:p>
                <a:pPr>
                  <a:defRPr/>
                </a:pPr>
                <a14:m>
                  <m:oMathPara xmlns:m="http://schemas.openxmlformats.org/officeDocument/2006/math">
                    <m:oMathParaPr>
                      <m:jc m:val="centerGroup"/>
                    </m:oMathParaPr>
                    <m:oMath xmlns:m="http://schemas.openxmlformats.org/officeDocument/2006/math">
                      <m:r>
                        <a:rPr lang="es-CO" sz="2300" i="1">
                          <a:solidFill>
                            <a:prstClr val="black"/>
                          </a:solidFill>
                          <a:latin typeface="Cambria Math" panose="02040503050406030204" pitchFamily="18" charset="0"/>
                        </a:rPr>
                        <m:t>𝑉</m:t>
                      </m:r>
                      <m:r>
                        <a:rPr lang="es-ES" sz="2300" i="1">
                          <a:solidFill>
                            <a:prstClr val="black"/>
                          </a:solidFill>
                          <a:latin typeface="Cambria Math" panose="02040503050406030204" pitchFamily="18" charset="0"/>
                        </a:rPr>
                        <m:t>𝑃</m:t>
                      </m:r>
                      <m:r>
                        <a:rPr lang="es-ES" sz="2300" i="1">
                          <a:solidFill>
                            <a:prstClr val="black"/>
                          </a:solidFill>
                          <a:latin typeface="Cambria Math" panose="02040503050406030204" pitchFamily="18" charset="0"/>
                        </a:rPr>
                        <m:t>=</m:t>
                      </m:r>
                      <m:f>
                        <m:fPr>
                          <m:ctrlPr>
                            <a:rPr lang="es-ES" sz="2300" i="1">
                              <a:solidFill>
                                <a:prstClr val="black"/>
                              </a:solidFill>
                              <a:latin typeface="Cambria Math" panose="02040503050406030204" pitchFamily="18" charset="0"/>
                            </a:rPr>
                          </m:ctrlPr>
                        </m:fPr>
                        <m:num>
                          <m:r>
                            <a:rPr lang="es-ES" sz="2300" i="1">
                              <a:solidFill>
                                <a:prstClr val="black"/>
                              </a:solidFill>
                              <a:latin typeface="Cambria Math" panose="02040503050406030204" pitchFamily="18" charset="0"/>
                            </a:rPr>
                            <m:t>𝑉𝑓</m:t>
                          </m:r>
                        </m:num>
                        <m:den>
                          <m:sSup>
                            <m:sSupPr>
                              <m:ctrlPr>
                                <a:rPr lang="es-ES" sz="2300" i="1">
                                  <a:solidFill>
                                    <a:prstClr val="black"/>
                                  </a:solidFill>
                                  <a:latin typeface="Cambria Math" panose="02040503050406030204" pitchFamily="18" charset="0"/>
                                </a:rPr>
                              </m:ctrlPr>
                            </m:sSupPr>
                            <m:e>
                              <m:d>
                                <m:dPr>
                                  <m:ctrlPr>
                                    <a:rPr lang="es-ES" sz="2300" i="1">
                                      <a:solidFill>
                                        <a:prstClr val="black"/>
                                      </a:solidFill>
                                      <a:latin typeface="Cambria Math" panose="02040503050406030204" pitchFamily="18" charset="0"/>
                                    </a:rPr>
                                  </m:ctrlPr>
                                </m:dPr>
                                <m:e>
                                  <m:r>
                                    <a:rPr lang="es-ES" sz="2300" i="1">
                                      <a:solidFill>
                                        <a:prstClr val="black"/>
                                      </a:solidFill>
                                      <a:latin typeface="Cambria Math" panose="02040503050406030204" pitchFamily="18" charset="0"/>
                                    </a:rPr>
                                    <m:t>1+</m:t>
                                  </m:r>
                                  <m:r>
                                    <a:rPr lang="es-ES" sz="2300" i="1">
                                      <a:solidFill>
                                        <a:prstClr val="black"/>
                                      </a:solidFill>
                                      <a:latin typeface="Cambria Math" panose="02040503050406030204" pitchFamily="18" charset="0"/>
                                    </a:rPr>
                                    <m:t>𝑖</m:t>
                                  </m:r>
                                </m:e>
                              </m:d>
                            </m:e>
                            <m:sup>
                              <m:r>
                                <a:rPr lang="es-ES" sz="2300" i="1">
                                  <a:solidFill>
                                    <a:prstClr val="black"/>
                                  </a:solidFill>
                                  <a:latin typeface="Cambria Math" panose="02040503050406030204" pitchFamily="18" charset="0"/>
                                </a:rPr>
                                <m:t>𝑛</m:t>
                              </m:r>
                            </m:sup>
                          </m:sSup>
                        </m:den>
                      </m:f>
                    </m:oMath>
                  </m:oMathPara>
                </a14:m>
                <a:endParaRPr lang="es-CO" sz="2300">
                  <a:solidFill>
                    <a:prstClr val="black"/>
                  </a:solidFill>
                  <a:latin typeface="Calibri" panose="020F0502020204030204"/>
                </a:endParaRPr>
              </a:p>
            </p:txBody>
          </p:sp>
        </mc:Choice>
        <mc:Fallback xmlns="">
          <p:sp>
            <p:nvSpPr>
              <p:cNvPr id="10" name="CuadroTexto 5">
                <a:extLst>
                  <a:ext uri="{FF2B5EF4-FFF2-40B4-BE49-F238E27FC236}">
                    <a16:creationId xmlns:a16="http://schemas.microsoft.com/office/drawing/2014/main" id="{0B63BC1D-02F3-41F5-8F95-57C65AF2E436}"/>
                  </a:ext>
                </a:extLst>
              </p:cNvPr>
              <p:cNvSpPr txBox="1">
                <a:spLocks noRot="1" noChangeAspect="1" noMove="1" noResize="1" noEditPoints="1" noAdjustHandles="1" noChangeArrowheads="1" noChangeShapeType="1" noTextEdit="1"/>
              </p:cNvSpPr>
              <p:nvPr/>
            </p:nvSpPr>
            <p:spPr>
              <a:xfrm>
                <a:off x="2102696" y="4410173"/>
                <a:ext cx="2908082" cy="735586"/>
              </a:xfrm>
              <a:prstGeom prst="rect">
                <a:avLst/>
              </a:prstGeom>
              <a:blipFill>
                <a:blip r:embed="rId5"/>
                <a:stretch>
                  <a:fillRect t="-3390" b="-5085"/>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78043439-B270-4FB9-B6ED-E64CF6411A28}"/>
                  </a:ext>
                </a:extLst>
              </p:cNvPr>
              <p:cNvSpPr txBox="1"/>
              <p:nvPr/>
            </p:nvSpPr>
            <p:spPr>
              <a:xfrm>
                <a:off x="3810000" y="5695078"/>
                <a:ext cx="5113283" cy="922176"/>
              </a:xfrm>
              <a:prstGeom prst="rect">
                <a:avLst/>
              </a:prstGeom>
              <a:ln w="38100">
                <a:solidFill>
                  <a:srgbClr val="FF0000"/>
                </a:solidFill>
              </a:ln>
            </p:spPr>
            <p:style>
              <a:lnRef idx="2">
                <a:schemeClr val="accent2"/>
              </a:lnRef>
              <a:fillRef idx="1">
                <a:schemeClr val="lt1"/>
              </a:fillRef>
              <a:effectRef idx="0">
                <a:schemeClr val="accent2"/>
              </a:effectRef>
              <a:fontRef idx="minor">
                <a:schemeClr val="dk1"/>
              </a:fontRef>
            </p:style>
            <p:txBody>
              <a:bodyPr wrap="square">
                <a:spAutoFit/>
              </a:bodyPr>
              <a:lstStyle/>
              <a:p>
                <a:pPr/>
                <a14:m>
                  <m:oMathPara xmlns:m="http://schemas.openxmlformats.org/officeDocument/2006/math">
                    <m:oMathParaPr>
                      <m:jc m:val="centerGroup"/>
                    </m:oMathParaPr>
                    <m:oMath xmlns:m="http://schemas.openxmlformats.org/officeDocument/2006/math">
                      <m:r>
                        <a:rPr lang="es-ES" sz="2400" i="1">
                          <a:latin typeface="Cambria Math" panose="02040503050406030204" pitchFamily="18" charset="0"/>
                        </a:rPr>
                        <m:t>𝑉𝑃</m:t>
                      </m:r>
                      <m:r>
                        <a:rPr lang="es-ES" sz="2400" i="1">
                          <a:latin typeface="Cambria Math" panose="02040503050406030204" pitchFamily="18" charset="0"/>
                        </a:rPr>
                        <m:t>=</m:t>
                      </m:r>
                      <m:r>
                        <a:rPr lang="es-ES" sz="2400" i="1">
                          <a:latin typeface="Cambria Math" panose="02040503050406030204" pitchFamily="18" charset="0"/>
                        </a:rPr>
                        <m:t>𝐺</m:t>
                      </m:r>
                      <m:d>
                        <m:dPr>
                          <m:begChr m:val="["/>
                          <m:endChr m:val="]"/>
                          <m:ctrlPr>
                            <a:rPr lang="es-ES" sz="2400" i="1">
                              <a:latin typeface="Cambria Math" panose="02040503050406030204" pitchFamily="18" charset="0"/>
                            </a:rPr>
                          </m:ctrlPr>
                        </m:dPr>
                        <m:e>
                          <m:f>
                            <m:fPr>
                              <m:ctrlPr>
                                <a:rPr lang="es-ES" sz="2400" i="1">
                                  <a:latin typeface="Cambria Math" panose="02040503050406030204" pitchFamily="18" charset="0"/>
                                </a:rPr>
                              </m:ctrlPr>
                            </m:fPr>
                            <m:num>
                              <m:r>
                                <a:rPr lang="es-ES" sz="2400" i="1">
                                  <a:latin typeface="Cambria Math" panose="02040503050406030204" pitchFamily="18" charset="0"/>
                                </a:rPr>
                                <m:t>1</m:t>
                              </m:r>
                            </m:num>
                            <m:den>
                              <m:r>
                                <a:rPr lang="es-ES" sz="2400" i="1">
                                  <a:latin typeface="Cambria Math" panose="02040503050406030204" pitchFamily="18" charset="0"/>
                                </a:rPr>
                                <m:t>𝑖</m:t>
                              </m:r>
                            </m:den>
                          </m:f>
                          <m:d>
                            <m:dPr>
                              <m:ctrlPr>
                                <a:rPr lang="es-ES" sz="2400" i="1">
                                  <a:latin typeface="Cambria Math" panose="02040503050406030204" pitchFamily="18" charset="0"/>
                                </a:rPr>
                              </m:ctrlPr>
                            </m:dPr>
                            <m:e>
                              <m:f>
                                <m:fPr>
                                  <m:ctrlPr>
                                    <a:rPr lang="es-ES" sz="2400" i="1">
                                      <a:latin typeface="Cambria Math" panose="02040503050406030204" pitchFamily="18" charset="0"/>
                                    </a:rPr>
                                  </m:ctrlPr>
                                </m:fPr>
                                <m:num>
                                  <m:sSup>
                                    <m:sSupPr>
                                      <m:ctrlPr>
                                        <a:rPr lang="es-ES" sz="2400" i="1">
                                          <a:latin typeface="Cambria Math" panose="02040503050406030204" pitchFamily="18" charset="0"/>
                                        </a:rPr>
                                      </m:ctrlPr>
                                    </m:sSupPr>
                                    <m:e>
                                      <m:d>
                                        <m:dPr>
                                          <m:ctrlPr>
                                            <a:rPr lang="es-ES" sz="2400" i="1">
                                              <a:latin typeface="Cambria Math" panose="02040503050406030204" pitchFamily="18" charset="0"/>
                                            </a:rPr>
                                          </m:ctrlPr>
                                        </m:dPr>
                                        <m:e>
                                          <m:r>
                                            <a:rPr lang="es-ES" sz="2400" i="1">
                                              <a:latin typeface="Cambria Math" panose="02040503050406030204" pitchFamily="18" charset="0"/>
                                            </a:rPr>
                                            <m:t>1+</m:t>
                                          </m:r>
                                          <m:r>
                                            <a:rPr lang="es-ES" sz="2400" i="1">
                                              <a:latin typeface="Cambria Math" panose="02040503050406030204" pitchFamily="18" charset="0"/>
                                            </a:rPr>
                                            <m:t>𝑖</m:t>
                                          </m:r>
                                        </m:e>
                                      </m:d>
                                    </m:e>
                                    <m:sup>
                                      <m:r>
                                        <a:rPr lang="es-ES" sz="2400" i="1">
                                          <a:latin typeface="Cambria Math" panose="02040503050406030204" pitchFamily="18" charset="0"/>
                                        </a:rPr>
                                        <m:t>𝑛</m:t>
                                      </m:r>
                                    </m:sup>
                                  </m:sSup>
                                  <m:r>
                                    <a:rPr lang="es-ES" sz="2400" i="1">
                                      <a:latin typeface="Cambria Math" panose="02040503050406030204" pitchFamily="18" charset="0"/>
                                    </a:rPr>
                                    <m:t>−1</m:t>
                                  </m:r>
                                </m:num>
                                <m:den>
                                  <m:r>
                                    <a:rPr lang="es-ES" sz="2400" i="1">
                                      <a:latin typeface="Cambria Math" panose="02040503050406030204" pitchFamily="18" charset="0"/>
                                    </a:rPr>
                                    <m:t>𝑖</m:t>
                                  </m:r>
                                  <m:sSup>
                                    <m:sSupPr>
                                      <m:ctrlPr>
                                        <a:rPr lang="es-ES" sz="2400" i="1">
                                          <a:latin typeface="Cambria Math" panose="02040503050406030204" pitchFamily="18" charset="0"/>
                                        </a:rPr>
                                      </m:ctrlPr>
                                    </m:sSupPr>
                                    <m:e>
                                      <m:d>
                                        <m:dPr>
                                          <m:ctrlPr>
                                            <a:rPr lang="es-ES" sz="2400" i="1">
                                              <a:latin typeface="Cambria Math" panose="02040503050406030204" pitchFamily="18" charset="0"/>
                                            </a:rPr>
                                          </m:ctrlPr>
                                        </m:dPr>
                                        <m:e>
                                          <m:r>
                                            <a:rPr lang="es-ES" sz="2400" i="1">
                                              <a:latin typeface="Cambria Math" panose="02040503050406030204" pitchFamily="18" charset="0"/>
                                            </a:rPr>
                                            <m:t>1+</m:t>
                                          </m:r>
                                          <m:r>
                                            <a:rPr lang="es-ES" sz="2400" i="1">
                                              <a:latin typeface="Cambria Math" panose="02040503050406030204" pitchFamily="18" charset="0"/>
                                            </a:rPr>
                                            <m:t>𝑖</m:t>
                                          </m:r>
                                        </m:e>
                                      </m:d>
                                    </m:e>
                                    <m:sup>
                                      <m:r>
                                        <a:rPr lang="es-ES" sz="2400" i="1">
                                          <a:latin typeface="Cambria Math" panose="02040503050406030204" pitchFamily="18" charset="0"/>
                                        </a:rPr>
                                        <m:t>𝑛</m:t>
                                      </m:r>
                                    </m:sup>
                                  </m:sSup>
                                </m:den>
                              </m:f>
                              <m:r>
                                <a:rPr lang="es-ES" sz="2400" i="1">
                                  <a:latin typeface="Cambria Math" panose="02040503050406030204" pitchFamily="18" charset="0"/>
                                </a:rPr>
                                <m:t>−</m:t>
                              </m:r>
                              <m:f>
                                <m:fPr>
                                  <m:ctrlPr>
                                    <a:rPr lang="es-ES" sz="2400" i="1">
                                      <a:latin typeface="Cambria Math" panose="02040503050406030204" pitchFamily="18" charset="0"/>
                                    </a:rPr>
                                  </m:ctrlPr>
                                </m:fPr>
                                <m:num>
                                  <m:r>
                                    <a:rPr lang="es-ES" sz="2400" i="1">
                                      <a:latin typeface="Cambria Math" panose="02040503050406030204" pitchFamily="18" charset="0"/>
                                    </a:rPr>
                                    <m:t>𝑛</m:t>
                                  </m:r>
                                </m:num>
                                <m:den>
                                  <m:sSup>
                                    <m:sSupPr>
                                      <m:ctrlPr>
                                        <a:rPr lang="es-ES" sz="2400" i="1">
                                          <a:latin typeface="Cambria Math" panose="02040503050406030204" pitchFamily="18" charset="0"/>
                                        </a:rPr>
                                      </m:ctrlPr>
                                    </m:sSupPr>
                                    <m:e>
                                      <m:d>
                                        <m:dPr>
                                          <m:ctrlPr>
                                            <a:rPr lang="es-ES" sz="2400" i="1">
                                              <a:latin typeface="Cambria Math" panose="02040503050406030204" pitchFamily="18" charset="0"/>
                                            </a:rPr>
                                          </m:ctrlPr>
                                        </m:dPr>
                                        <m:e>
                                          <m:r>
                                            <a:rPr lang="es-ES" sz="2400" i="1">
                                              <a:latin typeface="Cambria Math" panose="02040503050406030204" pitchFamily="18" charset="0"/>
                                            </a:rPr>
                                            <m:t>1+</m:t>
                                          </m:r>
                                          <m:r>
                                            <a:rPr lang="es-ES" sz="2400" i="1">
                                              <a:latin typeface="Cambria Math" panose="02040503050406030204" pitchFamily="18" charset="0"/>
                                            </a:rPr>
                                            <m:t>𝑖</m:t>
                                          </m:r>
                                        </m:e>
                                      </m:d>
                                    </m:e>
                                    <m:sup>
                                      <m:r>
                                        <a:rPr lang="es-ES" sz="2400" i="1">
                                          <a:latin typeface="Cambria Math" panose="02040503050406030204" pitchFamily="18" charset="0"/>
                                        </a:rPr>
                                        <m:t>𝑛</m:t>
                                      </m:r>
                                    </m:sup>
                                  </m:sSup>
                                </m:den>
                              </m:f>
                            </m:e>
                          </m:d>
                        </m:e>
                      </m:d>
                    </m:oMath>
                  </m:oMathPara>
                </a14:m>
                <a:endParaRPr lang="es-CO" sz="2400" dirty="0"/>
              </a:p>
            </p:txBody>
          </p:sp>
        </mc:Choice>
        <mc:Fallback xmlns="">
          <p:sp>
            <p:nvSpPr>
              <p:cNvPr id="12" name="TextBox 11">
                <a:extLst>
                  <a:ext uri="{FF2B5EF4-FFF2-40B4-BE49-F238E27FC236}">
                    <a16:creationId xmlns:a16="http://schemas.microsoft.com/office/drawing/2014/main" id="{78043439-B270-4FB9-B6ED-E64CF6411A28}"/>
                  </a:ext>
                </a:extLst>
              </p:cNvPr>
              <p:cNvSpPr txBox="1">
                <a:spLocks noRot="1" noChangeAspect="1" noMove="1" noResize="1" noEditPoints="1" noAdjustHandles="1" noChangeArrowheads="1" noChangeShapeType="1" noTextEdit="1"/>
              </p:cNvSpPr>
              <p:nvPr/>
            </p:nvSpPr>
            <p:spPr>
              <a:xfrm>
                <a:off x="3810000" y="5695078"/>
                <a:ext cx="5113283" cy="922176"/>
              </a:xfrm>
              <a:prstGeom prst="rect">
                <a:avLst/>
              </a:prstGeom>
              <a:blipFill>
                <a:blip r:embed="rId6"/>
                <a:stretch>
                  <a:fillRect/>
                </a:stretch>
              </a:blipFill>
              <a:ln w="38100">
                <a:solidFill>
                  <a:srgbClr val="FF0000"/>
                </a:solidFill>
              </a:ln>
            </p:spPr>
            <p:txBody>
              <a:bodyPr/>
              <a:lstStyle/>
              <a:p>
                <a:r>
                  <a:rPr lang="es-ES_tradnl">
                    <a:noFill/>
                  </a:rPr>
                  <a:t> </a:t>
                </a:r>
              </a:p>
            </p:txBody>
          </p:sp>
        </mc:Fallback>
      </mc:AlternateContent>
      <p:sp>
        <p:nvSpPr>
          <p:cNvPr id="5" name="Arrow: Right 4">
            <a:extLst>
              <a:ext uri="{FF2B5EF4-FFF2-40B4-BE49-F238E27FC236}">
                <a16:creationId xmlns:a16="http://schemas.microsoft.com/office/drawing/2014/main" id="{A905FB6D-3FC0-485C-8121-F70AB4FC6552}"/>
              </a:ext>
            </a:extLst>
          </p:cNvPr>
          <p:cNvSpPr/>
          <p:nvPr/>
        </p:nvSpPr>
        <p:spPr>
          <a:xfrm>
            <a:off x="5160580" y="4639194"/>
            <a:ext cx="819809" cy="378373"/>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s-CO"/>
          </a:p>
        </p:txBody>
      </p:sp>
      <p:sp>
        <p:nvSpPr>
          <p:cNvPr id="13" name="Title 1">
            <a:extLst>
              <a:ext uri="{FF2B5EF4-FFF2-40B4-BE49-F238E27FC236}">
                <a16:creationId xmlns:a16="http://schemas.microsoft.com/office/drawing/2014/main" id="{25C759AF-1165-A2D2-8509-983B1B556AA3}"/>
              </a:ext>
            </a:extLst>
          </p:cNvPr>
          <p:cNvSpPr>
            <a:spLocks noGrp="1"/>
          </p:cNvSpPr>
          <p:nvPr>
            <p:ph type="title"/>
          </p:nvPr>
        </p:nvSpPr>
        <p:spPr>
          <a:xfrm>
            <a:off x="581192" y="702156"/>
            <a:ext cx="11029616" cy="1013800"/>
          </a:xfrm>
        </p:spPr>
        <p:txBody>
          <a:bodyPr>
            <a:normAutofit/>
          </a:bodyPr>
          <a:lstStyle/>
          <a:p>
            <a:r>
              <a:rPr lang="es-ES_tradnl" sz="3200" dirty="0">
                <a:latin typeface="Gill Sans MT (titulo)"/>
              </a:rPr>
              <a:t>Gradientes aritméticos</a:t>
            </a:r>
          </a:p>
        </p:txBody>
      </p:sp>
      <p:sp>
        <p:nvSpPr>
          <p:cNvPr id="14" name="Rectángulo 13">
            <a:extLst>
              <a:ext uri="{FF2B5EF4-FFF2-40B4-BE49-F238E27FC236}">
                <a16:creationId xmlns:a16="http://schemas.microsoft.com/office/drawing/2014/main" id="{51A859D6-A3EE-654C-C6CE-9103462FA6AB}"/>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5" name="Picture 2" descr="Clientes y aliados | Centro de Evaluación | Uniandes">
            <a:extLst>
              <a:ext uri="{FF2B5EF4-FFF2-40B4-BE49-F238E27FC236}">
                <a16:creationId xmlns:a16="http://schemas.microsoft.com/office/drawing/2014/main" id="{8F920C86-1CC4-AC4A-2F94-BEB8AFE9376C}"/>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6" name="Rectángulo 15">
            <a:extLst>
              <a:ext uri="{FF2B5EF4-FFF2-40B4-BE49-F238E27FC236}">
                <a16:creationId xmlns:a16="http://schemas.microsoft.com/office/drawing/2014/main" id="{7779D09E-07D4-B46A-1275-1C89B4421B13}"/>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3" name="Slide Number Placeholder 3">
            <a:extLst>
              <a:ext uri="{FF2B5EF4-FFF2-40B4-BE49-F238E27FC236}">
                <a16:creationId xmlns:a16="http://schemas.microsoft.com/office/drawing/2014/main" id="{45502A28-513B-A88E-9628-EC57983ED981}"/>
              </a:ext>
            </a:extLst>
          </p:cNvPr>
          <p:cNvSpPr>
            <a:spLocks noGrp="1"/>
          </p:cNvSpPr>
          <p:nvPr>
            <p:ph type="sldNum" sz="quarter" idx="12"/>
          </p:nvPr>
        </p:nvSpPr>
        <p:spPr>
          <a:xfrm>
            <a:off x="10558300" y="5956137"/>
            <a:ext cx="1052508" cy="365125"/>
          </a:xfrm>
        </p:spPr>
        <p:txBody>
          <a:bodyPr/>
          <a:lstStyle/>
          <a:p>
            <a:fld id="{5E3E23BA-6E79-2442-BA73-D218A5E297C3}" type="slidenum">
              <a:rPr lang="en-US" sz="2000" b="1" smtClean="0">
                <a:latin typeface="Gill Sans MT (Títulos)"/>
              </a:rPr>
              <a:t>15</a:t>
            </a:fld>
            <a:endParaRPr lang="en-US" sz="2000" b="1" dirty="0">
              <a:latin typeface="Gill Sans MT (Títulos)"/>
            </a:endParaRPr>
          </a:p>
        </p:txBody>
      </p:sp>
    </p:spTree>
    <p:extLst>
      <p:ext uri="{BB962C8B-B14F-4D97-AF65-F5344CB8AC3E}">
        <p14:creationId xmlns:p14="http://schemas.microsoft.com/office/powerpoint/2010/main" val="32331035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2" grpId="0" animBg="1"/>
      <p:bldP spid="5"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2152650" y="2329493"/>
            <a:ext cx="7886700" cy="541403"/>
          </a:xfrm>
        </p:spPr>
        <p:txBody>
          <a:bodyPr>
            <a:normAutofit/>
          </a:bodyPr>
          <a:lstStyle/>
          <a:p>
            <a:pPr marL="0" indent="0" algn="ctr">
              <a:buNone/>
            </a:pPr>
            <a:r>
              <a:rPr lang="es-ES" sz="2400" dirty="0"/>
              <a:t>¿Qué pasa si el gradiente va al infinito?</a:t>
            </a: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B9DE774D-ACFD-4BA0-BC2A-29D5FE56AA6F}"/>
                  </a:ext>
                </a:extLst>
              </p:cNvPr>
              <p:cNvSpPr txBox="1"/>
              <p:nvPr/>
            </p:nvSpPr>
            <p:spPr>
              <a:xfrm>
                <a:off x="1327300" y="3696448"/>
                <a:ext cx="5918981" cy="92217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s-ES" sz="2400" i="1">
                          <a:latin typeface="Cambria Math" panose="02040503050406030204" pitchFamily="18" charset="0"/>
                        </a:rPr>
                        <m:t>𝑉𝑃</m:t>
                      </m:r>
                      <m:r>
                        <a:rPr lang="es-ES" sz="2400" i="1">
                          <a:latin typeface="Cambria Math" panose="02040503050406030204" pitchFamily="18" charset="0"/>
                        </a:rPr>
                        <m:t>=</m:t>
                      </m:r>
                      <m:func>
                        <m:funcPr>
                          <m:ctrlPr>
                            <a:rPr lang="es-ES" sz="2400" i="1">
                              <a:latin typeface="Cambria Math" panose="02040503050406030204" pitchFamily="18" charset="0"/>
                            </a:rPr>
                          </m:ctrlPr>
                        </m:funcPr>
                        <m:fName>
                          <m:limLow>
                            <m:limLowPr>
                              <m:ctrlPr>
                                <a:rPr lang="es-ES" sz="2400" i="1">
                                  <a:latin typeface="Cambria Math" panose="02040503050406030204" pitchFamily="18" charset="0"/>
                                </a:rPr>
                              </m:ctrlPr>
                            </m:limLowPr>
                            <m:e>
                              <m:r>
                                <m:rPr>
                                  <m:sty m:val="p"/>
                                </m:rPr>
                                <a:rPr lang="es-ES" sz="2400">
                                  <a:latin typeface="Cambria Math" panose="02040503050406030204" pitchFamily="18" charset="0"/>
                                </a:rPr>
                                <m:t>lim</m:t>
                              </m:r>
                            </m:e>
                            <m:lim>
                              <m:r>
                                <a:rPr lang="es-ES" sz="2400" i="1">
                                  <a:latin typeface="Cambria Math" panose="02040503050406030204" pitchFamily="18" charset="0"/>
                                </a:rPr>
                                <m:t>𝑛</m:t>
                              </m:r>
                              <m:r>
                                <a:rPr lang="es-ES" sz="2400" i="1">
                                  <a:latin typeface="Cambria Math" panose="02040503050406030204" pitchFamily="18" charset="0"/>
                                  <a:ea typeface="Cambria Math" panose="02040503050406030204" pitchFamily="18" charset="0"/>
                                </a:rPr>
                                <m:t>→∞</m:t>
                              </m:r>
                            </m:lim>
                          </m:limLow>
                        </m:fName>
                        <m:e>
                          <m:r>
                            <a:rPr lang="es-ES" sz="2400" i="1">
                              <a:latin typeface="Cambria Math" panose="02040503050406030204" pitchFamily="18" charset="0"/>
                            </a:rPr>
                            <m:t>𝐺</m:t>
                          </m:r>
                          <m:d>
                            <m:dPr>
                              <m:begChr m:val="["/>
                              <m:endChr m:val="]"/>
                              <m:ctrlPr>
                                <a:rPr lang="es-ES" sz="2400" i="1">
                                  <a:latin typeface="Cambria Math" panose="02040503050406030204" pitchFamily="18" charset="0"/>
                                </a:rPr>
                              </m:ctrlPr>
                            </m:dPr>
                            <m:e>
                              <m:f>
                                <m:fPr>
                                  <m:ctrlPr>
                                    <a:rPr lang="es-ES" sz="2400" i="1">
                                      <a:latin typeface="Cambria Math" panose="02040503050406030204" pitchFamily="18" charset="0"/>
                                    </a:rPr>
                                  </m:ctrlPr>
                                </m:fPr>
                                <m:num>
                                  <m:r>
                                    <a:rPr lang="es-ES" sz="2400" i="1">
                                      <a:latin typeface="Cambria Math" panose="02040503050406030204" pitchFamily="18" charset="0"/>
                                    </a:rPr>
                                    <m:t>1</m:t>
                                  </m:r>
                                </m:num>
                                <m:den>
                                  <m:r>
                                    <a:rPr lang="es-ES" sz="2400" i="1">
                                      <a:latin typeface="Cambria Math" panose="02040503050406030204" pitchFamily="18" charset="0"/>
                                    </a:rPr>
                                    <m:t>𝑖</m:t>
                                  </m:r>
                                </m:den>
                              </m:f>
                              <m:d>
                                <m:dPr>
                                  <m:ctrlPr>
                                    <a:rPr lang="es-ES" sz="2400" i="1">
                                      <a:latin typeface="Cambria Math" panose="02040503050406030204" pitchFamily="18" charset="0"/>
                                    </a:rPr>
                                  </m:ctrlPr>
                                </m:dPr>
                                <m:e>
                                  <m:f>
                                    <m:fPr>
                                      <m:ctrlPr>
                                        <a:rPr lang="es-ES" sz="2400" i="1">
                                          <a:latin typeface="Cambria Math" panose="02040503050406030204" pitchFamily="18" charset="0"/>
                                        </a:rPr>
                                      </m:ctrlPr>
                                    </m:fPr>
                                    <m:num>
                                      <m:sSup>
                                        <m:sSupPr>
                                          <m:ctrlPr>
                                            <a:rPr lang="es-ES" sz="2400" i="1">
                                              <a:latin typeface="Cambria Math" panose="02040503050406030204" pitchFamily="18" charset="0"/>
                                            </a:rPr>
                                          </m:ctrlPr>
                                        </m:sSupPr>
                                        <m:e>
                                          <m:d>
                                            <m:dPr>
                                              <m:ctrlPr>
                                                <a:rPr lang="es-ES" sz="2400" i="1">
                                                  <a:latin typeface="Cambria Math" panose="02040503050406030204" pitchFamily="18" charset="0"/>
                                                </a:rPr>
                                              </m:ctrlPr>
                                            </m:dPr>
                                            <m:e>
                                              <m:r>
                                                <a:rPr lang="es-ES" sz="2400" i="1">
                                                  <a:latin typeface="Cambria Math" panose="02040503050406030204" pitchFamily="18" charset="0"/>
                                                </a:rPr>
                                                <m:t>1+</m:t>
                                              </m:r>
                                              <m:r>
                                                <a:rPr lang="es-ES" sz="2400" i="1">
                                                  <a:latin typeface="Cambria Math" panose="02040503050406030204" pitchFamily="18" charset="0"/>
                                                </a:rPr>
                                                <m:t>𝑖</m:t>
                                              </m:r>
                                            </m:e>
                                          </m:d>
                                        </m:e>
                                        <m:sup>
                                          <m:r>
                                            <a:rPr lang="es-ES" sz="2400" i="1">
                                              <a:latin typeface="Cambria Math" panose="02040503050406030204" pitchFamily="18" charset="0"/>
                                            </a:rPr>
                                            <m:t>𝑛</m:t>
                                          </m:r>
                                        </m:sup>
                                      </m:sSup>
                                      <m:r>
                                        <a:rPr lang="es-ES" sz="2400" i="1">
                                          <a:latin typeface="Cambria Math" panose="02040503050406030204" pitchFamily="18" charset="0"/>
                                        </a:rPr>
                                        <m:t>−1</m:t>
                                      </m:r>
                                    </m:num>
                                    <m:den>
                                      <m:r>
                                        <a:rPr lang="es-ES" sz="2400" i="1">
                                          <a:latin typeface="Cambria Math" panose="02040503050406030204" pitchFamily="18" charset="0"/>
                                        </a:rPr>
                                        <m:t>𝑖</m:t>
                                      </m:r>
                                      <m:sSup>
                                        <m:sSupPr>
                                          <m:ctrlPr>
                                            <a:rPr lang="es-ES" sz="2400" i="1">
                                              <a:latin typeface="Cambria Math" panose="02040503050406030204" pitchFamily="18" charset="0"/>
                                            </a:rPr>
                                          </m:ctrlPr>
                                        </m:sSupPr>
                                        <m:e>
                                          <m:d>
                                            <m:dPr>
                                              <m:ctrlPr>
                                                <a:rPr lang="es-ES" sz="2400" i="1">
                                                  <a:latin typeface="Cambria Math" panose="02040503050406030204" pitchFamily="18" charset="0"/>
                                                </a:rPr>
                                              </m:ctrlPr>
                                            </m:dPr>
                                            <m:e>
                                              <m:r>
                                                <a:rPr lang="es-ES" sz="2400" i="1">
                                                  <a:latin typeface="Cambria Math" panose="02040503050406030204" pitchFamily="18" charset="0"/>
                                                </a:rPr>
                                                <m:t>1+</m:t>
                                              </m:r>
                                              <m:r>
                                                <a:rPr lang="es-ES" sz="2400" i="1">
                                                  <a:latin typeface="Cambria Math" panose="02040503050406030204" pitchFamily="18" charset="0"/>
                                                </a:rPr>
                                                <m:t>𝑖</m:t>
                                              </m:r>
                                            </m:e>
                                          </m:d>
                                        </m:e>
                                        <m:sup>
                                          <m:r>
                                            <a:rPr lang="es-ES" sz="2400" i="1">
                                              <a:latin typeface="Cambria Math" panose="02040503050406030204" pitchFamily="18" charset="0"/>
                                            </a:rPr>
                                            <m:t>𝑛</m:t>
                                          </m:r>
                                        </m:sup>
                                      </m:sSup>
                                    </m:den>
                                  </m:f>
                                  <m:r>
                                    <a:rPr lang="es-ES" sz="2400" i="1">
                                      <a:latin typeface="Cambria Math" panose="02040503050406030204" pitchFamily="18" charset="0"/>
                                    </a:rPr>
                                    <m:t>−</m:t>
                                  </m:r>
                                  <m:f>
                                    <m:fPr>
                                      <m:ctrlPr>
                                        <a:rPr lang="es-ES" sz="2400" i="1">
                                          <a:latin typeface="Cambria Math" panose="02040503050406030204" pitchFamily="18" charset="0"/>
                                        </a:rPr>
                                      </m:ctrlPr>
                                    </m:fPr>
                                    <m:num>
                                      <m:r>
                                        <a:rPr lang="es-ES" sz="2400" i="1">
                                          <a:latin typeface="Cambria Math" panose="02040503050406030204" pitchFamily="18" charset="0"/>
                                        </a:rPr>
                                        <m:t>𝑛</m:t>
                                      </m:r>
                                    </m:num>
                                    <m:den>
                                      <m:sSup>
                                        <m:sSupPr>
                                          <m:ctrlPr>
                                            <a:rPr lang="es-ES" sz="2400" i="1">
                                              <a:latin typeface="Cambria Math" panose="02040503050406030204" pitchFamily="18" charset="0"/>
                                            </a:rPr>
                                          </m:ctrlPr>
                                        </m:sSupPr>
                                        <m:e>
                                          <m:d>
                                            <m:dPr>
                                              <m:ctrlPr>
                                                <a:rPr lang="es-ES" sz="2400" i="1">
                                                  <a:latin typeface="Cambria Math" panose="02040503050406030204" pitchFamily="18" charset="0"/>
                                                </a:rPr>
                                              </m:ctrlPr>
                                            </m:dPr>
                                            <m:e>
                                              <m:r>
                                                <a:rPr lang="es-ES" sz="2400" i="1">
                                                  <a:latin typeface="Cambria Math" panose="02040503050406030204" pitchFamily="18" charset="0"/>
                                                </a:rPr>
                                                <m:t>1+</m:t>
                                              </m:r>
                                              <m:r>
                                                <a:rPr lang="es-ES" sz="2400" i="1">
                                                  <a:latin typeface="Cambria Math" panose="02040503050406030204" pitchFamily="18" charset="0"/>
                                                </a:rPr>
                                                <m:t>𝑖</m:t>
                                              </m:r>
                                            </m:e>
                                          </m:d>
                                        </m:e>
                                        <m:sup>
                                          <m:r>
                                            <a:rPr lang="es-ES" sz="2400" i="1">
                                              <a:latin typeface="Cambria Math" panose="02040503050406030204" pitchFamily="18" charset="0"/>
                                            </a:rPr>
                                            <m:t>𝑛</m:t>
                                          </m:r>
                                        </m:sup>
                                      </m:sSup>
                                    </m:den>
                                  </m:f>
                                </m:e>
                              </m:d>
                            </m:e>
                          </m:d>
                        </m:e>
                      </m:func>
                    </m:oMath>
                  </m:oMathPara>
                </a14:m>
                <a:endParaRPr lang="es-CO" sz="2400"/>
              </a:p>
            </p:txBody>
          </p:sp>
        </mc:Choice>
        <mc:Fallback xmlns="">
          <p:sp>
            <p:nvSpPr>
              <p:cNvPr id="38" name="TextBox 37">
                <a:extLst>
                  <a:ext uri="{FF2B5EF4-FFF2-40B4-BE49-F238E27FC236}">
                    <a16:creationId xmlns:a16="http://schemas.microsoft.com/office/drawing/2014/main" id="{B9DE774D-ACFD-4BA0-BC2A-29D5FE56AA6F}"/>
                  </a:ext>
                </a:extLst>
              </p:cNvPr>
              <p:cNvSpPr txBox="1">
                <a:spLocks noRot="1" noChangeAspect="1" noMove="1" noResize="1" noEditPoints="1" noAdjustHandles="1" noChangeArrowheads="1" noChangeShapeType="1" noTextEdit="1"/>
              </p:cNvSpPr>
              <p:nvPr/>
            </p:nvSpPr>
            <p:spPr>
              <a:xfrm>
                <a:off x="1327300" y="3696448"/>
                <a:ext cx="5918981" cy="922176"/>
              </a:xfrm>
              <a:prstGeom prst="rect">
                <a:avLst/>
              </a:prstGeom>
              <a:blipFill>
                <a:blip r:embed="rId2"/>
                <a:stretch>
                  <a:fillRect/>
                </a:stretch>
              </a:blipFill>
            </p:spPr>
            <p:txBody>
              <a:bodyPr/>
              <a:lstStyle/>
              <a:p>
                <a:r>
                  <a:rPr lang="es-CO">
                    <a:noFill/>
                  </a:rPr>
                  <a:t> </a:t>
                </a:r>
              </a:p>
            </p:txBody>
          </p:sp>
        </mc:Fallback>
      </mc:AlternateContent>
      <p:sp>
        <p:nvSpPr>
          <p:cNvPr id="39" name="Arrow: Right 38">
            <a:extLst>
              <a:ext uri="{FF2B5EF4-FFF2-40B4-BE49-F238E27FC236}">
                <a16:creationId xmlns:a16="http://schemas.microsoft.com/office/drawing/2014/main" id="{6C956689-27BB-4A8D-B885-46654D397E99}"/>
              </a:ext>
            </a:extLst>
          </p:cNvPr>
          <p:cNvSpPr/>
          <p:nvPr/>
        </p:nvSpPr>
        <p:spPr>
          <a:xfrm>
            <a:off x="7785863" y="3968350"/>
            <a:ext cx="819809" cy="378373"/>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s-CO" sz="2400"/>
          </a:p>
        </p:txBody>
      </p:sp>
      <p:sp>
        <p:nvSpPr>
          <p:cNvPr id="9" name="Title 1">
            <a:extLst>
              <a:ext uri="{FF2B5EF4-FFF2-40B4-BE49-F238E27FC236}">
                <a16:creationId xmlns:a16="http://schemas.microsoft.com/office/drawing/2014/main" id="{FEB8E46D-D9E5-097E-692F-51FD9E825088}"/>
              </a:ext>
            </a:extLst>
          </p:cNvPr>
          <p:cNvSpPr>
            <a:spLocks noGrp="1"/>
          </p:cNvSpPr>
          <p:nvPr>
            <p:ph type="title"/>
          </p:nvPr>
        </p:nvSpPr>
        <p:spPr>
          <a:xfrm>
            <a:off x="581192" y="702156"/>
            <a:ext cx="11029616" cy="1013800"/>
          </a:xfrm>
        </p:spPr>
        <p:txBody>
          <a:bodyPr>
            <a:normAutofit/>
          </a:bodyPr>
          <a:lstStyle/>
          <a:p>
            <a:r>
              <a:rPr lang="es-ES_tradnl" sz="3200" dirty="0">
                <a:latin typeface="Gill Sans MT (titulo)"/>
              </a:rPr>
              <a:t>Gradientes aritméticos</a:t>
            </a:r>
          </a:p>
        </p:txBody>
      </p:sp>
      <p:sp>
        <p:nvSpPr>
          <p:cNvPr id="10" name="Rectángulo 9">
            <a:extLst>
              <a:ext uri="{FF2B5EF4-FFF2-40B4-BE49-F238E27FC236}">
                <a16:creationId xmlns:a16="http://schemas.microsoft.com/office/drawing/2014/main" id="{9DC53650-4E1A-6560-1349-F4CFA56D2C5C}"/>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1" name="Picture 2" descr="Clientes y aliados | Centro de Evaluación | Uniandes">
            <a:extLst>
              <a:ext uri="{FF2B5EF4-FFF2-40B4-BE49-F238E27FC236}">
                <a16:creationId xmlns:a16="http://schemas.microsoft.com/office/drawing/2014/main" id="{53F4B4E5-B1D0-7734-7599-609915387C4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2" name="Rectángulo 11">
            <a:extLst>
              <a:ext uri="{FF2B5EF4-FFF2-40B4-BE49-F238E27FC236}">
                <a16:creationId xmlns:a16="http://schemas.microsoft.com/office/drawing/2014/main" id="{B79FE158-2BCF-D2A8-1241-C2C417E5C3C4}"/>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mc:AlternateContent xmlns:mc="http://schemas.openxmlformats.org/markup-compatibility/2006" xmlns:a14="http://schemas.microsoft.com/office/drawing/2010/main">
        <mc:Choice Requires="a14">
          <p:sp>
            <p:nvSpPr>
              <p:cNvPr id="2" name="TextBox 37">
                <a:extLst>
                  <a:ext uri="{FF2B5EF4-FFF2-40B4-BE49-F238E27FC236}">
                    <a16:creationId xmlns:a16="http://schemas.microsoft.com/office/drawing/2014/main" id="{68DF8E08-72D2-0827-2241-DBDA66FB4BBF}"/>
                  </a:ext>
                </a:extLst>
              </p:cNvPr>
              <p:cNvSpPr txBox="1"/>
              <p:nvPr/>
            </p:nvSpPr>
            <p:spPr>
              <a:xfrm>
                <a:off x="8758410" y="3765634"/>
                <a:ext cx="2138657" cy="783804"/>
              </a:xfrm>
              <a:prstGeom prst="rect">
                <a:avLst/>
              </a:prstGeom>
              <a:ln>
                <a:solidFill>
                  <a:srgbClr val="FF0000"/>
                </a:solidFill>
              </a:ln>
            </p:spPr>
            <p:style>
              <a:lnRef idx="2">
                <a:schemeClr val="accent2"/>
              </a:lnRef>
              <a:fillRef idx="1">
                <a:schemeClr val="lt1"/>
              </a:fillRef>
              <a:effectRef idx="0">
                <a:schemeClr val="accent2"/>
              </a:effectRef>
              <a:fontRef idx="minor">
                <a:schemeClr val="dk1"/>
              </a:fontRef>
            </p:style>
            <p:txBody>
              <a:bodyPr wrap="square">
                <a:spAutoFit/>
              </a:bodyPr>
              <a:lstStyle/>
              <a:p>
                <a:pPr/>
                <a14:m>
                  <m:oMathPara xmlns:m="http://schemas.openxmlformats.org/officeDocument/2006/math">
                    <m:oMathParaPr>
                      <m:jc m:val="centerGroup"/>
                    </m:oMathParaPr>
                    <m:oMath xmlns:m="http://schemas.openxmlformats.org/officeDocument/2006/math">
                      <m:r>
                        <a:rPr lang="es-ES" sz="2400" i="1" smtClean="0">
                          <a:latin typeface="Cambria Math" panose="02040503050406030204" pitchFamily="18" charset="0"/>
                        </a:rPr>
                        <m:t>𝑉𝑃</m:t>
                      </m:r>
                      <m:r>
                        <a:rPr lang="es-ES" sz="2400" i="1" smtClean="0">
                          <a:latin typeface="Cambria Math" panose="02040503050406030204" pitchFamily="18" charset="0"/>
                        </a:rPr>
                        <m:t>=</m:t>
                      </m:r>
                      <m:f>
                        <m:fPr>
                          <m:ctrlPr>
                            <a:rPr lang="es-ES" sz="2400" b="0" i="1" smtClean="0">
                              <a:latin typeface="Cambria Math" panose="02040503050406030204" pitchFamily="18" charset="0"/>
                            </a:rPr>
                          </m:ctrlPr>
                        </m:fPr>
                        <m:num>
                          <m:r>
                            <a:rPr lang="es-ES" sz="2400" b="0" i="1" smtClean="0">
                              <a:latin typeface="Cambria Math" panose="02040503050406030204" pitchFamily="18" charset="0"/>
                            </a:rPr>
                            <m:t>𝐺</m:t>
                          </m:r>
                        </m:num>
                        <m:den>
                          <m:sSup>
                            <m:sSupPr>
                              <m:ctrlPr>
                                <a:rPr lang="es-ES" sz="2400" b="0" i="1" smtClean="0">
                                  <a:latin typeface="Cambria Math" panose="02040503050406030204" pitchFamily="18" charset="0"/>
                                </a:rPr>
                              </m:ctrlPr>
                            </m:sSupPr>
                            <m:e>
                              <m:r>
                                <a:rPr lang="es-ES" sz="2400" b="0" i="1" smtClean="0">
                                  <a:latin typeface="Cambria Math" panose="02040503050406030204" pitchFamily="18" charset="0"/>
                                </a:rPr>
                                <m:t>𝑖</m:t>
                              </m:r>
                            </m:e>
                            <m:sup>
                              <m:r>
                                <a:rPr lang="es-ES" sz="2400" b="0" i="1" smtClean="0">
                                  <a:latin typeface="Cambria Math" panose="02040503050406030204" pitchFamily="18" charset="0"/>
                                </a:rPr>
                                <m:t>2</m:t>
                              </m:r>
                            </m:sup>
                          </m:sSup>
                        </m:den>
                      </m:f>
                    </m:oMath>
                  </m:oMathPara>
                </a14:m>
                <a:endParaRPr lang="es-CO" sz="2400" dirty="0"/>
              </a:p>
            </p:txBody>
          </p:sp>
        </mc:Choice>
        <mc:Fallback xmlns="">
          <p:sp>
            <p:nvSpPr>
              <p:cNvPr id="2" name="TextBox 37">
                <a:extLst>
                  <a:ext uri="{FF2B5EF4-FFF2-40B4-BE49-F238E27FC236}">
                    <a16:creationId xmlns:a16="http://schemas.microsoft.com/office/drawing/2014/main" id="{68DF8E08-72D2-0827-2241-DBDA66FB4BBF}"/>
                  </a:ext>
                </a:extLst>
              </p:cNvPr>
              <p:cNvSpPr txBox="1">
                <a:spLocks noRot="1" noChangeAspect="1" noMove="1" noResize="1" noEditPoints="1" noAdjustHandles="1" noChangeArrowheads="1" noChangeShapeType="1" noTextEdit="1"/>
              </p:cNvSpPr>
              <p:nvPr/>
            </p:nvSpPr>
            <p:spPr>
              <a:xfrm>
                <a:off x="8758410" y="3765634"/>
                <a:ext cx="2138657" cy="783804"/>
              </a:xfrm>
              <a:prstGeom prst="rect">
                <a:avLst/>
              </a:prstGeom>
              <a:blipFill>
                <a:blip r:embed="rId4"/>
                <a:stretch>
                  <a:fillRect b="-4615"/>
                </a:stretch>
              </a:blipFill>
              <a:ln>
                <a:solidFill>
                  <a:srgbClr val="FF0000"/>
                </a:solidFill>
              </a:ln>
            </p:spPr>
            <p:txBody>
              <a:bodyPr/>
              <a:lstStyle/>
              <a:p>
                <a:r>
                  <a:rPr lang="es-ES_tradnl">
                    <a:noFill/>
                  </a:rPr>
                  <a:t> </a:t>
                </a:r>
              </a:p>
            </p:txBody>
          </p:sp>
        </mc:Fallback>
      </mc:AlternateContent>
      <p:sp>
        <p:nvSpPr>
          <p:cNvPr id="5" name="Slide Number Placeholder 3">
            <a:extLst>
              <a:ext uri="{FF2B5EF4-FFF2-40B4-BE49-F238E27FC236}">
                <a16:creationId xmlns:a16="http://schemas.microsoft.com/office/drawing/2014/main" id="{54B170F0-097D-58B4-7373-AE39031936B5}"/>
              </a:ext>
            </a:extLst>
          </p:cNvPr>
          <p:cNvSpPr>
            <a:spLocks noGrp="1"/>
          </p:cNvSpPr>
          <p:nvPr>
            <p:ph type="sldNum" sz="quarter" idx="12"/>
          </p:nvPr>
        </p:nvSpPr>
        <p:spPr>
          <a:xfrm>
            <a:off x="10558300" y="5956137"/>
            <a:ext cx="1052508" cy="365125"/>
          </a:xfrm>
        </p:spPr>
        <p:txBody>
          <a:bodyPr/>
          <a:lstStyle/>
          <a:p>
            <a:fld id="{5E3E23BA-6E79-2442-BA73-D218A5E297C3}" type="slidenum">
              <a:rPr lang="en-US" sz="2000" b="1" smtClean="0">
                <a:latin typeface="Gill Sans MT (Títulos)"/>
              </a:rPr>
              <a:t>16</a:t>
            </a:fld>
            <a:endParaRPr lang="en-US" sz="2000" b="1" dirty="0">
              <a:latin typeface="Gill Sans MT (Títulos)"/>
            </a:endParaRPr>
          </a:p>
        </p:txBody>
      </p:sp>
    </p:spTree>
    <p:extLst>
      <p:ext uri="{BB962C8B-B14F-4D97-AF65-F5344CB8AC3E}">
        <p14:creationId xmlns:p14="http://schemas.microsoft.com/office/powerpoint/2010/main" val="24563797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493845" y="2006534"/>
            <a:ext cx="6095999" cy="470821"/>
          </a:xfrm>
        </p:spPr>
        <p:txBody>
          <a:bodyPr>
            <a:normAutofit/>
          </a:bodyPr>
          <a:lstStyle/>
          <a:p>
            <a:pPr marL="0" indent="0" algn="just">
              <a:buNone/>
            </a:pPr>
            <a:r>
              <a:rPr lang="es-ES" sz="2400" dirty="0"/>
              <a:t>En resumen:</a:t>
            </a:r>
          </a:p>
        </p:txBody>
      </p:sp>
      <p:pic>
        <p:nvPicPr>
          <p:cNvPr id="11" name="Imagen 10" descr="latex-image-1.pdf"/>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54152" y="5321191"/>
            <a:ext cx="987693" cy="634946"/>
          </a:xfrm>
          <a:prstGeom prst="rect">
            <a:avLst/>
          </a:prstGeom>
        </p:spPr>
      </p:pic>
      <mc:AlternateContent xmlns:mc="http://schemas.openxmlformats.org/markup-compatibility/2006" xmlns:a14="http://schemas.microsoft.com/office/drawing/2010/main">
        <mc:Choice Requires="a14">
          <p:sp>
            <p:nvSpPr>
              <p:cNvPr id="9" name="Rectángulo 8"/>
              <p:cNvSpPr/>
              <p:nvPr/>
            </p:nvSpPr>
            <p:spPr>
              <a:xfrm>
                <a:off x="720340" y="2612474"/>
                <a:ext cx="4655319" cy="783869"/>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s-CO" sz="2000" i="1">
                              <a:latin typeface="Cambria Math" panose="02040503050406030204" pitchFamily="18" charset="0"/>
                            </a:rPr>
                          </m:ctrlPr>
                        </m:sSubPr>
                        <m:e>
                          <m:r>
                            <a:rPr lang="es-CO" sz="2000" i="1">
                              <a:latin typeface="Cambria Math" panose="02040503050406030204" pitchFamily="18" charset="0"/>
                            </a:rPr>
                            <m:t>𝑉</m:t>
                          </m:r>
                        </m:e>
                        <m:sub>
                          <m:r>
                            <m:rPr>
                              <m:sty m:val="p"/>
                            </m:rPr>
                            <a:rPr lang="es-CO" sz="2000">
                              <a:latin typeface="Cambria Math" panose="02040503050406030204" pitchFamily="18" charset="0"/>
                            </a:rPr>
                            <m:t>f</m:t>
                          </m:r>
                        </m:sub>
                      </m:sSub>
                      <m:r>
                        <a:rPr lang="es-CO" sz="2000">
                          <a:latin typeface="Cambria Math" panose="02040503050406030204" pitchFamily="18" charset="0"/>
                        </a:rPr>
                        <m:t>=</m:t>
                      </m:r>
                      <m:r>
                        <a:rPr lang="es-CO" sz="2000" i="1">
                          <a:latin typeface="Cambria Math" panose="02040503050406030204" pitchFamily="18" charset="0"/>
                        </a:rPr>
                        <m:t>𝐺</m:t>
                      </m:r>
                      <m:d>
                        <m:dPr>
                          <m:begChr m:val="["/>
                          <m:endChr m:val="]"/>
                          <m:ctrlPr>
                            <a:rPr lang="es-CO" sz="2000" i="1">
                              <a:latin typeface="Cambria Math" panose="02040503050406030204" pitchFamily="18" charset="0"/>
                            </a:rPr>
                          </m:ctrlPr>
                        </m:dPr>
                        <m:e>
                          <m:d>
                            <m:dPr>
                              <m:ctrlPr>
                                <a:rPr lang="es-CO" sz="2000" i="1">
                                  <a:latin typeface="Cambria Math" panose="02040503050406030204" pitchFamily="18" charset="0"/>
                                </a:rPr>
                              </m:ctrlPr>
                            </m:dPr>
                            <m:e>
                              <m:f>
                                <m:fPr>
                                  <m:ctrlPr>
                                    <a:rPr lang="es-CO" sz="2000" i="1">
                                      <a:latin typeface="Cambria Math" panose="02040503050406030204" pitchFamily="18" charset="0"/>
                                    </a:rPr>
                                  </m:ctrlPr>
                                </m:fPr>
                                <m:num>
                                  <m:r>
                                    <a:rPr lang="es-CO" sz="2000" i="1">
                                      <a:latin typeface="Cambria Math" panose="02040503050406030204" pitchFamily="18" charset="0"/>
                                    </a:rPr>
                                    <m:t>1</m:t>
                                  </m:r>
                                </m:num>
                                <m:den>
                                  <m:r>
                                    <a:rPr lang="es-CO" sz="2000" i="1">
                                      <a:latin typeface="Cambria Math" panose="02040503050406030204" pitchFamily="18" charset="0"/>
                                    </a:rPr>
                                    <m:t>𝑖</m:t>
                                  </m:r>
                                </m:den>
                              </m:f>
                            </m:e>
                          </m:d>
                          <m:d>
                            <m:dPr>
                              <m:ctrlPr>
                                <a:rPr lang="es-CO" sz="2000" i="1">
                                  <a:latin typeface="Cambria Math" panose="02040503050406030204" pitchFamily="18" charset="0"/>
                                </a:rPr>
                              </m:ctrlPr>
                            </m:dPr>
                            <m:e>
                              <m:f>
                                <m:fPr>
                                  <m:ctrlPr>
                                    <a:rPr lang="es-CO" sz="2000" i="1">
                                      <a:latin typeface="Cambria Math" panose="02040503050406030204" pitchFamily="18" charset="0"/>
                                    </a:rPr>
                                  </m:ctrlPr>
                                </m:fPr>
                                <m:num>
                                  <m:sSup>
                                    <m:sSupPr>
                                      <m:ctrlPr>
                                        <a:rPr lang="es-CO" sz="2000" i="1">
                                          <a:latin typeface="Cambria Math" panose="02040503050406030204" pitchFamily="18" charset="0"/>
                                        </a:rPr>
                                      </m:ctrlPr>
                                    </m:sSupPr>
                                    <m:e>
                                      <m:d>
                                        <m:dPr>
                                          <m:ctrlPr>
                                            <a:rPr lang="es-CO" sz="2000" i="1">
                                              <a:latin typeface="Cambria Math" panose="02040503050406030204" pitchFamily="18" charset="0"/>
                                            </a:rPr>
                                          </m:ctrlPr>
                                        </m:dPr>
                                        <m:e>
                                          <m:r>
                                            <a:rPr lang="es-CO" sz="2000">
                                              <a:latin typeface="Cambria Math" panose="02040503050406030204" pitchFamily="18" charset="0"/>
                                            </a:rPr>
                                            <m:t>1+</m:t>
                                          </m:r>
                                          <m:r>
                                            <a:rPr lang="es-CO" sz="2000" i="1">
                                              <a:latin typeface="Cambria Math" panose="02040503050406030204" pitchFamily="18" charset="0"/>
                                            </a:rPr>
                                            <m:t>𝑖</m:t>
                                          </m:r>
                                        </m:e>
                                      </m:d>
                                    </m:e>
                                    <m:sup>
                                      <m:r>
                                        <a:rPr lang="es-CO" sz="2000" i="1">
                                          <a:latin typeface="Cambria Math" panose="02040503050406030204" pitchFamily="18" charset="0"/>
                                        </a:rPr>
                                        <m:t>𝑛</m:t>
                                      </m:r>
                                    </m:sup>
                                  </m:sSup>
                                  <m:r>
                                    <a:rPr lang="es-CO" sz="2000">
                                      <a:latin typeface="Cambria Math" panose="02040503050406030204" pitchFamily="18" charset="0"/>
                                    </a:rPr>
                                    <m:t>−1</m:t>
                                  </m:r>
                                </m:num>
                                <m:den>
                                  <m:r>
                                    <a:rPr lang="es-CO" sz="2000" i="1">
                                      <a:latin typeface="Cambria Math" panose="02040503050406030204" pitchFamily="18" charset="0"/>
                                    </a:rPr>
                                    <m:t>𝑖</m:t>
                                  </m:r>
                                </m:den>
                              </m:f>
                              <m:r>
                                <a:rPr lang="es-CO" sz="2000" i="1">
                                  <a:latin typeface="Cambria Math" panose="02040503050406030204" pitchFamily="18" charset="0"/>
                                </a:rPr>
                                <m:t>−</m:t>
                              </m:r>
                              <m:r>
                                <a:rPr lang="es-CO" sz="2000" i="1">
                                  <a:latin typeface="Cambria Math" panose="02040503050406030204" pitchFamily="18" charset="0"/>
                                </a:rPr>
                                <m:t>𝑛</m:t>
                              </m:r>
                            </m:e>
                          </m:d>
                        </m:e>
                      </m:d>
                    </m:oMath>
                  </m:oMathPara>
                </a14:m>
                <a:endParaRPr lang="es-CO" sz="2000"/>
              </a:p>
            </p:txBody>
          </p:sp>
        </mc:Choice>
        <mc:Fallback xmlns="">
          <p:sp>
            <p:nvSpPr>
              <p:cNvPr id="9" name="Rectángulo 8"/>
              <p:cNvSpPr>
                <a:spLocks noRot="1" noChangeAspect="1" noMove="1" noResize="1" noEditPoints="1" noAdjustHandles="1" noChangeArrowheads="1" noChangeShapeType="1" noTextEdit="1"/>
              </p:cNvSpPr>
              <p:nvPr/>
            </p:nvSpPr>
            <p:spPr>
              <a:xfrm>
                <a:off x="720340" y="2612474"/>
                <a:ext cx="4655319" cy="783869"/>
              </a:xfrm>
              <a:prstGeom prst="rect">
                <a:avLst/>
              </a:prstGeom>
              <a:blipFill>
                <a:blip r:embed="rId3"/>
                <a:stretch>
                  <a:fillRect/>
                </a:stretch>
              </a:blipFill>
            </p:spPr>
            <p:txBody>
              <a:bodyPr/>
              <a:lstStyle/>
              <a:p>
                <a:r>
                  <a:rPr lang="es-CO">
                    <a:noFill/>
                  </a:rPr>
                  <a:t> </a:t>
                </a:r>
              </a:p>
            </p:txBody>
          </p:sp>
        </mc:Fallback>
      </mc:AlternateContent>
      <p:pic>
        <p:nvPicPr>
          <p:cNvPr id="12" name="Imagen 6" descr="latex-image-1.pdf">
            <a:extLst>
              <a:ext uri="{FF2B5EF4-FFF2-40B4-BE49-F238E27FC236}">
                <a16:creationId xmlns:a16="http://schemas.microsoft.com/office/drawing/2014/main" id="{C6FBC893-7CF9-4E77-AE56-21AB5DF57DE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95244" y="4033720"/>
            <a:ext cx="4505510" cy="650094"/>
          </a:xfrm>
          <a:prstGeom prst="rect">
            <a:avLst/>
          </a:prstGeom>
        </p:spPr>
      </p:pic>
      <p:sp>
        <p:nvSpPr>
          <p:cNvPr id="13" name="Title 1">
            <a:extLst>
              <a:ext uri="{FF2B5EF4-FFF2-40B4-BE49-F238E27FC236}">
                <a16:creationId xmlns:a16="http://schemas.microsoft.com/office/drawing/2014/main" id="{76074A99-E1ED-8B7E-3514-DEB56EE884EC}"/>
              </a:ext>
            </a:extLst>
          </p:cNvPr>
          <p:cNvSpPr>
            <a:spLocks noGrp="1"/>
          </p:cNvSpPr>
          <p:nvPr>
            <p:ph type="title"/>
          </p:nvPr>
        </p:nvSpPr>
        <p:spPr>
          <a:xfrm>
            <a:off x="581192" y="702156"/>
            <a:ext cx="11029616" cy="1013800"/>
          </a:xfrm>
        </p:spPr>
        <p:txBody>
          <a:bodyPr>
            <a:normAutofit/>
          </a:bodyPr>
          <a:lstStyle/>
          <a:p>
            <a:r>
              <a:rPr lang="es-ES_tradnl" sz="3200" dirty="0">
                <a:latin typeface="Gill Sans MT (titulo)"/>
              </a:rPr>
              <a:t>Gradientes aritméticos</a:t>
            </a:r>
          </a:p>
        </p:txBody>
      </p:sp>
      <p:sp>
        <p:nvSpPr>
          <p:cNvPr id="14" name="Rectángulo 13">
            <a:extLst>
              <a:ext uri="{FF2B5EF4-FFF2-40B4-BE49-F238E27FC236}">
                <a16:creationId xmlns:a16="http://schemas.microsoft.com/office/drawing/2014/main" id="{CFB061E6-C330-3642-4478-1650C7F2CF6B}"/>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5" name="Picture 2" descr="Clientes y aliados | Centro de Evaluación | Uniandes">
            <a:extLst>
              <a:ext uri="{FF2B5EF4-FFF2-40B4-BE49-F238E27FC236}">
                <a16:creationId xmlns:a16="http://schemas.microsoft.com/office/drawing/2014/main" id="{E5C7D69F-8F98-D0A6-DFBC-BB3DB2CCB5D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6" name="Rectángulo 15">
            <a:extLst>
              <a:ext uri="{FF2B5EF4-FFF2-40B4-BE49-F238E27FC236}">
                <a16:creationId xmlns:a16="http://schemas.microsoft.com/office/drawing/2014/main" id="{43F4C3C7-27C4-5256-5B35-29713CBD2661}"/>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2" name="TextBox 1">
            <a:extLst>
              <a:ext uri="{FF2B5EF4-FFF2-40B4-BE49-F238E27FC236}">
                <a16:creationId xmlns:a16="http://schemas.microsoft.com/office/drawing/2014/main" id="{018C3E23-DAE0-2D7B-6427-948E675F2046}"/>
              </a:ext>
            </a:extLst>
          </p:cNvPr>
          <p:cNvSpPr txBox="1"/>
          <p:nvPr/>
        </p:nvSpPr>
        <p:spPr>
          <a:xfrm>
            <a:off x="6096001" y="5324847"/>
            <a:ext cx="6095999"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2400" dirty="0">
                <a:solidFill>
                  <a:srgbClr val="595959"/>
                </a:solidFill>
                <a:latin typeface="Gill Sans MT (Cuerpo)"/>
              </a:rPr>
              <a:t>Valor presente de un gradiente aritmético a perpetuidad</a:t>
            </a:r>
            <a:endParaRPr lang="en-US" sz="2000" dirty="0">
              <a:latin typeface="Gill Sans MT (Cuerpo)"/>
            </a:endParaRPr>
          </a:p>
        </p:txBody>
      </p:sp>
      <p:sp>
        <p:nvSpPr>
          <p:cNvPr id="6" name="TextBox 5">
            <a:extLst>
              <a:ext uri="{FF2B5EF4-FFF2-40B4-BE49-F238E27FC236}">
                <a16:creationId xmlns:a16="http://schemas.microsoft.com/office/drawing/2014/main" id="{596C3479-FCBA-215D-5D31-F96A874418D8}"/>
              </a:ext>
            </a:extLst>
          </p:cNvPr>
          <p:cNvSpPr txBox="1"/>
          <p:nvPr/>
        </p:nvSpPr>
        <p:spPr>
          <a:xfrm>
            <a:off x="6096000" y="4161714"/>
            <a:ext cx="6096000"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lvl="1" algn="just"/>
            <a:r>
              <a:rPr lang="es-ES" sz="2400" dirty="0">
                <a:solidFill>
                  <a:srgbClr val="595959"/>
                </a:solidFill>
                <a:latin typeface="Gill Sans MT (Cuerpo)"/>
                <a:cs typeface="Arial"/>
              </a:rPr>
              <a:t>Valor presente de un gradiente aritmético </a:t>
            </a:r>
            <a:r>
              <a:rPr lang="en-US" sz="2400" dirty="0">
                <a:latin typeface="Gill Sans MT (Cuerpo)"/>
                <a:cs typeface="Arial"/>
              </a:rPr>
              <a:t>​</a:t>
            </a:r>
            <a:endParaRPr lang="en-US" sz="2000" dirty="0">
              <a:latin typeface="Gill Sans MT (Cuerpo)"/>
            </a:endParaRPr>
          </a:p>
        </p:txBody>
      </p:sp>
      <p:sp>
        <p:nvSpPr>
          <p:cNvPr id="8" name="TextBox 5">
            <a:extLst>
              <a:ext uri="{FF2B5EF4-FFF2-40B4-BE49-F238E27FC236}">
                <a16:creationId xmlns:a16="http://schemas.microsoft.com/office/drawing/2014/main" id="{FACB76DD-709E-A5CC-1D3C-59314F184563}"/>
              </a:ext>
            </a:extLst>
          </p:cNvPr>
          <p:cNvSpPr txBox="1"/>
          <p:nvPr/>
        </p:nvSpPr>
        <p:spPr>
          <a:xfrm>
            <a:off x="6096000" y="2738206"/>
            <a:ext cx="6096000"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lvl="1" algn="just"/>
            <a:r>
              <a:rPr lang="es-ES" sz="2400" dirty="0">
                <a:solidFill>
                  <a:srgbClr val="595959"/>
                </a:solidFill>
                <a:latin typeface="Gill Sans MT (Cuerpo)"/>
                <a:cs typeface="Arial"/>
              </a:rPr>
              <a:t>Valor futuro de un gradiente aritmético </a:t>
            </a:r>
            <a:r>
              <a:rPr lang="en-US" sz="2400" dirty="0">
                <a:latin typeface="Gill Sans MT (Cuerpo)"/>
                <a:cs typeface="Arial"/>
              </a:rPr>
              <a:t>​</a:t>
            </a:r>
            <a:endParaRPr lang="en-US" sz="2000" dirty="0">
              <a:latin typeface="Gill Sans MT (Cuerpo)"/>
            </a:endParaRPr>
          </a:p>
        </p:txBody>
      </p:sp>
      <p:sp>
        <p:nvSpPr>
          <p:cNvPr id="5" name="Slide Number Placeholder 3">
            <a:extLst>
              <a:ext uri="{FF2B5EF4-FFF2-40B4-BE49-F238E27FC236}">
                <a16:creationId xmlns:a16="http://schemas.microsoft.com/office/drawing/2014/main" id="{4098EB5C-10F6-3397-8F58-ED9746C9E839}"/>
              </a:ext>
            </a:extLst>
          </p:cNvPr>
          <p:cNvSpPr>
            <a:spLocks noGrp="1"/>
          </p:cNvSpPr>
          <p:nvPr>
            <p:ph type="sldNum" sz="quarter" idx="12"/>
          </p:nvPr>
        </p:nvSpPr>
        <p:spPr>
          <a:xfrm>
            <a:off x="10558300" y="5956137"/>
            <a:ext cx="1052508" cy="365125"/>
          </a:xfrm>
        </p:spPr>
        <p:txBody>
          <a:bodyPr/>
          <a:lstStyle/>
          <a:p>
            <a:fld id="{5E3E23BA-6E79-2442-BA73-D218A5E297C3}" type="slidenum">
              <a:rPr lang="en-US" sz="2000" b="1" smtClean="0">
                <a:latin typeface="Gill Sans MT (Títulos)"/>
              </a:rPr>
              <a:t>17</a:t>
            </a:fld>
            <a:endParaRPr lang="en-US" sz="2000" b="1" dirty="0">
              <a:latin typeface="Gill Sans MT (Títulos)"/>
            </a:endParaRPr>
          </a:p>
        </p:txBody>
      </p:sp>
    </p:spTree>
    <p:extLst>
      <p:ext uri="{BB962C8B-B14F-4D97-AF65-F5344CB8AC3E}">
        <p14:creationId xmlns:p14="http://schemas.microsoft.com/office/powerpoint/2010/main" val="36247291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Content Placeholder 2"/>
          <p:cNvSpPr>
            <a:spLocks noGrp="1"/>
          </p:cNvSpPr>
          <p:nvPr>
            <p:ph idx="1"/>
          </p:nvPr>
        </p:nvSpPr>
        <p:spPr>
          <a:xfrm>
            <a:off x="581191" y="1907303"/>
            <a:ext cx="11029615" cy="922553"/>
          </a:xfrm>
        </p:spPr>
        <p:txBody>
          <a:bodyPr>
            <a:normAutofit/>
          </a:bodyPr>
          <a:lstStyle/>
          <a:p>
            <a:pPr marL="0" indent="0" algn="just">
              <a:buNone/>
            </a:pPr>
            <a:r>
              <a:rPr lang="es-ES" sz="2400" b="1" dirty="0">
                <a:solidFill>
                  <a:srgbClr val="D7A700"/>
                </a:solidFill>
              </a:rPr>
              <a:t>Ejemplo 3: </a:t>
            </a:r>
            <a:r>
              <a:rPr lang="es-ES" sz="2400" dirty="0"/>
              <a:t>Suponga los siguientes flujos mensuales. ¿Cuál es el valor presente de la serie si su costo de oportunidad es del 12% NA/MV?</a:t>
            </a:r>
          </a:p>
        </p:txBody>
      </p:sp>
      <p:cxnSp>
        <p:nvCxnSpPr>
          <p:cNvPr id="37" name="Straight Connector 6"/>
          <p:cNvCxnSpPr/>
          <p:nvPr/>
        </p:nvCxnSpPr>
        <p:spPr>
          <a:xfrm flipV="1">
            <a:off x="2864869" y="5277249"/>
            <a:ext cx="6372951" cy="12001"/>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8" name="Straight Arrow Connector 9"/>
          <p:cNvCxnSpPr/>
          <p:nvPr/>
        </p:nvCxnSpPr>
        <p:spPr>
          <a:xfrm flipV="1">
            <a:off x="4845738" y="4994538"/>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39" name="Rectangle 35"/>
          <p:cNvSpPr>
            <a:spLocks/>
          </p:cNvSpPr>
          <p:nvPr/>
        </p:nvSpPr>
        <p:spPr bwMode="auto">
          <a:xfrm>
            <a:off x="2800747" y="5284530"/>
            <a:ext cx="12824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0</a:t>
            </a:r>
          </a:p>
        </p:txBody>
      </p:sp>
      <p:sp>
        <p:nvSpPr>
          <p:cNvPr id="40" name="Rectangle 36"/>
          <p:cNvSpPr>
            <a:spLocks/>
          </p:cNvSpPr>
          <p:nvPr/>
        </p:nvSpPr>
        <p:spPr bwMode="auto">
          <a:xfrm>
            <a:off x="3614032" y="5259701"/>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a:t>
            </a:r>
          </a:p>
        </p:txBody>
      </p:sp>
      <p:sp>
        <p:nvSpPr>
          <p:cNvPr id="41" name="Rectangle 37"/>
          <p:cNvSpPr>
            <a:spLocks/>
          </p:cNvSpPr>
          <p:nvPr/>
        </p:nvSpPr>
        <p:spPr bwMode="auto">
          <a:xfrm>
            <a:off x="4702520" y="5259701"/>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2</a:t>
            </a:r>
          </a:p>
        </p:txBody>
      </p:sp>
      <p:sp>
        <p:nvSpPr>
          <p:cNvPr id="42" name="Rectangle 38"/>
          <p:cNvSpPr>
            <a:spLocks/>
          </p:cNvSpPr>
          <p:nvPr/>
        </p:nvSpPr>
        <p:spPr bwMode="auto">
          <a:xfrm>
            <a:off x="5761994" y="5273658"/>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3</a:t>
            </a:r>
          </a:p>
        </p:txBody>
      </p:sp>
      <p:sp>
        <p:nvSpPr>
          <p:cNvPr id="43" name="Rectangle 39"/>
          <p:cNvSpPr>
            <a:spLocks/>
          </p:cNvSpPr>
          <p:nvPr/>
        </p:nvSpPr>
        <p:spPr bwMode="auto">
          <a:xfrm>
            <a:off x="6767856" y="5290115"/>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4</a:t>
            </a:r>
          </a:p>
        </p:txBody>
      </p:sp>
      <p:sp>
        <p:nvSpPr>
          <p:cNvPr id="44" name="Rectangle 40"/>
          <p:cNvSpPr>
            <a:spLocks/>
          </p:cNvSpPr>
          <p:nvPr/>
        </p:nvSpPr>
        <p:spPr bwMode="auto">
          <a:xfrm>
            <a:off x="7841285" y="5259701"/>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5</a:t>
            </a:r>
          </a:p>
        </p:txBody>
      </p:sp>
      <p:sp>
        <p:nvSpPr>
          <p:cNvPr id="45" name="Rectangle 41"/>
          <p:cNvSpPr>
            <a:spLocks/>
          </p:cNvSpPr>
          <p:nvPr/>
        </p:nvSpPr>
        <p:spPr bwMode="auto">
          <a:xfrm>
            <a:off x="8900759" y="5259701"/>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6</a:t>
            </a:r>
          </a:p>
        </p:txBody>
      </p:sp>
      <p:sp>
        <p:nvSpPr>
          <p:cNvPr id="46" name="Rectangle 35"/>
          <p:cNvSpPr>
            <a:spLocks/>
          </p:cNvSpPr>
          <p:nvPr/>
        </p:nvSpPr>
        <p:spPr bwMode="auto">
          <a:xfrm>
            <a:off x="4780819" y="4694552"/>
            <a:ext cx="12824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5</a:t>
            </a:r>
          </a:p>
        </p:txBody>
      </p:sp>
      <p:sp>
        <p:nvSpPr>
          <p:cNvPr id="47" name="Rectangle 35"/>
          <p:cNvSpPr>
            <a:spLocks/>
          </p:cNvSpPr>
          <p:nvPr/>
        </p:nvSpPr>
        <p:spPr bwMode="auto">
          <a:xfrm>
            <a:off x="5854684" y="4398611"/>
            <a:ext cx="256481"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10</a:t>
            </a:r>
          </a:p>
        </p:txBody>
      </p:sp>
      <p:sp>
        <p:nvSpPr>
          <p:cNvPr id="48" name="Rectangle 35"/>
          <p:cNvSpPr>
            <a:spLocks/>
          </p:cNvSpPr>
          <p:nvPr/>
        </p:nvSpPr>
        <p:spPr bwMode="auto">
          <a:xfrm>
            <a:off x="6866268" y="4099242"/>
            <a:ext cx="256481"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15</a:t>
            </a:r>
          </a:p>
        </p:txBody>
      </p:sp>
      <p:sp>
        <p:nvSpPr>
          <p:cNvPr id="49" name="Rectangle 35"/>
          <p:cNvSpPr>
            <a:spLocks/>
          </p:cNvSpPr>
          <p:nvPr/>
        </p:nvSpPr>
        <p:spPr bwMode="auto">
          <a:xfrm>
            <a:off x="7873113" y="3806985"/>
            <a:ext cx="256481"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20</a:t>
            </a:r>
          </a:p>
        </p:txBody>
      </p:sp>
      <p:sp>
        <p:nvSpPr>
          <p:cNvPr id="50" name="Rectangle 35"/>
          <p:cNvSpPr>
            <a:spLocks/>
          </p:cNvSpPr>
          <p:nvPr/>
        </p:nvSpPr>
        <p:spPr bwMode="auto">
          <a:xfrm>
            <a:off x="8963214" y="3211903"/>
            <a:ext cx="256481"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25</a:t>
            </a:r>
          </a:p>
        </p:txBody>
      </p:sp>
      <p:cxnSp>
        <p:nvCxnSpPr>
          <p:cNvPr id="51" name="Straight Arrow Connector 9"/>
          <p:cNvCxnSpPr/>
          <p:nvPr/>
        </p:nvCxnSpPr>
        <p:spPr>
          <a:xfrm flipV="1">
            <a:off x="5969046" y="4797326"/>
            <a:ext cx="0" cy="497850"/>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52" name="Straight Arrow Connector 9"/>
          <p:cNvCxnSpPr/>
          <p:nvPr/>
        </p:nvCxnSpPr>
        <p:spPr>
          <a:xfrm flipV="1">
            <a:off x="7999852" y="4161984"/>
            <a:ext cx="0" cy="1086699"/>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53" name="Straight Arrow Connector 9"/>
          <p:cNvCxnSpPr/>
          <p:nvPr/>
        </p:nvCxnSpPr>
        <p:spPr>
          <a:xfrm flipV="1">
            <a:off x="6994508" y="4420696"/>
            <a:ext cx="0" cy="827987"/>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54" name="Straight Arrow Connector 9"/>
          <p:cNvCxnSpPr/>
          <p:nvPr/>
        </p:nvCxnSpPr>
        <p:spPr>
          <a:xfrm flipV="1">
            <a:off x="9091454" y="3634433"/>
            <a:ext cx="0" cy="1670003"/>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6" name="Title 1">
            <a:extLst>
              <a:ext uri="{FF2B5EF4-FFF2-40B4-BE49-F238E27FC236}">
                <a16:creationId xmlns:a16="http://schemas.microsoft.com/office/drawing/2014/main" id="{F312B539-B0E6-AFC6-526A-4B7812C03191}"/>
              </a:ext>
            </a:extLst>
          </p:cNvPr>
          <p:cNvSpPr>
            <a:spLocks noGrp="1"/>
          </p:cNvSpPr>
          <p:nvPr>
            <p:ph type="title"/>
          </p:nvPr>
        </p:nvSpPr>
        <p:spPr>
          <a:xfrm>
            <a:off x="581192" y="702156"/>
            <a:ext cx="11029616" cy="1013800"/>
          </a:xfrm>
        </p:spPr>
        <p:txBody>
          <a:bodyPr>
            <a:normAutofit/>
          </a:bodyPr>
          <a:lstStyle/>
          <a:p>
            <a:r>
              <a:rPr lang="es-ES_tradnl" sz="3200" dirty="0">
                <a:latin typeface="Gill Sans MT (titulo)"/>
              </a:rPr>
              <a:t>Gradientes aritméticos</a:t>
            </a:r>
          </a:p>
        </p:txBody>
      </p:sp>
      <p:sp>
        <p:nvSpPr>
          <p:cNvPr id="7" name="Rectángulo 6">
            <a:extLst>
              <a:ext uri="{FF2B5EF4-FFF2-40B4-BE49-F238E27FC236}">
                <a16:creationId xmlns:a16="http://schemas.microsoft.com/office/drawing/2014/main" id="{FDE04DF5-4CED-8315-F39D-502F05938CA7}"/>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27F7D38A-5199-6D52-5CA9-98D7FA66807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9" name="Rectángulo 8">
            <a:extLst>
              <a:ext uri="{FF2B5EF4-FFF2-40B4-BE49-F238E27FC236}">
                <a16:creationId xmlns:a16="http://schemas.microsoft.com/office/drawing/2014/main" id="{88F89ED1-C6AA-CC95-FF91-5AE7F5FEF23B}"/>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2" name="Slide Number Placeholder 3">
            <a:extLst>
              <a:ext uri="{FF2B5EF4-FFF2-40B4-BE49-F238E27FC236}">
                <a16:creationId xmlns:a16="http://schemas.microsoft.com/office/drawing/2014/main" id="{DFC189CA-0DE9-7AE1-17D7-093E66D62C1B}"/>
              </a:ext>
            </a:extLst>
          </p:cNvPr>
          <p:cNvSpPr>
            <a:spLocks noGrp="1"/>
          </p:cNvSpPr>
          <p:nvPr>
            <p:ph type="sldNum" sz="quarter" idx="12"/>
          </p:nvPr>
        </p:nvSpPr>
        <p:spPr>
          <a:xfrm>
            <a:off x="10558300" y="5956137"/>
            <a:ext cx="1052508" cy="365125"/>
          </a:xfrm>
        </p:spPr>
        <p:txBody>
          <a:bodyPr/>
          <a:lstStyle/>
          <a:p>
            <a:fld id="{5E3E23BA-6E79-2442-BA73-D218A5E297C3}" type="slidenum">
              <a:rPr lang="en-US" sz="2000" b="1" smtClean="0">
                <a:latin typeface="Gill Sans MT (Títulos)"/>
              </a:rPr>
              <a:t>18</a:t>
            </a:fld>
            <a:endParaRPr lang="en-US" sz="2000" b="1" dirty="0">
              <a:latin typeface="Gill Sans MT (Títulos)"/>
            </a:endParaRPr>
          </a:p>
        </p:txBody>
      </p:sp>
    </p:spTree>
    <p:extLst>
      <p:ext uri="{BB962C8B-B14F-4D97-AF65-F5344CB8AC3E}">
        <p14:creationId xmlns:p14="http://schemas.microsoft.com/office/powerpoint/2010/main" val="7732550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Rectangle 35"/>
          <p:cNvSpPr>
            <a:spLocks/>
          </p:cNvSpPr>
          <p:nvPr/>
        </p:nvSpPr>
        <p:spPr bwMode="auto">
          <a:xfrm>
            <a:off x="2837143" y="3223225"/>
            <a:ext cx="44082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71,6</a:t>
            </a:r>
          </a:p>
        </p:txBody>
      </p:sp>
      <p:cxnSp>
        <p:nvCxnSpPr>
          <p:cNvPr id="29" name="Straight Arrow Connector 9"/>
          <p:cNvCxnSpPr/>
          <p:nvPr/>
        </p:nvCxnSpPr>
        <p:spPr>
          <a:xfrm flipH="1" flipV="1">
            <a:off x="3035221" y="3526340"/>
            <a:ext cx="13675" cy="2210797"/>
          </a:xfrm>
          <a:prstGeom prst="straightConnector1">
            <a:avLst/>
          </a:prstGeom>
          <a:ln>
            <a:solidFill>
              <a:schemeClr val="accent3"/>
            </a:solidFill>
            <a:tailEnd type="arrow"/>
          </a:ln>
        </p:spPr>
        <p:style>
          <a:lnRef idx="2">
            <a:schemeClr val="accent1"/>
          </a:lnRef>
          <a:fillRef idx="0">
            <a:schemeClr val="accent1"/>
          </a:fillRef>
          <a:effectRef idx="1">
            <a:schemeClr val="accent1"/>
          </a:effectRef>
          <a:fontRef idx="minor">
            <a:schemeClr val="tx1"/>
          </a:fontRef>
        </p:style>
      </p:cxnSp>
      <p:cxnSp>
        <p:nvCxnSpPr>
          <p:cNvPr id="32" name="Straight Connector 6"/>
          <p:cNvCxnSpPr/>
          <p:nvPr/>
        </p:nvCxnSpPr>
        <p:spPr>
          <a:xfrm flipV="1">
            <a:off x="3033399" y="5741259"/>
            <a:ext cx="6372951" cy="12001"/>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34" name="Rectangle 35"/>
          <p:cNvSpPr>
            <a:spLocks/>
          </p:cNvSpPr>
          <p:nvPr/>
        </p:nvSpPr>
        <p:spPr bwMode="auto">
          <a:xfrm>
            <a:off x="2969277" y="5748540"/>
            <a:ext cx="12824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0</a:t>
            </a:r>
          </a:p>
        </p:txBody>
      </p:sp>
      <p:sp>
        <p:nvSpPr>
          <p:cNvPr id="35" name="Rectangle 36"/>
          <p:cNvSpPr>
            <a:spLocks/>
          </p:cNvSpPr>
          <p:nvPr/>
        </p:nvSpPr>
        <p:spPr bwMode="auto">
          <a:xfrm>
            <a:off x="3782562" y="5723711"/>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a:t>
            </a:r>
          </a:p>
        </p:txBody>
      </p:sp>
      <p:sp>
        <p:nvSpPr>
          <p:cNvPr id="36" name="Rectangle 37"/>
          <p:cNvSpPr>
            <a:spLocks/>
          </p:cNvSpPr>
          <p:nvPr/>
        </p:nvSpPr>
        <p:spPr bwMode="auto">
          <a:xfrm>
            <a:off x="4871050" y="5723711"/>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2</a:t>
            </a:r>
          </a:p>
        </p:txBody>
      </p:sp>
      <p:sp>
        <p:nvSpPr>
          <p:cNvPr id="55" name="Rectangle 38"/>
          <p:cNvSpPr>
            <a:spLocks/>
          </p:cNvSpPr>
          <p:nvPr/>
        </p:nvSpPr>
        <p:spPr bwMode="auto">
          <a:xfrm>
            <a:off x="5930524" y="5737668"/>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3</a:t>
            </a:r>
          </a:p>
        </p:txBody>
      </p:sp>
      <p:sp>
        <p:nvSpPr>
          <p:cNvPr id="56" name="Rectangle 39"/>
          <p:cNvSpPr>
            <a:spLocks/>
          </p:cNvSpPr>
          <p:nvPr/>
        </p:nvSpPr>
        <p:spPr bwMode="auto">
          <a:xfrm>
            <a:off x="6936386" y="5754125"/>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4</a:t>
            </a:r>
          </a:p>
        </p:txBody>
      </p:sp>
      <p:sp>
        <p:nvSpPr>
          <p:cNvPr id="57" name="Rectangle 40"/>
          <p:cNvSpPr>
            <a:spLocks/>
          </p:cNvSpPr>
          <p:nvPr/>
        </p:nvSpPr>
        <p:spPr bwMode="auto">
          <a:xfrm>
            <a:off x="8009815" y="5723711"/>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5</a:t>
            </a:r>
          </a:p>
        </p:txBody>
      </p:sp>
      <p:sp>
        <p:nvSpPr>
          <p:cNvPr id="58" name="Rectangle 41"/>
          <p:cNvSpPr>
            <a:spLocks/>
          </p:cNvSpPr>
          <p:nvPr/>
        </p:nvSpPr>
        <p:spPr bwMode="auto">
          <a:xfrm>
            <a:off x="9069289" y="5723711"/>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6</a:t>
            </a:r>
          </a:p>
        </p:txBody>
      </p:sp>
      <p:graphicFrame>
        <p:nvGraphicFramePr>
          <p:cNvPr id="3" name="Object 2"/>
          <p:cNvGraphicFramePr>
            <a:graphicFrameLocks noChangeAspect="1"/>
          </p:cNvGraphicFramePr>
          <p:nvPr>
            <p:extLst>
              <p:ext uri="{D42A27DB-BD31-4B8C-83A1-F6EECF244321}">
                <p14:modId xmlns:p14="http://schemas.microsoft.com/office/powerpoint/2010/main" val="2906967937"/>
              </p:ext>
            </p:extLst>
          </p:nvPr>
        </p:nvGraphicFramePr>
        <p:xfrm>
          <a:off x="1898161" y="1950526"/>
          <a:ext cx="8395677" cy="784273"/>
        </p:xfrm>
        <a:graphic>
          <a:graphicData uri="http://schemas.openxmlformats.org/presentationml/2006/ole">
            <mc:AlternateContent xmlns:mc="http://schemas.openxmlformats.org/markup-compatibility/2006">
              <mc:Choice xmlns:v="urn:schemas-microsoft-com:vml" Requires="v">
                <p:oleObj name="Document" r:id="rId3" imgW="5486809" imgH="412575" progId="Word.Document.12">
                  <p:embed/>
                </p:oleObj>
              </mc:Choice>
              <mc:Fallback>
                <p:oleObj name="Document" r:id="rId3" imgW="5486809" imgH="412575" progId="Word.Document.12">
                  <p:embed/>
                  <p:pic>
                    <p:nvPicPr>
                      <p:cNvPr id="3" name="Object 2"/>
                      <p:cNvPicPr/>
                      <p:nvPr/>
                    </p:nvPicPr>
                    <p:blipFill>
                      <a:blip r:embed="rId4"/>
                      <a:stretch>
                        <a:fillRect/>
                      </a:stretch>
                    </p:blipFill>
                    <p:spPr>
                      <a:xfrm>
                        <a:off x="1898161" y="1950526"/>
                        <a:ext cx="8395677" cy="784273"/>
                      </a:xfrm>
                      <a:prstGeom prst="rect">
                        <a:avLst/>
                      </a:prstGeom>
                    </p:spPr>
                  </p:pic>
                </p:oleObj>
              </mc:Fallback>
            </mc:AlternateContent>
          </a:graphicData>
        </a:graphic>
      </p:graphicFrame>
      <p:sp>
        <p:nvSpPr>
          <p:cNvPr id="8" name="Title 1">
            <a:extLst>
              <a:ext uri="{FF2B5EF4-FFF2-40B4-BE49-F238E27FC236}">
                <a16:creationId xmlns:a16="http://schemas.microsoft.com/office/drawing/2014/main" id="{73E7E837-F407-83E4-9D79-3BA02CB663A2}"/>
              </a:ext>
            </a:extLst>
          </p:cNvPr>
          <p:cNvSpPr>
            <a:spLocks noGrp="1"/>
          </p:cNvSpPr>
          <p:nvPr>
            <p:ph type="title"/>
          </p:nvPr>
        </p:nvSpPr>
        <p:spPr>
          <a:xfrm>
            <a:off x="581192" y="702156"/>
            <a:ext cx="11029616" cy="1013800"/>
          </a:xfrm>
        </p:spPr>
        <p:txBody>
          <a:bodyPr>
            <a:normAutofit/>
          </a:bodyPr>
          <a:lstStyle/>
          <a:p>
            <a:r>
              <a:rPr lang="es-ES_tradnl" sz="3200" dirty="0">
                <a:latin typeface="Gill Sans MT (titulo)"/>
              </a:rPr>
              <a:t>Gradientes aritméticos</a:t>
            </a:r>
          </a:p>
        </p:txBody>
      </p:sp>
      <p:sp>
        <p:nvSpPr>
          <p:cNvPr id="9" name="Rectángulo 8">
            <a:extLst>
              <a:ext uri="{FF2B5EF4-FFF2-40B4-BE49-F238E27FC236}">
                <a16:creationId xmlns:a16="http://schemas.microsoft.com/office/drawing/2014/main" id="{F6CAAD32-A236-D7B7-2404-489C61932E32}"/>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0" name="Picture 2" descr="Clientes y aliados | Centro de Evaluación | Uniandes">
            <a:extLst>
              <a:ext uri="{FF2B5EF4-FFF2-40B4-BE49-F238E27FC236}">
                <a16:creationId xmlns:a16="http://schemas.microsoft.com/office/drawing/2014/main" id="{457550C4-E6C5-2086-E347-1AA3E2F5D18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1" name="Rectángulo 10">
            <a:extLst>
              <a:ext uri="{FF2B5EF4-FFF2-40B4-BE49-F238E27FC236}">
                <a16:creationId xmlns:a16="http://schemas.microsoft.com/office/drawing/2014/main" id="{E1071A4C-2B91-21D4-88A8-8C0EFA2BBE16}"/>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mc:AlternateContent xmlns:mc="http://schemas.openxmlformats.org/markup-compatibility/2006" xmlns:a14="http://schemas.microsoft.com/office/drawing/2010/main">
        <mc:Choice Requires="a14">
          <p:sp>
            <p:nvSpPr>
              <p:cNvPr id="2" name="CuadroTexto 1">
                <a:extLst>
                  <a:ext uri="{FF2B5EF4-FFF2-40B4-BE49-F238E27FC236}">
                    <a16:creationId xmlns:a16="http://schemas.microsoft.com/office/drawing/2014/main" id="{67579FA1-9D5F-840E-9507-838F2999BDC5}"/>
                  </a:ext>
                </a:extLst>
              </p:cNvPr>
              <p:cNvSpPr txBox="1"/>
              <p:nvPr/>
            </p:nvSpPr>
            <p:spPr>
              <a:xfrm>
                <a:off x="5371987" y="2929243"/>
                <a:ext cx="1448025"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ES" sz="2400" b="0" i="1" smtClean="0">
                          <a:latin typeface="Cambria Math" panose="02040503050406030204" pitchFamily="18" charset="0"/>
                        </a:rPr>
                        <m:t>𝑉𝑃</m:t>
                      </m:r>
                      <m:r>
                        <a:rPr lang="es-ES" sz="2400" b="0" i="1" smtClean="0">
                          <a:latin typeface="Cambria Math" panose="02040503050406030204" pitchFamily="18" charset="0"/>
                        </a:rPr>
                        <m:t>=71,6</m:t>
                      </m:r>
                    </m:oMath>
                  </m:oMathPara>
                </a14:m>
                <a:endParaRPr lang="es-CO" sz="2400"/>
              </a:p>
            </p:txBody>
          </p:sp>
        </mc:Choice>
        <mc:Fallback xmlns="">
          <p:sp>
            <p:nvSpPr>
              <p:cNvPr id="2" name="CuadroTexto 1">
                <a:extLst>
                  <a:ext uri="{FF2B5EF4-FFF2-40B4-BE49-F238E27FC236}">
                    <a16:creationId xmlns:a16="http://schemas.microsoft.com/office/drawing/2014/main" id="{67579FA1-9D5F-840E-9507-838F2999BDC5}"/>
                  </a:ext>
                </a:extLst>
              </p:cNvPr>
              <p:cNvSpPr txBox="1">
                <a:spLocks noRot="1" noChangeAspect="1" noMove="1" noResize="1" noEditPoints="1" noAdjustHandles="1" noChangeArrowheads="1" noChangeShapeType="1" noTextEdit="1"/>
              </p:cNvSpPr>
              <p:nvPr/>
            </p:nvSpPr>
            <p:spPr>
              <a:xfrm>
                <a:off x="5371987" y="2929243"/>
                <a:ext cx="1448025" cy="369332"/>
              </a:xfrm>
              <a:prstGeom prst="rect">
                <a:avLst/>
              </a:prstGeom>
              <a:blipFill>
                <a:blip r:embed="rId6"/>
                <a:stretch>
                  <a:fillRect l="-3448" r="-3448" b="-10000"/>
                </a:stretch>
              </a:blipFill>
            </p:spPr>
            <p:txBody>
              <a:bodyPr/>
              <a:lstStyle/>
              <a:p>
                <a:r>
                  <a:rPr lang="es-CO">
                    <a:noFill/>
                  </a:rPr>
                  <a:t> </a:t>
                </a:r>
              </a:p>
            </p:txBody>
          </p:sp>
        </mc:Fallback>
      </mc:AlternateContent>
      <p:sp>
        <p:nvSpPr>
          <p:cNvPr id="5" name="Slide Number Placeholder 3">
            <a:extLst>
              <a:ext uri="{FF2B5EF4-FFF2-40B4-BE49-F238E27FC236}">
                <a16:creationId xmlns:a16="http://schemas.microsoft.com/office/drawing/2014/main" id="{ACA71AFD-734A-0185-C7D5-B5E4D6953F6A}"/>
              </a:ext>
            </a:extLst>
          </p:cNvPr>
          <p:cNvSpPr>
            <a:spLocks noGrp="1"/>
          </p:cNvSpPr>
          <p:nvPr>
            <p:ph type="sldNum" sz="quarter" idx="12"/>
          </p:nvPr>
        </p:nvSpPr>
        <p:spPr>
          <a:xfrm>
            <a:off x="10558300" y="5956137"/>
            <a:ext cx="1052508" cy="365125"/>
          </a:xfrm>
        </p:spPr>
        <p:txBody>
          <a:bodyPr/>
          <a:lstStyle/>
          <a:p>
            <a:fld id="{5E3E23BA-6E79-2442-BA73-D218A5E297C3}" type="slidenum">
              <a:rPr lang="en-US" sz="2000" b="1" smtClean="0">
                <a:latin typeface="Gill Sans MT (Títulos)"/>
              </a:rPr>
              <a:t>19</a:t>
            </a:fld>
            <a:endParaRPr lang="en-US" sz="2000" b="1" dirty="0">
              <a:latin typeface="Gill Sans MT (Títulos)"/>
            </a:endParaRPr>
          </a:p>
        </p:txBody>
      </p:sp>
    </p:spTree>
    <p:extLst>
      <p:ext uri="{BB962C8B-B14F-4D97-AF65-F5344CB8AC3E}">
        <p14:creationId xmlns:p14="http://schemas.microsoft.com/office/powerpoint/2010/main" val="20563778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5" name="Content Placeholder 2"/>
          <p:cNvSpPr>
            <a:spLocks noGrp="1"/>
          </p:cNvSpPr>
          <p:nvPr>
            <p:ph idx="1"/>
          </p:nvPr>
        </p:nvSpPr>
        <p:spPr>
          <a:xfrm>
            <a:off x="581192" y="1994391"/>
            <a:ext cx="11029616" cy="922553"/>
          </a:xfrm>
        </p:spPr>
        <p:txBody>
          <a:bodyPr>
            <a:normAutofit/>
          </a:bodyPr>
          <a:lstStyle/>
          <a:p>
            <a:pPr marL="0" indent="0" algn="just">
              <a:buNone/>
            </a:pPr>
            <a:r>
              <a:rPr lang="es-ES" sz="2400" b="1" dirty="0">
                <a:solidFill>
                  <a:srgbClr val="D7A700"/>
                </a:solidFill>
              </a:rPr>
              <a:t>Ejemplo 4</a:t>
            </a:r>
            <a:r>
              <a:rPr lang="es-ES" sz="2400" dirty="0">
                <a:solidFill>
                  <a:srgbClr val="D7A700"/>
                </a:solidFill>
              </a:rPr>
              <a:t>: </a:t>
            </a:r>
            <a:r>
              <a:rPr lang="es-ES" sz="2400" dirty="0"/>
              <a:t>Suponga los siguientes flujos mensuales. ¿Cuál es la cuota uniforme equivalente a la serie si su costo de oportunidad es del 24% NA/MV?</a:t>
            </a:r>
          </a:p>
        </p:txBody>
      </p:sp>
      <p:cxnSp>
        <p:nvCxnSpPr>
          <p:cNvPr id="37" name="Straight Connector 6"/>
          <p:cNvCxnSpPr/>
          <p:nvPr/>
        </p:nvCxnSpPr>
        <p:spPr>
          <a:xfrm flipV="1">
            <a:off x="2864869" y="5277249"/>
            <a:ext cx="6372951" cy="12001"/>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8" name="Straight Arrow Connector 9"/>
          <p:cNvCxnSpPr/>
          <p:nvPr/>
        </p:nvCxnSpPr>
        <p:spPr>
          <a:xfrm flipV="1">
            <a:off x="4845738" y="4994538"/>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39" name="Rectangle 35"/>
          <p:cNvSpPr>
            <a:spLocks/>
          </p:cNvSpPr>
          <p:nvPr/>
        </p:nvSpPr>
        <p:spPr bwMode="auto">
          <a:xfrm>
            <a:off x="2800747" y="5284530"/>
            <a:ext cx="12824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0</a:t>
            </a:r>
          </a:p>
        </p:txBody>
      </p:sp>
      <p:sp>
        <p:nvSpPr>
          <p:cNvPr id="40" name="Rectangle 36"/>
          <p:cNvSpPr>
            <a:spLocks/>
          </p:cNvSpPr>
          <p:nvPr/>
        </p:nvSpPr>
        <p:spPr bwMode="auto">
          <a:xfrm>
            <a:off x="3614032" y="5259701"/>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a:t>
            </a:r>
          </a:p>
        </p:txBody>
      </p:sp>
      <p:sp>
        <p:nvSpPr>
          <p:cNvPr id="41" name="Rectangle 37"/>
          <p:cNvSpPr>
            <a:spLocks/>
          </p:cNvSpPr>
          <p:nvPr/>
        </p:nvSpPr>
        <p:spPr bwMode="auto">
          <a:xfrm>
            <a:off x="4702520" y="5259701"/>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2</a:t>
            </a:r>
          </a:p>
        </p:txBody>
      </p:sp>
      <p:sp>
        <p:nvSpPr>
          <p:cNvPr id="42" name="Rectangle 38"/>
          <p:cNvSpPr>
            <a:spLocks/>
          </p:cNvSpPr>
          <p:nvPr/>
        </p:nvSpPr>
        <p:spPr bwMode="auto">
          <a:xfrm>
            <a:off x="5761994" y="5273658"/>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3</a:t>
            </a:r>
          </a:p>
        </p:txBody>
      </p:sp>
      <p:sp>
        <p:nvSpPr>
          <p:cNvPr id="43" name="Rectangle 39"/>
          <p:cNvSpPr>
            <a:spLocks/>
          </p:cNvSpPr>
          <p:nvPr/>
        </p:nvSpPr>
        <p:spPr bwMode="auto">
          <a:xfrm>
            <a:off x="6767856" y="5290115"/>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4</a:t>
            </a:r>
          </a:p>
        </p:txBody>
      </p:sp>
      <p:sp>
        <p:nvSpPr>
          <p:cNvPr id="44" name="Rectangle 40"/>
          <p:cNvSpPr>
            <a:spLocks/>
          </p:cNvSpPr>
          <p:nvPr/>
        </p:nvSpPr>
        <p:spPr bwMode="auto">
          <a:xfrm>
            <a:off x="7841285" y="5259701"/>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5</a:t>
            </a:r>
          </a:p>
        </p:txBody>
      </p:sp>
      <p:sp>
        <p:nvSpPr>
          <p:cNvPr id="45" name="Rectangle 41"/>
          <p:cNvSpPr>
            <a:spLocks/>
          </p:cNvSpPr>
          <p:nvPr/>
        </p:nvSpPr>
        <p:spPr bwMode="auto">
          <a:xfrm>
            <a:off x="8900759" y="5259701"/>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6</a:t>
            </a:r>
          </a:p>
        </p:txBody>
      </p:sp>
      <p:sp>
        <p:nvSpPr>
          <p:cNvPr id="46" name="Rectangle 35"/>
          <p:cNvSpPr>
            <a:spLocks/>
          </p:cNvSpPr>
          <p:nvPr/>
        </p:nvSpPr>
        <p:spPr bwMode="auto">
          <a:xfrm>
            <a:off x="4780819" y="4694552"/>
            <a:ext cx="12824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5</a:t>
            </a:r>
          </a:p>
        </p:txBody>
      </p:sp>
      <p:sp>
        <p:nvSpPr>
          <p:cNvPr id="47" name="Rectangle 35"/>
          <p:cNvSpPr>
            <a:spLocks/>
          </p:cNvSpPr>
          <p:nvPr/>
        </p:nvSpPr>
        <p:spPr bwMode="auto">
          <a:xfrm>
            <a:off x="5854684" y="4398611"/>
            <a:ext cx="256481"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10</a:t>
            </a:r>
          </a:p>
        </p:txBody>
      </p:sp>
      <p:sp>
        <p:nvSpPr>
          <p:cNvPr id="48" name="Rectangle 35"/>
          <p:cNvSpPr>
            <a:spLocks/>
          </p:cNvSpPr>
          <p:nvPr/>
        </p:nvSpPr>
        <p:spPr bwMode="auto">
          <a:xfrm>
            <a:off x="6866268" y="4099242"/>
            <a:ext cx="256481"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15</a:t>
            </a:r>
          </a:p>
        </p:txBody>
      </p:sp>
      <p:sp>
        <p:nvSpPr>
          <p:cNvPr id="49" name="Rectangle 35"/>
          <p:cNvSpPr>
            <a:spLocks/>
          </p:cNvSpPr>
          <p:nvPr/>
        </p:nvSpPr>
        <p:spPr bwMode="auto">
          <a:xfrm>
            <a:off x="7873113" y="3806985"/>
            <a:ext cx="256481"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20</a:t>
            </a:r>
          </a:p>
        </p:txBody>
      </p:sp>
      <p:sp>
        <p:nvSpPr>
          <p:cNvPr id="50" name="Rectangle 35"/>
          <p:cNvSpPr>
            <a:spLocks/>
          </p:cNvSpPr>
          <p:nvPr/>
        </p:nvSpPr>
        <p:spPr bwMode="auto">
          <a:xfrm>
            <a:off x="8963214" y="3211903"/>
            <a:ext cx="256481"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25</a:t>
            </a:r>
          </a:p>
        </p:txBody>
      </p:sp>
      <p:cxnSp>
        <p:nvCxnSpPr>
          <p:cNvPr id="51" name="Straight Arrow Connector 9"/>
          <p:cNvCxnSpPr/>
          <p:nvPr/>
        </p:nvCxnSpPr>
        <p:spPr>
          <a:xfrm flipV="1">
            <a:off x="5969046" y="4797326"/>
            <a:ext cx="0" cy="497850"/>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52" name="Straight Arrow Connector 9"/>
          <p:cNvCxnSpPr/>
          <p:nvPr/>
        </p:nvCxnSpPr>
        <p:spPr>
          <a:xfrm flipV="1">
            <a:off x="7999852" y="4161984"/>
            <a:ext cx="0" cy="1086699"/>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53" name="Straight Arrow Connector 9"/>
          <p:cNvCxnSpPr/>
          <p:nvPr/>
        </p:nvCxnSpPr>
        <p:spPr>
          <a:xfrm flipV="1">
            <a:off x="6994508" y="4420696"/>
            <a:ext cx="0" cy="827987"/>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54" name="Straight Arrow Connector 9"/>
          <p:cNvCxnSpPr/>
          <p:nvPr/>
        </p:nvCxnSpPr>
        <p:spPr>
          <a:xfrm flipV="1">
            <a:off x="9091454" y="3634433"/>
            <a:ext cx="0" cy="1670003"/>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3" name="CuadroTexto 2"/>
          <p:cNvSpPr txBox="1"/>
          <p:nvPr/>
        </p:nvSpPr>
        <p:spPr>
          <a:xfrm>
            <a:off x="9258578" y="5064016"/>
            <a:ext cx="830677" cy="400110"/>
          </a:xfrm>
          <a:prstGeom prst="rect">
            <a:avLst/>
          </a:prstGeom>
          <a:noFill/>
        </p:spPr>
        <p:txBody>
          <a:bodyPr wrap="none" rtlCol="0">
            <a:spAutoFit/>
          </a:bodyPr>
          <a:lstStyle/>
          <a:p>
            <a:r>
              <a:rPr lang="es-CO" sz="2000"/>
              <a:t>Meses</a:t>
            </a:r>
          </a:p>
        </p:txBody>
      </p:sp>
      <p:sp>
        <p:nvSpPr>
          <p:cNvPr id="7" name="Title 1">
            <a:extLst>
              <a:ext uri="{FF2B5EF4-FFF2-40B4-BE49-F238E27FC236}">
                <a16:creationId xmlns:a16="http://schemas.microsoft.com/office/drawing/2014/main" id="{FB9FAC87-FBD0-5730-A6D7-306285EE87CF}"/>
              </a:ext>
            </a:extLst>
          </p:cNvPr>
          <p:cNvSpPr>
            <a:spLocks noGrp="1"/>
          </p:cNvSpPr>
          <p:nvPr>
            <p:ph type="title"/>
          </p:nvPr>
        </p:nvSpPr>
        <p:spPr>
          <a:xfrm>
            <a:off x="581192" y="702156"/>
            <a:ext cx="11029616" cy="1013800"/>
          </a:xfrm>
        </p:spPr>
        <p:txBody>
          <a:bodyPr>
            <a:normAutofit/>
          </a:bodyPr>
          <a:lstStyle/>
          <a:p>
            <a:r>
              <a:rPr lang="es-ES_tradnl" sz="3200" dirty="0">
                <a:latin typeface="Gill Sans MT (titulo)"/>
              </a:rPr>
              <a:t>Gradientes aritméticos</a:t>
            </a:r>
          </a:p>
        </p:txBody>
      </p:sp>
      <p:sp>
        <p:nvSpPr>
          <p:cNvPr id="8" name="Rectángulo 7">
            <a:extLst>
              <a:ext uri="{FF2B5EF4-FFF2-40B4-BE49-F238E27FC236}">
                <a16:creationId xmlns:a16="http://schemas.microsoft.com/office/drawing/2014/main" id="{229B9EAB-9FCF-EFEA-8BF1-2B86AA6C1B14}"/>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9" name="Picture 2" descr="Clientes y aliados | Centro de Evaluación | Uniandes">
            <a:extLst>
              <a:ext uri="{FF2B5EF4-FFF2-40B4-BE49-F238E27FC236}">
                <a16:creationId xmlns:a16="http://schemas.microsoft.com/office/drawing/2014/main" id="{A355F38B-A953-10AB-9103-5CA9CCDED26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0" name="Rectángulo 9">
            <a:extLst>
              <a:ext uri="{FF2B5EF4-FFF2-40B4-BE49-F238E27FC236}">
                <a16:creationId xmlns:a16="http://schemas.microsoft.com/office/drawing/2014/main" id="{D6F67A34-C3BE-D1CB-CFEF-45B8BE814E91}"/>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2" name="Slide Number Placeholder 3">
            <a:extLst>
              <a:ext uri="{FF2B5EF4-FFF2-40B4-BE49-F238E27FC236}">
                <a16:creationId xmlns:a16="http://schemas.microsoft.com/office/drawing/2014/main" id="{C38AF316-BB50-0D6A-BB72-EAD28D43C444}"/>
              </a:ext>
            </a:extLst>
          </p:cNvPr>
          <p:cNvSpPr>
            <a:spLocks noGrp="1"/>
          </p:cNvSpPr>
          <p:nvPr>
            <p:ph type="sldNum" sz="quarter" idx="12"/>
          </p:nvPr>
        </p:nvSpPr>
        <p:spPr>
          <a:xfrm>
            <a:off x="10558300" y="5956137"/>
            <a:ext cx="1052508" cy="365125"/>
          </a:xfrm>
        </p:spPr>
        <p:txBody>
          <a:bodyPr/>
          <a:lstStyle/>
          <a:p>
            <a:fld id="{5E3E23BA-6E79-2442-BA73-D218A5E297C3}" type="slidenum">
              <a:rPr lang="en-US" sz="2000" b="1" smtClean="0">
                <a:latin typeface="Gill Sans MT (Títulos)"/>
              </a:rPr>
              <a:t>20</a:t>
            </a:fld>
            <a:endParaRPr lang="en-US" sz="2000" b="1" dirty="0">
              <a:latin typeface="Gill Sans MT (Títulos)"/>
            </a:endParaRPr>
          </a:p>
        </p:txBody>
      </p:sp>
    </p:spTree>
    <p:extLst>
      <p:ext uri="{BB962C8B-B14F-4D97-AF65-F5344CB8AC3E}">
        <p14:creationId xmlns:p14="http://schemas.microsoft.com/office/powerpoint/2010/main" val="304871619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08E9EC17-FD80-2605-EAF7-8DD1330143A4}"/>
              </a:ext>
            </a:extLst>
          </p:cNvPr>
          <p:cNvSpPr>
            <a:spLocks noGrp="1"/>
          </p:cNvSpPr>
          <p:nvPr>
            <p:ph type="title"/>
          </p:nvPr>
        </p:nvSpPr>
        <p:spPr>
          <a:xfrm>
            <a:off x="581192" y="702156"/>
            <a:ext cx="11029616" cy="1013800"/>
          </a:xfrm>
        </p:spPr>
        <p:txBody>
          <a:bodyPr>
            <a:normAutofit/>
          </a:bodyPr>
          <a:lstStyle/>
          <a:p>
            <a:r>
              <a:rPr lang="es-ES_tradnl" sz="3200" dirty="0">
                <a:latin typeface="Gill Sans MT (titulo)"/>
              </a:rPr>
              <a:t>Gradientes aritméticos</a:t>
            </a:r>
          </a:p>
        </p:txBody>
      </p:sp>
      <p:sp>
        <p:nvSpPr>
          <p:cNvPr id="8" name="Rectángulo 7">
            <a:extLst>
              <a:ext uri="{FF2B5EF4-FFF2-40B4-BE49-F238E27FC236}">
                <a16:creationId xmlns:a16="http://schemas.microsoft.com/office/drawing/2014/main" id="{549EF29A-3B1D-A6E5-75C8-FD36D03B7F5F}"/>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9" name="Picture 2" descr="Clientes y aliados | Centro de Evaluación | Uniandes">
            <a:extLst>
              <a:ext uri="{FF2B5EF4-FFF2-40B4-BE49-F238E27FC236}">
                <a16:creationId xmlns:a16="http://schemas.microsoft.com/office/drawing/2014/main" id="{24A1AB44-29D3-DF32-38A6-65C77AE1143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0" name="Rectángulo 9">
            <a:extLst>
              <a:ext uri="{FF2B5EF4-FFF2-40B4-BE49-F238E27FC236}">
                <a16:creationId xmlns:a16="http://schemas.microsoft.com/office/drawing/2014/main" id="{30A0794E-9AD6-F6DE-C7D3-407E208B113D}"/>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2" name="Slide Number Placeholder 3">
            <a:extLst>
              <a:ext uri="{FF2B5EF4-FFF2-40B4-BE49-F238E27FC236}">
                <a16:creationId xmlns:a16="http://schemas.microsoft.com/office/drawing/2014/main" id="{D222E3FA-DDBA-DF22-FF5F-E6B439B74282}"/>
              </a:ext>
            </a:extLst>
          </p:cNvPr>
          <p:cNvSpPr>
            <a:spLocks noGrp="1"/>
          </p:cNvSpPr>
          <p:nvPr>
            <p:ph type="sldNum" sz="quarter" idx="12"/>
          </p:nvPr>
        </p:nvSpPr>
        <p:spPr>
          <a:xfrm>
            <a:off x="10558300" y="5956137"/>
            <a:ext cx="1052508" cy="365125"/>
          </a:xfrm>
        </p:spPr>
        <p:txBody>
          <a:bodyPr/>
          <a:lstStyle/>
          <a:p>
            <a:fld id="{5E3E23BA-6E79-2442-BA73-D218A5E297C3}" type="slidenum">
              <a:rPr lang="en-US" sz="2000" b="1" smtClean="0">
                <a:latin typeface="Gill Sans MT (Títulos)"/>
              </a:rPr>
              <a:t>21</a:t>
            </a:fld>
            <a:endParaRPr lang="en-US" sz="2000" b="1" dirty="0">
              <a:latin typeface="Gill Sans MT (Títulos)"/>
            </a:endParaRPr>
          </a:p>
        </p:txBody>
      </p:sp>
      <p:sp>
        <p:nvSpPr>
          <p:cNvPr id="39" name="TextBox 5">
            <a:extLst>
              <a:ext uri="{FF2B5EF4-FFF2-40B4-BE49-F238E27FC236}">
                <a16:creationId xmlns:a16="http://schemas.microsoft.com/office/drawing/2014/main" id="{F3B54FA6-FE6B-413A-8D74-3183E349B638}"/>
              </a:ext>
            </a:extLst>
          </p:cNvPr>
          <p:cNvSpPr txBox="1"/>
          <p:nvPr/>
        </p:nvSpPr>
        <p:spPr>
          <a:xfrm>
            <a:off x="581192" y="2585595"/>
            <a:ext cx="6096000" cy="34163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lvl="1" indent="-457200" algn="just">
              <a:buClr>
                <a:srgbClr val="D7A700"/>
              </a:buClr>
              <a:buFont typeface="+mj-lt"/>
              <a:buAutoNum type="arabicPeriod"/>
            </a:pPr>
            <a:r>
              <a:rPr lang="es-MX" sz="2400" dirty="0">
                <a:solidFill>
                  <a:srgbClr val="595959"/>
                </a:solidFill>
                <a:latin typeface="Gill Sans MT (Cuerpo)"/>
                <a:cs typeface="Arial"/>
              </a:rPr>
              <a:t>Valor presente de la serie uniforme</a:t>
            </a:r>
          </a:p>
          <a:p>
            <a:pPr lvl="1" indent="-457200" algn="just">
              <a:buClr>
                <a:srgbClr val="D7A700"/>
              </a:buClr>
              <a:buFont typeface="+mj-lt"/>
              <a:buAutoNum type="arabicPeriod"/>
            </a:pPr>
            <a:endParaRPr lang="es-MX" sz="2400" dirty="0">
              <a:solidFill>
                <a:srgbClr val="595959"/>
              </a:solidFill>
              <a:latin typeface="Gill Sans MT (Cuerpo)"/>
              <a:cs typeface="Arial"/>
            </a:endParaRPr>
          </a:p>
          <a:p>
            <a:pPr lvl="1" indent="-457200" algn="just">
              <a:buClr>
                <a:srgbClr val="D7A700"/>
              </a:buClr>
              <a:buFont typeface="+mj-lt"/>
              <a:buAutoNum type="arabicPeriod"/>
            </a:pPr>
            <a:endParaRPr lang="es-MX" sz="2400" dirty="0">
              <a:solidFill>
                <a:srgbClr val="595959"/>
              </a:solidFill>
              <a:latin typeface="Gill Sans MT (Cuerpo)"/>
              <a:cs typeface="Arial"/>
            </a:endParaRPr>
          </a:p>
          <a:p>
            <a:pPr lvl="1" indent="-457200" algn="just">
              <a:buClr>
                <a:srgbClr val="D7A700"/>
              </a:buClr>
              <a:buFont typeface="+mj-lt"/>
              <a:buAutoNum type="arabicPeriod"/>
            </a:pPr>
            <a:endParaRPr lang="es-MX" sz="2400" dirty="0">
              <a:solidFill>
                <a:srgbClr val="595959"/>
              </a:solidFill>
              <a:latin typeface="Gill Sans MT (Cuerpo)"/>
              <a:cs typeface="Arial"/>
            </a:endParaRPr>
          </a:p>
          <a:p>
            <a:pPr lvl="1" indent="-457200" algn="just">
              <a:buClr>
                <a:srgbClr val="D7A700"/>
              </a:buClr>
              <a:buFont typeface="+mj-lt"/>
              <a:buAutoNum type="arabicPeriod"/>
            </a:pPr>
            <a:r>
              <a:rPr lang="es-MX" sz="2400" dirty="0">
                <a:solidFill>
                  <a:srgbClr val="595959"/>
                </a:solidFill>
                <a:latin typeface="Gill Sans MT (Cuerpo)"/>
                <a:cs typeface="Arial"/>
              </a:rPr>
              <a:t>Valor presente del gradiente aritmético</a:t>
            </a:r>
          </a:p>
          <a:p>
            <a:pPr lvl="1" indent="-457200" algn="just">
              <a:buClr>
                <a:srgbClr val="D7A700"/>
              </a:buClr>
              <a:buFont typeface="+mj-lt"/>
              <a:buAutoNum type="arabicPeriod"/>
            </a:pPr>
            <a:endParaRPr lang="es-MX" sz="2400" dirty="0">
              <a:solidFill>
                <a:srgbClr val="595959"/>
              </a:solidFill>
              <a:latin typeface="Gill Sans MT (Cuerpo)"/>
              <a:cs typeface="Arial"/>
            </a:endParaRPr>
          </a:p>
          <a:p>
            <a:pPr lvl="1" indent="-457200" algn="just">
              <a:buClr>
                <a:srgbClr val="D7A700"/>
              </a:buClr>
              <a:buFont typeface="+mj-lt"/>
              <a:buAutoNum type="arabicPeriod"/>
            </a:pPr>
            <a:endParaRPr lang="es-MX" sz="2400" dirty="0">
              <a:solidFill>
                <a:srgbClr val="595959"/>
              </a:solidFill>
              <a:latin typeface="Gill Sans MT (Cuerpo)"/>
              <a:cs typeface="Arial"/>
            </a:endParaRPr>
          </a:p>
          <a:p>
            <a:pPr lvl="1" indent="-457200" algn="just">
              <a:buClr>
                <a:srgbClr val="D7A700"/>
              </a:buClr>
              <a:buFont typeface="+mj-lt"/>
              <a:buAutoNum type="arabicPeriod"/>
            </a:pPr>
            <a:endParaRPr lang="es-MX" sz="2400" dirty="0">
              <a:solidFill>
                <a:srgbClr val="595959"/>
              </a:solidFill>
              <a:latin typeface="Gill Sans MT (Cuerpo)"/>
              <a:cs typeface="Arial"/>
            </a:endParaRPr>
          </a:p>
          <a:p>
            <a:pPr lvl="1" indent="-457200" algn="just">
              <a:buClr>
                <a:srgbClr val="D7A700"/>
              </a:buClr>
              <a:buFont typeface="+mj-lt"/>
              <a:buAutoNum type="arabicPeriod"/>
            </a:pPr>
            <a:r>
              <a:rPr lang="en-US" sz="2400" dirty="0">
                <a:solidFill>
                  <a:srgbClr val="595959"/>
                </a:solidFill>
                <a:latin typeface="Gill Sans MT (Cuerpo)"/>
                <a:cs typeface="Arial"/>
              </a:rPr>
              <a:t>Valor </a:t>
            </a:r>
            <a:r>
              <a:rPr lang="en-US" sz="2400" dirty="0" err="1">
                <a:solidFill>
                  <a:srgbClr val="595959"/>
                </a:solidFill>
                <a:latin typeface="Gill Sans MT (Cuerpo)"/>
                <a:cs typeface="Arial"/>
              </a:rPr>
              <a:t>presente</a:t>
            </a:r>
            <a:r>
              <a:rPr lang="en-US" sz="2400" dirty="0">
                <a:solidFill>
                  <a:srgbClr val="595959"/>
                </a:solidFill>
                <a:latin typeface="Gill Sans MT (Cuerpo)"/>
                <a:cs typeface="Arial"/>
              </a:rPr>
              <a:t> total</a:t>
            </a:r>
            <a:endParaRPr lang="es-MX" sz="2400" dirty="0">
              <a:solidFill>
                <a:srgbClr val="595959"/>
              </a:solidFill>
              <a:latin typeface="Gill Sans MT (Cuerpo)"/>
              <a:cs typeface="Arial"/>
            </a:endParaRPr>
          </a:p>
        </p:txBody>
      </p:sp>
      <mc:AlternateContent xmlns:mc="http://schemas.openxmlformats.org/markup-compatibility/2006" xmlns:a14="http://schemas.microsoft.com/office/drawing/2010/main">
        <mc:Choice Requires="a14">
          <p:sp>
            <p:nvSpPr>
              <p:cNvPr id="40" name="CuadroTexto 39">
                <a:extLst>
                  <a:ext uri="{FF2B5EF4-FFF2-40B4-BE49-F238E27FC236}">
                    <a16:creationId xmlns:a16="http://schemas.microsoft.com/office/drawing/2014/main" id="{3FBA424B-80B9-1068-8B91-15D7DE7B2154}"/>
                  </a:ext>
                </a:extLst>
              </p:cNvPr>
              <p:cNvSpPr txBox="1"/>
              <p:nvPr/>
            </p:nvSpPr>
            <p:spPr>
              <a:xfrm>
                <a:off x="3568385" y="3144884"/>
                <a:ext cx="5344348" cy="90588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MX" i="1" smtClean="0">
                              <a:latin typeface="Cambria Math" panose="02040503050406030204" pitchFamily="18" charset="0"/>
                            </a:rPr>
                          </m:ctrlPr>
                        </m:sSubPr>
                        <m:e>
                          <m:r>
                            <a:rPr lang="es-MX" b="0" i="1" smtClean="0">
                              <a:latin typeface="Cambria Math" panose="02040503050406030204" pitchFamily="18" charset="0"/>
                            </a:rPr>
                            <m:t>𝑉</m:t>
                          </m:r>
                        </m:e>
                        <m:sub>
                          <m:sSub>
                            <m:sSubPr>
                              <m:ctrlPr>
                                <a:rPr lang="es-MX" b="0" i="1" smtClean="0">
                                  <a:latin typeface="Cambria Math" panose="02040503050406030204" pitchFamily="18" charset="0"/>
                                </a:rPr>
                              </m:ctrlPr>
                            </m:sSubPr>
                            <m:e>
                              <m:r>
                                <a:rPr lang="es-MX" b="0" i="1" smtClean="0">
                                  <a:latin typeface="Cambria Math" panose="02040503050406030204" pitchFamily="18" charset="0"/>
                                </a:rPr>
                                <m:t>𝑃</m:t>
                              </m:r>
                            </m:e>
                            <m:sub>
                              <m:r>
                                <a:rPr lang="es-MX" b="0" i="1" smtClean="0">
                                  <a:latin typeface="Cambria Math" panose="02040503050406030204" pitchFamily="18" charset="0"/>
                                </a:rPr>
                                <m:t>1</m:t>
                              </m:r>
                            </m:sub>
                          </m:sSub>
                        </m:sub>
                      </m:sSub>
                      <m:r>
                        <a:rPr lang="es-MX" b="0" i="1" smtClean="0">
                          <a:latin typeface="Cambria Math" panose="02040503050406030204" pitchFamily="18" charset="0"/>
                        </a:rPr>
                        <m:t>=</m:t>
                      </m:r>
                      <m:r>
                        <a:rPr lang="es-MX" b="0" i="1" smtClean="0">
                          <a:latin typeface="Cambria Math" panose="02040503050406030204" pitchFamily="18" charset="0"/>
                        </a:rPr>
                        <m:t>𝐴</m:t>
                      </m:r>
                      <m:d>
                        <m:dPr>
                          <m:begChr m:val="["/>
                          <m:endChr m:val="]"/>
                          <m:ctrlPr>
                            <a:rPr lang="es-MX" b="0" i="1" smtClean="0">
                              <a:latin typeface="Cambria Math" panose="02040503050406030204" pitchFamily="18" charset="0"/>
                            </a:rPr>
                          </m:ctrlPr>
                        </m:dPr>
                        <m:e>
                          <m:f>
                            <m:fPr>
                              <m:ctrlPr>
                                <a:rPr lang="es-MX" b="0" i="1" smtClean="0">
                                  <a:latin typeface="Cambria Math" panose="02040503050406030204" pitchFamily="18" charset="0"/>
                                </a:rPr>
                              </m:ctrlPr>
                            </m:fPr>
                            <m:num>
                              <m:r>
                                <a:rPr lang="es-MX" b="0" i="1" smtClean="0">
                                  <a:latin typeface="Cambria Math" panose="02040503050406030204" pitchFamily="18" charset="0"/>
                                </a:rPr>
                                <m:t>1−(</m:t>
                              </m:r>
                              <m:sSup>
                                <m:sSupPr>
                                  <m:ctrlPr>
                                    <a:rPr lang="es-MX" b="0" i="1" smtClean="0">
                                      <a:latin typeface="Cambria Math" panose="02040503050406030204" pitchFamily="18" charset="0"/>
                                    </a:rPr>
                                  </m:ctrlPr>
                                </m:sSupPr>
                                <m:e>
                                  <m:r>
                                    <a:rPr lang="es-MX" b="0" i="1" smtClean="0">
                                      <a:latin typeface="Cambria Math" panose="02040503050406030204" pitchFamily="18" charset="0"/>
                                    </a:rPr>
                                    <m:t>1+</m:t>
                                  </m:r>
                                  <m:r>
                                    <a:rPr lang="es-MX" b="0" i="1" smtClean="0">
                                      <a:latin typeface="Cambria Math" panose="02040503050406030204" pitchFamily="18" charset="0"/>
                                    </a:rPr>
                                    <m:t>𝑖</m:t>
                                  </m:r>
                                  <m:r>
                                    <a:rPr lang="es-MX" b="0" i="1" smtClean="0">
                                      <a:latin typeface="Cambria Math" panose="02040503050406030204" pitchFamily="18" charset="0"/>
                                    </a:rPr>
                                    <m:t>)</m:t>
                                  </m:r>
                                </m:e>
                                <m:sup>
                                  <m:r>
                                    <a:rPr lang="es-MX" b="0" i="1" smtClean="0">
                                      <a:latin typeface="Cambria Math" panose="02040503050406030204" pitchFamily="18" charset="0"/>
                                    </a:rPr>
                                    <m:t>−</m:t>
                                  </m:r>
                                  <m:r>
                                    <a:rPr lang="es-MX" b="0" i="1" smtClean="0">
                                      <a:latin typeface="Cambria Math" panose="02040503050406030204" pitchFamily="18" charset="0"/>
                                    </a:rPr>
                                    <m:t>𝑛</m:t>
                                  </m:r>
                                </m:sup>
                              </m:sSup>
                            </m:num>
                            <m:den>
                              <m:r>
                                <a:rPr lang="es-MX" b="0" i="1" smtClean="0">
                                  <a:latin typeface="Cambria Math" panose="02040503050406030204" pitchFamily="18" charset="0"/>
                                </a:rPr>
                                <m:t>𝑖</m:t>
                              </m:r>
                            </m:den>
                          </m:f>
                        </m:e>
                      </m:d>
                      <m:r>
                        <a:rPr lang="es-MX" b="0" i="0" smtClean="0">
                          <a:latin typeface="Cambria Math" panose="02040503050406030204" pitchFamily="18" charset="0"/>
                        </a:rPr>
                        <m:t>=5</m:t>
                      </m:r>
                      <m:d>
                        <m:dPr>
                          <m:begChr m:val="["/>
                          <m:endChr m:val="]"/>
                          <m:ctrlPr>
                            <a:rPr lang="es-MX" b="0" i="1" smtClean="0">
                              <a:latin typeface="Cambria Math" panose="02040503050406030204" pitchFamily="18" charset="0"/>
                            </a:rPr>
                          </m:ctrlPr>
                        </m:dPr>
                        <m:e>
                          <m:f>
                            <m:fPr>
                              <m:ctrlPr>
                                <a:rPr lang="es-MX" b="0" i="1" smtClean="0">
                                  <a:latin typeface="Cambria Math" panose="02040503050406030204" pitchFamily="18" charset="0"/>
                                </a:rPr>
                              </m:ctrlPr>
                            </m:fPr>
                            <m:num>
                              <m:r>
                                <a:rPr lang="es-MX" b="0" i="1" smtClean="0">
                                  <a:latin typeface="Cambria Math" panose="02040503050406030204" pitchFamily="18" charset="0"/>
                                </a:rPr>
                                <m:t>1−</m:t>
                              </m:r>
                              <m:sSup>
                                <m:sSupPr>
                                  <m:ctrlPr>
                                    <a:rPr lang="es-MX" b="0" i="1" smtClean="0">
                                      <a:latin typeface="Cambria Math" panose="02040503050406030204" pitchFamily="18" charset="0"/>
                                    </a:rPr>
                                  </m:ctrlPr>
                                </m:sSupPr>
                                <m:e>
                                  <m:d>
                                    <m:dPr>
                                      <m:ctrlPr>
                                        <a:rPr lang="es-MX" b="0" i="1" smtClean="0">
                                          <a:latin typeface="Cambria Math" panose="02040503050406030204" pitchFamily="18" charset="0"/>
                                        </a:rPr>
                                      </m:ctrlPr>
                                    </m:dPr>
                                    <m:e>
                                      <m:r>
                                        <a:rPr lang="es-MX" b="0" i="1" smtClean="0">
                                          <a:latin typeface="Cambria Math" panose="02040503050406030204" pitchFamily="18" charset="0"/>
                                        </a:rPr>
                                        <m:t>1,02</m:t>
                                      </m:r>
                                    </m:e>
                                  </m:d>
                                </m:e>
                                <m:sup>
                                  <m:r>
                                    <a:rPr lang="es-MX" b="0" i="1" smtClean="0">
                                      <a:latin typeface="Cambria Math" panose="02040503050406030204" pitchFamily="18" charset="0"/>
                                    </a:rPr>
                                    <m:t>−5</m:t>
                                  </m:r>
                                </m:sup>
                              </m:sSup>
                            </m:num>
                            <m:den>
                              <m:r>
                                <a:rPr lang="es-MX" b="0" i="1" smtClean="0">
                                  <a:latin typeface="Cambria Math" panose="02040503050406030204" pitchFamily="18" charset="0"/>
                                </a:rPr>
                                <m:t>0,02</m:t>
                              </m:r>
                            </m:den>
                          </m:f>
                        </m:e>
                      </m:d>
                      <m:r>
                        <a:rPr lang="es-MX" b="0" i="1" smtClean="0">
                          <a:latin typeface="Cambria Math" panose="02040503050406030204" pitchFamily="18" charset="0"/>
                        </a:rPr>
                        <m:t>=23,57</m:t>
                      </m:r>
                    </m:oMath>
                  </m:oMathPara>
                </a14:m>
                <a:endParaRPr lang="es-MX" b="0" dirty="0"/>
              </a:p>
              <a:p>
                <a:endParaRPr lang="es-MX" dirty="0"/>
              </a:p>
            </p:txBody>
          </p:sp>
        </mc:Choice>
        <mc:Fallback xmlns="">
          <p:sp>
            <p:nvSpPr>
              <p:cNvPr id="40" name="CuadroTexto 39">
                <a:extLst>
                  <a:ext uri="{FF2B5EF4-FFF2-40B4-BE49-F238E27FC236}">
                    <a16:creationId xmlns:a16="http://schemas.microsoft.com/office/drawing/2014/main" id="{3FBA424B-80B9-1068-8B91-15D7DE7B2154}"/>
                  </a:ext>
                </a:extLst>
              </p:cNvPr>
              <p:cNvSpPr txBox="1">
                <a:spLocks noRot="1" noChangeAspect="1" noMove="1" noResize="1" noEditPoints="1" noAdjustHandles="1" noChangeArrowheads="1" noChangeShapeType="1" noTextEdit="1"/>
              </p:cNvSpPr>
              <p:nvPr/>
            </p:nvSpPr>
            <p:spPr>
              <a:xfrm>
                <a:off x="3568385" y="3144884"/>
                <a:ext cx="5344348" cy="905889"/>
              </a:xfrm>
              <a:prstGeom prst="rect">
                <a:avLst/>
              </a:prstGeom>
              <a:blipFill>
                <a:blip r:embed="rId4"/>
                <a:stretch>
                  <a:fillRect/>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42" name="CuadroTexto 41">
                <a:extLst>
                  <a:ext uri="{FF2B5EF4-FFF2-40B4-BE49-F238E27FC236}">
                    <a16:creationId xmlns:a16="http://schemas.microsoft.com/office/drawing/2014/main" id="{B1953CC5-2E43-7936-4C3D-19289C4C68A9}"/>
                  </a:ext>
                </a:extLst>
              </p:cNvPr>
              <p:cNvSpPr txBox="1"/>
              <p:nvPr/>
            </p:nvSpPr>
            <p:spPr>
              <a:xfrm>
                <a:off x="1724932" y="4656884"/>
                <a:ext cx="8473730" cy="63190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MX" i="1" smtClean="0">
                              <a:latin typeface="Cambria Math" panose="02040503050406030204" pitchFamily="18" charset="0"/>
                            </a:rPr>
                          </m:ctrlPr>
                        </m:sSubPr>
                        <m:e>
                          <m:r>
                            <a:rPr lang="es-MX" b="0" i="1" smtClean="0">
                              <a:latin typeface="Cambria Math" panose="02040503050406030204" pitchFamily="18" charset="0"/>
                            </a:rPr>
                            <m:t>𝑉</m:t>
                          </m:r>
                        </m:e>
                        <m:sub>
                          <m:sSub>
                            <m:sSubPr>
                              <m:ctrlPr>
                                <a:rPr lang="es-MX" b="0" i="1" smtClean="0">
                                  <a:latin typeface="Cambria Math" panose="02040503050406030204" pitchFamily="18" charset="0"/>
                                </a:rPr>
                              </m:ctrlPr>
                            </m:sSubPr>
                            <m:e>
                              <m:r>
                                <a:rPr lang="es-MX" b="0" i="1" smtClean="0">
                                  <a:latin typeface="Cambria Math" panose="02040503050406030204" pitchFamily="18" charset="0"/>
                                </a:rPr>
                                <m:t>𝑃</m:t>
                              </m:r>
                            </m:e>
                            <m:sub>
                              <m:r>
                                <a:rPr lang="es-MX" b="0" i="1" smtClean="0">
                                  <a:latin typeface="Cambria Math" panose="02040503050406030204" pitchFamily="18" charset="0"/>
                                </a:rPr>
                                <m:t>2</m:t>
                              </m:r>
                            </m:sub>
                          </m:sSub>
                        </m:sub>
                      </m:sSub>
                      <m:r>
                        <a:rPr lang="es-MX" b="0" i="1" smtClean="0">
                          <a:latin typeface="Cambria Math" panose="02040503050406030204" pitchFamily="18" charset="0"/>
                        </a:rPr>
                        <m:t>=</m:t>
                      </m:r>
                      <m:r>
                        <a:rPr lang="es-MX" b="0" i="1" smtClean="0">
                          <a:latin typeface="Cambria Math" panose="02040503050406030204" pitchFamily="18" charset="0"/>
                        </a:rPr>
                        <m:t>𝐺</m:t>
                      </m:r>
                      <m:d>
                        <m:dPr>
                          <m:begChr m:val="["/>
                          <m:endChr m:val="]"/>
                          <m:ctrlPr>
                            <a:rPr lang="es-MX" b="0" i="1" smtClean="0">
                              <a:latin typeface="Cambria Math" panose="02040503050406030204" pitchFamily="18" charset="0"/>
                            </a:rPr>
                          </m:ctrlPr>
                        </m:dPr>
                        <m:e>
                          <m:f>
                            <m:fPr>
                              <m:ctrlPr>
                                <a:rPr lang="es-MX" b="0" i="1" smtClean="0">
                                  <a:latin typeface="Cambria Math" panose="02040503050406030204" pitchFamily="18" charset="0"/>
                                </a:rPr>
                              </m:ctrlPr>
                            </m:fPr>
                            <m:num>
                              <m:r>
                                <a:rPr lang="es-MX" b="0" i="1" smtClean="0">
                                  <a:latin typeface="Cambria Math" panose="02040503050406030204" pitchFamily="18" charset="0"/>
                                </a:rPr>
                                <m:t>1</m:t>
                              </m:r>
                            </m:num>
                            <m:den>
                              <m:r>
                                <a:rPr lang="es-MX" b="0" i="1" smtClean="0">
                                  <a:latin typeface="Cambria Math" panose="02040503050406030204" pitchFamily="18" charset="0"/>
                                </a:rPr>
                                <m:t>𝑖</m:t>
                              </m:r>
                            </m:den>
                          </m:f>
                          <m:d>
                            <m:dPr>
                              <m:ctrlPr>
                                <a:rPr lang="es-MX" b="0" i="1" smtClean="0">
                                  <a:latin typeface="Cambria Math" panose="02040503050406030204" pitchFamily="18" charset="0"/>
                                </a:rPr>
                              </m:ctrlPr>
                            </m:dPr>
                            <m:e>
                              <m:f>
                                <m:fPr>
                                  <m:ctrlPr>
                                    <a:rPr lang="es-MX" b="0" i="1" smtClean="0">
                                      <a:latin typeface="Cambria Math" panose="02040503050406030204" pitchFamily="18" charset="0"/>
                                    </a:rPr>
                                  </m:ctrlPr>
                                </m:fPr>
                                <m:num>
                                  <m:r>
                                    <a:rPr lang="es-MX" b="0" i="1" smtClean="0">
                                      <a:latin typeface="Cambria Math" panose="02040503050406030204" pitchFamily="18" charset="0"/>
                                    </a:rPr>
                                    <m:t>(1−</m:t>
                                  </m:r>
                                  <m:sSup>
                                    <m:sSupPr>
                                      <m:ctrlPr>
                                        <a:rPr lang="es-MX" b="0" i="1" smtClean="0">
                                          <a:latin typeface="Cambria Math" panose="02040503050406030204" pitchFamily="18" charset="0"/>
                                        </a:rPr>
                                      </m:ctrlPr>
                                    </m:sSupPr>
                                    <m:e>
                                      <m:d>
                                        <m:dPr>
                                          <m:ctrlPr>
                                            <a:rPr lang="es-MX" b="0" i="1" smtClean="0">
                                              <a:latin typeface="Cambria Math" panose="02040503050406030204" pitchFamily="18" charset="0"/>
                                            </a:rPr>
                                          </m:ctrlPr>
                                        </m:dPr>
                                        <m:e>
                                          <m:r>
                                            <a:rPr lang="es-MX" b="0" i="1" smtClean="0">
                                              <a:latin typeface="Cambria Math" panose="02040503050406030204" pitchFamily="18" charset="0"/>
                                            </a:rPr>
                                            <m:t>1+</m:t>
                                          </m:r>
                                          <m:r>
                                            <a:rPr lang="es-MX" b="0" i="1" smtClean="0">
                                              <a:latin typeface="Cambria Math" panose="02040503050406030204" pitchFamily="18" charset="0"/>
                                            </a:rPr>
                                            <m:t>𝑖</m:t>
                                          </m:r>
                                        </m:e>
                                      </m:d>
                                    </m:e>
                                    <m:sup>
                                      <m:r>
                                        <a:rPr lang="es-MX" b="0" i="1" smtClean="0">
                                          <a:latin typeface="Cambria Math" panose="02040503050406030204" pitchFamily="18" charset="0"/>
                                        </a:rPr>
                                        <m:t>−</m:t>
                                      </m:r>
                                      <m:r>
                                        <a:rPr lang="es-MX" b="0" i="1" smtClean="0">
                                          <a:latin typeface="Cambria Math" panose="02040503050406030204" pitchFamily="18" charset="0"/>
                                        </a:rPr>
                                        <m:t>𝑛</m:t>
                                      </m:r>
                                    </m:sup>
                                  </m:sSup>
                                </m:num>
                                <m:den>
                                  <m:r>
                                    <a:rPr lang="es-MX" b="0" i="1" smtClean="0">
                                      <a:latin typeface="Cambria Math" panose="02040503050406030204" pitchFamily="18" charset="0"/>
                                    </a:rPr>
                                    <m:t>𝑖</m:t>
                                  </m:r>
                                </m:den>
                              </m:f>
                            </m:e>
                          </m:d>
                          <m:r>
                            <a:rPr lang="es-MX" b="0" i="1" smtClean="0">
                              <a:latin typeface="Cambria Math" panose="02040503050406030204" pitchFamily="18" charset="0"/>
                            </a:rPr>
                            <m:t>−</m:t>
                          </m:r>
                          <m:f>
                            <m:fPr>
                              <m:ctrlPr>
                                <a:rPr lang="es-MX" b="0" i="1" smtClean="0">
                                  <a:latin typeface="Cambria Math" panose="02040503050406030204" pitchFamily="18" charset="0"/>
                                </a:rPr>
                              </m:ctrlPr>
                            </m:fPr>
                            <m:num>
                              <m:r>
                                <a:rPr lang="es-MX" b="0" i="1" smtClean="0">
                                  <a:latin typeface="Cambria Math" panose="02040503050406030204" pitchFamily="18" charset="0"/>
                                </a:rPr>
                                <m:t>𝑛</m:t>
                              </m:r>
                            </m:num>
                            <m:den>
                              <m:sSup>
                                <m:sSupPr>
                                  <m:ctrlPr>
                                    <a:rPr lang="es-MX" b="0" i="1" smtClean="0">
                                      <a:latin typeface="Cambria Math" panose="02040503050406030204" pitchFamily="18" charset="0"/>
                                    </a:rPr>
                                  </m:ctrlPr>
                                </m:sSupPr>
                                <m:e>
                                  <m:d>
                                    <m:dPr>
                                      <m:ctrlPr>
                                        <a:rPr lang="es-MX" b="0" i="1" smtClean="0">
                                          <a:latin typeface="Cambria Math" panose="02040503050406030204" pitchFamily="18" charset="0"/>
                                        </a:rPr>
                                      </m:ctrlPr>
                                    </m:dPr>
                                    <m:e>
                                      <m:r>
                                        <a:rPr lang="es-MX" b="0" i="1" smtClean="0">
                                          <a:latin typeface="Cambria Math" panose="02040503050406030204" pitchFamily="18" charset="0"/>
                                        </a:rPr>
                                        <m:t>1+</m:t>
                                      </m:r>
                                      <m:r>
                                        <a:rPr lang="es-MX" b="0" i="1" smtClean="0">
                                          <a:latin typeface="Cambria Math" panose="02040503050406030204" pitchFamily="18" charset="0"/>
                                        </a:rPr>
                                        <m:t>𝑖</m:t>
                                      </m:r>
                                    </m:e>
                                  </m:d>
                                </m:e>
                                <m:sup>
                                  <m:r>
                                    <a:rPr lang="es-MX" b="0" i="1" smtClean="0">
                                      <a:latin typeface="Cambria Math" panose="02040503050406030204" pitchFamily="18" charset="0"/>
                                    </a:rPr>
                                    <m:t>𝑛</m:t>
                                  </m:r>
                                </m:sup>
                              </m:sSup>
                            </m:den>
                          </m:f>
                        </m:e>
                      </m:d>
                      <m:r>
                        <a:rPr lang="es-MX" b="0" i="1" smtClean="0">
                          <a:latin typeface="Cambria Math" panose="02040503050406030204" pitchFamily="18" charset="0"/>
                        </a:rPr>
                        <m:t>=5</m:t>
                      </m:r>
                      <m:d>
                        <m:dPr>
                          <m:begChr m:val="["/>
                          <m:endChr m:val="]"/>
                          <m:ctrlPr>
                            <a:rPr lang="es-MX" b="0" i="1" smtClean="0">
                              <a:latin typeface="Cambria Math" panose="02040503050406030204" pitchFamily="18" charset="0"/>
                            </a:rPr>
                          </m:ctrlPr>
                        </m:dPr>
                        <m:e>
                          <m:f>
                            <m:fPr>
                              <m:ctrlPr>
                                <a:rPr lang="es-MX" b="0" i="1" smtClean="0">
                                  <a:latin typeface="Cambria Math" panose="02040503050406030204" pitchFamily="18" charset="0"/>
                                </a:rPr>
                              </m:ctrlPr>
                            </m:fPr>
                            <m:num>
                              <m:r>
                                <a:rPr lang="es-MX" b="0" i="1" smtClean="0">
                                  <a:latin typeface="Cambria Math" panose="02040503050406030204" pitchFamily="18" charset="0"/>
                                </a:rPr>
                                <m:t>1</m:t>
                              </m:r>
                            </m:num>
                            <m:den>
                              <m:r>
                                <a:rPr lang="es-MX" b="0" i="1" smtClean="0">
                                  <a:latin typeface="Cambria Math" panose="02040503050406030204" pitchFamily="18" charset="0"/>
                                </a:rPr>
                                <m:t>0,02</m:t>
                              </m:r>
                            </m:den>
                          </m:f>
                          <m:d>
                            <m:dPr>
                              <m:ctrlPr>
                                <a:rPr lang="es-MX" b="0" i="1" smtClean="0">
                                  <a:latin typeface="Cambria Math" panose="02040503050406030204" pitchFamily="18" charset="0"/>
                                </a:rPr>
                              </m:ctrlPr>
                            </m:dPr>
                            <m:e>
                              <m:f>
                                <m:fPr>
                                  <m:ctrlPr>
                                    <a:rPr lang="es-MX" b="0" i="1" smtClean="0">
                                      <a:latin typeface="Cambria Math" panose="02040503050406030204" pitchFamily="18" charset="0"/>
                                    </a:rPr>
                                  </m:ctrlPr>
                                </m:fPr>
                                <m:num>
                                  <m:r>
                                    <a:rPr lang="es-MX" b="0" i="1" smtClean="0">
                                      <a:latin typeface="Cambria Math" panose="02040503050406030204" pitchFamily="18" charset="0"/>
                                    </a:rPr>
                                    <m:t>1−</m:t>
                                  </m:r>
                                  <m:sSup>
                                    <m:sSupPr>
                                      <m:ctrlPr>
                                        <a:rPr lang="es-MX" b="0" i="1" smtClean="0">
                                          <a:latin typeface="Cambria Math" panose="02040503050406030204" pitchFamily="18" charset="0"/>
                                        </a:rPr>
                                      </m:ctrlPr>
                                    </m:sSupPr>
                                    <m:e>
                                      <m:d>
                                        <m:dPr>
                                          <m:ctrlPr>
                                            <a:rPr lang="es-MX" b="0" i="1" smtClean="0">
                                              <a:latin typeface="Cambria Math" panose="02040503050406030204" pitchFamily="18" charset="0"/>
                                            </a:rPr>
                                          </m:ctrlPr>
                                        </m:dPr>
                                        <m:e>
                                          <m:r>
                                            <a:rPr lang="es-MX" b="0" i="1" smtClean="0">
                                              <a:latin typeface="Cambria Math" panose="02040503050406030204" pitchFamily="18" charset="0"/>
                                            </a:rPr>
                                            <m:t>1,02</m:t>
                                          </m:r>
                                        </m:e>
                                      </m:d>
                                    </m:e>
                                    <m:sup>
                                      <m:r>
                                        <a:rPr lang="es-MX" b="0" i="1" smtClean="0">
                                          <a:latin typeface="Cambria Math" panose="02040503050406030204" pitchFamily="18" charset="0"/>
                                        </a:rPr>
                                        <m:t>−5</m:t>
                                      </m:r>
                                    </m:sup>
                                  </m:sSup>
                                </m:num>
                                <m:den>
                                  <m:r>
                                    <a:rPr lang="es-MX" b="0" i="1" smtClean="0">
                                      <a:latin typeface="Cambria Math" panose="02040503050406030204" pitchFamily="18" charset="0"/>
                                    </a:rPr>
                                    <m:t>0,02</m:t>
                                  </m:r>
                                </m:den>
                              </m:f>
                            </m:e>
                          </m:d>
                          <m:r>
                            <a:rPr lang="es-MX" b="0" i="1" smtClean="0">
                              <a:latin typeface="Cambria Math" panose="02040503050406030204" pitchFamily="18" charset="0"/>
                            </a:rPr>
                            <m:t>−</m:t>
                          </m:r>
                          <m:f>
                            <m:fPr>
                              <m:ctrlPr>
                                <a:rPr lang="es-MX" b="0" i="1" smtClean="0">
                                  <a:latin typeface="Cambria Math" panose="02040503050406030204" pitchFamily="18" charset="0"/>
                                </a:rPr>
                              </m:ctrlPr>
                            </m:fPr>
                            <m:num>
                              <m:r>
                                <a:rPr lang="es-MX" b="0" i="1" smtClean="0">
                                  <a:latin typeface="Cambria Math" panose="02040503050406030204" pitchFamily="18" charset="0"/>
                                </a:rPr>
                                <m:t>5</m:t>
                              </m:r>
                            </m:num>
                            <m:den>
                              <m:sSup>
                                <m:sSupPr>
                                  <m:ctrlPr>
                                    <a:rPr lang="es-MX" b="0" i="1" smtClean="0">
                                      <a:latin typeface="Cambria Math" panose="02040503050406030204" pitchFamily="18" charset="0"/>
                                    </a:rPr>
                                  </m:ctrlPr>
                                </m:sSupPr>
                                <m:e>
                                  <m:d>
                                    <m:dPr>
                                      <m:ctrlPr>
                                        <a:rPr lang="es-MX" b="0" i="1" smtClean="0">
                                          <a:latin typeface="Cambria Math" panose="02040503050406030204" pitchFamily="18" charset="0"/>
                                        </a:rPr>
                                      </m:ctrlPr>
                                    </m:dPr>
                                    <m:e>
                                      <m:r>
                                        <a:rPr lang="es-MX" b="0" i="1" smtClean="0">
                                          <a:latin typeface="Cambria Math" panose="02040503050406030204" pitchFamily="18" charset="0"/>
                                        </a:rPr>
                                        <m:t>1,02</m:t>
                                      </m:r>
                                    </m:e>
                                  </m:d>
                                </m:e>
                                <m:sup>
                                  <m:r>
                                    <a:rPr lang="es-MX" b="0" i="1" smtClean="0">
                                      <a:latin typeface="Cambria Math" panose="02040503050406030204" pitchFamily="18" charset="0"/>
                                    </a:rPr>
                                    <m:t>5</m:t>
                                  </m:r>
                                </m:sup>
                              </m:sSup>
                            </m:den>
                          </m:f>
                        </m:e>
                      </m:d>
                      <m:r>
                        <a:rPr lang="es-MX" b="0" i="1" smtClean="0">
                          <a:latin typeface="Cambria Math" panose="02040503050406030204" pitchFamily="18" charset="0"/>
                        </a:rPr>
                        <m:t>=48,55</m:t>
                      </m:r>
                    </m:oMath>
                  </m:oMathPara>
                </a14:m>
                <a:endParaRPr lang="es-MX" dirty="0"/>
              </a:p>
            </p:txBody>
          </p:sp>
        </mc:Choice>
        <mc:Fallback xmlns="">
          <p:sp>
            <p:nvSpPr>
              <p:cNvPr id="42" name="CuadroTexto 41">
                <a:extLst>
                  <a:ext uri="{FF2B5EF4-FFF2-40B4-BE49-F238E27FC236}">
                    <a16:creationId xmlns:a16="http://schemas.microsoft.com/office/drawing/2014/main" id="{B1953CC5-2E43-7936-4C3D-19289C4C68A9}"/>
                  </a:ext>
                </a:extLst>
              </p:cNvPr>
              <p:cNvSpPr txBox="1">
                <a:spLocks noRot="1" noChangeAspect="1" noMove="1" noResize="1" noEditPoints="1" noAdjustHandles="1" noChangeArrowheads="1" noChangeShapeType="1" noTextEdit="1"/>
              </p:cNvSpPr>
              <p:nvPr/>
            </p:nvSpPr>
            <p:spPr>
              <a:xfrm>
                <a:off x="1724932" y="4656884"/>
                <a:ext cx="8473730" cy="631904"/>
              </a:xfrm>
              <a:prstGeom prst="rect">
                <a:avLst/>
              </a:prstGeom>
              <a:blipFill>
                <a:blip r:embed="rId5"/>
                <a:stretch>
                  <a:fillRect/>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47" name="CuadroTexto 46">
                <a:extLst>
                  <a:ext uri="{FF2B5EF4-FFF2-40B4-BE49-F238E27FC236}">
                    <a16:creationId xmlns:a16="http://schemas.microsoft.com/office/drawing/2014/main" id="{F44C1AD7-7633-00D7-21D9-074C87355A50}"/>
                  </a:ext>
                </a:extLst>
              </p:cNvPr>
              <p:cNvSpPr txBox="1"/>
              <p:nvPr/>
            </p:nvSpPr>
            <p:spPr>
              <a:xfrm>
                <a:off x="3048965" y="6108410"/>
                <a:ext cx="6094070" cy="39312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s-MX" i="1" smtClean="0">
                              <a:latin typeface="Cambria Math" panose="02040503050406030204" pitchFamily="18" charset="0"/>
                            </a:rPr>
                          </m:ctrlPr>
                        </m:sSubPr>
                        <m:e>
                          <m:r>
                            <a:rPr lang="es-MX" b="0" i="1" smtClean="0">
                              <a:latin typeface="Cambria Math" panose="02040503050406030204" pitchFamily="18" charset="0"/>
                            </a:rPr>
                            <m:t>𝑉</m:t>
                          </m:r>
                        </m:e>
                        <m:sub>
                          <m:r>
                            <a:rPr lang="es-MX" b="0" i="1" smtClean="0">
                              <a:latin typeface="Cambria Math" panose="02040503050406030204" pitchFamily="18" charset="0"/>
                            </a:rPr>
                            <m:t>𝑃</m:t>
                          </m:r>
                        </m:sub>
                      </m:sSub>
                      <m:r>
                        <a:rPr lang="es-MX" b="0" i="1" smtClean="0">
                          <a:latin typeface="Cambria Math" panose="02040503050406030204" pitchFamily="18" charset="0"/>
                        </a:rPr>
                        <m:t>=</m:t>
                      </m:r>
                      <m:sSub>
                        <m:sSubPr>
                          <m:ctrlPr>
                            <a:rPr lang="es-MX" i="1">
                              <a:latin typeface="Cambria Math" panose="02040503050406030204" pitchFamily="18" charset="0"/>
                            </a:rPr>
                          </m:ctrlPr>
                        </m:sSubPr>
                        <m:e>
                          <m:sSub>
                            <m:sSubPr>
                              <m:ctrlPr>
                                <a:rPr lang="es-MX" i="1">
                                  <a:latin typeface="Cambria Math" panose="02040503050406030204" pitchFamily="18" charset="0"/>
                                </a:rPr>
                              </m:ctrlPr>
                            </m:sSubPr>
                            <m:e>
                              <m:r>
                                <a:rPr lang="es-MX" i="1">
                                  <a:latin typeface="Cambria Math" panose="02040503050406030204" pitchFamily="18" charset="0"/>
                                </a:rPr>
                                <m:t>𝑉</m:t>
                              </m:r>
                            </m:e>
                            <m:sub>
                              <m:sSub>
                                <m:sSubPr>
                                  <m:ctrlPr>
                                    <a:rPr lang="es-MX" i="1">
                                      <a:latin typeface="Cambria Math" panose="02040503050406030204" pitchFamily="18" charset="0"/>
                                    </a:rPr>
                                  </m:ctrlPr>
                                </m:sSubPr>
                                <m:e>
                                  <m:r>
                                    <a:rPr lang="es-MX" i="1">
                                      <a:latin typeface="Cambria Math" panose="02040503050406030204" pitchFamily="18" charset="0"/>
                                    </a:rPr>
                                    <m:t>𝑃</m:t>
                                  </m:r>
                                </m:e>
                                <m:sub>
                                  <m:r>
                                    <a:rPr lang="es-MX" b="0" i="1" smtClean="0">
                                      <a:latin typeface="Cambria Math" panose="02040503050406030204" pitchFamily="18" charset="0"/>
                                    </a:rPr>
                                    <m:t>1</m:t>
                                  </m:r>
                                </m:sub>
                              </m:sSub>
                            </m:sub>
                          </m:sSub>
                          <m:r>
                            <a:rPr lang="es-MX" b="0" i="1" smtClean="0">
                              <a:latin typeface="Cambria Math" panose="02040503050406030204" pitchFamily="18" charset="0"/>
                            </a:rPr>
                            <m:t>+</m:t>
                          </m:r>
                          <m:r>
                            <a:rPr lang="es-MX" i="1">
                              <a:latin typeface="Cambria Math" panose="02040503050406030204" pitchFamily="18" charset="0"/>
                            </a:rPr>
                            <m:t>𝑉</m:t>
                          </m:r>
                        </m:e>
                        <m:sub>
                          <m:sSub>
                            <m:sSubPr>
                              <m:ctrlPr>
                                <a:rPr lang="es-MX" i="1">
                                  <a:latin typeface="Cambria Math" panose="02040503050406030204" pitchFamily="18" charset="0"/>
                                </a:rPr>
                              </m:ctrlPr>
                            </m:sSubPr>
                            <m:e>
                              <m:r>
                                <a:rPr lang="es-MX" i="1">
                                  <a:latin typeface="Cambria Math" panose="02040503050406030204" pitchFamily="18" charset="0"/>
                                </a:rPr>
                                <m:t>𝑃</m:t>
                              </m:r>
                            </m:e>
                            <m:sub>
                              <m:r>
                                <a:rPr lang="es-MX" i="1">
                                  <a:latin typeface="Cambria Math" panose="02040503050406030204" pitchFamily="18" charset="0"/>
                                </a:rPr>
                                <m:t>2</m:t>
                              </m:r>
                            </m:sub>
                          </m:sSub>
                        </m:sub>
                      </m:sSub>
                      <m:r>
                        <a:rPr lang="es-MX" b="0" i="1" smtClean="0">
                          <a:latin typeface="Cambria Math" panose="02040503050406030204" pitchFamily="18" charset="0"/>
                        </a:rPr>
                        <m:t>=</m:t>
                      </m:r>
                      <m:r>
                        <a:rPr lang="es-MX" b="0" i="0" smtClean="0">
                          <a:latin typeface="Cambria Math" panose="02040503050406030204" pitchFamily="18" charset="0"/>
                        </a:rPr>
                        <m:t>23,57+48,55=72,12</m:t>
                      </m:r>
                    </m:oMath>
                  </m:oMathPara>
                </a14:m>
                <a:endParaRPr lang="es-MX" dirty="0"/>
              </a:p>
            </p:txBody>
          </p:sp>
        </mc:Choice>
        <mc:Fallback xmlns="">
          <p:sp>
            <p:nvSpPr>
              <p:cNvPr id="47" name="CuadroTexto 46">
                <a:extLst>
                  <a:ext uri="{FF2B5EF4-FFF2-40B4-BE49-F238E27FC236}">
                    <a16:creationId xmlns:a16="http://schemas.microsoft.com/office/drawing/2014/main" id="{F44C1AD7-7633-00D7-21D9-074C87355A50}"/>
                  </a:ext>
                </a:extLst>
              </p:cNvPr>
              <p:cNvSpPr txBox="1">
                <a:spLocks noRot="1" noChangeAspect="1" noMove="1" noResize="1" noEditPoints="1" noAdjustHandles="1" noChangeArrowheads="1" noChangeShapeType="1" noTextEdit="1"/>
              </p:cNvSpPr>
              <p:nvPr/>
            </p:nvSpPr>
            <p:spPr>
              <a:xfrm>
                <a:off x="3048965" y="6108410"/>
                <a:ext cx="6094070" cy="393121"/>
              </a:xfrm>
              <a:prstGeom prst="rect">
                <a:avLst/>
              </a:prstGeom>
              <a:blipFill>
                <a:blip r:embed="rId6"/>
                <a:stretch>
                  <a:fillRect/>
                </a:stretch>
              </a:blipFill>
            </p:spPr>
            <p:txBody>
              <a:bodyPr/>
              <a:lstStyle/>
              <a:p>
                <a:r>
                  <a:rPr lang="es-MX">
                    <a:noFill/>
                  </a:rPr>
                  <a:t> </a:t>
                </a:r>
              </a:p>
            </p:txBody>
          </p:sp>
        </mc:Fallback>
      </mc:AlternateContent>
    </p:spTree>
    <p:extLst>
      <p:ext uri="{BB962C8B-B14F-4D97-AF65-F5344CB8AC3E}">
        <p14:creationId xmlns:p14="http://schemas.microsoft.com/office/powerpoint/2010/main" val="64213800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7EDF13FF-E225-D78A-C46B-B9FA634E54DC}"/>
            </a:ext>
          </a:extLst>
        </p:cNvPr>
        <p:cNvGrpSpPr/>
        <p:nvPr/>
      </p:nvGrpSpPr>
      <p:grpSpPr>
        <a:xfrm>
          <a:off x="0" y="0"/>
          <a:ext cx="0" cy="0"/>
          <a:chOff x="0" y="0"/>
          <a:chExt cx="0" cy="0"/>
        </a:xfrm>
      </p:grpSpPr>
      <p:cxnSp>
        <p:nvCxnSpPr>
          <p:cNvPr id="27" name="Straight Connector 6">
            <a:extLst>
              <a:ext uri="{FF2B5EF4-FFF2-40B4-BE49-F238E27FC236}">
                <a16:creationId xmlns:a16="http://schemas.microsoft.com/office/drawing/2014/main" id="{940FD636-C3FC-9F9B-56D9-2DC3914D942F}"/>
              </a:ext>
            </a:extLst>
          </p:cNvPr>
          <p:cNvCxnSpPr/>
          <p:nvPr/>
        </p:nvCxnSpPr>
        <p:spPr>
          <a:xfrm flipV="1">
            <a:off x="2573728" y="5816015"/>
            <a:ext cx="6372951" cy="12001"/>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28" name="Rectangle 35">
            <a:extLst>
              <a:ext uri="{FF2B5EF4-FFF2-40B4-BE49-F238E27FC236}">
                <a16:creationId xmlns:a16="http://schemas.microsoft.com/office/drawing/2014/main" id="{0D212FE8-0C13-7E63-4D64-E4592A2503EE}"/>
              </a:ext>
            </a:extLst>
          </p:cNvPr>
          <p:cNvSpPr>
            <a:spLocks/>
          </p:cNvSpPr>
          <p:nvPr/>
        </p:nvSpPr>
        <p:spPr bwMode="auto">
          <a:xfrm>
            <a:off x="2509606" y="5823296"/>
            <a:ext cx="12824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nchor="ctr">
            <a:spAutoFit/>
          </a:bodyPr>
          <a:lstStyle/>
          <a:p>
            <a:pPr algn="ctr"/>
            <a:r>
              <a:rPr lang="en-US" sz="2000"/>
              <a:t>0</a:t>
            </a:r>
          </a:p>
        </p:txBody>
      </p:sp>
      <p:sp>
        <p:nvSpPr>
          <p:cNvPr id="29" name="Rectangle 36">
            <a:extLst>
              <a:ext uri="{FF2B5EF4-FFF2-40B4-BE49-F238E27FC236}">
                <a16:creationId xmlns:a16="http://schemas.microsoft.com/office/drawing/2014/main" id="{C577AFA3-EDDC-687A-9B12-69D155502EF0}"/>
              </a:ext>
            </a:extLst>
          </p:cNvPr>
          <p:cNvSpPr>
            <a:spLocks/>
          </p:cNvSpPr>
          <p:nvPr/>
        </p:nvSpPr>
        <p:spPr bwMode="auto">
          <a:xfrm>
            <a:off x="3322891" y="5798467"/>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1</a:t>
            </a:r>
          </a:p>
        </p:txBody>
      </p:sp>
      <p:sp>
        <p:nvSpPr>
          <p:cNvPr id="30" name="Rectangle 37">
            <a:extLst>
              <a:ext uri="{FF2B5EF4-FFF2-40B4-BE49-F238E27FC236}">
                <a16:creationId xmlns:a16="http://schemas.microsoft.com/office/drawing/2014/main" id="{CFE9AFE0-AFFD-EA8E-9CAC-FE4CAEDC0B8A}"/>
              </a:ext>
            </a:extLst>
          </p:cNvPr>
          <p:cNvSpPr>
            <a:spLocks/>
          </p:cNvSpPr>
          <p:nvPr/>
        </p:nvSpPr>
        <p:spPr bwMode="auto">
          <a:xfrm>
            <a:off x="4411379" y="5798467"/>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2</a:t>
            </a:r>
          </a:p>
        </p:txBody>
      </p:sp>
      <p:sp>
        <p:nvSpPr>
          <p:cNvPr id="31" name="Rectangle 38">
            <a:extLst>
              <a:ext uri="{FF2B5EF4-FFF2-40B4-BE49-F238E27FC236}">
                <a16:creationId xmlns:a16="http://schemas.microsoft.com/office/drawing/2014/main" id="{CB138D21-4D32-C97E-82AF-ED8756B08A62}"/>
              </a:ext>
            </a:extLst>
          </p:cNvPr>
          <p:cNvSpPr>
            <a:spLocks/>
          </p:cNvSpPr>
          <p:nvPr/>
        </p:nvSpPr>
        <p:spPr bwMode="auto">
          <a:xfrm>
            <a:off x="5470853" y="5812424"/>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3</a:t>
            </a:r>
          </a:p>
        </p:txBody>
      </p:sp>
      <p:sp>
        <p:nvSpPr>
          <p:cNvPr id="32" name="Rectangle 39">
            <a:extLst>
              <a:ext uri="{FF2B5EF4-FFF2-40B4-BE49-F238E27FC236}">
                <a16:creationId xmlns:a16="http://schemas.microsoft.com/office/drawing/2014/main" id="{46F13F61-9E04-7FCD-7F0A-0B42D0D6645C}"/>
              </a:ext>
            </a:extLst>
          </p:cNvPr>
          <p:cNvSpPr>
            <a:spLocks/>
          </p:cNvSpPr>
          <p:nvPr/>
        </p:nvSpPr>
        <p:spPr bwMode="auto">
          <a:xfrm>
            <a:off x="6476715" y="5828881"/>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4</a:t>
            </a:r>
          </a:p>
        </p:txBody>
      </p:sp>
      <p:sp>
        <p:nvSpPr>
          <p:cNvPr id="33" name="Rectangle 40">
            <a:extLst>
              <a:ext uri="{FF2B5EF4-FFF2-40B4-BE49-F238E27FC236}">
                <a16:creationId xmlns:a16="http://schemas.microsoft.com/office/drawing/2014/main" id="{D00BB18E-BB28-7539-0B4F-AF00D46F920E}"/>
              </a:ext>
            </a:extLst>
          </p:cNvPr>
          <p:cNvSpPr>
            <a:spLocks/>
          </p:cNvSpPr>
          <p:nvPr/>
        </p:nvSpPr>
        <p:spPr bwMode="auto">
          <a:xfrm>
            <a:off x="7550144" y="5798467"/>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5</a:t>
            </a:r>
          </a:p>
        </p:txBody>
      </p:sp>
      <p:sp>
        <p:nvSpPr>
          <p:cNvPr id="34" name="Rectangle 41">
            <a:extLst>
              <a:ext uri="{FF2B5EF4-FFF2-40B4-BE49-F238E27FC236}">
                <a16:creationId xmlns:a16="http://schemas.microsoft.com/office/drawing/2014/main" id="{245EB471-5AC0-0DA9-12BD-18837007D63E}"/>
              </a:ext>
            </a:extLst>
          </p:cNvPr>
          <p:cNvSpPr>
            <a:spLocks/>
          </p:cNvSpPr>
          <p:nvPr/>
        </p:nvSpPr>
        <p:spPr bwMode="auto">
          <a:xfrm>
            <a:off x="8609618" y="5798467"/>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a:t>6</a:t>
            </a:r>
          </a:p>
        </p:txBody>
      </p:sp>
      <p:cxnSp>
        <p:nvCxnSpPr>
          <p:cNvPr id="36" name="Straight Arrow Connector 9">
            <a:extLst>
              <a:ext uri="{FF2B5EF4-FFF2-40B4-BE49-F238E27FC236}">
                <a16:creationId xmlns:a16="http://schemas.microsoft.com/office/drawing/2014/main" id="{FE624EF3-3B99-639D-A693-A8FD4112A987}"/>
              </a:ext>
            </a:extLst>
          </p:cNvPr>
          <p:cNvCxnSpPr/>
          <p:nvPr/>
        </p:nvCxnSpPr>
        <p:spPr>
          <a:xfrm flipH="1" flipV="1">
            <a:off x="8770055" y="4859308"/>
            <a:ext cx="1" cy="956706"/>
          </a:xfrm>
          <a:prstGeom prst="straightConnector1">
            <a:avLst/>
          </a:prstGeom>
          <a:ln>
            <a:solidFill>
              <a:schemeClr val="accent3"/>
            </a:solidFill>
            <a:tailEnd type="arrow"/>
          </a:ln>
        </p:spPr>
        <p:style>
          <a:lnRef idx="2">
            <a:schemeClr val="accent1"/>
          </a:lnRef>
          <a:fillRef idx="0">
            <a:schemeClr val="accent1"/>
          </a:fillRef>
          <a:effectRef idx="1">
            <a:schemeClr val="accent1"/>
          </a:effectRef>
          <a:fontRef idx="minor">
            <a:schemeClr val="tx1"/>
          </a:fontRef>
        </p:style>
      </p:cxnSp>
      <p:cxnSp>
        <p:nvCxnSpPr>
          <p:cNvPr id="55" name="Straight Arrow Connector 9">
            <a:extLst>
              <a:ext uri="{FF2B5EF4-FFF2-40B4-BE49-F238E27FC236}">
                <a16:creationId xmlns:a16="http://schemas.microsoft.com/office/drawing/2014/main" id="{61623C41-B984-633F-114C-778D2FE656AF}"/>
              </a:ext>
            </a:extLst>
          </p:cNvPr>
          <p:cNvCxnSpPr/>
          <p:nvPr/>
        </p:nvCxnSpPr>
        <p:spPr>
          <a:xfrm flipH="1" flipV="1">
            <a:off x="4579910" y="4859308"/>
            <a:ext cx="1" cy="956706"/>
          </a:xfrm>
          <a:prstGeom prst="straightConnector1">
            <a:avLst/>
          </a:prstGeom>
          <a:ln>
            <a:solidFill>
              <a:schemeClr val="accent3"/>
            </a:solidFill>
            <a:tailEnd type="arrow"/>
          </a:ln>
        </p:spPr>
        <p:style>
          <a:lnRef idx="2">
            <a:schemeClr val="accent1"/>
          </a:lnRef>
          <a:fillRef idx="0">
            <a:schemeClr val="accent1"/>
          </a:fillRef>
          <a:effectRef idx="1">
            <a:schemeClr val="accent1"/>
          </a:effectRef>
          <a:fontRef idx="minor">
            <a:schemeClr val="tx1"/>
          </a:fontRef>
        </p:style>
      </p:cxnSp>
      <p:cxnSp>
        <p:nvCxnSpPr>
          <p:cNvPr id="56" name="Straight Arrow Connector 9">
            <a:extLst>
              <a:ext uri="{FF2B5EF4-FFF2-40B4-BE49-F238E27FC236}">
                <a16:creationId xmlns:a16="http://schemas.microsoft.com/office/drawing/2014/main" id="{3E4DF694-D794-0612-B278-571E57E79A9C}"/>
              </a:ext>
            </a:extLst>
          </p:cNvPr>
          <p:cNvCxnSpPr/>
          <p:nvPr/>
        </p:nvCxnSpPr>
        <p:spPr>
          <a:xfrm flipH="1" flipV="1">
            <a:off x="5646788" y="4859308"/>
            <a:ext cx="1" cy="956706"/>
          </a:xfrm>
          <a:prstGeom prst="straightConnector1">
            <a:avLst/>
          </a:prstGeom>
          <a:ln>
            <a:solidFill>
              <a:schemeClr val="accent3"/>
            </a:solidFill>
            <a:tailEnd type="arrow"/>
          </a:ln>
        </p:spPr>
        <p:style>
          <a:lnRef idx="2">
            <a:schemeClr val="accent1"/>
          </a:lnRef>
          <a:fillRef idx="0">
            <a:schemeClr val="accent1"/>
          </a:fillRef>
          <a:effectRef idx="1">
            <a:schemeClr val="accent1"/>
          </a:effectRef>
          <a:fontRef idx="minor">
            <a:schemeClr val="tx1"/>
          </a:fontRef>
        </p:style>
      </p:cxnSp>
      <p:cxnSp>
        <p:nvCxnSpPr>
          <p:cNvPr id="57" name="Straight Arrow Connector 9">
            <a:extLst>
              <a:ext uri="{FF2B5EF4-FFF2-40B4-BE49-F238E27FC236}">
                <a16:creationId xmlns:a16="http://schemas.microsoft.com/office/drawing/2014/main" id="{3B6BCE3A-E3E0-FA95-79AA-684CE3C3CE52}"/>
              </a:ext>
            </a:extLst>
          </p:cNvPr>
          <p:cNvCxnSpPr/>
          <p:nvPr/>
        </p:nvCxnSpPr>
        <p:spPr>
          <a:xfrm flipH="1" flipV="1">
            <a:off x="6645247" y="4857214"/>
            <a:ext cx="1" cy="956706"/>
          </a:xfrm>
          <a:prstGeom prst="straightConnector1">
            <a:avLst/>
          </a:prstGeom>
          <a:ln>
            <a:solidFill>
              <a:schemeClr val="accent3"/>
            </a:solidFill>
            <a:tailEnd type="arrow"/>
          </a:ln>
        </p:spPr>
        <p:style>
          <a:lnRef idx="2">
            <a:schemeClr val="accent1"/>
          </a:lnRef>
          <a:fillRef idx="0">
            <a:schemeClr val="accent1"/>
          </a:fillRef>
          <a:effectRef idx="1">
            <a:schemeClr val="accent1"/>
          </a:effectRef>
          <a:fontRef idx="minor">
            <a:schemeClr val="tx1"/>
          </a:fontRef>
        </p:style>
      </p:cxnSp>
      <p:cxnSp>
        <p:nvCxnSpPr>
          <p:cNvPr id="58" name="Straight Arrow Connector 9">
            <a:extLst>
              <a:ext uri="{FF2B5EF4-FFF2-40B4-BE49-F238E27FC236}">
                <a16:creationId xmlns:a16="http://schemas.microsoft.com/office/drawing/2014/main" id="{A47E8E73-8C79-0BA9-5B6E-813FFEE8B447}"/>
              </a:ext>
            </a:extLst>
          </p:cNvPr>
          <p:cNvCxnSpPr/>
          <p:nvPr/>
        </p:nvCxnSpPr>
        <p:spPr>
          <a:xfrm flipH="1" flipV="1">
            <a:off x="7718675" y="4857214"/>
            <a:ext cx="1" cy="956706"/>
          </a:xfrm>
          <a:prstGeom prst="straightConnector1">
            <a:avLst/>
          </a:prstGeom>
          <a:ln>
            <a:solidFill>
              <a:schemeClr val="accent3"/>
            </a:solidFill>
            <a:tailEnd type="arrow"/>
          </a:ln>
        </p:spPr>
        <p:style>
          <a:lnRef idx="2">
            <a:schemeClr val="accent1"/>
          </a:lnRef>
          <a:fillRef idx="0">
            <a:schemeClr val="accent1"/>
          </a:fillRef>
          <a:effectRef idx="1">
            <a:schemeClr val="accent1"/>
          </a:effectRef>
          <a:fontRef idx="minor">
            <a:schemeClr val="tx1"/>
          </a:fontRef>
        </p:style>
      </p:cxnSp>
      <p:cxnSp>
        <p:nvCxnSpPr>
          <p:cNvPr id="59" name="Straight Arrow Connector 9">
            <a:extLst>
              <a:ext uri="{FF2B5EF4-FFF2-40B4-BE49-F238E27FC236}">
                <a16:creationId xmlns:a16="http://schemas.microsoft.com/office/drawing/2014/main" id="{A5F59367-9D9E-57C4-E612-8A7C1F77CF58}"/>
              </a:ext>
            </a:extLst>
          </p:cNvPr>
          <p:cNvCxnSpPr>
            <a:cxnSpLocks/>
          </p:cNvCxnSpPr>
          <p:nvPr/>
        </p:nvCxnSpPr>
        <p:spPr>
          <a:xfrm flipH="1">
            <a:off x="4579910" y="4884872"/>
            <a:ext cx="4198238" cy="0"/>
          </a:xfrm>
          <a:prstGeom prst="straightConnector1">
            <a:avLst/>
          </a:prstGeom>
          <a:ln>
            <a:solidFill>
              <a:schemeClr val="accent3"/>
            </a:solidFill>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6" name="Title 1">
            <a:extLst>
              <a:ext uri="{FF2B5EF4-FFF2-40B4-BE49-F238E27FC236}">
                <a16:creationId xmlns:a16="http://schemas.microsoft.com/office/drawing/2014/main" id="{9A1EB73F-C75D-2CC9-5E7E-0FBEAACA727D}"/>
              </a:ext>
            </a:extLst>
          </p:cNvPr>
          <p:cNvSpPr>
            <a:spLocks noGrp="1"/>
          </p:cNvSpPr>
          <p:nvPr>
            <p:ph type="title"/>
          </p:nvPr>
        </p:nvSpPr>
        <p:spPr>
          <a:xfrm>
            <a:off x="581192" y="702156"/>
            <a:ext cx="11029616" cy="1013800"/>
          </a:xfrm>
        </p:spPr>
        <p:txBody>
          <a:bodyPr>
            <a:normAutofit/>
          </a:bodyPr>
          <a:lstStyle/>
          <a:p>
            <a:r>
              <a:rPr lang="es-ES_tradnl" sz="3200" dirty="0">
                <a:latin typeface="Gill Sans MT (titulo)"/>
              </a:rPr>
              <a:t>Gradientes aritméticos</a:t>
            </a:r>
          </a:p>
        </p:txBody>
      </p:sp>
      <p:sp>
        <p:nvSpPr>
          <p:cNvPr id="8" name="Rectángulo 7">
            <a:extLst>
              <a:ext uri="{FF2B5EF4-FFF2-40B4-BE49-F238E27FC236}">
                <a16:creationId xmlns:a16="http://schemas.microsoft.com/office/drawing/2014/main" id="{D0E03334-2752-EAF8-93B4-668015046518}"/>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9" name="Picture 2" descr="Clientes y aliados | Centro de Evaluación | Uniandes">
            <a:extLst>
              <a:ext uri="{FF2B5EF4-FFF2-40B4-BE49-F238E27FC236}">
                <a16:creationId xmlns:a16="http://schemas.microsoft.com/office/drawing/2014/main" id="{46CA69A0-BC58-FA3F-5A08-9C44EE7FE68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0" name="Rectángulo 9">
            <a:extLst>
              <a:ext uri="{FF2B5EF4-FFF2-40B4-BE49-F238E27FC236}">
                <a16:creationId xmlns:a16="http://schemas.microsoft.com/office/drawing/2014/main" id="{7A8B1AAC-DFE0-8653-8F5B-EBC2585FA474}"/>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2" name="Slide Number Placeholder 3">
            <a:extLst>
              <a:ext uri="{FF2B5EF4-FFF2-40B4-BE49-F238E27FC236}">
                <a16:creationId xmlns:a16="http://schemas.microsoft.com/office/drawing/2014/main" id="{ACB0B334-0132-42DE-8D20-150F6B7A8279}"/>
              </a:ext>
            </a:extLst>
          </p:cNvPr>
          <p:cNvSpPr>
            <a:spLocks noGrp="1"/>
          </p:cNvSpPr>
          <p:nvPr>
            <p:ph type="sldNum" sz="quarter" idx="12"/>
          </p:nvPr>
        </p:nvSpPr>
        <p:spPr>
          <a:xfrm>
            <a:off x="10558300" y="5956137"/>
            <a:ext cx="1052508" cy="365125"/>
          </a:xfrm>
        </p:spPr>
        <p:txBody>
          <a:bodyPr/>
          <a:lstStyle/>
          <a:p>
            <a:fld id="{5E3E23BA-6E79-2442-BA73-D218A5E297C3}" type="slidenum">
              <a:rPr lang="en-US" sz="2000" b="1" smtClean="0">
                <a:latin typeface="Gill Sans MT (Títulos)"/>
              </a:rPr>
              <a:t>22</a:t>
            </a:fld>
            <a:endParaRPr lang="en-US" sz="2000" b="1" dirty="0">
              <a:latin typeface="Gill Sans MT (Títulos)"/>
            </a:endParaRPr>
          </a:p>
        </p:txBody>
      </p:sp>
      <p:sp>
        <p:nvSpPr>
          <p:cNvPr id="11" name="TextBox 5">
            <a:extLst>
              <a:ext uri="{FF2B5EF4-FFF2-40B4-BE49-F238E27FC236}">
                <a16:creationId xmlns:a16="http://schemas.microsoft.com/office/drawing/2014/main" id="{8AF30868-0CE7-9AFD-79FF-9752A6BC8753}"/>
              </a:ext>
            </a:extLst>
          </p:cNvPr>
          <p:cNvSpPr txBox="1"/>
          <p:nvPr/>
        </p:nvSpPr>
        <p:spPr>
          <a:xfrm>
            <a:off x="581192" y="2585595"/>
            <a:ext cx="6096000"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lvl="1" indent="-457200" algn="just">
              <a:buClr>
                <a:srgbClr val="D7A700"/>
              </a:buClr>
              <a:buFont typeface="+mj-lt"/>
              <a:buAutoNum type="arabicPeriod" startAt="4"/>
            </a:pPr>
            <a:r>
              <a:rPr lang="es-MX" sz="2400" dirty="0">
                <a:solidFill>
                  <a:srgbClr val="595959"/>
                </a:solidFill>
                <a:latin typeface="Gill Sans MT (Cuerpo)"/>
                <a:cs typeface="Arial"/>
              </a:rPr>
              <a:t>Conversión a cuota uniforme equivalente</a:t>
            </a:r>
          </a:p>
        </p:txBody>
      </p:sp>
      <mc:AlternateContent xmlns:mc="http://schemas.openxmlformats.org/markup-compatibility/2006">
        <mc:Choice xmlns:a14="http://schemas.microsoft.com/office/drawing/2010/main" Requires="a14">
          <p:sp>
            <p:nvSpPr>
              <p:cNvPr id="13" name="CuadroTexto 12">
                <a:extLst>
                  <a:ext uri="{FF2B5EF4-FFF2-40B4-BE49-F238E27FC236}">
                    <a16:creationId xmlns:a16="http://schemas.microsoft.com/office/drawing/2014/main" id="{6110B945-CB36-5707-6889-D17677D7CEA6}"/>
                  </a:ext>
                </a:extLst>
              </p:cNvPr>
              <p:cNvSpPr txBox="1"/>
              <p:nvPr/>
            </p:nvSpPr>
            <p:spPr>
              <a:xfrm>
                <a:off x="3459766" y="3651621"/>
                <a:ext cx="5272469" cy="62889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MX" b="0" i="1" smtClean="0">
                          <a:latin typeface="Cambria Math" panose="02040503050406030204" pitchFamily="18" charset="0"/>
                        </a:rPr>
                        <m:t>𝐴</m:t>
                      </m:r>
                      <m:r>
                        <a:rPr lang="es-MX" b="0" i="1" smtClean="0">
                          <a:latin typeface="Cambria Math" panose="02040503050406030204" pitchFamily="18" charset="0"/>
                        </a:rPr>
                        <m:t>=</m:t>
                      </m:r>
                      <m:sSub>
                        <m:sSubPr>
                          <m:ctrlPr>
                            <a:rPr lang="es-MX" b="0" i="1" smtClean="0">
                              <a:latin typeface="Cambria Math" panose="02040503050406030204" pitchFamily="18" charset="0"/>
                            </a:rPr>
                          </m:ctrlPr>
                        </m:sSubPr>
                        <m:e>
                          <m:r>
                            <a:rPr lang="es-MX" b="0" i="1" smtClean="0">
                              <a:latin typeface="Cambria Math" panose="02040503050406030204" pitchFamily="18" charset="0"/>
                            </a:rPr>
                            <m:t>𝑉</m:t>
                          </m:r>
                        </m:e>
                        <m:sub>
                          <m:r>
                            <a:rPr lang="es-MX" b="0" i="1" smtClean="0">
                              <a:latin typeface="Cambria Math" panose="02040503050406030204" pitchFamily="18" charset="0"/>
                            </a:rPr>
                            <m:t>𝑃</m:t>
                          </m:r>
                        </m:sub>
                      </m:sSub>
                      <m:d>
                        <m:dPr>
                          <m:begChr m:val="["/>
                          <m:endChr m:val="]"/>
                          <m:ctrlPr>
                            <a:rPr lang="es-MX" b="0" i="1" smtClean="0">
                              <a:latin typeface="Cambria Math" panose="02040503050406030204" pitchFamily="18" charset="0"/>
                            </a:rPr>
                          </m:ctrlPr>
                        </m:dPr>
                        <m:e>
                          <m:f>
                            <m:fPr>
                              <m:ctrlPr>
                                <a:rPr lang="es-MX" b="0" i="1" smtClean="0">
                                  <a:latin typeface="Cambria Math" panose="02040503050406030204" pitchFamily="18" charset="0"/>
                                </a:rPr>
                              </m:ctrlPr>
                            </m:fPr>
                            <m:num>
                              <m:r>
                                <a:rPr lang="es-MX" b="0" i="1" smtClean="0">
                                  <a:latin typeface="Cambria Math" panose="02040503050406030204" pitchFamily="18" charset="0"/>
                                </a:rPr>
                                <m:t>𝑖</m:t>
                              </m:r>
                              <m:sSup>
                                <m:sSupPr>
                                  <m:ctrlPr>
                                    <a:rPr lang="es-MX" b="0" i="1" smtClean="0">
                                      <a:latin typeface="Cambria Math" panose="02040503050406030204" pitchFamily="18" charset="0"/>
                                    </a:rPr>
                                  </m:ctrlPr>
                                </m:sSupPr>
                                <m:e>
                                  <m:d>
                                    <m:dPr>
                                      <m:ctrlPr>
                                        <a:rPr lang="es-MX" b="0" i="1" smtClean="0">
                                          <a:latin typeface="Cambria Math" panose="02040503050406030204" pitchFamily="18" charset="0"/>
                                        </a:rPr>
                                      </m:ctrlPr>
                                    </m:dPr>
                                    <m:e>
                                      <m:r>
                                        <a:rPr lang="es-MX" b="0" i="1" smtClean="0">
                                          <a:latin typeface="Cambria Math" panose="02040503050406030204" pitchFamily="18" charset="0"/>
                                        </a:rPr>
                                        <m:t>1+</m:t>
                                      </m:r>
                                      <m:r>
                                        <a:rPr lang="es-MX" b="0" i="1" smtClean="0">
                                          <a:latin typeface="Cambria Math" panose="02040503050406030204" pitchFamily="18" charset="0"/>
                                        </a:rPr>
                                        <m:t>𝑖</m:t>
                                      </m:r>
                                    </m:e>
                                  </m:d>
                                </m:e>
                                <m:sup>
                                  <m:r>
                                    <a:rPr lang="es-MX" b="0" i="1" smtClean="0">
                                      <a:latin typeface="Cambria Math" panose="02040503050406030204" pitchFamily="18" charset="0"/>
                                    </a:rPr>
                                    <m:t>𝑛</m:t>
                                  </m:r>
                                </m:sup>
                              </m:sSup>
                            </m:num>
                            <m:den>
                              <m:sSup>
                                <m:sSupPr>
                                  <m:ctrlPr>
                                    <a:rPr lang="es-MX" b="0" i="1" smtClean="0">
                                      <a:latin typeface="Cambria Math" panose="02040503050406030204" pitchFamily="18" charset="0"/>
                                    </a:rPr>
                                  </m:ctrlPr>
                                </m:sSupPr>
                                <m:e>
                                  <m:d>
                                    <m:dPr>
                                      <m:ctrlPr>
                                        <a:rPr lang="es-MX" b="0" i="1" smtClean="0">
                                          <a:latin typeface="Cambria Math" panose="02040503050406030204" pitchFamily="18" charset="0"/>
                                        </a:rPr>
                                      </m:ctrlPr>
                                    </m:dPr>
                                    <m:e>
                                      <m:r>
                                        <a:rPr lang="es-MX" b="0" i="1" smtClean="0">
                                          <a:latin typeface="Cambria Math" panose="02040503050406030204" pitchFamily="18" charset="0"/>
                                        </a:rPr>
                                        <m:t>1+</m:t>
                                      </m:r>
                                      <m:r>
                                        <a:rPr lang="es-MX" b="0" i="1" smtClean="0">
                                          <a:latin typeface="Cambria Math" panose="02040503050406030204" pitchFamily="18" charset="0"/>
                                        </a:rPr>
                                        <m:t>𝑖</m:t>
                                      </m:r>
                                    </m:e>
                                  </m:d>
                                </m:e>
                                <m:sup>
                                  <m:r>
                                    <a:rPr lang="es-MX" b="0" i="1" smtClean="0">
                                      <a:latin typeface="Cambria Math" panose="02040503050406030204" pitchFamily="18" charset="0"/>
                                    </a:rPr>
                                    <m:t>𝑛</m:t>
                                  </m:r>
                                </m:sup>
                              </m:sSup>
                              <m:r>
                                <a:rPr lang="es-MX" b="0" i="1" smtClean="0">
                                  <a:latin typeface="Cambria Math" panose="02040503050406030204" pitchFamily="18" charset="0"/>
                                </a:rPr>
                                <m:t>−1</m:t>
                              </m:r>
                            </m:den>
                          </m:f>
                        </m:e>
                      </m:d>
                      <m:r>
                        <a:rPr lang="es-MX" b="0" i="1" smtClean="0">
                          <a:latin typeface="Cambria Math" panose="02040503050406030204" pitchFamily="18" charset="0"/>
                        </a:rPr>
                        <m:t>=72,12</m:t>
                      </m:r>
                      <m:d>
                        <m:dPr>
                          <m:begChr m:val="["/>
                          <m:endChr m:val="]"/>
                          <m:ctrlPr>
                            <a:rPr lang="es-MX" i="1">
                              <a:latin typeface="Cambria Math" panose="02040503050406030204" pitchFamily="18" charset="0"/>
                            </a:rPr>
                          </m:ctrlPr>
                        </m:dPr>
                        <m:e>
                          <m:f>
                            <m:fPr>
                              <m:ctrlPr>
                                <a:rPr lang="es-MX" i="1">
                                  <a:latin typeface="Cambria Math" panose="02040503050406030204" pitchFamily="18" charset="0"/>
                                </a:rPr>
                              </m:ctrlPr>
                            </m:fPr>
                            <m:num>
                              <m:r>
                                <a:rPr lang="es-MX" b="0" i="1" smtClean="0">
                                  <a:latin typeface="Cambria Math" panose="02040503050406030204" pitchFamily="18" charset="0"/>
                                </a:rPr>
                                <m:t>0.02</m:t>
                              </m:r>
                              <m:sSup>
                                <m:sSupPr>
                                  <m:ctrlPr>
                                    <a:rPr lang="es-MX" i="1">
                                      <a:latin typeface="Cambria Math" panose="02040503050406030204" pitchFamily="18" charset="0"/>
                                    </a:rPr>
                                  </m:ctrlPr>
                                </m:sSupPr>
                                <m:e>
                                  <m:d>
                                    <m:dPr>
                                      <m:ctrlPr>
                                        <a:rPr lang="es-MX" i="1">
                                          <a:latin typeface="Cambria Math" panose="02040503050406030204" pitchFamily="18" charset="0"/>
                                        </a:rPr>
                                      </m:ctrlPr>
                                    </m:dPr>
                                    <m:e>
                                      <m:r>
                                        <a:rPr lang="es-MX" b="0" i="1" smtClean="0">
                                          <a:latin typeface="Cambria Math" panose="02040503050406030204" pitchFamily="18" charset="0"/>
                                        </a:rPr>
                                        <m:t>1,02</m:t>
                                      </m:r>
                                    </m:e>
                                  </m:d>
                                </m:e>
                                <m:sup>
                                  <m:r>
                                    <a:rPr lang="es-MX" b="0" i="1" smtClean="0">
                                      <a:latin typeface="Cambria Math" panose="02040503050406030204" pitchFamily="18" charset="0"/>
                                    </a:rPr>
                                    <m:t>5</m:t>
                                  </m:r>
                                </m:sup>
                              </m:sSup>
                            </m:num>
                            <m:den>
                              <m:sSup>
                                <m:sSupPr>
                                  <m:ctrlPr>
                                    <a:rPr lang="es-MX" i="1">
                                      <a:latin typeface="Cambria Math" panose="02040503050406030204" pitchFamily="18" charset="0"/>
                                    </a:rPr>
                                  </m:ctrlPr>
                                </m:sSupPr>
                                <m:e>
                                  <m:d>
                                    <m:dPr>
                                      <m:ctrlPr>
                                        <a:rPr lang="es-MX" i="1">
                                          <a:latin typeface="Cambria Math" panose="02040503050406030204" pitchFamily="18" charset="0"/>
                                        </a:rPr>
                                      </m:ctrlPr>
                                    </m:dPr>
                                    <m:e>
                                      <m:r>
                                        <a:rPr lang="es-MX" b="0" i="1" smtClean="0">
                                          <a:latin typeface="Cambria Math" panose="02040503050406030204" pitchFamily="18" charset="0"/>
                                        </a:rPr>
                                        <m:t>1,02</m:t>
                                      </m:r>
                                    </m:e>
                                  </m:d>
                                </m:e>
                                <m:sup>
                                  <m:r>
                                    <a:rPr lang="es-MX" b="0" i="1" smtClean="0">
                                      <a:latin typeface="Cambria Math" panose="02040503050406030204" pitchFamily="18" charset="0"/>
                                    </a:rPr>
                                    <m:t>5</m:t>
                                  </m:r>
                                </m:sup>
                              </m:sSup>
                              <m:r>
                                <a:rPr lang="es-MX" i="1">
                                  <a:latin typeface="Cambria Math" panose="02040503050406030204" pitchFamily="18" charset="0"/>
                                </a:rPr>
                                <m:t>−1</m:t>
                              </m:r>
                            </m:den>
                          </m:f>
                        </m:e>
                      </m:d>
                      <m:r>
                        <a:rPr lang="es-MX" b="0" i="1" smtClean="0">
                          <a:latin typeface="Cambria Math" panose="02040503050406030204" pitchFamily="18" charset="0"/>
                        </a:rPr>
                        <m:t>=15,17</m:t>
                      </m:r>
                    </m:oMath>
                  </m:oMathPara>
                </a14:m>
                <a:endParaRPr lang="es-MX" dirty="0"/>
              </a:p>
            </p:txBody>
          </p:sp>
        </mc:Choice>
        <mc:Fallback>
          <p:sp>
            <p:nvSpPr>
              <p:cNvPr id="13" name="CuadroTexto 12">
                <a:extLst>
                  <a:ext uri="{FF2B5EF4-FFF2-40B4-BE49-F238E27FC236}">
                    <a16:creationId xmlns:a16="http://schemas.microsoft.com/office/drawing/2014/main" id="{6110B945-CB36-5707-6889-D17677D7CEA6}"/>
                  </a:ext>
                </a:extLst>
              </p:cNvPr>
              <p:cNvSpPr txBox="1">
                <a:spLocks noRot="1" noChangeAspect="1" noMove="1" noResize="1" noEditPoints="1" noAdjustHandles="1" noChangeArrowheads="1" noChangeShapeType="1" noTextEdit="1"/>
              </p:cNvSpPr>
              <p:nvPr/>
            </p:nvSpPr>
            <p:spPr>
              <a:xfrm>
                <a:off x="3459766" y="3651621"/>
                <a:ext cx="5272469" cy="628890"/>
              </a:xfrm>
              <a:prstGeom prst="rect">
                <a:avLst/>
              </a:prstGeom>
              <a:blipFill>
                <a:blip r:embed="rId4"/>
                <a:stretch>
                  <a:fillRect l="-481" r="-481"/>
                </a:stretch>
              </a:blipFill>
            </p:spPr>
            <p:txBody>
              <a:bodyPr/>
              <a:lstStyle/>
              <a:p>
                <a:r>
                  <a:rPr lang="es-ES_tradnl">
                    <a:noFill/>
                  </a:rPr>
                  <a:t> </a:t>
                </a:r>
              </a:p>
            </p:txBody>
          </p:sp>
        </mc:Fallback>
      </mc:AlternateContent>
    </p:spTree>
    <p:extLst>
      <p:ext uri="{BB962C8B-B14F-4D97-AF65-F5344CB8AC3E}">
        <p14:creationId xmlns:p14="http://schemas.microsoft.com/office/powerpoint/2010/main" val="249506941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641965" y="1944051"/>
            <a:ext cx="11029616" cy="840769"/>
          </a:xfrm>
        </p:spPr>
        <p:txBody>
          <a:bodyPr>
            <a:normAutofit/>
          </a:bodyPr>
          <a:lstStyle/>
          <a:p>
            <a:pPr marL="0" indent="0" algn="just">
              <a:buNone/>
            </a:pPr>
            <a:r>
              <a:rPr lang="es-ES" sz="2400" dirty="0">
                <a:latin typeface="Gill Sans MT (titulo)"/>
              </a:rPr>
              <a:t>Ahora, la mayoría de las veces es posible que nos encontremos los gradientes de la siguiente manera. </a:t>
            </a:r>
          </a:p>
        </p:txBody>
      </p:sp>
      <p:cxnSp>
        <p:nvCxnSpPr>
          <p:cNvPr id="5" name="Straight Connector 6"/>
          <p:cNvCxnSpPr/>
          <p:nvPr/>
        </p:nvCxnSpPr>
        <p:spPr>
          <a:xfrm flipV="1">
            <a:off x="2954640" y="5163368"/>
            <a:ext cx="6372951" cy="12001"/>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12" name="Rectangle 35"/>
          <p:cNvSpPr>
            <a:spLocks/>
          </p:cNvSpPr>
          <p:nvPr/>
        </p:nvSpPr>
        <p:spPr bwMode="auto">
          <a:xfrm>
            <a:off x="2890518" y="5157419"/>
            <a:ext cx="12824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0</a:t>
            </a:r>
          </a:p>
        </p:txBody>
      </p:sp>
      <p:sp>
        <p:nvSpPr>
          <p:cNvPr id="13" name="Rectangle 36"/>
          <p:cNvSpPr>
            <a:spLocks/>
          </p:cNvSpPr>
          <p:nvPr/>
        </p:nvSpPr>
        <p:spPr bwMode="auto">
          <a:xfrm>
            <a:off x="3703803" y="5132590"/>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a:t>
            </a:r>
          </a:p>
        </p:txBody>
      </p:sp>
      <p:sp>
        <p:nvSpPr>
          <p:cNvPr id="14" name="Rectangle 37"/>
          <p:cNvSpPr>
            <a:spLocks/>
          </p:cNvSpPr>
          <p:nvPr/>
        </p:nvSpPr>
        <p:spPr bwMode="auto">
          <a:xfrm>
            <a:off x="4792291" y="5132590"/>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2</a:t>
            </a:r>
          </a:p>
        </p:txBody>
      </p:sp>
      <p:sp>
        <p:nvSpPr>
          <p:cNvPr id="15" name="Rectangle 38"/>
          <p:cNvSpPr>
            <a:spLocks/>
          </p:cNvSpPr>
          <p:nvPr/>
        </p:nvSpPr>
        <p:spPr bwMode="auto">
          <a:xfrm>
            <a:off x="5851765" y="5146547"/>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3</a:t>
            </a:r>
          </a:p>
        </p:txBody>
      </p:sp>
      <p:sp>
        <p:nvSpPr>
          <p:cNvPr id="16" name="Rectangle 39"/>
          <p:cNvSpPr>
            <a:spLocks/>
          </p:cNvSpPr>
          <p:nvPr/>
        </p:nvSpPr>
        <p:spPr bwMode="auto">
          <a:xfrm>
            <a:off x="6857627" y="5163004"/>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4</a:t>
            </a:r>
          </a:p>
        </p:txBody>
      </p:sp>
      <p:sp>
        <p:nvSpPr>
          <p:cNvPr id="17" name="Rectangle 40"/>
          <p:cNvSpPr>
            <a:spLocks/>
          </p:cNvSpPr>
          <p:nvPr/>
        </p:nvSpPr>
        <p:spPr bwMode="auto">
          <a:xfrm>
            <a:off x="7931056" y="5132590"/>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5</a:t>
            </a:r>
          </a:p>
        </p:txBody>
      </p:sp>
      <p:sp>
        <p:nvSpPr>
          <p:cNvPr id="18" name="Rectangle 41"/>
          <p:cNvSpPr>
            <a:spLocks/>
          </p:cNvSpPr>
          <p:nvPr/>
        </p:nvSpPr>
        <p:spPr bwMode="auto">
          <a:xfrm>
            <a:off x="8990530" y="5132590"/>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6</a:t>
            </a:r>
          </a:p>
        </p:txBody>
      </p:sp>
      <p:sp>
        <p:nvSpPr>
          <p:cNvPr id="20" name="Rectangle 35"/>
          <p:cNvSpPr>
            <a:spLocks/>
          </p:cNvSpPr>
          <p:nvPr/>
        </p:nvSpPr>
        <p:spPr bwMode="auto">
          <a:xfrm>
            <a:off x="4806470" y="4236691"/>
            <a:ext cx="256481"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25</a:t>
            </a:r>
          </a:p>
        </p:txBody>
      </p:sp>
      <p:sp>
        <p:nvSpPr>
          <p:cNvPr id="28" name="Rectangle 35"/>
          <p:cNvSpPr>
            <a:spLocks/>
          </p:cNvSpPr>
          <p:nvPr/>
        </p:nvSpPr>
        <p:spPr bwMode="auto">
          <a:xfrm>
            <a:off x="5944455" y="3940750"/>
            <a:ext cx="256481"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35</a:t>
            </a:r>
          </a:p>
        </p:txBody>
      </p:sp>
      <p:sp>
        <p:nvSpPr>
          <p:cNvPr id="29" name="Rectangle 35"/>
          <p:cNvSpPr>
            <a:spLocks/>
          </p:cNvSpPr>
          <p:nvPr/>
        </p:nvSpPr>
        <p:spPr bwMode="auto">
          <a:xfrm>
            <a:off x="6956039" y="3641381"/>
            <a:ext cx="256481"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45</a:t>
            </a:r>
          </a:p>
        </p:txBody>
      </p:sp>
      <p:sp>
        <p:nvSpPr>
          <p:cNvPr id="30" name="Rectangle 35"/>
          <p:cNvSpPr>
            <a:spLocks/>
          </p:cNvSpPr>
          <p:nvPr/>
        </p:nvSpPr>
        <p:spPr bwMode="auto">
          <a:xfrm>
            <a:off x="7962884" y="3349124"/>
            <a:ext cx="256481"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55</a:t>
            </a:r>
          </a:p>
        </p:txBody>
      </p:sp>
      <p:sp>
        <p:nvSpPr>
          <p:cNvPr id="31" name="Rectangle 35"/>
          <p:cNvSpPr>
            <a:spLocks/>
          </p:cNvSpPr>
          <p:nvPr/>
        </p:nvSpPr>
        <p:spPr bwMode="auto">
          <a:xfrm>
            <a:off x="9052984" y="2754042"/>
            <a:ext cx="256481"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65</a:t>
            </a:r>
          </a:p>
        </p:txBody>
      </p:sp>
      <p:cxnSp>
        <p:nvCxnSpPr>
          <p:cNvPr id="53" name="Straight Arrow Connector 9"/>
          <p:cNvCxnSpPr/>
          <p:nvPr/>
        </p:nvCxnSpPr>
        <p:spPr>
          <a:xfrm flipV="1">
            <a:off x="3870914" y="4866198"/>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54" name="Straight Arrow Connector 9"/>
          <p:cNvCxnSpPr/>
          <p:nvPr/>
        </p:nvCxnSpPr>
        <p:spPr>
          <a:xfrm flipV="1">
            <a:off x="4941289" y="4570407"/>
            <a:ext cx="0" cy="593689"/>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55" name="Straight Arrow Connector 9"/>
          <p:cNvCxnSpPr/>
          <p:nvPr/>
        </p:nvCxnSpPr>
        <p:spPr>
          <a:xfrm flipV="1">
            <a:off x="6058817" y="4267469"/>
            <a:ext cx="0" cy="88755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56" name="Straight Arrow Connector 9"/>
          <p:cNvCxnSpPr/>
          <p:nvPr/>
        </p:nvCxnSpPr>
        <p:spPr>
          <a:xfrm flipV="1">
            <a:off x="7088949" y="3971528"/>
            <a:ext cx="0" cy="1182203"/>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57" name="Straight Arrow Connector 9"/>
          <p:cNvCxnSpPr/>
          <p:nvPr/>
        </p:nvCxnSpPr>
        <p:spPr>
          <a:xfrm flipV="1">
            <a:off x="8089623" y="3672158"/>
            <a:ext cx="0" cy="1481572"/>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58" name="Straight Arrow Connector 9"/>
          <p:cNvCxnSpPr/>
          <p:nvPr/>
        </p:nvCxnSpPr>
        <p:spPr>
          <a:xfrm flipV="1">
            <a:off x="9181225" y="3207621"/>
            <a:ext cx="0" cy="1947398"/>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60" name="Rectangle 35"/>
          <p:cNvSpPr>
            <a:spLocks/>
          </p:cNvSpPr>
          <p:nvPr/>
        </p:nvSpPr>
        <p:spPr bwMode="auto">
          <a:xfrm>
            <a:off x="3728595" y="4539629"/>
            <a:ext cx="256481"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15</a:t>
            </a:r>
          </a:p>
        </p:txBody>
      </p:sp>
      <p:sp>
        <p:nvSpPr>
          <p:cNvPr id="40" name="Marcador de contenido 2"/>
          <p:cNvSpPr txBox="1">
            <a:spLocks/>
          </p:cNvSpPr>
          <p:nvPr/>
        </p:nvSpPr>
        <p:spPr>
          <a:xfrm>
            <a:off x="973152" y="3294270"/>
            <a:ext cx="4389478" cy="578541"/>
          </a:xfrm>
          <a:prstGeom prst="rect">
            <a:avLst/>
          </a:prstGeom>
        </p:spPr>
        <p:txBody>
          <a:bodyPr vert="horz" lIns="91440" tIns="45720" rIns="91440" bIns="45720" rtlCol="0">
            <a:noAutofit/>
          </a:bodyPr>
          <a:lstStyle>
            <a:lvl1pPr marL="342900" indent="-342900" algn="l" defTabSz="914400" rtl="0" eaLnBrk="1" latinLnBrk="0" hangingPunct="1">
              <a:spcBef>
                <a:spcPts val="2000"/>
              </a:spcBef>
              <a:buClr>
                <a:schemeClr val="accent1"/>
              </a:buClr>
              <a:buFont typeface="Wingdings 2" pitchFamily="18" charset="2"/>
              <a:buChar char=""/>
              <a:defRPr sz="2000" kern="1200">
                <a:solidFill>
                  <a:schemeClr val="tx1">
                    <a:lumMod val="65000"/>
                    <a:lumOff val="35000"/>
                  </a:schemeClr>
                </a:solidFill>
                <a:latin typeface="+mn-lt"/>
                <a:ea typeface="+mn-ea"/>
                <a:cs typeface="+mn-cs"/>
              </a:defRPr>
            </a:lvl1pPr>
            <a:lvl2pPr marL="6858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2pPr>
            <a:lvl3pPr marL="10350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3pPr>
            <a:lvl4pPr marL="13716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4pPr>
            <a:lvl5pPr marL="17208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5pPr>
            <a:lvl6pPr marL="2055813"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6pPr>
            <a:lvl7pPr marL="2398713" indent="-344488" algn="l" defTabSz="914400" rtl="0" eaLnBrk="1" latinLnBrk="0" hangingPunct="1">
              <a:spcBef>
                <a:spcPct val="20000"/>
              </a:spcBef>
              <a:buClr>
                <a:schemeClr val="accent1"/>
              </a:buClr>
              <a:buFont typeface="Wingdings 2" pitchFamily="18" charset="2"/>
              <a:buChar char=""/>
              <a:defRPr lang="en-US" sz="1800" kern="1200" dirty="0" smtClean="0">
                <a:solidFill>
                  <a:schemeClr val="tx1">
                    <a:lumMod val="65000"/>
                    <a:lumOff val="35000"/>
                  </a:schemeClr>
                </a:solidFill>
                <a:latin typeface="+mn-lt"/>
                <a:ea typeface="+mn-ea"/>
                <a:cs typeface="+mn-cs"/>
              </a:defRPr>
            </a:lvl7pPr>
            <a:lvl8pPr marL="2743200"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8pPr>
            <a:lvl9pPr marL="3087688" indent="-344488" algn="l" defTabSz="914400" rtl="0" eaLnBrk="1" latinLnBrk="0" hangingPunct="1">
              <a:spcBef>
                <a:spcPct val="20000"/>
              </a:spcBef>
              <a:buClr>
                <a:schemeClr val="accent1"/>
              </a:buClr>
              <a:buFont typeface="Wingdings 2" pitchFamily="18" charset="2"/>
              <a:buChar char=""/>
              <a:defRPr lang="en-US" sz="1800" kern="1200" dirty="0">
                <a:solidFill>
                  <a:schemeClr val="tx1">
                    <a:lumMod val="65000"/>
                    <a:lumOff val="35000"/>
                  </a:schemeClr>
                </a:solidFill>
                <a:latin typeface="+mn-lt"/>
                <a:ea typeface="+mn-ea"/>
                <a:cs typeface="+mn-cs"/>
              </a:defRPr>
            </a:lvl9pPr>
          </a:lstStyle>
          <a:p>
            <a:pPr marL="0" indent="0" algn="just">
              <a:buNone/>
            </a:pPr>
            <a:r>
              <a:rPr lang="es-ES" sz="2400" i="1" dirty="0">
                <a:solidFill>
                  <a:srgbClr val="C00000"/>
                </a:solidFill>
              </a:rPr>
              <a:t>¿Qué parecido hay con el caso anterior? ¿Qué hay diferente?</a:t>
            </a:r>
          </a:p>
        </p:txBody>
      </p:sp>
      <p:sp>
        <p:nvSpPr>
          <p:cNvPr id="8" name="Title 1">
            <a:extLst>
              <a:ext uri="{FF2B5EF4-FFF2-40B4-BE49-F238E27FC236}">
                <a16:creationId xmlns:a16="http://schemas.microsoft.com/office/drawing/2014/main" id="{2764BEFB-B4DB-99FA-BF92-619F60E067EE}"/>
              </a:ext>
            </a:extLst>
          </p:cNvPr>
          <p:cNvSpPr>
            <a:spLocks noGrp="1"/>
          </p:cNvSpPr>
          <p:nvPr>
            <p:ph type="title"/>
          </p:nvPr>
        </p:nvSpPr>
        <p:spPr>
          <a:xfrm>
            <a:off x="581192" y="702156"/>
            <a:ext cx="11029616" cy="1013800"/>
          </a:xfrm>
        </p:spPr>
        <p:txBody>
          <a:bodyPr>
            <a:normAutofit/>
          </a:bodyPr>
          <a:lstStyle/>
          <a:p>
            <a:r>
              <a:rPr lang="es-ES_tradnl" sz="3200" dirty="0">
                <a:latin typeface="Gill Sans MT (titulo)"/>
              </a:rPr>
              <a:t>Gradientes aritméticos</a:t>
            </a:r>
          </a:p>
        </p:txBody>
      </p:sp>
      <p:sp>
        <p:nvSpPr>
          <p:cNvPr id="9" name="Rectángulo 8">
            <a:extLst>
              <a:ext uri="{FF2B5EF4-FFF2-40B4-BE49-F238E27FC236}">
                <a16:creationId xmlns:a16="http://schemas.microsoft.com/office/drawing/2014/main" id="{0502CA9B-5816-91A0-0EB2-F6A401923F22}"/>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0" name="Picture 2" descr="Clientes y aliados | Centro de Evaluación | Uniandes">
            <a:extLst>
              <a:ext uri="{FF2B5EF4-FFF2-40B4-BE49-F238E27FC236}">
                <a16:creationId xmlns:a16="http://schemas.microsoft.com/office/drawing/2014/main" id="{6FECDD16-67EC-0463-923F-CDDD034B9E5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1" name="Rectángulo 10">
            <a:extLst>
              <a:ext uri="{FF2B5EF4-FFF2-40B4-BE49-F238E27FC236}">
                <a16:creationId xmlns:a16="http://schemas.microsoft.com/office/drawing/2014/main" id="{C215A2AA-063D-1AC0-3536-05430FD9572E}"/>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2" name="Slide Number Placeholder 3">
            <a:extLst>
              <a:ext uri="{FF2B5EF4-FFF2-40B4-BE49-F238E27FC236}">
                <a16:creationId xmlns:a16="http://schemas.microsoft.com/office/drawing/2014/main" id="{DEB20145-C6F2-60DF-DD41-D24CBD1DEC97}"/>
              </a:ext>
            </a:extLst>
          </p:cNvPr>
          <p:cNvSpPr>
            <a:spLocks noGrp="1"/>
          </p:cNvSpPr>
          <p:nvPr>
            <p:ph type="sldNum" sz="quarter" idx="12"/>
          </p:nvPr>
        </p:nvSpPr>
        <p:spPr>
          <a:xfrm>
            <a:off x="10558300" y="5956137"/>
            <a:ext cx="1052508" cy="365125"/>
          </a:xfrm>
        </p:spPr>
        <p:txBody>
          <a:bodyPr/>
          <a:lstStyle/>
          <a:p>
            <a:fld id="{5E3E23BA-6E79-2442-BA73-D218A5E297C3}" type="slidenum">
              <a:rPr lang="en-US" sz="2000" b="1" smtClean="0">
                <a:latin typeface="Gill Sans MT (Títulos)"/>
              </a:rPr>
              <a:t>23</a:t>
            </a:fld>
            <a:endParaRPr lang="en-US" sz="2000" b="1" dirty="0">
              <a:latin typeface="Gill Sans MT (Títulos)"/>
            </a:endParaRPr>
          </a:p>
        </p:txBody>
      </p:sp>
    </p:spTree>
    <p:extLst>
      <p:ext uri="{BB962C8B-B14F-4D97-AF65-F5344CB8AC3E}">
        <p14:creationId xmlns:p14="http://schemas.microsoft.com/office/powerpoint/2010/main" val="896458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9"/>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0"/>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1"/>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53"/>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54"/>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55"/>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56"/>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57"/>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58"/>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60"/>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P spid="14" grpId="0"/>
      <p:bldP spid="15" grpId="0"/>
      <p:bldP spid="16" grpId="0"/>
      <p:bldP spid="17" grpId="0"/>
      <p:bldP spid="18" grpId="0"/>
      <p:bldP spid="20" grpId="0"/>
      <p:bldP spid="28" grpId="0"/>
      <p:bldP spid="29" grpId="0"/>
      <p:bldP spid="30" grpId="0"/>
      <p:bldP spid="31" grpId="0"/>
      <p:bldP spid="60" grpId="0"/>
      <p:bldP spid="40"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6"/>
          <p:cNvCxnSpPr/>
          <p:nvPr/>
        </p:nvCxnSpPr>
        <p:spPr>
          <a:xfrm flipV="1">
            <a:off x="2822429" y="5340625"/>
            <a:ext cx="6372951" cy="12001"/>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 name="Straight Arrow Connector 9"/>
          <p:cNvCxnSpPr/>
          <p:nvPr/>
        </p:nvCxnSpPr>
        <p:spPr>
          <a:xfrm flipV="1">
            <a:off x="4803298" y="4713934"/>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12" name="Rectangle 35"/>
          <p:cNvSpPr>
            <a:spLocks/>
          </p:cNvSpPr>
          <p:nvPr/>
        </p:nvSpPr>
        <p:spPr bwMode="auto">
          <a:xfrm>
            <a:off x="2758307" y="5334676"/>
            <a:ext cx="12824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0</a:t>
            </a:r>
          </a:p>
        </p:txBody>
      </p:sp>
      <p:sp>
        <p:nvSpPr>
          <p:cNvPr id="13" name="Rectangle 36"/>
          <p:cNvSpPr>
            <a:spLocks/>
          </p:cNvSpPr>
          <p:nvPr/>
        </p:nvSpPr>
        <p:spPr bwMode="auto">
          <a:xfrm>
            <a:off x="3571592" y="5309847"/>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a:t>
            </a:r>
          </a:p>
        </p:txBody>
      </p:sp>
      <p:sp>
        <p:nvSpPr>
          <p:cNvPr id="14" name="Rectangle 37"/>
          <p:cNvSpPr>
            <a:spLocks/>
          </p:cNvSpPr>
          <p:nvPr/>
        </p:nvSpPr>
        <p:spPr bwMode="auto">
          <a:xfrm>
            <a:off x="4660080" y="5309847"/>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2</a:t>
            </a:r>
          </a:p>
        </p:txBody>
      </p:sp>
      <p:sp>
        <p:nvSpPr>
          <p:cNvPr id="15" name="Rectangle 38"/>
          <p:cNvSpPr>
            <a:spLocks/>
          </p:cNvSpPr>
          <p:nvPr/>
        </p:nvSpPr>
        <p:spPr bwMode="auto">
          <a:xfrm>
            <a:off x="5719554" y="5323804"/>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3</a:t>
            </a:r>
          </a:p>
        </p:txBody>
      </p:sp>
      <p:sp>
        <p:nvSpPr>
          <p:cNvPr id="16" name="Rectangle 39"/>
          <p:cNvSpPr>
            <a:spLocks/>
          </p:cNvSpPr>
          <p:nvPr/>
        </p:nvSpPr>
        <p:spPr bwMode="auto">
          <a:xfrm>
            <a:off x="6725416" y="5340261"/>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4</a:t>
            </a:r>
          </a:p>
        </p:txBody>
      </p:sp>
      <p:sp>
        <p:nvSpPr>
          <p:cNvPr id="17" name="Rectangle 40"/>
          <p:cNvSpPr>
            <a:spLocks/>
          </p:cNvSpPr>
          <p:nvPr/>
        </p:nvSpPr>
        <p:spPr bwMode="auto">
          <a:xfrm>
            <a:off x="7798845" y="5309847"/>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5</a:t>
            </a:r>
          </a:p>
        </p:txBody>
      </p:sp>
      <p:sp>
        <p:nvSpPr>
          <p:cNvPr id="18" name="Rectangle 41"/>
          <p:cNvSpPr>
            <a:spLocks/>
          </p:cNvSpPr>
          <p:nvPr/>
        </p:nvSpPr>
        <p:spPr bwMode="auto">
          <a:xfrm>
            <a:off x="8858319" y="5309847"/>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n</a:t>
            </a:r>
          </a:p>
        </p:txBody>
      </p:sp>
      <p:sp>
        <p:nvSpPr>
          <p:cNvPr id="20" name="Rectangle 35"/>
          <p:cNvSpPr>
            <a:spLocks/>
          </p:cNvSpPr>
          <p:nvPr/>
        </p:nvSpPr>
        <p:spPr bwMode="auto">
          <a:xfrm>
            <a:off x="4707921" y="4413948"/>
            <a:ext cx="189155"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G</a:t>
            </a:r>
          </a:p>
        </p:txBody>
      </p:sp>
      <p:cxnSp>
        <p:nvCxnSpPr>
          <p:cNvPr id="27" name="Straight Arrow Connector 9"/>
          <p:cNvCxnSpPr/>
          <p:nvPr/>
        </p:nvCxnSpPr>
        <p:spPr>
          <a:xfrm flipV="1">
            <a:off x="5926606" y="4697944"/>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28" name="Rectangle 35"/>
          <p:cNvSpPr>
            <a:spLocks/>
          </p:cNvSpPr>
          <p:nvPr/>
        </p:nvSpPr>
        <p:spPr bwMode="auto">
          <a:xfrm>
            <a:off x="5781786" y="4118007"/>
            <a:ext cx="31739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2G</a:t>
            </a:r>
          </a:p>
        </p:txBody>
      </p:sp>
      <p:sp>
        <p:nvSpPr>
          <p:cNvPr id="29" name="Rectangle 35"/>
          <p:cNvSpPr>
            <a:spLocks/>
          </p:cNvSpPr>
          <p:nvPr/>
        </p:nvSpPr>
        <p:spPr bwMode="auto">
          <a:xfrm>
            <a:off x="6793370" y="3818638"/>
            <a:ext cx="31739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3G</a:t>
            </a:r>
          </a:p>
        </p:txBody>
      </p:sp>
      <p:sp>
        <p:nvSpPr>
          <p:cNvPr id="30" name="Rectangle 35"/>
          <p:cNvSpPr>
            <a:spLocks/>
          </p:cNvSpPr>
          <p:nvPr/>
        </p:nvSpPr>
        <p:spPr bwMode="auto">
          <a:xfrm>
            <a:off x="7800215" y="3526381"/>
            <a:ext cx="31739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4G</a:t>
            </a:r>
          </a:p>
        </p:txBody>
      </p:sp>
      <p:sp>
        <p:nvSpPr>
          <p:cNvPr id="31" name="Rectangle 35"/>
          <p:cNvSpPr>
            <a:spLocks/>
          </p:cNvSpPr>
          <p:nvPr/>
        </p:nvSpPr>
        <p:spPr bwMode="auto">
          <a:xfrm>
            <a:off x="8701163" y="2931299"/>
            <a:ext cx="695703"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(n-1)G</a:t>
            </a:r>
          </a:p>
        </p:txBody>
      </p:sp>
      <p:cxnSp>
        <p:nvCxnSpPr>
          <p:cNvPr id="33" name="Straight Arrow Connector 9"/>
          <p:cNvCxnSpPr/>
          <p:nvPr/>
        </p:nvCxnSpPr>
        <p:spPr>
          <a:xfrm flipV="1">
            <a:off x="5926606" y="4408236"/>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34" name="Straight Arrow Connector 9"/>
          <p:cNvCxnSpPr/>
          <p:nvPr/>
        </p:nvCxnSpPr>
        <p:spPr>
          <a:xfrm flipV="1">
            <a:off x="6952068" y="4689104"/>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35" name="Straight Arrow Connector 9"/>
          <p:cNvCxnSpPr/>
          <p:nvPr/>
        </p:nvCxnSpPr>
        <p:spPr>
          <a:xfrm flipV="1">
            <a:off x="6952068" y="4399396"/>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36" name="Straight Arrow Connector 9"/>
          <p:cNvCxnSpPr/>
          <p:nvPr/>
        </p:nvCxnSpPr>
        <p:spPr>
          <a:xfrm flipV="1">
            <a:off x="7957412" y="4689104"/>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37" name="Straight Arrow Connector 9"/>
          <p:cNvCxnSpPr/>
          <p:nvPr/>
        </p:nvCxnSpPr>
        <p:spPr>
          <a:xfrm flipV="1">
            <a:off x="7957412" y="4399396"/>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38" name="Straight Arrow Connector 9"/>
          <p:cNvCxnSpPr/>
          <p:nvPr/>
        </p:nvCxnSpPr>
        <p:spPr>
          <a:xfrm flipV="1">
            <a:off x="7957412" y="4109095"/>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39" name="Straight Arrow Connector 9"/>
          <p:cNvCxnSpPr/>
          <p:nvPr/>
        </p:nvCxnSpPr>
        <p:spPr>
          <a:xfrm flipV="1">
            <a:off x="7957412" y="3819387"/>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41" name="Straight Arrow Connector 9"/>
          <p:cNvCxnSpPr/>
          <p:nvPr/>
        </p:nvCxnSpPr>
        <p:spPr>
          <a:xfrm flipV="1">
            <a:off x="6952068" y="4109095"/>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42" name="Straight Arrow Connector 9"/>
          <p:cNvCxnSpPr/>
          <p:nvPr/>
        </p:nvCxnSpPr>
        <p:spPr>
          <a:xfrm flipV="1">
            <a:off x="9049014" y="4689104"/>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43" name="Straight Arrow Connector 9"/>
          <p:cNvCxnSpPr/>
          <p:nvPr/>
        </p:nvCxnSpPr>
        <p:spPr>
          <a:xfrm flipV="1">
            <a:off x="9049014" y="4399396"/>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46" name="Straight Arrow Connector 9"/>
          <p:cNvCxnSpPr/>
          <p:nvPr/>
        </p:nvCxnSpPr>
        <p:spPr>
          <a:xfrm flipV="1">
            <a:off x="9049014" y="3647060"/>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47" name="Straight Arrow Connector 9"/>
          <p:cNvCxnSpPr/>
          <p:nvPr/>
        </p:nvCxnSpPr>
        <p:spPr>
          <a:xfrm flipV="1">
            <a:off x="9049014" y="3353828"/>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48" name="CuadroTexto 47"/>
          <p:cNvSpPr txBox="1"/>
          <p:nvPr/>
        </p:nvSpPr>
        <p:spPr>
          <a:xfrm>
            <a:off x="8310617" y="5236836"/>
            <a:ext cx="1295747" cy="400110"/>
          </a:xfrm>
          <a:prstGeom prst="rect">
            <a:avLst/>
          </a:prstGeom>
          <a:noFill/>
        </p:spPr>
        <p:txBody>
          <a:bodyPr wrap="square" rtlCol="0">
            <a:spAutoFit/>
          </a:bodyPr>
          <a:lstStyle/>
          <a:p>
            <a:r>
              <a:rPr lang="es-ES" sz="2000"/>
              <a:t>…</a:t>
            </a:r>
          </a:p>
        </p:txBody>
      </p:sp>
      <p:sp>
        <p:nvSpPr>
          <p:cNvPr id="49" name="Rectangle 35"/>
          <p:cNvSpPr>
            <a:spLocks/>
          </p:cNvSpPr>
          <p:nvPr/>
        </p:nvSpPr>
        <p:spPr bwMode="auto">
          <a:xfrm>
            <a:off x="8244477" y="3919833"/>
            <a:ext cx="1576141" cy="4843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lnSpc>
                <a:spcPct val="50000"/>
              </a:lnSpc>
            </a:pPr>
            <a:r>
              <a:rPr lang="en-US" sz="2000"/>
              <a:t>.</a:t>
            </a:r>
          </a:p>
          <a:p>
            <a:pPr algn="ctr">
              <a:lnSpc>
                <a:spcPct val="50000"/>
              </a:lnSpc>
            </a:pPr>
            <a:r>
              <a:rPr lang="en-US" sz="2000"/>
              <a:t>.</a:t>
            </a:r>
          </a:p>
          <a:p>
            <a:pPr algn="ctr">
              <a:lnSpc>
                <a:spcPct val="50000"/>
              </a:lnSpc>
            </a:pPr>
            <a:r>
              <a:rPr lang="en-US" sz="2000"/>
              <a:t>.</a:t>
            </a:r>
          </a:p>
        </p:txBody>
      </p:sp>
      <p:cxnSp>
        <p:nvCxnSpPr>
          <p:cNvPr id="53" name="Straight Arrow Connector 9"/>
          <p:cNvCxnSpPr/>
          <p:nvPr/>
        </p:nvCxnSpPr>
        <p:spPr>
          <a:xfrm flipV="1">
            <a:off x="3738703" y="5043455"/>
            <a:ext cx="0" cy="295941"/>
          </a:xfrm>
          <a:prstGeom prst="straightConnector1">
            <a:avLst/>
          </a:prstGeom>
          <a:ln>
            <a:solidFill>
              <a:schemeClr val="accent3">
                <a:lumMod val="75000"/>
              </a:schemeClr>
            </a:solidFill>
            <a:tailEnd type="arrow"/>
          </a:ln>
        </p:spPr>
        <p:style>
          <a:lnRef idx="2">
            <a:schemeClr val="accent1"/>
          </a:lnRef>
          <a:fillRef idx="0">
            <a:schemeClr val="accent1"/>
          </a:fillRef>
          <a:effectRef idx="1">
            <a:schemeClr val="accent1"/>
          </a:effectRef>
          <a:fontRef idx="minor">
            <a:schemeClr val="tx1"/>
          </a:fontRef>
        </p:style>
      </p:cxnSp>
      <p:cxnSp>
        <p:nvCxnSpPr>
          <p:cNvPr id="54" name="Straight Arrow Connector 9"/>
          <p:cNvCxnSpPr/>
          <p:nvPr/>
        </p:nvCxnSpPr>
        <p:spPr>
          <a:xfrm flipV="1">
            <a:off x="4809078" y="5045411"/>
            <a:ext cx="0" cy="295941"/>
          </a:xfrm>
          <a:prstGeom prst="straightConnector1">
            <a:avLst/>
          </a:prstGeom>
          <a:ln>
            <a:solidFill>
              <a:schemeClr val="accent3">
                <a:lumMod val="75000"/>
              </a:schemeClr>
            </a:solidFill>
            <a:tailEnd type="arrow"/>
          </a:ln>
        </p:spPr>
        <p:style>
          <a:lnRef idx="2">
            <a:schemeClr val="accent1"/>
          </a:lnRef>
          <a:fillRef idx="0">
            <a:schemeClr val="accent1"/>
          </a:fillRef>
          <a:effectRef idx="1">
            <a:schemeClr val="accent1"/>
          </a:effectRef>
          <a:fontRef idx="minor">
            <a:schemeClr val="tx1"/>
          </a:fontRef>
        </p:style>
      </p:cxnSp>
      <p:cxnSp>
        <p:nvCxnSpPr>
          <p:cNvPr id="55" name="Straight Arrow Connector 9"/>
          <p:cNvCxnSpPr/>
          <p:nvPr/>
        </p:nvCxnSpPr>
        <p:spPr>
          <a:xfrm flipV="1">
            <a:off x="5926606" y="5036335"/>
            <a:ext cx="0" cy="295941"/>
          </a:xfrm>
          <a:prstGeom prst="straightConnector1">
            <a:avLst/>
          </a:prstGeom>
          <a:ln>
            <a:solidFill>
              <a:schemeClr val="accent3">
                <a:lumMod val="75000"/>
              </a:schemeClr>
            </a:solidFill>
            <a:tailEnd type="arrow"/>
          </a:ln>
        </p:spPr>
        <p:style>
          <a:lnRef idx="2">
            <a:schemeClr val="accent1"/>
          </a:lnRef>
          <a:fillRef idx="0">
            <a:schemeClr val="accent1"/>
          </a:fillRef>
          <a:effectRef idx="1">
            <a:schemeClr val="accent1"/>
          </a:effectRef>
          <a:fontRef idx="minor">
            <a:schemeClr val="tx1"/>
          </a:fontRef>
        </p:style>
      </p:cxnSp>
      <p:cxnSp>
        <p:nvCxnSpPr>
          <p:cNvPr id="56" name="Straight Arrow Connector 9"/>
          <p:cNvCxnSpPr/>
          <p:nvPr/>
        </p:nvCxnSpPr>
        <p:spPr>
          <a:xfrm flipV="1">
            <a:off x="6956738" y="5035046"/>
            <a:ext cx="0" cy="295941"/>
          </a:xfrm>
          <a:prstGeom prst="straightConnector1">
            <a:avLst/>
          </a:prstGeom>
          <a:ln>
            <a:solidFill>
              <a:schemeClr val="accent3">
                <a:lumMod val="75000"/>
              </a:schemeClr>
            </a:solidFill>
            <a:tailEnd type="arrow"/>
          </a:ln>
        </p:spPr>
        <p:style>
          <a:lnRef idx="2">
            <a:schemeClr val="accent1"/>
          </a:lnRef>
          <a:fillRef idx="0">
            <a:schemeClr val="accent1"/>
          </a:fillRef>
          <a:effectRef idx="1">
            <a:schemeClr val="accent1"/>
          </a:effectRef>
          <a:fontRef idx="minor">
            <a:schemeClr val="tx1"/>
          </a:fontRef>
        </p:style>
      </p:cxnSp>
      <p:cxnSp>
        <p:nvCxnSpPr>
          <p:cNvPr id="57" name="Straight Arrow Connector 9"/>
          <p:cNvCxnSpPr/>
          <p:nvPr/>
        </p:nvCxnSpPr>
        <p:spPr>
          <a:xfrm flipV="1">
            <a:off x="7957412" y="5035046"/>
            <a:ext cx="0" cy="295941"/>
          </a:xfrm>
          <a:prstGeom prst="straightConnector1">
            <a:avLst/>
          </a:prstGeom>
          <a:ln>
            <a:solidFill>
              <a:schemeClr val="accent3">
                <a:lumMod val="75000"/>
              </a:schemeClr>
            </a:solidFill>
            <a:tailEnd type="arrow"/>
          </a:ln>
        </p:spPr>
        <p:style>
          <a:lnRef idx="2">
            <a:schemeClr val="accent1"/>
          </a:lnRef>
          <a:fillRef idx="0">
            <a:schemeClr val="accent1"/>
          </a:fillRef>
          <a:effectRef idx="1">
            <a:schemeClr val="accent1"/>
          </a:effectRef>
          <a:fontRef idx="minor">
            <a:schemeClr val="tx1"/>
          </a:fontRef>
        </p:style>
      </p:cxnSp>
      <p:cxnSp>
        <p:nvCxnSpPr>
          <p:cNvPr id="58" name="Straight Arrow Connector 9"/>
          <p:cNvCxnSpPr/>
          <p:nvPr/>
        </p:nvCxnSpPr>
        <p:spPr>
          <a:xfrm flipV="1">
            <a:off x="9049014" y="5036335"/>
            <a:ext cx="0" cy="295941"/>
          </a:xfrm>
          <a:prstGeom prst="straightConnector1">
            <a:avLst/>
          </a:prstGeom>
          <a:ln>
            <a:solidFill>
              <a:schemeClr val="accent3">
                <a:lumMod val="75000"/>
              </a:schemeClr>
            </a:solidFill>
            <a:tailEnd type="arrow"/>
          </a:ln>
        </p:spPr>
        <p:style>
          <a:lnRef idx="2">
            <a:schemeClr val="accent1"/>
          </a:lnRef>
          <a:fillRef idx="0">
            <a:schemeClr val="accent1"/>
          </a:fillRef>
          <a:effectRef idx="1">
            <a:schemeClr val="accent1"/>
          </a:effectRef>
          <a:fontRef idx="minor">
            <a:schemeClr val="tx1"/>
          </a:fontRef>
        </p:style>
      </p:cxnSp>
      <p:cxnSp>
        <p:nvCxnSpPr>
          <p:cNvPr id="59" name="Conector recto 58"/>
          <p:cNvCxnSpPr/>
          <p:nvPr/>
        </p:nvCxnSpPr>
        <p:spPr>
          <a:xfrm>
            <a:off x="3778387" y="5023104"/>
            <a:ext cx="5271668" cy="0"/>
          </a:xfrm>
          <a:prstGeom prst="line">
            <a:avLst/>
          </a:prstGeom>
          <a:ln w="12700">
            <a:prstDash val="dash"/>
          </a:ln>
        </p:spPr>
        <p:style>
          <a:lnRef idx="2">
            <a:schemeClr val="accent1"/>
          </a:lnRef>
          <a:fillRef idx="0">
            <a:schemeClr val="accent1"/>
          </a:fillRef>
          <a:effectRef idx="1">
            <a:schemeClr val="accent1"/>
          </a:effectRef>
          <a:fontRef idx="minor">
            <a:schemeClr val="tx1"/>
          </a:fontRef>
        </p:style>
      </p:cxnSp>
      <p:sp>
        <p:nvSpPr>
          <p:cNvPr id="60" name="Rectangle 35"/>
          <p:cNvSpPr>
            <a:spLocks/>
          </p:cNvSpPr>
          <p:nvPr/>
        </p:nvSpPr>
        <p:spPr bwMode="auto">
          <a:xfrm>
            <a:off x="6311815" y="4746106"/>
            <a:ext cx="171522"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A</a:t>
            </a:r>
          </a:p>
        </p:txBody>
      </p:sp>
      <p:sp>
        <p:nvSpPr>
          <p:cNvPr id="8" name="Title 1">
            <a:extLst>
              <a:ext uri="{FF2B5EF4-FFF2-40B4-BE49-F238E27FC236}">
                <a16:creationId xmlns:a16="http://schemas.microsoft.com/office/drawing/2014/main" id="{D9B60816-473F-AA32-92E0-F0C5A9112650}"/>
              </a:ext>
            </a:extLst>
          </p:cNvPr>
          <p:cNvSpPr>
            <a:spLocks noGrp="1"/>
          </p:cNvSpPr>
          <p:nvPr>
            <p:ph type="title"/>
          </p:nvPr>
        </p:nvSpPr>
        <p:spPr>
          <a:xfrm>
            <a:off x="581192" y="702156"/>
            <a:ext cx="11029616" cy="1013800"/>
          </a:xfrm>
        </p:spPr>
        <p:txBody>
          <a:bodyPr>
            <a:normAutofit/>
          </a:bodyPr>
          <a:lstStyle/>
          <a:p>
            <a:r>
              <a:rPr lang="es-ES_tradnl" sz="3200" dirty="0">
                <a:latin typeface="Gill Sans MT (titulo)"/>
              </a:rPr>
              <a:t>Gradientes aritméticos</a:t>
            </a:r>
          </a:p>
        </p:txBody>
      </p:sp>
      <p:sp>
        <p:nvSpPr>
          <p:cNvPr id="9" name="Rectángulo 8">
            <a:extLst>
              <a:ext uri="{FF2B5EF4-FFF2-40B4-BE49-F238E27FC236}">
                <a16:creationId xmlns:a16="http://schemas.microsoft.com/office/drawing/2014/main" id="{775CBB7A-67EC-10CF-0970-1B36D4B9EEF5}"/>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0" name="Picture 2" descr="Clientes y aliados | Centro de Evaluación | Uniandes">
            <a:extLst>
              <a:ext uri="{FF2B5EF4-FFF2-40B4-BE49-F238E27FC236}">
                <a16:creationId xmlns:a16="http://schemas.microsoft.com/office/drawing/2014/main" id="{150630FA-7E9E-11D2-4477-905B7D9A9FD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1" name="Rectángulo 10">
            <a:extLst>
              <a:ext uri="{FF2B5EF4-FFF2-40B4-BE49-F238E27FC236}">
                <a16:creationId xmlns:a16="http://schemas.microsoft.com/office/drawing/2014/main" id="{928B7DAE-BE19-383A-4894-31198D3CD87B}"/>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2" name="Marcador de contenido 2">
            <a:extLst>
              <a:ext uri="{FF2B5EF4-FFF2-40B4-BE49-F238E27FC236}">
                <a16:creationId xmlns:a16="http://schemas.microsoft.com/office/drawing/2014/main" id="{8A97ADC8-4EA4-30C8-4005-77F579EE7BC8}"/>
              </a:ext>
            </a:extLst>
          </p:cNvPr>
          <p:cNvSpPr>
            <a:spLocks noGrp="1"/>
          </p:cNvSpPr>
          <p:nvPr>
            <p:ph idx="1"/>
          </p:nvPr>
        </p:nvSpPr>
        <p:spPr>
          <a:xfrm>
            <a:off x="641965" y="1944051"/>
            <a:ext cx="11029616" cy="840769"/>
          </a:xfrm>
        </p:spPr>
        <p:txBody>
          <a:bodyPr>
            <a:normAutofit/>
          </a:bodyPr>
          <a:lstStyle/>
          <a:p>
            <a:pPr marL="0" indent="0" algn="just">
              <a:buNone/>
            </a:pPr>
            <a:r>
              <a:rPr lang="es-ES" sz="2400" dirty="0"/>
              <a:t>Ahora, la mayoría de las veces es posible que nos encontremos los gradientes de la siguiente manera. </a:t>
            </a:r>
          </a:p>
        </p:txBody>
      </p:sp>
      <p:sp>
        <p:nvSpPr>
          <p:cNvPr id="3" name="Slide Number Placeholder 3">
            <a:extLst>
              <a:ext uri="{FF2B5EF4-FFF2-40B4-BE49-F238E27FC236}">
                <a16:creationId xmlns:a16="http://schemas.microsoft.com/office/drawing/2014/main" id="{2810592F-7D38-B2AE-E354-11241294CE82}"/>
              </a:ext>
            </a:extLst>
          </p:cNvPr>
          <p:cNvSpPr>
            <a:spLocks noGrp="1"/>
          </p:cNvSpPr>
          <p:nvPr>
            <p:ph type="sldNum" sz="quarter" idx="12"/>
          </p:nvPr>
        </p:nvSpPr>
        <p:spPr>
          <a:xfrm>
            <a:off x="10558300" y="5956137"/>
            <a:ext cx="1052508" cy="365125"/>
          </a:xfrm>
        </p:spPr>
        <p:txBody>
          <a:bodyPr/>
          <a:lstStyle/>
          <a:p>
            <a:fld id="{5E3E23BA-6E79-2442-BA73-D218A5E297C3}" type="slidenum">
              <a:rPr lang="en-US" sz="2000" b="1" smtClean="0">
                <a:latin typeface="Gill Sans MT (Títulos)"/>
              </a:rPr>
              <a:t>24</a:t>
            </a:fld>
            <a:endParaRPr lang="en-US" sz="2000" b="1" dirty="0">
              <a:latin typeface="Gill Sans MT (Títulos)"/>
            </a:endParaRPr>
          </a:p>
        </p:txBody>
      </p:sp>
    </p:spTree>
    <p:extLst>
      <p:ext uri="{BB962C8B-B14F-4D97-AF65-F5344CB8AC3E}">
        <p14:creationId xmlns:p14="http://schemas.microsoft.com/office/powerpoint/2010/main" val="40168429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500"/>
                                        <p:tgtEl>
                                          <p:spTgt spid="13"/>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fade">
                                      <p:cBhvr>
                                        <p:cTn id="16" dur="500"/>
                                        <p:tgtEl>
                                          <p:spTgt spid="14"/>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fade">
                                      <p:cBhvr>
                                        <p:cTn id="19" dur="500"/>
                                        <p:tgtEl>
                                          <p:spTgt spid="15"/>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500"/>
                                        <p:tgtEl>
                                          <p:spTgt spid="16"/>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7"/>
                                        </p:tgtEl>
                                        <p:attrNameLst>
                                          <p:attrName>style.visibility</p:attrName>
                                        </p:attrNameLst>
                                      </p:cBhvr>
                                      <p:to>
                                        <p:strVal val="visible"/>
                                      </p:to>
                                    </p:set>
                                    <p:animEffect transition="in" filter="fade">
                                      <p:cBhvr>
                                        <p:cTn id="25" dur="500"/>
                                        <p:tgtEl>
                                          <p:spTgt spid="17"/>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8"/>
                                        </p:tgtEl>
                                        <p:attrNameLst>
                                          <p:attrName>style.visibility</p:attrName>
                                        </p:attrNameLst>
                                      </p:cBhvr>
                                      <p:to>
                                        <p:strVal val="visible"/>
                                      </p:to>
                                    </p:set>
                                    <p:animEffect transition="in" filter="fade">
                                      <p:cBhvr>
                                        <p:cTn id="28" dur="500"/>
                                        <p:tgtEl>
                                          <p:spTgt spid="18"/>
                                        </p:tgtEl>
                                      </p:cBhvr>
                                    </p:animEffect>
                                  </p:childTnLst>
                                </p:cTn>
                              </p:par>
                              <p:par>
                                <p:cTn id="29" presetID="10" presetClass="entr" presetSubtype="0" fill="hold" nodeType="withEffect">
                                  <p:stCondLst>
                                    <p:cond delay="0"/>
                                  </p:stCondLst>
                                  <p:childTnLst>
                                    <p:set>
                                      <p:cBhvr>
                                        <p:cTn id="30" dur="1" fill="hold">
                                          <p:stCondLst>
                                            <p:cond delay="0"/>
                                          </p:stCondLst>
                                        </p:cTn>
                                        <p:tgtEl>
                                          <p:spTgt spid="53"/>
                                        </p:tgtEl>
                                        <p:attrNameLst>
                                          <p:attrName>style.visibility</p:attrName>
                                        </p:attrNameLst>
                                      </p:cBhvr>
                                      <p:to>
                                        <p:strVal val="visible"/>
                                      </p:to>
                                    </p:set>
                                    <p:animEffect transition="in" filter="fade">
                                      <p:cBhvr>
                                        <p:cTn id="31" dur="500"/>
                                        <p:tgtEl>
                                          <p:spTgt spid="53"/>
                                        </p:tgtEl>
                                      </p:cBhvr>
                                    </p:animEffect>
                                  </p:childTnLst>
                                </p:cTn>
                              </p:par>
                              <p:par>
                                <p:cTn id="32" presetID="10" presetClass="entr" presetSubtype="0" fill="hold" nodeType="withEffect">
                                  <p:stCondLst>
                                    <p:cond delay="0"/>
                                  </p:stCondLst>
                                  <p:childTnLst>
                                    <p:set>
                                      <p:cBhvr>
                                        <p:cTn id="33" dur="1" fill="hold">
                                          <p:stCondLst>
                                            <p:cond delay="0"/>
                                          </p:stCondLst>
                                        </p:cTn>
                                        <p:tgtEl>
                                          <p:spTgt spid="54"/>
                                        </p:tgtEl>
                                        <p:attrNameLst>
                                          <p:attrName>style.visibility</p:attrName>
                                        </p:attrNameLst>
                                      </p:cBhvr>
                                      <p:to>
                                        <p:strVal val="visible"/>
                                      </p:to>
                                    </p:set>
                                    <p:animEffect transition="in" filter="fade">
                                      <p:cBhvr>
                                        <p:cTn id="34" dur="500"/>
                                        <p:tgtEl>
                                          <p:spTgt spid="54"/>
                                        </p:tgtEl>
                                      </p:cBhvr>
                                    </p:animEffect>
                                  </p:childTnLst>
                                </p:cTn>
                              </p:par>
                              <p:par>
                                <p:cTn id="35" presetID="10" presetClass="entr" presetSubtype="0" fill="hold" nodeType="withEffect">
                                  <p:stCondLst>
                                    <p:cond delay="0"/>
                                  </p:stCondLst>
                                  <p:childTnLst>
                                    <p:set>
                                      <p:cBhvr>
                                        <p:cTn id="36" dur="1" fill="hold">
                                          <p:stCondLst>
                                            <p:cond delay="0"/>
                                          </p:stCondLst>
                                        </p:cTn>
                                        <p:tgtEl>
                                          <p:spTgt spid="55"/>
                                        </p:tgtEl>
                                        <p:attrNameLst>
                                          <p:attrName>style.visibility</p:attrName>
                                        </p:attrNameLst>
                                      </p:cBhvr>
                                      <p:to>
                                        <p:strVal val="visible"/>
                                      </p:to>
                                    </p:set>
                                    <p:animEffect transition="in" filter="fade">
                                      <p:cBhvr>
                                        <p:cTn id="37" dur="500"/>
                                        <p:tgtEl>
                                          <p:spTgt spid="55"/>
                                        </p:tgtEl>
                                      </p:cBhvr>
                                    </p:animEffect>
                                  </p:childTnLst>
                                </p:cTn>
                              </p:par>
                              <p:par>
                                <p:cTn id="38" presetID="10" presetClass="entr" presetSubtype="0" fill="hold" nodeType="withEffect">
                                  <p:stCondLst>
                                    <p:cond delay="0"/>
                                  </p:stCondLst>
                                  <p:childTnLst>
                                    <p:set>
                                      <p:cBhvr>
                                        <p:cTn id="39" dur="1" fill="hold">
                                          <p:stCondLst>
                                            <p:cond delay="0"/>
                                          </p:stCondLst>
                                        </p:cTn>
                                        <p:tgtEl>
                                          <p:spTgt spid="56"/>
                                        </p:tgtEl>
                                        <p:attrNameLst>
                                          <p:attrName>style.visibility</p:attrName>
                                        </p:attrNameLst>
                                      </p:cBhvr>
                                      <p:to>
                                        <p:strVal val="visible"/>
                                      </p:to>
                                    </p:set>
                                    <p:animEffect transition="in" filter="fade">
                                      <p:cBhvr>
                                        <p:cTn id="40" dur="500"/>
                                        <p:tgtEl>
                                          <p:spTgt spid="56"/>
                                        </p:tgtEl>
                                      </p:cBhvr>
                                    </p:animEffect>
                                  </p:childTnLst>
                                </p:cTn>
                              </p:par>
                              <p:par>
                                <p:cTn id="41" presetID="10" presetClass="entr" presetSubtype="0" fill="hold" nodeType="withEffect">
                                  <p:stCondLst>
                                    <p:cond delay="0"/>
                                  </p:stCondLst>
                                  <p:childTnLst>
                                    <p:set>
                                      <p:cBhvr>
                                        <p:cTn id="42" dur="1" fill="hold">
                                          <p:stCondLst>
                                            <p:cond delay="0"/>
                                          </p:stCondLst>
                                        </p:cTn>
                                        <p:tgtEl>
                                          <p:spTgt spid="57"/>
                                        </p:tgtEl>
                                        <p:attrNameLst>
                                          <p:attrName>style.visibility</p:attrName>
                                        </p:attrNameLst>
                                      </p:cBhvr>
                                      <p:to>
                                        <p:strVal val="visible"/>
                                      </p:to>
                                    </p:set>
                                    <p:animEffect transition="in" filter="fade">
                                      <p:cBhvr>
                                        <p:cTn id="43" dur="500"/>
                                        <p:tgtEl>
                                          <p:spTgt spid="57"/>
                                        </p:tgtEl>
                                      </p:cBhvr>
                                    </p:animEffect>
                                  </p:childTnLst>
                                </p:cTn>
                              </p:par>
                              <p:par>
                                <p:cTn id="44" presetID="10" presetClass="entr" presetSubtype="0" fill="hold" nodeType="withEffect">
                                  <p:stCondLst>
                                    <p:cond delay="0"/>
                                  </p:stCondLst>
                                  <p:childTnLst>
                                    <p:set>
                                      <p:cBhvr>
                                        <p:cTn id="45" dur="1" fill="hold">
                                          <p:stCondLst>
                                            <p:cond delay="0"/>
                                          </p:stCondLst>
                                        </p:cTn>
                                        <p:tgtEl>
                                          <p:spTgt spid="58"/>
                                        </p:tgtEl>
                                        <p:attrNameLst>
                                          <p:attrName>style.visibility</p:attrName>
                                        </p:attrNameLst>
                                      </p:cBhvr>
                                      <p:to>
                                        <p:strVal val="visible"/>
                                      </p:to>
                                    </p:set>
                                    <p:animEffect transition="in" filter="fade">
                                      <p:cBhvr>
                                        <p:cTn id="46" dur="500"/>
                                        <p:tgtEl>
                                          <p:spTgt spid="58"/>
                                        </p:tgtEl>
                                      </p:cBhvr>
                                    </p:animEffect>
                                  </p:childTnLst>
                                </p:cTn>
                              </p:par>
                              <p:par>
                                <p:cTn id="47" presetID="10" presetClass="entr" presetSubtype="0" fill="hold" nodeType="withEffect">
                                  <p:stCondLst>
                                    <p:cond delay="0"/>
                                  </p:stCondLst>
                                  <p:childTnLst>
                                    <p:set>
                                      <p:cBhvr>
                                        <p:cTn id="48" dur="1" fill="hold">
                                          <p:stCondLst>
                                            <p:cond delay="0"/>
                                          </p:stCondLst>
                                        </p:cTn>
                                        <p:tgtEl>
                                          <p:spTgt spid="59"/>
                                        </p:tgtEl>
                                        <p:attrNameLst>
                                          <p:attrName>style.visibility</p:attrName>
                                        </p:attrNameLst>
                                      </p:cBhvr>
                                      <p:to>
                                        <p:strVal val="visible"/>
                                      </p:to>
                                    </p:set>
                                    <p:animEffect transition="in" filter="fade">
                                      <p:cBhvr>
                                        <p:cTn id="49" dur="500"/>
                                        <p:tgtEl>
                                          <p:spTgt spid="59"/>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60"/>
                                        </p:tgtEl>
                                        <p:attrNameLst>
                                          <p:attrName>style.visibility</p:attrName>
                                        </p:attrNameLst>
                                      </p:cBhvr>
                                      <p:to>
                                        <p:strVal val="visible"/>
                                      </p:to>
                                    </p:set>
                                    <p:animEffect transition="in" filter="fade">
                                      <p:cBhvr>
                                        <p:cTn id="52" dur="500"/>
                                        <p:tgtEl>
                                          <p:spTgt spid="60"/>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48"/>
                                        </p:tgtEl>
                                        <p:attrNameLst>
                                          <p:attrName>style.visibility</p:attrName>
                                        </p:attrNameLst>
                                      </p:cBhvr>
                                      <p:to>
                                        <p:strVal val="visible"/>
                                      </p:to>
                                    </p:set>
                                    <p:animEffect transition="in" filter="fade">
                                      <p:cBhvr>
                                        <p:cTn id="55" dur="500"/>
                                        <p:tgtEl>
                                          <p:spTgt spid="48"/>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20"/>
                                        </p:tgtEl>
                                        <p:attrNameLst>
                                          <p:attrName>style.visibility</p:attrName>
                                        </p:attrNameLst>
                                      </p:cBhvr>
                                      <p:to>
                                        <p:strVal val="visible"/>
                                      </p:to>
                                    </p:set>
                                    <p:animEffect transition="in" filter="fade">
                                      <p:cBhvr>
                                        <p:cTn id="60" dur="500"/>
                                        <p:tgtEl>
                                          <p:spTgt spid="20"/>
                                        </p:tgtEl>
                                      </p:cBhvr>
                                    </p:animEffect>
                                  </p:childTnLst>
                                </p:cTn>
                              </p:par>
                              <p:par>
                                <p:cTn id="61" presetID="10" presetClass="entr" presetSubtype="0" fill="hold" nodeType="withEffect">
                                  <p:stCondLst>
                                    <p:cond delay="0"/>
                                  </p:stCondLst>
                                  <p:childTnLst>
                                    <p:set>
                                      <p:cBhvr>
                                        <p:cTn id="62" dur="1" fill="hold">
                                          <p:stCondLst>
                                            <p:cond delay="0"/>
                                          </p:stCondLst>
                                        </p:cTn>
                                        <p:tgtEl>
                                          <p:spTgt spid="6"/>
                                        </p:tgtEl>
                                        <p:attrNameLst>
                                          <p:attrName>style.visibility</p:attrName>
                                        </p:attrNameLst>
                                      </p:cBhvr>
                                      <p:to>
                                        <p:strVal val="visible"/>
                                      </p:to>
                                    </p:set>
                                    <p:animEffect transition="in" filter="fade">
                                      <p:cBhvr>
                                        <p:cTn id="63" dur="500"/>
                                        <p:tgtEl>
                                          <p:spTgt spid="6"/>
                                        </p:tgtEl>
                                      </p:cBhvr>
                                    </p:animEffect>
                                  </p:childTnLst>
                                </p:cTn>
                              </p:par>
                            </p:childTnLst>
                          </p:cTn>
                        </p:par>
                      </p:childTnLst>
                    </p:cTn>
                  </p:par>
                  <p:par>
                    <p:cTn id="64" fill="hold">
                      <p:stCondLst>
                        <p:cond delay="indefinite"/>
                      </p:stCondLst>
                      <p:childTnLst>
                        <p:par>
                          <p:cTn id="65" fill="hold">
                            <p:stCondLst>
                              <p:cond delay="0"/>
                            </p:stCondLst>
                            <p:childTnLst>
                              <p:par>
                                <p:cTn id="66" presetID="10" presetClass="entr" presetSubtype="0" fill="hold" grpId="0" nodeType="clickEffect">
                                  <p:stCondLst>
                                    <p:cond delay="0"/>
                                  </p:stCondLst>
                                  <p:childTnLst>
                                    <p:set>
                                      <p:cBhvr>
                                        <p:cTn id="67" dur="1" fill="hold">
                                          <p:stCondLst>
                                            <p:cond delay="0"/>
                                          </p:stCondLst>
                                        </p:cTn>
                                        <p:tgtEl>
                                          <p:spTgt spid="28"/>
                                        </p:tgtEl>
                                        <p:attrNameLst>
                                          <p:attrName>style.visibility</p:attrName>
                                        </p:attrNameLst>
                                      </p:cBhvr>
                                      <p:to>
                                        <p:strVal val="visible"/>
                                      </p:to>
                                    </p:set>
                                    <p:animEffect transition="in" filter="fade">
                                      <p:cBhvr>
                                        <p:cTn id="68" dur="500"/>
                                        <p:tgtEl>
                                          <p:spTgt spid="28"/>
                                        </p:tgtEl>
                                      </p:cBhvr>
                                    </p:animEffect>
                                  </p:childTnLst>
                                </p:cTn>
                              </p:par>
                              <p:par>
                                <p:cTn id="69" presetID="10" presetClass="entr" presetSubtype="0" fill="hold" nodeType="withEffect">
                                  <p:stCondLst>
                                    <p:cond delay="0"/>
                                  </p:stCondLst>
                                  <p:childTnLst>
                                    <p:set>
                                      <p:cBhvr>
                                        <p:cTn id="70" dur="1" fill="hold">
                                          <p:stCondLst>
                                            <p:cond delay="0"/>
                                          </p:stCondLst>
                                        </p:cTn>
                                        <p:tgtEl>
                                          <p:spTgt spid="33"/>
                                        </p:tgtEl>
                                        <p:attrNameLst>
                                          <p:attrName>style.visibility</p:attrName>
                                        </p:attrNameLst>
                                      </p:cBhvr>
                                      <p:to>
                                        <p:strVal val="visible"/>
                                      </p:to>
                                    </p:set>
                                    <p:animEffect transition="in" filter="fade">
                                      <p:cBhvr>
                                        <p:cTn id="71" dur="500"/>
                                        <p:tgtEl>
                                          <p:spTgt spid="33"/>
                                        </p:tgtEl>
                                      </p:cBhvr>
                                    </p:animEffect>
                                  </p:childTnLst>
                                </p:cTn>
                              </p:par>
                              <p:par>
                                <p:cTn id="72" presetID="10" presetClass="entr" presetSubtype="0" fill="hold" nodeType="withEffect">
                                  <p:stCondLst>
                                    <p:cond delay="0"/>
                                  </p:stCondLst>
                                  <p:childTnLst>
                                    <p:set>
                                      <p:cBhvr>
                                        <p:cTn id="73" dur="1" fill="hold">
                                          <p:stCondLst>
                                            <p:cond delay="0"/>
                                          </p:stCondLst>
                                        </p:cTn>
                                        <p:tgtEl>
                                          <p:spTgt spid="27"/>
                                        </p:tgtEl>
                                        <p:attrNameLst>
                                          <p:attrName>style.visibility</p:attrName>
                                        </p:attrNameLst>
                                      </p:cBhvr>
                                      <p:to>
                                        <p:strVal val="visible"/>
                                      </p:to>
                                    </p:set>
                                    <p:animEffect transition="in" filter="fade">
                                      <p:cBhvr>
                                        <p:cTn id="74" dur="500"/>
                                        <p:tgtEl>
                                          <p:spTgt spid="27"/>
                                        </p:tgtEl>
                                      </p:cBhvr>
                                    </p:animEffect>
                                  </p:childTnLst>
                                </p:cTn>
                              </p:par>
                            </p:childTnLst>
                          </p:cTn>
                        </p:par>
                      </p:childTnLst>
                    </p:cTn>
                  </p:par>
                  <p:par>
                    <p:cTn id="75" fill="hold">
                      <p:stCondLst>
                        <p:cond delay="indefinite"/>
                      </p:stCondLst>
                      <p:childTnLst>
                        <p:par>
                          <p:cTn id="76" fill="hold">
                            <p:stCondLst>
                              <p:cond delay="0"/>
                            </p:stCondLst>
                            <p:childTnLst>
                              <p:par>
                                <p:cTn id="77" presetID="10" presetClass="entr" presetSubtype="0" fill="hold" grpId="0" nodeType="clickEffect">
                                  <p:stCondLst>
                                    <p:cond delay="0"/>
                                  </p:stCondLst>
                                  <p:childTnLst>
                                    <p:set>
                                      <p:cBhvr>
                                        <p:cTn id="78" dur="1" fill="hold">
                                          <p:stCondLst>
                                            <p:cond delay="0"/>
                                          </p:stCondLst>
                                        </p:cTn>
                                        <p:tgtEl>
                                          <p:spTgt spid="29"/>
                                        </p:tgtEl>
                                        <p:attrNameLst>
                                          <p:attrName>style.visibility</p:attrName>
                                        </p:attrNameLst>
                                      </p:cBhvr>
                                      <p:to>
                                        <p:strVal val="visible"/>
                                      </p:to>
                                    </p:set>
                                    <p:animEffect transition="in" filter="fade">
                                      <p:cBhvr>
                                        <p:cTn id="79" dur="500"/>
                                        <p:tgtEl>
                                          <p:spTgt spid="29"/>
                                        </p:tgtEl>
                                      </p:cBhvr>
                                    </p:animEffect>
                                  </p:childTnLst>
                                </p:cTn>
                              </p:par>
                              <p:par>
                                <p:cTn id="80" presetID="10" presetClass="entr" presetSubtype="0" fill="hold" nodeType="withEffect">
                                  <p:stCondLst>
                                    <p:cond delay="0"/>
                                  </p:stCondLst>
                                  <p:childTnLst>
                                    <p:set>
                                      <p:cBhvr>
                                        <p:cTn id="81" dur="1" fill="hold">
                                          <p:stCondLst>
                                            <p:cond delay="0"/>
                                          </p:stCondLst>
                                        </p:cTn>
                                        <p:tgtEl>
                                          <p:spTgt spid="41"/>
                                        </p:tgtEl>
                                        <p:attrNameLst>
                                          <p:attrName>style.visibility</p:attrName>
                                        </p:attrNameLst>
                                      </p:cBhvr>
                                      <p:to>
                                        <p:strVal val="visible"/>
                                      </p:to>
                                    </p:set>
                                    <p:animEffect transition="in" filter="fade">
                                      <p:cBhvr>
                                        <p:cTn id="82" dur="500"/>
                                        <p:tgtEl>
                                          <p:spTgt spid="41"/>
                                        </p:tgtEl>
                                      </p:cBhvr>
                                    </p:animEffect>
                                  </p:childTnLst>
                                </p:cTn>
                              </p:par>
                              <p:par>
                                <p:cTn id="83" presetID="10" presetClass="entr" presetSubtype="0" fill="hold" nodeType="withEffect">
                                  <p:stCondLst>
                                    <p:cond delay="0"/>
                                  </p:stCondLst>
                                  <p:childTnLst>
                                    <p:set>
                                      <p:cBhvr>
                                        <p:cTn id="84" dur="1" fill="hold">
                                          <p:stCondLst>
                                            <p:cond delay="0"/>
                                          </p:stCondLst>
                                        </p:cTn>
                                        <p:tgtEl>
                                          <p:spTgt spid="35"/>
                                        </p:tgtEl>
                                        <p:attrNameLst>
                                          <p:attrName>style.visibility</p:attrName>
                                        </p:attrNameLst>
                                      </p:cBhvr>
                                      <p:to>
                                        <p:strVal val="visible"/>
                                      </p:to>
                                    </p:set>
                                    <p:animEffect transition="in" filter="fade">
                                      <p:cBhvr>
                                        <p:cTn id="85" dur="500"/>
                                        <p:tgtEl>
                                          <p:spTgt spid="35"/>
                                        </p:tgtEl>
                                      </p:cBhvr>
                                    </p:animEffect>
                                  </p:childTnLst>
                                </p:cTn>
                              </p:par>
                              <p:par>
                                <p:cTn id="86" presetID="10" presetClass="entr" presetSubtype="0" fill="hold" nodeType="withEffect">
                                  <p:stCondLst>
                                    <p:cond delay="0"/>
                                  </p:stCondLst>
                                  <p:childTnLst>
                                    <p:set>
                                      <p:cBhvr>
                                        <p:cTn id="87" dur="1" fill="hold">
                                          <p:stCondLst>
                                            <p:cond delay="0"/>
                                          </p:stCondLst>
                                        </p:cTn>
                                        <p:tgtEl>
                                          <p:spTgt spid="34"/>
                                        </p:tgtEl>
                                        <p:attrNameLst>
                                          <p:attrName>style.visibility</p:attrName>
                                        </p:attrNameLst>
                                      </p:cBhvr>
                                      <p:to>
                                        <p:strVal val="visible"/>
                                      </p:to>
                                    </p:set>
                                    <p:animEffect transition="in" filter="fade">
                                      <p:cBhvr>
                                        <p:cTn id="88" dur="500"/>
                                        <p:tgtEl>
                                          <p:spTgt spid="34"/>
                                        </p:tgtEl>
                                      </p:cBhvr>
                                    </p:animEffect>
                                  </p:childTnLst>
                                </p:cTn>
                              </p:par>
                            </p:childTnLst>
                          </p:cTn>
                        </p:par>
                      </p:childTnLst>
                    </p:cTn>
                  </p:par>
                  <p:par>
                    <p:cTn id="89" fill="hold">
                      <p:stCondLst>
                        <p:cond delay="indefinite"/>
                      </p:stCondLst>
                      <p:childTnLst>
                        <p:par>
                          <p:cTn id="90" fill="hold">
                            <p:stCondLst>
                              <p:cond delay="0"/>
                            </p:stCondLst>
                            <p:childTnLst>
                              <p:par>
                                <p:cTn id="91" presetID="10" presetClass="entr" presetSubtype="0" fill="hold" grpId="0" nodeType="clickEffect">
                                  <p:stCondLst>
                                    <p:cond delay="0"/>
                                  </p:stCondLst>
                                  <p:childTnLst>
                                    <p:set>
                                      <p:cBhvr>
                                        <p:cTn id="92" dur="1" fill="hold">
                                          <p:stCondLst>
                                            <p:cond delay="0"/>
                                          </p:stCondLst>
                                        </p:cTn>
                                        <p:tgtEl>
                                          <p:spTgt spid="30"/>
                                        </p:tgtEl>
                                        <p:attrNameLst>
                                          <p:attrName>style.visibility</p:attrName>
                                        </p:attrNameLst>
                                      </p:cBhvr>
                                      <p:to>
                                        <p:strVal val="visible"/>
                                      </p:to>
                                    </p:set>
                                    <p:animEffect transition="in" filter="fade">
                                      <p:cBhvr>
                                        <p:cTn id="93" dur="500"/>
                                        <p:tgtEl>
                                          <p:spTgt spid="30"/>
                                        </p:tgtEl>
                                      </p:cBhvr>
                                    </p:animEffect>
                                  </p:childTnLst>
                                </p:cTn>
                              </p:par>
                              <p:par>
                                <p:cTn id="94" presetID="10" presetClass="entr" presetSubtype="0" fill="hold" nodeType="withEffect">
                                  <p:stCondLst>
                                    <p:cond delay="0"/>
                                  </p:stCondLst>
                                  <p:childTnLst>
                                    <p:set>
                                      <p:cBhvr>
                                        <p:cTn id="95" dur="1" fill="hold">
                                          <p:stCondLst>
                                            <p:cond delay="0"/>
                                          </p:stCondLst>
                                        </p:cTn>
                                        <p:tgtEl>
                                          <p:spTgt spid="39"/>
                                        </p:tgtEl>
                                        <p:attrNameLst>
                                          <p:attrName>style.visibility</p:attrName>
                                        </p:attrNameLst>
                                      </p:cBhvr>
                                      <p:to>
                                        <p:strVal val="visible"/>
                                      </p:to>
                                    </p:set>
                                    <p:animEffect transition="in" filter="fade">
                                      <p:cBhvr>
                                        <p:cTn id="96" dur="500"/>
                                        <p:tgtEl>
                                          <p:spTgt spid="39"/>
                                        </p:tgtEl>
                                      </p:cBhvr>
                                    </p:animEffect>
                                  </p:childTnLst>
                                </p:cTn>
                              </p:par>
                              <p:par>
                                <p:cTn id="97" presetID="10" presetClass="entr" presetSubtype="0" fill="hold" nodeType="withEffect">
                                  <p:stCondLst>
                                    <p:cond delay="0"/>
                                  </p:stCondLst>
                                  <p:childTnLst>
                                    <p:set>
                                      <p:cBhvr>
                                        <p:cTn id="98" dur="1" fill="hold">
                                          <p:stCondLst>
                                            <p:cond delay="0"/>
                                          </p:stCondLst>
                                        </p:cTn>
                                        <p:tgtEl>
                                          <p:spTgt spid="38"/>
                                        </p:tgtEl>
                                        <p:attrNameLst>
                                          <p:attrName>style.visibility</p:attrName>
                                        </p:attrNameLst>
                                      </p:cBhvr>
                                      <p:to>
                                        <p:strVal val="visible"/>
                                      </p:to>
                                    </p:set>
                                    <p:animEffect transition="in" filter="fade">
                                      <p:cBhvr>
                                        <p:cTn id="99" dur="500"/>
                                        <p:tgtEl>
                                          <p:spTgt spid="38"/>
                                        </p:tgtEl>
                                      </p:cBhvr>
                                    </p:animEffect>
                                  </p:childTnLst>
                                </p:cTn>
                              </p:par>
                              <p:par>
                                <p:cTn id="100" presetID="10" presetClass="entr" presetSubtype="0" fill="hold" nodeType="withEffect">
                                  <p:stCondLst>
                                    <p:cond delay="0"/>
                                  </p:stCondLst>
                                  <p:childTnLst>
                                    <p:set>
                                      <p:cBhvr>
                                        <p:cTn id="101" dur="1" fill="hold">
                                          <p:stCondLst>
                                            <p:cond delay="0"/>
                                          </p:stCondLst>
                                        </p:cTn>
                                        <p:tgtEl>
                                          <p:spTgt spid="37"/>
                                        </p:tgtEl>
                                        <p:attrNameLst>
                                          <p:attrName>style.visibility</p:attrName>
                                        </p:attrNameLst>
                                      </p:cBhvr>
                                      <p:to>
                                        <p:strVal val="visible"/>
                                      </p:to>
                                    </p:set>
                                    <p:animEffect transition="in" filter="fade">
                                      <p:cBhvr>
                                        <p:cTn id="102" dur="500"/>
                                        <p:tgtEl>
                                          <p:spTgt spid="37"/>
                                        </p:tgtEl>
                                      </p:cBhvr>
                                    </p:animEffect>
                                  </p:childTnLst>
                                </p:cTn>
                              </p:par>
                              <p:par>
                                <p:cTn id="103" presetID="10" presetClass="entr" presetSubtype="0" fill="hold" nodeType="withEffect">
                                  <p:stCondLst>
                                    <p:cond delay="0"/>
                                  </p:stCondLst>
                                  <p:childTnLst>
                                    <p:set>
                                      <p:cBhvr>
                                        <p:cTn id="104" dur="1" fill="hold">
                                          <p:stCondLst>
                                            <p:cond delay="0"/>
                                          </p:stCondLst>
                                        </p:cTn>
                                        <p:tgtEl>
                                          <p:spTgt spid="36"/>
                                        </p:tgtEl>
                                        <p:attrNameLst>
                                          <p:attrName>style.visibility</p:attrName>
                                        </p:attrNameLst>
                                      </p:cBhvr>
                                      <p:to>
                                        <p:strVal val="visible"/>
                                      </p:to>
                                    </p:set>
                                    <p:animEffect transition="in" filter="fade">
                                      <p:cBhvr>
                                        <p:cTn id="105" dur="500"/>
                                        <p:tgtEl>
                                          <p:spTgt spid="36"/>
                                        </p:tgtEl>
                                      </p:cBhvr>
                                    </p:animEffect>
                                  </p:childTnLst>
                                </p:cTn>
                              </p:par>
                            </p:childTnLst>
                          </p:cTn>
                        </p:par>
                      </p:childTnLst>
                    </p:cTn>
                  </p:par>
                  <p:par>
                    <p:cTn id="106" fill="hold">
                      <p:stCondLst>
                        <p:cond delay="indefinite"/>
                      </p:stCondLst>
                      <p:childTnLst>
                        <p:par>
                          <p:cTn id="107" fill="hold">
                            <p:stCondLst>
                              <p:cond delay="0"/>
                            </p:stCondLst>
                            <p:childTnLst>
                              <p:par>
                                <p:cTn id="108" presetID="10" presetClass="entr" presetSubtype="0" fill="hold" grpId="0" nodeType="clickEffect">
                                  <p:stCondLst>
                                    <p:cond delay="0"/>
                                  </p:stCondLst>
                                  <p:childTnLst>
                                    <p:set>
                                      <p:cBhvr>
                                        <p:cTn id="109" dur="1" fill="hold">
                                          <p:stCondLst>
                                            <p:cond delay="0"/>
                                          </p:stCondLst>
                                        </p:cTn>
                                        <p:tgtEl>
                                          <p:spTgt spid="31"/>
                                        </p:tgtEl>
                                        <p:attrNameLst>
                                          <p:attrName>style.visibility</p:attrName>
                                        </p:attrNameLst>
                                      </p:cBhvr>
                                      <p:to>
                                        <p:strVal val="visible"/>
                                      </p:to>
                                    </p:set>
                                    <p:animEffect transition="in" filter="fade">
                                      <p:cBhvr>
                                        <p:cTn id="110" dur="500"/>
                                        <p:tgtEl>
                                          <p:spTgt spid="31"/>
                                        </p:tgtEl>
                                      </p:cBhvr>
                                    </p:animEffect>
                                  </p:childTnLst>
                                </p:cTn>
                              </p:par>
                              <p:par>
                                <p:cTn id="111" presetID="10" presetClass="entr" presetSubtype="0" fill="hold" nodeType="withEffect">
                                  <p:stCondLst>
                                    <p:cond delay="0"/>
                                  </p:stCondLst>
                                  <p:childTnLst>
                                    <p:set>
                                      <p:cBhvr>
                                        <p:cTn id="112" dur="1" fill="hold">
                                          <p:stCondLst>
                                            <p:cond delay="0"/>
                                          </p:stCondLst>
                                        </p:cTn>
                                        <p:tgtEl>
                                          <p:spTgt spid="47"/>
                                        </p:tgtEl>
                                        <p:attrNameLst>
                                          <p:attrName>style.visibility</p:attrName>
                                        </p:attrNameLst>
                                      </p:cBhvr>
                                      <p:to>
                                        <p:strVal val="visible"/>
                                      </p:to>
                                    </p:set>
                                    <p:animEffect transition="in" filter="fade">
                                      <p:cBhvr>
                                        <p:cTn id="113" dur="500"/>
                                        <p:tgtEl>
                                          <p:spTgt spid="47"/>
                                        </p:tgtEl>
                                      </p:cBhvr>
                                    </p:animEffect>
                                  </p:childTnLst>
                                </p:cTn>
                              </p:par>
                              <p:par>
                                <p:cTn id="114" presetID="10" presetClass="entr" presetSubtype="0" fill="hold" nodeType="withEffect">
                                  <p:stCondLst>
                                    <p:cond delay="0"/>
                                  </p:stCondLst>
                                  <p:childTnLst>
                                    <p:set>
                                      <p:cBhvr>
                                        <p:cTn id="115" dur="1" fill="hold">
                                          <p:stCondLst>
                                            <p:cond delay="0"/>
                                          </p:stCondLst>
                                        </p:cTn>
                                        <p:tgtEl>
                                          <p:spTgt spid="46"/>
                                        </p:tgtEl>
                                        <p:attrNameLst>
                                          <p:attrName>style.visibility</p:attrName>
                                        </p:attrNameLst>
                                      </p:cBhvr>
                                      <p:to>
                                        <p:strVal val="visible"/>
                                      </p:to>
                                    </p:set>
                                    <p:animEffect transition="in" filter="fade">
                                      <p:cBhvr>
                                        <p:cTn id="116" dur="500"/>
                                        <p:tgtEl>
                                          <p:spTgt spid="46"/>
                                        </p:tgtEl>
                                      </p:cBhvr>
                                    </p:animEffect>
                                  </p:childTnLst>
                                </p:cTn>
                              </p:par>
                              <p:par>
                                <p:cTn id="117" presetID="10" presetClass="entr" presetSubtype="0" fill="hold" grpId="0" nodeType="withEffect">
                                  <p:stCondLst>
                                    <p:cond delay="0"/>
                                  </p:stCondLst>
                                  <p:childTnLst>
                                    <p:set>
                                      <p:cBhvr>
                                        <p:cTn id="118" dur="1" fill="hold">
                                          <p:stCondLst>
                                            <p:cond delay="0"/>
                                          </p:stCondLst>
                                        </p:cTn>
                                        <p:tgtEl>
                                          <p:spTgt spid="49"/>
                                        </p:tgtEl>
                                        <p:attrNameLst>
                                          <p:attrName>style.visibility</p:attrName>
                                        </p:attrNameLst>
                                      </p:cBhvr>
                                      <p:to>
                                        <p:strVal val="visible"/>
                                      </p:to>
                                    </p:set>
                                    <p:animEffect transition="in" filter="fade">
                                      <p:cBhvr>
                                        <p:cTn id="119" dur="500"/>
                                        <p:tgtEl>
                                          <p:spTgt spid="49"/>
                                        </p:tgtEl>
                                      </p:cBhvr>
                                    </p:animEffect>
                                  </p:childTnLst>
                                </p:cTn>
                              </p:par>
                              <p:par>
                                <p:cTn id="120" presetID="10" presetClass="entr" presetSubtype="0" fill="hold" nodeType="withEffect">
                                  <p:stCondLst>
                                    <p:cond delay="0"/>
                                  </p:stCondLst>
                                  <p:childTnLst>
                                    <p:set>
                                      <p:cBhvr>
                                        <p:cTn id="121" dur="1" fill="hold">
                                          <p:stCondLst>
                                            <p:cond delay="0"/>
                                          </p:stCondLst>
                                        </p:cTn>
                                        <p:tgtEl>
                                          <p:spTgt spid="43"/>
                                        </p:tgtEl>
                                        <p:attrNameLst>
                                          <p:attrName>style.visibility</p:attrName>
                                        </p:attrNameLst>
                                      </p:cBhvr>
                                      <p:to>
                                        <p:strVal val="visible"/>
                                      </p:to>
                                    </p:set>
                                    <p:animEffect transition="in" filter="fade">
                                      <p:cBhvr>
                                        <p:cTn id="122" dur="500"/>
                                        <p:tgtEl>
                                          <p:spTgt spid="43"/>
                                        </p:tgtEl>
                                      </p:cBhvr>
                                    </p:animEffect>
                                  </p:childTnLst>
                                </p:cTn>
                              </p:par>
                              <p:par>
                                <p:cTn id="123" presetID="10" presetClass="entr" presetSubtype="0" fill="hold" nodeType="withEffect">
                                  <p:stCondLst>
                                    <p:cond delay="0"/>
                                  </p:stCondLst>
                                  <p:childTnLst>
                                    <p:set>
                                      <p:cBhvr>
                                        <p:cTn id="124" dur="1" fill="hold">
                                          <p:stCondLst>
                                            <p:cond delay="0"/>
                                          </p:stCondLst>
                                        </p:cTn>
                                        <p:tgtEl>
                                          <p:spTgt spid="42"/>
                                        </p:tgtEl>
                                        <p:attrNameLst>
                                          <p:attrName>style.visibility</p:attrName>
                                        </p:attrNameLst>
                                      </p:cBhvr>
                                      <p:to>
                                        <p:strVal val="visible"/>
                                      </p:to>
                                    </p:set>
                                    <p:animEffect transition="in" filter="fade">
                                      <p:cBhvr>
                                        <p:cTn id="125" dur="5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P spid="14" grpId="0"/>
      <p:bldP spid="15" grpId="0"/>
      <p:bldP spid="16" grpId="0"/>
      <p:bldP spid="17" grpId="0"/>
      <p:bldP spid="18" grpId="0"/>
      <p:bldP spid="20" grpId="0"/>
      <p:bldP spid="28" grpId="0"/>
      <p:bldP spid="29" grpId="0"/>
      <p:bldP spid="30" grpId="0"/>
      <p:bldP spid="31" grpId="0"/>
      <p:bldP spid="48" grpId="0"/>
      <p:bldP spid="49" grpId="0"/>
      <p:bldP spid="60"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581191" y="1943856"/>
            <a:ext cx="11029615" cy="539396"/>
          </a:xfrm>
        </p:spPr>
        <p:txBody>
          <a:bodyPr>
            <a:normAutofit/>
          </a:bodyPr>
          <a:lstStyle/>
          <a:p>
            <a:pPr marL="0" indent="0">
              <a:buNone/>
            </a:pPr>
            <a:r>
              <a:rPr lang="es-ES" sz="2400"/>
              <a:t>El problema anterior lo podemos fraccionar en dos partes:</a:t>
            </a:r>
          </a:p>
        </p:txBody>
      </p:sp>
      <p:sp>
        <p:nvSpPr>
          <p:cNvPr id="220" name="CuadroTexto 219"/>
          <p:cNvSpPr txBox="1"/>
          <p:nvPr/>
        </p:nvSpPr>
        <p:spPr>
          <a:xfrm>
            <a:off x="9609374" y="5908912"/>
            <a:ext cx="699796" cy="584776"/>
          </a:xfrm>
          <a:prstGeom prst="rect">
            <a:avLst/>
          </a:prstGeom>
          <a:noFill/>
        </p:spPr>
        <p:txBody>
          <a:bodyPr wrap="square" rtlCol="0">
            <a:spAutoFit/>
          </a:bodyPr>
          <a:lstStyle/>
          <a:p>
            <a:r>
              <a:rPr lang="es-ES" sz="3200">
                <a:solidFill>
                  <a:schemeClr val="accent5">
                    <a:lumMod val="75000"/>
                  </a:schemeClr>
                </a:solidFill>
                <a:latin typeface="Zapf Dingbats"/>
                <a:ea typeface="Zapf Dingbats"/>
                <a:cs typeface="Zapf Dingbats"/>
                <a:sym typeface="Zapf Dingbats"/>
              </a:rPr>
              <a:t>✓</a:t>
            </a:r>
            <a:endParaRPr lang="es-ES" sz="3200">
              <a:solidFill>
                <a:schemeClr val="accent5">
                  <a:lumMod val="75000"/>
                </a:schemeClr>
              </a:solidFill>
            </a:endParaRPr>
          </a:p>
        </p:txBody>
      </p:sp>
      <p:sp>
        <p:nvSpPr>
          <p:cNvPr id="221" name="CuadroTexto 220"/>
          <p:cNvSpPr txBox="1"/>
          <p:nvPr/>
        </p:nvSpPr>
        <p:spPr>
          <a:xfrm>
            <a:off x="9645909" y="3970690"/>
            <a:ext cx="699796" cy="584775"/>
          </a:xfrm>
          <a:prstGeom prst="rect">
            <a:avLst/>
          </a:prstGeom>
          <a:noFill/>
        </p:spPr>
        <p:txBody>
          <a:bodyPr wrap="square" rtlCol="0">
            <a:spAutoFit/>
          </a:bodyPr>
          <a:lstStyle/>
          <a:p>
            <a:r>
              <a:rPr lang="es-ES" sz="3200">
                <a:solidFill>
                  <a:schemeClr val="accent5">
                    <a:lumMod val="75000"/>
                  </a:schemeClr>
                </a:solidFill>
                <a:latin typeface="Zapf Dingbats"/>
                <a:ea typeface="Zapf Dingbats"/>
                <a:cs typeface="Zapf Dingbats"/>
                <a:sym typeface="Zapf Dingbats"/>
              </a:rPr>
              <a:t>✓</a:t>
            </a:r>
            <a:endParaRPr lang="es-ES" sz="3200">
              <a:solidFill>
                <a:schemeClr val="accent5">
                  <a:lumMod val="75000"/>
                </a:schemeClr>
              </a:solidFill>
            </a:endParaRPr>
          </a:p>
        </p:txBody>
      </p:sp>
      <p:cxnSp>
        <p:nvCxnSpPr>
          <p:cNvPr id="87" name="Straight Arrow Connector 9">
            <a:extLst>
              <a:ext uri="{FF2B5EF4-FFF2-40B4-BE49-F238E27FC236}">
                <a16:creationId xmlns:a16="http://schemas.microsoft.com/office/drawing/2014/main" id="{3957767A-1A5C-4397-89DD-5F5C2FA96DED}"/>
              </a:ext>
            </a:extLst>
          </p:cNvPr>
          <p:cNvCxnSpPr/>
          <p:nvPr/>
        </p:nvCxnSpPr>
        <p:spPr>
          <a:xfrm flipV="1">
            <a:off x="4605867" y="4432325"/>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88" name="Rectangle 35">
            <a:extLst>
              <a:ext uri="{FF2B5EF4-FFF2-40B4-BE49-F238E27FC236}">
                <a16:creationId xmlns:a16="http://schemas.microsoft.com/office/drawing/2014/main" id="{A5A6B1F0-30F5-4966-B57E-A39C7C5EE9F0}"/>
              </a:ext>
            </a:extLst>
          </p:cNvPr>
          <p:cNvSpPr>
            <a:spLocks/>
          </p:cNvSpPr>
          <p:nvPr/>
        </p:nvSpPr>
        <p:spPr bwMode="auto">
          <a:xfrm>
            <a:off x="4510490" y="4132339"/>
            <a:ext cx="189155"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G</a:t>
            </a:r>
          </a:p>
        </p:txBody>
      </p:sp>
      <p:cxnSp>
        <p:nvCxnSpPr>
          <p:cNvPr id="89" name="Straight Arrow Connector 9">
            <a:extLst>
              <a:ext uri="{FF2B5EF4-FFF2-40B4-BE49-F238E27FC236}">
                <a16:creationId xmlns:a16="http://schemas.microsoft.com/office/drawing/2014/main" id="{52AF0EEF-FECD-4040-B794-FA2CD5D20A5A}"/>
              </a:ext>
            </a:extLst>
          </p:cNvPr>
          <p:cNvCxnSpPr/>
          <p:nvPr/>
        </p:nvCxnSpPr>
        <p:spPr>
          <a:xfrm flipV="1">
            <a:off x="5729175" y="4416335"/>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90" name="Rectangle 35">
            <a:extLst>
              <a:ext uri="{FF2B5EF4-FFF2-40B4-BE49-F238E27FC236}">
                <a16:creationId xmlns:a16="http://schemas.microsoft.com/office/drawing/2014/main" id="{8E4B1B92-4104-4013-A2E0-A58F6305FCBE}"/>
              </a:ext>
            </a:extLst>
          </p:cNvPr>
          <p:cNvSpPr>
            <a:spLocks/>
          </p:cNvSpPr>
          <p:nvPr/>
        </p:nvSpPr>
        <p:spPr bwMode="auto">
          <a:xfrm>
            <a:off x="5584355" y="3836398"/>
            <a:ext cx="31739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2G</a:t>
            </a:r>
          </a:p>
        </p:txBody>
      </p:sp>
      <p:sp>
        <p:nvSpPr>
          <p:cNvPr id="91" name="Rectangle 35">
            <a:extLst>
              <a:ext uri="{FF2B5EF4-FFF2-40B4-BE49-F238E27FC236}">
                <a16:creationId xmlns:a16="http://schemas.microsoft.com/office/drawing/2014/main" id="{9DA6DB06-151B-4A29-A78A-3DCE61BE1315}"/>
              </a:ext>
            </a:extLst>
          </p:cNvPr>
          <p:cNvSpPr>
            <a:spLocks/>
          </p:cNvSpPr>
          <p:nvPr/>
        </p:nvSpPr>
        <p:spPr bwMode="auto">
          <a:xfrm>
            <a:off x="6595939" y="3537029"/>
            <a:ext cx="31739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3G</a:t>
            </a:r>
          </a:p>
        </p:txBody>
      </p:sp>
      <p:sp>
        <p:nvSpPr>
          <p:cNvPr id="92" name="Rectangle 35">
            <a:extLst>
              <a:ext uri="{FF2B5EF4-FFF2-40B4-BE49-F238E27FC236}">
                <a16:creationId xmlns:a16="http://schemas.microsoft.com/office/drawing/2014/main" id="{22BA456E-4202-4C88-9C50-AB06614CBC7E}"/>
              </a:ext>
            </a:extLst>
          </p:cNvPr>
          <p:cNvSpPr>
            <a:spLocks/>
          </p:cNvSpPr>
          <p:nvPr/>
        </p:nvSpPr>
        <p:spPr bwMode="auto">
          <a:xfrm>
            <a:off x="7602784" y="3244772"/>
            <a:ext cx="31739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4G</a:t>
            </a:r>
          </a:p>
        </p:txBody>
      </p:sp>
      <p:sp>
        <p:nvSpPr>
          <p:cNvPr id="93" name="Rectangle 35">
            <a:extLst>
              <a:ext uri="{FF2B5EF4-FFF2-40B4-BE49-F238E27FC236}">
                <a16:creationId xmlns:a16="http://schemas.microsoft.com/office/drawing/2014/main" id="{AE1341B6-4821-42B2-BD92-23AC39A2D946}"/>
              </a:ext>
            </a:extLst>
          </p:cNvPr>
          <p:cNvSpPr>
            <a:spLocks/>
          </p:cNvSpPr>
          <p:nvPr/>
        </p:nvSpPr>
        <p:spPr bwMode="auto">
          <a:xfrm>
            <a:off x="8503732" y="2649690"/>
            <a:ext cx="695703"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(n-1)G</a:t>
            </a:r>
          </a:p>
        </p:txBody>
      </p:sp>
      <p:cxnSp>
        <p:nvCxnSpPr>
          <p:cNvPr id="94" name="Straight Arrow Connector 9">
            <a:extLst>
              <a:ext uri="{FF2B5EF4-FFF2-40B4-BE49-F238E27FC236}">
                <a16:creationId xmlns:a16="http://schemas.microsoft.com/office/drawing/2014/main" id="{DD189E09-415C-4631-A003-C3516F524536}"/>
              </a:ext>
            </a:extLst>
          </p:cNvPr>
          <p:cNvCxnSpPr/>
          <p:nvPr/>
        </p:nvCxnSpPr>
        <p:spPr>
          <a:xfrm flipV="1">
            <a:off x="5729175" y="4126627"/>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95" name="Straight Arrow Connector 9">
            <a:extLst>
              <a:ext uri="{FF2B5EF4-FFF2-40B4-BE49-F238E27FC236}">
                <a16:creationId xmlns:a16="http://schemas.microsoft.com/office/drawing/2014/main" id="{10A7B21F-893D-4517-9708-023E5BE6F70A}"/>
              </a:ext>
            </a:extLst>
          </p:cNvPr>
          <p:cNvCxnSpPr/>
          <p:nvPr/>
        </p:nvCxnSpPr>
        <p:spPr>
          <a:xfrm flipV="1">
            <a:off x="6754637" y="4407495"/>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96" name="Straight Arrow Connector 9">
            <a:extLst>
              <a:ext uri="{FF2B5EF4-FFF2-40B4-BE49-F238E27FC236}">
                <a16:creationId xmlns:a16="http://schemas.microsoft.com/office/drawing/2014/main" id="{5416CE3E-3914-45EE-B659-A6E84A0B7ECC}"/>
              </a:ext>
            </a:extLst>
          </p:cNvPr>
          <p:cNvCxnSpPr/>
          <p:nvPr/>
        </p:nvCxnSpPr>
        <p:spPr>
          <a:xfrm flipV="1">
            <a:off x="6754637" y="4117787"/>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97" name="Straight Arrow Connector 9">
            <a:extLst>
              <a:ext uri="{FF2B5EF4-FFF2-40B4-BE49-F238E27FC236}">
                <a16:creationId xmlns:a16="http://schemas.microsoft.com/office/drawing/2014/main" id="{BC62DF7B-5104-46FB-B71E-AEF2DADCA679}"/>
              </a:ext>
            </a:extLst>
          </p:cNvPr>
          <p:cNvCxnSpPr/>
          <p:nvPr/>
        </p:nvCxnSpPr>
        <p:spPr>
          <a:xfrm flipV="1">
            <a:off x="7759981" y="4407495"/>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98" name="Straight Arrow Connector 9">
            <a:extLst>
              <a:ext uri="{FF2B5EF4-FFF2-40B4-BE49-F238E27FC236}">
                <a16:creationId xmlns:a16="http://schemas.microsoft.com/office/drawing/2014/main" id="{8EEAF08E-933C-4641-8490-9656E804EB78}"/>
              </a:ext>
            </a:extLst>
          </p:cNvPr>
          <p:cNvCxnSpPr/>
          <p:nvPr/>
        </p:nvCxnSpPr>
        <p:spPr>
          <a:xfrm flipV="1">
            <a:off x="7759981" y="4117787"/>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99" name="Straight Arrow Connector 9">
            <a:extLst>
              <a:ext uri="{FF2B5EF4-FFF2-40B4-BE49-F238E27FC236}">
                <a16:creationId xmlns:a16="http://schemas.microsoft.com/office/drawing/2014/main" id="{6526017E-285D-43F8-9EEC-D7E2496ACBAC}"/>
              </a:ext>
            </a:extLst>
          </p:cNvPr>
          <p:cNvCxnSpPr/>
          <p:nvPr/>
        </p:nvCxnSpPr>
        <p:spPr>
          <a:xfrm flipV="1">
            <a:off x="7759981" y="3827486"/>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100" name="Straight Arrow Connector 9">
            <a:extLst>
              <a:ext uri="{FF2B5EF4-FFF2-40B4-BE49-F238E27FC236}">
                <a16:creationId xmlns:a16="http://schemas.microsoft.com/office/drawing/2014/main" id="{A79FB0CD-A435-43DB-BD95-6F00791BC4C5}"/>
              </a:ext>
            </a:extLst>
          </p:cNvPr>
          <p:cNvCxnSpPr/>
          <p:nvPr/>
        </p:nvCxnSpPr>
        <p:spPr>
          <a:xfrm flipV="1">
            <a:off x="7759981" y="3537778"/>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101" name="Straight Arrow Connector 9">
            <a:extLst>
              <a:ext uri="{FF2B5EF4-FFF2-40B4-BE49-F238E27FC236}">
                <a16:creationId xmlns:a16="http://schemas.microsoft.com/office/drawing/2014/main" id="{369A080D-B772-40D5-8D33-DEBC1258B56F}"/>
              </a:ext>
            </a:extLst>
          </p:cNvPr>
          <p:cNvCxnSpPr/>
          <p:nvPr/>
        </p:nvCxnSpPr>
        <p:spPr>
          <a:xfrm flipV="1">
            <a:off x="6754637" y="3827486"/>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102" name="Straight Arrow Connector 9">
            <a:extLst>
              <a:ext uri="{FF2B5EF4-FFF2-40B4-BE49-F238E27FC236}">
                <a16:creationId xmlns:a16="http://schemas.microsoft.com/office/drawing/2014/main" id="{33809589-906E-48B2-8255-FF2E546FA64F}"/>
              </a:ext>
            </a:extLst>
          </p:cNvPr>
          <p:cNvCxnSpPr/>
          <p:nvPr/>
        </p:nvCxnSpPr>
        <p:spPr>
          <a:xfrm flipV="1">
            <a:off x="8851583" y="4407495"/>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103" name="Straight Arrow Connector 9">
            <a:extLst>
              <a:ext uri="{FF2B5EF4-FFF2-40B4-BE49-F238E27FC236}">
                <a16:creationId xmlns:a16="http://schemas.microsoft.com/office/drawing/2014/main" id="{EEBD514B-FB27-4839-B088-19B0ECB96FD9}"/>
              </a:ext>
            </a:extLst>
          </p:cNvPr>
          <p:cNvCxnSpPr/>
          <p:nvPr/>
        </p:nvCxnSpPr>
        <p:spPr>
          <a:xfrm flipV="1">
            <a:off x="8851583" y="4117787"/>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104" name="Straight Arrow Connector 9">
            <a:extLst>
              <a:ext uri="{FF2B5EF4-FFF2-40B4-BE49-F238E27FC236}">
                <a16:creationId xmlns:a16="http://schemas.microsoft.com/office/drawing/2014/main" id="{20D7AD98-AA33-4A77-A6EC-6C6C1DE93FBF}"/>
              </a:ext>
            </a:extLst>
          </p:cNvPr>
          <p:cNvCxnSpPr/>
          <p:nvPr/>
        </p:nvCxnSpPr>
        <p:spPr>
          <a:xfrm flipV="1">
            <a:off x="8851583" y="3365451"/>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105" name="Straight Arrow Connector 9">
            <a:extLst>
              <a:ext uri="{FF2B5EF4-FFF2-40B4-BE49-F238E27FC236}">
                <a16:creationId xmlns:a16="http://schemas.microsoft.com/office/drawing/2014/main" id="{3DDE08F4-01A0-494E-82B1-38201D35848C}"/>
              </a:ext>
            </a:extLst>
          </p:cNvPr>
          <p:cNvCxnSpPr/>
          <p:nvPr/>
        </p:nvCxnSpPr>
        <p:spPr>
          <a:xfrm flipV="1">
            <a:off x="8851583" y="3072219"/>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106" name="Rectangle 35">
            <a:extLst>
              <a:ext uri="{FF2B5EF4-FFF2-40B4-BE49-F238E27FC236}">
                <a16:creationId xmlns:a16="http://schemas.microsoft.com/office/drawing/2014/main" id="{8565CBF0-0F63-4879-BCD4-79B4D3565060}"/>
              </a:ext>
            </a:extLst>
          </p:cNvPr>
          <p:cNvSpPr>
            <a:spLocks/>
          </p:cNvSpPr>
          <p:nvPr/>
        </p:nvSpPr>
        <p:spPr bwMode="auto">
          <a:xfrm>
            <a:off x="8047046" y="3638224"/>
            <a:ext cx="1576141" cy="4843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lnSpc>
                <a:spcPct val="50000"/>
              </a:lnSpc>
            </a:pPr>
            <a:r>
              <a:rPr lang="en-US" sz="2000"/>
              <a:t>.</a:t>
            </a:r>
          </a:p>
          <a:p>
            <a:pPr algn="ctr">
              <a:lnSpc>
                <a:spcPct val="50000"/>
              </a:lnSpc>
            </a:pPr>
            <a:r>
              <a:rPr lang="en-US" sz="2000"/>
              <a:t>.</a:t>
            </a:r>
          </a:p>
          <a:p>
            <a:pPr algn="ctr">
              <a:lnSpc>
                <a:spcPct val="50000"/>
              </a:lnSpc>
            </a:pPr>
            <a:r>
              <a:rPr lang="en-US" sz="2000"/>
              <a:t>.</a:t>
            </a:r>
          </a:p>
        </p:txBody>
      </p:sp>
      <p:cxnSp>
        <p:nvCxnSpPr>
          <p:cNvPr id="109" name="Straight Connector 6">
            <a:extLst>
              <a:ext uri="{FF2B5EF4-FFF2-40B4-BE49-F238E27FC236}">
                <a16:creationId xmlns:a16="http://schemas.microsoft.com/office/drawing/2014/main" id="{BBA65FE2-C1AE-4135-B1F6-69B21D882508}"/>
              </a:ext>
            </a:extLst>
          </p:cNvPr>
          <p:cNvCxnSpPr/>
          <p:nvPr/>
        </p:nvCxnSpPr>
        <p:spPr>
          <a:xfrm flipV="1">
            <a:off x="2778886" y="5612766"/>
            <a:ext cx="6372951" cy="12001"/>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110" name="Rectangle 35">
            <a:extLst>
              <a:ext uri="{FF2B5EF4-FFF2-40B4-BE49-F238E27FC236}">
                <a16:creationId xmlns:a16="http://schemas.microsoft.com/office/drawing/2014/main" id="{9A2A3D7E-3BAA-42D9-AED7-075C19DA6E01}"/>
              </a:ext>
            </a:extLst>
          </p:cNvPr>
          <p:cNvSpPr>
            <a:spLocks/>
          </p:cNvSpPr>
          <p:nvPr/>
        </p:nvSpPr>
        <p:spPr bwMode="auto">
          <a:xfrm>
            <a:off x="2714764" y="5606817"/>
            <a:ext cx="12824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0</a:t>
            </a:r>
          </a:p>
        </p:txBody>
      </p:sp>
      <p:sp>
        <p:nvSpPr>
          <p:cNvPr id="111" name="Rectangle 36">
            <a:extLst>
              <a:ext uri="{FF2B5EF4-FFF2-40B4-BE49-F238E27FC236}">
                <a16:creationId xmlns:a16="http://schemas.microsoft.com/office/drawing/2014/main" id="{B116AECB-B3A9-44A0-8843-F4480638629D}"/>
              </a:ext>
            </a:extLst>
          </p:cNvPr>
          <p:cNvSpPr>
            <a:spLocks/>
          </p:cNvSpPr>
          <p:nvPr/>
        </p:nvSpPr>
        <p:spPr bwMode="auto">
          <a:xfrm>
            <a:off x="3528049" y="5581988"/>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a:t>
            </a:r>
          </a:p>
        </p:txBody>
      </p:sp>
      <p:sp>
        <p:nvSpPr>
          <p:cNvPr id="112" name="Rectangle 37">
            <a:extLst>
              <a:ext uri="{FF2B5EF4-FFF2-40B4-BE49-F238E27FC236}">
                <a16:creationId xmlns:a16="http://schemas.microsoft.com/office/drawing/2014/main" id="{4D5AF4F1-9B16-493E-9004-1D00DF4EFE88}"/>
              </a:ext>
            </a:extLst>
          </p:cNvPr>
          <p:cNvSpPr>
            <a:spLocks/>
          </p:cNvSpPr>
          <p:nvPr/>
        </p:nvSpPr>
        <p:spPr bwMode="auto">
          <a:xfrm>
            <a:off x="4616537" y="5581988"/>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2</a:t>
            </a:r>
          </a:p>
        </p:txBody>
      </p:sp>
      <p:sp>
        <p:nvSpPr>
          <p:cNvPr id="113" name="Rectangle 38">
            <a:extLst>
              <a:ext uri="{FF2B5EF4-FFF2-40B4-BE49-F238E27FC236}">
                <a16:creationId xmlns:a16="http://schemas.microsoft.com/office/drawing/2014/main" id="{0162B7F8-C3DB-43B9-BA77-DB8D6EF9BCA7}"/>
              </a:ext>
            </a:extLst>
          </p:cNvPr>
          <p:cNvSpPr>
            <a:spLocks/>
          </p:cNvSpPr>
          <p:nvPr/>
        </p:nvSpPr>
        <p:spPr bwMode="auto">
          <a:xfrm>
            <a:off x="5676011" y="5595945"/>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3</a:t>
            </a:r>
          </a:p>
        </p:txBody>
      </p:sp>
      <p:sp>
        <p:nvSpPr>
          <p:cNvPr id="114" name="Rectangle 39">
            <a:extLst>
              <a:ext uri="{FF2B5EF4-FFF2-40B4-BE49-F238E27FC236}">
                <a16:creationId xmlns:a16="http://schemas.microsoft.com/office/drawing/2014/main" id="{8397DDBE-C40D-4C09-BDDD-5FBEDCF9397D}"/>
              </a:ext>
            </a:extLst>
          </p:cNvPr>
          <p:cNvSpPr>
            <a:spLocks/>
          </p:cNvSpPr>
          <p:nvPr/>
        </p:nvSpPr>
        <p:spPr bwMode="auto">
          <a:xfrm>
            <a:off x="6681873" y="5612402"/>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4</a:t>
            </a:r>
          </a:p>
        </p:txBody>
      </p:sp>
      <p:sp>
        <p:nvSpPr>
          <p:cNvPr id="115" name="Rectangle 40">
            <a:extLst>
              <a:ext uri="{FF2B5EF4-FFF2-40B4-BE49-F238E27FC236}">
                <a16:creationId xmlns:a16="http://schemas.microsoft.com/office/drawing/2014/main" id="{62020571-8911-40E1-9C5F-17CD54E95650}"/>
              </a:ext>
            </a:extLst>
          </p:cNvPr>
          <p:cNvSpPr>
            <a:spLocks/>
          </p:cNvSpPr>
          <p:nvPr/>
        </p:nvSpPr>
        <p:spPr bwMode="auto">
          <a:xfrm>
            <a:off x="7755302" y="5581988"/>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5</a:t>
            </a:r>
          </a:p>
        </p:txBody>
      </p:sp>
      <p:sp>
        <p:nvSpPr>
          <p:cNvPr id="116" name="Rectangle 41">
            <a:extLst>
              <a:ext uri="{FF2B5EF4-FFF2-40B4-BE49-F238E27FC236}">
                <a16:creationId xmlns:a16="http://schemas.microsoft.com/office/drawing/2014/main" id="{930E4E85-799A-44A8-9CD8-9F77535DDB01}"/>
              </a:ext>
            </a:extLst>
          </p:cNvPr>
          <p:cNvSpPr>
            <a:spLocks/>
          </p:cNvSpPr>
          <p:nvPr/>
        </p:nvSpPr>
        <p:spPr bwMode="auto">
          <a:xfrm>
            <a:off x="8814776" y="5581988"/>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n</a:t>
            </a:r>
          </a:p>
        </p:txBody>
      </p:sp>
      <p:sp>
        <p:nvSpPr>
          <p:cNvPr id="117" name="CuadroTexto 47">
            <a:extLst>
              <a:ext uri="{FF2B5EF4-FFF2-40B4-BE49-F238E27FC236}">
                <a16:creationId xmlns:a16="http://schemas.microsoft.com/office/drawing/2014/main" id="{3548755A-E784-4B1E-8750-1413CE414CFF}"/>
              </a:ext>
            </a:extLst>
          </p:cNvPr>
          <p:cNvSpPr txBox="1"/>
          <p:nvPr/>
        </p:nvSpPr>
        <p:spPr>
          <a:xfrm>
            <a:off x="8267074" y="5508977"/>
            <a:ext cx="1295747" cy="400110"/>
          </a:xfrm>
          <a:prstGeom prst="rect">
            <a:avLst/>
          </a:prstGeom>
          <a:noFill/>
        </p:spPr>
        <p:txBody>
          <a:bodyPr wrap="square" rtlCol="0">
            <a:spAutoFit/>
          </a:bodyPr>
          <a:lstStyle/>
          <a:p>
            <a:r>
              <a:rPr lang="es-ES" sz="2000"/>
              <a:t>…</a:t>
            </a:r>
          </a:p>
        </p:txBody>
      </p:sp>
      <p:cxnSp>
        <p:nvCxnSpPr>
          <p:cNvPr id="118" name="Straight Arrow Connector 9">
            <a:extLst>
              <a:ext uri="{FF2B5EF4-FFF2-40B4-BE49-F238E27FC236}">
                <a16:creationId xmlns:a16="http://schemas.microsoft.com/office/drawing/2014/main" id="{0CAD7FFF-5895-4CAF-BDCB-D7D75DF349A9}"/>
              </a:ext>
            </a:extLst>
          </p:cNvPr>
          <p:cNvCxnSpPr/>
          <p:nvPr/>
        </p:nvCxnSpPr>
        <p:spPr>
          <a:xfrm flipV="1">
            <a:off x="3695160" y="5315596"/>
            <a:ext cx="0" cy="295941"/>
          </a:xfrm>
          <a:prstGeom prst="straightConnector1">
            <a:avLst/>
          </a:prstGeom>
          <a:ln>
            <a:solidFill>
              <a:schemeClr val="accent3">
                <a:lumMod val="75000"/>
              </a:schemeClr>
            </a:solidFill>
            <a:tailEnd type="arrow"/>
          </a:ln>
        </p:spPr>
        <p:style>
          <a:lnRef idx="2">
            <a:schemeClr val="accent1"/>
          </a:lnRef>
          <a:fillRef idx="0">
            <a:schemeClr val="accent1"/>
          </a:fillRef>
          <a:effectRef idx="1">
            <a:schemeClr val="accent1"/>
          </a:effectRef>
          <a:fontRef idx="minor">
            <a:schemeClr val="tx1"/>
          </a:fontRef>
        </p:style>
      </p:cxnSp>
      <p:cxnSp>
        <p:nvCxnSpPr>
          <p:cNvPr id="119" name="Straight Arrow Connector 9">
            <a:extLst>
              <a:ext uri="{FF2B5EF4-FFF2-40B4-BE49-F238E27FC236}">
                <a16:creationId xmlns:a16="http://schemas.microsoft.com/office/drawing/2014/main" id="{CB031D58-E159-45B7-A6A0-FB2F1A65C43B}"/>
              </a:ext>
            </a:extLst>
          </p:cNvPr>
          <p:cNvCxnSpPr/>
          <p:nvPr/>
        </p:nvCxnSpPr>
        <p:spPr>
          <a:xfrm flipV="1">
            <a:off x="4765535" y="5317552"/>
            <a:ext cx="0" cy="295941"/>
          </a:xfrm>
          <a:prstGeom prst="straightConnector1">
            <a:avLst/>
          </a:prstGeom>
          <a:ln>
            <a:solidFill>
              <a:schemeClr val="accent3">
                <a:lumMod val="75000"/>
              </a:schemeClr>
            </a:solidFill>
            <a:tailEnd type="arrow"/>
          </a:ln>
        </p:spPr>
        <p:style>
          <a:lnRef idx="2">
            <a:schemeClr val="accent1"/>
          </a:lnRef>
          <a:fillRef idx="0">
            <a:schemeClr val="accent1"/>
          </a:fillRef>
          <a:effectRef idx="1">
            <a:schemeClr val="accent1"/>
          </a:effectRef>
          <a:fontRef idx="minor">
            <a:schemeClr val="tx1"/>
          </a:fontRef>
        </p:style>
      </p:cxnSp>
      <p:cxnSp>
        <p:nvCxnSpPr>
          <p:cNvPr id="120" name="Straight Arrow Connector 9">
            <a:extLst>
              <a:ext uri="{FF2B5EF4-FFF2-40B4-BE49-F238E27FC236}">
                <a16:creationId xmlns:a16="http://schemas.microsoft.com/office/drawing/2014/main" id="{E63359F1-6403-4609-9AD3-152D5C1929C9}"/>
              </a:ext>
            </a:extLst>
          </p:cNvPr>
          <p:cNvCxnSpPr/>
          <p:nvPr/>
        </p:nvCxnSpPr>
        <p:spPr>
          <a:xfrm flipV="1">
            <a:off x="5883063" y="5308476"/>
            <a:ext cx="0" cy="295941"/>
          </a:xfrm>
          <a:prstGeom prst="straightConnector1">
            <a:avLst/>
          </a:prstGeom>
          <a:ln>
            <a:solidFill>
              <a:schemeClr val="accent3">
                <a:lumMod val="75000"/>
              </a:schemeClr>
            </a:solidFill>
            <a:tailEnd type="arrow"/>
          </a:ln>
        </p:spPr>
        <p:style>
          <a:lnRef idx="2">
            <a:schemeClr val="accent1"/>
          </a:lnRef>
          <a:fillRef idx="0">
            <a:schemeClr val="accent1"/>
          </a:fillRef>
          <a:effectRef idx="1">
            <a:schemeClr val="accent1"/>
          </a:effectRef>
          <a:fontRef idx="minor">
            <a:schemeClr val="tx1"/>
          </a:fontRef>
        </p:style>
      </p:cxnSp>
      <p:cxnSp>
        <p:nvCxnSpPr>
          <p:cNvPr id="121" name="Straight Arrow Connector 9">
            <a:extLst>
              <a:ext uri="{FF2B5EF4-FFF2-40B4-BE49-F238E27FC236}">
                <a16:creationId xmlns:a16="http://schemas.microsoft.com/office/drawing/2014/main" id="{E0384783-B98C-467B-8119-E6DCE6398EC3}"/>
              </a:ext>
            </a:extLst>
          </p:cNvPr>
          <p:cNvCxnSpPr/>
          <p:nvPr/>
        </p:nvCxnSpPr>
        <p:spPr>
          <a:xfrm flipV="1">
            <a:off x="6913195" y="5307187"/>
            <a:ext cx="0" cy="295941"/>
          </a:xfrm>
          <a:prstGeom prst="straightConnector1">
            <a:avLst/>
          </a:prstGeom>
          <a:ln>
            <a:solidFill>
              <a:schemeClr val="accent3">
                <a:lumMod val="75000"/>
              </a:schemeClr>
            </a:solidFill>
            <a:tailEnd type="arrow"/>
          </a:ln>
        </p:spPr>
        <p:style>
          <a:lnRef idx="2">
            <a:schemeClr val="accent1"/>
          </a:lnRef>
          <a:fillRef idx="0">
            <a:schemeClr val="accent1"/>
          </a:fillRef>
          <a:effectRef idx="1">
            <a:schemeClr val="accent1"/>
          </a:effectRef>
          <a:fontRef idx="minor">
            <a:schemeClr val="tx1"/>
          </a:fontRef>
        </p:style>
      </p:cxnSp>
      <p:cxnSp>
        <p:nvCxnSpPr>
          <p:cNvPr id="122" name="Straight Arrow Connector 9">
            <a:extLst>
              <a:ext uri="{FF2B5EF4-FFF2-40B4-BE49-F238E27FC236}">
                <a16:creationId xmlns:a16="http://schemas.microsoft.com/office/drawing/2014/main" id="{D5A01153-512E-45FB-AFE5-320F9934AACD}"/>
              </a:ext>
            </a:extLst>
          </p:cNvPr>
          <p:cNvCxnSpPr/>
          <p:nvPr/>
        </p:nvCxnSpPr>
        <p:spPr>
          <a:xfrm flipV="1">
            <a:off x="7913869" y="5307187"/>
            <a:ext cx="0" cy="295941"/>
          </a:xfrm>
          <a:prstGeom prst="straightConnector1">
            <a:avLst/>
          </a:prstGeom>
          <a:ln>
            <a:solidFill>
              <a:schemeClr val="accent3">
                <a:lumMod val="75000"/>
              </a:schemeClr>
            </a:solidFill>
            <a:tailEnd type="arrow"/>
          </a:ln>
        </p:spPr>
        <p:style>
          <a:lnRef idx="2">
            <a:schemeClr val="accent1"/>
          </a:lnRef>
          <a:fillRef idx="0">
            <a:schemeClr val="accent1"/>
          </a:fillRef>
          <a:effectRef idx="1">
            <a:schemeClr val="accent1"/>
          </a:effectRef>
          <a:fontRef idx="minor">
            <a:schemeClr val="tx1"/>
          </a:fontRef>
        </p:style>
      </p:cxnSp>
      <p:cxnSp>
        <p:nvCxnSpPr>
          <p:cNvPr id="123" name="Straight Arrow Connector 9">
            <a:extLst>
              <a:ext uri="{FF2B5EF4-FFF2-40B4-BE49-F238E27FC236}">
                <a16:creationId xmlns:a16="http://schemas.microsoft.com/office/drawing/2014/main" id="{F56407F3-6334-4340-BCD5-FDC096934408}"/>
              </a:ext>
            </a:extLst>
          </p:cNvPr>
          <p:cNvCxnSpPr/>
          <p:nvPr/>
        </p:nvCxnSpPr>
        <p:spPr>
          <a:xfrm flipV="1">
            <a:off x="9005471" y="5308476"/>
            <a:ext cx="0" cy="295941"/>
          </a:xfrm>
          <a:prstGeom prst="straightConnector1">
            <a:avLst/>
          </a:prstGeom>
          <a:ln>
            <a:solidFill>
              <a:schemeClr val="accent3">
                <a:lumMod val="75000"/>
              </a:schemeClr>
            </a:solidFill>
            <a:tailEnd type="arrow"/>
          </a:ln>
        </p:spPr>
        <p:style>
          <a:lnRef idx="2">
            <a:schemeClr val="accent1"/>
          </a:lnRef>
          <a:fillRef idx="0">
            <a:schemeClr val="accent1"/>
          </a:fillRef>
          <a:effectRef idx="1">
            <a:schemeClr val="accent1"/>
          </a:effectRef>
          <a:fontRef idx="minor">
            <a:schemeClr val="tx1"/>
          </a:fontRef>
        </p:style>
      </p:cxnSp>
      <p:cxnSp>
        <p:nvCxnSpPr>
          <p:cNvPr id="124" name="Conector recto 58">
            <a:extLst>
              <a:ext uri="{FF2B5EF4-FFF2-40B4-BE49-F238E27FC236}">
                <a16:creationId xmlns:a16="http://schemas.microsoft.com/office/drawing/2014/main" id="{9E85200C-FB3C-4369-8BAF-79EDC4382B5C}"/>
              </a:ext>
            </a:extLst>
          </p:cNvPr>
          <p:cNvCxnSpPr/>
          <p:nvPr/>
        </p:nvCxnSpPr>
        <p:spPr>
          <a:xfrm>
            <a:off x="3734844" y="5295245"/>
            <a:ext cx="5271668" cy="0"/>
          </a:xfrm>
          <a:prstGeom prst="line">
            <a:avLst/>
          </a:prstGeom>
          <a:ln w="12700">
            <a:prstDash val="dash"/>
          </a:ln>
        </p:spPr>
        <p:style>
          <a:lnRef idx="2">
            <a:schemeClr val="accent1"/>
          </a:lnRef>
          <a:fillRef idx="0">
            <a:schemeClr val="accent1"/>
          </a:fillRef>
          <a:effectRef idx="1">
            <a:schemeClr val="accent1"/>
          </a:effectRef>
          <a:fontRef idx="minor">
            <a:schemeClr val="tx1"/>
          </a:fontRef>
        </p:style>
      </p:cxnSp>
      <p:sp>
        <p:nvSpPr>
          <p:cNvPr id="7" name="Title 1">
            <a:extLst>
              <a:ext uri="{FF2B5EF4-FFF2-40B4-BE49-F238E27FC236}">
                <a16:creationId xmlns:a16="http://schemas.microsoft.com/office/drawing/2014/main" id="{15EFAAE7-DB92-9AD3-6263-B982917B216B}"/>
              </a:ext>
            </a:extLst>
          </p:cNvPr>
          <p:cNvSpPr>
            <a:spLocks noGrp="1"/>
          </p:cNvSpPr>
          <p:nvPr>
            <p:ph type="title"/>
          </p:nvPr>
        </p:nvSpPr>
        <p:spPr>
          <a:xfrm>
            <a:off x="581192" y="702156"/>
            <a:ext cx="11029616" cy="1013800"/>
          </a:xfrm>
        </p:spPr>
        <p:txBody>
          <a:bodyPr>
            <a:normAutofit/>
          </a:bodyPr>
          <a:lstStyle/>
          <a:p>
            <a:r>
              <a:rPr lang="es-ES_tradnl" sz="3200">
                <a:latin typeface="Gill Sans MT (titulo)"/>
              </a:rPr>
              <a:t>Gradientes aritméticos</a:t>
            </a:r>
          </a:p>
        </p:txBody>
      </p:sp>
      <p:sp>
        <p:nvSpPr>
          <p:cNvPr id="8" name="Rectángulo 7">
            <a:extLst>
              <a:ext uri="{FF2B5EF4-FFF2-40B4-BE49-F238E27FC236}">
                <a16:creationId xmlns:a16="http://schemas.microsoft.com/office/drawing/2014/main" id="{6E42F332-AB4D-C4FF-35EB-8041439AFACE}"/>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9" name="Picture 2" descr="Clientes y aliados | Centro de Evaluación | Uniandes">
            <a:extLst>
              <a:ext uri="{FF2B5EF4-FFF2-40B4-BE49-F238E27FC236}">
                <a16:creationId xmlns:a16="http://schemas.microsoft.com/office/drawing/2014/main" id="{34C6E229-11CC-2E2F-D206-78358AF048E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0" name="Rectángulo 9">
            <a:extLst>
              <a:ext uri="{FF2B5EF4-FFF2-40B4-BE49-F238E27FC236}">
                <a16:creationId xmlns:a16="http://schemas.microsoft.com/office/drawing/2014/main" id="{9F1250E6-8D8B-AA88-3E8D-C4EF19402D33}"/>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2" name="Slide Number Placeholder 3">
            <a:extLst>
              <a:ext uri="{FF2B5EF4-FFF2-40B4-BE49-F238E27FC236}">
                <a16:creationId xmlns:a16="http://schemas.microsoft.com/office/drawing/2014/main" id="{859F1F41-A364-AFB5-553E-D62994AE8A59}"/>
              </a:ext>
            </a:extLst>
          </p:cNvPr>
          <p:cNvSpPr>
            <a:spLocks noGrp="1"/>
          </p:cNvSpPr>
          <p:nvPr>
            <p:ph type="sldNum" sz="quarter" idx="12"/>
          </p:nvPr>
        </p:nvSpPr>
        <p:spPr>
          <a:xfrm>
            <a:off x="10558300" y="5956137"/>
            <a:ext cx="1052508" cy="365125"/>
          </a:xfrm>
        </p:spPr>
        <p:txBody>
          <a:bodyPr/>
          <a:lstStyle/>
          <a:p>
            <a:fld id="{5E3E23BA-6E79-2442-BA73-D218A5E297C3}" type="slidenum">
              <a:rPr lang="en-US" sz="2000" b="1" smtClean="0">
                <a:latin typeface="Gill Sans MT (Títulos)"/>
              </a:rPr>
              <a:t>25</a:t>
            </a:fld>
            <a:endParaRPr lang="en-US" sz="2000" b="1" dirty="0">
              <a:latin typeface="Gill Sans MT (Títulos)"/>
            </a:endParaRPr>
          </a:p>
        </p:txBody>
      </p:sp>
    </p:spTree>
    <p:extLst>
      <p:ext uri="{BB962C8B-B14F-4D97-AF65-F5344CB8AC3E}">
        <p14:creationId xmlns:p14="http://schemas.microsoft.com/office/powerpoint/2010/main" val="27198721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1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1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1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17"/>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18"/>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19"/>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20"/>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21"/>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22"/>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23"/>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2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21"/>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87"/>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88"/>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89"/>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90"/>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91"/>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92"/>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93"/>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94"/>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95"/>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96"/>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97"/>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98"/>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99"/>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100"/>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101"/>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102"/>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103"/>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104"/>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105"/>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10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0" grpId="0"/>
      <p:bldP spid="221" grpId="0"/>
      <p:bldP spid="88" grpId="0"/>
      <p:bldP spid="90" grpId="0"/>
      <p:bldP spid="91" grpId="0"/>
      <p:bldP spid="92" grpId="0"/>
      <p:bldP spid="93" grpId="0"/>
      <p:bldP spid="106" grpId="0"/>
      <p:bldP spid="110" grpId="0"/>
      <p:bldP spid="111" grpId="0"/>
      <p:bldP spid="112" grpId="0"/>
      <p:bldP spid="113" grpId="0"/>
      <p:bldP spid="114" grpId="0"/>
      <p:bldP spid="115" grpId="0"/>
      <p:bldP spid="116" grpId="0"/>
      <p:bldP spid="117"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581192" y="2048896"/>
            <a:ext cx="11029615" cy="4424766"/>
          </a:xfrm>
        </p:spPr>
        <p:txBody>
          <a:bodyPr>
            <a:noAutofit/>
          </a:bodyPr>
          <a:lstStyle/>
          <a:p>
            <a:pPr marL="0" indent="0" algn="just">
              <a:buNone/>
            </a:pPr>
            <a:r>
              <a:rPr lang="es-ES" sz="2400" b="1" dirty="0">
                <a:solidFill>
                  <a:srgbClr val="D7A700"/>
                </a:solidFill>
              </a:rPr>
              <a:t>Ejemplo 5: </a:t>
            </a:r>
            <a:r>
              <a:rPr lang="es-ES" sz="2400" dirty="0"/>
              <a:t>Una nueva compañía financiera conocida como DMG está ofreciendo a sus clientes una nueva posibilidad de inversión. Para una inversión de X pesos, y dada la estructura de ingresos piramidal de la compañía, ellos se comprometen a entregarle a usted unas anualidades de la siguiente forma:</a:t>
            </a:r>
          </a:p>
          <a:p>
            <a:pPr lvl="1" algn="just">
              <a:spcBef>
                <a:spcPts val="0"/>
              </a:spcBef>
              <a:spcAft>
                <a:spcPts val="0"/>
              </a:spcAft>
              <a:buFont typeface="Arial" panose="020B0604020202020204" pitchFamily="34" charset="0"/>
              <a:buChar char="•"/>
            </a:pPr>
            <a:r>
              <a:rPr lang="es-ES" sz="2400" dirty="0"/>
              <a:t>Año 1: 100</a:t>
            </a:r>
          </a:p>
          <a:p>
            <a:pPr lvl="1" algn="just">
              <a:spcBef>
                <a:spcPts val="0"/>
              </a:spcBef>
              <a:spcAft>
                <a:spcPts val="0"/>
              </a:spcAft>
              <a:buFont typeface="Arial" panose="020B0604020202020204" pitchFamily="34" charset="0"/>
              <a:buChar char="•"/>
            </a:pPr>
            <a:r>
              <a:rPr lang="es-ES" sz="2400" dirty="0"/>
              <a:t>Año 2: Año 1 + 20</a:t>
            </a:r>
          </a:p>
          <a:p>
            <a:pPr lvl="1" algn="just">
              <a:spcBef>
                <a:spcPts val="0"/>
              </a:spcBef>
              <a:spcAft>
                <a:spcPts val="0"/>
              </a:spcAft>
              <a:buFont typeface="Arial" panose="020B0604020202020204" pitchFamily="34" charset="0"/>
              <a:buChar char="•"/>
            </a:pPr>
            <a:r>
              <a:rPr lang="es-ES" sz="2400" dirty="0"/>
              <a:t>Año 3: Año 2 + 20</a:t>
            </a:r>
          </a:p>
          <a:p>
            <a:pPr lvl="1" algn="just">
              <a:spcBef>
                <a:spcPts val="0"/>
              </a:spcBef>
              <a:spcAft>
                <a:spcPts val="0"/>
              </a:spcAft>
              <a:buFont typeface="Arial" panose="020B0604020202020204" pitchFamily="34" charset="0"/>
              <a:buChar char="•"/>
            </a:pPr>
            <a:r>
              <a:rPr lang="es-ES" sz="2400" dirty="0"/>
              <a:t>Año 4: Año 3 + 20</a:t>
            </a:r>
          </a:p>
          <a:p>
            <a:pPr marL="0" indent="0" algn="just">
              <a:buNone/>
            </a:pPr>
            <a:r>
              <a:rPr lang="es-ES" sz="2400" dirty="0"/>
              <a:t>¿Cuál sería el monto (X) que usted invirtió hoy si usted espera recibir una rentabilidad del 10% E.A.?</a:t>
            </a:r>
          </a:p>
        </p:txBody>
      </p:sp>
      <p:sp>
        <p:nvSpPr>
          <p:cNvPr id="8" name="Title 1">
            <a:extLst>
              <a:ext uri="{FF2B5EF4-FFF2-40B4-BE49-F238E27FC236}">
                <a16:creationId xmlns:a16="http://schemas.microsoft.com/office/drawing/2014/main" id="{137A07E8-282F-BC18-AD13-B754C91D565A}"/>
              </a:ext>
            </a:extLst>
          </p:cNvPr>
          <p:cNvSpPr>
            <a:spLocks noGrp="1"/>
          </p:cNvSpPr>
          <p:nvPr>
            <p:ph type="title"/>
          </p:nvPr>
        </p:nvSpPr>
        <p:spPr>
          <a:xfrm>
            <a:off x="581192" y="702156"/>
            <a:ext cx="11029616" cy="1013800"/>
          </a:xfrm>
        </p:spPr>
        <p:txBody>
          <a:bodyPr>
            <a:normAutofit/>
          </a:bodyPr>
          <a:lstStyle/>
          <a:p>
            <a:r>
              <a:rPr lang="es-ES_tradnl" sz="3200" dirty="0">
                <a:latin typeface="Gill Sans MT (titulo)"/>
              </a:rPr>
              <a:t>Gradientes aritméticos</a:t>
            </a:r>
          </a:p>
        </p:txBody>
      </p:sp>
      <p:sp>
        <p:nvSpPr>
          <p:cNvPr id="9" name="Rectángulo 8">
            <a:extLst>
              <a:ext uri="{FF2B5EF4-FFF2-40B4-BE49-F238E27FC236}">
                <a16:creationId xmlns:a16="http://schemas.microsoft.com/office/drawing/2014/main" id="{B7943573-FC4D-5AE6-25EE-BD0F11206BAA}"/>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0" name="Picture 2" descr="Clientes y aliados | Centro de Evaluación | Uniandes">
            <a:extLst>
              <a:ext uri="{FF2B5EF4-FFF2-40B4-BE49-F238E27FC236}">
                <a16:creationId xmlns:a16="http://schemas.microsoft.com/office/drawing/2014/main" id="{F422078E-7D3F-DD4F-779D-10AB7C4CAF1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1" name="Rectángulo 10">
            <a:extLst>
              <a:ext uri="{FF2B5EF4-FFF2-40B4-BE49-F238E27FC236}">
                <a16:creationId xmlns:a16="http://schemas.microsoft.com/office/drawing/2014/main" id="{AED32AB5-6862-105E-ADAE-8B446C13D9DD}"/>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5" name="Slide Number Placeholder 3">
            <a:extLst>
              <a:ext uri="{FF2B5EF4-FFF2-40B4-BE49-F238E27FC236}">
                <a16:creationId xmlns:a16="http://schemas.microsoft.com/office/drawing/2014/main" id="{2ED57DE2-ABCC-68A0-0D41-F214E9E7B0EB}"/>
              </a:ext>
            </a:extLst>
          </p:cNvPr>
          <p:cNvSpPr txBox="1">
            <a:spLocks/>
          </p:cNvSpPr>
          <p:nvPr/>
        </p:nvSpPr>
        <p:spPr>
          <a:xfrm>
            <a:off x="10710700" y="6108537"/>
            <a:ext cx="1052508" cy="365125"/>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5E3E23BA-6E79-2442-BA73-D218A5E297C3}" type="slidenum">
              <a:rPr lang="en-US" sz="2000" b="1" smtClean="0">
                <a:latin typeface="Gill Sans MT (Títulos)"/>
              </a:rPr>
              <a:pPr/>
              <a:t>26</a:t>
            </a:fld>
            <a:endParaRPr lang="en-US" sz="2000" b="1" dirty="0">
              <a:latin typeface="Gill Sans MT (Títulos)"/>
            </a:endParaRPr>
          </a:p>
        </p:txBody>
      </p:sp>
    </p:spTree>
    <p:extLst>
      <p:ext uri="{BB962C8B-B14F-4D97-AF65-F5344CB8AC3E}">
        <p14:creationId xmlns:p14="http://schemas.microsoft.com/office/powerpoint/2010/main" val="249039504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581192" y="2029110"/>
            <a:ext cx="8405887" cy="746789"/>
          </a:xfrm>
        </p:spPr>
        <p:txBody>
          <a:bodyPr>
            <a:normAutofit/>
          </a:bodyPr>
          <a:lstStyle/>
          <a:p>
            <a:pPr marL="0" indent="0">
              <a:buNone/>
            </a:pPr>
            <a:r>
              <a:rPr lang="es-ES" sz="2400" dirty="0"/>
              <a:t>Gráficamente tenemos que:</a:t>
            </a:r>
          </a:p>
        </p:txBody>
      </p:sp>
      <p:cxnSp>
        <p:nvCxnSpPr>
          <p:cNvPr id="5" name="Straight Connector 6"/>
          <p:cNvCxnSpPr/>
          <p:nvPr/>
        </p:nvCxnSpPr>
        <p:spPr>
          <a:xfrm flipV="1">
            <a:off x="802217" y="4602691"/>
            <a:ext cx="4780022" cy="20351"/>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 name="Straight Arrow Connector 9"/>
          <p:cNvCxnSpPr/>
          <p:nvPr/>
        </p:nvCxnSpPr>
        <p:spPr>
          <a:xfrm flipV="1">
            <a:off x="2783087" y="3984349"/>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7" name="Rectangle 35"/>
          <p:cNvSpPr>
            <a:spLocks/>
          </p:cNvSpPr>
          <p:nvPr/>
        </p:nvSpPr>
        <p:spPr bwMode="auto">
          <a:xfrm>
            <a:off x="738096" y="4605091"/>
            <a:ext cx="12824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0</a:t>
            </a:r>
          </a:p>
        </p:txBody>
      </p:sp>
      <p:sp>
        <p:nvSpPr>
          <p:cNvPr id="8" name="Rectangle 36"/>
          <p:cNvSpPr>
            <a:spLocks/>
          </p:cNvSpPr>
          <p:nvPr/>
        </p:nvSpPr>
        <p:spPr bwMode="auto">
          <a:xfrm>
            <a:off x="1551381" y="4580262"/>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a:t>
            </a:r>
          </a:p>
        </p:txBody>
      </p:sp>
      <p:sp>
        <p:nvSpPr>
          <p:cNvPr id="9" name="Rectangle 37"/>
          <p:cNvSpPr>
            <a:spLocks/>
          </p:cNvSpPr>
          <p:nvPr/>
        </p:nvSpPr>
        <p:spPr bwMode="auto">
          <a:xfrm>
            <a:off x="2639869" y="4580262"/>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2</a:t>
            </a:r>
          </a:p>
        </p:txBody>
      </p:sp>
      <p:sp>
        <p:nvSpPr>
          <p:cNvPr id="10" name="Rectangle 38"/>
          <p:cNvSpPr>
            <a:spLocks/>
          </p:cNvSpPr>
          <p:nvPr/>
        </p:nvSpPr>
        <p:spPr bwMode="auto">
          <a:xfrm>
            <a:off x="3699343" y="4594219"/>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3</a:t>
            </a:r>
          </a:p>
        </p:txBody>
      </p:sp>
      <p:sp>
        <p:nvSpPr>
          <p:cNvPr id="11" name="Rectangle 39"/>
          <p:cNvSpPr>
            <a:spLocks/>
          </p:cNvSpPr>
          <p:nvPr/>
        </p:nvSpPr>
        <p:spPr bwMode="auto">
          <a:xfrm>
            <a:off x="4705205" y="4610676"/>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4</a:t>
            </a:r>
          </a:p>
        </p:txBody>
      </p:sp>
      <p:sp>
        <p:nvSpPr>
          <p:cNvPr id="14" name="Rectangle 35"/>
          <p:cNvSpPr>
            <a:spLocks/>
          </p:cNvSpPr>
          <p:nvPr/>
        </p:nvSpPr>
        <p:spPr bwMode="auto">
          <a:xfrm>
            <a:off x="2316619" y="3684363"/>
            <a:ext cx="931345"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100 + 20</a:t>
            </a:r>
          </a:p>
        </p:txBody>
      </p:sp>
      <p:cxnSp>
        <p:nvCxnSpPr>
          <p:cNvPr id="15" name="Straight Arrow Connector 9"/>
          <p:cNvCxnSpPr/>
          <p:nvPr/>
        </p:nvCxnSpPr>
        <p:spPr>
          <a:xfrm flipV="1">
            <a:off x="3906395" y="3968359"/>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16" name="Rectangle 35"/>
          <p:cNvSpPr>
            <a:spLocks/>
          </p:cNvSpPr>
          <p:nvPr/>
        </p:nvSpPr>
        <p:spPr bwMode="auto">
          <a:xfrm>
            <a:off x="3342392" y="3388422"/>
            <a:ext cx="115576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100+ 2(20)</a:t>
            </a:r>
          </a:p>
        </p:txBody>
      </p:sp>
      <p:sp>
        <p:nvSpPr>
          <p:cNvPr id="17" name="Rectangle 35"/>
          <p:cNvSpPr>
            <a:spLocks/>
          </p:cNvSpPr>
          <p:nvPr/>
        </p:nvSpPr>
        <p:spPr bwMode="auto">
          <a:xfrm>
            <a:off x="4389243" y="3089053"/>
            <a:ext cx="1085233"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100+3(20)</a:t>
            </a:r>
          </a:p>
        </p:txBody>
      </p:sp>
      <p:cxnSp>
        <p:nvCxnSpPr>
          <p:cNvPr id="20" name="Straight Arrow Connector 9"/>
          <p:cNvCxnSpPr/>
          <p:nvPr/>
        </p:nvCxnSpPr>
        <p:spPr>
          <a:xfrm flipV="1">
            <a:off x="3906395" y="3678651"/>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21" name="Straight Arrow Connector 9"/>
          <p:cNvCxnSpPr/>
          <p:nvPr/>
        </p:nvCxnSpPr>
        <p:spPr>
          <a:xfrm flipV="1">
            <a:off x="4931857" y="3959519"/>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22" name="Straight Arrow Connector 9"/>
          <p:cNvCxnSpPr/>
          <p:nvPr/>
        </p:nvCxnSpPr>
        <p:spPr>
          <a:xfrm flipV="1">
            <a:off x="4931857" y="3669811"/>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27" name="Straight Arrow Connector 9"/>
          <p:cNvCxnSpPr/>
          <p:nvPr/>
        </p:nvCxnSpPr>
        <p:spPr>
          <a:xfrm flipV="1">
            <a:off x="4931857" y="3379510"/>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34" name="Straight Arrow Connector 9"/>
          <p:cNvCxnSpPr/>
          <p:nvPr/>
        </p:nvCxnSpPr>
        <p:spPr>
          <a:xfrm flipV="1">
            <a:off x="1718492" y="4313870"/>
            <a:ext cx="0" cy="295941"/>
          </a:xfrm>
          <a:prstGeom prst="straightConnector1">
            <a:avLst/>
          </a:prstGeom>
          <a:ln>
            <a:solidFill>
              <a:schemeClr val="accent3">
                <a:lumMod val="75000"/>
              </a:schemeClr>
            </a:solidFill>
            <a:tailEnd type="arrow"/>
          </a:ln>
        </p:spPr>
        <p:style>
          <a:lnRef idx="2">
            <a:schemeClr val="accent1"/>
          </a:lnRef>
          <a:fillRef idx="0">
            <a:schemeClr val="accent1"/>
          </a:fillRef>
          <a:effectRef idx="1">
            <a:schemeClr val="accent1"/>
          </a:effectRef>
          <a:fontRef idx="minor">
            <a:schemeClr val="tx1"/>
          </a:fontRef>
        </p:style>
      </p:cxnSp>
      <p:cxnSp>
        <p:nvCxnSpPr>
          <p:cNvPr id="35" name="Straight Arrow Connector 9"/>
          <p:cNvCxnSpPr/>
          <p:nvPr/>
        </p:nvCxnSpPr>
        <p:spPr>
          <a:xfrm flipV="1">
            <a:off x="2788867" y="4315826"/>
            <a:ext cx="0" cy="295941"/>
          </a:xfrm>
          <a:prstGeom prst="straightConnector1">
            <a:avLst/>
          </a:prstGeom>
          <a:ln>
            <a:solidFill>
              <a:schemeClr val="accent3">
                <a:lumMod val="75000"/>
              </a:schemeClr>
            </a:solidFill>
            <a:tailEnd type="arrow"/>
          </a:ln>
        </p:spPr>
        <p:style>
          <a:lnRef idx="2">
            <a:schemeClr val="accent1"/>
          </a:lnRef>
          <a:fillRef idx="0">
            <a:schemeClr val="accent1"/>
          </a:fillRef>
          <a:effectRef idx="1">
            <a:schemeClr val="accent1"/>
          </a:effectRef>
          <a:fontRef idx="minor">
            <a:schemeClr val="tx1"/>
          </a:fontRef>
        </p:style>
      </p:cxnSp>
      <p:cxnSp>
        <p:nvCxnSpPr>
          <p:cNvPr id="36" name="Straight Arrow Connector 9"/>
          <p:cNvCxnSpPr/>
          <p:nvPr/>
        </p:nvCxnSpPr>
        <p:spPr>
          <a:xfrm flipV="1">
            <a:off x="3906395" y="4306750"/>
            <a:ext cx="0" cy="295941"/>
          </a:xfrm>
          <a:prstGeom prst="straightConnector1">
            <a:avLst/>
          </a:prstGeom>
          <a:ln>
            <a:solidFill>
              <a:schemeClr val="accent3">
                <a:lumMod val="75000"/>
              </a:schemeClr>
            </a:solidFill>
            <a:tailEnd type="arrow"/>
          </a:ln>
        </p:spPr>
        <p:style>
          <a:lnRef idx="2">
            <a:schemeClr val="accent1"/>
          </a:lnRef>
          <a:fillRef idx="0">
            <a:schemeClr val="accent1"/>
          </a:fillRef>
          <a:effectRef idx="1">
            <a:schemeClr val="accent1"/>
          </a:effectRef>
          <a:fontRef idx="minor">
            <a:schemeClr val="tx1"/>
          </a:fontRef>
        </p:style>
      </p:cxnSp>
      <p:cxnSp>
        <p:nvCxnSpPr>
          <p:cNvPr id="37" name="Straight Arrow Connector 9"/>
          <p:cNvCxnSpPr/>
          <p:nvPr/>
        </p:nvCxnSpPr>
        <p:spPr>
          <a:xfrm flipV="1">
            <a:off x="4936527" y="4305461"/>
            <a:ext cx="0" cy="295941"/>
          </a:xfrm>
          <a:prstGeom prst="straightConnector1">
            <a:avLst/>
          </a:prstGeom>
          <a:ln>
            <a:solidFill>
              <a:schemeClr val="accent3">
                <a:lumMod val="75000"/>
              </a:schemeClr>
            </a:solidFill>
            <a:tailEnd type="arrow"/>
          </a:ln>
        </p:spPr>
        <p:style>
          <a:lnRef idx="2">
            <a:schemeClr val="accent1"/>
          </a:lnRef>
          <a:fillRef idx="0">
            <a:schemeClr val="accent1"/>
          </a:fillRef>
          <a:effectRef idx="1">
            <a:schemeClr val="accent1"/>
          </a:effectRef>
          <a:fontRef idx="minor">
            <a:schemeClr val="tx1"/>
          </a:fontRef>
        </p:style>
      </p:cxnSp>
      <p:cxnSp>
        <p:nvCxnSpPr>
          <p:cNvPr id="40" name="Conector recto 39"/>
          <p:cNvCxnSpPr/>
          <p:nvPr/>
        </p:nvCxnSpPr>
        <p:spPr>
          <a:xfrm>
            <a:off x="1758177" y="4293519"/>
            <a:ext cx="3173681" cy="0"/>
          </a:xfrm>
          <a:prstGeom prst="line">
            <a:avLst/>
          </a:prstGeom>
          <a:ln w="12700">
            <a:prstDash val="dash"/>
          </a:ln>
        </p:spPr>
        <p:style>
          <a:lnRef idx="2">
            <a:schemeClr val="accent1"/>
          </a:lnRef>
          <a:fillRef idx="0">
            <a:schemeClr val="accent1"/>
          </a:fillRef>
          <a:effectRef idx="1">
            <a:schemeClr val="accent1"/>
          </a:effectRef>
          <a:fontRef idx="minor">
            <a:schemeClr val="tx1"/>
          </a:fontRef>
        </p:style>
      </p:cxnSp>
      <p:sp>
        <p:nvSpPr>
          <p:cNvPr id="42" name="Rectangle 35"/>
          <p:cNvSpPr>
            <a:spLocks/>
          </p:cNvSpPr>
          <p:nvPr/>
        </p:nvSpPr>
        <p:spPr bwMode="auto">
          <a:xfrm>
            <a:off x="1238894" y="4137221"/>
            <a:ext cx="384722"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100</a:t>
            </a:r>
          </a:p>
        </p:txBody>
      </p:sp>
      <p:sp>
        <p:nvSpPr>
          <p:cNvPr id="46" name="Flecha derecha 45"/>
          <p:cNvSpPr/>
          <p:nvPr/>
        </p:nvSpPr>
        <p:spPr>
          <a:xfrm>
            <a:off x="5935279" y="3739605"/>
            <a:ext cx="456813" cy="464776"/>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sz="2000"/>
          </a:p>
        </p:txBody>
      </p:sp>
      <p:cxnSp>
        <p:nvCxnSpPr>
          <p:cNvPr id="68" name="Straight Arrow Connector 9"/>
          <p:cNvCxnSpPr>
            <a:cxnSpLocks/>
          </p:cNvCxnSpPr>
          <p:nvPr/>
        </p:nvCxnSpPr>
        <p:spPr>
          <a:xfrm flipV="1">
            <a:off x="7257161" y="3362863"/>
            <a:ext cx="17549" cy="1234946"/>
          </a:xfrm>
          <a:prstGeom prst="straightConnector1">
            <a:avLst/>
          </a:prstGeom>
          <a:ln>
            <a:solidFill>
              <a:schemeClr val="accent3">
                <a:lumMod val="75000"/>
              </a:schemeClr>
            </a:solidFill>
            <a:tailEnd type="arrow"/>
          </a:ln>
        </p:spPr>
        <p:style>
          <a:lnRef idx="2">
            <a:schemeClr val="accent1"/>
          </a:lnRef>
          <a:fillRef idx="0">
            <a:schemeClr val="accent1"/>
          </a:fillRef>
          <a:effectRef idx="1">
            <a:schemeClr val="accent1"/>
          </a:effectRef>
          <a:fontRef idx="minor">
            <a:schemeClr val="tx1"/>
          </a:fontRef>
        </p:style>
      </p:cxnSp>
      <p:sp>
        <p:nvSpPr>
          <p:cNvPr id="70" name="Rectangle 35"/>
          <p:cNvSpPr>
            <a:spLocks/>
          </p:cNvSpPr>
          <p:nvPr/>
        </p:nvSpPr>
        <p:spPr bwMode="auto">
          <a:xfrm>
            <a:off x="6750501" y="3036292"/>
            <a:ext cx="1048417"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VP: ¿?</a:t>
            </a:r>
          </a:p>
        </p:txBody>
      </p:sp>
      <p:sp>
        <p:nvSpPr>
          <p:cNvPr id="18" name="Title 1">
            <a:extLst>
              <a:ext uri="{FF2B5EF4-FFF2-40B4-BE49-F238E27FC236}">
                <a16:creationId xmlns:a16="http://schemas.microsoft.com/office/drawing/2014/main" id="{9550E543-405C-5B58-21A1-5AFDC0AA1B6A}"/>
              </a:ext>
            </a:extLst>
          </p:cNvPr>
          <p:cNvSpPr>
            <a:spLocks noGrp="1"/>
          </p:cNvSpPr>
          <p:nvPr>
            <p:ph type="title"/>
          </p:nvPr>
        </p:nvSpPr>
        <p:spPr>
          <a:xfrm>
            <a:off x="581192" y="702156"/>
            <a:ext cx="11029616" cy="1013800"/>
          </a:xfrm>
        </p:spPr>
        <p:txBody>
          <a:bodyPr>
            <a:normAutofit/>
          </a:bodyPr>
          <a:lstStyle/>
          <a:p>
            <a:r>
              <a:rPr lang="es-ES_tradnl" sz="3200" dirty="0">
                <a:latin typeface="Gill Sans MT (titulo)"/>
              </a:rPr>
              <a:t>Gradientes aritméticos</a:t>
            </a:r>
          </a:p>
        </p:txBody>
      </p:sp>
      <p:sp>
        <p:nvSpPr>
          <p:cNvPr id="19" name="Rectángulo 18">
            <a:extLst>
              <a:ext uri="{FF2B5EF4-FFF2-40B4-BE49-F238E27FC236}">
                <a16:creationId xmlns:a16="http://schemas.microsoft.com/office/drawing/2014/main" id="{A99C9AD8-A489-395D-A57C-338C07293294}"/>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23" name="Picture 2" descr="Clientes y aliados | Centro de Evaluación | Uniandes">
            <a:extLst>
              <a:ext uri="{FF2B5EF4-FFF2-40B4-BE49-F238E27FC236}">
                <a16:creationId xmlns:a16="http://schemas.microsoft.com/office/drawing/2014/main" id="{CFD09380-0559-2E02-DCB3-14D25BC05EB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24" name="Rectángulo 23">
            <a:extLst>
              <a:ext uri="{FF2B5EF4-FFF2-40B4-BE49-F238E27FC236}">
                <a16:creationId xmlns:a16="http://schemas.microsoft.com/office/drawing/2014/main" id="{7D18FABE-AF06-6EBB-F928-55998467E91B}"/>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cxnSp>
        <p:nvCxnSpPr>
          <p:cNvPr id="2" name="Straight Connector 6">
            <a:extLst>
              <a:ext uri="{FF2B5EF4-FFF2-40B4-BE49-F238E27FC236}">
                <a16:creationId xmlns:a16="http://schemas.microsoft.com/office/drawing/2014/main" id="{8EF15ED5-E3A5-1F40-BCAA-B98817E6EE94}"/>
              </a:ext>
            </a:extLst>
          </p:cNvPr>
          <p:cNvCxnSpPr/>
          <p:nvPr/>
        </p:nvCxnSpPr>
        <p:spPr>
          <a:xfrm flipV="1">
            <a:off x="7222795" y="4572277"/>
            <a:ext cx="4780022" cy="20351"/>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12" name="Rectangle 35">
            <a:extLst>
              <a:ext uri="{FF2B5EF4-FFF2-40B4-BE49-F238E27FC236}">
                <a16:creationId xmlns:a16="http://schemas.microsoft.com/office/drawing/2014/main" id="{4D116532-40D5-B454-0321-D3948B25C695}"/>
              </a:ext>
            </a:extLst>
          </p:cNvPr>
          <p:cNvSpPr>
            <a:spLocks/>
          </p:cNvSpPr>
          <p:nvPr/>
        </p:nvSpPr>
        <p:spPr bwMode="auto">
          <a:xfrm>
            <a:off x="7158674" y="4574677"/>
            <a:ext cx="12824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0</a:t>
            </a:r>
          </a:p>
        </p:txBody>
      </p:sp>
      <p:sp>
        <p:nvSpPr>
          <p:cNvPr id="13" name="Rectangle 36">
            <a:extLst>
              <a:ext uri="{FF2B5EF4-FFF2-40B4-BE49-F238E27FC236}">
                <a16:creationId xmlns:a16="http://schemas.microsoft.com/office/drawing/2014/main" id="{DB56B666-D76A-5D13-57B1-92D88B551920}"/>
              </a:ext>
            </a:extLst>
          </p:cNvPr>
          <p:cNvSpPr>
            <a:spLocks/>
          </p:cNvSpPr>
          <p:nvPr/>
        </p:nvSpPr>
        <p:spPr bwMode="auto">
          <a:xfrm>
            <a:off x="7971959" y="4549848"/>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a:t>
            </a:r>
          </a:p>
        </p:txBody>
      </p:sp>
      <p:sp>
        <p:nvSpPr>
          <p:cNvPr id="25" name="Rectangle 37">
            <a:extLst>
              <a:ext uri="{FF2B5EF4-FFF2-40B4-BE49-F238E27FC236}">
                <a16:creationId xmlns:a16="http://schemas.microsoft.com/office/drawing/2014/main" id="{B4F9098E-B0FC-0CC2-B59B-3BB9EAEA64E6}"/>
              </a:ext>
            </a:extLst>
          </p:cNvPr>
          <p:cNvSpPr>
            <a:spLocks/>
          </p:cNvSpPr>
          <p:nvPr/>
        </p:nvSpPr>
        <p:spPr bwMode="auto">
          <a:xfrm>
            <a:off x="9060447" y="4549848"/>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2</a:t>
            </a:r>
          </a:p>
        </p:txBody>
      </p:sp>
      <p:sp>
        <p:nvSpPr>
          <p:cNvPr id="26" name="Rectangle 38">
            <a:extLst>
              <a:ext uri="{FF2B5EF4-FFF2-40B4-BE49-F238E27FC236}">
                <a16:creationId xmlns:a16="http://schemas.microsoft.com/office/drawing/2014/main" id="{A27704B9-A190-C311-28D0-1F950FBB4CA8}"/>
              </a:ext>
            </a:extLst>
          </p:cNvPr>
          <p:cNvSpPr>
            <a:spLocks/>
          </p:cNvSpPr>
          <p:nvPr/>
        </p:nvSpPr>
        <p:spPr bwMode="auto">
          <a:xfrm>
            <a:off x="10119921" y="4563805"/>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3</a:t>
            </a:r>
          </a:p>
        </p:txBody>
      </p:sp>
      <p:sp>
        <p:nvSpPr>
          <p:cNvPr id="28" name="Rectangle 39">
            <a:extLst>
              <a:ext uri="{FF2B5EF4-FFF2-40B4-BE49-F238E27FC236}">
                <a16:creationId xmlns:a16="http://schemas.microsoft.com/office/drawing/2014/main" id="{E3009F4E-342E-4D92-9DB2-7451C35F49B9}"/>
              </a:ext>
            </a:extLst>
          </p:cNvPr>
          <p:cNvSpPr>
            <a:spLocks/>
          </p:cNvSpPr>
          <p:nvPr/>
        </p:nvSpPr>
        <p:spPr bwMode="auto">
          <a:xfrm>
            <a:off x="11125783" y="4580262"/>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4</a:t>
            </a:r>
          </a:p>
        </p:txBody>
      </p:sp>
      <p:sp>
        <p:nvSpPr>
          <p:cNvPr id="29" name="Slide Number Placeholder 3">
            <a:extLst>
              <a:ext uri="{FF2B5EF4-FFF2-40B4-BE49-F238E27FC236}">
                <a16:creationId xmlns:a16="http://schemas.microsoft.com/office/drawing/2014/main" id="{8B0FAFA1-95C3-5F4F-CD97-9893844242F2}"/>
              </a:ext>
            </a:extLst>
          </p:cNvPr>
          <p:cNvSpPr txBox="1">
            <a:spLocks/>
          </p:cNvSpPr>
          <p:nvPr/>
        </p:nvSpPr>
        <p:spPr>
          <a:xfrm>
            <a:off x="10710700" y="6108537"/>
            <a:ext cx="1052508" cy="365125"/>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5E3E23BA-6E79-2442-BA73-D218A5E297C3}" type="slidenum">
              <a:rPr lang="en-US" sz="2000" b="1" smtClean="0">
                <a:latin typeface="Gill Sans MT (Títulos)"/>
              </a:rPr>
              <a:pPr/>
              <a:t>27</a:t>
            </a:fld>
            <a:endParaRPr lang="en-US" sz="2000" b="1" dirty="0">
              <a:latin typeface="Gill Sans MT (Títulos)"/>
            </a:endParaRPr>
          </a:p>
        </p:txBody>
      </p:sp>
    </p:spTree>
    <p:extLst>
      <p:ext uri="{BB962C8B-B14F-4D97-AF65-F5344CB8AC3E}">
        <p14:creationId xmlns:p14="http://schemas.microsoft.com/office/powerpoint/2010/main" val="177943879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6824F102-7507-FDB1-6CDD-E20146624F29}"/>
              </a:ext>
            </a:extLst>
          </p:cNvPr>
          <p:cNvSpPr txBox="1"/>
          <p:nvPr/>
        </p:nvSpPr>
        <p:spPr>
          <a:xfrm>
            <a:off x="581192" y="5497839"/>
            <a:ext cx="11029615" cy="830997"/>
          </a:xfrm>
          <a:prstGeom prst="rect">
            <a:avLst/>
          </a:prstGeom>
          <a:noFill/>
        </p:spPr>
        <p:txBody>
          <a:bodyPr wrap="square">
            <a:spAutoFit/>
          </a:bodyPr>
          <a:lstStyle/>
          <a:p>
            <a:pPr marL="0" indent="0">
              <a:buNone/>
            </a:pPr>
            <a:r>
              <a:rPr lang="es-ES" sz="2400" dirty="0"/>
              <a:t>Sin embargo, en problemas con un número mayor de flujos, el cálculo sería extremadamente largo  </a:t>
            </a:r>
          </a:p>
        </p:txBody>
      </p:sp>
      <p:sp>
        <p:nvSpPr>
          <p:cNvPr id="3" name="Marcador de contenido 2"/>
          <p:cNvSpPr>
            <a:spLocks noGrp="1"/>
          </p:cNvSpPr>
          <p:nvPr>
            <p:ph idx="1"/>
          </p:nvPr>
        </p:nvSpPr>
        <p:spPr>
          <a:xfrm>
            <a:off x="581192" y="1951894"/>
            <a:ext cx="11029615" cy="1013800"/>
          </a:xfrm>
        </p:spPr>
        <p:txBody>
          <a:bodyPr>
            <a:normAutofit/>
          </a:bodyPr>
          <a:lstStyle/>
          <a:p>
            <a:pPr marL="0" indent="0">
              <a:buNone/>
            </a:pPr>
            <a:r>
              <a:rPr lang="es-ES" sz="2400" dirty="0"/>
              <a:t>Una primera aproximación puede ser el cálculo de cada uno de los flujos traídos individualmente al presente, así:</a:t>
            </a:r>
          </a:p>
        </p:txBody>
      </p:sp>
      <p:pic>
        <p:nvPicPr>
          <p:cNvPr id="6" name="Imagen 5" descr="latex-image-1.pdf"/>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29167" y="3126762"/>
            <a:ext cx="5133663" cy="604476"/>
          </a:xfrm>
          <a:prstGeom prst="rect">
            <a:avLst/>
          </a:prstGeom>
        </p:spPr>
      </p:pic>
      <p:pic>
        <p:nvPicPr>
          <p:cNvPr id="7" name="Imagen 6" descr="latex-image-1.pdf"/>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81210" y="4016713"/>
            <a:ext cx="8029576" cy="734665"/>
          </a:xfrm>
          <a:prstGeom prst="rect">
            <a:avLst/>
          </a:prstGeom>
        </p:spPr>
      </p:pic>
      <p:pic>
        <p:nvPicPr>
          <p:cNvPr id="8" name="Imagen 7" descr="latex-image-1.pdf"/>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141912" y="5036854"/>
            <a:ext cx="2184400" cy="406400"/>
          </a:xfrm>
          <a:prstGeom prst="rect">
            <a:avLst/>
          </a:prstGeom>
        </p:spPr>
      </p:pic>
      <p:sp>
        <p:nvSpPr>
          <p:cNvPr id="11" name="Title 1">
            <a:extLst>
              <a:ext uri="{FF2B5EF4-FFF2-40B4-BE49-F238E27FC236}">
                <a16:creationId xmlns:a16="http://schemas.microsoft.com/office/drawing/2014/main" id="{F2A48BED-63DE-AE2A-1EBD-E09CDD89CDF3}"/>
              </a:ext>
            </a:extLst>
          </p:cNvPr>
          <p:cNvSpPr>
            <a:spLocks noGrp="1"/>
          </p:cNvSpPr>
          <p:nvPr>
            <p:ph type="title"/>
          </p:nvPr>
        </p:nvSpPr>
        <p:spPr>
          <a:xfrm>
            <a:off x="581192" y="702156"/>
            <a:ext cx="11029616" cy="1013800"/>
          </a:xfrm>
        </p:spPr>
        <p:txBody>
          <a:bodyPr>
            <a:normAutofit/>
          </a:bodyPr>
          <a:lstStyle/>
          <a:p>
            <a:r>
              <a:rPr lang="es-ES_tradnl" sz="3200" dirty="0">
                <a:latin typeface="Gill Sans MT (titulo)"/>
              </a:rPr>
              <a:t>Gradientes aritméticos</a:t>
            </a:r>
          </a:p>
        </p:txBody>
      </p:sp>
      <p:sp>
        <p:nvSpPr>
          <p:cNvPr id="12" name="Rectángulo 11">
            <a:extLst>
              <a:ext uri="{FF2B5EF4-FFF2-40B4-BE49-F238E27FC236}">
                <a16:creationId xmlns:a16="http://schemas.microsoft.com/office/drawing/2014/main" id="{C97A3573-14EA-12A6-91C6-A1BE91F90AD4}"/>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3" name="Picture 2" descr="Clientes y aliados | Centro de Evaluación | Uniandes">
            <a:extLst>
              <a:ext uri="{FF2B5EF4-FFF2-40B4-BE49-F238E27FC236}">
                <a16:creationId xmlns:a16="http://schemas.microsoft.com/office/drawing/2014/main" id="{F558C326-58D4-A492-7683-352C3B083DD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4" name="Rectángulo 13">
            <a:extLst>
              <a:ext uri="{FF2B5EF4-FFF2-40B4-BE49-F238E27FC236}">
                <a16:creationId xmlns:a16="http://schemas.microsoft.com/office/drawing/2014/main" id="{893ACB39-7907-66BA-8C7E-A59D15C4FB32}"/>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2" name="Slide Number Placeholder 3">
            <a:extLst>
              <a:ext uri="{FF2B5EF4-FFF2-40B4-BE49-F238E27FC236}">
                <a16:creationId xmlns:a16="http://schemas.microsoft.com/office/drawing/2014/main" id="{58561D73-5EFE-0CC7-DB60-05BA76252C00}"/>
              </a:ext>
            </a:extLst>
          </p:cNvPr>
          <p:cNvSpPr txBox="1">
            <a:spLocks/>
          </p:cNvSpPr>
          <p:nvPr/>
        </p:nvSpPr>
        <p:spPr>
          <a:xfrm>
            <a:off x="10710700" y="6108537"/>
            <a:ext cx="1052508" cy="365125"/>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5E3E23BA-6E79-2442-BA73-D218A5E297C3}" type="slidenum">
              <a:rPr lang="en-US" sz="2000" b="1" smtClean="0">
                <a:latin typeface="Gill Sans MT (Títulos)"/>
              </a:rPr>
              <a:pPr/>
              <a:t>28</a:t>
            </a:fld>
            <a:endParaRPr lang="en-US" sz="2000" b="1" dirty="0">
              <a:latin typeface="Gill Sans MT (Títulos)"/>
            </a:endParaRPr>
          </a:p>
        </p:txBody>
      </p:sp>
    </p:spTree>
    <p:extLst>
      <p:ext uri="{BB962C8B-B14F-4D97-AF65-F5344CB8AC3E}">
        <p14:creationId xmlns:p14="http://schemas.microsoft.com/office/powerpoint/2010/main" val="5935859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641965" y="1992417"/>
            <a:ext cx="11029613" cy="717433"/>
          </a:xfrm>
        </p:spPr>
        <p:txBody>
          <a:bodyPr>
            <a:normAutofit/>
          </a:bodyPr>
          <a:lstStyle/>
          <a:p>
            <a:pPr marL="0" indent="0">
              <a:buNone/>
            </a:pPr>
            <a:r>
              <a:rPr lang="es-ES" sz="2400" dirty="0"/>
              <a:t>Gracias a las ecuaciones que hemos derivado, podemos fraccionar el problema, así:</a:t>
            </a:r>
          </a:p>
        </p:txBody>
      </p:sp>
      <p:cxnSp>
        <p:nvCxnSpPr>
          <p:cNvPr id="5" name="Straight Connector 6"/>
          <p:cNvCxnSpPr/>
          <p:nvPr/>
        </p:nvCxnSpPr>
        <p:spPr>
          <a:xfrm flipV="1">
            <a:off x="1496636" y="4620315"/>
            <a:ext cx="3146778" cy="33582"/>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 name="Straight Arrow Connector 9"/>
          <p:cNvCxnSpPr/>
          <p:nvPr/>
        </p:nvCxnSpPr>
        <p:spPr>
          <a:xfrm flipV="1">
            <a:off x="2943615" y="4015204"/>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7" name="Rectangle 35"/>
          <p:cNvSpPr>
            <a:spLocks/>
          </p:cNvSpPr>
          <p:nvPr/>
        </p:nvSpPr>
        <p:spPr bwMode="auto">
          <a:xfrm>
            <a:off x="1432515" y="4635946"/>
            <a:ext cx="12824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0</a:t>
            </a:r>
          </a:p>
        </p:txBody>
      </p:sp>
      <p:sp>
        <p:nvSpPr>
          <p:cNvPr id="8" name="Rectangle 36"/>
          <p:cNvSpPr>
            <a:spLocks/>
          </p:cNvSpPr>
          <p:nvPr/>
        </p:nvSpPr>
        <p:spPr bwMode="auto">
          <a:xfrm>
            <a:off x="2042609" y="4611117"/>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a:t>
            </a:r>
          </a:p>
        </p:txBody>
      </p:sp>
      <p:sp>
        <p:nvSpPr>
          <p:cNvPr id="9" name="Rectangle 37"/>
          <p:cNvSpPr>
            <a:spLocks/>
          </p:cNvSpPr>
          <p:nvPr/>
        </p:nvSpPr>
        <p:spPr bwMode="auto">
          <a:xfrm>
            <a:off x="2800397" y="4611117"/>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2</a:t>
            </a:r>
          </a:p>
        </p:txBody>
      </p:sp>
      <p:sp>
        <p:nvSpPr>
          <p:cNvPr id="10" name="Rectangle 38"/>
          <p:cNvSpPr>
            <a:spLocks/>
          </p:cNvSpPr>
          <p:nvPr/>
        </p:nvSpPr>
        <p:spPr bwMode="auto">
          <a:xfrm>
            <a:off x="3466339" y="4611844"/>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3</a:t>
            </a:r>
          </a:p>
        </p:txBody>
      </p:sp>
      <p:sp>
        <p:nvSpPr>
          <p:cNvPr id="11" name="Rectangle 39"/>
          <p:cNvSpPr>
            <a:spLocks/>
          </p:cNvSpPr>
          <p:nvPr/>
        </p:nvSpPr>
        <p:spPr bwMode="auto">
          <a:xfrm>
            <a:off x="4206174" y="4641531"/>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4</a:t>
            </a:r>
          </a:p>
        </p:txBody>
      </p:sp>
      <p:sp>
        <p:nvSpPr>
          <p:cNvPr id="12" name="Rectangle 35"/>
          <p:cNvSpPr>
            <a:spLocks/>
          </p:cNvSpPr>
          <p:nvPr/>
        </p:nvSpPr>
        <p:spPr bwMode="auto">
          <a:xfrm>
            <a:off x="2477147" y="3715218"/>
            <a:ext cx="931345"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100 + 20</a:t>
            </a:r>
          </a:p>
        </p:txBody>
      </p:sp>
      <p:cxnSp>
        <p:nvCxnSpPr>
          <p:cNvPr id="13" name="Straight Arrow Connector 9"/>
          <p:cNvCxnSpPr/>
          <p:nvPr/>
        </p:nvCxnSpPr>
        <p:spPr>
          <a:xfrm flipV="1">
            <a:off x="3673391" y="3985984"/>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14" name="Rectangle 35"/>
          <p:cNvSpPr>
            <a:spLocks/>
          </p:cNvSpPr>
          <p:nvPr/>
        </p:nvSpPr>
        <p:spPr bwMode="auto">
          <a:xfrm>
            <a:off x="3109388" y="3406047"/>
            <a:ext cx="115576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100+ 2(20)</a:t>
            </a:r>
          </a:p>
        </p:txBody>
      </p:sp>
      <p:sp>
        <p:nvSpPr>
          <p:cNvPr id="15" name="Rectangle 35"/>
          <p:cNvSpPr>
            <a:spLocks/>
          </p:cNvSpPr>
          <p:nvPr/>
        </p:nvSpPr>
        <p:spPr bwMode="auto">
          <a:xfrm>
            <a:off x="3890212" y="3119908"/>
            <a:ext cx="1085233"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100+3(20)</a:t>
            </a:r>
          </a:p>
        </p:txBody>
      </p:sp>
      <p:cxnSp>
        <p:nvCxnSpPr>
          <p:cNvPr id="16" name="Straight Arrow Connector 9"/>
          <p:cNvCxnSpPr/>
          <p:nvPr/>
        </p:nvCxnSpPr>
        <p:spPr>
          <a:xfrm flipV="1">
            <a:off x="3673391" y="3696276"/>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17" name="Straight Arrow Connector 9"/>
          <p:cNvCxnSpPr/>
          <p:nvPr/>
        </p:nvCxnSpPr>
        <p:spPr>
          <a:xfrm flipV="1">
            <a:off x="4432826" y="3990374"/>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18" name="Straight Arrow Connector 9"/>
          <p:cNvCxnSpPr/>
          <p:nvPr/>
        </p:nvCxnSpPr>
        <p:spPr>
          <a:xfrm flipV="1">
            <a:off x="4432826" y="3700666"/>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19" name="Straight Arrow Connector 9"/>
          <p:cNvCxnSpPr/>
          <p:nvPr/>
        </p:nvCxnSpPr>
        <p:spPr>
          <a:xfrm flipV="1">
            <a:off x="4432826" y="3410365"/>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20" name="Straight Arrow Connector 9"/>
          <p:cNvCxnSpPr/>
          <p:nvPr/>
        </p:nvCxnSpPr>
        <p:spPr>
          <a:xfrm flipV="1">
            <a:off x="2209720" y="4344725"/>
            <a:ext cx="0" cy="295941"/>
          </a:xfrm>
          <a:prstGeom prst="straightConnector1">
            <a:avLst/>
          </a:prstGeom>
          <a:ln>
            <a:solidFill>
              <a:schemeClr val="accent3">
                <a:lumMod val="75000"/>
              </a:schemeClr>
            </a:solidFill>
            <a:tailEnd type="arrow"/>
          </a:ln>
        </p:spPr>
        <p:style>
          <a:lnRef idx="2">
            <a:schemeClr val="accent1"/>
          </a:lnRef>
          <a:fillRef idx="0">
            <a:schemeClr val="accent1"/>
          </a:fillRef>
          <a:effectRef idx="1">
            <a:schemeClr val="accent1"/>
          </a:effectRef>
          <a:fontRef idx="minor">
            <a:schemeClr val="tx1"/>
          </a:fontRef>
        </p:style>
      </p:cxnSp>
      <p:cxnSp>
        <p:nvCxnSpPr>
          <p:cNvPr id="21" name="Straight Arrow Connector 9"/>
          <p:cNvCxnSpPr/>
          <p:nvPr/>
        </p:nvCxnSpPr>
        <p:spPr>
          <a:xfrm flipV="1">
            <a:off x="2949395" y="4346681"/>
            <a:ext cx="0" cy="295941"/>
          </a:xfrm>
          <a:prstGeom prst="straightConnector1">
            <a:avLst/>
          </a:prstGeom>
          <a:ln>
            <a:solidFill>
              <a:schemeClr val="accent3">
                <a:lumMod val="75000"/>
              </a:schemeClr>
            </a:solidFill>
            <a:tailEnd type="arrow"/>
          </a:ln>
        </p:spPr>
        <p:style>
          <a:lnRef idx="2">
            <a:schemeClr val="accent1"/>
          </a:lnRef>
          <a:fillRef idx="0">
            <a:schemeClr val="accent1"/>
          </a:fillRef>
          <a:effectRef idx="1">
            <a:schemeClr val="accent1"/>
          </a:effectRef>
          <a:fontRef idx="minor">
            <a:schemeClr val="tx1"/>
          </a:fontRef>
        </p:style>
      </p:cxnSp>
      <p:cxnSp>
        <p:nvCxnSpPr>
          <p:cNvPr id="22" name="Straight Arrow Connector 9"/>
          <p:cNvCxnSpPr/>
          <p:nvPr/>
        </p:nvCxnSpPr>
        <p:spPr>
          <a:xfrm flipV="1">
            <a:off x="3673391" y="4324375"/>
            <a:ext cx="0" cy="295941"/>
          </a:xfrm>
          <a:prstGeom prst="straightConnector1">
            <a:avLst/>
          </a:prstGeom>
          <a:ln>
            <a:solidFill>
              <a:schemeClr val="accent3">
                <a:lumMod val="75000"/>
              </a:schemeClr>
            </a:solidFill>
            <a:tailEnd type="arrow"/>
          </a:ln>
        </p:spPr>
        <p:style>
          <a:lnRef idx="2">
            <a:schemeClr val="accent1"/>
          </a:lnRef>
          <a:fillRef idx="0">
            <a:schemeClr val="accent1"/>
          </a:fillRef>
          <a:effectRef idx="1">
            <a:schemeClr val="accent1"/>
          </a:effectRef>
          <a:fontRef idx="minor">
            <a:schemeClr val="tx1"/>
          </a:fontRef>
        </p:style>
      </p:cxnSp>
      <p:cxnSp>
        <p:nvCxnSpPr>
          <p:cNvPr id="23" name="Straight Arrow Connector 9"/>
          <p:cNvCxnSpPr/>
          <p:nvPr/>
        </p:nvCxnSpPr>
        <p:spPr>
          <a:xfrm flipV="1">
            <a:off x="4437496" y="4336316"/>
            <a:ext cx="0" cy="295941"/>
          </a:xfrm>
          <a:prstGeom prst="straightConnector1">
            <a:avLst/>
          </a:prstGeom>
          <a:ln>
            <a:solidFill>
              <a:schemeClr val="accent3">
                <a:lumMod val="75000"/>
              </a:schemeClr>
            </a:solidFill>
            <a:tailEnd type="arrow"/>
          </a:ln>
        </p:spPr>
        <p:style>
          <a:lnRef idx="2">
            <a:schemeClr val="accent1"/>
          </a:lnRef>
          <a:fillRef idx="0">
            <a:schemeClr val="accent1"/>
          </a:fillRef>
          <a:effectRef idx="1">
            <a:schemeClr val="accent1"/>
          </a:effectRef>
          <a:fontRef idx="minor">
            <a:schemeClr val="tx1"/>
          </a:fontRef>
        </p:style>
      </p:cxnSp>
      <p:cxnSp>
        <p:nvCxnSpPr>
          <p:cNvPr id="24" name="Conector recto 23"/>
          <p:cNvCxnSpPr/>
          <p:nvPr/>
        </p:nvCxnSpPr>
        <p:spPr>
          <a:xfrm flipV="1">
            <a:off x="2050984" y="4295154"/>
            <a:ext cx="2592430" cy="42450"/>
          </a:xfrm>
          <a:prstGeom prst="line">
            <a:avLst/>
          </a:prstGeom>
          <a:ln w="12700">
            <a:prstDash val="dash"/>
          </a:ln>
        </p:spPr>
        <p:style>
          <a:lnRef idx="2">
            <a:schemeClr val="accent1"/>
          </a:lnRef>
          <a:fillRef idx="0">
            <a:schemeClr val="accent1"/>
          </a:fillRef>
          <a:effectRef idx="1">
            <a:schemeClr val="accent1"/>
          </a:effectRef>
          <a:fontRef idx="minor">
            <a:schemeClr val="tx1"/>
          </a:fontRef>
        </p:style>
      </p:cxnSp>
      <p:sp>
        <p:nvSpPr>
          <p:cNvPr id="25" name="Rectangle 35"/>
          <p:cNvSpPr>
            <a:spLocks/>
          </p:cNvSpPr>
          <p:nvPr/>
        </p:nvSpPr>
        <p:spPr bwMode="auto">
          <a:xfrm>
            <a:off x="1994682" y="4022546"/>
            <a:ext cx="384722"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100</a:t>
            </a:r>
          </a:p>
        </p:txBody>
      </p:sp>
      <p:cxnSp>
        <p:nvCxnSpPr>
          <p:cNvPr id="29" name="Straight Connector 6"/>
          <p:cNvCxnSpPr/>
          <p:nvPr/>
        </p:nvCxnSpPr>
        <p:spPr>
          <a:xfrm flipV="1">
            <a:off x="6597817" y="3906039"/>
            <a:ext cx="3146778" cy="33582"/>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0" name="Straight Arrow Connector 9"/>
          <p:cNvCxnSpPr/>
          <p:nvPr/>
        </p:nvCxnSpPr>
        <p:spPr>
          <a:xfrm flipV="1">
            <a:off x="8044796" y="3618448"/>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31" name="Rectangle 35"/>
          <p:cNvSpPr>
            <a:spLocks/>
          </p:cNvSpPr>
          <p:nvPr/>
        </p:nvSpPr>
        <p:spPr bwMode="auto">
          <a:xfrm>
            <a:off x="6533696" y="3921670"/>
            <a:ext cx="12824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0</a:t>
            </a:r>
          </a:p>
        </p:txBody>
      </p:sp>
      <p:sp>
        <p:nvSpPr>
          <p:cNvPr id="32" name="Rectangle 36"/>
          <p:cNvSpPr>
            <a:spLocks/>
          </p:cNvSpPr>
          <p:nvPr/>
        </p:nvSpPr>
        <p:spPr bwMode="auto">
          <a:xfrm>
            <a:off x="7143790" y="3896841"/>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a:t>
            </a:r>
          </a:p>
        </p:txBody>
      </p:sp>
      <p:sp>
        <p:nvSpPr>
          <p:cNvPr id="33" name="Rectangle 37"/>
          <p:cNvSpPr>
            <a:spLocks/>
          </p:cNvSpPr>
          <p:nvPr/>
        </p:nvSpPr>
        <p:spPr bwMode="auto">
          <a:xfrm>
            <a:off x="7901578" y="3896841"/>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2</a:t>
            </a:r>
          </a:p>
        </p:txBody>
      </p:sp>
      <p:sp>
        <p:nvSpPr>
          <p:cNvPr id="34" name="Rectangle 38"/>
          <p:cNvSpPr>
            <a:spLocks/>
          </p:cNvSpPr>
          <p:nvPr/>
        </p:nvSpPr>
        <p:spPr bwMode="auto">
          <a:xfrm>
            <a:off x="8567520" y="3897568"/>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3</a:t>
            </a:r>
          </a:p>
        </p:txBody>
      </p:sp>
      <p:sp>
        <p:nvSpPr>
          <p:cNvPr id="35" name="Rectangle 39"/>
          <p:cNvSpPr>
            <a:spLocks/>
          </p:cNvSpPr>
          <p:nvPr/>
        </p:nvSpPr>
        <p:spPr bwMode="auto">
          <a:xfrm>
            <a:off x="9307355" y="3927255"/>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4</a:t>
            </a:r>
          </a:p>
        </p:txBody>
      </p:sp>
      <p:sp>
        <p:nvSpPr>
          <p:cNvPr id="36" name="Rectangle 35"/>
          <p:cNvSpPr>
            <a:spLocks/>
          </p:cNvSpPr>
          <p:nvPr/>
        </p:nvSpPr>
        <p:spPr bwMode="auto">
          <a:xfrm>
            <a:off x="7915759" y="3318462"/>
            <a:ext cx="256481"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20</a:t>
            </a:r>
          </a:p>
        </p:txBody>
      </p:sp>
      <p:cxnSp>
        <p:nvCxnSpPr>
          <p:cNvPr id="37" name="Straight Arrow Connector 9"/>
          <p:cNvCxnSpPr/>
          <p:nvPr/>
        </p:nvCxnSpPr>
        <p:spPr>
          <a:xfrm flipV="1">
            <a:off x="8774572" y="3589228"/>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38" name="Rectangle 35"/>
          <p:cNvSpPr>
            <a:spLocks/>
          </p:cNvSpPr>
          <p:nvPr/>
        </p:nvSpPr>
        <p:spPr bwMode="auto">
          <a:xfrm>
            <a:off x="8512735" y="3009291"/>
            <a:ext cx="551433"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2(20)</a:t>
            </a:r>
          </a:p>
        </p:txBody>
      </p:sp>
      <p:sp>
        <p:nvSpPr>
          <p:cNvPr id="39" name="Rectangle 35"/>
          <p:cNvSpPr>
            <a:spLocks/>
          </p:cNvSpPr>
          <p:nvPr/>
        </p:nvSpPr>
        <p:spPr bwMode="auto">
          <a:xfrm>
            <a:off x="9258292" y="2723152"/>
            <a:ext cx="551433"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3(20)</a:t>
            </a:r>
          </a:p>
        </p:txBody>
      </p:sp>
      <p:cxnSp>
        <p:nvCxnSpPr>
          <p:cNvPr id="40" name="Straight Arrow Connector 9"/>
          <p:cNvCxnSpPr/>
          <p:nvPr/>
        </p:nvCxnSpPr>
        <p:spPr>
          <a:xfrm flipV="1">
            <a:off x="8774572" y="3299520"/>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41" name="Straight Arrow Connector 9"/>
          <p:cNvCxnSpPr/>
          <p:nvPr/>
        </p:nvCxnSpPr>
        <p:spPr>
          <a:xfrm flipV="1">
            <a:off x="9534007" y="3593618"/>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42" name="Straight Arrow Connector 9"/>
          <p:cNvCxnSpPr/>
          <p:nvPr/>
        </p:nvCxnSpPr>
        <p:spPr>
          <a:xfrm flipV="1">
            <a:off x="9534007" y="3303910"/>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43" name="Straight Arrow Connector 9"/>
          <p:cNvCxnSpPr/>
          <p:nvPr/>
        </p:nvCxnSpPr>
        <p:spPr>
          <a:xfrm flipV="1">
            <a:off x="9534007" y="3013609"/>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50" name="Straight Connector 6"/>
          <p:cNvCxnSpPr/>
          <p:nvPr/>
        </p:nvCxnSpPr>
        <p:spPr>
          <a:xfrm flipV="1">
            <a:off x="6660173" y="5400807"/>
            <a:ext cx="3146778" cy="33582"/>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52" name="Rectangle 35"/>
          <p:cNvSpPr>
            <a:spLocks/>
          </p:cNvSpPr>
          <p:nvPr/>
        </p:nvSpPr>
        <p:spPr bwMode="auto">
          <a:xfrm>
            <a:off x="6596052" y="5416438"/>
            <a:ext cx="12824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0</a:t>
            </a:r>
          </a:p>
        </p:txBody>
      </p:sp>
      <p:sp>
        <p:nvSpPr>
          <p:cNvPr id="53" name="Rectangle 36"/>
          <p:cNvSpPr>
            <a:spLocks/>
          </p:cNvSpPr>
          <p:nvPr/>
        </p:nvSpPr>
        <p:spPr bwMode="auto">
          <a:xfrm>
            <a:off x="7206146" y="5391609"/>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a:t>
            </a:r>
          </a:p>
        </p:txBody>
      </p:sp>
      <p:sp>
        <p:nvSpPr>
          <p:cNvPr id="54" name="Rectangle 37"/>
          <p:cNvSpPr>
            <a:spLocks/>
          </p:cNvSpPr>
          <p:nvPr/>
        </p:nvSpPr>
        <p:spPr bwMode="auto">
          <a:xfrm>
            <a:off x="7963934" y="5391609"/>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2</a:t>
            </a:r>
          </a:p>
        </p:txBody>
      </p:sp>
      <p:sp>
        <p:nvSpPr>
          <p:cNvPr id="55" name="Rectangle 38"/>
          <p:cNvSpPr>
            <a:spLocks/>
          </p:cNvSpPr>
          <p:nvPr/>
        </p:nvSpPr>
        <p:spPr bwMode="auto">
          <a:xfrm>
            <a:off x="8629876" y="5392336"/>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3</a:t>
            </a:r>
          </a:p>
        </p:txBody>
      </p:sp>
      <p:sp>
        <p:nvSpPr>
          <p:cNvPr id="56" name="Rectangle 39"/>
          <p:cNvSpPr>
            <a:spLocks/>
          </p:cNvSpPr>
          <p:nvPr/>
        </p:nvSpPr>
        <p:spPr bwMode="auto">
          <a:xfrm>
            <a:off x="9369711" y="5422023"/>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4</a:t>
            </a:r>
          </a:p>
        </p:txBody>
      </p:sp>
      <p:cxnSp>
        <p:nvCxnSpPr>
          <p:cNvPr id="57" name="Straight Arrow Connector 9"/>
          <p:cNvCxnSpPr/>
          <p:nvPr/>
        </p:nvCxnSpPr>
        <p:spPr>
          <a:xfrm flipV="1">
            <a:off x="7373257" y="5125217"/>
            <a:ext cx="0" cy="295941"/>
          </a:xfrm>
          <a:prstGeom prst="straightConnector1">
            <a:avLst/>
          </a:prstGeom>
          <a:ln>
            <a:solidFill>
              <a:schemeClr val="accent3">
                <a:lumMod val="75000"/>
              </a:schemeClr>
            </a:solidFill>
            <a:tailEnd type="arrow"/>
          </a:ln>
        </p:spPr>
        <p:style>
          <a:lnRef idx="2">
            <a:schemeClr val="accent1"/>
          </a:lnRef>
          <a:fillRef idx="0">
            <a:schemeClr val="accent1"/>
          </a:fillRef>
          <a:effectRef idx="1">
            <a:schemeClr val="accent1"/>
          </a:effectRef>
          <a:fontRef idx="minor">
            <a:schemeClr val="tx1"/>
          </a:fontRef>
        </p:style>
      </p:cxnSp>
      <p:cxnSp>
        <p:nvCxnSpPr>
          <p:cNvPr id="58" name="Straight Arrow Connector 9"/>
          <p:cNvCxnSpPr/>
          <p:nvPr/>
        </p:nvCxnSpPr>
        <p:spPr>
          <a:xfrm flipV="1">
            <a:off x="8112932" y="5127173"/>
            <a:ext cx="0" cy="295941"/>
          </a:xfrm>
          <a:prstGeom prst="straightConnector1">
            <a:avLst/>
          </a:prstGeom>
          <a:ln>
            <a:solidFill>
              <a:schemeClr val="accent3">
                <a:lumMod val="75000"/>
              </a:schemeClr>
            </a:solidFill>
            <a:tailEnd type="arrow"/>
          </a:ln>
        </p:spPr>
        <p:style>
          <a:lnRef idx="2">
            <a:schemeClr val="accent1"/>
          </a:lnRef>
          <a:fillRef idx="0">
            <a:schemeClr val="accent1"/>
          </a:fillRef>
          <a:effectRef idx="1">
            <a:schemeClr val="accent1"/>
          </a:effectRef>
          <a:fontRef idx="minor">
            <a:schemeClr val="tx1"/>
          </a:fontRef>
        </p:style>
      </p:cxnSp>
      <p:cxnSp>
        <p:nvCxnSpPr>
          <p:cNvPr id="59" name="Straight Arrow Connector 9"/>
          <p:cNvCxnSpPr/>
          <p:nvPr/>
        </p:nvCxnSpPr>
        <p:spPr>
          <a:xfrm flipV="1">
            <a:off x="8836928" y="5104867"/>
            <a:ext cx="0" cy="295941"/>
          </a:xfrm>
          <a:prstGeom prst="straightConnector1">
            <a:avLst/>
          </a:prstGeom>
          <a:ln>
            <a:solidFill>
              <a:schemeClr val="accent3">
                <a:lumMod val="75000"/>
              </a:schemeClr>
            </a:solidFill>
            <a:tailEnd type="arrow"/>
          </a:ln>
        </p:spPr>
        <p:style>
          <a:lnRef idx="2">
            <a:schemeClr val="accent1"/>
          </a:lnRef>
          <a:fillRef idx="0">
            <a:schemeClr val="accent1"/>
          </a:fillRef>
          <a:effectRef idx="1">
            <a:schemeClr val="accent1"/>
          </a:effectRef>
          <a:fontRef idx="minor">
            <a:schemeClr val="tx1"/>
          </a:fontRef>
        </p:style>
      </p:cxnSp>
      <p:cxnSp>
        <p:nvCxnSpPr>
          <p:cNvPr id="60" name="Straight Arrow Connector 9"/>
          <p:cNvCxnSpPr/>
          <p:nvPr/>
        </p:nvCxnSpPr>
        <p:spPr>
          <a:xfrm flipV="1">
            <a:off x="9601033" y="5116808"/>
            <a:ext cx="0" cy="295941"/>
          </a:xfrm>
          <a:prstGeom prst="straightConnector1">
            <a:avLst/>
          </a:prstGeom>
          <a:ln>
            <a:solidFill>
              <a:schemeClr val="accent3">
                <a:lumMod val="75000"/>
              </a:schemeClr>
            </a:solidFill>
            <a:tailEnd type="arrow"/>
          </a:ln>
        </p:spPr>
        <p:style>
          <a:lnRef idx="2">
            <a:schemeClr val="accent1"/>
          </a:lnRef>
          <a:fillRef idx="0">
            <a:schemeClr val="accent1"/>
          </a:fillRef>
          <a:effectRef idx="1">
            <a:schemeClr val="accent1"/>
          </a:effectRef>
          <a:fontRef idx="minor">
            <a:schemeClr val="tx1"/>
          </a:fontRef>
        </p:style>
      </p:cxnSp>
      <p:cxnSp>
        <p:nvCxnSpPr>
          <p:cNvPr id="61" name="Conector recto 60"/>
          <p:cNvCxnSpPr/>
          <p:nvPr/>
        </p:nvCxnSpPr>
        <p:spPr>
          <a:xfrm flipV="1">
            <a:off x="7214521" y="5075646"/>
            <a:ext cx="2592430" cy="42450"/>
          </a:xfrm>
          <a:prstGeom prst="line">
            <a:avLst/>
          </a:prstGeom>
          <a:ln w="12700">
            <a:prstDash val="dash"/>
          </a:ln>
        </p:spPr>
        <p:style>
          <a:lnRef idx="2">
            <a:schemeClr val="accent1"/>
          </a:lnRef>
          <a:fillRef idx="0">
            <a:schemeClr val="accent1"/>
          </a:fillRef>
          <a:effectRef idx="1">
            <a:schemeClr val="accent1"/>
          </a:effectRef>
          <a:fontRef idx="minor">
            <a:schemeClr val="tx1"/>
          </a:fontRef>
        </p:style>
      </p:cxnSp>
      <p:sp>
        <p:nvSpPr>
          <p:cNvPr id="62" name="Rectangle 35"/>
          <p:cNvSpPr>
            <a:spLocks/>
          </p:cNvSpPr>
          <p:nvPr/>
        </p:nvSpPr>
        <p:spPr bwMode="auto">
          <a:xfrm>
            <a:off x="8266947" y="4810133"/>
            <a:ext cx="384722"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100</a:t>
            </a:r>
          </a:p>
        </p:txBody>
      </p:sp>
      <p:sp>
        <p:nvSpPr>
          <p:cNvPr id="63" name="Abrir llave 62"/>
          <p:cNvSpPr/>
          <p:nvPr/>
        </p:nvSpPr>
        <p:spPr>
          <a:xfrm>
            <a:off x="5539391" y="2957833"/>
            <a:ext cx="165828" cy="2637424"/>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s-ES" sz="2000"/>
          </a:p>
        </p:txBody>
      </p:sp>
      <p:sp>
        <p:nvSpPr>
          <p:cNvPr id="28" name="Title 1">
            <a:extLst>
              <a:ext uri="{FF2B5EF4-FFF2-40B4-BE49-F238E27FC236}">
                <a16:creationId xmlns:a16="http://schemas.microsoft.com/office/drawing/2014/main" id="{F8B2F238-6B39-3C6B-B39C-B79EC1DA8C84}"/>
              </a:ext>
            </a:extLst>
          </p:cNvPr>
          <p:cNvSpPr>
            <a:spLocks noGrp="1"/>
          </p:cNvSpPr>
          <p:nvPr>
            <p:ph type="title"/>
          </p:nvPr>
        </p:nvSpPr>
        <p:spPr>
          <a:xfrm>
            <a:off x="581192" y="702156"/>
            <a:ext cx="11029616" cy="1013800"/>
          </a:xfrm>
        </p:spPr>
        <p:txBody>
          <a:bodyPr>
            <a:normAutofit/>
          </a:bodyPr>
          <a:lstStyle/>
          <a:p>
            <a:r>
              <a:rPr lang="es-ES_tradnl" sz="3200" dirty="0">
                <a:latin typeface="Gill Sans MT (titulo)"/>
              </a:rPr>
              <a:t>Gradientes aritméticos</a:t>
            </a:r>
          </a:p>
        </p:txBody>
      </p:sp>
      <p:sp>
        <p:nvSpPr>
          <p:cNvPr id="44" name="Rectángulo 43">
            <a:extLst>
              <a:ext uri="{FF2B5EF4-FFF2-40B4-BE49-F238E27FC236}">
                <a16:creationId xmlns:a16="http://schemas.microsoft.com/office/drawing/2014/main" id="{1A289816-0B8E-0D3D-FAC8-FFCFA5D54845}"/>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45" name="Picture 2" descr="Clientes y aliados | Centro de Evaluación | Uniandes">
            <a:extLst>
              <a:ext uri="{FF2B5EF4-FFF2-40B4-BE49-F238E27FC236}">
                <a16:creationId xmlns:a16="http://schemas.microsoft.com/office/drawing/2014/main" id="{755C3A06-5E1B-A659-B921-A4B9FF5EE9F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46" name="Rectángulo 45">
            <a:extLst>
              <a:ext uri="{FF2B5EF4-FFF2-40B4-BE49-F238E27FC236}">
                <a16:creationId xmlns:a16="http://schemas.microsoft.com/office/drawing/2014/main" id="{574A4AF7-9D34-2655-15F2-C2811919C14A}"/>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2" name="Slide Number Placeholder 3">
            <a:extLst>
              <a:ext uri="{FF2B5EF4-FFF2-40B4-BE49-F238E27FC236}">
                <a16:creationId xmlns:a16="http://schemas.microsoft.com/office/drawing/2014/main" id="{4A388A6A-E3CC-BBE9-B04A-70804E71CCAE}"/>
              </a:ext>
            </a:extLst>
          </p:cNvPr>
          <p:cNvSpPr txBox="1">
            <a:spLocks/>
          </p:cNvSpPr>
          <p:nvPr/>
        </p:nvSpPr>
        <p:spPr>
          <a:xfrm>
            <a:off x="10710700" y="6108537"/>
            <a:ext cx="1052508" cy="365125"/>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5E3E23BA-6E79-2442-BA73-D218A5E297C3}" type="slidenum">
              <a:rPr lang="en-US" sz="2000" b="1" smtClean="0">
                <a:latin typeface="Gill Sans MT (Títulos)"/>
              </a:rPr>
              <a:pPr/>
              <a:t>29</a:t>
            </a:fld>
            <a:endParaRPr lang="en-US" sz="2000" b="1" dirty="0">
              <a:latin typeface="Gill Sans MT (Títulos)"/>
            </a:endParaRPr>
          </a:p>
        </p:txBody>
      </p:sp>
    </p:spTree>
    <p:extLst>
      <p:ext uri="{BB962C8B-B14F-4D97-AF65-F5344CB8AC3E}">
        <p14:creationId xmlns:p14="http://schemas.microsoft.com/office/powerpoint/2010/main" val="9680854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6"/>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8"/>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9"/>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40"/>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41"/>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42"/>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43"/>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50"/>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52"/>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53"/>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54"/>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55"/>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56"/>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57"/>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58"/>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59"/>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60"/>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61"/>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6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P spid="32" grpId="0"/>
      <p:bldP spid="33" grpId="0"/>
      <p:bldP spid="34" grpId="0"/>
      <p:bldP spid="35" grpId="0"/>
      <p:bldP spid="36" grpId="0"/>
      <p:bldP spid="38" grpId="0"/>
      <p:bldP spid="39" grpId="0"/>
      <p:bldP spid="52" grpId="0"/>
      <p:bldP spid="53" grpId="0"/>
      <p:bldP spid="54" grpId="0"/>
      <p:bldP spid="55" grpId="0"/>
      <p:bldP spid="56" grpId="0"/>
      <p:bldP spid="62" grpId="0"/>
      <p:bldP spid="63"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652833" y="1727531"/>
            <a:ext cx="4411697" cy="859621"/>
          </a:xfrm>
        </p:spPr>
        <p:txBody>
          <a:bodyPr>
            <a:normAutofit/>
          </a:bodyPr>
          <a:lstStyle/>
          <a:p>
            <a:pPr marL="0" indent="0">
              <a:buNone/>
            </a:pPr>
            <a:r>
              <a:rPr lang="es-ES" sz="2400" dirty="0"/>
              <a:t>Se calcula el valor presente:</a:t>
            </a:r>
          </a:p>
        </p:txBody>
      </p:sp>
      <p:cxnSp>
        <p:nvCxnSpPr>
          <p:cNvPr id="29" name="Straight Connector 6"/>
          <p:cNvCxnSpPr/>
          <p:nvPr/>
        </p:nvCxnSpPr>
        <p:spPr>
          <a:xfrm flipV="1">
            <a:off x="1593073" y="3533658"/>
            <a:ext cx="3146778" cy="33582"/>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0" name="Straight Arrow Connector 9"/>
          <p:cNvCxnSpPr/>
          <p:nvPr/>
        </p:nvCxnSpPr>
        <p:spPr>
          <a:xfrm flipV="1">
            <a:off x="3040052" y="3246067"/>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31" name="Rectangle 35"/>
          <p:cNvSpPr>
            <a:spLocks/>
          </p:cNvSpPr>
          <p:nvPr/>
        </p:nvSpPr>
        <p:spPr bwMode="auto">
          <a:xfrm>
            <a:off x="1541776" y="3580067"/>
            <a:ext cx="102592"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1600"/>
              <a:t>0</a:t>
            </a:r>
          </a:p>
        </p:txBody>
      </p:sp>
      <p:sp>
        <p:nvSpPr>
          <p:cNvPr id="32" name="Rectangle 36"/>
          <p:cNvSpPr>
            <a:spLocks/>
          </p:cNvSpPr>
          <p:nvPr/>
        </p:nvSpPr>
        <p:spPr bwMode="auto">
          <a:xfrm>
            <a:off x="2139046" y="3555238"/>
            <a:ext cx="337060"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t>1</a:t>
            </a:r>
          </a:p>
        </p:txBody>
      </p:sp>
      <p:sp>
        <p:nvSpPr>
          <p:cNvPr id="33" name="Rectangle 37"/>
          <p:cNvSpPr>
            <a:spLocks/>
          </p:cNvSpPr>
          <p:nvPr/>
        </p:nvSpPr>
        <p:spPr bwMode="auto">
          <a:xfrm>
            <a:off x="2896834" y="3555238"/>
            <a:ext cx="337060"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t>2</a:t>
            </a:r>
          </a:p>
        </p:txBody>
      </p:sp>
      <p:sp>
        <p:nvSpPr>
          <p:cNvPr id="34" name="Rectangle 38"/>
          <p:cNvSpPr>
            <a:spLocks/>
          </p:cNvSpPr>
          <p:nvPr/>
        </p:nvSpPr>
        <p:spPr bwMode="auto">
          <a:xfrm>
            <a:off x="3562776" y="3555965"/>
            <a:ext cx="337060"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t>3</a:t>
            </a:r>
          </a:p>
        </p:txBody>
      </p:sp>
      <p:sp>
        <p:nvSpPr>
          <p:cNvPr id="35" name="Rectangle 39"/>
          <p:cNvSpPr>
            <a:spLocks/>
          </p:cNvSpPr>
          <p:nvPr/>
        </p:nvSpPr>
        <p:spPr bwMode="auto">
          <a:xfrm>
            <a:off x="4302611" y="3585652"/>
            <a:ext cx="337060"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t>4</a:t>
            </a:r>
          </a:p>
        </p:txBody>
      </p:sp>
      <p:sp>
        <p:nvSpPr>
          <p:cNvPr id="36" name="Rectangle 35"/>
          <p:cNvSpPr>
            <a:spLocks/>
          </p:cNvSpPr>
          <p:nvPr/>
        </p:nvSpPr>
        <p:spPr bwMode="auto">
          <a:xfrm>
            <a:off x="2936663" y="2976859"/>
            <a:ext cx="205184"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1600"/>
              <a:t>20</a:t>
            </a:r>
          </a:p>
        </p:txBody>
      </p:sp>
      <p:cxnSp>
        <p:nvCxnSpPr>
          <p:cNvPr id="37" name="Straight Arrow Connector 9"/>
          <p:cNvCxnSpPr/>
          <p:nvPr/>
        </p:nvCxnSpPr>
        <p:spPr>
          <a:xfrm flipV="1">
            <a:off x="3769828" y="3216847"/>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38" name="Rectangle 35"/>
          <p:cNvSpPr>
            <a:spLocks/>
          </p:cNvSpPr>
          <p:nvPr/>
        </p:nvSpPr>
        <p:spPr bwMode="auto">
          <a:xfrm>
            <a:off x="3564096" y="2667688"/>
            <a:ext cx="439223"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1600"/>
              <a:t>2(20)</a:t>
            </a:r>
          </a:p>
        </p:txBody>
      </p:sp>
      <p:sp>
        <p:nvSpPr>
          <p:cNvPr id="39" name="Rectangle 35"/>
          <p:cNvSpPr>
            <a:spLocks/>
          </p:cNvSpPr>
          <p:nvPr/>
        </p:nvSpPr>
        <p:spPr bwMode="auto">
          <a:xfrm>
            <a:off x="4309653" y="2381549"/>
            <a:ext cx="439223"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1600"/>
              <a:t>3(20)</a:t>
            </a:r>
          </a:p>
        </p:txBody>
      </p:sp>
      <p:cxnSp>
        <p:nvCxnSpPr>
          <p:cNvPr id="40" name="Straight Arrow Connector 9"/>
          <p:cNvCxnSpPr/>
          <p:nvPr/>
        </p:nvCxnSpPr>
        <p:spPr>
          <a:xfrm flipV="1">
            <a:off x="3769828" y="2927139"/>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41" name="Straight Arrow Connector 9"/>
          <p:cNvCxnSpPr/>
          <p:nvPr/>
        </p:nvCxnSpPr>
        <p:spPr>
          <a:xfrm flipV="1">
            <a:off x="4529263" y="3221237"/>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42" name="Straight Arrow Connector 9"/>
          <p:cNvCxnSpPr/>
          <p:nvPr/>
        </p:nvCxnSpPr>
        <p:spPr>
          <a:xfrm flipV="1">
            <a:off x="4529263" y="2931529"/>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43" name="Straight Arrow Connector 9"/>
          <p:cNvCxnSpPr/>
          <p:nvPr/>
        </p:nvCxnSpPr>
        <p:spPr>
          <a:xfrm flipV="1">
            <a:off x="4529263" y="2641228"/>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50" name="Straight Connector 6"/>
          <p:cNvCxnSpPr/>
          <p:nvPr/>
        </p:nvCxnSpPr>
        <p:spPr>
          <a:xfrm flipV="1">
            <a:off x="7680232" y="2867712"/>
            <a:ext cx="3146778" cy="33582"/>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52" name="Rectangle 35"/>
          <p:cNvSpPr>
            <a:spLocks/>
          </p:cNvSpPr>
          <p:nvPr/>
        </p:nvSpPr>
        <p:spPr bwMode="auto">
          <a:xfrm>
            <a:off x="7616111" y="2883343"/>
            <a:ext cx="12824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0</a:t>
            </a:r>
          </a:p>
        </p:txBody>
      </p:sp>
      <p:sp>
        <p:nvSpPr>
          <p:cNvPr id="53" name="Rectangle 36"/>
          <p:cNvSpPr>
            <a:spLocks/>
          </p:cNvSpPr>
          <p:nvPr/>
        </p:nvSpPr>
        <p:spPr bwMode="auto">
          <a:xfrm>
            <a:off x="8226205" y="2858514"/>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a:t>
            </a:r>
          </a:p>
        </p:txBody>
      </p:sp>
      <p:sp>
        <p:nvSpPr>
          <p:cNvPr id="54" name="Rectangle 37"/>
          <p:cNvSpPr>
            <a:spLocks/>
          </p:cNvSpPr>
          <p:nvPr/>
        </p:nvSpPr>
        <p:spPr bwMode="auto">
          <a:xfrm>
            <a:off x="8983993" y="2858514"/>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2</a:t>
            </a:r>
          </a:p>
        </p:txBody>
      </p:sp>
      <p:sp>
        <p:nvSpPr>
          <p:cNvPr id="55" name="Rectangle 38"/>
          <p:cNvSpPr>
            <a:spLocks/>
          </p:cNvSpPr>
          <p:nvPr/>
        </p:nvSpPr>
        <p:spPr bwMode="auto">
          <a:xfrm>
            <a:off x="9649935" y="2859241"/>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3</a:t>
            </a:r>
          </a:p>
        </p:txBody>
      </p:sp>
      <p:sp>
        <p:nvSpPr>
          <p:cNvPr id="56" name="Rectangle 39"/>
          <p:cNvSpPr>
            <a:spLocks/>
          </p:cNvSpPr>
          <p:nvPr/>
        </p:nvSpPr>
        <p:spPr bwMode="auto">
          <a:xfrm>
            <a:off x="10389770" y="2888928"/>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4</a:t>
            </a:r>
          </a:p>
        </p:txBody>
      </p:sp>
      <p:cxnSp>
        <p:nvCxnSpPr>
          <p:cNvPr id="57" name="Straight Arrow Connector 9"/>
          <p:cNvCxnSpPr/>
          <p:nvPr/>
        </p:nvCxnSpPr>
        <p:spPr>
          <a:xfrm flipV="1">
            <a:off x="8393316" y="2592122"/>
            <a:ext cx="0" cy="295941"/>
          </a:xfrm>
          <a:prstGeom prst="straightConnector1">
            <a:avLst/>
          </a:prstGeom>
          <a:ln>
            <a:solidFill>
              <a:schemeClr val="accent3">
                <a:lumMod val="75000"/>
              </a:schemeClr>
            </a:solidFill>
            <a:tailEnd type="arrow"/>
          </a:ln>
        </p:spPr>
        <p:style>
          <a:lnRef idx="2">
            <a:schemeClr val="accent1"/>
          </a:lnRef>
          <a:fillRef idx="0">
            <a:schemeClr val="accent1"/>
          </a:fillRef>
          <a:effectRef idx="1">
            <a:schemeClr val="accent1"/>
          </a:effectRef>
          <a:fontRef idx="minor">
            <a:schemeClr val="tx1"/>
          </a:fontRef>
        </p:style>
      </p:cxnSp>
      <p:cxnSp>
        <p:nvCxnSpPr>
          <p:cNvPr id="58" name="Straight Arrow Connector 9"/>
          <p:cNvCxnSpPr/>
          <p:nvPr/>
        </p:nvCxnSpPr>
        <p:spPr>
          <a:xfrm flipV="1">
            <a:off x="9132991" y="2594078"/>
            <a:ext cx="0" cy="295941"/>
          </a:xfrm>
          <a:prstGeom prst="straightConnector1">
            <a:avLst/>
          </a:prstGeom>
          <a:ln>
            <a:solidFill>
              <a:schemeClr val="accent3">
                <a:lumMod val="75000"/>
              </a:schemeClr>
            </a:solidFill>
            <a:tailEnd type="arrow"/>
          </a:ln>
        </p:spPr>
        <p:style>
          <a:lnRef idx="2">
            <a:schemeClr val="accent1"/>
          </a:lnRef>
          <a:fillRef idx="0">
            <a:schemeClr val="accent1"/>
          </a:fillRef>
          <a:effectRef idx="1">
            <a:schemeClr val="accent1"/>
          </a:effectRef>
          <a:fontRef idx="minor">
            <a:schemeClr val="tx1"/>
          </a:fontRef>
        </p:style>
      </p:cxnSp>
      <p:cxnSp>
        <p:nvCxnSpPr>
          <p:cNvPr id="59" name="Straight Arrow Connector 9"/>
          <p:cNvCxnSpPr/>
          <p:nvPr/>
        </p:nvCxnSpPr>
        <p:spPr>
          <a:xfrm flipV="1">
            <a:off x="9856987" y="2571772"/>
            <a:ext cx="0" cy="295941"/>
          </a:xfrm>
          <a:prstGeom prst="straightConnector1">
            <a:avLst/>
          </a:prstGeom>
          <a:ln>
            <a:solidFill>
              <a:schemeClr val="accent3">
                <a:lumMod val="75000"/>
              </a:schemeClr>
            </a:solidFill>
            <a:tailEnd type="arrow"/>
          </a:ln>
        </p:spPr>
        <p:style>
          <a:lnRef idx="2">
            <a:schemeClr val="accent1"/>
          </a:lnRef>
          <a:fillRef idx="0">
            <a:schemeClr val="accent1"/>
          </a:fillRef>
          <a:effectRef idx="1">
            <a:schemeClr val="accent1"/>
          </a:effectRef>
          <a:fontRef idx="minor">
            <a:schemeClr val="tx1"/>
          </a:fontRef>
        </p:style>
      </p:cxnSp>
      <p:cxnSp>
        <p:nvCxnSpPr>
          <p:cNvPr id="60" name="Straight Arrow Connector 9"/>
          <p:cNvCxnSpPr/>
          <p:nvPr/>
        </p:nvCxnSpPr>
        <p:spPr>
          <a:xfrm flipV="1">
            <a:off x="10621092" y="2583713"/>
            <a:ext cx="0" cy="295941"/>
          </a:xfrm>
          <a:prstGeom prst="straightConnector1">
            <a:avLst/>
          </a:prstGeom>
          <a:ln>
            <a:solidFill>
              <a:schemeClr val="accent3">
                <a:lumMod val="75000"/>
              </a:schemeClr>
            </a:solidFill>
            <a:tailEnd type="arrow"/>
          </a:ln>
        </p:spPr>
        <p:style>
          <a:lnRef idx="2">
            <a:schemeClr val="accent1"/>
          </a:lnRef>
          <a:fillRef idx="0">
            <a:schemeClr val="accent1"/>
          </a:fillRef>
          <a:effectRef idx="1">
            <a:schemeClr val="accent1"/>
          </a:effectRef>
          <a:fontRef idx="minor">
            <a:schemeClr val="tx1"/>
          </a:fontRef>
        </p:style>
      </p:cxnSp>
      <p:cxnSp>
        <p:nvCxnSpPr>
          <p:cNvPr id="61" name="Conector recto 60"/>
          <p:cNvCxnSpPr/>
          <p:nvPr/>
        </p:nvCxnSpPr>
        <p:spPr>
          <a:xfrm flipV="1">
            <a:off x="8234580" y="2542551"/>
            <a:ext cx="2592430" cy="42450"/>
          </a:xfrm>
          <a:prstGeom prst="line">
            <a:avLst/>
          </a:prstGeom>
          <a:ln w="12700">
            <a:prstDash val="dash"/>
          </a:ln>
        </p:spPr>
        <p:style>
          <a:lnRef idx="2">
            <a:schemeClr val="accent1"/>
          </a:lnRef>
          <a:fillRef idx="0">
            <a:schemeClr val="accent1"/>
          </a:fillRef>
          <a:effectRef idx="1">
            <a:schemeClr val="accent1"/>
          </a:effectRef>
          <a:fontRef idx="minor">
            <a:schemeClr val="tx1"/>
          </a:fontRef>
        </p:style>
      </p:cxnSp>
      <p:sp>
        <p:nvSpPr>
          <p:cNvPr id="62" name="Rectangle 35"/>
          <p:cNvSpPr>
            <a:spLocks/>
          </p:cNvSpPr>
          <p:nvPr/>
        </p:nvSpPr>
        <p:spPr bwMode="auto">
          <a:xfrm>
            <a:off x="9287006" y="2277038"/>
            <a:ext cx="384722"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100</a:t>
            </a:r>
          </a:p>
        </p:txBody>
      </p:sp>
      <p:cxnSp>
        <p:nvCxnSpPr>
          <p:cNvPr id="27" name="Conector recto 26"/>
          <p:cNvCxnSpPr>
            <a:cxnSpLocks/>
          </p:cNvCxnSpPr>
          <p:nvPr/>
        </p:nvCxnSpPr>
        <p:spPr>
          <a:xfrm>
            <a:off x="6102614" y="2048975"/>
            <a:ext cx="0" cy="4003482"/>
          </a:xfrm>
          <a:prstGeom prst="line">
            <a:avLst/>
          </a:prstGeom>
        </p:spPr>
        <p:style>
          <a:lnRef idx="2">
            <a:schemeClr val="accent1"/>
          </a:lnRef>
          <a:fillRef idx="0">
            <a:schemeClr val="accent1"/>
          </a:fillRef>
          <a:effectRef idx="1">
            <a:schemeClr val="accent1"/>
          </a:effectRef>
          <a:fontRef idx="minor">
            <a:schemeClr val="tx1"/>
          </a:fontRef>
        </p:style>
      </p:cxnSp>
      <p:pic>
        <p:nvPicPr>
          <p:cNvPr id="44" name="Imagen 43" descr="latex-image-1.pdf"/>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10389" y="4045759"/>
            <a:ext cx="3596346" cy="518912"/>
          </a:xfrm>
          <a:prstGeom prst="rect">
            <a:avLst/>
          </a:prstGeom>
        </p:spPr>
      </p:pic>
      <p:pic>
        <p:nvPicPr>
          <p:cNvPr id="45" name="Picture 4" descr="latex-image-1.pdf"/>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42039" y="3577617"/>
            <a:ext cx="2316693" cy="598078"/>
          </a:xfrm>
          <a:prstGeom prst="rect">
            <a:avLst/>
          </a:prstGeom>
        </p:spPr>
      </p:pic>
      <p:pic>
        <p:nvPicPr>
          <p:cNvPr id="5" name="Imagen 4" descr="latex-image-1.pdf"/>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449873" y="4876880"/>
            <a:ext cx="826504" cy="200608"/>
          </a:xfrm>
          <a:prstGeom prst="rect">
            <a:avLst/>
          </a:prstGeom>
        </p:spPr>
      </p:pic>
      <p:pic>
        <p:nvPicPr>
          <p:cNvPr id="6" name="Imagen 5" descr="latex-image-1.pdf"/>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840102" y="4886292"/>
            <a:ext cx="625732" cy="191196"/>
          </a:xfrm>
          <a:prstGeom prst="rect">
            <a:avLst/>
          </a:prstGeom>
        </p:spPr>
      </p:pic>
      <p:pic>
        <p:nvPicPr>
          <p:cNvPr id="7" name="Imagen 6" descr="latex-image-1.pdf"/>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065955" y="4900084"/>
            <a:ext cx="709621" cy="177405"/>
          </a:xfrm>
          <a:prstGeom prst="rect">
            <a:avLst/>
          </a:prstGeom>
        </p:spPr>
      </p:pic>
      <p:pic>
        <p:nvPicPr>
          <p:cNvPr id="11" name="Imagen 10" descr="latex-image-1.pdf"/>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0068568" y="4605482"/>
            <a:ext cx="828535" cy="179777"/>
          </a:xfrm>
          <a:prstGeom prst="rect">
            <a:avLst/>
          </a:prstGeom>
        </p:spPr>
      </p:pic>
      <p:pic>
        <p:nvPicPr>
          <p:cNvPr id="46" name="Imagen 45" descr="latex-image-1.pdf"/>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578965" y="4574121"/>
            <a:ext cx="826504" cy="200608"/>
          </a:xfrm>
          <a:prstGeom prst="rect">
            <a:avLst/>
          </a:prstGeom>
        </p:spPr>
      </p:pic>
      <p:pic>
        <p:nvPicPr>
          <p:cNvPr id="47" name="Imagen 46" descr="latex-image-1.pdf"/>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969194" y="4583533"/>
            <a:ext cx="625732" cy="191196"/>
          </a:xfrm>
          <a:prstGeom prst="rect">
            <a:avLst/>
          </a:prstGeom>
        </p:spPr>
      </p:pic>
      <p:sp>
        <p:nvSpPr>
          <p:cNvPr id="13" name="Title 1">
            <a:extLst>
              <a:ext uri="{FF2B5EF4-FFF2-40B4-BE49-F238E27FC236}">
                <a16:creationId xmlns:a16="http://schemas.microsoft.com/office/drawing/2014/main" id="{CF588812-2384-64F5-1776-B89E39214A77}"/>
              </a:ext>
            </a:extLst>
          </p:cNvPr>
          <p:cNvSpPr>
            <a:spLocks noGrp="1"/>
          </p:cNvSpPr>
          <p:nvPr>
            <p:ph type="title"/>
          </p:nvPr>
        </p:nvSpPr>
        <p:spPr>
          <a:xfrm>
            <a:off x="581192" y="702156"/>
            <a:ext cx="11029616" cy="1013800"/>
          </a:xfrm>
        </p:spPr>
        <p:txBody>
          <a:bodyPr>
            <a:normAutofit/>
          </a:bodyPr>
          <a:lstStyle/>
          <a:p>
            <a:r>
              <a:rPr lang="es-ES_tradnl" sz="3200" dirty="0">
                <a:latin typeface="Gill Sans MT (titulo)"/>
              </a:rPr>
              <a:t>Gradientes aritméticos</a:t>
            </a:r>
          </a:p>
        </p:txBody>
      </p:sp>
      <p:sp>
        <p:nvSpPr>
          <p:cNvPr id="15" name="Rectángulo 14">
            <a:extLst>
              <a:ext uri="{FF2B5EF4-FFF2-40B4-BE49-F238E27FC236}">
                <a16:creationId xmlns:a16="http://schemas.microsoft.com/office/drawing/2014/main" id="{A448ACCB-0D74-E51C-90C9-E0F46BAA5154}"/>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6" name="Picture 2" descr="Clientes y aliados | Centro de Evaluación | Uniandes">
            <a:extLst>
              <a:ext uri="{FF2B5EF4-FFF2-40B4-BE49-F238E27FC236}">
                <a16:creationId xmlns:a16="http://schemas.microsoft.com/office/drawing/2014/main" id="{AC756F92-A108-1B76-30B2-47181A85829C}"/>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7" name="Rectángulo 16">
            <a:extLst>
              <a:ext uri="{FF2B5EF4-FFF2-40B4-BE49-F238E27FC236}">
                <a16:creationId xmlns:a16="http://schemas.microsoft.com/office/drawing/2014/main" id="{3D442608-5823-1D4B-564E-2BA4BBC19321}"/>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mc:AlternateContent xmlns:mc="http://schemas.openxmlformats.org/markup-compatibility/2006" xmlns:a14="http://schemas.microsoft.com/office/drawing/2010/main">
        <mc:Choice Requires="a14">
          <p:sp>
            <p:nvSpPr>
              <p:cNvPr id="8" name="CuadroTexto 7">
                <a:extLst>
                  <a:ext uri="{FF2B5EF4-FFF2-40B4-BE49-F238E27FC236}">
                    <a16:creationId xmlns:a16="http://schemas.microsoft.com/office/drawing/2014/main" id="{418D8C43-FC53-B03F-91BB-A5B6C16CC3ED}"/>
                  </a:ext>
                </a:extLst>
              </p:cNvPr>
              <p:cNvSpPr txBox="1"/>
              <p:nvPr/>
            </p:nvSpPr>
            <p:spPr>
              <a:xfrm>
                <a:off x="1712656" y="5389697"/>
                <a:ext cx="3418756"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ES" sz="2400" b="0" i="1" smtClean="0">
                          <a:solidFill>
                            <a:schemeClr val="tx1">
                              <a:lumMod val="85000"/>
                              <a:lumOff val="15000"/>
                            </a:schemeClr>
                          </a:solidFill>
                          <a:latin typeface="Cambria Math" panose="02040503050406030204" pitchFamily="18" charset="0"/>
                        </a:rPr>
                        <m:t>𝑉𝑃</m:t>
                      </m:r>
                      <m:sSub>
                        <m:sSubPr>
                          <m:ctrlPr>
                            <a:rPr lang="es-ES" sz="2400" b="0" i="1" smtClean="0">
                              <a:solidFill>
                                <a:schemeClr val="tx1">
                                  <a:lumMod val="85000"/>
                                  <a:lumOff val="15000"/>
                                </a:schemeClr>
                              </a:solidFill>
                              <a:latin typeface="Cambria Math" panose="02040503050406030204" pitchFamily="18" charset="0"/>
                            </a:rPr>
                          </m:ctrlPr>
                        </m:sSubPr>
                        <m:e>
                          <m:d>
                            <m:dPr>
                              <m:ctrlPr>
                                <a:rPr lang="es-ES" sz="2400" b="0" i="1" smtClean="0">
                                  <a:solidFill>
                                    <a:schemeClr val="tx1">
                                      <a:lumMod val="85000"/>
                                      <a:lumOff val="15000"/>
                                    </a:schemeClr>
                                  </a:solidFill>
                                  <a:latin typeface="Cambria Math" panose="02040503050406030204" pitchFamily="18" charset="0"/>
                                </a:rPr>
                              </m:ctrlPr>
                            </m:dPr>
                            <m:e>
                              <m:r>
                                <a:rPr lang="es-ES" sz="2400" b="0" i="1" smtClean="0">
                                  <a:solidFill>
                                    <a:schemeClr val="tx1">
                                      <a:lumMod val="85000"/>
                                      <a:lumOff val="15000"/>
                                    </a:schemeClr>
                                  </a:solidFill>
                                  <a:latin typeface="Cambria Math" panose="02040503050406030204" pitchFamily="18" charset="0"/>
                                </a:rPr>
                                <m:t>0</m:t>
                              </m:r>
                            </m:e>
                          </m:d>
                        </m:e>
                        <m:sub>
                          <m:r>
                            <a:rPr lang="es-ES" sz="2400" b="0" i="1" smtClean="0">
                              <a:solidFill>
                                <a:schemeClr val="tx1">
                                  <a:lumMod val="85000"/>
                                  <a:lumOff val="15000"/>
                                </a:schemeClr>
                              </a:solidFill>
                              <a:latin typeface="Cambria Math" panose="02040503050406030204" pitchFamily="18" charset="0"/>
                            </a:rPr>
                            <m:t>𝐴𝑟𝑖𝑡𝑚𝑒𝑡𝑖𝑐𝑜</m:t>
                          </m:r>
                        </m:sub>
                      </m:sSub>
                      <m:r>
                        <a:rPr lang="es-ES" sz="2400" b="0" i="1" smtClean="0">
                          <a:solidFill>
                            <a:schemeClr val="tx1">
                              <a:lumMod val="85000"/>
                              <a:lumOff val="15000"/>
                            </a:schemeClr>
                          </a:solidFill>
                          <a:latin typeface="Cambria Math" panose="02040503050406030204" pitchFamily="18" charset="0"/>
                        </a:rPr>
                        <m:t>=$87,56</m:t>
                      </m:r>
                    </m:oMath>
                  </m:oMathPara>
                </a14:m>
                <a:endParaRPr lang="es-CO" sz="2400">
                  <a:solidFill>
                    <a:schemeClr val="tx1">
                      <a:lumMod val="85000"/>
                      <a:lumOff val="15000"/>
                    </a:schemeClr>
                  </a:solidFill>
                </a:endParaRPr>
              </a:p>
            </p:txBody>
          </p:sp>
        </mc:Choice>
        <mc:Fallback xmlns="">
          <p:sp>
            <p:nvSpPr>
              <p:cNvPr id="8" name="CuadroTexto 7">
                <a:extLst>
                  <a:ext uri="{FF2B5EF4-FFF2-40B4-BE49-F238E27FC236}">
                    <a16:creationId xmlns:a16="http://schemas.microsoft.com/office/drawing/2014/main" id="{418D8C43-FC53-B03F-91BB-A5B6C16CC3ED}"/>
                  </a:ext>
                </a:extLst>
              </p:cNvPr>
              <p:cNvSpPr txBox="1">
                <a:spLocks noRot="1" noChangeAspect="1" noMove="1" noResize="1" noEditPoints="1" noAdjustHandles="1" noChangeArrowheads="1" noChangeShapeType="1" noTextEdit="1"/>
              </p:cNvSpPr>
              <p:nvPr/>
            </p:nvSpPr>
            <p:spPr>
              <a:xfrm>
                <a:off x="1712656" y="5389697"/>
                <a:ext cx="3418756" cy="369332"/>
              </a:xfrm>
              <a:prstGeom prst="rect">
                <a:avLst/>
              </a:prstGeom>
              <a:blipFill>
                <a:blip r:embed="rId9"/>
                <a:stretch>
                  <a:fillRect l="-1107" r="-1476" b="-20000"/>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12" name="CuadroTexto 11">
                <a:extLst>
                  <a:ext uri="{FF2B5EF4-FFF2-40B4-BE49-F238E27FC236}">
                    <a16:creationId xmlns:a16="http://schemas.microsoft.com/office/drawing/2014/main" id="{B3661029-2F49-9FA0-26F7-BF9C520995C4}"/>
                  </a:ext>
                </a:extLst>
              </p:cNvPr>
              <p:cNvSpPr txBox="1"/>
              <p:nvPr/>
            </p:nvSpPr>
            <p:spPr>
              <a:xfrm>
                <a:off x="7544243" y="5389697"/>
                <a:ext cx="3476721" cy="39895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ES" sz="2400" b="0" i="1" smtClean="0">
                          <a:solidFill>
                            <a:schemeClr val="tx1">
                              <a:lumMod val="85000"/>
                              <a:lumOff val="15000"/>
                            </a:schemeClr>
                          </a:solidFill>
                          <a:latin typeface="Cambria Math" panose="02040503050406030204" pitchFamily="18" charset="0"/>
                        </a:rPr>
                        <m:t>𝑉𝑃</m:t>
                      </m:r>
                      <m:sSub>
                        <m:sSubPr>
                          <m:ctrlPr>
                            <a:rPr lang="es-ES" sz="2400" b="0" i="1" smtClean="0">
                              <a:solidFill>
                                <a:schemeClr val="tx1">
                                  <a:lumMod val="85000"/>
                                  <a:lumOff val="15000"/>
                                </a:schemeClr>
                              </a:solidFill>
                              <a:latin typeface="Cambria Math" panose="02040503050406030204" pitchFamily="18" charset="0"/>
                            </a:rPr>
                          </m:ctrlPr>
                        </m:sSubPr>
                        <m:e>
                          <m:d>
                            <m:dPr>
                              <m:ctrlPr>
                                <a:rPr lang="es-ES" sz="2400" b="0" i="1" smtClean="0">
                                  <a:solidFill>
                                    <a:schemeClr val="tx1">
                                      <a:lumMod val="85000"/>
                                      <a:lumOff val="15000"/>
                                    </a:schemeClr>
                                  </a:solidFill>
                                  <a:latin typeface="Cambria Math" panose="02040503050406030204" pitchFamily="18" charset="0"/>
                                </a:rPr>
                              </m:ctrlPr>
                            </m:dPr>
                            <m:e>
                              <m:r>
                                <a:rPr lang="es-ES" sz="2400" b="0" i="1" smtClean="0">
                                  <a:solidFill>
                                    <a:schemeClr val="tx1">
                                      <a:lumMod val="85000"/>
                                      <a:lumOff val="15000"/>
                                    </a:schemeClr>
                                  </a:solidFill>
                                  <a:latin typeface="Cambria Math" panose="02040503050406030204" pitchFamily="18" charset="0"/>
                                </a:rPr>
                                <m:t>0</m:t>
                              </m:r>
                            </m:e>
                          </m:d>
                        </m:e>
                        <m:sub>
                          <m:r>
                            <a:rPr lang="es-ES" sz="2400" b="0" i="1" smtClean="0">
                              <a:solidFill>
                                <a:schemeClr val="tx1">
                                  <a:lumMod val="85000"/>
                                  <a:lumOff val="15000"/>
                                </a:schemeClr>
                              </a:solidFill>
                              <a:latin typeface="Cambria Math" panose="02040503050406030204" pitchFamily="18" charset="0"/>
                            </a:rPr>
                            <m:t>𝑢𝑛𝑖𝑓𝑜𝑟𝑚𝑒</m:t>
                          </m:r>
                        </m:sub>
                      </m:sSub>
                      <m:r>
                        <a:rPr lang="es-ES" sz="2400" b="0" i="1" smtClean="0">
                          <a:solidFill>
                            <a:schemeClr val="tx1">
                              <a:lumMod val="85000"/>
                              <a:lumOff val="15000"/>
                            </a:schemeClr>
                          </a:solidFill>
                          <a:latin typeface="Cambria Math" panose="02040503050406030204" pitchFamily="18" charset="0"/>
                        </a:rPr>
                        <m:t>=$316,99</m:t>
                      </m:r>
                    </m:oMath>
                  </m:oMathPara>
                </a14:m>
                <a:endParaRPr lang="es-CO" sz="2400">
                  <a:solidFill>
                    <a:schemeClr val="tx1">
                      <a:lumMod val="85000"/>
                      <a:lumOff val="15000"/>
                    </a:schemeClr>
                  </a:solidFill>
                </a:endParaRPr>
              </a:p>
            </p:txBody>
          </p:sp>
        </mc:Choice>
        <mc:Fallback xmlns="">
          <p:sp>
            <p:nvSpPr>
              <p:cNvPr id="12" name="CuadroTexto 11">
                <a:extLst>
                  <a:ext uri="{FF2B5EF4-FFF2-40B4-BE49-F238E27FC236}">
                    <a16:creationId xmlns:a16="http://schemas.microsoft.com/office/drawing/2014/main" id="{B3661029-2F49-9FA0-26F7-BF9C520995C4}"/>
                  </a:ext>
                </a:extLst>
              </p:cNvPr>
              <p:cNvSpPr txBox="1">
                <a:spLocks noRot="1" noChangeAspect="1" noMove="1" noResize="1" noEditPoints="1" noAdjustHandles="1" noChangeArrowheads="1" noChangeShapeType="1" noTextEdit="1"/>
              </p:cNvSpPr>
              <p:nvPr/>
            </p:nvSpPr>
            <p:spPr>
              <a:xfrm>
                <a:off x="7544243" y="5389697"/>
                <a:ext cx="3476721" cy="398955"/>
              </a:xfrm>
              <a:prstGeom prst="rect">
                <a:avLst/>
              </a:prstGeom>
              <a:blipFill>
                <a:blip r:embed="rId10"/>
                <a:stretch>
                  <a:fillRect l="-1460" r="-1460" b="-24242"/>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18" name="CuadroTexto 17">
                <a:extLst>
                  <a:ext uri="{FF2B5EF4-FFF2-40B4-BE49-F238E27FC236}">
                    <a16:creationId xmlns:a16="http://schemas.microsoft.com/office/drawing/2014/main" id="{041C0474-C055-6833-1B9B-BC2ECC8DD674}"/>
                  </a:ext>
                </a:extLst>
              </p:cNvPr>
              <p:cNvSpPr txBox="1"/>
              <p:nvPr/>
            </p:nvSpPr>
            <p:spPr>
              <a:xfrm>
                <a:off x="2761241" y="6193612"/>
                <a:ext cx="6669518" cy="398955"/>
              </a:xfrm>
              <a:prstGeom prst="rect">
                <a:avLst/>
              </a:prstGeom>
              <a:noFill/>
            </p:spPr>
            <p:txBody>
              <a:bodyPr wrap="none" lIns="0" tIns="0" rIns="0" bIns="0" rtlCol="0">
                <a:spAutoFit/>
              </a:bodyPr>
              <a:lstStyle/>
              <a:p>
                <a14:m>
                  <m:oMath xmlns:m="http://schemas.openxmlformats.org/officeDocument/2006/math">
                    <m:r>
                      <a:rPr lang="es-ES" sz="2400" b="0" i="1" smtClean="0">
                        <a:solidFill>
                          <a:srgbClr val="C00000"/>
                        </a:solidFill>
                        <a:latin typeface="Cambria Math" panose="02040503050406030204" pitchFamily="18" charset="0"/>
                      </a:rPr>
                      <m:t>𝑉𝑃</m:t>
                    </m:r>
                    <m:r>
                      <a:rPr lang="es-ES" sz="2400" b="0" i="1" smtClean="0">
                        <a:solidFill>
                          <a:srgbClr val="C00000"/>
                        </a:solidFill>
                        <a:latin typeface="Cambria Math" panose="02040503050406030204" pitchFamily="18" charset="0"/>
                      </a:rPr>
                      <m:t>=</m:t>
                    </m:r>
                    <m:r>
                      <a:rPr lang="es-ES" sz="2400" i="1">
                        <a:solidFill>
                          <a:srgbClr val="C00000"/>
                        </a:solidFill>
                        <a:latin typeface="Cambria Math" panose="02040503050406030204" pitchFamily="18" charset="0"/>
                      </a:rPr>
                      <m:t>𝑉𝑃</m:t>
                    </m:r>
                    <m:sSub>
                      <m:sSubPr>
                        <m:ctrlPr>
                          <a:rPr lang="es-ES" sz="2400" i="1">
                            <a:solidFill>
                              <a:srgbClr val="C00000"/>
                            </a:solidFill>
                            <a:latin typeface="Cambria Math" panose="02040503050406030204" pitchFamily="18" charset="0"/>
                          </a:rPr>
                        </m:ctrlPr>
                      </m:sSubPr>
                      <m:e>
                        <m:d>
                          <m:dPr>
                            <m:ctrlPr>
                              <a:rPr lang="es-ES" sz="2400" i="1">
                                <a:solidFill>
                                  <a:srgbClr val="C00000"/>
                                </a:solidFill>
                                <a:latin typeface="Cambria Math" panose="02040503050406030204" pitchFamily="18" charset="0"/>
                              </a:rPr>
                            </m:ctrlPr>
                          </m:dPr>
                          <m:e>
                            <m:r>
                              <a:rPr lang="es-ES" sz="2400" i="1">
                                <a:solidFill>
                                  <a:srgbClr val="C00000"/>
                                </a:solidFill>
                                <a:latin typeface="Cambria Math" panose="02040503050406030204" pitchFamily="18" charset="0"/>
                              </a:rPr>
                              <m:t>0</m:t>
                            </m:r>
                          </m:e>
                        </m:d>
                      </m:e>
                      <m:sub>
                        <m:r>
                          <a:rPr lang="es-ES" sz="2400" i="1">
                            <a:solidFill>
                              <a:srgbClr val="C00000"/>
                            </a:solidFill>
                            <a:latin typeface="Cambria Math" panose="02040503050406030204" pitchFamily="18" charset="0"/>
                          </a:rPr>
                          <m:t>𝐴𝑟𝑖𝑡𝑚𝑒𝑡𝑖𝑐𝑜</m:t>
                        </m:r>
                      </m:sub>
                    </m:sSub>
                    <m:r>
                      <a:rPr lang="es-ES" sz="2400" b="0" i="1" smtClean="0">
                        <a:solidFill>
                          <a:srgbClr val="C00000"/>
                        </a:solidFill>
                        <a:latin typeface="Cambria Math" panose="02040503050406030204" pitchFamily="18" charset="0"/>
                      </a:rPr>
                      <m:t>+</m:t>
                    </m:r>
                    <m:r>
                      <a:rPr lang="es-ES" sz="2400" i="1">
                        <a:solidFill>
                          <a:srgbClr val="C00000"/>
                        </a:solidFill>
                        <a:latin typeface="Cambria Math" panose="02040503050406030204" pitchFamily="18" charset="0"/>
                      </a:rPr>
                      <m:t>𝑉𝑃</m:t>
                    </m:r>
                    <m:sSub>
                      <m:sSubPr>
                        <m:ctrlPr>
                          <a:rPr lang="es-ES" sz="2400" i="1">
                            <a:solidFill>
                              <a:srgbClr val="C00000"/>
                            </a:solidFill>
                            <a:latin typeface="Cambria Math" panose="02040503050406030204" pitchFamily="18" charset="0"/>
                          </a:rPr>
                        </m:ctrlPr>
                      </m:sSubPr>
                      <m:e>
                        <m:d>
                          <m:dPr>
                            <m:ctrlPr>
                              <a:rPr lang="es-ES" sz="2400" i="1">
                                <a:solidFill>
                                  <a:srgbClr val="C00000"/>
                                </a:solidFill>
                                <a:latin typeface="Cambria Math" panose="02040503050406030204" pitchFamily="18" charset="0"/>
                              </a:rPr>
                            </m:ctrlPr>
                          </m:dPr>
                          <m:e>
                            <m:r>
                              <a:rPr lang="es-ES" sz="2400" i="1">
                                <a:solidFill>
                                  <a:srgbClr val="C00000"/>
                                </a:solidFill>
                                <a:latin typeface="Cambria Math" panose="02040503050406030204" pitchFamily="18" charset="0"/>
                              </a:rPr>
                              <m:t>0</m:t>
                            </m:r>
                          </m:e>
                        </m:d>
                      </m:e>
                      <m:sub>
                        <m:r>
                          <a:rPr lang="es-ES" sz="2400" i="1">
                            <a:solidFill>
                              <a:srgbClr val="C00000"/>
                            </a:solidFill>
                            <a:latin typeface="Cambria Math" panose="02040503050406030204" pitchFamily="18" charset="0"/>
                          </a:rPr>
                          <m:t>𝑢𝑛𝑖𝑓𝑜𝑟𝑚𝑒</m:t>
                        </m:r>
                      </m:sub>
                    </m:sSub>
                    <m:r>
                      <a:rPr lang="es-ES" sz="2400" b="0" i="1" smtClean="0">
                        <a:solidFill>
                          <a:srgbClr val="C00000"/>
                        </a:solidFill>
                        <a:latin typeface="Cambria Math" panose="02040503050406030204" pitchFamily="18" charset="0"/>
                      </a:rPr>
                      <m:t>=$404,55</m:t>
                    </m:r>
                  </m:oMath>
                </a14:m>
                <a:r>
                  <a:rPr lang="es-CO" sz="2400">
                    <a:solidFill>
                      <a:srgbClr val="C00000"/>
                    </a:solidFill>
                  </a:rPr>
                  <a:t> </a:t>
                </a:r>
              </a:p>
            </p:txBody>
          </p:sp>
        </mc:Choice>
        <mc:Fallback xmlns="">
          <p:sp>
            <p:nvSpPr>
              <p:cNvPr id="18" name="CuadroTexto 17">
                <a:extLst>
                  <a:ext uri="{FF2B5EF4-FFF2-40B4-BE49-F238E27FC236}">
                    <a16:creationId xmlns:a16="http://schemas.microsoft.com/office/drawing/2014/main" id="{041C0474-C055-6833-1B9B-BC2ECC8DD674}"/>
                  </a:ext>
                </a:extLst>
              </p:cNvPr>
              <p:cNvSpPr txBox="1">
                <a:spLocks noRot="1" noChangeAspect="1" noMove="1" noResize="1" noEditPoints="1" noAdjustHandles="1" noChangeArrowheads="1" noChangeShapeType="1" noTextEdit="1"/>
              </p:cNvSpPr>
              <p:nvPr/>
            </p:nvSpPr>
            <p:spPr>
              <a:xfrm>
                <a:off x="2761241" y="6193612"/>
                <a:ext cx="6669518" cy="398955"/>
              </a:xfrm>
              <a:prstGeom prst="rect">
                <a:avLst/>
              </a:prstGeom>
              <a:blipFill>
                <a:blip r:embed="rId11"/>
                <a:stretch>
                  <a:fillRect l="-1521" b="-28125"/>
                </a:stretch>
              </a:blipFill>
            </p:spPr>
            <p:txBody>
              <a:bodyPr/>
              <a:lstStyle/>
              <a:p>
                <a:r>
                  <a:rPr lang="es-CO">
                    <a:noFill/>
                  </a:rPr>
                  <a:t> </a:t>
                </a:r>
              </a:p>
            </p:txBody>
          </p:sp>
        </mc:Fallback>
      </mc:AlternateContent>
      <p:sp>
        <p:nvSpPr>
          <p:cNvPr id="2" name="Slide Number Placeholder 3">
            <a:extLst>
              <a:ext uri="{FF2B5EF4-FFF2-40B4-BE49-F238E27FC236}">
                <a16:creationId xmlns:a16="http://schemas.microsoft.com/office/drawing/2014/main" id="{50FF24BF-BE24-4E0C-A697-9236FDB8253E}"/>
              </a:ext>
            </a:extLst>
          </p:cNvPr>
          <p:cNvSpPr txBox="1">
            <a:spLocks/>
          </p:cNvSpPr>
          <p:nvPr/>
        </p:nvSpPr>
        <p:spPr>
          <a:xfrm>
            <a:off x="10710700" y="6108537"/>
            <a:ext cx="1052508" cy="365125"/>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5E3E23BA-6E79-2442-BA73-D218A5E297C3}" type="slidenum">
              <a:rPr lang="en-US" sz="2000" b="1" smtClean="0">
                <a:latin typeface="Gill Sans MT (Títulos)"/>
              </a:rPr>
              <a:pPr/>
              <a:t>30</a:t>
            </a:fld>
            <a:endParaRPr lang="en-US" sz="2000" b="1" dirty="0">
              <a:latin typeface="Gill Sans MT (Títulos)"/>
            </a:endParaRPr>
          </a:p>
        </p:txBody>
      </p:sp>
    </p:spTree>
    <p:extLst>
      <p:ext uri="{BB962C8B-B14F-4D97-AF65-F5344CB8AC3E}">
        <p14:creationId xmlns:p14="http://schemas.microsoft.com/office/powerpoint/2010/main" val="24430766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6"/>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9"/>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0"/>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41"/>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42"/>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4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4"/>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5"/>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6"/>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7"/>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8"/>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50"/>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52"/>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53"/>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54"/>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55"/>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56"/>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57"/>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58"/>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59"/>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60"/>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61"/>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62"/>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45"/>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11"/>
                                        </p:tgtEl>
                                        <p:attrNameLst>
                                          <p:attrName>style.visibility</p:attrName>
                                        </p:attrNameLst>
                                      </p:cBhvr>
                                      <p:to>
                                        <p:strVal val="visible"/>
                                      </p:to>
                                    </p:set>
                                  </p:childTnLst>
                                </p:cTn>
                              </p:par>
                              <p:par>
                                <p:cTn id="81" presetID="1" presetClass="entr" presetSubtype="0" fill="hold" nodeType="withEffect">
                                  <p:stCondLst>
                                    <p:cond delay="0"/>
                                  </p:stCondLst>
                                  <p:childTnLst>
                                    <p:set>
                                      <p:cBhvr>
                                        <p:cTn id="82" dur="1" fill="hold">
                                          <p:stCondLst>
                                            <p:cond delay="0"/>
                                          </p:stCondLst>
                                        </p:cTn>
                                        <p:tgtEl>
                                          <p:spTgt spid="46"/>
                                        </p:tgtEl>
                                        <p:attrNameLst>
                                          <p:attrName>style.visibility</p:attrName>
                                        </p:attrNameLst>
                                      </p:cBhvr>
                                      <p:to>
                                        <p:strVal val="visible"/>
                                      </p:to>
                                    </p:set>
                                  </p:childTnLst>
                                </p:cTn>
                              </p:par>
                              <p:par>
                                <p:cTn id="83" presetID="1" presetClass="entr" presetSubtype="0" fill="hold" nodeType="withEffect">
                                  <p:stCondLst>
                                    <p:cond delay="0"/>
                                  </p:stCondLst>
                                  <p:childTnLst>
                                    <p:set>
                                      <p:cBhvr>
                                        <p:cTn id="84" dur="1" fill="hold">
                                          <p:stCondLst>
                                            <p:cond delay="0"/>
                                          </p:stCondLst>
                                        </p:cTn>
                                        <p:tgtEl>
                                          <p:spTgt spid="47"/>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grpId="0" nodeType="clickEffect">
                                  <p:stCondLst>
                                    <p:cond delay="0"/>
                                  </p:stCondLst>
                                  <p:childTnLst>
                                    <p:set>
                                      <p:cBhvr>
                                        <p:cTn id="88" dur="1" fill="hold">
                                          <p:stCondLst>
                                            <p:cond delay="0"/>
                                          </p:stCondLst>
                                        </p:cTn>
                                        <p:tgtEl>
                                          <p:spTgt spid="12"/>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grpId="0" nodeType="clickEffect">
                                  <p:stCondLst>
                                    <p:cond delay="0"/>
                                  </p:stCondLst>
                                  <p:childTnLst>
                                    <p:set>
                                      <p:cBhvr>
                                        <p:cTn id="92"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P spid="32" grpId="0"/>
      <p:bldP spid="33" grpId="0"/>
      <p:bldP spid="34" grpId="0"/>
      <p:bldP spid="35" grpId="0"/>
      <p:bldP spid="36" grpId="0"/>
      <p:bldP spid="38" grpId="0"/>
      <p:bldP spid="39" grpId="0"/>
      <p:bldP spid="52" grpId="0"/>
      <p:bldP spid="53" grpId="0"/>
      <p:bldP spid="54" grpId="0"/>
      <p:bldP spid="55" grpId="0"/>
      <p:bldP spid="56" grpId="0"/>
      <p:bldP spid="62" grpId="0"/>
      <p:bldP spid="8" grpId="0"/>
      <p:bldP spid="12" grpId="0"/>
      <p:bldP spid="18"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p:txBody>
          <a:bodyPr>
            <a:normAutofit/>
          </a:bodyPr>
          <a:lstStyle/>
          <a:p>
            <a:pPr marL="0" indent="0" algn="just">
              <a:buNone/>
            </a:pPr>
            <a:r>
              <a:rPr lang="es-ES" sz="2400" b="1" dirty="0">
                <a:solidFill>
                  <a:srgbClr val="D7A700"/>
                </a:solidFill>
              </a:rPr>
              <a:t>Ejemplo 6: </a:t>
            </a:r>
            <a:r>
              <a:rPr lang="es-ES" sz="2400" dirty="0"/>
              <a:t>Usted ha adquirido un nuevo empleo cuyo contrato de un año empieza dentro de 6 meses (su primer sueldo lo recibe en el mes 7). La compañía tiene un sueldo base de 200 por mes y una bonificación por fidelidad de 10 por mes. Es decir, por cada mes que usted labore en la compañía recibirá una bonificación de 10. Así las cosas, en el mes 7 recibirá el sueldo base más 10, en el mes 8 recibirá el sueldo base más 20, etc. </a:t>
            </a:r>
          </a:p>
          <a:p>
            <a:pPr marL="0" indent="0" algn="just">
              <a:buNone/>
            </a:pPr>
            <a:r>
              <a:rPr lang="es-ES" sz="2400" dirty="0"/>
              <a:t>Si el costo de oportunidad es del 0,3% mensual, ¿Cuál es el valor presente de sus ingresos sí usted labora un año?</a:t>
            </a:r>
          </a:p>
        </p:txBody>
      </p:sp>
      <p:sp>
        <p:nvSpPr>
          <p:cNvPr id="8" name="Title 1">
            <a:extLst>
              <a:ext uri="{FF2B5EF4-FFF2-40B4-BE49-F238E27FC236}">
                <a16:creationId xmlns:a16="http://schemas.microsoft.com/office/drawing/2014/main" id="{1EC2AA47-D7B9-58CC-D036-7E1E47EFF5A1}"/>
              </a:ext>
            </a:extLst>
          </p:cNvPr>
          <p:cNvSpPr>
            <a:spLocks noGrp="1"/>
          </p:cNvSpPr>
          <p:nvPr>
            <p:ph type="title"/>
          </p:nvPr>
        </p:nvSpPr>
        <p:spPr>
          <a:xfrm>
            <a:off x="581192" y="702156"/>
            <a:ext cx="11029616" cy="1013800"/>
          </a:xfrm>
        </p:spPr>
        <p:txBody>
          <a:bodyPr>
            <a:normAutofit/>
          </a:bodyPr>
          <a:lstStyle/>
          <a:p>
            <a:r>
              <a:rPr lang="es-ES_tradnl" sz="3200" dirty="0">
                <a:latin typeface="Gill Sans MT (titulo)"/>
              </a:rPr>
              <a:t>Gradientes aritméticos</a:t>
            </a:r>
          </a:p>
        </p:txBody>
      </p:sp>
      <p:sp>
        <p:nvSpPr>
          <p:cNvPr id="9" name="Rectángulo 8">
            <a:extLst>
              <a:ext uri="{FF2B5EF4-FFF2-40B4-BE49-F238E27FC236}">
                <a16:creationId xmlns:a16="http://schemas.microsoft.com/office/drawing/2014/main" id="{A5EA0D16-E84F-0586-13CE-25BB8A774572}"/>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0" name="Picture 2" descr="Clientes y aliados | Centro de Evaluación | Uniandes">
            <a:extLst>
              <a:ext uri="{FF2B5EF4-FFF2-40B4-BE49-F238E27FC236}">
                <a16:creationId xmlns:a16="http://schemas.microsoft.com/office/drawing/2014/main" id="{0BBBBD1F-5BA9-9E92-21F7-5E4957037E0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1" name="Rectángulo 10">
            <a:extLst>
              <a:ext uri="{FF2B5EF4-FFF2-40B4-BE49-F238E27FC236}">
                <a16:creationId xmlns:a16="http://schemas.microsoft.com/office/drawing/2014/main" id="{D5286277-93B5-1D5D-A595-678993532226}"/>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2" name="Slide Number Placeholder 3">
            <a:extLst>
              <a:ext uri="{FF2B5EF4-FFF2-40B4-BE49-F238E27FC236}">
                <a16:creationId xmlns:a16="http://schemas.microsoft.com/office/drawing/2014/main" id="{4B5EF0DE-8834-2D88-FFB4-3A973523D5AD}"/>
              </a:ext>
            </a:extLst>
          </p:cNvPr>
          <p:cNvSpPr txBox="1">
            <a:spLocks/>
          </p:cNvSpPr>
          <p:nvPr/>
        </p:nvSpPr>
        <p:spPr>
          <a:xfrm>
            <a:off x="10710700" y="6108537"/>
            <a:ext cx="1052508" cy="365125"/>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5E3E23BA-6E79-2442-BA73-D218A5E297C3}" type="slidenum">
              <a:rPr lang="en-US" sz="2000" b="1" smtClean="0">
                <a:latin typeface="Gill Sans MT (Títulos)"/>
              </a:rPr>
              <a:pPr/>
              <a:t>31</a:t>
            </a:fld>
            <a:endParaRPr lang="en-US" sz="2000" b="1" dirty="0">
              <a:latin typeface="Gill Sans MT (Títulos)"/>
            </a:endParaRPr>
          </a:p>
        </p:txBody>
      </p:sp>
    </p:spTree>
    <p:extLst>
      <p:ext uri="{BB962C8B-B14F-4D97-AF65-F5344CB8AC3E}">
        <p14:creationId xmlns:p14="http://schemas.microsoft.com/office/powerpoint/2010/main" val="3629403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 name="Marcador de contenido 2"/>
          <p:cNvSpPr>
            <a:spLocks noGrp="1"/>
          </p:cNvSpPr>
          <p:nvPr>
            <p:ph idx="1"/>
          </p:nvPr>
        </p:nvSpPr>
        <p:spPr>
          <a:xfrm>
            <a:off x="581192" y="2070164"/>
            <a:ext cx="7610476" cy="517795"/>
          </a:xfrm>
        </p:spPr>
        <p:txBody>
          <a:bodyPr>
            <a:normAutofit/>
          </a:bodyPr>
          <a:lstStyle/>
          <a:p>
            <a:pPr marL="0" indent="0">
              <a:buNone/>
            </a:pPr>
            <a:r>
              <a:rPr lang="es-ES" sz="2400" dirty="0"/>
              <a:t>¿Cómo plantearía usted el problema?</a:t>
            </a:r>
          </a:p>
        </p:txBody>
      </p:sp>
      <p:cxnSp>
        <p:nvCxnSpPr>
          <p:cNvPr id="5" name="Straight Connector 6"/>
          <p:cNvCxnSpPr/>
          <p:nvPr/>
        </p:nvCxnSpPr>
        <p:spPr>
          <a:xfrm>
            <a:off x="2752522" y="5149872"/>
            <a:ext cx="6387689" cy="12826"/>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 name="Straight Arrow Connector 9"/>
          <p:cNvCxnSpPr>
            <a:stCxn id="11" idx="0"/>
          </p:cNvCxnSpPr>
          <p:nvPr/>
        </p:nvCxnSpPr>
        <p:spPr>
          <a:xfrm flipV="1">
            <a:off x="5881921" y="4511179"/>
            <a:ext cx="5176" cy="599867"/>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7" name="Rectangle 35"/>
          <p:cNvSpPr>
            <a:spLocks/>
          </p:cNvSpPr>
          <p:nvPr/>
        </p:nvSpPr>
        <p:spPr bwMode="auto">
          <a:xfrm>
            <a:off x="2688400" y="5131921"/>
            <a:ext cx="12824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0</a:t>
            </a:r>
          </a:p>
        </p:txBody>
      </p:sp>
      <p:sp>
        <p:nvSpPr>
          <p:cNvPr id="8" name="Rectangle 36"/>
          <p:cNvSpPr>
            <a:spLocks/>
          </p:cNvSpPr>
          <p:nvPr/>
        </p:nvSpPr>
        <p:spPr bwMode="auto">
          <a:xfrm>
            <a:off x="3298494" y="5107092"/>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a:t>
            </a:r>
          </a:p>
        </p:txBody>
      </p:sp>
      <p:sp>
        <p:nvSpPr>
          <p:cNvPr id="9" name="Rectangle 37"/>
          <p:cNvSpPr>
            <a:spLocks/>
          </p:cNvSpPr>
          <p:nvPr/>
        </p:nvSpPr>
        <p:spPr bwMode="auto">
          <a:xfrm>
            <a:off x="4307614" y="5107092"/>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5</a:t>
            </a:r>
          </a:p>
        </p:txBody>
      </p:sp>
      <p:sp>
        <p:nvSpPr>
          <p:cNvPr id="10" name="Rectangle 38"/>
          <p:cNvSpPr>
            <a:spLocks/>
          </p:cNvSpPr>
          <p:nvPr/>
        </p:nvSpPr>
        <p:spPr bwMode="auto">
          <a:xfrm>
            <a:off x="4973556" y="5107819"/>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6</a:t>
            </a:r>
          </a:p>
        </p:txBody>
      </p:sp>
      <p:sp>
        <p:nvSpPr>
          <p:cNvPr id="11" name="Rectangle 39"/>
          <p:cNvSpPr>
            <a:spLocks/>
          </p:cNvSpPr>
          <p:nvPr/>
        </p:nvSpPr>
        <p:spPr bwMode="auto">
          <a:xfrm>
            <a:off x="5713391" y="5111046"/>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7</a:t>
            </a:r>
          </a:p>
        </p:txBody>
      </p:sp>
      <p:sp>
        <p:nvSpPr>
          <p:cNvPr id="12" name="Rectangle 35"/>
          <p:cNvSpPr>
            <a:spLocks/>
          </p:cNvSpPr>
          <p:nvPr/>
        </p:nvSpPr>
        <p:spPr bwMode="auto">
          <a:xfrm>
            <a:off x="5693942" y="4211193"/>
            <a:ext cx="384722"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210</a:t>
            </a:r>
          </a:p>
        </p:txBody>
      </p:sp>
      <p:sp>
        <p:nvSpPr>
          <p:cNvPr id="14" name="Rectangle 35"/>
          <p:cNvSpPr>
            <a:spLocks/>
          </p:cNvSpPr>
          <p:nvPr/>
        </p:nvSpPr>
        <p:spPr bwMode="auto">
          <a:xfrm>
            <a:off x="6438394" y="3902022"/>
            <a:ext cx="384722"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220</a:t>
            </a:r>
          </a:p>
        </p:txBody>
      </p:sp>
      <p:sp>
        <p:nvSpPr>
          <p:cNvPr id="15" name="Rectangle 35"/>
          <p:cNvSpPr>
            <a:spLocks/>
          </p:cNvSpPr>
          <p:nvPr/>
        </p:nvSpPr>
        <p:spPr bwMode="auto">
          <a:xfrm>
            <a:off x="7183951" y="3615883"/>
            <a:ext cx="384722"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230</a:t>
            </a:r>
          </a:p>
        </p:txBody>
      </p:sp>
      <p:cxnSp>
        <p:nvCxnSpPr>
          <p:cNvPr id="16" name="Straight Arrow Connector 9"/>
          <p:cNvCxnSpPr>
            <a:stCxn id="30" idx="0"/>
          </p:cNvCxnSpPr>
          <p:nvPr/>
        </p:nvCxnSpPr>
        <p:spPr>
          <a:xfrm flipV="1">
            <a:off x="6600158" y="4192252"/>
            <a:ext cx="16716" cy="926049"/>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19" name="Straight Arrow Connector 9"/>
          <p:cNvCxnSpPr>
            <a:stCxn id="31" idx="0"/>
          </p:cNvCxnSpPr>
          <p:nvPr/>
        </p:nvCxnSpPr>
        <p:spPr>
          <a:xfrm flipV="1">
            <a:off x="7357946" y="3906340"/>
            <a:ext cx="18362" cy="121196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30" name="Rectangle 36"/>
          <p:cNvSpPr>
            <a:spLocks/>
          </p:cNvSpPr>
          <p:nvPr/>
        </p:nvSpPr>
        <p:spPr bwMode="auto">
          <a:xfrm>
            <a:off x="6431628" y="5118301"/>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8</a:t>
            </a:r>
          </a:p>
        </p:txBody>
      </p:sp>
      <p:sp>
        <p:nvSpPr>
          <p:cNvPr id="31" name="Rectangle 37"/>
          <p:cNvSpPr>
            <a:spLocks/>
          </p:cNvSpPr>
          <p:nvPr/>
        </p:nvSpPr>
        <p:spPr bwMode="auto">
          <a:xfrm>
            <a:off x="7189416" y="5118301"/>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9</a:t>
            </a:r>
          </a:p>
        </p:txBody>
      </p:sp>
      <p:sp>
        <p:nvSpPr>
          <p:cNvPr id="32" name="Rectangle 38"/>
          <p:cNvSpPr>
            <a:spLocks/>
          </p:cNvSpPr>
          <p:nvPr/>
        </p:nvSpPr>
        <p:spPr bwMode="auto">
          <a:xfrm>
            <a:off x="7855358" y="5119028"/>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10</a:t>
            </a:r>
          </a:p>
        </p:txBody>
      </p:sp>
      <p:sp>
        <p:nvSpPr>
          <p:cNvPr id="38" name="CuadroTexto 37"/>
          <p:cNvSpPr txBox="1"/>
          <p:nvPr/>
        </p:nvSpPr>
        <p:spPr>
          <a:xfrm flipH="1">
            <a:off x="3741255" y="5028796"/>
            <a:ext cx="372231" cy="400110"/>
          </a:xfrm>
          <a:prstGeom prst="rect">
            <a:avLst/>
          </a:prstGeom>
          <a:noFill/>
        </p:spPr>
        <p:txBody>
          <a:bodyPr wrap="square" rtlCol="0">
            <a:spAutoFit/>
          </a:bodyPr>
          <a:lstStyle/>
          <a:p>
            <a:pPr algn="ctr"/>
            <a:r>
              <a:rPr lang="es-ES" sz="2000"/>
              <a:t>…</a:t>
            </a:r>
          </a:p>
        </p:txBody>
      </p:sp>
      <p:sp>
        <p:nvSpPr>
          <p:cNvPr id="39" name="CuadroTexto 38"/>
          <p:cNvSpPr txBox="1"/>
          <p:nvPr/>
        </p:nvSpPr>
        <p:spPr>
          <a:xfrm flipH="1">
            <a:off x="8404480" y="5018723"/>
            <a:ext cx="372231" cy="400110"/>
          </a:xfrm>
          <a:prstGeom prst="rect">
            <a:avLst/>
          </a:prstGeom>
          <a:noFill/>
        </p:spPr>
        <p:txBody>
          <a:bodyPr wrap="square" rtlCol="0">
            <a:spAutoFit/>
          </a:bodyPr>
          <a:lstStyle/>
          <a:p>
            <a:pPr algn="ctr"/>
            <a:r>
              <a:rPr lang="es-ES" sz="2000"/>
              <a:t>…</a:t>
            </a:r>
          </a:p>
        </p:txBody>
      </p:sp>
      <p:sp>
        <p:nvSpPr>
          <p:cNvPr id="42" name="Rectangle 35"/>
          <p:cNvSpPr>
            <a:spLocks/>
          </p:cNvSpPr>
          <p:nvPr/>
        </p:nvSpPr>
        <p:spPr bwMode="auto">
          <a:xfrm>
            <a:off x="7810731" y="3279122"/>
            <a:ext cx="384722"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240</a:t>
            </a:r>
          </a:p>
        </p:txBody>
      </p:sp>
      <p:cxnSp>
        <p:nvCxnSpPr>
          <p:cNvPr id="47" name="Straight Arrow Connector 9"/>
          <p:cNvCxnSpPr>
            <a:cxnSpLocks/>
          </p:cNvCxnSpPr>
          <p:nvPr/>
        </p:nvCxnSpPr>
        <p:spPr>
          <a:xfrm flipV="1">
            <a:off x="8020028" y="3602909"/>
            <a:ext cx="3860" cy="1546896"/>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52" name="Rectangle 39"/>
          <p:cNvSpPr>
            <a:spLocks/>
          </p:cNvSpPr>
          <p:nvPr/>
        </p:nvSpPr>
        <p:spPr bwMode="auto">
          <a:xfrm>
            <a:off x="8958452" y="5118691"/>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18</a:t>
            </a:r>
          </a:p>
        </p:txBody>
      </p:sp>
      <p:sp>
        <p:nvSpPr>
          <p:cNvPr id="55" name="Rectangle 35"/>
          <p:cNvSpPr>
            <a:spLocks/>
          </p:cNvSpPr>
          <p:nvPr/>
        </p:nvSpPr>
        <p:spPr bwMode="auto">
          <a:xfrm>
            <a:off x="8915542" y="3008293"/>
            <a:ext cx="384722"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320</a:t>
            </a:r>
          </a:p>
        </p:txBody>
      </p:sp>
      <p:cxnSp>
        <p:nvCxnSpPr>
          <p:cNvPr id="60" name="Straight Arrow Connector 9"/>
          <p:cNvCxnSpPr/>
          <p:nvPr/>
        </p:nvCxnSpPr>
        <p:spPr>
          <a:xfrm flipV="1">
            <a:off x="9101563" y="3285291"/>
            <a:ext cx="0" cy="1779926"/>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17" name="Title 1">
            <a:extLst>
              <a:ext uri="{FF2B5EF4-FFF2-40B4-BE49-F238E27FC236}">
                <a16:creationId xmlns:a16="http://schemas.microsoft.com/office/drawing/2014/main" id="{43201CDC-2EBF-F254-76B8-FF8513B656C9}"/>
              </a:ext>
            </a:extLst>
          </p:cNvPr>
          <p:cNvSpPr>
            <a:spLocks noGrp="1"/>
          </p:cNvSpPr>
          <p:nvPr>
            <p:ph type="title"/>
          </p:nvPr>
        </p:nvSpPr>
        <p:spPr>
          <a:xfrm>
            <a:off x="581192" y="702156"/>
            <a:ext cx="11029616" cy="1013800"/>
          </a:xfrm>
        </p:spPr>
        <p:txBody>
          <a:bodyPr>
            <a:normAutofit/>
          </a:bodyPr>
          <a:lstStyle/>
          <a:p>
            <a:r>
              <a:rPr lang="es-ES_tradnl" sz="3200" dirty="0">
                <a:latin typeface="Gill Sans MT (titulo)"/>
              </a:rPr>
              <a:t>Gradientes aritméticos</a:t>
            </a:r>
          </a:p>
        </p:txBody>
      </p:sp>
      <p:sp>
        <p:nvSpPr>
          <p:cNvPr id="18" name="Rectángulo 17">
            <a:extLst>
              <a:ext uri="{FF2B5EF4-FFF2-40B4-BE49-F238E27FC236}">
                <a16:creationId xmlns:a16="http://schemas.microsoft.com/office/drawing/2014/main" id="{11CEFD21-C0AC-A740-125A-BA7D85817D13}"/>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20" name="Picture 2" descr="Clientes y aliados | Centro de Evaluación | Uniandes">
            <a:extLst>
              <a:ext uri="{FF2B5EF4-FFF2-40B4-BE49-F238E27FC236}">
                <a16:creationId xmlns:a16="http://schemas.microsoft.com/office/drawing/2014/main" id="{E95E2AD1-86E1-9089-12FD-B6E406D504E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21" name="Rectángulo 20">
            <a:extLst>
              <a:ext uri="{FF2B5EF4-FFF2-40B4-BE49-F238E27FC236}">
                <a16:creationId xmlns:a16="http://schemas.microsoft.com/office/drawing/2014/main" id="{6B7F535A-6405-613E-9AAC-4A50AA9F23F9}"/>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2" name="Slide Number Placeholder 3">
            <a:extLst>
              <a:ext uri="{FF2B5EF4-FFF2-40B4-BE49-F238E27FC236}">
                <a16:creationId xmlns:a16="http://schemas.microsoft.com/office/drawing/2014/main" id="{70EAC65C-AABF-04C5-3302-B45B33DBF3D9}"/>
              </a:ext>
            </a:extLst>
          </p:cNvPr>
          <p:cNvSpPr txBox="1">
            <a:spLocks/>
          </p:cNvSpPr>
          <p:nvPr/>
        </p:nvSpPr>
        <p:spPr>
          <a:xfrm>
            <a:off x="10710700" y="6108537"/>
            <a:ext cx="1052508" cy="365125"/>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5E3E23BA-6E79-2442-BA73-D218A5E297C3}" type="slidenum">
              <a:rPr lang="en-US" sz="2000" b="1" smtClean="0">
                <a:latin typeface="Gill Sans MT (Títulos)"/>
              </a:rPr>
              <a:pPr/>
              <a:t>32</a:t>
            </a:fld>
            <a:endParaRPr lang="en-US" sz="2000" b="1" dirty="0">
              <a:latin typeface="Gill Sans MT (Títulos)"/>
            </a:endParaRPr>
          </a:p>
        </p:txBody>
      </p:sp>
    </p:spTree>
    <p:extLst>
      <p:ext uri="{BB962C8B-B14F-4D97-AF65-F5344CB8AC3E}">
        <p14:creationId xmlns:p14="http://schemas.microsoft.com/office/powerpoint/2010/main" val="419206883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6"/>
          <p:cNvCxnSpPr/>
          <p:nvPr/>
        </p:nvCxnSpPr>
        <p:spPr>
          <a:xfrm>
            <a:off x="2507791" y="3988324"/>
            <a:ext cx="6387689" cy="12826"/>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 name="Straight Arrow Connector 9"/>
          <p:cNvCxnSpPr/>
          <p:nvPr/>
        </p:nvCxnSpPr>
        <p:spPr>
          <a:xfrm flipV="1">
            <a:off x="5642366" y="3349631"/>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7" name="Rectangle 35"/>
          <p:cNvSpPr>
            <a:spLocks/>
          </p:cNvSpPr>
          <p:nvPr/>
        </p:nvSpPr>
        <p:spPr bwMode="auto">
          <a:xfrm>
            <a:off x="2456493" y="4001151"/>
            <a:ext cx="102592"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1600"/>
              <a:t>0</a:t>
            </a:r>
          </a:p>
        </p:txBody>
      </p:sp>
      <p:sp>
        <p:nvSpPr>
          <p:cNvPr id="8" name="Rectangle 36"/>
          <p:cNvSpPr>
            <a:spLocks/>
          </p:cNvSpPr>
          <p:nvPr/>
        </p:nvSpPr>
        <p:spPr bwMode="auto">
          <a:xfrm>
            <a:off x="3053763" y="3976322"/>
            <a:ext cx="337060"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t>1</a:t>
            </a:r>
          </a:p>
        </p:txBody>
      </p:sp>
      <p:sp>
        <p:nvSpPr>
          <p:cNvPr id="9" name="Rectangle 37"/>
          <p:cNvSpPr>
            <a:spLocks/>
          </p:cNvSpPr>
          <p:nvPr/>
        </p:nvSpPr>
        <p:spPr bwMode="auto">
          <a:xfrm>
            <a:off x="4062883" y="3976322"/>
            <a:ext cx="337060"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t>5</a:t>
            </a:r>
          </a:p>
        </p:txBody>
      </p:sp>
      <p:sp>
        <p:nvSpPr>
          <p:cNvPr id="10" name="Rectangle 38"/>
          <p:cNvSpPr>
            <a:spLocks/>
          </p:cNvSpPr>
          <p:nvPr/>
        </p:nvSpPr>
        <p:spPr bwMode="auto">
          <a:xfrm>
            <a:off x="4728825" y="3977049"/>
            <a:ext cx="337060"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t>6</a:t>
            </a:r>
          </a:p>
        </p:txBody>
      </p:sp>
      <p:sp>
        <p:nvSpPr>
          <p:cNvPr id="11" name="Rectangle 39"/>
          <p:cNvSpPr>
            <a:spLocks/>
          </p:cNvSpPr>
          <p:nvPr/>
        </p:nvSpPr>
        <p:spPr bwMode="auto">
          <a:xfrm>
            <a:off x="5468660" y="3980276"/>
            <a:ext cx="337060"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t>7</a:t>
            </a:r>
          </a:p>
        </p:txBody>
      </p:sp>
      <p:sp>
        <p:nvSpPr>
          <p:cNvPr id="12" name="Rectangle 35"/>
          <p:cNvSpPr>
            <a:spLocks/>
          </p:cNvSpPr>
          <p:nvPr/>
        </p:nvSpPr>
        <p:spPr bwMode="auto">
          <a:xfrm>
            <a:off x="5296123" y="3080423"/>
            <a:ext cx="690895"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1600"/>
              <a:t>200+ 10</a:t>
            </a:r>
          </a:p>
        </p:txBody>
      </p:sp>
      <p:cxnSp>
        <p:nvCxnSpPr>
          <p:cNvPr id="13" name="Straight Arrow Connector 9"/>
          <p:cNvCxnSpPr/>
          <p:nvPr/>
        </p:nvCxnSpPr>
        <p:spPr>
          <a:xfrm flipV="1">
            <a:off x="6372142" y="3320411"/>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14" name="Rectangle 35"/>
          <p:cNvSpPr>
            <a:spLocks/>
          </p:cNvSpPr>
          <p:nvPr/>
        </p:nvSpPr>
        <p:spPr bwMode="auto">
          <a:xfrm>
            <a:off x="5923556" y="2771252"/>
            <a:ext cx="924932"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1600"/>
              <a:t>200+ 2(10)</a:t>
            </a:r>
          </a:p>
        </p:txBody>
      </p:sp>
      <p:sp>
        <p:nvSpPr>
          <p:cNvPr id="15" name="Rectangle 35"/>
          <p:cNvSpPr>
            <a:spLocks/>
          </p:cNvSpPr>
          <p:nvPr/>
        </p:nvSpPr>
        <p:spPr bwMode="auto">
          <a:xfrm>
            <a:off x="6697967" y="2485113"/>
            <a:ext cx="867224"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1600"/>
              <a:t>200+3(10)</a:t>
            </a:r>
          </a:p>
        </p:txBody>
      </p:sp>
      <p:cxnSp>
        <p:nvCxnSpPr>
          <p:cNvPr id="16" name="Straight Arrow Connector 9"/>
          <p:cNvCxnSpPr/>
          <p:nvPr/>
        </p:nvCxnSpPr>
        <p:spPr>
          <a:xfrm flipV="1">
            <a:off x="6372142" y="3030703"/>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17" name="Straight Arrow Connector 9"/>
          <p:cNvCxnSpPr/>
          <p:nvPr/>
        </p:nvCxnSpPr>
        <p:spPr>
          <a:xfrm flipV="1">
            <a:off x="7131577" y="3324801"/>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18" name="Straight Arrow Connector 9"/>
          <p:cNvCxnSpPr/>
          <p:nvPr/>
        </p:nvCxnSpPr>
        <p:spPr>
          <a:xfrm flipV="1">
            <a:off x="7131577" y="3035093"/>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19" name="Straight Arrow Connector 9"/>
          <p:cNvCxnSpPr/>
          <p:nvPr/>
        </p:nvCxnSpPr>
        <p:spPr>
          <a:xfrm flipV="1">
            <a:off x="7131577" y="2744792"/>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21" name="Straight Arrow Connector 9"/>
          <p:cNvCxnSpPr/>
          <p:nvPr/>
        </p:nvCxnSpPr>
        <p:spPr>
          <a:xfrm flipV="1">
            <a:off x="5648146" y="3681108"/>
            <a:ext cx="0" cy="295941"/>
          </a:xfrm>
          <a:prstGeom prst="straightConnector1">
            <a:avLst/>
          </a:prstGeom>
          <a:ln>
            <a:solidFill>
              <a:schemeClr val="accent3">
                <a:lumMod val="75000"/>
              </a:schemeClr>
            </a:solidFill>
            <a:tailEnd type="arrow"/>
          </a:ln>
        </p:spPr>
        <p:style>
          <a:lnRef idx="2">
            <a:schemeClr val="accent1"/>
          </a:lnRef>
          <a:fillRef idx="0">
            <a:schemeClr val="accent1"/>
          </a:fillRef>
          <a:effectRef idx="1">
            <a:schemeClr val="accent1"/>
          </a:effectRef>
          <a:fontRef idx="minor">
            <a:schemeClr val="tx1"/>
          </a:fontRef>
        </p:style>
      </p:cxnSp>
      <p:cxnSp>
        <p:nvCxnSpPr>
          <p:cNvPr id="22" name="Straight Arrow Connector 9"/>
          <p:cNvCxnSpPr/>
          <p:nvPr/>
        </p:nvCxnSpPr>
        <p:spPr>
          <a:xfrm flipV="1">
            <a:off x="6372142" y="3658802"/>
            <a:ext cx="0" cy="295941"/>
          </a:xfrm>
          <a:prstGeom prst="straightConnector1">
            <a:avLst/>
          </a:prstGeom>
          <a:ln>
            <a:solidFill>
              <a:schemeClr val="accent3">
                <a:lumMod val="75000"/>
              </a:schemeClr>
            </a:solidFill>
            <a:tailEnd type="arrow"/>
          </a:ln>
        </p:spPr>
        <p:style>
          <a:lnRef idx="2">
            <a:schemeClr val="accent1"/>
          </a:lnRef>
          <a:fillRef idx="0">
            <a:schemeClr val="accent1"/>
          </a:fillRef>
          <a:effectRef idx="1">
            <a:schemeClr val="accent1"/>
          </a:effectRef>
          <a:fontRef idx="minor">
            <a:schemeClr val="tx1"/>
          </a:fontRef>
        </p:style>
      </p:cxnSp>
      <p:cxnSp>
        <p:nvCxnSpPr>
          <p:cNvPr id="23" name="Straight Arrow Connector 9"/>
          <p:cNvCxnSpPr/>
          <p:nvPr/>
        </p:nvCxnSpPr>
        <p:spPr>
          <a:xfrm flipV="1">
            <a:off x="7136247" y="3670743"/>
            <a:ext cx="0" cy="295941"/>
          </a:xfrm>
          <a:prstGeom prst="straightConnector1">
            <a:avLst/>
          </a:prstGeom>
          <a:ln>
            <a:solidFill>
              <a:schemeClr val="accent3">
                <a:lumMod val="75000"/>
              </a:schemeClr>
            </a:solidFill>
            <a:tailEnd type="arrow"/>
          </a:ln>
        </p:spPr>
        <p:style>
          <a:lnRef idx="2">
            <a:schemeClr val="accent1"/>
          </a:lnRef>
          <a:fillRef idx="0">
            <a:schemeClr val="accent1"/>
          </a:fillRef>
          <a:effectRef idx="1">
            <a:schemeClr val="accent1"/>
          </a:effectRef>
          <a:fontRef idx="minor">
            <a:schemeClr val="tx1"/>
          </a:fontRef>
        </p:style>
      </p:cxnSp>
      <p:cxnSp>
        <p:nvCxnSpPr>
          <p:cNvPr id="24" name="Conector recto 23"/>
          <p:cNvCxnSpPr/>
          <p:nvPr/>
        </p:nvCxnSpPr>
        <p:spPr>
          <a:xfrm>
            <a:off x="5642367" y="3629581"/>
            <a:ext cx="3253113" cy="0"/>
          </a:xfrm>
          <a:prstGeom prst="line">
            <a:avLst/>
          </a:prstGeom>
          <a:ln w="12700">
            <a:prstDash val="dash"/>
          </a:ln>
        </p:spPr>
        <p:style>
          <a:lnRef idx="2">
            <a:schemeClr val="accent1"/>
          </a:lnRef>
          <a:fillRef idx="0">
            <a:schemeClr val="accent1"/>
          </a:fillRef>
          <a:effectRef idx="1">
            <a:schemeClr val="accent1"/>
          </a:effectRef>
          <a:fontRef idx="minor">
            <a:schemeClr val="tx1"/>
          </a:fontRef>
        </p:style>
      </p:cxnSp>
      <p:sp>
        <p:nvSpPr>
          <p:cNvPr id="30" name="Rectangle 36"/>
          <p:cNvSpPr>
            <a:spLocks/>
          </p:cNvSpPr>
          <p:nvPr/>
        </p:nvSpPr>
        <p:spPr bwMode="auto">
          <a:xfrm>
            <a:off x="6186897" y="3987531"/>
            <a:ext cx="337060"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t>8</a:t>
            </a:r>
          </a:p>
        </p:txBody>
      </p:sp>
      <p:sp>
        <p:nvSpPr>
          <p:cNvPr id="31" name="Rectangle 37"/>
          <p:cNvSpPr>
            <a:spLocks/>
          </p:cNvSpPr>
          <p:nvPr/>
        </p:nvSpPr>
        <p:spPr bwMode="auto">
          <a:xfrm>
            <a:off x="6944685" y="3987531"/>
            <a:ext cx="337060"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t>9</a:t>
            </a:r>
          </a:p>
        </p:txBody>
      </p:sp>
      <p:sp>
        <p:nvSpPr>
          <p:cNvPr id="32" name="Rectangle 38"/>
          <p:cNvSpPr>
            <a:spLocks/>
          </p:cNvSpPr>
          <p:nvPr/>
        </p:nvSpPr>
        <p:spPr bwMode="auto">
          <a:xfrm>
            <a:off x="7610627" y="3988258"/>
            <a:ext cx="337060"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t>10</a:t>
            </a:r>
          </a:p>
        </p:txBody>
      </p:sp>
      <p:sp>
        <p:nvSpPr>
          <p:cNvPr id="38" name="CuadroTexto 37"/>
          <p:cNvSpPr txBox="1"/>
          <p:nvPr/>
        </p:nvSpPr>
        <p:spPr>
          <a:xfrm flipH="1">
            <a:off x="3496524" y="3867248"/>
            <a:ext cx="372231" cy="369332"/>
          </a:xfrm>
          <a:prstGeom prst="rect">
            <a:avLst/>
          </a:prstGeom>
          <a:noFill/>
        </p:spPr>
        <p:txBody>
          <a:bodyPr wrap="square" rtlCol="0">
            <a:spAutoFit/>
          </a:bodyPr>
          <a:lstStyle/>
          <a:p>
            <a:pPr algn="ctr"/>
            <a:r>
              <a:rPr lang="es-ES"/>
              <a:t>…</a:t>
            </a:r>
          </a:p>
        </p:txBody>
      </p:sp>
      <p:sp>
        <p:nvSpPr>
          <p:cNvPr id="39" name="CuadroTexto 38"/>
          <p:cNvSpPr txBox="1"/>
          <p:nvPr/>
        </p:nvSpPr>
        <p:spPr>
          <a:xfrm flipH="1">
            <a:off x="8159749" y="3857175"/>
            <a:ext cx="372231" cy="369332"/>
          </a:xfrm>
          <a:prstGeom prst="rect">
            <a:avLst/>
          </a:prstGeom>
          <a:noFill/>
        </p:spPr>
        <p:txBody>
          <a:bodyPr wrap="square" rtlCol="0">
            <a:spAutoFit/>
          </a:bodyPr>
          <a:lstStyle/>
          <a:p>
            <a:pPr algn="ctr"/>
            <a:r>
              <a:rPr lang="es-ES"/>
              <a:t>…</a:t>
            </a:r>
          </a:p>
        </p:txBody>
      </p:sp>
      <p:sp>
        <p:nvSpPr>
          <p:cNvPr id="42" name="Rectangle 35"/>
          <p:cNvSpPr>
            <a:spLocks/>
          </p:cNvSpPr>
          <p:nvPr/>
        </p:nvSpPr>
        <p:spPr bwMode="auto">
          <a:xfrm>
            <a:off x="7324747" y="2148352"/>
            <a:ext cx="867224"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1600"/>
              <a:t>200+4(10)</a:t>
            </a:r>
          </a:p>
        </p:txBody>
      </p:sp>
      <p:cxnSp>
        <p:nvCxnSpPr>
          <p:cNvPr id="43" name="Straight Arrow Connector 9"/>
          <p:cNvCxnSpPr/>
          <p:nvPr/>
        </p:nvCxnSpPr>
        <p:spPr>
          <a:xfrm flipV="1">
            <a:off x="7758357" y="3318790"/>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44" name="Straight Arrow Connector 9"/>
          <p:cNvCxnSpPr/>
          <p:nvPr/>
        </p:nvCxnSpPr>
        <p:spPr>
          <a:xfrm flipV="1">
            <a:off x="7758357" y="3029082"/>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45" name="Straight Arrow Connector 9"/>
          <p:cNvCxnSpPr/>
          <p:nvPr/>
        </p:nvCxnSpPr>
        <p:spPr>
          <a:xfrm flipV="1">
            <a:off x="7758357" y="2738781"/>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46" name="Straight Arrow Connector 9"/>
          <p:cNvCxnSpPr/>
          <p:nvPr/>
        </p:nvCxnSpPr>
        <p:spPr>
          <a:xfrm flipV="1">
            <a:off x="7763027" y="3664732"/>
            <a:ext cx="0" cy="295941"/>
          </a:xfrm>
          <a:prstGeom prst="straightConnector1">
            <a:avLst/>
          </a:prstGeom>
          <a:ln>
            <a:solidFill>
              <a:schemeClr val="accent3">
                <a:lumMod val="75000"/>
              </a:schemeClr>
            </a:solidFill>
            <a:tailEnd type="arrow"/>
          </a:ln>
        </p:spPr>
        <p:style>
          <a:lnRef idx="2">
            <a:schemeClr val="accent1"/>
          </a:lnRef>
          <a:fillRef idx="0">
            <a:schemeClr val="accent1"/>
          </a:fillRef>
          <a:effectRef idx="1">
            <a:schemeClr val="accent1"/>
          </a:effectRef>
          <a:fontRef idx="minor">
            <a:schemeClr val="tx1"/>
          </a:fontRef>
        </p:style>
      </p:cxnSp>
      <p:cxnSp>
        <p:nvCxnSpPr>
          <p:cNvPr id="47" name="Straight Arrow Connector 9"/>
          <p:cNvCxnSpPr/>
          <p:nvPr/>
        </p:nvCxnSpPr>
        <p:spPr>
          <a:xfrm flipV="1">
            <a:off x="7752021" y="2441361"/>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52" name="Rectangle 39"/>
          <p:cNvSpPr>
            <a:spLocks/>
          </p:cNvSpPr>
          <p:nvPr/>
        </p:nvSpPr>
        <p:spPr bwMode="auto">
          <a:xfrm>
            <a:off x="8713721" y="3987921"/>
            <a:ext cx="337060"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t>18</a:t>
            </a:r>
          </a:p>
        </p:txBody>
      </p:sp>
      <p:sp>
        <p:nvSpPr>
          <p:cNvPr id="55" name="Rectangle 35"/>
          <p:cNvSpPr>
            <a:spLocks/>
          </p:cNvSpPr>
          <p:nvPr/>
        </p:nvSpPr>
        <p:spPr bwMode="auto">
          <a:xfrm>
            <a:off x="8378263" y="1784240"/>
            <a:ext cx="969816"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1600"/>
              <a:t>200+12(10)</a:t>
            </a:r>
          </a:p>
        </p:txBody>
      </p:sp>
      <p:cxnSp>
        <p:nvCxnSpPr>
          <p:cNvPr id="56" name="Straight Arrow Connector 9"/>
          <p:cNvCxnSpPr/>
          <p:nvPr/>
        </p:nvCxnSpPr>
        <p:spPr>
          <a:xfrm flipV="1">
            <a:off x="8869507" y="3318790"/>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57" name="Straight Arrow Connector 9"/>
          <p:cNvCxnSpPr/>
          <p:nvPr/>
        </p:nvCxnSpPr>
        <p:spPr>
          <a:xfrm flipV="1">
            <a:off x="8869507" y="3029082"/>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59" name="Straight Arrow Connector 9"/>
          <p:cNvCxnSpPr/>
          <p:nvPr/>
        </p:nvCxnSpPr>
        <p:spPr>
          <a:xfrm flipV="1">
            <a:off x="8874177" y="3664732"/>
            <a:ext cx="0" cy="295941"/>
          </a:xfrm>
          <a:prstGeom prst="straightConnector1">
            <a:avLst/>
          </a:prstGeom>
          <a:ln>
            <a:solidFill>
              <a:schemeClr val="accent3">
                <a:lumMod val="75000"/>
              </a:schemeClr>
            </a:solidFill>
            <a:tailEnd type="arrow"/>
          </a:ln>
        </p:spPr>
        <p:style>
          <a:lnRef idx="2">
            <a:schemeClr val="accent1"/>
          </a:lnRef>
          <a:fillRef idx="0">
            <a:schemeClr val="accent1"/>
          </a:fillRef>
          <a:effectRef idx="1">
            <a:schemeClr val="accent1"/>
          </a:effectRef>
          <a:fontRef idx="minor">
            <a:schemeClr val="tx1"/>
          </a:fontRef>
        </p:style>
      </p:cxnSp>
      <p:cxnSp>
        <p:nvCxnSpPr>
          <p:cNvPr id="60" name="Straight Arrow Connector 9"/>
          <p:cNvCxnSpPr/>
          <p:nvPr/>
        </p:nvCxnSpPr>
        <p:spPr>
          <a:xfrm flipV="1">
            <a:off x="8856832" y="2077249"/>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61" name="Straight Arrow Connector 9"/>
          <p:cNvCxnSpPr/>
          <p:nvPr/>
        </p:nvCxnSpPr>
        <p:spPr>
          <a:xfrm flipV="1">
            <a:off x="8863724" y="2361949"/>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62" name="Rectangle 35"/>
          <p:cNvSpPr>
            <a:spLocks/>
          </p:cNvSpPr>
          <p:nvPr/>
        </p:nvSpPr>
        <p:spPr bwMode="auto">
          <a:xfrm>
            <a:off x="8061105" y="2626001"/>
            <a:ext cx="1576141" cy="3898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lnSpc>
                <a:spcPct val="50000"/>
              </a:lnSpc>
            </a:pPr>
            <a:r>
              <a:rPr lang="en-US" sz="1600"/>
              <a:t>.</a:t>
            </a:r>
          </a:p>
          <a:p>
            <a:pPr algn="ctr">
              <a:lnSpc>
                <a:spcPct val="50000"/>
              </a:lnSpc>
            </a:pPr>
            <a:r>
              <a:rPr lang="en-US" sz="1600"/>
              <a:t>.</a:t>
            </a:r>
          </a:p>
          <a:p>
            <a:pPr algn="ctr">
              <a:lnSpc>
                <a:spcPct val="50000"/>
              </a:lnSpc>
            </a:pPr>
            <a:r>
              <a:rPr lang="en-US" sz="1600"/>
              <a:t>.</a:t>
            </a:r>
          </a:p>
        </p:txBody>
      </p:sp>
      <p:cxnSp>
        <p:nvCxnSpPr>
          <p:cNvPr id="102" name="Straight Connector 6"/>
          <p:cNvCxnSpPr/>
          <p:nvPr/>
        </p:nvCxnSpPr>
        <p:spPr>
          <a:xfrm>
            <a:off x="2523462" y="6617098"/>
            <a:ext cx="6387689" cy="12826"/>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3" name="Straight Arrow Connector 9"/>
          <p:cNvCxnSpPr/>
          <p:nvPr/>
        </p:nvCxnSpPr>
        <p:spPr>
          <a:xfrm flipV="1">
            <a:off x="5658037" y="6097853"/>
            <a:ext cx="0" cy="481084"/>
          </a:xfrm>
          <a:prstGeom prst="straightConnector1">
            <a:avLst/>
          </a:prstGeom>
          <a:ln>
            <a:solidFill>
              <a:srgbClr val="AA5816"/>
            </a:solidFill>
            <a:tailEnd type="arrow"/>
          </a:ln>
        </p:spPr>
        <p:style>
          <a:lnRef idx="2">
            <a:schemeClr val="accent1"/>
          </a:lnRef>
          <a:fillRef idx="0">
            <a:schemeClr val="accent1"/>
          </a:fillRef>
          <a:effectRef idx="1">
            <a:schemeClr val="accent1"/>
          </a:effectRef>
          <a:fontRef idx="minor">
            <a:schemeClr val="tx1"/>
          </a:fontRef>
        </p:style>
      </p:cxnSp>
      <p:sp>
        <p:nvSpPr>
          <p:cNvPr id="104" name="Rectangle 35"/>
          <p:cNvSpPr>
            <a:spLocks/>
          </p:cNvSpPr>
          <p:nvPr/>
        </p:nvSpPr>
        <p:spPr bwMode="auto">
          <a:xfrm>
            <a:off x="2472164" y="6629925"/>
            <a:ext cx="102592"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1600"/>
              <a:t>0</a:t>
            </a:r>
          </a:p>
        </p:txBody>
      </p:sp>
      <p:sp>
        <p:nvSpPr>
          <p:cNvPr id="105" name="Rectangle 36"/>
          <p:cNvSpPr>
            <a:spLocks/>
          </p:cNvSpPr>
          <p:nvPr/>
        </p:nvSpPr>
        <p:spPr bwMode="auto">
          <a:xfrm>
            <a:off x="3069434" y="6605096"/>
            <a:ext cx="337060"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t>1</a:t>
            </a:r>
          </a:p>
        </p:txBody>
      </p:sp>
      <p:sp>
        <p:nvSpPr>
          <p:cNvPr id="106" name="Rectangle 37"/>
          <p:cNvSpPr>
            <a:spLocks/>
          </p:cNvSpPr>
          <p:nvPr/>
        </p:nvSpPr>
        <p:spPr bwMode="auto">
          <a:xfrm>
            <a:off x="4078554" y="6605096"/>
            <a:ext cx="337060"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t>5</a:t>
            </a:r>
          </a:p>
        </p:txBody>
      </p:sp>
      <p:sp>
        <p:nvSpPr>
          <p:cNvPr id="107" name="Rectangle 38"/>
          <p:cNvSpPr>
            <a:spLocks/>
          </p:cNvSpPr>
          <p:nvPr/>
        </p:nvSpPr>
        <p:spPr bwMode="auto">
          <a:xfrm>
            <a:off x="4744496" y="6605823"/>
            <a:ext cx="337060"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t>6</a:t>
            </a:r>
          </a:p>
        </p:txBody>
      </p:sp>
      <p:sp>
        <p:nvSpPr>
          <p:cNvPr id="108" name="Rectangle 39"/>
          <p:cNvSpPr>
            <a:spLocks/>
          </p:cNvSpPr>
          <p:nvPr/>
        </p:nvSpPr>
        <p:spPr bwMode="auto">
          <a:xfrm>
            <a:off x="5484331" y="6609050"/>
            <a:ext cx="337060"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t>7</a:t>
            </a:r>
          </a:p>
        </p:txBody>
      </p:sp>
      <p:sp>
        <p:nvSpPr>
          <p:cNvPr id="109" name="Rectangle 35"/>
          <p:cNvSpPr>
            <a:spLocks/>
          </p:cNvSpPr>
          <p:nvPr/>
        </p:nvSpPr>
        <p:spPr bwMode="auto">
          <a:xfrm>
            <a:off x="5503352" y="5709197"/>
            <a:ext cx="307777"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1600"/>
              <a:t>210</a:t>
            </a:r>
          </a:p>
        </p:txBody>
      </p:sp>
      <p:cxnSp>
        <p:nvCxnSpPr>
          <p:cNvPr id="110" name="Straight Arrow Connector 9"/>
          <p:cNvCxnSpPr/>
          <p:nvPr/>
        </p:nvCxnSpPr>
        <p:spPr>
          <a:xfrm flipV="1">
            <a:off x="6387813" y="6068633"/>
            <a:ext cx="0" cy="510304"/>
          </a:xfrm>
          <a:prstGeom prst="straightConnector1">
            <a:avLst/>
          </a:prstGeom>
          <a:ln>
            <a:solidFill>
              <a:srgbClr val="AA5816"/>
            </a:solidFill>
            <a:tailEnd type="arrow"/>
          </a:ln>
        </p:spPr>
        <p:style>
          <a:lnRef idx="2">
            <a:schemeClr val="accent1"/>
          </a:lnRef>
          <a:fillRef idx="0">
            <a:schemeClr val="accent1"/>
          </a:fillRef>
          <a:effectRef idx="1">
            <a:schemeClr val="accent1"/>
          </a:effectRef>
          <a:fontRef idx="minor">
            <a:schemeClr val="tx1"/>
          </a:fontRef>
        </p:style>
      </p:cxnSp>
      <p:sp>
        <p:nvSpPr>
          <p:cNvPr id="111" name="Rectangle 35"/>
          <p:cNvSpPr>
            <a:spLocks/>
          </p:cNvSpPr>
          <p:nvPr/>
        </p:nvSpPr>
        <p:spPr bwMode="auto">
          <a:xfrm>
            <a:off x="6056246" y="5400026"/>
            <a:ext cx="690895"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1600"/>
              <a:t>210+ 10</a:t>
            </a:r>
          </a:p>
        </p:txBody>
      </p:sp>
      <p:sp>
        <p:nvSpPr>
          <p:cNvPr id="112" name="Rectangle 35"/>
          <p:cNvSpPr>
            <a:spLocks/>
          </p:cNvSpPr>
          <p:nvPr/>
        </p:nvSpPr>
        <p:spPr bwMode="auto">
          <a:xfrm>
            <a:off x="6713638" y="5113887"/>
            <a:ext cx="867224"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1600"/>
              <a:t>210+2(10)</a:t>
            </a:r>
          </a:p>
        </p:txBody>
      </p:sp>
      <p:cxnSp>
        <p:nvCxnSpPr>
          <p:cNvPr id="113" name="Straight Arrow Connector 9"/>
          <p:cNvCxnSpPr/>
          <p:nvPr/>
        </p:nvCxnSpPr>
        <p:spPr>
          <a:xfrm flipV="1">
            <a:off x="6387813" y="5659477"/>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114" name="Straight Arrow Connector 9"/>
          <p:cNvCxnSpPr/>
          <p:nvPr/>
        </p:nvCxnSpPr>
        <p:spPr>
          <a:xfrm flipV="1">
            <a:off x="7147248" y="6073023"/>
            <a:ext cx="0" cy="505914"/>
          </a:xfrm>
          <a:prstGeom prst="straightConnector1">
            <a:avLst/>
          </a:prstGeom>
          <a:ln>
            <a:solidFill>
              <a:srgbClr val="AA5816"/>
            </a:solidFill>
            <a:tailEnd type="arrow"/>
          </a:ln>
        </p:spPr>
        <p:style>
          <a:lnRef idx="2">
            <a:schemeClr val="accent1"/>
          </a:lnRef>
          <a:fillRef idx="0">
            <a:schemeClr val="accent1"/>
          </a:fillRef>
          <a:effectRef idx="1">
            <a:schemeClr val="accent1"/>
          </a:effectRef>
          <a:fontRef idx="minor">
            <a:schemeClr val="tx1"/>
          </a:fontRef>
        </p:style>
      </p:cxnSp>
      <p:cxnSp>
        <p:nvCxnSpPr>
          <p:cNvPr id="115" name="Straight Arrow Connector 9"/>
          <p:cNvCxnSpPr/>
          <p:nvPr/>
        </p:nvCxnSpPr>
        <p:spPr>
          <a:xfrm flipV="1">
            <a:off x="7147248" y="5663867"/>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116" name="Straight Arrow Connector 9"/>
          <p:cNvCxnSpPr/>
          <p:nvPr/>
        </p:nvCxnSpPr>
        <p:spPr>
          <a:xfrm flipV="1">
            <a:off x="7147248" y="5373566"/>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120" name="Conector recto 119"/>
          <p:cNvCxnSpPr/>
          <p:nvPr/>
        </p:nvCxnSpPr>
        <p:spPr>
          <a:xfrm>
            <a:off x="5658038" y="5980525"/>
            <a:ext cx="3253113" cy="0"/>
          </a:xfrm>
          <a:prstGeom prst="line">
            <a:avLst/>
          </a:prstGeom>
          <a:ln w="12700">
            <a:prstDash val="dash"/>
          </a:ln>
        </p:spPr>
        <p:style>
          <a:lnRef idx="2">
            <a:schemeClr val="accent1"/>
          </a:lnRef>
          <a:fillRef idx="0">
            <a:schemeClr val="accent1"/>
          </a:fillRef>
          <a:effectRef idx="1">
            <a:schemeClr val="accent1"/>
          </a:effectRef>
          <a:fontRef idx="minor">
            <a:schemeClr val="tx1"/>
          </a:fontRef>
        </p:style>
      </p:cxnSp>
      <p:sp>
        <p:nvSpPr>
          <p:cNvPr id="121" name="Rectangle 36"/>
          <p:cNvSpPr>
            <a:spLocks/>
          </p:cNvSpPr>
          <p:nvPr/>
        </p:nvSpPr>
        <p:spPr bwMode="auto">
          <a:xfrm>
            <a:off x="6202568" y="6616305"/>
            <a:ext cx="337060"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t>8</a:t>
            </a:r>
          </a:p>
        </p:txBody>
      </p:sp>
      <p:sp>
        <p:nvSpPr>
          <p:cNvPr id="122" name="Rectangle 37"/>
          <p:cNvSpPr>
            <a:spLocks/>
          </p:cNvSpPr>
          <p:nvPr/>
        </p:nvSpPr>
        <p:spPr bwMode="auto">
          <a:xfrm>
            <a:off x="6960356" y="6616305"/>
            <a:ext cx="337060"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t>9</a:t>
            </a:r>
          </a:p>
        </p:txBody>
      </p:sp>
      <p:sp>
        <p:nvSpPr>
          <p:cNvPr id="123" name="Rectangle 38"/>
          <p:cNvSpPr>
            <a:spLocks/>
          </p:cNvSpPr>
          <p:nvPr/>
        </p:nvSpPr>
        <p:spPr bwMode="auto">
          <a:xfrm>
            <a:off x="7626298" y="6617032"/>
            <a:ext cx="337060"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t>10</a:t>
            </a:r>
          </a:p>
        </p:txBody>
      </p:sp>
      <p:sp>
        <p:nvSpPr>
          <p:cNvPr id="124" name="CuadroTexto 123"/>
          <p:cNvSpPr txBox="1"/>
          <p:nvPr/>
        </p:nvSpPr>
        <p:spPr>
          <a:xfrm flipH="1">
            <a:off x="3512195" y="6496022"/>
            <a:ext cx="372231" cy="369332"/>
          </a:xfrm>
          <a:prstGeom prst="rect">
            <a:avLst/>
          </a:prstGeom>
          <a:noFill/>
        </p:spPr>
        <p:txBody>
          <a:bodyPr wrap="square" rtlCol="0">
            <a:spAutoFit/>
          </a:bodyPr>
          <a:lstStyle/>
          <a:p>
            <a:pPr algn="ctr"/>
            <a:r>
              <a:rPr lang="es-ES"/>
              <a:t>…</a:t>
            </a:r>
          </a:p>
        </p:txBody>
      </p:sp>
      <p:sp>
        <p:nvSpPr>
          <p:cNvPr id="125" name="CuadroTexto 124"/>
          <p:cNvSpPr txBox="1"/>
          <p:nvPr/>
        </p:nvSpPr>
        <p:spPr>
          <a:xfrm flipH="1">
            <a:off x="8175420" y="6485949"/>
            <a:ext cx="372231" cy="369332"/>
          </a:xfrm>
          <a:prstGeom prst="rect">
            <a:avLst/>
          </a:prstGeom>
          <a:noFill/>
        </p:spPr>
        <p:txBody>
          <a:bodyPr wrap="square" rtlCol="0">
            <a:spAutoFit/>
          </a:bodyPr>
          <a:lstStyle/>
          <a:p>
            <a:pPr algn="ctr"/>
            <a:r>
              <a:rPr lang="es-ES"/>
              <a:t>…</a:t>
            </a:r>
          </a:p>
        </p:txBody>
      </p:sp>
      <p:sp>
        <p:nvSpPr>
          <p:cNvPr id="126" name="Rectangle 35"/>
          <p:cNvSpPr>
            <a:spLocks/>
          </p:cNvSpPr>
          <p:nvPr/>
        </p:nvSpPr>
        <p:spPr bwMode="auto">
          <a:xfrm>
            <a:off x="7340418" y="4777126"/>
            <a:ext cx="867224"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1600"/>
              <a:t>210+3(10)</a:t>
            </a:r>
          </a:p>
        </p:txBody>
      </p:sp>
      <p:cxnSp>
        <p:nvCxnSpPr>
          <p:cNvPr id="127" name="Straight Arrow Connector 9"/>
          <p:cNvCxnSpPr/>
          <p:nvPr/>
        </p:nvCxnSpPr>
        <p:spPr>
          <a:xfrm flipV="1">
            <a:off x="7774028" y="6067013"/>
            <a:ext cx="0" cy="511925"/>
          </a:xfrm>
          <a:prstGeom prst="straightConnector1">
            <a:avLst/>
          </a:prstGeom>
          <a:ln>
            <a:solidFill>
              <a:srgbClr val="AA5816"/>
            </a:solidFill>
            <a:tailEnd type="arrow"/>
          </a:ln>
        </p:spPr>
        <p:style>
          <a:lnRef idx="2">
            <a:schemeClr val="accent1"/>
          </a:lnRef>
          <a:fillRef idx="0">
            <a:schemeClr val="accent1"/>
          </a:fillRef>
          <a:effectRef idx="1">
            <a:schemeClr val="accent1"/>
          </a:effectRef>
          <a:fontRef idx="minor">
            <a:schemeClr val="tx1"/>
          </a:fontRef>
        </p:style>
      </p:cxnSp>
      <p:cxnSp>
        <p:nvCxnSpPr>
          <p:cNvPr id="128" name="Straight Arrow Connector 9"/>
          <p:cNvCxnSpPr/>
          <p:nvPr/>
        </p:nvCxnSpPr>
        <p:spPr>
          <a:xfrm flipV="1">
            <a:off x="7774028" y="5657856"/>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129" name="Straight Arrow Connector 9"/>
          <p:cNvCxnSpPr/>
          <p:nvPr/>
        </p:nvCxnSpPr>
        <p:spPr>
          <a:xfrm flipV="1">
            <a:off x="7774028" y="5367555"/>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131" name="Straight Arrow Connector 9"/>
          <p:cNvCxnSpPr/>
          <p:nvPr/>
        </p:nvCxnSpPr>
        <p:spPr>
          <a:xfrm flipV="1">
            <a:off x="7767692" y="5070135"/>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132" name="Rectangle 39"/>
          <p:cNvSpPr>
            <a:spLocks/>
          </p:cNvSpPr>
          <p:nvPr/>
        </p:nvSpPr>
        <p:spPr bwMode="auto">
          <a:xfrm>
            <a:off x="8729392" y="6616695"/>
            <a:ext cx="337060"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t>18</a:t>
            </a:r>
          </a:p>
        </p:txBody>
      </p:sp>
      <p:sp>
        <p:nvSpPr>
          <p:cNvPr id="133" name="Rectangle 35"/>
          <p:cNvSpPr>
            <a:spLocks/>
          </p:cNvSpPr>
          <p:nvPr/>
        </p:nvSpPr>
        <p:spPr bwMode="auto">
          <a:xfrm>
            <a:off x="8393934" y="4413014"/>
            <a:ext cx="969816"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1600"/>
              <a:t>210+11(10)</a:t>
            </a:r>
          </a:p>
        </p:txBody>
      </p:sp>
      <p:cxnSp>
        <p:nvCxnSpPr>
          <p:cNvPr id="134" name="Straight Arrow Connector 9"/>
          <p:cNvCxnSpPr/>
          <p:nvPr/>
        </p:nvCxnSpPr>
        <p:spPr>
          <a:xfrm flipV="1">
            <a:off x="8885178" y="6067013"/>
            <a:ext cx="0" cy="511925"/>
          </a:xfrm>
          <a:prstGeom prst="straightConnector1">
            <a:avLst/>
          </a:prstGeom>
          <a:ln>
            <a:solidFill>
              <a:srgbClr val="AA5816"/>
            </a:solidFill>
            <a:tailEnd type="arrow"/>
          </a:ln>
        </p:spPr>
        <p:style>
          <a:lnRef idx="2">
            <a:schemeClr val="accent1"/>
          </a:lnRef>
          <a:fillRef idx="0">
            <a:schemeClr val="accent1"/>
          </a:fillRef>
          <a:effectRef idx="1">
            <a:schemeClr val="accent1"/>
          </a:effectRef>
          <a:fontRef idx="minor">
            <a:schemeClr val="tx1"/>
          </a:fontRef>
        </p:style>
      </p:cxnSp>
      <p:cxnSp>
        <p:nvCxnSpPr>
          <p:cNvPr id="135" name="Straight Arrow Connector 9"/>
          <p:cNvCxnSpPr/>
          <p:nvPr/>
        </p:nvCxnSpPr>
        <p:spPr>
          <a:xfrm flipV="1">
            <a:off x="8885178" y="5657856"/>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137" name="Straight Arrow Connector 9"/>
          <p:cNvCxnSpPr/>
          <p:nvPr/>
        </p:nvCxnSpPr>
        <p:spPr>
          <a:xfrm flipV="1">
            <a:off x="8872503" y="4706023"/>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138" name="Straight Arrow Connector 9"/>
          <p:cNvCxnSpPr/>
          <p:nvPr/>
        </p:nvCxnSpPr>
        <p:spPr>
          <a:xfrm flipV="1">
            <a:off x="8879395" y="4990723"/>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139" name="Rectangle 35"/>
          <p:cNvSpPr>
            <a:spLocks/>
          </p:cNvSpPr>
          <p:nvPr/>
        </p:nvSpPr>
        <p:spPr bwMode="auto">
          <a:xfrm>
            <a:off x="8076776" y="5254775"/>
            <a:ext cx="1576141" cy="3898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lnSpc>
                <a:spcPct val="50000"/>
              </a:lnSpc>
            </a:pPr>
            <a:r>
              <a:rPr lang="en-US" sz="1600"/>
              <a:t>.</a:t>
            </a:r>
          </a:p>
          <a:p>
            <a:pPr algn="ctr">
              <a:lnSpc>
                <a:spcPct val="50000"/>
              </a:lnSpc>
            </a:pPr>
            <a:r>
              <a:rPr lang="en-US" sz="1600"/>
              <a:t>.</a:t>
            </a:r>
          </a:p>
          <a:p>
            <a:pPr algn="ctr">
              <a:lnSpc>
                <a:spcPct val="50000"/>
              </a:lnSpc>
            </a:pPr>
            <a:r>
              <a:rPr lang="en-US" sz="1600"/>
              <a:t>.</a:t>
            </a:r>
          </a:p>
        </p:txBody>
      </p:sp>
      <p:sp>
        <p:nvSpPr>
          <p:cNvPr id="25" name="Title 1">
            <a:extLst>
              <a:ext uri="{FF2B5EF4-FFF2-40B4-BE49-F238E27FC236}">
                <a16:creationId xmlns:a16="http://schemas.microsoft.com/office/drawing/2014/main" id="{C4C67B8F-F852-CC57-E494-E6EF51E2E895}"/>
              </a:ext>
            </a:extLst>
          </p:cNvPr>
          <p:cNvSpPr>
            <a:spLocks noGrp="1"/>
          </p:cNvSpPr>
          <p:nvPr>
            <p:ph type="title"/>
          </p:nvPr>
        </p:nvSpPr>
        <p:spPr>
          <a:xfrm>
            <a:off x="581192" y="702156"/>
            <a:ext cx="11029616" cy="1013800"/>
          </a:xfrm>
        </p:spPr>
        <p:txBody>
          <a:bodyPr>
            <a:normAutofit/>
          </a:bodyPr>
          <a:lstStyle/>
          <a:p>
            <a:r>
              <a:rPr lang="es-ES_tradnl" sz="3200" dirty="0">
                <a:latin typeface="Gill Sans MT (titulo)"/>
              </a:rPr>
              <a:t>Gradientes aritméticos</a:t>
            </a:r>
          </a:p>
        </p:txBody>
      </p:sp>
      <p:sp>
        <p:nvSpPr>
          <p:cNvPr id="26" name="Rectángulo 25">
            <a:extLst>
              <a:ext uri="{FF2B5EF4-FFF2-40B4-BE49-F238E27FC236}">
                <a16:creationId xmlns:a16="http://schemas.microsoft.com/office/drawing/2014/main" id="{335B6EE0-5422-9CBF-B9CB-BA3EBE2329CD}"/>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27" name="Picture 2" descr="Clientes y aliados | Centro de Evaluación | Uniandes">
            <a:extLst>
              <a:ext uri="{FF2B5EF4-FFF2-40B4-BE49-F238E27FC236}">
                <a16:creationId xmlns:a16="http://schemas.microsoft.com/office/drawing/2014/main" id="{36F18D0E-BDD3-3843-8177-1BE16CA7431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28" name="Rectángulo 27">
            <a:extLst>
              <a:ext uri="{FF2B5EF4-FFF2-40B4-BE49-F238E27FC236}">
                <a16:creationId xmlns:a16="http://schemas.microsoft.com/office/drawing/2014/main" id="{DC94D304-A157-895D-11B2-E651352DB254}"/>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2" name="Slide Number Placeholder 3">
            <a:extLst>
              <a:ext uri="{FF2B5EF4-FFF2-40B4-BE49-F238E27FC236}">
                <a16:creationId xmlns:a16="http://schemas.microsoft.com/office/drawing/2014/main" id="{84DD668F-1C30-FC69-C451-7037ED387C51}"/>
              </a:ext>
            </a:extLst>
          </p:cNvPr>
          <p:cNvSpPr txBox="1">
            <a:spLocks/>
          </p:cNvSpPr>
          <p:nvPr/>
        </p:nvSpPr>
        <p:spPr>
          <a:xfrm>
            <a:off x="10710700" y="6108537"/>
            <a:ext cx="1052508" cy="365125"/>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5E3E23BA-6E79-2442-BA73-D218A5E297C3}" type="slidenum">
              <a:rPr lang="en-US" sz="2000" b="1" smtClean="0">
                <a:latin typeface="Gill Sans MT (Títulos)"/>
              </a:rPr>
              <a:pPr/>
              <a:t>33</a:t>
            </a:fld>
            <a:endParaRPr lang="en-US" sz="2000" b="1" dirty="0">
              <a:latin typeface="Gill Sans MT (Títulos)"/>
            </a:endParaRPr>
          </a:p>
        </p:txBody>
      </p:sp>
    </p:spTree>
    <p:extLst>
      <p:ext uri="{BB962C8B-B14F-4D97-AF65-F5344CB8AC3E}">
        <p14:creationId xmlns:p14="http://schemas.microsoft.com/office/powerpoint/2010/main" val="11388218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9"/>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1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1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12"/>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13"/>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14"/>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15"/>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16"/>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20"/>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21"/>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22"/>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23"/>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24"/>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25"/>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26"/>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127"/>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128"/>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129"/>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131"/>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132"/>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133"/>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134"/>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135"/>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137"/>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138"/>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1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 grpId="0"/>
      <p:bldP spid="105" grpId="0"/>
      <p:bldP spid="106" grpId="0"/>
      <p:bldP spid="107" grpId="0"/>
      <p:bldP spid="108" grpId="0"/>
      <p:bldP spid="109" grpId="0"/>
      <p:bldP spid="111" grpId="0"/>
      <p:bldP spid="112" grpId="0"/>
      <p:bldP spid="121" grpId="0"/>
      <p:bldP spid="122" grpId="0"/>
      <p:bldP spid="123" grpId="0"/>
      <p:bldP spid="124" grpId="0"/>
      <p:bldP spid="125" grpId="0"/>
      <p:bldP spid="126" grpId="0"/>
      <p:bldP spid="132" grpId="0"/>
      <p:bldP spid="133" grpId="0"/>
      <p:bldP spid="139"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6568719" y="2371042"/>
            <a:ext cx="5176980" cy="559133"/>
          </a:xfrm>
        </p:spPr>
        <p:txBody>
          <a:bodyPr>
            <a:normAutofit/>
          </a:bodyPr>
          <a:lstStyle/>
          <a:p>
            <a:pPr marL="0" indent="0">
              <a:buNone/>
            </a:pPr>
            <a:r>
              <a:rPr lang="es-ES" sz="2000"/>
              <a:t>Utilizando la ecuación del gradiente aritmético</a:t>
            </a:r>
          </a:p>
        </p:txBody>
      </p:sp>
      <p:cxnSp>
        <p:nvCxnSpPr>
          <p:cNvPr id="5" name="Straight Connector 6"/>
          <p:cNvCxnSpPr>
            <a:stCxn id="10" idx="0"/>
          </p:cNvCxnSpPr>
          <p:nvPr/>
        </p:nvCxnSpPr>
        <p:spPr>
          <a:xfrm>
            <a:off x="1084868" y="3463875"/>
            <a:ext cx="3998124" cy="54879"/>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10" name="Rectangle 38"/>
          <p:cNvSpPr>
            <a:spLocks/>
          </p:cNvSpPr>
          <p:nvPr/>
        </p:nvSpPr>
        <p:spPr bwMode="auto">
          <a:xfrm>
            <a:off x="916338" y="3463875"/>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6</a:t>
            </a:r>
          </a:p>
        </p:txBody>
      </p:sp>
      <p:sp>
        <p:nvSpPr>
          <p:cNvPr id="11" name="Rectangle 39"/>
          <p:cNvSpPr>
            <a:spLocks/>
          </p:cNvSpPr>
          <p:nvPr/>
        </p:nvSpPr>
        <p:spPr bwMode="auto">
          <a:xfrm>
            <a:off x="1656173" y="3467102"/>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7</a:t>
            </a:r>
          </a:p>
        </p:txBody>
      </p:sp>
      <p:sp>
        <p:nvSpPr>
          <p:cNvPr id="14" name="Rectangle 35"/>
          <p:cNvSpPr>
            <a:spLocks/>
          </p:cNvSpPr>
          <p:nvPr/>
        </p:nvSpPr>
        <p:spPr bwMode="auto">
          <a:xfrm>
            <a:off x="2436710" y="2920976"/>
            <a:ext cx="256481"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10</a:t>
            </a:r>
          </a:p>
        </p:txBody>
      </p:sp>
      <p:sp>
        <p:nvSpPr>
          <p:cNvPr id="15" name="Rectangle 35"/>
          <p:cNvSpPr>
            <a:spLocks/>
          </p:cNvSpPr>
          <p:nvPr/>
        </p:nvSpPr>
        <p:spPr bwMode="auto">
          <a:xfrm>
            <a:off x="3034791" y="2634837"/>
            <a:ext cx="551433"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2(10)</a:t>
            </a:r>
          </a:p>
        </p:txBody>
      </p:sp>
      <p:cxnSp>
        <p:nvCxnSpPr>
          <p:cNvPr id="16" name="Straight Arrow Connector 9"/>
          <p:cNvCxnSpPr/>
          <p:nvPr/>
        </p:nvCxnSpPr>
        <p:spPr>
          <a:xfrm flipV="1">
            <a:off x="2551071" y="3211205"/>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18" name="Straight Arrow Connector 9"/>
          <p:cNvCxnSpPr/>
          <p:nvPr/>
        </p:nvCxnSpPr>
        <p:spPr>
          <a:xfrm flipV="1">
            <a:off x="3310506" y="3215595"/>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19" name="Straight Arrow Connector 9"/>
          <p:cNvCxnSpPr/>
          <p:nvPr/>
        </p:nvCxnSpPr>
        <p:spPr>
          <a:xfrm flipV="1">
            <a:off x="3310506" y="2925294"/>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24" name="Rectangle 36"/>
          <p:cNvSpPr>
            <a:spLocks/>
          </p:cNvSpPr>
          <p:nvPr/>
        </p:nvSpPr>
        <p:spPr bwMode="auto">
          <a:xfrm>
            <a:off x="2374410" y="3474357"/>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8</a:t>
            </a:r>
          </a:p>
        </p:txBody>
      </p:sp>
      <p:sp>
        <p:nvSpPr>
          <p:cNvPr id="25" name="Rectangle 37"/>
          <p:cNvSpPr>
            <a:spLocks/>
          </p:cNvSpPr>
          <p:nvPr/>
        </p:nvSpPr>
        <p:spPr bwMode="auto">
          <a:xfrm>
            <a:off x="3132198" y="3474357"/>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9</a:t>
            </a:r>
          </a:p>
        </p:txBody>
      </p:sp>
      <p:sp>
        <p:nvSpPr>
          <p:cNvPr id="26" name="Rectangle 38"/>
          <p:cNvSpPr>
            <a:spLocks/>
          </p:cNvSpPr>
          <p:nvPr/>
        </p:nvSpPr>
        <p:spPr bwMode="auto">
          <a:xfrm>
            <a:off x="3798140" y="3475084"/>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10</a:t>
            </a:r>
          </a:p>
        </p:txBody>
      </p:sp>
      <p:sp>
        <p:nvSpPr>
          <p:cNvPr id="28" name="CuadroTexto 27"/>
          <p:cNvSpPr txBox="1"/>
          <p:nvPr/>
        </p:nvSpPr>
        <p:spPr>
          <a:xfrm flipH="1">
            <a:off x="4347262" y="3374779"/>
            <a:ext cx="372231" cy="400110"/>
          </a:xfrm>
          <a:prstGeom prst="rect">
            <a:avLst/>
          </a:prstGeom>
          <a:noFill/>
        </p:spPr>
        <p:txBody>
          <a:bodyPr wrap="square" rtlCol="0">
            <a:spAutoFit/>
          </a:bodyPr>
          <a:lstStyle/>
          <a:p>
            <a:pPr algn="ctr"/>
            <a:r>
              <a:rPr lang="es-ES" sz="2000"/>
              <a:t>…</a:t>
            </a:r>
          </a:p>
        </p:txBody>
      </p:sp>
      <p:sp>
        <p:nvSpPr>
          <p:cNvPr id="29" name="Rectangle 35"/>
          <p:cNvSpPr>
            <a:spLocks/>
          </p:cNvSpPr>
          <p:nvPr/>
        </p:nvSpPr>
        <p:spPr bwMode="auto">
          <a:xfrm>
            <a:off x="3661571" y="2298076"/>
            <a:ext cx="551433"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3(10)</a:t>
            </a:r>
          </a:p>
        </p:txBody>
      </p:sp>
      <p:cxnSp>
        <p:nvCxnSpPr>
          <p:cNvPr id="31" name="Straight Arrow Connector 9"/>
          <p:cNvCxnSpPr/>
          <p:nvPr/>
        </p:nvCxnSpPr>
        <p:spPr>
          <a:xfrm flipV="1">
            <a:off x="3937286" y="3209584"/>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32" name="Straight Arrow Connector 9"/>
          <p:cNvCxnSpPr/>
          <p:nvPr/>
        </p:nvCxnSpPr>
        <p:spPr>
          <a:xfrm flipV="1">
            <a:off x="3937286" y="2919283"/>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34" name="Straight Arrow Connector 9"/>
          <p:cNvCxnSpPr/>
          <p:nvPr/>
        </p:nvCxnSpPr>
        <p:spPr>
          <a:xfrm flipV="1">
            <a:off x="3930950" y="2621863"/>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35" name="Rectangle 39"/>
          <p:cNvSpPr>
            <a:spLocks/>
          </p:cNvSpPr>
          <p:nvPr/>
        </p:nvSpPr>
        <p:spPr bwMode="auto">
          <a:xfrm>
            <a:off x="4901234" y="3474747"/>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18</a:t>
            </a:r>
          </a:p>
        </p:txBody>
      </p:sp>
      <p:sp>
        <p:nvSpPr>
          <p:cNvPr id="36" name="Rectangle 35"/>
          <p:cNvSpPr>
            <a:spLocks/>
          </p:cNvSpPr>
          <p:nvPr/>
        </p:nvSpPr>
        <p:spPr bwMode="auto">
          <a:xfrm>
            <a:off x="4702262" y="1933964"/>
            <a:ext cx="679674"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11(10)</a:t>
            </a:r>
          </a:p>
        </p:txBody>
      </p:sp>
      <p:cxnSp>
        <p:nvCxnSpPr>
          <p:cNvPr id="38" name="Straight Arrow Connector 9"/>
          <p:cNvCxnSpPr/>
          <p:nvPr/>
        </p:nvCxnSpPr>
        <p:spPr>
          <a:xfrm flipV="1">
            <a:off x="5037550" y="3187812"/>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40" name="Straight Arrow Connector 9"/>
          <p:cNvCxnSpPr/>
          <p:nvPr/>
        </p:nvCxnSpPr>
        <p:spPr>
          <a:xfrm flipV="1">
            <a:off x="5035761" y="2627865"/>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41" name="Straight Arrow Connector 9"/>
          <p:cNvCxnSpPr/>
          <p:nvPr/>
        </p:nvCxnSpPr>
        <p:spPr>
          <a:xfrm flipV="1">
            <a:off x="5042653" y="2912565"/>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45" name="Straight Connector 6"/>
          <p:cNvCxnSpPr>
            <a:stCxn id="47" idx="0"/>
          </p:cNvCxnSpPr>
          <p:nvPr/>
        </p:nvCxnSpPr>
        <p:spPr>
          <a:xfrm>
            <a:off x="1020551" y="4885274"/>
            <a:ext cx="3998124" cy="54879"/>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6" name="Straight Arrow Connector 9"/>
          <p:cNvCxnSpPr/>
          <p:nvPr/>
        </p:nvCxnSpPr>
        <p:spPr>
          <a:xfrm flipV="1">
            <a:off x="1765562" y="4315094"/>
            <a:ext cx="0" cy="295941"/>
          </a:xfrm>
          <a:prstGeom prst="straightConnector1">
            <a:avLst/>
          </a:prstGeom>
          <a:ln>
            <a:solidFill>
              <a:srgbClr val="AA5816"/>
            </a:solidFill>
            <a:tailEnd type="arrow"/>
          </a:ln>
        </p:spPr>
        <p:style>
          <a:lnRef idx="2">
            <a:schemeClr val="accent1"/>
          </a:lnRef>
          <a:fillRef idx="0">
            <a:schemeClr val="accent1"/>
          </a:fillRef>
          <a:effectRef idx="1">
            <a:schemeClr val="accent1"/>
          </a:effectRef>
          <a:fontRef idx="minor">
            <a:schemeClr val="tx1"/>
          </a:fontRef>
        </p:style>
      </p:cxnSp>
      <p:sp>
        <p:nvSpPr>
          <p:cNvPr id="47" name="Rectangle 38"/>
          <p:cNvSpPr>
            <a:spLocks/>
          </p:cNvSpPr>
          <p:nvPr/>
        </p:nvSpPr>
        <p:spPr bwMode="auto">
          <a:xfrm>
            <a:off x="852021" y="4885274"/>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6</a:t>
            </a:r>
          </a:p>
        </p:txBody>
      </p:sp>
      <p:sp>
        <p:nvSpPr>
          <p:cNvPr id="48" name="Rectangle 39"/>
          <p:cNvSpPr>
            <a:spLocks/>
          </p:cNvSpPr>
          <p:nvPr/>
        </p:nvSpPr>
        <p:spPr bwMode="auto">
          <a:xfrm>
            <a:off x="1591856" y="4888501"/>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7</a:t>
            </a:r>
          </a:p>
        </p:txBody>
      </p:sp>
      <p:sp>
        <p:nvSpPr>
          <p:cNvPr id="49" name="Rectangle 35"/>
          <p:cNvSpPr>
            <a:spLocks/>
          </p:cNvSpPr>
          <p:nvPr/>
        </p:nvSpPr>
        <p:spPr bwMode="auto">
          <a:xfrm>
            <a:off x="3212581" y="3988648"/>
            <a:ext cx="384722"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210</a:t>
            </a:r>
          </a:p>
        </p:txBody>
      </p:sp>
      <p:cxnSp>
        <p:nvCxnSpPr>
          <p:cNvPr id="50" name="Straight Arrow Connector 9"/>
          <p:cNvCxnSpPr/>
          <p:nvPr/>
        </p:nvCxnSpPr>
        <p:spPr>
          <a:xfrm flipV="1">
            <a:off x="2495338" y="4285874"/>
            <a:ext cx="0" cy="295941"/>
          </a:xfrm>
          <a:prstGeom prst="straightConnector1">
            <a:avLst/>
          </a:prstGeom>
          <a:ln>
            <a:solidFill>
              <a:srgbClr val="AA5816"/>
            </a:solidFill>
            <a:tailEnd type="arrow"/>
          </a:ln>
        </p:spPr>
        <p:style>
          <a:lnRef idx="2">
            <a:schemeClr val="accent1"/>
          </a:lnRef>
          <a:fillRef idx="0">
            <a:schemeClr val="accent1"/>
          </a:fillRef>
          <a:effectRef idx="1">
            <a:schemeClr val="accent1"/>
          </a:effectRef>
          <a:fontRef idx="minor">
            <a:schemeClr val="tx1"/>
          </a:fontRef>
        </p:style>
      </p:cxnSp>
      <p:cxnSp>
        <p:nvCxnSpPr>
          <p:cNvPr id="54" name="Straight Arrow Connector 9"/>
          <p:cNvCxnSpPr/>
          <p:nvPr/>
        </p:nvCxnSpPr>
        <p:spPr>
          <a:xfrm flipV="1">
            <a:off x="3254773" y="4290264"/>
            <a:ext cx="0" cy="295941"/>
          </a:xfrm>
          <a:prstGeom prst="straightConnector1">
            <a:avLst/>
          </a:prstGeom>
          <a:ln>
            <a:solidFill>
              <a:srgbClr val="AA5816"/>
            </a:solidFill>
            <a:tailEnd type="arrow"/>
          </a:ln>
        </p:spPr>
        <p:style>
          <a:lnRef idx="2">
            <a:schemeClr val="accent1"/>
          </a:lnRef>
          <a:fillRef idx="0">
            <a:schemeClr val="accent1"/>
          </a:fillRef>
          <a:effectRef idx="1">
            <a:schemeClr val="accent1"/>
          </a:effectRef>
          <a:fontRef idx="minor">
            <a:schemeClr val="tx1"/>
          </a:fontRef>
        </p:style>
      </p:cxnSp>
      <p:cxnSp>
        <p:nvCxnSpPr>
          <p:cNvPr id="57" name="Straight Arrow Connector 9"/>
          <p:cNvCxnSpPr/>
          <p:nvPr/>
        </p:nvCxnSpPr>
        <p:spPr>
          <a:xfrm flipV="1">
            <a:off x="1771342" y="4620111"/>
            <a:ext cx="0" cy="295941"/>
          </a:xfrm>
          <a:prstGeom prst="straightConnector1">
            <a:avLst/>
          </a:prstGeom>
          <a:ln>
            <a:solidFill>
              <a:schemeClr val="accent3">
                <a:lumMod val="75000"/>
              </a:schemeClr>
            </a:solidFill>
            <a:tailEnd type="arrow"/>
          </a:ln>
        </p:spPr>
        <p:style>
          <a:lnRef idx="2">
            <a:schemeClr val="accent1"/>
          </a:lnRef>
          <a:fillRef idx="0">
            <a:schemeClr val="accent1"/>
          </a:fillRef>
          <a:effectRef idx="1">
            <a:schemeClr val="accent1"/>
          </a:effectRef>
          <a:fontRef idx="minor">
            <a:schemeClr val="tx1"/>
          </a:fontRef>
        </p:style>
      </p:cxnSp>
      <p:cxnSp>
        <p:nvCxnSpPr>
          <p:cNvPr id="58" name="Straight Arrow Connector 9"/>
          <p:cNvCxnSpPr/>
          <p:nvPr/>
        </p:nvCxnSpPr>
        <p:spPr>
          <a:xfrm flipV="1">
            <a:off x="2495338" y="4597805"/>
            <a:ext cx="0" cy="295941"/>
          </a:xfrm>
          <a:prstGeom prst="straightConnector1">
            <a:avLst/>
          </a:prstGeom>
          <a:ln>
            <a:solidFill>
              <a:schemeClr val="accent3">
                <a:lumMod val="75000"/>
              </a:schemeClr>
            </a:solidFill>
            <a:tailEnd type="arrow"/>
          </a:ln>
        </p:spPr>
        <p:style>
          <a:lnRef idx="2">
            <a:schemeClr val="accent1"/>
          </a:lnRef>
          <a:fillRef idx="0">
            <a:schemeClr val="accent1"/>
          </a:fillRef>
          <a:effectRef idx="1">
            <a:schemeClr val="accent1"/>
          </a:effectRef>
          <a:fontRef idx="minor">
            <a:schemeClr val="tx1"/>
          </a:fontRef>
        </p:style>
      </p:cxnSp>
      <p:cxnSp>
        <p:nvCxnSpPr>
          <p:cNvPr id="59" name="Straight Arrow Connector 9"/>
          <p:cNvCxnSpPr/>
          <p:nvPr/>
        </p:nvCxnSpPr>
        <p:spPr>
          <a:xfrm flipV="1">
            <a:off x="3259443" y="4609746"/>
            <a:ext cx="0" cy="295941"/>
          </a:xfrm>
          <a:prstGeom prst="straightConnector1">
            <a:avLst/>
          </a:prstGeom>
          <a:ln>
            <a:solidFill>
              <a:schemeClr val="accent3">
                <a:lumMod val="75000"/>
              </a:schemeClr>
            </a:solidFill>
            <a:tailEnd type="arrow"/>
          </a:ln>
        </p:spPr>
        <p:style>
          <a:lnRef idx="2">
            <a:schemeClr val="accent1"/>
          </a:lnRef>
          <a:fillRef idx="0">
            <a:schemeClr val="accent1"/>
          </a:fillRef>
          <a:effectRef idx="1">
            <a:schemeClr val="accent1"/>
          </a:effectRef>
          <a:fontRef idx="minor">
            <a:schemeClr val="tx1"/>
          </a:fontRef>
        </p:style>
      </p:cxnSp>
      <p:cxnSp>
        <p:nvCxnSpPr>
          <p:cNvPr id="60" name="Conector recto 59"/>
          <p:cNvCxnSpPr/>
          <p:nvPr/>
        </p:nvCxnSpPr>
        <p:spPr>
          <a:xfrm>
            <a:off x="1765563" y="4290754"/>
            <a:ext cx="3253113" cy="0"/>
          </a:xfrm>
          <a:prstGeom prst="line">
            <a:avLst/>
          </a:prstGeom>
          <a:ln w="12700">
            <a:prstDash val="dash"/>
          </a:ln>
        </p:spPr>
        <p:style>
          <a:lnRef idx="2">
            <a:schemeClr val="accent1"/>
          </a:lnRef>
          <a:fillRef idx="0">
            <a:schemeClr val="accent1"/>
          </a:fillRef>
          <a:effectRef idx="1">
            <a:schemeClr val="accent1"/>
          </a:effectRef>
          <a:fontRef idx="minor">
            <a:schemeClr val="tx1"/>
          </a:fontRef>
        </p:style>
      </p:cxnSp>
      <p:sp>
        <p:nvSpPr>
          <p:cNvPr id="61" name="Rectangle 36"/>
          <p:cNvSpPr>
            <a:spLocks/>
          </p:cNvSpPr>
          <p:nvPr/>
        </p:nvSpPr>
        <p:spPr bwMode="auto">
          <a:xfrm>
            <a:off x="2310093" y="4895756"/>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8</a:t>
            </a:r>
          </a:p>
        </p:txBody>
      </p:sp>
      <p:sp>
        <p:nvSpPr>
          <p:cNvPr id="62" name="Rectangle 37"/>
          <p:cNvSpPr>
            <a:spLocks/>
          </p:cNvSpPr>
          <p:nvPr/>
        </p:nvSpPr>
        <p:spPr bwMode="auto">
          <a:xfrm>
            <a:off x="3067881" y="4895756"/>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9</a:t>
            </a:r>
          </a:p>
        </p:txBody>
      </p:sp>
      <p:sp>
        <p:nvSpPr>
          <p:cNvPr id="63" name="Rectangle 38"/>
          <p:cNvSpPr>
            <a:spLocks/>
          </p:cNvSpPr>
          <p:nvPr/>
        </p:nvSpPr>
        <p:spPr bwMode="auto">
          <a:xfrm>
            <a:off x="3733823" y="4896483"/>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10</a:t>
            </a:r>
          </a:p>
        </p:txBody>
      </p:sp>
      <p:sp>
        <p:nvSpPr>
          <p:cNvPr id="64" name="CuadroTexto 63"/>
          <p:cNvSpPr txBox="1"/>
          <p:nvPr/>
        </p:nvSpPr>
        <p:spPr>
          <a:xfrm flipH="1">
            <a:off x="4282945" y="4796178"/>
            <a:ext cx="372231" cy="400110"/>
          </a:xfrm>
          <a:prstGeom prst="rect">
            <a:avLst/>
          </a:prstGeom>
          <a:noFill/>
        </p:spPr>
        <p:txBody>
          <a:bodyPr wrap="square" rtlCol="0">
            <a:spAutoFit/>
          </a:bodyPr>
          <a:lstStyle/>
          <a:p>
            <a:pPr algn="ctr"/>
            <a:r>
              <a:rPr lang="es-ES" sz="2000"/>
              <a:t>…</a:t>
            </a:r>
          </a:p>
        </p:txBody>
      </p:sp>
      <p:cxnSp>
        <p:nvCxnSpPr>
          <p:cNvPr id="66" name="Straight Arrow Connector 9"/>
          <p:cNvCxnSpPr/>
          <p:nvPr/>
        </p:nvCxnSpPr>
        <p:spPr>
          <a:xfrm flipV="1">
            <a:off x="3881553" y="4284253"/>
            <a:ext cx="0" cy="295941"/>
          </a:xfrm>
          <a:prstGeom prst="straightConnector1">
            <a:avLst/>
          </a:prstGeom>
          <a:ln>
            <a:solidFill>
              <a:srgbClr val="AA5816"/>
            </a:solidFill>
            <a:tailEnd type="arrow"/>
          </a:ln>
        </p:spPr>
        <p:style>
          <a:lnRef idx="2">
            <a:schemeClr val="accent1"/>
          </a:lnRef>
          <a:fillRef idx="0">
            <a:schemeClr val="accent1"/>
          </a:fillRef>
          <a:effectRef idx="1">
            <a:schemeClr val="accent1"/>
          </a:effectRef>
          <a:fontRef idx="minor">
            <a:schemeClr val="tx1"/>
          </a:fontRef>
        </p:style>
      </p:cxnSp>
      <p:cxnSp>
        <p:nvCxnSpPr>
          <p:cNvPr id="69" name="Straight Arrow Connector 9"/>
          <p:cNvCxnSpPr/>
          <p:nvPr/>
        </p:nvCxnSpPr>
        <p:spPr>
          <a:xfrm flipV="1">
            <a:off x="3886223" y="4603735"/>
            <a:ext cx="0" cy="295941"/>
          </a:xfrm>
          <a:prstGeom prst="straightConnector1">
            <a:avLst/>
          </a:prstGeom>
          <a:ln>
            <a:solidFill>
              <a:schemeClr val="accent3">
                <a:lumMod val="75000"/>
              </a:schemeClr>
            </a:solidFill>
            <a:tailEnd type="arrow"/>
          </a:ln>
        </p:spPr>
        <p:style>
          <a:lnRef idx="2">
            <a:schemeClr val="accent1"/>
          </a:lnRef>
          <a:fillRef idx="0">
            <a:schemeClr val="accent1"/>
          </a:fillRef>
          <a:effectRef idx="1">
            <a:schemeClr val="accent1"/>
          </a:effectRef>
          <a:fontRef idx="minor">
            <a:schemeClr val="tx1"/>
          </a:fontRef>
        </p:style>
      </p:cxnSp>
      <p:sp>
        <p:nvSpPr>
          <p:cNvPr id="71" name="Rectangle 39"/>
          <p:cNvSpPr>
            <a:spLocks/>
          </p:cNvSpPr>
          <p:nvPr/>
        </p:nvSpPr>
        <p:spPr bwMode="auto">
          <a:xfrm>
            <a:off x="4836917" y="4896146"/>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18</a:t>
            </a:r>
          </a:p>
        </p:txBody>
      </p:sp>
      <p:cxnSp>
        <p:nvCxnSpPr>
          <p:cNvPr id="73" name="Straight Arrow Connector 9"/>
          <p:cNvCxnSpPr/>
          <p:nvPr/>
        </p:nvCxnSpPr>
        <p:spPr>
          <a:xfrm flipV="1">
            <a:off x="4992703" y="4306022"/>
            <a:ext cx="0" cy="295941"/>
          </a:xfrm>
          <a:prstGeom prst="straightConnector1">
            <a:avLst/>
          </a:prstGeom>
          <a:ln>
            <a:solidFill>
              <a:srgbClr val="AA5816"/>
            </a:solidFill>
            <a:tailEnd type="arrow"/>
          </a:ln>
        </p:spPr>
        <p:style>
          <a:lnRef idx="2">
            <a:schemeClr val="accent1"/>
          </a:lnRef>
          <a:fillRef idx="0">
            <a:schemeClr val="accent1"/>
          </a:fillRef>
          <a:effectRef idx="1">
            <a:schemeClr val="accent1"/>
          </a:effectRef>
          <a:fontRef idx="minor">
            <a:schemeClr val="tx1"/>
          </a:fontRef>
        </p:style>
      </p:cxnSp>
      <p:cxnSp>
        <p:nvCxnSpPr>
          <p:cNvPr id="75" name="Straight Arrow Connector 9"/>
          <p:cNvCxnSpPr/>
          <p:nvPr/>
        </p:nvCxnSpPr>
        <p:spPr>
          <a:xfrm flipV="1">
            <a:off x="4997373" y="4625504"/>
            <a:ext cx="0" cy="295941"/>
          </a:xfrm>
          <a:prstGeom prst="straightConnector1">
            <a:avLst/>
          </a:prstGeom>
          <a:ln>
            <a:solidFill>
              <a:schemeClr val="accent3">
                <a:lumMod val="75000"/>
              </a:schemeClr>
            </a:solidFill>
            <a:tailEnd type="arrow"/>
          </a:ln>
        </p:spPr>
        <p:style>
          <a:lnRef idx="2">
            <a:schemeClr val="accent1"/>
          </a:lnRef>
          <a:fillRef idx="0">
            <a:schemeClr val="accent1"/>
          </a:fillRef>
          <a:effectRef idx="1">
            <a:schemeClr val="accent1"/>
          </a:effectRef>
          <a:fontRef idx="minor">
            <a:schemeClr val="tx1"/>
          </a:fontRef>
        </p:style>
      </p:cxnSp>
      <p:sp>
        <p:nvSpPr>
          <p:cNvPr id="79" name="Marcador de contenido 2"/>
          <p:cNvSpPr txBox="1">
            <a:spLocks/>
          </p:cNvSpPr>
          <p:nvPr/>
        </p:nvSpPr>
        <p:spPr>
          <a:xfrm>
            <a:off x="6083175" y="4290264"/>
            <a:ext cx="5878285" cy="628534"/>
          </a:xfrm>
          <a:prstGeom prst="rect">
            <a:avLst/>
          </a:prstGeom>
        </p:spPr>
        <p:txBody>
          <a:bodyPr vert="horz" lIns="91440" tIns="45720" rIns="91440" bIns="45720" rtlCol="0">
            <a:normAutofit fontScale="92500"/>
          </a:bodyPr>
          <a:lstStyle>
            <a:lvl1pPr marL="342900" indent="-342900" algn="l" defTabSz="914400" rtl="0" eaLnBrk="1" latinLnBrk="0" hangingPunct="1">
              <a:spcBef>
                <a:spcPts val="2000"/>
              </a:spcBef>
              <a:buClr>
                <a:schemeClr val="accent1"/>
              </a:buClr>
              <a:buFont typeface="Wingdings 2" pitchFamily="18" charset="2"/>
              <a:buChar char=""/>
              <a:defRPr sz="2000" kern="1200">
                <a:solidFill>
                  <a:schemeClr val="tx1">
                    <a:lumMod val="65000"/>
                    <a:lumOff val="35000"/>
                  </a:schemeClr>
                </a:solidFill>
                <a:latin typeface="+mn-lt"/>
                <a:ea typeface="+mn-ea"/>
                <a:cs typeface="+mn-cs"/>
              </a:defRPr>
            </a:lvl1pPr>
            <a:lvl2pPr marL="6858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2pPr>
            <a:lvl3pPr marL="10350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3pPr>
            <a:lvl4pPr marL="13716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4pPr>
            <a:lvl5pPr marL="17208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5pPr>
            <a:lvl6pPr marL="2055813"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6pPr>
            <a:lvl7pPr marL="2398713" indent="-344488" algn="l" defTabSz="914400" rtl="0" eaLnBrk="1" latinLnBrk="0" hangingPunct="1">
              <a:spcBef>
                <a:spcPct val="20000"/>
              </a:spcBef>
              <a:buClr>
                <a:schemeClr val="accent1"/>
              </a:buClr>
              <a:buFont typeface="Wingdings 2" pitchFamily="18" charset="2"/>
              <a:buChar char=""/>
              <a:defRPr lang="en-US" sz="1800" kern="1200" dirty="0" smtClean="0">
                <a:solidFill>
                  <a:schemeClr val="tx1">
                    <a:lumMod val="65000"/>
                    <a:lumOff val="35000"/>
                  </a:schemeClr>
                </a:solidFill>
                <a:latin typeface="+mn-lt"/>
                <a:ea typeface="+mn-ea"/>
                <a:cs typeface="+mn-cs"/>
              </a:defRPr>
            </a:lvl7pPr>
            <a:lvl8pPr marL="2743200"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8pPr>
            <a:lvl9pPr marL="3087688" indent="-344488" algn="l" defTabSz="914400" rtl="0" eaLnBrk="1" latinLnBrk="0" hangingPunct="1">
              <a:spcBef>
                <a:spcPct val="20000"/>
              </a:spcBef>
              <a:buClr>
                <a:schemeClr val="accent1"/>
              </a:buClr>
              <a:buFont typeface="Wingdings 2" pitchFamily="18" charset="2"/>
              <a:buChar char=""/>
              <a:defRPr lang="en-US" sz="1800" kern="1200" dirty="0">
                <a:solidFill>
                  <a:schemeClr val="tx1">
                    <a:lumMod val="65000"/>
                    <a:lumOff val="35000"/>
                  </a:schemeClr>
                </a:solidFill>
                <a:latin typeface="+mn-lt"/>
                <a:ea typeface="+mn-ea"/>
                <a:cs typeface="+mn-cs"/>
              </a:defRPr>
            </a:lvl9pPr>
          </a:lstStyle>
          <a:p>
            <a:pPr marL="0" indent="0">
              <a:buNone/>
            </a:pPr>
            <a:r>
              <a:rPr lang="es-ES"/>
              <a:t>Utilizando la ecuación de anualidades o cuotas uniformes</a:t>
            </a:r>
          </a:p>
          <a:p>
            <a:endParaRPr lang="es-ES"/>
          </a:p>
        </p:txBody>
      </p:sp>
      <p:sp>
        <p:nvSpPr>
          <p:cNvPr id="51" name="Marcador de contenido 2"/>
          <p:cNvSpPr txBox="1">
            <a:spLocks/>
          </p:cNvSpPr>
          <p:nvPr/>
        </p:nvSpPr>
        <p:spPr>
          <a:xfrm>
            <a:off x="520194" y="5631988"/>
            <a:ext cx="5224007" cy="413762"/>
          </a:xfrm>
          <a:prstGeom prst="rect">
            <a:avLst/>
          </a:prstGeom>
        </p:spPr>
        <p:txBody>
          <a:bodyPr vert="horz" lIns="91440" tIns="45720" rIns="91440" bIns="45720" rtlCol="0">
            <a:normAutofit/>
          </a:bodyPr>
          <a:lstStyle>
            <a:lvl1pPr marL="342900" indent="-342900" algn="l" defTabSz="914400" rtl="0" eaLnBrk="1" latinLnBrk="0" hangingPunct="1">
              <a:spcBef>
                <a:spcPts val="2000"/>
              </a:spcBef>
              <a:buClr>
                <a:schemeClr val="accent1"/>
              </a:buClr>
              <a:buFont typeface="Wingdings 2" pitchFamily="18" charset="2"/>
              <a:buChar char=""/>
              <a:defRPr sz="2000" kern="1200">
                <a:solidFill>
                  <a:schemeClr val="tx1">
                    <a:lumMod val="65000"/>
                    <a:lumOff val="35000"/>
                  </a:schemeClr>
                </a:solidFill>
                <a:latin typeface="+mn-lt"/>
                <a:ea typeface="+mn-ea"/>
                <a:cs typeface="+mn-cs"/>
              </a:defRPr>
            </a:lvl1pPr>
            <a:lvl2pPr marL="6858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2pPr>
            <a:lvl3pPr marL="10350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3pPr>
            <a:lvl4pPr marL="13716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4pPr>
            <a:lvl5pPr marL="17208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5pPr>
            <a:lvl6pPr marL="2055813"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6pPr>
            <a:lvl7pPr marL="2398713" indent="-344488" algn="l" defTabSz="914400" rtl="0" eaLnBrk="1" latinLnBrk="0" hangingPunct="1">
              <a:spcBef>
                <a:spcPct val="20000"/>
              </a:spcBef>
              <a:buClr>
                <a:schemeClr val="accent1"/>
              </a:buClr>
              <a:buFont typeface="Wingdings 2" pitchFamily="18" charset="2"/>
              <a:buChar char=""/>
              <a:defRPr lang="en-US" sz="1800" kern="1200" dirty="0" smtClean="0">
                <a:solidFill>
                  <a:schemeClr val="tx1">
                    <a:lumMod val="65000"/>
                    <a:lumOff val="35000"/>
                  </a:schemeClr>
                </a:solidFill>
                <a:latin typeface="+mn-lt"/>
                <a:ea typeface="+mn-ea"/>
                <a:cs typeface="+mn-cs"/>
              </a:defRPr>
            </a:lvl7pPr>
            <a:lvl8pPr marL="2743200"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8pPr>
            <a:lvl9pPr marL="3087688" indent="-344488" algn="l" defTabSz="914400" rtl="0" eaLnBrk="1" latinLnBrk="0" hangingPunct="1">
              <a:spcBef>
                <a:spcPct val="20000"/>
              </a:spcBef>
              <a:buClr>
                <a:schemeClr val="accent1"/>
              </a:buClr>
              <a:buFont typeface="Wingdings 2" pitchFamily="18" charset="2"/>
              <a:buChar char=""/>
              <a:defRPr lang="en-US" sz="1800" kern="1200" dirty="0">
                <a:solidFill>
                  <a:schemeClr val="tx1">
                    <a:lumMod val="65000"/>
                    <a:lumOff val="35000"/>
                  </a:schemeClr>
                </a:solidFill>
                <a:latin typeface="+mn-lt"/>
                <a:ea typeface="+mn-ea"/>
                <a:cs typeface="+mn-cs"/>
              </a:defRPr>
            </a:lvl9pPr>
          </a:lstStyle>
          <a:p>
            <a:pPr marL="0" indent="0" algn="ctr">
              <a:buNone/>
            </a:pPr>
            <a:r>
              <a:rPr lang="es-ES"/>
              <a:t>Se calcula el valor total en el periodo 6</a:t>
            </a:r>
          </a:p>
        </p:txBody>
      </p:sp>
      <p:pic>
        <p:nvPicPr>
          <p:cNvPr id="12" name="Imagen 11" descr="latex-image-1.pdf"/>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30736" y="2954028"/>
            <a:ext cx="2594338" cy="427303"/>
          </a:xfrm>
          <a:prstGeom prst="rect">
            <a:avLst/>
          </a:prstGeom>
        </p:spPr>
      </p:pic>
      <p:pic>
        <p:nvPicPr>
          <p:cNvPr id="13" name="Imagen 12" descr="latex-image-1.pdf"/>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02324" y="4750823"/>
            <a:ext cx="2797820" cy="413762"/>
          </a:xfrm>
          <a:prstGeom prst="rect">
            <a:avLst/>
          </a:prstGeom>
        </p:spPr>
      </p:pic>
      <p:pic>
        <p:nvPicPr>
          <p:cNvPr id="23" name="Imagen 22" descr="latex-image-1.pdf"/>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05943" y="6199258"/>
            <a:ext cx="4419522" cy="391210"/>
          </a:xfrm>
          <a:prstGeom prst="rect">
            <a:avLst/>
          </a:prstGeom>
        </p:spPr>
      </p:pic>
      <p:pic>
        <p:nvPicPr>
          <p:cNvPr id="27" name="Imagen 26" descr="latex-image-1.pdf"/>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730184" y="6056151"/>
            <a:ext cx="3338145" cy="677423"/>
          </a:xfrm>
          <a:prstGeom prst="rect">
            <a:avLst/>
          </a:prstGeom>
        </p:spPr>
      </p:pic>
      <p:sp>
        <p:nvSpPr>
          <p:cNvPr id="8" name="Title 1">
            <a:extLst>
              <a:ext uri="{FF2B5EF4-FFF2-40B4-BE49-F238E27FC236}">
                <a16:creationId xmlns:a16="http://schemas.microsoft.com/office/drawing/2014/main" id="{34B09AC1-78B6-92E4-1484-89B35ED420E6}"/>
              </a:ext>
            </a:extLst>
          </p:cNvPr>
          <p:cNvSpPr>
            <a:spLocks noGrp="1"/>
          </p:cNvSpPr>
          <p:nvPr>
            <p:ph type="title"/>
          </p:nvPr>
        </p:nvSpPr>
        <p:spPr>
          <a:xfrm>
            <a:off x="581192" y="702156"/>
            <a:ext cx="11029616" cy="1013800"/>
          </a:xfrm>
        </p:spPr>
        <p:txBody>
          <a:bodyPr/>
          <a:lstStyle/>
          <a:p>
            <a:r>
              <a:rPr lang="es-ES_tradnl">
                <a:latin typeface="Century Gothic" panose="020B0502020202020204" pitchFamily="34" charset="0"/>
              </a:rPr>
              <a:t>Gradientes aritméticos</a:t>
            </a:r>
          </a:p>
        </p:txBody>
      </p:sp>
      <p:sp>
        <p:nvSpPr>
          <p:cNvPr id="9" name="Rectángulo 8">
            <a:extLst>
              <a:ext uri="{FF2B5EF4-FFF2-40B4-BE49-F238E27FC236}">
                <a16:creationId xmlns:a16="http://schemas.microsoft.com/office/drawing/2014/main" id="{A692100A-FA11-732D-F602-D0E25DB43EFD}"/>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7" name="Picture 2" descr="Clientes y aliados | Centro de Evaluación | Uniandes">
            <a:extLst>
              <a:ext uri="{FF2B5EF4-FFF2-40B4-BE49-F238E27FC236}">
                <a16:creationId xmlns:a16="http://schemas.microsoft.com/office/drawing/2014/main" id="{EBDA7728-48C2-F3DC-11F7-BD5D23A3EB0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20" name="Rectángulo 19">
            <a:extLst>
              <a:ext uri="{FF2B5EF4-FFF2-40B4-BE49-F238E27FC236}">
                <a16:creationId xmlns:a16="http://schemas.microsoft.com/office/drawing/2014/main" id="{DED22A93-0752-4848-AE78-5C6734900BA1}"/>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cxnSp>
        <p:nvCxnSpPr>
          <p:cNvPr id="2" name="Straight Arrow Connector 9">
            <a:extLst>
              <a:ext uri="{FF2B5EF4-FFF2-40B4-BE49-F238E27FC236}">
                <a16:creationId xmlns:a16="http://schemas.microsoft.com/office/drawing/2014/main" id="{D3AC248D-42F9-FA09-0E72-0CF42CB96225}"/>
              </a:ext>
            </a:extLst>
          </p:cNvPr>
          <p:cNvCxnSpPr/>
          <p:nvPr/>
        </p:nvCxnSpPr>
        <p:spPr>
          <a:xfrm flipV="1">
            <a:off x="5035758" y="2344835"/>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6" name="Rectángulo 5">
            <a:extLst>
              <a:ext uri="{FF2B5EF4-FFF2-40B4-BE49-F238E27FC236}">
                <a16:creationId xmlns:a16="http://schemas.microsoft.com/office/drawing/2014/main" id="{3072DAC7-41DF-24FB-A3E4-08C801DACC2A}"/>
              </a:ext>
            </a:extLst>
          </p:cNvPr>
          <p:cNvSpPr/>
          <p:nvPr/>
        </p:nvSpPr>
        <p:spPr>
          <a:xfrm>
            <a:off x="581191" y="3875539"/>
            <a:ext cx="11030400" cy="7524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7" name="Rectángulo 6">
            <a:extLst>
              <a:ext uri="{FF2B5EF4-FFF2-40B4-BE49-F238E27FC236}">
                <a16:creationId xmlns:a16="http://schemas.microsoft.com/office/drawing/2014/main" id="{C2D2D7A4-940B-C43F-353B-5C17500FBFFB}"/>
              </a:ext>
            </a:extLst>
          </p:cNvPr>
          <p:cNvSpPr/>
          <p:nvPr/>
        </p:nvSpPr>
        <p:spPr>
          <a:xfrm>
            <a:off x="581191" y="5432180"/>
            <a:ext cx="11030400" cy="7524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1" name="Slide Number Placeholder 3">
            <a:extLst>
              <a:ext uri="{FF2B5EF4-FFF2-40B4-BE49-F238E27FC236}">
                <a16:creationId xmlns:a16="http://schemas.microsoft.com/office/drawing/2014/main" id="{B83BDC1F-4805-8373-FCFA-333D95274A92}"/>
              </a:ext>
            </a:extLst>
          </p:cNvPr>
          <p:cNvSpPr txBox="1">
            <a:spLocks/>
          </p:cNvSpPr>
          <p:nvPr/>
        </p:nvSpPr>
        <p:spPr>
          <a:xfrm>
            <a:off x="10710700" y="6108537"/>
            <a:ext cx="1052508" cy="365125"/>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5E3E23BA-6E79-2442-BA73-D218A5E297C3}" type="slidenum">
              <a:rPr lang="en-US" sz="2000" b="1" smtClean="0">
                <a:latin typeface="Gill Sans MT (Títulos)"/>
              </a:rPr>
              <a:pPr/>
              <a:t>34</a:t>
            </a:fld>
            <a:endParaRPr lang="en-US" sz="2000" b="1" dirty="0">
              <a:latin typeface="Gill Sans MT (Títulos)"/>
            </a:endParaRPr>
          </a:p>
        </p:txBody>
      </p:sp>
    </p:spTree>
    <p:extLst>
      <p:ext uri="{BB962C8B-B14F-4D97-AF65-F5344CB8AC3E}">
        <p14:creationId xmlns:p14="http://schemas.microsoft.com/office/powerpoint/2010/main" val="5323788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6"/>
          <p:cNvCxnSpPr>
            <a:stCxn id="15" idx="0"/>
          </p:cNvCxnSpPr>
          <p:nvPr/>
        </p:nvCxnSpPr>
        <p:spPr>
          <a:xfrm>
            <a:off x="3522148" y="3535464"/>
            <a:ext cx="4993456" cy="47793"/>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8" name="Straight Arrow Connector 11"/>
          <p:cNvCxnSpPr/>
          <p:nvPr/>
        </p:nvCxnSpPr>
        <p:spPr>
          <a:xfrm flipV="1">
            <a:off x="4597807" y="3038795"/>
            <a:ext cx="0" cy="552276"/>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9" name="Straight Arrow Connector 12"/>
          <p:cNvCxnSpPr/>
          <p:nvPr/>
        </p:nvCxnSpPr>
        <p:spPr>
          <a:xfrm flipV="1">
            <a:off x="5657281" y="2923334"/>
            <a:ext cx="0" cy="667737"/>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10" name="Straight Arrow Connector 13"/>
          <p:cNvCxnSpPr/>
          <p:nvPr/>
        </p:nvCxnSpPr>
        <p:spPr>
          <a:xfrm flipV="1">
            <a:off x="6663143" y="2756574"/>
            <a:ext cx="0" cy="834497"/>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14" name="Rectangle 35"/>
          <p:cNvSpPr>
            <a:spLocks/>
          </p:cNvSpPr>
          <p:nvPr/>
        </p:nvSpPr>
        <p:spPr bwMode="auto">
          <a:xfrm>
            <a:off x="3009133" y="3199164"/>
            <a:ext cx="65"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endParaRPr lang="en-US" sz="1600"/>
          </a:p>
        </p:txBody>
      </p:sp>
      <p:sp>
        <p:nvSpPr>
          <p:cNvPr id="15" name="Rectangle 36"/>
          <p:cNvSpPr>
            <a:spLocks/>
          </p:cNvSpPr>
          <p:nvPr/>
        </p:nvSpPr>
        <p:spPr bwMode="auto">
          <a:xfrm>
            <a:off x="3353618" y="3535464"/>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0</a:t>
            </a:r>
          </a:p>
        </p:txBody>
      </p:sp>
      <p:sp>
        <p:nvSpPr>
          <p:cNvPr id="16" name="Rectangle 37"/>
          <p:cNvSpPr>
            <a:spLocks/>
          </p:cNvSpPr>
          <p:nvPr/>
        </p:nvSpPr>
        <p:spPr bwMode="auto">
          <a:xfrm>
            <a:off x="4442106" y="3535464"/>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a:t>
            </a:r>
          </a:p>
        </p:txBody>
      </p:sp>
      <p:sp>
        <p:nvSpPr>
          <p:cNvPr id="17" name="Rectangle 38"/>
          <p:cNvSpPr>
            <a:spLocks/>
          </p:cNvSpPr>
          <p:nvPr/>
        </p:nvSpPr>
        <p:spPr bwMode="auto">
          <a:xfrm>
            <a:off x="5501580" y="3549421"/>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2</a:t>
            </a:r>
          </a:p>
        </p:txBody>
      </p:sp>
      <p:sp>
        <p:nvSpPr>
          <p:cNvPr id="18" name="Rectangle 39"/>
          <p:cNvSpPr>
            <a:spLocks/>
          </p:cNvSpPr>
          <p:nvPr/>
        </p:nvSpPr>
        <p:spPr bwMode="auto">
          <a:xfrm>
            <a:off x="6507442" y="3565878"/>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3</a:t>
            </a:r>
          </a:p>
        </p:txBody>
      </p:sp>
      <p:sp>
        <p:nvSpPr>
          <p:cNvPr id="21" name="Rectangle 42"/>
          <p:cNvSpPr>
            <a:spLocks/>
          </p:cNvSpPr>
          <p:nvPr/>
        </p:nvSpPr>
        <p:spPr bwMode="auto">
          <a:xfrm>
            <a:off x="645894" y="1988979"/>
            <a:ext cx="3118295" cy="36933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r>
              <a:rPr lang="es-ES_tradnl" sz="2400">
                <a:solidFill>
                  <a:srgbClr val="800000"/>
                </a:solidFill>
              </a:rPr>
              <a:t>CODENSA</a:t>
            </a:r>
          </a:p>
        </p:txBody>
      </p:sp>
      <p:sp>
        <p:nvSpPr>
          <p:cNvPr id="62" name="Rectangle 35"/>
          <p:cNvSpPr>
            <a:spLocks/>
          </p:cNvSpPr>
          <p:nvPr/>
        </p:nvSpPr>
        <p:spPr bwMode="auto">
          <a:xfrm>
            <a:off x="4418850" y="2743375"/>
            <a:ext cx="44082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0,13</a:t>
            </a:r>
          </a:p>
        </p:txBody>
      </p:sp>
      <p:sp>
        <p:nvSpPr>
          <p:cNvPr id="63" name="Rectangle 35"/>
          <p:cNvSpPr>
            <a:spLocks/>
          </p:cNvSpPr>
          <p:nvPr/>
        </p:nvSpPr>
        <p:spPr bwMode="auto">
          <a:xfrm>
            <a:off x="5475357" y="2620264"/>
            <a:ext cx="44082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0,16</a:t>
            </a:r>
          </a:p>
        </p:txBody>
      </p:sp>
      <p:sp>
        <p:nvSpPr>
          <p:cNvPr id="64" name="Rectangle 35"/>
          <p:cNvSpPr>
            <a:spLocks/>
          </p:cNvSpPr>
          <p:nvPr/>
        </p:nvSpPr>
        <p:spPr bwMode="auto">
          <a:xfrm>
            <a:off x="6478252" y="2482073"/>
            <a:ext cx="44082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0,19</a:t>
            </a:r>
          </a:p>
        </p:txBody>
      </p:sp>
      <p:cxnSp>
        <p:nvCxnSpPr>
          <p:cNvPr id="26" name="Straight Connector 6"/>
          <p:cNvCxnSpPr>
            <a:stCxn id="33" idx="0"/>
          </p:cNvCxnSpPr>
          <p:nvPr/>
        </p:nvCxnSpPr>
        <p:spPr>
          <a:xfrm>
            <a:off x="3512237" y="5525917"/>
            <a:ext cx="4847664" cy="30777"/>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8" name="Straight Arrow Connector 11"/>
          <p:cNvCxnSpPr>
            <a:cxnSpLocks/>
          </p:cNvCxnSpPr>
          <p:nvPr/>
        </p:nvCxnSpPr>
        <p:spPr>
          <a:xfrm flipV="1">
            <a:off x="4587896" y="5029248"/>
            <a:ext cx="0" cy="552276"/>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29" name="Straight Arrow Connector 12"/>
          <p:cNvCxnSpPr>
            <a:cxnSpLocks/>
          </p:cNvCxnSpPr>
          <p:nvPr/>
        </p:nvCxnSpPr>
        <p:spPr>
          <a:xfrm flipV="1">
            <a:off x="5647370" y="5029248"/>
            <a:ext cx="0" cy="552276"/>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30" name="Straight Arrow Connector 13"/>
          <p:cNvCxnSpPr>
            <a:cxnSpLocks/>
          </p:cNvCxnSpPr>
          <p:nvPr/>
        </p:nvCxnSpPr>
        <p:spPr>
          <a:xfrm flipV="1">
            <a:off x="6653232" y="5029248"/>
            <a:ext cx="0" cy="552276"/>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33" name="Rectangle 36"/>
          <p:cNvSpPr>
            <a:spLocks/>
          </p:cNvSpPr>
          <p:nvPr/>
        </p:nvSpPr>
        <p:spPr bwMode="auto">
          <a:xfrm>
            <a:off x="3343707" y="5525917"/>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0</a:t>
            </a:r>
          </a:p>
        </p:txBody>
      </p:sp>
      <p:sp>
        <p:nvSpPr>
          <p:cNvPr id="34" name="Rectangle 37"/>
          <p:cNvSpPr>
            <a:spLocks/>
          </p:cNvSpPr>
          <p:nvPr/>
        </p:nvSpPr>
        <p:spPr bwMode="auto">
          <a:xfrm>
            <a:off x="4432195" y="5525917"/>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a:t>
            </a:r>
          </a:p>
        </p:txBody>
      </p:sp>
      <p:sp>
        <p:nvSpPr>
          <p:cNvPr id="35" name="Rectangle 38"/>
          <p:cNvSpPr>
            <a:spLocks/>
          </p:cNvSpPr>
          <p:nvPr/>
        </p:nvSpPr>
        <p:spPr bwMode="auto">
          <a:xfrm>
            <a:off x="5491669" y="5539874"/>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2</a:t>
            </a:r>
          </a:p>
        </p:txBody>
      </p:sp>
      <p:sp>
        <p:nvSpPr>
          <p:cNvPr id="36" name="Rectangle 39"/>
          <p:cNvSpPr>
            <a:spLocks/>
          </p:cNvSpPr>
          <p:nvPr/>
        </p:nvSpPr>
        <p:spPr bwMode="auto">
          <a:xfrm>
            <a:off x="6497531" y="5556331"/>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3</a:t>
            </a:r>
          </a:p>
        </p:txBody>
      </p:sp>
      <p:sp>
        <p:nvSpPr>
          <p:cNvPr id="38" name="Rectangle 42"/>
          <p:cNvSpPr>
            <a:spLocks/>
          </p:cNvSpPr>
          <p:nvPr/>
        </p:nvSpPr>
        <p:spPr bwMode="auto">
          <a:xfrm>
            <a:off x="641965" y="4004014"/>
            <a:ext cx="3118295" cy="36933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r>
              <a:rPr lang="es-ES_tradnl" sz="2400">
                <a:solidFill>
                  <a:srgbClr val="800000"/>
                </a:solidFill>
              </a:rPr>
              <a:t>Propuesta</a:t>
            </a:r>
          </a:p>
        </p:txBody>
      </p:sp>
      <p:sp>
        <p:nvSpPr>
          <p:cNvPr id="40" name="Rectangle 35"/>
          <p:cNvSpPr>
            <a:spLocks/>
          </p:cNvSpPr>
          <p:nvPr/>
        </p:nvSpPr>
        <p:spPr bwMode="auto">
          <a:xfrm>
            <a:off x="5554687" y="4613684"/>
            <a:ext cx="1082625"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0,13 + A</a:t>
            </a:r>
          </a:p>
        </p:txBody>
      </p:sp>
      <p:sp>
        <p:nvSpPr>
          <p:cNvPr id="37" name="Rectangle 39"/>
          <p:cNvSpPr>
            <a:spLocks/>
          </p:cNvSpPr>
          <p:nvPr/>
        </p:nvSpPr>
        <p:spPr bwMode="auto">
          <a:xfrm>
            <a:off x="7449375" y="3549421"/>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4</a:t>
            </a:r>
          </a:p>
        </p:txBody>
      </p:sp>
      <p:cxnSp>
        <p:nvCxnSpPr>
          <p:cNvPr id="41" name="Straight Arrow Connector 13"/>
          <p:cNvCxnSpPr/>
          <p:nvPr/>
        </p:nvCxnSpPr>
        <p:spPr>
          <a:xfrm flipV="1">
            <a:off x="7622241" y="2512851"/>
            <a:ext cx="0" cy="107822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42" name="Rectangle 35"/>
          <p:cNvSpPr>
            <a:spLocks/>
          </p:cNvSpPr>
          <p:nvPr/>
        </p:nvSpPr>
        <p:spPr bwMode="auto">
          <a:xfrm>
            <a:off x="7421290" y="2161372"/>
            <a:ext cx="44082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0,22</a:t>
            </a:r>
          </a:p>
        </p:txBody>
      </p:sp>
      <p:cxnSp>
        <p:nvCxnSpPr>
          <p:cNvPr id="43" name="Straight Arrow Connector 13"/>
          <p:cNvCxnSpPr>
            <a:cxnSpLocks/>
          </p:cNvCxnSpPr>
          <p:nvPr/>
        </p:nvCxnSpPr>
        <p:spPr>
          <a:xfrm flipV="1">
            <a:off x="7436544" y="5029248"/>
            <a:ext cx="0" cy="552276"/>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45" name="Rectangle 39"/>
          <p:cNvSpPr>
            <a:spLocks/>
          </p:cNvSpPr>
          <p:nvPr/>
        </p:nvSpPr>
        <p:spPr bwMode="auto">
          <a:xfrm>
            <a:off x="7250850" y="5590593"/>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4</a:t>
            </a:r>
          </a:p>
        </p:txBody>
      </p:sp>
      <p:sp>
        <p:nvSpPr>
          <p:cNvPr id="39" name="Rectangle 39"/>
          <p:cNvSpPr>
            <a:spLocks/>
          </p:cNvSpPr>
          <p:nvPr/>
        </p:nvSpPr>
        <p:spPr bwMode="auto">
          <a:xfrm>
            <a:off x="8269223" y="3549420"/>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5</a:t>
            </a:r>
          </a:p>
        </p:txBody>
      </p:sp>
      <p:cxnSp>
        <p:nvCxnSpPr>
          <p:cNvPr id="48" name="Straight Arrow Connector 13"/>
          <p:cNvCxnSpPr/>
          <p:nvPr/>
        </p:nvCxnSpPr>
        <p:spPr>
          <a:xfrm flipV="1">
            <a:off x="8437753" y="2192150"/>
            <a:ext cx="0" cy="1367335"/>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49" name="Rectangle 35"/>
          <p:cNvSpPr>
            <a:spLocks/>
          </p:cNvSpPr>
          <p:nvPr/>
        </p:nvSpPr>
        <p:spPr bwMode="auto">
          <a:xfrm>
            <a:off x="8217340" y="1874891"/>
            <a:ext cx="44082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0,25</a:t>
            </a:r>
          </a:p>
        </p:txBody>
      </p:sp>
      <p:sp>
        <p:nvSpPr>
          <p:cNvPr id="50" name="Rectangle 39"/>
          <p:cNvSpPr>
            <a:spLocks/>
          </p:cNvSpPr>
          <p:nvPr/>
        </p:nvSpPr>
        <p:spPr bwMode="auto">
          <a:xfrm>
            <a:off x="8100693" y="5586990"/>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5</a:t>
            </a:r>
          </a:p>
        </p:txBody>
      </p:sp>
      <p:cxnSp>
        <p:nvCxnSpPr>
          <p:cNvPr id="51" name="Straight Arrow Connector 13"/>
          <p:cNvCxnSpPr>
            <a:cxnSpLocks/>
          </p:cNvCxnSpPr>
          <p:nvPr/>
        </p:nvCxnSpPr>
        <p:spPr>
          <a:xfrm flipV="1">
            <a:off x="8290296" y="5018533"/>
            <a:ext cx="0" cy="552276"/>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53" name="Straight Arrow Connector 13"/>
          <p:cNvCxnSpPr>
            <a:cxnSpLocks/>
          </p:cNvCxnSpPr>
          <p:nvPr/>
        </p:nvCxnSpPr>
        <p:spPr>
          <a:xfrm>
            <a:off x="4589780" y="5037826"/>
            <a:ext cx="3700516" cy="0"/>
          </a:xfrm>
          <a:prstGeom prst="straightConnector1">
            <a:avLst/>
          </a:prstGeom>
          <a:ln>
            <a:solidFill>
              <a:schemeClr val="accent2"/>
            </a:solidFill>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7" name="Title 1">
            <a:extLst>
              <a:ext uri="{FF2B5EF4-FFF2-40B4-BE49-F238E27FC236}">
                <a16:creationId xmlns:a16="http://schemas.microsoft.com/office/drawing/2014/main" id="{6EA9BBBB-473A-B958-CE5E-AF61DCE35537}"/>
              </a:ext>
            </a:extLst>
          </p:cNvPr>
          <p:cNvSpPr>
            <a:spLocks noGrp="1"/>
          </p:cNvSpPr>
          <p:nvPr>
            <p:ph type="title"/>
          </p:nvPr>
        </p:nvSpPr>
        <p:spPr>
          <a:xfrm>
            <a:off x="581192" y="702156"/>
            <a:ext cx="11029616" cy="1013800"/>
          </a:xfrm>
        </p:spPr>
        <p:txBody>
          <a:bodyPr/>
          <a:lstStyle/>
          <a:p>
            <a:r>
              <a:rPr lang="es-ES_tradnl">
                <a:latin typeface="Century Gothic" panose="020B0502020202020204" pitchFamily="34" charset="0"/>
              </a:rPr>
              <a:t>Gradientes aritméticos</a:t>
            </a:r>
          </a:p>
        </p:txBody>
      </p:sp>
      <p:sp>
        <p:nvSpPr>
          <p:cNvPr id="11" name="Rectángulo 10">
            <a:extLst>
              <a:ext uri="{FF2B5EF4-FFF2-40B4-BE49-F238E27FC236}">
                <a16:creationId xmlns:a16="http://schemas.microsoft.com/office/drawing/2014/main" id="{819C6ADD-8278-28D9-2EC0-BA930AB5555B}"/>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2" name="Picture 2" descr="Clientes y aliados | Centro de Evaluación | Uniandes">
            <a:extLst>
              <a:ext uri="{FF2B5EF4-FFF2-40B4-BE49-F238E27FC236}">
                <a16:creationId xmlns:a16="http://schemas.microsoft.com/office/drawing/2014/main" id="{117D56E0-CB67-DA70-93AD-4C62D46EECD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3" name="Rectángulo 12">
            <a:extLst>
              <a:ext uri="{FF2B5EF4-FFF2-40B4-BE49-F238E27FC236}">
                <a16:creationId xmlns:a16="http://schemas.microsoft.com/office/drawing/2014/main" id="{9868AF06-2D3A-7E4D-2D44-B39822D6CB3A}"/>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2" name="Slide Number Placeholder 3">
            <a:extLst>
              <a:ext uri="{FF2B5EF4-FFF2-40B4-BE49-F238E27FC236}">
                <a16:creationId xmlns:a16="http://schemas.microsoft.com/office/drawing/2014/main" id="{04B25089-F541-45A8-5237-9CD36CF6BF96}"/>
              </a:ext>
            </a:extLst>
          </p:cNvPr>
          <p:cNvSpPr txBox="1">
            <a:spLocks/>
          </p:cNvSpPr>
          <p:nvPr/>
        </p:nvSpPr>
        <p:spPr>
          <a:xfrm>
            <a:off x="10710700" y="6108537"/>
            <a:ext cx="1052508" cy="365125"/>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5E3E23BA-6E79-2442-BA73-D218A5E297C3}" type="slidenum">
              <a:rPr lang="en-US" sz="2000" b="1" smtClean="0">
                <a:latin typeface="Gill Sans MT (Títulos)"/>
              </a:rPr>
              <a:pPr/>
              <a:t>35</a:t>
            </a:fld>
            <a:endParaRPr lang="en-US" sz="2000" b="1" dirty="0">
              <a:latin typeface="Gill Sans MT (Títulos)"/>
            </a:endParaRPr>
          </a:p>
        </p:txBody>
      </p:sp>
    </p:spTree>
    <p:extLst>
      <p:ext uri="{BB962C8B-B14F-4D97-AF65-F5344CB8AC3E}">
        <p14:creationId xmlns:p14="http://schemas.microsoft.com/office/powerpoint/2010/main" val="35502721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par>
                                <p:cTn id="11" presetID="10" presetClass="entr" presetSubtype="0" fill="hold"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500"/>
                                        <p:tgtEl>
                                          <p:spTgt spid="9"/>
                                        </p:tgtEl>
                                      </p:cBhvr>
                                    </p:animEffect>
                                  </p:childTnLst>
                                </p:cTn>
                              </p:par>
                              <p:par>
                                <p:cTn id="14" presetID="10" presetClass="entr" presetSubtype="0" fill="hold"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500"/>
                                        <p:tgtEl>
                                          <p:spTgt spid="10"/>
                                        </p:tgtEl>
                                      </p:cBhvr>
                                    </p:animEffect>
                                  </p:childTnLst>
                                </p:cTn>
                              </p:par>
                              <p:par>
                                <p:cTn id="17" presetID="10" presetClass="entr" presetSubtype="0" fill="hold" grpId="0" nodeType="withEffect" nodePh="1">
                                  <p:stCondLst>
                                    <p:cond delay="0"/>
                                  </p:stCondLst>
                                  <p:endCondLst>
                                    <p:cond evt="begin" delay="0">
                                      <p:tn val="17"/>
                                    </p:cond>
                                  </p:endCondLst>
                                  <p:childTnLst>
                                    <p:set>
                                      <p:cBhvr>
                                        <p:cTn id="18" dur="1" fill="hold">
                                          <p:stCondLst>
                                            <p:cond delay="0"/>
                                          </p:stCondLst>
                                        </p:cTn>
                                        <p:tgtEl>
                                          <p:spTgt spid="14"/>
                                        </p:tgtEl>
                                        <p:attrNameLst>
                                          <p:attrName>style.visibility</p:attrName>
                                        </p:attrNameLst>
                                      </p:cBhvr>
                                      <p:to>
                                        <p:strVal val="visible"/>
                                      </p:to>
                                    </p:set>
                                    <p:animEffect transition="in" filter="fade">
                                      <p:cBhvr>
                                        <p:cTn id="19" dur="500"/>
                                        <p:tgtEl>
                                          <p:spTgt spid="14"/>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500"/>
                                        <p:tgtEl>
                                          <p:spTgt spid="15"/>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5" dur="500"/>
                                        <p:tgtEl>
                                          <p:spTgt spid="16"/>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8"/>
                                        </p:tgtEl>
                                        <p:attrNameLst>
                                          <p:attrName>style.visibility</p:attrName>
                                        </p:attrNameLst>
                                      </p:cBhvr>
                                      <p:to>
                                        <p:strVal val="visible"/>
                                      </p:to>
                                    </p:set>
                                    <p:animEffect transition="in" filter="fade">
                                      <p:cBhvr>
                                        <p:cTn id="31" dur="500"/>
                                        <p:tgtEl>
                                          <p:spTgt spid="18"/>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1"/>
                                        </p:tgtEl>
                                        <p:attrNameLst>
                                          <p:attrName>style.visibility</p:attrName>
                                        </p:attrNameLst>
                                      </p:cBhvr>
                                      <p:to>
                                        <p:strVal val="visible"/>
                                      </p:to>
                                    </p:set>
                                    <p:animEffect transition="in" filter="fade">
                                      <p:cBhvr>
                                        <p:cTn id="34" dur="500"/>
                                        <p:tgtEl>
                                          <p:spTgt spid="21"/>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62"/>
                                        </p:tgtEl>
                                        <p:attrNameLst>
                                          <p:attrName>style.visibility</p:attrName>
                                        </p:attrNameLst>
                                      </p:cBhvr>
                                      <p:to>
                                        <p:strVal val="visible"/>
                                      </p:to>
                                    </p:set>
                                    <p:animEffect transition="in" filter="fade">
                                      <p:cBhvr>
                                        <p:cTn id="37" dur="500"/>
                                        <p:tgtEl>
                                          <p:spTgt spid="62"/>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63"/>
                                        </p:tgtEl>
                                        <p:attrNameLst>
                                          <p:attrName>style.visibility</p:attrName>
                                        </p:attrNameLst>
                                      </p:cBhvr>
                                      <p:to>
                                        <p:strVal val="visible"/>
                                      </p:to>
                                    </p:set>
                                    <p:animEffect transition="in" filter="fade">
                                      <p:cBhvr>
                                        <p:cTn id="40" dur="500"/>
                                        <p:tgtEl>
                                          <p:spTgt spid="63"/>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64"/>
                                        </p:tgtEl>
                                        <p:attrNameLst>
                                          <p:attrName>style.visibility</p:attrName>
                                        </p:attrNameLst>
                                      </p:cBhvr>
                                      <p:to>
                                        <p:strVal val="visible"/>
                                      </p:to>
                                    </p:set>
                                    <p:animEffect transition="in" filter="fade">
                                      <p:cBhvr>
                                        <p:cTn id="43" dur="500"/>
                                        <p:tgtEl>
                                          <p:spTgt spid="64"/>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7"/>
                                        </p:tgtEl>
                                        <p:attrNameLst>
                                          <p:attrName>style.visibility</p:attrName>
                                        </p:attrNameLst>
                                      </p:cBhvr>
                                      <p:to>
                                        <p:strVal val="visible"/>
                                      </p:to>
                                    </p:set>
                                    <p:animEffect transition="in" filter="fade">
                                      <p:cBhvr>
                                        <p:cTn id="46" dur="500"/>
                                        <p:tgtEl>
                                          <p:spTgt spid="37"/>
                                        </p:tgtEl>
                                      </p:cBhvr>
                                    </p:animEffect>
                                  </p:childTnLst>
                                </p:cTn>
                              </p:par>
                              <p:par>
                                <p:cTn id="47" presetID="10" presetClass="entr" presetSubtype="0" fill="hold" nodeType="withEffect">
                                  <p:stCondLst>
                                    <p:cond delay="0"/>
                                  </p:stCondLst>
                                  <p:childTnLst>
                                    <p:set>
                                      <p:cBhvr>
                                        <p:cTn id="48" dur="1" fill="hold">
                                          <p:stCondLst>
                                            <p:cond delay="0"/>
                                          </p:stCondLst>
                                        </p:cTn>
                                        <p:tgtEl>
                                          <p:spTgt spid="41"/>
                                        </p:tgtEl>
                                        <p:attrNameLst>
                                          <p:attrName>style.visibility</p:attrName>
                                        </p:attrNameLst>
                                      </p:cBhvr>
                                      <p:to>
                                        <p:strVal val="visible"/>
                                      </p:to>
                                    </p:set>
                                    <p:animEffect transition="in" filter="fade">
                                      <p:cBhvr>
                                        <p:cTn id="49" dur="500"/>
                                        <p:tgtEl>
                                          <p:spTgt spid="41"/>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42"/>
                                        </p:tgtEl>
                                        <p:attrNameLst>
                                          <p:attrName>style.visibility</p:attrName>
                                        </p:attrNameLst>
                                      </p:cBhvr>
                                      <p:to>
                                        <p:strVal val="visible"/>
                                      </p:to>
                                    </p:set>
                                    <p:animEffect transition="in" filter="fade">
                                      <p:cBhvr>
                                        <p:cTn id="52" dur="500"/>
                                        <p:tgtEl>
                                          <p:spTgt spid="42"/>
                                        </p:tgtEl>
                                      </p:cBhvr>
                                    </p:animEffect>
                                  </p:childTnLst>
                                </p:cTn>
                              </p:par>
                              <p:par>
                                <p:cTn id="53" presetID="10" presetClass="entr" presetSubtype="0" fill="hold" nodeType="withEffect">
                                  <p:stCondLst>
                                    <p:cond delay="0"/>
                                  </p:stCondLst>
                                  <p:childTnLst>
                                    <p:set>
                                      <p:cBhvr>
                                        <p:cTn id="54" dur="1" fill="hold">
                                          <p:stCondLst>
                                            <p:cond delay="0"/>
                                          </p:stCondLst>
                                        </p:cTn>
                                        <p:tgtEl>
                                          <p:spTgt spid="48"/>
                                        </p:tgtEl>
                                        <p:attrNameLst>
                                          <p:attrName>style.visibility</p:attrName>
                                        </p:attrNameLst>
                                      </p:cBhvr>
                                      <p:to>
                                        <p:strVal val="visible"/>
                                      </p:to>
                                    </p:set>
                                    <p:animEffect transition="in" filter="fade">
                                      <p:cBhvr>
                                        <p:cTn id="55" dur="500"/>
                                        <p:tgtEl>
                                          <p:spTgt spid="48"/>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49"/>
                                        </p:tgtEl>
                                        <p:attrNameLst>
                                          <p:attrName>style.visibility</p:attrName>
                                        </p:attrNameLst>
                                      </p:cBhvr>
                                      <p:to>
                                        <p:strVal val="visible"/>
                                      </p:to>
                                    </p:set>
                                    <p:animEffect transition="in" filter="fade">
                                      <p:cBhvr>
                                        <p:cTn id="58" dur="500"/>
                                        <p:tgtEl>
                                          <p:spTgt spid="49"/>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39"/>
                                        </p:tgtEl>
                                        <p:attrNameLst>
                                          <p:attrName>style.visibility</p:attrName>
                                        </p:attrNameLst>
                                      </p:cBhvr>
                                      <p:to>
                                        <p:strVal val="visible"/>
                                      </p:to>
                                    </p:set>
                                    <p:animEffect transition="in" filter="fade">
                                      <p:cBhvr>
                                        <p:cTn id="61" dur="500"/>
                                        <p:tgtEl>
                                          <p:spTgt spid="39"/>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26"/>
                                        </p:tgtEl>
                                        <p:attrNameLst>
                                          <p:attrName>style.visibility</p:attrName>
                                        </p:attrNameLst>
                                      </p:cBhvr>
                                      <p:to>
                                        <p:strVal val="visible"/>
                                      </p:to>
                                    </p:set>
                                    <p:animEffect transition="in" filter="fade">
                                      <p:cBhvr>
                                        <p:cTn id="66" dur="500"/>
                                        <p:tgtEl>
                                          <p:spTgt spid="26"/>
                                        </p:tgtEl>
                                      </p:cBhvr>
                                    </p:animEffect>
                                  </p:childTnLst>
                                </p:cTn>
                              </p:par>
                              <p:par>
                                <p:cTn id="67" presetID="10" presetClass="entr" presetSubtype="0" fill="hold" nodeType="withEffect">
                                  <p:stCondLst>
                                    <p:cond delay="0"/>
                                  </p:stCondLst>
                                  <p:childTnLst>
                                    <p:set>
                                      <p:cBhvr>
                                        <p:cTn id="68" dur="1" fill="hold">
                                          <p:stCondLst>
                                            <p:cond delay="0"/>
                                          </p:stCondLst>
                                        </p:cTn>
                                        <p:tgtEl>
                                          <p:spTgt spid="28"/>
                                        </p:tgtEl>
                                        <p:attrNameLst>
                                          <p:attrName>style.visibility</p:attrName>
                                        </p:attrNameLst>
                                      </p:cBhvr>
                                      <p:to>
                                        <p:strVal val="visible"/>
                                      </p:to>
                                    </p:set>
                                    <p:animEffect transition="in" filter="fade">
                                      <p:cBhvr>
                                        <p:cTn id="69" dur="500"/>
                                        <p:tgtEl>
                                          <p:spTgt spid="28"/>
                                        </p:tgtEl>
                                      </p:cBhvr>
                                    </p:animEffect>
                                  </p:childTnLst>
                                </p:cTn>
                              </p:par>
                              <p:par>
                                <p:cTn id="70" presetID="10" presetClass="entr" presetSubtype="0" fill="hold" nodeType="withEffect">
                                  <p:stCondLst>
                                    <p:cond delay="0"/>
                                  </p:stCondLst>
                                  <p:childTnLst>
                                    <p:set>
                                      <p:cBhvr>
                                        <p:cTn id="71" dur="1" fill="hold">
                                          <p:stCondLst>
                                            <p:cond delay="0"/>
                                          </p:stCondLst>
                                        </p:cTn>
                                        <p:tgtEl>
                                          <p:spTgt spid="29"/>
                                        </p:tgtEl>
                                        <p:attrNameLst>
                                          <p:attrName>style.visibility</p:attrName>
                                        </p:attrNameLst>
                                      </p:cBhvr>
                                      <p:to>
                                        <p:strVal val="visible"/>
                                      </p:to>
                                    </p:set>
                                    <p:animEffect transition="in" filter="fade">
                                      <p:cBhvr>
                                        <p:cTn id="72" dur="500"/>
                                        <p:tgtEl>
                                          <p:spTgt spid="29"/>
                                        </p:tgtEl>
                                      </p:cBhvr>
                                    </p:animEffect>
                                  </p:childTnLst>
                                </p:cTn>
                              </p:par>
                              <p:par>
                                <p:cTn id="73" presetID="10" presetClass="entr" presetSubtype="0" fill="hold" nodeType="withEffect">
                                  <p:stCondLst>
                                    <p:cond delay="0"/>
                                  </p:stCondLst>
                                  <p:childTnLst>
                                    <p:set>
                                      <p:cBhvr>
                                        <p:cTn id="74" dur="1" fill="hold">
                                          <p:stCondLst>
                                            <p:cond delay="0"/>
                                          </p:stCondLst>
                                        </p:cTn>
                                        <p:tgtEl>
                                          <p:spTgt spid="30"/>
                                        </p:tgtEl>
                                        <p:attrNameLst>
                                          <p:attrName>style.visibility</p:attrName>
                                        </p:attrNameLst>
                                      </p:cBhvr>
                                      <p:to>
                                        <p:strVal val="visible"/>
                                      </p:to>
                                    </p:set>
                                    <p:animEffect transition="in" filter="fade">
                                      <p:cBhvr>
                                        <p:cTn id="75" dur="500"/>
                                        <p:tgtEl>
                                          <p:spTgt spid="30"/>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33"/>
                                        </p:tgtEl>
                                        <p:attrNameLst>
                                          <p:attrName>style.visibility</p:attrName>
                                        </p:attrNameLst>
                                      </p:cBhvr>
                                      <p:to>
                                        <p:strVal val="visible"/>
                                      </p:to>
                                    </p:set>
                                    <p:animEffect transition="in" filter="fade">
                                      <p:cBhvr>
                                        <p:cTn id="78" dur="500"/>
                                        <p:tgtEl>
                                          <p:spTgt spid="33"/>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34"/>
                                        </p:tgtEl>
                                        <p:attrNameLst>
                                          <p:attrName>style.visibility</p:attrName>
                                        </p:attrNameLst>
                                      </p:cBhvr>
                                      <p:to>
                                        <p:strVal val="visible"/>
                                      </p:to>
                                    </p:set>
                                    <p:animEffect transition="in" filter="fade">
                                      <p:cBhvr>
                                        <p:cTn id="81" dur="500"/>
                                        <p:tgtEl>
                                          <p:spTgt spid="34"/>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35"/>
                                        </p:tgtEl>
                                        <p:attrNameLst>
                                          <p:attrName>style.visibility</p:attrName>
                                        </p:attrNameLst>
                                      </p:cBhvr>
                                      <p:to>
                                        <p:strVal val="visible"/>
                                      </p:to>
                                    </p:set>
                                    <p:animEffect transition="in" filter="fade">
                                      <p:cBhvr>
                                        <p:cTn id="84" dur="500"/>
                                        <p:tgtEl>
                                          <p:spTgt spid="35"/>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36"/>
                                        </p:tgtEl>
                                        <p:attrNameLst>
                                          <p:attrName>style.visibility</p:attrName>
                                        </p:attrNameLst>
                                      </p:cBhvr>
                                      <p:to>
                                        <p:strVal val="visible"/>
                                      </p:to>
                                    </p:set>
                                    <p:animEffect transition="in" filter="fade">
                                      <p:cBhvr>
                                        <p:cTn id="87" dur="500"/>
                                        <p:tgtEl>
                                          <p:spTgt spid="36"/>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38"/>
                                        </p:tgtEl>
                                        <p:attrNameLst>
                                          <p:attrName>style.visibility</p:attrName>
                                        </p:attrNameLst>
                                      </p:cBhvr>
                                      <p:to>
                                        <p:strVal val="visible"/>
                                      </p:to>
                                    </p:set>
                                    <p:animEffect transition="in" filter="fade">
                                      <p:cBhvr>
                                        <p:cTn id="90" dur="500"/>
                                        <p:tgtEl>
                                          <p:spTgt spid="38"/>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40"/>
                                        </p:tgtEl>
                                        <p:attrNameLst>
                                          <p:attrName>style.visibility</p:attrName>
                                        </p:attrNameLst>
                                      </p:cBhvr>
                                      <p:to>
                                        <p:strVal val="visible"/>
                                      </p:to>
                                    </p:set>
                                    <p:animEffect transition="in" filter="fade">
                                      <p:cBhvr>
                                        <p:cTn id="93" dur="500"/>
                                        <p:tgtEl>
                                          <p:spTgt spid="40"/>
                                        </p:tgtEl>
                                      </p:cBhvr>
                                    </p:animEffect>
                                  </p:childTnLst>
                                </p:cTn>
                              </p:par>
                              <p:par>
                                <p:cTn id="94" presetID="10" presetClass="entr" presetSubtype="0" fill="hold" nodeType="withEffect">
                                  <p:stCondLst>
                                    <p:cond delay="0"/>
                                  </p:stCondLst>
                                  <p:childTnLst>
                                    <p:set>
                                      <p:cBhvr>
                                        <p:cTn id="95" dur="1" fill="hold">
                                          <p:stCondLst>
                                            <p:cond delay="0"/>
                                          </p:stCondLst>
                                        </p:cTn>
                                        <p:tgtEl>
                                          <p:spTgt spid="43"/>
                                        </p:tgtEl>
                                        <p:attrNameLst>
                                          <p:attrName>style.visibility</p:attrName>
                                        </p:attrNameLst>
                                      </p:cBhvr>
                                      <p:to>
                                        <p:strVal val="visible"/>
                                      </p:to>
                                    </p:set>
                                    <p:animEffect transition="in" filter="fade">
                                      <p:cBhvr>
                                        <p:cTn id="96" dur="500"/>
                                        <p:tgtEl>
                                          <p:spTgt spid="43"/>
                                        </p:tgtEl>
                                      </p:cBhvr>
                                    </p:animEffect>
                                  </p:childTnLst>
                                </p:cTn>
                              </p:par>
                              <p:par>
                                <p:cTn id="97" presetID="10" presetClass="entr" presetSubtype="0" fill="hold" grpId="0" nodeType="withEffect">
                                  <p:stCondLst>
                                    <p:cond delay="0"/>
                                  </p:stCondLst>
                                  <p:childTnLst>
                                    <p:set>
                                      <p:cBhvr>
                                        <p:cTn id="98" dur="1" fill="hold">
                                          <p:stCondLst>
                                            <p:cond delay="0"/>
                                          </p:stCondLst>
                                        </p:cTn>
                                        <p:tgtEl>
                                          <p:spTgt spid="45"/>
                                        </p:tgtEl>
                                        <p:attrNameLst>
                                          <p:attrName>style.visibility</p:attrName>
                                        </p:attrNameLst>
                                      </p:cBhvr>
                                      <p:to>
                                        <p:strVal val="visible"/>
                                      </p:to>
                                    </p:set>
                                    <p:animEffect transition="in" filter="fade">
                                      <p:cBhvr>
                                        <p:cTn id="99" dur="500"/>
                                        <p:tgtEl>
                                          <p:spTgt spid="45"/>
                                        </p:tgtEl>
                                      </p:cBhvr>
                                    </p:animEffect>
                                  </p:childTnLst>
                                </p:cTn>
                              </p:par>
                              <p:par>
                                <p:cTn id="100" presetID="10" presetClass="entr" presetSubtype="0" fill="hold" grpId="0" nodeType="withEffect">
                                  <p:stCondLst>
                                    <p:cond delay="0"/>
                                  </p:stCondLst>
                                  <p:childTnLst>
                                    <p:set>
                                      <p:cBhvr>
                                        <p:cTn id="101" dur="1" fill="hold">
                                          <p:stCondLst>
                                            <p:cond delay="0"/>
                                          </p:stCondLst>
                                        </p:cTn>
                                        <p:tgtEl>
                                          <p:spTgt spid="50"/>
                                        </p:tgtEl>
                                        <p:attrNameLst>
                                          <p:attrName>style.visibility</p:attrName>
                                        </p:attrNameLst>
                                      </p:cBhvr>
                                      <p:to>
                                        <p:strVal val="visible"/>
                                      </p:to>
                                    </p:set>
                                    <p:animEffect transition="in" filter="fade">
                                      <p:cBhvr>
                                        <p:cTn id="102" dur="500"/>
                                        <p:tgtEl>
                                          <p:spTgt spid="50"/>
                                        </p:tgtEl>
                                      </p:cBhvr>
                                    </p:animEffect>
                                  </p:childTnLst>
                                </p:cTn>
                              </p:par>
                              <p:par>
                                <p:cTn id="103" presetID="10" presetClass="entr" presetSubtype="0" fill="hold" nodeType="withEffect">
                                  <p:stCondLst>
                                    <p:cond delay="0"/>
                                  </p:stCondLst>
                                  <p:childTnLst>
                                    <p:set>
                                      <p:cBhvr>
                                        <p:cTn id="104" dur="1" fill="hold">
                                          <p:stCondLst>
                                            <p:cond delay="0"/>
                                          </p:stCondLst>
                                        </p:cTn>
                                        <p:tgtEl>
                                          <p:spTgt spid="51"/>
                                        </p:tgtEl>
                                        <p:attrNameLst>
                                          <p:attrName>style.visibility</p:attrName>
                                        </p:attrNameLst>
                                      </p:cBhvr>
                                      <p:to>
                                        <p:strVal val="visible"/>
                                      </p:to>
                                    </p:set>
                                    <p:animEffect transition="in" filter="fade">
                                      <p:cBhvr>
                                        <p:cTn id="105" dur="500"/>
                                        <p:tgtEl>
                                          <p:spTgt spid="51"/>
                                        </p:tgtEl>
                                      </p:cBhvr>
                                    </p:animEffect>
                                  </p:childTnLst>
                                </p:cTn>
                              </p:par>
                              <p:par>
                                <p:cTn id="106" presetID="10" presetClass="entr" presetSubtype="0" fill="hold" nodeType="withEffect">
                                  <p:stCondLst>
                                    <p:cond delay="0"/>
                                  </p:stCondLst>
                                  <p:childTnLst>
                                    <p:set>
                                      <p:cBhvr>
                                        <p:cTn id="107" dur="1" fill="hold">
                                          <p:stCondLst>
                                            <p:cond delay="0"/>
                                          </p:stCondLst>
                                        </p:cTn>
                                        <p:tgtEl>
                                          <p:spTgt spid="53"/>
                                        </p:tgtEl>
                                        <p:attrNameLst>
                                          <p:attrName>style.visibility</p:attrName>
                                        </p:attrNameLst>
                                      </p:cBhvr>
                                      <p:to>
                                        <p:strVal val="visible"/>
                                      </p:to>
                                    </p:set>
                                    <p:animEffect transition="in" filter="fade">
                                      <p:cBhvr>
                                        <p:cTn id="108" dur="500"/>
                                        <p:tgtEl>
                                          <p:spTgt spid="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p:bldP spid="16" grpId="0"/>
      <p:bldP spid="17" grpId="0"/>
      <p:bldP spid="18" grpId="0"/>
      <p:bldP spid="21" grpId="0"/>
      <p:bldP spid="62" grpId="0"/>
      <p:bldP spid="63" grpId="0"/>
      <p:bldP spid="64" grpId="0"/>
      <p:bldP spid="33" grpId="0"/>
      <p:bldP spid="34" grpId="0"/>
      <p:bldP spid="35" grpId="0"/>
      <p:bldP spid="36" grpId="0"/>
      <p:bldP spid="38" grpId="0"/>
      <p:bldP spid="40" grpId="0"/>
      <p:bldP spid="37" grpId="0"/>
      <p:bldP spid="42" grpId="0"/>
      <p:bldP spid="45" grpId="0"/>
      <p:bldP spid="39" grpId="0"/>
      <p:bldP spid="49" grpId="0"/>
      <p:bldP spid="50"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581192" y="2038392"/>
            <a:ext cx="11029616" cy="3616272"/>
          </a:xfrm>
        </p:spPr>
        <p:txBody>
          <a:bodyPr>
            <a:normAutofit/>
          </a:bodyPr>
          <a:lstStyle/>
          <a:p>
            <a:pPr marL="0" indent="0" algn="just">
              <a:buNone/>
            </a:pPr>
            <a:r>
              <a:rPr lang="es-ES" sz="2400" b="1" dirty="0">
                <a:solidFill>
                  <a:srgbClr val="D7A700"/>
                </a:solidFill>
              </a:rPr>
              <a:t>Ejemplo 7:</a:t>
            </a:r>
          </a:p>
          <a:p>
            <a:pPr algn="just">
              <a:buFont typeface="Arial" panose="020B0604020202020204" pitchFamily="34" charset="0"/>
              <a:buChar char="•"/>
            </a:pPr>
            <a:r>
              <a:rPr lang="es-ES" sz="2400" dirty="0"/>
              <a:t>El gobierno ha  establecido una política de fijación de tarifas de servicios públicos para los próximos 5 años. El costo por </a:t>
            </a:r>
            <a:r>
              <a:rPr lang="es-ES" sz="2400" dirty="0" err="1"/>
              <a:t>kwh</a:t>
            </a:r>
            <a:r>
              <a:rPr lang="es-ES" sz="2400" dirty="0"/>
              <a:t> definido para el próximo año es de $0.13. A partir del año 2, CODENSA  quiere aumentar la tarifa de manera anual en $0.03 por </a:t>
            </a:r>
            <a:r>
              <a:rPr lang="es-ES" sz="2400" dirty="0" err="1"/>
              <a:t>kwh</a:t>
            </a:r>
            <a:r>
              <a:rPr lang="es-ES" sz="2400" dirty="0"/>
              <a:t>. Suponga una tasa de descuento del 8% E.A.</a:t>
            </a:r>
          </a:p>
          <a:p>
            <a:pPr algn="just">
              <a:buFont typeface="Arial" panose="020B0604020202020204" pitchFamily="34" charset="0"/>
              <a:buChar char="•"/>
            </a:pPr>
            <a:r>
              <a:rPr lang="es-ES" sz="2400" dirty="0"/>
              <a:t>Usted cree que aumentar la tarifa cada año no es “lo más adecuado políticamente”. En cambio, usted prefiere decretar un único aumento. ¿Cuál debería ser el aumento de la tarifa que es equivalente a la propuesta de CODENSA?</a:t>
            </a:r>
          </a:p>
        </p:txBody>
      </p:sp>
      <p:sp>
        <p:nvSpPr>
          <p:cNvPr id="8" name="Title 1">
            <a:extLst>
              <a:ext uri="{FF2B5EF4-FFF2-40B4-BE49-F238E27FC236}">
                <a16:creationId xmlns:a16="http://schemas.microsoft.com/office/drawing/2014/main" id="{EC178220-0C50-BB25-6400-68E8BE0EC96F}"/>
              </a:ext>
            </a:extLst>
          </p:cNvPr>
          <p:cNvSpPr>
            <a:spLocks noGrp="1"/>
          </p:cNvSpPr>
          <p:nvPr>
            <p:ph type="title"/>
          </p:nvPr>
        </p:nvSpPr>
        <p:spPr>
          <a:xfrm>
            <a:off x="581192" y="702156"/>
            <a:ext cx="11029616" cy="1013800"/>
          </a:xfrm>
        </p:spPr>
        <p:txBody>
          <a:bodyPr>
            <a:normAutofit/>
          </a:bodyPr>
          <a:lstStyle/>
          <a:p>
            <a:r>
              <a:rPr lang="es-ES_tradnl" sz="3200" dirty="0">
                <a:latin typeface="Gill Sans MT (titulo)"/>
              </a:rPr>
              <a:t>Gradientes aritméticos</a:t>
            </a:r>
          </a:p>
        </p:txBody>
      </p:sp>
      <p:sp>
        <p:nvSpPr>
          <p:cNvPr id="9" name="Rectángulo 8">
            <a:extLst>
              <a:ext uri="{FF2B5EF4-FFF2-40B4-BE49-F238E27FC236}">
                <a16:creationId xmlns:a16="http://schemas.microsoft.com/office/drawing/2014/main" id="{84809751-B0AA-6D6A-C721-7FD5B27DEAFE}"/>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0" name="Picture 2" descr="Clientes y aliados | Centro de Evaluación | Uniandes">
            <a:extLst>
              <a:ext uri="{FF2B5EF4-FFF2-40B4-BE49-F238E27FC236}">
                <a16:creationId xmlns:a16="http://schemas.microsoft.com/office/drawing/2014/main" id="{3AE6FFD0-D2D6-1CBD-80AA-0B7B2CD5E3B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1" name="Rectángulo 10">
            <a:extLst>
              <a:ext uri="{FF2B5EF4-FFF2-40B4-BE49-F238E27FC236}">
                <a16:creationId xmlns:a16="http://schemas.microsoft.com/office/drawing/2014/main" id="{D87C8CCF-2415-41D1-AC55-AA9A0F2684B4}"/>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2" name="Slide Number Placeholder 3">
            <a:extLst>
              <a:ext uri="{FF2B5EF4-FFF2-40B4-BE49-F238E27FC236}">
                <a16:creationId xmlns:a16="http://schemas.microsoft.com/office/drawing/2014/main" id="{2F1B3A19-4DD7-1B0C-DA9B-A04236092481}"/>
              </a:ext>
            </a:extLst>
          </p:cNvPr>
          <p:cNvSpPr txBox="1">
            <a:spLocks/>
          </p:cNvSpPr>
          <p:nvPr/>
        </p:nvSpPr>
        <p:spPr>
          <a:xfrm>
            <a:off x="10710700" y="6108537"/>
            <a:ext cx="1052508" cy="365125"/>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5E3E23BA-6E79-2442-BA73-D218A5E297C3}" type="slidenum">
              <a:rPr lang="en-US" sz="2000" b="1" smtClean="0">
                <a:latin typeface="Gill Sans MT (Títulos)"/>
              </a:rPr>
              <a:pPr/>
              <a:t>36</a:t>
            </a:fld>
            <a:endParaRPr lang="en-US" sz="2000" b="1" dirty="0">
              <a:latin typeface="Gill Sans MT (Títulos)"/>
            </a:endParaRPr>
          </a:p>
        </p:txBody>
      </p:sp>
    </p:spTree>
    <p:extLst>
      <p:ext uri="{BB962C8B-B14F-4D97-AF65-F5344CB8AC3E}">
        <p14:creationId xmlns:p14="http://schemas.microsoft.com/office/powerpoint/2010/main" val="22457082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35ABE7-BB71-6F07-5C4D-61E9ACECC255}"/>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869CC9EC-DC4A-C6A8-49CA-9F266FE41935}"/>
              </a:ext>
            </a:extLst>
          </p:cNvPr>
          <p:cNvSpPr>
            <a:spLocks noGrp="1"/>
          </p:cNvSpPr>
          <p:nvPr>
            <p:ph type="title"/>
          </p:nvPr>
        </p:nvSpPr>
        <p:spPr>
          <a:xfrm>
            <a:off x="581192" y="702156"/>
            <a:ext cx="11029616" cy="1013800"/>
          </a:xfrm>
        </p:spPr>
        <p:txBody>
          <a:bodyPr>
            <a:normAutofit/>
          </a:bodyPr>
          <a:lstStyle/>
          <a:p>
            <a:r>
              <a:rPr lang="es-ES_tradnl" sz="3200" dirty="0">
                <a:latin typeface="Gill Sans MT (titulo)"/>
              </a:rPr>
              <a:t>Gradientes aritméticos</a:t>
            </a:r>
          </a:p>
        </p:txBody>
      </p:sp>
      <p:sp>
        <p:nvSpPr>
          <p:cNvPr id="11" name="Rectángulo 10">
            <a:extLst>
              <a:ext uri="{FF2B5EF4-FFF2-40B4-BE49-F238E27FC236}">
                <a16:creationId xmlns:a16="http://schemas.microsoft.com/office/drawing/2014/main" id="{C74F6806-7322-C2A2-938B-94840455E050}"/>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2" name="Picture 2" descr="Clientes y aliados | Centro de Evaluación | Uniandes">
            <a:extLst>
              <a:ext uri="{FF2B5EF4-FFF2-40B4-BE49-F238E27FC236}">
                <a16:creationId xmlns:a16="http://schemas.microsoft.com/office/drawing/2014/main" id="{1934553B-6BCE-523B-77F6-4EAB27F35A4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3" name="Rectángulo 12">
            <a:extLst>
              <a:ext uri="{FF2B5EF4-FFF2-40B4-BE49-F238E27FC236}">
                <a16:creationId xmlns:a16="http://schemas.microsoft.com/office/drawing/2014/main" id="{9E9A9E07-668B-2304-8415-B09B809F282B}"/>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2" name="Slide Number Placeholder 3">
            <a:extLst>
              <a:ext uri="{FF2B5EF4-FFF2-40B4-BE49-F238E27FC236}">
                <a16:creationId xmlns:a16="http://schemas.microsoft.com/office/drawing/2014/main" id="{2056F5C1-53A0-7263-C34E-D58D88390A6B}"/>
              </a:ext>
            </a:extLst>
          </p:cNvPr>
          <p:cNvSpPr txBox="1">
            <a:spLocks/>
          </p:cNvSpPr>
          <p:nvPr/>
        </p:nvSpPr>
        <p:spPr>
          <a:xfrm>
            <a:off x="10710700" y="6108537"/>
            <a:ext cx="1052508" cy="365125"/>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5E3E23BA-6E79-2442-BA73-D218A5E297C3}" type="slidenum">
              <a:rPr lang="en-US" sz="2000" b="1" smtClean="0">
                <a:latin typeface="Gill Sans MT (Títulos)"/>
              </a:rPr>
              <a:pPr/>
              <a:t>37</a:t>
            </a:fld>
            <a:endParaRPr lang="en-US" sz="2000" b="1" dirty="0">
              <a:latin typeface="Gill Sans MT (Títulos)"/>
            </a:endParaRPr>
          </a:p>
        </p:txBody>
      </p:sp>
      <p:sp>
        <p:nvSpPr>
          <p:cNvPr id="3" name="TextBox 5">
            <a:extLst>
              <a:ext uri="{FF2B5EF4-FFF2-40B4-BE49-F238E27FC236}">
                <a16:creationId xmlns:a16="http://schemas.microsoft.com/office/drawing/2014/main" id="{4AB34010-009D-BD74-3835-07082C7C0716}"/>
              </a:ext>
            </a:extLst>
          </p:cNvPr>
          <p:cNvSpPr txBox="1"/>
          <p:nvPr/>
        </p:nvSpPr>
        <p:spPr>
          <a:xfrm>
            <a:off x="581191" y="2585595"/>
            <a:ext cx="8523551" cy="34163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lvl="1" indent="-457200" algn="just">
              <a:buClr>
                <a:srgbClr val="D7A700"/>
              </a:buClr>
              <a:buFont typeface="+mj-lt"/>
              <a:buAutoNum type="arabicPeriod"/>
            </a:pPr>
            <a:r>
              <a:rPr lang="es-MX" sz="2400" dirty="0">
                <a:solidFill>
                  <a:srgbClr val="595959"/>
                </a:solidFill>
                <a:latin typeface="Gill Sans MT (Cuerpo)"/>
                <a:cs typeface="Arial"/>
              </a:rPr>
              <a:t>Valor presente de la gradiente</a:t>
            </a:r>
          </a:p>
          <a:p>
            <a:pPr lvl="1" indent="-457200" algn="just">
              <a:buClr>
                <a:srgbClr val="D7A700"/>
              </a:buClr>
              <a:buFont typeface="+mj-lt"/>
              <a:buAutoNum type="arabicPeriod"/>
            </a:pPr>
            <a:endParaRPr lang="es-MX" sz="2400" dirty="0">
              <a:solidFill>
                <a:srgbClr val="595959"/>
              </a:solidFill>
              <a:latin typeface="Gill Sans MT (Cuerpo)"/>
              <a:cs typeface="Arial"/>
            </a:endParaRPr>
          </a:p>
          <a:p>
            <a:pPr lvl="1" indent="-457200" algn="just">
              <a:buClr>
                <a:srgbClr val="D7A700"/>
              </a:buClr>
              <a:buFont typeface="+mj-lt"/>
              <a:buAutoNum type="arabicPeriod"/>
            </a:pPr>
            <a:endParaRPr lang="es-MX" sz="2400" dirty="0">
              <a:solidFill>
                <a:srgbClr val="595959"/>
              </a:solidFill>
              <a:latin typeface="Gill Sans MT (Cuerpo)"/>
              <a:cs typeface="Arial"/>
            </a:endParaRPr>
          </a:p>
          <a:p>
            <a:pPr lvl="1" indent="-457200" algn="just">
              <a:buClr>
                <a:srgbClr val="D7A700"/>
              </a:buClr>
              <a:buFont typeface="+mj-lt"/>
              <a:buAutoNum type="arabicPeriod"/>
            </a:pPr>
            <a:endParaRPr lang="es-MX" sz="2400" dirty="0">
              <a:solidFill>
                <a:srgbClr val="595959"/>
              </a:solidFill>
              <a:latin typeface="Gill Sans MT (Cuerpo)"/>
              <a:cs typeface="Arial"/>
            </a:endParaRPr>
          </a:p>
          <a:p>
            <a:pPr lvl="1" indent="-457200" algn="just">
              <a:buClr>
                <a:srgbClr val="D7A700"/>
              </a:buClr>
              <a:buFont typeface="+mj-lt"/>
              <a:buAutoNum type="arabicPeriod"/>
            </a:pPr>
            <a:r>
              <a:rPr lang="es-MX" sz="2400" dirty="0">
                <a:solidFill>
                  <a:srgbClr val="595959"/>
                </a:solidFill>
                <a:latin typeface="Gill Sans MT (Cuerpo)"/>
                <a:cs typeface="Arial"/>
              </a:rPr>
              <a:t>Valor presente de la serie uniforme base</a:t>
            </a:r>
          </a:p>
          <a:p>
            <a:pPr lvl="1" indent="-457200" algn="just">
              <a:buClr>
                <a:srgbClr val="D7A700"/>
              </a:buClr>
              <a:buFont typeface="+mj-lt"/>
              <a:buAutoNum type="arabicPeriod"/>
            </a:pPr>
            <a:endParaRPr lang="es-MX" sz="2400" dirty="0">
              <a:solidFill>
                <a:srgbClr val="595959"/>
              </a:solidFill>
              <a:latin typeface="Gill Sans MT (Cuerpo)"/>
              <a:cs typeface="Arial"/>
            </a:endParaRPr>
          </a:p>
          <a:p>
            <a:pPr lvl="1" indent="-457200" algn="just">
              <a:buClr>
                <a:srgbClr val="D7A700"/>
              </a:buClr>
              <a:buFont typeface="+mj-lt"/>
              <a:buAutoNum type="arabicPeriod"/>
            </a:pPr>
            <a:endParaRPr lang="es-MX" sz="2400" dirty="0">
              <a:solidFill>
                <a:srgbClr val="595959"/>
              </a:solidFill>
              <a:latin typeface="Gill Sans MT (Cuerpo)"/>
              <a:cs typeface="Arial"/>
            </a:endParaRPr>
          </a:p>
          <a:p>
            <a:pPr lvl="1" indent="-457200" algn="just">
              <a:buClr>
                <a:srgbClr val="D7A700"/>
              </a:buClr>
              <a:buFont typeface="+mj-lt"/>
              <a:buAutoNum type="arabicPeriod"/>
            </a:pPr>
            <a:endParaRPr lang="es-MX" sz="2400" dirty="0">
              <a:solidFill>
                <a:srgbClr val="595959"/>
              </a:solidFill>
              <a:latin typeface="Gill Sans MT (Cuerpo)"/>
              <a:cs typeface="Arial"/>
            </a:endParaRPr>
          </a:p>
          <a:p>
            <a:pPr lvl="1" indent="-457200" algn="just">
              <a:buClr>
                <a:srgbClr val="D7A700"/>
              </a:buClr>
              <a:buFont typeface="+mj-lt"/>
              <a:buAutoNum type="arabicPeriod"/>
            </a:pPr>
            <a:r>
              <a:rPr lang="en-US" sz="2400" dirty="0">
                <a:solidFill>
                  <a:srgbClr val="595959"/>
                </a:solidFill>
                <a:latin typeface="Gill Sans MT (Cuerpo)"/>
                <a:cs typeface="Arial"/>
              </a:rPr>
              <a:t>Valor </a:t>
            </a:r>
            <a:r>
              <a:rPr lang="en-US" sz="2400" dirty="0" err="1">
                <a:solidFill>
                  <a:srgbClr val="595959"/>
                </a:solidFill>
                <a:latin typeface="Gill Sans MT (Cuerpo)"/>
                <a:cs typeface="Arial"/>
              </a:rPr>
              <a:t>presente</a:t>
            </a:r>
            <a:r>
              <a:rPr lang="en-US" sz="2400" dirty="0">
                <a:solidFill>
                  <a:srgbClr val="595959"/>
                </a:solidFill>
                <a:latin typeface="Gill Sans MT (Cuerpo)"/>
                <a:cs typeface="Arial"/>
              </a:rPr>
              <a:t> total de la </a:t>
            </a:r>
            <a:r>
              <a:rPr lang="en-US" sz="2400" dirty="0" err="1">
                <a:solidFill>
                  <a:srgbClr val="595959"/>
                </a:solidFill>
                <a:latin typeface="Gill Sans MT (Cuerpo)"/>
                <a:cs typeface="Arial"/>
              </a:rPr>
              <a:t>propuesta</a:t>
            </a:r>
            <a:r>
              <a:rPr lang="en-US" sz="2400" dirty="0">
                <a:solidFill>
                  <a:srgbClr val="595959"/>
                </a:solidFill>
                <a:latin typeface="Gill Sans MT (Cuerpo)"/>
                <a:cs typeface="Arial"/>
              </a:rPr>
              <a:t> de </a:t>
            </a:r>
            <a:r>
              <a:rPr lang="en-US" sz="2400" dirty="0" err="1">
                <a:solidFill>
                  <a:srgbClr val="595959"/>
                </a:solidFill>
                <a:latin typeface="Gill Sans MT (Cuerpo)"/>
                <a:cs typeface="Arial"/>
              </a:rPr>
              <a:t>Codensa</a:t>
            </a:r>
            <a:endParaRPr lang="es-MX" sz="2400" dirty="0">
              <a:solidFill>
                <a:srgbClr val="595959"/>
              </a:solidFill>
              <a:latin typeface="Gill Sans MT (Cuerpo)"/>
              <a:cs typeface="Arial"/>
            </a:endParaRPr>
          </a:p>
        </p:txBody>
      </p:sp>
      <mc:AlternateContent xmlns:mc="http://schemas.openxmlformats.org/markup-compatibility/2006" xmlns:a14="http://schemas.microsoft.com/office/drawing/2010/main">
        <mc:Choice Requires="a14">
          <p:sp>
            <p:nvSpPr>
              <p:cNvPr id="4" name="CuadroTexto 3">
                <a:extLst>
                  <a:ext uri="{FF2B5EF4-FFF2-40B4-BE49-F238E27FC236}">
                    <a16:creationId xmlns:a16="http://schemas.microsoft.com/office/drawing/2014/main" id="{345A0B9E-12A1-F5BB-1A58-E6A4A6EF7722}"/>
                  </a:ext>
                </a:extLst>
              </p:cNvPr>
              <p:cNvSpPr txBox="1"/>
              <p:nvPr/>
            </p:nvSpPr>
            <p:spPr>
              <a:xfrm>
                <a:off x="1834224" y="3144884"/>
                <a:ext cx="8812669" cy="63190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MX" i="1" smtClean="0">
                              <a:latin typeface="Cambria Math" panose="02040503050406030204" pitchFamily="18" charset="0"/>
                            </a:rPr>
                          </m:ctrlPr>
                        </m:sSubPr>
                        <m:e>
                          <m:r>
                            <a:rPr lang="es-MX" b="0" i="1" smtClean="0">
                              <a:latin typeface="Cambria Math" panose="02040503050406030204" pitchFamily="18" charset="0"/>
                            </a:rPr>
                            <m:t>𝑉</m:t>
                          </m:r>
                        </m:e>
                        <m:sub>
                          <m:sSub>
                            <m:sSubPr>
                              <m:ctrlPr>
                                <a:rPr lang="es-MX" i="1" smtClean="0">
                                  <a:latin typeface="Cambria Math" panose="02040503050406030204" pitchFamily="18" charset="0"/>
                                </a:rPr>
                              </m:ctrlPr>
                            </m:sSubPr>
                            <m:e>
                              <m:r>
                                <a:rPr lang="es-MX" b="0" i="1" smtClean="0">
                                  <a:latin typeface="Cambria Math" panose="02040503050406030204" pitchFamily="18" charset="0"/>
                                </a:rPr>
                                <m:t>𝑃</m:t>
                              </m:r>
                            </m:e>
                            <m:sub>
                              <m:r>
                                <a:rPr lang="es-MX" b="0" i="1" smtClean="0">
                                  <a:latin typeface="Cambria Math" panose="02040503050406030204" pitchFamily="18" charset="0"/>
                                </a:rPr>
                                <m:t>1</m:t>
                              </m:r>
                            </m:sub>
                          </m:sSub>
                        </m:sub>
                      </m:sSub>
                      <m:r>
                        <a:rPr lang="es-MX" b="0" i="1" smtClean="0">
                          <a:latin typeface="Cambria Math" panose="02040503050406030204" pitchFamily="18" charset="0"/>
                        </a:rPr>
                        <m:t>=</m:t>
                      </m:r>
                      <m:r>
                        <a:rPr lang="es-MX" i="1">
                          <a:latin typeface="Cambria Math" panose="02040503050406030204" pitchFamily="18" charset="0"/>
                        </a:rPr>
                        <m:t>𝐺</m:t>
                      </m:r>
                      <m:d>
                        <m:dPr>
                          <m:begChr m:val="["/>
                          <m:endChr m:val="]"/>
                          <m:ctrlPr>
                            <a:rPr lang="es-MX" i="1">
                              <a:latin typeface="Cambria Math" panose="02040503050406030204" pitchFamily="18" charset="0"/>
                            </a:rPr>
                          </m:ctrlPr>
                        </m:dPr>
                        <m:e>
                          <m:f>
                            <m:fPr>
                              <m:ctrlPr>
                                <a:rPr lang="es-MX" i="1">
                                  <a:latin typeface="Cambria Math" panose="02040503050406030204" pitchFamily="18" charset="0"/>
                                </a:rPr>
                              </m:ctrlPr>
                            </m:fPr>
                            <m:num>
                              <m:r>
                                <a:rPr lang="es-MX" i="1">
                                  <a:latin typeface="Cambria Math" panose="02040503050406030204" pitchFamily="18" charset="0"/>
                                </a:rPr>
                                <m:t>1</m:t>
                              </m:r>
                            </m:num>
                            <m:den>
                              <m:r>
                                <a:rPr lang="es-MX" i="1">
                                  <a:latin typeface="Cambria Math" panose="02040503050406030204" pitchFamily="18" charset="0"/>
                                </a:rPr>
                                <m:t>𝑖</m:t>
                              </m:r>
                            </m:den>
                          </m:f>
                          <m:d>
                            <m:dPr>
                              <m:ctrlPr>
                                <a:rPr lang="es-MX" i="1">
                                  <a:latin typeface="Cambria Math" panose="02040503050406030204" pitchFamily="18" charset="0"/>
                                </a:rPr>
                              </m:ctrlPr>
                            </m:dPr>
                            <m:e>
                              <m:f>
                                <m:fPr>
                                  <m:ctrlPr>
                                    <a:rPr lang="es-MX" i="1">
                                      <a:latin typeface="Cambria Math" panose="02040503050406030204" pitchFamily="18" charset="0"/>
                                    </a:rPr>
                                  </m:ctrlPr>
                                </m:fPr>
                                <m:num>
                                  <m:sSup>
                                    <m:sSupPr>
                                      <m:ctrlPr>
                                        <a:rPr lang="es-MX" i="1">
                                          <a:latin typeface="Cambria Math" panose="02040503050406030204" pitchFamily="18" charset="0"/>
                                        </a:rPr>
                                      </m:ctrlPr>
                                    </m:sSupPr>
                                    <m:e>
                                      <m:d>
                                        <m:dPr>
                                          <m:ctrlPr>
                                            <a:rPr lang="es-MX" i="1">
                                              <a:latin typeface="Cambria Math" panose="02040503050406030204" pitchFamily="18" charset="0"/>
                                            </a:rPr>
                                          </m:ctrlPr>
                                        </m:dPr>
                                        <m:e>
                                          <m:r>
                                            <a:rPr lang="es-MX" i="1">
                                              <a:latin typeface="Cambria Math" panose="02040503050406030204" pitchFamily="18" charset="0"/>
                                            </a:rPr>
                                            <m:t>1+</m:t>
                                          </m:r>
                                          <m:r>
                                            <a:rPr lang="es-MX" i="1">
                                              <a:latin typeface="Cambria Math" panose="02040503050406030204" pitchFamily="18" charset="0"/>
                                            </a:rPr>
                                            <m:t>𝑖</m:t>
                                          </m:r>
                                        </m:e>
                                      </m:d>
                                    </m:e>
                                    <m:sup>
                                      <m:r>
                                        <a:rPr lang="es-MX" i="1">
                                          <a:latin typeface="Cambria Math" panose="02040503050406030204" pitchFamily="18" charset="0"/>
                                        </a:rPr>
                                        <m:t>−</m:t>
                                      </m:r>
                                      <m:r>
                                        <a:rPr lang="es-MX" i="1">
                                          <a:latin typeface="Cambria Math" panose="02040503050406030204" pitchFamily="18" charset="0"/>
                                        </a:rPr>
                                        <m:t>𝑛</m:t>
                                      </m:r>
                                    </m:sup>
                                  </m:sSup>
                                  <m:r>
                                    <a:rPr lang="es-MX" b="0" i="1" smtClean="0">
                                      <a:latin typeface="Cambria Math" panose="02040503050406030204" pitchFamily="18" charset="0"/>
                                    </a:rPr>
                                    <m:t>−1</m:t>
                                  </m:r>
                                </m:num>
                                <m:den>
                                  <m:r>
                                    <a:rPr lang="es-MX" i="1">
                                      <a:latin typeface="Cambria Math" panose="02040503050406030204" pitchFamily="18" charset="0"/>
                                    </a:rPr>
                                    <m:t>𝑖</m:t>
                                  </m:r>
                                  <m:r>
                                    <a:rPr lang="es-MX" b="0" i="1" smtClean="0">
                                      <a:latin typeface="Cambria Math" panose="02040503050406030204" pitchFamily="18" charset="0"/>
                                    </a:rPr>
                                    <m:t>(</m:t>
                                  </m:r>
                                  <m:sSup>
                                    <m:sSupPr>
                                      <m:ctrlPr>
                                        <a:rPr lang="es-MX" b="0" i="1" smtClean="0">
                                          <a:latin typeface="Cambria Math" panose="02040503050406030204" pitchFamily="18" charset="0"/>
                                        </a:rPr>
                                      </m:ctrlPr>
                                    </m:sSupPr>
                                    <m:e>
                                      <m:r>
                                        <a:rPr lang="es-MX" b="0" i="1" smtClean="0">
                                          <a:latin typeface="Cambria Math" panose="02040503050406030204" pitchFamily="18" charset="0"/>
                                        </a:rPr>
                                        <m:t>(1+</m:t>
                                      </m:r>
                                      <m:r>
                                        <a:rPr lang="es-MX" b="0" i="1" smtClean="0">
                                          <a:latin typeface="Cambria Math" panose="02040503050406030204" pitchFamily="18" charset="0"/>
                                        </a:rPr>
                                        <m:t>𝑖</m:t>
                                      </m:r>
                                      <m:r>
                                        <a:rPr lang="es-MX" b="0" i="1" smtClean="0">
                                          <a:latin typeface="Cambria Math" panose="02040503050406030204" pitchFamily="18" charset="0"/>
                                        </a:rPr>
                                        <m:t>)</m:t>
                                      </m:r>
                                    </m:e>
                                    <m:sup>
                                      <m:r>
                                        <a:rPr lang="es-MX" b="0" i="1" smtClean="0">
                                          <a:latin typeface="Cambria Math" panose="02040503050406030204" pitchFamily="18" charset="0"/>
                                        </a:rPr>
                                        <m:t>𝑛</m:t>
                                      </m:r>
                                    </m:sup>
                                  </m:sSup>
                                </m:den>
                              </m:f>
                            </m:e>
                          </m:d>
                          <m:r>
                            <a:rPr lang="es-MX" i="1">
                              <a:latin typeface="Cambria Math" panose="02040503050406030204" pitchFamily="18" charset="0"/>
                            </a:rPr>
                            <m:t>−</m:t>
                          </m:r>
                          <m:f>
                            <m:fPr>
                              <m:ctrlPr>
                                <a:rPr lang="es-MX" i="1">
                                  <a:latin typeface="Cambria Math" panose="02040503050406030204" pitchFamily="18" charset="0"/>
                                </a:rPr>
                              </m:ctrlPr>
                            </m:fPr>
                            <m:num>
                              <m:r>
                                <a:rPr lang="es-MX" i="1">
                                  <a:latin typeface="Cambria Math" panose="02040503050406030204" pitchFamily="18" charset="0"/>
                                </a:rPr>
                                <m:t>𝑛</m:t>
                              </m:r>
                            </m:num>
                            <m:den>
                              <m:sSup>
                                <m:sSupPr>
                                  <m:ctrlPr>
                                    <a:rPr lang="es-MX" i="1">
                                      <a:latin typeface="Cambria Math" panose="02040503050406030204" pitchFamily="18" charset="0"/>
                                    </a:rPr>
                                  </m:ctrlPr>
                                </m:sSupPr>
                                <m:e>
                                  <m:d>
                                    <m:dPr>
                                      <m:ctrlPr>
                                        <a:rPr lang="es-MX" i="1">
                                          <a:latin typeface="Cambria Math" panose="02040503050406030204" pitchFamily="18" charset="0"/>
                                        </a:rPr>
                                      </m:ctrlPr>
                                    </m:dPr>
                                    <m:e>
                                      <m:r>
                                        <a:rPr lang="es-MX" i="1">
                                          <a:latin typeface="Cambria Math" panose="02040503050406030204" pitchFamily="18" charset="0"/>
                                        </a:rPr>
                                        <m:t>1+</m:t>
                                      </m:r>
                                      <m:r>
                                        <a:rPr lang="es-MX" i="1">
                                          <a:latin typeface="Cambria Math" panose="02040503050406030204" pitchFamily="18" charset="0"/>
                                        </a:rPr>
                                        <m:t>𝑖</m:t>
                                      </m:r>
                                    </m:e>
                                  </m:d>
                                </m:e>
                                <m:sup>
                                  <m:r>
                                    <a:rPr lang="es-MX" i="1">
                                      <a:latin typeface="Cambria Math" panose="02040503050406030204" pitchFamily="18" charset="0"/>
                                    </a:rPr>
                                    <m:t>𝑛</m:t>
                                  </m:r>
                                </m:sup>
                              </m:sSup>
                            </m:den>
                          </m:f>
                        </m:e>
                      </m:d>
                      <m:r>
                        <a:rPr lang="es-MX" i="1">
                          <a:latin typeface="Cambria Math" panose="02040503050406030204" pitchFamily="18" charset="0"/>
                        </a:rPr>
                        <m:t>=</m:t>
                      </m:r>
                      <m:r>
                        <a:rPr lang="es-MX" b="0" i="1" smtClean="0">
                          <a:latin typeface="Cambria Math" panose="02040503050406030204" pitchFamily="18" charset="0"/>
                        </a:rPr>
                        <m:t>0,03</m:t>
                      </m:r>
                      <m:d>
                        <m:dPr>
                          <m:begChr m:val="["/>
                          <m:endChr m:val="]"/>
                          <m:ctrlPr>
                            <a:rPr lang="es-MX" i="1">
                              <a:latin typeface="Cambria Math" panose="02040503050406030204" pitchFamily="18" charset="0"/>
                            </a:rPr>
                          </m:ctrlPr>
                        </m:dPr>
                        <m:e>
                          <m:f>
                            <m:fPr>
                              <m:ctrlPr>
                                <a:rPr lang="es-MX" i="1">
                                  <a:latin typeface="Cambria Math" panose="02040503050406030204" pitchFamily="18" charset="0"/>
                                </a:rPr>
                              </m:ctrlPr>
                            </m:fPr>
                            <m:num>
                              <m:r>
                                <a:rPr lang="es-MX" i="1">
                                  <a:latin typeface="Cambria Math" panose="02040503050406030204" pitchFamily="18" charset="0"/>
                                </a:rPr>
                                <m:t>1</m:t>
                              </m:r>
                            </m:num>
                            <m:den>
                              <m:r>
                                <a:rPr lang="es-MX" i="1">
                                  <a:latin typeface="Cambria Math" panose="02040503050406030204" pitchFamily="18" charset="0"/>
                                </a:rPr>
                                <m:t>0,0</m:t>
                              </m:r>
                              <m:r>
                                <a:rPr lang="es-MX" b="0" i="1" smtClean="0">
                                  <a:latin typeface="Cambria Math" panose="02040503050406030204" pitchFamily="18" charset="0"/>
                                </a:rPr>
                                <m:t>8</m:t>
                              </m:r>
                            </m:den>
                          </m:f>
                          <m:d>
                            <m:dPr>
                              <m:ctrlPr>
                                <a:rPr lang="es-MX" i="1">
                                  <a:latin typeface="Cambria Math" panose="02040503050406030204" pitchFamily="18" charset="0"/>
                                </a:rPr>
                              </m:ctrlPr>
                            </m:dPr>
                            <m:e>
                              <m:f>
                                <m:fPr>
                                  <m:ctrlPr>
                                    <a:rPr lang="es-MX" i="1">
                                      <a:latin typeface="Cambria Math" panose="02040503050406030204" pitchFamily="18" charset="0"/>
                                    </a:rPr>
                                  </m:ctrlPr>
                                </m:fPr>
                                <m:num>
                                  <m:sSup>
                                    <m:sSupPr>
                                      <m:ctrlPr>
                                        <a:rPr lang="es-MX" i="1">
                                          <a:latin typeface="Cambria Math" panose="02040503050406030204" pitchFamily="18" charset="0"/>
                                        </a:rPr>
                                      </m:ctrlPr>
                                    </m:sSupPr>
                                    <m:e>
                                      <m:d>
                                        <m:dPr>
                                          <m:ctrlPr>
                                            <a:rPr lang="es-MX" i="1">
                                              <a:latin typeface="Cambria Math" panose="02040503050406030204" pitchFamily="18" charset="0"/>
                                            </a:rPr>
                                          </m:ctrlPr>
                                        </m:dPr>
                                        <m:e>
                                          <m:r>
                                            <a:rPr lang="es-MX" i="1">
                                              <a:latin typeface="Cambria Math" panose="02040503050406030204" pitchFamily="18" charset="0"/>
                                            </a:rPr>
                                            <m:t>1,0</m:t>
                                          </m:r>
                                          <m:r>
                                            <a:rPr lang="es-MX" b="0" i="1" smtClean="0">
                                              <a:latin typeface="Cambria Math" panose="02040503050406030204" pitchFamily="18" charset="0"/>
                                            </a:rPr>
                                            <m:t>8</m:t>
                                          </m:r>
                                        </m:e>
                                      </m:d>
                                    </m:e>
                                    <m:sup>
                                      <m:r>
                                        <a:rPr lang="es-MX" b="0" i="1" smtClean="0">
                                          <a:latin typeface="Cambria Math" panose="02040503050406030204" pitchFamily="18" charset="0"/>
                                        </a:rPr>
                                        <m:t>5</m:t>
                                      </m:r>
                                    </m:sup>
                                  </m:sSup>
                                  <m:r>
                                    <a:rPr lang="es-MX" b="0" i="1" smtClean="0">
                                      <a:latin typeface="Cambria Math" panose="02040503050406030204" pitchFamily="18" charset="0"/>
                                    </a:rPr>
                                    <m:t>−1</m:t>
                                  </m:r>
                                </m:num>
                                <m:den>
                                  <m:r>
                                    <a:rPr lang="es-MX" b="0" i="1" smtClean="0">
                                      <a:latin typeface="Cambria Math" panose="02040503050406030204" pitchFamily="18" charset="0"/>
                                    </a:rPr>
                                    <m:t>0,08</m:t>
                                  </m:r>
                                  <m:sSup>
                                    <m:sSupPr>
                                      <m:ctrlPr>
                                        <a:rPr lang="es-MX" b="0" i="1" smtClean="0">
                                          <a:latin typeface="Cambria Math" panose="02040503050406030204" pitchFamily="18" charset="0"/>
                                        </a:rPr>
                                      </m:ctrlPr>
                                    </m:sSupPr>
                                    <m:e>
                                      <m:r>
                                        <a:rPr lang="es-MX" b="0" i="1" smtClean="0">
                                          <a:latin typeface="Cambria Math" panose="02040503050406030204" pitchFamily="18" charset="0"/>
                                        </a:rPr>
                                        <m:t>(1,08)</m:t>
                                      </m:r>
                                    </m:e>
                                    <m:sup>
                                      <m:r>
                                        <a:rPr lang="es-MX" b="0" i="1" smtClean="0">
                                          <a:latin typeface="Cambria Math" panose="02040503050406030204" pitchFamily="18" charset="0"/>
                                        </a:rPr>
                                        <m:t>5</m:t>
                                      </m:r>
                                    </m:sup>
                                  </m:sSup>
                                </m:den>
                              </m:f>
                            </m:e>
                          </m:d>
                          <m:r>
                            <a:rPr lang="es-MX" i="1">
                              <a:latin typeface="Cambria Math" panose="02040503050406030204" pitchFamily="18" charset="0"/>
                            </a:rPr>
                            <m:t>−</m:t>
                          </m:r>
                          <m:f>
                            <m:fPr>
                              <m:ctrlPr>
                                <a:rPr lang="es-MX" i="1">
                                  <a:latin typeface="Cambria Math" panose="02040503050406030204" pitchFamily="18" charset="0"/>
                                </a:rPr>
                              </m:ctrlPr>
                            </m:fPr>
                            <m:num>
                              <m:r>
                                <a:rPr lang="es-MX" i="1">
                                  <a:latin typeface="Cambria Math" panose="02040503050406030204" pitchFamily="18" charset="0"/>
                                </a:rPr>
                                <m:t>5</m:t>
                              </m:r>
                            </m:num>
                            <m:den>
                              <m:sSup>
                                <m:sSupPr>
                                  <m:ctrlPr>
                                    <a:rPr lang="es-MX" i="1">
                                      <a:latin typeface="Cambria Math" panose="02040503050406030204" pitchFamily="18" charset="0"/>
                                    </a:rPr>
                                  </m:ctrlPr>
                                </m:sSupPr>
                                <m:e>
                                  <m:d>
                                    <m:dPr>
                                      <m:ctrlPr>
                                        <a:rPr lang="es-MX" i="1">
                                          <a:latin typeface="Cambria Math" panose="02040503050406030204" pitchFamily="18" charset="0"/>
                                        </a:rPr>
                                      </m:ctrlPr>
                                    </m:dPr>
                                    <m:e>
                                      <m:r>
                                        <a:rPr lang="es-MX" i="1">
                                          <a:latin typeface="Cambria Math" panose="02040503050406030204" pitchFamily="18" charset="0"/>
                                        </a:rPr>
                                        <m:t>1,0</m:t>
                                      </m:r>
                                      <m:r>
                                        <a:rPr lang="es-MX" b="0" i="1" smtClean="0">
                                          <a:latin typeface="Cambria Math" panose="02040503050406030204" pitchFamily="18" charset="0"/>
                                        </a:rPr>
                                        <m:t>8</m:t>
                                      </m:r>
                                    </m:e>
                                  </m:d>
                                </m:e>
                                <m:sup>
                                  <m:r>
                                    <a:rPr lang="es-MX" i="1">
                                      <a:latin typeface="Cambria Math" panose="02040503050406030204" pitchFamily="18" charset="0"/>
                                    </a:rPr>
                                    <m:t>5</m:t>
                                  </m:r>
                                </m:sup>
                              </m:sSup>
                            </m:den>
                          </m:f>
                        </m:e>
                      </m:d>
                      <m:r>
                        <a:rPr lang="es-MX" i="1">
                          <a:latin typeface="Cambria Math" panose="02040503050406030204" pitchFamily="18" charset="0"/>
                        </a:rPr>
                        <m:t>=</m:t>
                      </m:r>
                      <m:r>
                        <a:rPr lang="es-MX" b="0" i="1" smtClean="0">
                          <a:latin typeface="Cambria Math" panose="02040503050406030204" pitchFamily="18" charset="0"/>
                        </a:rPr>
                        <m:t>0,227</m:t>
                      </m:r>
                    </m:oMath>
                  </m:oMathPara>
                </a14:m>
                <a:endParaRPr lang="es-MX" dirty="0"/>
              </a:p>
            </p:txBody>
          </p:sp>
        </mc:Choice>
        <mc:Fallback xmlns="">
          <p:sp>
            <p:nvSpPr>
              <p:cNvPr id="4" name="CuadroTexto 3">
                <a:extLst>
                  <a:ext uri="{FF2B5EF4-FFF2-40B4-BE49-F238E27FC236}">
                    <a16:creationId xmlns:a16="http://schemas.microsoft.com/office/drawing/2014/main" id="{345A0B9E-12A1-F5BB-1A58-E6A4A6EF7722}"/>
                  </a:ext>
                </a:extLst>
              </p:cNvPr>
              <p:cNvSpPr txBox="1">
                <a:spLocks noRot="1" noChangeAspect="1" noMove="1" noResize="1" noEditPoints="1" noAdjustHandles="1" noChangeArrowheads="1" noChangeShapeType="1" noTextEdit="1"/>
              </p:cNvSpPr>
              <p:nvPr/>
            </p:nvSpPr>
            <p:spPr>
              <a:xfrm>
                <a:off x="1834224" y="3144884"/>
                <a:ext cx="8812669" cy="631904"/>
              </a:xfrm>
              <a:prstGeom prst="rect">
                <a:avLst/>
              </a:prstGeom>
              <a:blipFill>
                <a:blip r:embed="rId3"/>
                <a:stretch>
                  <a:fillRect/>
                </a:stretch>
              </a:blipFill>
            </p:spPr>
            <p:txBody>
              <a:bodyPr/>
              <a:lstStyle/>
              <a:p>
                <a:r>
                  <a:rPr lang="es-MX">
                    <a:noFill/>
                  </a:rPr>
                  <a:t> </a:t>
                </a:r>
              </a:p>
            </p:txBody>
          </p:sp>
        </mc:Fallback>
      </mc:AlternateContent>
      <mc:AlternateContent xmlns:mc="http://schemas.openxmlformats.org/markup-compatibility/2006">
        <mc:Choice xmlns:a14="http://schemas.microsoft.com/office/drawing/2010/main" Requires="a14">
          <p:sp>
            <p:nvSpPr>
              <p:cNvPr id="19" name="CuadroTexto 18">
                <a:extLst>
                  <a:ext uri="{FF2B5EF4-FFF2-40B4-BE49-F238E27FC236}">
                    <a16:creationId xmlns:a16="http://schemas.microsoft.com/office/drawing/2014/main" id="{74A7D5AC-8BBE-30CF-78F1-6AD320D4BE10}"/>
                  </a:ext>
                </a:extLst>
              </p:cNvPr>
              <p:cNvSpPr txBox="1"/>
              <p:nvPr/>
            </p:nvSpPr>
            <p:spPr>
              <a:xfrm>
                <a:off x="3119865" y="4656884"/>
                <a:ext cx="6004528" cy="63190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MX" i="1" smtClean="0">
                              <a:latin typeface="Cambria Math" panose="02040503050406030204" pitchFamily="18" charset="0"/>
                            </a:rPr>
                          </m:ctrlPr>
                        </m:sSubPr>
                        <m:e>
                          <m:r>
                            <a:rPr lang="es-MX" i="1">
                              <a:latin typeface="Cambria Math" panose="02040503050406030204" pitchFamily="18" charset="0"/>
                            </a:rPr>
                            <m:t>𝑉</m:t>
                          </m:r>
                        </m:e>
                        <m:sub>
                          <m:sSub>
                            <m:sSubPr>
                              <m:ctrlPr>
                                <a:rPr lang="es-MX" i="1">
                                  <a:latin typeface="Cambria Math" panose="02040503050406030204" pitchFamily="18" charset="0"/>
                                </a:rPr>
                              </m:ctrlPr>
                            </m:sSubPr>
                            <m:e>
                              <m:r>
                                <a:rPr lang="es-MX" i="1">
                                  <a:latin typeface="Cambria Math" panose="02040503050406030204" pitchFamily="18" charset="0"/>
                                </a:rPr>
                                <m:t>𝑃</m:t>
                              </m:r>
                            </m:e>
                            <m:sub>
                              <m:r>
                                <a:rPr lang="es-MX" b="0" i="1" smtClean="0">
                                  <a:latin typeface="Cambria Math" panose="02040503050406030204" pitchFamily="18" charset="0"/>
                                </a:rPr>
                                <m:t>2</m:t>
                              </m:r>
                            </m:sub>
                          </m:sSub>
                        </m:sub>
                      </m:sSub>
                      <m:r>
                        <a:rPr lang="es-MX" b="0" i="1" smtClean="0">
                          <a:latin typeface="Cambria Math" panose="02040503050406030204" pitchFamily="18" charset="0"/>
                        </a:rPr>
                        <m:t>=</m:t>
                      </m:r>
                      <m:r>
                        <a:rPr lang="es-MX" b="0" i="1" smtClean="0">
                          <a:latin typeface="Cambria Math" panose="02040503050406030204" pitchFamily="18" charset="0"/>
                        </a:rPr>
                        <m:t>𝐴</m:t>
                      </m:r>
                      <m:d>
                        <m:dPr>
                          <m:ctrlPr>
                            <a:rPr lang="es-MX" b="0" i="1" smtClean="0">
                              <a:latin typeface="Cambria Math" panose="02040503050406030204" pitchFamily="18" charset="0"/>
                            </a:rPr>
                          </m:ctrlPr>
                        </m:dPr>
                        <m:e>
                          <m:f>
                            <m:fPr>
                              <m:ctrlPr>
                                <a:rPr lang="es-MX" i="1">
                                  <a:latin typeface="Cambria Math" panose="02040503050406030204" pitchFamily="18" charset="0"/>
                                </a:rPr>
                              </m:ctrlPr>
                            </m:fPr>
                            <m:num>
                              <m:r>
                                <a:rPr lang="es-MX" i="1">
                                  <a:latin typeface="Cambria Math" panose="02040503050406030204" pitchFamily="18" charset="0"/>
                                </a:rPr>
                                <m:t>1−</m:t>
                              </m:r>
                              <m:sSup>
                                <m:sSupPr>
                                  <m:ctrlPr>
                                    <a:rPr lang="es-MX" i="1">
                                      <a:latin typeface="Cambria Math" panose="02040503050406030204" pitchFamily="18" charset="0"/>
                                    </a:rPr>
                                  </m:ctrlPr>
                                </m:sSupPr>
                                <m:e>
                                  <m:d>
                                    <m:dPr>
                                      <m:ctrlPr>
                                        <a:rPr lang="es-MX" i="1">
                                          <a:latin typeface="Cambria Math" panose="02040503050406030204" pitchFamily="18" charset="0"/>
                                        </a:rPr>
                                      </m:ctrlPr>
                                    </m:dPr>
                                    <m:e>
                                      <m:r>
                                        <a:rPr lang="es-MX" i="1">
                                          <a:latin typeface="Cambria Math" panose="02040503050406030204" pitchFamily="18" charset="0"/>
                                        </a:rPr>
                                        <m:t>1+</m:t>
                                      </m:r>
                                      <m:r>
                                        <a:rPr lang="es-MX" i="1">
                                          <a:latin typeface="Cambria Math" panose="02040503050406030204" pitchFamily="18" charset="0"/>
                                        </a:rPr>
                                        <m:t>𝑖</m:t>
                                      </m:r>
                                    </m:e>
                                  </m:d>
                                </m:e>
                                <m:sup>
                                  <m:r>
                                    <a:rPr lang="es-MX" i="1">
                                      <a:latin typeface="Cambria Math" panose="02040503050406030204" pitchFamily="18" charset="0"/>
                                    </a:rPr>
                                    <m:t>−</m:t>
                                  </m:r>
                                  <m:r>
                                    <a:rPr lang="es-MX" i="1">
                                      <a:latin typeface="Cambria Math" panose="02040503050406030204" pitchFamily="18" charset="0"/>
                                    </a:rPr>
                                    <m:t>𝑛</m:t>
                                  </m:r>
                                </m:sup>
                              </m:sSup>
                            </m:num>
                            <m:den>
                              <m:r>
                                <a:rPr lang="es-MX" i="1">
                                  <a:latin typeface="Cambria Math" panose="02040503050406030204" pitchFamily="18" charset="0"/>
                                </a:rPr>
                                <m:t>𝑖</m:t>
                              </m:r>
                            </m:den>
                          </m:f>
                        </m:e>
                      </m:d>
                      <m:r>
                        <a:rPr lang="es-MX" b="0" i="1" smtClean="0">
                          <a:latin typeface="Cambria Math" panose="02040503050406030204" pitchFamily="18" charset="0"/>
                        </a:rPr>
                        <m:t>=0,13</m:t>
                      </m:r>
                      <m:d>
                        <m:dPr>
                          <m:ctrlPr>
                            <a:rPr lang="es-MX" i="1">
                              <a:latin typeface="Cambria Math" panose="02040503050406030204" pitchFamily="18" charset="0"/>
                            </a:rPr>
                          </m:ctrlPr>
                        </m:dPr>
                        <m:e>
                          <m:f>
                            <m:fPr>
                              <m:ctrlPr>
                                <a:rPr lang="es-MX" i="1">
                                  <a:latin typeface="Cambria Math" panose="02040503050406030204" pitchFamily="18" charset="0"/>
                                </a:rPr>
                              </m:ctrlPr>
                            </m:fPr>
                            <m:num>
                              <m:r>
                                <a:rPr lang="es-MX" i="1">
                                  <a:latin typeface="Cambria Math" panose="02040503050406030204" pitchFamily="18" charset="0"/>
                                </a:rPr>
                                <m:t>1−</m:t>
                              </m:r>
                              <m:sSup>
                                <m:sSupPr>
                                  <m:ctrlPr>
                                    <a:rPr lang="es-MX" i="1">
                                      <a:latin typeface="Cambria Math" panose="02040503050406030204" pitchFamily="18" charset="0"/>
                                    </a:rPr>
                                  </m:ctrlPr>
                                </m:sSupPr>
                                <m:e>
                                  <m:d>
                                    <m:dPr>
                                      <m:ctrlPr>
                                        <a:rPr lang="es-MX" i="1">
                                          <a:latin typeface="Cambria Math" panose="02040503050406030204" pitchFamily="18" charset="0"/>
                                        </a:rPr>
                                      </m:ctrlPr>
                                    </m:dPr>
                                    <m:e>
                                      <m:r>
                                        <a:rPr lang="es-MX" i="1">
                                          <a:latin typeface="Cambria Math" panose="02040503050406030204" pitchFamily="18" charset="0"/>
                                        </a:rPr>
                                        <m:t>1+</m:t>
                                      </m:r>
                                      <m:r>
                                        <a:rPr lang="es-MX" b="0" i="1" smtClean="0">
                                          <a:latin typeface="Cambria Math" panose="02040503050406030204" pitchFamily="18" charset="0"/>
                                        </a:rPr>
                                        <m:t>1,08</m:t>
                                      </m:r>
                                    </m:e>
                                  </m:d>
                                </m:e>
                                <m:sup>
                                  <m:r>
                                    <a:rPr lang="es-MX" i="1">
                                      <a:latin typeface="Cambria Math" panose="02040503050406030204" pitchFamily="18" charset="0"/>
                                    </a:rPr>
                                    <m:t>−</m:t>
                                  </m:r>
                                  <m:r>
                                    <a:rPr lang="en-US" b="0" i="1" smtClean="0">
                                      <a:latin typeface="Cambria Math" panose="02040503050406030204" pitchFamily="18" charset="0"/>
                                    </a:rPr>
                                    <m:t>5</m:t>
                                  </m:r>
                                </m:sup>
                              </m:sSup>
                            </m:num>
                            <m:den>
                              <m:r>
                                <a:rPr lang="es-MX" b="0" i="1" smtClean="0">
                                  <a:latin typeface="Cambria Math" panose="02040503050406030204" pitchFamily="18" charset="0"/>
                                </a:rPr>
                                <m:t>0,08</m:t>
                              </m:r>
                            </m:den>
                          </m:f>
                        </m:e>
                      </m:d>
                      <m:r>
                        <a:rPr lang="es-MX" b="0" i="1" smtClean="0">
                          <a:latin typeface="Cambria Math" panose="02040503050406030204" pitchFamily="18" charset="0"/>
                        </a:rPr>
                        <m:t>=</m:t>
                      </m:r>
                      <m:r>
                        <a:rPr lang="es-MX" b="0" i="0" smtClean="0">
                          <a:latin typeface="Cambria Math" panose="02040503050406030204" pitchFamily="18" charset="0"/>
                        </a:rPr>
                        <m:t>0,519</m:t>
                      </m:r>
                    </m:oMath>
                  </m:oMathPara>
                </a14:m>
                <a:endParaRPr lang="es-MX" dirty="0"/>
              </a:p>
            </p:txBody>
          </p:sp>
        </mc:Choice>
        <mc:Fallback>
          <p:sp>
            <p:nvSpPr>
              <p:cNvPr id="19" name="CuadroTexto 18">
                <a:extLst>
                  <a:ext uri="{FF2B5EF4-FFF2-40B4-BE49-F238E27FC236}">
                    <a16:creationId xmlns:a16="http://schemas.microsoft.com/office/drawing/2014/main" id="{74A7D5AC-8BBE-30CF-78F1-6AD320D4BE10}"/>
                  </a:ext>
                </a:extLst>
              </p:cNvPr>
              <p:cNvSpPr txBox="1">
                <a:spLocks noRot="1" noChangeAspect="1" noMove="1" noResize="1" noEditPoints="1" noAdjustHandles="1" noChangeArrowheads="1" noChangeShapeType="1" noTextEdit="1"/>
              </p:cNvSpPr>
              <p:nvPr/>
            </p:nvSpPr>
            <p:spPr>
              <a:xfrm>
                <a:off x="3119865" y="4656884"/>
                <a:ext cx="6004528" cy="631904"/>
              </a:xfrm>
              <a:prstGeom prst="rect">
                <a:avLst/>
              </a:prstGeom>
              <a:blipFill>
                <a:blip r:embed="rId4"/>
                <a:stretch>
                  <a:fillRect l="-211" r="-422"/>
                </a:stretch>
              </a:blipFill>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20" name="CuadroTexto 19">
                <a:extLst>
                  <a:ext uri="{FF2B5EF4-FFF2-40B4-BE49-F238E27FC236}">
                    <a16:creationId xmlns:a16="http://schemas.microsoft.com/office/drawing/2014/main" id="{C75FF8BC-5F58-A0A8-F41E-1A56E8A1D8ED}"/>
                  </a:ext>
                </a:extLst>
              </p:cNvPr>
              <p:cNvSpPr txBox="1"/>
              <p:nvPr/>
            </p:nvSpPr>
            <p:spPr>
              <a:xfrm>
                <a:off x="3048965" y="6108410"/>
                <a:ext cx="6094070" cy="39312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s-MX" i="1" smtClean="0">
                              <a:latin typeface="Cambria Math" panose="02040503050406030204" pitchFamily="18" charset="0"/>
                            </a:rPr>
                          </m:ctrlPr>
                        </m:sSubPr>
                        <m:e>
                          <m:r>
                            <a:rPr lang="es-MX" b="0" i="1" smtClean="0">
                              <a:latin typeface="Cambria Math" panose="02040503050406030204" pitchFamily="18" charset="0"/>
                            </a:rPr>
                            <m:t>𝑉</m:t>
                          </m:r>
                        </m:e>
                        <m:sub>
                          <m:r>
                            <a:rPr lang="es-MX" b="0" i="1" smtClean="0">
                              <a:latin typeface="Cambria Math" panose="02040503050406030204" pitchFamily="18" charset="0"/>
                            </a:rPr>
                            <m:t>𝑃</m:t>
                          </m:r>
                        </m:sub>
                      </m:sSub>
                      <m:r>
                        <a:rPr lang="es-MX" b="0" i="1" smtClean="0">
                          <a:latin typeface="Cambria Math" panose="02040503050406030204" pitchFamily="18" charset="0"/>
                        </a:rPr>
                        <m:t>=</m:t>
                      </m:r>
                      <m:sSub>
                        <m:sSubPr>
                          <m:ctrlPr>
                            <a:rPr lang="es-MX" i="1">
                              <a:latin typeface="Cambria Math" panose="02040503050406030204" pitchFamily="18" charset="0"/>
                            </a:rPr>
                          </m:ctrlPr>
                        </m:sSubPr>
                        <m:e>
                          <m:sSub>
                            <m:sSubPr>
                              <m:ctrlPr>
                                <a:rPr lang="es-MX" i="1">
                                  <a:latin typeface="Cambria Math" panose="02040503050406030204" pitchFamily="18" charset="0"/>
                                </a:rPr>
                              </m:ctrlPr>
                            </m:sSubPr>
                            <m:e>
                              <m:r>
                                <a:rPr lang="es-MX" i="1">
                                  <a:latin typeface="Cambria Math" panose="02040503050406030204" pitchFamily="18" charset="0"/>
                                </a:rPr>
                                <m:t>𝑉</m:t>
                              </m:r>
                            </m:e>
                            <m:sub>
                              <m:sSub>
                                <m:sSubPr>
                                  <m:ctrlPr>
                                    <a:rPr lang="es-MX" i="1">
                                      <a:latin typeface="Cambria Math" panose="02040503050406030204" pitchFamily="18" charset="0"/>
                                    </a:rPr>
                                  </m:ctrlPr>
                                </m:sSubPr>
                                <m:e>
                                  <m:r>
                                    <a:rPr lang="es-MX" i="1">
                                      <a:latin typeface="Cambria Math" panose="02040503050406030204" pitchFamily="18" charset="0"/>
                                    </a:rPr>
                                    <m:t>𝑃</m:t>
                                  </m:r>
                                </m:e>
                                <m:sub>
                                  <m:r>
                                    <a:rPr lang="es-MX" b="0" i="1" smtClean="0">
                                      <a:latin typeface="Cambria Math" panose="02040503050406030204" pitchFamily="18" charset="0"/>
                                    </a:rPr>
                                    <m:t>1</m:t>
                                  </m:r>
                                </m:sub>
                              </m:sSub>
                            </m:sub>
                          </m:sSub>
                          <m:r>
                            <a:rPr lang="es-MX" b="0" i="1" smtClean="0">
                              <a:latin typeface="Cambria Math" panose="02040503050406030204" pitchFamily="18" charset="0"/>
                            </a:rPr>
                            <m:t>+</m:t>
                          </m:r>
                          <m:r>
                            <a:rPr lang="es-MX" i="1">
                              <a:latin typeface="Cambria Math" panose="02040503050406030204" pitchFamily="18" charset="0"/>
                            </a:rPr>
                            <m:t>𝑉</m:t>
                          </m:r>
                        </m:e>
                        <m:sub>
                          <m:sSub>
                            <m:sSubPr>
                              <m:ctrlPr>
                                <a:rPr lang="es-MX" i="1">
                                  <a:latin typeface="Cambria Math" panose="02040503050406030204" pitchFamily="18" charset="0"/>
                                </a:rPr>
                              </m:ctrlPr>
                            </m:sSubPr>
                            <m:e>
                              <m:r>
                                <a:rPr lang="es-MX" i="1">
                                  <a:latin typeface="Cambria Math" panose="02040503050406030204" pitchFamily="18" charset="0"/>
                                </a:rPr>
                                <m:t>𝑃</m:t>
                              </m:r>
                            </m:e>
                            <m:sub>
                              <m:r>
                                <a:rPr lang="es-MX" i="1">
                                  <a:latin typeface="Cambria Math" panose="02040503050406030204" pitchFamily="18" charset="0"/>
                                </a:rPr>
                                <m:t>2</m:t>
                              </m:r>
                            </m:sub>
                          </m:sSub>
                        </m:sub>
                      </m:sSub>
                      <m:r>
                        <a:rPr lang="es-MX" b="0" i="1" smtClean="0">
                          <a:latin typeface="Cambria Math" panose="02040503050406030204" pitchFamily="18" charset="0"/>
                        </a:rPr>
                        <m:t>=</m:t>
                      </m:r>
                      <m:r>
                        <a:rPr lang="es-MX" b="0" i="0" smtClean="0">
                          <a:latin typeface="Cambria Math" panose="02040503050406030204" pitchFamily="18" charset="0"/>
                        </a:rPr>
                        <m:t>0,227+0,519=0,746</m:t>
                      </m:r>
                    </m:oMath>
                  </m:oMathPara>
                </a14:m>
                <a:endParaRPr lang="es-MX" dirty="0"/>
              </a:p>
            </p:txBody>
          </p:sp>
        </mc:Choice>
        <mc:Fallback xmlns="">
          <p:sp>
            <p:nvSpPr>
              <p:cNvPr id="20" name="CuadroTexto 19">
                <a:extLst>
                  <a:ext uri="{FF2B5EF4-FFF2-40B4-BE49-F238E27FC236}">
                    <a16:creationId xmlns:a16="http://schemas.microsoft.com/office/drawing/2014/main" id="{C75FF8BC-5F58-A0A8-F41E-1A56E8A1D8ED}"/>
                  </a:ext>
                </a:extLst>
              </p:cNvPr>
              <p:cNvSpPr txBox="1">
                <a:spLocks noRot="1" noChangeAspect="1" noMove="1" noResize="1" noEditPoints="1" noAdjustHandles="1" noChangeArrowheads="1" noChangeShapeType="1" noTextEdit="1"/>
              </p:cNvSpPr>
              <p:nvPr/>
            </p:nvSpPr>
            <p:spPr>
              <a:xfrm>
                <a:off x="3048965" y="6108410"/>
                <a:ext cx="6094070" cy="393121"/>
              </a:xfrm>
              <a:prstGeom prst="rect">
                <a:avLst/>
              </a:prstGeom>
              <a:blipFill>
                <a:blip r:embed="rId5"/>
                <a:stretch>
                  <a:fillRect/>
                </a:stretch>
              </a:blipFill>
            </p:spPr>
            <p:txBody>
              <a:bodyPr/>
              <a:lstStyle/>
              <a:p>
                <a:r>
                  <a:rPr lang="es-MX">
                    <a:noFill/>
                  </a:rPr>
                  <a:t> </a:t>
                </a:r>
              </a:p>
            </p:txBody>
          </p:sp>
        </mc:Fallback>
      </mc:AlternateContent>
    </p:spTree>
    <p:extLst>
      <p:ext uri="{BB962C8B-B14F-4D97-AF65-F5344CB8AC3E}">
        <p14:creationId xmlns:p14="http://schemas.microsoft.com/office/powerpoint/2010/main" val="368397165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306E96-3493-477B-450F-0E1375D635F3}"/>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75EB82CF-6BC9-D221-1645-2752B4712199}"/>
              </a:ext>
            </a:extLst>
          </p:cNvPr>
          <p:cNvSpPr>
            <a:spLocks noGrp="1"/>
          </p:cNvSpPr>
          <p:nvPr>
            <p:ph type="title"/>
          </p:nvPr>
        </p:nvSpPr>
        <p:spPr>
          <a:xfrm>
            <a:off x="581192" y="702156"/>
            <a:ext cx="11029616" cy="1013800"/>
          </a:xfrm>
        </p:spPr>
        <p:txBody>
          <a:bodyPr>
            <a:normAutofit/>
          </a:bodyPr>
          <a:lstStyle/>
          <a:p>
            <a:r>
              <a:rPr lang="es-ES_tradnl" sz="3200" dirty="0">
                <a:latin typeface="Gill Sans MT (titulo)"/>
              </a:rPr>
              <a:t>Gradientes aritméticos</a:t>
            </a:r>
          </a:p>
        </p:txBody>
      </p:sp>
      <p:sp>
        <p:nvSpPr>
          <p:cNvPr id="11" name="Rectángulo 10">
            <a:extLst>
              <a:ext uri="{FF2B5EF4-FFF2-40B4-BE49-F238E27FC236}">
                <a16:creationId xmlns:a16="http://schemas.microsoft.com/office/drawing/2014/main" id="{D282BC3A-3FBB-AF73-9241-DF99FD7E35ED}"/>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2" name="Picture 2" descr="Clientes y aliados | Centro de Evaluación | Uniandes">
            <a:extLst>
              <a:ext uri="{FF2B5EF4-FFF2-40B4-BE49-F238E27FC236}">
                <a16:creationId xmlns:a16="http://schemas.microsoft.com/office/drawing/2014/main" id="{C6463CC8-961C-7FC0-3F64-7A087040B03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3" name="Rectángulo 12">
            <a:extLst>
              <a:ext uri="{FF2B5EF4-FFF2-40B4-BE49-F238E27FC236}">
                <a16:creationId xmlns:a16="http://schemas.microsoft.com/office/drawing/2014/main" id="{5C1479E6-55FA-F99D-0A1F-91C6BF04CC55}"/>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2" name="Slide Number Placeholder 3">
            <a:extLst>
              <a:ext uri="{FF2B5EF4-FFF2-40B4-BE49-F238E27FC236}">
                <a16:creationId xmlns:a16="http://schemas.microsoft.com/office/drawing/2014/main" id="{E8D6E653-F44F-0E32-EF5C-35084A572139}"/>
              </a:ext>
            </a:extLst>
          </p:cNvPr>
          <p:cNvSpPr txBox="1">
            <a:spLocks/>
          </p:cNvSpPr>
          <p:nvPr/>
        </p:nvSpPr>
        <p:spPr>
          <a:xfrm>
            <a:off x="10710700" y="6108537"/>
            <a:ext cx="1052508" cy="365125"/>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5E3E23BA-6E79-2442-BA73-D218A5E297C3}" type="slidenum">
              <a:rPr lang="en-US" sz="2000" b="1" smtClean="0">
                <a:latin typeface="Gill Sans MT (Títulos)"/>
              </a:rPr>
              <a:pPr/>
              <a:t>38</a:t>
            </a:fld>
            <a:endParaRPr lang="en-US" sz="2000" b="1" dirty="0">
              <a:latin typeface="Gill Sans MT (Títulos)"/>
            </a:endParaRPr>
          </a:p>
        </p:txBody>
      </p:sp>
      <p:sp>
        <p:nvSpPr>
          <p:cNvPr id="3" name="TextBox 5">
            <a:extLst>
              <a:ext uri="{FF2B5EF4-FFF2-40B4-BE49-F238E27FC236}">
                <a16:creationId xmlns:a16="http://schemas.microsoft.com/office/drawing/2014/main" id="{11CE659F-9555-CAD6-6061-3AE938F24994}"/>
              </a:ext>
            </a:extLst>
          </p:cNvPr>
          <p:cNvSpPr txBox="1"/>
          <p:nvPr/>
        </p:nvSpPr>
        <p:spPr>
          <a:xfrm>
            <a:off x="581191" y="2585595"/>
            <a:ext cx="8523551" cy="15696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lvl="1" indent="-457200" algn="just">
              <a:buClr>
                <a:srgbClr val="D7A700"/>
              </a:buClr>
              <a:buFont typeface="+mj-lt"/>
              <a:buAutoNum type="arabicPeriod" startAt="4"/>
            </a:pPr>
            <a:r>
              <a:rPr lang="es-MX" sz="2400" dirty="0">
                <a:solidFill>
                  <a:srgbClr val="595959"/>
                </a:solidFill>
                <a:latin typeface="Gill Sans MT (Cuerpo)"/>
                <a:cs typeface="Arial"/>
              </a:rPr>
              <a:t>Propuesta alternativa (serie uniforme)</a:t>
            </a:r>
          </a:p>
          <a:p>
            <a:pPr lvl="1" indent="-457200" algn="just">
              <a:buClr>
                <a:srgbClr val="D7A700"/>
              </a:buClr>
              <a:buFont typeface="+mj-lt"/>
              <a:buAutoNum type="arabicPeriod" startAt="4"/>
            </a:pPr>
            <a:endParaRPr lang="es-MX" sz="2400" dirty="0">
              <a:solidFill>
                <a:srgbClr val="595959"/>
              </a:solidFill>
              <a:latin typeface="Gill Sans MT (Cuerpo)"/>
              <a:cs typeface="Arial"/>
            </a:endParaRPr>
          </a:p>
          <a:p>
            <a:pPr lvl="1" indent="-457200" algn="just">
              <a:buClr>
                <a:srgbClr val="D7A700"/>
              </a:buClr>
              <a:buFont typeface="+mj-lt"/>
              <a:buAutoNum type="arabicPeriod" startAt="4"/>
            </a:pPr>
            <a:endParaRPr lang="es-MX" sz="2400" dirty="0">
              <a:solidFill>
                <a:srgbClr val="595959"/>
              </a:solidFill>
              <a:latin typeface="Gill Sans MT (Cuerpo)"/>
              <a:cs typeface="Arial"/>
            </a:endParaRPr>
          </a:p>
          <a:p>
            <a:pPr lvl="1" indent="-457200" algn="just">
              <a:buClr>
                <a:srgbClr val="D7A700"/>
              </a:buClr>
              <a:buFont typeface="+mj-lt"/>
              <a:buAutoNum type="arabicPeriod" startAt="4"/>
            </a:pPr>
            <a:endParaRPr lang="es-MX" sz="2400" dirty="0">
              <a:solidFill>
                <a:srgbClr val="595959"/>
              </a:solidFill>
              <a:latin typeface="Gill Sans MT (Cuerpo)"/>
              <a:cs typeface="Arial"/>
            </a:endParaRPr>
          </a:p>
        </p:txBody>
      </p:sp>
      <mc:AlternateContent xmlns:mc="http://schemas.openxmlformats.org/markup-compatibility/2006" xmlns:a14="http://schemas.microsoft.com/office/drawing/2010/main">
        <mc:Choice Requires="a14">
          <p:sp>
            <p:nvSpPr>
              <p:cNvPr id="4" name="CuadroTexto 3">
                <a:extLst>
                  <a:ext uri="{FF2B5EF4-FFF2-40B4-BE49-F238E27FC236}">
                    <a16:creationId xmlns:a16="http://schemas.microsoft.com/office/drawing/2014/main" id="{D860292E-7328-6B2D-A2E8-0D8C7285F353}"/>
                  </a:ext>
                </a:extLst>
              </p:cNvPr>
              <p:cNvSpPr txBox="1"/>
              <p:nvPr/>
            </p:nvSpPr>
            <p:spPr>
              <a:xfrm>
                <a:off x="1660652" y="3144884"/>
                <a:ext cx="8870697" cy="83497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MX" i="1" smtClean="0">
                              <a:latin typeface="Cambria Math" panose="02040503050406030204" pitchFamily="18" charset="0"/>
                            </a:rPr>
                          </m:ctrlPr>
                        </m:sSubPr>
                        <m:e>
                          <m:r>
                            <a:rPr lang="es-MX" b="0" i="1" smtClean="0">
                              <a:latin typeface="Cambria Math" panose="02040503050406030204" pitchFamily="18" charset="0"/>
                            </a:rPr>
                            <m:t>𝑉</m:t>
                          </m:r>
                        </m:e>
                        <m:sub>
                          <m:r>
                            <a:rPr lang="es-MX" b="0" i="1" smtClean="0">
                              <a:latin typeface="Cambria Math" panose="02040503050406030204" pitchFamily="18" charset="0"/>
                            </a:rPr>
                            <m:t>𝑃</m:t>
                          </m:r>
                        </m:sub>
                      </m:sSub>
                      <m:r>
                        <a:rPr lang="es-MX" b="0" i="1" smtClean="0">
                          <a:latin typeface="Cambria Math" panose="02040503050406030204" pitchFamily="18" charset="0"/>
                        </a:rPr>
                        <m:t>=</m:t>
                      </m:r>
                      <m:d>
                        <m:dPr>
                          <m:ctrlPr>
                            <a:rPr lang="es-MX" b="0" i="1" smtClean="0">
                              <a:latin typeface="Cambria Math" panose="02040503050406030204" pitchFamily="18" charset="0"/>
                            </a:rPr>
                          </m:ctrlPr>
                        </m:dPr>
                        <m:e>
                          <m:r>
                            <a:rPr lang="es-MX" b="0" i="1" smtClean="0">
                              <a:latin typeface="Cambria Math" panose="02040503050406030204" pitchFamily="18" charset="0"/>
                            </a:rPr>
                            <m:t>0,13+</m:t>
                          </m:r>
                          <m:r>
                            <a:rPr lang="es-MX" b="0" i="1" smtClean="0">
                              <a:latin typeface="Cambria Math" panose="02040503050406030204" pitchFamily="18" charset="0"/>
                            </a:rPr>
                            <m:t>𝐴</m:t>
                          </m:r>
                        </m:e>
                      </m:d>
                      <m:d>
                        <m:dPr>
                          <m:ctrlPr>
                            <a:rPr lang="es-MX" i="1">
                              <a:latin typeface="Cambria Math" panose="02040503050406030204" pitchFamily="18" charset="0"/>
                            </a:rPr>
                          </m:ctrlPr>
                        </m:dPr>
                        <m:e>
                          <m:f>
                            <m:fPr>
                              <m:ctrlPr>
                                <a:rPr lang="es-MX" i="1">
                                  <a:latin typeface="Cambria Math" panose="02040503050406030204" pitchFamily="18" charset="0"/>
                                </a:rPr>
                              </m:ctrlPr>
                            </m:fPr>
                            <m:num>
                              <m:sSup>
                                <m:sSupPr>
                                  <m:ctrlPr>
                                    <a:rPr lang="es-MX" i="1">
                                      <a:latin typeface="Cambria Math" panose="02040503050406030204" pitchFamily="18" charset="0"/>
                                    </a:rPr>
                                  </m:ctrlPr>
                                </m:sSupPr>
                                <m:e>
                                  <m:d>
                                    <m:dPr>
                                      <m:ctrlPr>
                                        <a:rPr lang="es-MX" i="1">
                                          <a:latin typeface="Cambria Math" panose="02040503050406030204" pitchFamily="18" charset="0"/>
                                        </a:rPr>
                                      </m:ctrlPr>
                                    </m:dPr>
                                    <m:e>
                                      <m:r>
                                        <a:rPr lang="es-MX" i="1">
                                          <a:latin typeface="Cambria Math" panose="02040503050406030204" pitchFamily="18" charset="0"/>
                                        </a:rPr>
                                        <m:t>1+</m:t>
                                      </m:r>
                                      <m:r>
                                        <a:rPr lang="es-MX" i="1">
                                          <a:latin typeface="Cambria Math" panose="02040503050406030204" pitchFamily="18" charset="0"/>
                                        </a:rPr>
                                        <m:t>𝑖</m:t>
                                      </m:r>
                                    </m:e>
                                  </m:d>
                                </m:e>
                                <m:sup>
                                  <m:r>
                                    <a:rPr lang="es-MX" i="1">
                                      <a:latin typeface="Cambria Math" panose="02040503050406030204" pitchFamily="18" charset="0"/>
                                    </a:rPr>
                                    <m:t>−</m:t>
                                  </m:r>
                                  <m:r>
                                    <a:rPr lang="es-MX" i="1">
                                      <a:latin typeface="Cambria Math" panose="02040503050406030204" pitchFamily="18" charset="0"/>
                                    </a:rPr>
                                    <m:t>𝑛</m:t>
                                  </m:r>
                                </m:sup>
                              </m:sSup>
                              <m:r>
                                <a:rPr lang="es-MX" i="1">
                                  <a:latin typeface="Cambria Math" panose="02040503050406030204" pitchFamily="18" charset="0"/>
                                </a:rPr>
                                <m:t>−1</m:t>
                              </m:r>
                            </m:num>
                            <m:den>
                              <m:r>
                                <a:rPr lang="es-MX" i="1">
                                  <a:latin typeface="Cambria Math" panose="02040503050406030204" pitchFamily="18" charset="0"/>
                                </a:rPr>
                                <m:t>𝑖</m:t>
                              </m:r>
                            </m:den>
                          </m:f>
                        </m:e>
                      </m:d>
                      <m:r>
                        <a:rPr lang="es-MX" i="1" smtClean="0">
                          <a:latin typeface="Cambria Math" panose="02040503050406030204" pitchFamily="18" charset="0"/>
                          <a:ea typeface="Cambria Math" panose="02040503050406030204" pitchFamily="18" charset="0"/>
                        </a:rPr>
                        <m:t>→</m:t>
                      </m:r>
                      <m:r>
                        <a:rPr lang="es-MX" b="0" i="1" smtClean="0">
                          <a:latin typeface="Cambria Math" panose="02040503050406030204" pitchFamily="18" charset="0"/>
                          <a:ea typeface="Cambria Math" panose="02040503050406030204" pitchFamily="18" charset="0"/>
                        </a:rPr>
                        <m:t>𝐴</m:t>
                      </m:r>
                      <m:r>
                        <a:rPr lang="es-MX" b="0" i="1" smtClean="0">
                          <a:latin typeface="Cambria Math" panose="02040503050406030204" pitchFamily="18" charset="0"/>
                          <a:ea typeface="Cambria Math" panose="02040503050406030204" pitchFamily="18" charset="0"/>
                        </a:rPr>
                        <m:t>=</m:t>
                      </m:r>
                      <m:f>
                        <m:fPr>
                          <m:ctrlPr>
                            <a:rPr lang="es-MX" b="0" i="1" smtClean="0">
                              <a:latin typeface="Cambria Math" panose="02040503050406030204" pitchFamily="18" charset="0"/>
                              <a:ea typeface="Cambria Math" panose="02040503050406030204" pitchFamily="18" charset="0"/>
                            </a:rPr>
                          </m:ctrlPr>
                        </m:fPr>
                        <m:num>
                          <m:sSub>
                            <m:sSubPr>
                              <m:ctrlPr>
                                <a:rPr lang="es-MX" i="1">
                                  <a:latin typeface="Cambria Math" panose="02040503050406030204" pitchFamily="18" charset="0"/>
                                </a:rPr>
                              </m:ctrlPr>
                            </m:sSubPr>
                            <m:e>
                              <m:r>
                                <a:rPr lang="es-MX" i="1">
                                  <a:latin typeface="Cambria Math" panose="02040503050406030204" pitchFamily="18" charset="0"/>
                                </a:rPr>
                                <m:t>𝑉</m:t>
                              </m:r>
                            </m:e>
                            <m:sub>
                              <m:r>
                                <a:rPr lang="es-MX" i="1">
                                  <a:latin typeface="Cambria Math" panose="02040503050406030204" pitchFamily="18" charset="0"/>
                                </a:rPr>
                                <m:t>𝑃</m:t>
                              </m:r>
                            </m:sub>
                          </m:sSub>
                        </m:num>
                        <m:den>
                          <m:d>
                            <m:dPr>
                              <m:ctrlPr>
                                <a:rPr lang="es-MX" b="0" i="1" smtClean="0">
                                  <a:latin typeface="Cambria Math" panose="02040503050406030204" pitchFamily="18" charset="0"/>
                                  <a:ea typeface="Cambria Math" panose="02040503050406030204" pitchFamily="18" charset="0"/>
                                </a:rPr>
                              </m:ctrlPr>
                            </m:dPr>
                            <m:e>
                              <m:f>
                                <m:fPr>
                                  <m:ctrlPr>
                                    <a:rPr lang="es-MX" i="1">
                                      <a:latin typeface="Cambria Math" panose="02040503050406030204" pitchFamily="18" charset="0"/>
                                    </a:rPr>
                                  </m:ctrlPr>
                                </m:fPr>
                                <m:num>
                                  <m:sSup>
                                    <m:sSupPr>
                                      <m:ctrlPr>
                                        <a:rPr lang="es-MX" i="1">
                                          <a:latin typeface="Cambria Math" panose="02040503050406030204" pitchFamily="18" charset="0"/>
                                        </a:rPr>
                                      </m:ctrlPr>
                                    </m:sSupPr>
                                    <m:e>
                                      <m:d>
                                        <m:dPr>
                                          <m:ctrlPr>
                                            <a:rPr lang="es-MX" i="1">
                                              <a:latin typeface="Cambria Math" panose="02040503050406030204" pitchFamily="18" charset="0"/>
                                            </a:rPr>
                                          </m:ctrlPr>
                                        </m:dPr>
                                        <m:e>
                                          <m:r>
                                            <a:rPr lang="es-MX" i="1">
                                              <a:latin typeface="Cambria Math" panose="02040503050406030204" pitchFamily="18" charset="0"/>
                                            </a:rPr>
                                            <m:t>1+</m:t>
                                          </m:r>
                                          <m:r>
                                            <a:rPr lang="es-MX" i="1">
                                              <a:latin typeface="Cambria Math" panose="02040503050406030204" pitchFamily="18" charset="0"/>
                                            </a:rPr>
                                            <m:t>𝑖</m:t>
                                          </m:r>
                                        </m:e>
                                      </m:d>
                                    </m:e>
                                    <m:sup>
                                      <m:r>
                                        <a:rPr lang="es-MX" i="1">
                                          <a:latin typeface="Cambria Math" panose="02040503050406030204" pitchFamily="18" charset="0"/>
                                        </a:rPr>
                                        <m:t>−</m:t>
                                      </m:r>
                                      <m:r>
                                        <a:rPr lang="es-MX" i="1">
                                          <a:latin typeface="Cambria Math" panose="02040503050406030204" pitchFamily="18" charset="0"/>
                                        </a:rPr>
                                        <m:t>𝑛</m:t>
                                      </m:r>
                                    </m:sup>
                                  </m:sSup>
                                  <m:r>
                                    <a:rPr lang="es-MX" i="1">
                                      <a:latin typeface="Cambria Math" panose="02040503050406030204" pitchFamily="18" charset="0"/>
                                    </a:rPr>
                                    <m:t>−1</m:t>
                                  </m:r>
                                </m:num>
                                <m:den>
                                  <m:r>
                                    <a:rPr lang="es-MX" i="1">
                                      <a:latin typeface="Cambria Math" panose="02040503050406030204" pitchFamily="18" charset="0"/>
                                    </a:rPr>
                                    <m:t>𝑖</m:t>
                                  </m:r>
                                </m:den>
                              </m:f>
                            </m:e>
                          </m:d>
                        </m:den>
                      </m:f>
                      <m:r>
                        <a:rPr lang="es-MX" b="0" i="1" smtClean="0">
                          <a:latin typeface="Cambria Math" panose="02040503050406030204" pitchFamily="18" charset="0"/>
                          <a:ea typeface="Cambria Math" panose="02040503050406030204" pitchFamily="18" charset="0"/>
                        </a:rPr>
                        <m:t>−0,13</m:t>
                      </m:r>
                      <m:r>
                        <a:rPr lang="es-MX" b="0" i="0" smtClean="0">
                          <a:latin typeface="Cambria Math" panose="02040503050406030204" pitchFamily="18" charset="0"/>
                          <a:ea typeface="Cambria Math" panose="02040503050406030204" pitchFamily="18" charset="0"/>
                        </a:rPr>
                        <m:t>=</m:t>
                      </m:r>
                      <m:f>
                        <m:fPr>
                          <m:ctrlPr>
                            <a:rPr lang="es-MX" b="0" i="1" smtClean="0">
                              <a:latin typeface="Cambria Math" panose="02040503050406030204" pitchFamily="18" charset="0"/>
                              <a:ea typeface="Cambria Math" panose="02040503050406030204" pitchFamily="18" charset="0"/>
                            </a:rPr>
                          </m:ctrlPr>
                        </m:fPr>
                        <m:num>
                          <m:r>
                            <a:rPr lang="es-MX" b="0" i="1" smtClean="0">
                              <a:latin typeface="Cambria Math" panose="02040503050406030204" pitchFamily="18" charset="0"/>
                              <a:ea typeface="Cambria Math" panose="02040503050406030204" pitchFamily="18" charset="0"/>
                            </a:rPr>
                            <m:t>0,746</m:t>
                          </m:r>
                        </m:num>
                        <m:den>
                          <m:r>
                            <a:rPr lang="es-MX" b="0" i="1" smtClean="0">
                              <a:latin typeface="Cambria Math" panose="02040503050406030204" pitchFamily="18" charset="0"/>
                              <a:ea typeface="Cambria Math" panose="02040503050406030204" pitchFamily="18" charset="0"/>
                            </a:rPr>
                            <m:t>3,9927</m:t>
                          </m:r>
                        </m:den>
                      </m:f>
                      <m:r>
                        <a:rPr lang="es-MX" b="0" i="1" smtClean="0">
                          <a:latin typeface="Cambria Math" panose="02040503050406030204" pitchFamily="18" charset="0"/>
                          <a:ea typeface="Cambria Math" panose="02040503050406030204" pitchFamily="18" charset="0"/>
                        </a:rPr>
                        <m:t>−0,13=0,055</m:t>
                      </m:r>
                    </m:oMath>
                  </m:oMathPara>
                </a14:m>
                <a:endParaRPr lang="es-MX" dirty="0"/>
              </a:p>
            </p:txBody>
          </p:sp>
        </mc:Choice>
        <mc:Fallback xmlns="">
          <p:sp>
            <p:nvSpPr>
              <p:cNvPr id="4" name="CuadroTexto 3">
                <a:extLst>
                  <a:ext uri="{FF2B5EF4-FFF2-40B4-BE49-F238E27FC236}">
                    <a16:creationId xmlns:a16="http://schemas.microsoft.com/office/drawing/2014/main" id="{D860292E-7328-6B2D-A2E8-0D8C7285F353}"/>
                  </a:ext>
                </a:extLst>
              </p:cNvPr>
              <p:cNvSpPr txBox="1">
                <a:spLocks noRot="1" noChangeAspect="1" noMove="1" noResize="1" noEditPoints="1" noAdjustHandles="1" noChangeArrowheads="1" noChangeShapeType="1" noTextEdit="1"/>
              </p:cNvSpPr>
              <p:nvPr/>
            </p:nvSpPr>
            <p:spPr>
              <a:xfrm>
                <a:off x="1660652" y="3144884"/>
                <a:ext cx="8870697" cy="834972"/>
              </a:xfrm>
              <a:prstGeom prst="rect">
                <a:avLst/>
              </a:prstGeom>
              <a:blipFill>
                <a:blip r:embed="rId3"/>
                <a:stretch>
                  <a:fillRect/>
                </a:stretch>
              </a:blipFill>
            </p:spPr>
            <p:txBody>
              <a:bodyPr/>
              <a:lstStyle/>
              <a:p>
                <a:r>
                  <a:rPr lang="es-MX">
                    <a:noFill/>
                  </a:rPr>
                  <a:t> </a:t>
                </a:r>
              </a:p>
            </p:txBody>
          </p:sp>
        </mc:Fallback>
      </mc:AlternateContent>
    </p:spTree>
    <p:extLst>
      <p:ext uri="{BB962C8B-B14F-4D97-AF65-F5344CB8AC3E}">
        <p14:creationId xmlns:p14="http://schemas.microsoft.com/office/powerpoint/2010/main" val="257475624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733519-8D08-8F24-D89F-B4310935A714}"/>
            </a:ext>
          </a:extLst>
        </p:cNvPr>
        <p:cNvGrpSpPr/>
        <p:nvPr/>
      </p:nvGrpSpPr>
      <p:grpSpPr>
        <a:xfrm>
          <a:off x="0" y="0"/>
          <a:ext cx="0" cy="0"/>
          <a:chOff x="0" y="0"/>
          <a:chExt cx="0" cy="0"/>
        </a:xfrm>
      </p:grpSpPr>
      <p:cxnSp>
        <p:nvCxnSpPr>
          <p:cNvPr id="5" name="Straight Connector 6">
            <a:extLst>
              <a:ext uri="{FF2B5EF4-FFF2-40B4-BE49-F238E27FC236}">
                <a16:creationId xmlns:a16="http://schemas.microsoft.com/office/drawing/2014/main" id="{175E0D4A-58E7-682D-B32E-D45DF99CC621}"/>
              </a:ext>
            </a:extLst>
          </p:cNvPr>
          <p:cNvCxnSpPr>
            <a:stCxn id="15" idx="0"/>
          </p:cNvCxnSpPr>
          <p:nvPr/>
        </p:nvCxnSpPr>
        <p:spPr>
          <a:xfrm>
            <a:off x="3522148" y="3535464"/>
            <a:ext cx="4993456" cy="47793"/>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8" name="Straight Arrow Connector 11">
            <a:extLst>
              <a:ext uri="{FF2B5EF4-FFF2-40B4-BE49-F238E27FC236}">
                <a16:creationId xmlns:a16="http://schemas.microsoft.com/office/drawing/2014/main" id="{4508F29C-5341-F837-98EA-A3ED7A63308D}"/>
              </a:ext>
            </a:extLst>
          </p:cNvPr>
          <p:cNvCxnSpPr/>
          <p:nvPr/>
        </p:nvCxnSpPr>
        <p:spPr>
          <a:xfrm flipV="1">
            <a:off x="4597807" y="3038795"/>
            <a:ext cx="0" cy="552276"/>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9" name="Straight Arrow Connector 12">
            <a:extLst>
              <a:ext uri="{FF2B5EF4-FFF2-40B4-BE49-F238E27FC236}">
                <a16:creationId xmlns:a16="http://schemas.microsoft.com/office/drawing/2014/main" id="{6EDAC478-0226-B1E2-E641-EED5AF81C616}"/>
              </a:ext>
            </a:extLst>
          </p:cNvPr>
          <p:cNvCxnSpPr/>
          <p:nvPr/>
        </p:nvCxnSpPr>
        <p:spPr>
          <a:xfrm flipV="1">
            <a:off x="5657281" y="2923334"/>
            <a:ext cx="0" cy="667737"/>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10" name="Straight Arrow Connector 13">
            <a:extLst>
              <a:ext uri="{FF2B5EF4-FFF2-40B4-BE49-F238E27FC236}">
                <a16:creationId xmlns:a16="http://schemas.microsoft.com/office/drawing/2014/main" id="{29823AF4-68A6-C40A-C09E-C7093D9B023B}"/>
              </a:ext>
            </a:extLst>
          </p:cNvPr>
          <p:cNvCxnSpPr/>
          <p:nvPr/>
        </p:nvCxnSpPr>
        <p:spPr>
          <a:xfrm flipV="1">
            <a:off x="6663143" y="2756574"/>
            <a:ext cx="0" cy="834497"/>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14" name="Rectangle 35">
            <a:extLst>
              <a:ext uri="{FF2B5EF4-FFF2-40B4-BE49-F238E27FC236}">
                <a16:creationId xmlns:a16="http://schemas.microsoft.com/office/drawing/2014/main" id="{242316FD-8FDD-B075-D8F4-DC32860BDE90}"/>
              </a:ext>
            </a:extLst>
          </p:cNvPr>
          <p:cNvSpPr>
            <a:spLocks/>
          </p:cNvSpPr>
          <p:nvPr/>
        </p:nvSpPr>
        <p:spPr bwMode="auto">
          <a:xfrm>
            <a:off x="3009133" y="3199164"/>
            <a:ext cx="65"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endParaRPr lang="en-US" sz="1600"/>
          </a:p>
        </p:txBody>
      </p:sp>
      <p:sp>
        <p:nvSpPr>
          <p:cNvPr id="15" name="Rectangle 36">
            <a:extLst>
              <a:ext uri="{FF2B5EF4-FFF2-40B4-BE49-F238E27FC236}">
                <a16:creationId xmlns:a16="http://schemas.microsoft.com/office/drawing/2014/main" id="{7E2358AB-4BEF-A653-6F35-7CAB9736ABC2}"/>
              </a:ext>
            </a:extLst>
          </p:cNvPr>
          <p:cNvSpPr>
            <a:spLocks/>
          </p:cNvSpPr>
          <p:nvPr/>
        </p:nvSpPr>
        <p:spPr bwMode="auto">
          <a:xfrm>
            <a:off x="3353618" y="3535464"/>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0</a:t>
            </a:r>
          </a:p>
        </p:txBody>
      </p:sp>
      <p:sp>
        <p:nvSpPr>
          <p:cNvPr id="16" name="Rectangle 37">
            <a:extLst>
              <a:ext uri="{FF2B5EF4-FFF2-40B4-BE49-F238E27FC236}">
                <a16:creationId xmlns:a16="http://schemas.microsoft.com/office/drawing/2014/main" id="{5520C3C5-4B5F-1397-B994-CEDCA2812869}"/>
              </a:ext>
            </a:extLst>
          </p:cNvPr>
          <p:cNvSpPr>
            <a:spLocks/>
          </p:cNvSpPr>
          <p:nvPr/>
        </p:nvSpPr>
        <p:spPr bwMode="auto">
          <a:xfrm>
            <a:off x="4442106" y="3535464"/>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a:t>
            </a:r>
          </a:p>
        </p:txBody>
      </p:sp>
      <p:sp>
        <p:nvSpPr>
          <p:cNvPr id="17" name="Rectangle 38">
            <a:extLst>
              <a:ext uri="{FF2B5EF4-FFF2-40B4-BE49-F238E27FC236}">
                <a16:creationId xmlns:a16="http://schemas.microsoft.com/office/drawing/2014/main" id="{F8A0B610-C6EF-6AA1-89CA-ED9F2DE2F68F}"/>
              </a:ext>
            </a:extLst>
          </p:cNvPr>
          <p:cNvSpPr>
            <a:spLocks/>
          </p:cNvSpPr>
          <p:nvPr/>
        </p:nvSpPr>
        <p:spPr bwMode="auto">
          <a:xfrm>
            <a:off x="5501580" y="3549421"/>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2</a:t>
            </a:r>
          </a:p>
        </p:txBody>
      </p:sp>
      <p:sp>
        <p:nvSpPr>
          <p:cNvPr id="18" name="Rectangle 39">
            <a:extLst>
              <a:ext uri="{FF2B5EF4-FFF2-40B4-BE49-F238E27FC236}">
                <a16:creationId xmlns:a16="http://schemas.microsoft.com/office/drawing/2014/main" id="{BFA492EE-6976-3051-5D05-1157D32F02E7}"/>
              </a:ext>
            </a:extLst>
          </p:cNvPr>
          <p:cNvSpPr>
            <a:spLocks/>
          </p:cNvSpPr>
          <p:nvPr/>
        </p:nvSpPr>
        <p:spPr bwMode="auto">
          <a:xfrm>
            <a:off x="6507442" y="3565878"/>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3</a:t>
            </a:r>
          </a:p>
        </p:txBody>
      </p:sp>
      <p:sp>
        <p:nvSpPr>
          <p:cNvPr id="21" name="Rectangle 42">
            <a:extLst>
              <a:ext uri="{FF2B5EF4-FFF2-40B4-BE49-F238E27FC236}">
                <a16:creationId xmlns:a16="http://schemas.microsoft.com/office/drawing/2014/main" id="{86EEB27B-744F-4FA2-88A2-8357377981E5}"/>
              </a:ext>
            </a:extLst>
          </p:cNvPr>
          <p:cNvSpPr>
            <a:spLocks/>
          </p:cNvSpPr>
          <p:nvPr/>
        </p:nvSpPr>
        <p:spPr bwMode="auto">
          <a:xfrm>
            <a:off x="645894" y="1988979"/>
            <a:ext cx="3118295" cy="36933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r>
              <a:rPr lang="es-ES_tradnl" sz="2400" dirty="0">
                <a:solidFill>
                  <a:srgbClr val="800000"/>
                </a:solidFill>
              </a:rPr>
              <a:t>CODENSA</a:t>
            </a:r>
          </a:p>
        </p:txBody>
      </p:sp>
      <p:sp>
        <p:nvSpPr>
          <p:cNvPr id="62" name="Rectangle 35">
            <a:extLst>
              <a:ext uri="{FF2B5EF4-FFF2-40B4-BE49-F238E27FC236}">
                <a16:creationId xmlns:a16="http://schemas.microsoft.com/office/drawing/2014/main" id="{F22F9F43-642C-E99D-5F61-5B8F6CD3565A}"/>
              </a:ext>
            </a:extLst>
          </p:cNvPr>
          <p:cNvSpPr>
            <a:spLocks/>
          </p:cNvSpPr>
          <p:nvPr/>
        </p:nvSpPr>
        <p:spPr bwMode="auto">
          <a:xfrm>
            <a:off x="4418850" y="2743375"/>
            <a:ext cx="44082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0,13</a:t>
            </a:r>
          </a:p>
        </p:txBody>
      </p:sp>
      <p:sp>
        <p:nvSpPr>
          <p:cNvPr id="63" name="Rectangle 35">
            <a:extLst>
              <a:ext uri="{FF2B5EF4-FFF2-40B4-BE49-F238E27FC236}">
                <a16:creationId xmlns:a16="http://schemas.microsoft.com/office/drawing/2014/main" id="{6227D344-AB69-611B-AE0D-3741707F61CD}"/>
              </a:ext>
            </a:extLst>
          </p:cNvPr>
          <p:cNvSpPr>
            <a:spLocks/>
          </p:cNvSpPr>
          <p:nvPr/>
        </p:nvSpPr>
        <p:spPr bwMode="auto">
          <a:xfrm>
            <a:off x="5475357" y="2620264"/>
            <a:ext cx="44082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0,16</a:t>
            </a:r>
          </a:p>
        </p:txBody>
      </p:sp>
      <p:sp>
        <p:nvSpPr>
          <p:cNvPr id="64" name="Rectangle 35">
            <a:extLst>
              <a:ext uri="{FF2B5EF4-FFF2-40B4-BE49-F238E27FC236}">
                <a16:creationId xmlns:a16="http://schemas.microsoft.com/office/drawing/2014/main" id="{0224944D-ED2D-144C-892C-F86F2E597613}"/>
              </a:ext>
            </a:extLst>
          </p:cNvPr>
          <p:cNvSpPr>
            <a:spLocks/>
          </p:cNvSpPr>
          <p:nvPr/>
        </p:nvSpPr>
        <p:spPr bwMode="auto">
          <a:xfrm>
            <a:off x="6478252" y="2482073"/>
            <a:ext cx="44082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0,19</a:t>
            </a:r>
          </a:p>
        </p:txBody>
      </p:sp>
      <p:cxnSp>
        <p:nvCxnSpPr>
          <p:cNvPr id="26" name="Straight Connector 6">
            <a:extLst>
              <a:ext uri="{FF2B5EF4-FFF2-40B4-BE49-F238E27FC236}">
                <a16:creationId xmlns:a16="http://schemas.microsoft.com/office/drawing/2014/main" id="{8274FC88-0F10-63E3-F859-6DD05E0D65A0}"/>
              </a:ext>
            </a:extLst>
          </p:cNvPr>
          <p:cNvCxnSpPr>
            <a:stCxn id="33" idx="0"/>
          </p:cNvCxnSpPr>
          <p:nvPr/>
        </p:nvCxnSpPr>
        <p:spPr>
          <a:xfrm>
            <a:off x="3512237" y="5525917"/>
            <a:ext cx="4847664" cy="30777"/>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8" name="Straight Arrow Connector 11">
            <a:extLst>
              <a:ext uri="{FF2B5EF4-FFF2-40B4-BE49-F238E27FC236}">
                <a16:creationId xmlns:a16="http://schemas.microsoft.com/office/drawing/2014/main" id="{6C237204-F87A-4F17-D320-8C95FB5FEAB4}"/>
              </a:ext>
            </a:extLst>
          </p:cNvPr>
          <p:cNvCxnSpPr>
            <a:cxnSpLocks/>
          </p:cNvCxnSpPr>
          <p:nvPr/>
        </p:nvCxnSpPr>
        <p:spPr>
          <a:xfrm flipV="1">
            <a:off x="4587896" y="5029248"/>
            <a:ext cx="0" cy="552276"/>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29" name="Straight Arrow Connector 12">
            <a:extLst>
              <a:ext uri="{FF2B5EF4-FFF2-40B4-BE49-F238E27FC236}">
                <a16:creationId xmlns:a16="http://schemas.microsoft.com/office/drawing/2014/main" id="{23689F4F-613C-5502-91BA-AF9CADF971F0}"/>
              </a:ext>
            </a:extLst>
          </p:cNvPr>
          <p:cNvCxnSpPr>
            <a:cxnSpLocks/>
          </p:cNvCxnSpPr>
          <p:nvPr/>
        </p:nvCxnSpPr>
        <p:spPr>
          <a:xfrm flipV="1">
            <a:off x="5647370" y="5029248"/>
            <a:ext cx="0" cy="552276"/>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30" name="Straight Arrow Connector 13">
            <a:extLst>
              <a:ext uri="{FF2B5EF4-FFF2-40B4-BE49-F238E27FC236}">
                <a16:creationId xmlns:a16="http://schemas.microsoft.com/office/drawing/2014/main" id="{B6569368-B95A-13B5-58FF-82B372326D16}"/>
              </a:ext>
            </a:extLst>
          </p:cNvPr>
          <p:cNvCxnSpPr>
            <a:cxnSpLocks/>
          </p:cNvCxnSpPr>
          <p:nvPr/>
        </p:nvCxnSpPr>
        <p:spPr>
          <a:xfrm flipV="1">
            <a:off x="6653232" y="5029248"/>
            <a:ext cx="0" cy="552276"/>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33" name="Rectangle 36">
            <a:extLst>
              <a:ext uri="{FF2B5EF4-FFF2-40B4-BE49-F238E27FC236}">
                <a16:creationId xmlns:a16="http://schemas.microsoft.com/office/drawing/2014/main" id="{3FC4D29A-C806-6F1E-CB10-167CCA306B1D}"/>
              </a:ext>
            </a:extLst>
          </p:cNvPr>
          <p:cNvSpPr>
            <a:spLocks/>
          </p:cNvSpPr>
          <p:nvPr/>
        </p:nvSpPr>
        <p:spPr bwMode="auto">
          <a:xfrm>
            <a:off x="3343707" y="5525917"/>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0</a:t>
            </a:r>
          </a:p>
        </p:txBody>
      </p:sp>
      <p:sp>
        <p:nvSpPr>
          <p:cNvPr id="34" name="Rectangle 37">
            <a:extLst>
              <a:ext uri="{FF2B5EF4-FFF2-40B4-BE49-F238E27FC236}">
                <a16:creationId xmlns:a16="http://schemas.microsoft.com/office/drawing/2014/main" id="{4244C5A6-093D-94D9-6EA0-5A3EAE7A2E40}"/>
              </a:ext>
            </a:extLst>
          </p:cNvPr>
          <p:cNvSpPr>
            <a:spLocks/>
          </p:cNvSpPr>
          <p:nvPr/>
        </p:nvSpPr>
        <p:spPr bwMode="auto">
          <a:xfrm>
            <a:off x="4432195" y="5525917"/>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a:t>
            </a:r>
          </a:p>
        </p:txBody>
      </p:sp>
      <p:sp>
        <p:nvSpPr>
          <p:cNvPr id="35" name="Rectangle 38">
            <a:extLst>
              <a:ext uri="{FF2B5EF4-FFF2-40B4-BE49-F238E27FC236}">
                <a16:creationId xmlns:a16="http://schemas.microsoft.com/office/drawing/2014/main" id="{15E328A1-6387-B5A3-CBF5-B18DC00D4D50}"/>
              </a:ext>
            </a:extLst>
          </p:cNvPr>
          <p:cNvSpPr>
            <a:spLocks/>
          </p:cNvSpPr>
          <p:nvPr/>
        </p:nvSpPr>
        <p:spPr bwMode="auto">
          <a:xfrm>
            <a:off x="5491669" y="5539874"/>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2</a:t>
            </a:r>
          </a:p>
        </p:txBody>
      </p:sp>
      <p:sp>
        <p:nvSpPr>
          <p:cNvPr id="36" name="Rectangle 39">
            <a:extLst>
              <a:ext uri="{FF2B5EF4-FFF2-40B4-BE49-F238E27FC236}">
                <a16:creationId xmlns:a16="http://schemas.microsoft.com/office/drawing/2014/main" id="{44223A35-1C8B-5CFE-9B28-FA24AE8DB2E7}"/>
              </a:ext>
            </a:extLst>
          </p:cNvPr>
          <p:cNvSpPr>
            <a:spLocks/>
          </p:cNvSpPr>
          <p:nvPr/>
        </p:nvSpPr>
        <p:spPr bwMode="auto">
          <a:xfrm>
            <a:off x="6497531" y="5556331"/>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3</a:t>
            </a:r>
          </a:p>
        </p:txBody>
      </p:sp>
      <p:sp>
        <p:nvSpPr>
          <p:cNvPr id="38" name="Rectangle 42">
            <a:extLst>
              <a:ext uri="{FF2B5EF4-FFF2-40B4-BE49-F238E27FC236}">
                <a16:creationId xmlns:a16="http://schemas.microsoft.com/office/drawing/2014/main" id="{231E5E36-8568-AF8E-959C-B54660A0D224}"/>
              </a:ext>
            </a:extLst>
          </p:cNvPr>
          <p:cNvSpPr>
            <a:spLocks/>
          </p:cNvSpPr>
          <p:nvPr/>
        </p:nvSpPr>
        <p:spPr bwMode="auto">
          <a:xfrm>
            <a:off x="641965" y="4004014"/>
            <a:ext cx="3118295" cy="36933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r>
              <a:rPr lang="es-ES_tradnl" sz="2400" dirty="0">
                <a:solidFill>
                  <a:srgbClr val="800000"/>
                </a:solidFill>
              </a:rPr>
              <a:t>Propuesta</a:t>
            </a:r>
          </a:p>
        </p:txBody>
      </p:sp>
      <p:sp>
        <p:nvSpPr>
          <p:cNvPr id="40" name="Rectangle 35">
            <a:extLst>
              <a:ext uri="{FF2B5EF4-FFF2-40B4-BE49-F238E27FC236}">
                <a16:creationId xmlns:a16="http://schemas.microsoft.com/office/drawing/2014/main" id="{5F4019B4-116B-0CC4-8A16-DFC30C688460}"/>
              </a:ext>
            </a:extLst>
          </p:cNvPr>
          <p:cNvSpPr>
            <a:spLocks/>
          </p:cNvSpPr>
          <p:nvPr/>
        </p:nvSpPr>
        <p:spPr bwMode="auto">
          <a:xfrm>
            <a:off x="5554687" y="4613684"/>
            <a:ext cx="1082625"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0,13 + A</a:t>
            </a:r>
          </a:p>
        </p:txBody>
      </p:sp>
      <p:sp>
        <p:nvSpPr>
          <p:cNvPr id="37" name="Rectangle 39">
            <a:extLst>
              <a:ext uri="{FF2B5EF4-FFF2-40B4-BE49-F238E27FC236}">
                <a16:creationId xmlns:a16="http://schemas.microsoft.com/office/drawing/2014/main" id="{D083FDBB-3456-177D-573E-2DCF561128DB}"/>
              </a:ext>
            </a:extLst>
          </p:cNvPr>
          <p:cNvSpPr>
            <a:spLocks/>
          </p:cNvSpPr>
          <p:nvPr/>
        </p:nvSpPr>
        <p:spPr bwMode="auto">
          <a:xfrm>
            <a:off x="7449375" y="3549421"/>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4</a:t>
            </a:r>
          </a:p>
        </p:txBody>
      </p:sp>
      <p:cxnSp>
        <p:nvCxnSpPr>
          <p:cNvPr id="41" name="Straight Arrow Connector 13">
            <a:extLst>
              <a:ext uri="{FF2B5EF4-FFF2-40B4-BE49-F238E27FC236}">
                <a16:creationId xmlns:a16="http://schemas.microsoft.com/office/drawing/2014/main" id="{EF387F40-FB7F-3AD6-42EF-F03AE74D5E03}"/>
              </a:ext>
            </a:extLst>
          </p:cNvPr>
          <p:cNvCxnSpPr/>
          <p:nvPr/>
        </p:nvCxnSpPr>
        <p:spPr>
          <a:xfrm flipV="1">
            <a:off x="7622241" y="2512851"/>
            <a:ext cx="0" cy="107822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42" name="Rectangle 35">
            <a:extLst>
              <a:ext uri="{FF2B5EF4-FFF2-40B4-BE49-F238E27FC236}">
                <a16:creationId xmlns:a16="http://schemas.microsoft.com/office/drawing/2014/main" id="{ECFFE6EE-B3E8-BDCD-0C52-DBFA12372BFF}"/>
              </a:ext>
            </a:extLst>
          </p:cNvPr>
          <p:cNvSpPr>
            <a:spLocks/>
          </p:cNvSpPr>
          <p:nvPr/>
        </p:nvSpPr>
        <p:spPr bwMode="auto">
          <a:xfrm>
            <a:off x="7421290" y="2161372"/>
            <a:ext cx="44082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0,22</a:t>
            </a:r>
          </a:p>
        </p:txBody>
      </p:sp>
      <p:cxnSp>
        <p:nvCxnSpPr>
          <p:cNvPr id="43" name="Straight Arrow Connector 13">
            <a:extLst>
              <a:ext uri="{FF2B5EF4-FFF2-40B4-BE49-F238E27FC236}">
                <a16:creationId xmlns:a16="http://schemas.microsoft.com/office/drawing/2014/main" id="{799D766C-37C4-B450-6D38-F288344B0A9C}"/>
              </a:ext>
            </a:extLst>
          </p:cNvPr>
          <p:cNvCxnSpPr>
            <a:cxnSpLocks/>
          </p:cNvCxnSpPr>
          <p:nvPr/>
        </p:nvCxnSpPr>
        <p:spPr>
          <a:xfrm flipV="1">
            <a:off x="7436544" y="5029248"/>
            <a:ext cx="0" cy="552276"/>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45" name="Rectangle 39">
            <a:extLst>
              <a:ext uri="{FF2B5EF4-FFF2-40B4-BE49-F238E27FC236}">
                <a16:creationId xmlns:a16="http://schemas.microsoft.com/office/drawing/2014/main" id="{C1D08C43-ABB7-055C-1FB7-8E92FFE3161D}"/>
              </a:ext>
            </a:extLst>
          </p:cNvPr>
          <p:cNvSpPr>
            <a:spLocks/>
          </p:cNvSpPr>
          <p:nvPr/>
        </p:nvSpPr>
        <p:spPr bwMode="auto">
          <a:xfrm>
            <a:off x="7250850" y="5590593"/>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4</a:t>
            </a:r>
          </a:p>
        </p:txBody>
      </p:sp>
      <p:sp>
        <p:nvSpPr>
          <p:cNvPr id="39" name="Rectangle 39">
            <a:extLst>
              <a:ext uri="{FF2B5EF4-FFF2-40B4-BE49-F238E27FC236}">
                <a16:creationId xmlns:a16="http://schemas.microsoft.com/office/drawing/2014/main" id="{9DAA0BF2-FED2-FAF1-DD82-2F653965151D}"/>
              </a:ext>
            </a:extLst>
          </p:cNvPr>
          <p:cNvSpPr>
            <a:spLocks/>
          </p:cNvSpPr>
          <p:nvPr/>
        </p:nvSpPr>
        <p:spPr bwMode="auto">
          <a:xfrm>
            <a:off x="8269223" y="3549420"/>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5</a:t>
            </a:r>
          </a:p>
        </p:txBody>
      </p:sp>
      <p:cxnSp>
        <p:nvCxnSpPr>
          <p:cNvPr id="48" name="Straight Arrow Connector 13">
            <a:extLst>
              <a:ext uri="{FF2B5EF4-FFF2-40B4-BE49-F238E27FC236}">
                <a16:creationId xmlns:a16="http://schemas.microsoft.com/office/drawing/2014/main" id="{8F05741C-466F-59D2-3855-532E57A6F5CD}"/>
              </a:ext>
            </a:extLst>
          </p:cNvPr>
          <p:cNvCxnSpPr/>
          <p:nvPr/>
        </p:nvCxnSpPr>
        <p:spPr>
          <a:xfrm flipV="1">
            <a:off x="8437753" y="2192150"/>
            <a:ext cx="0" cy="1367335"/>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49" name="Rectangle 35">
            <a:extLst>
              <a:ext uri="{FF2B5EF4-FFF2-40B4-BE49-F238E27FC236}">
                <a16:creationId xmlns:a16="http://schemas.microsoft.com/office/drawing/2014/main" id="{A25905D0-BC18-1A33-1330-6EECFA676974}"/>
              </a:ext>
            </a:extLst>
          </p:cNvPr>
          <p:cNvSpPr>
            <a:spLocks/>
          </p:cNvSpPr>
          <p:nvPr/>
        </p:nvSpPr>
        <p:spPr bwMode="auto">
          <a:xfrm>
            <a:off x="8217341" y="1874891"/>
            <a:ext cx="44082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dirty="0"/>
              <a:t>0,25</a:t>
            </a:r>
          </a:p>
        </p:txBody>
      </p:sp>
      <p:sp>
        <p:nvSpPr>
          <p:cNvPr id="50" name="Rectangle 39">
            <a:extLst>
              <a:ext uri="{FF2B5EF4-FFF2-40B4-BE49-F238E27FC236}">
                <a16:creationId xmlns:a16="http://schemas.microsoft.com/office/drawing/2014/main" id="{515F9220-6005-FEA4-53F1-A9256248A3E6}"/>
              </a:ext>
            </a:extLst>
          </p:cNvPr>
          <p:cNvSpPr>
            <a:spLocks/>
          </p:cNvSpPr>
          <p:nvPr/>
        </p:nvSpPr>
        <p:spPr bwMode="auto">
          <a:xfrm>
            <a:off x="8100693" y="5586990"/>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5</a:t>
            </a:r>
          </a:p>
        </p:txBody>
      </p:sp>
      <p:cxnSp>
        <p:nvCxnSpPr>
          <p:cNvPr id="51" name="Straight Arrow Connector 13">
            <a:extLst>
              <a:ext uri="{FF2B5EF4-FFF2-40B4-BE49-F238E27FC236}">
                <a16:creationId xmlns:a16="http://schemas.microsoft.com/office/drawing/2014/main" id="{C821D442-7EEB-FA46-55BE-28836D1B38D2}"/>
              </a:ext>
            </a:extLst>
          </p:cNvPr>
          <p:cNvCxnSpPr>
            <a:cxnSpLocks/>
          </p:cNvCxnSpPr>
          <p:nvPr/>
        </p:nvCxnSpPr>
        <p:spPr>
          <a:xfrm flipV="1">
            <a:off x="8290296" y="5018533"/>
            <a:ext cx="0" cy="552276"/>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53" name="Straight Arrow Connector 13">
            <a:extLst>
              <a:ext uri="{FF2B5EF4-FFF2-40B4-BE49-F238E27FC236}">
                <a16:creationId xmlns:a16="http://schemas.microsoft.com/office/drawing/2014/main" id="{22CBEF4C-9435-E365-B137-5B2FE53D5586}"/>
              </a:ext>
            </a:extLst>
          </p:cNvPr>
          <p:cNvCxnSpPr>
            <a:cxnSpLocks/>
          </p:cNvCxnSpPr>
          <p:nvPr/>
        </p:nvCxnSpPr>
        <p:spPr>
          <a:xfrm>
            <a:off x="4589780" y="5037826"/>
            <a:ext cx="3700516" cy="0"/>
          </a:xfrm>
          <a:prstGeom prst="straightConnector1">
            <a:avLst/>
          </a:prstGeom>
          <a:ln>
            <a:solidFill>
              <a:schemeClr val="accent2"/>
            </a:solidFill>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7" name="Title 1">
            <a:extLst>
              <a:ext uri="{FF2B5EF4-FFF2-40B4-BE49-F238E27FC236}">
                <a16:creationId xmlns:a16="http://schemas.microsoft.com/office/drawing/2014/main" id="{FDB9971D-BF1F-58B8-35B4-E50C69E23BCD}"/>
              </a:ext>
            </a:extLst>
          </p:cNvPr>
          <p:cNvSpPr>
            <a:spLocks noGrp="1"/>
          </p:cNvSpPr>
          <p:nvPr>
            <p:ph type="title"/>
          </p:nvPr>
        </p:nvSpPr>
        <p:spPr>
          <a:xfrm>
            <a:off x="581192" y="702156"/>
            <a:ext cx="11029616" cy="1013800"/>
          </a:xfrm>
        </p:spPr>
        <p:txBody>
          <a:bodyPr>
            <a:normAutofit/>
          </a:bodyPr>
          <a:lstStyle/>
          <a:p>
            <a:r>
              <a:rPr lang="es-ES_tradnl" sz="3200" dirty="0">
                <a:latin typeface="Gill Sans MT (titulo)"/>
              </a:rPr>
              <a:t>Gradientes aritméticos</a:t>
            </a:r>
          </a:p>
        </p:txBody>
      </p:sp>
      <p:sp>
        <p:nvSpPr>
          <p:cNvPr id="11" name="Rectángulo 10">
            <a:extLst>
              <a:ext uri="{FF2B5EF4-FFF2-40B4-BE49-F238E27FC236}">
                <a16:creationId xmlns:a16="http://schemas.microsoft.com/office/drawing/2014/main" id="{828F9DF3-8C16-3280-7D76-C9ACE152B39A}"/>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2" name="Picture 2" descr="Clientes y aliados | Centro de Evaluación | Uniandes">
            <a:extLst>
              <a:ext uri="{FF2B5EF4-FFF2-40B4-BE49-F238E27FC236}">
                <a16:creationId xmlns:a16="http://schemas.microsoft.com/office/drawing/2014/main" id="{D8D9E73A-7244-3816-E359-995A1B5538D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3" name="Rectángulo 12">
            <a:extLst>
              <a:ext uri="{FF2B5EF4-FFF2-40B4-BE49-F238E27FC236}">
                <a16:creationId xmlns:a16="http://schemas.microsoft.com/office/drawing/2014/main" id="{098E3ED7-DC6F-DD38-A0E6-B1DAB382F100}"/>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pic>
        <p:nvPicPr>
          <p:cNvPr id="6" name="Picture 9">
            <a:extLst>
              <a:ext uri="{FF2B5EF4-FFF2-40B4-BE49-F238E27FC236}">
                <a16:creationId xmlns:a16="http://schemas.microsoft.com/office/drawing/2014/main" id="{E061E736-97FD-923A-DB7E-F66C37FCD0F1}"/>
              </a:ext>
            </a:extLst>
          </p:cNvPr>
          <p:cNvPicPr>
            <a:picLocks noChangeAspect="1"/>
          </p:cNvPicPr>
          <p:nvPr/>
        </p:nvPicPr>
        <p:blipFill>
          <a:blip r:embed="rId3"/>
          <a:stretch>
            <a:fillRect/>
          </a:stretch>
        </p:blipFill>
        <p:spPr>
          <a:xfrm>
            <a:off x="5479877" y="6245104"/>
            <a:ext cx="1232246" cy="261852"/>
          </a:xfrm>
          <a:prstGeom prst="rect">
            <a:avLst/>
          </a:prstGeom>
        </p:spPr>
      </p:pic>
      <p:sp>
        <p:nvSpPr>
          <p:cNvPr id="2" name="Slide Number Placeholder 3">
            <a:extLst>
              <a:ext uri="{FF2B5EF4-FFF2-40B4-BE49-F238E27FC236}">
                <a16:creationId xmlns:a16="http://schemas.microsoft.com/office/drawing/2014/main" id="{7C55CF0D-4F44-ECEE-61E5-6D23414FE679}"/>
              </a:ext>
            </a:extLst>
          </p:cNvPr>
          <p:cNvSpPr txBox="1">
            <a:spLocks/>
          </p:cNvSpPr>
          <p:nvPr/>
        </p:nvSpPr>
        <p:spPr>
          <a:xfrm>
            <a:off x="10710700" y="6108537"/>
            <a:ext cx="1052508" cy="365125"/>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5E3E23BA-6E79-2442-BA73-D218A5E297C3}" type="slidenum">
              <a:rPr lang="en-US" sz="2000" b="1" smtClean="0">
                <a:latin typeface="Gill Sans MT (Títulos)"/>
              </a:rPr>
              <a:pPr/>
              <a:t>39</a:t>
            </a:fld>
            <a:endParaRPr lang="en-US" sz="2000" b="1" dirty="0">
              <a:latin typeface="Gill Sans MT (Títulos)"/>
            </a:endParaRPr>
          </a:p>
        </p:txBody>
      </p:sp>
    </p:spTree>
    <p:extLst>
      <p:ext uri="{BB962C8B-B14F-4D97-AF65-F5344CB8AC3E}">
        <p14:creationId xmlns:p14="http://schemas.microsoft.com/office/powerpoint/2010/main" val="3355943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9"/>
                                        </p:tgtEl>
                                        <p:attrNameLst>
                                          <p:attrName>style.visibility</p:attrName>
                                        </p:attrNameLst>
                                      </p:cBhvr>
                                      <p:to>
                                        <p:strVal val="visible"/>
                                      </p:to>
                                    </p:set>
                                    <p:animEffect transition="in" filter="fade">
                                      <p:cBhvr>
                                        <p:cTn id="7"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Content Placeholder 2"/>
          <p:cNvSpPr>
            <a:spLocks noGrp="1"/>
          </p:cNvSpPr>
          <p:nvPr>
            <p:ph idx="1"/>
          </p:nvPr>
        </p:nvSpPr>
        <p:spPr>
          <a:xfrm>
            <a:off x="581191" y="1853870"/>
            <a:ext cx="11029615" cy="922553"/>
          </a:xfrm>
        </p:spPr>
        <p:txBody>
          <a:bodyPr>
            <a:normAutofit/>
          </a:bodyPr>
          <a:lstStyle/>
          <a:p>
            <a:pPr marL="0" indent="0" algn="just">
              <a:buNone/>
            </a:pPr>
            <a:r>
              <a:rPr lang="es-ES" sz="2400" dirty="0"/>
              <a:t>Ahora que pasaría si los flujos son como los qué se muestran a continuación. ¿Cómo crecen dichos flujos?</a:t>
            </a:r>
          </a:p>
        </p:txBody>
      </p:sp>
      <p:cxnSp>
        <p:nvCxnSpPr>
          <p:cNvPr id="6" name="Straight Connector 6"/>
          <p:cNvCxnSpPr/>
          <p:nvPr/>
        </p:nvCxnSpPr>
        <p:spPr>
          <a:xfrm flipV="1">
            <a:off x="2959515" y="5169386"/>
            <a:ext cx="6372951" cy="12001"/>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 name="Straight Arrow Connector 9"/>
          <p:cNvCxnSpPr/>
          <p:nvPr/>
        </p:nvCxnSpPr>
        <p:spPr>
          <a:xfrm flipV="1">
            <a:off x="8106502" y="4858836"/>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8" name="Rectangle 35"/>
          <p:cNvSpPr>
            <a:spLocks/>
          </p:cNvSpPr>
          <p:nvPr/>
        </p:nvSpPr>
        <p:spPr bwMode="auto">
          <a:xfrm>
            <a:off x="2895393" y="5176667"/>
            <a:ext cx="12824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0</a:t>
            </a:r>
          </a:p>
        </p:txBody>
      </p:sp>
      <p:sp>
        <p:nvSpPr>
          <p:cNvPr id="9" name="Rectangle 36"/>
          <p:cNvSpPr>
            <a:spLocks/>
          </p:cNvSpPr>
          <p:nvPr/>
        </p:nvSpPr>
        <p:spPr bwMode="auto">
          <a:xfrm>
            <a:off x="3708678" y="5151838"/>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a:t>
            </a:r>
          </a:p>
        </p:txBody>
      </p:sp>
      <p:sp>
        <p:nvSpPr>
          <p:cNvPr id="10" name="Rectangle 37"/>
          <p:cNvSpPr>
            <a:spLocks/>
          </p:cNvSpPr>
          <p:nvPr/>
        </p:nvSpPr>
        <p:spPr bwMode="auto">
          <a:xfrm>
            <a:off x="4797166" y="5151838"/>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2</a:t>
            </a:r>
          </a:p>
        </p:txBody>
      </p:sp>
      <p:sp>
        <p:nvSpPr>
          <p:cNvPr id="11" name="Rectangle 38"/>
          <p:cNvSpPr>
            <a:spLocks/>
          </p:cNvSpPr>
          <p:nvPr/>
        </p:nvSpPr>
        <p:spPr bwMode="auto">
          <a:xfrm>
            <a:off x="5856640" y="5165795"/>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3</a:t>
            </a:r>
          </a:p>
        </p:txBody>
      </p:sp>
      <p:sp>
        <p:nvSpPr>
          <p:cNvPr id="12" name="Rectangle 39"/>
          <p:cNvSpPr>
            <a:spLocks/>
          </p:cNvSpPr>
          <p:nvPr/>
        </p:nvSpPr>
        <p:spPr bwMode="auto">
          <a:xfrm>
            <a:off x="6862502" y="5182252"/>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4</a:t>
            </a:r>
          </a:p>
        </p:txBody>
      </p:sp>
      <p:sp>
        <p:nvSpPr>
          <p:cNvPr id="13" name="Rectangle 40"/>
          <p:cNvSpPr>
            <a:spLocks/>
          </p:cNvSpPr>
          <p:nvPr/>
        </p:nvSpPr>
        <p:spPr bwMode="auto">
          <a:xfrm>
            <a:off x="7935931" y="5151838"/>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5</a:t>
            </a:r>
          </a:p>
        </p:txBody>
      </p:sp>
      <p:sp>
        <p:nvSpPr>
          <p:cNvPr id="15" name="Rectangle 35"/>
          <p:cNvSpPr>
            <a:spLocks/>
          </p:cNvSpPr>
          <p:nvPr/>
        </p:nvSpPr>
        <p:spPr bwMode="auto">
          <a:xfrm>
            <a:off x="7814760" y="4558850"/>
            <a:ext cx="581891"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X-4G</a:t>
            </a:r>
          </a:p>
        </p:txBody>
      </p:sp>
      <p:cxnSp>
        <p:nvCxnSpPr>
          <p:cNvPr id="16" name="Straight Arrow Connector 9"/>
          <p:cNvCxnSpPr>
            <a:cxnSpLocks/>
          </p:cNvCxnSpPr>
          <p:nvPr/>
        </p:nvCxnSpPr>
        <p:spPr>
          <a:xfrm flipV="1">
            <a:off x="7015189" y="4935651"/>
            <a:ext cx="0" cy="227896"/>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17" name="Rectangle 35"/>
          <p:cNvSpPr>
            <a:spLocks/>
          </p:cNvSpPr>
          <p:nvPr/>
        </p:nvSpPr>
        <p:spPr bwMode="auto">
          <a:xfrm>
            <a:off x="6774527" y="4323058"/>
            <a:ext cx="57634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X-3G</a:t>
            </a:r>
          </a:p>
        </p:txBody>
      </p:sp>
      <p:sp>
        <p:nvSpPr>
          <p:cNvPr id="18" name="Rectangle 35"/>
          <p:cNvSpPr>
            <a:spLocks/>
          </p:cNvSpPr>
          <p:nvPr/>
        </p:nvSpPr>
        <p:spPr bwMode="auto">
          <a:xfrm>
            <a:off x="5731173" y="4008870"/>
            <a:ext cx="581891"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X-2G</a:t>
            </a:r>
          </a:p>
        </p:txBody>
      </p:sp>
      <p:sp>
        <p:nvSpPr>
          <p:cNvPr id="19" name="Rectangle 35"/>
          <p:cNvSpPr>
            <a:spLocks/>
          </p:cNvSpPr>
          <p:nvPr/>
        </p:nvSpPr>
        <p:spPr bwMode="auto">
          <a:xfrm>
            <a:off x="4748102" y="3727519"/>
            <a:ext cx="45365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X-G</a:t>
            </a:r>
          </a:p>
        </p:txBody>
      </p:sp>
      <p:sp>
        <p:nvSpPr>
          <p:cNvPr id="20" name="Rectangle 35"/>
          <p:cNvSpPr>
            <a:spLocks/>
          </p:cNvSpPr>
          <p:nvPr/>
        </p:nvSpPr>
        <p:spPr bwMode="auto">
          <a:xfrm>
            <a:off x="3774017" y="3131110"/>
            <a:ext cx="18114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X</a:t>
            </a:r>
          </a:p>
        </p:txBody>
      </p:sp>
      <p:cxnSp>
        <p:nvCxnSpPr>
          <p:cNvPr id="21" name="Straight Arrow Connector 9"/>
          <p:cNvCxnSpPr>
            <a:cxnSpLocks/>
          </p:cNvCxnSpPr>
          <p:nvPr/>
        </p:nvCxnSpPr>
        <p:spPr>
          <a:xfrm flipV="1">
            <a:off x="7015189" y="4645944"/>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22" name="Straight Arrow Connector 9"/>
          <p:cNvCxnSpPr/>
          <p:nvPr/>
        </p:nvCxnSpPr>
        <p:spPr>
          <a:xfrm flipV="1">
            <a:off x="6022116" y="4879336"/>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23" name="Straight Arrow Connector 9"/>
          <p:cNvCxnSpPr/>
          <p:nvPr/>
        </p:nvCxnSpPr>
        <p:spPr>
          <a:xfrm flipV="1">
            <a:off x="6022116" y="4589628"/>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24" name="Straight Arrow Connector 9"/>
          <p:cNvCxnSpPr/>
          <p:nvPr/>
        </p:nvCxnSpPr>
        <p:spPr>
          <a:xfrm flipV="1">
            <a:off x="4973424" y="4890242"/>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25" name="Straight Arrow Connector 9"/>
          <p:cNvCxnSpPr/>
          <p:nvPr/>
        </p:nvCxnSpPr>
        <p:spPr>
          <a:xfrm flipV="1">
            <a:off x="4973424" y="4600534"/>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26" name="Straight Arrow Connector 9"/>
          <p:cNvCxnSpPr/>
          <p:nvPr/>
        </p:nvCxnSpPr>
        <p:spPr>
          <a:xfrm flipV="1">
            <a:off x="4973424" y="4310233"/>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27" name="Straight Arrow Connector 9"/>
          <p:cNvCxnSpPr/>
          <p:nvPr/>
        </p:nvCxnSpPr>
        <p:spPr>
          <a:xfrm flipV="1">
            <a:off x="4973424" y="4020525"/>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28" name="Straight Arrow Connector 9"/>
          <p:cNvCxnSpPr/>
          <p:nvPr/>
        </p:nvCxnSpPr>
        <p:spPr>
          <a:xfrm flipV="1">
            <a:off x="6022116" y="4299327"/>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29" name="Straight Arrow Connector 9"/>
          <p:cNvCxnSpPr/>
          <p:nvPr/>
        </p:nvCxnSpPr>
        <p:spPr>
          <a:xfrm flipV="1">
            <a:off x="3864587" y="4888915"/>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30" name="Straight Arrow Connector 9"/>
          <p:cNvCxnSpPr/>
          <p:nvPr/>
        </p:nvCxnSpPr>
        <p:spPr>
          <a:xfrm flipV="1">
            <a:off x="3864587" y="4599207"/>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31" name="Straight Arrow Connector 9"/>
          <p:cNvCxnSpPr/>
          <p:nvPr/>
        </p:nvCxnSpPr>
        <p:spPr>
          <a:xfrm flipV="1">
            <a:off x="3864587" y="3846871"/>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32" name="Straight Arrow Connector 9"/>
          <p:cNvCxnSpPr/>
          <p:nvPr/>
        </p:nvCxnSpPr>
        <p:spPr>
          <a:xfrm flipV="1">
            <a:off x="3864587" y="3553639"/>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14" name="Title 1">
            <a:extLst>
              <a:ext uri="{FF2B5EF4-FFF2-40B4-BE49-F238E27FC236}">
                <a16:creationId xmlns:a16="http://schemas.microsoft.com/office/drawing/2014/main" id="{B63306A4-BCDD-84F6-9D23-ACB253E4848B}"/>
              </a:ext>
            </a:extLst>
          </p:cNvPr>
          <p:cNvSpPr>
            <a:spLocks noGrp="1"/>
          </p:cNvSpPr>
          <p:nvPr>
            <p:ph type="title"/>
          </p:nvPr>
        </p:nvSpPr>
        <p:spPr>
          <a:xfrm>
            <a:off x="581192" y="702156"/>
            <a:ext cx="11029616" cy="1013800"/>
          </a:xfrm>
        </p:spPr>
        <p:txBody>
          <a:bodyPr>
            <a:normAutofit/>
          </a:bodyPr>
          <a:lstStyle/>
          <a:p>
            <a:r>
              <a:rPr lang="es-ES_tradnl" sz="3200" dirty="0">
                <a:latin typeface="Gill Sans MT (titulo)"/>
              </a:rPr>
              <a:t>Gradientes aritméticos</a:t>
            </a:r>
          </a:p>
        </p:txBody>
      </p:sp>
      <p:sp>
        <p:nvSpPr>
          <p:cNvPr id="34" name="Rectángulo 33">
            <a:extLst>
              <a:ext uri="{FF2B5EF4-FFF2-40B4-BE49-F238E27FC236}">
                <a16:creationId xmlns:a16="http://schemas.microsoft.com/office/drawing/2014/main" id="{8090B012-1B78-CF49-8156-A867CB5196B2}"/>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36" name="Picture 2" descr="Clientes y aliados | Centro de Evaluación | Uniandes">
            <a:extLst>
              <a:ext uri="{FF2B5EF4-FFF2-40B4-BE49-F238E27FC236}">
                <a16:creationId xmlns:a16="http://schemas.microsoft.com/office/drawing/2014/main" id="{A185A95E-067C-1544-314E-4092F960359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37" name="Rectángulo 36">
            <a:extLst>
              <a:ext uri="{FF2B5EF4-FFF2-40B4-BE49-F238E27FC236}">
                <a16:creationId xmlns:a16="http://schemas.microsoft.com/office/drawing/2014/main" id="{D76B71FB-5D6D-337D-0235-81735901F77E}"/>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cxnSp>
        <p:nvCxnSpPr>
          <p:cNvPr id="2" name="Straight Arrow Connector 9">
            <a:extLst>
              <a:ext uri="{FF2B5EF4-FFF2-40B4-BE49-F238E27FC236}">
                <a16:creationId xmlns:a16="http://schemas.microsoft.com/office/drawing/2014/main" id="{64578C18-2ECE-DB05-6A54-5AC6CD08C727}"/>
              </a:ext>
            </a:extLst>
          </p:cNvPr>
          <p:cNvCxnSpPr/>
          <p:nvPr/>
        </p:nvCxnSpPr>
        <p:spPr>
          <a:xfrm flipV="1">
            <a:off x="3864587" y="4391156"/>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3" name="Straight Arrow Connector 9">
            <a:extLst>
              <a:ext uri="{FF2B5EF4-FFF2-40B4-BE49-F238E27FC236}">
                <a16:creationId xmlns:a16="http://schemas.microsoft.com/office/drawing/2014/main" id="{1038CCC2-22E5-DC78-B509-F7A7374E64C4}"/>
              </a:ext>
            </a:extLst>
          </p:cNvPr>
          <p:cNvCxnSpPr/>
          <p:nvPr/>
        </p:nvCxnSpPr>
        <p:spPr>
          <a:xfrm flipV="1">
            <a:off x="3864587" y="4097924"/>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5" name="Slide Number Placeholder 3">
            <a:extLst>
              <a:ext uri="{FF2B5EF4-FFF2-40B4-BE49-F238E27FC236}">
                <a16:creationId xmlns:a16="http://schemas.microsoft.com/office/drawing/2014/main" id="{8850B50E-8C8A-59C5-D2DD-A09656D1BA7F}"/>
              </a:ext>
            </a:extLst>
          </p:cNvPr>
          <p:cNvSpPr txBox="1">
            <a:spLocks/>
          </p:cNvSpPr>
          <p:nvPr/>
        </p:nvSpPr>
        <p:spPr>
          <a:xfrm>
            <a:off x="10710700" y="6108537"/>
            <a:ext cx="1052508" cy="365125"/>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5E3E23BA-6E79-2442-BA73-D218A5E297C3}" type="slidenum">
              <a:rPr lang="en-US" sz="2000" b="1" smtClean="0">
                <a:latin typeface="Gill Sans MT (Títulos)"/>
              </a:rPr>
              <a:pPr/>
              <a:t>40</a:t>
            </a:fld>
            <a:endParaRPr lang="en-US" sz="2000" b="1" dirty="0">
              <a:latin typeface="Gill Sans MT (Títulos)"/>
            </a:endParaRPr>
          </a:p>
        </p:txBody>
      </p:sp>
    </p:spTree>
    <p:extLst>
      <p:ext uri="{BB962C8B-B14F-4D97-AF65-F5344CB8AC3E}">
        <p14:creationId xmlns:p14="http://schemas.microsoft.com/office/powerpoint/2010/main" val="30261346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Content Placeholder 2"/>
          <p:cNvSpPr>
            <a:spLocks noGrp="1"/>
          </p:cNvSpPr>
          <p:nvPr>
            <p:ph idx="1"/>
          </p:nvPr>
        </p:nvSpPr>
        <p:spPr>
          <a:xfrm>
            <a:off x="581191" y="1995238"/>
            <a:ext cx="11029615" cy="922553"/>
          </a:xfrm>
        </p:spPr>
        <p:txBody>
          <a:bodyPr>
            <a:normAutofit/>
          </a:bodyPr>
          <a:lstStyle/>
          <a:p>
            <a:pPr marL="0" indent="0" algn="just">
              <a:buNone/>
            </a:pPr>
            <a:r>
              <a:rPr lang="es-ES" sz="2400" dirty="0"/>
              <a:t>Imagínese unos flujos como los qué se muestran a continuación. ¿Cómo crecen dichos flujos?</a:t>
            </a:r>
          </a:p>
        </p:txBody>
      </p:sp>
      <p:cxnSp>
        <p:nvCxnSpPr>
          <p:cNvPr id="6" name="Straight Connector 6"/>
          <p:cNvCxnSpPr/>
          <p:nvPr/>
        </p:nvCxnSpPr>
        <p:spPr>
          <a:xfrm flipV="1">
            <a:off x="2864869" y="5365184"/>
            <a:ext cx="6372951" cy="12001"/>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 name="Straight Arrow Connector 9"/>
          <p:cNvCxnSpPr>
            <a:cxnSpLocks/>
          </p:cNvCxnSpPr>
          <p:nvPr/>
        </p:nvCxnSpPr>
        <p:spPr>
          <a:xfrm flipV="1">
            <a:off x="7950233" y="5060778"/>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8" name="Rectangle 35"/>
          <p:cNvSpPr>
            <a:spLocks/>
          </p:cNvSpPr>
          <p:nvPr/>
        </p:nvSpPr>
        <p:spPr bwMode="auto">
          <a:xfrm>
            <a:off x="2800747" y="5372465"/>
            <a:ext cx="12824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0</a:t>
            </a:r>
          </a:p>
        </p:txBody>
      </p:sp>
      <p:sp>
        <p:nvSpPr>
          <p:cNvPr id="9" name="Rectangle 36"/>
          <p:cNvSpPr>
            <a:spLocks/>
          </p:cNvSpPr>
          <p:nvPr/>
        </p:nvSpPr>
        <p:spPr bwMode="auto">
          <a:xfrm>
            <a:off x="3614032" y="5347636"/>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a:t>
            </a:r>
          </a:p>
        </p:txBody>
      </p:sp>
      <p:sp>
        <p:nvSpPr>
          <p:cNvPr id="10" name="Rectangle 37"/>
          <p:cNvSpPr>
            <a:spLocks/>
          </p:cNvSpPr>
          <p:nvPr/>
        </p:nvSpPr>
        <p:spPr bwMode="auto">
          <a:xfrm>
            <a:off x="4702520" y="5347636"/>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2</a:t>
            </a:r>
          </a:p>
        </p:txBody>
      </p:sp>
      <p:sp>
        <p:nvSpPr>
          <p:cNvPr id="11" name="Rectangle 38"/>
          <p:cNvSpPr>
            <a:spLocks/>
          </p:cNvSpPr>
          <p:nvPr/>
        </p:nvSpPr>
        <p:spPr bwMode="auto">
          <a:xfrm>
            <a:off x="5761994" y="5361593"/>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3</a:t>
            </a:r>
          </a:p>
        </p:txBody>
      </p:sp>
      <p:sp>
        <p:nvSpPr>
          <p:cNvPr id="12" name="Rectangle 39"/>
          <p:cNvSpPr>
            <a:spLocks/>
          </p:cNvSpPr>
          <p:nvPr/>
        </p:nvSpPr>
        <p:spPr bwMode="auto">
          <a:xfrm>
            <a:off x="6767856" y="5378050"/>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4</a:t>
            </a:r>
          </a:p>
        </p:txBody>
      </p:sp>
      <p:sp>
        <p:nvSpPr>
          <p:cNvPr id="13" name="Rectangle 40"/>
          <p:cNvSpPr>
            <a:spLocks/>
          </p:cNvSpPr>
          <p:nvPr/>
        </p:nvSpPr>
        <p:spPr bwMode="auto">
          <a:xfrm>
            <a:off x="7841285" y="5347636"/>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5</a:t>
            </a:r>
          </a:p>
        </p:txBody>
      </p:sp>
      <p:sp>
        <p:nvSpPr>
          <p:cNvPr id="14" name="Rectangle 41"/>
          <p:cNvSpPr>
            <a:spLocks/>
          </p:cNvSpPr>
          <p:nvPr/>
        </p:nvSpPr>
        <p:spPr bwMode="auto">
          <a:xfrm>
            <a:off x="8900759" y="5347636"/>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6</a:t>
            </a:r>
          </a:p>
        </p:txBody>
      </p:sp>
      <p:sp>
        <p:nvSpPr>
          <p:cNvPr id="15" name="Rectangle 35"/>
          <p:cNvSpPr>
            <a:spLocks/>
          </p:cNvSpPr>
          <p:nvPr/>
        </p:nvSpPr>
        <p:spPr bwMode="auto">
          <a:xfrm>
            <a:off x="7892527" y="4760792"/>
            <a:ext cx="113814"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5</a:t>
            </a:r>
          </a:p>
        </p:txBody>
      </p:sp>
      <p:sp>
        <p:nvSpPr>
          <p:cNvPr id="17" name="Rectangle 35"/>
          <p:cNvSpPr>
            <a:spLocks/>
          </p:cNvSpPr>
          <p:nvPr/>
        </p:nvSpPr>
        <p:spPr bwMode="auto">
          <a:xfrm>
            <a:off x="6780735" y="4477853"/>
            <a:ext cx="25648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10</a:t>
            </a:r>
          </a:p>
        </p:txBody>
      </p:sp>
      <p:sp>
        <p:nvSpPr>
          <p:cNvPr id="18" name="Rectangle 35"/>
          <p:cNvSpPr>
            <a:spLocks/>
          </p:cNvSpPr>
          <p:nvPr/>
        </p:nvSpPr>
        <p:spPr bwMode="auto">
          <a:xfrm>
            <a:off x="5799231" y="4196613"/>
            <a:ext cx="25648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15</a:t>
            </a:r>
          </a:p>
        </p:txBody>
      </p:sp>
      <p:sp>
        <p:nvSpPr>
          <p:cNvPr id="19" name="Rectangle 35"/>
          <p:cNvSpPr>
            <a:spLocks/>
          </p:cNvSpPr>
          <p:nvPr/>
        </p:nvSpPr>
        <p:spPr bwMode="auto">
          <a:xfrm>
            <a:off x="4736436" y="3935487"/>
            <a:ext cx="25648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20</a:t>
            </a:r>
          </a:p>
        </p:txBody>
      </p:sp>
      <p:sp>
        <p:nvSpPr>
          <p:cNvPr id="20" name="Rectangle 35"/>
          <p:cNvSpPr>
            <a:spLocks/>
          </p:cNvSpPr>
          <p:nvPr/>
        </p:nvSpPr>
        <p:spPr bwMode="auto">
          <a:xfrm>
            <a:off x="3650739" y="3290579"/>
            <a:ext cx="25648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25</a:t>
            </a:r>
          </a:p>
        </p:txBody>
      </p:sp>
      <p:cxnSp>
        <p:nvCxnSpPr>
          <p:cNvPr id="21" name="Straight Arrow Connector 9"/>
          <p:cNvCxnSpPr/>
          <p:nvPr/>
        </p:nvCxnSpPr>
        <p:spPr>
          <a:xfrm flipV="1">
            <a:off x="6895096" y="4876568"/>
            <a:ext cx="0" cy="497850"/>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27" name="Straight Arrow Connector 9"/>
          <p:cNvCxnSpPr/>
          <p:nvPr/>
        </p:nvCxnSpPr>
        <p:spPr>
          <a:xfrm flipV="1">
            <a:off x="4863174" y="4290486"/>
            <a:ext cx="0" cy="1086699"/>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28" name="Straight Arrow Connector 9"/>
          <p:cNvCxnSpPr/>
          <p:nvPr/>
        </p:nvCxnSpPr>
        <p:spPr>
          <a:xfrm flipV="1">
            <a:off x="5927470" y="4518067"/>
            <a:ext cx="0" cy="827987"/>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32" name="Straight Arrow Connector 9"/>
          <p:cNvCxnSpPr/>
          <p:nvPr/>
        </p:nvCxnSpPr>
        <p:spPr>
          <a:xfrm flipV="1">
            <a:off x="3778978" y="3713109"/>
            <a:ext cx="0" cy="1670003"/>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16" name="Title 1">
            <a:extLst>
              <a:ext uri="{FF2B5EF4-FFF2-40B4-BE49-F238E27FC236}">
                <a16:creationId xmlns:a16="http://schemas.microsoft.com/office/drawing/2014/main" id="{A14BACFE-A1F6-3253-1D82-7B066E0E1661}"/>
              </a:ext>
            </a:extLst>
          </p:cNvPr>
          <p:cNvSpPr>
            <a:spLocks noGrp="1"/>
          </p:cNvSpPr>
          <p:nvPr>
            <p:ph type="title"/>
          </p:nvPr>
        </p:nvSpPr>
        <p:spPr>
          <a:xfrm>
            <a:off x="581192" y="702156"/>
            <a:ext cx="11029616" cy="1013800"/>
          </a:xfrm>
        </p:spPr>
        <p:txBody>
          <a:bodyPr>
            <a:normAutofit/>
          </a:bodyPr>
          <a:lstStyle/>
          <a:p>
            <a:r>
              <a:rPr lang="es-ES_tradnl" sz="3200" dirty="0">
                <a:latin typeface="Gill Sans MT (titulo)"/>
              </a:rPr>
              <a:t>Gradientes aritméticos</a:t>
            </a:r>
          </a:p>
        </p:txBody>
      </p:sp>
      <p:sp>
        <p:nvSpPr>
          <p:cNvPr id="22" name="Rectángulo 21">
            <a:extLst>
              <a:ext uri="{FF2B5EF4-FFF2-40B4-BE49-F238E27FC236}">
                <a16:creationId xmlns:a16="http://schemas.microsoft.com/office/drawing/2014/main" id="{9AE39C5C-7467-85C8-755E-996E4FF29701}"/>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24" name="Picture 2" descr="Clientes y aliados | Centro de Evaluación | Uniandes">
            <a:extLst>
              <a:ext uri="{FF2B5EF4-FFF2-40B4-BE49-F238E27FC236}">
                <a16:creationId xmlns:a16="http://schemas.microsoft.com/office/drawing/2014/main" id="{23322002-FF40-99BB-D2C8-1057EFC642B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25" name="Rectángulo 24">
            <a:extLst>
              <a:ext uri="{FF2B5EF4-FFF2-40B4-BE49-F238E27FC236}">
                <a16:creationId xmlns:a16="http://schemas.microsoft.com/office/drawing/2014/main" id="{24F01E54-9E1B-FD8F-0A86-36972D9A9CE5}"/>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2" name="Slide Number Placeholder 3">
            <a:extLst>
              <a:ext uri="{FF2B5EF4-FFF2-40B4-BE49-F238E27FC236}">
                <a16:creationId xmlns:a16="http://schemas.microsoft.com/office/drawing/2014/main" id="{7AAAFEA7-4F4A-80EF-FAA9-6645A596CE78}"/>
              </a:ext>
            </a:extLst>
          </p:cNvPr>
          <p:cNvSpPr txBox="1">
            <a:spLocks/>
          </p:cNvSpPr>
          <p:nvPr/>
        </p:nvSpPr>
        <p:spPr>
          <a:xfrm>
            <a:off x="10710700" y="6108537"/>
            <a:ext cx="1052508" cy="365125"/>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5E3E23BA-6E79-2442-BA73-D218A5E297C3}" type="slidenum">
              <a:rPr lang="en-US" sz="2000" b="1" smtClean="0">
                <a:latin typeface="Gill Sans MT (Títulos)"/>
              </a:rPr>
              <a:pPr/>
              <a:t>41</a:t>
            </a:fld>
            <a:endParaRPr lang="en-US" sz="2000" b="1" dirty="0">
              <a:latin typeface="Gill Sans MT (Títulos)"/>
            </a:endParaRPr>
          </a:p>
        </p:txBody>
      </p:sp>
    </p:spTree>
    <p:extLst>
      <p:ext uri="{BB962C8B-B14F-4D97-AF65-F5344CB8AC3E}">
        <p14:creationId xmlns:p14="http://schemas.microsoft.com/office/powerpoint/2010/main" val="360563525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ángulo 2">
            <a:extLst>
              <a:ext uri="{FF2B5EF4-FFF2-40B4-BE49-F238E27FC236}">
                <a16:creationId xmlns:a16="http://schemas.microsoft.com/office/drawing/2014/main" id="{5DAAE486-E60D-FA41-E977-A17E6968ADBD}"/>
              </a:ext>
            </a:extLst>
          </p:cNvPr>
          <p:cNvSpPr/>
          <p:nvPr/>
        </p:nvSpPr>
        <p:spPr>
          <a:xfrm>
            <a:off x="3964686" y="3623309"/>
            <a:ext cx="4171255" cy="1643610"/>
          </a:xfrm>
          <a:prstGeom prst="rect">
            <a:avLst/>
          </a:prstGeom>
          <a:solidFill>
            <a:schemeClr val="accent1">
              <a:shade val="80000"/>
              <a:alpha val="56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O" sz="2000"/>
          </a:p>
        </p:txBody>
      </p:sp>
      <p:sp>
        <p:nvSpPr>
          <p:cNvPr id="5" name="Triángulo rectángulo 4">
            <a:extLst>
              <a:ext uri="{FF2B5EF4-FFF2-40B4-BE49-F238E27FC236}">
                <a16:creationId xmlns:a16="http://schemas.microsoft.com/office/drawing/2014/main" id="{6DF5B4E1-5843-FBD2-8AB2-22B71641727C}"/>
              </a:ext>
            </a:extLst>
          </p:cNvPr>
          <p:cNvSpPr/>
          <p:nvPr/>
        </p:nvSpPr>
        <p:spPr>
          <a:xfrm rot="10800000">
            <a:off x="3964035" y="3607961"/>
            <a:ext cx="4171904" cy="1406068"/>
          </a:xfrm>
          <a:prstGeom prst="rtTriangle">
            <a:avLst/>
          </a:prstGeom>
          <a:solidFill>
            <a:schemeClr val="accent6">
              <a:shade val="90000"/>
              <a:alpha val="31000"/>
            </a:schemeClr>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s-CO" sz="2000"/>
          </a:p>
        </p:txBody>
      </p:sp>
      <p:sp>
        <p:nvSpPr>
          <p:cNvPr id="39" name="Content Placeholder 2"/>
          <p:cNvSpPr>
            <a:spLocks noGrp="1"/>
          </p:cNvSpPr>
          <p:nvPr>
            <p:ph idx="1"/>
          </p:nvPr>
        </p:nvSpPr>
        <p:spPr>
          <a:xfrm>
            <a:off x="581191" y="1885608"/>
            <a:ext cx="11029615" cy="922553"/>
          </a:xfrm>
        </p:spPr>
        <p:txBody>
          <a:bodyPr>
            <a:normAutofit/>
          </a:bodyPr>
          <a:lstStyle/>
          <a:p>
            <a:pPr marL="0" indent="0" algn="just">
              <a:buNone/>
            </a:pPr>
            <a:r>
              <a:rPr lang="es-ES" sz="2400" dirty="0"/>
              <a:t>Lo podríamos ver como una serie uniforme a la que le quitamos un gradiente aritmético</a:t>
            </a:r>
          </a:p>
        </p:txBody>
      </p:sp>
      <p:cxnSp>
        <p:nvCxnSpPr>
          <p:cNvPr id="6" name="Straight Connector 6"/>
          <p:cNvCxnSpPr/>
          <p:nvPr/>
        </p:nvCxnSpPr>
        <p:spPr>
          <a:xfrm flipV="1">
            <a:off x="3049928" y="5255554"/>
            <a:ext cx="6372951" cy="12001"/>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 name="Straight Arrow Connector 9"/>
          <p:cNvCxnSpPr>
            <a:cxnSpLocks/>
          </p:cNvCxnSpPr>
          <p:nvPr/>
        </p:nvCxnSpPr>
        <p:spPr>
          <a:xfrm flipV="1">
            <a:off x="8135292" y="4951148"/>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8" name="Rectangle 35"/>
          <p:cNvSpPr>
            <a:spLocks/>
          </p:cNvSpPr>
          <p:nvPr/>
        </p:nvSpPr>
        <p:spPr bwMode="auto">
          <a:xfrm>
            <a:off x="2985806" y="5262835"/>
            <a:ext cx="12824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0</a:t>
            </a:r>
          </a:p>
        </p:txBody>
      </p:sp>
      <p:sp>
        <p:nvSpPr>
          <p:cNvPr id="9" name="Rectangle 36"/>
          <p:cNvSpPr>
            <a:spLocks/>
          </p:cNvSpPr>
          <p:nvPr/>
        </p:nvSpPr>
        <p:spPr bwMode="auto">
          <a:xfrm>
            <a:off x="3799091" y="5238006"/>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a:t>
            </a:r>
          </a:p>
        </p:txBody>
      </p:sp>
      <p:sp>
        <p:nvSpPr>
          <p:cNvPr id="10" name="Rectangle 37"/>
          <p:cNvSpPr>
            <a:spLocks/>
          </p:cNvSpPr>
          <p:nvPr/>
        </p:nvSpPr>
        <p:spPr bwMode="auto">
          <a:xfrm>
            <a:off x="4887579" y="5238006"/>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2</a:t>
            </a:r>
          </a:p>
        </p:txBody>
      </p:sp>
      <p:sp>
        <p:nvSpPr>
          <p:cNvPr id="11" name="Rectangle 38"/>
          <p:cNvSpPr>
            <a:spLocks/>
          </p:cNvSpPr>
          <p:nvPr/>
        </p:nvSpPr>
        <p:spPr bwMode="auto">
          <a:xfrm>
            <a:off x="5947053" y="5251963"/>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3</a:t>
            </a:r>
          </a:p>
        </p:txBody>
      </p:sp>
      <p:sp>
        <p:nvSpPr>
          <p:cNvPr id="12" name="Rectangle 39"/>
          <p:cNvSpPr>
            <a:spLocks/>
          </p:cNvSpPr>
          <p:nvPr/>
        </p:nvSpPr>
        <p:spPr bwMode="auto">
          <a:xfrm>
            <a:off x="6952915" y="5268420"/>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4</a:t>
            </a:r>
          </a:p>
        </p:txBody>
      </p:sp>
      <p:sp>
        <p:nvSpPr>
          <p:cNvPr id="13" name="Rectangle 40"/>
          <p:cNvSpPr>
            <a:spLocks/>
          </p:cNvSpPr>
          <p:nvPr/>
        </p:nvSpPr>
        <p:spPr bwMode="auto">
          <a:xfrm>
            <a:off x="8026344" y="5238006"/>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5</a:t>
            </a:r>
          </a:p>
        </p:txBody>
      </p:sp>
      <p:sp>
        <p:nvSpPr>
          <p:cNvPr id="14" name="Rectangle 41"/>
          <p:cNvSpPr>
            <a:spLocks/>
          </p:cNvSpPr>
          <p:nvPr/>
        </p:nvSpPr>
        <p:spPr bwMode="auto">
          <a:xfrm>
            <a:off x="9085818" y="5238006"/>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6</a:t>
            </a:r>
          </a:p>
        </p:txBody>
      </p:sp>
      <p:sp>
        <p:nvSpPr>
          <p:cNvPr id="15" name="Rectangle 35"/>
          <p:cNvSpPr>
            <a:spLocks/>
          </p:cNvSpPr>
          <p:nvPr/>
        </p:nvSpPr>
        <p:spPr bwMode="auto">
          <a:xfrm>
            <a:off x="8077586" y="4651162"/>
            <a:ext cx="113814"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5</a:t>
            </a:r>
          </a:p>
        </p:txBody>
      </p:sp>
      <p:sp>
        <p:nvSpPr>
          <p:cNvPr id="17" name="Rectangle 35"/>
          <p:cNvSpPr>
            <a:spLocks/>
          </p:cNvSpPr>
          <p:nvPr/>
        </p:nvSpPr>
        <p:spPr bwMode="auto">
          <a:xfrm>
            <a:off x="6965793" y="4368223"/>
            <a:ext cx="256481"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10</a:t>
            </a:r>
          </a:p>
        </p:txBody>
      </p:sp>
      <p:sp>
        <p:nvSpPr>
          <p:cNvPr id="18" name="Rectangle 35"/>
          <p:cNvSpPr>
            <a:spLocks/>
          </p:cNvSpPr>
          <p:nvPr/>
        </p:nvSpPr>
        <p:spPr bwMode="auto">
          <a:xfrm>
            <a:off x="5984289" y="4086983"/>
            <a:ext cx="256481"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15</a:t>
            </a:r>
          </a:p>
        </p:txBody>
      </p:sp>
      <p:sp>
        <p:nvSpPr>
          <p:cNvPr id="19" name="Rectangle 35"/>
          <p:cNvSpPr>
            <a:spLocks/>
          </p:cNvSpPr>
          <p:nvPr/>
        </p:nvSpPr>
        <p:spPr bwMode="auto">
          <a:xfrm>
            <a:off x="4947507" y="3693279"/>
            <a:ext cx="256481"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20</a:t>
            </a:r>
          </a:p>
        </p:txBody>
      </p:sp>
      <p:sp>
        <p:nvSpPr>
          <p:cNvPr id="20" name="Rectangle 35"/>
          <p:cNvSpPr>
            <a:spLocks/>
          </p:cNvSpPr>
          <p:nvPr/>
        </p:nvSpPr>
        <p:spPr bwMode="auto">
          <a:xfrm>
            <a:off x="3835797" y="3180949"/>
            <a:ext cx="256481"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25</a:t>
            </a:r>
          </a:p>
        </p:txBody>
      </p:sp>
      <p:cxnSp>
        <p:nvCxnSpPr>
          <p:cNvPr id="21" name="Straight Arrow Connector 9"/>
          <p:cNvCxnSpPr>
            <a:cxnSpLocks/>
          </p:cNvCxnSpPr>
          <p:nvPr/>
        </p:nvCxnSpPr>
        <p:spPr>
          <a:xfrm flipV="1">
            <a:off x="7080155" y="4681940"/>
            <a:ext cx="0" cy="582849"/>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27" name="Straight Arrow Connector 9"/>
          <p:cNvCxnSpPr>
            <a:cxnSpLocks/>
          </p:cNvCxnSpPr>
          <p:nvPr/>
        </p:nvCxnSpPr>
        <p:spPr>
          <a:xfrm flipH="1" flipV="1">
            <a:off x="5019174" y="3970277"/>
            <a:ext cx="16856" cy="1303204"/>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28" name="Straight Arrow Connector 9"/>
          <p:cNvCxnSpPr>
            <a:cxnSpLocks/>
          </p:cNvCxnSpPr>
          <p:nvPr/>
        </p:nvCxnSpPr>
        <p:spPr>
          <a:xfrm flipV="1">
            <a:off x="6112529" y="4363981"/>
            <a:ext cx="0" cy="872442"/>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32" name="Straight Arrow Connector 9"/>
          <p:cNvCxnSpPr/>
          <p:nvPr/>
        </p:nvCxnSpPr>
        <p:spPr>
          <a:xfrm flipV="1">
            <a:off x="3964037" y="3603479"/>
            <a:ext cx="0" cy="1670003"/>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23" name="Title 1">
            <a:extLst>
              <a:ext uri="{FF2B5EF4-FFF2-40B4-BE49-F238E27FC236}">
                <a16:creationId xmlns:a16="http://schemas.microsoft.com/office/drawing/2014/main" id="{6CEAE4E2-A03D-8986-568A-33A21179AEBA}"/>
              </a:ext>
            </a:extLst>
          </p:cNvPr>
          <p:cNvSpPr>
            <a:spLocks noGrp="1"/>
          </p:cNvSpPr>
          <p:nvPr>
            <p:ph type="title"/>
          </p:nvPr>
        </p:nvSpPr>
        <p:spPr>
          <a:xfrm>
            <a:off x="581192" y="702156"/>
            <a:ext cx="11029616" cy="1013800"/>
          </a:xfrm>
        </p:spPr>
        <p:txBody>
          <a:bodyPr>
            <a:normAutofit/>
          </a:bodyPr>
          <a:lstStyle/>
          <a:p>
            <a:r>
              <a:rPr lang="es-ES_tradnl" sz="3200">
                <a:latin typeface="Gill Sans MT (titulo)"/>
              </a:rPr>
              <a:t>Gradientes aritméticos</a:t>
            </a:r>
          </a:p>
        </p:txBody>
      </p:sp>
      <p:sp>
        <p:nvSpPr>
          <p:cNvPr id="24" name="Rectángulo 23">
            <a:extLst>
              <a:ext uri="{FF2B5EF4-FFF2-40B4-BE49-F238E27FC236}">
                <a16:creationId xmlns:a16="http://schemas.microsoft.com/office/drawing/2014/main" id="{A8505A05-2315-9C05-793E-146F8AE824DE}"/>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26" name="Picture 2" descr="Clientes y aliados | Centro de Evaluación | Uniandes">
            <a:extLst>
              <a:ext uri="{FF2B5EF4-FFF2-40B4-BE49-F238E27FC236}">
                <a16:creationId xmlns:a16="http://schemas.microsoft.com/office/drawing/2014/main" id="{6A61B29F-8B92-0D21-0E9F-18BC151C43E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29" name="Rectángulo 28">
            <a:extLst>
              <a:ext uri="{FF2B5EF4-FFF2-40B4-BE49-F238E27FC236}">
                <a16:creationId xmlns:a16="http://schemas.microsoft.com/office/drawing/2014/main" id="{4F56511F-58D2-04D4-2237-2D916C94624D}"/>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2" name="Slide Number Placeholder 3">
            <a:extLst>
              <a:ext uri="{FF2B5EF4-FFF2-40B4-BE49-F238E27FC236}">
                <a16:creationId xmlns:a16="http://schemas.microsoft.com/office/drawing/2014/main" id="{5AABDB7B-6BDE-AAFE-25F2-CF7F95155D0B}"/>
              </a:ext>
            </a:extLst>
          </p:cNvPr>
          <p:cNvSpPr txBox="1">
            <a:spLocks/>
          </p:cNvSpPr>
          <p:nvPr/>
        </p:nvSpPr>
        <p:spPr>
          <a:xfrm>
            <a:off x="10710700" y="6108537"/>
            <a:ext cx="1052508" cy="365125"/>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5E3E23BA-6E79-2442-BA73-D218A5E297C3}" type="slidenum">
              <a:rPr lang="en-US" sz="2000" b="1" smtClean="0">
                <a:latin typeface="Gill Sans MT (Títulos)"/>
              </a:rPr>
              <a:pPr/>
              <a:t>42</a:t>
            </a:fld>
            <a:endParaRPr lang="en-US" sz="2000" b="1" dirty="0">
              <a:latin typeface="Gill Sans MT (Títulos)"/>
            </a:endParaRPr>
          </a:p>
        </p:txBody>
      </p:sp>
    </p:spTree>
    <p:extLst>
      <p:ext uri="{BB962C8B-B14F-4D97-AF65-F5344CB8AC3E}">
        <p14:creationId xmlns:p14="http://schemas.microsoft.com/office/powerpoint/2010/main" val="5681499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42"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1000"/>
                                        <p:tgtEl>
                                          <p:spTgt spid="5"/>
                                        </p:tgtEl>
                                      </p:cBhvr>
                                    </p:animEffect>
                                    <p:anim calcmode="lin" valueType="num">
                                      <p:cBhvr>
                                        <p:cTn id="12" dur="1000" fill="hold"/>
                                        <p:tgtEl>
                                          <p:spTgt spid="5"/>
                                        </p:tgtEl>
                                        <p:attrNameLst>
                                          <p:attrName>ppt_x</p:attrName>
                                        </p:attrNameLst>
                                      </p:cBhvr>
                                      <p:tavLst>
                                        <p:tav tm="0">
                                          <p:val>
                                            <p:strVal val="#ppt_x"/>
                                          </p:val>
                                        </p:tav>
                                        <p:tav tm="100000">
                                          <p:val>
                                            <p:strVal val="#ppt_x"/>
                                          </p:val>
                                        </p:tav>
                                      </p:tavLst>
                                    </p:anim>
                                    <p:anim calcmode="lin" valueType="num">
                                      <p:cBhvr>
                                        <p:cTn id="13"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ángulo 2">
            <a:extLst>
              <a:ext uri="{FF2B5EF4-FFF2-40B4-BE49-F238E27FC236}">
                <a16:creationId xmlns:a16="http://schemas.microsoft.com/office/drawing/2014/main" id="{5DAAE486-E60D-FA41-E977-A17E6968ADBD}"/>
              </a:ext>
            </a:extLst>
          </p:cNvPr>
          <p:cNvSpPr/>
          <p:nvPr/>
        </p:nvSpPr>
        <p:spPr>
          <a:xfrm>
            <a:off x="3941135" y="2408522"/>
            <a:ext cx="4171255" cy="1643610"/>
          </a:xfrm>
          <a:prstGeom prst="rect">
            <a:avLst/>
          </a:prstGeom>
          <a:solidFill>
            <a:schemeClr val="accent1">
              <a:shade val="80000"/>
              <a:alpha val="56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O" sz="2000"/>
          </a:p>
        </p:txBody>
      </p:sp>
      <p:sp>
        <p:nvSpPr>
          <p:cNvPr id="5" name="Triángulo rectángulo 4">
            <a:extLst>
              <a:ext uri="{FF2B5EF4-FFF2-40B4-BE49-F238E27FC236}">
                <a16:creationId xmlns:a16="http://schemas.microsoft.com/office/drawing/2014/main" id="{6DF5B4E1-5843-FBD2-8AB2-22B71641727C}"/>
              </a:ext>
            </a:extLst>
          </p:cNvPr>
          <p:cNvSpPr/>
          <p:nvPr/>
        </p:nvSpPr>
        <p:spPr>
          <a:xfrm rot="10800000">
            <a:off x="3940484" y="2393174"/>
            <a:ext cx="4171904" cy="1406068"/>
          </a:xfrm>
          <a:prstGeom prst="rtTriangle">
            <a:avLst/>
          </a:prstGeom>
          <a:solidFill>
            <a:schemeClr val="accent6">
              <a:shade val="90000"/>
              <a:alpha val="31000"/>
            </a:schemeClr>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s-CO" sz="2000"/>
          </a:p>
        </p:txBody>
      </p:sp>
      <p:sp>
        <p:nvSpPr>
          <p:cNvPr id="39" name="Content Placeholder 2"/>
          <p:cNvSpPr>
            <a:spLocks noGrp="1"/>
          </p:cNvSpPr>
          <p:nvPr>
            <p:ph idx="1"/>
          </p:nvPr>
        </p:nvSpPr>
        <p:spPr>
          <a:xfrm>
            <a:off x="611578" y="4759209"/>
            <a:ext cx="10968843" cy="469336"/>
          </a:xfrm>
        </p:spPr>
        <p:txBody>
          <a:bodyPr>
            <a:noAutofit/>
          </a:bodyPr>
          <a:lstStyle/>
          <a:p>
            <a:pPr marL="0" indent="0" algn="ctr">
              <a:buNone/>
            </a:pPr>
            <a:r>
              <a:rPr lang="es-ES" sz="2400" dirty="0"/>
              <a:t>¿Como se vería la expresión del VP(t=0) si tenemos un costo de oportunidad del 5%?</a:t>
            </a:r>
          </a:p>
        </p:txBody>
      </p:sp>
      <p:cxnSp>
        <p:nvCxnSpPr>
          <p:cNvPr id="6" name="Straight Connector 6"/>
          <p:cNvCxnSpPr/>
          <p:nvPr/>
        </p:nvCxnSpPr>
        <p:spPr>
          <a:xfrm flipV="1">
            <a:off x="3026377" y="4040767"/>
            <a:ext cx="6372951" cy="12001"/>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 name="Straight Arrow Connector 9"/>
          <p:cNvCxnSpPr>
            <a:cxnSpLocks/>
          </p:cNvCxnSpPr>
          <p:nvPr/>
        </p:nvCxnSpPr>
        <p:spPr>
          <a:xfrm flipV="1">
            <a:off x="8111741" y="3736361"/>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8" name="Rectangle 35"/>
          <p:cNvSpPr>
            <a:spLocks/>
          </p:cNvSpPr>
          <p:nvPr/>
        </p:nvSpPr>
        <p:spPr bwMode="auto">
          <a:xfrm>
            <a:off x="2962255" y="4048048"/>
            <a:ext cx="12824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0</a:t>
            </a:r>
          </a:p>
        </p:txBody>
      </p:sp>
      <p:sp>
        <p:nvSpPr>
          <p:cNvPr id="9" name="Rectangle 36"/>
          <p:cNvSpPr>
            <a:spLocks/>
          </p:cNvSpPr>
          <p:nvPr/>
        </p:nvSpPr>
        <p:spPr bwMode="auto">
          <a:xfrm>
            <a:off x="3775540" y="4023219"/>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a:t>
            </a:r>
          </a:p>
        </p:txBody>
      </p:sp>
      <p:sp>
        <p:nvSpPr>
          <p:cNvPr id="10" name="Rectangle 37"/>
          <p:cNvSpPr>
            <a:spLocks/>
          </p:cNvSpPr>
          <p:nvPr/>
        </p:nvSpPr>
        <p:spPr bwMode="auto">
          <a:xfrm>
            <a:off x="4864028" y="4023219"/>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2</a:t>
            </a:r>
          </a:p>
        </p:txBody>
      </p:sp>
      <p:sp>
        <p:nvSpPr>
          <p:cNvPr id="11" name="Rectangle 38"/>
          <p:cNvSpPr>
            <a:spLocks/>
          </p:cNvSpPr>
          <p:nvPr/>
        </p:nvSpPr>
        <p:spPr bwMode="auto">
          <a:xfrm>
            <a:off x="5923502" y="4037176"/>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3</a:t>
            </a:r>
          </a:p>
        </p:txBody>
      </p:sp>
      <p:sp>
        <p:nvSpPr>
          <p:cNvPr id="12" name="Rectangle 39"/>
          <p:cNvSpPr>
            <a:spLocks/>
          </p:cNvSpPr>
          <p:nvPr/>
        </p:nvSpPr>
        <p:spPr bwMode="auto">
          <a:xfrm>
            <a:off x="6929364" y="4053633"/>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4</a:t>
            </a:r>
          </a:p>
        </p:txBody>
      </p:sp>
      <p:sp>
        <p:nvSpPr>
          <p:cNvPr id="13" name="Rectangle 40"/>
          <p:cNvSpPr>
            <a:spLocks/>
          </p:cNvSpPr>
          <p:nvPr/>
        </p:nvSpPr>
        <p:spPr bwMode="auto">
          <a:xfrm>
            <a:off x="8002793" y="4023219"/>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5</a:t>
            </a:r>
          </a:p>
        </p:txBody>
      </p:sp>
      <p:sp>
        <p:nvSpPr>
          <p:cNvPr id="14" name="Rectangle 41"/>
          <p:cNvSpPr>
            <a:spLocks/>
          </p:cNvSpPr>
          <p:nvPr/>
        </p:nvSpPr>
        <p:spPr bwMode="auto">
          <a:xfrm>
            <a:off x="9062267" y="4023219"/>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6</a:t>
            </a:r>
          </a:p>
        </p:txBody>
      </p:sp>
      <p:sp>
        <p:nvSpPr>
          <p:cNvPr id="15" name="Rectangle 35"/>
          <p:cNvSpPr>
            <a:spLocks/>
          </p:cNvSpPr>
          <p:nvPr/>
        </p:nvSpPr>
        <p:spPr bwMode="auto">
          <a:xfrm>
            <a:off x="8054035" y="3436375"/>
            <a:ext cx="113814"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5</a:t>
            </a:r>
          </a:p>
        </p:txBody>
      </p:sp>
      <p:sp>
        <p:nvSpPr>
          <p:cNvPr id="17" name="Rectangle 35"/>
          <p:cNvSpPr>
            <a:spLocks/>
          </p:cNvSpPr>
          <p:nvPr/>
        </p:nvSpPr>
        <p:spPr bwMode="auto">
          <a:xfrm>
            <a:off x="6942242" y="3153436"/>
            <a:ext cx="256481"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10</a:t>
            </a:r>
          </a:p>
        </p:txBody>
      </p:sp>
      <p:sp>
        <p:nvSpPr>
          <p:cNvPr id="18" name="Rectangle 35"/>
          <p:cNvSpPr>
            <a:spLocks/>
          </p:cNvSpPr>
          <p:nvPr/>
        </p:nvSpPr>
        <p:spPr bwMode="auto">
          <a:xfrm>
            <a:off x="5960738" y="2872196"/>
            <a:ext cx="256481"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15</a:t>
            </a:r>
          </a:p>
        </p:txBody>
      </p:sp>
      <p:sp>
        <p:nvSpPr>
          <p:cNvPr id="19" name="Rectangle 35"/>
          <p:cNvSpPr>
            <a:spLocks/>
          </p:cNvSpPr>
          <p:nvPr/>
        </p:nvSpPr>
        <p:spPr bwMode="auto">
          <a:xfrm>
            <a:off x="4923956" y="2478492"/>
            <a:ext cx="256481"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20</a:t>
            </a:r>
          </a:p>
        </p:txBody>
      </p:sp>
      <p:sp>
        <p:nvSpPr>
          <p:cNvPr id="20" name="Rectangle 35"/>
          <p:cNvSpPr>
            <a:spLocks/>
          </p:cNvSpPr>
          <p:nvPr/>
        </p:nvSpPr>
        <p:spPr bwMode="auto">
          <a:xfrm>
            <a:off x="3812246" y="1966162"/>
            <a:ext cx="256481"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25</a:t>
            </a:r>
          </a:p>
        </p:txBody>
      </p:sp>
      <p:cxnSp>
        <p:nvCxnSpPr>
          <p:cNvPr id="21" name="Straight Arrow Connector 9"/>
          <p:cNvCxnSpPr>
            <a:cxnSpLocks/>
          </p:cNvCxnSpPr>
          <p:nvPr/>
        </p:nvCxnSpPr>
        <p:spPr>
          <a:xfrm flipV="1">
            <a:off x="7056604" y="3467153"/>
            <a:ext cx="0" cy="582849"/>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27" name="Straight Arrow Connector 9"/>
          <p:cNvCxnSpPr>
            <a:cxnSpLocks/>
          </p:cNvCxnSpPr>
          <p:nvPr/>
        </p:nvCxnSpPr>
        <p:spPr>
          <a:xfrm flipH="1" flipV="1">
            <a:off x="4995623" y="2755490"/>
            <a:ext cx="16856" cy="1303204"/>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28" name="Straight Arrow Connector 9"/>
          <p:cNvCxnSpPr>
            <a:cxnSpLocks/>
          </p:cNvCxnSpPr>
          <p:nvPr/>
        </p:nvCxnSpPr>
        <p:spPr>
          <a:xfrm flipV="1">
            <a:off x="6088978" y="3149194"/>
            <a:ext cx="0" cy="872442"/>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32" name="Straight Arrow Connector 9"/>
          <p:cNvCxnSpPr/>
          <p:nvPr/>
        </p:nvCxnSpPr>
        <p:spPr>
          <a:xfrm flipV="1">
            <a:off x="3940486" y="2388692"/>
            <a:ext cx="0" cy="1670003"/>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3" name="CuadroTexto 22">
                <a:extLst>
                  <a:ext uri="{FF2B5EF4-FFF2-40B4-BE49-F238E27FC236}">
                    <a16:creationId xmlns:a16="http://schemas.microsoft.com/office/drawing/2014/main" id="{CDCCD851-5EA3-1C24-97A4-5EF5466F9111}"/>
                  </a:ext>
                </a:extLst>
              </p:cNvPr>
              <p:cNvSpPr txBox="1"/>
              <p:nvPr/>
            </p:nvSpPr>
            <p:spPr>
              <a:xfrm>
                <a:off x="2204626" y="5557764"/>
                <a:ext cx="7782748" cy="738664"/>
              </a:xfrm>
              <a:prstGeom prst="rect">
                <a:avLst/>
              </a:prstGeom>
              <a:noFill/>
            </p:spPr>
            <p:txBody>
              <a:bodyPr wrap="square" lIns="0" tIns="0" rIns="0" bIns="0" rtlCol="0">
                <a:spAutoFit/>
              </a:bodyPr>
              <a:lstStyle/>
              <a:p>
                <a:pPr algn="ctr"/>
                <a14:m>
                  <m:oMathPara xmlns:m="http://schemas.openxmlformats.org/officeDocument/2006/math">
                    <m:oMathParaPr>
                      <m:jc m:val="centerGroup"/>
                    </m:oMathParaPr>
                    <m:oMath xmlns:m="http://schemas.openxmlformats.org/officeDocument/2006/math">
                      <m:r>
                        <a:rPr lang="es-CO" sz="2400" i="1">
                          <a:latin typeface="Cambria Math" panose="02040503050406030204" pitchFamily="18" charset="0"/>
                        </a:rPr>
                        <m:t>𝑉𝑃</m:t>
                      </m:r>
                      <m:r>
                        <a:rPr lang="es-CO" sz="2400" i="1">
                          <a:latin typeface="Cambria Math" panose="02040503050406030204" pitchFamily="18" charset="0"/>
                        </a:rPr>
                        <m:t>=</m:t>
                      </m:r>
                      <m:r>
                        <a:rPr lang="es-CO" sz="2400" i="1">
                          <a:latin typeface="Cambria Math" panose="02040503050406030204" pitchFamily="18" charset="0"/>
                        </a:rPr>
                        <m:t>𝑉</m:t>
                      </m:r>
                      <m:sSub>
                        <m:sSubPr>
                          <m:ctrlPr>
                            <a:rPr lang="es-CO" sz="2400" i="1">
                              <a:latin typeface="Cambria Math" panose="02040503050406030204" pitchFamily="18" charset="0"/>
                            </a:rPr>
                          </m:ctrlPr>
                        </m:sSubPr>
                        <m:e>
                          <m:r>
                            <a:rPr lang="es-CO" sz="2400" i="1">
                              <a:latin typeface="Cambria Math" panose="02040503050406030204" pitchFamily="18" charset="0"/>
                            </a:rPr>
                            <m:t>𝑃</m:t>
                          </m:r>
                        </m:e>
                        <m:sub>
                          <m:r>
                            <a:rPr lang="es-CO" sz="2400" i="1">
                              <a:latin typeface="Cambria Math" panose="02040503050406030204" pitchFamily="18" charset="0"/>
                            </a:rPr>
                            <m:t>𝑢𝑛𝑖</m:t>
                          </m:r>
                        </m:sub>
                      </m:sSub>
                      <m:r>
                        <m:rPr>
                          <m:nor/>
                        </m:rPr>
                        <a:rPr lang="es-CO" sz="2400" dirty="0"/>
                        <m:t>(</m:t>
                      </m:r>
                      <m:r>
                        <m:rPr>
                          <m:nor/>
                        </m:rPr>
                        <a:rPr lang="es-CO" sz="2400" dirty="0"/>
                        <m:t>A</m:t>
                      </m:r>
                      <m:r>
                        <m:rPr>
                          <m:nor/>
                        </m:rPr>
                        <a:rPr lang="es-CO" sz="2400" dirty="0"/>
                        <m:t>=25;  </m:t>
                      </m:r>
                      <m:r>
                        <m:rPr>
                          <m:nor/>
                        </m:rPr>
                        <a:rPr lang="es-CO" sz="2400" dirty="0"/>
                        <m:t>n</m:t>
                      </m:r>
                      <m:r>
                        <m:rPr>
                          <m:nor/>
                        </m:rPr>
                        <a:rPr lang="es-CO" sz="2400" dirty="0"/>
                        <m:t>=5;  </m:t>
                      </m:r>
                      <m:r>
                        <m:rPr>
                          <m:nor/>
                        </m:rPr>
                        <a:rPr lang="es-CO" sz="2400" dirty="0"/>
                        <m:t>i</m:t>
                      </m:r>
                      <m:r>
                        <m:rPr>
                          <m:nor/>
                        </m:rPr>
                        <a:rPr lang="es-CO" sz="2400" dirty="0"/>
                        <m:t>=5%)  −</m:t>
                      </m:r>
                      <m:r>
                        <a:rPr lang="es-CO" sz="2400" i="1" dirty="0">
                          <a:latin typeface="Cambria Math" panose="02040503050406030204" pitchFamily="18" charset="0"/>
                        </a:rPr>
                        <m:t>  </m:t>
                      </m:r>
                      <m:r>
                        <a:rPr lang="es-CO" sz="2400" i="1">
                          <a:latin typeface="Cambria Math" panose="02040503050406030204" pitchFamily="18" charset="0"/>
                        </a:rPr>
                        <m:t>𝑉</m:t>
                      </m:r>
                      <m:sSub>
                        <m:sSubPr>
                          <m:ctrlPr>
                            <a:rPr lang="es-CO" sz="2400" i="1">
                              <a:latin typeface="Cambria Math" panose="02040503050406030204" pitchFamily="18" charset="0"/>
                            </a:rPr>
                          </m:ctrlPr>
                        </m:sSubPr>
                        <m:e>
                          <m:r>
                            <a:rPr lang="es-CO" sz="2400" i="1">
                              <a:latin typeface="Cambria Math" panose="02040503050406030204" pitchFamily="18" charset="0"/>
                            </a:rPr>
                            <m:t>𝑃</m:t>
                          </m:r>
                        </m:e>
                        <m:sub>
                          <m:r>
                            <a:rPr lang="es-CO" sz="2400" i="1">
                              <a:latin typeface="Cambria Math" panose="02040503050406030204" pitchFamily="18" charset="0"/>
                            </a:rPr>
                            <m:t>𝑎𝑟𝑖𝑡</m:t>
                          </m:r>
                        </m:sub>
                      </m:sSub>
                      <m:r>
                        <m:rPr>
                          <m:nor/>
                        </m:rPr>
                        <a:rPr lang="es-CO" sz="2400" dirty="0"/>
                        <m:t>(</m:t>
                      </m:r>
                      <m:r>
                        <m:rPr>
                          <m:nor/>
                        </m:rPr>
                        <a:rPr lang="es-CO" sz="2400" dirty="0"/>
                        <m:t>G</m:t>
                      </m:r>
                      <m:r>
                        <m:rPr>
                          <m:nor/>
                        </m:rPr>
                        <a:rPr lang="es-CO" sz="2400" dirty="0"/>
                        <m:t>=5;  </m:t>
                      </m:r>
                      <m:r>
                        <m:rPr>
                          <m:nor/>
                        </m:rPr>
                        <a:rPr lang="es-CO" sz="2400" dirty="0"/>
                        <m:t>n</m:t>
                      </m:r>
                      <m:r>
                        <m:rPr>
                          <m:nor/>
                        </m:rPr>
                        <a:rPr lang="es-CO" sz="2400" dirty="0"/>
                        <m:t>=5;  </m:t>
                      </m:r>
                      <m:r>
                        <m:rPr>
                          <m:nor/>
                        </m:rPr>
                        <a:rPr lang="es-CO" sz="2400" dirty="0"/>
                        <m:t>i</m:t>
                      </m:r>
                      <m:r>
                        <m:rPr>
                          <m:nor/>
                        </m:rPr>
                        <a:rPr lang="es-CO" sz="2400" dirty="0"/>
                        <m:t>=5%)</m:t>
                      </m:r>
                    </m:oMath>
                  </m:oMathPara>
                </a14:m>
                <a:endParaRPr lang="es-CO" sz="2400"/>
              </a:p>
              <a:p>
                <a:pPr algn="ctr"/>
                <a:endParaRPr lang="es-CO" sz="2400"/>
              </a:p>
            </p:txBody>
          </p:sp>
        </mc:Choice>
        <mc:Fallback xmlns="">
          <p:sp>
            <p:nvSpPr>
              <p:cNvPr id="23" name="CuadroTexto 22">
                <a:extLst>
                  <a:ext uri="{FF2B5EF4-FFF2-40B4-BE49-F238E27FC236}">
                    <a16:creationId xmlns:a16="http://schemas.microsoft.com/office/drawing/2014/main" id="{CDCCD851-5EA3-1C24-97A4-5EF5466F9111}"/>
                  </a:ext>
                </a:extLst>
              </p:cNvPr>
              <p:cNvSpPr txBox="1">
                <a:spLocks noRot="1" noChangeAspect="1" noMove="1" noResize="1" noEditPoints="1" noAdjustHandles="1" noChangeArrowheads="1" noChangeShapeType="1" noTextEdit="1"/>
              </p:cNvSpPr>
              <p:nvPr/>
            </p:nvSpPr>
            <p:spPr>
              <a:xfrm>
                <a:off x="2204626" y="5557764"/>
                <a:ext cx="7782748" cy="738664"/>
              </a:xfrm>
              <a:prstGeom prst="rect">
                <a:avLst/>
              </a:prstGeom>
              <a:blipFill>
                <a:blip r:embed="rId3"/>
                <a:stretch>
                  <a:fillRect l="-326" t="-8475" r="-814"/>
                </a:stretch>
              </a:blipFill>
            </p:spPr>
            <p:txBody>
              <a:bodyPr/>
              <a:lstStyle/>
              <a:p>
                <a:r>
                  <a:rPr lang="es-CO">
                    <a:noFill/>
                  </a:rPr>
                  <a:t> </a:t>
                </a:r>
              </a:p>
            </p:txBody>
          </p:sp>
        </mc:Fallback>
      </mc:AlternateContent>
      <p:sp>
        <p:nvSpPr>
          <p:cNvPr id="24" name="Title 1">
            <a:extLst>
              <a:ext uri="{FF2B5EF4-FFF2-40B4-BE49-F238E27FC236}">
                <a16:creationId xmlns:a16="http://schemas.microsoft.com/office/drawing/2014/main" id="{95654B1A-6929-2E2F-80F6-341B5F264D38}"/>
              </a:ext>
            </a:extLst>
          </p:cNvPr>
          <p:cNvSpPr>
            <a:spLocks noGrp="1"/>
          </p:cNvSpPr>
          <p:nvPr>
            <p:ph type="title"/>
          </p:nvPr>
        </p:nvSpPr>
        <p:spPr>
          <a:xfrm>
            <a:off x="581192" y="702156"/>
            <a:ext cx="11029616" cy="1013800"/>
          </a:xfrm>
        </p:spPr>
        <p:txBody>
          <a:bodyPr>
            <a:normAutofit/>
          </a:bodyPr>
          <a:lstStyle/>
          <a:p>
            <a:r>
              <a:rPr lang="es-ES_tradnl" sz="3200" dirty="0">
                <a:latin typeface="Gill Sans MT (titulo)"/>
              </a:rPr>
              <a:t>Gradientes aritméticos</a:t>
            </a:r>
          </a:p>
        </p:txBody>
      </p:sp>
      <p:sp>
        <p:nvSpPr>
          <p:cNvPr id="25" name="Rectángulo 24">
            <a:extLst>
              <a:ext uri="{FF2B5EF4-FFF2-40B4-BE49-F238E27FC236}">
                <a16:creationId xmlns:a16="http://schemas.microsoft.com/office/drawing/2014/main" id="{9FCD23B9-B9A6-E2EC-6EB2-9F22E586AF04}"/>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29" name="Picture 2" descr="Clientes y aliados | Centro de Evaluación | Uniandes">
            <a:extLst>
              <a:ext uri="{FF2B5EF4-FFF2-40B4-BE49-F238E27FC236}">
                <a16:creationId xmlns:a16="http://schemas.microsoft.com/office/drawing/2014/main" id="{AEE6EDA9-FB2F-8459-2A24-C8CB59ED142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30" name="Rectángulo 29">
            <a:extLst>
              <a:ext uri="{FF2B5EF4-FFF2-40B4-BE49-F238E27FC236}">
                <a16:creationId xmlns:a16="http://schemas.microsoft.com/office/drawing/2014/main" id="{C9EF0CFA-55A8-D2D0-1F38-D1209A5DC980}"/>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2" name="Slide Number Placeholder 3">
            <a:extLst>
              <a:ext uri="{FF2B5EF4-FFF2-40B4-BE49-F238E27FC236}">
                <a16:creationId xmlns:a16="http://schemas.microsoft.com/office/drawing/2014/main" id="{EFD59FFE-EC7C-B152-D89C-6C8A6F38FF11}"/>
              </a:ext>
            </a:extLst>
          </p:cNvPr>
          <p:cNvSpPr txBox="1">
            <a:spLocks/>
          </p:cNvSpPr>
          <p:nvPr/>
        </p:nvSpPr>
        <p:spPr>
          <a:xfrm>
            <a:off x="10710700" y="6108537"/>
            <a:ext cx="1052508" cy="365125"/>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5E3E23BA-6E79-2442-BA73-D218A5E297C3}" type="slidenum">
              <a:rPr lang="en-US" sz="2000" b="1" smtClean="0">
                <a:latin typeface="Gill Sans MT (Títulos)"/>
              </a:rPr>
              <a:pPr/>
              <a:t>43</a:t>
            </a:fld>
            <a:endParaRPr lang="en-US" sz="2000" b="1" dirty="0">
              <a:latin typeface="Gill Sans MT (Títulos)"/>
            </a:endParaRPr>
          </a:p>
        </p:txBody>
      </p:sp>
    </p:spTree>
    <p:extLst>
      <p:ext uri="{BB962C8B-B14F-4D97-AF65-F5344CB8AC3E}">
        <p14:creationId xmlns:p14="http://schemas.microsoft.com/office/powerpoint/2010/main" val="31717209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42"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1000"/>
                                        <p:tgtEl>
                                          <p:spTgt spid="5"/>
                                        </p:tgtEl>
                                      </p:cBhvr>
                                    </p:animEffect>
                                    <p:anim calcmode="lin" valueType="num">
                                      <p:cBhvr>
                                        <p:cTn id="12" dur="1000" fill="hold"/>
                                        <p:tgtEl>
                                          <p:spTgt spid="5"/>
                                        </p:tgtEl>
                                        <p:attrNameLst>
                                          <p:attrName>ppt_x</p:attrName>
                                        </p:attrNameLst>
                                      </p:cBhvr>
                                      <p:tavLst>
                                        <p:tav tm="0">
                                          <p:val>
                                            <p:strVal val="#ppt_x"/>
                                          </p:val>
                                        </p:tav>
                                        <p:tav tm="100000">
                                          <p:val>
                                            <p:strVal val="#ppt_x"/>
                                          </p:val>
                                        </p:tav>
                                      </p:tavLst>
                                    </p:anim>
                                    <p:anim calcmode="lin" valueType="num">
                                      <p:cBhvr>
                                        <p:cTn id="13"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DAD129-B10D-E456-AE33-D59CB3042233}"/>
            </a:ext>
          </a:extLst>
        </p:cNvPr>
        <p:cNvGrpSpPr/>
        <p:nvPr/>
      </p:nvGrpSpPr>
      <p:grpSpPr>
        <a:xfrm>
          <a:off x="0" y="0"/>
          <a:ext cx="0" cy="0"/>
          <a:chOff x="0" y="0"/>
          <a:chExt cx="0" cy="0"/>
        </a:xfrm>
      </p:grpSpPr>
      <p:sp>
        <p:nvSpPr>
          <p:cNvPr id="24" name="Title 1">
            <a:extLst>
              <a:ext uri="{FF2B5EF4-FFF2-40B4-BE49-F238E27FC236}">
                <a16:creationId xmlns:a16="http://schemas.microsoft.com/office/drawing/2014/main" id="{D268D65F-40D9-5340-96C2-91EEAF53C77B}"/>
              </a:ext>
            </a:extLst>
          </p:cNvPr>
          <p:cNvSpPr>
            <a:spLocks noGrp="1"/>
          </p:cNvSpPr>
          <p:nvPr>
            <p:ph type="title"/>
          </p:nvPr>
        </p:nvSpPr>
        <p:spPr>
          <a:xfrm>
            <a:off x="581192" y="702156"/>
            <a:ext cx="11029616" cy="1013800"/>
          </a:xfrm>
        </p:spPr>
        <p:txBody>
          <a:bodyPr>
            <a:normAutofit/>
          </a:bodyPr>
          <a:lstStyle/>
          <a:p>
            <a:r>
              <a:rPr lang="es-ES_tradnl" sz="3200" dirty="0">
                <a:latin typeface="Gill Sans MT (titulo)"/>
              </a:rPr>
              <a:t>EJERCICIOS</a:t>
            </a:r>
          </a:p>
        </p:txBody>
      </p:sp>
      <p:sp>
        <p:nvSpPr>
          <p:cNvPr id="25" name="Rectángulo 24">
            <a:extLst>
              <a:ext uri="{FF2B5EF4-FFF2-40B4-BE49-F238E27FC236}">
                <a16:creationId xmlns:a16="http://schemas.microsoft.com/office/drawing/2014/main" id="{312A0754-044B-4922-737D-46ABD323F6E0}"/>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29" name="Picture 2" descr="Clientes y aliados | Centro de Evaluación | Uniandes">
            <a:extLst>
              <a:ext uri="{FF2B5EF4-FFF2-40B4-BE49-F238E27FC236}">
                <a16:creationId xmlns:a16="http://schemas.microsoft.com/office/drawing/2014/main" id="{3C1A4B53-F79B-0E38-C2B5-6C49FE37D22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30" name="Rectángulo 29">
            <a:extLst>
              <a:ext uri="{FF2B5EF4-FFF2-40B4-BE49-F238E27FC236}">
                <a16:creationId xmlns:a16="http://schemas.microsoft.com/office/drawing/2014/main" id="{E1C8AEE9-728F-3987-E1A5-996190258D61}"/>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2" name="Slide Number Placeholder 3">
            <a:extLst>
              <a:ext uri="{FF2B5EF4-FFF2-40B4-BE49-F238E27FC236}">
                <a16:creationId xmlns:a16="http://schemas.microsoft.com/office/drawing/2014/main" id="{F24A8A78-36D5-38BC-5B52-25443C2251F5}"/>
              </a:ext>
            </a:extLst>
          </p:cNvPr>
          <p:cNvSpPr txBox="1">
            <a:spLocks/>
          </p:cNvSpPr>
          <p:nvPr/>
        </p:nvSpPr>
        <p:spPr>
          <a:xfrm>
            <a:off x="10710700" y="6108537"/>
            <a:ext cx="1052508" cy="365125"/>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5E3E23BA-6E79-2442-BA73-D218A5E297C3}" type="slidenum">
              <a:rPr lang="en-US" sz="2000" b="1" smtClean="0">
                <a:latin typeface="Gill Sans MT (Títulos)"/>
              </a:rPr>
              <a:pPr/>
              <a:t>44</a:t>
            </a:fld>
            <a:endParaRPr lang="en-US" sz="2000" b="1" dirty="0">
              <a:latin typeface="Gill Sans MT (Títulos)"/>
            </a:endParaRPr>
          </a:p>
        </p:txBody>
      </p:sp>
      <p:sp>
        <p:nvSpPr>
          <p:cNvPr id="33" name="Content Placeholder 2">
            <a:extLst>
              <a:ext uri="{FF2B5EF4-FFF2-40B4-BE49-F238E27FC236}">
                <a16:creationId xmlns:a16="http://schemas.microsoft.com/office/drawing/2014/main" id="{2BBAFD57-C03C-B986-5FB7-A6FB6FCDF5F2}"/>
              </a:ext>
            </a:extLst>
          </p:cNvPr>
          <p:cNvSpPr>
            <a:spLocks noGrp="1"/>
          </p:cNvSpPr>
          <p:nvPr>
            <p:ph idx="1"/>
          </p:nvPr>
        </p:nvSpPr>
        <p:spPr>
          <a:xfrm>
            <a:off x="499818" y="2155126"/>
            <a:ext cx="10968843" cy="3542289"/>
          </a:xfrm>
        </p:spPr>
        <p:txBody>
          <a:bodyPr>
            <a:noAutofit/>
          </a:bodyPr>
          <a:lstStyle/>
          <a:p>
            <a:pPr marL="0" indent="0">
              <a:buNone/>
            </a:pPr>
            <a:r>
              <a:rPr lang="es-MX" sz="2400" b="1" dirty="0">
                <a:solidFill>
                  <a:srgbClr val="D7A700"/>
                </a:solidFill>
              </a:rPr>
              <a:t>Ejercicio 1:</a:t>
            </a:r>
            <a:r>
              <a:rPr lang="es-MX" sz="2400" dirty="0"/>
              <a:t>Teniendo en cuenta el diagrama de flujos presentado a continuación: </a:t>
            </a:r>
          </a:p>
          <a:p>
            <a:pPr marL="0" indent="0">
              <a:buNone/>
            </a:pPr>
            <a:endParaRPr lang="es-CO" sz="2400" dirty="0"/>
          </a:p>
          <a:p>
            <a:pPr marL="0" indent="0">
              <a:buNone/>
            </a:pPr>
            <a:endParaRPr lang="es-CO" sz="2400" dirty="0"/>
          </a:p>
          <a:p>
            <a:pPr marL="0" indent="0">
              <a:buNone/>
            </a:pPr>
            <a:endParaRPr lang="es-CO" sz="2400" dirty="0"/>
          </a:p>
          <a:p>
            <a:pPr marL="0" indent="0">
              <a:buNone/>
            </a:pPr>
            <a:endParaRPr lang="es-CO" sz="2400" dirty="0"/>
          </a:p>
          <a:p>
            <a:pPr marL="0" indent="0">
              <a:buNone/>
            </a:pPr>
            <a:endParaRPr lang="es-CO" sz="2400" dirty="0"/>
          </a:p>
          <a:p>
            <a:pPr marL="0" indent="0">
              <a:buNone/>
            </a:pPr>
            <a:r>
              <a:rPr lang="es-CO" sz="2400" dirty="0"/>
              <a:t>y que, además:</a:t>
            </a:r>
          </a:p>
        </p:txBody>
      </p:sp>
      <p:graphicFrame>
        <p:nvGraphicFramePr>
          <p:cNvPr id="34" name="Gráfico 33">
            <a:extLst>
              <a:ext uri="{FF2B5EF4-FFF2-40B4-BE49-F238E27FC236}">
                <a16:creationId xmlns:a16="http://schemas.microsoft.com/office/drawing/2014/main" id="{4CF30BA7-9013-47CC-B93C-451D8C88EFF0}"/>
              </a:ext>
            </a:extLst>
          </p:cNvPr>
          <p:cNvGraphicFramePr/>
          <p:nvPr>
            <p:extLst>
              <p:ext uri="{D42A27DB-BD31-4B8C-83A1-F6EECF244321}">
                <p14:modId xmlns:p14="http://schemas.microsoft.com/office/powerpoint/2010/main" val="475707333"/>
              </p:ext>
            </p:extLst>
          </p:nvPr>
        </p:nvGraphicFramePr>
        <p:xfrm>
          <a:off x="3984625" y="2798445"/>
          <a:ext cx="4222750" cy="2581910"/>
        </p:xfrm>
        <a:graphic>
          <a:graphicData uri="http://schemas.openxmlformats.org/drawingml/2006/chart">
            <c:chart xmlns:c="http://schemas.openxmlformats.org/drawingml/2006/chart" xmlns:r="http://schemas.openxmlformats.org/officeDocument/2006/relationships" r:id="rId4"/>
          </a:graphicData>
        </a:graphic>
      </p:graphicFrame>
      <mc:AlternateContent xmlns:mc="http://schemas.openxmlformats.org/markup-compatibility/2006" xmlns:a14="http://schemas.microsoft.com/office/drawing/2010/main">
        <mc:Choice Requires="a14">
          <p:sp>
            <p:nvSpPr>
              <p:cNvPr id="36" name="CuadroTexto 35">
                <a:extLst>
                  <a:ext uri="{FF2B5EF4-FFF2-40B4-BE49-F238E27FC236}">
                    <a16:creationId xmlns:a16="http://schemas.microsoft.com/office/drawing/2014/main" id="{114CC3BA-E39D-8AB1-AE3A-C3271A020B68}"/>
                  </a:ext>
                </a:extLst>
              </p:cNvPr>
              <p:cNvSpPr txBox="1"/>
              <p:nvPr/>
            </p:nvSpPr>
            <p:spPr>
              <a:xfrm>
                <a:off x="1293731" y="5782225"/>
                <a:ext cx="6096000" cy="7087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s-MX" i="1" smtClean="0">
                              <a:latin typeface="Cambria Math" panose="02040503050406030204" pitchFamily="18" charset="0"/>
                            </a:rPr>
                          </m:ctrlPr>
                        </m:sSubPr>
                        <m:e>
                          <m:r>
                            <m:rPr>
                              <m:sty m:val="p"/>
                            </m:rPr>
                            <a:rPr lang="es-MX">
                              <a:latin typeface="Cambria Math" panose="02040503050406030204" pitchFamily="18" charset="0"/>
                            </a:rPr>
                            <m:t>f</m:t>
                          </m:r>
                        </m:e>
                        <m:sub>
                          <m:r>
                            <m:rPr>
                              <m:sty m:val="p"/>
                            </m:rPr>
                            <a:rPr lang="es-MX" i="0">
                              <a:latin typeface="Cambria Math" panose="02040503050406030204" pitchFamily="18" charset="0"/>
                            </a:rPr>
                            <m:t>A</m:t>
                          </m:r>
                        </m:sub>
                      </m:sSub>
                      <m:r>
                        <a:rPr lang="es-MX" i="0">
                          <a:latin typeface="Cambria Math" panose="02040503050406030204" pitchFamily="18" charset="0"/>
                        </a:rPr>
                        <m:t>=</m:t>
                      </m:r>
                      <m:r>
                        <m:rPr>
                          <m:sty m:val="p"/>
                        </m:rPr>
                        <a:rPr lang="es-MX" i="0">
                          <a:latin typeface="Cambria Math" panose="02040503050406030204" pitchFamily="18" charset="0"/>
                        </a:rPr>
                        <m:t>A</m:t>
                      </m:r>
                      <m:d>
                        <m:dPr>
                          <m:begChr m:val="["/>
                          <m:endChr m:val="]"/>
                          <m:ctrlPr>
                            <a:rPr lang="es-MX" i="1">
                              <a:latin typeface="Cambria Math" panose="02040503050406030204" pitchFamily="18" charset="0"/>
                            </a:rPr>
                          </m:ctrlPr>
                        </m:dPr>
                        <m:e>
                          <m:f>
                            <m:fPr>
                              <m:ctrlPr>
                                <a:rPr lang="es-MX" i="1">
                                  <a:latin typeface="Cambria Math" panose="02040503050406030204" pitchFamily="18" charset="0"/>
                                </a:rPr>
                              </m:ctrlPr>
                            </m:fPr>
                            <m:num>
                              <m:sSup>
                                <m:sSupPr>
                                  <m:ctrlPr>
                                    <a:rPr lang="es-MX" i="1">
                                      <a:latin typeface="Cambria Math" panose="02040503050406030204" pitchFamily="18" charset="0"/>
                                    </a:rPr>
                                  </m:ctrlPr>
                                </m:sSupPr>
                                <m:e>
                                  <m:d>
                                    <m:dPr>
                                      <m:ctrlPr>
                                        <a:rPr lang="es-MX" i="1">
                                          <a:latin typeface="Cambria Math" panose="02040503050406030204" pitchFamily="18" charset="0"/>
                                        </a:rPr>
                                      </m:ctrlPr>
                                    </m:dPr>
                                    <m:e>
                                      <m:r>
                                        <a:rPr lang="es-MX" i="0">
                                          <a:latin typeface="Cambria Math" panose="02040503050406030204" pitchFamily="18" charset="0"/>
                                        </a:rPr>
                                        <m:t>1+</m:t>
                                      </m:r>
                                      <m:r>
                                        <m:rPr>
                                          <m:sty m:val="p"/>
                                        </m:rPr>
                                        <a:rPr lang="es-MX" i="0">
                                          <a:latin typeface="Cambria Math" panose="02040503050406030204" pitchFamily="18" charset="0"/>
                                        </a:rPr>
                                        <m:t>i</m:t>
                                      </m:r>
                                    </m:e>
                                  </m:d>
                                </m:e>
                                <m:sup>
                                  <m:r>
                                    <m:rPr>
                                      <m:sty m:val="p"/>
                                    </m:rPr>
                                    <a:rPr lang="es-MX" i="0">
                                      <a:latin typeface="Cambria Math" panose="02040503050406030204" pitchFamily="18" charset="0"/>
                                    </a:rPr>
                                    <m:t>n</m:t>
                                  </m:r>
                                </m:sup>
                              </m:sSup>
                              <m:r>
                                <a:rPr lang="es-MX" i="0">
                                  <a:latin typeface="Cambria Math" panose="02040503050406030204" pitchFamily="18" charset="0"/>
                                </a:rPr>
                                <m:t>−1</m:t>
                              </m:r>
                            </m:num>
                            <m:den>
                              <m:r>
                                <m:rPr>
                                  <m:sty m:val="p"/>
                                </m:rPr>
                                <a:rPr lang="es-MX" i="0">
                                  <a:latin typeface="Cambria Math" panose="02040503050406030204" pitchFamily="18" charset="0"/>
                                </a:rPr>
                                <m:t>i</m:t>
                              </m:r>
                              <m:sSup>
                                <m:sSupPr>
                                  <m:ctrlPr>
                                    <a:rPr lang="es-MX" i="1">
                                      <a:latin typeface="Cambria Math" panose="02040503050406030204" pitchFamily="18" charset="0"/>
                                    </a:rPr>
                                  </m:ctrlPr>
                                </m:sSupPr>
                                <m:e>
                                  <m:d>
                                    <m:dPr>
                                      <m:ctrlPr>
                                        <a:rPr lang="es-MX" i="1">
                                          <a:latin typeface="Cambria Math" panose="02040503050406030204" pitchFamily="18" charset="0"/>
                                        </a:rPr>
                                      </m:ctrlPr>
                                    </m:dPr>
                                    <m:e>
                                      <m:r>
                                        <a:rPr lang="es-MX" i="0">
                                          <a:latin typeface="Cambria Math" panose="02040503050406030204" pitchFamily="18" charset="0"/>
                                        </a:rPr>
                                        <m:t>1+</m:t>
                                      </m:r>
                                      <m:r>
                                        <m:rPr>
                                          <m:sty m:val="p"/>
                                        </m:rPr>
                                        <a:rPr lang="es-MX" i="0">
                                          <a:latin typeface="Cambria Math" panose="02040503050406030204" pitchFamily="18" charset="0"/>
                                        </a:rPr>
                                        <m:t>i</m:t>
                                      </m:r>
                                    </m:e>
                                  </m:d>
                                </m:e>
                                <m:sup>
                                  <m:r>
                                    <m:rPr>
                                      <m:sty m:val="p"/>
                                    </m:rPr>
                                    <a:rPr lang="es-MX" i="0">
                                      <a:latin typeface="Cambria Math" panose="02040503050406030204" pitchFamily="18" charset="0"/>
                                    </a:rPr>
                                    <m:t>n</m:t>
                                  </m:r>
                                </m:sup>
                              </m:sSup>
                            </m:den>
                          </m:f>
                        </m:e>
                      </m:d>
                    </m:oMath>
                  </m:oMathPara>
                </a14:m>
                <a:endParaRPr lang="es-MX" dirty="0"/>
              </a:p>
            </p:txBody>
          </p:sp>
        </mc:Choice>
        <mc:Fallback xmlns="">
          <p:sp>
            <p:nvSpPr>
              <p:cNvPr id="36" name="CuadroTexto 35">
                <a:extLst>
                  <a:ext uri="{FF2B5EF4-FFF2-40B4-BE49-F238E27FC236}">
                    <a16:creationId xmlns:a16="http://schemas.microsoft.com/office/drawing/2014/main" id="{114CC3BA-E39D-8AB1-AE3A-C3271A020B68}"/>
                  </a:ext>
                </a:extLst>
              </p:cNvPr>
              <p:cNvSpPr txBox="1">
                <a:spLocks noRot="1" noChangeAspect="1" noMove="1" noResize="1" noEditPoints="1" noAdjustHandles="1" noChangeArrowheads="1" noChangeShapeType="1" noTextEdit="1"/>
              </p:cNvSpPr>
              <p:nvPr/>
            </p:nvSpPr>
            <p:spPr>
              <a:xfrm>
                <a:off x="1293731" y="5782225"/>
                <a:ext cx="6096000" cy="708720"/>
              </a:xfrm>
              <a:prstGeom prst="rect">
                <a:avLst/>
              </a:prstGeom>
              <a:blipFill>
                <a:blip r:embed="rId5"/>
                <a:stretch>
                  <a:fillRect/>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38" name="CuadroTexto 37">
                <a:extLst>
                  <a:ext uri="{FF2B5EF4-FFF2-40B4-BE49-F238E27FC236}">
                    <a16:creationId xmlns:a16="http://schemas.microsoft.com/office/drawing/2014/main" id="{C816B44F-B9BE-DB0B-CAFC-33AEC3D7E163}"/>
                  </a:ext>
                </a:extLst>
              </p:cNvPr>
              <p:cNvSpPr txBox="1"/>
              <p:nvPr/>
            </p:nvSpPr>
            <p:spPr>
              <a:xfrm>
                <a:off x="4802269" y="5754177"/>
                <a:ext cx="6096000" cy="7087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s-MX" i="1" smtClean="0">
                              <a:latin typeface="Cambria Math" panose="02040503050406030204" pitchFamily="18" charset="0"/>
                            </a:rPr>
                          </m:ctrlPr>
                        </m:sSubPr>
                        <m:e>
                          <m:r>
                            <m:rPr>
                              <m:sty m:val="p"/>
                            </m:rPr>
                            <a:rPr lang="es-MX">
                              <a:latin typeface="Cambria Math" panose="02040503050406030204" pitchFamily="18" charset="0"/>
                            </a:rPr>
                            <m:t>f</m:t>
                          </m:r>
                        </m:e>
                        <m:sub>
                          <m:r>
                            <m:rPr>
                              <m:sty m:val="p"/>
                            </m:rPr>
                            <a:rPr lang="es-MX" i="0">
                              <a:latin typeface="Cambria Math" panose="02040503050406030204" pitchFamily="18" charset="0"/>
                            </a:rPr>
                            <m:t>GA</m:t>
                          </m:r>
                        </m:sub>
                      </m:sSub>
                      <m:r>
                        <a:rPr lang="es-MX" i="0">
                          <a:latin typeface="Cambria Math" panose="02040503050406030204" pitchFamily="18" charset="0"/>
                        </a:rPr>
                        <m:t>=</m:t>
                      </m:r>
                      <m:f>
                        <m:fPr>
                          <m:ctrlPr>
                            <a:rPr lang="es-MX" i="1">
                              <a:latin typeface="Cambria Math" panose="02040503050406030204" pitchFamily="18" charset="0"/>
                            </a:rPr>
                          </m:ctrlPr>
                        </m:fPr>
                        <m:num>
                          <m:r>
                            <m:rPr>
                              <m:sty m:val="p"/>
                            </m:rPr>
                            <a:rPr lang="es-MX" i="0">
                              <a:latin typeface="Cambria Math" panose="02040503050406030204" pitchFamily="18" charset="0"/>
                            </a:rPr>
                            <m:t>G</m:t>
                          </m:r>
                        </m:num>
                        <m:den>
                          <m:r>
                            <m:rPr>
                              <m:sty m:val="p"/>
                            </m:rPr>
                            <a:rPr lang="es-MX" i="0">
                              <a:latin typeface="Cambria Math" panose="02040503050406030204" pitchFamily="18" charset="0"/>
                            </a:rPr>
                            <m:t>i</m:t>
                          </m:r>
                        </m:den>
                      </m:f>
                      <m:d>
                        <m:dPr>
                          <m:begChr m:val="["/>
                          <m:endChr m:val="]"/>
                          <m:ctrlPr>
                            <a:rPr lang="es-MX" i="1">
                              <a:latin typeface="Cambria Math" panose="02040503050406030204" pitchFamily="18" charset="0"/>
                            </a:rPr>
                          </m:ctrlPr>
                        </m:dPr>
                        <m:e>
                          <m:f>
                            <m:fPr>
                              <m:ctrlPr>
                                <a:rPr lang="es-MX" i="1">
                                  <a:latin typeface="Cambria Math" panose="02040503050406030204" pitchFamily="18" charset="0"/>
                                </a:rPr>
                              </m:ctrlPr>
                            </m:fPr>
                            <m:num>
                              <m:sSup>
                                <m:sSupPr>
                                  <m:ctrlPr>
                                    <a:rPr lang="es-MX" i="1">
                                      <a:latin typeface="Cambria Math" panose="02040503050406030204" pitchFamily="18" charset="0"/>
                                    </a:rPr>
                                  </m:ctrlPr>
                                </m:sSupPr>
                                <m:e>
                                  <m:d>
                                    <m:dPr>
                                      <m:ctrlPr>
                                        <a:rPr lang="es-MX" i="1">
                                          <a:latin typeface="Cambria Math" panose="02040503050406030204" pitchFamily="18" charset="0"/>
                                        </a:rPr>
                                      </m:ctrlPr>
                                    </m:dPr>
                                    <m:e>
                                      <m:r>
                                        <a:rPr lang="es-MX" i="0">
                                          <a:latin typeface="Cambria Math" panose="02040503050406030204" pitchFamily="18" charset="0"/>
                                        </a:rPr>
                                        <m:t>1+</m:t>
                                      </m:r>
                                      <m:r>
                                        <m:rPr>
                                          <m:sty m:val="p"/>
                                        </m:rPr>
                                        <a:rPr lang="es-MX" i="0">
                                          <a:latin typeface="Cambria Math" panose="02040503050406030204" pitchFamily="18" charset="0"/>
                                        </a:rPr>
                                        <m:t>i</m:t>
                                      </m:r>
                                    </m:e>
                                  </m:d>
                                </m:e>
                                <m:sup>
                                  <m:r>
                                    <m:rPr>
                                      <m:sty m:val="p"/>
                                    </m:rPr>
                                    <a:rPr lang="es-MX" i="0">
                                      <a:latin typeface="Cambria Math" panose="02040503050406030204" pitchFamily="18" charset="0"/>
                                    </a:rPr>
                                    <m:t>n</m:t>
                                  </m:r>
                                </m:sup>
                              </m:sSup>
                              <m:r>
                                <a:rPr lang="es-MX" i="0">
                                  <a:latin typeface="Cambria Math" panose="02040503050406030204" pitchFamily="18" charset="0"/>
                                </a:rPr>
                                <m:t>−1</m:t>
                              </m:r>
                            </m:num>
                            <m:den>
                              <m:r>
                                <m:rPr>
                                  <m:sty m:val="p"/>
                                </m:rPr>
                                <a:rPr lang="es-MX" i="0">
                                  <a:latin typeface="Cambria Math" panose="02040503050406030204" pitchFamily="18" charset="0"/>
                                </a:rPr>
                                <m:t>i</m:t>
                              </m:r>
                              <m:sSup>
                                <m:sSupPr>
                                  <m:ctrlPr>
                                    <a:rPr lang="es-MX" i="1">
                                      <a:latin typeface="Cambria Math" panose="02040503050406030204" pitchFamily="18" charset="0"/>
                                    </a:rPr>
                                  </m:ctrlPr>
                                </m:sSupPr>
                                <m:e>
                                  <m:d>
                                    <m:dPr>
                                      <m:ctrlPr>
                                        <a:rPr lang="es-MX" i="1">
                                          <a:latin typeface="Cambria Math" panose="02040503050406030204" pitchFamily="18" charset="0"/>
                                        </a:rPr>
                                      </m:ctrlPr>
                                    </m:dPr>
                                    <m:e>
                                      <m:r>
                                        <a:rPr lang="es-MX" i="0">
                                          <a:latin typeface="Cambria Math" panose="02040503050406030204" pitchFamily="18" charset="0"/>
                                        </a:rPr>
                                        <m:t>1+</m:t>
                                      </m:r>
                                      <m:r>
                                        <m:rPr>
                                          <m:sty m:val="p"/>
                                        </m:rPr>
                                        <a:rPr lang="es-MX" i="0">
                                          <a:latin typeface="Cambria Math" panose="02040503050406030204" pitchFamily="18" charset="0"/>
                                        </a:rPr>
                                        <m:t>i</m:t>
                                      </m:r>
                                    </m:e>
                                  </m:d>
                                </m:e>
                                <m:sup>
                                  <m:r>
                                    <m:rPr>
                                      <m:sty m:val="p"/>
                                    </m:rPr>
                                    <a:rPr lang="es-MX" i="0">
                                      <a:latin typeface="Cambria Math" panose="02040503050406030204" pitchFamily="18" charset="0"/>
                                    </a:rPr>
                                    <m:t>n</m:t>
                                  </m:r>
                                </m:sup>
                              </m:sSup>
                            </m:den>
                          </m:f>
                          <m:r>
                            <a:rPr lang="es-MX" i="0">
                              <a:latin typeface="Cambria Math" panose="02040503050406030204" pitchFamily="18" charset="0"/>
                            </a:rPr>
                            <m:t>−</m:t>
                          </m:r>
                          <m:f>
                            <m:fPr>
                              <m:ctrlPr>
                                <a:rPr lang="es-MX" i="1">
                                  <a:latin typeface="Cambria Math" panose="02040503050406030204" pitchFamily="18" charset="0"/>
                                </a:rPr>
                              </m:ctrlPr>
                            </m:fPr>
                            <m:num>
                              <m:r>
                                <m:rPr>
                                  <m:sty m:val="p"/>
                                </m:rPr>
                                <a:rPr lang="es-MX" i="0">
                                  <a:latin typeface="Cambria Math" panose="02040503050406030204" pitchFamily="18" charset="0"/>
                                </a:rPr>
                                <m:t>n</m:t>
                              </m:r>
                            </m:num>
                            <m:den>
                              <m:sSup>
                                <m:sSupPr>
                                  <m:ctrlPr>
                                    <a:rPr lang="es-MX" i="1">
                                      <a:latin typeface="Cambria Math" panose="02040503050406030204" pitchFamily="18" charset="0"/>
                                    </a:rPr>
                                  </m:ctrlPr>
                                </m:sSupPr>
                                <m:e>
                                  <m:d>
                                    <m:dPr>
                                      <m:ctrlPr>
                                        <a:rPr lang="es-MX" i="1">
                                          <a:latin typeface="Cambria Math" panose="02040503050406030204" pitchFamily="18" charset="0"/>
                                        </a:rPr>
                                      </m:ctrlPr>
                                    </m:dPr>
                                    <m:e>
                                      <m:r>
                                        <a:rPr lang="es-MX" i="0">
                                          <a:latin typeface="Cambria Math" panose="02040503050406030204" pitchFamily="18" charset="0"/>
                                        </a:rPr>
                                        <m:t>1+</m:t>
                                      </m:r>
                                      <m:r>
                                        <m:rPr>
                                          <m:sty m:val="p"/>
                                        </m:rPr>
                                        <a:rPr lang="es-MX" i="0">
                                          <a:latin typeface="Cambria Math" panose="02040503050406030204" pitchFamily="18" charset="0"/>
                                        </a:rPr>
                                        <m:t>i</m:t>
                                      </m:r>
                                    </m:e>
                                  </m:d>
                                </m:e>
                                <m:sup>
                                  <m:r>
                                    <m:rPr>
                                      <m:sty m:val="p"/>
                                    </m:rPr>
                                    <a:rPr lang="es-MX" i="0">
                                      <a:latin typeface="Cambria Math" panose="02040503050406030204" pitchFamily="18" charset="0"/>
                                    </a:rPr>
                                    <m:t>n</m:t>
                                  </m:r>
                                </m:sup>
                              </m:sSup>
                            </m:den>
                          </m:f>
                        </m:e>
                      </m:d>
                    </m:oMath>
                  </m:oMathPara>
                </a14:m>
                <a:endParaRPr lang="es-MX" dirty="0"/>
              </a:p>
            </p:txBody>
          </p:sp>
        </mc:Choice>
        <mc:Fallback xmlns="">
          <p:sp>
            <p:nvSpPr>
              <p:cNvPr id="38" name="CuadroTexto 37">
                <a:extLst>
                  <a:ext uri="{FF2B5EF4-FFF2-40B4-BE49-F238E27FC236}">
                    <a16:creationId xmlns:a16="http://schemas.microsoft.com/office/drawing/2014/main" id="{C816B44F-B9BE-DB0B-CAFC-33AEC3D7E163}"/>
                  </a:ext>
                </a:extLst>
              </p:cNvPr>
              <p:cNvSpPr txBox="1">
                <a:spLocks noRot="1" noChangeAspect="1" noMove="1" noResize="1" noEditPoints="1" noAdjustHandles="1" noChangeArrowheads="1" noChangeShapeType="1" noTextEdit="1"/>
              </p:cNvSpPr>
              <p:nvPr/>
            </p:nvSpPr>
            <p:spPr>
              <a:xfrm>
                <a:off x="4802269" y="5754177"/>
                <a:ext cx="6096000" cy="708720"/>
              </a:xfrm>
              <a:prstGeom prst="rect">
                <a:avLst/>
              </a:prstGeom>
              <a:blipFill>
                <a:blip r:embed="rId6"/>
                <a:stretch>
                  <a:fillRect/>
                </a:stretch>
              </a:blipFill>
            </p:spPr>
            <p:txBody>
              <a:bodyPr/>
              <a:lstStyle/>
              <a:p>
                <a:r>
                  <a:rPr lang="es-MX">
                    <a:noFill/>
                  </a:rPr>
                  <a:t> </a:t>
                </a:r>
              </a:p>
            </p:txBody>
          </p:sp>
        </mc:Fallback>
      </mc:AlternateContent>
    </p:spTree>
    <p:extLst>
      <p:ext uri="{BB962C8B-B14F-4D97-AF65-F5344CB8AC3E}">
        <p14:creationId xmlns:p14="http://schemas.microsoft.com/office/powerpoint/2010/main" val="32531845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41624D-8C2F-15A2-4062-37A85526A90A}"/>
            </a:ext>
          </a:extLst>
        </p:cNvPr>
        <p:cNvGrpSpPr/>
        <p:nvPr/>
      </p:nvGrpSpPr>
      <p:grpSpPr>
        <a:xfrm>
          <a:off x="0" y="0"/>
          <a:ext cx="0" cy="0"/>
          <a:chOff x="0" y="0"/>
          <a:chExt cx="0" cy="0"/>
        </a:xfrm>
      </p:grpSpPr>
      <p:sp>
        <p:nvSpPr>
          <p:cNvPr id="24" name="Title 1">
            <a:extLst>
              <a:ext uri="{FF2B5EF4-FFF2-40B4-BE49-F238E27FC236}">
                <a16:creationId xmlns:a16="http://schemas.microsoft.com/office/drawing/2014/main" id="{0281B6DC-47A8-2A45-08BA-B35695BC67E1}"/>
              </a:ext>
            </a:extLst>
          </p:cNvPr>
          <p:cNvSpPr>
            <a:spLocks noGrp="1"/>
          </p:cNvSpPr>
          <p:nvPr>
            <p:ph type="title"/>
          </p:nvPr>
        </p:nvSpPr>
        <p:spPr>
          <a:xfrm>
            <a:off x="581192" y="702156"/>
            <a:ext cx="11029616" cy="1013800"/>
          </a:xfrm>
        </p:spPr>
        <p:txBody>
          <a:bodyPr>
            <a:normAutofit/>
          </a:bodyPr>
          <a:lstStyle/>
          <a:p>
            <a:r>
              <a:rPr lang="es-ES_tradnl" sz="3200" dirty="0">
                <a:latin typeface="Gill Sans MT (titulo)"/>
              </a:rPr>
              <a:t>EJERCICIOS</a:t>
            </a:r>
          </a:p>
        </p:txBody>
      </p:sp>
      <p:sp>
        <p:nvSpPr>
          <p:cNvPr id="25" name="Rectángulo 24">
            <a:extLst>
              <a:ext uri="{FF2B5EF4-FFF2-40B4-BE49-F238E27FC236}">
                <a16:creationId xmlns:a16="http://schemas.microsoft.com/office/drawing/2014/main" id="{CBEF5005-4283-348E-420D-4CAB8C492BF0}"/>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29" name="Picture 2" descr="Clientes y aliados | Centro de Evaluación | Uniandes">
            <a:extLst>
              <a:ext uri="{FF2B5EF4-FFF2-40B4-BE49-F238E27FC236}">
                <a16:creationId xmlns:a16="http://schemas.microsoft.com/office/drawing/2014/main" id="{B362EC2D-5D86-D35D-BDED-412546C17CE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30" name="Rectángulo 29">
            <a:extLst>
              <a:ext uri="{FF2B5EF4-FFF2-40B4-BE49-F238E27FC236}">
                <a16:creationId xmlns:a16="http://schemas.microsoft.com/office/drawing/2014/main" id="{E4701CA0-DD0E-4A11-025D-141947B0D94C}"/>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2" name="Slide Number Placeholder 3">
            <a:extLst>
              <a:ext uri="{FF2B5EF4-FFF2-40B4-BE49-F238E27FC236}">
                <a16:creationId xmlns:a16="http://schemas.microsoft.com/office/drawing/2014/main" id="{C5BA851E-3A9E-7062-7938-F145C8520E05}"/>
              </a:ext>
            </a:extLst>
          </p:cNvPr>
          <p:cNvSpPr txBox="1">
            <a:spLocks/>
          </p:cNvSpPr>
          <p:nvPr/>
        </p:nvSpPr>
        <p:spPr>
          <a:xfrm>
            <a:off x="10710700" y="6108537"/>
            <a:ext cx="1052508" cy="365125"/>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5E3E23BA-6E79-2442-BA73-D218A5E297C3}" type="slidenum">
              <a:rPr lang="en-US" sz="2000" b="1" smtClean="0">
                <a:latin typeface="Gill Sans MT (Títulos)"/>
              </a:rPr>
              <a:pPr/>
              <a:t>45</a:t>
            </a:fld>
            <a:endParaRPr lang="en-US" sz="2000" b="1" dirty="0">
              <a:latin typeface="Gill Sans MT (Títulos)"/>
            </a:endParaRPr>
          </a:p>
        </p:txBody>
      </p:sp>
      <p:sp>
        <p:nvSpPr>
          <p:cNvPr id="33" name="Content Placeholder 2">
            <a:extLst>
              <a:ext uri="{FF2B5EF4-FFF2-40B4-BE49-F238E27FC236}">
                <a16:creationId xmlns:a16="http://schemas.microsoft.com/office/drawing/2014/main" id="{0774FE2F-3654-CE33-53F4-7E6872B3789A}"/>
              </a:ext>
            </a:extLst>
          </p:cNvPr>
          <p:cNvSpPr>
            <a:spLocks noGrp="1"/>
          </p:cNvSpPr>
          <p:nvPr>
            <p:ph idx="1"/>
          </p:nvPr>
        </p:nvSpPr>
        <p:spPr>
          <a:xfrm>
            <a:off x="499818" y="2155127"/>
            <a:ext cx="10968843" cy="1273874"/>
          </a:xfrm>
        </p:spPr>
        <p:txBody>
          <a:bodyPr>
            <a:noAutofit/>
          </a:bodyPr>
          <a:lstStyle/>
          <a:p>
            <a:pPr marL="0" indent="0">
              <a:buNone/>
            </a:pPr>
            <a:endParaRPr lang="es-MX" sz="2400" b="1" dirty="0">
              <a:solidFill>
                <a:srgbClr val="D7A700"/>
              </a:solidFill>
            </a:endParaRPr>
          </a:p>
          <a:p>
            <a:pPr marL="0" indent="0">
              <a:buNone/>
            </a:pPr>
            <a:r>
              <a:rPr lang="es-MX" sz="2400" b="1" dirty="0">
                <a:solidFill>
                  <a:srgbClr val="D7A700"/>
                </a:solidFill>
              </a:rPr>
              <a:t>Ejercicio I: </a:t>
            </a:r>
            <a:r>
              <a:rPr lang="es-MX" sz="2400" dirty="0"/>
              <a:t>¿Cuál de las siguientes expresiones representa el valor presente (año 0) de los flujos mostrados en la gráfica (teniendo en cuenta que i corresponde al costo de oportunidad en términos E.A.)?</a:t>
            </a:r>
            <a:endParaRPr lang="es-ES" sz="2400" dirty="0"/>
          </a:p>
          <a:p>
            <a:pPr marL="0" indent="0">
              <a:buNone/>
            </a:pPr>
            <a:endParaRPr lang="es-MX" sz="2400" dirty="0"/>
          </a:p>
        </p:txBody>
      </p:sp>
      <mc:AlternateContent xmlns:mc="http://schemas.openxmlformats.org/markup-compatibility/2006" xmlns:a14="http://schemas.microsoft.com/office/drawing/2010/main">
        <mc:Choice Requires="a14">
          <p:sp>
            <p:nvSpPr>
              <p:cNvPr id="4" name="CuadroTexto 3">
                <a:extLst>
                  <a:ext uri="{FF2B5EF4-FFF2-40B4-BE49-F238E27FC236}">
                    <a16:creationId xmlns:a16="http://schemas.microsoft.com/office/drawing/2014/main" id="{037E9B95-BA46-DEB4-151F-CBEFF5CC5189}"/>
                  </a:ext>
                </a:extLst>
              </p:cNvPr>
              <p:cNvSpPr txBox="1"/>
              <p:nvPr/>
            </p:nvSpPr>
            <p:spPr>
              <a:xfrm>
                <a:off x="581192" y="3584574"/>
                <a:ext cx="6096000" cy="2710807"/>
              </a:xfrm>
              <a:prstGeom prst="rect">
                <a:avLst/>
              </a:prstGeom>
              <a:noFill/>
            </p:spPr>
            <p:txBody>
              <a:bodyPr wrap="square">
                <a:spAutoFit/>
              </a:bodyPr>
              <a:lstStyle/>
              <a:p>
                <a:pPr marL="342900" lvl="0" indent="-342900" algn="just">
                  <a:buClr>
                    <a:srgbClr val="BF8F00"/>
                  </a:buClr>
                  <a:buSzPct val="100000"/>
                  <a:buFont typeface="Verdana" panose="020B0604030504040204" pitchFamily="34" charset="0"/>
                  <a:buAutoNum type="alphaLcParenR"/>
                </a:pPr>
                <a14:m>
                  <m:oMath xmlns:m="http://schemas.openxmlformats.org/officeDocument/2006/math">
                    <m:r>
                      <m:rPr>
                        <m:sty m:val="p"/>
                      </m:rPr>
                      <a:rPr lang="es-CO" i="0" smtClean="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VP</m:t>
                    </m:r>
                    <m:r>
                      <a:rPr lang="es-CO" i="0" smtClean="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s-MX" i="1">
                            <a:solidFill>
                              <a:srgbClr val="000000"/>
                            </a:solidFill>
                            <a:effectLst/>
                            <a:latin typeface="Cambria Math" panose="02040503050406030204" pitchFamily="18" charset="0"/>
                            <a:ea typeface="PMingLiU" panose="02020500000000000000" pitchFamily="18" charset="-120"/>
                            <a:cs typeface="Times New Roman" panose="02020603050405020304" pitchFamily="18" charset="0"/>
                          </a:rPr>
                        </m:ctrlPr>
                      </m:sSubPr>
                      <m:e>
                        <m:r>
                          <m:rPr>
                            <m:sty m:val="p"/>
                          </m:rPr>
                          <a:rPr lang="es-CO" i="0">
                            <a:solidFill>
                              <a:srgbClr val="000000"/>
                            </a:solidFill>
                            <a:effectLst/>
                            <a:latin typeface="Cambria Math" panose="02040503050406030204" pitchFamily="18" charset="0"/>
                            <a:ea typeface="PMingLiU" panose="02020500000000000000" pitchFamily="18" charset="-120"/>
                            <a:cs typeface="Times New Roman" panose="02020603050405020304" pitchFamily="18" charset="0"/>
                          </a:rPr>
                          <m:t>f</m:t>
                        </m:r>
                      </m:e>
                      <m:sub>
                        <m:r>
                          <m:rPr>
                            <m:sty m:val="p"/>
                          </m:rPr>
                          <a:rPr lang="es-CO" i="0">
                            <a:solidFill>
                              <a:srgbClr val="000000"/>
                            </a:solidFill>
                            <a:effectLst/>
                            <a:latin typeface="Cambria Math" panose="02040503050406030204" pitchFamily="18" charset="0"/>
                            <a:ea typeface="PMingLiU" panose="02020500000000000000" pitchFamily="18" charset="-120"/>
                            <a:cs typeface="Times New Roman" panose="02020603050405020304" pitchFamily="18" charset="0"/>
                          </a:rPr>
                          <m:t>A</m:t>
                        </m:r>
                      </m:sub>
                    </m:sSub>
                    <m:d>
                      <m:dPr>
                        <m:ctrlPr>
                          <a:rPr lang="es-MX" i="1">
                            <a:solidFill>
                              <a:srgbClr val="000000"/>
                            </a:solidFill>
                            <a:effectLst/>
                            <a:latin typeface="Cambria Math" panose="02040503050406030204" pitchFamily="18" charset="0"/>
                            <a:ea typeface="PMingLiU" panose="02020500000000000000" pitchFamily="18" charset="-120"/>
                            <a:cs typeface="Times New Roman" panose="02020603050405020304" pitchFamily="18" charset="0"/>
                          </a:rPr>
                        </m:ctrlPr>
                      </m:dPr>
                      <m:e>
                        <m:m>
                          <m:mPr>
                            <m:mcs>
                              <m:mc>
                                <m:mcPr>
                                  <m:count m:val="1"/>
                                  <m:mcJc m:val="center"/>
                                </m:mcPr>
                              </m:mc>
                            </m:mcs>
                            <m:ctrlPr>
                              <a:rPr lang="es-MX" i="1">
                                <a:solidFill>
                                  <a:srgbClr val="000000"/>
                                </a:solidFill>
                                <a:effectLst/>
                                <a:latin typeface="Cambria Math" panose="02040503050406030204" pitchFamily="18" charset="0"/>
                                <a:ea typeface="PMingLiU" panose="02020500000000000000" pitchFamily="18" charset="-120"/>
                                <a:cs typeface="Times New Roman" panose="02020603050405020304" pitchFamily="18" charset="0"/>
                              </a:rPr>
                            </m:ctrlPr>
                          </m:mPr>
                          <m:mr>
                            <m:e>
                              <m:r>
                                <m:rPr>
                                  <m:sty m:val="p"/>
                                </m:rPr>
                                <a:rPr lang="es-CO" i="0">
                                  <a:solidFill>
                                    <a:srgbClr val="000000"/>
                                  </a:solidFill>
                                  <a:effectLst/>
                                  <a:latin typeface="Cambria Math" panose="02040503050406030204" pitchFamily="18" charset="0"/>
                                  <a:ea typeface="PMingLiU" panose="02020500000000000000" pitchFamily="18" charset="-120"/>
                                  <a:cs typeface="Times New Roman" panose="02020603050405020304" pitchFamily="18" charset="0"/>
                                </a:rPr>
                                <m:t>A</m:t>
                              </m:r>
                              <m:r>
                                <a:rPr lang="es-CO" i="0">
                                  <a:solidFill>
                                    <a:srgbClr val="000000"/>
                                  </a:solidFill>
                                  <a:effectLst/>
                                  <a:latin typeface="Cambria Math" panose="02040503050406030204" pitchFamily="18" charset="0"/>
                                  <a:ea typeface="PMingLiU" panose="02020500000000000000" pitchFamily="18" charset="-120"/>
                                  <a:cs typeface="Times New Roman" panose="02020603050405020304" pitchFamily="18" charset="0"/>
                                </a:rPr>
                                <m:t>=50</m:t>
                              </m:r>
                            </m:e>
                          </m:mr>
                          <m:mr>
                            <m:e>
                              <m:r>
                                <m:rPr>
                                  <m:sty m:val="p"/>
                                </m:rPr>
                                <a:rPr lang="es-CO" i="0">
                                  <a:solidFill>
                                    <a:srgbClr val="000000"/>
                                  </a:solidFill>
                                  <a:effectLst/>
                                  <a:latin typeface="Cambria Math" panose="02040503050406030204" pitchFamily="18" charset="0"/>
                                  <a:ea typeface="PMingLiU" panose="02020500000000000000" pitchFamily="18" charset="-120"/>
                                  <a:cs typeface="Times New Roman" panose="02020603050405020304" pitchFamily="18" charset="0"/>
                                </a:rPr>
                                <m:t>n</m:t>
                              </m:r>
                              <m:r>
                                <a:rPr lang="es-CO" i="0">
                                  <a:solidFill>
                                    <a:srgbClr val="000000"/>
                                  </a:solidFill>
                                  <a:effectLst/>
                                  <a:latin typeface="Cambria Math" panose="02040503050406030204" pitchFamily="18" charset="0"/>
                                  <a:ea typeface="PMingLiU" panose="02020500000000000000" pitchFamily="18" charset="-120"/>
                                  <a:cs typeface="Times New Roman" panose="02020603050405020304" pitchFamily="18" charset="0"/>
                                </a:rPr>
                                <m:t>=2</m:t>
                              </m:r>
                            </m:e>
                          </m:mr>
                        </m:m>
                      </m:e>
                    </m:d>
                    <m:r>
                      <a:rPr lang="es-CO" i="0">
                        <a:solidFill>
                          <a:srgbClr val="000000"/>
                        </a:solidFill>
                        <a:effectLst/>
                        <a:latin typeface="Cambria Math" panose="02040503050406030204" pitchFamily="18" charset="0"/>
                        <a:ea typeface="PMingLiU" panose="02020500000000000000" pitchFamily="18" charset="-120"/>
                        <a:cs typeface="Times New Roman" panose="02020603050405020304" pitchFamily="18" charset="0"/>
                      </a:rPr>
                      <m:t>+</m:t>
                    </m:r>
                    <m:f>
                      <m:fPr>
                        <m:ctrlPr>
                          <a:rPr lang="es-MX" i="1">
                            <a:solidFill>
                              <a:srgbClr val="000000"/>
                            </a:solidFill>
                            <a:effectLst/>
                            <a:latin typeface="Cambria Math" panose="02040503050406030204" pitchFamily="18" charset="0"/>
                            <a:ea typeface="PMingLiU" panose="02020500000000000000" pitchFamily="18" charset="-120"/>
                            <a:cs typeface="Times New Roman" panose="02020603050405020304" pitchFamily="18" charset="0"/>
                          </a:rPr>
                        </m:ctrlPr>
                      </m:fPr>
                      <m:num>
                        <m:sSub>
                          <m:sSubPr>
                            <m:ctrlPr>
                              <a:rPr lang="es-MX" i="1">
                                <a:solidFill>
                                  <a:srgbClr val="000000"/>
                                </a:solidFill>
                                <a:effectLst/>
                                <a:latin typeface="Cambria Math" panose="02040503050406030204" pitchFamily="18" charset="0"/>
                                <a:ea typeface="PMingLiU" panose="02020500000000000000" pitchFamily="18" charset="-120"/>
                                <a:cs typeface="Times New Roman" panose="02020603050405020304" pitchFamily="18" charset="0"/>
                              </a:rPr>
                            </m:ctrlPr>
                          </m:sSubPr>
                          <m:e>
                            <m:r>
                              <m:rPr>
                                <m:sty m:val="p"/>
                              </m:rPr>
                              <a:rPr lang="es-CO" i="0">
                                <a:solidFill>
                                  <a:srgbClr val="000000"/>
                                </a:solidFill>
                                <a:effectLst/>
                                <a:latin typeface="Cambria Math" panose="02040503050406030204" pitchFamily="18" charset="0"/>
                                <a:ea typeface="PMingLiU" panose="02020500000000000000" pitchFamily="18" charset="-120"/>
                                <a:cs typeface="Times New Roman" panose="02020603050405020304" pitchFamily="18" charset="0"/>
                              </a:rPr>
                              <m:t>f</m:t>
                            </m:r>
                          </m:e>
                          <m:sub>
                            <m:r>
                              <m:rPr>
                                <m:sty m:val="p"/>
                              </m:rPr>
                              <a:rPr lang="es-CO" i="0">
                                <a:solidFill>
                                  <a:srgbClr val="000000"/>
                                </a:solidFill>
                                <a:effectLst/>
                                <a:latin typeface="Cambria Math" panose="02040503050406030204" pitchFamily="18" charset="0"/>
                                <a:ea typeface="PMingLiU" panose="02020500000000000000" pitchFamily="18" charset="-120"/>
                                <a:cs typeface="Times New Roman" panose="02020603050405020304" pitchFamily="18" charset="0"/>
                              </a:rPr>
                              <m:t>GA</m:t>
                            </m:r>
                          </m:sub>
                        </m:sSub>
                        <m:d>
                          <m:dPr>
                            <m:ctrlPr>
                              <a:rPr lang="es-MX" i="1">
                                <a:solidFill>
                                  <a:srgbClr val="000000"/>
                                </a:solidFill>
                                <a:effectLst/>
                                <a:latin typeface="Cambria Math" panose="02040503050406030204" pitchFamily="18" charset="0"/>
                                <a:ea typeface="PMingLiU" panose="02020500000000000000" pitchFamily="18" charset="-120"/>
                                <a:cs typeface="Times New Roman" panose="02020603050405020304" pitchFamily="18" charset="0"/>
                              </a:rPr>
                            </m:ctrlPr>
                          </m:dPr>
                          <m:e>
                            <m:m>
                              <m:mPr>
                                <m:mcs>
                                  <m:mc>
                                    <m:mcPr>
                                      <m:count m:val="1"/>
                                      <m:mcJc m:val="center"/>
                                    </m:mcPr>
                                  </m:mc>
                                </m:mcs>
                                <m:ctrlPr>
                                  <a:rPr lang="es-MX" i="1">
                                    <a:solidFill>
                                      <a:srgbClr val="000000"/>
                                    </a:solidFill>
                                    <a:effectLst/>
                                    <a:latin typeface="Cambria Math" panose="02040503050406030204" pitchFamily="18" charset="0"/>
                                    <a:ea typeface="PMingLiU" panose="02020500000000000000" pitchFamily="18" charset="-120"/>
                                    <a:cs typeface="Times New Roman" panose="02020603050405020304" pitchFamily="18" charset="0"/>
                                  </a:rPr>
                                </m:ctrlPr>
                              </m:mPr>
                              <m:mr>
                                <m:e>
                                  <m:r>
                                    <m:rPr>
                                      <m:sty m:val="p"/>
                                    </m:rPr>
                                    <a:rPr lang="es-CO" i="0">
                                      <a:solidFill>
                                        <a:srgbClr val="000000"/>
                                      </a:solidFill>
                                      <a:effectLst/>
                                      <a:latin typeface="Cambria Math" panose="02040503050406030204" pitchFamily="18" charset="0"/>
                                      <a:ea typeface="PMingLiU" panose="02020500000000000000" pitchFamily="18" charset="-120"/>
                                      <a:cs typeface="Times New Roman" panose="02020603050405020304" pitchFamily="18" charset="0"/>
                                    </a:rPr>
                                    <m:t>G</m:t>
                                  </m:r>
                                  <m:r>
                                    <a:rPr lang="es-CO" i="0">
                                      <a:solidFill>
                                        <a:srgbClr val="000000"/>
                                      </a:solidFill>
                                      <a:effectLst/>
                                      <a:latin typeface="Cambria Math" panose="02040503050406030204" pitchFamily="18" charset="0"/>
                                      <a:ea typeface="PMingLiU" panose="02020500000000000000" pitchFamily="18" charset="-120"/>
                                      <a:cs typeface="Times New Roman" panose="02020603050405020304" pitchFamily="18" charset="0"/>
                                    </a:rPr>
                                    <m:t>=10</m:t>
                                  </m:r>
                                </m:e>
                              </m:mr>
                              <m:mr>
                                <m:e>
                                  <m:r>
                                    <m:rPr>
                                      <m:sty m:val="p"/>
                                    </m:rPr>
                                    <a:rPr lang="es-CO" i="0">
                                      <a:solidFill>
                                        <a:srgbClr val="000000"/>
                                      </a:solidFill>
                                      <a:effectLst/>
                                      <a:latin typeface="Cambria Math" panose="02040503050406030204" pitchFamily="18" charset="0"/>
                                      <a:ea typeface="PMingLiU" panose="02020500000000000000" pitchFamily="18" charset="-120"/>
                                      <a:cs typeface="Times New Roman" panose="02020603050405020304" pitchFamily="18" charset="0"/>
                                    </a:rPr>
                                    <m:t>n</m:t>
                                  </m:r>
                                  <m:r>
                                    <a:rPr lang="es-CO" i="0">
                                      <a:solidFill>
                                        <a:srgbClr val="000000"/>
                                      </a:solidFill>
                                      <a:effectLst/>
                                      <a:latin typeface="Cambria Math" panose="02040503050406030204" pitchFamily="18" charset="0"/>
                                      <a:ea typeface="PMingLiU" panose="02020500000000000000" pitchFamily="18" charset="-120"/>
                                      <a:cs typeface="Times New Roman" panose="02020603050405020304" pitchFamily="18" charset="0"/>
                                    </a:rPr>
                                    <m:t>=3</m:t>
                                  </m:r>
                                </m:e>
                              </m:mr>
                            </m:m>
                          </m:e>
                        </m:d>
                      </m:num>
                      <m:den>
                        <m:sSup>
                          <m:sSupPr>
                            <m:ctrlPr>
                              <a:rPr lang="es-MX"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pPr>
                          <m:e>
                            <m:d>
                              <m:dPr>
                                <m:ctrlPr>
                                  <a:rPr lang="es-MX"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dPr>
                              <m:e>
                                <m:r>
                                  <a:rPr lang="es-CO" i="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1+</m:t>
                                </m:r>
                                <m:r>
                                  <m:rPr>
                                    <m:sty m:val="p"/>
                                  </m:rPr>
                                  <a:rPr lang="es-CO" i="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i</m:t>
                                </m:r>
                              </m:e>
                            </m:d>
                          </m:e>
                          <m:sup>
                            <m:r>
                              <a:rPr lang="es-CO" i="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2</m:t>
                            </m:r>
                          </m:sup>
                        </m:sSup>
                      </m:den>
                    </m:f>
                    <m:r>
                      <a:rPr lang="es-CO" i="0">
                        <a:solidFill>
                          <a:srgbClr val="000000"/>
                        </a:solidFill>
                        <a:effectLst/>
                        <a:latin typeface="Cambria Math" panose="02040503050406030204" pitchFamily="18" charset="0"/>
                        <a:ea typeface="PMingLiU" panose="02020500000000000000" pitchFamily="18" charset="-120"/>
                        <a:cs typeface="Times New Roman" panose="02020603050405020304" pitchFamily="18" charset="0"/>
                      </a:rPr>
                      <m:t>+</m:t>
                    </m:r>
                    <m:f>
                      <m:fPr>
                        <m:ctrlPr>
                          <a:rPr lang="es-MX" i="1">
                            <a:solidFill>
                              <a:srgbClr val="000000"/>
                            </a:solidFill>
                            <a:effectLst/>
                            <a:latin typeface="Cambria Math" panose="02040503050406030204" pitchFamily="18" charset="0"/>
                            <a:ea typeface="PMingLiU" panose="02020500000000000000" pitchFamily="18" charset="-120"/>
                            <a:cs typeface="Times New Roman" panose="02020603050405020304" pitchFamily="18" charset="0"/>
                          </a:rPr>
                        </m:ctrlPr>
                      </m:fPr>
                      <m:num>
                        <m:sSub>
                          <m:sSubPr>
                            <m:ctrlPr>
                              <a:rPr lang="es-MX" i="1">
                                <a:solidFill>
                                  <a:srgbClr val="000000"/>
                                </a:solidFill>
                                <a:effectLst/>
                                <a:latin typeface="Cambria Math" panose="02040503050406030204" pitchFamily="18" charset="0"/>
                                <a:ea typeface="PMingLiU" panose="02020500000000000000" pitchFamily="18" charset="-120"/>
                                <a:cs typeface="Times New Roman" panose="02020603050405020304" pitchFamily="18" charset="0"/>
                              </a:rPr>
                            </m:ctrlPr>
                          </m:sSubPr>
                          <m:e>
                            <m:r>
                              <m:rPr>
                                <m:sty m:val="p"/>
                              </m:rPr>
                              <a:rPr lang="es-CO" i="0">
                                <a:solidFill>
                                  <a:srgbClr val="000000"/>
                                </a:solidFill>
                                <a:effectLst/>
                                <a:latin typeface="Cambria Math" panose="02040503050406030204" pitchFamily="18" charset="0"/>
                                <a:ea typeface="PMingLiU" panose="02020500000000000000" pitchFamily="18" charset="-120"/>
                                <a:cs typeface="Times New Roman" panose="02020603050405020304" pitchFamily="18" charset="0"/>
                              </a:rPr>
                              <m:t>f</m:t>
                            </m:r>
                          </m:e>
                          <m:sub>
                            <m:r>
                              <m:rPr>
                                <m:sty m:val="p"/>
                              </m:rPr>
                              <a:rPr lang="es-CO" i="0">
                                <a:solidFill>
                                  <a:srgbClr val="000000"/>
                                </a:solidFill>
                                <a:effectLst/>
                                <a:latin typeface="Cambria Math" panose="02040503050406030204" pitchFamily="18" charset="0"/>
                                <a:ea typeface="PMingLiU" panose="02020500000000000000" pitchFamily="18" charset="-120"/>
                                <a:cs typeface="Times New Roman" panose="02020603050405020304" pitchFamily="18" charset="0"/>
                              </a:rPr>
                              <m:t>A</m:t>
                            </m:r>
                          </m:sub>
                        </m:sSub>
                        <m:d>
                          <m:dPr>
                            <m:ctrlPr>
                              <a:rPr lang="es-MX" i="1">
                                <a:solidFill>
                                  <a:srgbClr val="000000"/>
                                </a:solidFill>
                                <a:effectLst/>
                                <a:latin typeface="Cambria Math" panose="02040503050406030204" pitchFamily="18" charset="0"/>
                                <a:ea typeface="PMingLiU" panose="02020500000000000000" pitchFamily="18" charset="-120"/>
                                <a:cs typeface="Times New Roman" panose="02020603050405020304" pitchFamily="18" charset="0"/>
                              </a:rPr>
                            </m:ctrlPr>
                          </m:dPr>
                          <m:e>
                            <m:m>
                              <m:mPr>
                                <m:mcs>
                                  <m:mc>
                                    <m:mcPr>
                                      <m:count m:val="1"/>
                                      <m:mcJc m:val="center"/>
                                    </m:mcPr>
                                  </m:mc>
                                </m:mcs>
                                <m:ctrlPr>
                                  <a:rPr lang="es-MX" i="1">
                                    <a:solidFill>
                                      <a:srgbClr val="000000"/>
                                    </a:solidFill>
                                    <a:effectLst/>
                                    <a:latin typeface="Cambria Math" panose="02040503050406030204" pitchFamily="18" charset="0"/>
                                    <a:ea typeface="PMingLiU" panose="02020500000000000000" pitchFamily="18" charset="-120"/>
                                    <a:cs typeface="Times New Roman" panose="02020603050405020304" pitchFamily="18" charset="0"/>
                                  </a:rPr>
                                </m:ctrlPr>
                              </m:mPr>
                              <m:mr>
                                <m:e>
                                  <m:r>
                                    <m:rPr>
                                      <m:sty m:val="p"/>
                                    </m:rPr>
                                    <a:rPr lang="es-CO" i="0">
                                      <a:solidFill>
                                        <a:srgbClr val="000000"/>
                                      </a:solidFill>
                                      <a:effectLst/>
                                      <a:latin typeface="Cambria Math" panose="02040503050406030204" pitchFamily="18" charset="0"/>
                                      <a:ea typeface="PMingLiU" panose="02020500000000000000" pitchFamily="18" charset="-120"/>
                                      <a:cs typeface="Times New Roman" panose="02020603050405020304" pitchFamily="18" charset="0"/>
                                    </a:rPr>
                                    <m:t>A</m:t>
                                  </m:r>
                                  <m:r>
                                    <a:rPr lang="es-CO" i="0">
                                      <a:solidFill>
                                        <a:srgbClr val="000000"/>
                                      </a:solidFill>
                                      <a:effectLst/>
                                      <a:latin typeface="Cambria Math" panose="02040503050406030204" pitchFamily="18" charset="0"/>
                                      <a:ea typeface="PMingLiU" panose="02020500000000000000" pitchFamily="18" charset="-120"/>
                                      <a:cs typeface="Times New Roman" panose="02020603050405020304" pitchFamily="18" charset="0"/>
                                    </a:rPr>
                                    <m:t>=80</m:t>
                                  </m:r>
                                </m:e>
                              </m:mr>
                              <m:mr>
                                <m:e>
                                  <m:r>
                                    <m:rPr>
                                      <m:sty m:val="p"/>
                                    </m:rPr>
                                    <a:rPr lang="es-CO" i="0">
                                      <a:solidFill>
                                        <a:srgbClr val="000000"/>
                                      </a:solidFill>
                                      <a:effectLst/>
                                      <a:latin typeface="Cambria Math" panose="02040503050406030204" pitchFamily="18" charset="0"/>
                                      <a:ea typeface="PMingLiU" panose="02020500000000000000" pitchFamily="18" charset="-120"/>
                                      <a:cs typeface="Times New Roman" panose="02020603050405020304" pitchFamily="18" charset="0"/>
                                    </a:rPr>
                                    <m:t>n</m:t>
                                  </m:r>
                                  <m:r>
                                    <a:rPr lang="es-CO" i="0">
                                      <a:solidFill>
                                        <a:srgbClr val="000000"/>
                                      </a:solidFill>
                                      <a:effectLst/>
                                      <a:latin typeface="Cambria Math" panose="02040503050406030204" pitchFamily="18" charset="0"/>
                                      <a:ea typeface="PMingLiU" panose="02020500000000000000" pitchFamily="18" charset="-120"/>
                                      <a:cs typeface="Times New Roman" panose="02020603050405020304" pitchFamily="18" charset="0"/>
                                    </a:rPr>
                                    <m:t>=3</m:t>
                                  </m:r>
                                </m:e>
                              </m:mr>
                            </m:m>
                          </m:e>
                        </m:d>
                        <m:r>
                          <a:rPr lang="es-CO" i="0">
                            <a:solidFill>
                              <a:srgbClr val="000000"/>
                            </a:solidFill>
                            <a:effectLst/>
                            <a:latin typeface="Cambria Math" panose="02040503050406030204" pitchFamily="18" charset="0"/>
                            <a:ea typeface="PMingLiU" panose="02020500000000000000" pitchFamily="18" charset="-120"/>
                            <a:cs typeface="Times New Roman" panose="02020603050405020304" pitchFamily="18" charset="0"/>
                          </a:rPr>
                          <m:t>+</m:t>
                        </m:r>
                        <m:sSub>
                          <m:sSubPr>
                            <m:ctrlPr>
                              <a:rPr lang="es-MX" i="1">
                                <a:solidFill>
                                  <a:srgbClr val="000000"/>
                                </a:solidFill>
                                <a:effectLst/>
                                <a:latin typeface="Cambria Math" panose="02040503050406030204" pitchFamily="18" charset="0"/>
                                <a:ea typeface="PMingLiU" panose="02020500000000000000" pitchFamily="18" charset="-120"/>
                                <a:cs typeface="Times New Roman" panose="02020603050405020304" pitchFamily="18" charset="0"/>
                              </a:rPr>
                            </m:ctrlPr>
                          </m:sSubPr>
                          <m:e>
                            <m:r>
                              <m:rPr>
                                <m:sty m:val="p"/>
                              </m:rPr>
                              <a:rPr lang="es-CO" i="0">
                                <a:solidFill>
                                  <a:srgbClr val="000000"/>
                                </a:solidFill>
                                <a:effectLst/>
                                <a:latin typeface="Cambria Math" panose="02040503050406030204" pitchFamily="18" charset="0"/>
                                <a:ea typeface="PMingLiU" panose="02020500000000000000" pitchFamily="18" charset="-120"/>
                                <a:cs typeface="Times New Roman" panose="02020603050405020304" pitchFamily="18" charset="0"/>
                              </a:rPr>
                              <m:t>f</m:t>
                            </m:r>
                          </m:e>
                          <m:sub>
                            <m:r>
                              <m:rPr>
                                <m:sty m:val="p"/>
                              </m:rPr>
                              <a:rPr lang="es-CO" i="0">
                                <a:solidFill>
                                  <a:srgbClr val="000000"/>
                                </a:solidFill>
                                <a:effectLst/>
                                <a:latin typeface="Cambria Math" panose="02040503050406030204" pitchFamily="18" charset="0"/>
                                <a:ea typeface="PMingLiU" panose="02020500000000000000" pitchFamily="18" charset="-120"/>
                                <a:cs typeface="Times New Roman" panose="02020603050405020304" pitchFamily="18" charset="0"/>
                              </a:rPr>
                              <m:t>GA</m:t>
                            </m:r>
                          </m:sub>
                        </m:sSub>
                        <m:d>
                          <m:dPr>
                            <m:ctrlPr>
                              <a:rPr lang="es-MX" i="1">
                                <a:solidFill>
                                  <a:srgbClr val="000000"/>
                                </a:solidFill>
                                <a:effectLst/>
                                <a:latin typeface="Cambria Math" panose="02040503050406030204" pitchFamily="18" charset="0"/>
                                <a:ea typeface="PMingLiU" panose="02020500000000000000" pitchFamily="18" charset="-120"/>
                                <a:cs typeface="Times New Roman" panose="02020603050405020304" pitchFamily="18" charset="0"/>
                              </a:rPr>
                            </m:ctrlPr>
                          </m:dPr>
                          <m:e>
                            <m:m>
                              <m:mPr>
                                <m:mcs>
                                  <m:mc>
                                    <m:mcPr>
                                      <m:count m:val="1"/>
                                      <m:mcJc m:val="center"/>
                                    </m:mcPr>
                                  </m:mc>
                                </m:mcs>
                                <m:ctrlPr>
                                  <a:rPr lang="es-MX" i="1">
                                    <a:solidFill>
                                      <a:srgbClr val="000000"/>
                                    </a:solidFill>
                                    <a:effectLst/>
                                    <a:latin typeface="Cambria Math" panose="02040503050406030204" pitchFamily="18" charset="0"/>
                                    <a:ea typeface="PMingLiU" panose="02020500000000000000" pitchFamily="18" charset="-120"/>
                                    <a:cs typeface="Times New Roman" panose="02020603050405020304" pitchFamily="18" charset="0"/>
                                  </a:rPr>
                                </m:ctrlPr>
                              </m:mPr>
                              <m:mr>
                                <m:e>
                                  <m:r>
                                    <m:rPr>
                                      <m:sty m:val="p"/>
                                    </m:rPr>
                                    <a:rPr lang="es-CO" i="0">
                                      <a:solidFill>
                                        <a:srgbClr val="000000"/>
                                      </a:solidFill>
                                      <a:effectLst/>
                                      <a:latin typeface="Cambria Math" panose="02040503050406030204" pitchFamily="18" charset="0"/>
                                      <a:ea typeface="PMingLiU" panose="02020500000000000000" pitchFamily="18" charset="-120"/>
                                      <a:cs typeface="Times New Roman" panose="02020603050405020304" pitchFamily="18" charset="0"/>
                                    </a:rPr>
                                    <m:t>G</m:t>
                                  </m:r>
                                  <m:r>
                                    <a:rPr lang="es-CO" i="0">
                                      <a:solidFill>
                                        <a:srgbClr val="000000"/>
                                      </a:solidFill>
                                      <a:effectLst/>
                                      <a:latin typeface="Cambria Math" panose="02040503050406030204" pitchFamily="18" charset="0"/>
                                      <a:ea typeface="PMingLiU" panose="02020500000000000000" pitchFamily="18" charset="-120"/>
                                      <a:cs typeface="Times New Roman" panose="02020603050405020304" pitchFamily="18" charset="0"/>
                                    </a:rPr>
                                    <m:t>=−15</m:t>
                                  </m:r>
                                </m:e>
                              </m:mr>
                              <m:mr>
                                <m:e>
                                  <m:r>
                                    <m:rPr>
                                      <m:sty m:val="p"/>
                                    </m:rPr>
                                    <a:rPr lang="es-CO" i="0">
                                      <a:solidFill>
                                        <a:srgbClr val="000000"/>
                                      </a:solidFill>
                                      <a:effectLst/>
                                      <a:latin typeface="Cambria Math" panose="02040503050406030204" pitchFamily="18" charset="0"/>
                                      <a:ea typeface="PMingLiU" panose="02020500000000000000" pitchFamily="18" charset="-120"/>
                                      <a:cs typeface="Times New Roman" panose="02020603050405020304" pitchFamily="18" charset="0"/>
                                    </a:rPr>
                                    <m:t>n</m:t>
                                  </m:r>
                                  <m:r>
                                    <a:rPr lang="es-CO" i="0">
                                      <a:solidFill>
                                        <a:srgbClr val="000000"/>
                                      </a:solidFill>
                                      <a:effectLst/>
                                      <a:latin typeface="Cambria Math" panose="02040503050406030204" pitchFamily="18" charset="0"/>
                                      <a:ea typeface="PMingLiU" panose="02020500000000000000" pitchFamily="18" charset="-120"/>
                                      <a:cs typeface="Times New Roman" panose="02020603050405020304" pitchFamily="18" charset="0"/>
                                    </a:rPr>
                                    <m:t>=3</m:t>
                                  </m:r>
                                </m:e>
                              </m:mr>
                            </m:m>
                          </m:e>
                        </m:d>
                      </m:num>
                      <m:den>
                        <m:sSup>
                          <m:sSupPr>
                            <m:ctrlPr>
                              <a:rPr lang="es-MX"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pPr>
                          <m:e>
                            <m:d>
                              <m:dPr>
                                <m:ctrlPr>
                                  <a:rPr lang="es-MX"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dPr>
                              <m:e>
                                <m:r>
                                  <a:rPr lang="es-CO" i="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1+</m:t>
                                </m:r>
                                <m:r>
                                  <m:rPr>
                                    <m:sty m:val="p"/>
                                  </m:rPr>
                                  <a:rPr lang="es-CO" i="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i</m:t>
                                </m:r>
                              </m:e>
                            </m:d>
                          </m:e>
                          <m:sup>
                            <m:r>
                              <a:rPr lang="es-CO" i="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5</m:t>
                            </m:r>
                          </m:sup>
                        </m:sSup>
                      </m:den>
                    </m:f>
                  </m:oMath>
                </a14:m>
                <a:endParaRPr lang="es-MX" dirty="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endParaRPr>
              </a:p>
              <a:p>
                <a:pPr marL="342900" lvl="0" indent="-342900" algn="just">
                  <a:buClr>
                    <a:srgbClr val="BF8F00"/>
                  </a:buClr>
                  <a:buSzPct val="100000"/>
                  <a:buFont typeface="Verdana" panose="020B0604030504040204" pitchFamily="34" charset="0"/>
                  <a:buAutoNum type="alphaLcParenR"/>
                </a:pPr>
                <a14:m>
                  <m:oMath xmlns:m="http://schemas.openxmlformats.org/officeDocument/2006/math">
                    <m:r>
                      <m:rPr>
                        <m:sty m:val="p"/>
                      </m:rPr>
                      <a:rPr lang="es-CO" i="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VP</m:t>
                    </m:r>
                    <m:r>
                      <a:rPr lang="es-CO" i="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s-MX" i="1">
                            <a:solidFill>
                              <a:srgbClr val="000000"/>
                            </a:solidFill>
                            <a:effectLst/>
                            <a:latin typeface="Cambria Math" panose="02040503050406030204" pitchFamily="18" charset="0"/>
                            <a:ea typeface="PMingLiU" panose="02020500000000000000" pitchFamily="18" charset="-120"/>
                            <a:cs typeface="Times New Roman" panose="02020603050405020304" pitchFamily="18" charset="0"/>
                          </a:rPr>
                        </m:ctrlPr>
                      </m:sSubPr>
                      <m:e>
                        <m:r>
                          <m:rPr>
                            <m:sty m:val="p"/>
                          </m:rPr>
                          <a:rPr lang="es-CO" i="0">
                            <a:solidFill>
                              <a:srgbClr val="000000"/>
                            </a:solidFill>
                            <a:effectLst/>
                            <a:latin typeface="Cambria Math" panose="02040503050406030204" pitchFamily="18" charset="0"/>
                            <a:ea typeface="PMingLiU" panose="02020500000000000000" pitchFamily="18" charset="-120"/>
                            <a:cs typeface="Times New Roman" panose="02020603050405020304" pitchFamily="18" charset="0"/>
                          </a:rPr>
                          <m:t>f</m:t>
                        </m:r>
                      </m:e>
                      <m:sub>
                        <m:r>
                          <m:rPr>
                            <m:sty m:val="p"/>
                          </m:rPr>
                          <a:rPr lang="es-CO" i="0">
                            <a:solidFill>
                              <a:srgbClr val="000000"/>
                            </a:solidFill>
                            <a:effectLst/>
                            <a:latin typeface="Cambria Math" panose="02040503050406030204" pitchFamily="18" charset="0"/>
                            <a:ea typeface="PMingLiU" panose="02020500000000000000" pitchFamily="18" charset="-120"/>
                            <a:cs typeface="Times New Roman" panose="02020603050405020304" pitchFamily="18" charset="0"/>
                          </a:rPr>
                          <m:t>A</m:t>
                        </m:r>
                      </m:sub>
                    </m:sSub>
                    <m:d>
                      <m:dPr>
                        <m:ctrlPr>
                          <a:rPr lang="es-MX" i="1">
                            <a:solidFill>
                              <a:srgbClr val="000000"/>
                            </a:solidFill>
                            <a:effectLst/>
                            <a:latin typeface="Cambria Math" panose="02040503050406030204" pitchFamily="18" charset="0"/>
                            <a:ea typeface="PMingLiU" panose="02020500000000000000" pitchFamily="18" charset="-120"/>
                            <a:cs typeface="Times New Roman" panose="02020603050405020304" pitchFamily="18" charset="0"/>
                          </a:rPr>
                        </m:ctrlPr>
                      </m:dPr>
                      <m:e>
                        <m:m>
                          <m:mPr>
                            <m:mcs>
                              <m:mc>
                                <m:mcPr>
                                  <m:count m:val="1"/>
                                  <m:mcJc m:val="center"/>
                                </m:mcPr>
                              </m:mc>
                            </m:mcs>
                            <m:ctrlPr>
                              <a:rPr lang="es-MX" i="1">
                                <a:solidFill>
                                  <a:srgbClr val="000000"/>
                                </a:solidFill>
                                <a:effectLst/>
                                <a:latin typeface="Cambria Math" panose="02040503050406030204" pitchFamily="18" charset="0"/>
                                <a:ea typeface="PMingLiU" panose="02020500000000000000" pitchFamily="18" charset="-120"/>
                                <a:cs typeface="Times New Roman" panose="02020603050405020304" pitchFamily="18" charset="0"/>
                              </a:rPr>
                            </m:ctrlPr>
                          </m:mPr>
                          <m:mr>
                            <m:e>
                              <m:r>
                                <m:rPr>
                                  <m:sty m:val="p"/>
                                </m:rPr>
                                <a:rPr lang="es-CO" i="0">
                                  <a:solidFill>
                                    <a:srgbClr val="000000"/>
                                  </a:solidFill>
                                  <a:effectLst/>
                                  <a:latin typeface="Cambria Math" panose="02040503050406030204" pitchFamily="18" charset="0"/>
                                  <a:ea typeface="PMingLiU" panose="02020500000000000000" pitchFamily="18" charset="-120"/>
                                  <a:cs typeface="Times New Roman" panose="02020603050405020304" pitchFamily="18" charset="0"/>
                                </a:rPr>
                                <m:t>A</m:t>
                              </m:r>
                              <m:r>
                                <a:rPr lang="es-CO" i="0">
                                  <a:solidFill>
                                    <a:srgbClr val="000000"/>
                                  </a:solidFill>
                                  <a:effectLst/>
                                  <a:latin typeface="Cambria Math" panose="02040503050406030204" pitchFamily="18" charset="0"/>
                                  <a:ea typeface="PMingLiU" panose="02020500000000000000" pitchFamily="18" charset="-120"/>
                                  <a:cs typeface="Times New Roman" panose="02020603050405020304" pitchFamily="18" charset="0"/>
                                </a:rPr>
                                <m:t>=50</m:t>
                              </m:r>
                            </m:e>
                          </m:mr>
                          <m:mr>
                            <m:e>
                              <m:r>
                                <m:rPr>
                                  <m:sty m:val="p"/>
                                </m:rPr>
                                <a:rPr lang="es-CO" i="0">
                                  <a:solidFill>
                                    <a:srgbClr val="000000"/>
                                  </a:solidFill>
                                  <a:effectLst/>
                                  <a:latin typeface="Cambria Math" panose="02040503050406030204" pitchFamily="18" charset="0"/>
                                  <a:ea typeface="PMingLiU" panose="02020500000000000000" pitchFamily="18" charset="-120"/>
                                  <a:cs typeface="Times New Roman" panose="02020603050405020304" pitchFamily="18" charset="0"/>
                                </a:rPr>
                                <m:t>n</m:t>
                              </m:r>
                              <m:r>
                                <a:rPr lang="es-CO" i="0">
                                  <a:solidFill>
                                    <a:srgbClr val="000000"/>
                                  </a:solidFill>
                                  <a:effectLst/>
                                  <a:latin typeface="Cambria Math" panose="02040503050406030204" pitchFamily="18" charset="0"/>
                                  <a:ea typeface="PMingLiU" panose="02020500000000000000" pitchFamily="18" charset="-120"/>
                                  <a:cs typeface="Times New Roman" panose="02020603050405020304" pitchFamily="18" charset="0"/>
                                </a:rPr>
                                <m:t>=2</m:t>
                              </m:r>
                            </m:e>
                          </m:mr>
                        </m:m>
                      </m:e>
                    </m:d>
                    <m:r>
                      <a:rPr lang="es-CO" i="0">
                        <a:solidFill>
                          <a:srgbClr val="000000"/>
                        </a:solidFill>
                        <a:effectLst/>
                        <a:latin typeface="Cambria Math" panose="02040503050406030204" pitchFamily="18" charset="0"/>
                        <a:ea typeface="PMingLiU" panose="02020500000000000000" pitchFamily="18" charset="-120"/>
                        <a:cs typeface="Times New Roman" panose="02020603050405020304" pitchFamily="18" charset="0"/>
                      </a:rPr>
                      <m:t>+</m:t>
                    </m:r>
                    <m:f>
                      <m:fPr>
                        <m:ctrlPr>
                          <a:rPr lang="es-MX" i="1">
                            <a:solidFill>
                              <a:srgbClr val="000000"/>
                            </a:solidFill>
                            <a:effectLst/>
                            <a:latin typeface="Cambria Math" panose="02040503050406030204" pitchFamily="18" charset="0"/>
                            <a:ea typeface="PMingLiU" panose="02020500000000000000" pitchFamily="18" charset="-120"/>
                            <a:cs typeface="Times New Roman" panose="02020603050405020304" pitchFamily="18" charset="0"/>
                          </a:rPr>
                        </m:ctrlPr>
                      </m:fPr>
                      <m:num>
                        <m:sSub>
                          <m:sSubPr>
                            <m:ctrlPr>
                              <a:rPr lang="es-MX" i="1">
                                <a:solidFill>
                                  <a:srgbClr val="000000"/>
                                </a:solidFill>
                                <a:effectLst/>
                                <a:latin typeface="Cambria Math" panose="02040503050406030204" pitchFamily="18" charset="0"/>
                                <a:ea typeface="PMingLiU" panose="02020500000000000000" pitchFamily="18" charset="-120"/>
                                <a:cs typeface="Times New Roman" panose="02020603050405020304" pitchFamily="18" charset="0"/>
                              </a:rPr>
                            </m:ctrlPr>
                          </m:sSubPr>
                          <m:e>
                            <m:r>
                              <m:rPr>
                                <m:sty m:val="p"/>
                              </m:rPr>
                              <a:rPr lang="es-CO" i="0">
                                <a:solidFill>
                                  <a:srgbClr val="000000"/>
                                </a:solidFill>
                                <a:effectLst/>
                                <a:latin typeface="Cambria Math" panose="02040503050406030204" pitchFamily="18" charset="0"/>
                                <a:ea typeface="PMingLiU" panose="02020500000000000000" pitchFamily="18" charset="-120"/>
                                <a:cs typeface="Times New Roman" panose="02020603050405020304" pitchFamily="18" charset="0"/>
                              </a:rPr>
                              <m:t>f</m:t>
                            </m:r>
                          </m:e>
                          <m:sub>
                            <m:r>
                              <m:rPr>
                                <m:sty m:val="p"/>
                              </m:rPr>
                              <a:rPr lang="es-CO" i="0">
                                <a:solidFill>
                                  <a:srgbClr val="000000"/>
                                </a:solidFill>
                                <a:effectLst/>
                                <a:latin typeface="Cambria Math" panose="02040503050406030204" pitchFamily="18" charset="0"/>
                                <a:ea typeface="PMingLiU" panose="02020500000000000000" pitchFamily="18" charset="-120"/>
                                <a:cs typeface="Times New Roman" panose="02020603050405020304" pitchFamily="18" charset="0"/>
                              </a:rPr>
                              <m:t>GA</m:t>
                            </m:r>
                          </m:sub>
                        </m:sSub>
                        <m:d>
                          <m:dPr>
                            <m:ctrlPr>
                              <a:rPr lang="es-MX" i="1">
                                <a:solidFill>
                                  <a:srgbClr val="000000"/>
                                </a:solidFill>
                                <a:effectLst/>
                                <a:latin typeface="Cambria Math" panose="02040503050406030204" pitchFamily="18" charset="0"/>
                                <a:ea typeface="PMingLiU" panose="02020500000000000000" pitchFamily="18" charset="-120"/>
                                <a:cs typeface="Times New Roman" panose="02020603050405020304" pitchFamily="18" charset="0"/>
                              </a:rPr>
                            </m:ctrlPr>
                          </m:dPr>
                          <m:e>
                            <m:m>
                              <m:mPr>
                                <m:mcs>
                                  <m:mc>
                                    <m:mcPr>
                                      <m:count m:val="1"/>
                                      <m:mcJc m:val="center"/>
                                    </m:mcPr>
                                  </m:mc>
                                </m:mcs>
                                <m:ctrlPr>
                                  <a:rPr lang="es-MX" i="1">
                                    <a:solidFill>
                                      <a:srgbClr val="000000"/>
                                    </a:solidFill>
                                    <a:effectLst/>
                                    <a:latin typeface="Cambria Math" panose="02040503050406030204" pitchFamily="18" charset="0"/>
                                    <a:ea typeface="PMingLiU" panose="02020500000000000000" pitchFamily="18" charset="-120"/>
                                    <a:cs typeface="Times New Roman" panose="02020603050405020304" pitchFamily="18" charset="0"/>
                                  </a:rPr>
                                </m:ctrlPr>
                              </m:mPr>
                              <m:mr>
                                <m:e>
                                  <m:r>
                                    <m:rPr>
                                      <m:sty m:val="p"/>
                                    </m:rPr>
                                    <a:rPr lang="es-CO" i="0">
                                      <a:solidFill>
                                        <a:srgbClr val="000000"/>
                                      </a:solidFill>
                                      <a:effectLst/>
                                      <a:latin typeface="Cambria Math" panose="02040503050406030204" pitchFamily="18" charset="0"/>
                                      <a:ea typeface="PMingLiU" panose="02020500000000000000" pitchFamily="18" charset="-120"/>
                                      <a:cs typeface="Times New Roman" panose="02020603050405020304" pitchFamily="18" charset="0"/>
                                    </a:rPr>
                                    <m:t>G</m:t>
                                  </m:r>
                                  <m:r>
                                    <a:rPr lang="es-CO" i="0">
                                      <a:solidFill>
                                        <a:srgbClr val="000000"/>
                                      </a:solidFill>
                                      <a:effectLst/>
                                      <a:latin typeface="Cambria Math" panose="02040503050406030204" pitchFamily="18" charset="0"/>
                                      <a:ea typeface="PMingLiU" panose="02020500000000000000" pitchFamily="18" charset="-120"/>
                                      <a:cs typeface="Times New Roman" panose="02020603050405020304" pitchFamily="18" charset="0"/>
                                    </a:rPr>
                                    <m:t>=10</m:t>
                                  </m:r>
                                </m:e>
                              </m:mr>
                              <m:mr>
                                <m:e>
                                  <m:r>
                                    <m:rPr>
                                      <m:sty m:val="p"/>
                                    </m:rPr>
                                    <a:rPr lang="es-CO" i="0">
                                      <a:solidFill>
                                        <a:srgbClr val="000000"/>
                                      </a:solidFill>
                                      <a:effectLst/>
                                      <a:latin typeface="Cambria Math" panose="02040503050406030204" pitchFamily="18" charset="0"/>
                                      <a:ea typeface="PMingLiU" panose="02020500000000000000" pitchFamily="18" charset="-120"/>
                                      <a:cs typeface="Times New Roman" panose="02020603050405020304" pitchFamily="18" charset="0"/>
                                    </a:rPr>
                                    <m:t>n</m:t>
                                  </m:r>
                                  <m:r>
                                    <a:rPr lang="es-CO" i="0">
                                      <a:solidFill>
                                        <a:srgbClr val="000000"/>
                                      </a:solidFill>
                                      <a:effectLst/>
                                      <a:latin typeface="Cambria Math" panose="02040503050406030204" pitchFamily="18" charset="0"/>
                                      <a:ea typeface="PMingLiU" panose="02020500000000000000" pitchFamily="18" charset="-120"/>
                                      <a:cs typeface="Times New Roman" panose="02020603050405020304" pitchFamily="18" charset="0"/>
                                    </a:rPr>
                                    <m:t>=3</m:t>
                                  </m:r>
                                </m:e>
                              </m:mr>
                            </m:m>
                          </m:e>
                        </m:d>
                      </m:num>
                      <m:den>
                        <m:r>
                          <a:rPr lang="es-CO" i="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(1+</m:t>
                        </m:r>
                        <m:r>
                          <m:rPr>
                            <m:sty m:val="p"/>
                          </m:rPr>
                          <a:rPr lang="es-CO" i="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i</m:t>
                        </m:r>
                        <m:r>
                          <a:rPr lang="es-CO" i="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den>
                    </m:f>
                    <m:r>
                      <a:rPr lang="es-CO" i="0">
                        <a:solidFill>
                          <a:srgbClr val="000000"/>
                        </a:solidFill>
                        <a:effectLst/>
                        <a:latin typeface="Cambria Math" panose="02040503050406030204" pitchFamily="18" charset="0"/>
                        <a:ea typeface="PMingLiU" panose="02020500000000000000" pitchFamily="18" charset="-120"/>
                        <a:cs typeface="Times New Roman" panose="02020603050405020304" pitchFamily="18" charset="0"/>
                      </a:rPr>
                      <m:t>+</m:t>
                    </m:r>
                    <m:f>
                      <m:fPr>
                        <m:ctrlPr>
                          <a:rPr lang="es-MX" i="1">
                            <a:solidFill>
                              <a:srgbClr val="000000"/>
                            </a:solidFill>
                            <a:effectLst/>
                            <a:latin typeface="Cambria Math" panose="02040503050406030204" pitchFamily="18" charset="0"/>
                            <a:ea typeface="PMingLiU" panose="02020500000000000000" pitchFamily="18" charset="-120"/>
                            <a:cs typeface="Times New Roman" panose="02020603050405020304" pitchFamily="18" charset="0"/>
                          </a:rPr>
                        </m:ctrlPr>
                      </m:fPr>
                      <m:num>
                        <m:sSub>
                          <m:sSubPr>
                            <m:ctrlPr>
                              <a:rPr lang="es-MX" i="1">
                                <a:solidFill>
                                  <a:srgbClr val="000000"/>
                                </a:solidFill>
                                <a:effectLst/>
                                <a:latin typeface="Cambria Math" panose="02040503050406030204" pitchFamily="18" charset="0"/>
                                <a:ea typeface="PMingLiU" panose="02020500000000000000" pitchFamily="18" charset="-120"/>
                                <a:cs typeface="Times New Roman" panose="02020603050405020304" pitchFamily="18" charset="0"/>
                              </a:rPr>
                            </m:ctrlPr>
                          </m:sSubPr>
                          <m:e>
                            <m:r>
                              <m:rPr>
                                <m:sty m:val="p"/>
                              </m:rPr>
                              <a:rPr lang="es-CO" i="0">
                                <a:solidFill>
                                  <a:srgbClr val="000000"/>
                                </a:solidFill>
                                <a:effectLst/>
                                <a:latin typeface="Cambria Math" panose="02040503050406030204" pitchFamily="18" charset="0"/>
                                <a:ea typeface="PMingLiU" panose="02020500000000000000" pitchFamily="18" charset="-120"/>
                                <a:cs typeface="Times New Roman" panose="02020603050405020304" pitchFamily="18" charset="0"/>
                              </a:rPr>
                              <m:t>f</m:t>
                            </m:r>
                          </m:e>
                          <m:sub>
                            <m:r>
                              <m:rPr>
                                <m:sty m:val="p"/>
                              </m:rPr>
                              <a:rPr lang="es-CO" i="0">
                                <a:solidFill>
                                  <a:srgbClr val="000000"/>
                                </a:solidFill>
                                <a:effectLst/>
                                <a:latin typeface="Cambria Math" panose="02040503050406030204" pitchFamily="18" charset="0"/>
                                <a:ea typeface="PMingLiU" panose="02020500000000000000" pitchFamily="18" charset="-120"/>
                                <a:cs typeface="Times New Roman" panose="02020603050405020304" pitchFamily="18" charset="0"/>
                              </a:rPr>
                              <m:t>A</m:t>
                            </m:r>
                          </m:sub>
                        </m:sSub>
                        <m:d>
                          <m:dPr>
                            <m:ctrlPr>
                              <a:rPr lang="es-MX" i="1">
                                <a:solidFill>
                                  <a:srgbClr val="000000"/>
                                </a:solidFill>
                                <a:effectLst/>
                                <a:latin typeface="Cambria Math" panose="02040503050406030204" pitchFamily="18" charset="0"/>
                                <a:ea typeface="PMingLiU" panose="02020500000000000000" pitchFamily="18" charset="-120"/>
                                <a:cs typeface="Times New Roman" panose="02020603050405020304" pitchFamily="18" charset="0"/>
                              </a:rPr>
                            </m:ctrlPr>
                          </m:dPr>
                          <m:e>
                            <m:m>
                              <m:mPr>
                                <m:mcs>
                                  <m:mc>
                                    <m:mcPr>
                                      <m:count m:val="1"/>
                                      <m:mcJc m:val="center"/>
                                    </m:mcPr>
                                  </m:mc>
                                </m:mcs>
                                <m:ctrlPr>
                                  <a:rPr lang="es-MX" i="1">
                                    <a:solidFill>
                                      <a:srgbClr val="000000"/>
                                    </a:solidFill>
                                    <a:effectLst/>
                                    <a:latin typeface="Cambria Math" panose="02040503050406030204" pitchFamily="18" charset="0"/>
                                    <a:ea typeface="PMingLiU" panose="02020500000000000000" pitchFamily="18" charset="-120"/>
                                    <a:cs typeface="Times New Roman" panose="02020603050405020304" pitchFamily="18" charset="0"/>
                                  </a:rPr>
                                </m:ctrlPr>
                              </m:mPr>
                              <m:mr>
                                <m:e>
                                  <m:r>
                                    <m:rPr>
                                      <m:sty m:val="p"/>
                                    </m:rPr>
                                    <a:rPr lang="es-CO" i="0">
                                      <a:solidFill>
                                        <a:srgbClr val="000000"/>
                                      </a:solidFill>
                                      <a:effectLst/>
                                      <a:latin typeface="Cambria Math" panose="02040503050406030204" pitchFamily="18" charset="0"/>
                                      <a:ea typeface="PMingLiU" panose="02020500000000000000" pitchFamily="18" charset="-120"/>
                                      <a:cs typeface="Times New Roman" panose="02020603050405020304" pitchFamily="18" charset="0"/>
                                    </a:rPr>
                                    <m:t>A</m:t>
                                  </m:r>
                                  <m:r>
                                    <a:rPr lang="es-CO" i="0">
                                      <a:solidFill>
                                        <a:srgbClr val="000000"/>
                                      </a:solidFill>
                                      <a:effectLst/>
                                      <a:latin typeface="Cambria Math" panose="02040503050406030204" pitchFamily="18" charset="0"/>
                                      <a:ea typeface="PMingLiU" panose="02020500000000000000" pitchFamily="18" charset="-120"/>
                                      <a:cs typeface="Times New Roman" panose="02020603050405020304" pitchFamily="18" charset="0"/>
                                    </a:rPr>
                                    <m:t>=80</m:t>
                                  </m:r>
                                </m:e>
                              </m:mr>
                              <m:mr>
                                <m:e>
                                  <m:r>
                                    <m:rPr>
                                      <m:sty m:val="p"/>
                                    </m:rPr>
                                    <a:rPr lang="es-CO" i="0">
                                      <a:solidFill>
                                        <a:srgbClr val="000000"/>
                                      </a:solidFill>
                                      <a:effectLst/>
                                      <a:latin typeface="Cambria Math" panose="02040503050406030204" pitchFamily="18" charset="0"/>
                                      <a:ea typeface="PMingLiU" panose="02020500000000000000" pitchFamily="18" charset="-120"/>
                                      <a:cs typeface="Times New Roman" panose="02020603050405020304" pitchFamily="18" charset="0"/>
                                    </a:rPr>
                                    <m:t>n</m:t>
                                  </m:r>
                                  <m:r>
                                    <a:rPr lang="es-CO" i="0">
                                      <a:solidFill>
                                        <a:srgbClr val="000000"/>
                                      </a:solidFill>
                                      <a:effectLst/>
                                      <a:latin typeface="Cambria Math" panose="02040503050406030204" pitchFamily="18" charset="0"/>
                                      <a:ea typeface="PMingLiU" panose="02020500000000000000" pitchFamily="18" charset="-120"/>
                                      <a:cs typeface="Times New Roman" panose="02020603050405020304" pitchFamily="18" charset="0"/>
                                    </a:rPr>
                                    <m:t>=3</m:t>
                                  </m:r>
                                </m:e>
                              </m:mr>
                            </m:m>
                          </m:e>
                        </m:d>
                        <m:r>
                          <a:rPr lang="es-CO" i="0">
                            <a:solidFill>
                              <a:srgbClr val="000000"/>
                            </a:solidFill>
                            <a:effectLst/>
                            <a:latin typeface="Cambria Math" panose="02040503050406030204" pitchFamily="18" charset="0"/>
                            <a:ea typeface="PMingLiU" panose="02020500000000000000" pitchFamily="18" charset="-120"/>
                            <a:cs typeface="Times New Roman" panose="02020603050405020304" pitchFamily="18" charset="0"/>
                          </a:rPr>
                          <m:t>+</m:t>
                        </m:r>
                        <m:sSub>
                          <m:sSubPr>
                            <m:ctrlPr>
                              <a:rPr lang="es-MX" i="1">
                                <a:solidFill>
                                  <a:srgbClr val="000000"/>
                                </a:solidFill>
                                <a:effectLst/>
                                <a:latin typeface="Cambria Math" panose="02040503050406030204" pitchFamily="18" charset="0"/>
                                <a:ea typeface="PMingLiU" panose="02020500000000000000" pitchFamily="18" charset="-120"/>
                                <a:cs typeface="Times New Roman" panose="02020603050405020304" pitchFamily="18" charset="0"/>
                              </a:rPr>
                            </m:ctrlPr>
                          </m:sSubPr>
                          <m:e>
                            <m:r>
                              <m:rPr>
                                <m:sty m:val="p"/>
                              </m:rPr>
                              <a:rPr lang="es-CO" i="0">
                                <a:solidFill>
                                  <a:srgbClr val="000000"/>
                                </a:solidFill>
                                <a:effectLst/>
                                <a:latin typeface="Cambria Math" panose="02040503050406030204" pitchFamily="18" charset="0"/>
                                <a:ea typeface="PMingLiU" panose="02020500000000000000" pitchFamily="18" charset="-120"/>
                                <a:cs typeface="Times New Roman" panose="02020603050405020304" pitchFamily="18" charset="0"/>
                              </a:rPr>
                              <m:t>f</m:t>
                            </m:r>
                          </m:e>
                          <m:sub>
                            <m:r>
                              <m:rPr>
                                <m:sty m:val="p"/>
                              </m:rPr>
                              <a:rPr lang="es-CO" i="0">
                                <a:solidFill>
                                  <a:srgbClr val="000000"/>
                                </a:solidFill>
                                <a:effectLst/>
                                <a:latin typeface="Cambria Math" panose="02040503050406030204" pitchFamily="18" charset="0"/>
                                <a:ea typeface="PMingLiU" panose="02020500000000000000" pitchFamily="18" charset="-120"/>
                                <a:cs typeface="Times New Roman" panose="02020603050405020304" pitchFamily="18" charset="0"/>
                              </a:rPr>
                              <m:t>GA</m:t>
                            </m:r>
                          </m:sub>
                        </m:sSub>
                        <m:d>
                          <m:dPr>
                            <m:ctrlPr>
                              <a:rPr lang="es-MX" i="1">
                                <a:solidFill>
                                  <a:srgbClr val="000000"/>
                                </a:solidFill>
                                <a:effectLst/>
                                <a:latin typeface="Cambria Math" panose="02040503050406030204" pitchFamily="18" charset="0"/>
                                <a:ea typeface="PMingLiU" panose="02020500000000000000" pitchFamily="18" charset="-120"/>
                                <a:cs typeface="Times New Roman" panose="02020603050405020304" pitchFamily="18" charset="0"/>
                              </a:rPr>
                            </m:ctrlPr>
                          </m:dPr>
                          <m:e>
                            <m:m>
                              <m:mPr>
                                <m:mcs>
                                  <m:mc>
                                    <m:mcPr>
                                      <m:count m:val="1"/>
                                      <m:mcJc m:val="center"/>
                                    </m:mcPr>
                                  </m:mc>
                                </m:mcs>
                                <m:ctrlPr>
                                  <a:rPr lang="es-MX" i="1">
                                    <a:solidFill>
                                      <a:srgbClr val="000000"/>
                                    </a:solidFill>
                                    <a:effectLst/>
                                    <a:latin typeface="Cambria Math" panose="02040503050406030204" pitchFamily="18" charset="0"/>
                                    <a:ea typeface="PMingLiU" panose="02020500000000000000" pitchFamily="18" charset="-120"/>
                                    <a:cs typeface="Times New Roman" panose="02020603050405020304" pitchFamily="18" charset="0"/>
                                  </a:rPr>
                                </m:ctrlPr>
                              </m:mPr>
                              <m:mr>
                                <m:e>
                                  <m:r>
                                    <m:rPr>
                                      <m:sty m:val="p"/>
                                    </m:rPr>
                                    <a:rPr lang="es-CO" i="0">
                                      <a:solidFill>
                                        <a:srgbClr val="000000"/>
                                      </a:solidFill>
                                      <a:effectLst/>
                                      <a:latin typeface="Cambria Math" panose="02040503050406030204" pitchFamily="18" charset="0"/>
                                      <a:ea typeface="PMingLiU" panose="02020500000000000000" pitchFamily="18" charset="-120"/>
                                      <a:cs typeface="Times New Roman" panose="02020603050405020304" pitchFamily="18" charset="0"/>
                                    </a:rPr>
                                    <m:t>G</m:t>
                                  </m:r>
                                  <m:r>
                                    <a:rPr lang="es-CO" i="0">
                                      <a:solidFill>
                                        <a:srgbClr val="000000"/>
                                      </a:solidFill>
                                      <a:effectLst/>
                                      <a:latin typeface="Cambria Math" panose="02040503050406030204" pitchFamily="18" charset="0"/>
                                      <a:ea typeface="PMingLiU" panose="02020500000000000000" pitchFamily="18" charset="-120"/>
                                      <a:cs typeface="Times New Roman" panose="02020603050405020304" pitchFamily="18" charset="0"/>
                                    </a:rPr>
                                    <m:t>=−15</m:t>
                                  </m:r>
                                </m:e>
                              </m:mr>
                              <m:mr>
                                <m:e>
                                  <m:r>
                                    <m:rPr>
                                      <m:sty m:val="p"/>
                                    </m:rPr>
                                    <a:rPr lang="es-CO" i="0">
                                      <a:solidFill>
                                        <a:srgbClr val="000000"/>
                                      </a:solidFill>
                                      <a:effectLst/>
                                      <a:latin typeface="Cambria Math" panose="02040503050406030204" pitchFamily="18" charset="0"/>
                                      <a:ea typeface="PMingLiU" panose="02020500000000000000" pitchFamily="18" charset="-120"/>
                                      <a:cs typeface="Times New Roman" panose="02020603050405020304" pitchFamily="18" charset="0"/>
                                    </a:rPr>
                                    <m:t>n</m:t>
                                  </m:r>
                                  <m:r>
                                    <a:rPr lang="es-CO" i="0">
                                      <a:solidFill>
                                        <a:srgbClr val="000000"/>
                                      </a:solidFill>
                                      <a:effectLst/>
                                      <a:latin typeface="Cambria Math" panose="02040503050406030204" pitchFamily="18" charset="0"/>
                                      <a:ea typeface="PMingLiU" panose="02020500000000000000" pitchFamily="18" charset="-120"/>
                                      <a:cs typeface="Times New Roman" panose="02020603050405020304" pitchFamily="18" charset="0"/>
                                    </a:rPr>
                                    <m:t>=3</m:t>
                                  </m:r>
                                </m:e>
                              </m:mr>
                            </m:m>
                          </m:e>
                        </m:d>
                      </m:num>
                      <m:den>
                        <m:sSup>
                          <m:sSupPr>
                            <m:ctrlPr>
                              <a:rPr lang="es-MX"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pPr>
                          <m:e>
                            <m:d>
                              <m:dPr>
                                <m:ctrlPr>
                                  <a:rPr lang="es-MX"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dPr>
                              <m:e>
                                <m:r>
                                  <a:rPr lang="es-CO" i="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1+</m:t>
                                </m:r>
                                <m:r>
                                  <m:rPr>
                                    <m:sty m:val="p"/>
                                  </m:rPr>
                                  <a:rPr lang="es-CO" i="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i</m:t>
                                </m:r>
                              </m:e>
                            </m:d>
                          </m:e>
                          <m:sup>
                            <m:r>
                              <a:rPr lang="es-CO" i="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4</m:t>
                            </m:r>
                          </m:sup>
                        </m:sSup>
                      </m:den>
                    </m:f>
                  </m:oMath>
                </a14:m>
                <a:r>
                  <a:rPr lang="es-CO" dirty="0">
                    <a:solidFill>
                      <a:srgbClr val="000000"/>
                    </a:solidFill>
                    <a:ea typeface="Calibri" panose="020F0502020204030204" pitchFamily="34" charset="0"/>
                    <a:cs typeface="Times New Roman" panose="02020603050405020304" pitchFamily="18" charset="0"/>
                  </a:rPr>
                  <a:t> </a:t>
                </a:r>
                <a:endParaRPr lang="es-MX" dirty="0">
                  <a:solidFill>
                    <a:srgbClr val="000000"/>
                  </a:solidFill>
                  <a:latin typeface="Cambria Math" panose="02040503050406030204" pitchFamily="18" charset="0"/>
                  <a:ea typeface="Calibri" panose="020F0502020204030204" pitchFamily="34" charset="0"/>
                  <a:cs typeface="Times New Roman" panose="02020603050405020304" pitchFamily="18" charset="0"/>
                </a:endParaRPr>
              </a:p>
              <a:p>
                <a:pPr marL="342900" lvl="0" indent="-342900" algn="just">
                  <a:buClr>
                    <a:srgbClr val="BF8F00"/>
                  </a:buClr>
                  <a:buSzPct val="100000"/>
                  <a:buFont typeface="Verdana" panose="020B0604030504040204" pitchFamily="34" charset="0"/>
                  <a:buAutoNum type="alphaLcParenR"/>
                </a:pPr>
                <a14:m>
                  <m:oMath xmlns:m="http://schemas.openxmlformats.org/officeDocument/2006/math">
                    <m:r>
                      <m:rPr>
                        <m:sty m:val="p"/>
                      </m:rPr>
                      <a:rPr lang="es-CO" i="0">
                        <a:solidFill>
                          <a:srgbClr val="000000"/>
                        </a:solidFill>
                        <a:latin typeface="Cambria Math" panose="02040503050406030204" pitchFamily="18" charset="0"/>
                        <a:ea typeface="Calibri" panose="020F0502020204030204" pitchFamily="34" charset="0"/>
                        <a:cs typeface="Times New Roman" panose="02020603050405020304" pitchFamily="18" charset="0"/>
                      </a:rPr>
                      <m:t>VP</m:t>
                    </m:r>
                    <m:r>
                      <a:rPr lang="es-CO" i="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s-MX" i="1">
                            <a:solidFill>
                              <a:srgbClr val="000000"/>
                            </a:solidFill>
                            <a:latin typeface="Cambria Math" panose="02040503050406030204" pitchFamily="18" charset="0"/>
                            <a:ea typeface="PMingLiU" panose="02020500000000000000" pitchFamily="18" charset="-120"/>
                            <a:cs typeface="Times New Roman" panose="02020603050405020304" pitchFamily="18" charset="0"/>
                          </a:rPr>
                        </m:ctrlPr>
                      </m:sSubPr>
                      <m:e>
                        <m:r>
                          <m:rPr>
                            <m:sty m:val="p"/>
                          </m:rPr>
                          <a:rPr lang="es-CO" i="0">
                            <a:solidFill>
                              <a:srgbClr val="000000"/>
                            </a:solidFill>
                            <a:latin typeface="Cambria Math" panose="02040503050406030204" pitchFamily="18" charset="0"/>
                            <a:ea typeface="PMingLiU" panose="02020500000000000000" pitchFamily="18" charset="-120"/>
                            <a:cs typeface="Times New Roman" panose="02020603050405020304" pitchFamily="18" charset="0"/>
                          </a:rPr>
                          <m:t>f</m:t>
                        </m:r>
                      </m:e>
                      <m:sub>
                        <m:r>
                          <m:rPr>
                            <m:sty m:val="p"/>
                          </m:rPr>
                          <a:rPr lang="es-CO" i="0">
                            <a:solidFill>
                              <a:srgbClr val="000000"/>
                            </a:solidFill>
                            <a:latin typeface="Cambria Math" panose="02040503050406030204" pitchFamily="18" charset="0"/>
                            <a:ea typeface="PMingLiU" panose="02020500000000000000" pitchFamily="18" charset="-120"/>
                            <a:cs typeface="Times New Roman" panose="02020603050405020304" pitchFamily="18" charset="0"/>
                          </a:rPr>
                          <m:t>A</m:t>
                        </m:r>
                      </m:sub>
                    </m:sSub>
                    <m:d>
                      <m:dPr>
                        <m:ctrlPr>
                          <a:rPr lang="es-MX" i="1">
                            <a:solidFill>
                              <a:srgbClr val="000000"/>
                            </a:solidFill>
                            <a:latin typeface="Cambria Math" panose="02040503050406030204" pitchFamily="18" charset="0"/>
                            <a:ea typeface="PMingLiU" panose="02020500000000000000" pitchFamily="18" charset="-120"/>
                            <a:cs typeface="Times New Roman" panose="02020603050405020304" pitchFamily="18" charset="0"/>
                          </a:rPr>
                        </m:ctrlPr>
                      </m:dPr>
                      <m:e>
                        <m:m>
                          <m:mPr>
                            <m:mcs>
                              <m:mc>
                                <m:mcPr>
                                  <m:count m:val="1"/>
                                  <m:mcJc m:val="center"/>
                                </m:mcPr>
                              </m:mc>
                            </m:mcs>
                            <m:ctrlPr>
                              <a:rPr lang="es-MX" i="1">
                                <a:solidFill>
                                  <a:srgbClr val="000000"/>
                                </a:solidFill>
                                <a:latin typeface="Cambria Math" panose="02040503050406030204" pitchFamily="18" charset="0"/>
                                <a:ea typeface="PMingLiU" panose="02020500000000000000" pitchFamily="18" charset="-120"/>
                                <a:cs typeface="Times New Roman" panose="02020603050405020304" pitchFamily="18" charset="0"/>
                              </a:rPr>
                            </m:ctrlPr>
                          </m:mPr>
                          <m:mr>
                            <m:e>
                              <m:r>
                                <m:rPr>
                                  <m:sty m:val="p"/>
                                </m:rPr>
                                <a:rPr lang="es-CO" i="0">
                                  <a:solidFill>
                                    <a:srgbClr val="000000"/>
                                  </a:solidFill>
                                  <a:latin typeface="Cambria Math" panose="02040503050406030204" pitchFamily="18" charset="0"/>
                                  <a:ea typeface="PMingLiU" panose="02020500000000000000" pitchFamily="18" charset="-120"/>
                                  <a:cs typeface="Times New Roman" panose="02020603050405020304" pitchFamily="18" charset="0"/>
                                </a:rPr>
                                <m:t>A</m:t>
                              </m:r>
                              <m:r>
                                <a:rPr lang="es-CO" i="0">
                                  <a:solidFill>
                                    <a:srgbClr val="000000"/>
                                  </a:solidFill>
                                  <a:latin typeface="Cambria Math" panose="02040503050406030204" pitchFamily="18" charset="0"/>
                                  <a:ea typeface="PMingLiU" panose="02020500000000000000" pitchFamily="18" charset="-120"/>
                                  <a:cs typeface="Times New Roman" panose="02020603050405020304" pitchFamily="18" charset="0"/>
                                </a:rPr>
                                <m:t>=50</m:t>
                              </m:r>
                            </m:e>
                          </m:mr>
                          <m:mr>
                            <m:e>
                              <m:r>
                                <m:rPr>
                                  <m:sty m:val="p"/>
                                </m:rPr>
                                <a:rPr lang="es-CO" i="0">
                                  <a:solidFill>
                                    <a:srgbClr val="000000"/>
                                  </a:solidFill>
                                  <a:latin typeface="Cambria Math" panose="02040503050406030204" pitchFamily="18" charset="0"/>
                                  <a:ea typeface="PMingLiU" panose="02020500000000000000" pitchFamily="18" charset="-120"/>
                                  <a:cs typeface="Times New Roman" panose="02020603050405020304" pitchFamily="18" charset="0"/>
                                </a:rPr>
                                <m:t>n</m:t>
                              </m:r>
                              <m:r>
                                <a:rPr lang="es-CO" i="0">
                                  <a:solidFill>
                                    <a:srgbClr val="000000"/>
                                  </a:solidFill>
                                  <a:latin typeface="Cambria Math" panose="02040503050406030204" pitchFamily="18" charset="0"/>
                                  <a:ea typeface="PMingLiU" panose="02020500000000000000" pitchFamily="18" charset="-120"/>
                                  <a:cs typeface="Times New Roman" panose="02020603050405020304" pitchFamily="18" charset="0"/>
                                </a:rPr>
                                <m:t>=4</m:t>
                              </m:r>
                            </m:e>
                          </m:mr>
                        </m:m>
                      </m:e>
                    </m:d>
                    <m:r>
                      <a:rPr lang="es-CO" i="0">
                        <a:solidFill>
                          <a:srgbClr val="000000"/>
                        </a:solidFill>
                        <a:latin typeface="Cambria Math" panose="02040503050406030204" pitchFamily="18" charset="0"/>
                        <a:ea typeface="PMingLiU" panose="02020500000000000000" pitchFamily="18" charset="-120"/>
                        <a:cs typeface="Times New Roman" panose="02020603050405020304" pitchFamily="18" charset="0"/>
                      </a:rPr>
                      <m:t>+</m:t>
                    </m:r>
                    <m:f>
                      <m:fPr>
                        <m:ctrlPr>
                          <a:rPr lang="es-MX" i="1">
                            <a:solidFill>
                              <a:srgbClr val="000000"/>
                            </a:solidFill>
                            <a:latin typeface="Cambria Math" panose="02040503050406030204" pitchFamily="18" charset="0"/>
                            <a:ea typeface="PMingLiU" panose="02020500000000000000" pitchFamily="18" charset="-120"/>
                            <a:cs typeface="Times New Roman" panose="02020603050405020304" pitchFamily="18" charset="0"/>
                          </a:rPr>
                        </m:ctrlPr>
                      </m:fPr>
                      <m:num>
                        <m:sSub>
                          <m:sSubPr>
                            <m:ctrlPr>
                              <a:rPr lang="es-MX" i="1">
                                <a:solidFill>
                                  <a:srgbClr val="000000"/>
                                </a:solidFill>
                                <a:latin typeface="Cambria Math" panose="02040503050406030204" pitchFamily="18" charset="0"/>
                                <a:ea typeface="PMingLiU" panose="02020500000000000000" pitchFamily="18" charset="-120"/>
                                <a:cs typeface="Times New Roman" panose="02020603050405020304" pitchFamily="18" charset="0"/>
                              </a:rPr>
                            </m:ctrlPr>
                          </m:sSubPr>
                          <m:e>
                            <m:r>
                              <m:rPr>
                                <m:sty m:val="p"/>
                              </m:rPr>
                              <a:rPr lang="es-CO" i="0">
                                <a:solidFill>
                                  <a:srgbClr val="000000"/>
                                </a:solidFill>
                                <a:latin typeface="Cambria Math" panose="02040503050406030204" pitchFamily="18" charset="0"/>
                                <a:ea typeface="PMingLiU" panose="02020500000000000000" pitchFamily="18" charset="-120"/>
                                <a:cs typeface="Times New Roman" panose="02020603050405020304" pitchFamily="18" charset="0"/>
                              </a:rPr>
                              <m:t>f</m:t>
                            </m:r>
                          </m:e>
                          <m:sub>
                            <m:r>
                              <m:rPr>
                                <m:sty m:val="p"/>
                              </m:rPr>
                              <a:rPr lang="es-CO" i="0">
                                <a:solidFill>
                                  <a:srgbClr val="000000"/>
                                </a:solidFill>
                                <a:latin typeface="Cambria Math" panose="02040503050406030204" pitchFamily="18" charset="0"/>
                                <a:ea typeface="PMingLiU" panose="02020500000000000000" pitchFamily="18" charset="-120"/>
                                <a:cs typeface="Times New Roman" panose="02020603050405020304" pitchFamily="18" charset="0"/>
                              </a:rPr>
                              <m:t>GA</m:t>
                            </m:r>
                          </m:sub>
                        </m:sSub>
                        <m:d>
                          <m:dPr>
                            <m:ctrlPr>
                              <a:rPr lang="es-MX" i="1">
                                <a:solidFill>
                                  <a:srgbClr val="000000"/>
                                </a:solidFill>
                                <a:latin typeface="Cambria Math" panose="02040503050406030204" pitchFamily="18" charset="0"/>
                                <a:ea typeface="PMingLiU" panose="02020500000000000000" pitchFamily="18" charset="-120"/>
                                <a:cs typeface="Times New Roman" panose="02020603050405020304" pitchFamily="18" charset="0"/>
                              </a:rPr>
                            </m:ctrlPr>
                          </m:dPr>
                          <m:e>
                            <m:m>
                              <m:mPr>
                                <m:mcs>
                                  <m:mc>
                                    <m:mcPr>
                                      <m:count m:val="1"/>
                                      <m:mcJc m:val="center"/>
                                    </m:mcPr>
                                  </m:mc>
                                </m:mcs>
                                <m:ctrlPr>
                                  <a:rPr lang="es-MX" i="1">
                                    <a:solidFill>
                                      <a:srgbClr val="000000"/>
                                    </a:solidFill>
                                    <a:latin typeface="Cambria Math" panose="02040503050406030204" pitchFamily="18" charset="0"/>
                                    <a:ea typeface="PMingLiU" panose="02020500000000000000" pitchFamily="18" charset="-120"/>
                                    <a:cs typeface="Times New Roman" panose="02020603050405020304" pitchFamily="18" charset="0"/>
                                  </a:rPr>
                                </m:ctrlPr>
                              </m:mPr>
                              <m:mr>
                                <m:e>
                                  <m:r>
                                    <m:rPr>
                                      <m:sty m:val="p"/>
                                    </m:rPr>
                                    <a:rPr lang="es-CO" i="0">
                                      <a:solidFill>
                                        <a:srgbClr val="000000"/>
                                      </a:solidFill>
                                      <a:latin typeface="Cambria Math" panose="02040503050406030204" pitchFamily="18" charset="0"/>
                                      <a:ea typeface="PMingLiU" panose="02020500000000000000" pitchFamily="18" charset="-120"/>
                                      <a:cs typeface="Times New Roman" panose="02020603050405020304" pitchFamily="18" charset="0"/>
                                    </a:rPr>
                                    <m:t>G</m:t>
                                  </m:r>
                                  <m:r>
                                    <a:rPr lang="es-CO" i="0">
                                      <a:solidFill>
                                        <a:srgbClr val="000000"/>
                                      </a:solidFill>
                                      <a:latin typeface="Cambria Math" panose="02040503050406030204" pitchFamily="18" charset="0"/>
                                      <a:ea typeface="PMingLiU" panose="02020500000000000000" pitchFamily="18" charset="-120"/>
                                      <a:cs typeface="Times New Roman" panose="02020603050405020304" pitchFamily="18" charset="0"/>
                                    </a:rPr>
                                    <m:t>=10</m:t>
                                  </m:r>
                                </m:e>
                              </m:mr>
                              <m:mr>
                                <m:e>
                                  <m:r>
                                    <m:rPr>
                                      <m:sty m:val="p"/>
                                    </m:rPr>
                                    <a:rPr lang="es-CO" i="0">
                                      <a:solidFill>
                                        <a:srgbClr val="000000"/>
                                      </a:solidFill>
                                      <a:latin typeface="Cambria Math" panose="02040503050406030204" pitchFamily="18" charset="0"/>
                                      <a:ea typeface="PMingLiU" panose="02020500000000000000" pitchFamily="18" charset="-120"/>
                                      <a:cs typeface="Times New Roman" panose="02020603050405020304" pitchFamily="18" charset="0"/>
                                    </a:rPr>
                                    <m:t>n</m:t>
                                  </m:r>
                                  <m:r>
                                    <a:rPr lang="es-CO" i="0">
                                      <a:solidFill>
                                        <a:srgbClr val="000000"/>
                                      </a:solidFill>
                                      <a:latin typeface="Cambria Math" panose="02040503050406030204" pitchFamily="18" charset="0"/>
                                      <a:ea typeface="PMingLiU" panose="02020500000000000000" pitchFamily="18" charset="-120"/>
                                      <a:cs typeface="Times New Roman" panose="02020603050405020304" pitchFamily="18" charset="0"/>
                                    </a:rPr>
                                    <m:t>=3</m:t>
                                  </m:r>
                                </m:e>
                              </m:mr>
                            </m:m>
                          </m:e>
                        </m:d>
                      </m:num>
                      <m:den>
                        <m:sSup>
                          <m:sSupPr>
                            <m:ctrlPr>
                              <a:rPr lang="es-MX"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d>
                              <m:dPr>
                                <m:ctrlPr>
                                  <a:rPr lang="es-MX"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dPr>
                              <m:e>
                                <m:r>
                                  <a:rPr lang="es-CO" i="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r>
                                  <m:rPr>
                                    <m:sty m:val="p"/>
                                  </m:rPr>
                                  <a:rPr lang="es-CO" i="0">
                                    <a:solidFill>
                                      <a:srgbClr val="000000"/>
                                    </a:solidFill>
                                    <a:latin typeface="Cambria Math" panose="02040503050406030204" pitchFamily="18" charset="0"/>
                                    <a:ea typeface="Calibri" panose="020F0502020204030204" pitchFamily="34" charset="0"/>
                                    <a:cs typeface="Times New Roman" panose="02020603050405020304" pitchFamily="18" charset="0"/>
                                  </a:rPr>
                                  <m:t>i</m:t>
                                </m:r>
                              </m:e>
                            </m:d>
                          </m:e>
                          <m:sup>
                            <m:r>
                              <a:rPr lang="es-CO" i="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p>
                      </m:den>
                    </m:f>
                    <m:r>
                      <a:rPr lang="es-CO" i="0">
                        <a:solidFill>
                          <a:srgbClr val="000000"/>
                        </a:solidFill>
                        <a:latin typeface="Cambria Math" panose="02040503050406030204" pitchFamily="18" charset="0"/>
                        <a:ea typeface="PMingLiU" panose="02020500000000000000" pitchFamily="18" charset="-120"/>
                        <a:cs typeface="Times New Roman" panose="02020603050405020304" pitchFamily="18" charset="0"/>
                      </a:rPr>
                      <m:t>+</m:t>
                    </m:r>
                    <m:f>
                      <m:fPr>
                        <m:ctrlPr>
                          <a:rPr lang="es-MX" i="1">
                            <a:solidFill>
                              <a:srgbClr val="000000"/>
                            </a:solidFill>
                            <a:latin typeface="Cambria Math" panose="02040503050406030204" pitchFamily="18" charset="0"/>
                            <a:ea typeface="PMingLiU" panose="02020500000000000000" pitchFamily="18" charset="-120"/>
                            <a:cs typeface="Times New Roman" panose="02020603050405020304" pitchFamily="18" charset="0"/>
                          </a:rPr>
                        </m:ctrlPr>
                      </m:fPr>
                      <m:num>
                        <m:sSub>
                          <m:sSubPr>
                            <m:ctrlPr>
                              <a:rPr lang="es-MX" i="1">
                                <a:solidFill>
                                  <a:srgbClr val="000000"/>
                                </a:solidFill>
                                <a:latin typeface="Cambria Math" panose="02040503050406030204" pitchFamily="18" charset="0"/>
                                <a:ea typeface="PMingLiU" panose="02020500000000000000" pitchFamily="18" charset="-120"/>
                                <a:cs typeface="Times New Roman" panose="02020603050405020304" pitchFamily="18" charset="0"/>
                              </a:rPr>
                            </m:ctrlPr>
                          </m:sSubPr>
                          <m:e>
                            <m:r>
                              <m:rPr>
                                <m:sty m:val="p"/>
                              </m:rPr>
                              <a:rPr lang="es-CO" i="0">
                                <a:solidFill>
                                  <a:srgbClr val="000000"/>
                                </a:solidFill>
                                <a:latin typeface="Cambria Math" panose="02040503050406030204" pitchFamily="18" charset="0"/>
                                <a:ea typeface="PMingLiU" panose="02020500000000000000" pitchFamily="18" charset="-120"/>
                                <a:cs typeface="Times New Roman" panose="02020603050405020304" pitchFamily="18" charset="0"/>
                              </a:rPr>
                              <m:t>f</m:t>
                            </m:r>
                          </m:e>
                          <m:sub>
                            <m:r>
                              <m:rPr>
                                <m:sty m:val="p"/>
                              </m:rPr>
                              <a:rPr lang="es-CO" i="0">
                                <a:solidFill>
                                  <a:srgbClr val="000000"/>
                                </a:solidFill>
                                <a:latin typeface="Cambria Math" panose="02040503050406030204" pitchFamily="18" charset="0"/>
                                <a:ea typeface="PMingLiU" panose="02020500000000000000" pitchFamily="18" charset="-120"/>
                                <a:cs typeface="Times New Roman" panose="02020603050405020304" pitchFamily="18" charset="0"/>
                              </a:rPr>
                              <m:t>A</m:t>
                            </m:r>
                          </m:sub>
                        </m:sSub>
                        <m:d>
                          <m:dPr>
                            <m:ctrlPr>
                              <a:rPr lang="es-MX" i="1">
                                <a:solidFill>
                                  <a:srgbClr val="000000"/>
                                </a:solidFill>
                                <a:latin typeface="Cambria Math" panose="02040503050406030204" pitchFamily="18" charset="0"/>
                                <a:ea typeface="PMingLiU" panose="02020500000000000000" pitchFamily="18" charset="-120"/>
                                <a:cs typeface="Times New Roman" panose="02020603050405020304" pitchFamily="18" charset="0"/>
                              </a:rPr>
                            </m:ctrlPr>
                          </m:dPr>
                          <m:e>
                            <m:m>
                              <m:mPr>
                                <m:mcs>
                                  <m:mc>
                                    <m:mcPr>
                                      <m:count m:val="1"/>
                                      <m:mcJc m:val="center"/>
                                    </m:mcPr>
                                  </m:mc>
                                </m:mcs>
                                <m:ctrlPr>
                                  <a:rPr lang="es-MX" i="1">
                                    <a:solidFill>
                                      <a:srgbClr val="000000"/>
                                    </a:solidFill>
                                    <a:latin typeface="Cambria Math" panose="02040503050406030204" pitchFamily="18" charset="0"/>
                                    <a:ea typeface="PMingLiU" panose="02020500000000000000" pitchFamily="18" charset="-120"/>
                                    <a:cs typeface="Times New Roman" panose="02020603050405020304" pitchFamily="18" charset="0"/>
                                  </a:rPr>
                                </m:ctrlPr>
                              </m:mPr>
                              <m:mr>
                                <m:e>
                                  <m:r>
                                    <m:rPr>
                                      <m:sty m:val="p"/>
                                    </m:rPr>
                                    <a:rPr lang="es-CO" i="0">
                                      <a:solidFill>
                                        <a:srgbClr val="000000"/>
                                      </a:solidFill>
                                      <a:latin typeface="Cambria Math" panose="02040503050406030204" pitchFamily="18" charset="0"/>
                                      <a:ea typeface="PMingLiU" panose="02020500000000000000" pitchFamily="18" charset="-120"/>
                                      <a:cs typeface="Times New Roman" panose="02020603050405020304" pitchFamily="18" charset="0"/>
                                    </a:rPr>
                                    <m:t>A</m:t>
                                  </m:r>
                                  <m:r>
                                    <a:rPr lang="es-CO" i="0">
                                      <a:solidFill>
                                        <a:srgbClr val="000000"/>
                                      </a:solidFill>
                                      <a:latin typeface="Cambria Math" panose="02040503050406030204" pitchFamily="18" charset="0"/>
                                      <a:ea typeface="PMingLiU" panose="02020500000000000000" pitchFamily="18" charset="-120"/>
                                      <a:cs typeface="Times New Roman" panose="02020603050405020304" pitchFamily="18" charset="0"/>
                                    </a:rPr>
                                    <m:t>=80</m:t>
                                  </m:r>
                                </m:e>
                              </m:mr>
                              <m:mr>
                                <m:e>
                                  <m:r>
                                    <m:rPr>
                                      <m:sty m:val="p"/>
                                    </m:rPr>
                                    <a:rPr lang="es-CO" i="0">
                                      <a:solidFill>
                                        <a:srgbClr val="000000"/>
                                      </a:solidFill>
                                      <a:latin typeface="Cambria Math" panose="02040503050406030204" pitchFamily="18" charset="0"/>
                                      <a:ea typeface="PMingLiU" panose="02020500000000000000" pitchFamily="18" charset="-120"/>
                                      <a:cs typeface="Times New Roman" panose="02020603050405020304" pitchFamily="18" charset="0"/>
                                    </a:rPr>
                                    <m:t>n</m:t>
                                  </m:r>
                                  <m:r>
                                    <a:rPr lang="es-CO" i="0">
                                      <a:solidFill>
                                        <a:srgbClr val="000000"/>
                                      </a:solidFill>
                                      <a:latin typeface="Cambria Math" panose="02040503050406030204" pitchFamily="18" charset="0"/>
                                      <a:ea typeface="PMingLiU" panose="02020500000000000000" pitchFamily="18" charset="-120"/>
                                      <a:cs typeface="Times New Roman" panose="02020603050405020304" pitchFamily="18" charset="0"/>
                                    </a:rPr>
                                    <m:t>=3</m:t>
                                  </m:r>
                                </m:e>
                              </m:mr>
                            </m:m>
                          </m:e>
                        </m:d>
                        <m:r>
                          <a:rPr lang="es-CO" i="0">
                            <a:solidFill>
                              <a:srgbClr val="000000"/>
                            </a:solidFill>
                            <a:latin typeface="Cambria Math" panose="02040503050406030204" pitchFamily="18" charset="0"/>
                            <a:ea typeface="PMingLiU" panose="02020500000000000000" pitchFamily="18" charset="-120"/>
                            <a:cs typeface="Times New Roman" panose="02020603050405020304" pitchFamily="18" charset="0"/>
                          </a:rPr>
                          <m:t>+</m:t>
                        </m:r>
                        <m:sSub>
                          <m:sSubPr>
                            <m:ctrlPr>
                              <a:rPr lang="es-MX" i="1">
                                <a:solidFill>
                                  <a:srgbClr val="000000"/>
                                </a:solidFill>
                                <a:latin typeface="Cambria Math" panose="02040503050406030204" pitchFamily="18" charset="0"/>
                                <a:ea typeface="PMingLiU" panose="02020500000000000000" pitchFamily="18" charset="-120"/>
                                <a:cs typeface="Times New Roman" panose="02020603050405020304" pitchFamily="18" charset="0"/>
                              </a:rPr>
                            </m:ctrlPr>
                          </m:sSubPr>
                          <m:e>
                            <m:r>
                              <m:rPr>
                                <m:sty m:val="p"/>
                              </m:rPr>
                              <a:rPr lang="es-CO" i="0">
                                <a:solidFill>
                                  <a:srgbClr val="000000"/>
                                </a:solidFill>
                                <a:latin typeface="Cambria Math" panose="02040503050406030204" pitchFamily="18" charset="0"/>
                                <a:ea typeface="PMingLiU" panose="02020500000000000000" pitchFamily="18" charset="-120"/>
                                <a:cs typeface="Times New Roman" panose="02020603050405020304" pitchFamily="18" charset="0"/>
                              </a:rPr>
                              <m:t>f</m:t>
                            </m:r>
                          </m:e>
                          <m:sub>
                            <m:r>
                              <m:rPr>
                                <m:sty m:val="p"/>
                              </m:rPr>
                              <a:rPr lang="es-CO" i="0">
                                <a:solidFill>
                                  <a:srgbClr val="000000"/>
                                </a:solidFill>
                                <a:latin typeface="Cambria Math" panose="02040503050406030204" pitchFamily="18" charset="0"/>
                                <a:ea typeface="PMingLiU" panose="02020500000000000000" pitchFamily="18" charset="-120"/>
                                <a:cs typeface="Times New Roman" panose="02020603050405020304" pitchFamily="18" charset="0"/>
                              </a:rPr>
                              <m:t>GA</m:t>
                            </m:r>
                          </m:sub>
                        </m:sSub>
                        <m:d>
                          <m:dPr>
                            <m:ctrlPr>
                              <a:rPr lang="es-MX" i="1">
                                <a:solidFill>
                                  <a:srgbClr val="000000"/>
                                </a:solidFill>
                                <a:latin typeface="Cambria Math" panose="02040503050406030204" pitchFamily="18" charset="0"/>
                                <a:ea typeface="PMingLiU" panose="02020500000000000000" pitchFamily="18" charset="-120"/>
                                <a:cs typeface="Times New Roman" panose="02020603050405020304" pitchFamily="18" charset="0"/>
                              </a:rPr>
                            </m:ctrlPr>
                          </m:dPr>
                          <m:e>
                            <m:m>
                              <m:mPr>
                                <m:mcs>
                                  <m:mc>
                                    <m:mcPr>
                                      <m:count m:val="1"/>
                                      <m:mcJc m:val="center"/>
                                    </m:mcPr>
                                  </m:mc>
                                </m:mcs>
                                <m:ctrlPr>
                                  <a:rPr lang="es-MX" i="1">
                                    <a:solidFill>
                                      <a:srgbClr val="000000"/>
                                    </a:solidFill>
                                    <a:latin typeface="Cambria Math" panose="02040503050406030204" pitchFamily="18" charset="0"/>
                                    <a:ea typeface="PMingLiU" panose="02020500000000000000" pitchFamily="18" charset="-120"/>
                                    <a:cs typeface="Times New Roman" panose="02020603050405020304" pitchFamily="18" charset="0"/>
                                  </a:rPr>
                                </m:ctrlPr>
                              </m:mPr>
                              <m:mr>
                                <m:e>
                                  <m:r>
                                    <m:rPr>
                                      <m:sty m:val="p"/>
                                    </m:rPr>
                                    <a:rPr lang="es-CO" i="0">
                                      <a:solidFill>
                                        <a:srgbClr val="000000"/>
                                      </a:solidFill>
                                      <a:latin typeface="Cambria Math" panose="02040503050406030204" pitchFamily="18" charset="0"/>
                                      <a:ea typeface="PMingLiU" panose="02020500000000000000" pitchFamily="18" charset="-120"/>
                                      <a:cs typeface="Times New Roman" panose="02020603050405020304" pitchFamily="18" charset="0"/>
                                    </a:rPr>
                                    <m:t>G</m:t>
                                  </m:r>
                                  <m:r>
                                    <a:rPr lang="es-CO" i="0">
                                      <a:solidFill>
                                        <a:srgbClr val="000000"/>
                                      </a:solidFill>
                                      <a:latin typeface="Cambria Math" panose="02040503050406030204" pitchFamily="18" charset="0"/>
                                      <a:ea typeface="PMingLiU" panose="02020500000000000000" pitchFamily="18" charset="-120"/>
                                      <a:cs typeface="Times New Roman" panose="02020603050405020304" pitchFamily="18" charset="0"/>
                                    </a:rPr>
                                    <m:t>=−15</m:t>
                                  </m:r>
                                </m:e>
                              </m:mr>
                              <m:mr>
                                <m:e>
                                  <m:r>
                                    <m:rPr>
                                      <m:sty m:val="p"/>
                                    </m:rPr>
                                    <a:rPr lang="es-CO" i="0">
                                      <a:solidFill>
                                        <a:srgbClr val="000000"/>
                                      </a:solidFill>
                                      <a:latin typeface="Cambria Math" panose="02040503050406030204" pitchFamily="18" charset="0"/>
                                      <a:ea typeface="PMingLiU" panose="02020500000000000000" pitchFamily="18" charset="-120"/>
                                      <a:cs typeface="Times New Roman" panose="02020603050405020304" pitchFamily="18" charset="0"/>
                                    </a:rPr>
                                    <m:t>n</m:t>
                                  </m:r>
                                  <m:r>
                                    <a:rPr lang="es-CO" i="0">
                                      <a:solidFill>
                                        <a:srgbClr val="000000"/>
                                      </a:solidFill>
                                      <a:latin typeface="Cambria Math" panose="02040503050406030204" pitchFamily="18" charset="0"/>
                                      <a:ea typeface="PMingLiU" panose="02020500000000000000" pitchFamily="18" charset="-120"/>
                                      <a:cs typeface="Times New Roman" panose="02020603050405020304" pitchFamily="18" charset="0"/>
                                    </a:rPr>
                                    <m:t>=3</m:t>
                                  </m:r>
                                </m:e>
                              </m:mr>
                            </m:m>
                          </m:e>
                        </m:d>
                      </m:num>
                      <m:den>
                        <m:sSup>
                          <m:sSupPr>
                            <m:ctrlPr>
                              <a:rPr lang="es-MX"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d>
                              <m:dPr>
                                <m:ctrlPr>
                                  <a:rPr lang="es-MX"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dPr>
                              <m:e>
                                <m:r>
                                  <a:rPr lang="es-CO" i="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r>
                                  <m:rPr>
                                    <m:sty m:val="p"/>
                                  </m:rPr>
                                  <a:rPr lang="es-CO" i="0">
                                    <a:solidFill>
                                      <a:srgbClr val="000000"/>
                                    </a:solidFill>
                                    <a:latin typeface="Cambria Math" panose="02040503050406030204" pitchFamily="18" charset="0"/>
                                    <a:ea typeface="Calibri" panose="020F0502020204030204" pitchFamily="34" charset="0"/>
                                    <a:cs typeface="Times New Roman" panose="02020603050405020304" pitchFamily="18" charset="0"/>
                                  </a:rPr>
                                  <m:t>i</m:t>
                                </m:r>
                              </m:e>
                            </m:d>
                          </m:e>
                          <m:sup>
                            <m:r>
                              <a:rPr lang="es-CO" i="0">
                                <a:solidFill>
                                  <a:srgbClr val="000000"/>
                                </a:solidFill>
                                <a:latin typeface="Cambria Math" panose="02040503050406030204" pitchFamily="18" charset="0"/>
                                <a:ea typeface="Calibri" panose="020F0502020204030204" pitchFamily="34" charset="0"/>
                                <a:cs typeface="Times New Roman" panose="02020603050405020304" pitchFamily="18" charset="0"/>
                              </a:rPr>
                              <m:t>5</m:t>
                            </m:r>
                          </m:sup>
                        </m:sSup>
                      </m:den>
                    </m:f>
                  </m:oMath>
                </a14:m>
                <a:endParaRPr lang="es-MX" dirty="0">
                  <a:solidFill>
                    <a:srgbClr val="000000"/>
                  </a:solidFill>
                  <a:latin typeface="Cambria Math" panose="02040503050406030204" pitchFamily="18" charset="0"/>
                  <a:ea typeface="Calibri" panose="020F0502020204030204" pitchFamily="34" charset="0"/>
                  <a:cs typeface="Times New Roman" panose="02020603050405020304" pitchFamily="18" charset="0"/>
                </a:endParaRPr>
              </a:p>
              <a:p>
                <a:pPr marL="342900" lvl="0" indent="-342900" algn="just">
                  <a:buClr>
                    <a:srgbClr val="C00000"/>
                  </a:buClr>
                  <a:buSzPct val="100000"/>
                  <a:buFont typeface="Verdana" panose="020B0604030504040204" pitchFamily="34" charset="0"/>
                  <a:buAutoNum type="alphaLcParenR"/>
                </a:pPr>
                <a14:m>
                  <m:oMath xmlns:m="http://schemas.openxmlformats.org/officeDocument/2006/math">
                    <m:r>
                      <a:rPr lang="es-CO" b="1" i="0" smtClean="0">
                        <a:solidFill>
                          <a:srgbClr val="C00000"/>
                        </a:solidFill>
                        <a:latin typeface="Cambria Math" panose="02040503050406030204" pitchFamily="18" charset="0"/>
                        <a:ea typeface="Calibri" panose="020F0502020204030204" pitchFamily="34" charset="0"/>
                        <a:cs typeface="Times New Roman" panose="02020603050405020304" pitchFamily="18" charset="0"/>
                      </a:rPr>
                      <m:t>𝐕𝐏</m:t>
                    </m:r>
                    <m:r>
                      <a:rPr lang="es-CO" b="1" i="0" smtClean="0">
                        <a:solidFill>
                          <a:srgbClr val="C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s-MX" b="1" i="1">
                            <a:solidFill>
                              <a:srgbClr val="C00000"/>
                            </a:solidFill>
                            <a:latin typeface="Cambria Math" panose="02040503050406030204" pitchFamily="18" charset="0"/>
                            <a:ea typeface="PMingLiU" panose="02020500000000000000" pitchFamily="18" charset="-120"/>
                            <a:cs typeface="Times New Roman" panose="02020603050405020304" pitchFamily="18" charset="0"/>
                          </a:rPr>
                        </m:ctrlPr>
                      </m:sSubPr>
                      <m:e>
                        <m:r>
                          <a:rPr lang="es-CO" b="1" i="0">
                            <a:solidFill>
                              <a:srgbClr val="C00000"/>
                            </a:solidFill>
                            <a:latin typeface="Cambria Math" panose="02040503050406030204" pitchFamily="18" charset="0"/>
                            <a:ea typeface="PMingLiU" panose="02020500000000000000" pitchFamily="18" charset="-120"/>
                            <a:cs typeface="Times New Roman" panose="02020603050405020304" pitchFamily="18" charset="0"/>
                          </a:rPr>
                          <m:t>𝐟</m:t>
                        </m:r>
                      </m:e>
                      <m:sub>
                        <m:r>
                          <a:rPr lang="es-CO" b="1" i="0">
                            <a:solidFill>
                              <a:srgbClr val="C00000"/>
                            </a:solidFill>
                            <a:latin typeface="Cambria Math" panose="02040503050406030204" pitchFamily="18" charset="0"/>
                            <a:ea typeface="PMingLiU" panose="02020500000000000000" pitchFamily="18" charset="-120"/>
                            <a:cs typeface="Times New Roman" panose="02020603050405020304" pitchFamily="18" charset="0"/>
                          </a:rPr>
                          <m:t>𝐀</m:t>
                        </m:r>
                      </m:sub>
                    </m:sSub>
                    <m:d>
                      <m:dPr>
                        <m:ctrlPr>
                          <a:rPr lang="es-MX" b="1" i="1">
                            <a:solidFill>
                              <a:srgbClr val="C00000"/>
                            </a:solidFill>
                            <a:latin typeface="Cambria Math" panose="02040503050406030204" pitchFamily="18" charset="0"/>
                            <a:ea typeface="PMingLiU" panose="02020500000000000000" pitchFamily="18" charset="-120"/>
                            <a:cs typeface="Times New Roman" panose="02020603050405020304" pitchFamily="18" charset="0"/>
                          </a:rPr>
                        </m:ctrlPr>
                      </m:dPr>
                      <m:e>
                        <m:m>
                          <m:mPr>
                            <m:mcs>
                              <m:mc>
                                <m:mcPr>
                                  <m:count m:val="1"/>
                                  <m:mcJc m:val="center"/>
                                </m:mcPr>
                              </m:mc>
                            </m:mcs>
                            <m:ctrlPr>
                              <a:rPr lang="es-MX" b="1" i="1">
                                <a:solidFill>
                                  <a:srgbClr val="C00000"/>
                                </a:solidFill>
                                <a:latin typeface="Cambria Math" panose="02040503050406030204" pitchFamily="18" charset="0"/>
                                <a:ea typeface="PMingLiU" panose="02020500000000000000" pitchFamily="18" charset="-120"/>
                                <a:cs typeface="Times New Roman" panose="02020603050405020304" pitchFamily="18" charset="0"/>
                              </a:rPr>
                            </m:ctrlPr>
                          </m:mPr>
                          <m:mr>
                            <m:e>
                              <m:r>
                                <a:rPr lang="es-CO" b="1" i="0">
                                  <a:solidFill>
                                    <a:srgbClr val="C00000"/>
                                  </a:solidFill>
                                  <a:latin typeface="Cambria Math" panose="02040503050406030204" pitchFamily="18" charset="0"/>
                                  <a:ea typeface="PMingLiU" panose="02020500000000000000" pitchFamily="18" charset="-120"/>
                                  <a:cs typeface="Times New Roman" panose="02020603050405020304" pitchFamily="18" charset="0"/>
                                </a:rPr>
                                <m:t>𝐀</m:t>
                              </m:r>
                              <m:r>
                                <a:rPr lang="es-CO" b="1" i="0">
                                  <a:solidFill>
                                    <a:srgbClr val="C00000"/>
                                  </a:solidFill>
                                  <a:latin typeface="Cambria Math" panose="02040503050406030204" pitchFamily="18" charset="0"/>
                                  <a:ea typeface="PMingLiU" panose="02020500000000000000" pitchFamily="18" charset="-120"/>
                                  <a:cs typeface="Times New Roman" panose="02020603050405020304" pitchFamily="18" charset="0"/>
                                </a:rPr>
                                <m:t>=</m:t>
                              </m:r>
                              <m:r>
                                <a:rPr lang="es-CO" b="1" i="0">
                                  <a:solidFill>
                                    <a:srgbClr val="C00000"/>
                                  </a:solidFill>
                                  <a:latin typeface="Cambria Math" panose="02040503050406030204" pitchFamily="18" charset="0"/>
                                  <a:ea typeface="PMingLiU" panose="02020500000000000000" pitchFamily="18" charset="-120"/>
                                  <a:cs typeface="Times New Roman" panose="02020603050405020304" pitchFamily="18" charset="0"/>
                                </a:rPr>
                                <m:t>𝟓𝟎</m:t>
                              </m:r>
                            </m:e>
                          </m:mr>
                          <m:mr>
                            <m:e>
                              <m:r>
                                <a:rPr lang="es-CO" b="1" i="0">
                                  <a:solidFill>
                                    <a:srgbClr val="C00000"/>
                                  </a:solidFill>
                                  <a:latin typeface="Cambria Math" panose="02040503050406030204" pitchFamily="18" charset="0"/>
                                  <a:ea typeface="PMingLiU" panose="02020500000000000000" pitchFamily="18" charset="-120"/>
                                  <a:cs typeface="Times New Roman" panose="02020603050405020304" pitchFamily="18" charset="0"/>
                                </a:rPr>
                                <m:t>𝐧</m:t>
                              </m:r>
                              <m:r>
                                <a:rPr lang="es-CO" b="1" i="0">
                                  <a:solidFill>
                                    <a:srgbClr val="C00000"/>
                                  </a:solidFill>
                                  <a:latin typeface="Cambria Math" panose="02040503050406030204" pitchFamily="18" charset="0"/>
                                  <a:ea typeface="PMingLiU" panose="02020500000000000000" pitchFamily="18" charset="-120"/>
                                  <a:cs typeface="Times New Roman" panose="02020603050405020304" pitchFamily="18" charset="0"/>
                                </a:rPr>
                                <m:t>=</m:t>
                              </m:r>
                              <m:r>
                                <a:rPr lang="es-CO" b="1" i="0">
                                  <a:solidFill>
                                    <a:srgbClr val="C00000"/>
                                  </a:solidFill>
                                  <a:latin typeface="Cambria Math" panose="02040503050406030204" pitchFamily="18" charset="0"/>
                                  <a:ea typeface="PMingLiU" panose="02020500000000000000" pitchFamily="18" charset="-120"/>
                                  <a:cs typeface="Times New Roman" panose="02020603050405020304" pitchFamily="18" charset="0"/>
                                </a:rPr>
                                <m:t>𝟒</m:t>
                              </m:r>
                            </m:e>
                          </m:mr>
                        </m:m>
                      </m:e>
                    </m:d>
                    <m:r>
                      <a:rPr lang="es-CO" b="1" i="0">
                        <a:solidFill>
                          <a:srgbClr val="C00000"/>
                        </a:solidFill>
                        <a:latin typeface="Cambria Math" panose="02040503050406030204" pitchFamily="18" charset="0"/>
                        <a:ea typeface="PMingLiU" panose="02020500000000000000" pitchFamily="18" charset="-120"/>
                        <a:cs typeface="Times New Roman" panose="02020603050405020304" pitchFamily="18" charset="0"/>
                      </a:rPr>
                      <m:t>+</m:t>
                    </m:r>
                    <m:f>
                      <m:fPr>
                        <m:ctrlPr>
                          <a:rPr lang="es-MX" b="1" i="1">
                            <a:solidFill>
                              <a:srgbClr val="C00000"/>
                            </a:solidFill>
                            <a:latin typeface="Cambria Math" panose="02040503050406030204" pitchFamily="18" charset="0"/>
                            <a:ea typeface="PMingLiU" panose="02020500000000000000" pitchFamily="18" charset="-120"/>
                            <a:cs typeface="Times New Roman" panose="02020603050405020304" pitchFamily="18" charset="0"/>
                          </a:rPr>
                        </m:ctrlPr>
                      </m:fPr>
                      <m:num>
                        <m:sSub>
                          <m:sSubPr>
                            <m:ctrlPr>
                              <a:rPr lang="es-MX" b="1" i="1">
                                <a:solidFill>
                                  <a:srgbClr val="C00000"/>
                                </a:solidFill>
                                <a:latin typeface="Cambria Math" panose="02040503050406030204" pitchFamily="18" charset="0"/>
                                <a:ea typeface="PMingLiU" panose="02020500000000000000" pitchFamily="18" charset="-120"/>
                                <a:cs typeface="Times New Roman" panose="02020603050405020304" pitchFamily="18" charset="0"/>
                              </a:rPr>
                            </m:ctrlPr>
                          </m:sSubPr>
                          <m:e>
                            <m:r>
                              <a:rPr lang="es-CO" b="1" i="0">
                                <a:solidFill>
                                  <a:srgbClr val="C00000"/>
                                </a:solidFill>
                                <a:latin typeface="Cambria Math" panose="02040503050406030204" pitchFamily="18" charset="0"/>
                                <a:ea typeface="PMingLiU" panose="02020500000000000000" pitchFamily="18" charset="-120"/>
                                <a:cs typeface="Times New Roman" panose="02020603050405020304" pitchFamily="18" charset="0"/>
                              </a:rPr>
                              <m:t>𝐟</m:t>
                            </m:r>
                          </m:e>
                          <m:sub>
                            <m:r>
                              <a:rPr lang="es-CO" b="1" i="0">
                                <a:solidFill>
                                  <a:srgbClr val="C00000"/>
                                </a:solidFill>
                                <a:latin typeface="Cambria Math" panose="02040503050406030204" pitchFamily="18" charset="0"/>
                                <a:ea typeface="PMingLiU" panose="02020500000000000000" pitchFamily="18" charset="-120"/>
                                <a:cs typeface="Times New Roman" panose="02020603050405020304" pitchFamily="18" charset="0"/>
                              </a:rPr>
                              <m:t>𝐆𝐀</m:t>
                            </m:r>
                          </m:sub>
                        </m:sSub>
                        <m:d>
                          <m:dPr>
                            <m:ctrlPr>
                              <a:rPr lang="es-MX" b="1" i="1">
                                <a:solidFill>
                                  <a:srgbClr val="C00000"/>
                                </a:solidFill>
                                <a:latin typeface="Cambria Math" panose="02040503050406030204" pitchFamily="18" charset="0"/>
                                <a:ea typeface="PMingLiU" panose="02020500000000000000" pitchFamily="18" charset="-120"/>
                                <a:cs typeface="Times New Roman" panose="02020603050405020304" pitchFamily="18" charset="0"/>
                              </a:rPr>
                            </m:ctrlPr>
                          </m:dPr>
                          <m:e>
                            <m:m>
                              <m:mPr>
                                <m:mcs>
                                  <m:mc>
                                    <m:mcPr>
                                      <m:count m:val="1"/>
                                      <m:mcJc m:val="center"/>
                                    </m:mcPr>
                                  </m:mc>
                                </m:mcs>
                                <m:ctrlPr>
                                  <a:rPr lang="es-MX" b="1" i="1">
                                    <a:solidFill>
                                      <a:srgbClr val="C00000"/>
                                    </a:solidFill>
                                    <a:latin typeface="Cambria Math" panose="02040503050406030204" pitchFamily="18" charset="0"/>
                                    <a:ea typeface="PMingLiU" panose="02020500000000000000" pitchFamily="18" charset="-120"/>
                                    <a:cs typeface="Times New Roman" panose="02020603050405020304" pitchFamily="18" charset="0"/>
                                  </a:rPr>
                                </m:ctrlPr>
                              </m:mPr>
                              <m:mr>
                                <m:e>
                                  <m:r>
                                    <a:rPr lang="es-CO" b="1" i="0">
                                      <a:solidFill>
                                        <a:srgbClr val="C00000"/>
                                      </a:solidFill>
                                      <a:latin typeface="Cambria Math" panose="02040503050406030204" pitchFamily="18" charset="0"/>
                                      <a:ea typeface="PMingLiU" panose="02020500000000000000" pitchFamily="18" charset="-120"/>
                                      <a:cs typeface="Times New Roman" panose="02020603050405020304" pitchFamily="18" charset="0"/>
                                    </a:rPr>
                                    <m:t>𝐆</m:t>
                                  </m:r>
                                  <m:r>
                                    <a:rPr lang="es-CO" b="1" i="0">
                                      <a:solidFill>
                                        <a:srgbClr val="C00000"/>
                                      </a:solidFill>
                                      <a:latin typeface="Cambria Math" panose="02040503050406030204" pitchFamily="18" charset="0"/>
                                      <a:ea typeface="PMingLiU" panose="02020500000000000000" pitchFamily="18" charset="-120"/>
                                      <a:cs typeface="Times New Roman" panose="02020603050405020304" pitchFamily="18" charset="0"/>
                                    </a:rPr>
                                    <m:t>=</m:t>
                                  </m:r>
                                  <m:r>
                                    <a:rPr lang="es-CO" b="1" i="0">
                                      <a:solidFill>
                                        <a:srgbClr val="C00000"/>
                                      </a:solidFill>
                                      <a:latin typeface="Cambria Math" panose="02040503050406030204" pitchFamily="18" charset="0"/>
                                      <a:ea typeface="PMingLiU" panose="02020500000000000000" pitchFamily="18" charset="-120"/>
                                      <a:cs typeface="Times New Roman" panose="02020603050405020304" pitchFamily="18" charset="0"/>
                                    </a:rPr>
                                    <m:t>𝟏𝟎</m:t>
                                  </m:r>
                                </m:e>
                              </m:mr>
                              <m:mr>
                                <m:e>
                                  <m:r>
                                    <a:rPr lang="es-CO" b="1" i="0">
                                      <a:solidFill>
                                        <a:srgbClr val="C00000"/>
                                      </a:solidFill>
                                      <a:latin typeface="Cambria Math" panose="02040503050406030204" pitchFamily="18" charset="0"/>
                                      <a:ea typeface="PMingLiU" panose="02020500000000000000" pitchFamily="18" charset="-120"/>
                                      <a:cs typeface="Times New Roman" panose="02020603050405020304" pitchFamily="18" charset="0"/>
                                    </a:rPr>
                                    <m:t>𝐧</m:t>
                                  </m:r>
                                  <m:r>
                                    <a:rPr lang="es-CO" b="1" i="0">
                                      <a:solidFill>
                                        <a:srgbClr val="C00000"/>
                                      </a:solidFill>
                                      <a:latin typeface="Cambria Math" panose="02040503050406030204" pitchFamily="18" charset="0"/>
                                      <a:ea typeface="PMingLiU" panose="02020500000000000000" pitchFamily="18" charset="-120"/>
                                      <a:cs typeface="Times New Roman" panose="02020603050405020304" pitchFamily="18" charset="0"/>
                                    </a:rPr>
                                    <m:t>=</m:t>
                                  </m:r>
                                  <m:r>
                                    <a:rPr lang="es-CO" b="1" i="0">
                                      <a:solidFill>
                                        <a:srgbClr val="C00000"/>
                                      </a:solidFill>
                                      <a:latin typeface="Cambria Math" panose="02040503050406030204" pitchFamily="18" charset="0"/>
                                      <a:ea typeface="PMingLiU" panose="02020500000000000000" pitchFamily="18" charset="-120"/>
                                      <a:cs typeface="Times New Roman" panose="02020603050405020304" pitchFamily="18" charset="0"/>
                                    </a:rPr>
                                    <m:t>𝟑</m:t>
                                  </m:r>
                                </m:e>
                              </m:mr>
                            </m:m>
                          </m:e>
                        </m:d>
                      </m:num>
                      <m:den>
                        <m:r>
                          <a:rPr lang="es-CO" b="1" i="0">
                            <a:solidFill>
                              <a:srgbClr val="C00000"/>
                            </a:solidFill>
                            <a:latin typeface="Cambria Math" panose="02040503050406030204" pitchFamily="18" charset="0"/>
                            <a:ea typeface="Calibri" panose="020F0502020204030204" pitchFamily="34" charset="0"/>
                            <a:cs typeface="Times New Roman" panose="02020603050405020304" pitchFamily="18" charset="0"/>
                          </a:rPr>
                          <m:t>(</m:t>
                        </m:r>
                        <m:r>
                          <a:rPr lang="es-CO" b="1" i="0">
                            <a:solidFill>
                              <a:srgbClr val="C00000"/>
                            </a:solidFill>
                            <a:latin typeface="Cambria Math" panose="02040503050406030204" pitchFamily="18" charset="0"/>
                            <a:ea typeface="Calibri" panose="020F0502020204030204" pitchFamily="34" charset="0"/>
                            <a:cs typeface="Times New Roman" panose="02020603050405020304" pitchFamily="18" charset="0"/>
                          </a:rPr>
                          <m:t>𝟏</m:t>
                        </m:r>
                        <m:r>
                          <a:rPr lang="es-CO" b="1" i="0">
                            <a:solidFill>
                              <a:srgbClr val="C00000"/>
                            </a:solidFill>
                            <a:latin typeface="Cambria Math" panose="02040503050406030204" pitchFamily="18" charset="0"/>
                            <a:ea typeface="Calibri" panose="020F0502020204030204" pitchFamily="34" charset="0"/>
                            <a:cs typeface="Times New Roman" panose="02020603050405020304" pitchFamily="18" charset="0"/>
                          </a:rPr>
                          <m:t>+</m:t>
                        </m:r>
                        <m:r>
                          <a:rPr lang="es-CO" b="1" i="0">
                            <a:solidFill>
                              <a:srgbClr val="C00000"/>
                            </a:solidFill>
                            <a:latin typeface="Cambria Math" panose="02040503050406030204" pitchFamily="18" charset="0"/>
                            <a:ea typeface="Calibri" panose="020F0502020204030204" pitchFamily="34" charset="0"/>
                            <a:cs typeface="Times New Roman" panose="02020603050405020304" pitchFamily="18" charset="0"/>
                          </a:rPr>
                          <m:t>𝐢</m:t>
                        </m:r>
                        <m:r>
                          <a:rPr lang="es-CO" b="1" i="0">
                            <a:solidFill>
                              <a:srgbClr val="C00000"/>
                            </a:solidFill>
                            <a:latin typeface="Cambria Math" panose="02040503050406030204" pitchFamily="18" charset="0"/>
                            <a:ea typeface="Calibri" panose="020F0502020204030204" pitchFamily="34" charset="0"/>
                            <a:cs typeface="Times New Roman" panose="02020603050405020304" pitchFamily="18" charset="0"/>
                          </a:rPr>
                          <m:t>)</m:t>
                        </m:r>
                      </m:den>
                    </m:f>
                    <m:r>
                      <a:rPr lang="es-CO" b="1" i="0">
                        <a:solidFill>
                          <a:srgbClr val="C00000"/>
                        </a:solidFill>
                        <a:latin typeface="Cambria Math" panose="02040503050406030204" pitchFamily="18" charset="0"/>
                        <a:ea typeface="PMingLiU" panose="02020500000000000000" pitchFamily="18" charset="-120"/>
                        <a:cs typeface="Times New Roman" panose="02020603050405020304" pitchFamily="18" charset="0"/>
                      </a:rPr>
                      <m:t>+</m:t>
                    </m:r>
                    <m:f>
                      <m:fPr>
                        <m:ctrlPr>
                          <a:rPr lang="es-MX" b="1" i="1">
                            <a:solidFill>
                              <a:srgbClr val="C00000"/>
                            </a:solidFill>
                            <a:latin typeface="Cambria Math" panose="02040503050406030204" pitchFamily="18" charset="0"/>
                            <a:ea typeface="PMingLiU" panose="02020500000000000000" pitchFamily="18" charset="-120"/>
                            <a:cs typeface="Times New Roman" panose="02020603050405020304" pitchFamily="18" charset="0"/>
                          </a:rPr>
                        </m:ctrlPr>
                      </m:fPr>
                      <m:num>
                        <m:sSub>
                          <m:sSubPr>
                            <m:ctrlPr>
                              <a:rPr lang="es-MX" b="1" i="1">
                                <a:solidFill>
                                  <a:srgbClr val="C00000"/>
                                </a:solidFill>
                                <a:latin typeface="Cambria Math" panose="02040503050406030204" pitchFamily="18" charset="0"/>
                                <a:ea typeface="PMingLiU" panose="02020500000000000000" pitchFamily="18" charset="-120"/>
                                <a:cs typeface="Times New Roman" panose="02020603050405020304" pitchFamily="18" charset="0"/>
                              </a:rPr>
                            </m:ctrlPr>
                          </m:sSubPr>
                          <m:e>
                            <m:r>
                              <a:rPr lang="es-CO" b="1" i="0">
                                <a:solidFill>
                                  <a:srgbClr val="C00000"/>
                                </a:solidFill>
                                <a:latin typeface="Cambria Math" panose="02040503050406030204" pitchFamily="18" charset="0"/>
                                <a:ea typeface="PMingLiU" panose="02020500000000000000" pitchFamily="18" charset="-120"/>
                                <a:cs typeface="Times New Roman" panose="02020603050405020304" pitchFamily="18" charset="0"/>
                              </a:rPr>
                              <m:t>𝐟</m:t>
                            </m:r>
                          </m:e>
                          <m:sub>
                            <m:r>
                              <a:rPr lang="es-CO" b="1" i="0">
                                <a:solidFill>
                                  <a:srgbClr val="C00000"/>
                                </a:solidFill>
                                <a:latin typeface="Cambria Math" panose="02040503050406030204" pitchFamily="18" charset="0"/>
                                <a:ea typeface="PMingLiU" panose="02020500000000000000" pitchFamily="18" charset="-120"/>
                                <a:cs typeface="Times New Roman" panose="02020603050405020304" pitchFamily="18" charset="0"/>
                              </a:rPr>
                              <m:t>𝐀</m:t>
                            </m:r>
                          </m:sub>
                        </m:sSub>
                        <m:d>
                          <m:dPr>
                            <m:ctrlPr>
                              <a:rPr lang="es-MX" b="1" i="1">
                                <a:solidFill>
                                  <a:srgbClr val="C00000"/>
                                </a:solidFill>
                                <a:latin typeface="Cambria Math" panose="02040503050406030204" pitchFamily="18" charset="0"/>
                                <a:ea typeface="PMingLiU" panose="02020500000000000000" pitchFamily="18" charset="-120"/>
                                <a:cs typeface="Times New Roman" panose="02020603050405020304" pitchFamily="18" charset="0"/>
                              </a:rPr>
                            </m:ctrlPr>
                          </m:dPr>
                          <m:e>
                            <m:m>
                              <m:mPr>
                                <m:mcs>
                                  <m:mc>
                                    <m:mcPr>
                                      <m:count m:val="1"/>
                                      <m:mcJc m:val="center"/>
                                    </m:mcPr>
                                  </m:mc>
                                </m:mcs>
                                <m:ctrlPr>
                                  <a:rPr lang="es-MX" b="1" i="1">
                                    <a:solidFill>
                                      <a:srgbClr val="C00000"/>
                                    </a:solidFill>
                                    <a:latin typeface="Cambria Math" panose="02040503050406030204" pitchFamily="18" charset="0"/>
                                    <a:ea typeface="PMingLiU" panose="02020500000000000000" pitchFamily="18" charset="-120"/>
                                    <a:cs typeface="Times New Roman" panose="02020603050405020304" pitchFamily="18" charset="0"/>
                                  </a:rPr>
                                </m:ctrlPr>
                              </m:mPr>
                              <m:mr>
                                <m:e>
                                  <m:r>
                                    <a:rPr lang="es-CO" b="1" i="0">
                                      <a:solidFill>
                                        <a:srgbClr val="C00000"/>
                                      </a:solidFill>
                                      <a:latin typeface="Cambria Math" panose="02040503050406030204" pitchFamily="18" charset="0"/>
                                      <a:ea typeface="PMingLiU" panose="02020500000000000000" pitchFamily="18" charset="-120"/>
                                      <a:cs typeface="Times New Roman" panose="02020603050405020304" pitchFamily="18" charset="0"/>
                                    </a:rPr>
                                    <m:t>𝐀</m:t>
                                  </m:r>
                                  <m:r>
                                    <a:rPr lang="es-CO" b="1" i="0">
                                      <a:solidFill>
                                        <a:srgbClr val="C00000"/>
                                      </a:solidFill>
                                      <a:latin typeface="Cambria Math" panose="02040503050406030204" pitchFamily="18" charset="0"/>
                                      <a:ea typeface="PMingLiU" panose="02020500000000000000" pitchFamily="18" charset="-120"/>
                                      <a:cs typeface="Times New Roman" panose="02020603050405020304" pitchFamily="18" charset="0"/>
                                    </a:rPr>
                                    <m:t>=</m:t>
                                  </m:r>
                                  <m:r>
                                    <a:rPr lang="es-CO" b="1" i="0">
                                      <a:solidFill>
                                        <a:srgbClr val="C00000"/>
                                      </a:solidFill>
                                      <a:latin typeface="Cambria Math" panose="02040503050406030204" pitchFamily="18" charset="0"/>
                                      <a:ea typeface="PMingLiU" panose="02020500000000000000" pitchFamily="18" charset="-120"/>
                                      <a:cs typeface="Times New Roman" panose="02020603050405020304" pitchFamily="18" charset="0"/>
                                    </a:rPr>
                                    <m:t>𝟖𝟎</m:t>
                                  </m:r>
                                </m:e>
                              </m:mr>
                              <m:mr>
                                <m:e>
                                  <m:r>
                                    <a:rPr lang="es-CO" b="1" i="0">
                                      <a:solidFill>
                                        <a:srgbClr val="C00000"/>
                                      </a:solidFill>
                                      <a:latin typeface="Cambria Math" panose="02040503050406030204" pitchFamily="18" charset="0"/>
                                      <a:ea typeface="PMingLiU" panose="02020500000000000000" pitchFamily="18" charset="-120"/>
                                      <a:cs typeface="Times New Roman" panose="02020603050405020304" pitchFamily="18" charset="0"/>
                                    </a:rPr>
                                    <m:t>𝐧</m:t>
                                  </m:r>
                                  <m:r>
                                    <a:rPr lang="es-CO" b="1" i="0">
                                      <a:solidFill>
                                        <a:srgbClr val="C00000"/>
                                      </a:solidFill>
                                      <a:latin typeface="Cambria Math" panose="02040503050406030204" pitchFamily="18" charset="0"/>
                                      <a:ea typeface="PMingLiU" panose="02020500000000000000" pitchFamily="18" charset="-120"/>
                                      <a:cs typeface="Times New Roman" panose="02020603050405020304" pitchFamily="18" charset="0"/>
                                    </a:rPr>
                                    <m:t>=</m:t>
                                  </m:r>
                                  <m:r>
                                    <a:rPr lang="es-CO" b="1" i="0">
                                      <a:solidFill>
                                        <a:srgbClr val="C00000"/>
                                      </a:solidFill>
                                      <a:latin typeface="Cambria Math" panose="02040503050406030204" pitchFamily="18" charset="0"/>
                                      <a:ea typeface="PMingLiU" panose="02020500000000000000" pitchFamily="18" charset="-120"/>
                                      <a:cs typeface="Times New Roman" panose="02020603050405020304" pitchFamily="18" charset="0"/>
                                    </a:rPr>
                                    <m:t>𝟑</m:t>
                                  </m:r>
                                </m:e>
                              </m:mr>
                            </m:m>
                          </m:e>
                        </m:d>
                        <m:r>
                          <a:rPr lang="es-CO" b="1" i="0">
                            <a:solidFill>
                              <a:srgbClr val="C00000"/>
                            </a:solidFill>
                            <a:latin typeface="Cambria Math" panose="02040503050406030204" pitchFamily="18" charset="0"/>
                            <a:ea typeface="PMingLiU" panose="02020500000000000000" pitchFamily="18" charset="-120"/>
                            <a:cs typeface="Times New Roman" panose="02020603050405020304" pitchFamily="18" charset="0"/>
                          </a:rPr>
                          <m:t>+</m:t>
                        </m:r>
                        <m:sSub>
                          <m:sSubPr>
                            <m:ctrlPr>
                              <a:rPr lang="es-MX" b="1" i="1">
                                <a:solidFill>
                                  <a:srgbClr val="C00000"/>
                                </a:solidFill>
                                <a:latin typeface="Cambria Math" panose="02040503050406030204" pitchFamily="18" charset="0"/>
                                <a:ea typeface="PMingLiU" panose="02020500000000000000" pitchFamily="18" charset="-120"/>
                                <a:cs typeface="Times New Roman" panose="02020603050405020304" pitchFamily="18" charset="0"/>
                              </a:rPr>
                            </m:ctrlPr>
                          </m:sSubPr>
                          <m:e>
                            <m:r>
                              <a:rPr lang="es-CO" b="1" i="0">
                                <a:solidFill>
                                  <a:srgbClr val="C00000"/>
                                </a:solidFill>
                                <a:latin typeface="Cambria Math" panose="02040503050406030204" pitchFamily="18" charset="0"/>
                                <a:ea typeface="PMingLiU" panose="02020500000000000000" pitchFamily="18" charset="-120"/>
                                <a:cs typeface="Times New Roman" panose="02020603050405020304" pitchFamily="18" charset="0"/>
                              </a:rPr>
                              <m:t>𝐟</m:t>
                            </m:r>
                          </m:e>
                          <m:sub>
                            <m:r>
                              <a:rPr lang="es-CO" b="1" i="0">
                                <a:solidFill>
                                  <a:srgbClr val="C00000"/>
                                </a:solidFill>
                                <a:latin typeface="Cambria Math" panose="02040503050406030204" pitchFamily="18" charset="0"/>
                                <a:ea typeface="PMingLiU" panose="02020500000000000000" pitchFamily="18" charset="-120"/>
                                <a:cs typeface="Times New Roman" panose="02020603050405020304" pitchFamily="18" charset="0"/>
                              </a:rPr>
                              <m:t>𝐆𝐀</m:t>
                            </m:r>
                          </m:sub>
                        </m:sSub>
                        <m:d>
                          <m:dPr>
                            <m:ctrlPr>
                              <a:rPr lang="es-MX" b="1" i="1">
                                <a:solidFill>
                                  <a:srgbClr val="C00000"/>
                                </a:solidFill>
                                <a:latin typeface="Cambria Math" panose="02040503050406030204" pitchFamily="18" charset="0"/>
                                <a:ea typeface="PMingLiU" panose="02020500000000000000" pitchFamily="18" charset="-120"/>
                                <a:cs typeface="Times New Roman" panose="02020603050405020304" pitchFamily="18" charset="0"/>
                              </a:rPr>
                            </m:ctrlPr>
                          </m:dPr>
                          <m:e>
                            <m:m>
                              <m:mPr>
                                <m:mcs>
                                  <m:mc>
                                    <m:mcPr>
                                      <m:count m:val="1"/>
                                      <m:mcJc m:val="center"/>
                                    </m:mcPr>
                                  </m:mc>
                                </m:mcs>
                                <m:ctrlPr>
                                  <a:rPr lang="es-MX" b="1" i="1">
                                    <a:solidFill>
                                      <a:srgbClr val="C00000"/>
                                    </a:solidFill>
                                    <a:latin typeface="Cambria Math" panose="02040503050406030204" pitchFamily="18" charset="0"/>
                                    <a:ea typeface="PMingLiU" panose="02020500000000000000" pitchFamily="18" charset="-120"/>
                                    <a:cs typeface="Times New Roman" panose="02020603050405020304" pitchFamily="18" charset="0"/>
                                  </a:rPr>
                                </m:ctrlPr>
                              </m:mPr>
                              <m:mr>
                                <m:e>
                                  <m:r>
                                    <a:rPr lang="es-CO" b="1" i="0">
                                      <a:solidFill>
                                        <a:srgbClr val="C00000"/>
                                      </a:solidFill>
                                      <a:latin typeface="Cambria Math" panose="02040503050406030204" pitchFamily="18" charset="0"/>
                                      <a:ea typeface="PMingLiU" panose="02020500000000000000" pitchFamily="18" charset="-120"/>
                                      <a:cs typeface="Times New Roman" panose="02020603050405020304" pitchFamily="18" charset="0"/>
                                    </a:rPr>
                                    <m:t>𝐆</m:t>
                                  </m:r>
                                  <m:r>
                                    <a:rPr lang="es-CO" b="1" i="0">
                                      <a:solidFill>
                                        <a:srgbClr val="C00000"/>
                                      </a:solidFill>
                                      <a:latin typeface="Cambria Math" panose="02040503050406030204" pitchFamily="18" charset="0"/>
                                      <a:ea typeface="PMingLiU" panose="02020500000000000000" pitchFamily="18" charset="-120"/>
                                      <a:cs typeface="Times New Roman" panose="02020603050405020304" pitchFamily="18" charset="0"/>
                                    </a:rPr>
                                    <m:t>=−</m:t>
                                  </m:r>
                                  <m:r>
                                    <a:rPr lang="es-CO" b="1" i="0">
                                      <a:solidFill>
                                        <a:srgbClr val="C00000"/>
                                      </a:solidFill>
                                      <a:latin typeface="Cambria Math" panose="02040503050406030204" pitchFamily="18" charset="0"/>
                                      <a:ea typeface="PMingLiU" panose="02020500000000000000" pitchFamily="18" charset="-120"/>
                                      <a:cs typeface="Times New Roman" panose="02020603050405020304" pitchFamily="18" charset="0"/>
                                    </a:rPr>
                                    <m:t>𝟏𝟓</m:t>
                                  </m:r>
                                </m:e>
                              </m:mr>
                              <m:mr>
                                <m:e>
                                  <m:r>
                                    <a:rPr lang="es-CO" b="1" i="0">
                                      <a:solidFill>
                                        <a:srgbClr val="C00000"/>
                                      </a:solidFill>
                                      <a:latin typeface="Cambria Math" panose="02040503050406030204" pitchFamily="18" charset="0"/>
                                      <a:ea typeface="PMingLiU" panose="02020500000000000000" pitchFamily="18" charset="-120"/>
                                      <a:cs typeface="Times New Roman" panose="02020603050405020304" pitchFamily="18" charset="0"/>
                                    </a:rPr>
                                    <m:t>𝐧</m:t>
                                  </m:r>
                                  <m:r>
                                    <a:rPr lang="es-CO" b="1" i="0">
                                      <a:solidFill>
                                        <a:srgbClr val="C00000"/>
                                      </a:solidFill>
                                      <a:latin typeface="Cambria Math" panose="02040503050406030204" pitchFamily="18" charset="0"/>
                                      <a:ea typeface="PMingLiU" panose="02020500000000000000" pitchFamily="18" charset="-120"/>
                                      <a:cs typeface="Times New Roman" panose="02020603050405020304" pitchFamily="18" charset="0"/>
                                    </a:rPr>
                                    <m:t>=</m:t>
                                  </m:r>
                                  <m:r>
                                    <a:rPr lang="es-CO" b="1" i="0">
                                      <a:solidFill>
                                        <a:srgbClr val="C00000"/>
                                      </a:solidFill>
                                      <a:latin typeface="Cambria Math" panose="02040503050406030204" pitchFamily="18" charset="0"/>
                                      <a:ea typeface="PMingLiU" panose="02020500000000000000" pitchFamily="18" charset="-120"/>
                                      <a:cs typeface="Times New Roman" panose="02020603050405020304" pitchFamily="18" charset="0"/>
                                    </a:rPr>
                                    <m:t>𝟑</m:t>
                                  </m:r>
                                </m:e>
                              </m:mr>
                            </m:m>
                          </m:e>
                        </m:d>
                      </m:num>
                      <m:den>
                        <m:sSup>
                          <m:sSupPr>
                            <m:ctrlPr>
                              <a:rPr lang="es-MX" b="1" i="1">
                                <a:solidFill>
                                  <a:srgbClr val="C00000"/>
                                </a:solidFill>
                                <a:latin typeface="Cambria Math" panose="02040503050406030204" pitchFamily="18" charset="0"/>
                                <a:ea typeface="Calibri" panose="020F0502020204030204" pitchFamily="34" charset="0"/>
                                <a:cs typeface="Times New Roman" panose="02020603050405020304" pitchFamily="18" charset="0"/>
                              </a:rPr>
                            </m:ctrlPr>
                          </m:sSupPr>
                          <m:e>
                            <m:d>
                              <m:dPr>
                                <m:ctrlPr>
                                  <a:rPr lang="es-MX" b="1" i="1">
                                    <a:solidFill>
                                      <a:srgbClr val="C00000"/>
                                    </a:solidFill>
                                    <a:latin typeface="Cambria Math" panose="02040503050406030204" pitchFamily="18" charset="0"/>
                                    <a:ea typeface="Calibri" panose="020F0502020204030204" pitchFamily="34" charset="0"/>
                                    <a:cs typeface="Times New Roman" panose="02020603050405020304" pitchFamily="18" charset="0"/>
                                  </a:rPr>
                                </m:ctrlPr>
                              </m:dPr>
                              <m:e>
                                <m:r>
                                  <a:rPr lang="es-CO" b="1" i="0">
                                    <a:solidFill>
                                      <a:srgbClr val="C00000"/>
                                    </a:solidFill>
                                    <a:latin typeface="Cambria Math" panose="02040503050406030204" pitchFamily="18" charset="0"/>
                                    <a:ea typeface="Calibri" panose="020F0502020204030204" pitchFamily="34" charset="0"/>
                                    <a:cs typeface="Times New Roman" panose="02020603050405020304" pitchFamily="18" charset="0"/>
                                  </a:rPr>
                                  <m:t>𝟏</m:t>
                                </m:r>
                                <m:r>
                                  <a:rPr lang="es-CO" b="1" i="0">
                                    <a:solidFill>
                                      <a:srgbClr val="C00000"/>
                                    </a:solidFill>
                                    <a:latin typeface="Cambria Math" panose="02040503050406030204" pitchFamily="18" charset="0"/>
                                    <a:ea typeface="Calibri" panose="020F0502020204030204" pitchFamily="34" charset="0"/>
                                    <a:cs typeface="Times New Roman" panose="02020603050405020304" pitchFamily="18" charset="0"/>
                                  </a:rPr>
                                  <m:t>+</m:t>
                                </m:r>
                                <m:r>
                                  <a:rPr lang="es-CO" b="1" i="0">
                                    <a:solidFill>
                                      <a:srgbClr val="C00000"/>
                                    </a:solidFill>
                                    <a:latin typeface="Cambria Math" panose="02040503050406030204" pitchFamily="18" charset="0"/>
                                    <a:ea typeface="Calibri" panose="020F0502020204030204" pitchFamily="34" charset="0"/>
                                    <a:cs typeface="Times New Roman" panose="02020603050405020304" pitchFamily="18" charset="0"/>
                                  </a:rPr>
                                  <m:t>𝐢</m:t>
                                </m:r>
                              </m:e>
                            </m:d>
                          </m:e>
                          <m:sup>
                            <m:r>
                              <a:rPr lang="es-CO" b="1" i="0">
                                <a:solidFill>
                                  <a:srgbClr val="C00000"/>
                                </a:solidFill>
                                <a:latin typeface="Cambria Math" panose="02040503050406030204" pitchFamily="18" charset="0"/>
                                <a:ea typeface="Calibri" panose="020F0502020204030204" pitchFamily="34" charset="0"/>
                                <a:cs typeface="Times New Roman" panose="02020603050405020304" pitchFamily="18" charset="0"/>
                              </a:rPr>
                              <m:t>𝟒</m:t>
                            </m:r>
                          </m:sup>
                        </m:sSup>
                      </m:den>
                    </m:f>
                  </m:oMath>
                </a14:m>
                <a:endParaRPr lang="es-MX" b="1" dirty="0">
                  <a:effectLst/>
                  <a:latin typeface="Calibri" panose="020F0502020204030204" pitchFamily="34" charset="0"/>
                  <a:ea typeface="Calibri" panose="020F0502020204030204" pitchFamily="34" charset="0"/>
                  <a:cs typeface="Times New Roman" panose="02020603050405020304" pitchFamily="18" charset="0"/>
                </a:endParaRPr>
              </a:p>
              <a:p>
                <a:pPr algn="just">
                  <a:spcAft>
                    <a:spcPts val="800"/>
                  </a:spcAft>
                  <a:buNone/>
                </a:pPr>
                <a:r>
                  <a:rPr lang="es-CO" dirty="0">
                    <a:effectLst/>
                    <a:latin typeface="Times New Roman" panose="02020603050405020304" pitchFamily="18" charset="0"/>
                    <a:ea typeface="Calibri" panose="020F0502020204030204" pitchFamily="34" charset="0"/>
                    <a:cs typeface="Times New Roman" panose="02020603050405020304" pitchFamily="18" charset="0"/>
                  </a:rPr>
                  <a:t> </a:t>
                </a:r>
                <a:endParaRPr lang="es-MX"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4" name="CuadroTexto 3">
                <a:extLst>
                  <a:ext uri="{FF2B5EF4-FFF2-40B4-BE49-F238E27FC236}">
                    <a16:creationId xmlns:a16="http://schemas.microsoft.com/office/drawing/2014/main" id="{037E9B95-BA46-DEB4-151F-CBEFF5CC5189}"/>
                  </a:ext>
                </a:extLst>
              </p:cNvPr>
              <p:cNvSpPr txBox="1">
                <a:spLocks noRot="1" noChangeAspect="1" noMove="1" noResize="1" noEditPoints="1" noAdjustHandles="1" noChangeArrowheads="1" noChangeShapeType="1" noTextEdit="1"/>
              </p:cNvSpPr>
              <p:nvPr/>
            </p:nvSpPr>
            <p:spPr>
              <a:xfrm>
                <a:off x="581192" y="3584574"/>
                <a:ext cx="6096000" cy="2710807"/>
              </a:xfrm>
              <a:prstGeom prst="rect">
                <a:avLst/>
              </a:prstGeom>
              <a:blipFill>
                <a:blip r:embed="rId4"/>
                <a:stretch>
                  <a:fillRect/>
                </a:stretch>
              </a:blipFill>
            </p:spPr>
            <p:txBody>
              <a:bodyPr/>
              <a:lstStyle/>
              <a:p>
                <a:r>
                  <a:rPr lang="es-MX">
                    <a:noFill/>
                  </a:rPr>
                  <a:t> </a:t>
                </a:r>
              </a:p>
            </p:txBody>
          </p:sp>
        </mc:Fallback>
      </mc:AlternateContent>
    </p:spTree>
    <p:extLst>
      <p:ext uri="{BB962C8B-B14F-4D97-AF65-F5344CB8AC3E}">
        <p14:creationId xmlns:p14="http://schemas.microsoft.com/office/powerpoint/2010/main" val="399558871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06A922-D46C-0693-EB20-DA2EB56391D7}"/>
            </a:ext>
          </a:extLst>
        </p:cNvPr>
        <p:cNvGrpSpPr/>
        <p:nvPr/>
      </p:nvGrpSpPr>
      <p:grpSpPr>
        <a:xfrm>
          <a:off x="0" y="0"/>
          <a:ext cx="0" cy="0"/>
          <a:chOff x="0" y="0"/>
          <a:chExt cx="0" cy="0"/>
        </a:xfrm>
      </p:grpSpPr>
      <p:sp>
        <p:nvSpPr>
          <p:cNvPr id="24" name="Title 1">
            <a:extLst>
              <a:ext uri="{FF2B5EF4-FFF2-40B4-BE49-F238E27FC236}">
                <a16:creationId xmlns:a16="http://schemas.microsoft.com/office/drawing/2014/main" id="{7DC378E4-726C-3200-0E6D-2CB8F7954910}"/>
              </a:ext>
            </a:extLst>
          </p:cNvPr>
          <p:cNvSpPr>
            <a:spLocks noGrp="1"/>
          </p:cNvSpPr>
          <p:nvPr>
            <p:ph type="title"/>
          </p:nvPr>
        </p:nvSpPr>
        <p:spPr>
          <a:xfrm>
            <a:off x="581192" y="702156"/>
            <a:ext cx="11029616" cy="1013800"/>
          </a:xfrm>
        </p:spPr>
        <p:txBody>
          <a:bodyPr>
            <a:normAutofit/>
          </a:bodyPr>
          <a:lstStyle/>
          <a:p>
            <a:r>
              <a:rPr lang="es-ES_tradnl" sz="3200" dirty="0">
                <a:latin typeface="Gill Sans MT (titulo)"/>
              </a:rPr>
              <a:t>EJERCICIOS</a:t>
            </a:r>
          </a:p>
        </p:txBody>
      </p:sp>
      <p:sp>
        <p:nvSpPr>
          <p:cNvPr id="25" name="Rectángulo 24">
            <a:extLst>
              <a:ext uri="{FF2B5EF4-FFF2-40B4-BE49-F238E27FC236}">
                <a16:creationId xmlns:a16="http://schemas.microsoft.com/office/drawing/2014/main" id="{846B1F05-66F3-648D-357B-33CDEE9C2D66}"/>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29" name="Picture 2" descr="Clientes y aliados | Centro de Evaluación | Uniandes">
            <a:extLst>
              <a:ext uri="{FF2B5EF4-FFF2-40B4-BE49-F238E27FC236}">
                <a16:creationId xmlns:a16="http://schemas.microsoft.com/office/drawing/2014/main" id="{801D015A-9999-F68A-3313-A8F2C4297F4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30" name="Rectángulo 29">
            <a:extLst>
              <a:ext uri="{FF2B5EF4-FFF2-40B4-BE49-F238E27FC236}">
                <a16:creationId xmlns:a16="http://schemas.microsoft.com/office/drawing/2014/main" id="{F799FC57-DD76-65B0-1820-6E2E98EA6093}"/>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2" name="Slide Number Placeholder 3">
            <a:extLst>
              <a:ext uri="{FF2B5EF4-FFF2-40B4-BE49-F238E27FC236}">
                <a16:creationId xmlns:a16="http://schemas.microsoft.com/office/drawing/2014/main" id="{CEFD6282-2D94-97CC-4DAB-83F0B1DFD430}"/>
              </a:ext>
            </a:extLst>
          </p:cNvPr>
          <p:cNvSpPr txBox="1">
            <a:spLocks/>
          </p:cNvSpPr>
          <p:nvPr/>
        </p:nvSpPr>
        <p:spPr>
          <a:xfrm>
            <a:off x="10710700" y="6108537"/>
            <a:ext cx="1052508" cy="365125"/>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5E3E23BA-6E79-2442-BA73-D218A5E297C3}" type="slidenum">
              <a:rPr lang="en-US" sz="2000" b="1" smtClean="0">
                <a:latin typeface="Gill Sans MT (Títulos)"/>
              </a:rPr>
              <a:pPr/>
              <a:t>46</a:t>
            </a:fld>
            <a:endParaRPr lang="en-US" sz="2000" b="1" dirty="0">
              <a:latin typeface="Gill Sans MT (Títulos)"/>
            </a:endParaRPr>
          </a:p>
        </p:txBody>
      </p:sp>
      <p:sp>
        <p:nvSpPr>
          <p:cNvPr id="33" name="Content Placeholder 2">
            <a:extLst>
              <a:ext uri="{FF2B5EF4-FFF2-40B4-BE49-F238E27FC236}">
                <a16:creationId xmlns:a16="http://schemas.microsoft.com/office/drawing/2014/main" id="{6328A393-7858-44F2-3C17-F2F753A3611E}"/>
              </a:ext>
            </a:extLst>
          </p:cNvPr>
          <p:cNvSpPr>
            <a:spLocks noGrp="1"/>
          </p:cNvSpPr>
          <p:nvPr>
            <p:ph idx="1"/>
          </p:nvPr>
        </p:nvSpPr>
        <p:spPr>
          <a:xfrm>
            <a:off x="499818" y="2155127"/>
            <a:ext cx="10968843" cy="2986918"/>
          </a:xfrm>
        </p:spPr>
        <p:txBody>
          <a:bodyPr>
            <a:noAutofit/>
          </a:bodyPr>
          <a:lstStyle/>
          <a:p>
            <a:pPr marL="0" indent="0">
              <a:buNone/>
            </a:pPr>
            <a:endParaRPr lang="es-MX" sz="2400" dirty="0"/>
          </a:p>
          <a:p>
            <a:pPr marL="0" indent="0">
              <a:buNone/>
            </a:pPr>
            <a:r>
              <a:rPr lang="es-MX" sz="2400" b="1" dirty="0">
                <a:solidFill>
                  <a:srgbClr val="D7A700"/>
                </a:solidFill>
              </a:rPr>
              <a:t>Ejercicio 2: </a:t>
            </a:r>
            <a:r>
              <a:rPr lang="es-MX" sz="2400" dirty="0"/>
              <a:t>El restaurante Los Libertadores decide evaluar la posibilidad de adquirir un crédito bancario para efectuar una remodelación de su sede central. Como asesor financiero del restaurante debe determinar el máximo valor del crédito que podrá solicitar, de tal forma que las cuotas mensuales no superen los COP $4.000.000, el crédito se pague en 5 años y sabiendo que la tasa de interés que cobra el banco es del 10% EA. </a:t>
            </a:r>
          </a:p>
          <a:p>
            <a:pPr marL="0" indent="0">
              <a:buNone/>
            </a:pPr>
            <a:endParaRPr lang="es-MX" sz="2400" dirty="0"/>
          </a:p>
          <a:p>
            <a:pPr marL="0" indent="0" algn="ctr">
              <a:buNone/>
            </a:pPr>
            <a:r>
              <a:rPr lang="es-MX" sz="2400" i="1" dirty="0">
                <a:solidFill>
                  <a:srgbClr val="C00000"/>
                </a:solidFill>
              </a:rPr>
              <a:t>¿Cuál es el valor máximo que podría solicitar de crédito?</a:t>
            </a:r>
          </a:p>
          <a:p>
            <a:pPr marL="0" indent="0" algn="ctr">
              <a:buNone/>
            </a:pPr>
            <a:r>
              <a:rPr lang="es-MX" sz="2400" b="1" i="1" dirty="0">
                <a:solidFill>
                  <a:srgbClr val="C00000"/>
                </a:solidFill>
              </a:rPr>
              <a:t>COP $190.154.001,08</a:t>
            </a:r>
          </a:p>
        </p:txBody>
      </p:sp>
    </p:spTree>
    <p:extLst>
      <p:ext uri="{BB962C8B-B14F-4D97-AF65-F5344CB8AC3E}">
        <p14:creationId xmlns:p14="http://schemas.microsoft.com/office/powerpoint/2010/main" val="31941247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EAF90E-D3F8-EB97-E211-9D1DEF6CFD10}"/>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7A9CB9D7-44ED-2FD2-5F58-14EDF392AC20}"/>
              </a:ext>
            </a:extLst>
          </p:cNvPr>
          <p:cNvSpPr>
            <a:spLocks noGrp="1"/>
          </p:cNvSpPr>
          <p:nvPr>
            <p:ph type="ctrTitle"/>
          </p:nvPr>
        </p:nvSpPr>
        <p:spPr>
          <a:xfrm>
            <a:off x="470868" y="1814732"/>
            <a:ext cx="10359896" cy="826833"/>
          </a:xfrm>
        </p:spPr>
        <p:txBody>
          <a:bodyPr>
            <a:noAutofit/>
          </a:bodyPr>
          <a:lstStyle/>
          <a:p>
            <a:r>
              <a:rPr lang="es-CO" sz="4000" dirty="0"/>
              <a:t>Relaciones de equivalencia (</a:t>
            </a:r>
            <a:r>
              <a:rPr lang="es-CO" sz="4000" dirty="0">
                <a:solidFill>
                  <a:srgbClr val="D7A700"/>
                </a:solidFill>
              </a:rPr>
              <a:t>PARTE II</a:t>
            </a:r>
            <a:r>
              <a:rPr lang="es-CO" sz="4000" dirty="0"/>
              <a:t>)</a:t>
            </a:r>
          </a:p>
        </p:txBody>
      </p:sp>
      <p:sp>
        <p:nvSpPr>
          <p:cNvPr id="8" name="Rectángulo 7">
            <a:extLst>
              <a:ext uri="{FF2B5EF4-FFF2-40B4-BE49-F238E27FC236}">
                <a16:creationId xmlns:a16="http://schemas.microsoft.com/office/drawing/2014/main" id="{F79108AE-0665-95C8-458A-17EC94700339}"/>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026" name="Picture 2" descr="Clientes y aliados | Centro de Evaluación | Uniandes">
            <a:extLst>
              <a:ext uri="{FF2B5EF4-FFF2-40B4-BE49-F238E27FC236}">
                <a16:creationId xmlns:a16="http://schemas.microsoft.com/office/drawing/2014/main" id="{729495A2-6326-D32C-DB74-367A173ECC2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12" name="Gráfico 11" descr="Open book contorno">
            <a:extLst>
              <a:ext uri="{FF2B5EF4-FFF2-40B4-BE49-F238E27FC236}">
                <a16:creationId xmlns:a16="http://schemas.microsoft.com/office/drawing/2014/main" id="{634204E2-DA82-C304-2BE7-7210417785FB}"/>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134957" y="3342889"/>
            <a:ext cx="2695807" cy="2695807"/>
          </a:xfrm>
          <a:prstGeom prst="rect">
            <a:avLst/>
          </a:prstGeom>
        </p:spPr>
      </p:pic>
      <p:sp>
        <p:nvSpPr>
          <p:cNvPr id="3" name="Rectángulo 2">
            <a:extLst>
              <a:ext uri="{FF2B5EF4-FFF2-40B4-BE49-F238E27FC236}">
                <a16:creationId xmlns:a16="http://schemas.microsoft.com/office/drawing/2014/main" id="{854F530B-4A7F-A399-7BC2-44439914B39D}"/>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5" name="CuadroTexto 4">
            <a:extLst>
              <a:ext uri="{FF2B5EF4-FFF2-40B4-BE49-F238E27FC236}">
                <a16:creationId xmlns:a16="http://schemas.microsoft.com/office/drawing/2014/main" id="{D89641F2-FC51-89BD-B278-294429C555D9}"/>
              </a:ext>
            </a:extLst>
          </p:cNvPr>
          <p:cNvSpPr txBox="1"/>
          <p:nvPr/>
        </p:nvSpPr>
        <p:spPr>
          <a:xfrm>
            <a:off x="1045027" y="3342889"/>
            <a:ext cx="6349598" cy="2492990"/>
          </a:xfrm>
          <a:prstGeom prst="rect">
            <a:avLst/>
          </a:prstGeom>
          <a:noFill/>
        </p:spPr>
        <p:txBody>
          <a:bodyPr wrap="square" lIns="91440" tIns="45720" rIns="91440" bIns="45720" rtlCol="0" anchor="t">
            <a:spAutoFit/>
          </a:bodyPr>
          <a:lstStyle/>
          <a:p>
            <a:r>
              <a:rPr lang="es-CO" sz="1600" b="1" u="sng">
                <a:solidFill>
                  <a:schemeClr val="bg1"/>
                </a:solidFill>
              </a:rPr>
              <a:t>													</a:t>
            </a:r>
            <a:endParaRPr lang="es-CO" sz="2000" b="1" u="sng">
              <a:solidFill>
                <a:schemeClr val="bg1"/>
              </a:solidFill>
            </a:endParaRPr>
          </a:p>
          <a:p>
            <a:endParaRPr lang="es-CO" sz="1000" b="1">
              <a:solidFill>
                <a:schemeClr val="bg1"/>
              </a:solidFill>
            </a:endParaRPr>
          </a:p>
          <a:p>
            <a:r>
              <a:rPr lang="es-CO" sz="2000" b="1">
                <a:solidFill>
                  <a:schemeClr val="bg1"/>
                </a:solidFill>
              </a:rPr>
              <a:t>DEPARTAMENTO DE INGENIERÍA INDUSTRIAL</a:t>
            </a:r>
          </a:p>
          <a:p>
            <a:r>
              <a:rPr lang="es-CO" sz="2000" b="1">
                <a:solidFill>
                  <a:schemeClr val="bg1"/>
                </a:solidFill>
              </a:rPr>
              <a:t>FACULTAD DE INGENIERÍA</a:t>
            </a:r>
          </a:p>
          <a:p>
            <a:r>
              <a:rPr lang="es-CO" sz="1000" b="1" u="sng">
                <a:solidFill>
                  <a:schemeClr val="bg1"/>
                </a:solidFill>
              </a:rPr>
              <a:t>													</a:t>
            </a:r>
          </a:p>
          <a:p>
            <a:endParaRPr lang="es-CO" sz="2000" b="1">
              <a:solidFill>
                <a:schemeClr val="bg1"/>
              </a:solidFill>
            </a:endParaRPr>
          </a:p>
          <a:p>
            <a:r>
              <a:rPr lang="es-CO" sz="2000" b="1">
                <a:solidFill>
                  <a:schemeClr val="bg1"/>
                </a:solidFill>
              </a:rPr>
              <a:t>Curso       </a:t>
            </a:r>
            <a:r>
              <a:rPr lang="es-CO" sz="2000">
                <a:solidFill>
                  <a:schemeClr val="bg1"/>
                </a:solidFill>
              </a:rPr>
              <a:t>ANÁLISIS DE DECISIONES DE INVERSIÓN</a:t>
            </a:r>
          </a:p>
          <a:p>
            <a:r>
              <a:rPr lang="es-CO" sz="2000" b="1">
                <a:solidFill>
                  <a:schemeClr val="bg1"/>
                </a:solidFill>
              </a:rPr>
              <a:t>Correo     </a:t>
            </a:r>
            <a:r>
              <a:rPr lang="es-CO" sz="2000">
                <a:solidFill>
                  <a:schemeClr val="bg1"/>
                </a:solidFill>
              </a:rPr>
              <a:t>cursoanadec@uniandes.edu.co</a:t>
            </a:r>
          </a:p>
          <a:p>
            <a:endParaRPr lang="es-CO" sz="2000" b="1">
              <a:solidFill>
                <a:schemeClr val="bg1"/>
              </a:solidFill>
            </a:endParaRPr>
          </a:p>
        </p:txBody>
      </p:sp>
    </p:spTree>
    <p:extLst>
      <p:ext uri="{BB962C8B-B14F-4D97-AF65-F5344CB8AC3E}">
        <p14:creationId xmlns:p14="http://schemas.microsoft.com/office/powerpoint/2010/main" val="237027601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470868" y="1814732"/>
            <a:ext cx="10359896" cy="826833"/>
          </a:xfrm>
        </p:spPr>
        <p:txBody>
          <a:bodyPr>
            <a:noAutofit/>
          </a:bodyPr>
          <a:lstStyle/>
          <a:p>
            <a:r>
              <a:rPr lang="es-CO" sz="4000" dirty="0"/>
              <a:t>Relaciones de equivalencia (</a:t>
            </a:r>
            <a:r>
              <a:rPr lang="es-CO" sz="4000" dirty="0">
                <a:solidFill>
                  <a:srgbClr val="D7A700"/>
                </a:solidFill>
              </a:rPr>
              <a:t>PARTE III</a:t>
            </a:r>
            <a:r>
              <a:rPr lang="es-CO" sz="4000" dirty="0"/>
              <a:t>)</a:t>
            </a:r>
          </a:p>
        </p:txBody>
      </p:sp>
      <p:sp>
        <p:nvSpPr>
          <p:cNvPr id="8" name="Rectángulo 7">
            <a:extLst>
              <a:ext uri="{FF2B5EF4-FFF2-40B4-BE49-F238E27FC236}">
                <a16:creationId xmlns:a16="http://schemas.microsoft.com/office/drawing/2014/main" id="{47094242-8D7F-4883-8E64-A43E1E37E5FF}"/>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026" name="Picture 2" descr="Clientes y aliados | Centro de Evaluación | Uniandes">
            <a:extLst>
              <a:ext uri="{FF2B5EF4-FFF2-40B4-BE49-F238E27FC236}">
                <a16:creationId xmlns:a16="http://schemas.microsoft.com/office/drawing/2014/main" id="{D2A00364-D957-B6CC-C8C3-335B3CE9EB2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12" name="Gráfico 11" descr="Open book contorno">
            <a:extLst>
              <a:ext uri="{FF2B5EF4-FFF2-40B4-BE49-F238E27FC236}">
                <a16:creationId xmlns:a16="http://schemas.microsoft.com/office/drawing/2014/main" id="{52403B49-6EB3-5618-7D88-A91409E36D0D}"/>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134957" y="3342889"/>
            <a:ext cx="2695807" cy="2695807"/>
          </a:xfrm>
          <a:prstGeom prst="rect">
            <a:avLst/>
          </a:prstGeom>
        </p:spPr>
      </p:pic>
      <p:sp>
        <p:nvSpPr>
          <p:cNvPr id="3" name="Rectángulo 2">
            <a:extLst>
              <a:ext uri="{FF2B5EF4-FFF2-40B4-BE49-F238E27FC236}">
                <a16:creationId xmlns:a16="http://schemas.microsoft.com/office/drawing/2014/main" id="{A3AD51E0-45F2-4944-F542-877DA066F087}"/>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5" name="CuadroTexto 4">
            <a:extLst>
              <a:ext uri="{FF2B5EF4-FFF2-40B4-BE49-F238E27FC236}">
                <a16:creationId xmlns:a16="http://schemas.microsoft.com/office/drawing/2014/main" id="{D4A5762F-1C2D-FD38-E811-7AC845A38582}"/>
              </a:ext>
            </a:extLst>
          </p:cNvPr>
          <p:cNvSpPr txBox="1"/>
          <p:nvPr/>
        </p:nvSpPr>
        <p:spPr>
          <a:xfrm>
            <a:off x="1045027" y="3342889"/>
            <a:ext cx="6349598" cy="2492990"/>
          </a:xfrm>
          <a:prstGeom prst="rect">
            <a:avLst/>
          </a:prstGeom>
          <a:noFill/>
        </p:spPr>
        <p:txBody>
          <a:bodyPr wrap="square" lIns="91440" tIns="45720" rIns="91440" bIns="45720" rtlCol="0" anchor="t">
            <a:spAutoFit/>
          </a:bodyPr>
          <a:lstStyle/>
          <a:p>
            <a:r>
              <a:rPr lang="es-CO" sz="1600" b="1" u="sng">
                <a:solidFill>
                  <a:schemeClr val="bg1"/>
                </a:solidFill>
              </a:rPr>
              <a:t>													</a:t>
            </a:r>
            <a:endParaRPr lang="es-CO" sz="2000" b="1" u="sng">
              <a:solidFill>
                <a:schemeClr val="bg1"/>
              </a:solidFill>
            </a:endParaRPr>
          </a:p>
          <a:p>
            <a:endParaRPr lang="es-CO" sz="1000" b="1">
              <a:solidFill>
                <a:schemeClr val="bg1"/>
              </a:solidFill>
            </a:endParaRPr>
          </a:p>
          <a:p>
            <a:r>
              <a:rPr lang="es-CO" sz="2000" b="1">
                <a:solidFill>
                  <a:schemeClr val="bg1"/>
                </a:solidFill>
              </a:rPr>
              <a:t>DEPARTAMENTO DE INGENIERÍA INDUSTRIAL</a:t>
            </a:r>
          </a:p>
          <a:p>
            <a:r>
              <a:rPr lang="es-CO" sz="2000" b="1">
                <a:solidFill>
                  <a:schemeClr val="bg1"/>
                </a:solidFill>
              </a:rPr>
              <a:t>FACULTAD DE INGENIERÍA</a:t>
            </a:r>
          </a:p>
          <a:p>
            <a:r>
              <a:rPr lang="es-CO" sz="1000" b="1" u="sng">
                <a:solidFill>
                  <a:schemeClr val="bg1"/>
                </a:solidFill>
              </a:rPr>
              <a:t>													</a:t>
            </a:r>
          </a:p>
          <a:p>
            <a:endParaRPr lang="es-CO" sz="2000" b="1">
              <a:solidFill>
                <a:schemeClr val="bg1"/>
              </a:solidFill>
            </a:endParaRPr>
          </a:p>
          <a:p>
            <a:r>
              <a:rPr lang="es-CO" sz="2000" b="1">
                <a:solidFill>
                  <a:schemeClr val="bg1"/>
                </a:solidFill>
              </a:rPr>
              <a:t>Curso       </a:t>
            </a:r>
            <a:r>
              <a:rPr lang="es-CO" sz="2000">
                <a:solidFill>
                  <a:schemeClr val="bg1"/>
                </a:solidFill>
              </a:rPr>
              <a:t>ANÁLISIS DE DECISIONES DE INVERSIÓN</a:t>
            </a:r>
          </a:p>
          <a:p>
            <a:r>
              <a:rPr lang="es-CO" sz="2000" b="1">
                <a:solidFill>
                  <a:schemeClr val="bg1"/>
                </a:solidFill>
              </a:rPr>
              <a:t>Correo     </a:t>
            </a:r>
            <a:r>
              <a:rPr lang="es-CO" sz="2000">
                <a:solidFill>
                  <a:schemeClr val="bg1"/>
                </a:solidFill>
              </a:rPr>
              <a:t>cursoanadec@uniandes.edu.co</a:t>
            </a:r>
          </a:p>
          <a:p>
            <a:endParaRPr lang="es-CO" sz="2000" b="1">
              <a:solidFill>
                <a:schemeClr val="bg1"/>
              </a:solidFill>
            </a:endParaRPr>
          </a:p>
        </p:txBody>
      </p:sp>
    </p:spTree>
    <p:extLst>
      <p:ext uri="{BB962C8B-B14F-4D97-AF65-F5344CB8AC3E}">
        <p14:creationId xmlns:p14="http://schemas.microsoft.com/office/powerpoint/2010/main" val="114267450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CO" sz="3200"/>
              <a:t>AGENDA PROPUESTA</a:t>
            </a:r>
          </a:p>
        </p:txBody>
      </p:sp>
      <p:sp>
        <p:nvSpPr>
          <p:cNvPr id="4" name="Marcador de número de diapositiva 3"/>
          <p:cNvSpPr>
            <a:spLocks noGrp="1"/>
          </p:cNvSpPr>
          <p:nvPr>
            <p:ph type="sldNum" sz="quarter" idx="12"/>
          </p:nvPr>
        </p:nvSpPr>
        <p:spPr/>
        <p:txBody>
          <a:bodyPr/>
          <a:lstStyle/>
          <a:p>
            <a:fld id="{D57F1E4F-1CFF-5643-939E-217C01CDF565}" type="slidenum">
              <a:rPr lang="en-US" sz="2000" b="1" smtClean="0">
                <a:latin typeface="+mj-lt"/>
              </a:rPr>
              <a:pPr/>
              <a:t>49</a:t>
            </a:fld>
            <a:endParaRPr lang="en-US" sz="2000" b="1">
              <a:latin typeface="+mj-lt"/>
            </a:endParaRPr>
          </a:p>
        </p:txBody>
      </p:sp>
      <p:pic>
        <p:nvPicPr>
          <p:cNvPr id="6" name="Picture 6" descr="Resultado de imagen para RELOJ VECTOR">
            <a:extLst>
              <a:ext uri="{FF2B5EF4-FFF2-40B4-BE49-F238E27FC236}">
                <a16:creationId xmlns:a16="http://schemas.microsoft.com/office/drawing/2014/main" id="{0F651596-1125-43ED-8471-A57EDDF3518A}"/>
              </a:ext>
            </a:extLst>
          </p:cNvPr>
          <p:cNvPicPr>
            <a:picLocks noChangeAspect="1" noChangeArrowheads="1"/>
          </p:cNvPicPr>
          <p:nvPr/>
        </p:nvPicPr>
        <p:blipFill rotWithShape="1">
          <a:blip r:embed="rId2" cstate="print">
            <a:clrChange>
              <a:clrFrom>
                <a:srgbClr val="F6F6F6"/>
              </a:clrFrom>
              <a:clrTo>
                <a:srgbClr val="F6F6F6">
                  <a:alpha val="0"/>
                </a:srgbClr>
              </a:clrTo>
            </a:clrChange>
            <a:duotone>
              <a:schemeClr val="accent3">
                <a:shade val="45000"/>
                <a:satMod val="135000"/>
              </a:schemeClr>
              <a:prstClr val="white"/>
            </a:duotone>
            <a:extLst>
              <a:ext uri="{28A0092B-C50C-407E-A947-70E740481C1C}">
                <a14:useLocalDpi xmlns:a14="http://schemas.microsoft.com/office/drawing/2010/main" val="0"/>
              </a:ext>
            </a:extLst>
          </a:blip>
          <a:srcRect l="24517" t="6285" r="24815" b="6503"/>
          <a:stretch/>
        </p:blipFill>
        <p:spPr bwMode="auto">
          <a:xfrm>
            <a:off x="1448088" y="2903629"/>
            <a:ext cx="1236705" cy="1246074"/>
          </a:xfrm>
          <a:prstGeom prst="rect">
            <a:avLst/>
          </a:prstGeom>
          <a:noFill/>
          <a:extLst>
            <a:ext uri="{909E8E84-426E-40DD-AFC4-6F175D3DCCD1}">
              <a14:hiddenFill xmlns:a14="http://schemas.microsoft.com/office/drawing/2010/main">
                <a:solidFill>
                  <a:srgbClr val="FFFFFF"/>
                </a:solidFill>
              </a14:hiddenFill>
            </a:ext>
          </a:extLst>
        </p:spPr>
      </p:pic>
      <p:sp>
        <p:nvSpPr>
          <p:cNvPr id="23" name="Rectángulo 22">
            <a:extLst>
              <a:ext uri="{FF2B5EF4-FFF2-40B4-BE49-F238E27FC236}">
                <a16:creationId xmlns:a16="http://schemas.microsoft.com/office/drawing/2014/main" id="{8F837980-0A38-47A1-8A30-C7AFF3A98D5A}"/>
              </a:ext>
            </a:extLst>
          </p:cNvPr>
          <p:cNvSpPr/>
          <p:nvPr/>
        </p:nvSpPr>
        <p:spPr>
          <a:xfrm>
            <a:off x="3173020" y="2503099"/>
            <a:ext cx="8540907" cy="1938992"/>
          </a:xfrm>
          <a:prstGeom prst="rect">
            <a:avLst/>
          </a:prstGeom>
        </p:spPr>
        <p:txBody>
          <a:bodyPr wrap="square" lIns="91440" tIns="45720" rIns="91440" bIns="45720" anchor="t">
            <a:spAutoFit/>
          </a:bodyPr>
          <a:lstStyle/>
          <a:p>
            <a:pPr marL="342900" indent="-342900">
              <a:buClr>
                <a:srgbClr val="48BE7A"/>
              </a:buClr>
              <a:buAutoNum type="arabicPeriod"/>
            </a:pPr>
            <a:endParaRPr lang="es-CO" sz="2000" dirty="0">
              <a:solidFill>
                <a:schemeClr val="accent1"/>
              </a:solidFill>
              <a:cs typeface="Arial"/>
            </a:endParaRPr>
          </a:p>
          <a:p>
            <a:pPr marL="342900" indent="-342900">
              <a:buClr>
                <a:srgbClr val="48BE7A"/>
              </a:buClr>
              <a:buAutoNum type="arabicPeriod"/>
            </a:pPr>
            <a:endParaRPr lang="es-CO" sz="2000" dirty="0">
              <a:solidFill>
                <a:schemeClr val="accent1"/>
              </a:solidFill>
              <a:cs typeface="Arial"/>
            </a:endParaRPr>
          </a:p>
          <a:p>
            <a:pPr marL="342900" indent="-342900">
              <a:buClr>
                <a:srgbClr val="48BE7A"/>
              </a:buClr>
              <a:buAutoNum type="arabicPeriod"/>
            </a:pPr>
            <a:r>
              <a:rPr lang="es-CO" sz="2000" dirty="0">
                <a:solidFill>
                  <a:schemeClr val="accent1"/>
                </a:solidFill>
                <a:cs typeface="Arial"/>
              </a:rPr>
              <a:t>Gradiente Geométrico.</a:t>
            </a:r>
          </a:p>
          <a:p>
            <a:pPr marL="342900" indent="-342900">
              <a:buClr>
                <a:srgbClr val="48BE7A"/>
              </a:buClr>
              <a:buAutoNum type="arabicPeriod"/>
            </a:pPr>
            <a:endParaRPr lang="es-CO" sz="2000" dirty="0">
              <a:solidFill>
                <a:schemeClr val="accent1"/>
              </a:solidFill>
              <a:cs typeface="Arial"/>
            </a:endParaRPr>
          </a:p>
          <a:p>
            <a:pPr marL="342900" indent="-342900">
              <a:buClr>
                <a:srgbClr val="48BE7A"/>
              </a:buClr>
              <a:buAutoNum type="arabicPeriod"/>
            </a:pPr>
            <a:r>
              <a:rPr lang="es-CO" sz="2000" dirty="0">
                <a:solidFill>
                  <a:schemeClr val="accent1"/>
                </a:solidFill>
                <a:cs typeface="Arial"/>
              </a:rPr>
              <a:t>Relaciones de equivalencia con varios costos de oportunidad.</a:t>
            </a:r>
          </a:p>
          <a:p>
            <a:pPr>
              <a:buClr>
                <a:srgbClr val="48BE7A"/>
              </a:buClr>
            </a:pPr>
            <a:endParaRPr lang="es-CO" sz="2000" dirty="0">
              <a:solidFill>
                <a:schemeClr val="accent1"/>
              </a:solidFill>
              <a:cs typeface="Arial"/>
            </a:endParaRPr>
          </a:p>
        </p:txBody>
      </p:sp>
      <p:sp>
        <p:nvSpPr>
          <p:cNvPr id="3" name="Rectángulo 2">
            <a:extLst>
              <a:ext uri="{FF2B5EF4-FFF2-40B4-BE49-F238E27FC236}">
                <a16:creationId xmlns:a16="http://schemas.microsoft.com/office/drawing/2014/main" id="{8E86F046-042E-5492-3FBC-4E0C89F4D940}"/>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5A2F8A99-E4A5-BAC5-C9B9-FA7BF32546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67CCA6F4-3C8A-C61E-D855-42886A54578C}"/>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32549711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42"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animEffect transition="in" filter="fade">
                                      <p:cBhvr>
                                        <p:cTn id="9" dur="1000"/>
                                        <p:tgtEl>
                                          <p:spTgt spid="23"/>
                                        </p:tgtEl>
                                      </p:cBhvr>
                                    </p:animEffect>
                                    <p:anim calcmode="lin" valueType="num">
                                      <p:cBhvr>
                                        <p:cTn id="10" dur="1000" fill="hold"/>
                                        <p:tgtEl>
                                          <p:spTgt spid="23"/>
                                        </p:tgtEl>
                                        <p:attrNameLst>
                                          <p:attrName>ppt_x</p:attrName>
                                        </p:attrNameLst>
                                      </p:cBhvr>
                                      <p:tavLst>
                                        <p:tav tm="0">
                                          <p:val>
                                            <p:strVal val="#ppt_x"/>
                                          </p:val>
                                        </p:tav>
                                        <p:tav tm="100000">
                                          <p:val>
                                            <p:strVal val="#ppt_x"/>
                                          </p:val>
                                        </p:tav>
                                      </p:tavLst>
                                    </p:anim>
                                    <p:anim calcmode="lin" valueType="num">
                                      <p:cBhvr>
                                        <p:cTn id="11"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830D7F-3D55-BDD5-89F3-61B3B3E91F41}"/>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876E083-A24B-9A05-C155-870D25BD41B1}"/>
              </a:ext>
            </a:extLst>
          </p:cNvPr>
          <p:cNvSpPr>
            <a:spLocks noGrp="1"/>
          </p:cNvSpPr>
          <p:nvPr>
            <p:ph type="title"/>
          </p:nvPr>
        </p:nvSpPr>
        <p:spPr/>
        <p:txBody>
          <a:bodyPr>
            <a:normAutofit/>
          </a:bodyPr>
          <a:lstStyle/>
          <a:p>
            <a:r>
              <a:rPr lang="es-CO" sz="3200">
                <a:latin typeface="Century Gothic" panose="020B0502020202020204" pitchFamily="34" charset="0"/>
              </a:rPr>
              <a:t>AGENDA PROPUESTA</a:t>
            </a:r>
          </a:p>
        </p:txBody>
      </p:sp>
      <p:sp>
        <p:nvSpPr>
          <p:cNvPr id="4" name="Marcador de número de diapositiva 3">
            <a:extLst>
              <a:ext uri="{FF2B5EF4-FFF2-40B4-BE49-F238E27FC236}">
                <a16:creationId xmlns:a16="http://schemas.microsoft.com/office/drawing/2014/main" id="{17AB0372-BD8A-77D7-9882-3938D5DE0A20}"/>
              </a:ext>
            </a:extLst>
          </p:cNvPr>
          <p:cNvSpPr>
            <a:spLocks noGrp="1"/>
          </p:cNvSpPr>
          <p:nvPr>
            <p:ph type="sldNum" sz="quarter" idx="12"/>
          </p:nvPr>
        </p:nvSpPr>
        <p:spPr/>
        <p:txBody>
          <a:bodyPr/>
          <a:lstStyle/>
          <a:p>
            <a:fld id="{D57F1E4F-1CFF-5643-939E-217C01CDF565}" type="slidenum">
              <a:rPr lang="en-US" sz="2000" b="1" smtClean="0">
                <a:latin typeface="Century Gothic" panose="020B0502020202020204" pitchFamily="34" charset="0"/>
              </a:rPr>
              <a:pPr/>
              <a:t>50</a:t>
            </a:fld>
            <a:endParaRPr lang="en-US" sz="2000" b="1">
              <a:latin typeface="Century Gothic" panose="020B0502020202020204" pitchFamily="34" charset="0"/>
            </a:endParaRPr>
          </a:p>
        </p:txBody>
      </p:sp>
      <p:pic>
        <p:nvPicPr>
          <p:cNvPr id="6" name="Picture 6" descr="Resultado de imagen para RELOJ VECTOR">
            <a:extLst>
              <a:ext uri="{FF2B5EF4-FFF2-40B4-BE49-F238E27FC236}">
                <a16:creationId xmlns:a16="http://schemas.microsoft.com/office/drawing/2014/main" id="{B5797BEC-7335-8CC7-43CA-9CE73C6771E2}"/>
              </a:ext>
            </a:extLst>
          </p:cNvPr>
          <p:cNvPicPr>
            <a:picLocks noChangeAspect="1" noChangeArrowheads="1"/>
          </p:cNvPicPr>
          <p:nvPr/>
        </p:nvPicPr>
        <p:blipFill rotWithShape="1">
          <a:blip r:embed="rId2" cstate="print">
            <a:clrChange>
              <a:clrFrom>
                <a:srgbClr val="F6F6F6"/>
              </a:clrFrom>
              <a:clrTo>
                <a:srgbClr val="F6F6F6">
                  <a:alpha val="0"/>
                </a:srgbClr>
              </a:clrTo>
            </a:clrChange>
            <a:duotone>
              <a:schemeClr val="accent3">
                <a:shade val="45000"/>
                <a:satMod val="135000"/>
              </a:schemeClr>
              <a:prstClr val="white"/>
            </a:duotone>
            <a:extLst>
              <a:ext uri="{28A0092B-C50C-407E-A947-70E740481C1C}">
                <a14:useLocalDpi xmlns:a14="http://schemas.microsoft.com/office/drawing/2010/main" val="0"/>
              </a:ext>
            </a:extLst>
          </a:blip>
          <a:srcRect l="24517" t="6285" r="24815" b="6503"/>
          <a:stretch/>
        </p:blipFill>
        <p:spPr bwMode="auto">
          <a:xfrm>
            <a:off x="1448088" y="2903629"/>
            <a:ext cx="1236705" cy="1246074"/>
          </a:xfrm>
          <a:prstGeom prst="rect">
            <a:avLst/>
          </a:prstGeom>
          <a:noFill/>
          <a:extLst>
            <a:ext uri="{909E8E84-426E-40DD-AFC4-6F175D3DCCD1}">
              <a14:hiddenFill xmlns:a14="http://schemas.microsoft.com/office/drawing/2010/main">
                <a:solidFill>
                  <a:srgbClr val="FFFFFF"/>
                </a:solidFill>
              </a14:hiddenFill>
            </a:ext>
          </a:extLst>
        </p:spPr>
      </p:pic>
      <p:sp>
        <p:nvSpPr>
          <p:cNvPr id="23" name="Rectángulo 22">
            <a:extLst>
              <a:ext uri="{FF2B5EF4-FFF2-40B4-BE49-F238E27FC236}">
                <a16:creationId xmlns:a16="http://schemas.microsoft.com/office/drawing/2014/main" id="{D74099E4-7EB1-3D50-1B0A-93F23731BEAF}"/>
              </a:ext>
            </a:extLst>
          </p:cNvPr>
          <p:cNvSpPr/>
          <p:nvPr/>
        </p:nvSpPr>
        <p:spPr>
          <a:xfrm>
            <a:off x="3173020" y="2503099"/>
            <a:ext cx="8540907" cy="2246769"/>
          </a:xfrm>
          <a:prstGeom prst="rect">
            <a:avLst/>
          </a:prstGeom>
        </p:spPr>
        <p:txBody>
          <a:bodyPr wrap="square" lIns="91440" tIns="45720" rIns="91440" bIns="45720" anchor="t">
            <a:spAutoFit/>
          </a:bodyPr>
          <a:lstStyle/>
          <a:p>
            <a:pPr marL="342900" indent="-342900">
              <a:buClr>
                <a:srgbClr val="48BE7A"/>
              </a:buClr>
              <a:buAutoNum type="arabicPeriod"/>
            </a:pPr>
            <a:endParaRPr lang="es-CO" sz="2000" dirty="0">
              <a:solidFill>
                <a:schemeClr val="bg2">
                  <a:lumMod val="90000"/>
                </a:schemeClr>
              </a:solidFill>
              <a:latin typeface="Century Gothic" panose="020B0502020202020204" pitchFamily="34" charset="0"/>
              <a:cs typeface="Arial"/>
            </a:endParaRPr>
          </a:p>
          <a:p>
            <a:pPr marL="342900" indent="-342900">
              <a:buClr>
                <a:srgbClr val="48BE7A"/>
              </a:buClr>
              <a:buAutoNum type="arabicPeriod"/>
            </a:pPr>
            <a:endParaRPr lang="es-CO" sz="2000" dirty="0">
              <a:solidFill>
                <a:schemeClr val="bg2">
                  <a:lumMod val="90000"/>
                </a:schemeClr>
              </a:solidFill>
              <a:latin typeface="Century Gothic" panose="020B0502020202020204" pitchFamily="34" charset="0"/>
              <a:cs typeface="Arial"/>
            </a:endParaRPr>
          </a:p>
          <a:p>
            <a:pPr marL="342900" indent="-342900">
              <a:buClr>
                <a:srgbClr val="48BE7A"/>
              </a:buClr>
              <a:buAutoNum type="arabicPeriod"/>
            </a:pPr>
            <a:r>
              <a:rPr lang="es-CO" sz="2000" dirty="0">
                <a:solidFill>
                  <a:schemeClr val="accent1"/>
                </a:solidFill>
                <a:latin typeface="Century Gothic"/>
                <a:cs typeface="Arial"/>
              </a:rPr>
              <a:t>Gradiente Geométrico.</a:t>
            </a:r>
          </a:p>
          <a:p>
            <a:pPr marL="342900" indent="-342900">
              <a:buClr>
                <a:srgbClr val="48BE7A"/>
              </a:buClr>
              <a:buFontTx/>
              <a:buAutoNum type="arabicPeriod"/>
            </a:pPr>
            <a:endParaRPr lang="es-CO" sz="2000" dirty="0">
              <a:solidFill>
                <a:schemeClr val="bg2">
                  <a:lumMod val="90000"/>
                </a:schemeClr>
              </a:solidFill>
              <a:latin typeface="Century Gothic" panose="020B0502020202020204" pitchFamily="34" charset="0"/>
              <a:cs typeface="Arial"/>
            </a:endParaRPr>
          </a:p>
          <a:p>
            <a:pPr marL="342900" indent="-342900">
              <a:buClr>
                <a:srgbClr val="48BE7A"/>
              </a:buClr>
              <a:buFontTx/>
              <a:buAutoNum type="arabicPeriod"/>
            </a:pPr>
            <a:r>
              <a:rPr lang="es-CO" sz="2000" dirty="0">
                <a:solidFill>
                  <a:schemeClr val="bg2">
                    <a:lumMod val="90000"/>
                  </a:schemeClr>
                </a:solidFill>
                <a:latin typeface="Century Gothic" panose="020B0502020202020204" pitchFamily="34" charset="0"/>
                <a:cs typeface="Arial"/>
              </a:rPr>
              <a:t>Relaciones de equivalencia con varios costos de oportunidad.</a:t>
            </a:r>
          </a:p>
          <a:p>
            <a:pPr marL="342900" indent="-342900">
              <a:buClr>
                <a:srgbClr val="48BE7A"/>
              </a:buClr>
              <a:buAutoNum type="arabicPeriod"/>
            </a:pPr>
            <a:endParaRPr lang="es-CO" sz="2000" dirty="0">
              <a:solidFill>
                <a:schemeClr val="accent1"/>
              </a:solidFill>
              <a:latin typeface="Century Gothic"/>
              <a:cs typeface="Arial"/>
            </a:endParaRPr>
          </a:p>
          <a:p>
            <a:pPr marL="342900" indent="-342900">
              <a:buClr>
                <a:srgbClr val="48BE7A"/>
              </a:buClr>
              <a:buAutoNum type="arabicPeriod"/>
            </a:pPr>
            <a:endParaRPr lang="es-CO" sz="2000" dirty="0">
              <a:solidFill>
                <a:schemeClr val="bg2">
                  <a:lumMod val="90000"/>
                </a:schemeClr>
              </a:solidFill>
              <a:latin typeface="Century Gothic" panose="020B0502020202020204" pitchFamily="34" charset="0"/>
              <a:cs typeface="Arial"/>
            </a:endParaRPr>
          </a:p>
        </p:txBody>
      </p:sp>
      <p:sp>
        <p:nvSpPr>
          <p:cNvPr id="3" name="Rectángulo 2">
            <a:extLst>
              <a:ext uri="{FF2B5EF4-FFF2-40B4-BE49-F238E27FC236}">
                <a16:creationId xmlns:a16="http://schemas.microsoft.com/office/drawing/2014/main" id="{742C1A45-FA8A-4D92-4CAB-376267379EA5}"/>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477F7378-6FFB-F3DF-A704-CA2913A5705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24A8CA2C-DF31-6A51-D370-42984E069A3F}"/>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36570274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42"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animEffect transition="in" filter="fade">
                                      <p:cBhvr>
                                        <p:cTn id="9" dur="1000"/>
                                        <p:tgtEl>
                                          <p:spTgt spid="23"/>
                                        </p:tgtEl>
                                      </p:cBhvr>
                                    </p:animEffect>
                                    <p:anim calcmode="lin" valueType="num">
                                      <p:cBhvr>
                                        <p:cTn id="10" dur="1000" fill="hold"/>
                                        <p:tgtEl>
                                          <p:spTgt spid="23"/>
                                        </p:tgtEl>
                                        <p:attrNameLst>
                                          <p:attrName>ppt_x</p:attrName>
                                        </p:attrNameLst>
                                      </p:cBhvr>
                                      <p:tavLst>
                                        <p:tav tm="0">
                                          <p:val>
                                            <p:strVal val="#ppt_x"/>
                                          </p:val>
                                        </p:tav>
                                        <p:tav tm="100000">
                                          <p:val>
                                            <p:strVal val="#ppt_x"/>
                                          </p:val>
                                        </p:tav>
                                      </p:tavLst>
                                    </p:anim>
                                    <p:anim calcmode="lin" valueType="num">
                                      <p:cBhvr>
                                        <p:cTn id="11"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520420" y="1864810"/>
            <a:ext cx="11029615" cy="3678303"/>
          </a:xfrm>
        </p:spPr>
        <p:txBody>
          <a:bodyPr>
            <a:normAutofit/>
          </a:bodyPr>
          <a:lstStyle/>
          <a:p>
            <a:pPr marL="0" indent="0" algn="ctr">
              <a:buNone/>
            </a:pPr>
            <a:r>
              <a:rPr lang="es-ES" sz="2400">
                <a:solidFill>
                  <a:srgbClr val="800000"/>
                </a:solidFill>
              </a:rPr>
              <a:t>¿Qué </a:t>
            </a:r>
            <a:r>
              <a:rPr lang="es-ES" sz="2400" dirty="0">
                <a:solidFill>
                  <a:srgbClr val="800000"/>
                </a:solidFill>
              </a:rPr>
              <a:t>sucede ahora, si tenemos unos flujos anuales que crecen a una tasa determinada?</a:t>
            </a:r>
          </a:p>
          <a:p>
            <a:pPr algn="just"/>
            <a:endParaRPr lang="es-ES" sz="2400" dirty="0"/>
          </a:p>
          <a:p>
            <a:pPr marL="0" indent="0" algn="just">
              <a:buNone/>
            </a:pPr>
            <a:r>
              <a:rPr lang="es-ES" sz="2400" dirty="0"/>
              <a:t>Otro caso particular, es aquel donde el flujo de cada año crece a una tasa constante (“g”). A diferencia del crecimiento anterior, éste no son montos fijos (G) sino crece proporcionalmente a una tasa ”g”.</a:t>
            </a:r>
          </a:p>
        </p:txBody>
      </p:sp>
      <p:sp>
        <p:nvSpPr>
          <p:cNvPr id="4" name="Marcador de número de diapositiva 3"/>
          <p:cNvSpPr>
            <a:spLocks noGrp="1"/>
          </p:cNvSpPr>
          <p:nvPr>
            <p:ph type="sldNum" sz="quarter" idx="12"/>
          </p:nvPr>
        </p:nvSpPr>
        <p:spPr/>
        <p:txBody>
          <a:bodyPr/>
          <a:lstStyle/>
          <a:p>
            <a:fld id="{5E3E23BA-6E79-2442-BA73-D218A5E297C3}" type="slidenum">
              <a:rPr lang="en-US" smtClean="0"/>
              <a:t>51</a:t>
            </a:fld>
            <a:endParaRPr lang="en-US"/>
          </a:p>
        </p:txBody>
      </p:sp>
      <p:sp>
        <p:nvSpPr>
          <p:cNvPr id="8" name="Title 1">
            <a:extLst>
              <a:ext uri="{FF2B5EF4-FFF2-40B4-BE49-F238E27FC236}">
                <a16:creationId xmlns:a16="http://schemas.microsoft.com/office/drawing/2014/main" id="{2D4B220F-E8C3-D4E4-49E3-3F6BD540892A}"/>
              </a:ext>
            </a:extLst>
          </p:cNvPr>
          <p:cNvSpPr>
            <a:spLocks noGrp="1"/>
          </p:cNvSpPr>
          <p:nvPr>
            <p:ph type="title"/>
          </p:nvPr>
        </p:nvSpPr>
        <p:spPr>
          <a:xfrm>
            <a:off x="581192" y="702156"/>
            <a:ext cx="11029616" cy="1013800"/>
          </a:xfrm>
        </p:spPr>
        <p:txBody>
          <a:bodyPr/>
          <a:lstStyle/>
          <a:p>
            <a:r>
              <a:rPr lang="es-ES_tradnl">
                <a:latin typeface="Century Gothic" panose="020B0502020202020204" pitchFamily="34" charset="0"/>
              </a:rPr>
              <a:t>Gradientes geométricos</a:t>
            </a:r>
          </a:p>
        </p:txBody>
      </p:sp>
      <p:sp>
        <p:nvSpPr>
          <p:cNvPr id="9" name="Rectángulo 8">
            <a:extLst>
              <a:ext uri="{FF2B5EF4-FFF2-40B4-BE49-F238E27FC236}">
                <a16:creationId xmlns:a16="http://schemas.microsoft.com/office/drawing/2014/main" id="{0651DDB5-A369-D6AD-3498-A2D18D00F035}"/>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0" name="Picture 2" descr="Clientes y aliados | Centro de Evaluación | Uniandes">
            <a:extLst>
              <a:ext uri="{FF2B5EF4-FFF2-40B4-BE49-F238E27FC236}">
                <a16:creationId xmlns:a16="http://schemas.microsoft.com/office/drawing/2014/main" id="{2BB50836-380C-C830-C905-3C32D560266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1" name="Rectángulo 10">
            <a:extLst>
              <a:ext uri="{FF2B5EF4-FFF2-40B4-BE49-F238E27FC236}">
                <a16:creationId xmlns:a16="http://schemas.microsoft.com/office/drawing/2014/main" id="{23A8320B-5968-9994-B8D2-2ED78886D59F}"/>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351953706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Marcador de contenido 2"/>
          <p:cNvSpPr>
            <a:spLocks noGrp="1"/>
          </p:cNvSpPr>
          <p:nvPr>
            <p:ph idx="1"/>
          </p:nvPr>
        </p:nvSpPr>
        <p:spPr>
          <a:xfrm>
            <a:off x="581192" y="1996123"/>
            <a:ext cx="7610476" cy="673614"/>
          </a:xfrm>
        </p:spPr>
        <p:txBody>
          <a:bodyPr>
            <a:normAutofit/>
          </a:bodyPr>
          <a:lstStyle/>
          <a:p>
            <a:pPr marL="0" indent="0">
              <a:buNone/>
            </a:pPr>
            <a:r>
              <a:rPr lang="es-ES" sz="2400"/>
              <a:t>Veámoslo gráficamente </a:t>
            </a:r>
          </a:p>
        </p:txBody>
      </p:sp>
      <p:sp>
        <p:nvSpPr>
          <p:cNvPr id="4" name="Marcador de número de diapositiva 3"/>
          <p:cNvSpPr>
            <a:spLocks noGrp="1"/>
          </p:cNvSpPr>
          <p:nvPr>
            <p:ph type="sldNum" sz="quarter" idx="12"/>
          </p:nvPr>
        </p:nvSpPr>
        <p:spPr/>
        <p:txBody>
          <a:bodyPr/>
          <a:lstStyle/>
          <a:p>
            <a:fld id="{5E3E23BA-6E79-2442-BA73-D218A5E297C3}" type="slidenum">
              <a:rPr lang="en-US" smtClean="0"/>
              <a:t>52</a:t>
            </a:fld>
            <a:endParaRPr lang="en-US"/>
          </a:p>
        </p:txBody>
      </p:sp>
      <p:cxnSp>
        <p:nvCxnSpPr>
          <p:cNvPr id="5" name="Straight Connector 6"/>
          <p:cNvCxnSpPr/>
          <p:nvPr/>
        </p:nvCxnSpPr>
        <p:spPr>
          <a:xfrm>
            <a:off x="3059049" y="4616361"/>
            <a:ext cx="6191592"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 name="Straight Arrow Connector 9"/>
          <p:cNvCxnSpPr/>
          <p:nvPr/>
        </p:nvCxnSpPr>
        <p:spPr>
          <a:xfrm flipV="1">
            <a:off x="3978973" y="4205190"/>
            <a:ext cx="0" cy="424000"/>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8" name="Straight Arrow Connector 11"/>
          <p:cNvCxnSpPr/>
          <p:nvPr/>
        </p:nvCxnSpPr>
        <p:spPr>
          <a:xfrm flipV="1">
            <a:off x="5052402" y="4076914"/>
            <a:ext cx="0" cy="552276"/>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9" name="Straight Arrow Connector 12"/>
          <p:cNvCxnSpPr/>
          <p:nvPr/>
        </p:nvCxnSpPr>
        <p:spPr>
          <a:xfrm flipV="1">
            <a:off x="6111876" y="3961453"/>
            <a:ext cx="0" cy="667737"/>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10" name="Straight Arrow Connector 13"/>
          <p:cNvCxnSpPr/>
          <p:nvPr/>
        </p:nvCxnSpPr>
        <p:spPr>
          <a:xfrm flipV="1">
            <a:off x="7117738" y="3794693"/>
            <a:ext cx="0" cy="834497"/>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11" name="Straight Arrow Connector 14"/>
          <p:cNvCxnSpPr/>
          <p:nvPr/>
        </p:nvCxnSpPr>
        <p:spPr>
          <a:xfrm flipV="1">
            <a:off x="8191167" y="3448345"/>
            <a:ext cx="0" cy="1180844"/>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12" name="Straight Arrow Connector 15"/>
          <p:cNvCxnSpPr/>
          <p:nvPr/>
        </p:nvCxnSpPr>
        <p:spPr>
          <a:xfrm flipV="1">
            <a:off x="9250641" y="3093945"/>
            <a:ext cx="0" cy="1535244"/>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14" name="Rectangle 35"/>
          <p:cNvSpPr>
            <a:spLocks/>
          </p:cNvSpPr>
          <p:nvPr/>
        </p:nvSpPr>
        <p:spPr bwMode="auto">
          <a:xfrm>
            <a:off x="2994928" y="4598412"/>
            <a:ext cx="12824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0</a:t>
            </a:r>
          </a:p>
        </p:txBody>
      </p:sp>
      <p:sp>
        <p:nvSpPr>
          <p:cNvPr id="15" name="Rectangle 36"/>
          <p:cNvSpPr>
            <a:spLocks/>
          </p:cNvSpPr>
          <p:nvPr/>
        </p:nvSpPr>
        <p:spPr bwMode="auto">
          <a:xfrm>
            <a:off x="3808213" y="4573583"/>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a:t>
            </a:r>
          </a:p>
        </p:txBody>
      </p:sp>
      <p:sp>
        <p:nvSpPr>
          <p:cNvPr id="16" name="Rectangle 37"/>
          <p:cNvSpPr>
            <a:spLocks/>
          </p:cNvSpPr>
          <p:nvPr/>
        </p:nvSpPr>
        <p:spPr bwMode="auto">
          <a:xfrm>
            <a:off x="4896701" y="4573583"/>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2</a:t>
            </a:r>
          </a:p>
        </p:txBody>
      </p:sp>
      <p:sp>
        <p:nvSpPr>
          <p:cNvPr id="17" name="Rectangle 38"/>
          <p:cNvSpPr>
            <a:spLocks/>
          </p:cNvSpPr>
          <p:nvPr/>
        </p:nvSpPr>
        <p:spPr bwMode="auto">
          <a:xfrm>
            <a:off x="5956175" y="4587540"/>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3</a:t>
            </a:r>
          </a:p>
        </p:txBody>
      </p:sp>
      <p:sp>
        <p:nvSpPr>
          <p:cNvPr id="18" name="Rectangle 39"/>
          <p:cNvSpPr>
            <a:spLocks/>
          </p:cNvSpPr>
          <p:nvPr/>
        </p:nvSpPr>
        <p:spPr bwMode="auto">
          <a:xfrm>
            <a:off x="6962037" y="4603997"/>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4</a:t>
            </a:r>
          </a:p>
        </p:txBody>
      </p:sp>
      <p:sp>
        <p:nvSpPr>
          <p:cNvPr id="19" name="Rectangle 40"/>
          <p:cNvSpPr>
            <a:spLocks/>
          </p:cNvSpPr>
          <p:nvPr/>
        </p:nvSpPr>
        <p:spPr bwMode="auto">
          <a:xfrm>
            <a:off x="8035466" y="4573583"/>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5</a:t>
            </a:r>
          </a:p>
        </p:txBody>
      </p:sp>
      <p:sp>
        <p:nvSpPr>
          <p:cNvPr id="20" name="Rectangle 41"/>
          <p:cNvSpPr>
            <a:spLocks/>
          </p:cNvSpPr>
          <p:nvPr/>
        </p:nvSpPr>
        <p:spPr bwMode="auto">
          <a:xfrm>
            <a:off x="9094940" y="4573583"/>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6</a:t>
            </a:r>
          </a:p>
        </p:txBody>
      </p:sp>
      <p:sp>
        <p:nvSpPr>
          <p:cNvPr id="61" name="Rectangle 35"/>
          <p:cNvSpPr>
            <a:spLocks/>
          </p:cNvSpPr>
          <p:nvPr/>
        </p:nvSpPr>
        <p:spPr bwMode="auto">
          <a:xfrm>
            <a:off x="3865970" y="3900964"/>
            <a:ext cx="27732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D</a:t>
            </a:r>
            <a:r>
              <a:rPr lang="en-US" sz="2000" baseline="-25000"/>
              <a:t>1</a:t>
            </a:r>
            <a:endParaRPr lang="en-US" sz="2000"/>
          </a:p>
        </p:txBody>
      </p:sp>
      <p:sp>
        <p:nvSpPr>
          <p:cNvPr id="62" name="Rectangle 35"/>
          <p:cNvSpPr>
            <a:spLocks/>
          </p:cNvSpPr>
          <p:nvPr/>
        </p:nvSpPr>
        <p:spPr bwMode="auto">
          <a:xfrm>
            <a:off x="4955196" y="3781494"/>
            <a:ext cx="27732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D</a:t>
            </a:r>
            <a:r>
              <a:rPr lang="en-US" sz="2000" baseline="-25000"/>
              <a:t>2</a:t>
            </a:r>
            <a:endParaRPr lang="en-US" sz="2000"/>
          </a:p>
        </p:txBody>
      </p:sp>
      <p:sp>
        <p:nvSpPr>
          <p:cNvPr id="63" name="Rectangle 35"/>
          <p:cNvSpPr>
            <a:spLocks/>
          </p:cNvSpPr>
          <p:nvPr/>
        </p:nvSpPr>
        <p:spPr bwMode="auto">
          <a:xfrm>
            <a:off x="6011703" y="3658383"/>
            <a:ext cx="27732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D</a:t>
            </a:r>
            <a:r>
              <a:rPr lang="en-US" sz="2000" baseline="-25000"/>
              <a:t>3</a:t>
            </a:r>
            <a:endParaRPr lang="en-US" sz="2000"/>
          </a:p>
        </p:txBody>
      </p:sp>
      <p:sp>
        <p:nvSpPr>
          <p:cNvPr id="64" name="Rectangle 35"/>
          <p:cNvSpPr>
            <a:spLocks/>
          </p:cNvSpPr>
          <p:nvPr/>
        </p:nvSpPr>
        <p:spPr bwMode="auto">
          <a:xfrm>
            <a:off x="7014599" y="3520192"/>
            <a:ext cx="27732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D</a:t>
            </a:r>
            <a:r>
              <a:rPr lang="en-US" sz="2000" baseline="-25000"/>
              <a:t>4</a:t>
            </a:r>
            <a:endParaRPr lang="en-US" sz="2000"/>
          </a:p>
        </p:txBody>
      </p:sp>
      <p:sp>
        <p:nvSpPr>
          <p:cNvPr id="65" name="Rectangle 35"/>
          <p:cNvSpPr>
            <a:spLocks/>
          </p:cNvSpPr>
          <p:nvPr/>
        </p:nvSpPr>
        <p:spPr bwMode="auto">
          <a:xfrm>
            <a:off x="8097430" y="3173835"/>
            <a:ext cx="27732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D</a:t>
            </a:r>
            <a:r>
              <a:rPr lang="en-US" sz="2000" baseline="-25000"/>
              <a:t>5</a:t>
            </a:r>
            <a:endParaRPr lang="en-US" sz="2000"/>
          </a:p>
        </p:txBody>
      </p:sp>
      <p:sp>
        <p:nvSpPr>
          <p:cNvPr id="66" name="Rectangle 35"/>
          <p:cNvSpPr>
            <a:spLocks/>
          </p:cNvSpPr>
          <p:nvPr/>
        </p:nvSpPr>
        <p:spPr bwMode="auto">
          <a:xfrm>
            <a:off x="9142616" y="2837810"/>
            <a:ext cx="27732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D</a:t>
            </a:r>
            <a:r>
              <a:rPr lang="en-US" sz="2000" baseline="-25000"/>
              <a:t>6</a:t>
            </a:r>
            <a:endParaRPr lang="en-US" sz="2000"/>
          </a:p>
        </p:txBody>
      </p:sp>
      <p:sp>
        <p:nvSpPr>
          <p:cNvPr id="13" name="Title 1">
            <a:extLst>
              <a:ext uri="{FF2B5EF4-FFF2-40B4-BE49-F238E27FC236}">
                <a16:creationId xmlns:a16="http://schemas.microsoft.com/office/drawing/2014/main" id="{9115E16F-24DE-395F-A6E8-4C6C98288A8D}"/>
              </a:ext>
            </a:extLst>
          </p:cNvPr>
          <p:cNvSpPr>
            <a:spLocks noGrp="1"/>
          </p:cNvSpPr>
          <p:nvPr>
            <p:ph type="title"/>
          </p:nvPr>
        </p:nvSpPr>
        <p:spPr>
          <a:xfrm>
            <a:off x="581192" y="702156"/>
            <a:ext cx="11029616" cy="1013800"/>
          </a:xfrm>
        </p:spPr>
        <p:txBody>
          <a:bodyPr/>
          <a:lstStyle/>
          <a:p>
            <a:r>
              <a:rPr lang="es-ES_tradnl">
                <a:latin typeface="Century Gothic" panose="020B0502020202020204" pitchFamily="34" charset="0"/>
              </a:rPr>
              <a:t>Gradientes geométricos</a:t>
            </a:r>
          </a:p>
        </p:txBody>
      </p:sp>
      <p:sp>
        <p:nvSpPr>
          <p:cNvPr id="21" name="Rectángulo 20">
            <a:extLst>
              <a:ext uri="{FF2B5EF4-FFF2-40B4-BE49-F238E27FC236}">
                <a16:creationId xmlns:a16="http://schemas.microsoft.com/office/drawing/2014/main" id="{35D2A743-E094-E96F-F39F-9B848936A8C8}"/>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22" name="Picture 2" descr="Clientes y aliados | Centro de Evaluación | Uniandes">
            <a:extLst>
              <a:ext uri="{FF2B5EF4-FFF2-40B4-BE49-F238E27FC236}">
                <a16:creationId xmlns:a16="http://schemas.microsoft.com/office/drawing/2014/main" id="{7BD77969-3913-70D0-AC9F-24E9EE36DC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23" name="Rectángulo 22">
            <a:extLst>
              <a:ext uri="{FF2B5EF4-FFF2-40B4-BE49-F238E27FC236}">
                <a16:creationId xmlns:a16="http://schemas.microsoft.com/office/drawing/2014/main" id="{72DD64AC-0BBE-E156-461A-04087118E014}"/>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19170115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par>
                                <p:cTn id="11" presetID="10" presetClass="entr" presetSubtype="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500"/>
                                        <p:tgtEl>
                                          <p:spTgt spid="8"/>
                                        </p:tgtEl>
                                      </p:cBhvr>
                                    </p:animEffect>
                                  </p:childTnLst>
                                </p:cTn>
                              </p:par>
                              <p:par>
                                <p:cTn id="14" presetID="10" presetClass="entr" presetSubtype="0" fill="hold"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500"/>
                                        <p:tgtEl>
                                          <p:spTgt spid="9"/>
                                        </p:tgtEl>
                                      </p:cBhvr>
                                    </p:animEffect>
                                  </p:childTnLst>
                                </p:cTn>
                              </p:par>
                              <p:par>
                                <p:cTn id="17" presetID="10" presetClass="entr" presetSubtype="0" fill="hold"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500"/>
                                        <p:tgtEl>
                                          <p:spTgt spid="10"/>
                                        </p:tgtEl>
                                      </p:cBhvr>
                                    </p:animEffect>
                                  </p:childTnLst>
                                </p:cTn>
                              </p:par>
                              <p:par>
                                <p:cTn id="20" presetID="10" presetClass="entr" presetSubtype="0" fill="hold"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500"/>
                                        <p:tgtEl>
                                          <p:spTgt spid="11"/>
                                        </p:tgtEl>
                                      </p:cBhvr>
                                    </p:animEffect>
                                  </p:childTnLst>
                                </p:cTn>
                              </p:par>
                              <p:par>
                                <p:cTn id="23" presetID="10" presetClass="entr" presetSubtype="0" fill="hold"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500"/>
                                        <p:tgtEl>
                                          <p:spTgt spid="12"/>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fade">
                                      <p:cBhvr>
                                        <p:cTn id="28" dur="500"/>
                                        <p:tgtEl>
                                          <p:spTgt spid="14"/>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5"/>
                                        </p:tgtEl>
                                        <p:attrNameLst>
                                          <p:attrName>style.visibility</p:attrName>
                                        </p:attrNameLst>
                                      </p:cBhvr>
                                      <p:to>
                                        <p:strVal val="visible"/>
                                      </p:to>
                                    </p:set>
                                    <p:animEffect transition="in" filter="fade">
                                      <p:cBhvr>
                                        <p:cTn id="31" dur="500"/>
                                        <p:tgtEl>
                                          <p:spTgt spid="15"/>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6"/>
                                        </p:tgtEl>
                                        <p:attrNameLst>
                                          <p:attrName>style.visibility</p:attrName>
                                        </p:attrNameLst>
                                      </p:cBhvr>
                                      <p:to>
                                        <p:strVal val="visible"/>
                                      </p:to>
                                    </p:set>
                                    <p:animEffect transition="in" filter="fade">
                                      <p:cBhvr>
                                        <p:cTn id="34" dur="500"/>
                                        <p:tgtEl>
                                          <p:spTgt spid="16"/>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7"/>
                                        </p:tgtEl>
                                        <p:attrNameLst>
                                          <p:attrName>style.visibility</p:attrName>
                                        </p:attrNameLst>
                                      </p:cBhvr>
                                      <p:to>
                                        <p:strVal val="visible"/>
                                      </p:to>
                                    </p:set>
                                    <p:animEffect transition="in" filter="fade">
                                      <p:cBhvr>
                                        <p:cTn id="37" dur="500"/>
                                        <p:tgtEl>
                                          <p:spTgt spid="17"/>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8"/>
                                        </p:tgtEl>
                                        <p:attrNameLst>
                                          <p:attrName>style.visibility</p:attrName>
                                        </p:attrNameLst>
                                      </p:cBhvr>
                                      <p:to>
                                        <p:strVal val="visible"/>
                                      </p:to>
                                    </p:set>
                                    <p:animEffect transition="in" filter="fade">
                                      <p:cBhvr>
                                        <p:cTn id="40" dur="500"/>
                                        <p:tgtEl>
                                          <p:spTgt spid="18"/>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9"/>
                                        </p:tgtEl>
                                        <p:attrNameLst>
                                          <p:attrName>style.visibility</p:attrName>
                                        </p:attrNameLst>
                                      </p:cBhvr>
                                      <p:to>
                                        <p:strVal val="visible"/>
                                      </p:to>
                                    </p:set>
                                    <p:animEffect transition="in" filter="fade">
                                      <p:cBhvr>
                                        <p:cTn id="43" dur="500"/>
                                        <p:tgtEl>
                                          <p:spTgt spid="19"/>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0"/>
                                        </p:tgtEl>
                                        <p:attrNameLst>
                                          <p:attrName>style.visibility</p:attrName>
                                        </p:attrNameLst>
                                      </p:cBhvr>
                                      <p:to>
                                        <p:strVal val="visible"/>
                                      </p:to>
                                    </p:set>
                                    <p:animEffect transition="in" filter="fade">
                                      <p:cBhvr>
                                        <p:cTn id="46" dur="500"/>
                                        <p:tgtEl>
                                          <p:spTgt spid="20"/>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61"/>
                                        </p:tgtEl>
                                        <p:attrNameLst>
                                          <p:attrName>style.visibility</p:attrName>
                                        </p:attrNameLst>
                                      </p:cBhvr>
                                      <p:to>
                                        <p:strVal val="visible"/>
                                      </p:to>
                                    </p:set>
                                    <p:animEffect transition="in" filter="fade">
                                      <p:cBhvr>
                                        <p:cTn id="49" dur="500"/>
                                        <p:tgtEl>
                                          <p:spTgt spid="61"/>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62"/>
                                        </p:tgtEl>
                                        <p:attrNameLst>
                                          <p:attrName>style.visibility</p:attrName>
                                        </p:attrNameLst>
                                      </p:cBhvr>
                                      <p:to>
                                        <p:strVal val="visible"/>
                                      </p:to>
                                    </p:set>
                                    <p:animEffect transition="in" filter="fade">
                                      <p:cBhvr>
                                        <p:cTn id="52" dur="500"/>
                                        <p:tgtEl>
                                          <p:spTgt spid="62"/>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63"/>
                                        </p:tgtEl>
                                        <p:attrNameLst>
                                          <p:attrName>style.visibility</p:attrName>
                                        </p:attrNameLst>
                                      </p:cBhvr>
                                      <p:to>
                                        <p:strVal val="visible"/>
                                      </p:to>
                                    </p:set>
                                    <p:animEffect transition="in" filter="fade">
                                      <p:cBhvr>
                                        <p:cTn id="55" dur="500"/>
                                        <p:tgtEl>
                                          <p:spTgt spid="63"/>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64"/>
                                        </p:tgtEl>
                                        <p:attrNameLst>
                                          <p:attrName>style.visibility</p:attrName>
                                        </p:attrNameLst>
                                      </p:cBhvr>
                                      <p:to>
                                        <p:strVal val="visible"/>
                                      </p:to>
                                    </p:set>
                                    <p:animEffect transition="in" filter="fade">
                                      <p:cBhvr>
                                        <p:cTn id="58" dur="500"/>
                                        <p:tgtEl>
                                          <p:spTgt spid="64"/>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65"/>
                                        </p:tgtEl>
                                        <p:attrNameLst>
                                          <p:attrName>style.visibility</p:attrName>
                                        </p:attrNameLst>
                                      </p:cBhvr>
                                      <p:to>
                                        <p:strVal val="visible"/>
                                      </p:to>
                                    </p:set>
                                    <p:animEffect transition="in" filter="fade">
                                      <p:cBhvr>
                                        <p:cTn id="61" dur="500"/>
                                        <p:tgtEl>
                                          <p:spTgt spid="65"/>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66"/>
                                        </p:tgtEl>
                                        <p:attrNameLst>
                                          <p:attrName>style.visibility</p:attrName>
                                        </p:attrNameLst>
                                      </p:cBhvr>
                                      <p:to>
                                        <p:strVal val="visible"/>
                                      </p:to>
                                    </p:set>
                                    <p:animEffect transition="in" filter="fade">
                                      <p:cBhvr>
                                        <p:cTn id="64" dur="500"/>
                                        <p:tgtEl>
                                          <p:spTgt spid="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p:bldP spid="16" grpId="0"/>
      <p:bldP spid="17" grpId="0"/>
      <p:bldP spid="18" grpId="0"/>
      <p:bldP spid="19" grpId="0"/>
      <p:bldP spid="20" grpId="0"/>
      <p:bldP spid="61" grpId="0"/>
      <p:bldP spid="62" grpId="0"/>
      <p:bldP spid="63" grpId="0"/>
      <p:bldP spid="64" grpId="0"/>
      <p:bldP spid="65" grpId="0"/>
      <p:bldP spid="66" grpId="0"/>
    </p:bldLst>
  </p:timing>
</p:sld>
</file>

<file path=ppt/slides/slide5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Marcador de número de diapositiva 3"/>
          <p:cNvSpPr>
            <a:spLocks noGrp="1"/>
          </p:cNvSpPr>
          <p:nvPr>
            <p:ph type="sldNum" sz="quarter" idx="12"/>
          </p:nvPr>
        </p:nvSpPr>
        <p:spPr/>
        <p:txBody>
          <a:bodyPr/>
          <a:lstStyle/>
          <a:p>
            <a:fld id="{5E3E23BA-6E79-2442-BA73-D218A5E297C3}" type="slidenum">
              <a:rPr lang="en-US" smtClean="0"/>
              <a:t>53</a:t>
            </a:fld>
            <a:endParaRPr lang="en-US"/>
          </a:p>
        </p:txBody>
      </p:sp>
      <p:cxnSp>
        <p:nvCxnSpPr>
          <p:cNvPr id="5" name="Straight Connector 6"/>
          <p:cNvCxnSpPr/>
          <p:nvPr/>
        </p:nvCxnSpPr>
        <p:spPr>
          <a:xfrm>
            <a:off x="2612733" y="4887729"/>
            <a:ext cx="6191592"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 name="Straight Arrow Connector 9"/>
          <p:cNvCxnSpPr/>
          <p:nvPr/>
        </p:nvCxnSpPr>
        <p:spPr>
          <a:xfrm flipV="1">
            <a:off x="3532657" y="4476558"/>
            <a:ext cx="0" cy="424000"/>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8" name="Straight Arrow Connector 11"/>
          <p:cNvCxnSpPr/>
          <p:nvPr/>
        </p:nvCxnSpPr>
        <p:spPr>
          <a:xfrm flipV="1">
            <a:off x="4606086" y="4348282"/>
            <a:ext cx="0" cy="552276"/>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9" name="Straight Arrow Connector 12"/>
          <p:cNvCxnSpPr/>
          <p:nvPr/>
        </p:nvCxnSpPr>
        <p:spPr>
          <a:xfrm flipV="1">
            <a:off x="5665560" y="4232821"/>
            <a:ext cx="0" cy="667737"/>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10" name="Straight Arrow Connector 13"/>
          <p:cNvCxnSpPr/>
          <p:nvPr/>
        </p:nvCxnSpPr>
        <p:spPr>
          <a:xfrm flipV="1">
            <a:off x="6671422" y="4066061"/>
            <a:ext cx="0" cy="834497"/>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11" name="Straight Arrow Connector 14"/>
          <p:cNvCxnSpPr/>
          <p:nvPr/>
        </p:nvCxnSpPr>
        <p:spPr>
          <a:xfrm flipV="1">
            <a:off x="7744851" y="3719713"/>
            <a:ext cx="0" cy="1180844"/>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12" name="Straight Arrow Connector 15"/>
          <p:cNvCxnSpPr/>
          <p:nvPr/>
        </p:nvCxnSpPr>
        <p:spPr>
          <a:xfrm flipV="1">
            <a:off x="8804325" y="3365313"/>
            <a:ext cx="0" cy="1535244"/>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14" name="Rectangle 35"/>
          <p:cNvSpPr>
            <a:spLocks/>
          </p:cNvSpPr>
          <p:nvPr/>
        </p:nvSpPr>
        <p:spPr bwMode="auto">
          <a:xfrm>
            <a:off x="2548612" y="4869780"/>
            <a:ext cx="12824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0</a:t>
            </a:r>
          </a:p>
        </p:txBody>
      </p:sp>
      <p:sp>
        <p:nvSpPr>
          <p:cNvPr id="15" name="Rectangle 36"/>
          <p:cNvSpPr>
            <a:spLocks/>
          </p:cNvSpPr>
          <p:nvPr/>
        </p:nvSpPr>
        <p:spPr bwMode="auto">
          <a:xfrm>
            <a:off x="3361897" y="4844951"/>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a:t>
            </a:r>
          </a:p>
        </p:txBody>
      </p:sp>
      <p:sp>
        <p:nvSpPr>
          <p:cNvPr id="16" name="Rectangle 37"/>
          <p:cNvSpPr>
            <a:spLocks/>
          </p:cNvSpPr>
          <p:nvPr/>
        </p:nvSpPr>
        <p:spPr bwMode="auto">
          <a:xfrm>
            <a:off x="4450385" y="4844951"/>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2</a:t>
            </a:r>
          </a:p>
        </p:txBody>
      </p:sp>
      <p:sp>
        <p:nvSpPr>
          <p:cNvPr id="17" name="Rectangle 38"/>
          <p:cNvSpPr>
            <a:spLocks/>
          </p:cNvSpPr>
          <p:nvPr/>
        </p:nvSpPr>
        <p:spPr bwMode="auto">
          <a:xfrm>
            <a:off x="5509859" y="4858908"/>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3</a:t>
            </a:r>
          </a:p>
        </p:txBody>
      </p:sp>
      <p:sp>
        <p:nvSpPr>
          <p:cNvPr id="18" name="Rectangle 39"/>
          <p:cNvSpPr>
            <a:spLocks/>
          </p:cNvSpPr>
          <p:nvPr/>
        </p:nvSpPr>
        <p:spPr bwMode="auto">
          <a:xfrm>
            <a:off x="6515721" y="4875365"/>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4</a:t>
            </a:r>
          </a:p>
        </p:txBody>
      </p:sp>
      <p:sp>
        <p:nvSpPr>
          <p:cNvPr id="19" name="Rectangle 40"/>
          <p:cNvSpPr>
            <a:spLocks/>
          </p:cNvSpPr>
          <p:nvPr/>
        </p:nvSpPr>
        <p:spPr bwMode="auto">
          <a:xfrm>
            <a:off x="7589150" y="4844951"/>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5</a:t>
            </a:r>
          </a:p>
        </p:txBody>
      </p:sp>
      <p:sp>
        <p:nvSpPr>
          <p:cNvPr id="20" name="Rectangle 41"/>
          <p:cNvSpPr>
            <a:spLocks/>
          </p:cNvSpPr>
          <p:nvPr/>
        </p:nvSpPr>
        <p:spPr bwMode="auto">
          <a:xfrm>
            <a:off x="8648624" y="4844951"/>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6</a:t>
            </a:r>
          </a:p>
        </p:txBody>
      </p:sp>
      <p:sp>
        <p:nvSpPr>
          <p:cNvPr id="61" name="Rectangle 35"/>
          <p:cNvSpPr>
            <a:spLocks/>
          </p:cNvSpPr>
          <p:nvPr/>
        </p:nvSpPr>
        <p:spPr bwMode="auto">
          <a:xfrm>
            <a:off x="3419654" y="4172332"/>
            <a:ext cx="27732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D</a:t>
            </a:r>
            <a:r>
              <a:rPr lang="en-US" sz="2000" baseline="-25000"/>
              <a:t>1</a:t>
            </a:r>
            <a:endParaRPr lang="en-US" sz="2000"/>
          </a:p>
        </p:txBody>
      </p:sp>
      <p:sp>
        <p:nvSpPr>
          <p:cNvPr id="62" name="Rectangle 35"/>
          <p:cNvSpPr>
            <a:spLocks/>
          </p:cNvSpPr>
          <p:nvPr/>
        </p:nvSpPr>
        <p:spPr bwMode="auto">
          <a:xfrm>
            <a:off x="4232364" y="4052862"/>
            <a:ext cx="830357"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D</a:t>
            </a:r>
            <a:r>
              <a:rPr lang="en-US" sz="2000" baseline="-25000"/>
              <a:t>1</a:t>
            </a:r>
            <a:r>
              <a:rPr lang="en-US" sz="2000"/>
              <a:t>(1+g)</a:t>
            </a:r>
          </a:p>
        </p:txBody>
      </p:sp>
      <p:sp>
        <p:nvSpPr>
          <p:cNvPr id="53" name="Rectangle 35"/>
          <p:cNvSpPr>
            <a:spLocks/>
          </p:cNvSpPr>
          <p:nvPr/>
        </p:nvSpPr>
        <p:spPr bwMode="auto">
          <a:xfrm>
            <a:off x="5250382" y="3959041"/>
            <a:ext cx="830357"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D</a:t>
            </a:r>
            <a:r>
              <a:rPr lang="en-US" sz="2000" baseline="-25000"/>
              <a:t>2</a:t>
            </a:r>
            <a:r>
              <a:rPr lang="en-US" sz="2000"/>
              <a:t>(1+g)</a:t>
            </a:r>
          </a:p>
        </p:txBody>
      </p:sp>
      <p:sp>
        <p:nvSpPr>
          <p:cNvPr id="54" name="Rectangle 35"/>
          <p:cNvSpPr>
            <a:spLocks/>
          </p:cNvSpPr>
          <p:nvPr/>
        </p:nvSpPr>
        <p:spPr bwMode="auto">
          <a:xfrm>
            <a:off x="6281902" y="3768157"/>
            <a:ext cx="830357"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D</a:t>
            </a:r>
            <a:r>
              <a:rPr lang="en-US" sz="2000" baseline="-25000"/>
              <a:t>3</a:t>
            </a:r>
            <a:r>
              <a:rPr lang="en-US" sz="2000"/>
              <a:t>(1+g)</a:t>
            </a:r>
          </a:p>
        </p:txBody>
      </p:sp>
      <p:sp>
        <p:nvSpPr>
          <p:cNvPr id="55" name="Rectangle 35"/>
          <p:cNvSpPr>
            <a:spLocks/>
          </p:cNvSpPr>
          <p:nvPr/>
        </p:nvSpPr>
        <p:spPr bwMode="auto">
          <a:xfrm>
            <a:off x="7382742" y="3442715"/>
            <a:ext cx="830357"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D</a:t>
            </a:r>
            <a:r>
              <a:rPr lang="en-US" sz="2000" baseline="-25000"/>
              <a:t>4</a:t>
            </a:r>
            <a:r>
              <a:rPr lang="en-US" sz="2000"/>
              <a:t>(1+g)</a:t>
            </a:r>
          </a:p>
        </p:txBody>
      </p:sp>
      <p:sp>
        <p:nvSpPr>
          <p:cNvPr id="56" name="Rectangle 35"/>
          <p:cNvSpPr>
            <a:spLocks/>
          </p:cNvSpPr>
          <p:nvPr/>
        </p:nvSpPr>
        <p:spPr bwMode="auto">
          <a:xfrm>
            <a:off x="8389147" y="3081042"/>
            <a:ext cx="830357"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D</a:t>
            </a:r>
            <a:r>
              <a:rPr lang="en-US" sz="2000" baseline="-25000"/>
              <a:t>5</a:t>
            </a:r>
            <a:r>
              <a:rPr lang="en-US" sz="2000"/>
              <a:t>(1+g)</a:t>
            </a:r>
          </a:p>
        </p:txBody>
      </p:sp>
      <p:sp>
        <p:nvSpPr>
          <p:cNvPr id="6" name="Abrir llave 5"/>
          <p:cNvSpPr/>
          <p:nvPr/>
        </p:nvSpPr>
        <p:spPr>
          <a:xfrm rot="5400000">
            <a:off x="4562735" y="3670895"/>
            <a:ext cx="163676" cy="688905"/>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s-ES" sz="2000"/>
          </a:p>
        </p:txBody>
      </p:sp>
      <p:sp>
        <p:nvSpPr>
          <p:cNvPr id="58" name="Rectangle 35"/>
          <p:cNvSpPr>
            <a:spLocks/>
          </p:cNvSpPr>
          <p:nvPr/>
        </p:nvSpPr>
        <p:spPr bwMode="auto">
          <a:xfrm>
            <a:off x="4517267" y="3648680"/>
            <a:ext cx="27732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D</a:t>
            </a:r>
            <a:r>
              <a:rPr lang="en-US" sz="2000" baseline="-25000"/>
              <a:t>2</a:t>
            </a:r>
            <a:endParaRPr lang="en-US" sz="2000"/>
          </a:p>
        </p:txBody>
      </p:sp>
      <p:sp>
        <p:nvSpPr>
          <p:cNvPr id="59" name="Abrir llave 58"/>
          <p:cNvSpPr/>
          <p:nvPr/>
        </p:nvSpPr>
        <p:spPr>
          <a:xfrm rot="5400000">
            <a:off x="5563740" y="3576229"/>
            <a:ext cx="163676" cy="688905"/>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s-ES" sz="2000"/>
          </a:p>
        </p:txBody>
      </p:sp>
      <p:sp>
        <p:nvSpPr>
          <p:cNvPr id="68" name="Rectangle 35"/>
          <p:cNvSpPr>
            <a:spLocks/>
          </p:cNvSpPr>
          <p:nvPr/>
        </p:nvSpPr>
        <p:spPr bwMode="auto">
          <a:xfrm>
            <a:off x="5518272" y="3554014"/>
            <a:ext cx="27732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D</a:t>
            </a:r>
            <a:r>
              <a:rPr lang="en-US" sz="2000" baseline="-25000"/>
              <a:t>3</a:t>
            </a:r>
            <a:endParaRPr lang="en-US" sz="2000"/>
          </a:p>
        </p:txBody>
      </p:sp>
      <p:sp>
        <p:nvSpPr>
          <p:cNvPr id="69" name="Abrir llave 68"/>
          <p:cNvSpPr/>
          <p:nvPr/>
        </p:nvSpPr>
        <p:spPr>
          <a:xfrm rot="5400000">
            <a:off x="6628743" y="3403171"/>
            <a:ext cx="163676" cy="688905"/>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s-ES" sz="2000"/>
          </a:p>
        </p:txBody>
      </p:sp>
      <p:sp>
        <p:nvSpPr>
          <p:cNvPr id="70" name="Rectangle 35"/>
          <p:cNvSpPr>
            <a:spLocks/>
          </p:cNvSpPr>
          <p:nvPr/>
        </p:nvSpPr>
        <p:spPr bwMode="auto">
          <a:xfrm>
            <a:off x="6583275" y="3380956"/>
            <a:ext cx="27732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D</a:t>
            </a:r>
            <a:r>
              <a:rPr lang="en-US" sz="2000" baseline="-25000"/>
              <a:t>4</a:t>
            </a:r>
            <a:endParaRPr lang="en-US" sz="2000"/>
          </a:p>
        </p:txBody>
      </p:sp>
      <p:sp>
        <p:nvSpPr>
          <p:cNvPr id="71" name="Abrir llave 70"/>
          <p:cNvSpPr/>
          <p:nvPr/>
        </p:nvSpPr>
        <p:spPr>
          <a:xfrm rot="5400000">
            <a:off x="7702797" y="3072859"/>
            <a:ext cx="163676" cy="688905"/>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s-ES" sz="2000"/>
          </a:p>
        </p:txBody>
      </p:sp>
      <p:sp>
        <p:nvSpPr>
          <p:cNvPr id="72" name="Rectangle 35"/>
          <p:cNvSpPr>
            <a:spLocks/>
          </p:cNvSpPr>
          <p:nvPr/>
        </p:nvSpPr>
        <p:spPr bwMode="auto">
          <a:xfrm>
            <a:off x="7657329" y="3050644"/>
            <a:ext cx="27732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D</a:t>
            </a:r>
            <a:r>
              <a:rPr lang="en-US" sz="2000" baseline="-25000"/>
              <a:t>5</a:t>
            </a:r>
            <a:endParaRPr lang="en-US" sz="2000"/>
          </a:p>
        </p:txBody>
      </p:sp>
      <p:sp>
        <p:nvSpPr>
          <p:cNvPr id="73" name="Abrir llave 72"/>
          <p:cNvSpPr/>
          <p:nvPr/>
        </p:nvSpPr>
        <p:spPr>
          <a:xfrm rot="5400000">
            <a:off x="8710331" y="2728884"/>
            <a:ext cx="163676" cy="688905"/>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s-ES" sz="2000"/>
          </a:p>
        </p:txBody>
      </p:sp>
      <p:sp>
        <p:nvSpPr>
          <p:cNvPr id="74" name="Rectangle 35"/>
          <p:cNvSpPr>
            <a:spLocks/>
          </p:cNvSpPr>
          <p:nvPr/>
        </p:nvSpPr>
        <p:spPr bwMode="auto">
          <a:xfrm>
            <a:off x="8664863" y="2706669"/>
            <a:ext cx="27732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D</a:t>
            </a:r>
            <a:r>
              <a:rPr lang="en-US" sz="2000" baseline="-25000"/>
              <a:t>6</a:t>
            </a:r>
            <a:endParaRPr lang="en-US" sz="2000"/>
          </a:p>
        </p:txBody>
      </p:sp>
      <p:sp>
        <p:nvSpPr>
          <p:cNvPr id="22" name="Title 1">
            <a:extLst>
              <a:ext uri="{FF2B5EF4-FFF2-40B4-BE49-F238E27FC236}">
                <a16:creationId xmlns:a16="http://schemas.microsoft.com/office/drawing/2014/main" id="{10AAE8EA-C9CB-E5B6-6A60-23CA64144691}"/>
              </a:ext>
            </a:extLst>
          </p:cNvPr>
          <p:cNvSpPr>
            <a:spLocks noGrp="1"/>
          </p:cNvSpPr>
          <p:nvPr>
            <p:ph type="title"/>
          </p:nvPr>
        </p:nvSpPr>
        <p:spPr>
          <a:xfrm>
            <a:off x="581192" y="702156"/>
            <a:ext cx="11029616" cy="1013800"/>
          </a:xfrm>
        </p:spPr>
        <p:txBody>
          <a:bodyPr/>
          <a:lstStyle/>
          <a:p>
            <a:r>
              <a:rPr lang="es-ES_tradnl">
                <a:latin typeface="Century Gothic" panose="020B0502020202020204" pitchFamily="34" charset="0"/>
              </a:rPr>
              <a:t>Gradientes geométricos</a:t>
            </a:r>
          </a:p>
        </p:txBody>
      </p:sp>
      <p:sp>
        <p:nvSpPr>
          <p:cNvPr id="23" name="Rectángulo 22">
            <a:extLst>
              <a:ext uri="{FF2B5EF4-FFF2-40B4-BE49-F238E27FC236}">
                <a16:creationId xmlns:a16="http://schemas.microsoft.com/office/drawing/2014/main" id="{494EB39C-AE27-9289-D27C-4F72ABBA6C9B}"/>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24" name="Picture 2" descr="Clientes y aliados | Centro de Evaluación | Uniandes">
            <a:extLst>
              <a:ext uri="{FF2B5EF4-FFF2-40B4-BE49-F238E27FC236}">
                <a16:creationId xmlns:a16="http://schemas.microsoft.com/office/drawing/2014/main" id="{B74B4CA2-3E1C-F695-865E-00BA85875A5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25" name="Rectángulo 24">
            <a:extLst>
              <a:ext uri="{FF2B5EF4-FFF2-40B4-BE49-F238E27FC236}">
                <a16:creationId xmlns:a16="http://schemas.microsoft.com/office/drawing/2014/main" id="{E6F37FC2-5FD1-9335-3985-6D522866C7F3}"/>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21" name="Marcador de contenido 2">
            <a:extLst>
              <a:ext uri="{FF2B5EF4-FFF2-40B4-BE49-F238E27FC236}">
                <a16:creationId xmlns:a16="http://schemas.microsoft.com/office/drawing/2014/main" id="{AE19B2EC-5C4E-A205-B36F-4240217B3B6C}"/>
              </a:ext>
            </a:extLst>
          </p:cNvPr>
          <p:cNvSpPr txBox="1">
            <a:spLocks/>
          </p:cNvSpPr>
          <p:nvPr/>
        </p:nvSpPr>
        <p:spPr>
          <a:xfrm>
            <a:off x="581192" y="1996123"/>
            <a:ext cx="7610476" cy="673614"/>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Font typeface="Wingdings 2" panose="05020102010507070707" pitchFamily="18" charset="2"/>
              <a:buNone/>
            </a:pPr>
            <a:r>
              <a:rPr lang="es-ES" sz="2400"/>
              <a:t>Veámoslo gráficamente </a:t>
            </a:r>
          </a:p>
        </p:txBody>
      </p:sp>
    </p:spTree>
    <p:extLst>
      <p:ext uri="{BB962C8B-B14F-4D97-AF65-F5344CB8AC3E}">
        <p14:creationId xmlns:p14="http://schemas.microsoft.com/office/powerpoint/2010/main" val="15640409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8"/>
                                        </p:tgtEl>
                                        <p:attrNameLst>
                                          <p:attrName>style.visibility</p:attrName>
                                        </p:attrNameLst>
                                      </p:cBhvr>
                                      <p:to>
                                        <p:strVal val="visible"/>
                                      </p:to>
                                    </p:set>
                                    <p:animEffect transition="in" filter="fade">
                                      <p:cBhvr>
                                        <p:cTn id="10" dur="500"/>
                                        <p:tgtEl>
                                          <p:spTgt spid="5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9"/>
                                        </p:tgtEl>
                                        <p:attrNameLst>
                                          <p:attrName>style.visibility</p:attrName>
                                        </p:attrNameLst>
                                      </p:cBhvr>
                                      <p:to>
                                        <p:strVal val="visible"/>
                                      </p:to>
                                    </p:set>
                                    <p:animEffect transition="in" filter="fade">
                                      <p:cBhvr>
                                        <p:cTn id="13" dur="500"/>
                                        <p:tgtEl>
                                          <p:spTgt spid="59"/>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68"/>
                                        </p:tgtEl>
                                        <p:attrNameLst>
                                          <p:attrName>style.visibility</p:attrName>
                                        </p:attrNameLst>
                                      </p:cBhvr>
                                      <p:to>
                                        <p:strVal val="visible"/>
                                      </p:to>
                                    </p:set>
                                    <p:animEffect transition="in" filter="fade">
                                      <p:cBhvr>
                                        <p:cTn id="16" dur="500"/>
                                        <p:tgtEl>
                                          <p:spTgt spid="6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69"/>
                                        </p:tgtEl>
                                        <p:attrNameLst>
                                          <p:attrName>style.visibility</p:attrName>
                                        </p:attrNameLst>
                                      </p:cBhvr>
                                      <p:to>
                                        <p:strVal val="visible"/>
                                      </p:to>
                                    </p:set>
                                    <p:animEffect transition="in" filter="fade">
                                      <p:cBhvr>
                                        <p:cTn id="19" dur="500"/>
                                        <p:tgtEl>
                                          <p:spTgt spid="69"/>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70"/>
                                        </p:tgtEl>
                                        <p:attrNameLst>
                                          <p:attrName>style.visibility</p:attrName>
                                        </p:attrNameLst>
                                      </p:cBhvr>
                                      <p:to>
                                        <p:strVal val="visible"/>
                                      </p:to>
                                    </p:set>
                                    <p:animEffect transition="in" filter="fade">
                                      <p:cBhvr>
                                        <p:cTn id="22" dur="500"/>
                                        <p:tgtEl>
                                          <p:spTgt spid="70"/>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71"/>
                                        </p:tgtEl>
                                        <p:attrNameLst>
                                          <p:attrName>style.visibility</p:attrName>
                                        </p:attrNameLst>
                                      </p:cBhvr>
                                      <p:to>
                                        <p:strVal val="visible"/>
                                      </p:to>
                                    </p:set>
                                    <p:animEffect transition="in" filter="fade">
                                      <p:cBhvr>
                                        <p:cTn id="25" dur="500"/>
                                        <p:tgtEl>
                                          <p:spTgt spid="71"/>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72"/>
                                        </p:tgtEl>
                                        <p:attrNameLst>
                                          <p:attrName>style.visibility</p:attrName>
                                        </p:attrNameLst>
                                      </p:cBhvr>
                                      <p:to>
                                        <p:strVal val="visible"/>
                                      </p:to>
                                    </p:set>
                                    <p:animEffect transition="in" filter="fade">
                                      <p:cBhvr>
                                        <p:cTn id="28" dur="500"/>
                                        <p:tgtEl>
                                          <p:spTgt spid="72"/>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73"/>
                                        </p:tgtEl>
                                        <p:attrNameLst>
                                          <p:attrName>style.visibility</p:attrName>
                                        </p:attrNameLst>
                                      </p:cBhvr>
                                      <p:to>
                                        <p:strVal val="visible"/>
                                      </p:to>
                                    </p:set>
                                    <p:animEffect transition="in" filter="fade">
                                      <p:cBhvr>
                                        <p:cTn id="31" dur="500"/>
                                        <p:tgtEl>
                                          <p:spTgt spid="73"/>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74"/>
                                        </p:tgtEl>
                                        <p:attrNameLst>
                                          <p:attrName>style.visibility</p:attrName>
                                        </p:attrNameLst>
                                      </p:cBhvr>
                                      <p:to>
                                        <p:strVal val="visible"/>
                                      </p:to>
                                    </p:set>
                                    <p:animEffect transition="in" filter="fade">
                                      <p:cBhvr>
                                        <p:cTn id="34" dur="500"/>
                                        <p:tgtEl>
                                          <p:spTgt spid="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58" grpId="0"/>
      <p:bldP spid="59" grpId="0" animBg="1"/>
      <p:bldP spid="68" grpId="0"/>
      <p:bldP spid="69" grpId="0" animBg="1"/>
      <p:bldP spid="70" grpId="0"/>
      <p:bldP spid="71" grpId="0" animBg="1"/>
      <p:bldP spid="72" grpId="0"/>
      <p:bldP spid="73" grpId="0" animBg="1"/>
      <p:bldP spid="74"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p:cNvSpPr>
            <a:spLocks noGrp="1"/>
          </p:cNvSpPr>
          <p:nvPr>
            <p:ph type="sldNum" sz="quarter" idx="12"/>
          </p:nvPr>
        </p:nvSpPr>
        <p:spPr/>
        <p:txBody>
          <a:bodyPr/>
          <a:lstStyle/>
          <a:p>
            <a:fld id="{5E3E23BA-6E79-2442-BA73-D218A5E297C3}" type="slidenum">
              <a:rPr lang="en-US" smtClean="0"/>
              <a:t>54</a:t>
            </a:fld>
            <a:endParaRPr lang="en-US"/>
          </a:p>
        </p:txBody>
      </p:sp>
      <p:cxnSp>
        <p:nvCxnSpPr>
          <p:cNvPr id="5" name="Straight Connector 6"/>
          <p:cNvCxnSpPr/>
          <p:nvPr/>
        </p:nvCxnSpPr>
        <p:spPr>
          <a:xfrm>
            <a:off x="2580076" y="4907824"/>
            <a:ext cx="6191592"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 name="Straight Arrow Connector 9"/>
          <p:cNvCxnSpPr/>
          <p:nvPr/>
        </p:nvCxnSpPr>
        <p:spPr>
          <a:xfrm flipV="1">
            <a:off x="3500000" y="4496653"/>
            <a:ext cx="0" cy="424000"/>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8" name="Straight Arrow Connector 11"/>
          <p:cNvCxnSpPr/>
          <p:nvPr/>
        </p:nvCxnSpPr>
        <p:spPr>
          <a:xfrm flipV="1">
            <a:off x="4573429" y="4368377"/>
            <a:ext cx="0" cy="552276"/>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9" name="Straight Arrow Connector 12"/>
          <p:cNvCxnSpPr/>
          <p:nvPr/>
        </p:nvCxnSpPr>
        <p:spPr>
          <a:xfrm flipV="1">
            <a:off x="5632903" y="4252916"/>
            <a:ext cx="0" cy="667737"/>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10" name="Straight Arrow Connector 13"/>
          <p:cNvCxnSpPr/>
          <p:nvPr/>
        </p:nvCxnSpPr>
        <p:spPr>
          <a:xfrm flipV="1">
            <a:off x="6638765" y="4086156"/>
            <a:ext cx="0" cy="834497"/>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11" name="Straight Arrow Connector 14"/>
          <p:cNvCxnSpPr/>
          <p:nvPr/>
        </p:nvCxnSpPr>
        <p:spPr>
          <a:xfrm flipV="1">
            <a:off x="7712194" y="3739808"/>
            <a:ext cx="0" cy="1180844"/>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12" name="Straight Arrow Connector 15"/>
          <p:cNvCxnSpPr/>
          <p:nvPr/>
        </p:nvCxnSpPr>
        <p:spPr>
          <a:xfrm flipV="1">
            <a:off x="8771668" y="3385408"/>
            <a:ext cx="0" cy="1535244"/>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14" name="Rectangle 35"/>
          <p:cNvSpPr>
            <a:spLocks/>
          </p:cNvSpPr>
          <p:nvPr/>
        </p:nvSpPr>
        <p:spPr bwMode="auto">
          <a:xfrm>
            <a:off x="2515955" y="4889875"/>
            <a:ext cx="12824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0</a:t>
            </a:r>
          </a:p>
        </p:txBody>
      </p:sp>
      <p:sp>
        <p:nvSpPr>
          <p:cNvPr id="15" name="Rectangle 36"/>
          <p:cNvSpPr>
            <a:spLocks/>
          </p:cNvSpPr>
          <p:nvPr/>
        </p:nvSpPr>
        <p:spPr bwMode="auto">
          <a:xfrm>
            <a:off x="3329240" y="4865046"/>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a:t>
            </a:r>
          </a:p>
        </p:txBody>
      </p:sp>
      <p:sp>
        <p:nvSpPr>
          <p:cNvPr id="16" name="Rectangle 37"/>
          <p:cNvSpPr>
            <a:spLocks/>
          </p:cNvSpPr>
          <p:nvPr/>
        </p:nvSpPr>
        <p:spPr bwMode="auto">
          <a:xfrm>
            <a:off x="4417728" y="4865046"/>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2</a:t>
            </a:r>
          </a:p>
        </p:txBody>
      </p:sp>
      <p:sp>
        <p:nvSpPr>
          <p:cNvPr id="17" name="Rectangle 38"/>
          <p:cNvSpPr>
            <a:spLocks/>
          </p:cNvSpPr>
          <p:nvPr/>
        </p:nvSpPr>
        <p:spPr bwMode="auto">
          <a:xfrm>
            <a:off x="5477202" y="4879003"/>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3</a:t>
            </a:r>
          </a:p>
        </p:txBody>
      </p:sp>
      <p:sp>
        <p:nvSpPr>
          <p:cNvPr id="18" name="Rectangle 39"/>
          <p:cNvSpPr>
            <a:spLocks/>
          </p:cNvSpPr>
          <p:nvPr/>
        </p:nvSpPr>
        <p:spPr bwMode="auto">
          <a:xfrm>
            <a:off x="6483064" y="4895460"/>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4</a:t>
            </a:r>
          </a:p>
        </p:txBody>
      </p:sp>
      <p:sp>
        <p:nvSpPr>
          <p:cNvPr id="19" name="Rectangle 40"/>
          <p:cNvSpPr>
            <a:spLocks/>
          </p:cNvSpPr>
          <p:nvPr/>
        </p:nvSpPr>
        <p:spPr bwMode="auto">
          <a:xfrm>
            <a:off x="7556493" y="4865046"/>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5</a:t>
            </a:r>
          </a:p>
        </p:txBody>
      </p:sp>
      <p:sp>
        <p:nvSpPr>
          <p:cNvPr id="20" name="Rectangle 41"/>
          <p:cNvSpPr>
            <a:spLocks/>
          </p:cNvSpPr>
          <p:nvPr/>
        </p:nvSpPr>
        <p:spPr bwMode="auto">
          <a:xfrm>
            <a:off x="8615967" y="4865046"/>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6</a:t>
            </a:r>
          </a:p>
        </p:txBody>
      </p:sp>
      <p:sp>
        <p:nvSpPr>
          <p:cNvPr id="61" name="Rectangle 35"/>
          <p:cNvSpPr>
            <a:spLocks/>
          </p:cNvSpPr>
          <p:nvPr/>
        </p:nvSpPr>
        <p:spPr bwMode="auto">
          <a:xfrm>
            <a:off x="3386997" y="4192427"/>
            <a:ext cx="27732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D</a:t>
            </a:r>
            <a:r>
              <a:rPr lang="en-US" sz="2000" baseline="-25000"/>
              <a:t>1</a:t>
            </a:r>
            <a:endParaRPr lang="en-US" sz="2000"/>
          </a:p>
        </p:txBody>
      </p:sp>
      <p:sp>
        <p:nvSpPr>
          <p:cNvPr id="62" name="Rectangle 35"/>
          <p:cNvSpPr>
            <a:spLocks/>
          </p:cNvSpPr>
          <p:nvPr/>
        </p:nvSpPr>
        <p:spPr bwMode="auto">
          <a:xfrm>
            <a:off x="4199707" y="4072957"/>
            <a:ext cx="830357"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D</a:t>
            </a:r>
            <a:r>
              <a:rPr lang="en-US" sz="2000" baseline="-25000"/>
              <a:t>1</a:t>
            </a:r>
            <a:r>
              <a:rPr lang="en-US" sz="2000"/>
              <a:t>(1+g)</a:t>
            </a:r>
          </a:p>
        </p:txBody>
      </p:sp>
      <p:sp>
        <p:nvSpPr>
          <p:cNvPr id="53" name="Rectangle 35"/>
          <p:cNvSpPr>
            <a:spLocks/>
          </p:cNvSpPr>
          <p:nvPr/>
        </p:nvSpPr>
        <p:spPr bwMode="auto">
          <a:xfrm>
            <a:off x="5175246" y="3979136"/>
            <a:ext cx="915315"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D</a:t>
            </a:r>
            <a:r>
              <a:rPr lang="en-US" sz="2000" baseline="-25000"/>
              <a:t>1</a:t>
            </a:r>
            <a:r>
              <a:rPr lang="en-US" sz="2000"/>
              <a:t>(1+g)</a:t>
            </a:r>
            <a:r>
              <a:rPr lang="en-US" sz="2000" baseline="30000"/>
              <a:t>2</a:t>
            </a:r>
            <a:endParaRPr lang="en-US" sz="2000"/>
          </a:p>
        </p:txBody>
      </p:sp>
      <p:sp>
        <p:nvSpPr>
          <p:cNvPr id="57" name="Rectangle 35"/>
          <p:cNvSpPr>
            <a:spLocks/>
          </p:cNvSpPr>
          <p:nvPr/>
        </p:nvSpPr>
        <p:spPr bwMode="auto">
          <a:xfrm>
            <a:off x="6171500" y="3783501"/>
            <a:ext cx="985847"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D</a:t>
            </a:r>
            <a:r>
              <a:rPr lang="en-US" sz="2000" baseline="-25000"/>
              <a:t>1</a:t>
            </a:r>
            <a:r>
              <a:rPr lang="en-US" sz="2000"/>
              <a:t>(1+g )</a:t>
            </a:r>
            <a:r>
              <a:rPr lang="en-US" sz="2000" baseline="30000"/>
              <a:t>3</a:t>
            </a:r>
            <a:endParaRPr lang="en-US" sz="2000"/>
          </a:p>
        </p:txBody>
      </p:sp>
      <p:sp>
        <p:nvSpPr>
          <p:cNvPr id="58" name="Rectangle 35"/>
          <p:cNvSpPr>
            <a:spLocks/>
          </p:cNvSpPr>
          <p:nvPr/>
        </p:nvSpPr>
        <p:spPr bwMode="auto">
          <a:xfrm>
            <a:off x="7254537" y="3462810"/>
            <a:ext cx="915315"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D</a:t>
            </a:r>
            <a:r>
              <a:rPr lang="en-US" sz="2000" baseline="-25000"/>
              <a:t>1</a:t>
            </a:r>
            <a:r>
              <a:rPr lang="en-US" sz="2000"/>
              <a:t>(1+g)</a:t>
            </a:r>
            <a:r>
              <a:rPr lang="en-US" sz="2000" baseline="30000"/>
              <a:t>4</a:t>
            </a:r>
            <a:endParaRPr lang="en-US" sz="2000"/>
          </a:p>
        </p:txBody>
      </p:sp>
      <p:sp>
        <p:nvSpPr>
          <p:cNvPr id="59" name="Rectangle 35"/>
          <p:cNvSpPr>
            <a:spLocks/>
          </p:cNvSpPr>
          <p:nvPr/>
        </p:nvSpPr>
        <p:spPr bwMode="auto">
          <a:xfrm>
            <a:off x="8354251" y="3095582"/>
            <a:ext cx="915315"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D</a:t>
            </a:r>
            <a:r>
              <a:rPr lang="en-US" sz="2000" baseline="-25000"/>
              <a:t>1</a:t>
            </a:r>
            <a:r>
              <a:rPr lang="en-US" sz="2000"/>
              <a:t>(1+g)</a:t>
            </a:r>
            <a:r>
              <a:rPr lang="en-US" sz="2000" baseline="30000"/>
              <a:t>5</a:t>
            </a:r>
            <a:endParaRPr lang="en-US" sz="2000"/>
          </a:p>
        </p:txBody>
      </p:sp>
      <p:sp>
        <p:nvSpPr>
          <p:cNvPr id="21" name="Title 1">
            <a:extLst>
              <a:ext uri="{FF2B5EF4-FFF2-40B4-BE49-F238E27FC236}">
                <a16:creationId xmlns:a16="http://schemas.microsoft.com/office/drawing/2014/main" id="{9DC3B21E-DBB7-CC15-88BA-8EEA51A29CC5}"/>
              </a:ext>
            </a:extLst>
          </p:cNvPr>
          <p:cNvSpPr>
            <a:spLocks noGrp="1"/>
          </p:cNvSpPr>
          <p:nvPr>
            <p:ph type="title"/>
          </p:nvPr>
        </p:nvSpPr>
        <p:spPr>
          <a:xfrm>
            <a:off x="581192" y="702156"/>
            <a:ext cx="11029616" cy="1013800"/>
          </a:xfrm>
        </p:spPr>
        <p:txBody>
          <a:bodyPr/>
          <a:lstStyle/>
          <a:p>
            <a:r>
              <a:rPr lang="es-ES_tradnl">
                <a:latin typeface="Century Gothic" panose="020B0502020202020204" pitchFamily="34" charset="0"/>
              </a:rPr>
              <a:t>Gradientes geométricos</a:t>
            </a:r>
          </a:p>
        </p:txBody>
      </p:sp>
      <p:sp>
        <p:nvSpPr>
          <p:cNvPr id="22" name="Rectángulo 21">
            <a:extLst>
              <a:ext uri="{FF2B5EF4-FFF2-40B4-BE49-F238E27FC236}">
                <a16:creationId xmlns:a16="http://schemas.microsoft.com/office/drawing/2014/main" id="{7BAD4DD2-886B-B9ED-F360-2B706A995085}"/>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23" name="Picture 2" descr="Clientes y aliados | Centro de Evaluación | Uniandes">
            <a:extLst>
              <a:ext uri="{FF2B5EF4-FFF2-40B4-BE49-F238E27FC236}">
                <a16:creationId xmlns:a16="http://schemas.microsoft.com/office/drawing/2014/main" id="{61DD832F-D096-2206-2747-6EDD96448D3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24" name="Rectángulo 23">
            <a:extLst>
              <a:ext uri="{FF2B5EF4-FFF2-40B4-BE49-F238E27FC236}">
                <a16:creationId xmlns:a16="http://schemas.microsoft.com/office/drawing/2014/main" id="{C5D917B7-B1B0-288A-77DD-9E39111CDC42}"/>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13" name="Marcador de contenido 2">
            <a:extLst>
              <a:ext uri="{FF2B5EF4-FFF2-40B4-BE49-F238E27FC236}">
                <a16:creationId xmlns:a16="http://schemas.microsoft.com/office/drawing/2014/main" id="{6D1BD06E-613C-B211-CADE-99C09EB5D8D7}"/>
              </a:ext>
            </a:extLst>
          </p:cNvPr>
          <p:cNvSpPr txBox="1">
            <a:spLocks/>
          </p:cNvSpPr>
          <p:nvPr/>
        </p:nvSpPr>
        <p:spPr>
          <a:xfrm>
            <a:off x="581192" y="1996123"/>
            <a:ext cx="7610476" cy="673614"/>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Font typeface="Wingdings 2" panose="05020102010507070707" pitchFamily="18" charset="2"/>
              <a:buNone/>
            </a:pPr>
            <a:r>
              <a:rPr lang="es-ES" sz="2400"/>
              <a:t>Veámoslo gráficamente </a:t>
            </a:r>
          </a:p>
        </p:txBody>
      </p:sp>
    </p:spTree>
    <p:extLst>
      <p:ext uri="{BB962C8B-B14F-4D97-AF65-F5344CB8AC3E}">
        <p14:creationId xmlns:p14="http://schemas.microsoft.com/office/powerpoint/2010/main" val="21468382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581192" y="2168972"/>
            <a:ext cx="11029615" cy="3334149"/>
          </a:xfrm>
        </p:spPr>
        <p:txBody>
          <a:bodyPr>
            <a:normAutofit/>
          </a:bodyPr>
          <a:lstStyle/>
          <a:p>
            <a:pPr algn="just">
              <a:buFont typeface="Wingdings" panose="05000000000000000000" pitchFamily="2" charset="2"/>
              <a:buChar char="ü"/>
            </a:pPr>
            <a:r>
              <a:rPr lang="es-ES" sz="2400"/>
              <a:t>El anterior crecimiento de los flujos (1+g) se conoce como </a:t>
            </a:r>
            <a:r>
              <a:rPr lang="es-ES" sz="2400" b="1"/>
              <a:t>crecimiento geométrico. </a:t>
            </a:r>
          </a:p>
          <a:p>
            <a:pPr algn="just">
              <a:buFont typeface="Wingdings" panose="05000000000000000000" pitchFamily="2" charset="2"/>
              <a:buChar char="ü"/>
            </a:pPr>
            <a:r>
              <a:rPr lang="es-ES" sz="2400"/>
              <a:t>Esta es una de las relaciones de equivalencia de mayor uso en el campo de las finanzas, pues tiene su aplicación en el campo de la valoración de activos.</a:t>
            </a:r>
          </a:p>
          <a:p>
            <a:pPr algn="just">
              <a:buFont typeface="Wingdings" panose="05000000000000000000" pitchFamily="2" charset="2"/>
              <a:buChar char="ü"/>
            </a:pPr>
            <a:r>
              <a:rPr lang="es-ES" sz="2400"/>
              <a:t>Es posible encontrar una equivalencia para series finitas e infinitas</a:t>
            </a:r>
          </a:p>
          <a:p>
            <a:pPr algn="just">
              <a:buFont typeface="Wingdings" panose="05000000000000000000" pitchFamily="2" charset="2"/>
              <a:buChar char="ü"/>
            </a:pPr>
            <a:r>
              <a:rPr lang="es-ES" sz="2400"/>
              <a:t>El caso de series infinitas, es conocido en el dominio financiero como el </a:t>
            </a:r>
            <a:r>
              <a:rPr lang="es-ES" sz="2400" b="1"/>
              <a:t>“Modelo de Gordon-Shapiro”.</a:t>
            </a:r>
          </a:p>
        </p:txBody>
      </p:sp>
      <p:sp>
        <p:nvSpPr>
          <p:cNvPr id="4" name="Marcador de número de diapositiva 3"/>
          <p:cNvSpPr>
            <a:spLocks noGrp="1"/>
          </p:cNvSpPr>
          <p:nvPr>
            <p:ph type="sldNum" sz="quarter" idx="12"/>
          </p:nvPr>
        </p:nvSpPr>
        <p:spPr/>
        <p:txBody>
          <a:bodyPr/>
          <a:lstStyle/>
          <a:p>
            <a:fld id="{5E3E23BA-6E79-2442-BA73-D218A5E297C3}" type="slidenum">
              <a:rPr lang="en-US" smtClean="0"/>
              <a:t>55</a:t>
            </a:fld>
            <a:endParaRPr lang="en-US"/>
          </a:p>
        </p:txBody>
      </p:sp>
      <p:sp>
        <p:nvSpPr>
          <p:cNvPr id="8" name="Title 1">
            <a:extLst>
              <a:ext uri="{FF2B5EF4-FFF2-40B4-BE49-F238E27FC236}">
                <a16:creationId xmlns:a16="http://schemas.microsoft.com/office/drawing/2014/main" id="{D8AAE85E-3F8F-67F5-60AB-C5427E6F3E6A}"/>
              </a:ext>
            </a:extLst>
          </p:cNvPr>
          <p:cNvSpPr>
            <a:spLocks noGrp="1"/>
          </p:cNvSpPr>
          <p:nvPr>
            <p:ph type="title"/>
          </p:nvPr>
        </p:nvSpPr>
        <p:spPr>
          <a:xfrm>
            <a:off x="581192" y="702156"/>
            <a:ext cx="11029616" cy="1013800"/>
          </a:xfrm>
        </p:spPr>
        <p:txBody>
          <a:bodyPr/>
          <a:lstStyle/>
          <a:p>
            <a:r>
              <a:rPr lang="es-ES_tradnl">
                <a:latin typeface="Century Gothic" panose="020B0502020202020204" pitchFamily="34" charset="0"/>
              </a:rPr>
              <a:t>Gradientes geométricos</a:t>
            </a:r>
          </a:p>
        </p:txBody>
      </p:sp>
      <p:sp>
        <p:nvSpPr>
          <p:cNvPr id="9" name="Rectángulo 8">
            <a:extLst>
              <a:ext uri="{FF2B5EF4-FFF2-40B4-BE49-F238E27FC236}">
                <a16:creationId xmlns:a16="http://schemas.microsoft.com/office/drawing/2014/main" id="{A7719A52-5763-89BB-90FE-F2A54351ADA9}"/>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0" name="Picture 2" descr="Clientes y aliados | Centro de Evaluación | Uniandes">
            <a:extLst>
              <a:ext uri="{FF2B5EF4-FFF2-40B4-BE49-F238E27FC236}">
                <a16:creationId xmlns:a16="http://schemas.microsoft.com/office/drawing/2014/main" id="{2FBD4F39-955A-FEBE-6D0E-4F8A8A61384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1" name="Rectángulo 10">
            <a:extLst>
              <a:ext uri="{FF2B5EF4-FFF2-40B4-BE49-F238E27FC236}">
                <a16:creationId xmlns:a16="http://schemas.microsoft.com/office/drawing/2014/main" id="{0E268576-6336-6F85-EED6-87D5C2653DAE}"/>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39266615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581192" y="2019546"/>
            <a:ext cx="11029616" cy="556453"/>
          </a:xfrm>
        </p:spPr>
        <p:txBody>
          <a:bodyPr>
            <a:noAutofit/>
          </a:bodyPr>
          <a:lstStyle/>
          <a:p>
            <a:pPr marL="0" indent="0">
              <a:buNone/>
            </a:pPr>
            <a:r>
              <a:rPr lang="es-ES" sz="2400"/>
              <a:t>En general se tiene:</a:t>
            </a:r>
          </a:p>
        </p:txBody>
      </p:sp>
      <p:sp>
        <p:nvSpPr>
          <p:cNvPr id="4" name="Marcador de número de diapositiva 3"/>
          <p:cNvSpPr>
            <a:spLocks noGrp="1"/>
          </p:cNvSpPr>
          <p:nvPr>
            <p:ph type="sldNum" sz="quarter" idx="12"/>
          </p:nvPr>
        </p:nvSpPr>
        <p:spPr/>
        <p:txBody>
          <a:bodyPr/>
          <a:lstStyle/>
          <a:p>
            <a:fld id="{5E3E23BA-6E79-2442-BA73-D218A5E297C3}" type="slidenum">
              <a:rPr lang="en-US" smtClean="0"/>
              <a:t>56</a:t>
            </a:fld>
            <a:endParaRPr lang="en-US"/>
          </a:p>
        </p:txBody>
      </p:sp>
      <p:cxnSp>
        <p:nvCxnSpPr>
          <p:cNvPr id="53" name="Straight Connector 6"/>
          <p:cNvCxnSpPr/>
          <p:nvPr/>
        </p:nvCxnSpPr>
        <p:spPr>
          <a:xfrm>
            <a:off x="2917968" y="3793704"/>
            <a:ext cx="6191592"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4" name="Straight Arrow Connector 9"/>
          <p:cNvCxnSpPr/>
          <p:nvPr/>
        </p:nvCxnSpPr>
        <p:spPr>
          <a:xfrm flipV="1">
            <a:off x="3837892" y="3382533"/>
            <a:ext cx="0" cy="424000"/>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55" name="Straight Arrow Connector 11"/>
          <p:cNvCxnSpPr/>
          <p:nvPr/>
        </p:nvCxnSpPr>
        <p:spPr>
          <a:xfrm flipV="1">
            <a:off x="4911321" y="3254257"/>
            <a:ext cx="0" cy="552276"/>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56" name="Straight Arrow Connector 12"/>
          <p:cNvCxnSpPr/>
          <p:nvPr/>
        </p:nvCxnSpPr>
        <p:spPr>
          <a:xfrm flipV="1">
            <a:off x="5970795" y="3138796"/>
            <a:ext cx="0" cy="667737"/>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57" name="Straight Arrow Connector 13"/>
          <p:cNvCxnSpPr/>
          <p:nvPr/>
        </p:nvCxnSpPr>
        <p:spPr>
          <a:xfrm flipV="1">
            <a:off x="6976657" y="2972036"/>
            <a:ext cx="0" cy="834497"/>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58" name="Straight Arrow Connector 14"/>
          <p:cNvCxnSpPr/>
          <p:nvPr/>
        </p:nvCxnSpPr>
        <p:spPr>
          <a:xfrm flipV="1">
            <a:off x="8050086" y="2625688"/>
            <a:ext cx="0" cy="1180844"/>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59" name="Straight Arrow Connector 15"/>
          <p:cNvCxnSpPr/>
          <p:nvPr/>
        </p:nvCxnSpPr>
        <p:spPr>
          <a:xfrm flipV="1">
            <a:off x="9109560" y="2271288"/>
            <a:ext cx="0" cy="1535244"/>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69" name="Rectangle 35"/>
          <p:cNvSpPr>
            <a:spLocks/>
          </p:cNvSpPr>
          <p:nvPr/>
        </p:nvSpPr>
        <p:spPr bwMode="auto">
          <a:xfrm>
            <a:off x="2853847" y="3775755"/>
            <a:ext cx="12824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0</a:t>
            </a:r>
          </a:p>
        </p:txBody>
      </p:sp>
      <p:sp>
        <p:nvSpPr>
          <p:cNvPr id="70" name="Rectangle 36"/>
          <p:cNvSpPr>
            <a:spLocks/>
          </p:cNvSpPr>
          <p:nvPr/>
        </p:nvSpPr>
        <p:spPr bwMode="auto">
          <a:xfrm>
            <a:off x="3667132" y="3750926"/>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a:t>
            </a:r>
          </a:p>
        </p:txBody>
      </p:sp>
      <p:sp>
        <p:nvSpPr>
          <p:cNvPr id="71" name="Rectangle 37"/>
          <p:cNvSpPr>
            <a:spLocks/>
          </p:cNvSpPr>
          <p:nvPr/>
        </p:nvSpPr>
        <p:spPr bwMode="auto">
          <a:xfrm>
            <a:off x="4755620" y="3750926"/>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2</a:t>
            </a:r>
          </a:p>
        </p:txBody>
      </p:sp>
      <p:sp>
        <p:nvSpPr>
          <p:cNvPr id="72" name="Rectangle 38"/>
          <p:cNvSpPr>
            <a:spLocks/>
          </p:cNvSpPr>
          <p:nvPr/>
        </p:nvSpPr>
        <p:spPr bwMode="auto">
          <a:xfrm>
            <a:off x="5815094" y="3764883"/>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3</a:t>
            </a:r>
          </a:p>
        </p:txBody>
      </p:sp>
      <p:sp>
        <p:nvSpPr>
          <p:cNvPr id="73" name="Rectangle 39"/>
          <p:cNvSpPr>
            <a:spLocks/>
          </p:cNvSpPr>
          <p:nvPr/>
        </p:nvSpPr>
        <p:spPr bwMode="auto">
          <a:xfrm>
            <a:off x="6820956" y="3781340"/>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4</a:t>
            </a:r>
          </a:p>
        </p:txBody>
      </p:sp>
      <p:sp>
        <p:nvSpPr>
          <p:cNvPr id="74" name="Rectangle 40"/>
          <p:cNvSpPr>
            <a:spLocks/>
          </p:cNvSpPr>
          <p:nvPr/>
        </p:nvSpPr>
        <p:spPr bwMode="auto">
          <a:xfrm>
            <a:off x="7894385" y="3750926"/>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5</a:t>
            </a:r>
          </a:p>
        </p:txBody>
      </p:sp>
      <p:sp>
        <p:nvSpPr>
          <p:cNvPr id="75" name="Rectangle 41"/>
          <p:cNvSpPr>
            <a:spLocks/>
          </p:cNvSpPr>
          <p:nvPr/>
        </p:nvSpPr>
        <p:spPr bwMode="auto">
          <a:xfrm>
            <a:off x="8953859" y="3750926"/>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n</a:t>
            </a:r>
          </a:p>
        </p:txBody>
      </p:sp>
      <p:sp>
        <p:nvSpPr>
          <p:cNvPr id="77" name="Rectangle 35"/>
          <p:cNvSpPr>
            <a:spLocks/>
          </p:cNvSpPr>
          <p:nvPr/>
        </p:nvSpPr>
        <p:spPr bwMode="auto">
          <a:xfrm>
            <a:off x="3724889" y="3078307"/>
            <a:ext cx="27732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D</a:t>
            </a:r>
            <a:r>
              <a:rPr lang="en-US" sz="2000" baseline="-25000"/>
              <a:t>1</a:t>
            </a:r>
            <a:endParaRPr lang="en-US" sz="2000"/>
          </a:p>
        </p:txBody>
      </p:sp>
      <p:sp>
        <p:nvSpPr>
          <p:cNvPr id="78" name="Rectangle 35"/>
          <p:cNvSpPr>
            <a:spLocks/>
          </p:cNvSpPr>
          <p:nvPr/>
        </p:nvSpPr>
        <p:spPr bwMode="auto">
          <a:xfrm>
            <a:off x="4537599" y="2958837"/>
            <a:ext cx="830357"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D</a:t>
            </a:r>
            <a:r>
              <a:rPr lang="en-US" sz="2000" baseline="-25000"/>
              <a:t>1</a:t>
            </a:r>
            <a:r>
              <a:rPr lang="en-US" sz="2000"/>
              <a:t>(1+g)</a:t>
            </a:r>
          </a:p>
        </p:txBody>
      </p:sp>
      <p:sp>
        <p:nvSpPr>
          <p:cNvPr id="79" name="Rectangle 35"/>
          <p:cNvSpPr>
            <a:spLocks/>
          </p:cNvSpPr>
          <p:nvPr/>
        </p:nvSpPr>
        <p:spPr bwMode="auto">
          <a:xfrm>
            <a:off x="5513138" y="2865016"/>
            <a:ext cx="915315"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D</a:t>
            </a:r>
            <a:r>
              <a:rPr lang="en-US" sz="2000" baseline="-25000"/>
              <a:t>1</a:t>
            </a:r>
            <a:r>
              <a:rPr lang="en-US" sz="2000"/>
              <a:t>(1+g)</a:t>
            </a:r>
            <a:r>
              <a:rPr lang="en-US" sz="2000" baseline="30000"/>
              <a:t>2</a:t>
            </a:r>
            <a:endParaRPr lang="en-US" sz="2000"/>
          </a:p>
        </p:txBody>
      </p:sp>
      <p:sp>
        <p:nvSpPr>
          <p:cNvPr id="80" name="Rectangle 35"/>
          <p:cNvSpPr>
            <a:spLocks/>
          </p:cNvSpPr>
          <p:nvPr/>
        </p:nvSpPr>
        <p:spPr bwMode="auto">
          <a:xfrm>
            <a:off x="6544658" y="2669381"/>
            <a:ext cx="915315"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D</a:t>
            </a:r>
            <a:r>
              <a:rPr lang="en-US" sz="2000" baseline="-25000"/>
              <a:t>1</a:t>
            </a:r>
            <a:r>
              <a:rPr lang="en-US" sz="2000"/>
              <a:t>(1+g)</a:t>
            </a:r>
            <a:r>
              <a:rPr lang="en-US" sz="2000" baseline="30000"/>
              <a:t>3</a:t>
            </a:r>
            <a:endParaRPr lang="en-US" sz="2000"/>
          </a:p>
        </p:txBody>
      </p:sp>
      <p:sp>
        <p:nvSpPr>
          <p:cNvPr id="81" name="Rectangle 35"/>
          <p:cNvSpPr>
            <a:spLocks/>
          </p:cNvSpPr>
          <p:nvPr/>
        </p:nvSpPr>
        <p:spPr bwMode="auto">
          <a:xfrm>
            <a:off x="7592429" y="2348690"/>
            <a:ext cx="915315"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D</a:t>
            </a:r>
            <a:r>
              <a:rPr lang="en-US" sz="2000" baseline="-25000"/>
              <a:t>1</a:t>
            </a:r>
            <a:r>
              <a:rPr lang="en-US" sz="2000"/>
              <a:t>(1+g)</a:t>
            </a:r>
            <a:r>
              <a:rPr lang="en-US" sz="2000" baseline="30000"/>
              <a:t>4</a:t>
            </a:r>
            <a:endParaRPr lang="en-US" sz="2000"/>
          </a:p>
        </p:txBody>
      </p:sp>
      <p:sp>
        <p:nvSpPr>
          <p:cNvPr id="82" name="Rectangle 35"/>
          <p:cNvSpPr>
            <a:spLocks/>
          </p:cNvSpPr>
          <p:nvPr/>
        </p:nvSpPr>
        <p:spPr bwMode="auto">
          <a:xfrm>
            <a:off x="8622413" y="1801870"/>
            <a:ext cx="105477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D</a:t>
            </a:r>
            <a:r>
              <a:rPr lang="en-US" sz="2000" baseline="-25000"/>
              <a:t>1</a:t>
            </a:r>
            <a:r>
              <a:rPr lang="en-US" sz="2000"/>
              <a:t>(1+g)</a:t>
            </a:r>
            <a:r>
              <a:rPr lang="en-US" sz="2000" baseline="30000"/>
              <a:t>n-1</a:t>
            </a:r>
            <a:endParaRPr lang="en-US" sz="2000"/>
          </a:p>
        </p:txBody>
      </p:sp>
      <p:sp>
        <p:nvSpPr>
          <p:cNvPr id="6" name="CuadroTexto 5"/>
          <p:cNvSpPr txBox="1"/>
          <p:nvPr/>
        </p:nvSpPr>
        <p:spPr>
          <a:xfrm>
            <a:off x="8357728" y="3235835"/>
            <a:ext cx="1295747" cy="400110"/>
          </a:xfrm>
          <a:prstGeom prst="rect">
            <a:avLst/>
          </a:prstGeom>
          <a:noFill/>
        </p:spPr>
        <p:txBody>
          <a:bodyPr wrap="square" rtlCol="0">
            <a:spAutoFit/>
          </a:bodyPr>
          <a:lstStyle/>
          <a:p>
            <a:r>
              <a:rPr lang="es-ES" sz="2000"/>
              <a:t>…</a:t>
            </a:r>
          </a:p>
        </p:txBody>
      </p:sp>
      <p:cxnSp>
        <p:nvCxnSpPr>
          <p:cNvPr id="83" name="Straight Connector 6"/>
          <p:cNvCxnSpPr/>
          <p:nvPr/>
        </p:nvCxnSpPr>
        <p:spPr>
          <a:xfrm>
            <a:off x="2892499" y="6246136"/>
            <a:ext cx="6191592"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87" name="Straight Arrow Connector 13"/>
          <p:cNvCxnSpPr/>
          <p:nvPr/>
        </p:nvCxnSpPr>
        <p:spPr>
          <a:xfrm flipV="1">
            <a:off x="2899787" y="5637258"/>
            <a:ext cx="0" cy="610834"/>
          </a:xfrm>
          <a:prstGeom prst="straightConnector1">
            <a:avLst/>
          </a:prstGeom>
          <a:ln>
            <a:solidFill>
              <a:schemeClr val="accent3">
                <a:lumMod val="75000"/>
              </a:schemeClr>
            </a:solidFill>
            <a:tailEnd type="arrow"/>
          </a:ln>
        </p:spPr>
        <p:style>
          <a:lnRef idx="2">
            <a:schemeClr val="accent1"/>
          </a:lnRef>
          <a:fillRef idx="0">
            <a:schemeClr val="accent1"/>
          </a:fillRef>
          <a:effectRef idx="1">
            <a:schemeClr val="accent1"/>
          </a:effectRef>
          <a:fontRef idx="minor">
            <a:schemeClr val="tx1"/>
          </a:fontRef>
        </p:style>
      </p:cxnSp>
      <p:sp>
        <p:nvSpPr>
          <p:cNvPr id="89" name="Rectangle 35"/>
          <p:cNvSpPr>
            <a:spLocks/>
          </p:cNvSpPr>
          <p:nvPr/>
        </p:nvSpPr>
        <p:spPr bwMode="auto">
          <a:xfrm>
            <a:off x="2892523" y="6202531"/>
            <a:ext cx="12824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0</a:t>
            </a:r>
          </a:p>
        </p:txBody>
      </p:sp>
      <p:sp>
        <p:nvSpPr>
          <p:cNvPr id="90" name="Rectangle 36"/>
          <p:cNvSpPr>
            <a:spLocks/>
          </p:cNvSpPr>
          <p:nvPr/>
        </p:nvSpPr>
        <p:spPr bwMode="auto">
          <a:xfrm>
            <a:off x="3641663" y="6203358"/>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a:t>
            </a:r>
          </a:p>
        </p:txBody>
      </p:sp>
      <p:sp>
        <p:nvSpPr>
          <p:cNvPr id="91" name="Rectangle 37"/>
          <p:cNvSpPr>
            <a:spLocks/>
          </p:cNvSpPr>
          <p:nvPr/>
        </p:nvSpPr>
        <p:spPr bwMode="auto">
          <a:xfrm>
            <a:off x="4730151" y="6203358"/>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2</a:t>
            </a:r>
          </a:p>
        </p:txBody>
      </p:sp>
      <p:sp>
        <p:nvSpPr>
          <p:cNvPr id="92" name="Rectangle 38"/>
          <p:cNvSpPr>
            <a:spLocks/>
          </p:cNvSpPr>
          <p:nvPr/>
        </p:nvSpPr>
        <p:spPr bwMode="auto">
          <a:xfrm>
            <a:off x="5789625" y="6217315"/>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3</a:t>
            </a:r>
          </a:p>
        </p:txBody>
      </p:sp>
      <p:sp>
        <p:nvSpPr>
          <p:cNvPr id="93" name="Rectangle 39"/>
          <p:cNvSpPr>
            <a:spLocks/>
          </p:cNvSpPr>
          <p:nvPr/>
        </p:nvSpPr>
        <p:spPr bwMode="auto">
          <a:xfrm>
            <a:off x="6795487" y="6233772"/>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4</a:t>
            </a:r>
          </a:p>
        </p:txBody>
      </p:sp>
      <p:sp>
        <p:nvSpPr>
          <p:cNvPr id="94" name="Rectangle 40"/>
          <p:cNvSpPr>
            <a:spLocks/>
          </p:cNvSpPr>
          <p:nvPr/>
        </p:nvSpPr>
        <p:spPr bwMode="auto">
          <a:xfrm>
            <a:off x="7868916" y="6203358"/>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5</a:t>
            </a:r>
          </a:p>
        </p:txBody>
      </p:sp>
      <p:sp>
        <p:nvSpPr>
          <p:cNvPr id="95" name="Rectangle 41"/>
          <p:cNvSpPr>
            <a:spLocks/>
          </p:cNvSpPr>
          <p:nvPr/>
        </p:nvSpPr>
        <p:spPr bwMode="auto">
          <a:xfrm>
            <a:off x="8928390" y="6203358"/>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n</a:t>
            </a:r>
          </a:p>
        </p:txBody>
      </p:sp>
      <p:sp>
        <p:nvSpPr>
          <p:cNvPr id="96" name="Rectangle 35"/>
          <p:cNvSpPr>
            <a:spLocks/>
          </p:cNvSpPr>
          <p:nvPr/>
        </p:nvSpPr>
        <p:spPr bwMode="auto">
          <a:xfrm>
            <a:off x="2761480" y="5308826"/>
            <a:ext cx="286938"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VP</a:t>
            </a:r>
          </a:p>
        </p:txBody>
      </p:sp>
      <p:sp>
        <p:nvSpPr>
          <p:cNvPr id="101" name="Flecha curvada hacia abajo 100"/>
          <p:cNvSpPr/>
          <p:nvPr/>
        </p:nvSpPr>
        <p:spPr>
          <a:xfrm rot="5400000">
            <a:off x="9301415" y="4068793"/>
            <a:ext cx="2410830" cy="1038310"/>
          </a:xfrm>
          <a:prstGeom prst="curvedDown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a:solidFill>
                <a:schemeClr val="tx1"/>
              </a:solidFill>
            </a:endParaRPr>
          </a:p>
        </p:txBody>
      </p:sp>
      <p:sp>
        <p:nvSpPr>
          <p:cNvPr id="102" name="CuadroTexto 101"/>
          <p:cNvSpPr txBox="1"/>
          <p:nvPr/>
        </p:nvSpPr>
        <p:spPr>
          <a:xfrm>
            <a:off x="8286496" y="6125784"/>
            <a:ext cx="1295747" cy="400110"/>
          </a:xfrm>
          <a:prstGeom prst="rect">
            <a:avLst/>
          </a:prstGeom>
          <a:noFill/>
        </p:spPr>
        <p:txBody>
          <a:bodyPr wrap="square" rtlCol="0">
            <a:spAutoFit/>
          </a:bodyPr>
          <a:lstStyle/>
          <a:p>
            <a:r>
              <a:rPr lang="es-ES" sz="2000"/>
              <a:t>…</a:t>
            </a:r>
          </a:p>
        </p:txBody>
      </p:sp>
      <p:sp>
        <p:nvSpPr>
          <p:cNvPr id="8" name="Title 1">
            <a:extLst>
              <a:ext uri="{FF2B5EF4-FFF2-40B4-BE49-F238E27FC236}">
                <a16:creationId xmlns:a16="http://schemas.microsoft.com/office/drawing/2014/main" id="{C8C8E3AC-42EB-0EE8-AC07-FED7594BFF62}"/>
              </a:ext>
            </a:extLst>
          </p:cNvPr>
          <p:cNvSpPr>
            <a:spLocks noGrp="1"/>
          </p:cNvSpPr>
          <p:nvPr>
            <p:ph type="title"/>
          </p:nvPr>
        </p:nvSpPr>
        <p:spPr>
          <a:xfrm>
            <a:off x="581192" y="702156"/>
            <a:ext cx="11029616" cy="1013800"/>
          </a:xfrm>
        </p:spPr>
        <p:txBody>
          <a:bodyPr/>
          <a:lstStyle/>
          <a:p>
            <a:r>
              <a:rPr lang="es-ES_tradnl">
                <a:latin typeface="Century Gothic" panose="020B0502020202020204" pitchFamily="34" charset="0"/>
              </a:rPr>
              <a:t>Gradientes geométricos</a:t>
            </a:r>
          </a:p>
        </p:txBody>
      </p:sp>
      <p:sp>
        <p:nvSpPr>
          <p:cNvPr id="9" name="Rectángulo 8">
            <a:extLst>
              <a:ext uri="{FF2B5EF4-FFF2-40B4-BE49-F238E27FC236}">
                <a16:creationId xmlns:a16="http://schemas.microsoft.com/office/drawing/2014/main" id="{F32A096C-A212-B9F5-0760-FD7468933411}"/>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0" name="Picture 2" descr="Clientes y aliados | Centro de Evaluación | Uniandes">
            <a:extLst>
              <a:ext uri="{FF2B5EF4-FFF2-40B4-BE49-F238E27FC236}">
                <a16:creationId xmlns:a16="http://schemas.microsoft.com/office/drawing/2014/main" id="{EABB7FEE-44DF-2A21-82CB-5D5DD5A86CD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1" name="Rectángulo 10">
            <a:extLst>
              <a:ext uri="{FF2B5EF4-FFF2-40B4-BE49-F238E27FC236}">
                <a16:creationId xmlns:a16="http://schemas.microsoft.com/office/drawing/2014/main" id="{6CC8C73C-ECFC-3CDB-8E2D-EB0C90ACD466}"/>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5" name="CuadroTexto 4">
            <a:extLst>
              <a:ext uri="{FF2B5EF4-FFF2-40B4-BE49-F238E27FC236}">
                <a16:creationId xmlns:a16="http://schemas.microsoft.com/office/drawing/2014/main" id="{AD6D2448-ECFB-D7C3-BFF6-E4C56F320243}"/>
              </a:ext>
            </a:extLst>
          </p:cNvPr>
          <p:cNvSpPr txBox="1"/>
          <p:nvPr/>
        </p:nvSpPr>
        <p:spPr>
          <a:xfrm>
            <a:off x="543853" y="4290816"/>
            <a:ext cx="11029616" cy="830997"/>
          </a:xfrm>
          <a:prstGeom prst="rect">
            <a:avLst/>
          </a:prstGeom>
          <a:noFill/>
        </p:spPr>
        <p:txBody>
          <a:bodyPr wrap="square">
            <a:spAutoFit/>
          </a:bodyPr>
          <a:lstStyle/>
          <a:p>
            <a:pPr marL="0" indent="0">
              <a:buNone/>
            </a:pPr>
            <a:r>
              <a:rPr lang="es-ES" sz="2400"/>
              <a:t>Se quiere encontrar el Valor Presente (VP) de una </a:t>
            </a:r>
            <a:r>
              <a:rPr lang="es-ES" sz="2400" b="1">
                <a:solidFill>
                  <a:srgbClr val="800000"/>
                </a:solidFill>
              </a:rPr>
              <a:t>serie infinita </a:t>
            </a:r>
            <a:r>
              <a:rPr lang="es-ES" sz="2400"/>
              <a:t>con crecimiento geométrico constante (g)</a:t>
            </a:r>
          </a:p>
        </p:txBody>
      </p:sp>
    </p:spTree>
    <p:extLst>
      <p:ext uri="{BB962C8B-B14F-4D97-AF65-F5344CB8AC3E}">
        <p14:creationId xmlns:p14="http://schemas.microsoft.com/office/powerpoint/2010/main" val="18787383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3"/>
                                        </p:tgtEl>
                                        <p:attrNameLst>
                                          <p:attrName>style.visibility</p:attrName>
                                        </p:attrNameLst>
                                      </p:cBhvr>
                                      <p:to>
                                        <p:strVal val="visible"/>
                                      </p:to>
                                    </p:set>
                                    <p:animEffect transition="in" filter="fade">
                                      <p:cBhvr>
                                        <p:cTn id="7" dur="500"/>
                                        <p:tgtEl>
                                          <p:spTgt spid="83"/>
                                        </p:tgtEl>
                                      </p:cBhvr>
                                    </p:animEffect>
                                  </p:childTnLst>
                                </p:cTn>
                              </p:par>
                              <p:par>
                                <p:cTn id="8" presetID="10" presetClass="entr" presetSubtype="0" fill="hold" nodeType="withEffect">
                                  <p:stCondLst>
                                    <p:cond delay="0"/>
                                  </p:stCondLst>
                                  <p:childTnLst>
                                    <p:set>
                                      <p:cBhvr>
                                        <p:cTn id="9" dur="1" fill="hold">
                                          <p:stCondLst>
                                            <p:cond delay="0"/>
                                          </p:stCondLst>
                                        </p:cTn>
                                        <p:tgtEl>
                                          <p:spTgt spid="87"/>
                                        </p:tgtEl>
                                        <p:attrNameLst>
                                          <p:attrName>style.visibility</p:attrName>
                                        </p:attrNameLst>
                                      </p:cBhvr>
                                      <p:to>
                                        <p:strVal val="visible"/>
                                      </p:to>
                                    </p:set>
                                    <p:animEffect transition="in" filter="fade">
                                      <p:cBhvr>
                                        <p:cTn id="10" dur="500"/>
                                        <p:tgtEl>
                                          <p:spTgt spid="8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9"/>
                                        </p:tgtEl>
                                        <p:attrNameLst>
                                          <p:attrName>style.visibility</p:attrName>
                                        </p:attrNameLst>
                                      </p:cBhvr>
                                      <p:to>
                                        <p:strVal val="visible"/>
                                      </p:to>
                                    </p:set>
                                    <p:animEffect transition="in" filter="fade">
                                      <p:cBhvr>
                                        <p:cTn id="13" dur="500"/>
                                        <p:tgtEl>
                                          <p:spTgt spid="89"/>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90"/>
                                        </p:tgtEl>
                                        <p:attrNameLst>
                                          <p:attrName>style.visibility</p:attrName>
                                        </p:attrNameLst>
                                      </p:cBhvr>
                                      <p:to>
                                        <p:strVal val="visible"/>
                                      </p:to>
                                    </p:set>
                                    <p:animEffect transition="in" filter="fade">
                                      <p:cBhvr>
                                        <p:cTn id="16" dur="500"/>
                                        <p:tgtEl>
                                          <p:spTgt spid="90"/>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1"/>
                                        </p:tgtEl>
                                        <p:attrNameLst>
                                          <p:attrName>style.visibility</p:attrName>
                                        </p:attrNameLst>
                                      </p:cBhvr>
                                      <p:to>
                                        <p:strVal val="visible"/>
                                      </p:to>
                                    </p:set>
                                    <p:animEffect transition="in" filter="fade">
                                      <p:cBhvr>
                                        <p:cTn id="19" dur="500"/>
                                        <p:tgtEl>
                                          <p:spTgt spid="91"/>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92"/>
                                        </p:tgtEl>
                                        <p:attrNameLst>
                                          <p:attrName>style.visibility</p:attrName>
                                        </p:attrNameLst>
                                      </p:cBhvr>
                                      <p:to>
                                        <p:strVal val="visible"/>
                                      </p:to>
                                    </p:set>
                                    <p:animEffect transition="in" filter="fade">
                                      <p:cBhvr>
                                        <p:cTn id="22" dur="500"/>
                                        <p:tgtEl>
                                          <p:spTgt spid="92"/>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93"/>
                                        </p:tgtEl>
                                        <p:attrNameLst>
                                          <p:attrName>style.visibility</p:attrName>
                                        </p:attrNameLst>
                                      </p:cBhvr>
                                      <p:to>
                                        <p:strVal val="visible"/>
                                      </p:to>
                                    </p:set>
                                    <p:animEffect transition="in" filter="fade">
                                      <p:cBhvr>
                                        <p:cTn id="25" dur="500"/>
                                        <p:tgtEl>
                                          <p:spTgt spid="93"/>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94"/>
                                        </p:tgtEl>
                                        <p:attrNameLst>
                                          <p:attrName>style.visibility</p:attrName>
                                        </p:attrNameLst>
                                      </p:cBhvr>
                                      <p:to>
                                        <p:strVal val="visible"/>
                                      </p:to>
                                    </p:set>
                                    <p:animEffect transition="in" filter="fade">
                                      <p:cBhvr>
                                        <p:cTn id="28" dur="500"/>
                                        <p:tgtEl>
                                          <p:spTgt spid="94"/>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95"/>
                                        </p:tgtEl>
                                        <p:attrNameLst>
                                          <p:attrName>style.visibility</p:attrName>
                                        </p:attrNameLst>
                                      </p:cBhvr>
                                      <p:to>
                                        <p:strVal val="visible"/>
                                      </p:to>
                                    </p:set>
                                    <p:animEffect transition="in" filter="fade">
                                      <p:cBhvr>
                                        <p:cTn id="31" dur="500"/>
                                        <p:tgtEl>
                                          <p:spTgt spid="95"/>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96"/>
                                        </p:tgtEl>
                                        <p:attrNameLst>
                                          <p:attrName>style.visibility</p:attrName>
                                        </p:attrNameLst>
                                      </p:cBhvr>
                                      <p:to>
                                        <p:strVal val="visible"/>
                                      </p:to>
                                    </p:set>
                                    <p:animEffect transition="in" filter="fade">
                                      <p:cBhvr>
                                        <p:cTn id="34" dur="500"/>
                                        <p:tgtEl>
                                          <p:spTgt spid="96"/>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01"/>
                                        </p:tgtEl>
                                        <p:attrNameLst>
                                          <p:attrName>style.visibility</p:attrName>
                                        </p:attrNameLst>
                                      </p:cBhvr>
                                      <p:to>
                                        <p:strVal val="visible"/>
                                      </p:to>
                                    </p:set>
                                    <p:animEffect transition="in" filter="fade">
                                      <p:cBhvr>
                                        <p:cTn id="37" dur="500"/>
                                        <p:tgtEl>
                                          <p:spTgt spid="101"/>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02"/>
                                        </p:tgtEl>
                                        <p:attrNameLst>
                                          <p:attrName>style.visibility</p:attrName>
                                        </p:attrNameLst>
                                      </p:cBhvr>
                                      <p:to>
                                        <p:strVal val="visible"/>
                                      </p:to>
                                    </p:set>
                                    <p:animEffect transition="in" filter="fade">
                                      <p:cBhvr>
                                        <p:cTn id="40" dur="500"/>
                                        <p:tgtEl>
                                          <p:spTgt spid="1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 grpId="0"/>
      <p:bldP spid="90" grpId="0"/>
      <p:bldP spid="91" grpId="0"/>
      <p:bldP spid="92" grpId="0"/>
      <p:bldP spid="93" grpId="0"/>
      <p:bldP spid="94" grpId="0"/>
      <p:bldP spid="95" grpId="0"/>
      <p:bldP spid="96" grpId="0"/>
      <p:bldP spid="101" grpId="0" animBg="1"/>
      <p:bldP spid="102" grpId="0"/>
    </p:bldLst>
  </p:timing>
</p:sld>
</file>

<file path=ppt/slides/slide5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581192" y="2038391"/>
            <a:ext cx="11029616" cy="1828493"/>
          </a:xfrm>
        </p:spPr>
        <p:txBody>
          <a:bodyPr>
            <a:normAutofit/>
          </a:bodyPr>
          <a:lstStyle/>
          <a:p>
            <a:pPr algn="just">
              <a:buFont typeface="Arial" panose="020B0604020202020204" pitchFamily="34" charset="0"/>
              <a:buChar char="•"/>
            </a:pPr>
            <a:r>
              <a:rPr lang="es-ES" sz="2400"/>
              <a:t>La serie es un gradiente geométrico, debido a la presencia de una razón de crecimiento porcentual constante “g”. </a:t>
            </a:r>
          </a:p>
          <a:p>
            <a:pPr algn="just">
              <a:buFont typeface="Arial" panose="020B0604020202020204" pitchFamily="34" charset="0"/>
              <a:buChar char="•"/>
            </a:pPr>
            <a:r>
              <a:rPr lang="es-ES" sz="2400"/>
              <a:t>Según esto, veamos a qué corresponde cada uno de los flujos D</a:t>
            </a:r>
            <a:r>
              <a:rPr lang="es-ES" sz="2400" baseline="-25000"/>
              <a:t>j</a:t>
            </a:r>
            <a:r>
              <a:rPr lang="es-ES" sz="2400"/>
              <a:t>.</a:t>
            </a:r>
          </a:p>
        </p:txBody>
      </p:sp>
      <p:sp>
        <p:nvSpPr>
          <p:cNvPr id="4" name="Marcador de número de diapositiva 3"/>
          <p:cNvSpPr>
            <a:spLocks noGrp="1"/>
          </p:cNvSpPr>
          <p:nvPr>
            <p:ph type="sldNum" sz="quarter" idx="12"/>
          </p:nvPr>
        </p:nvSpPr>
        <p:spPr/>
        <p:txBody>
          <a:bodyPr/>
          <a:lstStyle/>
          <a:p>
            <a:fld id="{5E3E23BA-6E79-2442-BA73-D218A5E297C3}" type="slidenum">
              <a:rPr lang="en-US" smtClean="0"/>
              <a:t>57</a:t>
            </a:fld>
            <a:endParaRPr lang="en-US"/>
          </a:p>
        </p:txBody>
      </p:sp>
      <p:sp>
        <p:nvSpPr>
          <p:cNvPr id="6" name="Rectangle 35"/>
          <p:cNvSpPr>
            <a:spLocks/>
          </p:cNvSpPr>
          <p:nvPr/>
        </p:nvSpPr>
        <p:spPr bwMode="auto">
          <a:xfrm>
            <a:off x="5164730" y="4119422"/>
            <a:ext cx="892873"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r>
              <a:rPr lang="en-US" sz="2000"/>
              <a:t>D</a:t>
            </a:r>
            <a:r>
              <a:rPr lang="en-US" sz="2000" baseline="-25000"/>
              <a:t>1 </a:t>
            </a:r>
            <a:r>
              <a:rPr lang="en-US" sz="2000"/>
              <a:t>=  D</a:t>
            </a:r>
            <a:r>
              <a:rPr lang="en-US" sz="2000" baseline="-25000"/>
              <a:t>1</a:t>
            </a:r>
            <a:endParaRPr lang="en-US" sz="2000"/>
          </a:p>
        </p:txBody>
      </p:sp>
      <p:sp>
        <p:nvSpPr>
          <p:cNvPr id="7" name="Rectangle 35"/>
          <p:cNvSpPr>
            <a:spLocks/>
          </p:cNvSpPr>
          <p:nvPr/>
        </p:nvSpPr>
        <p:spPr bwMode="auto">
          <a:xfrm>
            <a:off x="5164729" y="4472584"/>
            <a:ext cx="1445909"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r>
              <a:rPr lang="en-US" sz="2000"/>
              <a:t>D</a:t>
            </a:r>
            <a:r>
              <a:rPr lang="en-US" sz="2000" baseline="-25000"/>
              <a:t>2 </a:t>
            </a:r>
            <a:r>
              <a:rPr lang="en-US" sz="2000"/>
              <a:t>= D</a:t>
            </a:r>
            <a:r>
              <a:rPr lang="en-US" sz="2000" baseline="-25000"/>
              <a:t>1</a:t>
            </a:r>
            <a:r>
              <a:rPr lang="en-US" sz="2000"/>
              <a:t> (1+g)</a:t>
            </a:r>
          </a:p>
        </p:txBody>
      </p:sp>
      <p:sp>
        <p:nvSpPr>
          <p:cNvPr id="9" name="Rectangle 35"/>
          <p:cNvSpPr>
            <a:spLocks/>
          </p:cNvSpPr>
          <p:nvPr/>
        </p:nvSpPr>
        <p:spPr bwMode="auto">
          <a:xfrm>
            <a:off x="5164729" y="4871205"/>
            <a:ext cx="3234528"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r>
              <a:rPr lang="en-US" sz="2000"/>
              <a:t>D</a:t>
            </a:r>
            <a:r>
              <a:rPr lang="en-US" sz="2000" baseline="-25000"/>
              <a:t>3 </a:t>
            </a:r>
            <a:r>
              <a:rPr lang="en-US" sz="2000"/>
              <a:t>=  D</a:t>
            </a:r>
            <a:r>
              <a:rPr lang="en-US" sz="2000" baseline="-25000"/>
              <a:t>2</a:t>
            </a:r>
            <a:r>
              <a:rPr lang="en-US" sz="2000"/>
              <a:t> (1+g) = D</a:t>
            </a:r>
            <a:r>
              <a:rPr lang="en-US" sz="2000" baseline="-25000"/>
              <a:t>1</a:t>
            </a:r>
            <a:r>
              <a:rPr lang="en-US" sz="2000"/>
              <a:t> (1+g)</a:t>
            </a:r>
            <a:r>
              <a:rPr lang="en-US" sz="2000" baseline="30000"/>
              <a:t>2</a:t>
            </a:r>
            <a:endParaRPr lang="en-US" sz="2000"/>
          </a:p>
        </p:txBody>
      </p:sp>
      <p:sp>
        <p:nvSpPr>
          <p:cNvPr id="10" name="Rectangle 35"/>
          <p:cNvSpPr>
            <a:spLocks/>
          </p:cNvSpPr>
          <p:nvPr/>
        </p:nvSpPr>
        <p:spPr bwMode="auto">
          <a:xfrm>
            <a:off x="5164729" y="5802248"/>
            <a:ext cx="3234528"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r>
              <a:rPr lang="en-US" sz="2000" err="1"/>
              <a:t>D</a:t>
            </a:r>
            <a:r>
              <a:rPr lang="en-US" sz="2000" baseline="-25000" err="1"/>
              <a:t>j</a:t>
            </a:r>
            <a:r>
              <a:rPr lang="en-US" sz="2000" baseline="-25000"/>
              <a:t> </a:t>
            </a:r>
            <a:r>
              <a:rPr lang="en-US" sz="2000"/>
              <a:t>=  D</a:t>
            </a:r>
            <a:r>
              <a:rPr lang="en-US" sz="2000" baseline="-25000"/>
              <a:t>1</a:t>
            </a:r>
            <a:r>
              <a:rPr lang="en-US" sz="2000"/>
              <a:t> (1+g)</a:t>
            </a:r>
            <a:r>
              <a:rPr lang="en-US" sz="2000" baseline="30000"/>
              <a:t>j-1</a:t>
            </a:r>
            <a:endParaRPr lang="en-US" sz="2000"/>
          </a:p>
        </p:txBody>
      </p:sp>
      <p:sp>
        <p:nvSpPr>
          <p:cNvPr id="11" name="Rectangle 35"/>
          <p:cNvSpPr>
            <a:spLocks/>
          </p:cNvSpPr>
          <p:nvPr/>
        </p:nvSpPr>
        <p:spPr bwMode="auto">
          <a:xfrm>
            <a:off x="5012888" y="5287663"/>
            <a:ext cx="1576141" cy="4843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lnSpc>
                <a:spcPct val="50000"/>
              </a:lnSpc>
            </a:pPr>
            <a:r>
              <a:rPr lang="en-US" sz="2000"/>
              <a:t>.</a:t>
            </a:r>
          </a:p>
          <a:p>
            <a:pPr algn="ctr">
              <a:lnSpc>
                <a:spcPct val="50000"/>
              </a:lnSpc>
            </a:pPr>
            <a:r>
              <a:rPr lang="en-US" sz="2000"/>
              <a:t>.</a:t>
            </a:r>
          </a:p>
          <a:p>
            <a:pPr algn="ctr">
              <a:lnSpc>
                <a:spcPct val="50000"/>
              </a:lnSpc>
            </a:pPr>
            <a:r>
              <a:rPr lang="en-US" sz="2000"/>
              <a:t>.</a:t>
            </a:r>
          </a:p>
        </p:txBody>
      </p:sp>
      <p:sp>
        <p:nvSpPr>
          <p:cNvPr id="13" name="Title 1">
            <a:extLst>
              <a:ext uri="{FF2B5EF4-FFF2-40B4-BE49-F238E27FC236}">
                <a16:creationId xmlns:a16="http://schemas.microsoft.com/office/drawing/2014/main" id="{7F4D16D7-2276-BD97-9538-C498FF5803B8}"/>
              </a:ext>
            </a:extLst>
          </p:cNvPr>
          <p:cNvSpPr>
            <a:spLocks noGrp="1"/>
          </p:cNvSpPr>
          <p:nvPr>
            <p:ph type="title"/>
          </p:nvPr>
        </p:nvSpPr>
        <p:spPr>
          <a:xfrm>
            <a:off x="581192" y="702156"/>
            <a:ext cx="11029616" cy="1013800"/>
          </a:xfrm>
        </p:spPr>
        <p:txBody>
          <a:bodyPr/>
          <a:lstStyle/>
          <a:p>
            <a:r>
              <a:rPr lang="es-ES_tradnl">
                <a:latin typeface="Century Gothic" panose="020B0502020202020204" pitchFamily="34" charset="0"/>
              </a:rPr>
              <a:t>Gradientes geométricos</a:t>
            </a:r>
          </a:p>
        </p:txBody>
      </p:sp>
      <p:sp>
        <p:nvSpPr>
          <p:cNvPr id="14" name="Rectángulo 13">
            <a:extLst>
              <a:ext uri="{FF2B5EF4-FFF2-40B4-BE49-F238E27FC236}">
                <a16:creationId xmlns:a16="http://schemas.microsoft.com/office/drawing/2014/main" id="{C09C9066-AA64-F99E-06B3-130FA3C475C8}"/>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5" name="Picture 2" descr="Clientes y aliados | Centro de Evaluación | Uniandes">
            <a:extLst>
              <a:ext uri="{FF2B5EF4-FFF2-40B4-BE49-F238E27FC236}">
                <a16:creationId xmlns:a16="http://schemas.microsoft.com/office/drawing/2014/main" id="{507B5A12-736B-5AAC-B6B7-E8B0A32CDAD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6" name="Rectángulo 15">
            <a:extLst>
              <a:ext uri="{FF2B5EF4-FFF2-40B4-BE49-F238E27FC236}">
                <a16:creationId xmlns:a16="http://schemas.microsoft.com/office/drawing/2014/main" id="{BCEB818D-3A6B-E37D-C386-009FA9424A9B}"/>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84124523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581192" y="1933308"/>
            <a:ext cx="11029611" cy="1692808"/>
          </a:xfrm>
        </p:spPr>
        <p:txBody>
          <a:bodyPr>
            <a:normAutofit/>
          </a:bodyPr>
          <a:lstStyle/>
          <a:p>
            <a:pPr marL="0" indent="0" algn="just">
              <a:buNone/>
            </a:pPr>
            <a:r>
              <a:rPr lang="es-ES" sz="2400"/>
              <a:t>La única forma de calcular el valor presente de esta serie es trayendo uno a uno cada término a VP y sumarlos entre sí. Es necesario recurrir a la convergencia de series para realizar esta tarea, pues no hay que olvidar que esta serie es infinita. </a:t>
            </a:r>
          </a:p>
        </p:txBody>
      </p:sp>
      <p:sp>
        <p:nvSpPr>
          <p:cNvPr id="4" name="Marcador de número de diapositiva 3"/>
          <p:cNvSpPr>
            <a:spLocks noGrp="1"/>
          </p:cNvSpPr>
          <p:nvPr>
            <p:ph type="sldNum" sz="quarter" idx="12"/>
          </p:nvPr>
        </p:nvSpPr>
        <p:spPr/>
        <p:txBody>
          <a:bodyPr/>
          <a:lstStyle/>
          <a:p>
            <a:fld id="{5E3E23BA-6E79-2442-BA73-D218A5E297C3}" type="slidenum">
              <a:rPr lang="en-US" smtClean="0"/>
              <a:t>58</a:t>
            </a:fld>
            <a:endParaRPr lang="en-US"/>
          </a:p>
        </p:txBody>
      </p:sp>
      <p:cxnSp>
        <p:nvCxnSpPr>
          <p:cNvPr id="7" name="Straight Connector 6"/>
          <p:cNvCxnSpPr/>
          <p:nvPr/>
        </p:nvCxnSpPr>
        <p:spPr>
          <a:xfrm flipV="1">
            <a:off x="3040436" y="5303466"/>
            <a:ext cx="6191592" cy="12828"/>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8" name="Straight Arrow Connector 9"/>
          <p:cNvCxnSpPr/>
          <p:nvPr/>
        </p:nvCxnSpPr>
        <p:spPr>
          <a:xfrm flipV="1">
            <a:off x="3960360" y="4870523"/>
            <a:ext cx="0" cy="424000"/>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9" name="Straight Arrow Connector 11"/>
          <p:cNvCxnSpPr/>
          <p:nvPr/>
        </p:nvCxnSpPr>
        <p:spPr>
          <a:xfrm flipV="1">
            <a:off x="5033789" y="4742247"/>
            <a:ext cx="0" cy="552276"/>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10" name="Straight Arrow Connector 12"/>
          <p:cNvCxnSpPr/>
          <p:nvPr/>
        </p:nvCxnSpPr>
        <p:spPr>
          <a:xfrm flipV="1">
            <a:off x="6093263" y="4626786"/>
            <a:ext cx="0" cy="667737"/>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11" name="Straight Arrow Connector 13"/>
          <p:cNvCxnSpPr/>
          <p:nvPr/>
        </p:nvCxnSpPr>
        <p:spPr>
          <a:xfrm flipV="1">
            <a:off x="7099125" y="4460026"/>
            <a:ext cx="0" cy="834497"/>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12" name="Straight Arrow Connector 14"/>
          <p:cNvCxnSpPr/>
          <p:nvPr/>
        </p:nvCxnSpPr>
        <p:spPr>
          <a:xfrm flipV="1">
            <a:off x="8172554" y="4113678"/>
            <a:ext cx="0" cy="1180844"/>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13" name="Straight Arrow Connector 15"/>
          <p:cNvCxnSpPr/>
          <p:nvPr/>
        </p:nvCxnSpPr>
        <p:spPr>
          <a:xfrm flipV="1">
            <a:off x="9232028" y="3759278"/>
            <a:ext cx="0" cy="1535244"/>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15" name="Rectangle 36"/>
          <p:cNvSpPr>
            <a:spLocks/>
          </p:cNvSpPr>
          <p:nvPr/>
        </p:nvSpPr>
        <p:spPr bwMode="auto">
          <a:xfrm>
            <a:off x="3789600" y="5304232"/>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a:t>
            </a:r>
          </a:p>
        </p:txBody>
      </p:sp>
      <p:sp>
        <p:nvSpPr>
          <p:cNvPr id="16" name="Rectangle 37"/>
          <p:cNvSpPr>
            <a:spLocks/>
          </p:cNvSpPr>
          <p:nvPr/>
        </p:nvSpPr>
        <p:spPr bwMode="auto">
          <a:xfrm>
            <a:off x="4878088" y="5304232"/>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2</a:t>
            </a:r>
          </a:p>
        </p:txBody>
      </p:sp>
      <p:sp>
        <p:nvSpPr>
          <p:cNvPr id="17" name="Rectangle 38"/>
          <p:cNvSpPr>
            <a:spLocks/>
          </p:cNvSpPr>
          <p:nvPr/>
        </p:nvSpPr>
        <p:spPr bwMode="auto">
          <a:xfrm>
            <a:off x="5937562" y="5318189"/>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3</a:t>
            </a:r>
          </a:p>
        </p:txBody>
      </p:sp>
      <p:sp>
        <p:nvSpPr>
          <p:cNvPr id="18" name="Rectangle 39"/>
          <p:cNvSpPr>
            <a:spLocks/>
          </p:cNvSpPr>
          <p:nvPr/>
        </p:nvSpPr>
        <p:spPr bwMode="auto">
          <a:xfrm>
            <a:off x="6943424" y="5334646"/>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4</a:t>
            </a:r>
          </a:p>
        </p:txBody>
      </p:sp>
      <p:sp>
        <p:nvSpPr>
          <p:cNvPr id="19" name="Rectangle 40"/>
          <p:cNvSpPr>
            <a:spLocks/>
          </p:cNvSpPr>
          <p:nvPr/>
        </p:nvSpPr>
        <p:spPr bwMode="auto">
          <a:xfrm>
            <a:off x="8016853" y="5304232"/>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5</a:t>
            </a:r>
          </a:p>
        </p:txBody>
      </p:sp>
      <p:sp>
        <p:nvSpPr>
          <p:cNvPr id="20" name="Rectangle 41"/>
          <p:cNvSpPr>
            <a:spLocks/>
          </p:cNvSpPr>
          <p:nvPr/>
        </p:nvSpPr>
        <p:spPr bwMode="auto">
          <a:xfrm>
            <a:off x="9076327" y="5304232"/>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n</a:t>
            </a:r>
          </a:p>
        </p:txBody>
      </p:sp>
      <p:cxnSp>
        <p:nvCxnSpPr>
          <p:cNvPr id="28" name="Conector curvado 27"/>
          <p:cNvCxnSpPr/>
          <p:nvPr/>
        </p:nvCxnSpPr>
        <p:spPr>
          <a:xfrm rot="10800000" flipV="1">
            <a:off x="3040436" y="3759278"/>
            <a:ext cx="6191592" cy="1535244"/>
          </a:xfrm>
          <a:prstGeom prst="curvedConnector2">
            <a:avLst/>
          </a:prstGeom>
          <a:ln w="6350" cmpd="sng">
            <a:solidFill>
              <a:srgbClr val="7F7F7F"/>
            </a:solidFill>
            <a:prstDash val="dash"/>
            <a:headEnd type="none"/>
            <a:tailEnd type="triangle"/>
          </a:ln>
        </p:spPr>
        <p:style>
          <a:lnRef idx="2">
            <a:schemeClr val="accent1"/>
          </a:lnRef>
          <a:fillRef idx="0">
            <a:schemeClr val="accent1"/>
          </a:fillRef>
          <a:effectRef idx="1">
            <a:schemeClr val="accent1"/>
          </a:effectRef>
          <a:fontRef idx="minor">
            <a:schemeClr val="tx1"/>
          </a:fontRef>
        </p:style>
      </p:cxnSp>
      <p:cxnSp>
        <p:nvCxnSpPr>
          <p:cNvPr id="44" name="Conector curvado 43"/>
          <p:cNvCxnSpPr/>
          <p:nvPr/>
        </p:nvCxnSpPr>
        <p:spPr>
          <a:xfrm rot="10800000" flipV="1">
            <a:off x="3040436" y="4113678"/>
            <a:ext cx="5132118" cy="1180844"/>
          </a:xfrm>
          <a:prstGeom prst="curvedConnector2">
            <a:avLst/>
          </a:prstGeom>
          <a:ln w="6350" cmpd="sng">
            <a:solidFill>
              <a:srgbClr val="7F7F7F"/>
            </a:solidFill>
            <a:prstDash val="dash"/>
            <a:headEnd type="none"/>
            <a:tailEnd type="triangle"/>
          </a:ln>
        </p:spPr>
        <p:style>
          <a:lnRef idx="2">
            <a:schemeClr val="accent1"/>
          </a:lnRef>
          <a:fillRef idx="0">
            <a:schemeClr val="accent1"/>
          </a:fillRef>
          <a:effectRef idx="1">
            <a:schemeClr val="accent1"/>
          </a:effectRef>
          <a:fontRef idx="minor">
            <a:schemeClr val="tx1"/>
          </a:fontRef>
        </p:style>
      </p:cxnSp>
      <p:cxnSp>
        <p:nvCxnSpPr>
          <p:cNvPr id="47" name="Conector curvado 46"/>
          <p:cNvCxnSpPr/>
          <p:nvPr/>
        </p:nvCxnSpPr>
        <p:spPr>
          <a:xfrm rot="10800000" flipV="1">
            <a:off x="3040438" y="4460024"/>
            <a:ext cx="4058691" cy="834498"/>
          </a:xfrm>
          <a:prstGeom prst="curvedConnector2">
            <a:avLst/>
          </a:prstGeom>
          <a:ln w="6350" cmpd="sng">
            <a:solidFill>
              <a:srgbClr val="7F7F7F"/>
            </a:solidFill>
            <a:prstDash val="dash"/>
            <a:headEnd type="none"/>
            <a:tailEnd type="triangle"/>
          </a:ln>
        </p:spPr>
        <p:style>
          <a:lnRef idx="2">
            <a:schemeClr val="accent1"/>
          </a:lnRef>
          <a:fillRef idx="0">
            <a:schemeClr val="accent1"/>
          </a:fillRef>
          <a:effectRef idx="1">
            <a:schemeClr val="accent1"/>
          </a:effectRef>
          <a:fontRef idx="minor">
            <a:schemeClr val="tx1"/>
          </a:fontRef>
        </p:style>
      </p:cxnSp>
      <p:cxnSp>
        <p:nvCxnSpPr>
          <p:cNvPr id="50" name="Conector curvado 49"/>
          <p:cNvCxnSpPr/>
          <p:nvPr/>
        </p:nvCxnSpPr>
        <p:spPr>
          <a:xfrm rot="10800000" flipV="1">
            <a:off x="3040438" y="4626784"/>
            <a:ext cx="3052829" cy="667738"/>
          </a:xfrm>
          <a:prstGeom prst="curvedConnector2">
            <a:avLst/>
          </a:prstGeom>
          <a:ln w="6350" cmpd="sng">
            <a:solidFill>
              <a:srgbClr val="7F7F7F"/>
            </a:solidFill>
            <a:prstDash val="dash"/>
            <a:headEnd type="none"/>
            <a:tailEnd type="triangle"/>
          </a:ln>
        </p:spPr>
        <p:style>
          <a:lnRef idx="2">
            <a:schemeClr val="accent1"/>
          </a:lnRef>
          <a:fillRef idx="0">
            <a:schemeClr val="accent1"/>
          </a:fillRef>
          <a:effectRef idx="1">
            <a:schemeClr val="accent1"/>
          </a:effectRef>
          <a:fontRef idx="minor">
            <a:schemeClr val="tx1"/>
          </a:fontRef>
        </p:style>
      </p:cxnSp>
      <p:cxnSp>
        <p:nvCxnSpPr>
          <p:cNvPr id="53" name="Conector curvado 52"/>
          <p:cNvCxnSpPr/>
          <p:nvPr/>
        </p:nvCxnSpPr>
        <p:spPr>
          <a:xfrm rot="10800000" flipV="1">
            <a:off x="3040438" y="4779184"/>
            <a:ext cx="1993355" cy="515338"/>
          </a:xfrm>
          <a:prstGeom prst="curvedConnector2">
            <a:avLst/>
          </a:prstGeom>
          <a:ln w="6350" cmpd="sng">
            <a:solidFill>
              <a:srgbClr val="7F7F7F"/>
            </a:solidFill>
            <a:prstDash val="dash"/>
            <a:headEnd type="none"/>
            <a:tailEnd type="triangle"/>
          </a:ln>
        </p:spPr>
        <p:style>
          <a:lnRef idx="2">
            <a:schemeClr val="accent1"/>
          </a:lnRef>
          <a:fillRef idx="0">
            <a:schemeClr val="accent1"/>
          </a:fillRef>
          <a:effectRef idx="1">
            <a:schemeClr val="accent1"/>
          </a:effectRef>
          <a:fontRef idx="minor">
            <a:schemeClr val="tx1"/>
          </a:fontRef>
        </p:style>
      </p:cxnSp>
      <p:cxnSp>
        <p:nvCxnSpPr>
          <p:cNvPr id="56" name="Conector curvado 55"/>
          <p:cNvCxnSpPr/>
          <p:nvPr/>
        </p:nvCxnSpPr>
        <p:spPr>
          <a:xfrm rot="10800000" flipV="1">
            <a:off x="3040436" y="4870522"/>
            <a:ext cx="919924" cy="424000"/>
          </a:xfrm>
          <a:prstGeom prst="curvedConnector2">
            <a:avLst/>
          </a:prstGeom>
          <a:ln w="6350" cmpd="sng">
            <a:solidFill>
              <a:srgbClr val="7F7F7F"/>
            </a:solidFill>
            <a:prstDash val="dash"/>
            <a:headEnd type="none"/>
            <a:tailEnd type="triangle"/>
          </a:ln>
        </p:spPr>
        <p:style>
          <a:lnRef idx="2">
            <a:schemeClr val="accent1"/>
          </a:lnRef>
          <a:fillRef idx="0">
            <a:schemeClr val="accent1"/>
          </a:fillRef>
          <a:effectRef idx="1">
            <a:schemeClr val="accent1"/>
          </a:effectRef>
          <a:fontRef idx="minor">
            <a:schemeClr val="tx1"/>
          </a:fontRef>
        </p:style>
      </p:cxnSp>
      <p:cxnSp>
        <p:nvCxnSpPr>
          <p:cNvPr id="59" name="Straight Arrow Connector 13"/>
          <p:cNvCxnSpPr/>
          <p:nvPr/>
        </p:nvCxnSpPr>
        <p:spPr>
          <a:xfrm flipV="1">
            <a:off x="3030578" y="4626785"/>
            <a:ext cx="0" cy="667738"/>
          </a:xfrm>
          <a:prstGeom prst="straightConnector1">
            <a:avLst/>
          </a:prstGeom>
          <a:ln>
            <a:solidFill>
              <a:schemeClr val="accent3">
                <a:lumMod val="75000"/>
              </a:schemeClr>
            </a:solidFill>
            <a:tailEnd type="arrow"/>
          </a:ln>
        </p:spPr>
        <p:style>
          <a:lnRef idx="2">
            <a:schemeClr val="accent1"/>
          </a:lnRef>
          <a:fillRef idx="0">
            <a:schemeClr val="accent1"/>
          </a:fillRef>
          <a:effectRef idx="1">
            <a:schemeClr val="accent1"/>
          </a:effectRef>
          <a:fontRef idx="minor">
            <a:schemeClr val="tx1"/>
          </a:fontRef>
        </p:style>
      </p:cxnSp>
      <p:sp>
        <p:nvSpPr>
          <p:cNvPr id="60" name="Rectangle 35"/>
          <p:cNvSpPr>
            <a:spLocks/>
          </p:cNvSpPr>
          <p:nvPr/>
        </p:nvSpPr>
        <p:spPr bwMode="auto">
          <a:xfrm>
            <a:off x="2877185" y="4221681"/>
            <a:ext cx="286938"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VP</a:t>
            </a:r>
          </a:p>
        </p:txBody>
      </p:sp>
      <p:sp>
        <p:nvSpPr>
          <p:cNvPr id="62" name="Rectangle 35"/>
          <p:cNvSpPr>
            <a:spLocks/>
          </p:cNvSpPr>
          <p:nvPr/>
        </p:nvSpPr>
        <p:spPr bwMode="auto">
          <a:xfrm>
            <a:off x="3042455" y="5315831"/>
            <a:ext cx="12824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0</a:t>
            </a:r>
          </a:p>
        </p:txBody>
      </p:sp>
      <p:sp>
        <p:nvSpPr>
          <p:cNvPr id="63" name="CuadroTexto 62"/>
          <p:cNvSpPr txBox="1"/>
          <p:nvPr/>
        </p:nvSpPr>
        <p:spPr>
          <a:xfrm>
            <a:off x="8516659" y="5238141"/>
            <a:ext cx="1295747" cy="400110"/>
          </a:xfrm>
          <a:prstGeom prst="rect">
            <a:avLst/>
          </a:prstGeom>
          <a:noFill/>
        </p:spPr>
        <p:txBody>
          <a:bodyPr wrap="square" rtlCol="0">
            <a:spAutoFit/>
          </a:bodyPr>
          <a:lstStyle/>
          <a:p>
            <a:r>
              <a:rPr lang="es-ES" sz="2000"/>
              <a:t>…</a:t>
            </a:r>
          </a:p>
        </p:txBody>
      </p:sp>
      <p:sp>
        <p:nvSpPr>
          <p:cNvPr id="14" name="Title 1">
            <a:extLst>
              <a:ext uri="{FF2B5EF4-FFF2-40B4-BE49-F238E27FC236}">
                <a16:creationId xmlns:a16="http://schemas.microsoft.com/office/drawing/2014/main" id="{9B7D79B5-FAE8-8251-4D97-B651E6C70FC9}"/>
              </a:ext>
            </a:extLst>
          </p:cNvPr>
          <p:cNvSpPr>
            <a:spLocks noGrp="1"/>
          </p:cNvSpPr>
          <p:nvPr>
            <p:ph type="title"/>
          </p:nvPr>
        </p:nvSpPr>
        <p:spPr>
          <a:xfrm>
            <a:off x="581192" y="702156"/>
            <a:ext cx="11029616" cy="1013800"/>
          </a:xfrm>
        </p:spPr>
        <p:txBody>
          <a:bodyPr/>
          <a:lstStyle/>
          <a:p>
            <a:r>
              <a:rPr lang="es-ES_tradnl">
                <a:latin typeface="Century Gothic" panose="020B0502020202020204" pitchFamily="34" charset="0"/>
              </a:rPr>
              <a:t>Gradientes geométricos</a:t>
            </a:r>
          </a:p>
        </p:txBody>
      </p:sp>
      <p:sp>
        <p:nvSpPr>
          <p:cNvPr id="21" name="Rectángulo 20">
            <a:extLst>
              <a:ext uri="{FF2B5EF4-FFF2-40B4-BE49-F238E27FC236}">
                <a16:creationId xmlns:a16="http://schemas.microsoft.com/office/drawing/2014/main" id="{440DA805-4130-1D1E-8696-30EA626ACE44}"/>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22" name="Picture 2" descr="Clientes y aliados | Centro de Evaluación | Uniandes">
            <a:extLst>
              <a:ext uri="{FF2B5EF4-FFF2-40B4-BE49-F238E27FC236}">
                <a16:creationId xmlns:a16="http://schemas.microsoft.com/office/drawing/2014/main" id="{8F97084D-A900-83E3-DEA5-B7D5909F8BB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23" name="Rectángulo 22">
            <a:extLst>
              <a:ext uri="{FF2B5EF4-FFF2-40B4-BE49-F238E27FC236}">
                <a16:creationId xmlns:a16="http://schemas.microsoft.com/office/drawing/2014/main" id="{132AF02A-D24C-5BA0-07E4-4F7A69530701}"/>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11431379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fade">
                                      <p:cBhvr>
                                        <p:cTn id="7" dur="500"/>
                                        <p:tgtEl>
                                          <p:spTgt spid="28"/>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44"/>
                                        </p:tgtEl>
                                        <p:attrNameLst>
                                          <p:attrName>style.visibility</p:attrName>
                                        </p:attrNameLst>
                                      </p:cBhvr>
                                      <p:to>
                                        <p:strVal val="visible"/>
                                      </p:to>
                                    </p:set>
                                    <p:animEffect transition="in" filter="fade">
                                      <p:cBhvr>
                                        <p:cTn id="11" dur="500"/>
                                        <p:tgtEl>
                                          <p:spTgt spid="44"/>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47"/>
                                        </p:tgtEl>
                                        <p:attrNameLst>
                                          <p:attrName>style.visibility</p:attrName>
                                        </p:attrNameLst>
                                      </p:cBhvr>
                                      <p:to>
                                        <p:strVal val="visible"/>
                                      </p:to>
                                    </p:set>
                                    <p:animEffect transition="in" filter="fade">
                                      <p:cBhvr>
                                        <p:cTn id="15" dur="500"/>
                                        <p:tgtEl>
                                          <p:spTgt spid="47"/>
                                        </p:tgtEl>
                                      </p:cBhvr>
                                    </p:animEffect>
                                  </p:childTnLst>
                                </p:cTn>
                              </p:par>
                            </p:childTnLst>
                          </p:cTn>
                        </p:par>
                        <p:par>
                          <p:cTn id="16" fill="hold">
                            <p:stCondLst>
                              <p:cond delay="1500"/>
                            </p:stCondLst>
                            <p:childTnLst>
                              <p:par>
                                <p:cTn id="17" presetID="10" presetClass="entr" presetSubtype="0" fill="hold" nodeType="afterEffect">
                                  <p:stCondLst>
                                    <p:cond delay="0"/>
                                  </p:stCondLst>
                                  <p:childTnLst>
                                    <p:set>
                                      <p:cBhvr>
                                        <p:cTn id="18" dur="1" fill="hold">
                                          <p:stCondLst>
                                            <p:cond delay="0"/>
                                          </p:stCondLst>
                                        </p:cTn>
                                        <p:tgtEl>
                                          <p:spTgt spid="50"/>
                                        </p:tgtEl>
                                        <p:attrNameLst>
                                          <p:attrName>style.visibility</p:attrName>
                                        </p:attrNameLst>
                                      </p:cBhvr>
                                      <p:to>
                                        <p:strVal val="visible"/>
                                      </p:to>
                                    </p:set>
                                    <p:animEffect transition="in" filter="fade">
                                      <p:cBhvr>
                                        <p:cTn id="19" dur="500"/>
                                        <p:tgtEl>
                                          <p:spTgt spid="50"/>
                                        </p:tgtEl>
                                      </p:cBhvr>
                                    </p:animEffect>
                                  </p:childTnLst>
                                </p:cTn>
                              </p:par>
                            </p:childTnLst>
                          </p:cTn>
                        </p:par>
                        <p:par>
                          <p:cTn id="20" fill="hold">
                            <p:stCondLst>
                              <p:cond delay="2000"/>
                            </p:stCondLst>
                            <p:childTnLst>
                              <p:par>
                                <p:cTn id="21" presetID="10" presetClass="entr" presetSubtype="0" fill="hold" nodeType="afterEffect">
                                  <p:stCondLst>
                                    <p:cond delay="0"/>
                                  </p:stCondLst>
                                  <p:childTnLst>
                                    <p:set>
                                      <p:cBhvr>
                                        <p:cTn id="22" dur="1" fill="hold">
                                          <p:stCondLst>
                                            <p:cond delay="0"/>
                                          </p:stCondLst>
                                        </p:cTn>
                                        <p:tgtEl>
                                          <p:spTgt spid="53"/>
                                        </p:tgtEl>
                                        <p:attrNameLst>
                                          <p:attrName>style.visibility</p:attrName>
                                        </p:attrNameLst>
                                      </p:cBhvr>
                                      <p:to>
                                        <p:strVal val="visible"/>
                                      </p:to>
                                    </p:set>
                                    <p:animEffect transition="in" filter="fade">
                                      <p:cBhvr>
                                        <p:cTn id="23" dur="500"/>
                                        <p:tgtEl>
                                          <p:spTgt spid="53"/>
                                        </p:tgtEl>
                                      </p:cBhvr>
                                    </p:animEffect>
                                  </p:childTnLst>
                                </p:cTn>
                              </p:par>
                            </p:childTnLst>
                          </p:cTn>
                        </p:par>
                        <p:par>
                          <p:cTn id="24" fill="hold">
                            <p:stCondLst>
                              <p:cond delay="2500"/>
                            </p:stCondLst>
                            <p:childTnLst>
                              <p:par>
                                <p:cTn id="25" presetID="10" presetClass="entr" presetSubtype="0" fill="hold" nodeType="afterEffect">
                                  <p:stCondLst>
                                    <p:cond delay="0"/>
                                  </p:stCondLst>
                                  <p:childTnLst>
                                    <p:set>
                                      <p:cBhvr>
                                        <p:cTn id="26" dur="1" fill="hold">
                                          <p:stCondLst>
                                            <p:cond delay="0"/>
                                          </p:stCondLst>
                                        </p:cTn>
                                        <p:tgtEl>
                                          <p:spTgt spid="56"/>
                                        </p:tgtEl>
                                        <p:attrNameLst>
                                          <p:attrName>style.visibility</p:attrName>
                                        </p:attrNameLst>
                                      </p:cBhvr>
                                      <p:to>
                                        <p:strVal val="visible"/>
                                      </p:to>
                                    </p:set>
                                    <p:animEffect transition="in" filter="fade">
                                      <p:cBhvr>
                                        <p:cTn id="27" dur="500"/>
                                        <p:tgtEl>
                                          <p:spTgt spid="56"/>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xit" presetSubtype="4" fill="hold" nodeType="clickEffect">
                                  <p:stCondLst>
                                    <p:cond delay="0"/>
                                  </p:stCondLst>
                                  <p:childTnLst>
                                    <p:animEffect transition="out" filter="wipe(down)">
                                      <p:cBhvr>
                                        <p:cTn id="31" dur="500"/>
                                        <p:tgtEl>
                                          <p:spTgt spid="8"/>
                                        </p:tgtEl>
                                      </p:cBhvr>
                                    </p:animEffect>
                                    <p:set>
                                      <p:cBhvr>
                                        <p:cTn id="32" dur="1" fill="hold">
                                          <p:stCondLst>
                                            <p:cond delay="499"/>
                                          </p:stCondLst>
                                        </p:cTn>
                                        <p:tgtEl>
                                          <p:spTgt spid="8"/>
                                        </p:tgtEl>
                                        <p:attrNameLst>
                                          <p:attrName>style.visibility</p:attrName>
                                        </p:attrNameLst>
                                      </p:cBhvr>
                                      <p:to>
                                        <p:strVal val="hidden"/>
                                      </p:to>
                                    </p:set>
                                  </p:childTnLst>
                                </p:cTn>
                              </p:par>
                              <p:par>
                                <p:cTn id="33" presetID="22" presetClass="exit" presetSubtype="4" fill="hold" nodeType="withEffect">
                                  <p:stCondLst>
                                    <p:cond delay="0"/>
                                  </p:stCondLst>
                                  <p:childTnLst>
                                    <p:animEffect transition="out" filter="wipe(down)">
                                      <p:cBhvr>
                                        <p:cTn id="34" dur="500"/>
                                        <p:tgtEl>
                                          <p:spTgt spid="9"/>
                                        </p:tgtEl>
                                      </p:cBhvr>
                                    </p:animEffect>
                                    <p:set>
                                      <p:cBhvr>
                                        <p:cTn id="35" dur="1" fill="hold">
                                          <p:stCondLst>
                                            <p:cond delay="499"/>
                                          </p:stCondLst>
                                        </p:cTn>
                                        <p:tgtEl>
                                          <p:spTgt spid="9"/>
                                        </p:tgtEl>
                                        <p:attrNameLst>
                                          <p:attrName>style.visibility</p:attrName>
                                        </p:attrNameLst>
                                      </p:cBhvr>
                                      <p:to>
                                        <p:strVal val="hidden"/>
                                      </p:to>
                                    </p:set>
                                  </p:childTnLst>
                                </p:cTn>
                              </p:par>
                              <p:par>
                                <p:cTn id="36" presetID="22" presetClass="exit" presetSubtype="4" fill="hold" nodeType="withEffect">
                                  <p:stCondLst>
                                    <p:cond delay="0"/>
                                  </p:stCondLst>
                                  <p:childTnLst>
                                    <p:animEffect transition="out" filter="wipe(down)">
                                      <p:cBhvr>
                                        <p:cTn id="37" dur="500"/>
                                        <p:tgtEl>
                                          <p:spTgt spid="10"/>
                                        </p:tgtEl>
                                      </p:cBhvr>
                                    </p:animEffect>
                                    <p:set>
                                      <p:cBhvr>
                                        <p:cTn id="38" dur="1" fill="hold">
                                          <p:stCondLst>
                                            <p:cond delay="499"/>
                                          </p:stCondLst>
                                        </p:cTn>
                                        <p:tgtEl>
                                          <p:spTgt spid="10"/>
                                        </p:tgtEl>
                                        <p:attrNameLst>
                                          <p:attrName>style.visibility</p:attrName>
                                        </p:attrNameLst>
                                      </p:cBhvr>
                                      <p:to>
                                        <p:strVal val="hidden"/>
                                      </p:to>
                                    </p:set>
                                  </p:childTnLst>
                                </p:cTn>
                              </p:par>
                              <p:par>
                                <p:cTn id="39" presetID="22" presetClass="exit" presetSubtype="4" fill="hold" nodeType="withEffect">
                                  <p:stCondLst>
                                    <p:cond delay="0"/>
                                  </p:stCondLst>
                                  <p:childTnLst>
                                    <p:animEffect transition="out" filter="wipe(down)">
                                      <p:cBhvr>
                                        <p:cTn id="40" dur="500"/>
                                        <p:tgtEl>
                                          <p:spTgt spid="11"/>
                                        </p:tgtEl>
                                      </p:cBhvr>
                                    </p:animEffect>
                                    <p:set>
                                      <p:cBhvr>
                                        <p:cTn id="41" dur="1" fill="hold">
                                          <p:stCondLst>
                                            <p:cond delay="499"/>
                                          </p:stCondLst>
                                        </p:cTn>
                                        <p:tgtEl>
                                          <p:spTgt spid="11"/>
                                        </p:tgtEl>
                                        <p:attrNameLst>
                                          <p:attrName>style.visibility</p:attrName>
                                        </p:attrNameLst>
                                      </p:cBhvr>
                                      <p:to>
                                        <p:strVal val="hidden"/>
                                      </p:to>
                                    </p:set>
                                  </p:childTnLst>
                                </p:cTn>
                              </p:par>
                              <p:par>
                                <p:cTn id="42" presetID="22" presetClass="exit" presetSubtype="4" fill="hold" nodeType="withEffect">
                                  <p:stCondLst>
                                    <p:cond delay="0"/>
                                  </p:stCondLst>
                                  <p:childTnLst>
                                    <p:animEffect transition="out" filter="wipe(down)">
                                      <p:cBhvr>
                                        <p:cTn id="43" dur="500"/>
                                        <p:tgtEl>
                                          <p:spTgt spid="12"/>
                                        </p:tgtEl>
                                      </p:cBhvr>
                                    </p:animEffect>
                                    <p:set>
                                      <p:cBhvr>
                                        <p:cTn id="44" dur="1" fill="hold">
                                          <p:stCondLst>
                                            <p:cond delay="499"/>
                                          </p:stCondLst>
                                        </p:cTn>
                                        <p:tgtEl>
                                          <p:spTgt spid="12"/>
                                        </p:tgtEl>
                                        <p:attrNameLst>
                                          <p:attrName>style.visibility</p:attrName>
                                        </p:attrNameLst>
                                      </p:cBhvr>
                                      <p:to>
                                        <p:strVal val="hidden"/>
                                      </p:to>
                                    </p:set>
                                  </p:childTnLst>
                                </p:cTn>
                              </p:par>
                              <p:par>
                                <p:cTn id="45" presetID="22" presetClass="exit" presetSubtype="4" fill="hold" nodeType="withEffect">
                                  <p:stCondLst>
                                    <p:cond delay="0"/>
                                  </p:stCondLst>
                                  <p:childTnLst>
                                    <p:animEffect transition="out" filter="wipe(down)">
                                      <p:cBhvr>
                                        <p:cTn id="46" dur="500"/>
                                        <p:tgtEl>
                                          <p:spTgt spid="13"/>
                                        </p:tgtEl>
                                      </p:cBhvr>
                                    </p:animEffect>
                                    <p:set>
                                      <p:cBhvr>
                                        <p:cTn id="47" dur="1" fill="hold">
                                          <p:stCondLst>
                                            <p:cond delay="499"/>
                                          </p:stCondLst>
                                        </p:cTn>
                                        <p:tgtEl>
                                          <p:spTgt spid="13"/>
                                        </p:tgtEl>
                                        <p:attrNameLst>
                                          <p:attrName>style.visibility</p:attrName>
                                        </p:attrNameLst>
                                      </p:cBhvr>
                                      <p:to>
                                        <p:strVal val="hidden"/>
                                      </p:to>
                                    </p:set>
                                  </p:childTnLst>
                                </p:cTn>
                              </p:par>
                              <p:par>
                                <p:cTn id="48" presetID="22" presetClass="exit" presetSubtype="4" fill="hold" nodeType="withEffect">
                                  <p:stCondLst>
                                    <p:cond delay="0"/>
                                  </p:stCondLst>
                                  <p:childTnLst>
                                    <p:animEffect transition="out" filter="wipe(down)">
                                      <p:cBhvr>
                                        <p:cTn id="49" dur="500"/>
                                        <p:tgtEl>
                                          <p:spTgt spid="28"/>
                                        </p:tgtEl>
                                      </p:cBhvr>
                                    </p:animEffect>
                                    <p:set>
                                      <p:cBhvr>
                                        <p:cTn id="50" dur="1" fill="hold">
                                          <p:stCondLst>
                                            <p:cond delay="499"/>
                                          </p:stCondLst>
                                        </p:cTn>
                                        <p:tgtEl>
                                          <p:spTgt spid="28"/>
                                        </p:tgtEl>
                                        <p:attrNameLst>
                                          <p:attrName>style.visibility</p:attrName>
                                        </p:attrNameLst>
                                      </p:cBhvr>
                                      <p:to>
                                        <p:strVal val="hidden"/>
                                      </p:to>
                                    </p:set>
                                  </p:childTnLst>
                                </p:cTn>
                              </p:par>
                              <p:par>
                                <p:cTn id="51" presetID="22" presetClass="exit" presetSubtype="4" fill="hold" nodeType="withEffect">
                                  <p:stCondLst>
                                    <p:cond delay="0"/>
                                  </p:stCondLst>
                                  <p:childTnLst>
                                    <p:animEffect transition="out" filter="wipe(down)">
                                      <p:cBhvr>
                                        <p:cTn id="52" dur="500"/>
                                        <p:tgtEl>
                                          <p:spTgt spid="44"/>
                                        </p:tgtEl>
                                      </p:cBhvr>
                                    </p:animEffect>
                                    <p:set>
                                      <p:cBhvr>
                                        <p:cTn id="53" dur="1" fill="hold">
                                          <p:stCondLst>
                                            <p:cond delay="499"/>
                                          </p:stCondLst>
                                        </p:cTn>
                                        <p:tgtEl>
                                          <p:spTgt spid="44"/>
                                        </p:tgtEl>
                                        <p:attrNameLst>
                                          <p:attrName>style.visibility</p:attrName>
                                        </p:attrNameLst>
                                      </p:cBhvr>
                                      <p:to>
                                        <p:strVal val="hidden"/>
                                      </p:to>
                                    </p:set>
                                  </p:childTnLst>
                                </p:cTn>
                              </p:par>
                              <p:par>
                                <p:cTn id="54" presetID="22" presetClass="exit" presetSubtype="4" fill="hold" nodeType="withEffect">
                                  <p:stCondLst>
                                    <p:cond delay="0"/>
                                  </p:stCondLst>
                                  <p:childTnLst>
                                    <p:animEffect transition="out" filter="wipe(down)">
                                      <p:cBhvr>
                                        <p:cTn id="55" dur="500"/>
                                        <p:tgtEl>
                                          <p:spTgt spid="47"/>
                                        </p:tgtEl>
                                      </p:cBhvr>
                                    </p:animEffect>
                                    <p:set>
                                      <p:cBhvr>
                                        <p:cTn id="56" dur="1" fill="hold">
                                          <p:stCondLst>
                                            <p:cond delay="499"/>
                                          </p:stCondLst>
                                        </p:cTn>
                                        <p:tgtEl>
                                          <p:spTgt spid="47"/>
                                        </p:tgtEl>
                                        <p:attrNameLst>
                                          <p:attrName>style.visibility</p:attrName>
                                        </p:attrNameLst>
                                      </p:cBhvr>
                                      <p:to>
                                        <p:strVal val="hidden"/>
                                      </p:to>
                                    </p:set>
                                  </p:childTnLst>
                                </p:cTn>
                              </p:par>
                              <p:par>
                                <p:cTn id="57" presetID="22" presetClass="exit" presetSubtype="4" fill="hold" nodeType="withEffect">
                                  <p:stCondLst>
                                    <p:cond delay="0"/>
                                  </p:stCondLst>
                                  <p:childTnLst>
                                    <p:animEffect transition="out" filter="wipe(down)">
                                      <p:cBhvr>
                                        <p:cTn id="58" dur="500"/>
                                        <p:tgtEl>
                                          <p:spTgt spid="50"/>
                                        </p:tgtEl>
                                      </p:cBhvr>
                                    </p:animEffect>
                                    <p:set>
                                      <p:cBhvr>
                                        <p:cTn id="59" dur="1" fill="hold">
                                          <p:stCondLst>
                                            <p:cond delay="499"/>
                                          </p:stCondLst>
                                        </p:cTn>
                                        <p:tgtEl>
                                          <p:spTgt spid="50"/>
                                        </p:tgtEl>
                                        <p:attrNameLst>
                                          <p:attrName>style.visibility</p:attrName>
                                        </p:attrNameLst>
                                      </p:cBhvr>
                                      <p:to>
                                        <p:strVal val="hidden"/>
                                      </p:to>
                                    </p:set>
                                  </p:childTnLst>
                                </p:cTn>
                              </p:par>
                              <p:par>
                                <p:cTn id="60" presetID="22" presetClass="exit" presetSubtype="4" fill="hold" nodeType="withEffect">
                                  <p:stCondLst>
                                    <p:cond delay="0"/>
                                  </p:stCondLst>
                                  <p:childTnLst>
                                    <p:animEffect transition="out" filter="wipe(down)">
                                      <p:cBhvr>
                                        <p:cTn id="61" dur="500"/>
                                        <p:tgtEl>
                                          <p:spTgt spid="53"/>
                                        </p:tgtEl>
                                      </p:cBhvr>
                                    </p:animEffect>
                                    <p:set>
                                      <p:cBhvr>
                                        <p:cTn id="62" dur="1" fill="hold">
                                          <p:stCondLst>
                                            <p:cond delay="499"/>
                                          </p:stCondLst>
                                        </p:cTn>
                                        <p:tgtEl>
                                          <p:spTgt spid="53"/>
                                        </p:tgtEl>
                                        <p:attrNameLst>
                                          <p:attrName>style.visibility</p:attrName>
                                        </p:attrNameLst>
                                      </p:cBhvr>
                                      <p:to>
                                        <p:strVal val="hidden"/>
                                      </p:to>
                                    </p:set>
                                  </p:childTnLst>
                                </p:cTn>
                              </p:par>
                              <p:par>
                                <p:cTn id="63" presetID="22" presetClass="exit" presetSubtype="4" fill="hold" nodeType="withEffect">
                                  <p:stCondLst>
                                    <p:cond delay="0"/>
                                  </p:stCondLst>
                                  <p:childTnLst>
                                    <p:animEffect transition="out" filter="wipe(down)">
                                      <p:cBhvr>
                                        <p:cTn id="64" dur="500"/>
                                        <p:tgtEl>
                                          <p:spTgt spid="56"/>
                                        </p:tgtEl>
                                      </p:cBhvr>
                                    </p:animEffect>
                                    <p:set>
                                      <p:cBhvr>
                                        <p:cTn id="65" dur="1" fill="hold">
                                          <p:stCondLst>
                                            <p:cond delay="499"/>
                                          </p:stCondLst>
                                        </p:cTn>
                                        <p:tgtEl>
                                          <p:spTgt spid="56"/>
                                        </p:tgtEl>
                                        <p:attrNameLst>
                                          <p:attrName>style.visibility</p:attrName>
                                        </p:attrNameLst>
                                      </p:cBhvr>
                                      <p:to>
                                        <p:strVal val="hidden"/>
                                      </p:to>
                                    </p:set>
                                  </p:childTnLst>
                                </p:cTn>
                              </p:par>
                            </p:childTnLst>
                          </p:cTn>
                        </p:par>
                        <p:par>
                          <p:cTn id="66" fill="hold">
                            <p:stCondLst>
                              <p:cond delay="500"/>
                            </p:stCondLst>
                            <p:childTnLst>
                              <p:par>
                                <p:cTn id="67" presetID="22" presetClass="entr" presetSubtype="4" fill="hold" nodeType="afterEffect">
                                  <p:stCondLst>
                                    <p:cond delay="0"/>
                                  </p:stCondLst>
                                  <p:childTnLst>
                                    <p:set>
                                      <p:cBhvr>
                                        <p:cTn id="68" dur="1" fill="hold">
                                          <p:stCondLst>
                                            <p:cond delay="0"/>
                                          </p:stCondLst>
                                        </p:cTn>
                                        <p:tgtEl>
                                          <p:spTgt spid="59"/>
                                        </p:tgtEl>
                                        <p:attrNameLst>
                                          <p:attrName>style.visibility</p:attrName>
                                        </p:attrNameLst>
                                      </p:cBhvr>
                                      <p:to>
                                        <p:strVal val="visible"/>
                                      </p:to>
                                    </p:set>
                                    <p:animEffect transition="in" filter="wipe(down)">
                                      <p:cBhvr>
                                        <p:cTn id="69" dur="500"/>
                                        <p:tgtEl>
                                          <p:spTgt spid="59"/>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60"/>
                                        </p:tgtEl>
                                        <p:attrNameLst>
                                          <p:attrName>style.visibility</p:attrName>
                                        </p:attrNameLst>
                                      </p:cBhvr>
                                      <p:to>
                                        <p:strVal val="visible"/>
                                      </p:to>
                                    </p:set>
                                    <p:animEffect transition="in" filter="fade">
                                      <p:cBhvr>
                                        <p:cTn id="72" dur="50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 grpId="0"/>
    </p:bldLst>
  </p:timing>
</p:sld>
</file>

<file path=ppt/slides/slide5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581193" y="1838451"/>
            <a:ext cx="11029615" cy="722803"/>
          </a:xfrm>
        </p:spPr>
        <p:txBody>
          <a:bodyPr>
            <a:noAutofit/>
          </a:bodyPr>
          <a:lstStyle/>
          <a:p>
            <a:pPr marL="0" indent="0">
              <a:buNone/>
            </a:pPr>
            <a:r>
              <a:rPr lang="es-ES" sz="2400"/>
              <a:t>Por lo tanto, la suma de todos los componentes de la serie es:</a:t>
            </a:r>
          </a:p>
        </p:txBody>
      </p:sp>
      <p:sp>
        <p:nvSpPr>
          <p:cNvPr id="4" name="Marcador de número de diapositiva 3"/>
          <p:cNvSpPr>
            <a:spLocks noGrp="1"/>
          </p:cNvSpPr>
          <p:nvPr>
            <p:ph type="sldNum" sz="quarter" idx="12"/>
          </p:nvPr>
        </p:nvSpPr>
        <p:spPr/>
        <p:txBody>
          <a:bodyPr/>
          <a:lstStyle/>
          <a:p>
            <a:fld id="{5E3E23BA-6E79-2442-BA73-D218A5E297C3}" type="slidenum">
              <a:rPr lang="en-US" smtClean="0"/>
              <a:t>59</a:t>
            </a:fld>
            <a:endParaRPr lang="en-US"/>
          </a:p>
        </p:txBody>
      </p:sp>
      <p:pic>
        <p:nvPicPr>
          <p:cNvPr id="7" name="Imagen 6" descr="latex-image-1.pdf"/>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14964" y="2431774"/>
            <a:ext cx="1962073" cy="763993"/>
          </a:xfrm>
          <a:prstGeom prst="rect">
            <a:avLst/>
          </a:prstGeom>
        </p:spPr>
      </p:pic>
      <p:pic>
        <p:nvPicPr>
          <p:cNvPr id="8" name="Imagen 7" descr="latex-image-1.pdf"/>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71806" y="3390851"/>
            <a:ext cx="2871376" cy="847923"/>
          </a:xfrm>
          <a:prstGeom prst="rect">
            <a:avLst/>
          </a:prstGeom>
        </p:spPr>
      </p:pic>
      <p:pic>
        <p:nvPicPr>
          <p:cNvPr id="9" name="Imagen 8" descr="latex-image-1.pdf"/>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329323" y="4322968"/>
            <a:ext cx="3533354" cy="863709"/>
          </a:xfrm>
          <a:prstGeom prst="rect">
            <a:avLst/>
          </a:prstGeom>
        </p:spPr>
      </p:pic>
      <p:pic>
        <p:nvPicPr>
          <p:cNvPr id="10" name="Imagen 9" descr="latex-image-1.pdf"/>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312252" y="5737305"/>
            <a:ext cx="3390867" cy="863130"/>
          </a:xfrm>
          <a:prstGeom prst="rect">
            <a:avLst/>
          </a:prstGeom>
        </p:spPr>
      </p:pic>
      <p:sp>
        <p:nvSpPr>
          <p:cNvPr id="12" name="Title 1">
            <a:extLst>
              <a:ext uri="{FF2B5EF4-FFF2-40B4-BE49-F238E27FC236}">
                <a16:creationId xmlns:a16="http://schemas.microsoft.com/office/drawing/2014/main" id="{27EAB4CF-0097-84F4-496B-DDAF262705EB}"/>
              </a:ext>
            </a:extLst>
          </p:cNvPr>
          <p:cNvSpPr>
            <a:spLocks noGrp="1"/>
          </p:cNvSpPr>
          <p:nvPr>
            <p:ph type="title"/>
          </p:nvPr>
        </p:nvSpPr>
        <p:spPr>
          <a:xfrm>
            <a:off x="581192" y="728512"/>
            <a:ext cx="11029616" cy="1013800"/>
          </a:xfrm>
        </p:spPr>
        <p:txBody>
          <a:bodyPr/>
          <a:lstStyle/>
          <a:p>
            <a:r>
              <a:rPr lang="es-ES_tradnl">
                <a:latin typeface="Century Gothic" panose="020B0502020202020204" pitchFamily="34" charset="0"/>
              </a:rPr>
              <a:t>Gradientes geométricos</a:t>
            </a:r>
          </a:p>
        </p:txBody>
      </p:sp>
      <p:sp>
        <p:nvSpPr>
          <p:cNvPr id="13" name="Rectángulo 12">
            <a:extLst>
              <a:ext uri="{FF2B5EF4-FFF2-40B4-BE49-F238E27FC236}">
                <a16:creationId xmlns:a16="http://schemas.microsoft.com/office/drawing/2014/main" id="{9A6E6360-8708-3F38-711A-1487ACF94C3A}"/>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4" name="Picture 2" descr="Clientes y aliados | Centro de Evaluación | Uniandes">
            <a:extLst>
              <a:ext uri="{FF2B5EF4-FFF2-40B4-BE49-F238E27FC236}">
                <a16:creationId xmlns:a16="http://schemas.microsoft.com/office/drawing/2014/main" id="{C1008732-D098-CCEE-4249-272DB4F5C39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5" name="Rectángulo 14">
            <a:extLst>
              <a:ext uri="{FF2B5EF4-FFF2-40B4-BE49-F238E27FC236}">
                <a16:creationId xmlns:a16="http://schemas.microsoft.com/office/drawing/2014/main" id="{4565EFEB-1880-8FBC-845C-886E84DF39E2}"/>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mc:AlternateContent xmlns:mc="http://schemas.openxmlformats.org/markup-compatibility/2006" xmlns:a14="http://schemas.microsoft.com/office/drawing/2010/main">
        <mc:Choice Requires="a14">
          <p:sp>
            <p:nvSpPr>
              <p:cNvPr id="5" name="CuadroTexto 4">
                <a:extLst>
                  <a:ext uri="{FF2B5EF4-FFF2-40B4-BE49-F238E27FC236}">
                    <a16:creationId xmlns:a16="http://schemas.microsoft.com/office/drawing/2014/main" id="{1694D5BE-6D9D-EC3F-A923-8E17D2F8DBFE}"/>
                  </a:ext>
                </a:extLst>
              </p:cNvPr>
              <p:cNvSpPr txBox="1"/>
              <p:nvPr/>
            </p:nvSpPr>
            <p:spPr>
              <a:xfrm>
                <a:off x="581192" y="5246602"/>
                <a:ext cx="11029616" cy="461665"/>
              </a:xfrm>
              <a:prstGeom prst="rect">
                <a:avLst/>
              </a:prstGeom>
              <a:noFill/>
            </p:spPr>
            <p:txBody>
              <a:bodyPr wrap="square">
                <a:spAutoFit/>
              </a:bodyPr>
              <a:lstStyle/>
              <a:p>
                <a:r>
                  <a:rPr lang="es-ES" sz="2400"/>
                  <a:t>Realizando un cambio de variable donde </a:t>
                </a:r>
                <a14:m>
                  <m:oMath xmlns:m="http://schemas.openxmlformats.org/officeDocument/2006/math">
                    <m:r>
                      <a:rPr lang="es-ES" sz="2400" b="0" i="1" smtClean="0">
                        <a:latin typeface="Cambria Math" panose="02040503050406030204" pitchFamily="18" charset="0"/>
                      </a:rPr>
                      <m:t>𝑗</m:t>
                    </m:r>
                    <m:r>
                      <a:rPr lang="es-ES" sz="2400" b="0" i="1" smtClean="0">
                        <a:latin typeface="Cambria Math" panose="02040503050406030204" pitchFamily="18" charset="0"/>
                      </a:rPr>
                      <m:t>−1=</m:t>
                    </m:r>
                    <m:r>
                      <a:rPr lang="es-ES" sz="2400" b="0" i="1" smtClean="0">
                        <a:latin typeface="Cambria Math" panose="02040503050406030204" pitchFamily="18" charset="0"/>
                      </a:rPr>
                      <m:t>𝐼</m:t>
                    </m:r>
                  </m:oMath>
                </a14:m>
                <a:r>
                  <a:rPr lang="es-ES" sz="2400"/>
                  <a:t> tenemos:</a:t>
                </a:r>
              </a:p>
            </p:txBody>
          </p:sp>
        </mc:Choice>
        <mc:Fallback xmlns="">
          <p:sp>
            <p:nvSpPr>
              <p:cNvPr id="5" name="CuadroTexto 4">
                <a:extLst>
                  <a:ext uri="{FF2B5EF4-FFF2-40B4-BE49-F238E27FC236}">
                    <a16:creationId xmlns:a16="http://schemas.microsoft.com/office/drawing/2014/main" id="{1694D5BE-6D9D-EC3F-A923-8E17D2F8DBFE}"/>
                  </a:ext>
                </a:extLst>
              </p:cNvPr>
              <p:cNvSpPr txBox="1">
                <a:spLocks noRot="1" noChangeAspect="1" noMove="1" noResize="1" noEditPoints="1" noAdjustHandles="1" noChangeArrowheads="1" noChangeShapeType="1" noTextEdit="1"/>
              </p:cNvSpPr>
              <p:nvPr/>
            </p:nvSpPr>
            <p:spPr>
              <a:xfrm>
                <a:off x="581192" y="5246602"/>
                <a:ext cx="11029616" cy="461665"/>
              </a:xfrm>
              <a:prstGeom prst="rect">
                <a:avLst/>
              </a:prstGeom>
              <a:blipFill>
                <a:blip r:embed="rId7"/>
                <a:stretch>
                  <a:fillRect l="-805" t="-10811" b="-29730"/>
                </a:stretch>
              </a:blipFill>
            </p:spPr>
            <p:txBody>
              <a:bodyPr/>
              <a:lstStyle/>
              <a:p>
                <a:r>
                  <a:rPr lang="es-CO">
                    <a:noFill/>
                  </a:rPr>
                  <a:t> </a:t>
                </a:r>
              </a:p>
            </p:txBody>
          </p:sp>
        </mc:Fallback>
      </mc:AlternateContent>
    </p:spTree>
    <p:extLst>
      <p:ext uri="{BB962C8B-B14F-4D97-AF65-F5344CB8AC3E}">
        <p14:creationId xmlns:p14="http://schemas.microsoft.com/office/powerpoint/2010/main" val="16176295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6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Marcador de contenido 2"/>
              <p:cNvSpPr>
                <a:spLocks noGrp="1"/>
              </p:cNvSpPr>
              <p:nvPr>
                <p:ph idx="1"/>
              </p:nvPr>
            </p:nvSpPr>
            <p:spPr>
              <a:xfrm>
                <a:off x="581192" y="1815647"/>
                <a:ext cx="11029616" cy="720616"/>
              </a:xfrm>
            </p:spPr>
            <p:txBody>
              <a:bodyPr>
                <a:normAutofit/>
              </a:bodyPr>
              <a:lstStyle/>
              <a:p>
                <a:pPr marL="0" indent="0">
                  <a:buNone/>
                </a:pPr>
                <a:r>
                  <a:rPr lang="es-ES" sz="2400"/>
                  <a:t>Sabemos adicionalmente que  </a:t>
                </a:r>
                <a14:m>
                  <m:oMath xmlns:m="http://schemas.openxmlformats.org/officeDocument/2006/math">
                    <m:nary>
                      <m:naryPr>
                        <m:chr m:val="∑"/>
                        <m:ctrlPr>
                          <a:rPr lang="es-ES" sz="2400" i="1" smtClean="0">
                            <a:latin typeface="Cambria Math" panose="02040503050406030204" pitchFamily="18" charset="0"/>
                          </a:rPr>
                        </m:ctrlPr>
                      </m:naryPr>
                      <m:sub>
                        <m:r>
                          <m:rPr>
                            <m:brk m:alnAt="23"/>
                          </m:rPr>
                          <a:rPr lang="es-ES" sz="2400" b="0" i="1" smtClean="0">
                            <a:latin typeface="Cambria Math" panose="02040503050406030204" pitchFamily="18" charset="0"/>
                          </a:rPr>
                          <m:t>𝐼</m:t>
                        </m:r>
                        <m:r>
                          <a:rPr lang="es-ES" sz="2400" b="0" i="1" smtClean="0">
                            <a:latin typeface="Cambria Math" panose="02040503050406030204" pitchFamily="18" charset="0"/>
                          </a:rPr>
                          <m:t>=0</m:t>
                        </m:r>
                      </m:sub>
                      <m:sup>
                        <m:r>
                          <a:rPr lang="es-ES" sz="2400" i="1" smtClean="0">
                            <a:latin typeface="Cambria Math" panose="02040503050406030204" pitchFamily="18" charset="0"/>
                            <a:ea typeface="Cambria Math" panose="02040503050406030204" pitchFamily="18" charset="0"/>
                          </a:rPr>
                          <m:t>∞</m:t>
                        </m:r>
                      </m:sup>
                      <m:e>
                        <m:sSup>
                          <m:sSupPr>
                            <m:ctrlPr>
                              <a:rPr lang="es-ES" sz="2400" b="0" i="1" smtClean="0">
                                <a:latin typeface="Cambria Math" panose="02040503050406030204" pitchFamily="18" charset="0"/>
                              </a:rPr>
                            </m:ctrlPr>
                          </m:sSupPr>
                          <m:e>
                            <m:r>
                              <a:rPr lang="es-ES" sz="2400" b="0" i="1" smtClean="0">
                                <a:latin typeface="Cambria Math" panose="02040503050406030204" pitchFamily="18" charset="0"/>
                              </a:rPr>
                              <m:t>𝑎</m:t>
                            </m:r>
                          </m:e>
                          <m:sup>
                            <m:r>
                              <a:rPr lang="es-ES" sz="2400" b="0" i="1" smtClean="0">
                                <a:latin typeface="Cambria Math" panose="02040503050406030204" pitchFamily="18" charset="0"/>
                              </a:rPr>
                              <m:t>𝐼</m:t>
                            </m:r>
                          </m:sup>
                        </m:sSup>
                        <m:r>
                          <a:rPr lang="es-ES" sz="2400" b="0" i="1" smtClean="0">
                            <a:latin typeface="Cambria Math" panose="02040503050406030204" pitchFamily="18" charset="0"/>
                          </a:rPr>
                          <m:t>=</m:t>
                        </m:r>
                        <m:f>
                          <m:fPr>
                            <m:ctrlPr>
                              <a:rPr lang="es-ES" sz="2400" b="0" i="1" smtClean="0">
                                <a:latin typeface="Cambria Math" panose="02040503050406030204" pitchFamily="18" charset="0"/>
                              </a:rPr>
                            </m:ctrlPr>
                          </m:fPr>
                          <m:num>
                            <m:r>
                              <a:rPr lang="es-ES" sz="2400" b="0" i="1" smtClean="0">
                                <a:latin typeface="Cambria Math" panose="02040503050406030204" pitchFamily="18" charset="0"/>
                              </a:rPr>
                              <m:t>1</m:t>
                            </m:r>
                          </m:num>
                          <m:den>
                            <m:r>
                              <a:rPr lang="es-ES" sz="2400" b="0" i="1" smtClean="0">
                                <a:latin typeface="Cambria Math" panose="02040503050406030204" pitchFamily="18" charset="0"/>
                              </a:rPr>
                              <m:t>1−</m:t>
                            </m:r>
                            <m:r>
                              <a:rPr lang="es-ES" sz="2400" b="0" i="1" smtClean="0">
                                <a:latin typeface="Cambria Math" panose="02040503050406030204" pitchFamily="18" charset="0"/>
                              </a:rPr>
                              <m:t>𝑎</m:t>
                            </m:r>
                          </m:den>
                        </m:f>
                      </m:e>
                    </m:nary>
                  </m:oMath>
                </a14:m>
                <a:r>
                  <a:rPr lang="es-ES" sz="2400"/>
                  <a:t>  para </a:t>
                </a:r>
                <a14:m>
                  <m:oMath xmlns:m="http://schemas.openxmlformats.org/officeDocument/2006/math">
                    <m:r>
                      <a:rPr lang="es-ES" sz="2400" b="0" i="1" smtClean="0">
                        <a:latin typeface="Cambria Math" panose="02040503050406030204" pitchFamily="18" charset="0"/>
                      </a:rPr>
                      <m:t>𝑎</m:t>
                    </m:r>
                    <m:r>
                      <a:rPr lang="es-ES" sz="2400" b="0" i="1" smtClean="0">
                        <a:latin typeface="Cambria Math" panose="02040503050406030204" pitchFamily="18" charset="0"/>
                      </a:rPr>
                      <m:t>&lt;1</m:t>
                    </m:r>
                  </m:oMath>
                </a14:m>
                <a:r>
                  <a:rPr lang="es-ES" sz="2400"/>
                  <a:t>, luego:</a:t>
                </a:r>
              </a:p>
            </p:txBody>
          </p:sp>
        </mc:Choice>
        <mc:Fallback xmlns="">
          <p:sp>
            <p:nvSpPr>
              <p:cNvPr id="3" name="Marcador de contenido 2"/>
              <p:cNvSpPr>
                <a:spLocks noGrp="1" noRot="1" noChangeAspect="1" noMove="1" noResize="1" noEditPoints="1" noAdjustHandles="1" noChangeArrowheads="1" noChangeShapeType="1" noTextEdit="1"/>
              </p:cNvSpPr>
              <p:nvPr>
                <p:ph idx="1"/>
              </p:nvPr>
            </p:nvSpPr>
            <p:spPr>
              <a:xfrm>
                <a:off x="581192" y="1815647"/>
                <a:ext cx="11029616" cy="720616"/>
              </a:xfrm>
              <a:blipFill>
                <a:blip r:embed="rId2"/>
                <a:stretch>
                  <a:fillRect l="-805" t="-64912" b="-108772"/>
                </a:stretch>
              </a:blipFill>
            </p:spPr>
            <p:txBody>
              <a:bodyPr/>
              <a:lstStyle/>
              <a:p>
                <a:r>
                  <a:rPr lang="es-CO">
                    <a:noFill/>
                  </a:rPr>
                  <a:t> </a:t>
                </a:r>
              </a:p>
            </p:txBody>
          </p:sp>
        </mc:Fallback>
      </mc:AlternateContent>
      <p:sp>
        <p:nvSpPr>
          <p:cNvPr id="4" name="Marcador de número de diapositiva 3"/>
          <p:cNvSpPr>
            <a:spLocks noGrp="1"/>
          </p:cNvSpPr>
          <p:nvPr>
            <p:ph type="sldNum" sz="quarter" idx="12"/>
          </p:nvPr>
        </p:nvSpPr>
        <p:spPr/>
        <p:txBody>
          <a:bodyPr/>
          <a:lstStyle/>
          <a:p>
            <a:fld id="{5E3E23BA-6E79-2442-BA73-D218A5E297C3}" type="slidenum">
              <a:rPr lang="en-US" smtClean="0"/>
              <a:t>60</a:t>
            </a:fld>
            <a:endParaRPr lang="en-US"/>
          </a:p>
        </p:txBody>
      </p:sp>
      <p:sp>
        <p:nvSpPr>
          <p:cNvPr id="8" name="Flecha derecha 7"/>
          <p:cNvSpPr/>
          <p:nvPr/>
        </p:nvSpPr>
        <p:spPr>
          <a:xfrm>
            <a:off x="6095999" y="5206165"/>
            <a:ext cx="449759" cy="537824"/>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a:p>
        </p:txBody>
      </p:sp>
      <p:sp>
        <p:nvSpPr>
          <p:cNvPr id="9" name="Rectángulo 8"/>
          <p:cNvSpPr/>
          <p:nvPr/>
        </p:nvSpPr>
        <p:spPr>
          <a:xfrm>
            <a:off x="7019416" y="5162603"/>
            <a:ext cx="1689630" cy="646331"/>
          </a:xfrm>
          <a:prstGeom prst="rect">
            <a:avLst/>
          </a:prstGeom>
        </p:spPr>
        <p:txBody>
          <a:bodyPr wrap="none">
            <a:spAutoFit/>
          </a:bodyPr>
          <a:lstStyle/>
          <a:p>
            <a:pPr algn="ctr"/>
            <a:r>
              <a:rPr lang="es-ES"/>
              <a:t>Modelo de </a:t>
            </a:r>
          </a:p>
          <a:p>
            <a:pPr algn="ctr"/>
            <a:r>
              <a:rPr lang="es-ES"/>
              <a:t>Gordon </a:t>
            </a:r>
            <a:r>
              <a:rPr lang="es-ES" err="1"/>
              <a:t>Shapiro</a:t>
            </a:r>
            <a:endParaRPr lang="es-ES"/>
          </a:p>
        </p:txBody>
      </p:sp>
      <p:sp>
        <p:nvSpPr>
          <p:cNvPr id="10" name="Rectángulo 9"/>
          <p:cNvSpPr/>
          <p:nvPr/>
        </p:nvSpPr>
        <p:spPr>
          <a:xfrm>
            <a:off x="581192" y="6053052"/>
            <a:ext cx="11029615" cy="646331"/>
          </a:xfrm>
          <a:prstGeom prst="rect">
            <a:avLst/>
          </a:prstGeom>
        </p:spPr>
        <p:txBody>
          <a:bodyPr wrap="square">
            <a:spAutoFit/>
          </a:bodyPr>
          <a:lstStyle/>
          <a:p>
            <a:r>
              <a:rPr lang="es-ES">
                <a:solidFill>
                  <a:srgbClr val="800000"/>
                </a:solidFill>
              </a:rPr>
              <a:t>Recordemos que D</a:t>
            </a:r>
            <a:r>
              <a:rPr lang="es-ES" baseline="-25000">
                <a:solidFill>
                  <a:srgbClr val="800000"/>
                </a:solidFill>
              </a:rPr>
              <a:t>1</a:t>
            </a:r>
            <a:r>
              <a:rPr lang="es-ES">
                <a:solidFill>
                  <a:srgbClr val="800000"/>
                </a:solidFill>
              </a:rPr>
              <a:t> es el flujo de efectivo en el año 1, k es la tasa de descuento y g es la tasa de crecimiento constante.</a:t>
            </a:r>
          </a:p>
        </p:txBody>
      </p:sp>
      <p:pic>
        <p:nvPicPr>
          <p:cNvPr id="12" name="Imagen 11" descr="latex-image-1.pdf"/>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33678" y="2623717"/>
            <a:ext cx="5324644" cy="1204769"/>
          </a:xfrm>
          <a:prstGeom prst="rect">
            <a:avLst/>
          </a:prstGeom>
        </p:spPr>
      </p:pic>
      <p:pic>
        <p:nvPicPr>
          <p:cNvPr id="13" name="Imagen 12" descr="latex-image-1.pdf"/>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420303" y="4000777"/>
            <a:ext cx="3351393" cy="880658"/>
          </a:xfrm>
          <a:prstGeom prst="rect">
            <a:avLst/>
          </a:prstGeom>
        </p:spPr>
      </p:pic>
      <p:pic>
        <p:nvPicPr>
          <p:cNvPr id="15" name="Imagen 14" descr="latex-image-1.pdf"/>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754900" y="5010007"/>
            <a:ext cx="1922054" cy="798926"/>
          </a:xfrm>
          <a:prstGeom prst="rect">
            <a:avLst/>
          </a:prstGeom>
        </p:spPr>
      </p:pic>
      <p:sp>
        <p:nvSpPr>
          <p:cNvPr id="7" name="Title 1">
            <a:extLst>
              <a:ext uri="{FF2B5EF4-FFF2-40B4-BE49-F238E27FC236}">
                <a16:creationId xmlns:a16="http://schemas.microsoft.com/office/drawing/2014/main" id="{F517D0EE-8F43-EFAF-DF72-E1C6F9114360}"/>
              </a:ext>
            </a:extLst>
          </p:cNvPr>
          <p:cNvSpPr>
            <a:spLocks noGrp="1"/>
          </p:cNvSpPr>
          <p:nvPr>
            <p:ph type="title"/>
          </p:nvPr>
        </p:nvSpPr>
        <p:spPr>
          <a:xfrm>
            <a:off x="581192" y="702156"/>
            <a:ext cx="11029616" cy="1013800"/>
          </a:xfrm>
        </p:spPr>
        <p:txBody>
          <a:bodyPr/>
          <a:lstStyle/>
          <a:p>
            <a:r>
              <a:rPr lang="es-ES_tradnl">
                <a:latin typeface="Century Gothic" panose="020B0502020202020204" pitchFamily="34" charset="0"/>
              </a:rPr>
              <a:t>Gradientes geométricos</a:t>
            </a:r>
          </a:p>
        </p:txBody>
      </p:sp>
      <p:sp>
        <p:nvSpPr>
          <p:cNvPr id="11" name="Rectángulo 10">
            <a:extLst>
              <a:ext uri="{FF2B5EF4-FFF2-40B4-BE49-F238E27FC236}">
                <a16:creationId xmlns:a16="http://schemas.microsoft.com/office/drawing/2014/main" id="{6BAD5075-D3A4-70A1-E427-72E92E9349DA}"/>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7" name="Picture 2" descr="Clientes y aliados | Centro de Evaluación | Uniandes">
            <a:extLst>
              <a:ext uri="{FF2B5EF4-FFF2-40B4-BE49-F238E27FC236}">
                <a16:creationId xmlns:a16="http://schemas.microsoft.com/office/drawing/2014/main" id="{C43EFE67-BF17-7AC8-CF12-A06A48DEA6B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8" name="Rectángulo 17">
            <a:extLst>
              <a:ext uri="{FF2B5EF4-FFF2-40B4-BE49-F238E27FC236}">
                <a16:creationId xmlns:a16="http://schemas.microsoft.com/office/drawing/2014/main" id="{3E22EB19-AA73-BE56-BF7F-665AB5E321E4}"/>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41089320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p:bldP spid="10" grpId="0"/>
    </p:bldLst>
  </p:timing>
</p:sld>
</file>

<file path=ppt/slides/slide6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581192" y="2038392"/>
            <a:ext cx="11029615" cy="490855"/>
          </a:xfrm>
        </p:spPr>
        <p:txBody>
          <a:bodyPr>
            <a:normAutofit lnSpcReduction="10000"/>
          </a:bodyPr>
          <a:lstStyle/>
          <a:p>
            <a:pPr marL="0" indent="0">
              <a:buNone/>
            </a:pPr>
            <a:r>
              <a:rPr lang="es-ES" sz="2800"/>
              <a:t>Según nuestra notación</a:t>
            </a:r>
          </a:p>
        </p:txBody>
      </p:sp>
      <p:sp>
        <p:nvSpPr>
          <p:cNvPr id="4" name="Marcador de número de diapositiva 3"/>
          <p:cNvSpPr>
            <a:spLocks noGrp="1"/>
          </p:cNvSpPr>
          <p:nvPr>
            <p:ph type="sldNum" sz="quarter" idx="12"/>
          </p:nvPr>
        </p:nvSpPr>
        <p:spPr/>
        <p:txBody>
          <a:bodyPr/>
          <a:lstStyle/>
          <a:p>
            <a:fld id="{5E3E23BA-6E79-2442-BA73-D218A5E297C3}" type="slidenum">
              <a:rPr lang="en-US" smtClean="0"/>
              <a:t>61</a:t>
            </a:fld>
            <a:endParaRPr lang="en-US"/>
          </a:p>
        </p:txBody>
      </p:sp>
      <p:pic>
        <p:nvPicPr>
          <p:cNvPr id="7" name="Imagen 6" descr="latex-image-1.pdf"/>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14849" y="3473895"/>
            <a:ext cx="3162300" cy="406400"/>
          </a:xfrm>
          <a:prstGeom prst="rect">
            <a:avLst/>
          </a:prstGeom>
        </p:spPr>
      </p:pic>
      <p:sp>
        <p:nvSpPr>
          <p:cNvPr id="10" name="Title 1">
            <a:extLst>
              <a:ext uri="{FF2B5EF4-FFF2-40B4-BE49-F238E27FC236}">
                <a16:creationId xmlns:a16="http://schemas.microsoft.com/office/drawing/2014/main" id="{367C11D3-74CF-2D04-028B-028B98BD230B}"/>
              </a:ext>
            </a:extLst>
          </p:cNvPr>
          <p:cNvSpPr>
            <a:spLocks noGrp="1"/>
          </p:cNvSpPr>
          <p:nvPr>
            <p:ph type="title"/>
          </p:nvPr>
        </p:nvSpPr>
        <p:spPr>
          <a:xfrm>
            <a:off x="581192" y="702156"/>
            <a:ext cx="11029616" cy="1013800"/>
          </a:xfrm>
        </p:spPr>
        <p:txBody>
          <a:bodyPr/>
          <a:lstStyle/>
          <a:p>
            <a:r>
              <a:rPr lang="es-ES_tradnl">
                <a:latin typeface="Century Gothic" panose="020B0502020202020204" pitchFamily="34" charset="0"/>
              </a:rPr>
              <a:t>Gradientes geométricos</a:t>
            </a:r>
          </a:p>
        </p:txBody>
      </p:sp>
      <p:sp>
        <p:nvSpPr>
          <p:cNvPr id="11" name="Rectángulo 10">
            <a:extLst>
              <a:ext uri="{FF2B5EF4-FFF2-40B4-BE49-F238E27FC236}">
                <a16:creationId xmlns:a16="http://schemas.microsoft.com/office/drawing/2014/main" id="{ED12B2E2-B104-C5D9-A7DC-AA3AA74E54B0}"/>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2" name="Picture 2" descr="Clientes y aliados | Centro de Evaluación | Uniandes">
            <a:extLst>
              <a:ext uri="{FF2B5EF4-FFF2-40B4-BE49-F238E27FC236}">
                <a16:creationId xmlns:a16="http://schemas.microsoft.com/office/drawing/2014/main" id="{A4104206-43F2-122E-9AA2-5E3B7A9C119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3" name="Rectángulo 12">
            <a:extLst>
              <a:ext uri="{FF2B5EF4-FFF2-40B4-BE49-F238E27FC236}">
                <a16:creationId xmlns:a16="http://schemas.microsoft.com/office/drawing/2014/main" id="{E81F3183-4C67-DCCE-22DC-D41DB0CB679B}"/>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mc:AlternateContent xmlns:mc="http://schemas.openxmlformats.org/markup-compatibility/2006" xmlns:a14="http://schemas.microsoft.com/office/drawing/2010/main">
        <mc:Choice Requires="a14">
          <p:sp>
            <p:nvSpPr>
              <p:cNvPr id="2" name="CuadroTexto 1">
                <a:extLst>
                  <a:ext uri="{FF2B5EF4-FFF2-40B4-BE49-F238E27FC236}">
                    <a16:creationId xmlns:a16="http://schemas.microsoft.com/office/drawing/2014/main" id="{BA54FC67-3F1C-C7EF-96A5-C361EAE10236}"/>
                  </a:ext>
                </a:extLst>
              </p:cNvPr>
              <p:cNvSpPr txBox="1"/>
              <p:nvPr/>
            </p:nvSpPr>
            <p:spPr>
              <a:xfrm>
                <a:off x="5066294" y="4563143"/>
                <a:ext cx="2059410" cy="100835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ES" sz="3200" b="0" i="1" smtClean="0">
                          <a:latin typeface="Cambria Math" panose="02040503050406030204" pitchFamily="18" charset="0"/>
                        </a:rPr>
                        <m:t>𝑉𝑃</m:t>
                      </m:r>
                      <m:r>
                        <a:rPr lang="es-ES" sz="3200" b="0" i="1" smtClean="0">
                          <a:latin typeface="Cambria Math" panose="02040503050406030204" pitchFamily="18" charset="0"/>
                        </a:rPr>
                        <m:t>=</m:t>
                      </m:r>
                      <m:f>
                        <m:fPr>
                          <m:ctrlPr>
                            <a:rPr lang="es-ES" sz="3200" b="0" i="1" smtClean="0">
                              <a:latin typeface="Cambria Math" panose="02040503050406030204" pitchFamily="18" charset="0"/>
                            </a:rPr>
                          </m:ctrlPr>
                        </m:fPr>
                        <m:num>
                          <m:sSub>
                            <m:sSubPr>
                              <m:ctrlPr>
                                <a:rPr lang="es-ES" sz="3200" b="0" i="1" smtClean="0">
                                  <a:latin typeface="Cambria Math" panose="02040503050406030204" pitchFamily="18" charset="0"/>
                                </a:rPr>
                              </m:ctrlPr>
                            </m:sSubPr>
                            <m:e>
                              <m:r>
                                <a:rPr lang="es-ES" sz="3200" b="0" i="1" smtClean="0">
                                  <a:latin typeface="Cambria Math" panose="02040503050406030204" pitchFamily="18" charset="0"/>
                                </a:rPr>
                                <m:t>𝐷</m:t>
                              </m:r>
                            </m:e>
                            <m:sub>
                              <m:r>
                                <a:rPr lang="es-ES" sz="3200" b="0" i="1" smtClean="0">
                                  <a:latin typeface="Cambria Math" panose="02040503050406030204" pitchFamily="18" charset="0"/>
                                </a:rPr>
                                <m:t>1</m:t>
                              </m:r>
                            </m:sub>
                          </m:sSub>
                        </m:num>
                        <m:den>
                          <m:r>
                            <a:rPr lang="es-ES" sz="3200" b="0" i="1" smtClean="0">
                              <a:latin typeface="Cambria Math" panose="02040503050406030204" pitchFamily="18" charset="0"/>
                            </a:rPr>
                            <m:t>𝑖</m:t>
                          </m:r>
                          <m:r>
                            <a:rPr lang="es-ES" sz="3200" b="0" i="1" smtClean="0">
                              <a:latin typeface="Cambria Math" panose="02040503050406030204" pitchFamily="18" charset="0"/>
                            </a:rPr>
                            <m:t>−</m:t>
                          </m:r>
                          <m:r>
                            <a:rPr lang="es-ES" sz="3200" b="0" i="1" smtClean="0">
                              <a:latin typeface="Cambria Math" panose="02040503050406030204" pitchFamily="18" charset="0"/>
                            </a:rPr>
                            <m:t>𝑔</m:t>
                          </m:r>
                        </m:den>
                      </m:f>
                    </m:oMath>
                  </m:oMathPara>
                </a14:m>
                <a:endParaRPr lang="es-CO" sz="3200"/>
              </a:p>
            </p:txBody>
          </p:sp>
        </mc:Choice>
        <mc:Fallback xmlns="">
          <p:sp>
            <p:nvSpPr>
              <p:cNvPr id="2" name="CuadroTexto 1">
                <a:extLst>
                  <a:ext uri="{FF2B5EF4-FFF2-40B4-BE49-F238E27FC236}">
                    <a16:creationId xmlns:a16="http://schemas.microsoft.com/office/drawing/2014/main" id="{BA54FC67-3F1C-C7EF-96A5-C361EAE10236}"/>
                  </a:ext>
                </a:extLst>
              </p:cNvPr>
              <p:cNvSpPr txBox="1">
                <a:spLocks noRot="1" noChangeAspect="1" noMove="1" noResize="1" noEditPoints="1" noAdjustHandles="1" noChangeArrowheads="1" noChangeShapeType="1" noTextEdit="1"/>
              </p:cNvSpPr>
              <p:nvPr/>
            </p:nvSpPr>
            <p:spPr>
              <a:xfrm>
                <a:off x="5066294" y="4563143"/>
                <a:ext cx="2059410" cy="1008353"/>
              </a:xfrm>
              <a:prstGeom prst="rect">
                <a:avLst/>
              </a:prstGeom>
              <a:blipFill>
                <a:blip r:embed="rId4"/>
                <a:stretch>
                  <a:fillRect l="-3049" t="-1250" r="-3049" b="-13750"/>
                </a:stretch>
              </a:blipFill>
            </p:spPr>
            <p:txBody>
              <a:bodyPr/>
              <a:lstStyle/>
              <a:p>
                <a:r>
                  <a:rPr lang="es-CO">
                    <a:noFill/>
                  </a:rPr>
                  <a:t> </a:t>
                </a:r>
              </a:p>
            </p:txBody>
          </p:sp>
        </mc:Fallback>
      </mc:AlternateContent>
    </p:spTree>
    <p:extLst>
      <p:ext uri="{BB962C8B-B14F-4D97-AF65-F5344CB8AC3E}">
        <p14:creationId xmlns:p14="http://schemas.microsoft.com/office/powerpoint/2010/main" val="157573808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Marcador de contenido 2"/>
              <p:cNvSpPr>
                <a:spLocks noGrp="1"/>
              </p:cNvSpPr>
              <p:nvPr>
                <p:ph idx="1"/>
              </p:nvPr>
            </p:nvSpPr>
            <p:spPr>
              <a:xfrm>
                <a:off x="2307570" y="3657621"/>
                <a:ext cx="7576859" cy="1184549"/>
              </a:xfrm>
            </p:spPr>
            <p:txBody>
              <a:bodyPr>
                <a:normAutofit/>
              </a:bodyPr>
              <a:lstStyle/>
              <a:p>
                <a:pPr marL="0" indent="0" algn="ctr">
                  <a:buNone/>
                </a:pPr>
                <a:r>
                  <a:rPr lang="es-ES" sz="2400"/>
                  <a:t>Hacemos un cambio de variable </a:t>
                </a:r>
                <a14:m>
                  <m:oMath xmlns:m="http://schemas.openxmlformats.org/officeDocument/2006/math">
                    <m:d>
                      <m:dPr>
                        <m:ctrlPr>
                          <a:rPr lang="es-ES" sz="2400" b="0" i="1" smtClean="0">
                            <a:latin typeface="Cambria Math" panose="02040503050406030204" pitchFamily="18" charset="0"/>
                          </a:rPr>
                        </m:ctrlPr>
                      </m:dPr>
                      <m:e>
                        <m:f>
                          <m:fPr>
                            <m:ctrlPr>
                              <a:rPr lang="es-ES" sz="2400" b="0" i="1" smtClean="0">
                                <a:latin typeface="Cambria Math" panose="02040503050406030204" pitchFamily="18" charset="0"/>
                              </a:rPr>
                            </m:ctrlPr>
                          </m:fPr>
                          <m:num>
                            <m:r>
                              <a:rPr lang="es-ES" sz="2400" b="0" i="1" smtClean="0">
                                <a:latin typeface="Cambria Math" panose="02040503050406030204" pitchFamily="18" charset="0"/>
                              </a:rPr>
                              <m:t>1+</m:t>
                            </m:r>
                            <m:r>
                              <a:rPr lang="es-ES" sz="2400" b="0" i="1" smtClean="0">
                                <a:latin typeface="Cambria Math" panose="02040503050406030204" pitchFamily="18" charset="0"/>
                              </a:rPr>
                              <m:t>𝑔</m:t>
                            </m:r>
                          </m:num>
                          <m:den>
                            <m:r>
                              <a:rPr lang="es-ES" sz="2400" b="0" i="1" smtClean="0">
                                <a:latin typeface="Cambria Math" panose="02040503050406030204" pitchFamily="18" charset="0"/>
                              </a:rPr>
                              <m:t>1+</m:t>
                            </m:r>
                            <m:r>
                              <a:rPr lang="es-ES" sz="2400" b="0" i="1" smtClean="0">
                                <a:latin typeface="Cambria Math" panose="02040503050406030204" pitchFamily="18" charset="0"/>
                              </a:rPr>
                              <m:t>𝑘</m:t>
                            </m:r>
                          </m:den>
                        </m:f>
                      </m:e>
                    </m:d>
                    <m:r>
                      <a:rPr lang="es-ES" sz="2400" b="0" i="1" smtClean="0">
                        <a:latin typeface="Cambria Math" panose="02040503050406030204" pitchFamily="18" charset="0"/>
                      </a:rPr>
                      <m:t>=</m:t>
                    </m:r>
                    <m:r>
                      <a:rPr lang="es-ES" sz="2400" b="0" i="1" smtClean="0">
                        <a:latin typeface="Cambria Math" panose="02040503050406030204" pitchFamily="18" charset="0"/>
                      </a:rPr>
                      <m:t>𝑎</m:t>
                    </m:r>
                  </m:oMath>
                </a14:m>
                <a:r>
                  <a:rPr lang="es-ES" sz="2400"/>
                  <a:t> </a:t>
                </a:r>
              </a:p>
            </p:txBody>
          </p:sp>
        </mc:Choice>
        <mc:Fallback xmlns="">
          <p:sp>
            <p:nvSpPr>
              <p:cNvPr id="3" name="Marcador de contenido 2"/>
              <p:cNvSpPr>
                <a:spLocks noGrp="1" noRot="1" noChangeAspect="1" noMove="1" noResize="1" noEditPoints="1" noAdjustHandles="1" noChangeArrowheads="1" noChangeShapeType="1" noTextEdit="1"/>
              </p:cNvSpPr>
              <p:nvPr>
                <p:ph idx="1"/>
              </p:nvPr>
            </p:nvSpPr>
            <p:spPr>
              <a:xfrm>
                <a:off x="2307570" y="3657621"/>
                <a:ext cx="7576859" cy="1184549"/>
              </a:xfrm>
              <a:blipFill>
                <a:blip r:embed="rId2"/>
                <a:stretch>
                  <a:fillRect/>
                </a:stretch>
              </a:blipFill>
            </p:spPr>
            <p:txBody>
              <a:bodyPr/>
              <a:lstStyle/>
              <a:p>
                <a:r>
                  <a:rPr lang="es-CO">
                    <a:noFill/>
                  </a:rPr>
                  <a:t> </a:t>
                </a:r>
              </a:p>
            </p:txBody>
          </p:sp>
        </mc:Fallback>
      </mc:AlternateContent>
      <p:sp>
        <p:nvSpPr>
          <p:cNvPr id="4" name="Marcador de número de diapositiva 3"/>
          <p:cNvSpPr>
            <a:spLocks noGrp="1"/>
          </p:cNvSpPr>
          <p:nvPr>
            <p:ph type="sldNum" sz="quarter" idx="12"/>
          </p:nvPr>
        </p:nvSpPr>
        <p:spPr/>
        <p:txBody>
          <a:bodyPr/>
          <a:lstStyle/>
          <a:p>
            <a:fld id="{5E3E23BA-6E79-2442-BA73-D218A5E297C3}" type="slidenum">
              <a:rPr lang="en-US" smtClean="0"/>
              <a:t>62</a:t>
            </a:fld>
            <a:endParaRPr lang="en-US"/>
          </a:p>
        </p:txBody>
      </p:sp>
      <p:sp>
        <p:nvSpPr>
          <p:cNvPr id="12" name="Marcador de contenido 2">
            <a:extLst>
              <a:ext uri="{FF2B5EF4-FFF2-40B4-BE49-F238E27FC236}">
                <a16:creationId xmlns:a16="http://schemas.microsoft.com/office/drawing/2014/main" id="{5A1B8563-7911-4F33-9EAD-8FB63676182E}"/>
              </a:ext>
            </a:extLst>
          </p:cNvPr>
          <p:cNvSpPr txBox="1">
            <a:spLocks/>
          </p:cNvSpPr>
          <p:nvPr/>
        </p:nvSpPr>
        <p:spPr>
          <a:xfrm>
            <a:off x="520419" y="1820724"/>
            <a:ext cx="11029616" cy="1013800"/>
          </a:xfrm>
          <a:prstGeom prst="rect">
            <a:avLst/>
          </a:prstGeom>
        </p:spPr>
        <p:txBody>
          <a:bodyPr vert="horz" lIns="91440" tIns="45720" rIns="91440" bIns="45720" rtlCol="0">
            <a:normAutofit/>
          </a:bodyPr>
          <a:lstStyle>
            <a:lvl1pPr marL="342900" indent="-342900" algn="l" defTabSz="914400" rtl="0" eaLnBrk="1" latinLnBrk="0" hangingPunct="1">
              <a:spcBef>
                <a:spcPts val="2000"/>
              </a:spcBef>
              <a:buClr>
                <a:schemeClr val="accent1"/>
              </a:buClr>
              <a:buFont typeface="Wingdings 2" pitchFamily="18" charset="2"/>
              <a:buChar char=""/>
              <a:defRPr sz="2000" kern="1200">
                <a:solidFill>
                  <a:schemeClr val="tx1">
                    <a:lumMod val="65000"/>
                    <a:lumOff val="35000"/>
                  </a:schemeClr>
                </a:solidFill>
                <a:latin typeface="+mn-lt"/>
                <a:ea typeface="+mn-ea"/>
                <a:cs typeface="+mn-cs"/>
              </a:defRPr>
            </a:lvl1pPr>
            <a:lvl2pPr marL="6858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2pPr>
            <a:lvl3pPr marL="10350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3pPr>
            <a:lvl4pPr marL="13716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4pPr>
            <a:lvl5pPr marL="17208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5pPr>
            <a:lvl6pPr marL="2055813"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6pPr>
            <a:lvl7pPr marL="2398713" indent="-344488" algn="l" defTabSz="914400" rtl="0" eaLnBrk="1" latinLnBrk="0" hangingPunct="1">
              <a:spcBef>
                <a:spcPct val="20000"/>
              </a:spcBef>
              <a:buClr>
                <a:schemeClr val="accent1"/>
              </a:buClr>
              <a:buFont typeface="Wingdings 2" pitchFamily="18" charset="2"/>
              <a:buChar char=""/>
              <a:defRPr lang="en-US" sz="1800" kern="1200" dirty="0" smtClean="0">
                <a:solidFill>
                  <a:schemeClr val="tx1">
                    <a:lumMod val="65000"/>
                    <a:lumOff val="35000"/>
                  </a:schemeClr>
                </a:solidFill>
                <a:latin typeface="+mn-lt"/>
                <a:ea typeface="+mn-ea"/>
                <a:cs typeface="+mn-cs"/>
              </a:defRPr>
            </a:lvl7pPr>
            <a:lvl8pPr marL="2743200"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8pPr>
            <a:lvl9pPr marL="3087688" indent="-344488" algn="l" defTabSz="914400" rtl="0" eaLnBrk="1" latinLnBrk="0" hangingPunct="1">
              <a:spcBef>
                <a:spcPct val="20000"/>
              </a:spcBef>
              <a:buClr>
                <a:schemeClr val="accent1"/>
              </a:buClr>
              <a:buFont typeface="Wingdings 2" pitchFamily="18" charset="2"/>
              <a:buChar char=""/>
              <a:defRPr lang="en-US" sz="1800" kern="1200" dirty="0">
                <a:solidFill>
                  <a:schemeClr val="tx1">
                    <a:lumMod val="65000"/>
                    <a:lumOff val="35000"/>
                  </a:schemeClr>
                </a:solidFill>
                <a:latin typeface="+mn-lt"/>
                <a:ea typeface="+mn-ea"/>
                <a:cs typeface="+mn-cs"/>
              </a:defRPr>
            </a:lvl9pPr>
          </a:lstStyle>
          <a:p>
            <a:pPr marL="0" indent="0" algn="just">
              <a:buNone/>
            </a:pPr>
            <a:r>
              <a:rPr lang="es-ES" sz="2400">
                <a:solidFill>
                  <a:schemeClr val="tx1"/>
                </a:solidFill>
              </a:rPr>
              <a:t>Ahora para una serie </a:t>
            </a:r>
            <a:r>
              <a:rPr lang="es-ES" sz="2400" b="1">
                <a:solidFill>
                  <a:schemeClr val="tx1"/>
                </a:solidFill>
              </a:rPr>
              <a:t>finita</a:t>
            </a:r>
            <a:r>
              <a:rPr lang="es-ES" sz="2400">
                <a:solidFill>
                  <a:schemeClr val="tx1"/>
                </a:solidFill>
              </a:rPr>
              <a:t> partimos de la siguiente expresión (encontrada anteriormente) de VP:</a:t>
            </a:r>
            <a:endParaRPr lang="es-ES" sz="600">
              <a:solidFill>
                <a:schemeClr val="tx1"/>
              </a:solidFill>
            </a:endParaRPr>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7A39E236-3A49-4633-81C4-E89F60D634E7}"/>
                  </a:ext>
                </a:extLst>
              </p:cNvPr>
              <p:cNvSpPr txBox="1"/>
              <p:nvPr/>
            </p:nvSpPr>
            <p:spPr>
              <a:xfrm>
                <a:off x="2905760" y="4842170"/>
                <a:ext cx="6380480" cy="1142429"/>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nary>
                        <m:naryPr>
                          <m:chr m:val="∑"/>
                          <m:ctrlPr>
                            <a:rPr lang="es-CO" sz="2400" i="1">
                              <a:latin typeface="Cambria Math" panose="02040503050406030204" pitchFamily="18" charset="0"/>
                            </a:rPr>
                          </m:ctrlPr>
                        </m:naryPr>
                        <m:sub>
                          <m:r>
                            <m:rPr>
                              <m:brk m:alnAt="23"/>
                            </m:rPr>
                            <a:rPr lang="es-CO" sz="2400" i="1">
                              <a:latin typeface="Cambria Math" panose="02040503050406030204" pitchFamily="18" charset="0"/>
                            </a:rPr>
                            <m:t>𝑗</m:t>
                          </m:r>
                          <m:r>
                            <a:rPr lang="es-CO" sz="2400" i="1">
                              <a:latin typeface="Cambria Math" panose="02040503050406030204" pitchFamily="18" charset="0"/>
                            </a:rPr>
                            <m:t>=1</m:t>
                          </m:r>
                        </m:sub>
                        <m:sup>
                          <m:r>
                            <a:rPr lang="es-CO" sz="2400" i="1">
                              <a:latin typeface="Cambria Math" panose="02040503050406030204" pitchFamily="18" charset="0"/>
                            </a:rPr>
                            <m:t>𝑛</m:t>
                          </m:r>
                        </m:sup>
                        <m:e>
                          <m:sSup>
                            <m:sSupPr>
                              <m:ctrlPr>
                                <a:rPr lang="es-ES" sz="2400" i="1">
                                  <a:latin typeface="Cambria Math" panose="02040503050406030204" pitchFamily="18" charset="0"/>
                                </a:rPr>
                              </m:ctrlPr>
                            </m:sSupPr>
                            <m:e>
                              <m:r>
                                <a:rPr lang="es-ES" sz="2400" i="1">
                                  <a:latin typeface="Cambria Math" panose="02040503050406030204" pitchFamily="18" charset="0"/>
                                </a:rPr>
                                <m:t>𝑎</m:t>
                              </m:r>
                            </m:e>
                            <m:sup>
                              <m:r>
                                <a:rPr lang="es-ES" sz="2400" i="1">
                                  <a:latin typeface="Cambria Math" panose="02040503050406030204" pitchFamily="18" charset="0"/>
                                </a:rPr>
                                <m:t>𝑗</m:t>
                              </m:r>
                              <m:r>
                                <a:rPr lang="es-ES" sz="2400" i="1">
                                  <a:latin typeface="Cambria Math" panose="02040503050406030204" pitchFamily="18" charset="0"/>
                                </a:rPr>
                                <m:t>−1</m:t>
                              </m:r>
                            </m:sup>
                          </m:sSup>
                          <m:r>
                            <a:rPr lang="es-CO" sz="2400" i="1">
                              <a:latin typeface="Cambria Math" panose="02040503050406030204" pitchFamily="18" charset="0"/>
                            </a:rPr>
                            <m:t>=</m:t>
                          </m:r>
                          <m:sSup>
                            <m:sSupPr>
                              <m:ctrlPr>
                                <a:rPr lang="es-ES" sz="2400" i="1">
                                  <a:latin typeface="Cambria Math" panose="02040503050406030204" pitchFamily="18" charset="0"/>
                                </a:rPr>
                              </m:ctrlPr>
                            </m:sSupPr>
                            <m:e>
                              <m:r>
                                <a:rPr lang="es-ES" sz="2400" i="1">
                                  <a:latin typeface="Cambria Math" panose="02040503050406030204" pitchFamily="18" charset="0"/>
                                </a:rPr>
                                <m:t>𝑎</m:t>
                              </m:r>
                            </m:e>
                            <m:sup>
                              <m:r>
                                <a:rPr lang="es-ES" sz="2400" i="1">
                                  <a:latin typeface="Cambria Math" panose="02040503050406030204" pitchFamily="18" charset="0"/>
                                </a:rPr>
                                <m:t>0</m:t>
                              </m:r>
                            </m:sup>
                          </m:sSup>
                          <m:r>
                            <a:rPr lang="es-ES" sz="2400" i="1">
                              <a:latin typeface="Cambria Math" panose="02040503050406030204" pitchFamily="18" charset="0"/>
                            </a:rPr>
                            <m:t>+</m:t>
                          </m:r>
                          <m:sSup>
                            <m:sSupPr>
                              <m:ctrlPr>
                                <a:rPr lang="es-ES" sz="2400" i="1">
                                  <a:latin typeface="Cambria Math" panose="02040503050406030204" pitchFamily="18" charset="0"/>
                                </a:rPr>
                              </m:ctrlPr>
                            </m:sSupPr>
                            <m:e>
                              <m:r>
                                <a:rPr lang="es-ES" sz="2400" i="1">
                                  <a:latin typeface="Cambria Math" panose="02040503050406030204" pitchFamily="18" charset="0"/>
                                </a:rPr>
                                <m:t>𝑎</m:t>
                              </m:r>
                            </m:e>
                            <m:sup>
                              <m:r>
                                <a:rPr lang="es-ES" sz="2400" i="1">
                                  <a:latin typeface="Cambria Math" panose="02040503050406030204" pitchFamily="18" charset="0"/>
                                </a:rPr>
                                <m:t>1</m:t>
                              </m:r>
                            </m:sup>
                          </m:sSup>
                          <m:r>
                            <a:rPr lang="es-ES" sz="2400" i="1">
                              <a:latin typeface="Cambria Math" panose="02040503050406030204" pitchFamily="18" charset="0"/>
                            </a:rPr>
                            <m:t>+…+</m:t>
                          </m:r>
                          <m:sSup>
                            <m:sSupPr>
                              <m:ctrlPr>
                                <a:rPr lang="es-ES" sz="2400" i="1">
                                  <a:latin typeface="Cambria Math" panose="02040503050406030204" pitchFamily="18" charset="0"/>
                                </a:rPr>
                              </m:ctrlPr>
                            </m:sSupPr>
                            <m:e>
                              <m:r>
                                <a:rPr lang="es-ES" sz="2400" i="1">
                                  <a:latin typeface="Cambria Math" panose="02040503050406030204" pitchFamily="18" charset="0"/>
                                </a:rPr>
                                <m:t>𝑎</m:t>
                              </m:r>
                            </m:e>
                            <m:sup>
                              <m:r>
                                <a:rPr lang="es-ES" sz="2400" i="1">
                                  <a:latin typeface="Cambria Math" panose="02040503050406030204" pitchFamily="18" charset="0"/>
                                </a:rPr>
                                <m:t>𝑛</m:t>
                              </m:r>
                              <m:r>
                                <a:rPr lang="es-ES" sz="2400" i="1">
                                  <a:latin typeface="Cambria Math" panose="02040503050406030204" pitchFamily="18" charset="0"/>
                                </a:rPr>
                                <m:t>−1</m:t>
                              </m:r>
                            </m:sup>
                          </m:sSup>
                          <m:r>
                            <a:rPr lang="es-ES" sz="2400" i="1">
                              <a:latin typeface="Cambria Math" panose="02040503050406030204" pitchFamily="18" charset="0"/>
                            </a:rPr>
                            <m:t>=1+</m:t>
                          </m:r>
                          <m:sSup>
                            <m:sSupPr>
                              <m:ctrlPr>
                                <a:rPr lang="es-ES" sz="2400" i="1">
                                  <a:latin typeface="Cambria Math" panose="02040503050406030204" pitchFamily="18" charset="0"/>
                                </a:rPr>
                              </m:ctrlPr>
                            </m:sSupPr>
                            <m:e>
                              <m:r>
                                <a:rPr lang="es-ES" sz="2400" i="1">
                                  <a:latin typeface="Cambria Math" panose="02040503050406030204" pitchFamily="18" charset="0"/>
                                </a:rPr>
                                <m:t>𝑎</m:t>
                              </m:r>
                            </m:e>
                            <m:sup>
                              <m:r>
                                <a:rPr lang="es-ES" sz="2400" i="1">
                                  <a:latin typeface="Cambria Math" panose="02040503050406030204" pitchFamily="18" charset="0"/>
                                </a:rPr>
                                <m:t>1</m:t>
                              </m:r>
                            </m:sup>
                          </m:sSup>
                          <m:r>
                            <a:rPr lang="es-ES" sz="2400" i="1">
                              <a:latin typeface="Cambria Math" panose="02040503050406030204" pitchFamily="18" charset="0"/>
                            </a:rPr>
                            <m:t>+…+</m:t>
                          </m:r>
                          <m:sSup>
                            <m:sSupPr>
                              <m:ctrlPr>
                                <a:rPr lang="es-ES" sz="2400" i="1">
                                  <a:latin typeface="Cambria Math" panose="02040503050406030204" pitchFamily="18" charset="0"/>
                                </a:rPr>
                              </m:ctrlPr>
                            </m:sSupPr>
                            <m:e>
                              <m:r>
                                <a:rPr lang="es-ES" sz="2400" i="1">
                                  <a:latin typeface="Cambria Math" panose="02040503050406030204" pitchFamily="18" charset="0"/>
                                </a:rPr>
                                <m:t>𝑎</m:t>
                              </m:r>
                            </m:e>
                            <m:sup>
                              <m:r>
                                <a:rPr lang="es-ES" sz="2400" i="1">
                                  <a:latin typeface="Cambria Math" panose="02040503050406030204" pitchFamily="18" charset="0"/>
                                </a:rPr>
                                <m:t>𝑛</m:t>
                              </m:r>
                              <m:r>
                                <a:rPr lang="es-ES" sz="2400" i="1">
                                  <a:latin typeface="Cambria Math" panose="02040503050406030204" pitchFamily="18" charset="0"/>
                                </a:rPr>
                                <m:t>−1</m:t>
                              </m:r>
                            </m:sup>
                          </m:sSup>
                          <m:r>
                            <a:rPr lang="es-ES" sz="2400" i="1">
                              <a:latin typeface="Cambria Math" panose="02040503050406030204" pitchFamily="18" charset="0"/>
                            </a:rPr>
                            <m:t>=</m:t>
                          </m:r>
                          <m:r>
                            <a:rPr lang="es-ES" sz="2400" i="1">
                              <a:latin typeface="Cambria Math" panose="02040503050406030204" pitchFamily="18" charset="0"/>
                            </a:rPr>
                            <m:t>𝑆</m:t>
                          </m:r>
                          <m:r>
                            <a:rPr lang="es-ES" sz="2400" i="1">
                              <a:latin typeface="Cambria Math" panose="02040503050406030204" pitchFamily="18" charset="0"/>
                            </a:rPr>
                            <m:t>    </m:t>
                          </m:r>
                          <m:r>
                            <a:rPr lang="es-ES" sz="2400" b="1" i="1" smtClean="0">
                              <a:solidFill>
                                <a:srgbClr val="00B050"/>
                              </a:solidFill>
                              <a:latin typeface="Cambria Math" panose="02040503050406030204" pitchFamily="18" charset="0"/>
                            </a:rPr>
                            <m:t>𝟏</m:t>
                          </m:r>
                          <m:r>
                            <a:rPr lang="es-ES" sz="2400" b="1" i="1" smtClean="0">
                              <a:solidFill>
                                <a:srgbClr val="00B050"/>
                              </a:solidFill>
                              <a:latin typeface="Cambria Math" panose="02040503050406030204" pitchFamily="18" charset="0"/>
                            </a:rPr>
                            <m:t>)</m:t>
                          </m:r>
                          <m:r>
                            <a:rPr lang="es-ES" sz="2400" i="1">
                              <a:latin typeface="Cambria Math" panose="02040503050406030204" pitchFamily="18" charset="0"/>
                            </a:rPr>
                            <m:t> </m:t>
                          </m:r>
                        </m:e>
                      </m:nary>
                    </m:oMath>
                  </m:oMathPara>
                </a14:m>
                <a:endParaRPr lang="es-CO" sz="2400"/>
              </a:p>
            </p:txBody>
          </p:sp>
        </mc:Choice>
        <mc:Fallback xmlns="">
          <p:sp>
            <p:nvSpPr>
              <p:cNvPr id="15" name="TextBox 14">
                <a:extLst>
                  <a:ext uri="{FF2B5EF4-FFF2-40B4-BE49-F238E27FC236}">
                    <a16:creationId xmlns:a16="http://schemas.microsoft.com/office/drawing/2014/main" id="{7A39E236-3A49-4633-81C4-E89F60D634E7}"/>
                  </a:ext>
                </a:extLst>
              </p:cNvPr>
              <p:cNvSpPr txBox="1">
                <a:spLocks noRot="1" noChangeAspect="1" noMove="1" noResize="1" noEditPoints="1" noAdjustHandles="1" noChangeArrowheads="1" noChangeShapeType="1" noTextEdit="1"/>
              </p:cNvSpPr>
              <p:nvPr/>
            </p:nvSpPr>
            <p:spPr>
              <a:xfrm>
                <a:off x="2905760" y="4842170"/>
                <a:ext cx="6380480" cy="1142429"/>
              </a:xfrm>
              <a:prstGeom prst="rect">
                <a:avLst/>
              </a:prstGeom>
              <a:blipFill>
                <a:blip r:embed="rId3"/>
                <a:stretch>
                  <a:fillRect l="-32143" t="-103297" r="-15079" b="-152747"/>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1752BC48-A507-423D-A1A8-2D5F89E7C0AE}"/>
                  </a:ext>
                </a:extLst>
              </p:cNvPr>
              <p:cNvSpPr txBox="1"/>
              <p:nvPr/>
            </p:nvSpPr>
            <p:spPr>
              <a:xfrm>
                <a:off x="3198707" y="5956137"/>
                <a:ext cx="5794586" cy="461665"/>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a:rPr lang="es-ES" sz="2400" i="1">
                          <a:latin typeface="Cambria Math" panose="02040503050406030204" pitchFamily="18" charset="0"/>
                        </a:rPr>
                        <m:t>𝑎</m:t>
                      </m:r>
                      <m:r>
                        <a:rPr lang="es-ES" sz="2400" i="1">
                          <a:latin typeface="Cambria Math" panose="02040503050406030204" pitchFamily="18" charset="0"/>
                        </a:rPr>
                        <m:t>+</m:t>
                      </m:r>
                      <m:sSup>
                        <m:sSupPr>
                          <m:ctrlPr>
                            <a:rPr lang="es-ES" sz="2400" i="1">
                              <a:latin typeface="Cambria Math" panose="02040503050406030204" pitchFamily="18" charset="0"/>
                            </a:rPr>
                          </m:ctrlPr>
                        </m:sSupPr>
                        <m:e>
                          <m:r>
                            <a:rPr lang="es-ES" sz="2400" i="1">
                              <a:latin typeface="Cambria Math" panose="02040503050406030204" pitchFamily="18" charset="0"/>
                            </a:rPr>
                            <m:t>𝑎</m:t>
                          </m:r>
                        </m:e>
                        <m:sup>
                          <m:r>
                            <a:rPr lang="es-ES" sz="2400" i="1">
                              <a:latin typeface="Cambria Math" panose="02040503050406030204" pitchFamily="18" charset="0"/>
                            </a:rPr>
                            <m:t>2</m:t>
                          </m:r>
                        </m:sup>
                      </m:sSup>
                      <m:r>
                        <a:rPr lang="es-ES" sz="2400" i="1">
                          <a:latin typeface="Cambria Math" panose="02040503050406030204" pitchFamily="18" charset="0"/>
                        </a:rPr>
                        <m:t>+…+</m:t>
                      </m:r>
                      <m:sSup>
                        <m:sSupPr>
                          <m:ctrlPr>
                            <a:rPr lang="es-ES" sz="2400" i="1">
                              <a:latin typeface="Cambria Math" panose="02040503050406030204" pitchFamily="18" charset="0"/>
                            </a:rPr>
                          </m:ctrlPr>
                        </m:sSupPr>
                        <m:e>
                          <m:r>
                            <a:rPr lang="es-ES" sz="2400" i="1">
                              <a:latin typeface="Cambria Math" panose="02040503050406030204" pitchFamily="18" charset="0"/>
                            </a:rPr>
                            <m:t>𝑎</m:t>
                          </m:r>
                        </m:e>
                        <m:sup>
                          <m:r>
                            <a:rPr lang="es-ES" sz="2400" i="1">
                              <a:latin typeface="Cambria Math" panose="02040503050406030204" pitchFamily="18" charset="0"/>
                            </a:rPr>
                            <m:t>𝑛</m:t>
                          </m:r>
                        </m:sup>
                      </m:sSup>
                      <m:r>
                        <a:rPr lang="es-ES" sz="2400" i="1">
                          <a:latin typeface="Cambria Math" panose="02040503050406030204" pitchFamily="18" charset="0"/>
                        </a:rPr>
                        <m:t>=</m:t>
                      </m:r>
                      <m:r>
                        <a:rPr lang="es-ES" sz="2400" i="1">
                          <a:latin typeface="Cambria Math" panose="02040503050406030204" pitchFamily="18" charset="0"/>
                        </a:rPr>
                        <m:t>𝑆𝑎</m:t>
                      </m:r>
                      <m:r>
                        <a:rPr lang="es-ES" sz="2400" i="1">
                          <a:latin typeface="Cambria Math" panose="02040503050406030204" pitchFamily="18" charset="0"/>
                        </a:rPr>
                        <m:t>     </m:t>
                      </m:r>
                      <m:r>
                        <a:rPr lang="es-ES" sz="2400" b="1" i="1" smtClean="0">
                          <a:solidFill>
                            <a:srgbClr val="00B050"/>
                          </a:solidFill>
                          <a:latin typeface="Cambria Math" panose="02040503050406030204" pitchFamily="18" charset="0"/>
                        </a:rPr>
                        <m:t>𝟐</m:t>
                      </m:r>
                      <m:r>
                        <a:rPr lang="es-ES" sz="2400" b="1" i="1" smtClean="0">
                          <a:solidFill>
                            <a:srgbClr val="00B050"/>
                          </a:solidFill>
                          <a:latin typeface="Cambria Math" panose="02040503050406030204" pitchFamily="18" charset="0"/>
                        </a:rPr>
                        <m:t>)</m:t>
                      </m:r>
                    </m:oMath>
                  </m:oMathPara>
                </a14:m>
                <a:endParaRPr lang="es-CO" sz="2400" b="1"/>
              </a:p>
            </p:txBody>
          </p:sp>
        </mc:Choice>
        <mc:Fallback xmlns="">
          <p:sp>
            <p:nvSpPr>
              <p:cNvPr id="17" name="TextBox 16">
                <a:extLst>
                  <a:ext uri="{FF2B5EF4-FFF2-40B4-BE49-F238E27FC236}">
                    <a16:creationId xmlns:a16="http://schemas.microsoft.com/office/drawing/2014/main" id="{1752BC48-A507-423D-A1A8-2D5F89E7C0AE}"/>
                  </a:ext>
                </a:extLst>
              </p:cNvPr>
              <p:cNvSpPr txBox="1">
                <a:spLocks noRot="1" noChangeAspect="1" noMove="1" noResize="1" noEditPoints="1" noAdjustHandles="1" noChangeArrowheads="1" noChangeShapeType="1" noTextEdit="1"/>
              </p:cNvSpPr>
              <p:nvPr/>
            </p:nvSpPr>
            <p:spPr>
              <a:xfrm>
                <a:off x="3198707" y="5956137"/>
                <a:ext cx="5794586" cy="461665"/>
              </a:xfrm>
              <a:prstGeom prst="rect">
                <a:avLst/>
              </a:prstGeom>
              <a:blipFill>
                <a:blip r:embed="rId4"/>
                <a:stretch>
                  <a:fillRect b="-21053"/>
                </a:stretch>
              </a:blipFill>
            </p:spPr>
            <p:txBody>
              <a:bodyPr/>
              <a:lstStyle/>
              <a:p>
                <a:r>
                  <a:rPr lang="es-CO">
                    <a:noFill/>
                  </a:rPr>
                  <a:t> </a:t>
                </a:r>
              </a:p>
            </p:txBody>
          </p:sp>
        </mc:Fallback>
      </mc:AlternateContent>
      <p:sp>
        <p:nvSpPr>
          <p:cNvPr id="7" name="Title 1">
            <a:extLst>
              <a:ext uri="{FF2B5EF4-FFF2-40B4-BE49-F238E27FC236}">
                <a16:creationId xmlns:a16="http://schemas.microsoft.com/office/drawing/2014/main" id="{6258B24C-F9CA-5D57-C612-0F1EE4D7783A}"/>
              </a:ext>
            </a:extLst>
          </p:cNvPr>
          <p:cNvSpPr>
            <a:spLocks noGrp="1"/>
          </p:cNvSpPr>
          <p:nvPr>
            <p:ph type="title"/>
          </p:nvPr>
        </p:nvSpPr>
        <p:spPr>
          <a:xfrm>
            <a:off x="581192" y="702156"/>
            <a:ext cx="11029616" cy="1013800"/>
          </a:xfrm>
        </p:spPr>
        <p:txBody>
          <a:bodyPr/>
          <a:lstStyle/>
          <a:p>
            <a:r>
              <a:rPr lang="es-ES_tradnl">
                <a:latin typeface="Century Gothic" panose="020B0502020202020204" pitchFamily="34" charset="0"/>
              </a:rPr>
              <a:t>Gradientes geométricos</a:t>
            </a:r>
          </a:p>
        </p:txBody>
      </p:sp>
      <p:sp>
        <p:nvSpPr>
          <p:cNvPr id="8" name="Rectángulo 7">
            <a:extLst>
              <a:ext uri="{FF2B5EF4-FFF2-40B4-BE49-F238E27FC236}">
                <a16:creationId xmlns:a16="http://schemas.microsoft.com/office/drawing/2014/main" id="{DD3E7EF1-72DD-98A1-105C-5F12BCBB46EE}"/>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9" name="Picture 2" descr="Clientes y aliados | Centro de Evaluación | Uniandes">
            <a:extLst>
              <a:ext uri="{FF2B5EF4-FFF2-40B4-BE49-F238E27FC236}">
                <a16:creationId xmlns:a16="http://schemas.microsoft.com/office/drawing/2014/main" id="{6EB7280A-274C-B8AF-CC64-303A1B3EE98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0" name="Rectángulo 9">
            <a:extLst>
              <a:ext uri="{FF2B5EF4-FFF2-40B4-BE49-F238E27FC236}">
                <a16:creationId xmlns:a16="http://schemas.microsoft.com/office/drawing/2014/main" id="{37A114E6-C520-C546-D619-324B50C3E34C}"/>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mc:AlternateContent xmlns:mc="http://schemas.openxmlformats.org/markup-compatibility/2006" xmlns:a14="http://schemas.microsoft.com/office/drawing/2010/main">
        <mc:Choice Requires="a14">
          <p:sp>
            <p:nvSpPr>
              <p:cNvPr id="5" name="CuadroTexto 4">
                <a:extLst>
                  <a:ext uri="{FF2B5EF4-FFF2-40B4-BE49-F238E27FC236}">
                    <a16:creationId xmlns:a16="http://schemas.microsoft.com/office/drawing/2014/main" id="{86B73522-53BF-5897-5EB2-00724D38565F}"/>
                  </a:ext>
                </a:extLst>
              </p:cNvPr>
              <p:cNvSpPr txBox="1"/>
              <p:nvPr/>
            </p:nvSpPr>
            <p:spPr>
              <a:xfrm>
                <a:off x="2307570" y="2711786"/>
                <a:ext cx="7576859" cy="1142364"/>
              </a:xfrm>
              <a:prstGeom prst="rect">
                <a:avLst/>
              </a:prstGeom>
              <a:noFill/>
            </p:spPr>
            <p:txBody>
              <a:bodyPr wrap="square">
                <a:spAutoFit/>
              </a:bodyPr>
              <a:lstStyle/>
              <a:p>
                <a:pPr marL="0" indent="0">
                  <a:buNone/>
                </a:pPr>
                <a14:m>
                  <m:oMathPara xmlns:m="http://schemas.openxmlformats.org/officeDocument/2006/math">
                    <m:oMathParaPr>
                      <m:jc m:val="centerGroup"/>
                    </m:oMathParaPr>
                    <m:oMath xmlns:m="http://schemas.openxmlformats.org/officeDocument/2006/math">
                      <m:r>
                        <a:rPr lang="es-CO" sz="2400" i="1" smtClean="0">
                          <a:solidFill>
                            <a:schemeClr val="tx1"/>
                          </a:solidFill>
                          <a:latin typeface="Cambria Math" panose="02040503050406030204" pitchFamily="18" charset="0"/>
                        </a:rPr>
                        <m:t>𝑉𝑝</m:t>
                      </m:r>
                      <m:r>
                        <a:rPr lang="es-CO" sz="2400" i="1" smtClean="0">
                          <a:solidFill>
                            <a:schemeClr val="tx1"/>
                          </a:solidFill>
                          <a:latin typeface="Cambria Math" panose="02040503050406030204" pitchFamily="18" charset="0"/>
                        </a:rPr>
                        <m:t>=</m:t>
                      </m:r>
                      <m:f>
                        <m:fPr>
                          <m:ctrlPr>
                            <a:rPr lang="es-CO" sz="2400" i="1">
                              <a:solidFill>
                                <a:schemeClr val="tx1"/>
                              </a:solidFill>
                              <a:latin typeface="Cambria Math" panose="02040503050406030204" pitchFamily="18" charset="0"/>
                            </a:rPr>
                          </m:ctrlPr>
                        </m:fPr>
                        <m:num>
                          <m:sSub>
                            <m:sSubPr>
                              <m:ctrlPr>
                                <a:rPr lang="es-CO" sz="2400" i="1">
                                  <a:solidFill>
                                    <a:schemeClr val="tx1"/>
                                  </a:solidFill>
                                  <a:latin typeface="Cambria Math" panose="02040503050406030204" pitchFamily="18" charset="0"/>
                                </a:rPr>
                              </m:ctrlPr>
                            </m:sSubPr>
                            <m:e>
                              <m:r>
                                <a:rPr lang="es-CO" sz="2400" i="1">
                                  <a:solidFill>
                                    <a:schemeClr val="tx1"/>
                                  </a:solidFill>
                                  <a:latin typeface="Cambria Math" panose="02040503050406030204" pitchFamily="18" charset="0"/>
                                </a:rPr>
                                <m:t>𝐷</m:t>
                              </m:r>
                            </m:e>
                            <m:sub>
                              <m:r>
                                <a:rPr lang="es-CO" sz="2400" i="1">
                                  <a:solidFill>
                                    <a:schemeClr val="tx1"/>
                                  </a:solidFill>
                                  <a:latin typeface="Cambria Math" panose="02040503050406030204" pitchFamily="18" charset="0"/>
                                </a:rPr>
                                <m:t>1</m:t>
                              </m:r>
                            </m:sub>
                          </m:sSub>
                        </m:num>
                        <m:den>
                          <m:r>
                            <a:rPr lang="es-CO" sz="2400" i="1">
                              <a:solidFill>
                                <a:schemeClr val="tx1"/>
                              </a:solidFill>
                              <a:latin typeface="Cambria Math" panose="02040503050406030204" pitchFamily="18" charset="0"/>
                            </a:rPr>
                            <m:t>(1+</m:t>
                          </m:r>
                          <m:r>
                            <a:rPr lang="es-CO" sz="2400" i="1">
                              <a:solidFill>
                                <a:schemeClr val="tx1"/>
                              </a:solidFill>
                              <a:latin typeface="Cambria Math" panose="02040503050406030204" pitchFamily="18" charset="0"/>
                            </a:rPr>
                            <m:t>𝑘</m:t>
                          </m:r>
                          <m:r>
                            <a:rPr lang="es-CO" sz="2400" i="1">
                              <a:solidFill>
                                <a:schemeClr val="tx1"/>
                              </a:solidFill>
                              <a:latin typeface="Cambria Math" panose="02040503050406030204" pitchFamily="18" charset="0"/>
                            </a:rPr>
                            <m:t>)</m:t>
                          </m:r>
                        </m:den>
                      </m:f>
                      <m:nary>
                        <m:naryPr>
                          <m:chr m:val="∑"/>
                          <m:ctrlPr>
                            <a:rPr lang="es-CO" sz="2400" i="1">
                              <a:solidFill>
                                <a:schemeClr val="tx1"/>
                              </a:solidFill>
                              <a:latin typeface="Cambria Math" panose="02040503050406030204" pitchFamily="18" charset="0"/>
                            </a:rPr>
                          </m:ctrlPr>
                        </m:naryPr>
                        <m:sub>
                          <m:r>
                            <m:rPr>
                              <m:brk m:alnAt="23"/>
                            </m:rPr>
                            <a:rPr lang="es-CO" sz="2400" i="1">
                              <a:solidFill>
                                <a:schemeClr val="tx1"/>
                              </a:solidFill>
                              <a:latin typeface="Cambria Math" panose="02040503050406030204" pitchFamily="18" charset="0"/>
                            </a:rPr>
                            <m:t>𝑗</m:t>
                          </m:r>
                          <m:r>
                            <a:rPr lang="es-CO" sz="2400" i="1">
                              <a:solidFill>
                                <a:schemeClr val="tx1"/>
                              </a:solidFill>
                              <a:latin typeface="Cambria Math" panose="02040503050406030204" pitchFamily="18" charset="0"/>
                            </a:rPr>
                            <m:t>=1</m:t>
                          </m:r>
                        </m:sub>
                        <m:sup>
                          <m:r>
                            <a:rPr lang="es-CO" sz="2400" i="1">
                              <a:solidFill>
                                <a:schemeClr val="tx1"/>
                              </a:solidFill>
                              <a:latin typeface="Cambria Math" panose="02040503050406030204" pitchFamily="18" charset="0"/>
                            </a:rPr>
                            <m:t>𝑛</m:t>
                          </m:r>
                        </m:sup>
                        <m:e>
                          <m:f>
                            <m:fPr>
                              <m:ctrlPr>
                                <a:rPr lang="es-CO" sz="2400" i="1">
                                  <a:solidFill>
                                    <a:schemeClr val="tx1"/>
                                  </a:solidFill>
                                  <a:latin typeface="Cambria Math" panose="02040503050406030204" pitchFamily="18" charset="0"/>
                                </a:rPr>
                              </m:ctrlPr>
                            </m:fPr>
                            <m:num>
                              <m:sSup>
                                <m:sSupPr>
                                  <m:ctrlPr>
                                    <a:rPr lang="es-CO" sz="2400" i="1">
                                      <a:solidFill>
                                        <a:schemeClr val="tx1"/>
                                      </a:solidFill>
                                      <a:latin typeface="Cambria Math" panose="02040503050406030204" pitchFamily="18" charset="0"/>
                                    </a:rPr>
                                  </m:ctrlPr>
                                </m:sSupPr>
                                <m:e>
                                  <m:d>
                                    <m:dPr>
                                      <m:ctrlPr>
                                        <a:rPr lang="es-CO" sz="2400" i="1">
                                          <a:solidFill>
                                            <a:schemeClr val="tx1"/>
                                          </a:solidFill>
                                          <a:latin typeface="Cambria Math" panose="02040503050406030204" pitchFamily="18" charset="0"/>
                                        </a:rPr>
                                      </m:ctrlPr>
                                    </m:dPr>
                                    <m:e>
                                      <m:r>
                                        <a:rPr lang="es-CO" sz="2400" i="1">
                                          <a:solidFill>
                                            <a:schemeClr val="tx1"/>
                                          </a:solidFill>
                                          <a:latin typeface="Cambria Math" panose="02040503050406030204" pitchFamily="18" charset="0"/>
                                        </a:rPr>
                                        <m:t>1+</m:t>
                                      </m:r>
                                      <m:r>
                                        <a:rPr lang="es-CO" sz="2400" i="1">
                                          <a:solidFill>
                                            <a:schemeClr val="tx1"/>
                                          </a:solidFill>
                                          <a:latin typeface="Cambria Math" panose="02040503050406030204" pitchFamily="18" charset="0"/>
                                        </a:rPr>
                                        <m:t>𝑔</m:t>
                                      </m:r>
                                    </m:e>
                                  </m:d>
                                </m:e>
                                <m:sup>
                                  <m:r>
                                    <a:rPr lang="es-CO" sz="2400" i="1">
                                      <a:solidFill>
                                        <a:schemeClr val="tx1"/>
                                      </a:solidFill>
                                      <a:latin typeface="Cambria Math" panose="02040503050406030204" pitchFamily="18" charset="0"/>
                                    </a:rPr>
                                    <m:t>𝑗</m:t>
                                  </m:r>
                                  <m:r>
                                    <a:rPr lang="es-CO" sz="2400" i="1">
                                      <a:solidFill>
                                        <a:schemeClr val="tx1"/>
                                      </a:solidFill>
                                      <a:latin typeface="Cambria Math" panose="02040503050406030204" pitchFamily="18" charset="0"/>
                                    </a:rPr>
                                    <m:t>−1</m:t>
                                  </m:r>
                                </m:sup>
                              </m:sSup>
                            </m:num>
                            <m:den>
                              <m:sSup>
                                <m:sSupPr>
                                  <m:ctrlPr>
                                    <a:rPr lang="es-CO" sz="2400" i="1">
                                      <a:solidFill>
                                        <a:schemeClr val="tx1"/>
                                      </a:solidFill>
                                      <a:latin typeface="Cambria Math" panose="02040503050406030204" pitchFamily="18" charset="0"/>
                                    </a:rPr>
                                  </m:ctrlPr>
                                </m:sSupPr>
                                <m:e>
                                  <m:d>
                                    <m:dPr>
                                      <m:ctrlPr>
                                        <a:rPr lang="es-CO" sz="2400" i="1">
                                          <a:solidFill>
                                            <a:schemeClr val="tx1"/>
                                          </a:solidFill>
                                          <a:latin typeface="Cambria Math" panose="02040503050406030204" pitchFamily="18" charset="0"/>
                                        </a:rPr>
                                      </m:ctrlPr>
                                    </m:dPr>
                                    <m:e>
                                      <m:r>
                                        <a:rPr lang="es-CO" sz="2400" i="1">
                                          <a:solidFill>
                                            <a:schemeClr val="tx1"/>
                                          </a:solidFill>
                                          <a:latin typeface="Cambria Math" panose="02040503050406030204" pitchFamily="18" charset="0"/>
                                        </a:rPr>
                                        <m:t>1+</m:t>
                                      </m:r>
                                      <m:r>
                                        <a:rPr lang="es-CO" sz="2400" i="1">
                                          <a:solidFill>
                                            <a:schemeClr val="tx1"/>
                                          </a:solidFill>
                                          <a:latin typeface="Cambria Math" panose="02040503050406030204" pitchFamily="18" charset="0"/>
                                        </a:rPr>
                                        <m:t>𝑘</m:t>
                                      </m:r>
                                    </m:e>
                                  </m:d>
                                </m:e>
                                <m:sup>
                                  <m:r>
                                    <a:rPr lang="es-CO" sz="2400" i="1">
                                      <a:solidFill>
                                        <a:schemeClr val="tx1"/>
                                      </a:solidFill>
                                      <a:latin typeface="Cambria Math" panose="02040503050406030204" pitchFamily="18" charset="0"/>
                                    </a:rPr>
                                    <m:t>𝑗</m:t>
                                  </m:r>
                                  <m:r>
                                    <a:rPr lang="es-CO" sz="2400" i="1">
                                      <a:solidFill>
                                        <a:schemeClr val="tx1"/>
                                      </a:solidFill>
                                      <a:latin typeface="Cambria Math" panose="02040503050406030204" pitchFamily="18" charset="0"/>
                                    </a:rPr>
                                    <m:t>−1</m:t>
                                  </m:r>
                                </m:sup>
                              </m:sSup>
                            </m:den>
                          </m:f>
                          <m:r>
                            <a:rPr lang="es-ES" sz="2400" b="0" i="1" smtClean="0">
                              <a:solidFill>
                                <a:schemeClr val="tx1"/>
                              </a:solidFill>
                              <a:latin typeface="Cambria Math" panose="02040503050406030204" pitchFamily="18" charset="0"/>
                            </a:rPr>
                            <m:t>   </m:t>
                          </m:r>
                          <m:r>
                            <a:rPr lang="es-CO" sz="2400" i="1">
                              <a:solidFill>
                                <a:schemeClr val="tx1"/>
                              </a:solidFill>
                              <a:latin typeface="Cambria Math" panose="02040503050406030204" pitchFamily="18" charset="0"/>
                            </a:rPr>
                            <m:t>=</m:t>
                          </m:r>
                          <m:r>
                            <a:rPr lang="es-ES" sz="2400" b="0" i="1" smtClean="0">
                              <a:solidFill>
                                <a:schemeClr val="tx1"/>
                              </a:solidFill>
                              <a:latin typeface="Cambria Math" panose="02040503050406030204" pitchFamily="18" charset="0"/>
                            </a:rPr>
                            <m:t>   </m:t>
                          </m:r>
                        </m:e>
                      </m:nary>
                      <m:f>
                        <m:fPr>
                          <m:ctrlPr>
                            <a:rPr lang="es-CO" sz="2400" i="1">
                              <a:solidFill>
                                <a:schemeClr val="tx1"/>
                              </a:solidFill>
                              <a:latin typeface="Cambria Math" panose="02040503050406030204" pitchFamily="18" charset="0"/>
                            </a:rPr>
                          </m:ctrlPr>
                        </m:fPr>
                        <m:num>
                          <m:sSub>
                            <m:sSubPr>
                              <m:ctrlPr>
                                <a:rPr lang="es-CO" sz="2400" i="1">
                                  <a:solidFill>
                                    <a:schemeClr val="tx1"/>
                                  </a:solidFill>
                                  <a:latin typeface="Cambria Math" panose="02040503050406030204" pitchFamily="18" charset="0"/>
                                </a:rPr>
                              </m:ctrlPr>
                            </m:sSubPr>
                            <m:e>
                              <m:r>
                                <a:rPr lang="es-CO" sz="2400" i="1">
                                  <a:solidFill>
                                    <a:schemeClr val="tx1"/>
                                  </a:solidFill>
                                  <a:latin typeface="Cambria Math" panose="02040503050406030204" pitchFamily="18" charset="0"/>
                                </a:rPr>
                                <m:t>𝐷</m:t>
                              </m:r>
                            </m:e>
                            <m:sub>
                              <m:r>
                                <a:rPr lang="es-CO" sz="2400" i="1">
                                  <a:solidFill>
                                    <a:schemeClr val="tx1"/>
                                  </a:solidFill>
                                  <a:latin typeface="Cambria Math" panose="02040503050406030204" pitchFamily="18" charset="0"/>
                                </a:rPr>
                                <m:t>1</m:t>
                              </m:r>
                            </m:sub>
                          </m:sSub>
                        </m:num>
                        <m:den>
                          <m:r>
                            <a:rPr lang="es-CO" sz="2400" i="1">
                              <a:solidFill>
                                <a:schemeClr val="tx1"/>
                              </a:solidFill>
                              <a:latin typeface="Cambria Math" panose="02040503050406030204" pitchFamily="18" charset="0"/>
                            </a:rPr>
                            <m:t>(1+</m:t>
                          </m:r>
                          <m:r>
                            <a:rPr lang="es-CO" sz="2400" i="1">
                              <a:solidFill>
                                <a:schemeClr val="tx1"/>
                              </a:solidFill>
                              <a:latin typeface="Cambria Math" panose="02040503050406030204" pitchFamily="18" charset="0"/>
                            </a:rPr>
                            <m:t>𝑘</m:t>
                          </m:r>
                          <m:r>
                            <a:rPr lang="es-CO" sz="2400" i="1">
                              <a:solidFill>
                                <a:schemeClr val="tx1"/>
                              </a:solidFill>
                              <a:latin typeface="Cambria Math" panose="02040503050406030204" pitchFamily="18" charset="0"/>
                            </a:rPr>
                            <m:t>)</m:t>
                          </m:r>
                        </m:den>
                      </m:f>
                      <m:nary>
                        <m:naryPr>
                          <m:chr m:val="∑"/>
                          <m:ctrlPr>
                            <a:rPr lang="es-CO" sz="2400" i="1">
                              <a:solidFill>
                                <a:schemeClr val="tx1"/>
                              </a:solidFill>
                              <a:latin typeface="Cambria Math" panose="02040503050406030204" pitchFamily="18" charset="0"/>
                            </a:rPr>
                          </m:ctrlPr>
                        </m:naryPr>
                        <m:sub>
                          <m:r>
                            <m:rPr>
                              <m:brk m:alnAt="23"/>
                            </m:rPr>
                            <a:rPr lang="es-CO" sz="2400" i="1">
                              <a:solidFill>
                                <a:schemeClr val="tx1"/>
                              </a:solidFill>
                              <a:latin typeface="Cambria Math" panose="02040503050406030204" pitchFamily="18" charset="0"/>
                            </a:rPr>
                            <m:t>𝑗</m:t>
                          </m:r>
                          <m:r>
                            <a:rPr lang="es-CO" sz="2400" i="1">
                              <a:solidFill>
                                <a:schemeClr val="tx1"/>
                              </a:solidFill>
                              <a:latin typeface="Cambria Math" panose="02040503050406030204" pitchFamily="18" charset="0"/>
                            </a:rPr>
                            <m:t>=1</m:t>
                          </m:r>
                        </m:sub>
                        <m:sup>
                          <m:r>
                            <a:rPr lang="es-CO" sz="2400" i="1">
                              <a:solidFill>
                                <a:schemeClr val="tx1"/>
                              </a:solidFill>
                              <a:latin typeface="Cambria Math" panose="02040503050406030204" pitchFamily="18" charset="0"/>
                            </a:rPr>
                            <m:t>𝑛</m:t>
                          </m:r>
                        </m:sup>
                        <m:e>
                          <m:sSup>
                            <m:sSupPr>
                              <m:ctrlPr>
                                <a:rPr lang="es-CO" sz="2400" i="1">
                                  <a:solidFill>
                                    <a:schemeClr val="tx1"/>
                                  </a:solidFill>
                                  <a:latin typeface="Cambria Math" panose="02040503050406030204" pitchFamily="18" charset="0"/>
                                </a:rPr>
                              </m:ctrlPr>
                            </m:sSupPr>
                            <m:e>
                              <m:d>
                                <m:dPr>
                                  <m:ctrlPr>
                                    <a:rPr lang="es-CO" sz="2400" i="1">
                                      <a:solidFill>
                                        <a:schemeClr val="tx1"/>
                                      </a:solidFill>
                                      <a:latin typeface="Cambria Math" panose="02040503050406030204" pitchFamily="18" charset="0"/>
                                    </a:rPr>
                                  </m:ctrlPr>
                                </m:dPr>
                                <m:e>
                                  <m:f>
                                    <m:fPr>
                                      <m:ctrlPr>
                                        <a:rPr lang="es-CO" sz="2400" i="1">
                                          <a:solidFill>
                                            <a:schemeClr val="tx1"/>
                                          </a:solidFill>
                                          <a:latin typeface="Cambria Math" panose="02040503050406030204" pitchFamily="18" charset="0"/>
                                        </a:rPr>
                                      </m:ctrlPr>
                                    </m:fPr>
                                    <m:num>
                                      <m:r>
                                        <a:rPr lang="es-CO" sz="2400" i="1">
                                          <a:solidFill>
                                            <a:schemeClr val="tx1"/>
                                          </a:solidFill>
                                          <a:latin typeface="Cambria Math" panose="02040503050406030204" pitchFamily="18" charset="0"/>
                                        </a:rPr>
                                        <m:t>1+</m:t>
                                      </m:r>
                                      <m:r>
                                        <a:rPr lang="es-CO" sz="2400" i="1">
                                          <a:solidFill>
                                            <a:schemeClr val="tx1"/>
                                          </a:solidFill>
                                          <a:latin typeface="Cambria Math" panose="02040503050406030204" pitchFamily="18" charset="0"/>
                                        </a:rPr>
                                        <m:t>𝑔</m:t>
                                      </m:r>
                                    </m:num>
                                    <m:den>
                                      <m:r>
                                        <a:rPr lang="es-CO" sz="2400" i="1">
                                          <a:solidFill>
                                            <a:schemeClr val="tx1"/>
                                          </a:solidFill>
                                          <a:latin typeface="Cambria Math" panose="02040503050406030204" pitchFamily="18" charset="0"/>
                                        </a:rPr>
                                        <m:t>1+</m:t>
                                      </m:r>
                                      <m:r>
                                        <a:rPr lang="es-CO" sz="2400" i="1">
                                          <a:solidFill>
                                            <a:schemeClr val="tx1"/>
                                          </a:solidFill>
                                          <a:latin typeface="Cambria Math" panose="02040503050406030204" pitchFamily="18" charset="0"/>
                                        </a:rPr>
                                        <m:t>𝑘</m:t>
                                      </m:r>
                                    </m:den>
                                  </m:f>
                                </m:e>
                              </m:d>
                            </m:e>
                            <m:sup>
                              <m:r>
                                <a:rPr lang="es-CO" sz="2400" i="1">
                                  <a:solidFill>
                                    <a:schemeClr val="tx1"/>
                                  </a:solidFill>
                                  <a:latin typeface="Cambria Math" panose="02040503050406030204" pitchFamily="18" charset="0"/>
                                </a:rPr>
                                <m:t>𝑗</m:t>
                              </m:r>
                              <m:r>
                                <a:rPr lang="es-CO" sz="2400" i="1">
                                  <a:solidFill>
                                    <a:schemeClr val="tx1"/>
                                  </a:solidFill>
                                  <a:latin typeface="Cambria Math" panose="02040503050406030204" pitchFamily="18" charset="0"/>
                                </a:rPr>
                                <m:t>−1</m:t>
                              </m:r>
                            </m:sup>
                          </m:sSup>
                        </m:e>
                      </m:nary>
                    </m:oMath>
                  </m:oMathPara>
                </a14:m>
                <a:endParaRPr lang="es-ES" sz="2400">
                  <a:solidFill>
                    <a:schemeClr val="tx1"/>
                  </a:solidFill>
                </a:endParaRPr>
              </a:p>
            </p:txBody>
          </p:sp>
        </mc:Choice>
        <mc:Fallback xmlns="">
          <p:sp>
            <p:nvSpPr>
              <p:cNvPr id="5" name="CuadroTexto 4">
                <a:extLst>
                  <a:ext uri="{FF2B5EF4-FFF2-40B4-BE49-F238E27FC236}">
                    <a16:creationId xmlns:a16="http://schemas.microsoft.com/office/drawing/2014/main" id="{86B73522-53BF-5897-5EB2-00724D38565F}"/>
                  </a:ext>
                </a:extLst>
              </p:cNvPr>
              <p:cNvSpPr txBox="1">
                <a:spLocks noRot="1" noChangeAspect="1" noMove="1" noResize="1" noEditPoints="1" noAdjustHandles="1" noChangeArrowheads="1" noChangeShapeType="1" noTextEdit="1"/>
              </p:cNvSpPr>
              <p:nvPr/>
            </p:nvSpPr>
            <p:spPr>
              <a:xfrm>
                <a:off x="2307570" y="2711786"/>
                <a:ext cx="7576859" cy="1142364"/>
              </a:xfrm>
              <a:prstGeom prst="rect">
                <a:avLst/>
              </a:prstGeom>
              <a:blipFill>
                <a:blip r:embed="rId6"/>
                <a:stretch>
                  <a:fillRect t="-102198" b="-152747"/>
                </a:stretch>
              </a:blipFill>
            </p:spPr>
            <p:txBody>
              <a:bodyPr/>
              <a:lstStyle/>
              <a:p>
                <a:r>
                  <a:rPr lang="es-CO">
                    <a:noFill/>
                  </a:rPr>
                  <a:t> </a:t>
                </a:r>
              </a:p>
            </p:txBody>
          </p:sp>
        </mc:Fallback>
      </mc:AlternateContent>
    </p:spTree>
    <p:extLst>
      <p:ext uri="{BB962C8B-B14F-4D97-AF65-F5344CB8AC3E}">
        <p14:creationId xmlns:p14="http://schemas.microsoft.com/office/powerpoint/2010/main" val="81678026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Marcador de número de diapositiva 3"/>
          <p:cNvSpPr>
            <a:spLocks noGrp="1"/>
          </p:cNvSpPr>
          <p:nvPr>
            <p:ph type="sldNum" sz="quarter" idx="12"/>
          </p:nvPr>
        </p:nvSpPr>
        <p:spPr/>
        <p:txBody>
          <a:bodyPr/>
          <a:lstStyle/>
          <a:p>
            <a:fld id="{5E3E23BA-6E79-2442-BA73-D218A5E297C3}" type="slidenum">
              <a:rPr lang="en-US" smtClean="0"/>
              <a:t>63</a:t>
            </a:fld>
            <a:endParaRPr lang="en-US"/>
          </a:p>
        </p:txBody>
      </p:sp>
      <p:sp>
        <p:nvSpPr>
          <p:cNvPr id="12" name="Marcador de contenido 2">
            <a:extLst>
              <a:ext uri="{FF2B5EF4-FFF2-40B4-BE49-F238E27FC236}">
                <a16:creationId xmlns:a16="http://schemas.microsoft.com/office/drawing/2014/main" id="{5A1B8563-7911-4F33-9EAD-8FB63676182E}"/>
              </a:ext>
            </a:extLst>
          </p:cNvPr>
          <p:cNvSpPr txBox="1">
            <a:spLocks/>
          </p:cNvSpPr>
          <p:nvPr/>
        </p:nvSpPr>
        <p:spPr>
          <a:xfrm>
            <a:off x="581190" y="3577193"/>
            <a:ext cx="11029616" cy="596616"/>
          </a:xfrm>
          <a:prstGeom prst="rect">
            <a:avLst/>
          </a:prstGeom>
        </p:spPr>
        <p:txBody>
          <a:bodyPr vert="horz" lIns="91440" tIns="45720" rIns="91440" bIns="45720" rtlCol="0">
            <a:normAutofit/>
          </a:bodyPr>
          <a:lstStyle>
            <a:lvl1pPr marL="342900" indent="-342900" algn="l" defTabSz="914400" rtl="0" eaLnBrk="1" latinLnBrk="0" hangingPunct="1">
              <a:spcBef>
                <a:spcPts val="2000"/>
              </a:spcBef>
              <a:buClr>
                <a:schemeClr val="accent1"/>
              </a:buClr>
              <a:buFont typeface="Wingdings 2" pitchFamily="18" charset="2"/>
              <a:buChar char=""/>
              <a:defRPr sz="2000" kern="1200">
                <a:solidFill>
                  <a:schemeClr val="tx1">
                    <a:lumMod val="65000"/>
                    <a:lumOff val="35000"/>
                  </a:schemeClr>
                </a:solidFill>
                <a:latin typeface="+mn-lt"/>
                <a:ea typeface="+mn-ea"/>
                <a:cs typeface="+mn-cs"/>
              </a:defRPr>
            </a:lvl1pPr>
            <a:lvl2pPr marL="6858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2pPr>
            <a:lvl3pPr marL="10350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3pPr>
            <a:lvl4pPr marL="13716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4pPr>
            <a:lvl5pPr marL="17208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5pPr>
            <a:lvl6pPr marL="2055813"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6pPr>
            <a:lvl7pPr marL="2398713" indent="-344488" algn="l" defTabSz="914400" rtl="0" eaLnBrk="1" latinLnBrk="0" hangingPunct="1">
              <a:spcBef>
                <a:spcPct val="20000"/>
              </a:spcBef>
              <a:buClr>
                <a:schemeClr val="accent1"/>
              </a:buClr>
              <a:buFont typeface="Wingdings 2" pitchFamily="18" charset="2"/>
              <a:buChar char=""/>
              <a:defRPr lang="en-US" sz="1800" kern="1200" dirty="0" smtClean="0">
                <a:solidFill>
                  <a:schemeClr val="tx1">
                    <a:lumMod val="65000"/>
                    <a:lumOff val="35000"/>
                  </a:schemeClr>
                </a:solidFill>
                <a:latin typeface="+mn-lt"/>
                <a:ea typeface="+mn-ea"/>
                <a:cs typeface="+mn-cs"/>
              </a:defRPr>
            </a:lvl7pPr>
            <a:lvl8pPr marL="2743200"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8pPr>
            <a:lvl9pPr marL="3087688" indent="-344488" algn="l" defTabSz="914400" rtl="0" eaLnBrk="1" latinLnBrk="0" hangingPunct="1">
              <a:spcBef>
                <a:spcPct val="20000"/>
              </a:spcBef>
              <a:buClr>
                <a:schemeClr val="accent1"/>
              </a:buClr>
              <a:buFont typeface="Wingdings 2" pitchFamily="18" charset="2"/>
              <a:buChar char=""/>
              <a:defRPr lang="en-US" sz="1800" kern="1200" dirty="0">
                <a:solidFill>
                  <a:schemeClr val="tx1">
                    <a:lumMod val="65000"/>
                    <a:lumOff val="35000"/>
                  </a:schemeClr>
                </a:solidFill>
                <a:latin typeface="+mn-lt"/>
                <a:ea typeface="+mn-ea"/>
                <a:cs typeface="+mn-cs"/>
              </a:defRPr>
            </a:lvl9pPr>
          </a:lstStyle>
          <a:p>
            <a:pPr marL="0" indent="0">
              <a:buNone/>
            </a:pPr>
            <a:r>
              <a:rPr lang="es-ES" sz="2400">
                <a:solidFill>
                  <a:schemeClr val="tx1"/>
                </a:solidFill>
              </a:rPr>
              <a:t>Reemplazando en nuestra formula de VP tendríamos:</a:t>
            </a:r>
          </a:p>
          <a:p>
            <a:pPr marL="0" indent="0">
              <a:buNone/>
            </a:pPr>
            <a:endParaRPr lang="es-ES" sz="2400">
              <a:solidFill>
                <a:schemeClr val="tx1"/>
              </a:solidFill>
            </a:endParaRPr>
          </a:p>
          <a:p>
            <a:pPr marL="0" indent="0">
              <a:buNone/>
            </a:pPr>
            <a:endParaRPr lang="es-ES" sz="600">
              <a:solidFill>
                <a:schemeClr val="tx1"/>
              </a:solidFill>
            </a:endParaRP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9EB5366D-CBA9-4785-A710-4246F64311F5}"/>
                  </a:ext>
                </a:extLst>
              </p:cNvPr>
              <p:cNvSpPr txBox="1"/>
              <p:nvPr/>
            </p:nvSpPr>
            <p:spPr>
              <a:xfrm>
                <a:off x="2290762" y="4636628"/>
                <a:ext cx="7610476" cy="130721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s-ES" sz="2000" b="0" i="1" smtClean="0">
                          <a:latin typeface="Cambria Math" panose="02040503050406030204" pitchFamily="18" charset="0"/>
                        </a:rPr>
                        <m:t>𝑉𝑃</m:t>
                      </m:r>
                      <m:r>
                        <a:rPr lang="es-ES" sz="2000" b="0" i="1" smtClean="0">
                          <a:latin typeface="Cambria Math" panose="02040503050406030204" pitchFamily="18" charset="0"/>
                        </a:rPr>
                        <m:t>=</m:t>
                      </m:r>
                      <m:f>
                        <m:fPr>
                          <m:ctrlPr>
                            <a:rPr lang="es-CO" sz="2000" i="1">
                              <a:latin typeface="Cambria Math" panose="02040503050406030204" pitchFamily="18" charset="0"/>
                            </a:rPr>
                          </m:ctrlPr>
                        </m:fPr>
                        <m:num>
                          <m:sSub>
                            <m:sSubPr>
                              <m:ctrlPr>
                                <a:rPr lang="es-CO" sz="2000" i="1">
                                  <a:latin typeface="Cambria Math" panose="02040503050406030204" pitchFamily="18" charset="0"/>
                                </a:rPr>
                              </m:ctrlPr>
                            </m:sSubPr>
                            <m:e>
                              <m:r>
                                <a:rPr lang="es-CO" sz="2000" i="1">
                                  <a:latin typeface="Cambria Math" panose="02040503050406030204" pitchFamily="18" charset="0"/>
                                </a:rPr>
                                <m:t>𝐷</m:t>
                              </m:r>
                            </m:e>
                            <m:sub>
                              <m:r>
                                <a:rPr lang="es-CO" sz="2000" i="1">
                                  <a:latin typeface="Cambria Math" panose="02040503050406030204" pitchFamily="18" charset="0"/>
                                </a:rPr>
                                <m:t>1</m:t>
                              </m:r>
                            </m:sub>
                          </m:sSub>
                        </m:num>
                        <m:den>
                          <m:r>
                            <a:rPr lang="es-CO" sz="2000" i="1">
                              <a:latin typeface="Cambria Math" panose="02040503050406030204" pitchFamily="18" charset="0"/>
                            </a:rPr>
                            <m:t>(1+</m:t>
                          </m:r>
                          <m:r>
                            <a:rPr lang="es-CO" sz="2000" i="1">
                              <a:latin typeface="Cambria Math" panose="02040503050406030204" pitchFamily="18" charset="0"/>
                            </a:rPr>
                            <m:t>𝑘</m:t>
                          </m:r>
                          <m:r>
                            <a:rPr lang="es-CO" sz="2000" i="1">
                              <a:latin typeface="Cambria Math" panose="02040503050406030204" pitchFamily="18" charset="0"/>
                            </a:rPr>
                            <m:t>)</m:t>
                          </m:r>
                        </m:den>
                      </m:f>
                      <m:r>
                        <a:rPr lang="es-ES" sz="2000" i="1">
                          <a:latin typeface="Cambria Math" panose="02040503050406030204" pitchFamily="18" charset="0"/>
                        </a:rPr>
                        <m:t>∗</m:t>
                      </m:r>
                      <m:f>
                        <m:fPr>
                          <m:ctrlPr>
                            <a:rPr lang="es-ES" sz="2000" i="1">
                              <a:latin typeface="Cambria Math" panose="02040503050406030204" pitchFamily="18" charset="0"/>
                            </a:rPr>
                          </m:ctrlPr>
                        </m:fPr>
                        <m:num>
                          <m:r>
                            <a:rPr lang="es-ES" sz="2000" i="1">
                              <a:latin typeface="Cambria Math" panose="02040503050406030204" pitchFamily="18" charset="0"/>
                            </a:rPr>
                            <m:t>1− </m:t>
                          </m:r>
                          <m:sSup>
                            <m:sSupPr>
                              <m:ctrlPr>
                                <a:rPr lang="es-CO" sz="2000" i="1">
                                  <a:latin typeface="Cambria Math" panose="02040503050406030204" pitchFamily="18" charset="0"/>
                                </a:rPr>
                              </m:ctrlPr>
                            </m:sSupPr>
                            <m:e>
                              <m:d>
                                <m:dPr>
                                  <m:ctrlPr>
                                    <a:rPr lang="es-CO" sz="2000" i="1">
                                      <a:latin typeface="Cambria Math" panose="02040503050406030204" pitchFamily="18" charset="0"/>
                                    </a:rPr>
                                  </m:ctrlPr>
                                </m:dPr>
                                <m:e>
                                  <m:f>
                                    <m:fPr>
                                      <m:ctrlPr>
                                        <a:rPr lang="es-CO" sz="2000" i="1">
                                          <a:latin typeface="Cambria Math" panose="02040503050406030204" pitchFamily="18" charset="0"/>
                                        </a:rPr>
                                      </m:ctrlPr>
                                    </m:fPr>
                                    <m:num>
                                      <m:r>
                                        <a:rPr lang="es-CO" sz="2000" i="1">
                                          <a:latin typeface="Cambria Math" panose="02040503050406030204" pitchFamily="18" charset="0"/>
                                        </a:rPr>
                                        <m:t>1+</m:t>
                                      </m:r>
                                      <m:r>
                                        <a:rPr lang="es-CO" sz="2000" i="1">
                                          <a:latin typeface="Cambria Math" panose="02040503050406030204" pitchFamily="18" charset="0"/>
                                        </a:rPr>
                                        <m:t>𝑔</m:t>
                                      </m:r>
                                    </m:num>
                                    <m:den>
                                      <m:r>
                                        <a:rPr lang="es-CO" sz="2000" i="1">
                                          <a:latin typeface="Cambria Math" panose="02040503050406030204" pitchFamily="18" charset="0"/>
                                        </a:rPr>
                                        <m:t>1+</m:t>
                                      </m:r>
                                      <m:r>
                                        <a:rPr lang="es-CO" sz="2000" i="1">
                                          <a:latin typeface="Cambria Math" panose="02040503050406030204" pitchFamily="18" charset="0"/>
                                        </a:rPr>
                                        <m:t>𝑘</m:t>
                                      </m:r>
                                    </m:den>
                                  </m:f>
                                </m:e>
                              </m:d>
                            </m:e>
                            <m:sup>
                              <m:r>
                                <a:rPr lang="es-ES" sz="2000" i="1">
                                  <a:latin typeface="Cambria Math" panose="02040503050406030204" pitchFamily="18" charset="0"/>
                                </a:rPr>
                                <m:t>𝑛</m:t>
                              </m:r>
                            </m:sup>
                          </m:sSup>
                        </m:num>
                        <m:den>
                          <m:r>
                            <a:rPr lang="es-ES" sz="2000" i="1">
                              <a:latin typeface="Cambria Math" panose="02040503050406030204" pitchFamily="18" charset="0"/>
                            </a:rPr>
                            <m:t>1−</m:t>
                          </m:r>
                          <m:sSup>
                            <m:sSupPr>
                              <m:ctrlPr>
                                <a:rPr lang="es-CO" sz="2000" i="1">
                                  <a:latin typeface="Cambria Math" panose="02040503050406030204" pitchFamily="18" charset="0"/>
                                </a:rPr>
                              </m:ctrlPr>
                            </m:sSupPr>
                            <m:e>
                              <m:d>
                                <m:dPr>
                                  <m:ctrlPr>
                                    <a:rPr lang="es-CO" sz="2000" i="1">
                                      <a:latin typeface="Cambria Math" panose="02040503050406030204" pitchFamily="18" charset="0"/>
                                    </a:rPr>
                                  </m:ctrlPr>
                                </m:dPr>
                                <m:e>
                                  <m:f>
                                    <m:fPr>
                                      <m:ctrlPr>
                                        <a:rPr lang="es-CO" sz="2000" i="1">
                                          <a:latin typeface="Cambria Math" panose="02040503050406030204" pitchFamily="18" charset="0"/>
                                        </a:rPr>
                                      </m:ctrlPr>
                                    </m:fPr>
                                    <m:num>
                                      <m:r>
                                        <a:rPr lang="es-CO" sz="2000" i="1">
                                          <a:latin typeface="Cambria Math" panose="02040503050406030204" pitchFamily="18" charset="0"/>
                                        </a:rPr>
                                        <m:t>1+</m:t>
                                      </m:r>
                                      <m:r>
                                        <a:rPr lang="es-CO" sz="2000" i="1">
                                          <a:latin typeface="Cambria Math" panose="02040503050406030204" pitchFamily="18" charset="0"/>
                                        </a:rPr>
                                        <m:t>𝑔</m:t>
                                      </m:r>
                                    </m:num>
                                    <m:den>
                                      <m:r>
                                        <a:rPr lang="es-CO" sz="2000" i="1">
                                          <a:latin typeface="Cambria Math" panose="02040503050406030204" pitchFamily="18" charset="0"/>
                                        </a:rPr>
                                        <m:t>1+</m:t>
                                      </m:r>
                                      <m:r>
                                        <a:rPr lang="es-CO" sz="2000" i="1">
                                          <a:latin typeface="Cambria Math" panose="02040503050406030204" pitchFamily="18" charset="0"/>
                                        </a:rPr>
                                        <m:t>𝑘</m:t>
                                      </m:r>
                                    </m:den>
                                  </m:f>
                                </m:e>
                              </m:d>
                            </m:e>
                            <m:sup>
                              <m:r>
                                <a:rPr lang="es-ES" sz="2000" i="1">
                                  <a:latin typeface="Cambria Math" panose="02040503050406030204" pitchFamily="18" charset="0"/>
                                </a:rPr>
                                <m:t> </m:t>
                              </m:r>
                            </m:sup>
                          </m:sSup>
                        </m:den>
                      </m:f>
                      <m:r>
                        <a:rPr lang="es-ES" sz="2000" i="1">
                          <a:latin typeface="Cambria Math" panose="02040503050406030204" pitchFamily="18" charset="0"/>
                        </a:rPr>
                        <m:t>=</m:t>
                      </m:r>
                      <m:sSub>
                        <m:sSubPr>
                          <m:ctrlPr>
                            <a:rPr lang="es-ES" sz="2000" i="1">
                              <a:latin typeface="Cambria Math" panose="02040503050406030204" pitchFamily="18" charset="0"/>
                            </a:rPr>
                          </m:ctrlPr>
                        </m:sSubPr>
                        <m:e>
                          <m:r>
                            <a:rPr lang="es-ES" sz="2000" i="1">
                              <a:latin typeface="Cambria Math" panose="02040503050406030204" pitchFamily="18" charset="0"/>
                            </a:rPr>
                            <m:t>𝐷</m:t>
                          </m:r>
                        </m:e>
                        <m:sub>
                          <m:r>
                            <a:rPr lang="es-ES" sz="2000" i="1">
                              <a:latin typeface="Cambria Math" panose="02040503050406030204" pitchFamily="18" charset="0"/>
                            </a:rPr>
                            <m:t>1</m:t>
                          </m:r>
                        </m:sub>
                      </m:sSub>
                      <m:r>
                        <a:rPr lang="es-ES" sz="2000" i="1">
                          <a:latin typeface="Cambria Math" panose="02040503050406030204" pitchFamily="18" charset="0"/>
                        </a:rPr>
                        <m:t>∗</m:t>
                      </m:r>
                      <m:d>
                        <m:dPr>
                          <m:ctrlPr>
                            <a:rPr lang="es-ES" sz="2000" i="1">
                              <a:latin typeface="Cambria Math" panose="02040503050406030204" pitchFamily="18" charset="0"/>
                            </a:rPr>
                          </m:ctrlPr>
                        </m:dPr>
                        <m:e>
                          <m:f>
                            <m:fPr>
                              <m:ctrlPr>
                                <a:rPr lang="es-ES" sz="2000" i="1">
                                  <a:latin typeface="Cambria Math" panose="02040503050406030204" pitchFamily="18" charset="0"/>
                                </a:rPr>
                              </m:ctrlPr>
                            </m:fPr>
                            <m:num>
                              <m:sSup>
                                <m:sSupPr>
                                  <m:ctrlPr>
                                    <a:rPr lang="es-CO" sz="2000" i="1">
                                      <a:latin typeface="Cambria Math" panose="02040503050406030204" pitchFamily="18" charset="0"/>
                                    </a:rPr>
                                  </m:ctrlPr>
                                </m:sSupPr>
                                <m:e>
                                  <m:r>
                                    <a:rPr lang="es-ES" sz="2000" i="1">
                                      <a:latin typeface="Cambria Math" panose="02040503050406030204" pitchFamily="18" charset="0"/>
                                    </a:rPr>
                                    <m:t>1− </m:t>
                                  </m:r>
                                  <m:d>
                                    <m:dPr>
                                      <m:ctrlPr>
                                        <a:rPr lang="es-CO" sz="2000" i="1">
                                          <a:latin typeface="Cambria Math" panose="02040503050406030204" pitchFamily="18" charset="0"/>
                                        </a:rPr>
                                      </m:ctrlPr>
                                    </m:dPr>
                                    <m:e>
                                      <m:f>
                                        <m:fPr>
                                          <m:ctrlPr>
                                            <a:rPr lang="es-CO" sz="2000" i="1">
                                              <a:latin typeface="Cambria Math" panose="02040503050406030204" pitchFamily="18" charset="0"/>
                                            </a:rPr>
                                          </m:ctrlPr>
                                        </m:fPr>
                                        <m:num>
                                          <m:r>
                                            <a:rPr lang="es-CO" sz="2000" i="1">
                                              <a:latin typeface="Cambria Math" panose="02040503050406030204" pitchFamily="18" charset="0"/>
                                            </a:rPr>
                                            <m:t>1+</m:t>
                                          </m:r>
                                          <m:r>
                                            <a:rPr lang="es-CO" sz="2000" i="1">
                                              <a:latin typeface="Cambria Math" panose="02040503050406030204" pitchFamily="18" charset="0"/>
                                            </a:rPr>
                                            <m:t>𝑔</m:t>
                                          </m:r>
                                        </m:num>
                                        <m:den>
                                          <m:r>
                                            <a:rPr lang="es-CO" sz="2000" i="1">
                                              <a:latin typeface="Cambria Math" panose="02040503050406030204" pitchFamily="18" charset="0"/>
                                            </a:rPr>
                                            <m:t>1+</m:t>
                                          </m:r>
                                          <m:r>
                                            <a:rPr lang="es-CO" sz="2000" i="1">
                                              <a:latin typeface="Cambria Math" panose="02040503050406030204" pitchFamily="18" charset="0"/>
                                            </a:rPr>
                                            <m:t>𝑘</m:t>
                                          </m:r>
                                        </m:den>
                                      </m:f>
                                    </m:e>
                                  </m:d>
                                </m:e>
                                <m:sup>
                                  <m:r>
                                    <a:rPr lang="es-ES" sz="2000" i="1">
                                      <a:latin typeface="Cambria Math" panose="02040503050406030204" pitchFamily="18" charset="0"/>
                                    </a:rPr>
                                    <m:t>𝑛</m:t>
                                  </m:r>
                                </m:sup>
                              </m:sSup>
                            </m:num>
                            <m:den>
                              <m:r>
                                <a:rPr lang="es-ES" sz="2000" i="1">
                                  <a:latin typeface="Cambria Math" panose="02040503050406030204" pitchFamily="18" charset="0"/>
                                </a:rPr>
                                <m:t>𝑘</m:t>
                              </m:r>
                              <m:r>
                                <a:rPr lang="es-ES" sz="2000" i="1">
                                  <a:latin typeface="Cambria Math" panose="02040503050406030204" pitchFamily="18" charset="0"/>
                                </a:rPr>
                                <m:t>−</m:t>
                              </m:r>
                              <m:r>
                                <a:rPr lang="es-ES" sz="2000" i="1">
                                  <a:latin typeface="Cambria Math" panose="02040503050406030204" pitchFamily="18" charset="0"/>
                                </a:rPr>
                                <m:t>𝑔</m:t>
                              </m:r>
                            </m:den>
                          </m:f>
                        </m:e>
                      </m:d>
                    </m:oMath>
                  </m:oMathPara>
                </a14:m>
                <a:endParaRPr lang="es-CO" sz="2000"/>
              </a:p>
            </p:txBody>
          </p:sp>
        </mc:Choice>
        <mc:Fallback xmlns="">
          <p:sp>
            <p:nvSpPr>
              <p:cNvPr id="10" name="TextBox 9">
                <a:extLst>
                  <a:ext uri="{FF2B5EF4-FFF2-40B4-BE49-F238E27FC236}">
                    <a16:creationId xmlns:a16="http://schemas.microsoft.com/office/drawing/2014/main" id="{9EB5366D-CBA9-4785-A710-4246F64311F5}"/>
                  </a:ext>
                </a:extLst>
              </p:cNvPr>
              <p:cNvSpPr txBox="1">
                <a:spLocks noRot="1" noChangeAspect="1" noMove="1" noResize="1" noEditPoints="1" noAdjustHandles="1" noChangeArrowheads="1" noChangeShapeType="1" noTextEdit="1"/>
              </p:cNvSpPr>
              <p:nvPr/>
            </p:nvSpPr>
            <p:spPr>
              <a:xfrm>
                <a:off x="2290762" y="4636628"/>
                <a:ext cx="7610476" cy="1307217"/>
              </a:xfrm>
              <a:prstGeom prst="rect">
                <a:avLst/>
              </a:prstGeom>
              <a:blipFill>
                <a:blip r:embed="rId2"/>
                <a:stretch>
                  <a:fillRect/>
                </a:stretch>
              </a:blipFill>
            </p:spPr>
            <p:txBody>
              <a:bodyPr/>
              <a:lstStyle/>
              <a:p>
                <a:r>
                  <a:rPr lang="es-CO">
                    <a:noFill/>
                  </a:rPr>
                  <a:t> </a:t>
                </a:r>
              </a:p>
            </p:txBody>
          </p:sp>
        </mc:Fallback>
      </mc:AlternateContent>
      <p:sp>
        <p:nvSpPr>
          <p:cNvPr id="6" name="Title 1">
            <a:extLst>
              <a:ext uri="{FF2B5EF4-FFF2-40B4-BE49-F238E27FC236}">
                <a16:creationId xmlns:a16="http://schemas.microsoft.com/office/drawing/2014/main" id="{BB71AC1D-1E7C-11E3-A5D9-731DBF43F2A8}"/>
              </a:ext>
            </a:extLst>
          </p:cNvPr>
          <p:cNvSpPr>
            <a:spLocks noGrp="1"/>
          </p:cNvSpPr>
          <p:nvPr>
            <p:ph type="title"/>
          </p:nvPr>
        </p:nvSpPr>
        <p:spPr>
          <a:xfrm>
            <a:off x="581192" y="702156"/>
            <a:ext cx="11029616" cy="1013800"/>
          </a:xfrm>
        </p:spPr>
        <p:txBody>
          <a:bodyPr/>
          <a:lstStyle/>
          <a:p>
            <a:r>
              <a:rPr lang="es-ES_tradnl">
                <a:latin typeface="Century Gothic" panose="020B0502020202020204" pitchFamily="34" charset="0"/>
              </a:rPr>
              <a:t>Gradientes geométricos</a:t>
            </a:r>
          </a:p>
        </p:txBody>
      </p:sp>
      <p:sp>
        <p:nvSpPr>
          <p:cNvPr id="7" name="Rectángulo 6">
            <a:extLst>
              <a:ext uri="{FF2B5EF4-FFF2-40B4-BE49-F238E27FC236}">
                <a16:creationId xmlns:a16="http://schemas.microsoft.com/office/drawing/2014/main" id="{D2DEA4DD-7E23-2AD7-16CB-0F083BA2233F}"/>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9" name="Picture 2" descr="Clientes y aliados | Centro de Evaluación | Uniandes">
            <a:extLst>
              <a:ext uri="{FF2B5EF4-FFF2-40B4-BE49-F238E27FC236}">
                <a16:creationId xmlns:a16="http://schemas.microsoft.com/office/drawing/2014/main" id="{7DE708B7-FBA3-6875-2622-7CFE452A779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1" name="Rectángulo 10">
            <a:extLst>
              <a:ext uri="{FF2B5EF4-FFF2-40B4-BE49-F238E27FC236}">
                <a16:creationId xmlns:a16="http://schemas.microsoft.com/office/drawing/2014/main" id="{827A787E-6238-E3A9-FD87-637CB0CBE0FF}"/>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mc:AlternateContent xmlns:mc="http://schemas.openxmlformats.org/markup-compatibility/2006" xmlns:a14="http://schemas.microsoft.com/office/drawing/2010/main">
        <mc:Choice Requires="a14">
          <p:sp>
            <p:nvSpPr>
              <p:cNvPr id="18" name="Marcador de contenido 2">
                <a:extLst>
                  <a:ext uri="{FF2B5EF4-FFF2-40B4-BE49-F238E27FC236}">
                    <a16:creationId xmlns:a16="http://schemas.microsoft.com/office/drawing/2014/main" id="{684D6A26-A47C-430E-A965-7E03DC650BB2}"/>
                  </a:ext>
                </a:extLst>
              </p:cNvPr>
              <p:cNvSpPr txBox="1">
                <a:spLocks/>
              </p:cNvSpPr>
              <p:nvPr/>
            </p:nvSpPr>
            <p:spPr>
              <a:xfrm>
                <a:off x="581191" y="2037899"/>
                <a:ext cx="11029615" cy="497445"/>
              </a:xfrm>
              <a:prstGeom prst="rect">
                <a:avLst/>
              </a:prstGeom>
            </p:spPr>
            <p:txBody>
              <a:bodyPr vert="horz" lIns="91440" tIns="45720" rIns="91440" bIns="45720" rtlCol="0">
                <a:normAutofit/>
              </a:bodyPr>
              <a:lstStyle>
                <a:lvl1pPr marL="342900" indent="-342900" algn="l" defTabSz="914400" rtl="0" eaLnBrk="1" latinLnBrk="0" hangingPunct="1">
                  <a:spcBef>
                    <a:spcPts val="2000"/>
                  </a:spcBef>
                  <a:buClr>
                    <a:schemeClr val="accent1"/>
                  </a:buClr>
                  <a:buFont typeface="Wingdings 2" pitchFamily="18" charset="2"/>
                  <a:buChar char=""/>
                  <a:defRPr sz="2000" kern="1200">
                    <a:solidFill>
                      <a:schemeClr val="tx1">
                        <a:lumMod val="65000"/>
                        <a:lumOff val="35000"/>
                      </a:schemeClr>
                    </a:solidFill>
                    <a:latin typeface="+mn-lt"/>
                    <a:ea typeface="+mn-ea"/>
                    <a:cs typeface="+mn-cs"/>
                  </a:defRPr>
                </a:lvl1pPr>
                <a:lvl2pPr marL="6858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2pPr>
                <a:lvl3pPr marL="10350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3pPr>
                <a:lvl4pPr marL="13716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4pPr>
                <a:lvl5pPr marL="17208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5pPr>
                <a:lvl6pPr marL="2055813"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6pPr>
                <a:lvl7pPr marL="2398713" indent="-344488" algn="l" defTabSz="914400" rtl="0" eaLnBrk="1" latinLnBrk="0" hangingPunct="1">
                  <a:spcBef>
                    <a:spcPct val="20000"/>
                  </a:spcBef>
                  <a:buClr>
                    <a:schemeClr val="accent1"/>
                  </a:buClr>
                  <a:buFont typeface="Wingdings 2" pitchFamily="18" charset="2"/>
                  <a:buChar char=""/>
                  <a:defRPr lang="en-US" sz="1800" kern="1200" dirty="0" smtClean="0">
                    <a:solidFill>
                      <a:schemeClr val="tx1">
                        <a:lumMod val="65000"/>
                        <a:lumOff val="35000"/>
                      </a:schemeClr>
                    </a:solidFill>
                    <a:latin typeface="+mn-lt"/>
                    <a:ea typeface="+mn-ea"/>
                    <a:cs typeface="+mn-cs"/>
                  </a:defRPr>
                </a:lvl7pPr>
                <a:lvl8pPr marL="2743200"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8pPr>
                <a:lvl9pPr marL="3087688" indent="-344488" algn="l" defTabSz="914400" rtl="0" eaLnBrk="1" latinLnBrk="0" hangingPunct="1">
                  <a:spcBef>
                    <a:spcPct val="20000"/>
                  </a:spcBef>
                  <a:buClr>
                    <a:schemeClr val="accent1"/>
                  </a:buClr>
                  <a:buFont typeface="Wingdings 2" pitchFamily="18" charset="2"/>
                  <a:buChar char=""/>
                  <a:defRPr lang="en-US" sz="1800" kern="1200" dirty="0">
                    <a:solidFill>
                      <a:schemeClr val="tx1">
                        <a:lumMod val="65000"/>
                        <a:lumOff val="35000"/>
                      </a:schemeClr>
                    </a:solidFill>
                    <a:latin typeface="+mn-lt"/>
                    <a:ea typeface="+mn-ea"/>
                    <a:cs typeface="+mn-cs"/>
                  </a:defRPr>
                </a:lvl9pPr>
              </a:lstStyle>
              <a:p>
                <a:pPr marL="0" indent="0">
                  <a:buNone/>
                </a:pPr>
                <a:r>
                  <a:rPr lang="es-ES" sz="2400">
                    <a:solidFill>
                      <a:schemeClr val="tx1"/>
                    </a:solidFill>
                  </a:rPr>
                  <a:t>Si hacemos </a:t>
                </a:r>
                <a14:m>
                  <m:oMath xmlns:m="http://schemas.openxmlformats.org/officeDocument/2006/math">
                    <m:r>
                      <a:rPr lang="es-ES" sz="2400" b="1" i="1">
                        <a:solidFill>
                          <a:srgbClr val="00B050"/>
                        </a:solidFill>
                        <a:latin typeface="Cambria Math" panose="02040503050406030204" pitchFamily="18" charset="0"/>
                      </a:rPr>
                      <m:t>𝟏</m:t>
                    </m:r>
                    <m:r>
                      <a:rPr lang="es-ES" sz="2400" b="1" i="1">
                        <a:solidFill>
                          <a:srgbClr val="00B050"/>
                        </a:solidFill>
                        <a:latin typeface="Cambria Math" panose="02040503050406030204" pitchFamily="18" charset="0"/>
                      </a:rPr>
                      <m:t>)−</m:t>
                    </m:r>
                    <m:r>
                      <a:rPr lang="es-ES" sz="2400" b="1" i="1" smtClean="0">
                        <a:solidFill>
                          <a:srgbClr val="00B050"/>
                        </a:solidFill>
                        <a:latin typeface="Cambria Math" panose="02040503050406030204" pitchFamily="18" charset="0"/>
                      </a:rPr>
                      <m:t>𝟐</m:t>
                    </m:r>
                    <m:r>
                      <a:rPr lang="es-ES" sz="2400" b="1" i="1">
                        <a:solidFill>
                          <a:srgbClr val="00B050"/>
                        </a:solidFill>
                        <a:latin typeface="Cambria Math" panose="02040503050406030204" pitchFamily="18" charset="0"/>
                      </a:rPr>
                      <m:t>)</m:t>
                    </m:r>
                  </m:oMath>
                </a14:m>
                <a:endParaRPr lang="es-ES" sz="2400">
                  <a:solidFill>
                    <a:schemeClr val="tx1"/>
                  </a:solidFill>
                </a:endParaRPr>
              </a:p>
            </p:txBody>
          </p:sp>
        </mc:Choice>
        <mc:Fallback xmlns="">
          <p:sp>
            <p:nvSpPr>
              <p:cNvPr id="18" name="Marcador de contenido 2">
                <a:extLst>
                  <a:ext uri="{FF2B5EF4-FFF2-40B4-BE49-F238E27FC236}">
                    <a16:creationId xmlns:a16="http://schemas.microsoft.com/office/drawing/2014/main" id="{684D6A26-A47C-430E-A965-7E03DC650BB2}"/>
                  </a:ext>
                </a:extLst>
              </p:cNvPr>
              <p:cNvSpPr txBox="1">
                <a:spLocks noRot="1" noChangeAspect="1" noMove="1" noResize="1" noEditPoints="1" noAdjustHandles="1" noChangeArrowheads="1" noChangeShapeType="1" noTextEdit="1"/>
              </p:cNvSpPr>
              <p:nvPr/>
            </p:nvSpPr>
            <p:spPr>
              <a:xfrm>
                <a:off x="581191" y="2037899"/>
                <a:ext cx="11029615" cy="497445"/>
              </a:xfrm>
              <a:prstGeom prst="rect">
                <a:avLst/>
              </a:prstGeom>
              <a:blipFill>
                <a:blip r:embed="rId4"/>
                <a:stretch>
                  <a:fillRect l="-805" t="-10000" b="-20000"/>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2E3BDB68-0A37-46EC-BCF1-C22DCD6340F8}"/>
                  </a:ext>
                </a:extLst>
              </p:cNvPr>
              <p:cNvSpPr txBox="1"/>
              <p:nvPr/>
            </p:nvSpPr>
            <p:spPr>
              <a:xfrm>
                <a:off x="3198705" y="2625575"/>
                <a:ext cx="5794586" cy="803425"/>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a:rPr lang="es-ES" sz="2400" i="1" smtClean="0">
                          <a:latin typeface="Cambria Math" panose="02040503050406030204" pitchFamily="18" charset="0"/>
                        </a:rPr>
                        <m:t>𝑆</m:t>
                      </m:r>
                      <m:r>
                        <a:rPr lang="es-ES" sz="2400" i="1" smtClean="0">
                          <a:latin typeface="Cambria Math" panose="02040503050406030204" pitchFamily="18" charset="0"/>
                        </a:rPr>
                        <m:t>−</m:t>
                      </m:r>
                      <m:r>
                        <a:rPr lang="es-ES" sz="2400" i="1" smtClean="0">
                          <a:latin typeface="Cambria Math" panose="02040503050406030204" pitchFamily="18" charset="0"/>
                        </a:rPr>
                        <m:t>𝑎𝑆</m:t>
                      </m:r>
                      <m:r>
                        <a:rPr lang="es-ES" sz="2400" i="1" smtClean="0">
                          <a:latin typeface="Cambria Math" panose="02040503050406030204" pitchFamily="18" charset="0"/>
                        </a:rPr>
                        <m:t>=1−</m:t>
                      </m:r>
                      <m:sSup>
                        <m:sSupPr>
                          <m:ctrlPr>
                            <a:rPr lang="es-ES" sz="2400" i="1">
                              <a:latin typeface="Cambria Math" panose="02040503050406030204" pitchFamily="18" charset="0"/>
                            </a:rPr>
                          </m:ctrlPr>
                        </m:sSupPr>
                        <m:e>
                          <m:r>
                            <a:rPr lang="es-ES" sz="2400" i="1">
                              <a:latin typeface="Cambria Math" panose="02040503050406030204" pitchFamily="18" charset="0"/>
                            </a:rPr>
                            <m:t>𝑎</m:t>
                          </m:r>
                        </m:e>
                        <m:sup>
                          <m:r>
                            <a:rPr lang="es-ES" sz="2400" i="1">
                              <a:latin typeface="Cambria Math" panose="02040503050406030204" pitchFamily="18" charset="0"/>
                            </a:rPr>
                            <m:t>𝑛</m:t>
                          </m:r>
                        </m:sup>
                      </m:sSup>
                      <m:r>
                        <a:rPr lang="es-ES" sz="2400" b="0" i="1" smtClean="0">
                          <a:latin typeface="Cambria Math" panose="02040503050406030204" pitchFamily="18" charset="0"/>
                        </a:rPr>
                        <m:t> </m:t>
                      </m:r>
                      <m:r>
                        <a:rPr lang="es-ES" sz="2400" i="1">
                          <a:latin typeface="Cambria Math" panose="02040503050406030204" pitchFamily="18" charset="0"/>
                        </a:rPr>
                        <m:t> </m:t>
                      </m:r>
                      <m:r>
                        <a:rPr lang="es-ES" sz="2400" b="0" i="1" smtClean="0">
                          <a:latin typeface="Cambria Math" panose="02040503050406030204" pitchFamily="18" charset="0"/>
                        </a:rPr>
                        <m:t> </m:t>
                      </m:r>
                      <m:r>
                        <a:rPr lang="es-ES" sz="2400" b="0" i="1" smtClean="0">
                          <a:latin typeface="Cambria Math" panose="02040503050406030204" pitchFamily="18" charset="0"/>
                          <a:ea typeface="Cambria Math" panose="02040503050406030204" pitchFamily="18" charset="0"/>
                        </a:rPr>
                        <m:t>→   </m:t>
                      </m:r>
                      <m:r>
                        <a:rPr lang="es-ES" sz="2400" i="1">
                          <a:latin typeface="Cambria Math" panose="02040503050406030204" pitchFamily="18" charset="0"/>
                        </a:rPr>
                        <m:t>𝑆</m:t>
                      </m:r>
                      <m:r>
                        <a:rPr lang="es-ES" sz="2400" i="1">
                          <a:latin typeface="Cambria Math" panose="02040503050406030204" pitchFamily="18" charset="0"/>
                        </a:rPr>
                        <m:t>=</m:t>
                      </m:r>
                      <m:f>
                        <m:fPr>
                          <m:ctrlPr>
                            <a:rPr lang="es-ES" sz="2400" i="1">
                              <a:latin typeface="Cambria Math" panose="02040503050406030204" pitchFamily="18" charset="0"/>
                            </a:rPr>
                          </m:ctrlPr>
                        </m:fPr>
                        <m:num>
                          <m:r>
                            <a:rPr lang="es-ES" sz="2400" i="1">
                              <a:latin typeface="Cambria Math" panose="02040503050406030204" pitchFamily="18" charset="0"/>
                            </a:rPr>
                            <m:t>1−</m:t>
                          </m:r>
                          <m:sSup>
                            <m:sSupPr>
                              <m:ctrlPr>
                                <a:rPr lang="es-ES" sz="2400" i="1">
                                  <a:latin typeface="Cambria Math" panose="02040503050406030204" pitchFamily="18" charset="0"/>
                                </a:rPr>
                              </m:ctrlPr>
                            </m:sSupPr>
                            <m:e>
                              <m:r>
                                <a:rPr lang="es-ES" sz="2400" i="1">
                                  <a:latin typeface="Cambria Math" panose="02040503050406030204" pitchFamily="18" charset="0"/>
                                </a:rPr>
                                <m:t>𝑎</m:t>
                              </m:r>
                            </m:e>
                            <m:sup>
                              <m:r>
                                <a:rPr lang="es-ES" sz="2400" i="1">
                                  <a:latin typeface="Cambria Math" panose="02040503050406030204" pitchFamily="18" charset="0"/>
                                </a:rPr>
                                <m:t>𝑛</m:t>
                              </m:r>
                            </m:sup>
                          </m:sSup>
                        </m:num>
                        <m:den>
                          <m:r>
                            <a:rPr lang="es-ES" sz="2400" i="1">
                              <a:latin typeface="Cambria Math" panose="02040503050406030204" pitchFamily="18" charset="0"/>
                            </a:rPr>
                            <m:t>1−</m:t>
                          </m:r>
                          <m:r>
                            <a:rPr lang="es-ES" sz="2400" i="1">
                              <a:latin typeface="Cambria Math" panose="02040503050406030204" pitchFamily="18" charset="0"/>
                            </a:rPr>
                            <m:t>𝑎</m:t>
                          </m:r>
                        </m:den>
                      </m:f>
                    </m:oMath>
                  </m:oMathPara>
                </a14:m>
                <a:endParaRPr lang="es-CO" sz="2400"/>
              </a:p>
            </p:txBody>
          </p:sp>
        </mc:Choice>
        <mc:Fallback xmlns="">
          <p:sp>
            <p:nvSpPr>
              <p:cNvPr id="19" name="TextBox 18">
                <a:extLst>
                  <a:ext uri="{FF2B5EF4-FFF2-40B4-BE49-F238E27FC236}">
                    <a16:creationId xmlns:a16="http://schemas.microsoft.com/office/drawing/2014/main" id="{2E3BDB68-0A37-46EC-BCF1-C22DCD6340F8}"/>
                  </a:ext>
                </a:extLst>
              </p:cNvPr>
              <p:cNvSpPr txBox="1">
                <a:spLocks noRot="1" noChangeAspect="1" noMove="1" noResize="1" noEditPoints="1" noAdjustHandles="1" noChangeArrowheads="1" noChangeShapeType="1" noTextEdit="1"/>
              </p:cNvSpPr>
              <p:nvPr/>
            </p:nvSpPr>
            <p:spPr>
              <a:xfrm>
                <a:off x="3198705" y="2625575"/>
                <a:ext cx="5794586" cy="803425"/>
              </a:xfrm>
              <a:prstGeom prst="rect">
                <a:avLst/>
              </a:prstGeom>
              <a:blipFill>
                <a:blip r:embed="rId5"/>
                <a:stretch>
                  <a:fillRect b="-4615"/>
                </a:stretch>
              </a:blipFill>
            </p:spPr>
            <p:txBody>
              <a:bodyPr/>
              <a:lstStyle/>
              <a:p>
                <a:r>
                  <a:rPr lang="es-CO">
                    <a:noFill/>
                  </a:rPr>
                  <a:t> </a:t>
                </a:r>
              </a:p>
            </p:txBody>
          </p:sp>
        </mc:Fallback>
      </mc:AlternateContent>
    </p:spTree>
    <p:extLst>
      <p:ext uri="{BB962C8B-B14F-4D97-AF65-F5344CB8AC3E}">
        <p14:creationId xmlns:p14="http://schemas.microsoft.com/office/powerpoint/2010/main" val="155678476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581192" y="1744845"/>
            <a:ext cx="11029615" cy="1013800"/>
          </a:xfrm>
        </p:spPr>
        <p:txBody>
          <a:bodyPr>
            <a:normAutofit/>
          </a:bodyPr>
          <a:lstStyle/>
          <a:p>
            <a:pPr marL="0" indent="0" algn="just">
              <a:buNone/>
            </a:pPr>
            <a:r>
              <a:rPr lang="es-ES" sz="2400"/>
              <a:t>Ahora, veamos el caso de una </a:t>
            </a:r>
            <a:r>
              <a:rPr lang="es-ES" sz="2400" b="1">
                <a:solidFill>
                  <a:srgbClr val="800000"/>
                </a:solidFill>
              </a:rPr>
              <a:t>serie finita </a:t>
            </a:r>
            <a:r>
              <a:rPr lang="es-ES" sz="2400"/>
              <a:t>con crecimiento geométrico constante (g), si se quiere encontrar su equivalente en VP, se tiene:</a:t>
            </a:r>
          </a:p>
        </p:txBody>
      </p:sp>
      <p:sp>
        <p:nvSpPr>
          <p:cNvPr id="4" name="Marcador de número de diapositiva 3"/>
          <p:cNvSpPr>
            <a:spLocks noGrp="1"/>
          </p:cNvSpPr>
          <p:nvPr>
            <p:ph type="sldNum" sz="quarter" idx="12"/>
          </p:nvPr>
        </p:nvSpPr>
        <p:spPr/>
        <p:txBody>
          <a:bodyPr/>
          <a:lstStyle/>
          <a:p>
            <a:fld id="{5E3E23BA-6E79-2442-BA73-D218A5E297C3}" type="slidenum">
              <a:rPr lang="en-US" smtClean="0"/>
              <a:t>64</a:t>
            </a:fld>
            <a:endParaRPr lang="en-US"/>
          </a:p>
        </p:txBody>
      </p:sp>
      <p:pic>
        <p:nvPicPr>
          <p:cNvPr id="5" name="Imagen 4" descr="latex-image-1.pdf"/>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10017" y="2780417"/>
            <a:ext cx="3571963" cy="1340710"/>
          </a:xfrm>
          <a:prstGeom prst="rect">
            <a:avLst/>
          </a:prstGeom>
        </p:spPr>
      </p:pic>
      <p:sp>
        <p:nvSpPr>
          <p:cNvPr id="9" name="Title 1">
            <a:extLst>
              <a:ext uri="{FF2B5EF4-FFF2-40B4-BE49-F238E27FC236}">
                <a16:creationId xmlns:a16="http://schemas.microsoft.com/office/drawing/2014/main" id="{16EA5A81-B586-634A-C230-1360B08258C1}"/>
              </a:ext>
            </a:extLst>
          </p:cNvPr>
          <p:cNvSpPr>
            <a:spLocks noGrp="1"/>
          </p:cNvSpPr>
          <p:nvPr>
            <p:ph type="title"/>
          </p:nvPr>
        </p:nvSpPr>
        <p:spPr>
          <a:xfrm>
            <a:off x="581192" y="702156"/>
            <a:ext cx="11029616" cy="1013800"/>
          </a:xfrm>
        </p:spPr>
        <p:txBody>
          <a:bodyPr/>
          <a:lstStyle/>
          <a:p>
            <a:r>
              <a:rPr lang="es-ES_tradnl">
                <a:latin typeface="Century Gothic" panose="020B0502020202020204" pitchFamily="34" charset="0"/>
              </a:rPr>
              <a:t>Gradientes geométricos</a:t>
            </a:r>
          </a:p>
        </p:txBody>
      </p:sp>
      <p:sp>
        <p:nvSpPr>
          <p:cNvPr id="10" name="Rectángulo 9">
            <a:extLst>
              <a:ext uri="{FF2B5EF4-FFF2-40B4-BE49-F238E27FC236}">
                <a16:creationId xmlns:a16="http://schemas.microsoft.com/office/drawing/2014/main" id="{B933B7B9-0D56-2D3F-F852-E4AA12DBEE32}"/>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1" name="Picture 2" descr="Clientes y aliados | Centro de Evaluación | Uniandes">
            <a:extLst>
              <a:ext uri="{FF2B5EF4-FFF2-40B4-BE49-F238E27FC236}">
                <a16:creationId xmlns:a16="http://schemas.microsoft.com/office/drawing/2014/main" id="{64ACCB2B-373F-BAD4-164B-53022DAA641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2" name="Rectángulo 11">
            <a:extLst>
              <a:ext uri="{FF2B5EF4-FFF2-40B4-BE49-F238E27FC236}">
                <a16:creationId xmlns:a16="http://schemas.microsoft.com/office/drawing/2014/main" id="{954A8877-C114-4070-7456-1BB6C984C9D4}"/>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6" name="CuadroTexto 5">
            <a:extLst>
              <a:ext uri="{FF2B5EF4-FFF2-40B4-BE49-F238E27FC236}">
                <a16:creationId xmlns:a16="http://schemas.microsoft.com/office/drawing/2014/main" id="{9D37F510-9865-6C62-D497-A37FE049461A}"/>
              </a:ext>
            </a:extLst>
          </p:cNvPr>
          <p:cNvSpPr txBox="1"/>
          <p:nvPr/>
        </p:nvSpPr>
        <p:spPr>
          <a:xfrm>
            <a:off x="581192" y="4477975"/>
            <a:ext cx="10968843" cy="1200329"/>
          </a:xfrm>
          <a:prstGeom prst="rect">
            <a:avLst/>
          </a:prstGeom>
          <a:noFill/>
        </p:spPr>
        <p:txBody>
          <a:bodyPr wrap="square">
            <a:spAutoFit/>
          </a:bodyPr>
          <a:lstStyle/>
          <a:p>
            <a:pPr marL="0" indent="0" algn="just">
              <a:buNone/>
            </a:pPr>
            <a:r>
              <a:rPr lang="es-ES" sz="2400"/>
              <a:t>Puede observarse que cuando n tiende a infinito, la expresión anterior converge al </a:t>
            </a:r>
            <a:r>
              <a:rPr lang="es-ES" sz="2400" i="1"/>
              <a:t>Modelo de Gordon-Shapiro</a:t>
            </a:r>
            <a:r>
              <a:rPr lang="es-ES" sz="2400"/>
              <a:t>. Por otra parte, si no hubiese crecimiento (o sea g=0,) dicha expresión converge al valor presente de una serie uniforme.</a:t>
            </a:r>
          </a:p>
        </p:txBody>
      </p:sp>
    </p:spTree>
    <p:extLst>
      <p:ext uri="{BB962C8B-B14F-4D97-AF65-F5344CB8AC3E}">
        <p14:creationId xmlns:p14="http://schemas.microsoft.com/office/powerpoint/2010/main" val="414902975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p:cNvSpPr>
            <a:spLocks noGrp="1"/>
          </p:cNvSpPr>
          <p:nvPr>
            <p:ph type="sldNum" sz="quarter" idx="12"/>
          </p:nvPr>
        </p:nvSpPr>
        <p:spPr/>
        <p:txBody>
          <a:bodyPr/>
          <a:lstStyle/>
          <a:p>
            <a:fld id="{5E3E23BA-6E79-2442-BA73-D218A5E297C3}" type="slidenum">
              <a:rPr lang="en-US" smtClean="0"/>
              <a:t>65</a:t>
            </a:fld>
            <a:endParaRPr lang="en-US"/>
          </a:p>
        </p:txBody>
      </p:sp>
      <p:sp>
        <p:nvSpPr>
          <p:cNvPr id="5" name="Marcador de contenido 2"/>
          <p:cNvSpPr txBox="1">
            <a:spLocks/>
          </p:cNvSpPr>
          <p:nvPr/>
        </p:nvSpPr>
        <p:spPr>
          <a:xfrm>
            <a:off x="6140026" y="2514634"/>
            <a:ext cx="6051974" cy="768769"/>
          </a:xfrm>
          <a:prstGeom prst="rect">
            <a:avLst/>
          </a:prstGeom>
        </p:spPr>
        <p:txBody>
          <a:bodyPr vert="horz" lIns="91440" tIns="45720" rIns="91440" bIns="45720" rtlCol="0">
            <a:noAutofit/>
          </a:bodyPr>
          <a:lstStyle>
            <a:lvl1pPr marL="342900" indent="-342900" algn="l" defTabSz="914400" rtl="0" eaLnBrk="1" latinLnBrk="0" hangingPunct="1">
              <a:spcBef>
                <a:spcPts val="2000"/>
              </a:spcBef>
              <a:buClr>
                <a:schemeClr val="accent1"/>
              </a:buClr>
              <a:buFont typeface="Wingdings 2" pitchFamily="18" charset="2"/>
              <a:buChar char=""/>
              <a:defRPr sz="2000" kern="1200">
                <a:solidFill>
                  <a:schemeClr val="tx1">
                    <a:lumMod val="65000"/>
                    <a:lumOff val="35000"/>
                  </a:schemeClr>
                </a:solidFill>
                <a:latin typeface="+mn-lt"/>
                <a:ea typeface="+mn-ea"/>
                <a:cs typeface="+mn-cs"/>
              </a:defRPr>
            </a:lvl1pPr>
            <a:lvl2pPr marL="6858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2pPr>
            <a:lvl3pPr marL="10350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3pPr>
            <a:lvl4pPr marL="13716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4pPr>
            <a:lvl5pPr marL="17208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5pPr>
            <a:lvl6pPr marL="2055813"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6pPr>
            <a:lvl7pPr marL="2398713" indent="-344488" algn="l" defTabSz="914400" rtl="0" eaLnBrk="1" latinLnBrk="0" hangingPunct="1">
              <a:spcBef>
                <a:spcPct val="20000"/>
              </a:spcBef>
              <a:buClr>
                <a:schemeClr val="accent1"/>
              </a:buClr>
              <a:buFont typeface="Wingdings 2" pitchFamily="18" charset="2"/>
              <a:buChar char=""/>
              <a:defRPr lang="en-US" sz="1800" kern="1200" dirty="0" smtClean="0">
                <a:solidFill>
                  <a:schemeClr val="tx1">
                    <a:lumMod val="65000"/>
                    <a:lumOff val="35000"/>
                  </a:schemeClr>
                </a:solidFill>
                <a:latin typeface="+mn-lt"/>
                <a:ea typeface="+mn-ea"/>
                <a:cs typeface="+mn-cs"/>
              </a:defRPr>
            </a:lvl7pPr>
            <a:lvl8pPr marL="2743200"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8pPr>
            <a:lvl9pPr marL="3087688" indent="-344488" algn="l" defTabSz="914400" rtl="0" eaLnBrk="1" latinLnBrk="0" hangingPunct="1">
              <a:spcBef>
                <a:spcPct val="20000"/>
              </a:spcBef>
              <a:buClr>
                <a:schemeClr val="accent1"/>
              </a:buClr>
              <a:buFont typeface="Wingdings 2" pitchFamily="18" charset="2"/>
              <a:buChar char=""/>
              <a:defRPr lang="en-US" sz="1800" kern="1200" dirty="0">
                <a:solidFill>
                  <a:schemeClr val="tx1">
                    <a:lumMod val="65000"/>
                    <a:lumOff val="35000"/>
                  </a:schemeClr>
                </a:solidFill>
                <a:latin typeface="+mn-lt"/>
                <a:ea typeface="+mn-ea"/>
                <a:cs typeface="+mn-cs"/>
              </a:defRPr>
            </a:lvl9pPr>
          </a:lstStyle>
          <a:p>
            <a:pPr marL="349250" lvl="1" indent="0">
              <a:buNone/>
            </a:pPr>
            <a:r>
              <a:rPr lang="es-ES" sz="2400" dirty="0"/>
              <a:t>Valor presente de una serie geométrica a perpetuidad</a:t>
            </a:r>
          </a:p>
        </p:txBody>
      </p:sp>
      <mc:AlternateContent xmlns:mc="http://schemas.openxmlformats.org/markup-compatibility/2006" xmlns:a14="http://schemas.microsoft.com/office/drawing/2010/main">
        <mc:Choice Requires="a14">
          <p:sp>
            <p:nvSpPr>
              <p:cNvPr id="6" name="Rectángulo 5"/>
              <p:cNvSpPr/>
              <p:nvPr/>
            </p:nvSpPr>
            <p:spPr>
              <a:xfrm>
                <a:off x="1031005" y="4027654"/>
                <a:ext cx="4033989" cy="171540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s-CO" sz="2000" i="1">
                          <a:latin typeface="Cambria Math" panose="02040503050406030204" pitchFamily="18" charset="0"/>
                        </a:rPr>
                        <m:t>𝑉𝑃</m:t>
                      </m:r>
                      <m:r>
                        <a:rPr lang="es-CO" sz="2000">
                          <a:latin typeface="Cambria Math" panose="02040503050406030204" pitchFamily="18" charset="0"/>
                        </a:rPr>
                        <m:t>= </m:t>
                      </m:r>
                      <m:d>
                        <m:dPr>
                          <m:begChr m:val="{"/>
                          <m:endChr m:val=""/>
                          <m:ctrlPr>
                            <a:rPr lang="es-CO" sz="2000" i="1">
                              <a:latin typeface="Cambria Math" panose="02040503050406030204" pitchFamily="18" charset="0"/>
                            </a:rPr>
                          </m:ctrlPr>
                        </m:dPr>
                        <m:e>
                          <m:m>
                            <m:mPr>
                              <m:mcs>
                                <m:mc>
                                  <m:mcPr>
                                    <m:count m:val="1"/>
                                    <m:mcJc m:val="center"/>
                                  </m:mcPr>
                                </m:mc>
                              </m:mcs>
                              <m:ctrlPr>
                                <a:rPr lang="es-CO" sz="2000" i="1">
                                  <a:latin typeface="Cambria Math" panose="02040503050406030204" pitchFamily="18" charset="0"/>
                                </a:rPr>
                              </m:ctrlPr>
                            </m:mPr>
                            <m:mr>
                              <m:e>
                                <m:sSub>
                                  <m:sSubPr>
                                    <m:ctrlPr>
                                      <a:rPr lang="es-CO" sz="2000" i="1">
                                        <a:latin typeface="Cambria Math" panose="02040503050406030204" pitchFamily="18" charset="0"/>
                                      </a:rPr>
                                    </m:ctrlPr>
                                  </m:sSubPr>
                                  <m:e>
                                    <m:r>
                                      <a:rPr lang="es-CO" sz="2000" i="1">
                                        <a:latin typeface="Cambria Math" panose="02040503050406030204" pitchFamily="18" charset="0"/>
                                      </a:rPr>
                                      <m:t>𝐷</m:t>
                                    </m:r>
                                  </m:e>
                                  <m:sub>
                                    <m:r>
                                      <a:rPr lang="es-CO" sz="2000">
                                        <a:latin typeface="Cambria Math" panose="02040503050406030204" pitchFamily="18" charset="0"/>
                                      </a:rPr>
                                      <m:t>1</m:t>
                                    </m:r>
                                  </m:sub>
                                </m:sSub>
                                <m:d>
                                  <m:dPr>
                                    <m:begChr m:val="["/>
                                    <m:endChr m:val="]"/>
                                    <m:ctrlPr>
                                      <a:rPr lang="es-CO" sz="2000" i="1">
                                        <a:latin typeface="Cambria Math" panose="02040503050406030204" pitchFamily="18" charset="0"/>
                                      </a:rPr>
                                    </m:ctrlPr>
                                  </m:dPr>
                                  <m:e>
                                    <m:f>
                                      <m:fPr>
                                        <m:ctrlPr>
                                          <a:rPr lang="es-CO" sz="2000" i="1">
                                            <a:latin typeface="Cambria Math" panose="02040503050406030204" pitchFamily="18" charset="0"/>
                                          </a:rPr>
                                        </m:ctrlPr>
                                      </m:fPr>
                                      <m:num>
                                        <m:r>
                                          <a:rPr lang="es-CO" sz="2000">
                                            <a:latin typeface="Cambria Math" panose="02040503050406030204" pitchFamily="18" charset="0"/>
                                          </a:rPr>
                                          <m:t>1−</m:t>
                                        </m:r>
                                        <m:sSup>
                                          <m:sSupPr>
                                            <m:ctrlPr>
                                              <a:rPr lang="es-CO" sz="2000" i="1">
                                                <a:latin typeface="Cambria Math" panose="02040503050406030204" pitchFamily="18" charset="0"/>
                                              </a:rPr>
                                            </m:ctrlPr>
                                          </m:sSupPr>
                                          <m:e>
                                            <m:d>
                                              <m:dPr>
                                                <m:ctrlPr>
                                                  <a:rPr lang="es-CO" sz="2000" i="1">
                                                    <a:latin typeface="Cambria Math" panose="02040503050406030204" pitchFamily="18" charset="0"/>
                                                  </a:rPr>
                                                </m:ctrlPr>
                                              </m:dPr>
                                              <m:e>
                                                <m:f>
                                                  <m:fPr>
                                                    <m:ctrlPr>
                                                      <a:rPr lang="es-CO" sz="2000" i="1">
                                                        <a:latin typeface="Cambria Math" panose="02040503050406030204" pitchFamily="18" charset="0"/>
                                                      </a:rPr>
                                                    </m:ctrlPr>
                                                  </m:fPr>
                                                  <m:num>
                                                    <m:r>
                                                      <a:rPr lang="es-CO" sz="2000">
                                                        <a:latin typeface="Cambria Math" panose="02040503050406030204" pitchFamily="18" charset="0"/>
                                                      </a:rPr>
                                                      <m:t>1+</m:t>
                                                    </m:r>
                                                    <m:r>
                                                      <a:rPr lang="es-CO" sz="2000" i="1">
                                                        <a:latin typeface="Cambria Math" panose="02040503050406030204" pitchFamily="18" charset="0"/>
                                                      </a:rPr>
                                                      <m:t>𝑔</m:t>
                                                    </m:r>
                                                  </m:num>
                                                  <m:den>
                                                    <m:r>
                                                      <a:rPr lang="es-CO" sz="2000">
                                                        <a:latin typeface="Cambria Math" panose="02040503050406030204" pitchFamily="18" charset="0"/>
                                                      </a:rPr>
                                                      <m:t>1+</m:t>
                                                    </m:r>
                                                    <m:r>
                                                      <a:rPr lang="es-CO" sz="2000" i="1">
                                                        <a:latin typeface="Cambria Math" panose="02040503050406030204" pitchFamily="18" charset="0"/>
                                                      </a:rPr>
                                                      <m:t>𝑖</m:t>
                                                    </m:r>
                                                  </m:den>
                                                </m:f>
                                              </m:e>
                                            </m:d>
                                          </m:e>
                                          <m:sup>
                                            <m:r>
                                              <a:rPr lang="es-CO" sz="2000" i="1">
                                                <a:latin typeface="Cambria Math" panose="02040503050406030204" pitchFamily="18" charset="0"/>
                                              </a:rPr>
                                              <m:t>𝑛</m:t>
                                            </m:r>
                                          </m:sup>
                                        </m:sSup>
                                      </m:num>
                                      <m:den>
                                        <m:r>
                                          <a:rPr lang="es-CO" sz="2000" i="1">
                                            <a:latin typeface="Cambria Math" panose="02040503050406030204" pitchFamily="18" charset="0"/>
                                          </a:rPr>
                                          <m:t>𝑖</m:t>
                                        </m:r>
                                        <m:r>
                                          <a:rPr lang="es-CO" sz="2000">
                                            <a:latin typeface="Cambria Math" panose="02040503050406030204" pitchFamily="18" charset="0"/>
                                          </a:rPr>
                                          <m:t>−</m:t>
                                        </m:r>
                                        <m:r>
                                          <a:rPr lang="es-CO" sz="2000" i="1">
                                            <a:latin typeface="Cambria Math" panose="02040503050406030204" pitchFamily="18" charset="0"/>
                                          </a:rPr>
                                          <m:t>𝑔</m:t>
                                        </m:r>
                                      </m:den>
                                    </m:f>
                                  </m:e>
                                </m:d>
                                <m:r>
                                  <a:rPr lang="es-CO" sz="2000">
                                    <a:latin typeface="Cambria Math" panose="02040503050406030204" pitchFamily="18" charset="0"/>
                                  </a:rPr>
                                  <m:t>     </m:t>
                                </m:r>
                                <m:r>
                                  <a:rPr lang="es-CO" sz="2000" i="1">
                                    <a:latin typeface="Cambria Math" panose="02040503050406030204" pitchFamily="18" charset="0"/>
                                  </a:rPr>
                                  <m:t>𝑖</m:t>
                                </m:r>
                                <m:r>
                                  <a:rPr lang="es-CO" sz="2000">
                                    <a:latin typeface="Cambria Math" panose="02040503050406030204" pitchFamily="18" charset="0"/>
                                  </a:rPr>
                                  <m:t>≠</m:t>
                                </m:r>
                                <m:r>
                                  <a:rPr lang="es-CO" sz="2000" i="1">
                                    <a:latin typeface="Cambria Math" panose="02040503050406030204" pitchFamily="18" charset="0"/>
                                  </a:rPr>
                                  <m:t>𝑔</m:t>
                                </m:r>
                              </m:e>
                            </m:mr>
                            <m:mr>
                              <m:e>
                                <m:sSub>
                                  <m:sSubPr>
                                    <m:ctrlPr>
                                      <a:rPr lang="es-CO" sz="2000" i="1">
                                        <a:latin typeface="Cambria Math" panose="02040503050406030204" pitchFamily="18" charset="0"/>
                                      </a:rPr>
                                    </m:ctrlPr>
                                  </m:sSubPr>
                                  <m:e>
                                    <m:r>
                                      <a:rPr lang="es-CO" sz="2000" i="1">
                                        <a:latin typeface="Cambria Math" panose="02040503050406030204" pitchFamily="18" charset="0"/>
                                      </a:rPr>
                                      <m:t>𝐷</m:t>
                                    </m:r>
                                  </m:e>
                                  <m:sub>
                                    <m:r>
                                      <a:rPr lang="es-CO" sz="2000">
                                        <a:latin typeface="Cambria Math" panose="02040503050406030204" pitchFamily="18" charset="0"/>
                                      </a:rPr>
                                      <m:t>1</m:t>
                                    </m:r>
                                  </m:sub>
                                </m:sSub>
                                <m:d>
                                  <m:dPr>
                                    <m:begChr m:val="["/>
                                    <m:endChr m:val="]"/>
                                    <m:ctrlPr>
                                      <a:rPr lang="es-CO" sz="2000" i="1">
                                        <a:latin typeface="Cambria Math" panose="02040503050406030204" pitchFamily="18" charset="0"/>
                                      </a:rPr>
                                    </m:ctrlPr>
                                  </m:dPr>
                                  <m:e>
                                    <m:f>
                                      <m:fPr>
                                        <m:ctrlPr>
                                          <a:rPr lang="es-CO" sz="2000" i="1">
                                            <a:latin typeface="Cambria Math" panose="02040503050406030204" pitchFamily="18" charset="0"/>
                                          </a:rPr>
                                        </m:ctrlPr>
                                      </m:fPr>
                                      <m:num>
                                        <m:r>
                                          <a:rPr lang="es-CO" sz="2000" i="1">
                                            <a:latin typeface="Cambria Math" panose="02040503050406030204" pitchFamily="18" charset="0"/>
                                          </a:rPr>
                                          <m:t>𝑛</m:t>
                                        </m:r>
                                      </m:num>
                                      <m:den>
                                        <m:r>
                                          <a:rPr lang="es-CO" sz="2000">
                                            <a:latin typeface="Cambria Math" panose="02040503050406030204" pitchFamily="18" charset="0"/>
                                          </a:rPr>
                                          <m:t>1+</m:t>
                                        </m:r>
                                        <m:r>
                                          <a:rPr lang="es-CO" sz="2000" i="1">
                                            <a:latin typeface="Cambria Math" panose="02040503050406030204" pitchFamily="18" charset="0"/>
                                          </a:rPr>
                                          <m:t>𝑖</m:t>
                                        </m:r>
                                      </m:den>
                                    </m:f>
                                  </m:e>
                                </m:d>
                                <m:r>
                                  <a:rPr lang="es-CO" sz="2000">
                                    <a:latin typeface="Cambria Math" panose="02040503050406030204" pitchFamily="18" charset="0"/>
                                  </a:rPr>
                                  <m:t>        </m:t>
                                </m:r>
                                <m:r>
                                  <a:rPr lang="es-CO" sz="2000" i="1">
                                    <a:latin typeface="Cambria Math" panose="02040503050406030204" pitchFamily="18" charset="0"/>
                                  </a:rPr>
                                  <m:t>𝑖</m:t>
                                </m:r>
                                <m:r>
                                  <a:rPr lang="es-CO" sz="2000">
                                    <a:latin typeface="Cambria Math" panose="02040503050406030204" pitchFamily="18" charset="0"/>
                                  </a:rPr>
                                  <m:t>=</m:t>
                                </m:r>
                                <m:r>
                                  <a:rPr lang="es-CO" sz="2000" i="1">
                                    <a:latin typeface="Cambria Math" panose="02040503050406030204" pitchFamily="18" charset="0"/>
                                  </a:rPr>
                                  <m:t>𝑔</m:t>
                                </m:r>
                              </m:e>
                            </m:mr>
                          </m:m>
                        </m:e>
                      </m:d>
                    </m:oMath>
                  </m:oMathPara>
                </a14:m>
                <a:endParaRPr lang="es-CO" sz="2000"/>
              </a:p>
            </p:txBody>
          </p:sp>
        </mc:Choice>
        <mc:Fallback xmlns="">
          <p:sp>
            <p:nvSpPr>
              <p:cNvPr id="6" name="Rectángulo 5"/>
              <p:cNvSpPr>
                <a:spLocks noRot="1" noChangeAspect="1" noMove="1" noResize="1" noEditPoints="1" noAdjustHandles="1" noChangeArrowheads="1" noChangeShapeType="1" noTextEdit="1"/>
              </p:cNvSpPr>
              <p:nvPr/>
            </p:nvSpPr>
            <p:spPr>
              <a:xfrm>
                <a:off x="1031005" y="4027654"/>
                <a:ext cx="4033989" cy="1715406"/>
              </a:xfrm>
              <a:prstGeom prst="rect">
                <a:avLst/>
              </a:prstGeom>
              <a:blipFill>
                <a:blip r:embed="rId2"/>
                <a:stretch>
                  <a:fillRect/>
                </a:stretch>
              </a:blipFill>
            </p:spPr>
            <p:txBody>
              <a:bodyPr/>
              <a:lstStyle/>
              <a:p>
                <a:r>
                  <a:rPr lang="es-CO">
                    <a:noFill/>
                  </a:rPr>
                  <a:t> </a:t>
                </a:r>
              </a:p>
            </p:txBody>
          </p:sp>
        </mc:Fallback>
      </mc:AlternateContent>
      <p:sp>
        <p:nvSpPr>
          <p:cNvPr id="11" name="Title 1">
            <a:extLst>
              <a:ext uri="{FF2B5EF4-FFF2-40B4-BE49-F238E27FC236}">
                <a16:creationId xmlns:a16="http://schemas.microsoft.com/office/drawing/2014/main" id="{42ADF2F3-AECC-2BD1-8105-C299E77E4B51}"/>
              </a:ext>
            </a:extLst>
          </p:cNvPr>
          <p:cNvSpPr>
            <a:spLocks noGrp="1"/>
          </p:cNvSpPr>
          <p:nvPr>
            <p:ph type="title"/>
          </p:nvPr>
        </p:nvSpPr>
        <p:spPr>
          <a:xfrm>
            <a:off x="581192" y="702156"/>
            <a:ext cx="11029616" cy="1013800"/>
          </a:xfrm>
        </p:spPr>
        <p:txBody>
          <a:bodyPr/>
          <a:lstStyle/>
          <a:p>
            <a:r>
              <a:rPr lang="es-ES_tradnl">
                <a:latin typeface="Century Gothic" panose="020B0502020202020204" pitchFamily="34" charset="0"/>
              </a:rPr>
              <a:t>Gradientes geométricos</a:t>
            </a:r>
          </a:p>
        </p:txBody>
      </p:sp>
      <p:sp>
        <p:nvSpPr>
          <p:cNvPr id="13" name="Rectángulo 12">
            <a:extLst>
              <a:ext uri="{FF2B5EF4-FFF2-40B4-BE49-F238E27FC236}">
                <a16:creationId xmlns:a16="http://schemas.microsoft.com/office/drawing/2014/main" id="{B6594D91-CEEA-8FD3-7495-766D38E8CF07}"/>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5" name="Picture 2" descr="Clientes y aliados | Centro de Evaluación | Uniandes">
            <a:extLst>
              <a:ext uri="{FF2B5EF4-FFF2-40B4-BE49-F238E27FC236}">
                <a16:creationId xmlns:a16="http://schemas.microsoft.com/office/drawing/2014/main" id="{05DA7488-2D84-81B4-8654-D3E6E3A4949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6" name="Rectángulo 15">
            <a:extLst>
              <a:ext uri="{FF2B5EF4-FFF2-40B4-BE49-F238E27FC236}">
                <a16:creationId xmlns:a16="http://schemas.microsoft.com/office/drawing/2014/main" id="{B1562C7C-97AC-7F1D-2E42-0DAE0F2A93DE}"/>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mc:AlternateContent xmlns:mc="http://schemas.openxmlformats.org/markup-compatibility/2006" xmlns:a14="http://schemas.microsoft.com/office/drawing/2010/main">
        <mc:Choice Requires="a14">
          <p:sp>
            <p:nvSpPr>
              <p:cNvPr id="14" name="Rectángulo 13"/>
              <p:cNvSpPr/>
              <p:nvPr/>
            </p:nvSpPr>
            <p:spPr>
              <a:xfrm>
                <a:off x="2283432" y="2537767"/>
                <a:ext cx="1529137" cy="72250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s-CO" sz="2000" i="1">
                          <a:latin typeface="Cambria Math" panose="02040503050406030204" pitchFamily="18" charset="0"/>
                        </a:rPr>
                        <m:t>𝑉𝑃</m:t>
                      </m:r>
                      <m:r>
                        <a:rPr lang="es-CO" sz="2000">
                          <a:latin typeface="Cambria Math" panose="02040503050406030204" pitchFamily="18" charset="0"/>
                        </a:rPr>
                        <m:t>= </m:t>
                      </m:r>
                      <m:f>
                        <m:fPr>
                          <m:ctrlPr>
                            <a:rPr lang="es-CO" sz="2000" i="1">
                              <a:latin typeface="Cambria Math" panose="02040503050406030204" pitchFamily="18" charset="0"/>
                            </a:rPr>
                          </m:ctrlPr>
                        </m:fPr>
                        <m:num>
                          <m:sSub>
                            <m:sSubPr>
                              <m:ctrlPr>
                                <a:rPr lang="es-CO" sz="2000" i="1">
                                  <a:latin typeface="Cambria Math" panose="02040503050406030204" pitchFamily="18" charset="0"/>
                                </a:rPr>
                              </m:ctrlPr>
                            </m:sSubPr>
                            <m:e>
                              <m:r>
                                <a:rPr lang="es-CO" sz="2000" i="1">
                                  <a:latin typeface="Cambria Math" panose="02040503050406030204" pitchFamily="18" charset="0"/>
                                </a:rPr>
                                <m:t>𝐷</m:t>
                              </m:r>
                            </m:e>
                            <m:sub>
                              <m:r>
                                <a:rPr lang="es-CO" sz="2000">
                                  <a:latin typeface="Cambria Math" panose="02040503050406030204" pitchFamily="18" charset="0"/>
                                </a:rPr>
                                <m:t>1</m:t>
                              </m:r>
                            </m:sub>
                          </m:sSub>
                        </m:num>
                        <m:den>
                          <m:r>
                            <a:rPr lang="es-CO" sz="2000" i="1">
                              <a:latin typeface="Cambria Math" panose="02040503050406030204" pitchFamily="18" charset="0"/>
                            </a:rPr>
                            <m:t>𝑖</m:t>
                          </m:r>
                          <m:r>
                            <a:rPr lang="es-CO" sz="2000">
                              <a:latin typeface="Cambria Math" panose="02040503050406030204" pitchFamily="18" charset="0"/>
                            </a:rPr>
                            <m:t>−</m:t>
                          </m:r>
                          <m:r>
                            <a:rPr lang="es-CO" sz="2000" i="1">
                              <a:latin typeface="Cambria Math" panose="02040503050406030204" pitchFamily="18" charset="0"/>
                            </a:rPr>
                            <m:t>𝑔</m:t>
                          </m:r>
                        </m:den>
                      </m:f>
                    </m:oMath>
                  </m:oMathPara>
                </a14:m>
                <a:endParaRPr lang="es-CO" sz="2000"/>
              </a:p>
            </p:txBody>
          </p:sp>
        </mc:Choice>
        <mc:Fallback xmlns="">
          <p:sp>
            <p:nvSpPr>
              <p:cNvPr id="14" name="Rectángulo 13"/>
              <p:cNvSpPr>
                <a:spLocks noRot="1" noChangeAspect="1" noMove="1" noResize="1" noEditPoints="1" noAdjustHandles="1" noChangeArrowheads="1" noChangeShapeType="1" noTextEdit="1"/>
              </p:cNvSpPr>
              <p:nvPr/>
            </p:nvSpPr>
            <p:spPr>
              <a:xfrm>
                <a:off x="2283432" y="2537767"/>
                <a:ext cx="1529137" cy="722505"/>
              </a:xfrm>
              <a:prstGeom prst="rect">
                <a:avLst/>
              </a:prstGeom>
              <a:blipFill>
                <a:blip r:embed="rId4"/>
                <a:stretch>
                  <a:fillRect b="-5172"/>
                </a:stretch>
              </a:blipFill>
            </p:spPr>
            <p:txBody>
              <a:bodyPr/>
              <a:lstStyle/>
              <a:p>
                <a:r>
                  <a:rPr lang="es-CO">
                    <a:noFill/>
                  </a:rPr>
                  <a:t> </a:t>
                </a:r>
              </a:p>
            </p:txBody>
          </p:sp>
        </mc:Fallback>
      </mc:AlternateContent>
      <p:sp>
        <p:nvSpPr>
          <p:cNvPr id="3" name="CuadroTexto 2">
            <a:extLst>
              <a:ext uri="{FF2B5EF4-FFF2-40B4-BE49-F238E27FC236}">
                <a16:creationId xmlns:a16="http://schemas.microsoft.com/office/drawing/2014/main" id="{A13E283C-9128-B592-6E97-7EFEF42F53F4}"/>
              </a:ext>
            </a:extLst>
          </p:cNvPr>
          <p:cNvSpPr txBox="1"/>
          <p:nvPr/>
        </p:nvSpPr>
        <p:spPr>
          <a:xfrm>
            <a:off x="1" y="1896029"/>
            <a:ext cx="6096000" cy="461665"/>
          </a:xfrm>
          <a:prstGeom prst="rect">
            <a:avLst/>
          </a:prstGeom>
          <a:noFill/>
        </p:spPr>
        <p:txBody>
          <a:bodyPr wrap="square">
            <a:spAutoFit/>
          </a:bodyPr>
          <a:lstStyle/>
          <a:p>
            <a:pPr marL="349250" lvl="1" indent="0" algn="just">
              <a:buNone/>
            </a:pPr>
            <a:r>
              <a:rPr lang="es-ES" sz="2400" dirty="0">
                <a:solidFill>
                  <a:schemeClr val="tx1">
                    <a:lumMod val="65000"/>
                    <a:lumOff val="35000"/>
                  </a:schemeClr>
                </a:solidFill>
              </a:rPr>
              <a:t>Según nuestra notación:</a:t>
            </a:r>
          </a:p>
        </p:txBody>
      </p:sp>
      <p:sp>
        <p:nvSpPr>
          <p:cNvPr id="12" name="Marcador de contenido 2">
            <a:extLst>
              <a:ext uri="{FF2B5EF4-FFF2-40B4-BE49-F238E27FC236}">
                <a16:creationId xmlns:a16="http://schemas.microsoft.com/office/drawing/2014/main" id="{5189A658-72AD-A848-3C11-33627032E944}"/>
              </a:ext>
            </a:extLst>
          </p:cNvPr>
          <p:cNvSpPr txBox="1">
            <a:spLocks/>
          </p:cNvSpPr>
          <p:nvPr/>
        </p:nvSpPr>
        <p:spPr>
          <a:xfrm>
            <a:off x="6106886" y="4500307"/>
            <a:ext cx="6051974" cy="768769"/>
          </a:xfrm>
          <a:prstGeom prst="rect">
            <a:avLst/>
          </a:prstGeom>
        </p:spPr>
        <p:txBody>
          <a:bodyPr vert="horz" lIns="91440" tIns="45720" rIns="91440" bIns="45720" rtlCol="0">
            <a:noAutofit/>
          </a:bodyPr>
          <a:lstStyle>
            <a:lvl1pPr marL="342900" indent="-342900" algn="l" defTabSz="914400" rtl="0" eaLnBrk="1" latinLnBrk="0" hangingPunct="1">
              <a:spcBef>
                <a:spcPts val="2000"/>
              </a:spcBef>
              <a:buClr>
                <a:schemeClr val="accent1"/>
              </a:buClr>
              <a:buFont typeface="Wingdings 2" pitchFamily="18" charset="2"/>
              <a:buChar char=""/>
              <a:defRPr sz="2000" kern="1200">
                <a:solidFill>
                  <a:schemeClr val="tx1">
                    <a:lumMod val="65000"/>
                    <a:lumOff val="35000"/>
                  </a:schemeClr>
                </a:solidFill>
                <a:latin typeface="+mn-lt"/>
                <a:ea typeface="+mn-ea"/>
                <a:cs typeface="+mn-cs"/>
              </a:defRPr>
            </a:lvl1pPr>
            <a:lvl2pPr marL="6858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2pPr>
            <a:lvl3pPr marL="10350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3pPr>
            <a:lvl4pPr marL="13716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4pPr>
            <a:lvl5pPr marL="17208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5pPr>
            <a:lvl6pPr marL="2055813"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6pPr>
            <a:lvl7pPr marL="2398713" indent="-344488" algn="l" defTabSz="914400" rtl="0" eaLnBrk="1" latinLnBrk="0" hangingPunct="1">
              <a:spcBef>
                <a:spcPct val="20000"/>
              </a:spcBef>
              <a:buClr>
                <a:schemeClr val="accent1"/>
              </a:buClr>
              <a:buFont typeface="Wingdings 2" pitchFamily="18" charset="2"/>
              <a:buChar char=""/>
              <a:defRPr lang="en-US" sz="1800" kern="1200" dirty="0" smtClean="0">
                <a:solidFill>
                  <a:schemeClr val="tx1">
                    <a:lumMod val="65000"/>
                    <a:lumOff val="35000"/>
                  </a:schemeClr>
                </a:solidFill>
                <a:latin typeface="+mn-lt"/>
                <a:ea typeface="+mn-ea"/>
                <a:cs typeface="+mn-cs"/>
              </a:defRPr>
            </a:lvl7pPr>
            <a:lvl8pPr marL="2743200"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8pPr>
            <a:lvl9pPr marL="3087688" indent="-344488" algn="l" defTabSz="914400" rtl="0" eaLnBrk="1" latinLnBrk="0" hangingPunct="1">
              <a:spcBef>
                <a:spcPct val="20000"/>
              </a:spcBef>
              <a:buClr>
                <a:schemeClr val="accent1"/>
              </a:buClr>
              <a:buFont typeface="Wingdings 2" pitchFamily="18" charset="2"/>
              <a:buChar char=""/>
              <a:defRPr lang="en-US" sz="1800" kern="1200" dirty="0">
                <a:solidFill>
                  <a:schemeClr val="tx1">
                    <a:lumMod val="65000"/>
                    <a:lumOff val="35000"/>
                  </a:schemeClr>
                </a:solidFill>
                <a:latin typeface="+mn-lt"/>
                <a:ea typeface="+mn-ea"/>
                <a:cs typeface="+mn-cs"/>
              </a:defRPr>
            </a:lvl9pPr>
          </a:lstStyle>
          <a:p>
            <a:pPr marL="349250" lvl="1" indent="0">
              <a:buNone/>
            </a:pPr>
            <a:r>
              <a:rPr lang="es-ES" sz="2400"/>
              <a:t>Valor presente de una serie geométrica finita</a:t>
            </a:r>
          </a:p>
        </p:txBody>
      </p:sp>
      <p:pic>
        <p:nvPicPr>
          <p:cNvPr id="2" name="Imagen 6" descr="latex-image-1.pdf">
            <a:extLst>
              <a:ext uri="{FF2B5EF4-FFF2-40B4-BE49-F238E27FC236}">
                <a16:creationId xmlns:a16="http://schemas.microsoft.com/office/drawing/2014/main" id="{4C218672-C4C8-863F-9CCC-247D8A4DA56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492390" y="2064991"/>
            <a:ext cx="1985464" cy="255160"/>
          </a:xfrm>
          <a:prstGeom prst="rect">
            <a:avLst/>
          </a:prstGeom>
        </p:spPr>
      </p:pic>
      <p:sp>
        <p:nvSpPr>
          <p:cNvPr id="7" name="Rectángulo 5">
            <a:extLst>
              <a:ext uri="{FF2B5EF4-FFF2-40B4-BE49-F238E27FC236}">
                <a16:creationId xmlns:a16="http://schemas.microsoft.com/office/drawing/2014/main" id="{16088C6C-96A3-48A0-F2E1-7F87A9527F55}"/>
              </a:ext>
            </a:extLst>
          </p:cNvPr>
          <p:cNvSpPr/>
          <p:nvPr/>
        </p:nvSpPr>
        <p:spPr>
          <a:xfrm>
            <a:off x="2283432" y="2357694"/>
            <a:ext cx="1664725" cy="1137139"/>
          </a:xfrm>
          <a:prstGeom prst="rect">
            <a:avLst/>
          </a:prstGeom>
          <a:noFill/>
          <a:ln w="38100">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O"/>
          </a:p>
        </p:txBody>
      </p:sp>
      <p:sp>
        <p:nvSpPr>
          <p:cNvPr id="8" name="Rectángulo 5">
            <a:extLst>
              <a:ext uri="{FF2B5EF4-FFF2-40B4-BE49-F238E27FC236}">
                <a16:creationId xmlns:a16="http://schemas.microsoft.com/office/drawing/2014/main" id="{C121A039-768A-A151-B76E-E79178259C32}"/>
              </a:ext>
            </a:extLst>
          </p:cNvPr>
          <p:cNvSpPr/>
          <p:nvPr/>
        </p:nvSpPr>
        <p:spPr>
          <a:xfrm>
            <a:off x="1045025" y="3990111"/>
            <a:ext cx="3920081" cy="1752949"/>
          </a:xfrm>
          <a:prstGeom prst="rect">
            <a:avLst/>
          </a:prstGeom>
          <a:noFill/>
          <a:ln w="38100">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O"/>
          </a:p>
        </p:txBody>
      </p:sp>
    </p:spTree>
    <p:extLst>
      <p:ext uri="{BB962C8B-B14F-4D97-AF65-F5344CB8AC3E}">
        <p14:creationId xmlns:p14="http://schemas.microsoft.com/office/powerpoint/2010/main" val="3187654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2" grpId="0"/>
      <p:bldP spid="7" grpId="0" animBg="1"/>
      <p:bldP spid="8" grpId="0" animBg="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581192" y="1789561"/>
            <a:ext cx="11029615" cy="3670767"/>
          </a:xfrm>
        </p:spPr>
        <p:txBody>
          <a:bodyPr>
            <a:normAutofit/>
          </a:bodyPr>
          <a:lstStyle/>
          <a:p>
            <a:pPr marL="0" indent="0" algn="just">
              <a:buNone/>
            </a:pPr>
            <a:r>
              <a:rPr lang="es-ES" sz="2400" b="1"/>
              <a:t>Ejemplo 1:</a:t>
            </a:r>
          </a:p>
          <a:p>
            <a:pPr marL="0" indent="0" algn="just">
              <a:buNone/>
            </a:pPr>
            <a:r>
              <a:rPr lang="es-ES" sz="2400"/>
              <a:t>Su nueva idea de negocio espera competir fuertemente con las arepas del SD. Usted estima generar unos ingresos de 15 millones de pesos en el primer año. A partir del segundo año las ventas incrementan anualmente en un 5%. </a:t>
            </a:r>
          </a:p>
          <a:p>
            <a:pPr marL="0" indent="0" algn="just">
              <a:buNone/>
            </a:pPr>
            <a:endParaRPr lang="es-ES" sz="2400"/>
          </a:p>
          <a:p>
            <a:pPr marL="0" indent="0" algn="just">
              <a:buNone/>
            </a:pPr>
            <a:r>
              <a:rPr lang="es-ES" sz="2400"/>
              <a:t>Su costo de financiarse vía Deuda y </a:t>
            </a:r>
            <a:r>
              <a:rPr lang="es-ES" sz="2400" err="1"/>
              <a:t>Equity</a:t>
            </a:r>
            <a:r>
              <a:rPr lang="es-ES" sz="2400"/>
              <a:t> es del 12% efectivo anual.</a:t>
            </a:r>
          </a:p>
          <a:p>
            <a:pPr marL="0" indent="0" algn="just">
              <a:buNone/>
            </a:pPr>
            <a:r>
              <a:rPr lang="es-ES" sz="2400"/>
              <a:t>¿Cuál es el mínimo valor al cual usted estaría dispuesto a vender su idea de negocio? (Valor Presente)</a:t>
            </a:r>
          </a:p>
        </p:txBody>
      </p:sp>
      <p:sp>
        <p:nvSpPr>
          <p:cNvPr id="4" name="Marcador de número de diapositiva 3"/>
          <p:cNvSpPr>
            <a:spLocks noGrp="1"/>
          </p:cNvSpPr>
          <p:nvPr>
            <p:ph type="sldNum" sz="quarter" idx="12"/>
          </p:nvPr>
        </p:nvSpPr>
        <p:spPr/>
        <p:txBody>
          <a:bodyPr/>
          <a:lstStyle/>
          <a:p>
            <a:fld id="{5E3E23BA-6E79-2442-BA73-D218A5E297C3}" type="slidenum">
              <a:rPr lang="en-US" smtClean="0"/>
              <a:t>66</a:t>
            </a:fld>
            <a:endParaRPr lang="en-US"/>
          </a:p>
        </p:txBody>
      </p:sp>
      <p:sp>
        <p:nvSpPr>
          <p:cNvPr id="8" name="Title 1">
            <a:extLst>
              <a:ext uri="{FF2B5EF4-FFF2-40B4-BE49-F238E27FC236}">
                <a16:creationId xmlns:a16="http://schemas.microsoft.com/office/drawing/2014/main" id="{83DC81E1-9BFF-7E4F-5FD2-35F7412D50FA}"/>
              </a:ext>
            </a:extLst>
          </p:cNvPr>
          <p:cNvSpPr>
            <a:spLocks noGrp="1"/>
          </p:cNvSpPr>
          <p:nvPr>
            <p:ph type="title"/>
          </p:nvPr>
        </p:nvSpPr>
        <p:spPr>
          <a:xfrm>
            <a:off x="581192" y="702156"/>
            <a:ext cx="11029616" cy="1013800"/>
          </a:xfrm>
        </p:spPr>
        <p:txBody>
          <a:bodyPr/>
          <a:lstStyle/>
          <a:p>
            <a:r>
              <a:rPr lang="es-ES_tradnl">
                <a:latin typeface="Century Gothic" panose="020B0502020202020204" pitchFamily="34" charset="0"/>
              </a:rPr>
              <a:t>Gradientes geométricos</a:t>
            </a:r>
          </a:p>
        </p:txBody>
      </p:sp>
      <p:sp>
        <p:nvSpPr>
          <p:cNvPr id="9" name="Rectángulo 8">
            <a:extLst>
              <a:ext uri="{FF2B5EF4-FFF2-40B4-BE49-F238E27FC236}">
                <a16:creationId xmlns:a16="http://schemas.microsoft.com/office/drawing/2014/main" id="{1813E4E9-8FDA-4C90-4C2A-5E65645F59E1}"/>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0" name="Picture 2" descr="Clientes y aliados | Centro de Evaluación | Uniandes">
            <a:extLst>
              <a:ext uri="{FF2B5EF4-FFF2-40B4-BE49-F238E27FC236}">
                <a16:creationId xmlns:a16="http://schemas.microsoft.com/office/drawing/2014/main" id="{48BD5B24-BC30-058F-915A-874952CF0EC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1" name="Rectángulo 10">
            <a:extLst>
              <a:ext uri="{FF2B5EF4-FFF2-40B4-BE49-F238E27FC236}">
                <a16:creationId xmlns:a16="http://schemas.microsoft.com/office/drawing/2014/main" id="{329F5DE8-C16E-5D6D-BCF1-0B2B4B3E8EDC}"/>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66386183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2282522" y="5415045"/>
            <a:ext cx="7610476" cy="472925"/>
          </a:xfrm>
        </p:spPr>
        <p:txBody>
          <a:bodyPr>
            <a:normAutofit/>
          </a:bodyPr>
          <a:lstStyle/>
          <a:p>
            <a:pPr marL="0" indent="0" algn="ctr">
              <a:buNone/>
            </a:pPr>
            <a:r>
              <a:rPr lang="es-ES" sz="2400"/>
              <a:t>Costo de oportunidad = WACC=12% EA</a:t>
            </a:r>
          </a:p>
        </p:txBody>
      </p:sp>
      <p:sp>
        <p:nvSpPr>
          <p:cNvPr id="4" name="Marcador de número de diapositiva 3"/>
          <p:cNvSpPr>
            <a:spLocks noGrp="1"/>
          </p:cNvSpPr>
          <p:nvPr>
            <p:ph type="sldNum" sz="quarter" idx="12"/>
          </p:nvPr>
        </p:nvSpPr>
        <p:spPr/>
        <p:txBody>
          <a:bodyPr/>
          <a:lstStyle/>
          <a:p>
            <a:fld id="{5E3E23BA-6E79-2442-BA73-D218A5E297C3}" type="slidenum">
              <a:rPr lang="en-US" smtClean="0"/>
              <a:t>67</a:t>
            </a:fld>
            <a:endParaRPr lang="en-US"/>
          </a:p>
        </p:txBody>
      </p:sp>
      <p:cxnSp>
        <p:nvCxnSpPr>
          <p:cNvPr id="5" name="Straight Connector 6"/>
          <p:cNvCxnSpPr/>
          <p:nvPr/>
        </p:nvCxnSpPr>
        <p:spPr>
          <a:xfrm>
            <a:off x="3024260" y="4316745"/>
            <a:ext cx="6191592"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 name="Straight Arrow Connector 9"/>
          <p:cNvCxnSpPr/>
          <p:nvPr/>
        </p:nvCxnSpPr>
        <p:spPr>
          <a:xfrm flipV="1">
            <a:off x="3944184" y="3905574"/>
            <a:ext cx="0" cy="424000"/>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7" name="Straight Arrow Connector 11"/>
          <p:cNvCxnSpPr/>
          <p:nvPr/>
        </p:nvCxnSpPr>
        <p:spPr>
          <a:xfrm flipV="1">
            <a:off x="5017613" y="3777298"/>
            <a:ext cx="0" cy="552276"/>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8" name="Straight Arrow Connector 12"/>
          <p:cNvCxnSpPr/>
          <p:nvPr/>
        </p:nvCxnSpPr>
        <p:spPr>
          <a:xfrm flipV="1">
            <a:off x="6077087" y="3661837"/>
            <a:ext cx="0" cy="667737"/>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9" name="Straight Arrow Connector 13"/>
          <p:cNvCxnSpPr/>
          <p:nvPr/>
        </p:nvCxnSpPr>
        <p:spPr>
          <a:xfrm flipV="1">
            <a:off x="7082949" y="3495077"/>
            <a:ext cx="0" cy="834497"/>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10" name="Straight Arrow Connector 14"/>
          <p:cNvCxnSpPr/>
          <p:nvPr/>
        </p:nvCxnSpPr>
        <p:spPr>
          <a:xfrm flipV="1">
            <a:off x="8156378" y="3148729"/>
            <a:ext cx="0" cy="1180844"/>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11" name="Straight Arrow Connector 15"/>
          <p:cNvCxnSpPr/>
          <p:nvPr/>
        </p:nvCxnSpPr>
        <p:spPr>
          <a:xfrm flipV="1">
            <a:off x="9215852" y="2794329"/>
            <a:ext cx="0" cy="1535244"/>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12" name="Rectangle 35"/>
          <p:cNvSpPr>
            <a:spLocks/>
          </p:cNvSpPr>
          <p:nvPr/>
        </p:nvSpPr>
        <p:spPr bwMode="auto">
          <a:xfrm>
            <a:off x="2960139" y="4353226"/>
            <a:ext cx="12824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0</a:t>
            </a:r>
          </a:p>
        </p:txBody>
      </p:sp>
      <p:sp>
        <p:nvSpPr>
          <p:cNvPr id="13" name="Rectangle 36"/>
          <p:cNvSpPr>
            <a:spLocks/>
          </p:cNvSpPr>
          <p:nvPr/>
        </p:nvSpPr>
        <p:spPr bwMode="auto">
          <a:xfrm>
            <a:off x="3773424" y="4328397"/>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a:t>
            </a:r>
          </a:p>
        </p:txBody>
      </p:sp>
      <p:sp>
        <p:nvSpPr>
          <p:cNvPr id="14" name="Rectangle 37"/>
          <p:cNvSpPr>
            <a:spLocks/>
          </p:cNvSpPr>
          <p:nvPr/>
        </p:nvSpPr>
        <p:spPr bwMode="auto">
          <a:xfrm>
            <a:off x="4861912" y="4328397"/>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2</a:t>
            </a:r>
          </a:p>
        </p:txBody>
      </p:sp>
      <p:sp>
        <p:nvSpPr>
          <p:cNvPr id="15" name="Rectangle 38"/>
          <p:cNvSpPr>
            <a:spLocks/>
          </p:cNvSpPr>
          <p:nvPr/>
        </p:nvSpPr>
        <p:spPr bwMode="auto">
          <a:xfrm>
            <a:off x="5921386" y="4342354"/>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3</a:t>
            </a:r>
          </a:p>
        </p:txBody>
      </p:sp>
      <p:sp>
        <p:nvSpPr>
          <p:cNvPr id="16" name="Rectangle 39"/>
          <p:cNvSpPr>
            <a:spLocks/>
          </p:cNvSpPr>
          <p:nvPr/>
        </p:nvSpPr>
        <p:spPr bwMode="auto">
          <a:xfrm>
            <a:off x="6927248" y="4358811"/>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4</a:t>
            </a:r>
          </a:p>
        </p:txBody>
      </p:sp>
      <p:sp>
        <p:nvSpPr>
          <p:cNvPr id="17" name="Rectangle 40"/>
          <p:cNvSpPr>
            <a:spLocks/>
          </p:cNvSpPr>
          <p:nvPr/>
        </p:nvSpPr>
        <p:spPr bwMode="auto">
          <a:xfrm>
            <a:off x="8000677" y="4328397"/>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5</a:t>
            </a:r>
          </a:p>
        </p:txBody>
      </p:sp>
      <p:sp>
        <p:nvSpPr>
          <p:cNvPr id="18" name="Rectangle 41"/>
          <p:cNvSpPr>
            <a:spLocks/>
          </p:cNvSpPr>
          <p:nvPr/>
        </p:nvSpPr>
        <p:spPr bwMode="auto">
          <a:xfrm>
            <a:off x="9060151" y="4328397"/>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n</a:t>
            </a:r>
          </a:p>
        </p:txBody>
      </p:sp>
      <p:sp>
        <p:nvSpPr>
          <p:cNvPr id="19" name="Rectangle 35"/>
          <p:cNvSpPr>
            <a:spLocks/>
          </p:cNvSpPr>
          <p:nvPr/>
        </p:nvSpPr>
        <p:spPr bwMode="auto">
          <a:xfrm>
            <a:off x="3841602" y="3601348"/>
            <a:ext cx="256481"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15</a:t>
            </a:r>
          </a:p>
        </p:txBody>
      </p:sp>
      <p:sp>
        <p:nvSpPr>
          <p:cNvPr id="20" name="Rectangle 35"/>
          <p:cNvSpPr>
            <a:spLocks/>
          </p:cNvSpPr>
          <p:nvPr/>
        </p:nvSpPr>
        <p:spPr bwMode="auto">
          <a:xfrm>
            <a:off x="4558132" y="3481878"/>
            <a:ext cx="1001877"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15(1+5%)</a:t>
            </a:r>
          </a:p>
        </p:txBody>
      </p:sp>
      <p:sp>
        <p:nvSpPr>
          <p:cNvPr id="21" name="Rectangle 35"/>
          <p:cNvSpPr>
            <a:spLocks/>
          </p:cNvSpPr>
          <p:nvPr/>
        </p:nvSpPr>
        <p:spPr bwMode="auto">
          <a:xfrm>
            <a:off x="5533670" y="3388057"/>
            <a:ext cx="1086837"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15(1+5%)</a:t>
            </a:r>
            <a:r>
              <a:rPr lang="en-US" sz="2000" baseline="30000"/>
              <a:t>2</a:t>
            </a:r>
            <a:endParaRPr lang="en-US" sz="2000"/>
          </a:p>
        </p:txBody>
      </p:sp>
      <p:sp>
        <p:nvSpPr>
          <p:cNvPr id="22" name="Rectangle 35"/>
          <p:cNvSpPr>
            <a:spLocks/>
          </p:cNvSpPr>
          <p:nvPr/>
        </p:nvSpPr>
        <p:spPr bwMode="auto">
          <a:xfrm>
            <a:off x="6565190" y="3192422"/>
            <a:ext cx="1086837"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15(1+5%)</a:t>
            </a:r>
            <a:r>
              <a:rPr lang="en-US" sz="2000" baseline="30000"/>
              <a:t>3</a:t>
            </a:r>
            <a:endParaRPr lang="en-US" sz="2000"/>
          </a:p>
        </p:txBody>
      </p:sp>
      <p:sp>
        <p:nvSpPr>
          <p:cNvPr id="23" name="Rectangle 35"/>
          <p:cNvSpPr>
            <a:spLocks/>
          </p:cNvSpPr>
          <p:nvPr/>
        </p:nvSpPr>
        <p:spPr bwMode="auto">
          <a:xfrm>
            <a:off x="7612961" y="2871731"/>
            <a:ext cx="1086837"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15(1+5%)</a:t>
            </a:r>
            <a:r>
              <a:rPr lang="en-US" sz="2000" baseline="30000"/>
              <a:t>4</a:t>
            </a:r>
            <a:endParaRPr lang="en-US" sz="2000"/>
          </a:p>
        </p:txBody>
      </p:sp>
      <p:sp>
        <p:nvSpPr>
          <p:cNvPr id="24" name="Rectangle 35"/>
          <p:cNvSpPr>
            <a:spLocks/>
          </p:cNvSpPr>
          <p:nvPr/>
        </p:nvSpPr>
        <p:spPr bwMode="auto">
          <a:xfrm>
            <a:off x="8642944" y="2324911"/>
            <a:ext cx="1226298"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15(1+5%)</a:t>
            </a:r>
            <a:r>
              <a:rPr lang="en-US" sz="2000" baseline="30000"/>
              <a:t>n-1</a:t>
            </a:r>
            <a:endParaRPr lang="en-US" sz="2000"/>
          </a:p>
        </p:txBody>
      </p:sp>
      <p:sp>
        <p:nvSpPr>
          <p:cNvPr id="25" name="CuadroTexto 24"/>
          <p:cNvSpPr txBox="1"/>
          <p:nvPr/>
        </p:nvSpPr>
        <p:spPr>
          <a:xfrm>
            <a:off x="8464020" y="3758876"/>
            <a:ext cx="1295747" cy="400110"/>
          </a:xfrm>
          <a:prstGeom prst="rect">
            <a:avLst/>
          </a:prstGeom>
          <a:noFill/>
        </p:spPr>
        <p:txBody>
          <a:bodyPr wrap="square" rtlCol="0">
            <a:spAutoFit/>
          </a:bodyPr>
          <a:lstStyle/>
          <a:p>
            <a:r>
              <a:rPr lang="es-ES" sz="2000"/>
              <a:t>…</a:t>
            </a:r>
          </a:p>
        </p:txBody>
      </p:sp>
      <p:sp>
        <p:nvSpPr>
          <p:cNvPr id="28" name="Title 1">
            <a:extLst>
              <a:ext uri="{FF2B5EF4-FFF2-40B4-BE49-F238E27FC236}">
                <a16:creationId xmlns:a16="http://schemas.microsoft.com/office/drawing/2014/main" id="{88017CD3-B058-7F76-5548-37C9AC174C12}"/>
              </a:ext>
            </a:extLst>
          </p:cNvPr>
          <p:cNvSpPr>
            <a:spLocks noGrp="1"/>
          </p:cNvSpPr>
          <p:nvPr>
            <p:ph type="title"/>
          </p:nvPr>
        </p:nvSpPr>
        <p:spPr>
          <a:xfrm>
            <a:off x="581192" y="702156"/>
            <a:ext cx="11029616" cy="1013800"/>
          </a:xfrm>
        </p:spPr>
        <p:txBody>
          <a:bodyPr/>
          <a:lstStyle/>
          <a:p>
            <a:r>
              <a:rPr lang="es-ES_tradnl">
                <a:latin typeface="Century Gothic" panose="020B0502020202020204" pitchFamily="34" charset="0"/>
              </a:rPr>
              <a:t>Gradientes geométricos</a:t>
            </a:r>
          </a:p>
        </p:txBody>
      </p:sp>
      <p:sp>
        <p:nvSpPr>
          <p:cNvPr id="29" name="Rectángulo 28">
            <a:extLst>
              <a:ext uri="{FF2B5EF4-FFF2-40B4-BE49-F238E27FC236}">
                <a16:creationId xmlns:a16="http://schemas.microsoft.com/office/drawing/2014/main" id="{DBE06B97-6CFA-89B8-142E-EC7CDAEE883A}"/>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30" name="Picture 2" descr="Clientes y aliados | Centro de Evaluación | Uniandes">
            <a:extLst>
              <a:ext uri="{FF2B5EF4-FFF2-40B4-BE49-F238E27FC236}">
                <a16:creationId xmlns:a16="http://schemas.microsoft.com/office/drawing/2014/main" id="{0A5DDB51-CC6C-A36F-ECF2-AD9E4EEC3A1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31" name="Rectángulo 30">
            <a:extLst>
              <a:ext uri="{FF2B5EF4-FFF2-40B4-BE49-F238E27FC236}">
                <a16:creationId xmlns:a16="http://schemas.microsoft.com/office/drawing/2014/main" id="{3AA5F921-943D-92D7-8AA0-348317D9CC16}"/>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32420691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p:cNvSpPr>
            <a:spLocks noGrp="1"/>
          </p:cNvSpPr>
          <p:nvPr>
            <p:ph type="sldNum" sz="quarter" idx="12"/>
          </p:nvPr>
        </p:nvSpPr>
        <p:spPr/>
        <p:txBody>
          <a:bodyPr/>
          <a:lstStyle/>
          <a:p>
            <a:fld id="{5E3E23BA-6E79-2442-BA73-D218A5E297C3}" type="slidenum">
              <a:rPr lang="en-US" smtClean="0"/>
              <a:t>68</a:t>
            </a:fld>
            <a:endParaRPr lang="en-US"/>
          </a:p>
        </p:txBody>
      </p:sp>
      <p:cxnSp>
        <p:nvCxnSpPr>
          <p:cNvPr id="5" name="Straight Connector 6"/>
          <p:cNvCxnSpPr/>
          <p:nvPr/>
        </p:nvCxnSpPr>
        <p:spPr>
          <a:xfrm>
            <a:off x="3033201" y="4320931"/>
            <a:ext cx="6191592"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 name="Straight Arrow Connector 9"/>
          <p:cNvCxnSpPr/>
          <p:nvPr/>
        </p:nvCxnSpPr>
        <p:spPr>
          <a:xfrm flipV="1">
            <a:off x="3953125" y="3909760"/>
            <a:ext cx="0" cy="424000"/>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7" name="Straight Arrow Connector 11"/>
          <p:cNvCxnSpPr/>
          <p:nvPr/>
        </p:nvCxnSpPr>
        <p:spPr>
          <a:xfrm flipV="1">
            <a:off x="5026554" y="3781484"/>
            <a:ext cx="0" cy="552276"/>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8" name="Straight Arrow Connector 12"/>
          <p:cNvCxnSpPr/>
          <p:nvPr/>
        </p:nvCxnSpPr>
        <p:spPr>
          <a:xfrm flipV="1">
            <a:off x="6086028" y="3666023"/>
            <a:ext cx="0" cy="667737"/>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9" name="Straight Arrow Connector 13"/>
          <p:cNvCxnSpPr/>
          <p:nvPr/>
        </p:nvCxnSpPr>
        <p:spPr>
          <a:xfrm flipV="1">
            <a:off x="7091890" y="3499263"/>
            <a:ext cx="0" cy="834497"/>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10" name="Straight Arrow Connector 14"/>
          <p:cNvCxnSpPr/>
          <p:nvPr/>
        </p:nvCxnSpPr>
        <p:spPr>
          <a:xfrm flipV="1">
            <a:off x="8165319" y="3152915"/>
            <a:ext cx="0" cy="1180844"/>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11" name="Straight Arrow Connector 15"/>
          <p:cNvCxnSpPr/>
          <p:nvPr/>
        </p:nvCxnSpPr>
        <p:spPr>
          <a:xfrm flipV="1">
            <a:off x="9224793" y="2798515"/>
            <a:ext cx="0" cy="1535244"/>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12" name="Rectangle 35"/>
          <p:cNvSpPr>
            <a:spLocks/>
          </p:cNvSpPr>
          <p:nvPr/>
        </p:nvSpPr>
        <p:spPr bwMode="auto">
          <a:xfrm>
            <a:off x="2969080" y="4335640"/>
            <a:ext cx="12824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0</a:t>
            </a:r>
          </a:p>
        </p:txBody>
      </p:sp>
      <p:sp>
        <p:nvSpPr>
          <p:cNvPr id="13" name="Rectangle 36"/>
          <p:cNvSpPr>
            <a:spLocks/>
          </p:cNvSpPr>
          <p:nvPr/>
        </p:nvSpPr>
        <p:spPr bwMode="auto">
          <a:xfrm>
            <a:off x="3782365" y="4310811"/>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a:t>
            </a:r>
          </a:p>
        </p:txBody>
      </p:sp>
      <p:sp>
        <p:nvSpPr>
          <p:cNvPr id="14" name="Rectangle 37"/>
          <p:cNvSpPr>
            <a:spLocks/>
          </p:cNvSpPr>
          <p:nvPr/>
        </p:nvSpPr>
        <p:spPr bwMode="auto">
          <a:xfrm>
            <a:off x="4870853" y="4310811"/>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2</a:t>
            </a:r>
          </a:p>
        </p:txBody>
      </p:sp>
      <p:sp>
        <p:nvSpPr>
          <p:cNvPr id="15" name="Rectangle 38"/>
          <p:cNvSpPr>
            <a:spLocks/>
          </p:cNvSpPr>
          <p:nvPr/>
        </p:nvSpPr>
        <p:spPr bwMode="auto">
          <a:xfrm>
            <a:off x="5930327" y="4324768"/>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3</a:t>
            </a:r>
          </a:p>
        </p:txBody>
      </p:sp>
      <p:sp>
        <p:nvSpPr>
          <p:cNvPr id="16" name="Rectangle 39"/>
          <p:cNvSpPr>
            <a:spLocks/>
          </p:cNvSpPr>
          <p:nvPr/>
        </p:nvSpPr>
        <p:spPr bwMode="auto">
          <a:xfrm>
            <a:off x="6936189" y="4341225"/>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4</a:t>
            </a:r>
          </a:p>
        </p:txBody>
      </p:sp>
      <p:sp>
        <p:nvSpPr>
          <p:cNvPr id="17" name="Rectangle 40"/>
          <p:cNvSpPr>
            <a:spLocks/>
          </p:cNvSpPr>
          <p:nvPr/>
        </p:nvSpPr>
        <p:spPr bwMode="auto">
          <a:xfrm>
            <a:off x="8009618" y="4310811"/>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5</a:t>
            </a:r>
          </a:p>
        </p:txBody>
      </p:sp>
      <p:sp>
        <p:nvSpPr>
          <p:cNvPr id="18" name="Rectangle 41"/>
          <p:cNvSpPr>
            <a:spLocks/>
          </p:cNvSpPr>
          <p:nvPr/>
        </p:nvSpPr>
        <p:spPr bwMode="auto">
          <a:xfrm>
            <a:off x="9069092" y="4310811"/>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n</a:t>
            </a:r>
          </a:p>
        </p:txBody>
      </p:sp>
      <p:sp>
        <p:nvSpPr>
          <p:cNvPr id="19" name="Rectangle 35"/>
          <p:cNvSpPr>
            <a:spLocks/>
          </p:cNvSpPr>
          <p:nvPr/>
        </p:nvSpPr>
        <p:spPr bwMode="auto">
          <a:xfrm>
            <a:off x="3850543" y="3605534"/>
            <a:ext cx="256481"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15</a:t>
            </a:r>
          </a:p>
        </p:txBody>
      </p:sp>
      <p:sp>
        <p:nvSpPr>
          <p:cNvPr id="20" name="Rectangle 35"/>
          <p:cNvSpPr>
            <a:spLocks/>
          </p:cNvSpPr>
          <p:nvPr/>
        </p:nvSpPr>
        <p:spPr bwMode="auto">
          <a:xfrm>
            <a:off x="4783479" y="3486064"/>
            <a:ext cx="569067"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15,75</a:t>
            </a:r>
          </a:p>
        </p:txBody>
      </p:sp>
      <p:sp>
        <p:nvSpPr>
          <p:cNvPr id="21" name="Rectangle 35"/>
          <p:cNvSpPr>
            <a:spLocks/>
          </p:cNvSpPr>
          <p:nvPr/>
        </p:nvSpPr>
        <p:spPr bwMode="auto">
          <a:xfrm>
            <a:off x="5801497" y="3392243"/>
            <a:ext cx="569067"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16,54</a:t>
            </a:r>
          </a:p>
        </p:txBody>
      </p:sp>
      <p:sp>
        <p:nvSpPr>
          <p:cNvPr id="22" name="Rectangle 35"/>
          <p:cNvSpPr>
            <a:spLocks/>
          </p:cNvSpPr>
          <p:nvPr/>
        </p:nvSpPr>
        <p:spPr bwMode="auto">
          <a:xfrm>
            <a:off x="6833017" y="3196608"/>
            <a:ext cx="569067"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17,36</a:t>
            </a:r>
          </a:p>
        </p:txBody>
      </p:sp>
      <p:sp>
        <p:nvSpPr>
          <p:cNvPr id="23" name="Rectangle 35"/>
          <p:cNvSpPr>
            <a:spLocks/>
          </p:cNvSpPr>
          <p:nvPr/>
        </p:nvSpPr>
        <p:spPr bwMode="auto">
          <a:xfrm>
            <a:off x="7880788" y="2875917"/>
            <a:ext cx="569067"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18,23</a:t>
            </a:r>
          </a:p>
        </p:txBody>
      </p:sp>
      <p:sp>
        <p:nvSpPr>
          <p:cNvPr id="24" name="Rectangle 35"/>
          <p:cNvSpPr>
            <a:spLocks/>
          </p:cNvSpPr>
          <p:nvPr/>
        </p:nvSpPr>
        <p:spPr bwMode="auto">
          <a:xfrm>
            <a:off x="8651885" y="2329097"/>
            <a:ext cx="1226298"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15(1+5%)</a:t>
            </a:r>
            <a:r>
              <a:rPr lang="en-US" sz="2000" baseline="30000"/>
              <a:t>n-1</a:t>
            </a:r>
            <a:endParaRPr lang="en-US" sz="2000"/>
          </a:p>
        </p:txBody>
      </p:sp>
      <p:sp>
        <p:nvSpPr>
          <p:cNvPr id="25" name="CuadroTexto 24"/>
          <p:cNvSpPr txBox="1"/>
          <p:nvPr/>
        </p:nvSpPr>
        <p:spPr>
          <a:xfrm>
            <a:off x="8472961" y="3763062"/>
            <a:ext cx="1295747" cy="400110"/>
          </a:xfrm>
          <a:prstGeom prst="rect">
            <a:avLst/>
          </a:prstGeom>
          <a:noFill/>
        </p:spPr>
        <p:txBody>
          <a:bodyPr wrap="square" rtlCol="0">
            <a:spAutoFit/>
          </a:bodyPr>
          <a:lstStyle/>
          <a:p>
            <a:r>
              <a:rPr lang="es-ES" sz="2000"/>
              <a:t>…</a:t>
            </a:r>
          </a:p>
        </p:txBody>
      </p:sp>
      <p:sp>
        <p:nvSpPr>
          <p:cNvPr id="28" name="Title 1">
            <a:extLst>
              <a:ext uri="{FF2B5EF4-FFF2-40B4-BE49-F238E27FC236}">
                <a16:creationId xmlns:a16="http://schemas.microsoft.com/office/drawing/2014/main" id="{683364CA-E2BF-7E80-A7D2-57E6C06FA5EC}"/>
              </a:ext>
            </a:extLst>
          </p:cNvPr>
          <p:cNvSpPr>
            <a:spLocks noGrp="1"/>
          </p:cNvSpPr>
          <p:nvPr>
            <p:ph type="title"/>
          </p:nvPr>
        </p:nvSpPr>
        <p:spPr>
          <a:xfrm>
            <a:off x="581192" y="702156"/>
            <a:ext cx="11029616" cy="1013800"/>
          </a:xfrm>
        </p:spPr>
        <p:txBody>
          <a:bodyPr/>
          <a:lstStyle/>
          <a:p>
            <a:r>
              <a:rPr lang="es-ES_tradnl">
                <a:latin typeface="Century Gothic" panose="020B0502020202020204" pitchFamily="34" charset="0"/>
              </a:rPr>
              <a:t>Gradientes geométricos</a:t>
            </a:r>
          </a:p>
        </p:txBody>
      </p:sp>
      <p:sp>
        <p:nvSpPr>
          <p:cNvPr id="29" name="Rectángulo 28">
            <a:extLst>
              <a:ext uri="{FF2B5EF4-FFF2-40B4-BE49-F238E27FC236}">
                <a16:creationId xmlns:a16="http://schemas.microsoft.com/office/drawing/2014/main" id="{78C6746A-4237-ED65-C310-9686FBD572E7}"/>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31" name="Picture 2" descr="Clientes y aliados | Centro de Evaluación | Uniandes">
            <a:extLst>
              <a:ext uri="{FF2B5EF4-FFF2-40B4-BE49-F238E27FC236}">
                <a16:creationId xmlns:a16="http://schemas.microsoft.com/office/drawing/2014/main" id="{97EB0FE2-ED93-8ED8-64B1-EFCB519CEB0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32" name="Rectángulo 31">
            <a:extLst>
              <a:ext uri="{FF2B5EF4-FFF2-40B4-BE49-F238E27FC236}">
                <a16:creationId xmlns:a16="http://schemas.microsoft.com/office/drawing/2014/main" id="{792D1D49-DFF7-9301-8F1C-8B60DD2A1606}"/>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27" name="Marcador de contenido 2">
            <a:extLst>
              <a:ext uri="{FF2B5EF4-FFF2-40B4-BE49-F238E27FC236}">
                <a16:creationId xmlns:a16="http://schemas.microsoft.com/office/drawing/2014/main" id="{CFBE151B-A7EF-A0AB-2D4F-20149DCB58F6}"/>
              </a:ext>
            </a:extLst>
          </p:cNvPr>
          <p:cNvSpPr>
            <a:spLocks noGrp="1"/>
          </p:cNvSpPr>
          <p:nvPr>
            <p:ph idx="1"/>
          </p:nvPr>
        </p:nvSpPr>
        <p:spPr>
          <a:xfrm>
            <a:off x="2282522" y="5415045"/>
            <a:ext cx="7610476" cy="472925"/>
          </a:xfrm>
        </p:spPr>
        <p:txBody>
          <a:bodyPr>
            <a:normAutofit/>
          </a:bodyPr>
          <a:lstStyle/>
          <a:p>
            <a:pPr marL="0" indent="0" algn="ctr">
              <a:buNone/>
            </a:pPr>
            <a:r>
              <a:rPr lang="es-ES" sz="2400"/>
              <a:t>Costo de oportunidad = WACC=12% EA</a:t>
            </a:r>
          </a:p>
        </p:txBody>
      </p:sp>
    </p:spTree>
    <p:extLst>
      <p:ext uri="{BB962C8B-B14F-4D97-AF65-F5344CB8AC3E}">
        <p14:creationId xmlns:p14="http://schemas.microsoft.com/office/powerpoint/2010/main" val="268548283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581192" y="1796310"/>
            <a:ext cx="11029616" cy="730145"/>
          </a:xfrm>
        </p:spPr>
        <p:txBody>
          <a:bodyPr>
            <a:normAutofit/>
          </a:bodyPr>
          <a:lstStyle/>
          <a:p>
            <a:pPr marL="0" indent="0">
              <a:buNone/>
            </a:pPr>
            <a:r>
              <a:rPr lang="es-ES" sz="2400"/>
              <a:t>Traemos todo al presente para comparar los flujos de inversión e ingresos.</a:t>
            </a:r>
          </a:p>
        </p:txBody>
      </p:sp>
      <p:sp>
        <p:nvSpPr>
          <p:cNvPr id="4" name="Marcador de número de diapositiva 3"/>
          <p:cNvSpPr>
            <a:spLocks noGrp="1"/>
          </p:cNvSpPr>
          <p:nvPr>
            <p:ph type="sldNum" sz="quarter" idx="12"/>
          </p:nvPr>
        </p:nvSpPr>
        <p:spPr/>
        <p:txBody>
          <a:bodyPr/>
          <a:lstStyle/>
          <a:p>
            <a:fld id="{5E3E23BA-6E79-2442-BA73-D218A5E297C3}" type="slidenum">
              <a:rPr lang="en-US" smtClean="0"/>
              <a:t>69</a:t>
            </a:fld>
            <a:endParaRPr lang="en-US"/>
          </a:p>
        </p:txBody>
      </p:sp>
      <p:grpSp>
        <p:nvGrpSpPr>
          <p:cNvPr id="5" name="Grupo 4"/>
          <p:cNvGrpSpPr/>
          <p:nvPr/>
        </p:nvGrpSpPr>
        <p:grpSpPr>
          <a:xfrm>
            <a:off x="5016503" y="2893969"/>
            <a:ext cx="2158995" cy="876300"/>
            <a:chOff x="3031062" y="3375423"/>
            <a:chExt cx="2158995" cy="876300"/>
          </a:xfrm>
        </p:grpSpPr>
        <p:pic>
          <p:nvPicPr>
            <p:cNvPr id="9" name="Imagen 7" descr="latex-image-1.pdf"/>
            <p:cNvPicPr>
              <a:picLocks noChangeAspect="1"/>
            </p:cNvPicPr>
            <p:nvPr/>
          </p:nvPicPr>
          <p:blipFill rotWithShape="1">
            <a:blip r:embed="rId2">
              <a:extLst>
                <a:ext uri="{28A0092B-C50C-407E-A947-70E740481C1C}">
                  <a14:useLocalDpi xmlns:a14="http://schemas.microsoft.com/office/drawing/2010/main" val="0"/>
                </a:ext>
              </a:extLst>
            </a:blip>
            <a:srcRect r="73174"/>
            <a:stretch/>
          </p:blipFill>
          <p:spPr>
            <a:xfrm>
              <a:off x="3031062" y="3375423"/>
              <a:ext cx="855138" cy="876300"/>
            </a:xfrm>
            <a:prstGeom prst="rect">
              <a:avLst/>
            </a:prstGeom>
          </p:spPr>
        </p:pic>
        <p:pic>
          <p:nvPicPr>
            <p:cNvPr id="12" name="Imagen 7" descr="latex-image-1.pdf"/>
            <p:cNvPicPr>
              <a:picLocks noChangeAspect="1"/>
            </p:cNvPicPr>
            <p:nvPr/>
          </p:nvPicPr>
          <p:blipFill rotWithShape="1">
            <a:blip r:embed="rId2">
              <a:extLst>
                <a:ext uri="{28A0092B-C50C-407E-A947-70E740481C1C}">
                  <a14:useLocalDpi xmlns:a14="http://schemas.microsoft.com/office/drawing/2010/main" val="0"/>
                </a:ext>
              </a:extLst>
            </a:blip>
            <a:srcRect l="60608"/>
            <a:stretch/>
          </p:blipFill>
          <p:spPr>
            <a:xfrm>
              <a:off x="3934344" y="3375423"/>
              <a:ext cx="1255713" cy="876300"/>
            </a:xfrm>
            <a:prstGeom prst="rect">
              <a:avLst/>
            </a:prstGeom>
          </p:spPr>
        </p:pic>
      </p:grpSp>
      <p:grpSp>
        <p:nvGrpSpPr>
          <p:cNvPr id="6" name="Grupo 5"/>
          <p:cNvGrpSpPr/>
          <p:nvPr/>
        </p:nvGrpSpPr>
        <p:grpSpPr>
          <a:xfrm>
            <a:off x="4644163" y="4141995"/>
            <a:ext cx="2903675" cy="879844"/>
            <a:chOff x="2542901" y="4401622"/>
            <a:chExt cx="2903675" cy="879844"/>
          </a:xfrm>
        </p:grpSpPr>
        <p:pic>
          <p:nvPicPr>
            <p:cNvPr id="11" name="Imagen 6" descr="latex-image-1.pdf"/>
            <p:cNvPicPr>
              <a:picLocks noChangeAspect="1"/>
            </p:cNvPicPr>
            <p:nvPr/>
          </p:nvPicPr>
          <p:blipFill rotWithShape="1">
            <a:blip r:embed="rId3">
              <a:extLst>
                <a:ext uri="{28A0092B-C50C-407E-A947-70E740481C1C}">
                  <a14:useLocalDpi xmlns:a14="http://schemas.microsoft.com/office/drawing/2010/main" val="0"/>
                </a:ext>
              </a:extLst>
            </a:blip>
            <a:srcRect r="79474"/>
            <a:stretch/>
          </p:blipFill>
          <p:spPr>
            <a:xfrm>
              <a:off x="2542901" y="4405166"/>
              <a:ext cx="828949" cy="876300"/>
            </a:xfrm>
            <a:prstGeom prst="rect">
              <a:avLst/>
            </a:prstGeom>
          </p:spPr>
        </p:pic>
        <p:pic>
          <p:nvPicPr>
            <p:cNvPr id="13" name="Imagen 6" descr="latex-image-1.pdf"/>
            <p:cNvPicPr>
              <a:picLocks noChangeAspect="1"/>
            </p:cNvPicPr>
            <p:nvPr/>
          </p:nvPicPr>
          <p:blipFill rotWithShape="1">
            <a:blip r:embed="rId3">
              <a:extLst>
                <a:ext uri="{28A0092B-C50C-407E-A947-70E740481C1C}">
                  <a14:useLocalDpi xmlns:a14="http://schemas.microsoft.com/office/drawing/2010/main" val="0"/>
                </a:ext>
              </a:extLst>
            </a:blip>
            <a:srcRect l="48628"/>
            <a:stretch/>
          </p:blipFill>
          <p:spPr>
            <a:xfrm>
              <a:off x="3371850" y="4401622"/>
              <a:ext cx="2074726" cy="876300"/>
            </a:xfrm>
            <a:prstGeom prst="rect">
              <a:avLst/>
            </a:prstGeom>
          </p:spPr>
        </p:pic>
      </p:grpSp>
      <p:grpSp>
        <p:nvGrpSpPr>
          <p:cNvPr id="7" name="Grupo 6"/>
          <p:cNvGrpSpPr/>
          <p:nvPr/>
        </p:nvGrpSpPr>
        <p:grpSpPr>
          <a:xfrm>
            <a:off x="5135901" y="5617020"/>
            <a:ext cx="1920198" cy="412831"/>
            <a:chOff x="2968746" y="5559343"/>
            <a:chExt cx="1920198" cy="412831"/>
          </a:xfrm>
        </p:grpSpPr>
        <p:pic>
          <p:nvPicPr>
            <p:cNvPr id="10" name="Imagen 8" descr="latex-image-1.pdf"/>
            <p:cNvPicPr>
              <a:picLocks noChangeAspect="1"/>
            </p:cNvPicPr>
            <p:nvPr/>
          </p:nvPicPr>
          <p:blipFill rotWithShape="1">
            <a:blip r:embed="rId4">
              <a:extLst>
                <a:ext uri="{28A0092B-C50C-407E-A947-70E740481C1C}">
                  <a14:useLocalDpi xmlns:a14="http://schemas.microsoft.com/office/drawing/2010/main" val="0"/>
                </a:ext>
              </a:extLst>
            </a:blip>
            <a:srcRect r="74293" b="-8354"/>
            <a:stretch/>
          </p:blipFill>
          <p:spPr>
            <a:xfrm>
              <a:off x="2968746" y="5559343"/>
              <a:ext cx="803154" cy="412831"/>
            </a:xfrm>
            <a:prstGeom prst="rect">
              <a:avLst/>
            </a:prstGeom>
          </p:spPr>
        </p:pic>
        <p:pic>
          <p:nvPicPr>
            <p:cNvPr id="14" name="Imagen 8" descr="latex-image-1.pdf"/>
            <p:cNvPicPr>
              <a:picLocks noChangeAspect="1"/>
            </p:cNvPicPr>
            <p:nvPr/>
          </p:nvPicPr>
          <p:blipFill rotWithShape="1">
            <a:blip r:embed="rId4">
              <a:extLst>
                <a:ext uri="{28A0092B-C50C-407E-A947-70E740481C1C}">
                  <a14:useLocalDpi xmlns:a14="http://schemas.microsoft.com/office/drawing/2010/main" val="0"/>
                </a:ext>
              </a:extLst>
            </a:blip>
            <a:srcRect l="61944" t="-1" b="1895"/>
            <a:stretch/>
          </p:blipFill>
          <p:spPr>
            <a:xfrm>
              <a:off x="3700000" y="5585235"/>
              <a:ext cx="1188944" cy="373781"/>
            </a:xfrm>
            <a:prstGeom prst="rect">
              <a:avLst/>
            </a:prstGeom>
          </p:spPr>
        </p:pic>
      </p:grpSp>
      <p:sp>
        <p:nvSpPr>
          <p:cNvPr id="17" name="Title 1">
            <a:extLst>
              <a:ext uri="{FF2B5EF4-FFF2-40B4-BE49-F238E27FC236}">
                <a16:creationId xmlns:a16="http://schemas.microsoft.com/office/drawing/2014/main" id="{1854232C-3B51-03FB-FCAC-A7D68BE6863B}"/>
              </a:ext>
            </a:extLst>
          </p:cNvPr>
          <p:cNvSpPr>
            <a:spLocks noGrp="1"/>
          </p:cNvSpPr>
          <p:nvPr>
            <p:ph type="title"/>
          </p:nvPr>
        </p:nvSpPr>
        <p:spPr>
          <a:xfrm>
            <a:off x="581192" y="702156"/>
            <a:ext cx="11029616" cy="1013800"/>
          </a:xfrm>
        </p:spPr>
        <p:txBody>
          <a:bodyPr/>
          <a:lstStyle/>
          <a:p>
            <a:r>
              <a:rPr lang="es-ES_tradnl">
                <a:latin typeface="Century Gothic" panose="020B0502020202020204" pitchFamily="34" charset="0"/>
              </a:rPr>
              <a:t>Gradientes geométricos</a:t>
            </a:r>
          </a:p>
        </p:txBody>
      </p:sp>
      <p:sp>
        <p:nvSpPr>
          <p:cNvPr id="18" name="Rectángulo 17">
            <a:extLst>
              <a:ext uri="{FF2B5EF4-FFF2-40B4-BE49-F238E27FC236}">
                <a16:creationId xmlns:a16="http://schemas.microsoft.com/office/drawing/2014/main" id="{A5548264-7791-1366-66E2-D26D21A410D2}"/>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9" name="Picture 2" descr="Clientes y aliados | Centro de Evaluación | Uniandes">
            <a:extLst>
              <a:ext uri="{FF2B5EF4-FFF2-40B4-BE49-F238E27FC236}">
                <a16:creationId xmlns:a16="http://schemas.microsoft.com/office/drawing/2014/main" id="{B910BB77-2E8E-5A1A-F083-EE99BD28A69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20" name="Rectángulo 19">
            <a:extLst>
              <a:ext uri="{FF2B5EF4-FFF2-40B4-BE49-F238E27FC236}">
                <a16:creationId xmlns:a16="http://schemas.microsoft.com/office/drawing/2014/main" id="{9047101F-6272-6920-C20F-B31A0883D3D8}"/>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15597817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520420" y="2567473"/>
            <a:ext cx="11029615" cy="2770886"/>
          </a:xfrm>
        </p:spPr>
        <p:txBody>
          <a:bodyPr>
            <a:normAutofit/>
          </a:bodyPr>
          <a:lstStyle/>
          <a:p>
            <a:pPr marL="0" indent="0" algn="just">
              <a:buNone/>
            </a:pPr>
            <a:r>
              <a:rPr lang="es-ES" sz="2400" b="1"/>
              <a:t>Ejemplo 2:</a:t>
            </a:r>
          </a:p>
          <a:p>
            <a:pPr marL="0" indent="0" algn="just">
              <a:buNone/>
            </a:pPr>
            <a:r>
              <a:rPr lang="es-ES" sz="2400"/>
              <a:t>Usted planea estudiar en la universidad de los Cerros donde el primer semestre tiene un costo de alrededor de $22 MM. Usted estima que cada semestre subirá un 3% su costo respecto al valor del semestre anterior. Su costo de oportunidad es del 4% EA. Si planea estar 8 semestres ¿Cuál sería el valor actual de su carrera?</a:t>
            </a:r>
          </a:p>
        </p:txBody>
      </p:sp>
      <p:sp>
        <p:nvSpPr>
          <p:cNvPr id="4" name="Marcador de número de diapositiva 3"/>
          <p:cNvSpPr>
            <a:spLocks noGrp="1"/>
          </p:cNvSpPr>
          <p:nvPr>
            <p:ph type="sldNum" sz="quarter" idx="12"/>
          </p:nvPr>
        </p:nvSpPr>
        <p:spPr/>
        <p:txBody>
          <a:bodyPr/>
          <a:lstStyle/>
          <a:p>
            <a:fld id="{5E3E23BA-6E79-2442-BA73-D218A5E297C3}" type="slidenum">
              <a:rPr lang="en-US" smtClean="0"/>
              <a:t>70</a:t>
            </a:fld>
            <a:endParaRPr lang="en-US"/>
          </a:p>
        </p:txBody>
      </p:sp>
      <p:sp>
        <p:nvSpPr>
          <p:cNvPr id="5" name="Title 1">
            <a:extLst>
              <a:ext uri="{FF2B5EF4-FFF2-40B4-BE49-F238E27FC236}">
                <a16:creationId xmlns:a16="http://schemas.microsoft.com/office/drawing/2014/main" id="{DF5D9D16-16A2-37E8-3384-4C5E1FBB7F2F}"/>
              </a:ext>
            </a:extLst>
          </p:cNvPr>
          <p:cNvSpPr txBox="1">
            <a:spLocks/>
          </p:cNvSpPr>
          <p:nvPr/>
        </p:nvSpPr>
        <p:spPr>
          <a:xfrm>
            <a:off x="581192" y="702156"/>
            <a:ext cx="11029616" cy="1013800"/>
          </a:xfrm>
          <a:prstGeom prst="rect">
            <a:avLst/>
          </a:prstGeom>
        </p:spPr>
        <p:txBody>
          <a:bodyPr vert="horz" lIns="91440" tIns="45720" rIns="91440" bIns="45720" rtlCol="0" anchor="b">
            <a:normAutofit/>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s-ES_tradnl">
                <a:latin typeface="Century Gothic" panose="020B0502020202020204" pitchFamily="34" charset="0"/>
              </a:rPr>
              <a:t>Gradientes geométricos</a:t>
            </a:r>
          </a:p>
        </p:txBody>
      </p:sp>
      <p:sp>
        <p:nvSpPr>
          <p:cNvPr id="9" name="Rectángulo 8">
            <a:extLst>
              <a:ext uri="{FF2B5EF4-FFF2-40B4-BE49-F238E27FC236}">
                <a16:creationId xmlns:a16="http://schemas.microsoft.com/office/drawing/2014/main" id="{1C3F1AEB-F0E9-CA58-F834-9F3D92754870}"/>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0" name="Picture 2" descr="Clientes y aliados | Centro de Evaluación | Uniandes">
            <a:extLst>
              <a:ext uri="{FF2B5EF4-FFF2-40B4-BE49-F238E27FC236}">
                <a16:creationId xmlns:a16="http://schemas.microsoft.com/office/drawing/2014/main" id="{10486285-3DAA-E6D9-2767-F4AD2C6F074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1" name="Rectángulo 10">
            <a:extLst>
              <a:ext uri="{FF2B5EF4-FFF2-40B4-BE49-F238E27FC236}">
                <a16:creationId xmlns:a16="http://schemas.microsoft.com/office/drawing/2014/main" id="{BEBFFBB4-6721-AFC0-DCA9-F6B122C8D109}"/>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186992812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p:cNvSpPr>
            <a:spLocks noGrp="1"/>
          </p:cNvSpPr>
          <p:nvPr>
            <p:ph type="sldNum" sz="quarter" idx="12"/>
          </p:nvPr>
        </p:nvSpPr>
        <p:spPr/>
        <p:txBody>
          <a:bodyPr/>
          <a:lstStyle/>
          <a:p>
            <a:fld id="{5E3E23BA-6E79-2442-BA73-D218A5E297C3}" type="slidenum">
              <a:rPr lang="en-US" smtClean="0"/>
              <a:t>71</a:t>
            </a:fld>
            <a:endParaRPr lang="en-US"/>
          </a:p>
        </p:txBody>
      </p:sp>
      <p:cxnSp>
        <p:nvCxnSpPr>
          <p:cNvPr id="5" name="Straight Connector 6"/>
          <p:cNvCxnSpPr/>
          <p:nvPr/>
        </p:nvCxnSpPr>
        <p:spPr>
          <a:xfrm>
            <a:off x="2695744" y="3749193"/>
            <a:ext cx="6191592"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 name="Straight Arrow Connector 9"/>
          <p:cNvCxnSpPr/>
          <p:nvPr/>
        </p:nvCxnSpPr>
        <p:spPr>
          <a:xfrm flipV="1">
            <a:off x="3615668" y="3338022"/>
            <a:ext cx="0" cy="424000"/>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7" name="Straight Arrow Connector 11"/>
          <p:cNvCxnSpPr/>
          <p:nvPr/>
        </p:nvCxnSpPr>
        <p:spPr>
          <a:xfrm flipV="1">
            <a:off x="4689097" y="3209746"/>
            <a:ext cx="0" cy="552276"/>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8" name="Straight Arrow Connector 12"/>
          <p:cNvCxnSpPr/>
          <p:nvPr/>
        </p:nvCxnSpPr>
        <p:spPr>
          <a:xfrm flipV="1">
            <a:off x="5748571" y="3094285"/>
            <a:ext cx="0" cy="667737"/>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9" name="Straight Arrow Connector 13"/>
          <p:cNvCxnSpPr/>
          <p:nvPr/>
        </p:nvCxnSpPr>
        <p:spPr>
          <a:xfrm flipV="1">
            <a:off x="6754433" y="2927525"/>
            <a:ext cx="0" cy="834497"/>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10" name="Straight Arrow Connector 14"/>
          <p:cNvCxnSpPr/>
          <p:nvPr/>
        </p:nvCxnSpPr>
        <p:spPr>
          <a:xfrm flipV="1">
            <a:off x="7827862" y="2581177"/>
            <a:ext cx="0" cy="1180844"/>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11" name="Straight Arrow Connector 15"/>
          <p:cNvCxnSpPr/>
          <p:nvPr/>
        </p:nvCxnSpPr>
        <p:spPr>
          <a:xfrm flipV="1">
            <a:off x="8887336" y="2226777"/>
            <a:ext cx="0" cy="1535244"/>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12" name="Rectangle 35"/>
          <p:cNvSpPr>
            <a:spLocks/>
          </p:cNvSpPr>
          <p:nvPr/>
        </p:nvSpPr>
        <p:spPr bwMode="auto">
          <a:xfrm>
            <a:off x="2631623" y="3796557"/>
            <a:ext cx="12824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0</a:t>
            </a:r>
          </a:p>
        </p:txBody>
      </p:sp>
      <p:sp>
        <p:nvSpPr>
          <p:cNvPr id="13" name="Rectangle 36"/>
          <p:cNvSpPr>
            <a:spLocks/>
          </p:cNvSpPr>
          <p:nvPr/>
        </p:nvSpPr>
        <p:spPr bwMode="auto">
          <a:xfrm>
            <a:off x="3444908" y="3771728"/>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a:t>
            </a:r>
          </a:p>
        </p:txBody>
      </p:sp>
      <p:sp>
        <p:nvSpPr>
          <p:cNvPr id="14" name="Rectangle 37"/>
          <p:cNvSpPr>
            <a:spLocks/>
          </p:cNvSpPr>
          <p:nvPr/>
        </p:nvSpPr>
        <p:spPr bwMode="auto">
          <a:xfrm>
            <a:off x="4533396" y="3771728"/>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2</a:t>
            </a:r>
          </a:p>
        </p:txBody>
      </p:sp>
      <p:sp>
        <p:nvSpPr>
          <p:cNvPr id="15" name="Rectangle 38"/>
          <p:cNvSpPr>
            <a:spLocks/>
          </p:cNvSpPr>
          <p:nvPr/>
        </p:nvSpPr>
        <p:spPr bwMode="auto">
          <a:xfrm>
            <a:off x="5592870" y="3785685"/>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3</a:t>
            </a:r>
          </a:p>
        </p:txBody>
      </p:sp>
      <p:sp>
        <p:nvSpPr>
          <p:cNvPr id="16" name="Rectangle 39"/>
          <p:cNvSpPr>
            <a:spLocks/>
          </p:cNvSpPr>
          <p:nvPr/>
        </p:nvSpPr>
        <p:spPr bwMode="auto">
          <a:xfrm>
            <a:off x="6598732" y="3802142"/>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4</a:t>
            </a:r>
          </a:p>
        </p:txBody>
      </p:sp>
      <p:sp>
        <p:nvSpPr>
          <p:cNvPr id="17" name="Rectangle 40"/>
          <p:cNvSpPr>
            <a:spLocks/>
          </p:cNvSpPr>
          <p:nvPr/>
        </p:nvSpPr>
        <p:spPr bwMode="auto">
          <a:xfrm>
            <a:off x="7672161" y="3771728"/>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5</a:t>
            </a:r>
          </a:p>
        </p:txBody>
      </p:sp>
      <p:sp>
        <p:nvSpPr>
          <p:cNvPr id="18" name="Rectangle 41"/>
          <p:cNvSpPr>
            <a:spLocks/>
          </p:cNvSpPr>
          <p:nvPr/>
        </p:nvSpPr>
        <p:spPr bwMode="auto">
          <a:xfrm>
            <a:off x="8731635" y="3771728"/>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8</a:t>
            </a:r>
          </a:p>
        </p:txBody>
      </p:sp>
      <p:sp>
        <p:nvSpPr>
          <p:cNvPr id="19" name="Rectangle 35"/>
          <p:cNvSpPr>
            <a:spLocks/>
          </p:cNvSpPr>
          <p:nvPr/>
        </p:nvSpPr>
        <p:spPr bwMode="auto">
          <a:xfrm>
            <a:off x="3513086" y="3033796"/>
            <a:ext cx="256481"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22</a:t>
            </a:r>
          </a:p>
        </p:txBody>
      </p:sp>
      <p:sp>
        <p:nvSpPr>
          <p:cNvPr id="25" name="CuadroTexto 24"/>
          <p:cNvSpPr txBox="1"/>
          <p:nvPr/>
        </p:nvSpPr>
        <p:spPr>
          <a:xfrm>
            <a:off x="8135504" y="3191324"/>
            <a:ext cx="1295747" cy="400110"/>
          </a:xfrm>
          <a:prstGeom prst="rect">
            <a:avLst/>
          </a:prstGeom>
          <a:noFill/>
        </p:spPr>
        <p:txBody>
          <a:bodyPr wrap="square" rtlCol="0">
            <a:spAutoFit/>
          </a:bodyPr>
          <a:lstStyle/>
          <a:p>
            <a:r>
              <a:rPr lang="es-ES" sz="2000"/>
              <a:t>…</a:t>
            </a:r>
          </a:p>
        </p:txBody>
      </p:sp>
      <p:sp>
        <p:nvSpPr>
          <p:cNvPr id="28" name="Rectangle 35">
            <a:extLst>
              <a:ext uri="{FF2B5EF4-FFF2-40B4-BE49-F238E27FC236}">
                <a16:creationId xmlns:a16="http://schemas.microsoft.com/office/drawing/2014/main" id="{7D6B825C-7D55-5F06-AD5C-2524ECAC6A76}"/>
              </a:ext>
            </a:extLst>
          </p:cNvPr>
          <p:cNvSpPr>
            <a:spLocks/>
          </p:cNvSpPr>
          <p:nvPr/>
        </p:nvSpPr>
        <p:spPr bwMode="auto">
          <a:xfrm>
            <a:off x="8600480" y="1959161"/>
            <a:ext cx="569067"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dirty="0"/>
              <a:t>27,06</a:t>
            </a:r>
          </a:p>
        </p:txBody>
      </p:sp>
      <p:sp>
        <p:nvSpPr>
          <p:cNvPr id="29" name="Rectangle 35">
            <a:extLst>
              <a:ext uri="{FF2B5EF4-FFF2-40B4-BE49-F238E27FC236}">
                <a16:creationId xmlns:a16="http://schemas.microsoft.com/office/drawing/2014/main" id="{1C919B3D-5EF6-4841-3E24-C3C111E4384C}"/>
              </a:ext>
            </a:extLst>
          </p:cNvPr>
          <p:cNvSpPr>
            <a:spLocks/>
          </p:cNvSpPr>
          <p:nvPr/>
        </p:nvSpPr>
        <p:spPr bwMode="auto">
          <a:xfrm>
            <a:off x="5650204" y="2150352"/>
            <a:ext cx="559449"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g=3%</a:t>
            </a:r>
          </a:p>
        </p:txBody>
      </p:sp>
      <p:sp>
        <p:nvSpPr>
          <p:cNvPr id="21" name="Title 1">
            <a:extLst>
              <a:ext uri="{FF2B5EF4-FFF2-40B4-BE49-F238E27FC236}">
                <a16:creationId xmlns:a16="http://schemas.microsoft.com/office/drawing/2014/main" id="{77F6DD1E-5F26-EA4D-339F-E67EBE31DF4D}"/>
              </a:ext>
            </a:extLst>
          </p:cNvPr>
          <p:cNvSpPr>
            <a:spLocks noGrp="1"/>
          </p:cNvSpPr>
          <p:nvPr>
            <p:ph type="title"/>
          </p:nvPr>
        </p:nvSpPr>
        <p:spPr>
          <a:xfrm>
            <a:off x="581192" y="702156"/>
            <a:ext cx="11029616" cy="1013800"/>
          </a:xfrm>
        </p:spPr>
        <p:txBody>
          <a:bodyPr/>
          <a:lstStyle/>
          <a:p>
            <a:r>
              <a:rPr lang="es-ES_tradnl">
                <a:latin typeface="Century Gothic" panose="020B0502020202020204" pitchFamily="34" charset="0"/>
              </a:rPr>
              <a:t>Gradientes geométricos</a:t>
            </a:r>
          </a:p>
        </p:txBody>
      </p:sp>
      <p:sp>
        <p:nvSpPr>
          <p:cNvPr id="22" name="Rectángulo 21">
            <a:extLst>
              <a:ext uri="{FF2B5EF4-FFF2-40B4-BE49-F238E27FC236}">
                <a16:creationId xmlns:a16="http://schemas.microsoft.com/office/drawing/2014/main" id="{06A42110-4835-1882-C13F-6A53112E7735}"/>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23" name="Picture 2" descr="Clientes y aliados | Centro de Evaluación | Uniandes">
            <a:extLst>
              <a:ext uri="{FF2B5EF4-FFF2-40B4-BE49-F238E27FC236}">
                <a16:creationId xmlns:a16="http://schemas.microsoft.com/office/drawing/2014/main" id="{7427AC1B-7FA0-0318-3059-94CBC801E0F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24" name="Rectángulo 23">
            <a:extLst>
              <a:ext uri="{FF2B5EF4-FFF2-40B4-BE49-F238E27FC236}">
                <a16:creationId xmlns:a16="http://schemas.microsoft.com/office/drawing/2014/main" id="{5CD176D6-83E1-3EC2-FC03-A1B341E5D459}"/>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mc:AlternateContent xmlns:mc="http://schemas.openxmlformats.org/markup-compatibility/2006" xmlns:a14="http://schemas.microsoft.com/office/drawing/2010/main">
        <mc:Choice Requires="a14">
          <p:sp>
            <p:nvSpPr>
              <p:cNvPr id="2" name="CuadroTexto 1">
                <a:extLst>
                  <a:ext uri="{FF2B5EF4-FFF2-40B4-BE49-F238E27FC236}">
                    <a16:creationId xmlns:a16="http://schemas.microsoft.com/office/drawing/2014/main" id="{25378F34-8FC6-2BA5-C025-A1622F1202BE}"/>
                  </a:ext>
                </a:extLst>
              </p:cNvPr>
              <p:cNvSpPr txBox="1"/>
              <p:nvPr/>
            </p:nvSpPr>
            <p:spPr>
              <a:xfrm>
                <a:off x="4825620" y="5971178"/>
                <a:ext cx="2540760"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ES" sz="2400" b="0" i="1" smtClean="0">
                          <a:latin typeface="Cambria Math" panose="02040503050406030204" pitchFamily="18" charset="0"/>
                        </a:rPr>
                        <m:t>𝑉𝑃</m:t>
                      </m:r>
                      <m:r>
                        <a:rPr lang="es-ES" sz="2400" b="0" i="1" smtClean="0">
                          <a:latin typeface="Cambria Math" panose="02040503050406030204" pitchFamily="18" charset="0"/>
                        </a:rPr>
                        <m:t>=$178,74 </m:t>
                      </m:r>
                      <m:r>
                        <a:rPr lang="es-ES" sz="2400" b="0" i="1" smtClean="0">
                          <a:latin typeface="Cambria Math" panose="02040503050406030204" pitchFamily="18" charset="0"/>
                        </a:rPr>
                        <m:t>𝑀𝑀</m:t>
                      </m:r>
                    </m:oMath>
                  </m:oMathPara>
                </a14:m>
                <a:endParaRPr lang="es-CO" sz="2400"/>
              </a:p>
            </p:txBody>
          </p:sp>
        </mc:Choice>
        <mc:Fallback xmlns="">
          <p:sp>
            <p:nvSpPr>
              <p:cNvPr id="2" name="CuadroTexto 1">
                <a:extLst>
                  <a:ext uri="{FF2B5EF4-FFF2-40B4-BE49-F238E27FC236}">
                    <a16:creationId xmlns:a16="http://schemas.microsoft.com/office/drawing/2014/main" id="{25378F34-8FC6-2BA5-C025-A1622F1202BE}"/>
                  </a:ext>
                </a:extLst>
              </p:cNvPr>
              <p:cNvSpPr txBox="1">
                <a:spLocks noRot="1" noChangeAspect="1" noMove="1" noResize="1" noEditPoints="1" noAdjustHandles="1" noChangeArrowheads="1" noChangeShapeType="1" noTextEdit="1"/>
              </p:cNvSpPr>
              <p:nvPr/>
            </p:nvSpPr>
            <p:spPr>
              <a:xfrm>
                <a:off x="4825620" y="5971178"/>
                <a:ext cx="2540760" cy="369332"/>
              </a:xfrm>
              <a:prstGeom prst="rect">
                <a:avLst/>
              </a:prstGeom>
              <a:blipFill>
                <a:blip r:embed="rId3"/>
                <a:stretch>
                  <a:fillRect l="-2500" t="-6667" r="-2000" b="-36667"/>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3" name="CuadroTexto 2">
                <a:extLst>
                  <a:ext uri="{FF2B5EF4-FFF2-40B4-BE49-F238E27FC236}">
                    <a16:creationId xmlns:a16="http://schemas.microsoft.com/office/drawing/2014/main" id="{95BAE45C-44AB-C18F-BAF8-A1578D4EDC4A}"/>
                  </a:ext>
                </a:extLst>
              </p:cNvPr>
              <p:cNvSpPr txBox="1"/>
              <p:nvPr/>
            </p:nvSpPr>
            <p:spPr>
              <a:xfrm>
                <a:off x="4481944" y="4479848"/>
                <a:ext cx="3240374" cy="117384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ES" sz="2400" b="0" i="1" smtClean="0">
                          <a:latin typeface="Cambria Math" panose="02040503050406030204" pitchFamily="18" charset="0"/>
                        </a:rPr>
                        <m:t>𝑉𝑃</m:t>
                      </m:r>
                      <m:r>
                        <a:rPr lang="es-ES" sz="2400" b="0" i="1" smtClean="0">
                          <a:latin typeface="Cambria Math" panose="02040503050406030204" pitchFamily="18" charset="0"/>
                        </a:rPr>
                        <m:t>=</m:t>
                      </m:r>
                      <m:sSub>
                        <m:sSubPr>
                          <m:ctrlPr>
                            <a:rPr lang="es-CO" sz="2400" i="1">
                              <a:latin typeface="Cambria Math" panose="02040503050406030204" pitchFamily="18" charset="0"/>
                            </a:rPr>
                          </m:ctrlPr>
                        </m:sSubPr>
                        <m:e>
                          <m:r>
                            <a:rPr lang="es-CO" sz="2400" i="1">
                              <a:latin typeface="Cambria Math" panose="02040503050406030204" pitchFamily="18" charset="0"/>
                            </a:rPr>
                            <m:t>𝐷</m:t>
                          </m:r>
                        </m:e>
                        <m:sub>
                          <m:r>
                            <a:rPr lang="es-CO" sz="2400">
                              <a:latin typeface="Cambria Math" panose="02040503050406030204" pitchFamily="18" charset="0"/>
                            </a:rPr>
                            <m:t>1</m:t>
                          </m:r>
                        </m:sub>
                      </m:sSub>
                      <m:d>
                        <m:dPr>
                          <m:begChr m:val="["/>
                          <m:endChr m:val="]"/>
                          <m:ctrlPr>
                            <a:rPr lang="es-CO" sz="2400" i="1">
                              <a:latin typeface="Cambria Math" panose="02040503050406030204" pitchFamily="18" charset="0"/>
                            </a:rPr>
                          </m:ctrlPr>
                        </m:dPr>
                        <m:e>
                          <m:f>
                            <m:fPr>
                              <m:ctrlPr>
                                <a:rPr lang="es-CO" sz="2400" i="1">
                                  <a:latin typeface="Cambria Math" panose="02040503050406030204" pitchFamily="18" charset="0"/>
                                </a:rPr>
                              </m:ctrlPr>
                            </m:fPr>
                            <m:num>
                              <m:r>
                                <a:rPr lang="es-CO" sz="2400">
                                  <a:latin typeface="Cambria Math" panose="02040503050406030204" pitchFamily="18" charset="0"/>
                                </a:rPr>
                                <m:t>1−</m:t>
                              </m:r>
                              <m:sSup>
                                <m:sSupPr>
                                  <m:ctrlPr>
                                    <a:rPr lang="es-CO" sz="2400" i="1">
                                      <a:latin typeface="Cambria Math" panose="02040503050406030204" pitchFamily="18" charset="0"/>
                                    </a:rPr>
                                  </m:ctrlPr>
                                </m:sSupPr>
                                <m:e>
                                  <m:d>
                                    <m:dPr>
                                      <m:ctrlPr>
                                        <a:rPr lang="es-CO" sz="2400" i="1">
                                          <a:latin typeface="Cambria Math" panose="02040503050406030204" pitchFamily="18" charset="0"/>
                                        </a:rPr>
                                      </m:ctrlPr>
                                    </m:dPr>
                                    <m:e>
                                      <m:f>
                                        <m:fPr>
                                          <m:ctrlPr>
                                            <a:rPr lang="es-CO" sz="2400" i="1">
                                              <a:latin typeface="Cambria Math" panose="02040503050406030204" pitchFamily="18" charset="0"/>
                                            </a:rPr>
                                          </m:ctrlPr>
                                        </m:fPr>
                                        <m:num>
                                          <m:r>
                                            <a:rPr lang="es-CO" sz="2400">
                                              <a:latin typeface="Cambria Math" panose="02040503050406030204" pitchFamily="18" charset="0"/>
                                            </a:rPr>
                                            <m:t>1+</m:t>
                                          </m:r>
                                          <m:r>
                                            <a:rPr lang="es-CO" sz="2400" i="1">
                                              <a:latin typeface="Cambria Math" panose="02040503050406030204" pitchFamily="18" charset="0"/>
                                            </a:rPr>
                                            <m:t>𝑔</m:t>
                                          </m:r>
                                        </m:num>
                                        <m:den>
                                          <m:r>
                                            <a:rPr lang="es-CO" sz="2400">
                                              <a:latin typeface="Cambria Math" panose="02040503050406030204" pitchFamily="18" charset="0"/>
                                            </a:rPr>
                                            <m:t>1+</m:t>
                                          </m:r>
                                          <m:r>
                                            <a:rPr lang="es-CO" sz="2400" i="1">
                                              <a:latin typeface="Cambria Math" panose="02040503050406030204" pitchFamily="18" charset="0"/>
                                            </a:rPr>
                                            <m:t>𝑖</m:t>
                                          </m:r>
                                        </m:den>
                                      </m:f>
                                    </m:e>
                                  </m:d>
                                </m:e>
                                <m:sup>
                                  <m:r>
                                    <a:rPr lang="es-CO" sz="2400" i="1">
                                      <a:latin typeface="Cambria Math" panose="02040503050406030204" pitchFamily="18" charset="0"/>
                                    </a:rPr>
                                    <m:t>𝑛</m:t>
                                  </m:r>
                                </m:sup>
                              </m:sSup>
                            </m:num>
                            <m:den>
                              <m:r>
                                <a:rPr lang="es-CO" sz="2400" i="1">
                                  <a:latin typeface="Cambria Math" panose="02040503050406030204" pitchFamily="18" charset="0"/>
                                </a:rPr>
                                <m:t>𝑖</m:t>
                              </m:r>
                              <m:r>
                                <a:rPr lang="es-CO" sz="2400">
                                  <a:latin typeface="Cambria Math" panose="02040503050406030204" pitchFamily="18" charset="0"/>
                                </a:rPr>
                                <m:t>−</m:t>
                              </m:r>
                              <m:r>
                                <a:rPr lang="es-CO" sz="2400" i="1">
                                  <a:latin typeface="Cambria Math" panose="02040503050406030204" pitchFamily="18" charset="0"/>
                                </a:rPr>
                                <m:t>𝑔</m:t>
                              </m:r>
                            </m:den>
                          </m:f>
                        </m:e>
                      </m:d>
                    </m:oMath>
                  </m:oMathPara>
                </a14:m>
                <a:endParaRPr lang="es-CO" sz="2400"/>
              </a:p>
            </p:txBody>
          </p:sp>
        </mc:Choice>
        <mc:Fallback xmlns="">
          <p:sp>
            <p:nvSpPr>
              <p:cNvPr id="3" name="CuadroTexto 2">
                <a:extLst>
                  <a:ext uri="{FF2B5EF4-FFF2-40B4-BE49-F238E27FC236}">
                    <a16:creationId xmlns:a16="http://schemas.microsoft.com/office/drawing/2014/main" id="{95BAE45C-44AB-C18F-BAF8-A1578D4EDC4A}"/>
                  </a:ext>
                </a:extLst>
              </p:cNvPr>
              <p:cNvSpPr txBox="1">
                <a:spLocks noRot="1" noChangeAspect="1" noMove="1" noResize="1" noEditPoints="1" noAdjustHandles="1" noChangeArrowheads="1" noChangeShapeType="1" noTextEdit="1"/>
              </p:cNvSpPr>
              <p:nvPr/>
            </p:nvSpPr>
            <p:spPr>
              <a:xfrm>
                <a:off x="4481944" y="4479848"/>
                <a:ext cx="3240374" cy="1173847"/>
              </a:xfrm>
              <a:prstGeom prst="rect">
                <a:avLst/>
              </a:prstGeom>
              <a:blipFill>
                <a:blip r:embed="rId4"/>
                <a:stretch>
                  <a:fillRect l="-1167"/>
                </a:stretch>
              </a:blipFill>
            </p:spPr>
            <p:txBody>
              <a:bodyPr/>
              <a:lstStyle/>
              <a:p>
                <a:r>
                  <a:rPr lang="es-CO">
                    <a:noFill/>
                  </a:rPr>
                  <a:t> </a:t>
                </a:r>
              </a:p>
            </p:txBody>
          </p:sp>
        </mc:Fallback>
      </mc:AlternateContent>
    </p:spTree>
    <p:extLst>
      <p:ext uri="{BB962C8B-B14F-4D97-AF65-F5344CB8AC3E}">
        <p14:creationId xmlns:p14="http://schemas.microsoft.com/office/powerpoint/2010/main" val="30201228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8"/>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9"/>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5"/>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8"/>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9"/>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P spid="14" grpId="0"/>
      <p:bldP spid="15" grpId="0"/>
      <p:bldP spid="16" grpId="0"/>
      <p:bldP spid="17" grpId="0"/>
      <p:bldP spid="18" grpId="0"/>
      <p:bldP spid="19" grpId="0"/>
      <p:bldP spid="25" grpId="0"/>
      <p:bldP spid="28" grpId="0"/>
      <p:bldP spid="29" grpId="0"/>
      <p:bldP spid="2" grpId="0"/>
      <p:bldP spid="3" grpId="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581191" y="2201863"/>
            <a:ext cx="11029615" cy="3670767"/>
          </a:xfrm>
        </p:spPr>
        <p:txBody>
          <a:bodyPr>
            <a:normAutofit/>
          </a:bodyPr>
          <a:lstStyle/>
          <a:p>
            <a:pPr marL="0" indent="0" algn="just">
              <a:buNone/>
            </a:pPr>
            <a:r>
              <a:rPr lang="es-ES" sz="2400" b="1"/>
              <a:t>Ejemplo 3:</a:t>
            </a:r>
          </a:p>
          <a:p>
            <a:pPr marL="0" indent="0" algn="just">
              <a:buNone/>
            </a:pPr>
            <a:r>
              <a:rPr lang="es-ES" sz="2400"/>
              <a:t>Usted planea estudiar en la universidad de los Cerros donde el primer semestre tiene un costo de alrededor de $22 MM. La universidad viene implementando una política de austeridad por lo que usted estima que cada semestre bajara un 2% su costo respecto al valor del semestre anterior. Su costo de oportunidad es del 4% EA. Si planea estar 8 semestres ¿Cuál sería el valor actual de su carrera?</a:t>
            </a:r>
          </a:p>
        </p:txBody>
      </p:sp>
      <p:sp>
        <p:nvSpPr>
          <p:cNvPr id="4" name="Marcador de número de diapositiva 3"/>
          <p:cNvSpPr>
            <a:spLocks noGrp="1"/>
          </p:cNvSpPr>
          <p:nvPr>
            <p:ph type="sldNum" sz="quarter" idx="12"/>
          </p:nvPr>
        </p:nvSpPr>
        <p:spPr/>
        <p:txBody>
          <a:bodyPr/>
          <a:lstStyle/>
          <a:p>
            <a:fld id="{5E3E23BA-6E79-2442-BA73-D218A5E297C3}" type="slidenum">
              <a:rPr lang="en-US" smtClean="0"/>
              <a:t>72</a:t>
            </a:fld>
            <a:endParaRPr lang="en-US"/>
          </a:p>
        </p:txBody>
      </p:sp>
      <p:sp>
        <p:nvSpPr>
          <p:cNvPr id="8" name="Title 1">
            <a:extLst>
              <a:ext uri="{FF2B5EF4-FFF2-40B4-BE49-F238E27FC236}">
                <a16:creationId xmlns:a16="http://schemas.microsoft.com/office/drawing/2014/main" id="{8320F6EF-C00E-95FA-2307-8E556ACC78AA}"/>
              </a:ext>
            </a:extLst>
          </p:cNvPr>
          <p:cNvSpPr>
            <a:spLocks noGrp="1"/>
          </p:cNvSpPr>
          <p:nvPr>
            <p:ph type="title"/>
          </p:nvPr>
        </p:nvSpPr>
        <p:spPr>
          <a:xfrm>
            <a:off x="581192" y="702156"/>
            <a:ext cx="11029616" cy="1013800"/>
          </a:xfrm>
        </p:spPr>
        <p:txBody>
          <a:bodyPr/>
          <a:lstStyle/>
          <a:p>
            <a:r>
              <a:rPr lang="es-ES_tradnl">
                <a:latin typeface="Century Gothic" panose="020B0502020202020204" pitchFamily="34" charset="0"/>
              </a:rPr>
              <a:t>Gradientes geométricos</a:t>
            </a:r>
          </a:p>
        </p:txBody>
      </p:sp>
      <p:sp>
        <p:nvSpPr>
          <p:cNvPr id="9" name="Rectángulo 8">
            <a:extLst>
              <a:ext uri="{FF2B5EF4-FFF2-40B4-BE49-F238E27FC236}">
                <a16:creationId xmlns:a16="http://schemas.microsoft.com/office/drawing/2014/main" id="{A4445691-B30E-CE06-B22C-4F21F2EADCD1}"/>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0" name="Picture 2" descr="Clientes y aliados | Centro de Evaluación | Uniandes">
            <a:extLst>
              <a:ext uri="{FF2B5EF4-FFF2-40B4-BE49-F238E27FC236}">
                <a16:creationId xmlns:a16="http://schemas.microsoft.com/office/drawing/2014/main" id="{394F8FE9-8B71-E536-06E3-657680EFF45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1" name="Rectángulo 10">
            <a:extLst>
              <a:ext uri="{FF2B5EF4-FFF2-40B4-BE49-F238E27FC236}">
                <a16:creationId xmlns:a16="http://schemas.microsoft.com/office/drawing/2014/main" id="{53588CC2-D529-5A2F-ABD5-68D0A16AEEDC}"/>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290598676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p:cNvSpPr>
            <a:spLocks noGrp="1"/>
          </p:cNvSpPr>
          <p:nvPr>
            <p:ph type="sldNum" sz="quarter" idx="12"/>
          </p:nvPr>
        </p:nvSpPr>
        <p:spPr/>
        <p:txBody>
          <a:bodyPr/>
          <a:lstStyle/>
          <a:p>
            <a:fld id="{5E3E23BA-6E79-2442-BA73-D218A5E297C3}" type="slidenum">
              <a:rPr lang="en-US" smtClean="0"/>
              <a:t>73</a:t>
            </a:fld>
            <a:endParaRPr lang="en-US"/>
          </a:p>
        </p:txBody>
      </p:sp>
      <p:cxnSp>
        <p:nvCxnSpPr>
          <p:cNvPr id="5" name="Straight Connector 6"/>
          <p:cNvCxnSpPr/>
          <p:nvPr/>
        </p:nvCxnSpPr>
        <p:spPr>
          <a:xfrm>
            <a:off x="2535202" y="3738961"/>
            <a:ext cx="6191592"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 name="Straight Arrow Connector 9"/>
          <p:cNvCxnSpPr/>
          <p:nvPr/>
        </p:nvCxnSpPr>
        <p:spPr>
          <a:xfrm flipV="1">
            <a:off x="8716059" y="3314961"/>
            <a:ext cx="0" cy="424000"/>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7" name="Straight Arrow Connector 11"/>
          <p:cNvCxnSpPr/>
          <p:nvPr/>
        </p:nvCxnSpPr>
        <p:spPr>
          <a:xfrm flipV="1">
            <a:off x="7680149" y="3205098"/>
            <a:ext cx="0" cy="552276"/>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8" name="Straight Arrow Connector 12"/>
          <p:cNvCxnSpPr/>
          <p:nvPr/>
        </p:nvCxnSpPr>
        <p:spPr>
          <a:xfrm flipV="1">
            <a:off x="6606720" y="3073181"/>
            <a:ext cx="0" cy="667737"/>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9" name="Straight Arrow Connector 13"/>
          <p:cNvCxnSpPr/>
          <p:nvPr/>
        </p:nvCxnSpPr>
        <p:spPr>
          <a:xfrm flipV="1">
            <a:off x="5600858" y="2906421"/>
            <a:ext cx="0" cy="834497"/>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10" name="Straight Arrow Connector 14"/>
          <p:cNvCxnSpPr/>
          <p:nvPr/>
        </p:nvCxnSpPr>
        <p:spPr>
          <a:xfrm flipV="1">
            <a:off x="4541384" y="2546116"/>
            <a:ext cx="0" cy="1180844"/>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11" name="Straight Arrow Connector 15"/>
          <p:cNvCxnSpPr/>
          <p:nvPr/>
        </p:nvCxnSpPr>
        <p:spPr>
          <a:xfrm flipV="1">
            <a:off x="3451078" y="2205673"/>
            <a:ext cx="0" cy="1535244"/>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12" name="Rectangle 35"/>
          <p:cNvSpPr>
            <a:spLocks/>
          </p:cNvSpPr>
          <p:nvPr/>
        </p:nvSpPr>
        <p:spPr bwMode="auto">
          <a:xfrm>
            <a:off x="2471081" y="3764556"/>
            <a:ext cx="12824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0</a:t>
            </a:r>
          </a:p>
        </p:txBody>
      </p:sp>
      <p:sp>
        <p:nvSpPr>
          <p:cNvPr id="13" name="Rectangle 36"/>
          <p:cNvSpPr>
            <a:spLocks/>
          </p:cNvSpPr>
          <p:nvPr/>
        </p:nvSpPr>
        <p:spPr bwMode="auto">
          <a:xfrm>
            <a:off x="3284366" y="3739727"/>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a:t>
            </a:r>
          </a:p>
        </p:txBody>
      </p:sp>
      <p:sp>
        <p:nvSpPr>
          <p:cNvPr id="14" name="Rectangle 37"/>
          <p:cNvSpPr>
            <a:spLocks/>
          </p:cNvSpPr>
          <p:nvPr/>
        </p:nvSpPr>
        <p:spPr bwMode="auto">
          <a:xfrm>
            <a:off x="4372854" y="3739727"/>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2</a:t>
            </a:r>
          </a:p>
        </p:txBody>
      </p:sp>
      <p:sp>
        <p:nvSpPr>
          <p:cNvPr id="15" name="Rectangle 38"/>
          <p:cNvSpPr>
            <a:spLocks/>
          </p:cNvSpPr>
          <p:nvPr/>
        </p:nvSpPr>
        <p:spPr bwMode="auto">
          <a:xfrm>
            <a:off x="5432328" y="3753684"/>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3</a:t>
            </a:r>
          </a:p>
        </p:txBody>
      </p:sp>
      <p:sp>
        <p:nvSpPr>
          <p:cNvPr id="16" name="Rectangle 39"/>
          <p:cNvSpPr>
            <a:spLocks/>
          </p:cNvSpPr>
          <p:nvPr/>
        </p:nvSpPr>
        <p:spPr bwMode="auto">
          <a:xfrm>
            <a:off x="6438190" y="3770141"/>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4</a:t>
            </a:r>
          </a:p>
        </p:txBody>
      </p:sp>
      <p:sp>
        <p:nvSpPr>
          <p:cNvPr id="17" name="Rectangle 40"/>
          <p:cNvSpPr>
            <a:spLocks/>
          </p:cNvSpPr>
          <p:nvPr/>
        </p:nvSpPr>
        <p:spPr bwMode="auto">
          <a:xfrm>
            <a:off x="7511619" y="3739727"/>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5</a:t>
            </a:r>
          </a:p>
        </p:txBody>
      </p:sp>
      <p:sp>
        <p:nvSpPr>
          <p:cNvPr id="18" name="Rectangle 41"/>
          <p:cNvSpPr>
            <a:spLocks/>
          </p:cNvSpPr>
          <p:nvPr/>
        </p:nvSpPr>
        <p:spPr bwMode="auto">
          <a:xfrm>
            <a:off x="8571093" y="3739727"/>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8</a:t>
            </a:r>
          </a:p>
        </p:txBody>
      </p:sp>
      <p:sp>
        <p:nvSpPr>
          <p:cNvPr id="19" name="Rectangle 35"/>
          <p:cNvSpPr>
            <a:spLocks/>
          </p:cNvSpPr>
          <p:nvPr/>
        </p:nvSpPr>
        <p:spPr bwMode="auto">
          <a:xfrm>
            <a:off x="3322837" y="1876149"/>
            <a:ext cx="256481"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22</a:t>
            </a:r>
          </a:p>
        </p:txBody>
      </p:sp>
      <p:sp>
        <p:nvSpPr>
          <p:cNvPr id="25" name="CuadroTexto 24"/>
          <p:cNvSpPr txBox="1"/>
          <p:nvPr/>
        </p:nvSpPr>
        <p:spPr>
          <a:xfrm>
            <a:off x="7974962" y="3181092"/>
            <a:ext cx="1295747" cy="400110"/>
          </a:xfrm>
          <a:prstGeom prst="rect">
            <a:avLst/>
          </a:prstGeom>
          <a:noFill/>
        </p:spPr>
        <p:txBody>
          <a:bodyPr wrap="square" rtlCol="0">
            <a:spAutoFit/>
          </a:bodyPr>
          <a:lstStyle/>
          <a:p>
            <a:r>
              <a:rPr lang="es-ES" sz="2000"/>
              <a:t>…</a:t>
            </a:r>
          </a:p>
        </p:txBody>
      </p:sp>
      <p:sp>
        <p:nvSpPr>
          <p:cNvPr id="28" name="Rectangle 35">
            <a:extLst>
              <a:ext uri="{FF2B5EF4-FFF2-40B4-BE49-F238E27FC236}">
                <a16:creationId xmlns:a16="http://schemas.microsoft.com/office/drawing/2014/main" id="{7D6B825C-7D55-5F06-AD5C-2524ECAC6A76}"/>
              </a:ext>
            </a:extLst>
          </p:cNvPr>
          <p:cNvSpPr>
            <a:spLocks/>
          </p:cNvSpPr>
          <p:nvPr/>
        </p:nvSpPr>
        <p:spPr bwMode="auto">
          <a:xfrm>
            <a:off x="8471957" y="2993961"/>
            <a:ext cx="569067"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dirty="0"/>
              <a:t>19,10</a:t>
            </a:r>
          </a:p>
        </p:txBody>
      </p:sp>
      <p:sp>
        <p:nvSpPr>
          <p:cNvPr id="29" name="Rectangle 35">
            <a:extLst>
              <a:ext uri="{FF2B5EF4-FFF2-40B4-BE49-F238E27FC236}">
                <a16:creationId xmlns:a16="http://schemas.microsoft.com/office/drawing/2014/main" id="{1C919B3D-5EF6-4841-3E24-C3C111E4384C}"/>
              </a:ext>
            </a:extLst>
          </p:cNvPr>
          <p:cNvSpPr>
            <a:spLocks/>
          </p:cNvSpPr>
          <p:nvPr/>
        </p:nvSpPr>
        <p:spPr bwMode="auto">
          <a:xfrm>
            <a:off x="5447984" y="2140120"/>
            <a:ext cx="642805"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g=-2%</a:t>
            </a:r>
          </a:p>
        </p:txBody>
      </p:sp>
      <p:sp>
        <p:nvSpPr>
          <p:cNvPr id="22" name="Title 1">
            <a:extLst>
              <a:ext uri="{FF2B5EF4-FFF2-40B4-BE49-F238E27FC236}">
                <a16:creationId xmlns:a16="http://schemas.microsoft.com/office/drawing/2014/main" id="{99F7C4D6-8C4B-D1A4-9D66-C65F19227282}"/>
              </a:ext>
            </a:extLst>
          </p:cNvPr>
          <p:cNvSpPr>
            <a:spLocks noGrp="1"/>
          </p:cNvSpPr>
          <p:nvPr>
            <p:ph type="title"/>
          </p:nvPr>
        </p:nvSpPr>
        <p:spPr>
          <a:xfrm>
            <a:off x="581192" y="702156"/>
            <a:ext cx="11029616" cy="1013800"/>
          </a:xfrm>
        </p:spPr>
        <p:txBody>
          <a:bodyPr/>
          <a:lstStyle/>
          <a:p>
            <a:r>
              <a:rPr lang="es-ES_tradnl">
                <a:latin typeface="Century Gothic" panose="020B0502020202020204" pitchFamily="34" charset="0"/>
              </a:rPr>
              <a:t>Gradientes geométricos</a:t>
            </a:r>
          </a:p>
        </p:txBody>
      </p:sp>
      <p:sp>
        <p:nvSpPr>
          <p:cNvPr id="23" name="Rectángulo 22">
            <a:extLst>
              <a:ext uri="{FF2B5EF4-FFF2-40B4-BE49-F238E27FC236}">
                <a16:creationId xmlns:a16="http://schemas.microsoft.com/office/drawing/2014/main" id="{40D80C86-3CA8-F99B-D7F6-D55CBFAA2563}"/>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24" name="Picture 2" descr="Clientes y aliados | Centro de Evaluación | Uniandes">
            <a:extLst>
              <a:ext uri="{FF2B5EF4-FFF2-40B4-BE49-F238E27FC236}">
                <a16:creationId xmlns:a16="http://schemas.microsoft.com/office/drawing/2014/main" id="{60344D92-45B4-D4ED-4E2D-43073EF6C29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26" name="Rectángulo 25">
            <a:extLst>
              <a:ext uri="{FF2B5EF4-FFF2-40B4-BE49-F238E27FC236}">
                <a16:creationId xmlns:a16="http://schemas.microsoft.com/office/drawing/2014/main" id="{4154E4A3-09C4-ED55-C165-2467EDBA4F6A}"/>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mc:AlternateContent xmlns:mc="http://schemas.openxmlformats.org/markup-compatibility/2006" xmlns:a14="http://schemas.microsoft.com/office/drawing/2010/main">
        <mc:Choice Requires="a14">
          <p:sp>
            <p:nvSpPr>
              <p:cNvPr id="2" name="CuadroTexto 1">
                <a:extLst>
                  <a:ext uri="{FF2B5EF4-FFF2-40B4-BE49-F238E27FC236}">
                    <a16:creationId xmlns:a16="http://schemas.microsoft.com/office/drawing/2014/main" id="{38265CD5-76D6-3CE5-05F9-DEC109D8556C}"/>
                  </a:ext>
                </a:extLst>
              </p:cNvPr>
              <p:cNvSpPr txBox="1"/>
              <p:nvPr/>
            </p:nvSpPr>
            <p:spPr>
              <a:xfrm>
                <a:off x="4825620" y="5971178"/>
                <a:ext cx="2540759"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ES" sz="2400" b="0" i="1" smtClean="0">
                          <a:latin typeface="Cambria Math" panose="02040503050406030204" pitchFamily="18" charset="0"/>
                        </a:rPr>
                        <m:t>𝑉𝑃</m:t>
                      </m:r>
                      <m:r>
                        <a:rPr lang="es-ES" sz="2400" b="0" i="1" smtClean="0">
                          <a:latin typeface="Cambria Math" panose="02040503050406030204" pitchFamily="18" charset="0"/>
                        </a:rPr>
                        <m:t>=$150,76 </m:t>
                      </m:r>
                      <m:r>
                        <a:rPr lang="es-ES" sz="2400" b="0" i="1" smtClean="0">
                          <a:latin typeface="Cambria Math" panose="02040503050406030204" pitchFamily="18" charset="0"/>
                        </a:rPr>
                        <m:t>𝑀𝑀</m:t>
                      </m:r>
                    </m:oMath>
                  </m:oMathPara>
                </a14:m>
                <a:endParaRPr lang="es-CO" sz="2400"/>
              </a:p>
            </p:txBody>
          </p:sp>
        </mc:Choice>
        <mc:Fallback xmlns="">
          <p:sp>
            <p:nvSpPr>
              <p:cNvPr id="2" name="CuadroTexto 1">
                <a:extLst>
                  <a:ext uri="{FF2B5EF4-FFF2-40B4-BE49-F238E27FC236}">
                    <a16:creationId xmlns:a16="http://schemas.microsoft.com/office/drawing/2014/main" id="{38265CD5-76D6-3CE5-05F9-DEC109D8556C}"/>
                  </a:ext>
                </a:extLst>
              </p:cNvPr>
              <p:cNvSpPr txBox="1">
                <a:spLocks noRot="1" noChangeAspect="1" noMove="1" noResize="1" noEditPoints="1" noAdjustHandles="1" noChangeArrowheads="1" noChangeShapeType="1" noTextEdit="1"/>
              </p:cNvSpPr>
              <p:nvPr/>
            </p:nvSpPr>
            <p:spPr>
              <a:xfrm>
                <a:off x="4825620" y="5971178"/>
                <a:ext cx="2540759" cy="369332"/>
              </a:xfrm>
              <a:prstGeom prst="rect">
                <a:avLst/>
              </a:prstGeom>
              <a:blipFill>
                <a:blip r:embed="rId3"/>
                <a:stretch>
                  <a:fillRect l="-2500" t="-6667" r="-2000" b="-36667"/>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3" name="CuadroTexto 2">
                <a:extLst>
                  <a:ext uri="{FF2B5EF4-FFF2-40B4-BE49-F238E27FC236}">
                    <a16:creationId xmlns:a16="http://schemas.microsoft.com/office/drawing/2014/main" id="{659C0CC8-53A7-C6FD-2C62-AB54FA04C503}"/>
                  </a:ext>
                </a:extLst>
              </p:cNvPr>
              <p:cNvSpPr txBox="1"/>
              <p:nvPr/>
            </p:nvSpPr>
            <p:spPr>
              <a:xfrm>
                <a:off x="4481944" y="4479848"/>
                <a:ext cx="3240374" cy="117384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ES" sz="2400" b="0" i="1" smtClean="0">
                          <a:latin typeface="Cambria Math" panose="02040503050406030204" pitchFamily="18" charset="0"/>
                        </a:rPr>
                        <m:t>𝑉𝑃</m:t>
                      </m:r>
                      <m:r>
                        <a:rPr lang="es-ES" sz="2400" b="0" i="1" smtClean="0">
                          <a:latin typeface="Cambria Math" panose="02040503050406030204" pitchFamily="18" charset="0"/>
                        </a:rPr>
                        <m:t>=</m:t>
                      </m:r>
                      <m:sSub>
                        <m:sSubPr>
                          <m:ctrlPr>
                            <a:rPr lang="es-CO" sz="2400" i="1">
                              <a:latin typeface="Cambria Math" panose="02040503050406030204" pitchFamily="18" charset="0"/>
                            </a:rPr>
                          </m:ctrlPr>
                        </m:sSubPr>
                        <m:e>
                          <m:r>
                            <a:rPr lang="es-CO" sz="2400" i="1">
                              <a:latin typeface="Cambria Math" panose="02040503050406030204" pitchFamily="18" charset="0"/>
                            </a:rPr>
                            <m:t>𝐷</m:t>
                          </m:r>
                        </m:e>
                        <m:sub>
                          <m:r>
                            <a:rPr lang="es-CO" sz="2400">
                              <a:latin typeface="Cambria Math" panose="02040503050406030204" pitchFamily="18" charset="0"/>
                            </a:rPr>
                            <m:t>1</m:t>
                          </m:r>
                        </m:sub>
                      </m:sSub>
                      <m:d>
                        <m:dPr>
                          <m:begChr m:val="["/>
                          <m:endChr m:val="]"/>
                          <m:ctrlPr>
                            <a:rPr lang="es-CO" sz="2400" i="1">
                              <a:latin typeface="Cambria Math" panose="02040503050406030204" pitchFamily="18" charset="0"/>
                            </a:rPr>
                          </m:ctrlPr>
                        </m:dPr>
                        <m:e>
                          <m:f>
                            <m:fPr>
                              <m:ctrlPr>
                                <a:rPr lang="es-CO" sz="2400" i="1">
                                  <a:latin typeface="Cambria Math" panose="02040503050406030204" pitchFamily="18" charset="0"/>
                                </a:rPr>
                              </m:ctrlPr>
                            </m:fPr>
                            <m:num>
                              <m:r>
                                <a:rPr lang="es-CO" sz="2400">
                                  <a:latin typeface="Cambria Math" panose="02040503050406030204" pitchFamily="18" charset="0"/>
                                </a:rPr>
                                <m:t>1−</m:t>
                              </m:r>
                              <m:sSup>
                                <m:sSupPr>
                                  <m:ctrlPr>
                                    <a:rPr lang="es-CO" sz="2400" i="1">
                                      <a:latin typeface="Cambria Math" panose="02040503050406030204" pitchFamily="18" charset="0"/>
                                    </a:rPr>
                                  </m:ctrlPr>
                                </m:sSupPr>
                                <m:e>
                                  <m:d>
                                    <m:dPr>
                                      <m:ctrlPr>
                                        <a:rPr lang="es-CO" sz="2400" i="1">
                                          <a:latin typeface="Cambria Math" panose="02040503050406030204" pitchFamily="18" charset="0"/>
                                        </a:rPr>
                                      </m:ctrlPr>
                                    </m:dPr>
                                    <m:e>
                                      <m:f>
                                        <m:fPr>
                                          <m:ctrlPr>
                                            <a:rPr lang="es-CO" sz="2400" i="1">
                                              <a:latin typeface="Cambria Math" panose="02040503050406030204" pitchFamily="18" charset="0"/>
                                            </a:rPr>
                                          </m:ctrlPr>
                                        </m:fPr>
                                        <m:num>
                                          <m:r>
                                            <a:rPr lang="es-CO" sz="2400">
                                              <a:latin typeface="Cambria Math" panose="02040503050406030204" pitchFamily="18" charset="0"/>
                                            </a:rPr>
                                            <m:t>1+</m:t>
                                          </m:r>
                                          <m:r>
                                            <a:rPr lang="es-CO" sz="2400" i="1">
                                              <a:latin typeface="Cambria Math" panose="02040503050406030204" pitchFamily="18" charset="0"/>
                                            </a:rPr>
                                            <m:t>𝑔</m:t>
                                          </m:r>
                                        </m:num>
                                        <m:den>
                                          <m:r>
                                            <a:rPr lang="es-CO" sz="2400">
                                              <a:latin typeface="Cambria Math" panose="02040503050406030204" pitchFamily="18" charset="0"/>
                                            </a:rPr>
                                            <m:t>1+</m:t>
                                          </m:r>
                                          <m:r>
                                            <a:rPr lang="es-CO" sz="2400" i="1">
                                              <a:latin typeface="Cambria Math" panose="02040503050406030204" pitchFamily="18" charset="0"/>
                                            </a:rPr>
                                            <m:t>𝑖</m:t>
                                          </m:r>
                                        </m:den>
                                      </m:f>
                                    </m:e>
                                  </m:d>
                                </m:e>
                                <m:sup>
                                  <m:r>
                                    <a:rPr lang="es-CO" sz="2400" i="1">
                                      <a:latin typeface="Cambria Math" panose="02040503050406030204" pitchFamily="18" charset="0"/>
                                    </a:rPr>
                                    <m:t>𝑛</m:t>
                                  </m:r>
                                </m:sup>
                              </m:sSup>
                            </m:num>
                            <m:den>
                              <m:r>
                                <a:rPr lang="es-CO" sz="2400" i="1">
                                  <a:latin typeface="Cambria Math" panose="02040503050406030204" pitchFamily="18" charset="0"/>
                                </a:rPr>
                                <m:t>𝑖</m:t>
                              </m:r>
                              <m:r>
                                <a:rPr lang="es-CO" sz="2400">
                                  <a:latin typeface="Cambria Math" panose="02040503050406030204" pitchFamily="18" charset="0"/>
                                </a:rPr>
                                <m:t>−</m:t>
                              </m:r>
                              <m:r>
                                <a:rPr lang="es-CO" sz="2400" i="1">
                                  <a:latin typeface="Cambria Math" panose="02040503050406030204" pitchFamily="18" charset="0"/>
                                </a:rPr>
                                <m:t>𝑔</m:t>
                              </m:r>
                            </m:den>
                          </m:f>
                        </m:e>
                      </m:d>
                    </m:oMath>
                  </m:oMathPara>
                </a14:m>
                <a:endParaRPr lang="es-CO" sz="2400"/>
              </a:p>
            </p:txBody>
          </p:sp>
        </mc:Choice>
        <mc:Fallback xmlns="">
          <p:sp>
            <p:nvSpPr>
              <p:cNvPr id="3" name="CuadroTexto 2">
                <a:extLst>
                  <a:ext uri="{FF2B5EF4-FFF2-40B4-BE49-F238E27FC236}">
                    <a16:creationId xmlns:a16="http://schemas.microsoft.com/office/drawing/2014/main" id="{659C0CC8-53A7-C6FD-2C62-AB54FA04C503}"/>
                  </a:ext>
                </a:extLst>
              </p:cNvPr>
              <p:cNvSpPr txBox="1">
                <a:spLocks noRot="1" noChangeAspect="1" noMove="1" noResize="1" noEditPoints="1" noAdjustHandles="1" noChangeArrowheads="1" noChangeShapeType="1" noTextEdit="1"/>
              </p:cNvSpPr>
              <p:nvPr/>
            </p:nvSpPr>
            <p:spPr>
              <a:xfrm>
                <a:off x="4481944" y="4479848"/>
                <a:ext cx="3240374" cy="1173847"/>
              </a:xfrm>
              <a:prstGeom prst="rect">
                <a:avLst/>
              </a:prstGeom>
              <a:blipFill>
                <a:blip r:embed="rId4"/>
                <a:stretch>
                  <a:fillRect l="-1167"/>
                </a:stretch>
              </a:blipFill>
            </p:spPr>
            <p:txBody>
              <a:bodyPr/>
              <a:lstStyle/>
              <a:p>
                <a:r>
                  <a:rPr lang="es-CO">
                    <a:noFill/>
                  </a:rPr>
                  <a:t> </a:t>
                </a:r>
              </a:p>
            </p:txBody>
          </p:sp>
        </mc:Fallback>
      </mc:AlternateContent>
    </p:spTree>
    <p:extLst>
      <p:ext uri="{BB962C8B-B14F-4D97-AF65-F5344CB8AC3E}">
        <p14:creationId xmlns:p14="http://schemas.microsoft.com/office/powerpoint/2010/main" val="37024096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8"/>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9"/>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5"/>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8"/>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9"/>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P spid="14" grpId="0"/>
      <p:bldP spid="15" grpId="0"/>
      <p:bldP spid="16" grpId="0"/>
      <p:bldP spid="17" grpId="0"/>
      <p:bldP spid="18" grpId="0"/>
      <p:bldP spid="19" grpId="0"/>
      <p:bldP spid="25" grpId="0"/>
      <p:bldP spid="28" grpId="0"/>
      <p:bldP spid="29" grpId="0"/>
      <p:bldP spid="2" grpId="0"/>
      <p:bldP spid="3" grpId="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0DCFBA-7FE5-DFC9-664C-38F33492A4B6}"/>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BD8DFCF3-7376-FED7-BCE2-C354D1B9359B}"/>
              </a:ext>
            </a:extLst>
          </p:cNvPr>
          <p:cNvSpPr>
            <a:spLocks noGrp="1"/>
          </p:cNvSpPr>
          <p:nvPr>
            <p:ph type="title"/>
          </p:nvPr>
        </p:nvSpPr>
        <p:spPr/>
        <p:txBody>
          <a:bodyPr>
            <a:normAutofit/>
          </a:bodyPr>
          <a:lstStyle/>
          <a:p>
            <a:r>
              <a:rPr lang="es-CO" sz="3200">
                <a:latin typeface="Century Gothic" panose="020B0502020202020204" pitchFamily="34" charset="0"/>
              </a:rPr>
              <a:t>AGENDA PROPUESTA</a:t>
            </a:r>
          </a:p>
        </p:txBody>
      </p:sp>
      <p:sp>
        <p:nvSpPr>
          <p:cNvPr id="4" name="Marcador de número de diapositiva 3">
            <a:extLst>
              <a:ext uri="{FF2B5EF4-FFF2-40B4-BE49-F238E27FC236}">
                <a16:creationId xmlns:a16="http://schemas.microsoft.com/office/drawing/2014/main" id="{FF6BEA8F-2109-A770-262A-316FC436A10A}"/>
              </a:ext>
            </a:extLst>
          </p:cNvPr>
          <p:cNvSpPr>
            <a:spLocks noGrp="1"/>
          </p:cNvSpPr>
          <p:nvPr>
            <p:ph type="sldNum" sz="quarter" idx="12"/>
          </p:nvPr>
        </p:nvSpPr>
        <p:spPr/>
        <p:txBody>
          <a:bodyPr/>
          <a:lstStyle/>
          <a:p>
            <a:fld id="{D57F1E4F-1CFF-5643-939E-217C01CDF565}" type="slidenum">
              <a:rPr lang="en-US" sz="2000" b="1" smtClean="0">
                <a:latin typeface="Century Gothic" panose="020B0502020202020204" pitchFamily="34" charset="0"/>
              </a:rPr>
              <a:pPr/>
              <a:t>74</a:t>
            </a:fld>
            <a:endParaRPr lang="en-US" sz="2000" b="1">
              <a:latin typeface="Century Gothic" panose="020B0502020202020204" pitchFamily="34" charset="0"/>
            </a:endParaRPr>
          </a:p>
        </p:txBody>
      </p:sp>
      <p:pic>
        <p:nvPicPr>
          <p:cNvPr id="6" name="Picture 6" descr="Resultado de imagen para RELOJ VECTOR">
            <a:extLst>
              <a:ext uri="{FF2B5EF4-FFF2-40B4-BE49-F238E27FC236}">
                <a16:creationId xmlns:a16="http://schemas.microsoft.com/office/drawing/2014/main" id="{1ABF538B-270D-AF52-6573-66AAD0DAC907}"/>
              </a:ext>
            </a:extLst>
          </p:cNvPr>
          <p:cNvPicPr>
            <a:picLocks noChangeAspect="1" noChangeArrowheads="1"/>
          </p:cNvPicPr>
          <p:nvPr/>
        </p:nvPicPr>
        <p:blipFill rotWithShape="1">
          <a:blip r:embed="rId2" cstate="print">
            <a:clrChange>
              <a:clrFrom>
                <a:srgbClr val="F6F6F6"/>
              </a:clrFrom>
              <a:clrTo>
                <a:srgbClr val="F6F6F6">
                  <a:alpha val="0"/>
                </a:srgbClr>
              </a:clrTo>
            </a:clrChange>
            <a:duotone>
              <a:schemeClr val="accent3">
                <a:shade val="45000"/>
                <a:satMod val="135000"/>
              </a:schemeClr>
              <a:prstClr val="white"/>
            </a:duotone>
            <a:extLst>
              <a:ext uri="{28A0092B-C50C-407E-A947-70E740481C1C}">
                <a14:useLocalDpi xmlns:a14="http://schemas.microsoft.com/office/drawing/2010/main" val="0"/>
              </a:ext>
            </a:extLst>
          </a:blip>
          <a:srcRect l="24517" t="6285" r="24815" b="6503"/>
          <a:stretch/>
        </p:blipFill>
        <p:spPr bwMode="auto">
          <a:xfrm>
            <a:off x="1448088" y="2903629"/>
            <a:ext cx="1236705" cy="1246074"/>
          </a:xfrm>
          <a:prstGeom prst="rect">
            <a:avLst/>
          </a:prstGeom>
          <a:noFill/>
          <a:extLst>
            <a:ext uri="{909E8E84-426E-40DD-AFC4-6F175D3DCCD1}">
              <a14:hiddenFill xmlns:a14="http://schemas.microsoft.com/office/drawing/2010/main">
                <a:solidFill>
                  <a:srgbClr val="FFFFFF"/>
                </a:solidFill>
              </a14:hiddenFill>
            </a:ext>
          </a:extLst>
        </p:spPr>
      </p:pic>
      <p:sp>
        <p:nvSpPr>
          <p:cNvPr id="23" name="Rectángulo 22">
            <a:extLst>
              <a:ext uri="{FF2B5EF4-FFF2-40B4-BE49-F238E27FC236}">
                <a16:creationId xmlns:a16="http://schemas.microsoft.com/office/drawing/2014/main" id="{2F414BA8-0C2F-1CAB-7DAE-3A0D04FD072C}"/>
              </a:ext>
            </a:extLst>
          </p:cNvPr>
          <p:cNvSpPr/>
          <p:nvPr/>
        </p:nvSpPr>
        <p:spPr>
          <a:xfrm>
            <a:off x="3173020" y="2503099"/>
            <a:ext cx="8540907" cy="2246769"/>
          </a:xfrm>
          <a:prstGeom prst="rect">
            <a:avLst/>
          </a:prstGeom>
        </p:spPr>
        <p:txBody>
          <a:bodyPr wrap="square" lIns="91440" tIns="45720" rIns="91440" bIns="45720" anchor="t">
            <a:spAutoFit/>
          </a:bodyPr>
          <a:lstStyle/>
          <a:p>
            <a:pPr marL="342900" indent="-342900">
              <a:buClr>
                <a:srgbClr val="48BE7A"/>
              </a:buClr>
              <a:buAutoNum type="arabicPeriod"/>
            </a:pPr>
            <a:endParaRPr lang="es-CO" sz="2000" dirty="0">
              <a:solidFill>
                <a:schemeClr val="bg2">
                  <a:lumMod val="90000"/>
                </a:schemeClr>
              </a:solidFill>
              <a:latin typeface="Century Gothic" panose="020B0502020202020204" pitchFamily="34" charset="0"/>
              <a:cs typeface="Arial"/>
            </a:endParaRPr>
          </a:p>
          <a:p>
            <a:pPr marL="342900" indent="-342900">
              <a:buClr>
                <a:srgbClr val="48BE7A"/>
              </a:buClr>
              <a:buAutoNum type="arabicPeriod"/>
            </a:pPr>
            <a:endParaRPr lang="es-CO" sz="2000" dirty="0">
              <a:solidFill>
                <a:schemeClr val="bg2">
                  <a:lumMod val="90000"/>
                </a:schemeClr>
              </a:solidFill>
              <a:latin typeface="Century Gothic" panose="020B0502020202020204" pitchFamily="34" charset="0"/>
              <a:cs typeface="Arial"/>
            </a:endParaRPr>
          </a:p>
          <a:p>
            <a:pPr marL="342900" indent="-342900">
              <a:buClr>
                <a:srgbClr val="48BE7A"/>
              </a:buClr>
              <a:buAutoNum type="arabicPeriod"/>
            </a:pPr>
            <a:r>
              <a:rPr lang="es-CO" sz="2000" dirty="0">
                <a:solidFill>
                  <a:schemeClr val="bg2">
                    <a:lumMod val="90000"/>
                  </a:schemeClr>
                </a:solidFill>
                <a:latin typeface="Century Gothic" panose="020B0502020202020204" pitchFamily="34" charset="0"/>
                <a:cs typeface="Arial"/>
              </a:rPr>
              <a:t>Gradiente Geométrico.</a:t>
            </a:r>
          </a:p>
          <a:p>
            <a:pPr marL="342900" indent="-342900">
              <a:buClr>
                <a:srgbClr val="48BE7A"/>
              </a:buClr>
              <a:buFontTx/>
              <a:buAutoNum type="arabicPeriod"/>
            </a:pPr>
            <a:endParaRPr lang="es-CO" sz="2000" dirty="0">
              <a:solidFill>
                <a:schemeClr val="bg2">
                  <a:lumMod val="90000"/>
                </a:schemeClr>
              </a:solidFill>
              <a:latin typeface="Century Gothic" panose="020B0502020202020204" pitchFamily="34" charset="0"/>
              <a:cs typeface="Arial"/>
            </a:endParaRPr>
          </a:p>
          <a:p>
            <a:pPr marL="342900" indent="-342900">
              <a:buClr>
                <a:srgbClr val="48BE7A"/>
              </a:buClr>
              <a:buFontTx/>
              <a:buAutoNum type="arabicPeriod"/>
            </a:pPr>
            <a:r>
              <a:rPr lang="es-CO" sz="2000" dirty="0">
                <a:solidFill>
                  <a:schemeClr val="accent1"/>
                </a:solidFill>
                <a:latin typeface="Century Gothic"/>
                <a:cs typeface="Arial"/>
              </a:rPr>
              <a:t>Relaciones de equivalencia con varios costos de oportunidad.</a:t>
            </a:r>
          </a:p>
          <a:p>
            <a:pPr marL="342900" indent="-342900">
              <a:buClr>
                <a:srgbClr val="48BE7A"/>
              </a:buClr>
              <a:buAutoNum type="arabicPeriod"/>
            </a:pPr>
            <a:endParaRPr lang="es-CO" sz="2000" dirty="0">
              <a:solidFill>
                <a:schemeClr val="accent1"/>
              </a:solidFill>
              <a:latin typeface="Century Gothic"/>
              <a:cs typeface="Arial"/>
            </a:endParaRPr>
          </a:p>
          <a:p>
            <a:pPr marL="342900" indent="-342900">
              <a:buClr>
                <a:srgbClr val="48BE7A"/>
              </a:buClr>
              <a:buAutoNum type="arabicPeriod"/>
            </a:pPr>
            <a:endParaRPr lang="es-CO" sz="2000" dirty="0">
              <a:solidFill>
                <a:schemeClr val="bg2">
                  <a:lumMod val="90000"/>
                </a:schemeClr>
              </a:solidFill>
              <a:latin typeface="Century Gothic" panose="020B0502020202020204" pitchFamily="34" charset="0"/>
              <a:cs typeface="Arial"/>
            </a:endParaRPr>
          </a:p>
        </p:txBody>
      </p:sp>
      <p:sp>
        <p:nvSpPr>
          <p:cNvPr id="3" name="Rectángulo 2">
            <a:extLst>
              <a:ext uri="{FF2B5EF4-FFF2-40B4-BE49-F238E27FC236}">
                <a16:creationId xmlns:a16="http://schemas.microsoft.com/office/drawing/2014/main" id="{72920281-139B-4475-A843-AECCCB5A39AD}"/>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19E066CB-7F22-22B4-19ED-4D927B2B45B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3AFC5A8D-CF5E-EB2E-B904-4BFB12B5E442}"/>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32383522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42"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animEffect transition="in" filter="fade">
                                      <p:cBhvr>
                                        <p:cTn id="9" dur="1000"/>
                                        <p:tgtEl>
                                          <p:spTgt spid="23"/>
                                        </p:tgtEl>
                                      </p:cBhvr>
                                    </p:animEffect>
                                    <p:anim calcmode="lin" valueType="num">
                                      <p:cBhvr>
                                        <p:cTn id="10" dur="1000" fill="hold"/>
                                        <p:tgtEl>
                                          <p:spTgt spid="23"/>
                                        </p:tgtEl>
                                        <p:attrNameLst>
                                          <p:attrName>ppt_x</p:attrName>
                                        </p:attrNameLst>
                                      </p:cBhvr>
                                      <p:tavLst>
                                        <p:tav tm="0">
                                          <p:val>
                                            <p:strVal val="#ppt_x"/>
                                          </p:val>
                                        </p:tav>
                                        <p:tav tm="100000">
                                          <p:val>
                                            <p:strVal val="#ppt_x"/>
                                          </p:val>
                                        </p:tav>
                                      </p:tavLst>
                                    </p:anim>
                                    <p:anim calcmode="lin" valueType="num">
                                      <p:cBhvr>
                                        <p:cTn id="11"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Content Placeholder 2"/>
          <p:cNvSpPr>
            <a:spLocks noGrp="1"/>
          </p:cNvSpPr>
          <p:nvPr>
            <p:ph idx="1"/>
          </p:nvPr>
        </p:nvSpPr>
        <p:spPr>
          <a:xfrm>
            <a:off x="641964" y="1837672"/>
            <a:ext cx="10968843" cy="922553"/>
          </a:xfrm>
        </p:spPr>
        <p:txBody>
          <a:bodyPr>
            <a:normAutofit/>
          </a:bodyPr>
          <a:lstStyle/>
          <a:p>
            <a:pPr marL="0" indent="0" algn="just">
              <a:buNone/>
            </a:pPr>
            <a:r>
              <a:rPr lang="es-ES" sz="2400"/>
              <a:t>Imagínese unos flujos como los qué se muestran a continuación. Pero con un costo de oportunidad diferente del periodo 1 al 3 y otro en los periodos 4 y 5</a:t>
            </a:r>
          </a:p>
        </p:txBody>
      </p:sp>
      <p:sp>
        <p:nvSpPr>
          <p:cNvPr id="4" name="Slide Number Placeholder 3"/>
          <p:cNvSpPr>
            <a:spLocks noGrp="1"/>
          </p:cNvSpPr>
          <p:nvPr>
            <p:ph type="sldNum" sz="quarter" idx="12"/>
          </p:nvPr>
        </p:nvSpPr>
        <p:spPr/>
        <p:txBody>
          <a:bodyPr/>
          <a:lstStyle/>
          <a:p>
            <a:fld id="{5E3E23BA-6E79-2442-BA73-D218A5E297C3}" type="slidenum">
              <a:rPr lang="en-US" smtClean="0"/>
              <a:t>75</a:t>
            </a:fld>
            <a:endParaRPr lang="en-US"/>
          </a:p>
        </p:txBody>
      </p:sp>
      <p:cxnSp>
        <p:nvCxnSpPr>
          <p:cNvPr id="6" name="Straight Connector 6"/>
          <p:cNvCxnSpPr/>
          <p:nvPr/>
        </p:nvCxnSpPr>
        <p:spPr>
          <a:xfrm flipV="1">
            <a:off x="3032770" y="5097543"/>
            <a:ext cx="6372951" cy="12001"/>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 name="Straight Arrow Connector 9"/>
          <p:cNvCxnSpPr>
            <a:cxnSpLocks/>
          </p:cNvCxnSpPr>
          <p:nvPr/>
        </p:nvCxnSpPr>
        <p:spPr>
          <a:xfrm flipV="1">
            <a:off x="8118134" y="4793137"/>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8" name="Rectangle 35"/>
          <p:cNvSpPr>
            <a:spLocks/>
          </p:cNvSpPr>
          <p:nvPr/>
        </p:nvSpPr>
        <p:spPr bwMode="auto">
          <a:xfrm>
            <a:off x="2968648" y="5104824"/>
            <a:ext cx="12824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0</a:t>
            </a:r>
          </a:p>
        </p:txBody>
      </p:sp>
      <p:sp>
        <p:nvSpPr>
          <p:cNvPr id="9" name="Rectangle 36"/>
          <p:cNvSpPr>
            <a:spLocks/>
          </p:cNvSpPr>
          <p:nvPr/>
        </p:nvSpPr>
        <p:spPr bwMode="auto">
          <a:xfrm>
            <a:off x="3781933" y="5079995"/>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a:t>
            </a:r>
          </a:p>
        </p:txBody>
      </p:sp>
      <p:sp>
        <p:nvSpPr>
          <p:cNvPr id="10" name="Rectangle 37"/>
          <p:cNvSpPr>
            <a:spLocks/>
          </p:cNvSpPr>
          <p:nvPr/>
        </p:nvSpPr>
        <p:spPr bwMode="auto">
          <a:xfrm>
            <a:off x="4870421" y="5079995"/>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2</a:t>
            </a:r>
          </a:p>
        </p:txBody>
      </p:sp>
      <p:sp>
        <p:nvSpPr>
          <p:cNvPr id="11" name="Rectangle 38"/>
          <p:cNvSpPr>
            <a:spLocks/>
          </p:cNvSpPr>
          <p:nvPr/>
        </p:nvSpPr>
        <p:spPr bwMode="auto">
          <a:xfrm>
            <a:off x="5929895" y="5093952"/>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3</a:t>
            </a:r>
          </a:p>
        </p:txBody>
      </p:sp>
      <p:sp>
        <p:nvSpPr>
          <p:cNvPr id="12" name="Rectangle 39"/>
          <p:cNvSpPr>
            <a:spLocks/>
          </p:cNvSpPr>
          <p:nvPr/>
        </p:nvSpPr>
        <p:spPr bwMode="auto">
          <a:xfrm>
            <a:off x="6935757" y="5110409"/>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4</a:t>
            </a:r>
          </a:p>
        </p:txBody>
      </p:sp>
      <p:sp>
        <p:nvSpPr>
          <p:cNvPr id="13" name="Rectangle 40"/>
          <p:cNvSpPr>
            <a:spLocks/>
          </p:cNvSpPr>
          <p:nvPr/>
        </p:nvSpPr>
        <p:spPr bwMode="auto">
          <a:xfrm>
            <a:off x="8009186" y="5079995"/>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5</a:t>
            </a:r>
          </a:p>
        </p:txBody>
      </p:sp>
      <p:sp>
        <p:nvSpPr>
          <p:cNvPr id="15" name="Rectangle 35"/>
          <p:cNvSpPr>
            <a:spLocks/>
          </p:cNvSpPr>
          <p:nvPr/>
        </p:nvSpPr>
        <p:spPr bwMode="auto">
          <a:xfrm>
            <a:off x="8060428" y="4493151"/>
            <a:ext cx="113814"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5</a:t>
            </a:r>
          </a:p>
        </p:txBody>
      </p:sp>
      <p:sp>
        <p:nvSpPr>
          <p:cNvPr id="17" name="Rectangle 35"/>
          <p:cNvSpPr>
            <a:spLocks/>
          </p:cNvSpPr>
          <p:nvPr/>
        </p:nvSpPr>
        <p:spPr bwMode="auto">
          <a:xfrm>
            <a:off x="6948635" y="4210212"/>
            <a:ext cx="256481"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10</a:t>
            </a:r>
          </a:p>
        </p:txBody>
      </p:sp>
      <p:sp>
        <p:nvSpPr>
          <p:cNvPr id="18" name="Rectangle 35"/>
          <p:cNvSpPr>
            <a:spLocks/>
          </p:cNvSpPr>
          <p:nvPr/>
        </p:nvSpPr>
        <p:spPr bwMode="auto">
          <a:xfrm>
            <a:off x="5967131" y="3928972"/>
            <a:ext cx="256481"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15</a:t>
            </a:r>
          </a:p>
        </p:txBody>
      </p:sp>
      <p:sp>
        <p:nvSpPr>
          <p:cNvPr id="19" name="Rectangle 35"/>
          <p:cNvSpPr>
            <a:spLocks/>
          </p:cNvSpPr>
          <p:nvPr/>
        </p:nvSpPr>
        <p:spPr bwMode="auto">
          <a:xfrm>
            <a:off x="4904336" y="3667846"/>
            <a:ext cx="256481"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20</a:t>
            </a:r>
          </a:p>
        </p:txBody>
      </p:sp>
      <p:sp>
        <p:nvSpPr>
          <p:cNvPr id="20" name="Rectangle 35"/>
          <p:cNvSpPr>
            <a:spLocks/>
          </p:cNvSpPr>
          <p:nvPr/>
        </p:nvSpPr>
        <p:spPr bwMode="auto">
          <a:xfrm>
            <a:off x="3818639" y="3022938"/>
            <a:ext cx="256481"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25</a:t>
            </a:r>
          </a:p>
        </p:txBody>
      </p:sp>
      <p:cxnSp>
        <p:nvCxnSpPr>
          <p:cNvPr id="21" name="Straight Arrow Connector 9"/>
          <p:cNvCxnSpPr/>
          <p:nvPr/>
        </p:nvCxnSpPr>
        <p:spPr>
          <a:xfrm flipV="1">
            <a:off x="7062997" y="4608927"/>
            <a:ext cx="0" cy="497850"/>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27" name="Straight Arrow Connector 9"/>
          <p:cNvCxnSpPr/>
          <p:nvPr/>
        </p:nvCxnSpPr>
        <p:spPr>
          <a:xfrm flipV="1">
            <a:off x="5031075" y="4022845"/>
            <a:ext cx="0" cy="1086699"/>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28" name="Straight Arrow Connector 9"/>
          <p:cNvCxnSpPr/>
          <p:nvPr/>
        </p:nvCxnSpPr>
        <p:spPr>
          <a:xfrm flipV="1">
            <a:off x="6095371" y="4250426"/>
            <a:ext cx="0" cy="827987"/>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32" name="Straight Arrow Connector 9"/>
          <p:cNvCxnSpPr/>
          <p:nvPr/>
        </p:nvCxnSpPr>
        <p:spPr>
          <a:xfrm flipV="1">
            <a:off x="3946879" y="3445468"/>
            <a:ext cx="0" cy="1670003"/>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3" name="Abrir llave 2">
            <a:extLst>
              <a:ext uri="{FF2B5EF4-FFF2-40B4-BE49-F238E27FC236}">
                <a16:creationId xmlns:a16="http://schemas.microsoft.com/office/drawing/2014/main" id="{71009633-4C17-1DAF-1FB8-EDAD253E2DDE}"/>
              </a:ext>
            </a:extLst>
          </p:cNvPr>
          <p:cNvSpPr/>
          <p:nvPr/>
        </p:nvSpPr>
        <p:spPr>
          <a:xfrm rot="16200000">
            <a:off x="4879143" y="4497348"/>
            <a:ext cx="288632" cy="2371452"/>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s-CO" sz="2000"/>
          </a:p>
        </p:txBody>
      </p:sp>
      <p:sp>
        <p:nvSpPr>
          <p:cNvPr id="16" name="Abrir llave 15">
            <a:extLst>
              <a:ext uri="{FF2B5EF4-FFF2-40B4-BE49-F238E27FC236}">
                <a16:creationId xmlns:a16="http://schemas.microsoft.com/office/drawing/2014/main" id="{D5387356-A9DC-6482-438B-73F02B437AC1}"/>
              </a:ext>
            </a:extLst>
          </p:cNvPr>
          <p:cNvSpPr/>
          <p:nvPr/>
        </p:nvSpPr>
        <p:spPr>
          <a:xfrm rot="16200000">
            <a:off x="7549575" y="5022342"/>
            <a:ext cx="246220" cy="1347123"/>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s-CO" sz="2000"/>
          </a:p>
        </p:txBody>
      </p:sp>
      <p:sp>
        <p:nvSpPr>
          <p:cNvPr id="22" name="Content Placeholder 2">
            <a:extLst>
              <a:ext uri="{FF2B5EF4-FFF2-40B4-BE49-F238E27FC236}">
                <a16:creationId xmlns:a16="http://schemas.microsoft.com/office/drawing/2014/main" id="{02F72702-765B-85C6-FBC4-819F2A849BDB}"/>
              </a:ext>
            </a:extLst>
          </p:cNvPr>
          <p:cNvSpPr txBox="1">
            <a:spLocks/>
          </p:cNvSpPr>
          <p:nvPr/>
        </p:nvSpPr>
        <p:spPr>
          <a:xfrm>
            <a:off x="4460303" y="5898094"/>
            <a:ext cx="2162244" cy="365126"/>
          </a:xfrm>
          <a:prstGeom prst="rect">
            <a:avLst/>
          </a:prstGeom>
        </p:spPr>
        <p:txBody>
          <a:bodyPr vert="horz" lIns="91440" tIns="45720" rIns="91440" bIns="45720" rtlCol="0">
            <a:noAutofit/>
          </a:bodyPr>
          <a:lstStyle>
            <a:lvl1pPr marL="342900" indent="-342900" algn="l" defTabSz="914400" rtl="0" eaLnBrk="1" latinLnBrk="0" hangingPunct="1">
              <a:spcBef>
                <a:spcPts val="2000"/>
              </a:spcBef>
              <a:buClr>
                <a:schemeClr val="accent1"/>
              </a:buClr>
              <a:buFont typeface="Wingdings 2" pitchFamily="18" charset="2"/>
              <a:buChar char=""/>
              <a:defRPr sz="2000" kern="1200">
                <a:solidFill>
                  <a:schemeClr val="tx1">
                    <a:lumMod val="65000"/>
                    <a:lumOff val="35000"/>
                  </a:schemeClr>
                </a:solidFill>
                <a:latin typeface="+mn-lt"/>
                <a:ea typeface="+mn-ea"/>
                <a:cs typeface="+mn-cs"/>
              </a:defRPr>
            </a:lvl1pPr>
            <a:lvl2pPr marL="6858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2pPr>
            <a:lvl3pPr marL="10350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3pPr>
            <a:lvl4pPr marL="13716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4pPr>
            <a:lvl5pPr marL="17208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5pPr>
            <a:lvl6pPr marL="2055813"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6pPr>
            <a:lvl7pPr marL="2398713" indent="-344488" algn="l" defTabSz="914400" rtl="0" eaLnBrk="1" latinLnBrk="0" hangingPunct="1">
              <a:spcBef>
                <a:spcPct val="20000"/>
              </a:spcBef>
              <a:buClr>
                <a:schemeClr val="accent1"/>
              </a:buClr>
              <a:buFont typeface="Wingdings 2" pitchFamily="18" charset="2"/>
              <a:buChar char=""/>
              <a:defRPr lang="en-US" sz="1800" kern="1200" dirty="0" smtClean="0">
                <a:solidFill>
                  <a:schemeClr val="tx1">
                    <a:lumMod val="65000"/>
                    <a:lumOff val="35000"/>
                  </a:schemeClr>
                </a:solidFill>
                <a:latin typeface="+mn-lt"/>
                <a:ea typeface="+mn-ea"/>
                <a:cs typeface="+mn-cs"/>
              </a:defRPr>
            </a:lvl7pPr>
            <a:lvl8pPr marL="2743200"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8pPr>
            <a:lvl9pPr marL="3087688" indent="-344488" algn="l" defTabSz="914400" rtl="0" eaLnBrk="1" latinLnBrk="0" hangingPunct="1">
              <a:spcBef>
                <a:spcPct val="20000"/>
              </a:spcBef>
              <a:buClr>
                <a:schemeClr val="accent1"/>
              </a:buClr>
              <a:buFont typeface="Wingdings 2" pitchFamily="18" charset="2"/>
              <a:buChar char=""/>
              <a:defRPr lang="en-US" sz="1800" kern="1200" dirty="0">
                <a:solidFill>
                  <a:schemeClr val="tx1">
                    <a:lumMod val="65000"/>
                    <a:lumOff val="35000"/>
                  </a:schemeClr>
                </a:solidFill>
                <a:latin typeface="+mn-lt"/>
                <a:ea typeface="+mn-ea"/>
                <a:cs typeface="+mn-cs"/>
              </a:defRPr>
            </a:lvl9pPr>
          </a:lstStyle>
          <a:p>
            <a:pPr marL="0" indent="0" algn="just">
              <a:buNone/>
            </a:pPr>
            <a:r>
              <a:rPr lang="es-ES"/>
              <a:t>CO= 10%</a:t>
            </a:r>
          </a:p>
        </p:txBody>
      </p:sp>
      <p:sp>
        <p:nvSpPr>
          <p:cNvPr id="24" name="Content Placeholder 2">
            <a:extLst>
              <a:ext uri="{FF2B5EF4-FFF2-40B4-BE49-F238E27FC236}">
                <a16:creationId xmlns:a16="http://schemas.microsoft.com/office/drawing/2014/main" id="{7974454A-7C7C-2F88-A8DA-A9C97CA71849}"/>
              </a:ext>
            </a:extLst>
          </p:cNvPr>
          <p:cNvSpPr txBox="1">
            <a:spLocks/>
          </p:cNvSpPr>
          <p:nvPr/>
        </p:nvSpPr>
        <p:spPr>
          <a:xfrm>
            <a:off x="7037012" y="5867931"/>
            <a:ext cx="2162244" cy="365126"/>
          </a:xfrm>
          <a:prstGeom prst="rect">
            <a:avLst/>
          </a:prstGeom>
        </p:spPr>
        <p:txBody>
          <a:bodyPr vert="horz" lIns="91440" tIns="45720" rIns="91440" bIns="45720" rtlCol="0">
            <a:noAutofit/>
          </a:bodyPr>
          <a:lstStyle>
            <a:lvl1pPr marL="342900" indent="-342900" algn="l" defTabSz="914400" rtl="0" eaLnBrk="1" latinLnBrk="0" hangingPunct="1">
              <a:spcBef>
                <a:spcPts val="2000"/>
              </a:spcBef>
              <a:buClr>
                <a:schemeClr val="accent1"/>
              </a:buClr>
              <a:buFont typeface="Wingdings 2" pitchFamily="18" charset="2"/>
              <a:buChar char=""/>
              <a:defRPr sz="2000" kern="1200">
                <a:solidFill>
                  <a:schemeClr val="tx1">
                    <a:lumMod val="65000"/>
                    <a:lumOff val="35000"/>
                  </a:schemeClr>
                </a:solidFill>
                <a:latin typeface="+mn-lt"/>
                <a:ea typeface="+mn-ea"/>
                <a:cs typeface="+mn-cs"/>
              </a:defRPr>
            </a:lvl1pPr>
            <a:lvl2pPr marL="6858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2pPr>
            <a:lvl3pPr marL="10350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3pPr>
            <a:lvl4pPr marL="13716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4pPr>
            <a:lvl5pPr marL="17208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5pPr>
            <a:lvl6pPr marL="2055813"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6pPr>
            <a:lvl7pPr marL="2398713" indent="-344488" algn="l" defTabSz="914400" rtl="0" eaLnBrk="1" latinLnBrk="0" hangingPunct="1">
              <a:spcBef>
                <a:spcPct val="20000"/>
              </a:spcBef>
              <a:buClr>
                <a:schemeClr val="accent1"/>
              </a:buClr>
              <a:buFont typeface="Wingdings 2" pitchFamily="18" charset="2"/>
              <a:buChar char=""/>
              <a:defRPr lang="en-US" sz="1800" kern="1200" dirty="0" smtClean="0">
                <a:solidFill>
                  <a:schemeClr val="tx1">
                    <a:lumMod val="65000"/>
                    <a:lumOff val="35000"/>
                  </a:schemeClr>
                </a:solidFill>
                <a:latin typeface="+mn-lt"/>
                <a:ea typeface="+mn-ea"/>
                <a:cs typeface="+mn-cs"/>
              </a:defRPr>
            </a:lvl7pPr>
            <a:lvl8pPr marL="2743200"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8pPr>
            <a:lvl9pPr marL="3087688" indent="-344488" algn="l" defTabSz="914400" rtl="0" eaLnBrk="1" latinLnBrk="0" hangingPunct="1">
              <a:spcBef>
                <a:spcPct val="20000"/>
              </a:spcBef>
              <a:buClr>
                <a:schemeClr val="accent1"/>
              </a:buClr>
              <a:buFont typeface="Wingdings 2" pitchFamily="18" charset="2"/>
              <a:buChar char=""/>
              <a:defRPr lang="en-US" sz="1800" kern="1200" dirty="0">
                <a:solidFill>
                  <a:schemeClr val="tx1">
                    <a:lumMod val="65000"/>
                    <a:lumOff val="35000"/>
                  </a:schemeClr>
                </a:solidFill>
                <a:latin typeface="+mn-lt"/>
                <a:ea typeface="+mn-ea"/>
                <a:cs typeface="+mn-cs"/>
              </a:defRPr>
            </a:lvl9pPr>
          </a:lstStyle>
          <a:p>
            <a:pPr marL="0" indent="0" algn="just">
              <a:buNone/>
            </a:pPr>
            <a:r>
              <a:rPr lang="es-ES"/>
              <a:t>CO= 5%</a:t>
            </a:r>
          </a:p>
        </p:txBody>
      </p:sp>
      <p:sp>
        <p:nvSpPr>
          <p:cNvPr id="14" name="Rectángulo 13">
            <a:extLst>
              <a:ext uri="{FF2B5EF4-FFF2-40B4-BE49-F238E27FC236}">
                <a16:creationId xmlns:a16="http://schemas.microsoft.com/office/drawing/2014/main" id="{5463620F-EC1F-7D89-BE0A-CC7F43CA736A}"/>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23" name="Picture 2" descr="Clientes y aliados | Centro de Evaluación | Uniandes">
            <a:extLst>
              <a:ext uri="{FF2B5EF4-FFF2-40B4-BE49-F238E27FC236}">
                <a16:creationId xmlns:a16="http://schemas.microsoft.com/office/drawing/2014/main" id="{D64BF077-89AC-7AF8-55AE-D2EF90F8B13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25" name="Rectángulo 24">
            <a:extLst>
              <a:ext uri="{FF2B5EF4-FFF2-40B4-BE49-F238E27FC236}">
                <a16:creationId xmlns:a16="http://schemas.microsoft.com/office/drawing/2014/main" id="{4B63CEA3-D378-37A0-149D-F9B52DA5A04C}"/>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30" name="Título 1">
            <a:extLst>
              <a:ext uri="{FF2B5EF4-FFF2-40B4-BE49-F238E27FC236}">
                <a16:creationId xmlns:a16="http://schemas.microsoft.com/office/drawing/2014/main" id="{D069220C-653D-10EB-5984-D2B5DB7D6C48}"/>
              </a:ext>
            </a:extLst>
          </p:cNvPr>
          <p:cNvSpPr>
            <a:spLocks noGrp="1"/>
          </p:cNvSpPr>
          <p:nvPr>
            <p:ph type="title"/>
          </p:nvPr>
        </p:nvSpPr>
        <p:spPr>
          <a:xfrm>
            <a:off x="581192" y="702156"/>
            <a:ext cx="11029616" cy="1013800"/>
          </a:xfrm>
        </p:spPr>
        <p:txBody>
          <a:bodyPr>
            <a:normAutofit fontScale="90000"/>
          </a:bodyPr>
          <a:lstStyle/>
          <a:p>
            <a:r>
              <a:rPr lang="es-ES" sz="3200">
                <a:latin typeface="Century Gothic" panose="020B0502020202020204" pitchFamily="34" charset="0"/>
              </a:rPr>
              <a:t>Relaciones de equivalencia con varios costos de oportunidad</a:t>
            </a:r>
          </a:p>
        </p:txBody>
      </p:sp>
    </p:spTree>
    <p:extLst>
      <p:ext uri="{BB962C8B-B14F-4D97-AF65-F5344CB8AC3E}">
        <p14:creationId xmlns:p14="http://schemas.microsoft.com/office/powerpoint/2010/main" val="83557561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Content Placeholder 2">
            <a:extLst>
              <a:ext uri="{FF2B5EF4-FFF2-40B4-BE49-F238E27FC236}">
                <a16:creationId xmlns:a16="http://schemas.microsoft.com/office/drawing/2014/main" id="{A867B502-4F79-5DC0-BEDB-E071DFDE4C7E}"/>
              </a:ext>
            </a:extLst>
          </p:cNvPr>
          <p:cNvSpPr>
            <a:spLocks noGrp="1"/>
          </p:cNvSpPr>
          <p:nvPr>
            <p:ph idx="1"/>
          </p:nvPr>
        </p:nvSpPr>
        <p:spPr>
          <a:xfrm>
            <a:off x="2181700" y="5528297"/>
            <a:ext cx="7610476" cy="922553"/>
          </a:xfrm>
        </p:spPr>
        <p:txBody>
          <a:bodyPr>
            <a:normAutofit/>
          </a:bodyPr>
          <a:lstStyle/>
          <a:p>
            <a:pPr marL="0" indent="0" algn="ctr">
              <a:buNone/>
            </a:pPr>
            <a:r>
              <a:rPr lang="es-ES" sz="2400"/>
              <a:t>¿Como se halla el VP (t=0) de estos flujos?</a:t>
            </a:r>
          </a:p>
        </p:txBody>
      </p:sp>
      <p:sp>
        <p:nvSpPr>
          <p:cNvPr id="4" name="Slide Number Placeholder 3"/>
          <p:cNvSpPr>
            <a:spLocks noGrp="1"/>
          </p:cNvSpPr>
          <p:nvPr>
            <p:ph type="sldNum" sz="quarter" idx="12"/>
          </p:nvPr>
        </p:nvSpPr>
        <p:spPr/>
        <p:txBody>
          <a:bodyPr/>
          <a:lstStyle/>
          <a:p>
            <a:fld id="{5E3E23BA-6E79-2442-BA73-D218A5E297C3}" type="slidenum">
              <a:rPr lang="en-US" smtClean="0"/>
              <a:t>76</a:t>
            </a:fld>
            <a:endParaRPr lang="en-US"/>
          </a:p>
        </p:txBody>
      </p:sp>
      <p:cxnSp>
        <p:nvCxnSpPr>
          <p:cNvPr id="6" name="Straight Connector 6"/>
          <p:cNvCxnSpPr/>
          <p:nvPr/>
        </p:nvCxnSpPr>
        <p:spPr>
          <a:xfrm flipV="1">
            <a:off x="2800464" y="4182733"/>
            <a:ext cx="6372951" cy="12001"/>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 name="Straight Arrow Connector 9"/>
          <p:cNvCxnSpPr>
            <a:cxnSpLocks/>
          </p:cNvCxnSpPr>
          <p:nvPr/>
        </p:nvCxnSpPr>
        <p:spPr>
          <a:xfrm flipV="1">
            <a:off x="7885828" y="3878327"/>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8" name="Rectangle 35"/>
          <p:cNvSpPr>
            <a:spLocks/>
          </p:cNvSpPr>
          <p:nvPr/>
        </p:nvSpPr>
        <p:spPr bwMode="auto">
          <a:xfrm>
            <a:off x="2736342" y="4190014"/>
            <a:ext cx="12824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0</a:t>
            </a:r>
          </a:p>
        </p:txBody>
      </p:sp>
      <p:sp>
        <p:nvSpPr>
          <p:cNvPr id="9" name="Rectangle 36"/>
          <p:cNvSpPr>
            <a:spLocks/>
          </p:cNvSpPr>
          <p:nvPr/>
        </p:nvSpPr>
        <p:spPr bwMode="auto">
          <a:xfrm>
            <a:off x="3549627" y="4165185"/>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a:t>
            </a:r>
          </a:p>
        </p:txBody>
      </p:sp>
      <p:sp>
        <p:nvSpPr>
          <p:cNvPr id="10" name="Rectangle 37"/>
          <p:cNvSpPr>
            <a:spLocks/>
          </p:cNvSpPr>
          <p:nvPr/>
        </p:nvSpPr>
        <p:spPr bwMode="auto">
          <a:xfrm>
            <a:off x="4638115" y="4165185"/>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2</a:t>
            </a:r>
          </a:p>
        </p:txBody>
      </p:sp>
      <p:sp>
        <p:nvSpPr>
          <p:cNvPr id="11" name="Rectangle 38"/>
          <p:cNvSpPr>
            <a:spLocks/>
          </p:cNvSpPr>
          <p:nvPr/>
        </p:nvSpPr>
        <p:spPr bwMode="auto">
          <a:xfrm>
            <a:off x="5697589" y="4179142"/>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3</a:t>
            </a:r>
          </a:p>
        </p:txBody>
      </p:sp>
      <p:sp>
        <p:nvSpPr>
          <p:cNvPr id="12" name="Rectangle 39"/>
          <p:cNvSpPr>
            <a:spLocks/>
          </p:cNvSpPr>
          <p:nvPr/>
        </p:nvSpPr>
        <p:spPr bwMode="auto">
          <a:xfrm>
            <a:off x="6703451" y="4195599"/>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4</a:t>
            </a:r>
          </a:p>
        </p:txBody>
      </p:sp>
      <p:sp>
        <p:nvSpPr>
          <p:cNvPr id="13" name="Rectangle 40"/>
          <p:cNvSpPr>
            <a:spLocks/>
          </p:cNvSpPr>
          <p:nvPr/>
        </p:nvSpPr>
        <p:spPr bwMode="auto">
          <a:xfrm>
            <a:off x="7776880" y="4165185"/>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5</a:t>
            </a:r>
          </a:p>
        </p:txBody>
      </p:sp>
      <p:sp>
        <p:nvSpPr>
          <p:cNvPr id="15" name="Rectangle 35"/>
          <p:cNvSpPr>
            <a:spLocks/>
          </p:cNvSpPr>
          <p:nvPr/>
        </p:nvSpPr>
        <p:spPr bwMode="auto">
          <a:xfrm>
            <a:off x="7828122" y="3578341"/>
            <a:ext cx="113814"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5</a:t>
            </a:r>
          </a:p>
        </p:txBody>
      </p:sp>
      <p:sp>
        <p:nvSpPr>
          <p:cNvPr id="17" name="Rectangle 35"/>
          <p:cNvSpPr>
            <a:spLocks/>
          </p:cNvSpPr>
          <p:nvPr/>
        </p:nvSpPr>
        <p:spPr bwMode="auto">
          <a:xfrm>
            <a:off x="6716329" y="3295402"/>
            <a:ext cx="256481"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10</a:t>
            </a:r>
          </a:p>
        </p:txBody>
      </p:sp>
      <p:sp>
        <p:nvSpPr>
          <p:cNvPr id="18" name="Rectangle 35"/>
          <p:cNvSpPr>
            <a:spLocks/>
          </p:cNvSpPr>
          <p:nvPr/>
        </p:nvSpPr>
        <p:spPr bwMode="auto">
          <a:xfrm>
            <a:off x="5734825" y="3014162"/>
            <a:ext cx="256481"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15</a:t>
            </a:r>
          </a:p>
        </p:txBody>
      </p:sp>
      <p:sp>
        <p:nvSpPr>
          <p:cNvPr id="19" name="Rectangle 35"/>
          <p:cNvSpPr>
            <a:spLocks/>
          </p:cNvSpPr>
          <p:nvPr/>
        </p:nvSpPr>
        <p:spPr bwMode="auto">
          <a:xfrm>
            <a:off x="4672030" y="2753036"/>
            <a:ext cx="256481"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20</a:t>
            </a:r>
          </a:p>
        </p:txBody>
      </p:sp>
      <p:sp>
        <p:nvSpPr>
          <p:cNvPr id="20" name="Rectangle 35"/>
          <p:cNvSpPr>
            <a:spLocks/>
          </p:cNvSpPr>
          <p:nvPr/>
        </p:nvSpPr>
        <p:spPr bwMode="auto">
          <a:xfrm>
            <a:off x="3586333" y="2108128"/>
            <a:ext cx="256481"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25</a:t>
            </a:r>
          </a:p>
        </p:txBody>
      </p:sp>
      <p:cxnSp>
        <p:nvCxnSpPr>
          <p:cNvPr id="21" name="Straight Arrow Connector 9"/>
          <p:cNvCxnSpPr/>
          <p:nvPr/>
        </p:nvCxnSpPr>
        <p:spPr>
          <a:xfrm flipV="1">
            <a:off x="6830691" y="3694117"/>
            <a:ext cx="0" cy="497850"/>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27" name="Straight Arrow Connector 9"/>
          <p:cNvCxnSpPr/>
          <p:nvPr/>
        </p:nvCxnSpPr>
        <p:spPr>
          <a:xfrm flipV="1">
            <a:off x="4798769" y="3108035"/>
            <a:ext cx="0" cy="1086699"/>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28" name="Straight Arrow Connector 9"/>
          <p:cNvCxnSpPr/>
          <p:nvPr/>
        </p:nvCxnSpPr>
        <p:spPr>
          <a:xfrm flipV="1">
            <a:off x="5863065" y="3335616"/>
            <a:ext cx="0" cy="827987"/>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32" name="Straight Arrow Connector 9"/>
          <p:cNvCxnSpPr/>
          <p:nvPr/>
        </p:nvCxnSpPr>
        <p:spPr>
          <a:xfrm flipV="1">
            <a:off x="3714573" y="2530658"/>
            <a:ext cx="0" cy="1670003"/>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3" name="Abrir llave 2">
            <a:extLst>
              <a:ext uri="{FF2B5EF4-FFF2-40B4-BE49-F238E27FC236}">
                <a16:creationId xmlns:a16="http://schemas.microsoft.com/office/drawing/2014/main" id="{71009633-4C17-1DAF-1FB8-EDAD253E2DDE}"/>
              </a:ext>
            </a:extLst>
          </p:cNvPr>
          <p:cNvSpPr/>
          <p:nvPr/>
        </p:nvSpPr>
        <p:spPr>
          <a:xfrm rot="16200000">
            <a:off x="4646837" y="3582538"/>
            <a:ext cx="288632" cy="2371452"/>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s-CO" sz="2000"/>
          </a:p>
        </p:txBody>
      </p:sp>
      <p:sp>
        <p:nvSpPr>
          <p:cNvPr id="16" name="Abrir llave 15">
            <a:extLst>
              <a:ext uri="{FF2B5EF4-FFF2-40B4-BE49-F238E27FC236}">
                <a16:creationId xmlns:a16="http://schemas.microsoft.com/office/drawing/2014/main" id="{D5387356-A9DC-6482-438B-73F02B437AC1}"/>
              </a:ext>
            </a:extLst>
          </p:cNvPr>
          <p:cNvSpPr/>
          <p:nvPr/>
        </p:nvSpPr>
        <p:spPr>
          <a:xfrm rot="16200000">
            <a:off x="7317269" y="4107532"/>
            <a:ext cx="246220" cy="1347123"/>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s-CO" sz="2000"/>
          </a:p>
        </p:txBody>
      </p:sp>
      <p:sp>
        <p:nvSpPr>
          <p:cNvPr id="22" name="Content Placeholder 2">
            <a:extLst>
              <a:ext uri="{FF2B5EF4-FFF2-40B4-BE49-F238E27FC236}">
                <a16:creationId xmlns:a16="http://schemas.microsoft.com/office/drawing/2014/main" id="{02F72702-765B-85C6-FBC4-819F2A849BDB}"/>
              </a:ext>
            </a:extLst>
          </p:cNvPr>
          <p:cNvSpPr txBox="1">
            <a:spLocks/>
          </p:cNvSpPr>
          <p:nvPr/>
        </p:nvSpPr>
        <p:spPr>
          <a:xfrm>
            <a:off x="4227997" y="4983284"/>
            <a:ext cx="2162244" cy="365126"/>
          </a:xfrm>
          <a:prstGeom prst="rect">
            <a:avLst/>
          </a:prstGeom>
        </p:spPr>
        <p:txBody>
          <a:bodyPr vert="horz" lIns="91440" tIns="45720" rIns="91440" bIns="45720" rtlCol="0">
            <a:noAutofit/>
          </a:bodyPr>
          <a:lstStyle>
            <a:lvl1pPr marL="342900" indent="-342900" algn="l" defTabSz="914400" rtl="0" eaLnBrk="1" latinLnBrk="0" hangingPunct="1">
              <a:spcBef>
                <a:spcPts val="2000"/>
              </a:spcBef>
              <a:buClr>
                <a:schemeClr val="accent1"/>
              </a:buClr>
              <a:buFont typeface="Wingdings 2" pitchFamily="18" charset="2"/>
              <a:buChar char=""/>
              <a:defRPr sz="2000" kern="1200">
                <a:solidFill>
                  <a:schemeClr val="tx1">
                    <a:lumMod val="65000"/>
                    <a:lumOff val="35000"/>
                  </a:schemeClr>
                </a:solidFill>
                <a:latin typeface="+mn-lt"/>
                <a:ea typeface="+mn-ea"/>
                <a:cs typeface="+mn-cs"/>
              </a:defRPr>
            </a:lvl1pPr>
            <a:lvl2pPr marL="6858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2pPr>
            <a:lvl3pPr marL="10350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3pPr>
            <a:lvl4pPr marL="13716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4pPr>
            <a:lvl5pPr marL="17208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5pPr>
            <a:lvl6pPr marL="2055813"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6pPr>
            <a:lvl7pPr marL="2398713" indent="-344488" algn="l" defTabSz="914400" rtl="0" eaLnBrk="1" latinLnBrk="0" hangingPunct="1">
              <a:spcBef>
                <a:spcPct val="20000"/>
              </a:spcBef>
              <a:buClr>
                <a:schemeClr val="accent1"/>
              </a:buClr>
              <a:buFont typeface="Wingdings 2" pitchFamily="18" charset="2"/>
              <a:buChar char=""/>
              <a:defRPr lang="en-US" sz="1800" kern="1200" dirty="0" smtClean="0">
                <a:solidFill>
                  <a:schemeClr val="tx1">
                    <a:lumMod val="65000"/>
                    <a:lumOff val="35000"/>
                  </a:schemeClr>
                </a:solidFill>
                <a:latin typeface="+mn-lt"/>
                <a:ea typeface="+mn-ea"/>
                <a:cs typeface="+mn-cs"/>
              </a:defRPr>
            </a:lvl7pPr>
            <a:lvl8pPr marL="2743200"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8pPr>
            <a:lvl9pPr marL="3087688" indent="-344488" algn="l" defTabSz="914400" rtl="0" eaLnBrk="1" latinLnBrk="0" hangingPunct="1">
              <a:spcBef>
                <a:spcPct val="20000"/>
              </a:spcBef>
              <a:buClr>
                <a:schemeClr val="accent1"/>
              </a:buClr>
              <a:buFont typeface="Wingdings 2" pitchFamily="18" charset="2"/>
              <a:buChar char=""/>
              <a:defRPr lang="en-US" sz="1800" kern="1200" dirty="0">
                <a:solidFill>
                  <a:schemeClr val="tx1">
                    <a:lumMod val="65000"/>
                    <a:lumOff val="35000"/>
                  </a:schemeClr>
                </a:solidFill>
                <a:latin typeface="+mn-lt"/>
                <a:ea typeface="+mn-ea"/>
                <a:cs typeface="+mn-cs"/>
              </a:defRPr>
            </a:lvl9pPr>
          </a:lstStyle>
          <a:p>
            <a:pPr marL="0" indent="0" algn="just">
              <a:buNone/>
            </a:pPr>
            <a:r>
              <a:rPr lang="es-ES"/>
              <a:t>CO= 10%</a:t>
            </a:r>
          </a:p>
        </p:txBody>
      </p:sp>
      <p:sp>
        <p:nvSpPr>
          <p:cNvPr id="24" name="Content Placeholder 2">
            <a:extLst>
              <a:ext uri="{FF2B5EF4-FFF2-40B4-BE49-F238E27FC236}">
                <a16:creationId xmlns:a16="http://schemas.microsoft.com/office/drawing/2014/main" id="{7974454A-7C7C-2F88-A8DA-A9C97CA71849}"/>
              </a:ext>
            </a:extLst>
          </p:cNvPr>
          <p:cNvSpPr txBox="1">
            <a:spLocks/>
          </p:cNvSpPr>
          <p:nvPr/>
        </p:nvSpPr>
        <p:spPr>
          <a:xfrm>
            <a:off x="6804706" y="4953121"/>
            <a:ext cx="2162244" cy="365126"/>
          </a:xfrm>
          <a:prstGeom prst="rect">
            <a:avLst/>
          </a:prstGeom>
        </p:spPr>
        <p:txBody>
          <a:bodyPr vert="horz" lIns="91440" tIns="45720" rIns="91440" bIns="45720" rtlCol="0">
            <a:noAutofit/>
          </a:bodyPr>
          <a:lstStyle>
            <a:lvl1pPr marL="342900" indent="-342900" algn="l" defTabSz="914400" rtl="0" eaLnBrk="1" latinLnBrk="0" hangingPunct="1">
              <a:spcBef>
                <a:spcPts val="2000"/>
              </a:spcBef>
              <a:buClr>
                <a:schemeClr val="accent1"/>
              </a:buClr>
              <a:buFont typeface="Wingdings 2" pitchFamily="18" charset="2"/>
              <a:buChar char=""/>
              <a:defRPr sz="2000" kern="1200">
                <a:solidFill>
                  <a:schemeClr val="tx1">
                    <a:lumMod val="65000"/>
                    <a:lumOff val="35000"/>
                  </a:schemeClr>
                </a:solidFill>
                <a:latin typeface="+mn-lt"/>
                <a:ea typeface="+mn-ea"/>
                <a:cs typeface="+mn-cs"/>
              </a:defRPr>
            </a:lvl1pPr>
            <a:lvl2pPr marL="6858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2pPr>
            <a:lvl3pPr marL="10350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3pPr>
            <a:lvl4pPr marL="13716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4pPr>
            <a:lvl5pPr marL="17208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5pPr>
            <a:lvl6pPr marL="2055813"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6pPr>
            <a:lvl7pPr marL="2398713" indent="-344488" algn="l" defTabSz="914400" rtl="0" eaLnBrk="1" latinLnBrk="0" hangingPunct="1">
              <a:spcBef>
                <a:spcPct val="20000"/>
              </a:spcBef>
              <a:buClr>
                <a:schemeClr val="accent1"/>
              </a:buClr>
              <a:buFont typeface="Wingdings 2" pitchFamily="18" charset="2"/>
              <a:buChar char=""/>
              <a:defRPr lang="en-US" sz="1800" kern="1200" dirty="0" smtClean="0">
                <a:solidFill>
                  <a:schemeClr val="tx1">
                    <a:lumMod val="65000"/>
                    <a:lumOff val="35000"/>
                  </a:schemeClr>
                </a:solidFill>
                <a:latin typeface="+mn-lt"/>
                <a:ea typeface="+mn-ea"/>
                <a:cs typeface="+mn-cs"/>
              </a:defRPr>
            </a:lvl7pPr>
            <a:lvl8pPr marL="2743200"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8pPr>
            <a:lvl9pPr marL="3087688" indent="-344488" algn="l" defTabSz="914400" rtl="0" eaLnBrk="1" latinLnBrk="0" hangingPunct="1">
              <a:spcBef>
                <a:spcPct val="20000"/>
              </a:spcBef>
              <a:buClr>
                <a:schemeClr val="accent1"/>
              </a:buClr>
              <a:buFont typeface="Wingdings 2" pitchFamily="18" charset="2"/>
              <a:buChar char=""/>
              <a:defRPr lang="en-US" sz="1800" kern="1200" dirty="0">
                <a:solidFill>
                  <a:schemeClr val="tx1">
                    <a:lumMod val="65000"/>
                    <a:lumOff val="35000"/>
                  </a:schemeClr>
                </a:solidFill>
                <a:latin typeface="+mn-lt"/>
                <a:ea typeface="+mn-ea"/>
                <a:cs typeface="+mn-cs"/>
              </a:defRPr>
            </a:lvl9pPr>
          </a:lstStyle>
          <a:p>
            <a:pPr marL="0" indent="0" algn="just">
              <a:buNone/>
            </a:pPr>
            <a:r>
              <a:rPr lang="es-ES"/>
              <a:t>CO= 5%</a:t>
            </a:r>
          </a:p>
        </p:txBody>
      </p:sp>
      <p:sp>
        <p:nvSpPr>
          <p:cNvPr id="14" name="Rectángulo 13">
            <a:extLst>
              <a:ext uri="{FF2B5EF4-FFF2-40B4-BE49-F238E27FC236}">
                <a16:creationId xmlns:a16="http://schemas.microsoft.com/office/drawing/2014/main" id="{5B958E5E-0B7B-1800-8F99-A4173733AB33}"/>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25" name="Picture 2" descr="Clientes y aliados | Centro de Evaluación | Uniandes">
            <a:extLst>
              <a:ext uri="{FF2B5EF4-FFF2-40B4-BE49-F238E27FC236}">
                <a16:creationId xmlns:a16="http://schemas.microsoft.com/office/drawing/2014/main" id="{A152346A-75FB-E69B-353A-F292DC2F922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26" name="Rectángulo 25">
            <a:extLst>
              <a:ext uri="{FF2B5EF4-FFF2-40B4-BE49-F238E27FC236}">
                <a16:creationId xmlns:a16="http://schemas.microsoft.com/office/drawing/2014/main" id="{7E0587F7-10E4-2248-B6D0-25A9E477776F}"/>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33" name="Título 1">
            <a:extLst>
              <a:ext uri="{FF2B5EF4-FFF2-40B4-BE49-F238E27FC236}">
                <a16:creationId xmlns:a16="http://schemas.microsoft.com/office/drawing/2014/main" id="{9AB66699-C348-A27F-8D98-2615CB83D358}"/>
              </a:ext>
            </a:extLst>
          </p:cNvPr>
          <p:cNvSpPr>
            <a:spLocks noGrp="1"/>
          </p:cNvSpPr>
          <p:nvPr>
            <p:ph type="title"/>
          </p:nvPr>
        </p:nvSpPr>
        <p:spPr>
          <a:xfrm>
            <a:off x="581192" y="702156"/>
            <a:ext cx="11029616" cy="1013800"/>
          </a:xfrm>
        </p:spPr>
        <p:txBody>
          <a:bodyPr>
            <a:normAutofit fontScale="90000"/>
          </a:bodyPr>
          <a:lstStyle/>
          <a:p>
            <a:r>
              <a:rPr lang="es-ES" sz="3200">
                <a:latin typeface="Century Gothic" panose="020B0502020202020204" pitchFamily="34" charset="0"/>
              </a:rPr>
              <a:t>Relaciones de equivalencia con varios costos de oportunidad</a:t>
            </a:r>
          </a:p>
        </p:txBody>
      </p:sp>
    </p:spTree>
    <p:extLst>
      <p:ext uri="{BB962C8B-B14F-4D97-AF65-F5344CB8AC3E}">
        <p14:creationId xmlns:p14="http://schemas.microsoft.com/office/powerpoint/2010/main" val="2003900263"/>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Content Placeholder 2">
            <a:extLst>
              <a:ext uri="{FF2B5EF4-FFF2-40B4-BE49-F238E27FC236}">
                <a16:creationId xmlns:a16="http://schemas.microsoft.com/office/drawing/2014/main" id="{A867B502-4F79-5DC0-BEDB-E071DFDE4C7E}"/>
              </a:ext>
            </a:extLst>
          </p:cNvPr>
          <p:cNvSpPr>
            <a:spLocks noGrp="1"/>
          </p:cNvSpPr>
          <p:nvPr>
            <p:ph idx="1"/>
          </p:nvPr>
        </p:nvSpPr>
        <p:spPr>
          <a:xfrm>
            <a:off x="641965" y="5528297"/>
            <a:ext cx="10908070" cy="922553"/>
          </a:xfrm>
        </p:spPr>
        <p:txBody>
          <a:bodyPr>
            <a:normAutofit/>
          </a:bodyPr>
          <a:lstStyle/>
          <a:p>
            <a:pPr marL="0" indent="0" algn="ctr">
              <a:buNone/>
            </a:pPr>
            <a:r>
              <a:rPr lang="es-ES" sz="2400"/>
              <a:t>Se llevan los flujos cobijados por la ultima tasa al periodo anterior de donde comienza dicha tasa. En este caso al periodo 3.</a:t>
            </a:r>
          </a:p>
        </p:txBody>
      </p:sp>
      <p:sp>
        <p:nvSpPr>
          <p:cNvPr id="4" name="Slide Number Placeholder 3"/>
          <p:cNvSpPr>
            <a:spLocks noGrp="1"/>
          </p:cNvSpPr>
          <p:nvPr>
            <p:ph type="sldNum" sz="quarter" idx="12"/>
          </p:nvPr>
        </p:nvSpPr>
        <p:spPr/>
        <p:txBody>
          <a:bodyPr/>
          <a:lstStyle/>
          <a:p>
            <a:fld id="{5E3E23BA-6E79-2442-BA73-D218A5E297C3}" type="slidenum">
              <a:rPr lang="en-US" smtClean="0"/>
              <a:t>77</a:t>
            </a:fld>
            <a:endParaRPr lang="en-US"/>
          </a:p>
        </p:txBody>
      </p:sp>
      <p:cxnSp>
        <p:nvCxnSpPr>
          <p:cNvPr id="6" name="Straight Connector 6"/>
          <p:cNvCxnSpPr/>
          <p:nvPr/>
        </p:nvCxnSpPr>
        <p:spPr>
          <a:xfrm flipV="1">
            <a:off x="2800464" y="4182733"/>
            <a:ext cx="6372951" cy="12001"/>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 name="Straight Arrow Connector 9"/>
          <p:cNvCxnSpPr>
            <a:cxnSpLocks/>
          </p:cNvCxnSpPr>
          <p:nvPr/>
        </p:nvCxnSpPr>
        <p:spPr>
          <a:xfrm flipV="1">
            <a:off x="7885828" y="3878327"/>
            <a:ext cx="0" cy="29594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8" name="Rectangle 35"/>
          <p:cNvSpPr>
            <a:spLocks/>
          </p:cNvSpPr>
          <p:nvPr/>
        </p:nvSpPr>
        <p:spPr bwMode="auto">
          <a:xfrm>
            <a:off x="2736342" y="4190014"/>
            <a:ext cx="12824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0</a:t>
            </a:r>
          </a:p>
        </p:txBody>
      </p:sp>
      <p:sp>
        <p:nvSpPr>
          <p:cNvPr id="9" name="Rectangle 36"/>
          <p:cNvSpPr>
            <a:spLocks/>
          </p:cNvSpPr>
          <p:nvPr/>
        </p:nvSpPr>
        <p:spPr bwMode="auto">
          <a:xfrm>
            <a:off x="3549627" y="4165185"/>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a:t>
            </a:r>
          </a:p>
        </p:txBody>
      </p:sp>
      <p:sp>
        <p:nvSpPr>
          <p:cNvPr id="10" name="Rectangle 37"/>
          <p:cNvSpPr>
            <a:spLocks/>
          </p:cNvSpPr>
          <p:nvPr/>
        </p:nvSpPr>
        <p:spPr bwMode="auto">
          <a:xfrm>
            <a:off x="4638115" y="4165185"/>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2</a:t>
            </a:r>
          </a:p>
        </p:txBody>
      </p:sp>
      <p:sp>
        <p:nvSpPr>
          <p:cNvPr id="11" name="Rectangle 38"/>
          <p:cNvSpPr>
            <a:spLocks/>
          </p:cNvSpPr>
          <p:nvPr/>
        </p:nvSpPr>
        <p:spPr bwMode="auto">
          <a:xfrm>
            <a:off x="5697589" y="4179142"/>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3</a:t>
            </a:r>
          </a:p>
        </p:txBody>
      </p:sp>
      <p:sp>
        <p:nvSpPr>
          <p:cNvPr id="12" name="Rectangle 39"/>
          <p:cNvSpPr>
            <a:spLocks/>
          </p:cNvSpPr>
          <p:nvPr/>
        </p:nvSpPr>
        <p:spPr bwMode="auto">
          <a:xfrm>
            <a:off x="6703451" y="4195599"/>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4</a:t>
            </a:r>
          </a:p>
        </p:txBody>
      </p:sp>
      <p:sp>
        <p:nvSpPr>
          <p:cNvPr id="13" name="Rectangle 40"/>
          <p:cNvSpPr>
            <a:spLocks/>
          </p:cNvSpPr>
          <p:nvPr/>
        </p:nvSpPr>
        <p:spPr bwMode="auto">
          <a:xfrm>
            <a:off x="7776880" y="4165185"/>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5</a:t>
            </a:r>
          </a:p>
        </p:txBody>
      </p:sp>
      <p:sp>
        <p:nvSpPr>
          <p:cNvPr id="15" name="Rectangle 35"/>
          <p:cNvSpPr>
            <a:spLocks/>
          </p:cNvSpPr>
          <p:nvPr/>
        </p:nvSpPr>
        <p:spPr bwMode="auto">
          <a:xfrm>
            <a:off x="7828122" y="3578341"/>
            <a:ext cx="113814"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5</a:t>
            </a:r>
          </a:p>
        </p:txBody>
      </p:sp>
      <p:sp>
        <p:nvSpPr>
          <p:cNvPr id="17" name="Rectangle 35"/>
          <p:cNvSpPr>
            <a:spLocks/>
          </p:cNvSpPr>
          <p:nvPr/>
        </p:nvSpPr>
        <p:spPr bwMode="auto">
          <a:xfrm>
            <a:off x="6716329" y="3295402"/>
            <a:ext cx="256481"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10</a:t>
            </a:r>
          </a:p>
        </p:txBody>
      </p:sp>
      <p:sp>
        <p:nvSpPr>
          <p:cNvPr id="18" name="Rectangle 35"/>
          <p:cNvSpPr>
            <a:spLocks/>
          </p:cNvSpPr>
          <p:nvPr/>
        </p:nvSpPr>
        <p:spPr bwMode="auto">
          <a:xfrm>
            <a:off x="5734825" y="3014162"/>
            <a:ext cx="256481"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15</a:t>
            </a:r>
          </a:p>
        </p:txBody>
      </p:sp>
      <p:sp>
        <p:nvSpPr>
          <p:cNvPr id="19" name="Rectangle 35"/>
          <p:cNvSpPr>
            <a:spLocks/>
          </p:cNvSpPr>
          <p:nvPr/>
        </p:nvSpPr>
        <p:spPr bwMode="auto">
          <a:xfrm>
            <a:off x="4672030" y="2753036"/>
            <a:ext cx="256481"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20</a:t>
            </a:r>
          </a:p>
        </p:txBody>
      </p:sp>
      <p:sp>
        <p:nvSpPr>
          <p:cNvPr id="20" name="Rectangle 35"/>
          <p:cNvSpPr>
            <a:spLocks/>
          </p:cNvSpPr>
          <p:nvPr/>
        </p:nvSpPr>
        <p:spPr bwMode="auto">
          <a:xfrm>
            <a:off x="3586333" y="2108128"/>
            <a:ext cx="256481"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25</a:t>
            </a:r>
          </a:p>
        </p:txBody>
      </p:sp>
      <p:cxnSp>
        <p:nvCxnSpPr>
          <p:cNvPr id="21" name="Straight Arrow Connector 9"/>
          <p:cNvCxnSpPr/>
          <p:nvPr/>
        </p:nvCxnSpPr>
        <p:spPr>
          <a:xfrm flipV="1">
            <a:off x="6830691" y="3694117"/>
            <a:ext cx="0" cy="497850"/>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27" name="Straight Arrow Connector 9"/>
          <p:cNvCxnSpPr/>
          <p:nvPr/>
        </p:nvCxnSpPr>
        <p:spPr>
          <a:xfrm flipV="1">
            <a:off x="4798769" y="3108035"/>
            <a:ext cx="0" cy="1086699"/>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28" name="Straight Arrow Connector 9"/>
          <p:cNvCxnSpPr/>
          <p:nvPr/>
        </p:nvCxnSpPr>
        <p:spPr>
          <a:xfrm flipV="1">
            <a:off x="5863065" y="3335616"/>
            <a:ext cx="0" cy="827987"/>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32" name="Straight Arrow Connector 9"/>
          <p:cNvCxnSpPr/>
          <p:nvPr/>
        </p:nvCxnSpPr>
        <p:spPr>
          <a:xfrm flipV="1">
            <a:off x="3714573" y="2530658"/>
            <a:ext cx="0" cy="1670003"/>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3" name="Abrir llave 2">
            <a:extLst>
              <a:ext uri="{FF2B5EF4-FFF2-40B4-BE49-F238E27FC236}">
                <a16:creationId xmlns:a16="http://schemas.microsoft.com/office/drawing/2014/main" id="{71009633-4C17-1DAF-1FB8-EDAD253E2DDE}"/>
              </a:ext>
            </a:extLst>
          </p:cNvPr>
          <p:cNvSpPr/>
          <p:nvPr/>
        </p:nvSpPr>
        <p:spPr>
          <a:xfrm rot="16200000">
            <a:off x="4646837" y="3582538"/>
            <a:ext cx="288632" cy="2371452"/>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s-CO" sz="2000"/>
          </a:p>
        </p:txBody>
      </p:sp>
      <p:sp>
        <p:nvSpPr>
          <p:cNvPr id="16" name="Abrir llave 15">
            <a:extLst>
              <a:ext uri="{FF2B5EF4-FFF2-40B4-BE49-F238E27FC236}">
                <a16:creationId xmlns:a16="http://schemas.microsoft.com/office/drawing/2014/main" id="{D5387356-A9DC-6482-438B-73F02B437AC1}"/>
              </a:ext>
            </a:extLst>
          </p:cNvPr>
          <p:cNvSpPr/>
          <p:nvPr/>
        </p:nvSpPr>
        <p:spPr>
          <a:xfrm rot="16200000">
            <a:off x="7317269" y="4107532"/>
            <a:ext cx="246220" cy="1347123"/>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s-CO" sz="2000"/>
          </a:p>
        </p:txBody>
      </p:sp>
      <p:sp>
        <p:nvSpPr>
          <p:cNvPr id="22" name="Content Placeholder 2">
            <a:extLst>
              <a:ext uri="{FF2B5EF4-FFF2-40B4-BE49-F238E27FC236}">
                <a16:creationId xmlns:a16="http://schemas.microsoft.com/office/drawing/2014/main" id="{02F72702-765B-85C6-FBC4-819F2A849BDB}"/>
              </a:ext>
            </a:extLst>
          </p:cNvPr>
          <p:cNvSpPr txBox="1">
            <a:spLocks/>
          </p:cNvSpPr>
          <p:nvPr/>
        </p:nvSpPr>
        <p:spPr>
          <a:xfrm>
            <a:off x="4227997" y="4983284"/>
            <a:ext cx="2162244" cy="365126"/>
          </a:xfrm>
          <a:prstGeom prst="rect">
            <a:avLst/>
          </a:prstGeom>
        </p:spPr>
        <p:txBody>
          <a:bodyPr vert="horz" lIns="91440" tIns="45720" rIns="91440" bIns="45720" rtlCol="0">
            <a:noAutofit/>
          </a:bodyPr>
          <a:lstStyle>
            <a:lvl1pPr marL="342900" indent="-342900" algn="l" defTabSz="914400" rtl="0" eaLnBrk="1" latinLnBrk="0" hangingPunct="1">
              <a:spcBef>
                <a:spcPts val="2000"/>
              </a:spcBef>
              <a:buClr>
                <a:schemeClr val="accent1"/>
              </a:buClr>
              <a:buFont typeface="Wingdings 2" pitchFamily="18" charset="2"/>
              <a:buChar char=""/>
              <a:defRPr sz="2000" kern="1200">
                <a:solidFill>
                  <a:schemeClr val="tx1">
                    <a:lumMod val="65000"/>
                    <a:lumOff val="35000"/>
                  </a:schemeClr>
                </a:solidFill>
                <a:latin typeface="+mn-lt"/>
                <a:ea typeface="+mn-ea"/>
                <a:cs typeface="+mn-cs"/>
              </a:defRPr>
            </a:lvl1pPr>
            <a:lvl2pPr marL="6858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2pPr>
            <a:lvl3pPr marL="10350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3pPr>
            <a:lvl4pPr marL="13716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4pPr>
            <a:lvl5pPr marL="17208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5pPr>
            <a:lvl6pPr marL="2055813"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6pPr>
            <a:lvl7pPr marL="2398713" indent="-344488" algn="l" defTabSz="914400" rtl="0" eaLnBrk="1" latinLnBrk="0" hangingPunct="1">
              <a:spcBef>
                <a:spcPct val="20000"/>
              </a:spcBef>
              <a:buClr>
                <a:schemeClr val="accent1"/>
              </a:buClr>
              <a:buFont typeface="Wingdings 2" pitchFamily="18" charset="2"/>
              <a:buChar char=""/>
              <a:defRPr lang="en-US" sz="1800" kern="1200" dirty="0" smtClean="0">
                <a:solidFill>
                  <a:schemeClr val="tx1">
                    <a:lumMod val="65000"/>
                    <a:lumOff val="35000"/>
                  </a:schemeClr>
                </a:solidFill>
                <a:latin typeface="+mn-lt"/>
                <a:ea typeface="+mn-ea"/>
                <a:cs typeface="+mn-cs"/>
              </a:defRPr>
            </a:lvl7pPr>
            <a:lvl8pPr marL="2743200"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8pPr>
            <a:lvl9pPr marL="3087688" indent="-344488" algn="l" defTabSz="914400" rtl="0" eaLnBrk="1" latinLnBrk="0" hangingPunct="1">
              <a:spcBef>
                <a:spcPct val="20000"/>
              </a:spcBef>
              <a:buClr>
                <a:schemeClr val="accent1"/>
              </a:buClr>
              <a:buFont typeface="Wingdings 2" pitchFamily="18" charset="2"/>
              <a:buChar char=""/>
              <a:defRPr lang="en-US" sz="1800" kern="1200" dirty="0">
                <a:solidFill>
                  <a:schemeClr val="tx1">
                    <a:lumMod val="65000"/>
                    <a:lumOff val="35000"/>
                  </a:schemeClr>
                </a:solidFill>
                <a:latin typeface="+mn-lt"/>
                <a:ea typeface="+mn-ea"/>
                <a:cs typeface="+mn-cs"/>
              </a:defRPr>
            </a:lvl9pPr>
          </a:lstStyle>
          <a:p>
            <a:pPr marL="0" indent="0" algn="just">
              <a:buNone/>
            </a:pPr>
            <a:r>
              <a:rPr lang="es-ES"/>
              <a:t>CO= 10%</a:t>
            </a:r>
          </a:p>
        </p:txBody>
      </p:sp>
      <p:sp>
        <p:nvSpPr>
          <p:cNvPr id="24" name="Content Placeholder 2">
            <a:extLst>
              <a:ext uri="{FF2B5EF4-FFF2-40B4-BE49-F238E27FC236}">
                <a16:creationId xmlns:a16="http://schemas.microsoft.com/office/drawing/2014/main" id="{7974454A-7C7C-2F88-A8DA-A9C97CA71849}"/>
              </a:ext>
            </a:extLst>
          </p:cNvPr>
          <p:cNvSpPr txBox="1">
            <a:spLocks/>
          </p:cNvSpPr>
          <p:nvPr/>
        </p:nvSpPr>
        <p:spPr>
          <a:xfrm>
            <a:off x="6804706" y="4953121"/>
            <a:ext cx="2162244" cy="365126"/>
          </a:xfrm>
          <a:prstGeom prst="rect">
            <a:avLst/>
          </a:prstGeom>
        </p:spPr>
        <p:txBody>
          <a:bodyPr vert="horz" lIns="91440" tIns="45720" rIns="91440" bIns="45720" rtlCol="0">
            <a:noAutofit/>
          </a:bodyPr>
          <a:lstStyle>
            <a:lvl1pPr marL="342900" indent="-342900" algn="l" defTabSz="914400" rtl="0" eaLnBrk="1" latinLnBrk="0" hangingPunct="1">
              <a:spcBef>
                <a:spcPts val="2000"/>
              </a:spcBef>
              <a:buClr>
                <a:schemeClr val="accent1"/>
              </a:buClr>
              <a:buFont typeface="Wingdings 2" pitchFamily="18" charset="2"/>
              <a:buChar char=""/>
              <a:defRPr sz="2000" kern="1200">
                <a:solidFill>
                  <a:schemeClr val="tx1">
                    <a:lumMod val="65000"/>
                    <a:lumOff val="35000"/>
                  </a:schemeClr>
                </a:solidFill>
                <a:latin typeface="+mn-lt"/>
                <a:ea typeface="+mn-ea"/>
                <a:cs typeface="+mn-cs"/>
              </a:defRPr>
            </a:lvl1pPr>
            <a:lvl2pPr marL="6858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2pPr>
            <a:lvl3pPr marL="10350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3pPr>
            <a:lvl4pPr marL="13716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4pPr>
            <a:lvl5pPr marL="17208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5pPr>
            <a:lvl6pPr marL="2055813"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6pPr>
            <a:lvl7pPr marL="2398713" indent="-344488" algn="l" defTabSz="914400" rtl="0" eaLnBrk="1" latinLnBrk="0" hangingPunct="1">
              <a:spcBef>
                <a:spcPct val="20000"/>
              </a:spcBef>
              <a:buClr>
                <a:schemeClr val="accent1"/>
              </a:buClr>
              <a:buFont typeface="Wingdings 2" pitchFamily="18" charset="2"/>
              <a:buChar char=""/>
              <a:defRPr lang="en-US" sz="1800" kern="1200" dirty="0" smtClean="0">
                <a:solidFill>
                  <a:schemeClr val="tx1">
                    <a:lumMod val="65000"/>
                    <a:lumOff val="35000"/>
                  </a:schemeClr>
                </a:solidFill>
                <a:latin typeface="+mn-lt"/>
                <a:ea typeface="+mn-ea"/>
                <a:cs typeface="+mn-cs"/>
              </a:defRPr>
            </a:lvl7pPr>
            <a:lvl8pPr marL="2743200"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8pPr>
            <a:lvl9pPr marL="3087688" indent="-344488" algn="l" defTabSz="914400" rtl="0" eaLnBrk="1" latinLnBrk="0" hangingPunct="1">
              <a:spcBef>
                <a:spcPct val="20000"/>
              </a:spcBef>
              <a:buClr>
                <a:schemeClr val="accent1"/>
              </a:buClr>
              <a:buFont typeface="Wingdings 2" pitchFamily="18" charset="2"/>
              <a:buChar char=""/>
              <a:defRPr lang="en-US" sz="1800" kern="1200" dirty="0">
                <a:solidFill>
                  <a:schemeClr val="tx1">
                    <a:lumMod val="65000"/>
                    <a:lumOff val="35000"/>
                  </a:schemeClr>
                </a:solidFill>
                <a:latin typeface="+mn-lt"/>
                <a:ea typeface="+mn-ea"/>
                <a:cs typeface="+mn-cs"/>
              </a:defRPr>
            </a:lvl9pPr>
          </a:lstStyle>
          <a:p>
            <a:pPr marL="0" indent="0" algn="just">
              <a:buNone/>
            </a:pPr>
            <a:r>
              <a:rPr lang="es-ES"/>
              <a:t>CO= 5%</a:t>
            </a:r>
          </a:p>
        </p:txBody>
      </p:sp>
      <p:cxnSp>
        <p:nvCxnSpPr>
          <p:cNvPr id="14" name="Conector: curvado 13">
            <a:extLst>
              <a:ext uri="{FF2B5EF4-FFF2-40B4-BE49-F238E27FC236}">
                <a16:creationId xmlns:a16="http://schemas.microsoft.com/office/drawing/2014/main" id="{017A6E2E-B9CB-2E77-FA0B-94AEB5B95DBD}"/>
              </a:ext>
            </a:extLst>
          </p:cNvPr>
          <p:cNvCxnSpPr>
            <a:stCxn id="17" idx="0"/>
            <a:endCxn id="18" idx="0"/>
          </p:cNvCxnSpPr>
          <p:nvPr/>
        </p:nvCxnSpPr>
        <p:spPr>
          <a:xfrm rot="16200000" flipV="1">
            <a:off x="6213198" y="2664030"/>
            <a:ext cx="281240" cy="981504"/>
          </a:xfrm>
          <a:prstGeom prst="curvedConnector3">
            <a:avLst>
              <a:gd name="adj1" fmla="val 18128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5" name="Conector: curvado 24">
            <a:extLst>
              <a:ext uri="{FF2B5EF4-FFF2-40B4-BE49-F238E27FC236}">
                <a16:creationId xmlns:a16="http://schemas.microsoft.com/office/drawing/2014/main" id="{29429857-2FFA-3DF4-13E5-A4F72FA75C25}"/>
              </a:ext>
            </a:extLst>
          </p:cNvPr>
          <p:cNvCxnSpPr>
            <a:cxnSpLocks/>
            <a:stCxn id="15" idx="0"/>
            <a:endCxn id="18" idx="0"/>
          </p:cNvCxnSpPr>
          <p:nvPr/>
        </p:nvCxnSpPr>
        <p:spPr>
          <a:xfrm rot="16200000" flipV="1">
            <a:off x="6591959" y="2285270"/>
            <a:ext cx="564179" cy="2021963"/>
          </a:xfrm>
          <a:prstGeom prst="curvedConnector3">
            <a:avLst>
              <a:gd name="adj1" fmla="val 140519"/>
            </a:avLst>
          </a:prstGeom>
          <a:ln>
            <a:tailEnd type="triangle"/>
          </a:ln>
        </p:spPr>
        <p:style>
          <a:lnRef idx="2">
            <a:schemeClr val="accent1"/>
          </a:lnRef>
          <a:fillRef idx="0">
            <a:schemeClr val="accent1"/>
          </a:fillRef>
          <a:effectRef idx="1">
            <a:schemeClr val="accent1"/>
          </a:effectRef>
          <a:fontRef idx="minor">
            <a:schemeClr val="tx1"/>
          </a:fontRef>
        </p:style>
      </p:cxnSp>
      <p:sp>
        <p:nvSpPr>
          <p:cNvPr id="26" name="Rectángulo 25">
            <a:extLst>
              <a:ext uri="{FF2B5EF4-FFF2-40B4-BE49-F238E27FC236}">
                <a16:creationId xmlns:a16="http://schemas.microsoft.com/office/drawing/2014/main" id="{7A9BBE12-EE3D-CD63-F1A0-FA5594C66394}"/>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30" name="Picture 2" descr="Clientes y aliados | Centro de Evaluación | Uniandes">
            <a:extLst>
              <a:ext uri="{FF2B5EF4-FFF2-40B4-BE49-F238E27FC236}">
                <a16:creationId xmlns:a16="http://schemas.microsoft.com/office/drawing/2014/main" id="{EADEFFF4-0154-579F-F0E9-D2F21B06524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31" name="Rectángulo 30">
            <a:extLst>
              <a:ext uri="{FF2B5EF4-FFF2-40B4-BE49-F238E27FC236}">
                <a16:creationId xmlns:a16="http://schemas.microsoft.com/office/drawing/2014/main" id="{2CC18C6F-4681-BFBB-C097-DEC2D8901288}"/>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33" name="Título 1">
            <a:extLst>
              <a:ext uri="{FF2B5EF4-FFF2-40B4-BE49-F238E27FC236}">
                <a16:creationId xmlns:a16="http://schemas.microsoft.com/office/drawing/2014/main" id="{669238F9-A4ED-7A55-0B06-3F683425184F}"/>
              </a:ext>
            </a:extLst>
          </p:cNvPr>
          <p:cNvSpPr>
            <a:spLocks noGrp="1"/>
          </p:cNvSpPr>
          <p:nvPr>
            <p:ph type="title"/>
          </p:nvPr>
        </p:nvSpPr>
        <p:spPr>
          <a:xfrm>
            <a:off x="581192" y="702156"/>
            <a:ext cx="11029616" cy="1013800"/>
          </a:xfrm>
        </p:spPr>
        <p:txBody>
          <a:bodyPr>
            <a:normAutofit fontScale="90000"/>
          </a:bodyPr>
          <a:lstStyle/>
          <a:p>
            <a:r>
              <a:rPr lang="es-ES" sz="3200">
                <a:latin typeface="Century Gothic" panose="020B0502020202020204" pitchFamily="34" charset="0"/>
              </a:rPr>
              <a:t>Relaciones de equivalencia con varios costos de oportunidad</a:t>
            </a:r>
          </a:p>
        </p:txBody>
      </p:sp>
    </p:spTree>
    <p:extLst>
      <p:ext uri="{BB962C8B-B14F-4D97-AF65-F5344CB8AC3E}">
        <p14:creationId xmlns:p14="http://schemas.microsoft.com/office/powerpoint/2010/main" val="2935240965"/>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5E3E23BA-6E79-2442-BA73-D218A5E297C3}" type="slidenum">
              <a:rPr lang="en-US" smtClean="0"/>
              <a:t>78</a:t>
            </a:fld>
            <a:endParaRPr lang="en-US"/>
          </a:p>
        </p:txBody>
      </p:sp>
      <p:cxnSp>
        <p:nvCxnSpPr>
          <p:cNvPr id="6" name="Straight Connector 6"/>
          <p:cNvCxnSpPr/>
          <p:nvPr/>
        </p:nvCxnSpPr>
        <p:spPr>
          <a:xfrm flipV="1">
            <a:off x="2800464" y="4182733"/>
            <a:ext cx="6372951" cy="12001"/>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8" name="Rectangle 35"/>
          <p:cNvSpPr>
            <a:spLocks/>
          </p:cNvSpPr>
          <p:nvPr/>
        </p:nvSpPr>
        <p:spPr bwMode="auto">
          <a:xfrm>
            <a:off x="2736342" y="4190014"/>
            <a:ext cx="12824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0</a:t>
            </a:r>
          </a:p>
        </p:txBody>
      </p:sp>
      <p:sp>
        <p:nvSpPr>
          <p:cNvPr id="9" name="Rectangle 36"/>
          <p:cNvSpPr>
            <a:spLocks/>
          </p:cNvSpPr>
          <p:nvPr/>
        </p:nvSpPr>
        <p:spPr bwMode="auto">
          <a:xfrm>
            <a:off x="3549627" y="4165185"/>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a:t>
            </a:r>
          </a:p>
        </p:txBody>
      </p:sp>
      <p:sp>
        <p:nvSpPr>
          <p:cNvPr id="10" name="Rectangle 37"/>
          <p:cNvSpPr>
            <a:spLocks/>
          </p:cNvSpPr>
          <p:nvPr/>
        </p:nvSpPr>
        <p:spPr bwMode="auto">
          <a:xfrm>
            <a:off x="4638115" y="4165185"/>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2</a:t>
            </a:r>
          </a:p>
        </p:txBody>
      </p:sp>
      <p:sp>
        <p:nvSpPr>
          <p:cNvPr id="11" name="Rectangle 38"/>
          <p:cNvSpPr>
            <a:spLocks/>
          </p:cNvSpPr>
          <p:nvPr/>
        </p:nvSpPr>
        <p:spPr bwMode="auto">
          <a:xfrm>
            <a:off x="5697589" y="4179142"/>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3</a:t>
            </a:r>
          </a:p>
        </p:txBody>
      </p:sp>
      <p:sp>
        <p:nvSpPr>
          <p:cNvPr id="12" name="Rectangle 39"/>
          <p:cNvSpPr>
            <a:spLocks/>
          </p:cNvSpPr>
          <p:nvPr/>
        </p:nvSpPr>
        <p:spPr bwMode="auto">
          <a:xfrm>
            <a:off x="6703451" y="4195599"/>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4</a:t>
            </a:r>
          </a:p>
        </p:txBody>
      </p:sp>
      <p:sp>
        <p:nvSpPr>
          <p:cNvPr id="13" name="Rectangle 40"/>
          <p:cNvSpPr>
            <a:spLocks/>
          </p:cNvSpPr>
          <p:nvPr/>
        </p:nvSpPr>
        <p:spPr bwMode="auto">
          <a:xfrm>
            <a:off x="7776880" y="4165185"/>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5</a:t>
            </a:r>
          </a:p>
        </p:txBody>
      </p:sp>
      <p:sp>
        <p:nvSpPr>
          <p:cNvPr id="18" name="Rectangle 35"/>
          <p:cNvSpPr>
            <a:spLocks/>
          </p:cNvSpPr>
          <p:nvPr/>
        </p:nvSpPr>
        <p:spPr bwMode="auto">
          <a:xfrm>
            <a:off x="5931957" y="3327867"/>
            <a:ext cx="256481"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15</a:t>
            </a:r>
          </a:p>
        </p:txBody>
      </p:sp>
      <p:sp>
        <p:nvSpPr>
          <p:cNvPr id="19" name="Rectangle 35"/>
          <p:cNvSpPr>
            <a:spLocks/>
          </p:cNvSpPr>
          <p:nvPr/>
        </p:nvSpPr>
        <p:spPr bwMode="auto">
          <a:xfrm>
            <a:off x="4672030" y="2753036"/>
            <a:ext cx="256481"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20</a:t>
            </a:r>
          </a:p>
        </p:txBody>
      </p:sp>
      <p:sp>
        <p:nvSpPr>
          <p:cNvPr id="20" name="Rectangle 35"/>
          <p:cNvSpPr>
            <a:spLocks/>
          </p:cNvSpPr>
          <p:nvPr/>
        </p:nvSpPr>
        <p:spPr bwMode="auto">
          <a:xfrm>
            <a:off x="3586333" y="2108128"/>
            <a:ext cx="256481"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25</a:t>
            </a:r>
          </a:p>
        </p:txBody>
      </p:sp>
      <p:cxnSp>
        <p:nvCxnSpPr>
          <p:cNvPr id="27" name="Straight Arrow Connector 9"/>
          <p:cNvCxnSpPr/>
          <p:nvPr/>
        </p:nvCxnSpPr>
        <p:spPr>
          <a:xfrm flipV="1">
            <a:off x="4798769" y="3108035"/>
            <a:ext cx="0" cy="1086699"/>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28" name="Straight Arrow Connector 9"/>
          <p:cNvCxnSpPr/>
          <p:nvPr/>
        </p:nvCxnSpPr>
        <p:spPr>
          <a:xfrm flipV="1">
            <a:off x="5863065" y="3335616"/>
            <a:ext cx="0" cy="827987"/>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32" name="Straight Arrow Connector 9"/>
          <p:cNvCxnSpPr/>
          <p:nvPr/>
        </p:nvCxnSpPr>
        <p:spPr>
          <a:xfrm flipV="1">
            <a:off x="3714573" y="2530658"/>
            <a:ext cx="0" cy="1670003"/>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3" name="Abrir llave 2">
            <a:extLst>
              <a:ext uri="{FF2B5EF4-FFF2-40B4-BE49-F238E27FC236}">
                <a16:creationId xmlns:a16="http://schemas.microsoft.com/office/drawing/2014/main" id="{71009633-4C17-1DAF-1FB8-EDAD253E2DDE}"/>
              </a:ext>
            </a:extLst>
          </p:cNvPr>
          <p:cNvSpPr/>
          <p:nvPr/>
        </p:nvSpPr>
        <p:spPr>
          <a:xfrm rot="16200000">
            <a:off x="4646837" y="3582538"/>
            <a:ext cx="288632" cy="2371452"/>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s-CO" sz="2000"/>
          </a:p>
        </p:txBody>
      </p:sp>
      <p:sp>
        <p:nvSpPr>
          <p:cNvPr id="16" name="Abrir llave 15">
            <a:extLst>
              <a:ext uri="{FF2B5EF4-FFF2-40B4-BE49-F238E27FC236}">
                <a16:creationId xmlns:a16="http://schemas.microsoft.com/office/drawing/2014/main" id="{D5387356-A9DC-6482-438B-73F02B437AC1}"/>
              </a:ext>
            </a:extLst>
          </p:cNvPr>
          <p:cNvSpPr/>
          <p:nvPr/>
        </p:nvSpPr>
        <p:spPr>
          <a:xfrm rot="16200000">
            <a:off x="7317269" y="4107532"/>
            <a:ext cx="246220" cy="1347123"/>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s-CO" sz="2000"/>
          </a:p>
        </p:txBody>
      </p:sp>
      <p:sp>
        <p:nvSpPr>
          <p:cNvPr id="22" name="Content Placeholder 2">
            <a:extLst>
              <a:ext uri="{FF2B5EF4-FFF2-40B4-BE49-F238E27FC236}">
                <a16:creationId xmlns:a16="http://schemas.microsoft.com/office/drawing/2014/main" id="{02F72702-765B-85C6-FBC4-819F2A849BDB}"/>
              </a:ext>
            </a:extLst>
          </p:cNvPr>
          <p:cNvSpPr txBox="1">
            <a:spLocks/>
          </p:cNvSpPr>
          <p:nvPr/>
        </p:nvSpPr>
        <p:spPr>
          <a:xfrm>
            <a:off x="4227997" y="4983284"/>
            <a:ext cx="2162244" cy="365126"/>
          </a:xfrm>
          <a:prstGeom prst="rect">
            <a:avLst/>
          </a:prstGeom>
        </p:spPr>
        <p:txBody>
          <a:bodyPr vert="horz" lIns="91440" tIns="45720" rIns="91440" bIns="45720" rtlCol="0">
            <a:noAutofit/>
          </a:bodyPr>
          <a:lstStyle>
            <a:lvl1pPr marL="342900" indent="-342900" algn="l" defTabSz="914400" rtl="0" eaLnBrk="1" latinLnBrk="0" hangingPunct="1">
              <a:spcBef>
                <a:spcPts val="2000"/>
              </a:spcBef>
              <a:buClr>
                <a:schemeClr val="accent1"/>
              </a:buClr>
              <a:buFont typeface="Wingdings 2" pitchFamily="18" charset="2"/>
              <a:buChar char=""/>
              <a:defRPr sz="2000" kern="1200">
                <a:solidFill>
                  <a:schemeClr val="tx1">
                    <a:lumMod val="65000"/>
                    <a:lumOff val="35000"/>
                  </a:schemeClr>
                </a:solidFill>
                <a:latin typeface="+mn-lt"/>
                <a:ea typeface="+mn-ea"/>
                <a:cs typeface="+mn-cs"/>
              </a:defRPr>
            </a:lvl1pPr>
            <a:lvl2pPr marL="6858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2pPr>
            <a:lvl3pPr marL="10350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3pPr>
            <a:lvl4pPr marL="13716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4pPr>
            <a:lvl5pPr marL="17208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5pPr>
            <a:lvl6pPr marL="2055813"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6pPr>
            <a:lvl7pPr marL="2398713" indent="-344488" algn="l" defTabSz="914400" rtl="0" eaLnBrk="1" latinLnBrk="0" hangingPunct="1">
              <a:spcBef>
                <a:spcPct val="20000"/>
              </a:spcBef>
              <a:buClr>
                <a:schemeClr val="accent1"/>
              </a:buClr>
              <a:buFont typeface="Wingdings 2" pitchFamily="18" charset="2"/>
              <a:buChar char=""/>
              <a:defRPr lang="en-US" sz="1800" kern="1200" dirty="0" smtClean="0">
                <a:solidFill>
                  <a:schemeClr val="tx1">
                    <a:lumMod val="65000"/>
                    <a:lumOff val="35000"/>
                  </a:schemeClr>
                </a:solidFill>
                <a:latin typeface="+mn-lt"/>
                <a:ea typeface="+mn-ea"/>
                <a:cs typeface="+mn-cs"/>
              </a:defRPr>
            </a:lvl7pPr>
            <a:lvl8pPr marL="2743200"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8pPr>
            <a:lvl9pPr marL="3087688" indent="-344488" algn="l" defTabSz="914400" rtl="0" eaLnBrk="1" latinLnBrk="0" hangingPunct="1">
              <a:spcBef>
                <a:spcPct val="20000"/>
              </a:spcBef>
              <a:buClr>
                <a:schemeClr val="accent1"/>
              </a:buClr>
              <a:buFont typeface="Wingdings 2" pitchFamily="18" charset="2"/>
              <a:buChar char=""/>
              <a:defRPr lang="en-US" sz="1800" kern="1200" dirty="0">
                <a:solidFill>
                  <a:schemeClr val="tx1">
                    <a:lumMod val="65000"/>
                    <a:lumOff val="35000"/>
                  </a:schemeClr>
                </a:solidFill>
                <a:latin typeface="+mn-lt"/>
                <a:ea typeface="+mn-ea"/>
                <a:cs typeface="+mn-cs"/>
              </a:defRPr>
            </a:lvl9pPr>
          </a:lstStyle>
          <a:p>
            <a:pPr marL="0" indent="0" algn="just">
              <a:buNone/>
            </a:pPr>
            <a:r>
              <a:rPr lang="es-ES"/>
              <a:t>CO= 10%</a:t>
            </a:r>
          </a:p>
        </p:txBody>
      </p:sp>
      <p:sp>
        <p:nvSpPr>
          <p:cNvPr id="24" name="Content Placeholder 2">
            <a:extLst>
              <a:ext uri="{FF2B5EF4-FFF2-40B4-BE49-F238E27FC236}">
                <a16:creationId xmlns:a16="http://schemas.microsoft.com/office/drawing/2014/main" id="{7974454A-7C7C-2F88-A8DA-A9C97CA71849}"/>
              </a:ext>
            </a:extLst>
          </p:cNvPr>
          <p:cNvSpPr txBox="1">
            <a:spLocks/>
          </p:cNvSpPr>
          <p:nvPr/>
        </p:nvSpPr>
        <p:spPr>
          <a:xfrm>
            <a:off x="6804706" y="4953121"/>
            <a:ext cx="2162244" cy="365126"/>
          </a:xfrm>
          <a:prstGeom prst="rect">
            <a:avLst/>
          </a:prstGeom>
        </p:spPr>
        <p:txBody>
          <a:bodyPr vert="horz" lIns="91440" tIns="45720" rIns="91440" bIns="45720" rtlCol="0">
            <a:noAutofit/>
          </a:bodyPr>
          <a:lstStyle>
            <a:lvl1pPr marL="342900" indent="-342900" algn="l" defTabSz="914400" rtl="0" eaLnBrk="1" latinLnBrk="0" hangingPunct="1">
              <a:spcBef>
                <a:spcPts val="2000"/>
              </a:spcBef>
              <a:buClr>
                <a:schemeClr val="accent1"/>
              </a:buClr>
              <a:buFont typeface="Wingdings 2" pitchFamily="18" charset="2"/>
              <a:buChar char=""/>
              <a:defRPr sz="2000" kern="1200">
                <a:solidFill>
                  <a:schemeClr val="tx1">
                    <a:lumMod val="65000"/>
                    <a:lumOff val="35000"/>
                  </a:schemeClr>
                </a:solidFill>
                <a:latin typeface="+mn-lt"/>
                <a:ea typeface="+mn-ea"/>
                <a:cs typeface="+mn-cs"/>
              </a:defRPr>
            </a:lvl1pPr>
            <a:lvl2pPr marL="6858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2pPr>
            <a:lvl3pPr marL="10350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3pPr>
            <a:lvl4pPr marL="13716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4pPr>
            <a:lvl5pPr marL="17208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5pPr>
            <a:lvl6pPr marL="2055813"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6pPr>
            <a:lvl7pPr marL="2398713" indent="-344488" algn="l" defTabSz="914400" rtl="0" eaLnBrk="1" latinLnBrk="0" hangingPunct="1">
              <a:spcBef>
                <a:spcPct val="20000"/>
              </a:spcBef>
              <a:buClr>
                <a:schemeClr val="accent1"/>
              </a:buClr>
              <a:buFont typeface="Wingdings 2" pitchFamily="18" charset="2"/>
              <a:buChar char=""/>
              <a:defRPr lang="en-US" sz="1800" kern="1200" dirty="0" smtClean="0">
                <a:solidFill>
                  <a:schemeClr val="tx1">
                    <a:lumMod val="65000"/>
                    <a:lumOff val="35000"/>
                  </a:schemeClr>
                </a:solidFill>
                <a:latin typeface="+mn-lt"/>
                <a:ea typeface="+mn-ea"/>
                <a:cs typeface="+mn-cs"/>
              </a:defRPr>
            </a:lvl7pPr>
            <a:lvl8pPr marL="2743200"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8pPr>
            <a:lvl9pPr marL="3087688" indent="-344488" algn="l" defTabSz="914400" rtl="0" eaLnBrk="1" latinLnBrk="0" hangingPunct="1">
              <a:spcBef>
                <a:spcPct val="20000"/>
              </a:spcBef>
              <a:buClr>
                <a:schemeClr val="accent1"/>
              </a:buClr>
              <a:buFont typeface="Wingdings 2" pitchFamily="18" charset="2"/>
              <a:buChar char=""/>
              <a:defRPr lang="en-US" sz="1800" kern="1200" dirty="0">
                <a:solidFill>
                  <a:schemeClr val="tx1">
                    <a:lumMod val="65000"/>
                    <a:lumOff val="35000"/>
                  </a:schemeClr>
                </a:solidFill>
                <a:latin typeface="+mn-lt"/>
                <a:ea typeface="+mn-ea"/>
                <a:cs typeface="+mn-cs"/>
              </a:defRPr>
            </a:lvl9pPr>
          </a:lstStyle>
          <a:p>
            <a:pPr marL="0" indent="0" algn="just">
              <a:buNone/>
            </a:pPr>
            <a:r>
              <a:rPr lang="es-ES"/>
              <a:t>CO= 5%</a:t>
            </a:r>
          </a:p>
        </p:txBody>
      </p:sp>
      <p:cxnSp>
        <p:nvCxnSpPr>
          <p:cNvPr id="5" name="Straight Arrow Connector 9">
            <a:extLst>
              <a:ext uri="{FF2B5EF4-FFF2-40B4-BE49-F238E27FC236}">
                <a16:creationId xmlns:a16="http://schemas.microsoft.com/office/drawing/2014/main" id="{D6FF764B-10AA-9BBA-C577-5CFECDBD29BC}"/>
              </a:ext>
            </a:extLst>
          </p:cNvPr>
          <p:cNvCxnSpPr>
            <a:cxnSpLocks/>
          </p:cNvCxnSpPr>
          <p:nvPr/>
        </p:nvCxnSpPr>
        <p:spPr>
          <a:xfrm flipV="1">
            <a:off x="5863065" y="2704290"/>
            <a:ext cx="0" cy="654355"/>
          </a:xfrm>
          <a:prstGeom prst="straightConnector1">
            <a:avLst/>
          </a:prstGeom>
          <a:ln>
            <a:solidFill>
              <a:schemeClr val="accent3"/>
            </a:solidFill>
            <a:tailEnd type="arrow"/>
          </a:ln>
        </p:spPr>
        <p:style>
          <a:lnRef idx="2">
            <a:schemeClr val="accent1"/>
          </a:lnRef>
          <a:fillRef idx="0">
            <a:schemeClr val="accent1"/>
          </a:fillRef>
          <a:effectRef idx="1">
            <a:schemeClr val="accent1"/>
          </a:effectRef>
          <a:fontRef idx="minor">
            <a:schemeClr val="tx1"/>
          </a:fontRef>
        </p:style>
      </p:cxnSp>
      <p:sp>
        <p:nvSpPr>
          <p:cNvPr id="30" name="Rectangle 35">
            <a:extLst>
              <a:ext uri="{FF2B5EF4-FFF2-40B4-BE49-F238E27FC236}">
                <a16:creationId xmlns:a16="http://schemas.microsoft.com/office/drawing/2014/main" id="{957F0500-2EEA-1A16-53CB-D0AD79865DF7}"/>
              </a:ext>
            </a:extLst>
          </p:cNvPr>
          <p:cNvSpPr>
            <a:spLocks/>
          </p:cNvSpPr>
          <p:nvPr/>
        </p:nvSpPr>
        <p:spPr bwMode="auto">
          <a:xfrm>
            <a:off x="5894756" y="2653878"/>
            <a:ext cx="569067"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14,06</a:t>
            </a:r>
          </a:p>
        </p:txBody>
      </p:sp>
      <mc:AlternateContent xmlns:mc="http://schemas.openxmlformats.org/markup-compatibility/2006" xmlns:a14="http://schemas.microsoft.com/office/drawing/2010/main">
        <mc:Choice Requires="a14">
          <p:sp>
            <p:nvSpPr>
              <p:cNvPr id="42" name="CuadroTexto 41">
                <a:extLst>
                  <a:ext uri="{FF2B5EF4-FFF2-40B4-BE49-F238E27FC236}">
                    <a16:creationId xmlns:a16="http://schemas.microsoft.com/office/drawing/2014/main" id="{9CA165BD-7C4C-EA01-FAC4-218CE098C121}"/>
                  </a:ext>
                </a:extLst>
              </p:cNvPr>
              <p:cNvSpPr txBox="1"/>
              <p:nvPr/>
            </p:nvSpPr>
            <p:spPr>
              <a:xfrm>
                <a:off x="3212948" y="5670967"/>
                <a:ext cx="5300234" cy="75360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CO" sz="2400" i="1">
                          <a:latin typeface="Cambria Math" panose="02040503050406030204" pitchFamily="18" charset="0"/>
                        </a:rPr>
                        <m:t>𝐷𝑜𝑛𝑑𝑒</m:t>
                      </m:r>
                      <m:r>
                        <a:rPr lang="es-CO" sz="2400" i="1">
                          <a:latin typeface="Cambria Math" panose="02040503050406030204" pitchFamily="18" charset="0"/>
                        </a:rPr>
                        <m:t> 14,06=</m:t>
                      </m:r>
                      <m:f>
                        <m:fPr>
                          <m:ctrlPr>
                            <a:rPr lang="es-CO" sz="2400" i="1">
                              <a:latin typeface="Cambria Math" panose="02040503050406030204" pitchFamily="18" charset="0"/>
                            </a:rPr>
                          </m:ctrlPr>
                        </m:fPr>
                        <m:num>
                          <m:r>
                            <a:rPr lang="es-CO" sz="2400" i="1">
                              <a:latin typeface="Cambria Math" panose="02040503050406030204" pitchFamily="18" charset="0"/>
                            </a:rPr>
                            <m:t>10</m:t>
                          </m:r>
                        </m:num>
                        <m:den>
                          <m:sSup>
                            <m:sSupPr>
                              <m:ctrlPr>
                                <a:rPr lang="es-CO" sz="2400" i="1">
                                  <a:latin typeface="Cambria Math" panose="02040503050406030204" pitchFamily="18" charset="0"/>
                                </a:rPr>
                              </m:ctrlPr>
                            </m:sSupPr>
                            <m:e>
                              <m:d>
                                <m:dPr>
                                  <m:ctrlPr>
                                    <a:rPr lang="es-CO" sz="2400" i="1">
                                      <a:latin typeface="Cambria Math" panose="02040503050406030204" pitchFamily="18" charset="0"/>
                                    </a:rPr>
                                  </m:ctrlPr>
                                </m:dPr>
                                <m:e>
                                  <m:r>
                                    <a:rPr lang="es-CO" sz="2400" i="1">
                                      <a:latin typeface="Cambria Math" panose="02040503050406030204" pitchFamily="18" charset="0"/>
                                    </a:rPr>
                                    <m:t>1+5%</m:t>
                                  </m:r>
                                </m:e>
                              </m:d>
                            </m:e>
                            <m:sup>
                              <m:r>
                                <a:rPr lang="es-CO" sz="2400" i="1">
                                  <a:latin typeface="Cambria Math" panose="02040503050406030204" pitchFamily="18" charset="0"/>
                                </a:rPr>
                                <m:t>1</m:t>
                              </m:r>
                            </m:sup>
                          </m:sSup>
                        </m:den>
                      </m:f>
                      <m:r>
                        <a:rPr lang="es-CO" sz="2400" i="1">
                          <a:latin typeface="Cambria Math" panose="02040503050406030204" pitchFamily="18" charset="0"/>
                        </a:rPr>
                        <m:t>+</m:t>
                      </m:r>
                      <m:f>
                        <m:fPr>
                          <m:ctrlPr>
                            <a:rPr lang="es-CO" sz="2400" i="1">
                              <a:latin typeface="Cambria Math" panose="02040503050406030204" pitchFamily="18" charset="0"/>
                            </a:rPr>
                          </m:ctrlPr>
                        </m:fPr>
                        <m:num>
                          <m:r>
                            <a:rPr lang="es-CO" sz="2400" i="1">
                              <a:latin typeface="Cambria Math" panose="02040503050406030204" pitchFamily="18" charset="0"/>
                            </a:rPr>
                            <m:t>5</m:t>
                          </m:r>
                        </m:num>
                        <m:den>
                          <m:sSup>
                            <m:sSupPr>
                              <m:ctrlPr>
                                <a:rPr lang="es-CO" sz="2400" i="1">
                                  <a:latin typeface="Cambria Math" panose="02040503050406030204" pitchFamily="18" charset="0"/>
                                </a:rPr>
                              </m:ctrlPr>
                            </m:sSupPr>
                            <m:e>
                              <m:d>
                                <m:dPr>
                                  <m:ctrlPr>
                                    <a:rPr lang="es-CO" sz="2400" i="1">
                                      <a:latin typeface="Cambria Math" panose="02040503050406030204" pitchFamily="18" charset="0"/>
                                    </a:rPr>
                                  </m:ctrlPr>
                                </m:dPr>
                                <m:e>
                                  <m:r>
                                    <a:rPr lang="es-CO" sz="2400" i="1">
                                      <a:latin typeface="Cambria Math" panose="02040503050406030204" pitchFamily="18" charset="0"/>
                                    </a:rPr>
                                    <m:t>1+5%</m:t>
                                  </m:r>
                                </m:e>
                              </m:d>
                            </m:e>
                            <m:sup>
                              <m:r>
                                <a:rPr lang="es-CO" sz="2400" i="1">
                                  <a:latin typeface="Cambria Math" panose="02040503050406030204" pitchFamily="18" charset="0"/>
                                </a:rPr>
                                <m:t>2</m:t>
                              </m:r>
                            </m:sup>
                          </m:sSup>
                        </m:den>
                      </m:f>
                    </m:oMath>
                  </m:oMathPara>
                </a14:m>
                <a:endParaRPr lang="es-CO" sz="2400"/>
              </a:p>
            </p:txBody>
          </p:sp>
        </mc:Choice>
        <mc:Fallback xmlns="">
          <p:sp>
            <p:nvSpPr>
              <p:cNvPr id="42" name="CuadroTexto 41">
                <a:extLst>
                  <a:ext uri="{FF2B5EF4-FFF2-40B4-BE49-F238E27FC236}">
                    <a16:creationId xmlns:a16="http://schemas.microsoft.com/office/drawing/2014/main" id="{9CA165BD-7C4C-EA01-FAC4-218CE098C121}"/>
                  </a:ext>
                </a:extLst>
              </p:cNvPr>
              <p:cNvSpPr txBox="1">
                <a:spLocks noRot="1" noChangeAspect="1" noMove="1" noResize="1" noEditPoints="1" noAdjustHandles="1" noChangeArrowheads="1" noChangeShapeType="1" noTextEdit="1"/>
              </p:cNvSpPr>
              <p:nvPr/>
            </p:nvSpPr>
            <p:spPr>
              <a:xfrm>
                <a:off x="3212948" y="5670967"/>
                <a:ext cx="5300234" cy="753604"/>
              </a:xfrm>
              <a:prstGeom prst="rect">
                <a:avLst/>
              </a:prstGeom>
              <a:blipFill>
                <a:blip r:embed="rId3"/>
                <a:stretch>
                  <a:fillRect l="-716" t="-3333" b="-8333"/>
                </a:stretch>
              </a:blipFill>
            </p:spPr>
            <p:txBody>
              <a:bodyPr/>
              <a:lstStyle/>
              <a:p>
                <a:r>
                  <a:rPr lang="es-CO">
                    <a:noFill/>
                  </a:rPr>
                  <a:t> </a:t>
                </a:r>
              </a:p>
            </p:txBody>
          </p:sp>
        </mc:Fallback>
      </mc:AlternateContent>
      <p:sp>
        <p:nvSpPr>
          <p:cNvPr id="14" name="Rectángulo 13">
            <a:extLst>
              <a:ext uri="{FF2B5EF4-FFF2-40B4-BE49-F238E27FC236}">
                <a16:creationId xmlns:a16="http://schemas.microsoft.com/office/drawing/2014/main" id="{3EDD8FB6-1623-6718-423D-290D854A591B}"/>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5" name="Picture 2" descr="Clientes y aliados | Centro de Evaluación | Uniandes">
            <a:extLst>
              <a:ext uri="{FF2B5EF4-FFF2-40B4-BE49-F238E27FC236}">
                <a16:creationId xmlns:a16="http://schemas.microsoft.com/office/drawing/2014/main" id="{11CE1390-6569-5744-2B23-50D1D2C9E46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7" name="Rectángulo 16">
            <a:extLst>
              <a:ext uri="{FF2B5EF4-FFF2-40B4-BE49-F238E27FC236}">
                <a16:creationId xmlns:a16="http://schemas.microsoft.com/office/drawing/2014/main" id="{1FF1244A-192B-ECD3-4948-C9E837571994}"/>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23" name="Título 1">
            <a:extLst>
              <a:ext uri="{FF2B5EF4-FFF2-40B4-BE49-F238E27FC236}">
                <a16:creationId xmlns:a16="http://schemas.microsoft.com/office/drawing/2014/main" id="{5F60B4CF-81C7-2116-9F6A-CDA8901D9D71}"/>
              </a:ext>
            </a:extLst>
          </p:cNvPr>
          <p:cNvSpPr>
            <a:spLocks noGrp="1"/>
          </p:cNvSpPr>
          <p:nvPr>
            <p:ph type="title"/>
          </p:nvPr>
        </p:nvSpPr>
        <p:spPr>
          <a:xfrm>
            <a:off x="581192" y="702156"/>
            <a:ext cx="11029616" cy="1013800"/>
          </a:xfrm>
        </p:spPr>
        <p:txBody>
          <a:bodyPr>
            <a:normAutofit fontScale="90000"/>
          </a:bodyPr>
          <a:lstStyle/>
          <a:p>
            <a:r>
              <a:rPr lang="es-ES" sz="3200">
                <a:latin typeface="Century Gothic" panose="020B0502020202020204" pitchFamily="34" charset="0"/>
              </a:rPr>
              <a:t>Relaciones de equivalencia con varios costos de oportunidad</a:t>
            </a:r>
          </a:p>
        </p:txBody>
      </p:sp>
    </p:spTree>
    <p:extLst>
      <p:ext uri="{BB962C8B-B14F-4D97-AF65-F5344CB8AC3E}">
        <p14:creationId xmlns:p14="http://schemas.microsoft.com/office/powerpoint/2010/main" val="2918233135"/>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Content Placeholder 2">
            <a:extLst>
              <a:ext uri="{FF2B5EF4-FFF2-40B4-BE49-F238E27FC236}">
                <a16:creationId xmlns:a16="http://schemas.microsoft.com/office/drawing/2014/main" id="{AF73C8FE-C3B8-6BC1-318C-054ED5319146}"/>
              </a:ext>
            </a:extLst>
          </p:cNvPr>
          <p:cNvSpPr>
            <a:spLocks noGrp="1"/>
          </p:cNvSpPr>
          <p:nvPr>
            <p:ph idx="1"/>
          </p:nvPr>
        </p:nvSpPr>
        <p:spPr>
          <a:xfrm>
            <a:off x="581192" y="5010268"/>
            <a:ext cx="11029615" cy="723432"/>
          </a:xfrm>
        </p:spPr>
        <p:txBody>
          <a:bodyPr>
            <a:normAutofit fontScale="92500" lnSpcReduction="10000"/>
          </a:bodyPr>
          <a:lstStyle/>
          <a:p>
            <a:pPr marL="0" indent="0" algn="ctr">
              <a:buNone/>
            </a:pPr>
            <a:r>
              <a:rPr lang="es-ES" sz="2400"/>
              <a:t>Posteriormente obtener el valor presente de los flujos con normalidad usando la primera tasa. En este caso 10%</a:t>
            </a:r>
          </a:p>
        </p:txBody>
      </p:sp>
      <p:sp>
        <p:nvSpPr>
          <p:cNvPr id="4" name="Slide Number Placeholder 3"/>
          <p:cNvSpPr>
            <a:spLocks noGrp="1"/>
          </p:cNvSpPr>
          <p:nvPr>
            <p:ph type="sldNum" sz="quarter" idx="12"/>
          </p:nvPr>
        </p:nvSpPr>
        <p:spPr/>
        <p:txBody>
          <a:bodyPr/>
          <a:lstStyle/>
          <a:p>
            <a:fld id="{5E3E23BA-6E79-2442-BA73-D218A5E297C3}" type="slidenum">
              <a:rPr lang="en-US" smtClean="0"/>
              <a:t>79</a:t>
            </a:fld>
            <a:endParaRPr lang="en-US"/>
          </a:p>
        </p:txBody>
      </p:sp>
      <p:cxnSp>
        <p:nvCxnSpPr>
          <p:cNvPr id="6" name="Straight Connector 6"/>
          <p:cNvCxnSpPr/>
          <p:nvPr/>
        </p:nvCxnSpPr>
        <p:spPr>
          <a:xfrm flipV="1">
            <a:off x="3047638" y="3826896"/>
            <a:ext cx="6372951" cy="12001"/>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8" name="Rectangle 35"/>
          <p:cNvSpPr>
            <a:spLocks/>
          </p:cNvSpPr>
          <p:nvPr/>
        </p:nvSpPr>
        <p:spPr bwMode="auto">
          <a:xfrm>
            <a:off x="2983516" y="3834177"/>
            <a:ext cx="12824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0</a:t>
            </a:r>
          </a:p>
        </p:txBody>
      </p:sp>
      <p:sp>
        <p:nvSpPr>
          <p:cNvPr id="9" name="Rectangle 36"/>
          <p:cNvSpPr>
            <a:spLocks/>
          </p:cNvSpPr>
          <p:nvPr/>
        </p:nvSpPr>
        <p:spPr bwMode="auto">
          <a:xfrm>
            <a:off x="3796801" y="3809348"/>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a:t>
            </a:r>
          </a:p>
        </p:txBody>
      </p:sp>
      <p:sp>
        <p:nvSpPr>
          <p:cNvPr id="10" name="Rectangle 37"/>
          <p:cNvSpPr>
            <a:spLocks/>
          </p:cNvSpPr>
          <p:nvPr/>
        </p:nvSpPr>
        <p:spPr bwMode="auto">
          <a:xfrm>
            <a:off x="4885289" y="3809348"/>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2</a:t>
            </a:r>
          </a:p>
        </p:txBody>
      </p:sp>
      <p:sp>
        <p:nvSpPr>
          <p:cNvPr id="11" name="Rectangle 38"/>
          <p:cNvSpPr>
            <a:spLocks/>
          </p:cNvSpPr>
          <p:nvPr/>
        </p:nvSpPr>
        <p:spPr bwMode="auto">
          <a:xfrm>
            <a:off x="5944763" y="3823305"/>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3</a:t>
            </a:r>
          </a:p>
        </p:txBody>
      </p:sp>
      <p:sp>
        <p:nvSpPr>
          <p:cNvPr id="12" name="Rectangle 39"/>
          <p:cNvSpPr>
            <a:spLocks/>
          </p:cNvSpPr>
          <p:nvPr/>
        </p:nvSpPr>
        <p:spPr bwMode="auto">
          <a:xfrm>
            <a:off x="6950625" y="3839762"/>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4</a:t>
            </a:r>
          </a:p>
        </p:txBody>
      </p:sp>
      <p:sp>
        <p:nvSpPr>
          <p:cNvPr id="13" name="Rectangle 40"/>
          <p:cNvSpPr>
            <a:spLocks/>
          </p:cNvSpPr>
          <p:nvPr/>
        </p:nvSpPr>
        <p:spPr bwMode="auto">
          <a:xfrm>
            <a:off x="8024054" y="3809348"/>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5</a:t>
            </a:r>
          </a:p>
        </p:txBody>
      </p:sp>
      <p:sp>
        <p:nvSpPr>
          <p:cNvPr id="18" name="Rectangle 35"/>
          <p:cNvSpPr>
            <a:spLocks/>
          </p:cNvSpPr>
          <p:nvPr/>
        </p:nvSpPr>
        <p:spPr bwMode="auto">
          <a:xfrm>
            <a:off x="6179131" y="2972030"/>
            <a:ext cx="256481"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15</a:t>
            </a:r>
          </a:p>
        </p:txBody>
      </p:sp>
      <p:sp>
        <p:nvSpPr>
          <p:cNvPr id="19" name="Rectangle 35"/>
          <p:cNvSpPr>
            <a:spLocks/>
          </p:cNvSpPr>
          <p:nvPr/>
        </p:nvSpPr>
        <p:spPr bwMode="auto">
          <a:xfrm>
            <a:off x="4919204" y="2397199"/>
            <a:ext cx="256481"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20</a:t>
            </a:r>
          </a:p>
        </p:txBody>
      </p:sp>
      <p:sp>
        <p:nvSpPr>
          <p:cNvPr id="20" name="Rectangle 35"/>
          <p:cNvSpPr>
            <a:spLocks/>
          </p:cNvSpPr>
          <p:nvPr/>
        </p:nvSpPr>
        <p:spPr bwMode="auto">
          <a:xfrm>
            <a:off x="3833507" y="1861151"/>
            <a:ext cx="256481"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25</a:t>
            </a:r>
          </a:p>
        </p:txBody>
      </p:sp>
      <p:cxnSp>
        <p:nvCxnSpPr>
          <p:cNvPr id="27" name="Straight Arrow Connector 9"/>
          <p:cNvCxnSpPr/>
          <p:nvPr/>
        </p:nvCxnSpPr>
        <p:spPr>
          <a:xfrm flipV="1">
            <a:off x="5045943" y="2752198"/>
            <a:ext cx="0" cy="1086699"/>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28" name="Straight Arrow Connector 9"/>
          <p:cNvCxnSpPr/>
          <p:nvPr/>
        </p:nvCxnSpPr>
        <p:spPr>
          <a:xfrm flipV="1">
            <a:off x="6110239" y="2979779"/>
            <a:ext cx="0" cy="827987"/>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32" name="Straight Arrow Connector 9"/>
          <p:cNvCxnSpPr/>
          <p:nvPr/>
        </p:nvCxnSpPr>
        <p:spPr>
          <a:xfrm flipV="1">
            <a:off x="3961747" y="2174821"/>
            <a:ext cx="0" cy="1670003"/>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3" name="Abrir llave 2">
            <a:extLst>
              <a:ext uri="{FF2B5EF4-FFF2-40B4-BE49-F238E27FC236}">
                <a16:creationId xmlns:a16="http://schemas.microsoft.com/office/drawing/2014/main" id="{71009633-4C17-1DAF-1FB8-EDAD253E2DDE}"/>
              </a:ext>
            </a:extLst>
          </p:cNvPr>
          <p:cNvSpPr/>
          <p:nvPr/>
        </p:nvSpPr>
        <p:spPr>
          <a:xfrm rot="16200000">
            <a:off x="4894011" y="3139613"/>
            <a:ext cx="288632" cy="2371452"/>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s-CO" sz="2000"/>
          </a:p>
        </p:txBody>
      </p:sp>
      <p:sp>
        <p:nvSpPr>
          <p:cNvPr id="16" name="Abrir llave 15">
            <a:extLst>
              <a:ext uri="{FF2B5EF4-FFF2-40B4-BE49-F238E27FC236}">
                <a16:creationId xmlns:a16="http://schemas.microsoft.com/office/drawing/2014/main" id="{D5387356-A9DC-6482-438B-73F02B437AC1}"/>
              </a:ext>
            </a:extLst>
          </p:cNvPr>
          <p:cNvSpPr/>
          <p:nvPr/>
        </p:nvSpPr>
        <p:spPr>
          <a:xfrm rot="16200000">
            <a:off x="7564443" y="3664607"/>
            <a:ext cx="246220" cy="1347123"/>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s-CO" sz="2000"/>
          </a:p>
        </p:txBody>
      </p:sp>
      <p:sp>
        <p:nvSpPr>
          <p:cNvPr id="22" name="Content Placeholder 2">
            <a:extLst>
              <a:ext uri="{FF2B5EF4-FFF2-40B4-BE49-F238E27FC236}">
                <a16:creationId xmlns:a16="http://schemas.microsoft.com/office/drawing/2014/main" id="{02F72702-765B-85C6-FBC4-819F2A849BDB}"/>
              </a:ext>
            </a:extLst>
          </p:cNvPr>
          <p:cNvSpPr txBox="1">
            <a:spLocks/>
          </p:cNvSpPr>
          <p:nvPr/>
        </p:nvSpPr>
        <p:spPr>
          <a:xfrm>
            <a:off x="4475171" y="4540359"/>
            <a:ext cx="2162244" cy="365126"/>
          </a:xfrm>
          <a:prstGeom prst="rect">
            <a:avLst/>
          </a:prstGeom>
        </p:spPr>
        <p:txBody>
          <a:bodyPr vert="horz" lIns="91440" tIns="45720" rIns="91440" bIns="45720" rtlCol="0">
            <a:noAutofit/>
          </a:bodyPr>
          <a:lstStyle>
            <a:lvl1pPr marL="342900" indent="-342900" algn="l" defTabSz="914400" rtl="0" eaLnBrk="1" latinLnBrk="0" hangingPunct="1">
              <a:spcBef>
                <a:spcPts val="2000"/>
              </a:spcBef>
              <a:buClr>
                <a:schemeClr val="accent1"/>
              </a:buClr>
              <a:buFont typeface="Wingdings 2" pitchFamily="18" charset="2"/>
              <a:buChar char=""/>
              <a:defRPr sz="2000" kern="1200">
                <a:solidFill>
                  <a:schemeClr val="tx1">
                    <a:lumMod val="65000"/>
                    <a:lumOff val="35000"/>
                  </a:schemeClr>
                </a:solidFill>
                <a:latin typeface="+mn-lt"/>
                <a:ea typeface="+mn-ea"/>
                <a:cs typeface="+mn-cs"/>
              </a:defRPr>
            </a:lvl1pPr>
            <a:lvl2pPr marL="6858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2pPr>
            <a:lvl3pPr marL="10350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3pPr>
            <a:lvl4pPr marL="13716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4pPr>
            <a:lvl5pPr marL="17208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5pPr>
            <a:lvl6pPr marL="2055813"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6pPr>
            <a:lvl7pPr marL="2398713" indent="-344488" algn="l" defTabSz="914400" rtl="0" eaLnBrk="1" latinLnBrk="0" hangingPunct="1">
              <a:spcBef>
                <a:spcPct val="20000"/>
              </a:spcBef>
              <a:buClr>
                <a:schemeClr val="accent1"/>
              </a:buClr>
              <a:buFont typeface="Wingdings 2" pitchFamily="18" charset="2"/>
              <a:buChar char=""/>
              <a:defRPr lang="en-US" sz="1800" kern="1200" dirty="0" smtClean="0">
                <a:solidFill>
                  <a:schemeClr val="tx1">
                    <a:lumMod val="65000"/>
                    <a:lumOff val="35000"/>
                  </a:schemeClr>
                </a:solidFill>
                <a:latin typeface="+mn-lt"/>
                <a:ea typeface="+mn-ea"/>
                <a:cs typeface="+mn-cs"/>
              </a:defRPr>
            </a:lvl7pPr>
            <a:lvl8pPr marL="2743200"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8pPr>
            <a:lvl9pPr marL="3087688" indent="-344488" algn="l" defTabSz="914400" rtl="0" eaLnBrk="1" latinLnBrk="0" hangingPunct="1">
              <a:spcBef>
                <a:spcPct val="20000"/>
              </a:spcBef>
              <a:buClr>
                <a:schemeClr val="accent1"/>
              </a:buClr>
              <a:buFont typeface="Wingdings 2" pitchFamily="18" charset="2"/>
              <a:buChar char=""/>
              <a:defRPr lang="en-US" sz="1800" kern="1200" dirty="0">
                <a:solidFill>
                  <a:schemeClr val="tx1">
                    <a:lumMod val="65000"/>
                    <a:lumOff val="35000"/>
                  </a:schemeClr>
                </a:solidFill>
                <a:latin typeface="+mn-lt"/>
                <a:ea typeface="+mn-ea"/>
                <a:cs typeface="+mn-cs"/>
              </a:defRPr>
            </a:lvl9pPr>
          </a:lstStyle>
          <a:p>
            <a:pPr marL="0" indent="0" algn="just">
              <a:buNone/>
            </a:pPr>
            <a:r>
              <a:rPr lang="es-ES"/>
              <a:t>CO= 10%</a:t>
            </a:r>
          </a:p>
        </p:txBody>
      </p:sp>
      <p:sp>
        <p:nvSpPr>
          <p:cNvPr id="24" name="Content Placeholder 2">
            <a:extLst>
              <a:ext uri="{FF2B5EF4-FFF2-40B4-BE49-F238E27FC236}">
                <a16:creationId xmlns:a16="http://schemas.microsoft.com/office/drawing/2014/main" id="{7974454A-7C7C-2F88-A8DA-A9C97CA71849}"/>
              </a:ext>
            </a:extLst>
          </p:cNvPr>
          <p:cNvSpPr txBox="1">
            <a:spLocks/>
          </p:cNvSpPr>
          <p:nvPr/>
        </p:nvSpPr>
        <p:spPr>
          <a:xfrm>
            <a:off x="7051880" y="4510196"/>
            <a:ext cx="2162244" cy="365126"/>
          </a:xfrm>
          <a:prstGeom prst="rect">
            <a:avLst/>
          </a:prstGeom>
        </p:spPr>
        <p:txBody>
          <a:bodyPr vert="horz" lIns="91440" tIns="45720" rIns="91440" bIns="45720" rtlCol="0">
            <a:noAutofit/>
          </a:bodyPr>
          <a:lstStyle>
            <a:lvl1pPr marL="342900" indent="-342900" algn="l" defTabSz="914400" rtl="0" eaLnBrk="1" latinLnBrk="0" hangingPunct="1">
              <a:spcBef>
                <a:spcPts val="2000"/>
              </a:spcBef>
              <a:buClr>
                <a:schemeClr val="accent1"/>
              </a:buClr>
              <a:buFont typeface="Wingdings 2" pitchFamily="18" charset="2"/>
              <a:buChar char=""/>
              <a:defRPr sz="2000" kern="1200">
                <a:solidFill>
                  <a:schemeClr val="tx1">
                    <a:lumMod val="65000"/>
                    <a:lumOff val="35000"/>
                  </a:schemeClr>
                </a:solidFill>
                <a:latin typeface="+mn-lt"/>
                <a:ea typeface="+mn-ea"/>
                <a:cs typeface="+mn-cs"/>
              </a:defRPr>
            </a:lvl1pPr>
            <a:lvl2pPr marL="6858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2pPr>
            <a:lvl3pPr marL="10350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3pPr>
            <a:lvl4pPr marL="13716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4pPr>
            <a:lvl5pPr marL="17208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5pPr>
            <a:lvl6pPr marL="2055813"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6pPr>
            <a:lvl7pPr marL="2398713" indent="-344488" algn="l" defTabSz="914400" rtl="0" eaLnBrk="1" latinLnBrk="0" hangingPunct="1">
              <a:spcBef>
                <a:spcPct val="20000"/>
              </a:spcBef>
              <a:buClr>
                <a:schemeClr val="accent1"/>
              </a:buClr>
              <a:buFont typeface="Wingdings 2" pitchFamily="18" charset="2"/>
              <a:buChar char=""/>
              <a:defRPr lang="en-US" sz="1800" kern="1200" dirty="0" smtClean="0">
                <a:solidFill>
                  <a:schemeClr val="tx1">
                    <a:lumMod val="65000"/>
                    <a:lumOff val="35000"/>
                  </a:schemeClr>
                </a:solidFill>
                <a:latin typeface="+mn-lt"/>
                <a:ea typeface="+mn-ea"/>
                <a:cs typeface="+mn-cs"/>
              </a:defRPr>
            </a:lvl7pPr>
            <a:lvl8pPr marL="2743200"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8pPr>
            <a:lvl9pPr marL="3087688" indent="-344488" algn="l" defTabSz="914400" rtl="0" eaLnBrk="1" latinLnBrk="0" hangingPunct="1">
              <a:spcBef>
                <a:spcPct val="20000"/>
              </a:spcBef>
              <a:buClr>
                <a:schemeClr val="accent1"/>
              </a:buClr>
              <a:buFont typeface="Wingdings 2" pitchFamily="18" charset="2"/>
              <a:buChar char=""/>
              <a:defRPr lang="en-US" sz="1800" kern="1200" dirty="0">
                <a:solidFill>
                  <a:schemeClr val="tx1">
                    <a:lumMod val="65000"/>
                    <a:lumOff val="35000"/>
                  </a:schemeClr>
                </a:solidFill>
                <a:latin typeface="+mn-lt"/>
                <a:ea typeface="+mn-ea"/>
                <a:cs typeface="+mn-cs"/>
              </a:defRPr>
            </a:lvl9pPr>
          </a:lstStyle>
          <a:p>
            <a:pPr marL="0" indent="0" algn="just">
              <a:buNone/>
            </a:pPr>
            <a:r>
              <a:rPr lang="es-ES"/>
              <a:t>CO= 5%</a:t>
            </a:r>
          </a:p>
        </p:txBody>
      </p:sp>
      <p:cxnSp>
        <p:nvCxnSpPr>
          <p:cNvPr id="5" name="Straight Arrow Connector 9">
            <a:extLst>
              <a:ext uri="{FF2B5EF4-FFF2-40B4-BE49-F238E27FC236}">
                <a16:creationId xmlns:a16="http://schemas.microsoft.com/office/drawing/2014/main" id="{D6FF764B-10AA-9BBA-C577-5CFECDBD29BC}"/>
              </a:ext>
            </a:extLst>
          </p:cNvPr>
          <p:cNvCxnSpPr>
            <a:cxnSpLocks/>
          </p:cNvCxnSpPr>
          <p:nvPr/>
        </p:nvCxnSpPr>
        <p:spPr>
          <a:xfrm flipV="1">
            <a:off x="6110239" y="2348453"/>
            <a:ext cx="0" cy="654355"/>
          </a:xfrm>
          <a:prstGeom prst="straightConnector1">
            <a:avLst/>
          </a:prstGeom>
          <a:ln>
            <a:solidFill>
              <a:schemeClr val="accent3"/>
            </a:solidFill>
            <a:tailEnd type="arrow"/>
          </a:ln>
        </p:spPr>
        <p:style>
          <a:lnRef idx="2">
            <a:schemeClr val="accent1"/>
          </a:lnRef>
          <a:fillRef idx="0">
            <a:schemeClr val="accent1"/>
          </a:fillRef>
          <a:effectRef idx="1">
            <a:schemeClr val="accent1"/>
          </a:effectRef>
          <a:fontRef idx="minor">
            <a:schemeClr val="tx1"/>
          </a:fontRef>
        </p:style>
      </p:cxnSp>
      <p:sp>
        <p:nvSpPr>
          <p:cNvPr id="30" name="Rectangle 35">
            <a:extLst>
              <a:ext uri="{FF2B5EF4-FFF2-40B4-BE49-F238E27FC236}">
                <a16:creationId xmlns:a16="http://schemas.microsoft.com/office/drawing/2014/main" id="{957F0500-2EEA-1A16-53CB-D0AD79865DF7}"/>
              </a:ext>
            </a:extLst>
          </p:cNvPr>
          <p:cNvSpPr>
            <a:spLocks/>
          </p:cNvSpPr>
          <p:nvPr/>
        </p:nvSpPr>
        <p:spPr bwMode="auto">
          <a:xfrm>
            <a:off x="6141930" y="2298041"/>
            <a:ext cx="569067"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spAutoFit/>
          </a:bodyPr>
          <a:lstStyle/>
          <a:p>
            <a:pPr algn="ctr"/>
            <a:r>
              <a:rPr lang="en-US" sz="2000"/>
              <a:t>14,06</a:t>
            </a:r>
          </a:p>
        </p:txBody>
      </p:sp>
      <mc:AlternateContent xmlns:mc="http://schemas.openxmlformats.org/markup-compatibility/2006" xmlns:a14="http://schemas.microsoft.com/office/drawing/2010/main">
        <mc:Choice Requires="a14">
          <p:sp>
            <p:nvSpPr>
              <p:cNvPr id="14" name="CuadroTexto 13">
                <a:extLst>
                  <a:ext uri="{FF2B5EF4-FFF2-40B4-BE49-F238E27FC236}">
                    <a16:creationId xmlns:a16="http://schemas.microsoft.com/office/drawing/2014/main" id="{2F187CCA-E991-E578-3815-9DD9807E21D8}"/>
                  </a:ext>
                </a:extLst>
              </p:cNvPr>
              <p:cNvSpPr txBox="1"/>
              <p:nvPr/>
            </p:nvSpPr>
            <p:spPr>
              <a:xfrm>
                <a:off x="3329926" y="5923360"/>
                <a:ext cx="6179833" cy="62799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CO" sz="2000" i="1" smtClean="0">
                          <a:latin typeface="Cambria Math" panose="02040503050406030204" pitchFamily="18" charset="0"/>
                        </a:rPr>
                        <m:t>𝑉𝑃</m:t>
                      </m:r>
                      <m:r>
                        <a:rPr lang="es-CO" sz="2000" i="1" smtClean="0">
                          <a:latin typeface="Cambria Math" panose="02040503050406030204" pitchFamily="18" charset="0"/>
                        </a:rPr>
                        <m:t>=</m:t>
                      </m:r>
                      <m:f>
                        <m:fPr>
                          <m:ctrlPr>
                            <a:rPr lang="es-CO" sz="2000" i="1">
                              <a:latin typeface="Cambria Math" panose="02040503050406030204" pitchFamily="18" charset="0"/>
                            </a:rPr>
                          </m:ctrlPr>
                        </m:fPr>
                        <m:num>
                          <m:r>
                            <a:rPr lang="es-CO" sz="2000" i="1">
                              <a:latin typeface="Cambria Math" panose="02040503050406030204" pitchFamily="18" charset="0"/>
                            </a:rPr>
                            <m:t>25</m:t>
                          </m:r>
                        </m:num>
                        <m:den>
                          <m:sSup>
                            <m:sSupPr>
                              <m:ctrlPr>
                                <a:rPr lang="es-CO" sz="2000" i="1">
                                  <a:latin typeface="Cambria Math" panose="02040503050406030204" pitchFamily="18" charset="0"/>
                                </a:rPr>
                              </m:ctrlPr>
                            </m:sSupPr>
                            <m:e>
                              <m:d>
                                <m:dPr>
                                  <m:ctrlPr>
                                    <a:rPr lang="es-CO" sz="2000" i="1">
                                      <a:latin typeface="Cambria Math" panose="02040503050406030204" pitchFamily="18" charset="0"/>
                                    </a:rPr>
                                  </m:ctrlPr>
                                </m:dPr>
                                <m:e>
                                  <m:r>
                                    <a:rPr lang="es-CO" sz="2000" i="1">
                                      <a:latin typeface="Cambria Math" panose="02040503050406030204" pitchFamily="18" charset="0"/>
                                    </a:rPr>
                                    <m:t>1+10%</m:t>
                                  </m:r>
                                </m:e>
                              </m:d>
                            </m:e>
                            <m:sup>
                              <m:r>
                                <a:rPr lang="es-CO" sz="2000" i="1">
                                  <a:latin typeface="Cambria Math" panose="02040503050406030204" pitchFamily="18" charset="0"/>
                                </a:rPr>
                                <m:t>1</m:t>
                              </m:r>
                            </m:sup>
                          </m:sSup>
                        </m:den>
                      </m:f>
                      <m:r>
                        <a:rPr lang="es-CO" sz="2000" i="1">
                          <a:latin typeface="Cambria Math" panose="02040503050406030204" pitchFamily="18" charset="0"/>
                        </a:rPr>
                        <m:t>+</m:t>
                      </m:r>
                      <m:f>
                        <m:fPr>
                          <m:ctrlPr>
                            <a:rPr lang="es-CO" sz="2000" i="1">
                              <a:latin typeface="Cambria Math" panose="02040503050406030204" pitchFamily="18" charset="0"/>
                            </a:rPr>
                          </m:ctrlPr>
                        </m:fPr>
                        <m:num>
                          <m:r>
                            <a:rPr lang="es-CO" sz="2000" i="1">
                              <a:latin typeface="Cambria Math" panose="02040503050406030204" pitchFamily="18" charset="0"/>
                            </a:rPr>
                            <m:t>20</m:t>
                          </m:r>
                        </m:num>
                        <m:den>
                          <m:sSup>
                            <m:sSupPr>
                              <m:ctrlPr>
                                <a:rPr lang="es-CO" sz="2000" i="1">
                                  <a:latin typeface="Cambria Math" panose="02040503050406030204" pitchFamily="18" charset="0"/>
                                </a:rPr>
                              </m:ctrlPr>
                            </m:sSupPr>
                            <m:e>
                              <m:d>
                                <m:dPr>
                                  <m:ctrlPr>
                                    <a:rPr lang="es-CO" sz="2000" i="1">
                                      <a:latin typeface="Cambria Math" panose="02040503050406030204" pitchFamily="18" charset="0"/>
                                    </a:rPr>
                                  </m:ctrlPr>
                                </m:dPr>
                                <m:e>
                                  <m:r>
                                    <a:rPr lang="es-CO" sz="2000" i="1">
                                      <a:latin typeface="Cambria Math" panose="02040503050406030204" pitchFamily="18" charset="0"/>
                                    </a:rPr>
                                    <m:t>1+10%</m:t>
                                  </m:r>
                                </m:e>
                              </m:d>
                            </m:e>
                            <m:sup>
                              <m:r>
                                <a:rPr lang="es-CO" sz="2000" i="1">
                                  <a:latin typeface="Cambria Math" panose="02040503050406030204" pitchFamily="18" charset="0"/>
                                </a:rPr>
                                <m:t>2</m:t>
                              </m:r>
                            </m:sup>
                          </m:sSup>
                        </m:den>
                      </m:f>
                      <m:r>
                        <a:rPr lang="es-CO" sz="2000" i="1">
                          <a:latin typeface="Cambria Math" panose="02040503050406030204" pitchFamily="18" charset="0"/>
                        </a:rPr>
                        <m:t>+</m:t>
                      </m:r>
                      <m:f>
                        <m:fPr>
                          <m:ctrlPr>
                            <a:rPr lang="es-CO" sz="2000" i="1">
                              <a:latin typeface="Cambria Math" panose="02040503050406030204" pitchFamily="18" charset="0"/>
                            </a:rPr>
                          </m:ctrlPr>
                        </m:fPr>
                        <m:num>
                          <m:r>
                            <a:rPr lang="es-CO" sz="2000" i="1">
                              <a:latin typeface="Cambria Math" panose="02040503050406030204" pitchFamily="18" charset="0"/>
                            </a:rPr>
                            <m:t>29,06</m:t>
                          </m:r>
                        </m:num>
                        <m:den>
                          <m:sSup>
                            <m:sSupPr>
                              <m:ctrlPr>
                                <a:rPr lang="es-CO" sz="2000" i="1">
                                  <a:latin typeface="Cambria Math" panose="02040503050406030204" pitchFamily="18" charset="0"/>
                                </a:rPr>
                              </m:ctrlPr>
                            </m:sSupPr>
                            <m:e>
                              <m:d>
                                <m:dPr>
                                  <m:ctrlPr>
                                    <a:rPr lang="es-CO" sz="2000" i="1">
                                      <a:latin typeface="Cambria Math" panose="02040503050406030204" pitchFamily="18" charset="0"/>
                                    </a:rPr>
                                  </m:ctrlPr>
                                </m:dPr>
                                <m:e>
                                  <m:r>
                                    <a:rPr lang="es-CO" sz="2000" i="1">
                                      <a:latin typeface="Cambria Math" panose="02040503050406030204" pitchFamily="18" charset="0"/>
                                    </a:rPr>
                                    <m:t>1+10%</m:t>
                                  </m:r>
                                </m:e>
                              </m:d>
                            </m:e>
                            <m:sup>
                              <m:r>
                                <a:rPr lang="es-CO" sz="2000" i="1">
                                  <a:latin typeface="Cambria Math" panose="02040503050406030204" pitchFamily="18" charset="0"/>
                                </a:rPr>
                                <m:t>3</m:t>
                              </m:r>
                            </m:sup>
                          </m:sSup>
                        </m:den>
                      </m:f>
                      <m:r>
                        <a:rPr lang="es-CO" sz="2000" i="1">
                          <a:latin typeface="Cambria Math" panose="02040503050406030204" pitchFamily="18" charset="0"/>
                        </a:rPr>
                        <m:t>=6</m:t>
                      </m:r>
                      <m:r>
                        <a:rPr lang="es-ES" sz="2000" b="0" i="1" smtClean="0">
                          <a:latin typeface="Cambria Math" panose="02040503050406030204" pitchFamily="18" charset="0"/>
                        </a:rPr>
                        <m:t>1</m:t>
                      </m:r>
                      <m:r>
                        <a:rPr lang="es-CO" sz="2000" i="1">
                          <a:latin typeface="Cambria Math" panose="02040503050406030204" pitchFamily="18" charset="0"/>
                        </a:rPr>
                        <m:t>,0</m:t>
                      </m:r>
                      <m:r>
                        <a:rPr lang="es-ES" sz="2000" b="0" i="1" smtClean="0">
                          <a:latin typeface="Cambria Math" panose="02040503050406030204" pitchFamily="18" charset="0"/>
                        </a:rPr>
                        <m:t>9</m:t>
                      </m:r>
                    </m:oMath>
                  </m:oMathPara>
                </a14:m>
                <a:endParaRPr lang="es-CO" sz="2000"/>
              </a:p>
            </p:txBody>
          </p:sp>
        </mc:Choice>
        <mc:Fallback xmlns="">
          <p:sp>
            <p:nvSpPr>
              <p:cNvPr id="14" name="CuadroTexto 13">
                <a:extLst>
                  <a:ext uri="{FF2B5EF4-FFF2-40B4-BE49-F238E27FC236}">
                    <a16:creationId xmlns:a16="http://schemas.microsoft.com/office/drawing/2014/main" id="{2F187CCA-E991-E578-3815-9DD9807E21D8}"/>
                  </a:ext>
                </a:extLst>
              </p:cNvPr>
              <p:cNvSpPr txBox="1">
                <a:spLocks noRot="1" noChangeAspect="1" noMove="1" noResize="1" noEditPoints="1" noAdjustHandles="1" noChangeArrowheads="1" noChangeShapeType="1" noTextEdit="1"/>
              </p:cNvSpPr>
              <p:nvPr/>
            </p:nvSpPr>
            <p:spPr>
              <a:xfrm>
                <a:off x="3329926" y="5923360"/>
                <a:ext cx="6179833" cy="627992"/>
              </a:xfrm>
              <a:prstGeom prst="rect">
                <a:avLst/>
              </a:prstGeom>
              <a:blipFill>
                <a:blip r:embed="rId3"/>
                <a:stretch>
                  <a:fillRect l="-411" t="-2000" r="-411" b="-10000"/>
                </a:stretch>
              </a:blipFill>
            </p:spPr>
            <p:txBody>
              <a:bodyPr/>
              <a:lstStyle/>
              <a:p>
                <a:r>
                  <a:rPr lang="es-CO">
                    <a:noFill/>
                  </a:rPr>
                  <a:t> </a:t>
                </a:r>
              </a:p>
            </p:txBody>
          </p:sp>
        </mc:Fallback>
      </mc:AlternateContent>
      <p:sp>
        <p:nvSpPr>
          <p:cNvPr id="15" name="Rectángulo 14">
            <a:extLst>
              <a:ext uri="{FF2B5EF4-FFF2-40B4-BE49-F238E27FC236}">
                <a16:creationId xmlns:a16="http://schemas.microsoft.com/office/drawing/2014/main" id="{2F1B55EF-4692-1EAE-E21D-C9442E7573ED}"/>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7" name="Picture 2" descr="Clientes y aliados | Centro de Evaluación | Uniandes">
            <a:extLst>
              <a:ext uri="{FF2B5EF4-FFF2-40B4-BE49-F238E27FC236}">
                <a16:creationId xmlns:a16="http://schemas.microsoft.com/office/drawing/2014/main" id="{DA947BA4-62BA-D6E9-FD8D-C52C6CDCD4D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21" name="Rectángulo 20">
            <a:extLst>
              <a:ext uri="{FF2B5EF4-FFF2-40B4-BE49-F238E27FC236}">
                <a16:creationId xmlns:a16="http://schemas.microsoft.com/office/drawing/2014/main" id="{AE7688BE-D674-C166-A730-2F4BB0BB6E91}"/>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25" name="Título 1">
            <a:extLst>
              <a:ext uri="{FF2B5EF4-FFF2-40B4-BE49-F238E27FC236}">
                <a16:creationId xmlns:a16="http://schemas.microsoft.com/office/drawing/2014/main" id="{0F639CBB-77C2-4037-B7D1-35199182972D}"/>
              </a:ext>
            </a:extLst>
          </p:cNvPr>
          <p:cNvSpPr>
            <a:spLocks noGrp="1"/>
          </p:cNvSpPr>
          <p:nvPr>
            <p:ph type="title"/>
          </p:nvPr>
        </p:nvSpPr>
        <p:spPr>
          <a:xfrm>
            <a:off x="581192" y="702156"/>
            <a:ext cx="11029616" cy="1013800"/>
          </a:xfrm>
        </p:spPr>
        <p:txBody>
          <a:bodyPr>
            <a:normAutofit fontScale="90000"/>
          </a:bodyPr>
          <a:lstStyle/>
          <a:p>
            <a:r>
              <a:rPr lang="es-ES" sz="3200">
                <a:latin typeface="Century Gothic" panose="020B0502020202020204" pitchFamily="34" charset="0"/>
              </a:rPr>
              <a:t>Relaciones de equivalencia con varios costos de oportunidad</a:t>
            </a:r>
          </a:p>
        </p:txBody>
      </p:sp>
    </p:spTree>
    <p:extLst>
      <p:ext uri="{BB962C8B-B14F-4D97-AF65-F5344CB8AC3E}">
        <p14:creationId xmlns:p14="http://schemas.microsoft.com/office/powerpoint/2010/main" val="3113374818"/>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Content Placeholder 2">
            <a:extLst>
              <a:ext uri="{FF2B5EF4-FFF2-40B4-BE49-F238E27FC236}">
                <a16:creationId xmlns:a16="http://schemas.microsoft.com/office/drawing/2014/main" id="{AF73C8FE-C3B8-6BC1-318C-054ED5319146}"/>
              </a:ext>
            </a:extLst>
          </p:cNvPr>
          <p:cNvSpPr>
            <a:spLocks noGrp="1"/>
          </p:cNvSpPr>
          <p:nvPr>
            <p:ph idx="1"/>
          </p:nvPr>
        </p:nvSpPr>
        <p:spPr>
          <a:xfrm>
            <a:off x="581191" y="1875750"/>
            <a:ext cx="10968843" cy="2261201"/>
          </a:xfrm>
        </p:spPr>
        <p:txBody>
          <a:bodyPr>
            <a:normAutofit/>
          </a:bodyPr>
          <a:lstStyle/>
          <a:p>
            <a:pPr marL="0" indent="0" algn="just">
              <a:buNone/>
            </a:pPr>
            <a:r>
              <a:rPr lang="es-ES" sz="2400" dirty="0"/>
              <a:t>Al igual que como vimos con las relaciones de VP y VF si hay </a:t>
            </a:r>
            <a:r>
              <a:rPr lang="es-ES" sz="2400"/>
              <a:t>más</a:t>
            </a:r>
            <a:r>
              <a:rPr lang="es-ES" sz="2400" dirty="0"/>
              <a:t> de un costo de oportunidad en una serie de flujos ya sean uniformes o gradientes aritméticos/geométricos nos tocaría dividir las expresiones matemáticas para hallar el VP o VF de dichas series de flujos. </a:t>
            </a:r>
          </a:p>
        </p:txBody>
      </p:sp>
      <p:sp>
        <p:nvSpPr>
          <p:cNvPr id="4" name="Slide Number Placeholder 3"/>
          <p:cNvSpPr>
            <a:spLocks noGrp="1"/>
          </p:cNvSpPr>
          <p:nvPr>
            <p:ph type="sldNum" sz="quarter" idx="12"/>
          </p:nvPr>
        </p:nvSpPr>
        <p:spPr/>
        <p:txBody>
          <a:bodyPr/>
          <a:lstStyle/>
          <a:p>
            <a:pPr>
              <a:defRPr/>
            </a:pPr>
            <a:fld id="{5E3E23BA-6E79-2442-BA73-D218A5E297C3}" type="slidenum">
              <a:rPr lang="en-US">
                <a:solidFill>
                  <a:prstClr val="black">
                    <a:tint val="75000"/>
                  </a:prstClr>
                </a:solidFill>
                <a:latin typeface="Calibri" panose="020F0502020204030204"/>
              </a:rPr>
              <a:pPr>
                <a:defRPr/>
              </a:pPr>
              <a:t>80</a:t>
            </a:fld>
            <a:endParaRPr lang="en-US">
              <a:solidFill>
                <a:prstClr val="black">
                  <a:tint val="75000"/>
                </a:prstClr>
              </a:solidFill>
              <a:latin typeface="Calibri" panose="020F0502020204030204"/>
            </a:endParaRPr>
          </a:p>
        </p:txBody>
      </p:sp>
      <p:sp>
        <p:nvSpPr>
          <p:cNvPr id="3" name="Rectángulo 2">
            <a:extLst>
              <a:ext uri="{FF2B5EF4-FFF2-40B4-BE49-F238E27FC236}">
                <a16:creationId xmlns:a16="http://schemas.microsoft.com/office/drawing/2014/main" id="{101AFB4A-C230-59A4-56B8-7CCE5338A758}"/>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5" name="Picture 2" descr="Clientes y aliados | Centro de Evaluación | Uniandes">
            <a:extLst>
              <a:ext uri="{FF2B5EF4-FFF2-40B4-BE49-F238E27FC236}">
                <a16:creationId xmlns:a16="http://schemas.microsoft.com/office/drawing/2014/main" id="{C85EFE01-2E93-45CC-6055-0047B55C96C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6" name="Rectángulo 5">
            <a:extLst>
              <a:ext uri="{FF2B5EF4-FFF2-40B4-BE49-F238E27FC236}">
                <a16:creationId xmlns:a16="http://schemas.microsoft.com/office/drawing/2014/main" id="{7E85F4CD-668C-D852-5FA8-007BECE9A798}"/>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9" name="Título 1">
            <a:extLst>
              <a:ext uri="{FF2B5EF4-FFF2-40B4-BE49-F238E27FC236}">
                <a16:creationId xmlns:a16="http://schemas.microsoft.com/office/drawing/2014/main" id="{7DEA933B-08BD-BDFD-8315-DA033D732B8D}"/>
              </a:ext>
            </a:extLst>
          </p:cNvPr>
          <p:cNvSpPr>
            <a:spLocks noGrp="1"/>
          </p:cNvSpPr>
          <p:nvPr>
            <p:ph type="title"/>
          </p:nvPr>
        </p:nvSpPr>
        <p:spPr>
          <a:xfrm>
            <a:off x="581192" y="702156"/>
            <a:ext cx="11029616" cy="1013800"/>
          </a:xfrm>
        </p:spPr>
        <p:txBody>
          <a:bodyPr>
            <a:normAutofit fontScale="90000"/>
          </a:bodyPr>
          <a:lstStyle/>
          <a:p>
            <a:r>
              <a:rPr lang="es-ES" sz="3200">
                <a:latin typeface="Century Gothic" panose="020B0502020202020204" pitchFamily="34" charset="0"/>
              </a:rPr>
              <a:t>Relaciones de equivalencia con varios costos de oportunidad</a:t>
            </a:r>
          </a:p>
        </p:txBody>
      </p:sp>
    </p:spTree>
    <p:extLst>
      <p:ext uri="{BB962C8B-B14F-4D97-AF65-F5344CB8AC3E}">
        <p14:creationId xmlns:p14="http://schemas.microsoft.com/office/powerpoint/2010/main" val="2600266633"/>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E54C9C-F98D-4C25-7DBB-EA6A320F92F6}"/>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11FBEFEB-6DA2-DF0C-CB3D-C4CAFD6EE93C}"/>
              </a:ext>
            </a:extLst>
          </p:cNvPr>
          <p:cNvSpPr>
            <a:spLocks noGrp="1"/>
          </p:cNvSpPr>
          <p:nvPr>
            <p:ph type="title"/>
          </p:nvPr>
        </p:nvSpPr>
        <p:spPr/>
        <p:txBody>
          <a:bodyPr>
            <a:normAutofit/>
          </a:bodyPr>
          <a:lstStyle/>
          <a:p>
            <a:r>
              <a:rPr lang="es-ES">
                <a:latin typeface="Century Gothic" panose="020B0502020202020204" pitchFamily="34" charset="0"/>
              </a:rPr>
              <a:t>COMBINACIONES DE Relaciones de Equivalencia </a:t>
            </a:r>
          </a:p>
        </p:txBody>
      </p:sp>
      <p:sp>
        <p:nvSpPr>
          <p:cNvPr id="4" name="Marcador de número de diapositiva 3">
            <a:extLst>
              <a:ext uri="{FF2B5EF4-FFF2-40B4-BE49-F238E27FC236}">
                <a16:creationId xmlns:a16="http://schemas.microsoft.com/office/drawing/2014/main" id="{2191309B-F4BC-5050-AFB6-60ECD9920DF2}"/>
              </a:ext>
            </a:extLst>
          </p:cNvPr>
          <p:cNvSpPr>
            <a:spLocks noGrp="1"/>
          </p:cNvSpPr>
          <p:nvPr>
            <p:ph type="sldNum" sz="quarter" idx="12"/>
          </p:nvPr>
        </p:nvSpPr>
        <p:spPr/>
        <p:txBody>
          <a:bodyPr/>
          <a:lstStyle/>
          <a:p>
            <a:fld id="{5E3E23BA-6E79-2442-BA73-D218A5E297C3}" type="slidenum">
              <a:rPr lang="en-US" sz="1800" smtClean="0"/>
              <a:t>81</a:t>
            </a:fld>
            <a:endParaRPr lang="en-US" sz="1800"/>
          </a:p>
        </p:txBody>
      </p:sp>
      <p:sp>
        <p:nvSpPr>
          <p:cNvPr id="9" name="Rectángulo 8">
            <a:extLst>
              <a:ext uri="{FF2B5EF4-FFF2-40B4-BE49-F238E27FC236}">
                <a16:creationId xmlns:a16="http://schemas.microsoft.com/office/drawing/2014/main" id="{79589B46-6EFA-0461-7303-2D9DD089A1C8}"/>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sp>
        <p:nvSpPr>
          <p:cNvPr id="10" name="Rectángulo 9">
            <a:extLst>
              <a:ext uri="{FF2B5EF4-FFF2-40B4-BE49-F238E27FC236}">
                <a16:creationId xmlns:a16="http://schemas.microsoft.com/office/drawing/2014/main" id="{31A21583-7EF2-6E02-986A-C0E503A1154B}"/>
              </a:ext>
            </a:extLst>
          </p:cNvPr>
          <p:cNvSpPr/>
          <p:nvPr/>
        </p:nvSpPr>
        <p:spPr>
          <a:xfrm>
            <a:off x="8795541" y="118110"/>
            <a:ext cx="29418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Profesora</a:t>
            </a:r>
            <a:r>
              <a:rPr lang="es-CO" sz="1100">
                <a:solidFill>
                  <a:schemeClr val="accent2">
                    <a:lumMod val="50000"/>
                  </a:schemeClr>
                </a:solidFill>
                <a:latin typeface="Century Gothic" panose="020B0502020202020204" pitchFamily="34" charset="0"/>
                <a:sym typeface="Gill Sans Light"/>
              </a:rPr>
              <a:t> Andrea Yohana Cortés Mojica</a:t>
            </a:r>
            <a:endParaRPr lang="es-CO" sz="1100">
              <a:solidFill>
                <a:schemeClr val="accent2">
                  <a:lumMod val="50000"/>
                </a:schemeClr>
              </a:solidFill>
              <a:latin typeface="Century Gothic" panose="020B0502020202020204" pitchFamily="34" charset="0"/>
            </a:endParaRPr>
          </a:p>
        </p:txBody>
      </p:sp>
      <p:pic>
        <p:nvPicPr>
          <p:cNvPr id="11" name="Picture 2" descr="Clientes y aliados | Centro de Evaluación | Uniandes">
            <a:extLst>
              <a:ext uri="{FF2B5EF4-FFF2-40B4-BE49-F238E27FC236}">
                <a16:creationId xmlns:a16="http://schemas.microsoft.com/office/drawing/2014/main" id="{08EE1461-7CFE-5610-D2A2-FE74571F9D7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2" name="Rectángulo 11">
            <a:extLst>
              <a:ext uri="{FF2B5EF4-FFF2-40B4-BE49-F238E27FC236}">
                <a16:creationId xmlns:a16="http://schemas.microsoft.com/office/drawing/2014/main" id="{A7FC9832-C489-3B28-3FB4-901BF5B2A9A1}"/>
              </a:ext>
            </a:extLst>
          </p:cNvPr>
          <p:cNvSpPr/>
          <p:nvPr/>
        </p:nvSpPr>
        <p:spPr>
          <a:xfrm>
            <a:off x="4858343" y="118107"/>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8" name="Content Placeholder 2">
            <a:extLst>
              <a:ext uri="{FF2B5EF4-FFF2-40B4-BE49-F238E27FC236}">
                <a16:creationId xmlns:a16="http://schemas.microsoft.com/office/drawing/2014/main" id="{75B0FB34-2415-6EBF-675D-35F862EB0371}"/>
              </a:ext>
            </a:extLst>
          </p:cNvPr>
          <p:cNvSpPr>
            <a:spLocks noGrp="1"/>
          </p:cNvSpPr>
          <p:nvPr>
            <p:ph idx="1"/>
          </p:nvPr>
        </p:nvSpPr>
        <p:spPr>
          <a:xfrm>
            <a:off x="611578" y="3113314"/>
            <a:ext cx="10968843" cy="1143380"/>
          </a:xfrm>
        </p:spPr>
        <p:txBody>
          <a:bodyPr>
            <a:normAutofit/>
          </a:bodyPr>
          <a:lstStyle/>
          <a:p>
            <a:pPr marL="0" indent="0" algn="ctr">
              <a:buNone/>
            </a:pPr>
            <a:r>
              <a:rPr lang="es-ES" sz="3200"/>
              <a:t>EJERCICIOS DE PRÁCTICA</a:t>
            </a:r>
          </a:p>
        </p:txBody>
      </p:sp>
    </p:spTree>
    <p:extLst>
      <p:ext uri="{BB962C8B-B14F-4D97-AF65-F5344CB8AC3E}">
        <p14:creationId xmlns:p14="http://schemas.microsoft.com/office/powerpoint/2010/main" val="681333294"/>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ES">
                <a:latin typeface="Century Gothic" panose="020B0502020202020204" pitchFamily="34" charset="0"/>
              </a:rPr>
              <a:t>COMBINACIONES DE Relaciones de Equivalencia </a:t>
            </a:r>
          </a:p>
        </p:txBody>
      </p:sp>
      <p:sp>
        <p:nvSpPr>
          <p:cNvPr id="3" name="Marcador de contenido 2"/>
          <p:cNvSpPr>
            <a:spLocks noGrp="1"/>
          </p:cNvSpPr>
          <p:nvPr>
            <p:ph idx="1"/>
          </p:nvPr>
        </p:nvSpPr>
        <p:spPr>
          <a:xfrm>
            <a:off x="1448809" y="2460396"/>
            <a:ext cx="6819068" cy="3678303"/>
          </a:xfrm>
        </p:spPr>
        <p:txBody>
          <a:bodyPr>
            <a:normAutofit/>
          </a:bodyPr>
          <a:lstStyle/>
          <a:p>
            <a:pPr marL="0" indent="0" algn="ctr">
              <a:buNone/>
            </a:pPr>
            <a:r>
              <a:rPr lang="es-ES">
                <a:solidFill>
                  <a:schemeClr val="tx1"/>
                </a:solidFill>
                <a:latin typeface="Century Gothic" panose="020B0502020202020204" pitchFamily="34" charset="0"/>
              </a:rPr>
              <a:t>Deberá ser claro que las fórmulas hasta aquí presentadas pueden utilizarse en </a:t>
            </a:r>
            <a:r>
              <a:rPr lang="es-ES" b="1">
                <a:solidFill>
                  <a:schemeClr val="tx1"/>
                </a:solidFill>
                <a:latin typeface="Century Gothic" panose="020B0502020202020204" pitchFamily="34" charset="0"/>
              </a:rPr>
              <a:t>combinaciones</a:t>
            </a:r>
            <a:r>
              <a:rPr lang="es-ES">
                <a:solidFill>
                  <a:schemeClr val="tx1"/>
                </a:solidFill>
                <a:latin typeface="Century Gothic" panose="020B0502020202020204" pitchFamily="34" charset="0"/>
              </a:rPr>
              <a:t>. </a:t>
            </a:r>
          </a:p>
          <a:p>
            <a:pPr marL="0" indent="0" algn="ctr">
              <a:buNone/>
            </a:pPr>
            <a:endParaRPr lang="es-ES">
              <a:solidFill>
                <a:schemeClr val="tx1"/>
              </a:solidFill>
              <a:latin typeface="Century Gothic" panose="020B0502020202020204" pitchFamily="34" charset="0"/>
            </a:endParaRPr>
          </a:p>
          <a:p>
            <a:pPr marL="0" indent="0" algn="ctr">
              <a:buNone/>
            </a:pPr>
            <a:r>
              <a:rPr lang="es-ES">
                <a:solidFill>
                  <a:schemeClr val="tx1"/>
                </a:solidFill>
                <a:latin typeface="Century Gothic" panose="020B0502020202020204" pitchFamily="34" charset="0"/>
              </a:rPr>
              <a:t>En otras palabras, </a:t>
            </a:r>
            <a:r>
              <a:rPr lang="es-ES" b="1">
                <a:solidFill>
                  <a:schemeClr val="tx1"/>
                </a:solidFill>
                <a:latin typeface="Century Gothic" panose="020B0502020202020204" pitchFamily="34" charset="0"/>
              </a:rPr>
              <a:t>pueden encontrarse operaciones y/o contratos financieros que requieran el uso combinado de una o más de nuestras formulas básicas</a:t>
            </a:r>
            <a:r>
              <a:rPr lang="es-ES">
                <a:solidFill>
                  <a:schemeClr val="tx1"/>
                </a:solidFill>
                <a:latin typeface="Century Gothic" panose="020B0502020202020204" pitchFamily="34" charset="0"/>
              </a:rPr>
              <a:t>.</a:t>
            </a:r>
          </a:p>
          <a:p>
            <a:pPr algn="ctr"/>
            <a:endParaRPr lang="es-ES">
              <a:solidFill>
                <a:schemeClr val="accent1"/>
              </a:solidFill>
              <a:latin typeface="Century Gothic" panose="020B0502020202020204" pitchFamily="34" charset="0"/>
            </a:endParaRPr>
          </a:p>
        </p:txBody>
      </p:sp>
      <p:sp>
        <p:nvSpPr>
          <p:cNvPr id="4" name="Marcador de número de diapositiva 3"/>
          <p:cNvSpPr>
            <a:spLocks noGrp="1"/>
          </p:cNvSpPr>
          <p:nvPr>
            <p:ph type="sldNum" sz="quarter" idx="12"/>
          </p:nvPr>
        </p:nvSpPr>
        <p:spPr/>
        <p:txBody>
          <a:bodyPr/>
          <a:lstStyle/>
          <a:p>
            <a:fld id="{5E3E23BA-6E79-2442-BA73-D218A5E297C3}" type="slidenum">
              <a:rPr lang="en-US" sz="1800" smtClean="0"/>
              <a:t>82</a:t>
            </a:fld>
            <a:endParaRPr lang="en-US" sz="1800"/>
          </a:p>
        </p:txBody>
      </p:sp>
      <p:sp>
        <p:nvSpPr>
          <p:cNvPr id="9" name="Rectángulo 8">
            <a:extLst>
              <a:ext uri="{FF2B5EF4-FFF2-40B4-BE49-F238E27FC236}">
                <a16:creationId xmlns:a16="http://schemas.microsoft.com/office/drawing/2014/main" id="{ECEE28E7-A3C0-E01B-F33C-78A97C1C8B9E}"/>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sp>
        <p:nvSpPr>
          <p:cNvPr id="10" name="Rectángulo 9">
            <a:extLst>
              <a:ext uri="{FF2B5EF4-FFF2-40B4-BE49-F238E27FC236}">
                <a16:creationId xmlns:a16="http://schemas.microsoft.com/office/drawing/2014/main" id="{16197FCB-7011-42D3-CA67-CD6C65848000}"/>
              </a:ext>
            </a:extLst>
          </p:cNvPr>
          <p:cNvSpPr/>
          <p:nvPr/>
        </p:nvSpPr>
        <p:spPr>
          <a:xfrm>
            <a:off x="8795541" y="118110"/>
            <a:ext cx="29418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Profesora</a:t>
            </a:r>
            <a:r>
              <a:rPr lang="es-CO" sz="1100">
                <a:solidFill>
                  <a:schemeClr val="accent2">
                    <a:lumMod val="50000"/>
                  </a:schemeClr>
                </a:solidFill>
                <a:latin typeface="Century Gothic" panose="020B0502020202020204" pitchFamily="34" charset="0"/>
                <a:sym typeface="Gill Sans Light"/>
              </a:rPr>
              <a:t> Andrea Yohana Cortés Mojica</a:t>
            </a:r>
            <a:endParaRPr lang="es-CO" sz="1100">
              <a:solidFill>
                <a:schemeClr val="accent2">
                  <a:lumMod val="50000"/>
                </a:schemeClr>
              </a:solidFill>
              <a:latin typeface="Century Gothic" panose="020B0502020202020204" pitchFamily="34" charset="0"/>
            </a:endParaRPr>
          </a:p>
        </p:txBody>
      </p:sp>
      <p:pic>
        <p:nvPicPr>
          <p:cNvPr id="11" name="Picture 2" descr="Clientes y aliados | Centro de Evaluación | Uniandes">
            <a:extLst>
              <a:ext uri="{FF2B5EF4-FFF2-40B4-BE49-F238E27FC236}">
                <a16:creationId xmlns:a16="http://schemas.microsoft.com/office/drawing/2014/main" id="{06656817-87D3-C51D-D5C0-B3DE2CF6967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2" name="Rectángulo 11">
            <a:extLst>
              <a:ext uri="{FF2B5EF4-FFF2-40B4-BE49-F238E27FC236}">
                <a16:creationId xmlns:a16="http://schemas.microsoft.com/office/drawing/2014/main" id="{5141EB29-5942-2D6A-63C9-F1A07C858E9D}"/>
              </a:ext>
            </a:extLst>
          </p:cNvPr>
          <p:cNvSpPr/>
          <p:nvPr/>
        </p:nvSpPr>
        <p:spPr>
          <a:xfrm>
            <a:off x="4858343" y="118107"/>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pic>
        <p:nvPicPr>
          <p:cNvPr id="7" name="Imagen 6">
            <a:extLst>
              <a:ext uri="{FF2B5EF4-FFF2-40B4-BE49-F238E27FC236}">
                <a16:creationId xmlns:a16="http://schemas.microsoft.com/office/drawing/2014/main" id="{1BE10F80-A326-8402-5A99-1D6E96FB918C}"/>
              </a:ext>
            </a:extLst>
          </p:cNvPr>
          <p:cNvPicPr>
            <a:picLocks noChangeAspect="1"/>
          </p:cNvPicPr>
          <p:nvPr/>
        </p:nvPicPr>
        <p:blipFill>
          <a:blip r:embed="rId3"/>
          <a:stretch>
            <a:fillRect/>
          </a:stretch>
        </p:blipFill>
        <p:spPr>
          <a:xfrm>
            <a:off x="8454252" y="2912420"/>
            <a:ext cx="2724539" cy="2142896"/>
          </a:xfrm>
          <a:prstGeom prst="rect">
            <a:avLst/>
          </a:prstGeom>
        </p:spPr>
      </p:pic>
    </p:spTree>
    <p:extLst>
      <p:ext uri="{BB962C8B-B14F-4D97-AF65-F5344CB8AC3E}">
        <p14:creationId xmlns:p14="http://schemas.microsoft.com/office/powerpoint/2010/main" val="1237486251"/>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_tradnl">
                <a:latin typeface="Century Gothic" panose="020B0502020202020204" pitchFamily="34" charset="0"/>
              </a:rPr>
              <a:t> </a:t>
            </a:r>
            <a:r>
              <a:rPr lang="es-ES">
                <a:latin typeface="Century Gothic" panose="020B0502020202020204" pitchFamily="34" charset="0"/>
              </a:rPr>
              <a:t>COMBINACIONES DE </a:t>
            </a:r>
            <a:r>
              <a:rPr lang="es-ES_tradnl">
                <a:latin typeface="Century Gothic" panose="020B0502020202020204" pitchFamily="34" charset="0"/>
              </a:rPr>
              <a:t>Relaciones de Equivalencia </a:t>
            </a:r>
          </a:p>
        </p:txBody>
      </p:sp>
      <p:sp>
        <p:nvSpPr>
          <p:cNvPr id="3" name="Content Placeholder 2"/>
          <p:cNvSpPr>
            <a:spLocks noGrp="1"/>
          </p:cNvSpPr>
          <p:nvPr>
            <p:ph idx="1"/>
          </p:nvPr>
        </p:nvSpPr>
        <p:spPr>
          <a:xfrm>
            <a:off x="687071" y="2537019"/>
            <a:ext cx="5021260" cy="514090"/>
          </a:xfrm>
        </p:spPr>
        <p:txBody>
          <a:bodyPr>
            <a:normAutofit/>
          </a:bodyPr>
          <a:lstStyle/>
          <a:p>
            <a:pPr marL="0" indent="0" algn="just">
              <a:buNone/>
            </a:pPr>
            <a:r>
              <a:rPr lang="es-ES_tradnl" sz="1600">
                <a:latin typeface="Century Gothic" panose="020B0502020202020204" pitchFamily="34" charset="0"/>
              </a:rPr>
              <a:t>Si su costo de oportunidad es 8% E.A.</a:t>
            </a:r>
          </a:p>
        </p:txBody>
      </p:sp>
      <p:sp>
        <p:nvSpPr>
          <p:cNvPr id="4" name="Slide Number Placeholder 3"/>
          <p:cNvSpPr>
            <a:spLocks noGrp="1"/>
          </p:cNvSpPr>
          <p:nvPr>
            <p:ph type="sldNum" sz="quarter" idx="12"/>
          </p:nvPr>
        </p:nvSpPr>
        <p:spPr/>
        <p:txBody>
          <a:bodyPr/>
          <a:lstStyle/>
          <a:p>
            <a:fld id="{5E3E23BA-6E79-2442-BA73-D218A5E297C3}" type="slidenum">
              <a:rPr lang="en-US" sz="1900" smtClean="0"/>
              <a:t>83</a:t>
            </a:fld>
            <a:endParaRPr lang="en-US" sz="1900"/>
          </a:p>
        </p:txBody>
      </p:sp>
      <p:grpSp>
        <p:nvGrpSpPr>
          <p:cNvPr id="6" name="Grupo 5"/>
          <p:cNvGrpSpPr/>
          <p:nvPr/>
        </p:nvGrpSpPr>
        <p:grpSpPr>
          <a:xfrm>
            <a:off x="1852200" y="3382677"/>
            <a:ext cx="5391476" cy="1265666"/>
            <a:chOff x="1491343" y="4202329"/>
            <a:chExt cx="7048165" cy="2099227"/>
          </a:xfrm>
        </p:grpSpPr>
        <p:cxnSp>
          <p:nvCxnSpPr>
            <p:cNvPr id="13" name="Straight Connector 12"/>
            <p:cNvCxnSpPr/>
            <p:nvPr/>
          </p:nvCxnSpPr>
          <p:spPr>
            <a:xfrm>
              <a:off x="1519511" y="4640650"/>
              <a:ext cx="6873849" cy="12241"/>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sp>
          <p:nvSpPr>
            <p:cNvPr id="24" name="Rectangle 23"/>
            <p:cNvSpPr>
              <a:spLocks/>
            </p:cNvSpPr>
            <p:nvPr/>
          </p:nvSpPr>
          <p:spPr bwMode="auto">
            <a:xfrm flipH="1">
              <a:off x="1491343" y="4229942"/>
              <a:ext cx="131729" cy="40838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solidFill>
                    <a:schemeClr val="accent1"/>
                  </a:solidFill>
                  <a:latin typeface="Century Gothic" panose="020B0502020202020204" pitchFamily="34" charset="0"/>
                </a:rPr>
                <a:t>0</a:t>
              </a:r>
            </a:p>
          </p:txBody>
        </p:sp>
        <p:sp>
          <p:nvSpPr>
            <p:cNvPr id="12" name="Rectangle 11"/>
            <p:cNvSpPr>
              <a:spLocks/>
            </p:cNvSpPr>
            <p:nvPr/>
          </p:nvSpPr>
          <p:spPr bwMode="auto">
            <a:xfrm>
              <a:off x="1924079" y="4221453"/>
              <a:ext cx="337060" cy="40838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solidFill>
                    <a:schemeClr val="accent1"/>
                  </a:solidFill>
                  <a:latin typeface="Century Gothic" panose="020B0502020202020204" pitchFamily="34" charset="0"/>
                </a:rPr>
                <a:t>1</a:t>
              </a:r>
            </a:p>
          </p:txBody>
        </p:sp>
        <p:sp>
          <p:nvSpPr>
            <p:cNvPr id="15" name="Rectangle 14"/>
            <p:cNvSpPr>
              <a:spLocks/>
            </p:cNvSpPr>
            <p:nvPr/>
          </p:nvSpPr>
          <p:spPr bwMode="auto">
            <a:xfrm>
              <a:off x="2484692" y="4221453"/>
              <a:ext cx="337060" cy="40838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solidFill>
                    <a:schemeClr val="accent1"/>
                  </a:solidFill>
                  <a:latin typeface="Century Gothic" panose="020B0502020202020204" pitchFamily="34" charset="0"/>
                </a:rPr>
                <a:t>2</a:t>
              </a:r>
            </a:p>
          </p:txBody>
        </p:sp>
        <p:sp>
          <p:nvSpPr>
            <p:cNvPr id="16" name="Rectangle 15"/>
            <p:cNvSpPr>
              <a:spLocks/>
            </p:cNvSpPr>
            <p:nvPr/>
          </p:nvSpPr>
          <p:spPr bwMode="auto">
            <a:xfrm>
              <a:off x="3048549" y="4221453"/>
              <a:ext cx="337060" cy="40838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solidFill>
                    <a:schemeClr val="accent1"/>
                  </a:solidFill>
                  <a:latin typeface="Century Gothic" panose="020B0502020202020204" pitchFamily="34" charset="0"/>
                </a:rPr>
                <a:t>3</a:t>
              </a:r>
            </a:p>
          </p:txBody>
        </p:sp>
        <p:sp>
          <p:nvSpPr>
            <p:cNvPr id="17" name="Rectangle 16"/>
            <p:cNvSpPr>
              <a:spLocks/>
            </p:cNvSpPr>
            <p:nvPr/>
          </p:nvSpPr>
          <p:spPr bwMode="auto">
            <a:xfrm>
              <a:off x="3655075" y="4221453"/>
              <a:ext cx="337060" cy="40838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solidFill>
                    <a:schemeClr val="accent1"/>
                  </a:solidFill>
                  <a:latin typeface="Century Gothic" panose="020B0502020202020204" pitchFamily="34" charset="0"/>
                </a:rPr>
                <a:t>4</a:t>
              </a:r>
            </a:p>
          </p:txBody>
        </p:sp>
        <p:sp>
          <p:nvSpPr>
            <p:cNvPr id="18" name="Rectangle 17"/>
            <p:cNvSpPr>
              <a:spLocks/>
            </p:cNvSpPr>
            <p:nvPr/>
          </p:nvSpPr>
          <p:spPr bwMode="auto">
            <a:xfrm>
              <a:off x="4258181" y="4202329"/>
              <a:ext cx="337060" cy="40838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solidFill>
                    <a:schemeClr val="accent1"/>
                  </a:solidFill>
                  <a:latin typeface="Century Gothic" panose="020B0502020202020204" pitchFamily="34" charset="0"/>
                </a:rPr>
                <a:t>5</a:t>
              </a:r>
            </a:p>
          </p:txBody>
        </p:sp>
        <p:sp>
          <p:nvSpPr>
            <p:cNvPr id="19" name="Rectangle 18"/>
            <p:cNvSpPr>
              <a:spLocks/>
            </p:cNvSpPr>
            <p:nvPr/>
          </p:nvSpPr>
          <p:spPr bwMode="auto">
            <a:xfrm>
              <a:off x="4777031" y="4221453"/>
              <a:ext cx="337060" cy="40838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solidFill>
                    <a:schemeClr val="accent1"/>
                  </a:solidFill>
                  <a:latin typeface="Century Gothic" panose="020B0502020202020204" pitchFamily="34" charset="0"/>
                </a:rPr>
                <a:t>6</a:t>
              </a:r>
            </a:p>
          </p:txBody>
        </p:sp>
        <p:sp>
          <p:nvSpPr>
            <p:cNvPr id="20" name="Rectangle 19"/>
            <p:cNvSpPr>
              <a:spLocks/>
            </p:cNvSpPr>
            <p:nvPr/>
          </p:nvSpPr>
          <p:spPr bwMode="auto">
            <a:xfrm>
              <a:off x="5383554" y="4221453"/>
              <a:ext cx="337060" cy="40838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solidFill>
                    <a:schemeClr val="accent1"/>
                  </a:solidFill>
                  <a:latin typeface="Century Gothic" panose="020B0502020202020204" pitchFamily="34" charset="0"/>
                </a:rPr>
                <a:t>7</a:t>
              </a:r>
            </a:p>
          </p:txBody>
        </p:sp>
        <p:sp>
          <p:nvSpPr>
            <p:cNvPr id="29" name="Rectangle 28"/>
            <p:cNvSpPr>
              <a:spLocks/>
            </p:cNvSpPr>
            <p:nvPr/>
          </p:nvSpPr>
          <p:spPr bwMode="auto">
            <a:xfrm>
              <a:off x="5938227" y="4221453"/>
              <a:ext cx="337060" cy="40838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solidFill>
                    <a:schemeClr val="accent1"/>
                  </a:solidFill>
                  <a:latin typeface="Century Gothic" panose="020B0502020202020204" pitchFamily="34" charset="0"/>
                </a:rPr>
                <a:t>8</a:t>
              </a:r>
            </a:p>
          </p:txBody>
        </p:sp>
        <p:sp>
          <p:nvSpPr>
            <p:cNvPr id="30" name="Rectangle 29"/>
            <p:cNvSpPr>
              <a:spLocks/>
            </p:cNvSpPr>
            <p:nvPr/>
          </p:nvSpPr>
          <p:spPr bwMode="auto">
            <a:xfrm>
              <a:off x="6532383" y="4229941"/>
              <a:ext cx="337060" cy="40838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solidFill>
                    <a:schemeClr val="accent1"/>
                  </a:solidFill>
                  <a:latin typeface="Century Gothic" panose="020B0502020202020204" pitchFamily="34" charset="0"/>
                </a:rPr>
                <a:t>9</a:t>
              </a:r>
            </a:p>
          </p:txBody>
        </p:sp>
        <p:sp>
          <p:nvSpPr>
            <p:cNvPr id="31" name="Rectangle 30"/>
            <p:cNvSpPr>
              <a:spLocks/>
            </p:cNvSpPr>
            <p:nvPr/>
          </p:nvSpPr>
          <p:spPr bwMode="auto">
            <a:xfrm>
              <a:off x="7153602" y="4221453"/>
              <a:ext cx="337060" cy="40838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solidFill>
                    <a:schemeClr val="accent1"/>
                  </a:solidFill>
                  <a:latin typeface="Century Gothic" panose="020B0502020202020204" pitchFamily="34" charset="0"/>
                </a:rPr>
                <a:t>10</a:t>
              </a:r>
            </a:p>
          </p:txBody>
        </p:sp>
        <p:sp>
          <p:nvSpPr>
            <p:cNvPr id="32" name="Rectangle 31"/>
            <p:cNvSpPr>
              <a:spLocks/>
            </p:cNvSpPr>
            <p:nvPr/>
          </p:nvSpPr>
          <p:spPr bwMode="auto">
            <a:xfrm>
              <a:off x="7656863" y="4221453"/>
              <a:ext cx="337060" cy="40838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solidFill>
                    <a:schemeClr val="accent1"/>
                  </a:solidFill>
                  <a:latin typeface="Century Gothic" panose="020B0502020202020204" pitchFamily="34" charset="0"/>
                </a:rPr>
                <a:t>11</a:t>
              </a:r>
            </a:p>
          </p:txBody>
        </p:sp>
        <p:sp>
          <p:nvSpPr>
            <p:cNvPr id="34" name="Rectangle 33"/>
            <p:cNvSpPr>
              <a:spLocks/>
            </p:cNvSpPr>
            <p:nvPr/>
          </p:nvSpPr>
          <p:spPr bwMode="auto">
            <a:xfrm>
              <a:off x="8202448" y="4202329"/>
              <a:ext cx="337060" cy="40838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solidFill>
                    <a:schemeClr val="accent1"/>
                  </a:solidFill>
                  <a:latin typeface="Century Gothic" panose="020B0502020202020204" pitchFamily="34" charset="0"/>
                </a:rPr>
                <a:t>12</a:t>
              </a:r>
            </a:p>
          </p:txBody>
        </p:sp>
        <p:cxnSp>
          <p:nvCxnSpPr>
            <p:cNvPr id="35" name="Straight Arrow Connector 34"/>
            <p:cNvCxnSpPr/>
            <p:nvPr/>
          </p:nvCxnSpPr>
          <p:spPr>
            <a:xfrm>
              <a:off x="1540640" y="4639623"/>
              <a:ext cx="0" cy="620901"/>
            </a:xfrm>
            <a:prstGeom prst="straightConnector1">
              <a:avLst/>
            </a:prstGeom>
            <a:ln w="38100">
              <a:solidFill>
                <a:srgbClr val="FF0000"/>
              </a:solidFill>
              <a:tailEnd type="arrow"/>
            </a:ln>
          </p:spPr>
          <p:style>
            <a:lnRef idx="2">
              <a:schemeClr val="accent1"/>
            </a:lnRef>
            <a:fillRef idx="0">
              <a:schemeClr val="accent1"/>
            </a:fillRef>
            <a:effectRef idx="1">
              <a:schemeClr val="accent1"/>
            </a:effectRef>
            <a:fontRef idx="minor">
              <a:schemeClr val="tx1"/>
            </a:fontRef>
          </p:style>
        </p:cxnSp>
        <p:cxnSp>
          <p:nvCxnSpPr>
            <p:cNvPr id="36" name="Straight Arrow Connector 35"/>
            <p:cNvCxnSpPr/>
            <p:nvPr/>
          </p:nvCxnSpPr>
          <p:spPr>
            <a:xfrm>
              <a:off x="8393360" y="4652891"/>
              <a:ext cx="0" cy="620901"/>
            </a:xfrm>
            <a:prstGeom prst="straightConnector1">
              <a:avLst/>
            </a:prstGeom>
            <a:ln w="38100">
              <a:solidFill>
                <a:srgbClr val="FF0000"/>
              </a:solidFill>
              <a:tailEnd type="arrow"/>
            </a:ln>
          </p:spPr>
          <p:style>
            <a:lnRef idx="2">
              <a:schemeClr val="accent1"/>
            </a:lnRef>
            <a:fillRef idx="0">
              <a:schemeClr val="accent1"/>
            </a:fillRef>
            <a:effectRef idx="1">
              <a:schemeClr val="accent1"/>
            </a:effectRef>
            <a:fontRef idx="minor">
              <a:schemeClr val="tx1"/>
            </a:fontRef>
          </p:style>
        </p:cxnSp>
        <p:cxnSp>
          <p:nvCxnSpPr>
            <p:cNvPr id="37" name="Straight Arrow Connector 36"/>
            <p:cNvCxnSpPr/>
            <p:nvPr/>
          </p:nvCxnSpPr>
          <p:spPr>
            <a:xfrm>
              <a:off x="1540640" y="5260524"/>
              <a:ext cx="2905074" cy="13268"/>
            </a:xfrm>
            <a:prstGeom prst="straightConnector1">
              <a:avLst/>
            </a:prstGeom>
            <a:ln w="38100">
              <a:solidFill>
                <a:srgbClr val="FF0000"/>
              </a:solidFill>
              <a:headEnd type="none"/>
              <a:tailEnd type="none"/>
            </a:ln>
          </p:spPr>
          <p:style>
            <a:lnRef idx="2">
              <a:schemeClr val="accent1"/>
            </a:lnRef>
            <a:fillRef idx="0">
              <a:schemeClr val="accent1"/>
            </a:fillRef>
            <a:effectRef idx="1">
              <a:schemeClr val="accent1"/>
            </a:effectRef>
            <a:fontRef idx="minor">
              <a:schemeClr val="tx1"/>
            </a:fontRef>
          </p:style>
        </p:cxnSp>
        <p:sp>
          <p:nvSpPr>
            <p:cNvPr id="38" name="Rectangle 37"/>
            <p:cNvSpPr>
              <a:spLocks/>
            </p:cNvSpPr>
            <p:nvPr/>
          </p:nvSpPr>
          <p:spPr bwMode="auto">
            <a:xfrm>
              <a:off x="1924079" y="4829047"/>
              <a:ext cx="1887166" cy="40838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b="1">
                  <a:solidFill>
                    <a:srgbClr val="FF0000"/>
                  </a:solidFill>
                  <a:latin typeface="Century Gothic" panose="020B0502020202020204" pitchFamily="34" charset="0"/>
                </a:rPr>
                <a:t>A = 400</a:t>
              </a:r>
            </a:p>
          </p:txBody>
        </p:sp>
        <p:cxnSp>
          <p:nvCxnSpPr>
            <p:cNvPr id="25" name="Straight Arrow Connector 24"/>
            <p:cNvCxnSpPr/>
            <p:nvPr/>
          </p:nvCxnSpPr>
          <p:spPr>
            <a:xfrm>
              <a:off x="4445714" y="4652891"/>
              <a:ext cx="0" cy="620901"/>
            </a:xfrm>
            <a:prstGeom prst="straightConnector1">
              <a:avLst/>
            </a:prstGeom>
            <a:ln w="38100">
              <a:solidFill>
                <a:srgbClr val="FF0000"/>
              </a:solidFill>
              <a:tailEnd type="arrow"/>
            </a:ln>
          </p:spPr>
          <p:style>
            <a:lnRef idx="2">
              <a:schemeClr val="accent1"/>
            </a:lnRef>
            <a:fillRef idx="0">
              <a:schemeClr val="accent1"/>
            </a:fillRef>
            <a:effectRef idx="1">
              <a:schemeClr val="accent1"/>
            </a:effectRef>
            <a:fontRef idx="minor">
              <a:schemeClr val="tx1"/>
            </a:fontRef>
          </p:style>
        </p:cxnSp>
        <p:cxnSp>
          <p:nvCxnSpPr>
            <p:cNvPr id="26" name="Straight Arrow Connector 25"/>
            <p:cNvCxnSpPr/>
            <p:nvPr/>
          </p:nvCxnSpPr>
          <p:spPr>
            <a:xfrm>
              <a:off x="5550650" y="4652891"/>
              <a:ext cx="0" cy="620901"/>
            </a:xfrm>
            <a:prstGeom prst="straightConnector1">
              <a:avLst/>
            </a:prstGeom>
            <a:ln w="38100">
              <a:solidFill>
                <a:srgbClr val="FF0000"/>
              </a:solidFill>
              <a:tailEnd type="arrow"/>
            </a:ln>
          </p:spPr>
          <p:style>
            <a:lnRef idx="2">
              <a:schemeClr val="accent1"/>
            </a:lnRef>
            <a:fillRef idx="0">
              <a:schemeClr val="accent1"/>
            </a:fillRef>
            <a:effectRef idx="1">
              <a:schemeClr val="accent1"/>
            </a:effectRef>
            <a:fontRef idx="minor">
              <a:schemeClr val="tx1"/>
            </a:fontRef>
          </p:style>
        </p:cxnSp>
        <p:cxnSp>
          <p:nvCxnSpPr>
            <p:cNvPr id="33" name="Straight Arrow Connector 32"/>
            <p:cNvCxnSpPr/>
            <p:nvPr/>
          </p:nvCxnSpPr>
          <p:spPr>
            <a:xfrm>
              <a:off x="5550650" y="5260524"/>
              <a:ext cx="2842710" cy="13268"/>
            </a:xfrm>
            <a:prstGeom prst="straightConnector1">
              <a:avLst/>
            </a:prstGeom>
            <a:ln w="38100">
              <a:solidFill>
                <a:srgbClr val="FF0000"/>
              </a:solidFill>
              <a:headEnd type="none"/>
              <a:tailEnd type="none"/>
            </a:ln>
          </p:spPr>
          <p:style>
            <a:lnRef idx="2">
              <a:schemeClr val="accent1"/>
            </a:lnRef>
            <a:fillRef idx="0">
              <a:schemeClr val="accent1"/>
            </a:fillRef>
            <a:effectRef idx="1">
              <a:schemeClr val="accent1"/>
            </a:effectRef>
            <a:fontRef idx="minor">
              <a:schemeClr val="tx1"/>
            </a:fontRef>
          </p:style>
        </p:cxnSp>
        <p:sp>
          <p:nvSpPr>
            <p:cNvPr id="39" name="Rectangle 38"/>
            <p:cNvSpPr>
              <a:spLocks/>
            </p:cNvSpPr>
            <p:nvPr/>
          </p:nvSpPr>
          <p:spPr bwMode="auto">
            <a:xfrm>
              <a:off x="6106757" y="4858335"/>
              <a:ext cx="1887166" cy="40838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b="1">
                  <a:solidFill>
                    <a:srgbClr val="FF0000"/>
                  </a:solidFill>
                  <a:latin typeface="Century Gothic" panose="020B0502020202020204" pitchFamily="34" charset="0"/>
                </a:rPr>
                <a:t>A = 400</a:t>
              </a:r>
            </a:p>
          </p:txBody>
        </p:sp>
        <p:cxnSp>
          <p:nvCxnSpPr>
            <p:cNvPr id="40" name="Straight Arrow Connector 39"/>
            <p:cNvCxnSpPr/>
            <p:nvPr/>
          </p:nvCxnSpPr>
          <p:spPr>
            <a:xfrm>
              <a:off x="4960661" y="4652891"/>
              <a:ext cx="0" cy="1289915"/>
            </a:xfrm>
            <a:prstGeom prst="straightConnector1">
              <a:avLst/>
            </a:prstGeom>
            <a:ln w="38100">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41" name="Rectangle 40"/>
            <p:cNvSpPr>
              <a:spLocks/>
            </p:cNvSpPr>
            <p:nvPr/>
          </p:nvSpPr>
          <p:spPr bwMode="auto">
            <a:xfrm>
              <a:off x="4017079" y="5893175"/>
              <a:ext cx="1887166" cy="40838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b="1">
                  <a:solidFill>
                    <a:srgbClr val="FF0000"/>
                  </a:solidFill>
                  <a:latin typeface="Century Gothic" panose="020B0502020202020204" pitchFamily="34" charset="0"/>
                </a:rPr>
                <a:t>600</a:t>
              </a:r>
            </a:p>
          </p:txBody>
        </p:sp>
      </p:grpSp>
      <p:sp>
        <p:nvSpPr>
          <p:cNvPr id="70" name="Rectángulo 69">
            <a:extLst>
              <a:ext uri="{FF2B5EF4-FFF2-40B4-BE49-F238E27FC236}">
                <a16:creationId xmlns:a16="http://schemas.microsoft.com/office/drawing/2014/main" id="{537F7C29-9EBA-467A-8CB0-240580B76081}"/>
              </a:ext>
            </a:extLst>
          </p:cNvPr>
          <p:cNvSpPr/>
          <p:nvPr/>
        </p:nvSpPr>
        <p:spPr>
          <a:xfrm>
            <a:off x="581192" y="2026344"/>
            <a:ext cx="1399742" cy="400110"/>
          </a:xfrm>
          <a:prstGeom prst="rect">
            <a:avLst/>
          </a:prstGeom>
        </p:spPr>
        <p:txBody>
          <a:bodyPr wrap="none">
            <a:spAutoFit/>
          </a:bodyPr>
          <a:lstStyle/>
          <a:p>
            <a:r>
              <a:rPr lang="es-ES_tradnl" sz="2000" b="1">
                <a:solidFill>
                  <a:srgbClr val="C00000"/>
                </a:solidFill>
                <a:latin typeface="Century Gothic" panose="020B0502020202020204" pitchFamily="34" charset="0"/>
              </a:rPr>
              <a:t>Ejemplo 1</a:t>
            </a:r>
            <a:endParaRPr lang="es-CO" sz="2000" b="1">
              <a:solidFill>
                <a:srgbClr val="C00000"/>
              </a:solidFill>
              <a:latin typeface="Century Gothic" panose="020B0502020202020204" pitchFamily="34" charset="0"/>
            </a:endParaRPr>
          </a:p>
        </p:txBody>
      </p:sp>
      <p:sp>
        <p:nvSpPr>
          <p:cNvPr id="5" name="Rectángulo 4">
            <a:extLst>
              <a:ext uri="{FF2B5EF4-FFF2-40B4-BE49-F238E27FC236}">
                <a16:creationId xmlns:a16="http://schemas.microsoft.com/office/drawing/2014/main" id="{FA77AF2E-23BF-2AAB-1EEC-2E577F34D426}"/>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sp>
        <p:nvSpPr>
          <p:cNvPr id="7" name="Rectángulo 6">
            <a:extLst>
              <a:ext uri="{FF2B5EF4-FFF2-40B4-BE49-F238E27FC236}">
                <a16:creationId xmlns:a16="http://schemas.microsoft.com/office/drawing/2014/main" id="{3FD25033-284C-7EC3-C7D6-DFBAACAD886E}"/>
              </a:ext>
            </a:extLst>
          </p:cNvPr>
          <p:cNvSpPr/>
          <p:nvPr/>
        </p:nvSpPr>
        <p:spPr>
          <a:xfrm>
            <a:off x="8795541" y="118110"/>
            <a:ext cx="29418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Profesora</a:t>
            </a:r>
            <a:r>
              <a:rPr lang="es-CO" sz="1100">
                <a:solidFill>
                  <a:schemeClr val="accent2">
                    <a:lumMod val="50000"/>
                  </a:schemeClr>
                </a:solidFill>
                <a:latin typeface="Century Gothic" panose="020B0502020202020204" pitchFamily="34" charset="0"/>
                <a:sym typeface="Gill Sans Light"/>
              </a:rPr>
              <a:t> Andrea Yohana Cortés Mojica</a:t>
            </a:r>
            <a:endParaRPr lang="es-CO" sz="1100">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1E8F9325-4E7E-8BA6-C92F-27D20372A15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9" name="Rectángulo 8">
            <a:extLst>
              <a:ext uri="{FF2B5EF4-FFF2-40B4-BE49-F238E27FC236}">
                <a16:creationId xmlns:a16="http://schemas.microsoft.com/office/drawing/2014/main" id="{A1FFE96A-F079-244B-FB47-9DAACAFFDB20}"/>
              </a:ext>
            </a:extLst>
          </p:cNvPr>
          <p:cNvSpPr/>
          <p:nvPr/>
        </p:nvSpPr>
        <p:spPr>
          <a:xfrm>
            <a:off x="4858343" y="118107"/>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31000770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latin typeface="Century Gothic" panose="020B0502020202020204" pitchFamily="34" charset="0"/>
              </a:rPr>
              <a:t>COMBINACIONES DE </a:t>
            </a:r>
            <a:r>
              <a:rPr lang="es-ES_tradnl">
                <a:latin typeface="Century Gothic" panose="020B0502020202020204" pitchFamily="34" charset="0"/>
              </a:rPr>
              <a:t>Relaciones de Equivalencia </a:t>
            </a:r>
          </a:p>
        </p:txBody>
      </p:sp>
      <p:sp>
        <p:nvSpPr>
          <p:cNvPr id="137" name="Content Placeholder 2">
            <a:extLst>
              <a:ext uri="{FF2B5EF4-FFF2-40B4-BE49-F238E27FC236}">
                <a16:creationId xmlns:a16="http://schemas.microsoft.com/office/drawing/2014/main" id="{C6E48BC5-AF4F-4E30-9860-9F03F9BDA7FE}"/>
              </a:ext>
            </a:extLst>
          </p:cNvPr>
          <p:cNvSpPr>
            <a:spLocks noGrp="1"/>
          </p:cNvSpPr>
          <p:nvPr>
            <p:ph idx="1"/>
          </p:nvPr>
        </p:nvSpPr>
        <p:spPr>
          <a:xfrm>
            <a:off x="687071" y="2537019"/>
            <a:ext cx="5021260" cy="514090"/>
          </a:xfrm>
        </p:spPr>
        <p:txBody>
          <a:bodyPr>
            <a:normAutofit/>
          </a:bodyPr>
          <a:lstStyle/>
          <a:p>
            <a:pPr marL="0" indent="0" algn="just">
              <a:buNone/>
            </a:pPr>
            <a:r>
              <a:rPr lang="es-ES_tradnl" sz="1600">
                <a:latin typeface="Century Gothic" panose="020B0502020202020204" pitchFamily="34" charset="0"/>
              </a:rPr>
              <a:t>Si su costo de oportunidad es 8% E.A.</a:t>
            </a:r>
          </a:p>
        </p:txBody>
      </p:sp>
      <p:sp>
        <p:nvSpPr>
          <p:cNvPr id="4" name="Slide Number Placeholder 3"/>
          <p:cNvSpPr>
            <a:spLocks noGrp="1"/>
          </p:cNvSpPr>
          <p:nvPr>
            <p:ph type="sldNum" sz="quarter" idx="12"/>
          </p:nvPr>
        </p:nvSpPr>
        <p:spPr/>
        <p:txBody>
          <a:bodyPr/>
          <a:lstStyle/>
          <a:p>
            <a:fld id="{5E3E23BA-6E79-2442-BA73-D218A5E297C3}" type="slidenum">
              <a:rPr lang="en-US" sz="1800" smtClean="0"/>
              <a:t>84</a:t>
            </a:fld>
            <a:endParaRPr lang="en-US" sz="1800"/>
          </a:p>
        </p:txBody>
      </p:sp>
      <p:sp>
        <p:nvSpPr>
          <p:cNvPr id="6" name="CuadroTexto 5"/>
          <p:cNvSpPr txBox="1"/>
          <p:nvPr/>
        </p:nvSpPr>
        <p:spPr>
          <a:xfrm>
            <a:off x="1791343" y="4463677"/>
            <a:ext cx="1399742" cy="369332"/>
          </a:xfrm>
          <a:prstGeom prst="rect">
            <a:avLst/>
          </a:prstGeom>
          <a:noFill/>
        </p:spPr>
        <p:txBody>
          <a:bodyPr wrap="none" rtlCol="0">
            <a:spAutoFit/>
          </a:bodyPr>
          <a:lstStyle/>
          <a:p>
            <a:r>
              <a:rPr lang="es-CO" b="1">
                <a:solidFill>
                  <a:srgbClr val="D7A700"/>
                </a:solidFill>
                <a:latin typeface="Century Gothic" panose="020B0502020202020204" pitchFamily="34" charset="0"/>
              </a:rPr>
              <a:t>OPCIÓN 1)</a:t>
            </a:r>
          </a:p>
        </p:txBody>
      </p:sp>
      <p:grpSp>
        <p:nvGrpSpPr>
          <p:cNvPr id="80" name="Grupo 79"/>
          <p:cNvGrpSpPr/>
          <p:nvPr/>
        </p:nvGrpSpPr>
        <p:grpSpPr>
          <a:xfrm>
            <a:off x="2409443" y="5423715"/>
            <a:ext cx="3535405" cy="1057717"/>
            <a:chOff x="1491343" y="4227696"/>
            <a:chExt cx="7048165" cy="2048490"/>
          </a:xfrm>
        </p:grpSpPr>
        <p:cxnSp>
          <p:nvCxnSpPr>
            <p:cNvPr id="81" name="Straight Connector 12"/>
            <p:cNvCxnSpPr/>
            <p:nvPr/>
          </p:nvCxnSpPr>
          <p:spPr>
            <a:xfrm>
              <a:off x="1519511" y="4640650"/>
              <a:ext cx="6873849" cy="12241"/>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82" name="Rectangle 23"/>
            <p:cNvSpPr>
              <a:spLocks/>
            </p:cNvSpPr>
            <p:nvPr/>
          </p:nvSpPr>
          <p:spPr bwMode="auto">
            <a:xfrm flipH="1">
              <a:off x="1491343" y="4255308"/>
              <a:ext cx="131729" cy="35764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200">
                  <a:solidFill>
                    <a:schemeClr val="accent1"/>
                  </a:solidFill>
                  <a:latin typeface="Century Gothic" panose="020B0502020202020204" pitchFamily="34" charset="0"/>
                </a:rPr>
                <a:t>0</a:t>
              </a:r>
            </a:p>
          </p:txBody>
        </p:sp>
        <p:sp>
          <p:nvSpPr>
            <p:cNvPr id="83" name="Rectangle 11"/>
            <p:cNvSpPr>
              <a:spLocks/>
            </p:cNvSpPr>
            <p:nvPr/>
          </p:nvSpPr>
          <p:spPr bwMode="auto">
            <a:xfrm>
              <a:off x="1924077" y="4246819"/>
              <a:ext cx="337059" cy="35764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200">
                  <a:solidFill>
                    <a:schemeClr val="accent1"/>
                  </a:solidFill>
                  <a:latin typeface="Century Gothic" panose="020B0502020202020204" pitchFamily="34" charset="0"/>
                </a:rPr>
                <a:t>1</a:t>
              </a:r>
            </a:p>
          </p:txBody>
        </p:sp>
        <p:sp>
          <p:nvSpPr>
            <p:cNvPr id="84" name="Rectangle 14"/>
            <p:cNvSpPr>
              <a:spLocks/>
            </p:cNvSpPr>
            <p:nvPr/>
          </p:nvSpPr>
          <p:spPr bwMode="auto">
            <a:xfrm>
              <a:off x="2484691" y="4246821"/>
              <a:ext cx="337059" cy="35764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200">
                  <a:solidFill>
                    <a:schemeClr val="accent1"/>
                  </a:solidFill>
                  <a:latin typeface="Century Gothic" panose="020B0502020202020204" pitchFamily="34" charset="0"/>
                </a:rPr>
                <a:t>2</a:t>
              </a:r>
            </a:p>
          </p:txBody>
        </p:sp>
        <p:sp>
          <p:nvSpPr>
            <p:cNvPr id="85" name="Rectangle 15"/>
            <p:cNvSpPr>
              <a:spLocks/>
            </p:cNvSpPr>
            <p:nvPr/>
          </p:nvSpPr>
          <p:spPr bwMode="auto">
            <a:xfrm>
              <a:off x="3048550" y="4246821"/>
              <a:ext cx="337059" cy="35764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200">
                  <a:solidFill>
                    <a:schemeClr val="accent1"/>
                  </a:solidFill>
                  <a:latin typeface="Century Gothic" panose="020B0502020202020204" pitchFamily="34" charset="0"/>
                </a:rPr>
                <a:t>3</a:t>
              </a:r>
            </a:p>
          </p:txBody>
        </p:sp>
        <p:sp>
          <p:nvSpPr>
            <p:cNvPr id="86" name="Rectangle 16"/>
            <p:cNvSpPr>
              <a:spLocks/>
            </p:cNvSpPr>
            <p:nvPr/>
          </p:nvSpPr>
          <p:spPr bwMode="auto">
            <a:xfrm>
              <a:off x="3655073" y="4246821"/>
              <a:ext cx="337059" cy="35764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200">
                  <a:solidFill>
                    <a:schemeClr val="accent1"/>
                  </a:solidFill>
                  <a:latin typeface="Century Gothic" panose="020B0502020202020204" pitchFamily="34" charset="0"/>
                </a:rPr>
                <a:t>4</a:t>
              </a:r>
            </a:p>
          </p:txBody>
        </p:sp>
        <p:sp>
          <p:nvSpPr>
            <p:cNvPr id="87" name="Rectangle 17"/>
            <p:cNvSpPr>
              <a:spLocks/>
            </p:cNvSpPr>
            <p:nvPr/>
          </p:nvSpPr>
          <p:spPr bwMode="auto">
            <a:xfrm>
              <a:off x="4258181" y="4227696"/>
              <a:ext cx="337059" cy="35764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200">
                  <a:solidFill>
                    <a:schemeClr val="accent1"/>
                  </a:solidFill>
                  <a:latin typeface="Century Gothic" panose="020B0502020202020204" pitchFamily="34" charset="0"/>
                </a:rPr>
                <a:t>5</a:t>
              </a:r>
            </a:p>
          </p:txBody>
        </p:sp>
        <p:sp>
          <p:nvSpPr>
            <p:cNvPr id="88" name="Rectangle 18"/>
            <p:cNvSpPr>
              <a:spLocks/>
            </p:cNvSpPr>
            <p:nvPr/>
          </p:nvSpPr>
          <p:spPr bwMode="auto">
            <a:xfrm>
              <a:off x="4777032" y="4246821"/>
              <a:ext cx="337059" cy="35764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200">
                  <a:solidFill>
                    <a:schemeClr val="accent1"/>
                  </a:solidFill>
                  <a:latin typeface="Century Gothic" panose="020B0502020202020204" pitchFamily="34" charset="0"/>
                </a:rPr>
                <a:t>6</a:t>
              </a:r>
            </a:p>
          </p:txBody>
        </p:sp>
        <p:sp>
          <p:nvSpPr>
            <p:cNvPr id="89" name="Rectangle 19"/>
            <p:cNvSpPr>
              <a:spLocks/>
            </p:cNvSpPr>
            <p:nvPr/>
          </p:nvSpPr>
          <p:spPr bwMode="auto">
            <a:xfrm>
              <a:off x="5383556" y="4246821"/>
              <a:ext cx="337059" cy="35764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200">
                  <a:solidFill>
                    <a:schemeClr val="accent1"/>
                  </a:solidFill>
                  <a:latin typeface="Century Gothic" panose="020B0502020202020204" pitchFamily="34" charset="0"/>
                </a:rPr>
                <a:t>7</a:t>
              </a:r>
            </a:p>
          </p:txBody>
        </p:sp>
        <p:sp>
          <p:nvSpPr>
            <p:cNvPr id="90" name="Rectangle 28"/>
            <p:cNvSpPr>
              <a:spLocks/>
            </p:cNvSpPr>
            <p:nvPr/>
          </p:nvSpPr>
          <p:spPr bwMode="auto">
            <a:xfrm>
              <a:off x="5938226" y="4246821"/>
              <a:ext cx="337059" cy="35764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200">
                  <a:solidFill>
                    <a:schemeClr val="accent1"/>
                  </a:solidFill>
                  <a:latin typeface="Century Gothic" panose="020B0502020202020204" pitchFamily="34" charset="0"/>
                </a:rPr>
                <a:t>8</a:t>
              </a:r>
            </a:p>
          </p:txBody>
        </p:sp>
        <p:sp>
          <p:nvSpPr>
            <p:cNvPr id="91" name="Rectangle 29"/>
            <p:cNvSpPr>
              <a:spLocks/>
            </p:cNvSpPr>
            <p:nvPr/>
          </p:nvSpPr>
          <p:spPr bwMode="auto">
            <a:xfrm>
              <a:off x="6532383" y="4255308"/>
              <a:ext cx="337059" cy="35764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200">
                  <a:solidFill>
                    <a:schemeClr val="accent1"/>
                  </a:solidFill>
                  <a:latin typeface="Century Gothic" panose="020B0502020202020204" pitchFamily="34" charset="0"/>
                </a:rPr>
                <a:t>9</a:t>
              </a:r>
            </a:p>
          </p:txBody>
        </p:sp>
        <p:sp>
          <p:nvSpPr>
            <p:cNvPr id="92" name="Rectangle 30"/>
            <p:cNvSpPr>
              <a:spLocks/>
            </p:cNvSpPr>
            <p:nvPr/>
          </p:nvSpPr>
          <p:spPr bwMode="auto">
            <a:xfrm>
              <a:off x="7153601" y="4246821"/>
              <a:ext cx="337059" cy="35764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200">
                  <a:solidFill>
                    <a:schemeClr val="accent1"/>
                  </a:solidFill>
                  <a:latin typeface="Century Gothic" panose="020B0502020202020204" pitchFamily="34" charset="0"/>
                </a:rPr>
                <a:t>10</a:t>
              </a:r>
            </a:p>
          </p:txBody>
        </p:sp>
        <p:sp>
          <p:nvSpPr>
            <p:cNvPr id="93" name="Rectangle 31"/>
            <p:cNvSpPr>
              <a:spLocks/>
            </p:cNvSpPr>
            <p:nvPr/>
          </p:nvSpPr>
          <p:spPr bwMode="auto">
            <a:xfrm>
              <a:off x="7656864" y="4246821"/>
              <a:ext cx="337059" cy="35764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200">
                  <a:solidFill>
                    <a:schemeClr val="accent1"/>
                  </a:solidFill>
                  <a:latin typeface="Century Gothic" panose="020B0502020202020204" pitchFamily="34" charset="0"/>
                </a:rPr>
                <a:t>11</a:t>
              </a:r>
            </a:p>
          </p:txBody>
        </p:sp>
        <p:sp>
          <p:nvSpPr>
            <p:cNvPr id="94" name="Rectangle 33"/>
            <p:cNvSpPr>
              <a:spLocks/>
            </p:cNvSpPr>
            <p:nvPr/>
          </p:nvSpPr>
          <p:spPr bwMode="auto">
            <a:xfrm>
              <a:off x="8202449" y="4227696"/>
              <a:ext cx="337059" cy="35764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200">
                  <a:solidFill>
                    <a:schemeClr val="accent1"/>
                  </a:solidFill>
                  <a:latin typeface="Century Gothic" panose="020B0502020202020204" pitchFamily="34" charset="0"/>
                </a:rPr>
                <a:t>12</a:t>
              </a:r>
            </a:p>
          </p:txBody>
        </p:sp>
        <p:cxnSp>
          <p:nvCxnSpPr>
            <p:cNvPr id="95" name="Straight Arrow Connector 34"/>
            <p:cNvCxnSpPr/>
            <p:nvPr/>
          </p:nvCxnSpPr>
          <p:spPr>
            <a:xfrm>
              <a:off x="1540640" y="4639623"/>
              <a:ext cx="0" cy="62090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96" name="Straight Arrow Connector 35"/>
            <p:cNvCxnSpPr/>
            <p:nvPr/>
          </p:nvCxnSpPr>
          <p:spPr>
            <a:xfrm>
              <a:off x="8393360" y="4652891"/>
              <a:ext cx="0" cy="62090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97" name="Straight Arrow Connector 36"/>
            <p:cNvCxnSpPr/>
            <p:nvPr/>
          </p:nvCxnSpPr>
          <p:spPr>
            <a:xfrm>
              <a:off x="1540640" y="5260524"/>
              <a:ext cx="2905074" cy="13268"/>
            </a:xfrm>
            <a:prstGeom prst="straightConnector1">
              <a:avLst/>
            </a:prstGeom>
            <a:ln>
              <a:solidFill>
                <a:schemeClr val="accent2"/>
              </a:solidFill>
              <a:headEnd type="none"/>
              <a:tailEnd type="none"/>
            </a:ln>
          </p:spPr>
          <p:style>
            <a:lnRef idx="2">
              <a:schemeClr val="accent1"/>
            </a:lnRef>
            <a:fillRef idx="0">
              <a:schemeClr val="accent1"/>
            </a:fillRef>
            <a:effectRef idx="1">
              <a:schemeClr val="accent1"/>
            </a:effectRef>
            <a:fontRef idx="minor">
              <a:schemeClr val="tx1"/>
            </a:fontRef>
          </p:style>
        </p:cxnSp>
        <p:sp>
          <p:nvSpPr>
            <p:cNvPr id="98" name="Rectangle 37"/>
            <p:cNvSpPr>
              <a:spLocks/>
            </p:cNvSpPr>
            <p:nvPr/>
          </p:nvSpPr>
          <p:spPr bwMode="auto">
            <a:xfrm>
              <a:off x="1924077" y="4854415"/>
              <a:ext cx="1887167" cy="35764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200">
                  <a:solidFill>
                    <a:schemeClr val="accent1"/>
                  </a:solidFill>
                  <a:latin typeface="Century Gothic" panose="020B0502020202020204" pitchFamily="34" charset="0"/>
                </a:rPr>
                <a:t>A = 400</a:t>
              </a:r>
            </a:p>
          </p:txBody>
        </p:sp>
        <p:cxnSp>
          <p:nvCxnSpPr>
            <p:cNvPr id="99" name="Straight Arrow Connector 24"/>
            <p:cNvCxnSpPr/>
            <p:nvPr/>
          </p:nvCxnSpPr>
          <p:spPr>
            <a:xfrm>
              <a:off x="4445714" y="4652891"/>
              <a:ext cx="0" cy="62090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100" name="Straight Arrow Connector 25"/>
            <p:cNvCxnSpPr/>
            <p:nvPr/>
          </p:nvCxnSpPr>
          <p:spPr>
            <a:xfrm>
              <a:off x="5550650" y="4652891"/>
              <a:ext cx="0" cy="62090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101" name="Straight Arrow Connector 32"/>
            <p:cNvCxnSpPr/>
            <p:nvPr/>
          </p:nvCxnSpPr>
          <p:spPr>
            <a:xfrm>
              <a:off x="5550650" y="5260524"/>
              <a:ext cx="2842710" cy="13268"/>
            </a:xfrm>
            <a:prstGeom prst="straightConnector1">
              <a:avLst/>
            </a:prstGeom>
            <a:ln>
              <a:solidFill>
                <a:schemeClr val="accent2"/>
              </a:solidFill>
              <a:headEnd type="none"/>
              <a:tailEnd type="none"/>
            </a:ln>
          </p:spPr>
          <p:style>
            <a:lnRef idx="2">
              <a:schemeClr val="accent1"/>
            </a:lnRef>
            <a:fillRef idx="0">
              <a:schemeClr val="accent1"/>
            </a:fillRef>
            <a:effectRef idx="1">
              <a:schemeClr val="accent1"/>
            </a:effectRef>
            <a:fontRef idx="minor">
              <a:schemeClr val="tx1"/>
            </a:fontRef>
          </p:style>
        </p:cxnSp>
        <p:sp>
          <p:nvSpPr>
            <p:cNvPr id="102" name="Rectangle 38"/>
            <p:cNvSpPr>
              <a:spLocks/>
            </p:cNvSpPr>
            <p:nvPr/>
          </p:nvSpPr>
          <p:spPr bwMode="auto">
            <a:xfrm>
              <a:off x="6106756" y="4883704"/>
              <a:ext cx="1887167" cy="35764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200">
                  <a:solidFill>
                    <a:schemeClr val="accent1"/>
                  </a:solidFill>
                  <a:latin typeface="Century Gothic" panose="020B0502020202020204" pitchFamily="34" charset="0"/>
                </a:rPr>
                <a:t>A = 400</a:t>
              </a:r>
            </a:p>
          </p:txBody>
        </p:sp>
        <p:cxnSp>
          <p:nvCxnSpPr>
            <p:cNvPr id="103" name="Straight Arrow Connector 39"/>
            <p:cNvCxnSpPr/>
            <p:nvPr/>
          </p:nvCxnSpPr>
          <p:spPr>
            <a:xfrm>
              <a:off x="4960661" y="4652891"/>
              <a:ext cx="0" cy="1289915"/>
            </a:xfrm>
            <a:prstGeom prst="straightConnector1">
              <a:avLst/>
            </a:prstGeom>
            <a:ln>
              <a:solidFill>
                <a:srgbClr val="244A58"/>
              </a:solidFill>
              <a:tailEnd type="arrow"/>
            </a:ln>
          </p:spPr>
          <p:style>
            <a:lnRef idx="2">
              <a:schemeClr val="accent1"/>
            </a:lnRef>
            <a:fillRef idx="0">
              <a:schemeClr val="accent1"/>
            </a:fillRef>
            <a:effectRef idx="1">
              <a:schemeClr val="accent1"/>
            </a:effectRef>
            <a:fontRef idx="minor">
              <a:schemeClr val="tx1"/>
            </a:fontRef>
          </p:style>
        </p:cxnSp>
        <p:sp>
          <p:nvSpPr>
            <p:cNvPr id="104" name="Rectangle 40"/>
            <p:cNvSpPr>
              <a:spLocks/>
            </p:cNvSpPr>
            <p:nvPr/>
          </p:nvSpPr>
          <p:spPr bwMode="auto">
            <a:xfrm>
              <a:off x="4017078" y="5918542"/>
              <a:ext cx="1887167" cy="35764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200">
                  <a:solidFill>
                    <a:schemeClr val="accent1"/>
                  </a:solidFill>
                  <a:latin typeface="Century Gothic" panose="020B0502020202020204" pitchFamily="34" charset="0"/>
                </a:rPr>
                <a:t>600</a:t>
              </a:r>
            </a:p>
          </p:txBody>
        </p:sp>
      </p:grpSp>
      <p:sp>
        <p:nvSpPr>
          <p:cNvPr id="7" name="Cerrar llave 6"/>
          <p:cNvSpPr/>
          <p:nvPr/>
        </p:nvSpPr>
        <p:spPr>
          <a:xfrm rot="5400000">
            <a:off x="3036223" y="5653249"/>
            <a:ext cx="308649" cy="1090451"/>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s-CO">
              <a:solidFill>
                <a:schemeClr val="accent1"/>
              </a:solidFill>
            </a:endParaRPr>
          </a:p>
        </p:txBody>
      </p:sp>
      <p:cxnSp>
        <p:nvCxnSpPr>
          <p:cNvPr id="11" name="Conector curvado 10"/>
          <p:cNvCxnSpPr>
            <a:stCxn id="7" idx="1"/>
            <a:endCxn id="82" idx="3"/>
          </p:cNvCxnSpPr>
          <p:nvPr/>
        </p:nvCxnSpPr>
        <p:spPr>
          <a:xfrm rot="16200000" flipV="1">
            <a:off x="2388747" y="5550999"/>
            <a:ext cx="822494" cy="781104"/>
          </a:xfrm>
          <a:prstGeom prst="curvedConnector4">
            <a:avLst>
              <a:gd name="adj1" fmla="val 1861"/>
              <a:gd name="adj2" fmla="val 129266"/>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3" name="Conector curvado 12"/>
          <p:cNvCxnSpPr>
            <a:stCxn id="104" idx="2"/>
            <a:endCxn id="82" idx="0"/>
          </p:cNvCxnSpPr>
          <p:nvPr/>
        </p:nvCxnSpPr>
        <p:spPr>
          <a:xfrm rot="5400000" flipH="1">
            <a:off x="2774348" y="5106105"/>
            <a:ext cx="1043460" cy="1707195"/>
          </a:xfrm>
          <a:prstGeom prst="curvedConnector5">
            <a:avLst>
              <a:gd name="adj1" fmla="val 509"/>
              <a:gd name="adj2" fmla="val 130158"/>
              <a:gd name="adj3" fmla="val 99490"/>
            </a:avLst>
          </a:prstGeom>
          <a:ln>
            <a:tailEnd type="triangle"/>
          </a:ln>
        </p:spPr>
        <p:style>
          <a:lnRef idx="2">
            <a:schemeClr val="accent1"/>
          </a:lnRef>
          <a:fillRef idx="0">
            <a:schemeClr val="accent1"/>
          </a:fillRef>
          <a:effectRef idx="1">
            <a:schemeClr val="accent1"/>
          </a:effectRef>
          <a:fontRef idx="minor">
            <a:schemeClr val="tx1"/>
          </a:fontRef>
        </p:style>
      </p:cxnSp>
      <p:sp>
        <p:nvSpPr>
          <p:cNvPr id="105" name="Cerrar llave 104"/>
          <p:cNvSpPr/>
          <p:nvPr/>
        </p:nvSpPr>
        <p:spPr>
          <a:xfrm rot="5400000">
            <a:off x="5030929" y="5653249"/>
            <a:ext cx="308649" cy="1090451"/>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s-CO">
              <a:solidFill>
                <a:schemeClr val="accent1"/>
              </a:solidFill>
            </a:endParaRPr>
          </a:p>
        </p:txBody>
      </p:sp>
      <p:cxnSp>
        <p:nvCxnSpPr>
          <p:cNvPr id="16" name="Conector curvado 15"/>
          <p:cNvCxnSpPr>
            <a:stCxn id="105" idx="1"/>
            <a:endCxn id="82" idx="0"/>
          </p:cNvCxnSpPr>
          <p:nvPr/>
        </p:nvCxnSpPr>
        <p:spPr>
          <a:xfrm rot="16200000" flipV="1">
            <a:off x="3356454" y="4523999"/>
            <a:ext cx="914827" cy="2742772"/>
          </a:xfrm>
          <a:prstGeom prst="curvedConnector3">
            <a:avLst>
              <a:gd name="adj1" fmla="val 159855"/>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9" name="Rectángulo 18"/>
              <p:cNvSpPr/>
              <p:nvPr/>
            </p:nvSpPr>
            <p:spPr>
              <a:xfrm>
                <a:off x="5553659" y="4620794"/>
                <a:ext cx="6228057" cy="764761"/>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s-CO" sz="1400" i="0" smtClean="0">
                          <a:solidFill>
                            <a:schemeClr val="accent1"/>
                          </a:solidFill>
                          <a:latin typeface="Cambria Math" panose="02040503050406030204" pitchFamily="18" charset="0"/>
                        </a:rPr>
                        <m:t>VP</m:t>
                      </m:r>
                      <m:r>
                        <a:rPr lang="es-CO" sz="1400" i="0">
                          <a:solidFill>
                            <a:schemeClr val="accent1"/>
                          </a:solidFill>
                          <a:latin typeface="Cambria Math" panose="02040503050406030204" pitchFamily="18" charset="0"/>
                        </a:rPr>
                        <m:t>=−400−400</m:t>
                      </m:r>
                      <m:d>
                        <m:dPr>
                          <m:ctrlPr>
                            <a:rPr lang="es-CO" sz="1400" i="1">
                              <a:solidFill>
                                <a:schemeClr val="accent1"/>
                              </a:solidFill>
                              <a:latin typeface="Cambria Math" panose="02040503050406030204" pitchFamily="18" charset="0"/>
                            </a:rPr>
                          </m:ctrlPr>
                        </m:dPr>
                        <m:e>
                          <m:f>
                            <m:fPr>
                              <m:ctrlPr>
                                <a:rPr lang="es-CO" sz="1400" i="1">
                                  <a:solidFill>
                                    <a:schemeClr val="accent1"/>
                                  </a:solidFill>
                                  <a:latin typeface="Cambria Math" panose="02040503050406030204" pitchFamily="18" charset="0"/>
                                </a:rPr>
                              </m:ctrlPr>
                            </m:fPr>
                            <m:num>
                              <m:sSup>
                                <m:sSupPr>
                                  <m:ctrlPr>
                                    <a:rPr lang="es-CO" sz="1400" i="1">
                                      <a:solidFill>
                                        <a:schemeClr val="accent1"/>
                                      </a:solidFill>
                                      <a:latin typeface="Cambria Math" panose="02040503050406030204" pitchFamily="18" charset="0"/>
                                    </a:rPr>
                                  </m:ctrlPr>
                                </m:sSupPr>
                                <m:e>
                                  <m:d>
                                    <m:dPr>
                                      <m:ctrlPr>
                                        <a:rPr lang="es-CO" sz="1400" i="1">
                                          <a:solidFill>
                                            <a:schemeClr val="accent1"/>
                                          </a:solidFill>
                                          <a:latin typeface="Cambria Math" panose="02040503050406030204" pitchFamily="18" charset="0"/>
                                        </a:rPr>
                                      </m:ctrlPr>
                                    </m:dPr>
                                    <m:e>
                                      <m:r>
                                        <a:rPr lang="es-CO" sz="1400" i="0">
                                          <a:solidFill>
                                            <a:schemeClr val="accent1"/>
                                          </a:solidFill>
                                          <a:latin typeface="Cambria Math" panose="02040503050406030204" pitchFamily="18" charset="0"/>
                                        </a:rPr>
                                        <m:t>1+8%</m:t>
                                      </m:r>
                                    </m:e>
                                  </m:d>
                                </m:e>
                                <m:sup>
                                  <m:r>
                                    <a:rPr lang="es-CO" sz="1400" i="0">
                                      <a:solidFill>
                                        <a:schemeClr val="accent1"/>
                                      </a:solidFill>
                                      <a:latin typeface="Cambria Math" panose="02040503050406030204" pitchFamily="18" charset="0"/>
                                    </a:rPr>
                                    <m:t>5</m:t>
                                  </m:r>
                                </m:sup>
                              </m:sSup>
                              <m:r>
                                <a:rPr lang="es-CO" sz="1400" i="0">
                                  <a:solidFill>
                                    <a:schemeClr val="accent1"/>
                                  </a:solidFill>
                                  <a:latin typeface="Cambria Math" panose="02040503050406030204" pitchFamily="18" charset="0"/>
                                </a:rPr>
                                <m:t>−1</m:t>
                              </m:r>
                            </m:num>
                            <m:den>
                              <m:r>
                                <a:rPr lang="es-CO" sz="1400" i="0">
                                  <a:solidFill>
                                    <a:schemeClr val="accent1"/>
                                  </a:solidFill>
                                  <a:latin typeface="Cambria Math" panose="02040503050406030204" pitchFamily="18" charset="0"/>
                                </a:rPr>
                                <m:t>8%</m:t>
                              </m:r>
                              <m:sSup>
                                <m:sSupPr>
                                  <m:ctrlPr>
                                    <a:rPr lang="es-CO" sz="1400" i="1">
                                      <a:solidFill>
                                        <a:schemeClr val="accent1"/>
                                      </a:solidFill>
                                      <a:latin typeface="Cambria Math" panose="02040503050406030204" pitchFamily="18" charset="0"/>
                                    </a:rPr>
                                  </m:ctrlPr>
                                </m:sSupPr>
                                <m:e>
                                  <m:d>
                                    <m:dPr>
                                      <m:ctrlPr>
                                        <a:rPr lang="es-CO" sz="1400" i="1">
                                          <a:solidFill>
                                            <a:schemeClr val="accent1"/>
                                          </a:solidFill>
                                          <a:latin typeface="Cambria Math" panose="02040503050406030204" pitchFamily="18" charset="0"/>
                                        </a:rPr>
                                      </m:ctrlPr>
                                    </m:dPr>
                                    <m:e>
                                      <m:r>
                                        <a:rPr lang="es-CO" sz="1400" i="0">
                                          <a:solidFill>
                                            <a:schemeClr val="accent1"/>
                                          </a:solidFill>
                                          <a:latin typeface="Cambria Math" panose="02040503050406030204" pitchFamily="18" charset="0"/>
                                        </a:rPr>
                                        <m:t>1+8%</m:t>
                                      </m:r>
                                    </m:e>
                                  </m:d>
                                </m:e>
                                <m:sup>
                                  <m:r>
                                    <a:rPr lang="es-CO" sz="1400" i="0">
                                      <a:solidFill>
                                        <a:schemeClr val="accent1"/>
                                      </a:solidFill>
                                      <a:latin typeface="Cambria Math" panose="02040503050406030204" pitchFamily="18" charset="0"/>
                                    </a:rPr>
                                    <m:t>5</m:t>
                                  </m:r>
                                </m:sup>
                              </m:sSup>
                            </m:den>
                          </m:f>
                        </m:e>
                      </m:d>
                      <m:r>
                        <a:rPr lang="es-CO" sz="1400" i="0">
                          <a:solidFill>
                            <a:schemeClr val="accent1"/>
                          </a:solidFill>
                          <a:latin typeface="Cambria Math" panose="02040503050406030204" pitchFamily="18" charset="0"/>
                        </a:rPr>
                        <m:t>−</m:t>
                      </m:r>
                      <m:f>
                        <m:fPr>
                          <m:ctrlPr>
                            <a:rPr lang="es-CO" sz="1400" i="1">
                              <a:solidFill>
                                <a:schemeClr val="accent1"/>
                              </a:solidFill>
                              <a:latin typeface="Cambria Math" panose="02040503050406030204" pitchFamily="18" charset="0"/>
                            </a:rPr>
                          </m:ctrlPr>
                        </m:fPr>
                        <m:num>
                          <m:r>
                            <a:rPr lang="es-CO" sz="1400" i="0">
                              <a:solidFill>
                                <a:schemeClr val="accent1"/>
                              </a:solidFill>
                              <a:latin typeface="Cambria Math" panose="02040503050406030204" pitchFamily="18" charset="0"/>
                            </a:rPr>
                            <m:t>600</m:t>
                          </m:r>
                        </m:num>
                        <m:den>
                          <m:sSup>
                            <m:sSupPr>
                              <m:ctrlPr>
                                <a:rPr lang="es-CO" sz="1400" i="1">
                                  <a:solidFill>
                                    <a:schemeClr val="accent1"/>
                                  </a:solidFill>
                                  <a:latin typeface="Cambria Math" panose="02040503050406030204" pitchFamily="18" charset="0"/>
                                </a:rPr>
                              </m:ctrlPr>
                            </m:sSupPr>
                            <m:e>
                              <m:d>
                                <m:dPr>
                                  <m:ctrlPr>
                                    <a:rPr lang="es-CO" sz="1400" i="1">
                                      <a:solidFill>
                                        <a:schemeClr val="accent1"/>
                                      </a:solidFill>
                                      <a:latin typeface="Cambria Math" panose="02040503050406030204" pitchFamily="18" charset="0"/>
                                    </a:rPr>
                                  </m:ctrlPr>
                                </m:dPr>
                                <m:e>
                                  <m:r>
                                    <a:rPr lang="es-CO" sz="1400" i="0">
                                      <a:solidFill>
                                        <a:schemeClr val="accent1"/>
                                      </a:solidFill>
                                      <a:latin typeface="Cambria Math" panose="02040503050406030204" pitchFamily="18" charset="0"/>
                                    </a:rPr>
                                    <m:t>1+8%</m:t>
                                  </m:r>
                                </m:e>
                              </m:d>
                            </m:e>
                            <m:sup>
                              <m:r>
                                <a:rPr lang="es-CO" sz="1400" i="0">
                                  <a:solidFill>
                                    <a:schemeClr val="accent1"/>
                                  </a:solidFill>
                                  <a:latin typeface="Cambria Math" panose="02040503050406030204" pitchFamily="18" charset="0"/>
                                </a:rPr>
                                <m:t>6</m:t>
                              </m:r>
                            </m:sup>
                          </m:sSup>
                        </m:den>
                      </m:f>
                      <m:r>
                        <a:rPr lang="es-CO" sz="1400" i="0">
                          <a:solidFill>
                            <a:schemeClr val="accent1"/>
                          </a:solidFill>
                          <a:latin typeface="Cambria Math" panose="02040503050406030204" pitchFamily="18" charset="0"/>
                        </a:rPr>
                        <m:t>−</m:t>
                      </m:r>
                      <m:f>
                        <m:fPr>
                          <m:ctrlPr>
                            <a:rPr lang="es-CO" sz="1400" i="1">
                              <a:solidFill>
                                <a:schemeClr val="accent1"/>
                              </a:solidFill>
                              <a:latin typeface="Cambria Math" panose="02040503050406030204" pitchFamily="18" charset="0"/>
                            </a:rPr>
                          </m:ctrlPr>
                        </m:fPr>
                        <m:num>
                          <m:r>
                            <a:rPr lang="es-CO" sz="1400" i="0">
                              <a:solidFill>
                                <a:schemeClr val="accent1"/>
                              </a:solidFill>
                              <a:latin typeface="Cambria Math" panose="02040503050406030204" pitchFamily="18" charset="0"/>
                            </a:rPr>
                            <m:t>400</m:t>
                          </m:r>
                          <m:d>
                            <m:dPr>
                              <m:ctrlPr>
                                <a:rPr lang="es-CO" sz="1400" i="1">
                                  <a:solidFill>
                                    <a:schemeClr val="accent1"/>
                                  </a:solidFill>
                                  <a:latin typeface="Cambria Math" panose="02040503050406030204" pitchFamily="18" charset="0"/>
                                </a:rPr>
                              </m:ctrlPr>
                            </m:dPr>
                            <m:e>
                              <m:f>
                                <m:fPr>
                                  <m:ctrlPr>
                                    <a:rPr lang="es-CO" sz="1400" i="1">
                                      <a:solidFill>
                                        <a:schemeClr val="accent1"/>
                                      </a:solidFill>
                                      <a:latin typeface="Cambria Math" panose="02040503050406030204" pitchFamily="18" charset="0"/>
                                    </a:rPr>
                                  </m:ctrlPr>
                                </m:fPr>
                                <m:num>
                                  <m:sSup>
                                    <m:sSupPr>
                                      <m:ctrlPr>
                                        <a:rPr lang="es-CO" sz="1400" i="1">
                                          <a:solidFill>
                                            <a:schemeClr val="accent1"/>
                                          </a:solidFill>
                                          <a:latin typeface="Cambria Math" panose="02040503050406030204" pitchFamily="18" charset="0"/>
                                        </a:rPr>
                                      </m:ctrlPr>
                                    </m:sSupPr>
                                    <m:e>
                                      <m:d>
                                        <m:dPr>
                                          <m:ctrlPr>
                                            <a:rPr lang="es-CO" sz="1400" i="1">
                                              <a:solidFill>
                                                <a:schemeClr val="accent1"/>
                                              </a:solidFill>
                                              <a:latin typeface="Cambria Math" panose="02040503050406030204" pitchFamily="18" charset="0"/>
                                            </a:rPr>
                                          </m:ctrlPr>
                                        </m:dPr>
                                        <m:e>
                                          <m:r>
                                            <a:rPr lang="es-CO" sz="1400" i="0">
                                              <a:solidFill>
                                                <a:schemeClr val="accent1"/>
                                              </a:solidFill>
                                              <a:latin typeface="Cambria Math" panose="02040503050406030204" pitchFamily="18" charset="0"/>
                                            </a:rPr>
                                            <m:t>1+8%</m:t>
                                          </m:r>
                                        </m:e>
                                      </m:d>
                                    </m:e>
                                    <m:sup>
                                      <m:r>
                                        <a:rPr lang="es-CO" sz="1400" i="0">
                                          <a:solidFill>
                                            <a:schemeClr val="accent1"/>
                                          </a:solidFill>
                                          <a:latin typeface="Cambria Math" panose="02040503050406030204" pitchFamily="18" charset="0"/>
                                        </a:rPr>
                                        <m:t>6</m:t>
                                      </m:r>
                                    </m:sup>
                                  </m:sSup>
                                  <m:r>
                                    <a:rPr lang="es-CO" sz="1400" i="0">
                                      <a:solidFill>
                                        <a:schemeClr val="accent1"/>
                                      </a:solidFill>
                                      <a:latin typeface="Cambria Math" panose="02040503050406030204" pitchFamily="18" charset="0"/>
                                    </a:rPr>
                                    <m:t>−1</m:t>
                                  </m:r>
                                </m:num>
                                <m:den>
                                  <m:r>
                                    <a:rPr lang="es-CO" sz="1400" i="0">
                                      <a:solidFill>
                                        <a:schemeClr val="accent1"/>
                                      </a:solidFill>
                                      <a:latin typeface="Cambria Math" panose="02040503050406030204" pitchFamily="18" charset="0"/>
                                    </a:rPr>
                                    <m:t>8%</m:t>
                                  </m:r>
                                  <m:sSup>
                                    <m:sSupPr>
                                      <m:ctrlPr>
                                        <a:rPr lang="es-CO" sz="1400" i="1">
                                          <a:solidFill>
                                            <a:schemeClr val="accent1"/>
                                          </a:solidFill>
                                          <a:latin typeface="Cambria Math" panose="02040503050406030204" pitchFamily="18" charset="0"/>
                                        </a:rPr>
                                      </m:ctrlPr>
                                    </m:sSupPr>
                                    <m:e>
                                      <m:d>
                                        <m:dPr>
                                          <m:ctrlPr>
                                            <a:rPr lang="es-CO" sz="1400" i="1">
                                              <a:solidFill>
                                                <a:schemeClr val="accent1"/>
                                              </a:solidFill>
                                              <a:latin typeface="Cambria Math" panose="02040503050406030204" pitchFamily="18" charset="0"/>
                                            </a:rPr>
                                          </m:ctrlPr>
                                        </m:dPr>
                                        <m:e>
                                          <m:r>
                                            <a:rPr lang="es-CO" sz="1400" i="0">
                                              <a:solidFill>
                                                <a:schemeClr val="accent1"/>
                                              </a:solidFill>
                                              <a:latin typeface="Cambria Math" panose="02040503050406030204" pitchFamily="18" charset="0"/>
                                            </a:rPr>
                                            <m:t>1+8%</m:t>
                                          </m:r>
                                        </m:e>
                                      </m:d>
                                    </m:e>
                                    <m:sup>
                                      <m:r>
                                        <a:rPr lang="es-CO" sz="1400" i="0">
                                          <a:solidFill>
                                            <a:schemeClr val="accent1"/>
                                          </a:solidFill>
                                          <a:latin typeface="Cambria Math" panose="02040503050406030204" pitchFamily="18" charset="0"/>
                                        </a:rPr>
                                        <m:t>6</m:t>
                                      </m:r>
                                    </m:sup>
                                  </m:sSup>
                                </m:den>
                              </m:f>
                            </m:e>
                          </m:d>
                        </m:num>
                        <m:den>
                          <m:sSup>
                            <m:sSupPr>
                              <m:ctrlPr>
                                <a:rPr lang="es-CO" sz="1400" i="1">
                                  <a:solidFill>
                                    <a:schemeClr val="accent1"/>
                                  </a:solidFill>
                                  <a:latin typeface="Cambria Math" panose="02040503050406030204" pitchFamily="18" charset="0"/>
                                </a:rPr>
                              </m:ctrlPr>
                            </m:sSupPr>
                            <m:e>
                              <m:d>
                                <m:dPr>
                                  <m:ctrlPr>
                                    <a:rPr lang="es-CO" sz="1400" i="1">
                                      <a:solidFill>
                                        <a:schemeClr val="accent1"/>
                                      </a:solidFill>
                                      <a:latin typeface="Cambria Math" panose="02040503050406030204" pitchFamily="18" charset="0"/>
                                    </a:rPr>
                                  </m:ctrlPr>
                                </m:dPr>
                                <m:e>
                                  <m:r>
                                    <a:rPr lang="es-CO" sz="1400" i="0">
                                      <a:solidFill>
                                        <a:schemeClr val="accent1"/>
                                      </a:solidFill>
                                      <a:latin typeface="Cambria Math" panose="02040503050406030204" pitchFamily="18" charset="0"/>
                                    </a:rPr>
                                    <m:t>1+8%</m:t>
                                  </m:r>
                                </m:e>
                              </m:d>
                            </m:e>
                            <m:sup>
                              <m:r>
                                <a:rPr lang="es-CO" sz="1400" i="0">
                                  <a:solidFill>
                                    <a:schemeClr val="accent1"/>
                                  </a:solidFill>
                                  <a:latin typeface="Cambria Math" panose="02040503050406030204" pitchFamily="18" charset="0"/>
                                </a:rPr>
                                <m:t>6</m:t>
                              </m:r>
                            </m:sup>
                          </m:sSup>
                        </m:den>
                      </m:f>
                      <m:r>
                        <a:rPr lang="es-CO" sz="1400" i="0">
                          <a:solidFill>
                            <a:schemeClr val="accent1"/>
                          </a:solidFill>
                          <a:latin typeface="Cambria Math" panose="02040503050406030204" pitchFamily="18" charset="0"/>
                        </a:rPr>
                        <m:t> </m:t>
                      </m:r>
                    </m:oMath>
                  </m:oMathPara>
                </a14:m>
                <a:endParaRPr lang="es-CO" sz="1400">
                  <a:solidFill>
                    <a:schemeClr val="accent1"/>
                  </a:solidFill>
                </a:endParaRPr>
              </a:p>
            </p:txBody>
          </p:sp>
        </mc:Choice>
        <mc:Fallback xmlns="">
          <p:sp>
            <p:nvSpPr>
              <p:cNvPr id="19" name="Rectángulo 18"/>
              <p:cNvSpPr>
                <a:spLocks noRot="1" noChangeAspect="1" noMove="1" noResize="1" noEditPoints="1" noAdjustHandles="1" noChangeArrowheads="1" noChangeShapeType="1" noTextEdit="1"/>
              </p:cNvSpPr>
              <p:nvPr/>
            </p:nvSpPr>
            <p:spPr>
              <a:xfrm>
                <a:off x="5553659" y="4620794"/>
                <a:ext cx="6228057" cy="764761"/>
              </a:xfrm>
              <a:prstGeom prst="rect">
                <a:avLst/>
              </a:prstGeom>
              <a:blipFill>
                <a:blip r:embed="rId3"/>
                <a:stretch>
                  <a:fillRect/>
                </a:stretch>
              </a:blipFill>
            </p:spPr>
            <p:txBody>
              <a:bodyPr/>
              <a:lstStyle/>
              <a:p>
                <a:r>
                  <a:rPr lang="es-CO">
                    <a:noFill/>
                  </a:rPr>
                  <a:t> </a:t>
                </a:r>
              </a:p>
            </p:txBody>
          </p:sp>
        </mc:Fallback>
      </mc:AlternateContent>
      <p:cxnSp>
        <p:nvCxnSpPr>
          <p:cNvPr id="22" name="Conector curvado 21"/>
          <p:cNvCxnSpPr>
            <a:stCxn id="82" idx="0"/>
            <a:endCxn id="94" idx="0"/>
          </p:cNvCxnSpPr>
          <p:nvPr/>
        </p:nvCxnSpPr>
        <p:spPr>
          <a:xfrm rot="5400000" flipH="1" flipV="1">
            <a:off x="4144269" y="3721927"/>
            <a:ext cx="14257" cy="3417832"/>
          </a:xfrm>
          <a:prstGeom prst="curvedConnector3">
            <a:avLst>
              <a:gd name="adj1" fmla="val 1703423"/>
            </a:avLst>
          </a:prstGeom>
          <a:ln>
            <a:solidFill>
              <a:srgbClr val="7030A0"/>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3" name="Rectángulo 22"/>
              <p:cNvSpPr/>
              <p:nvPr/>
            </p:nvSpPr>
            <p:spPr>
              <a:xfrm>
                <a:off x="7680938" y="5608381"/>
                <a:ext cx="2213105"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m:rPr>
                          <m:sty m:val="p"/>
                        </m:rPr>
                        <a:rPr lang="es-CO" i="0" smtClean="0">
                          <a:solidFill>
                            <a:schemeClr val="tx1"/>
                          </a:solidFill>
                          <a:latin typeface="Cambria Math" panose="02040503050406030204" pitchFamily="18" charset="0"/>
                        </a:rPr>
                        <m:t>V</m:t>
                      </m:r>
                      <m:r>
                        <m:rPr>
                          <m:sty m:val="p"/>
                        </m:rPr>
                        <a:rPr lang="es-ES" b="0" i="0" smtClean="0">
                          <a:solidFill>
                            <a:schemeClr val="tx1"/>
                          </a:solidFill>
                          <a:latin typeface="Cambria Math" panose="02040503050406030204" pitchFamily="18" charset="0"/>
                        </a:rPr>
                        <m:t>F</m:t>
                      </m:r>
                      <m:r>
                        <a:rPr lang="es-CO" i="0">
                          <a:solidFill>
                            <a:schemeClr val="tx1"/>
                          </a:solidFill>
                          <a:latin typeface="Cambria Math" panose="02040503050406030204" pitchFamily="18" charset="0"/>
                        </a:rPr>
                        <m:t>=</m:t>
                      </m:r>
                      <m:r>
                        <m:rPr>
                          <m:sty m:val="p"/>
                        </m:rPr>
                        <a:rPr lang="es-CO" i="0">
                          <a:solidFill>
                            <a:schemeClr val="tx1"/>
                          </a:solidFill>
                          <a:latin typeface="Cambria Math" panose="02040503050406030204" pitchFamily="18" charset="0"/>
                        </a:rPr>
                        <m:t>VP</m:t>
                      </m:r>
                      <m:sSup>
                        <m:sSupPr>
                          <m:ctrlPr>
                            <a:rPr lang="es-CO" i="1">
                              <a:solidFill>
                                <a:schemeClr val="tx1"/>
                              </a:solidFill>
                              <a:latin typeface="Cambria Math" panose="02040503050406030204" pitchFamily="18" charset="0"/>
                            </a:rPr>
                          </m:ctrlPr>
                        </m:sSupPr>
                        <m:e>
                          <m:d>
                            <m:dPr>
                              <m:ctrlPr>
                                <a:rPr lang="es-CO" i="1">
                                  <a:solidFill>
                                    <a:schemeClr val="tx1"/>
                                  </a:solidFill>
                                  <a:latin typeface="Cambria Math" panose="02040503050406030204" pitchFamily="18" charset="0"/>
                                </a:rPr>
                              </m:ctrlPr>
                            </m:dPr>
                            <m:e>
                              <m:r>
                                <a:rPr lang="es-CO" i="0">
                                  <a:solidFill>
                                    <a:schemeClr val="tx1"/>
                                  </a:solidFill>
                                  <a:latin typeface="Cambria Math" panose="02040503050406030204" pitchFamily="18" charset="0"/>
                                </a:rPr>
                                <m:t>1+8%</m:t>
                              </m:r>
                            </m:e>
                          </m:d>
                        </m:e>
                        <m:sup>
                          <m:r>
                            <a:rPr lang="es-CO" i="0">
                              <a:solidFill>
                                <a:schemeClr val="tx1"/>
                              </a:solidFill>
                              <a:latin typeface="Cambria Math" panose="02040503050406030204" pitchFamily="18" charset="0"/>
                            </a:rPr>
                            <m:t>12</m:t>
                          </m:r>
                        </m:sup>
                      </m:sSup>
                    </m:oMath>
                  </m:oMathPara>
                </a14:m>
                <a:endParaRPr lang="es-CO">
                  <a:solidFill>
                    <a:schemeClr val="tx1"/>
                  </a:solidFill>
                </a:endParaRPr>
              </a:p>
            </p:txBody>
          </p:sp>
        </mc:Choice>
        <mc:Fallback xmlns="">
          <p:sp>
            <p:nvSpPr>
              <p:cNvPr id="23" name="Rectángulo 22"/>
              <p:cNvSpPr>
                <a:spLocks noRot="1" noChangeAspect="1" noMove="1" noResize="1" noEditPoints="1" noAdjustHandles="1" noChangeArrowheads="1" noChangeShapeType="1" noTextEdit="1"/>
              </p:cNvSpPr>
              <p:nvPr/>
            </p:nvSpPr>
            <p:spPr>
              <a:xfrm>
                <a:off x="7680938" y="5608381"/>
                <a:ext cx="2213105" cy="369332"/>
              </a:xfrm>
              <a:prstGeom prst="rect">
                <a:avLst/>
              </a:prstGeom>
              <a:blipFill>
                <a:blip r:embed="rId4"/>
                <a:stretch>
                  <a:fillRect/>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24" name="Rectángulo 23"/>
              <p:cNvSpPr/>
              <p:nvPr/>
            </p:nvSpPr>
            <p:spPr>
              <a:xfrm>
                <a:off x="7821130" y="6112100"/>
                <a:ext cx="2002471"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s-CO" b="1" i="0" smtClean="0">
                          <a:solidFill>
                            <a:schemeClr val="tx1"/>
                          </a:solidFill>
                          <a:latin typeface="Cambria Math" panose="02040503050406030204" pitchFamily="18" charset="0"/>
                        </a:rPr>
                        <m:t>𝐕</m:t>
                      </m:r>
                      <m:r>
                        <a:rPr lang="es-ES" b="1" i="0" smtClean="0">
                          <a:solidFill>
                            <a:schemeClr val="tx1"/>
                          </a:solidFill>
                          <a:latin typeface="Cambria Math" panose="02040503050406030204" pitchFamily="18" charset="0"/>
                        </a:rPr>
                        <m:t>𝐅</m:t>
                      </m:r>
                      <m:r>
                        <a:rPr lang="es-CO" b="1" i="0">
                          <a:solidFill>
                            <a:schemeClr val="tx1"/>
                          </a:solidFill>
                          <a:latin typeface="Cambria Math" panose="02040503050406030204" pitchFamily="18" charset="0"/>
                        </a:rPr>
                        <m:t>=−</m:t>
                      </m:r>
                      <m:r>
                        <a:rPr lang="es-CO" b="1" i="0">
                          <a:solidFill>
                            <a:schemeClr val="tx1"/>
                          </a:solidFill>
                          <a:latin typeface="Cambria Math" panose="02040503050406030204" pitchFamily="18" charset="0"/>
                        </a:rPr>
                        <m:t>𝟖</m:t>
                      </m:r>
                      <m:r>
                        <a:rPr lang="es-CO" b="1" i="0">
                          <a:solidFill>
                            <a:schemeClr val="tx1"/>
                          </a:solidFill>
                          <a:latin typeface="Cambria Math" panose="02040503050406030204" pitchFamily="18" charset="0"/>
                        </a:rPr>
                        <m:t>.</m:t>
                      </m:r>
                      <m:r>
                        <a:rPr lang="es-CO" b="1" i="0">
                          <a:solidFill>
                            <a:schemeClr val="tx1"/>
                          </a:solidFill>
                          <a:latin typeface="Cambria Math" panose="02040503050406030204" pitchFamily="18" charset="0"/>
                        </a:rPr>
                        <m:t>𝟗𝟏𝟓</m:t>
                      </m:r>
                      <m:r>
                        <a:rPr lang="es-CO" b="1" i="0">
                          <a:solidFill>
                            <a:schemeClr val="tx1"/>
                          </a:solidFill>
                          <a:latin typeface="Cambria Math" panose="02040503050406030204" pitchFamily="18" charset="0"/>
                        </a:rPr>
                        <m:t>,</m:t>
                      </m:r>
                      <m:r>
                        <a:rPr lang="es-CO" b="1" i="0">
                          <a:solidFill>
                            <a:schemeClr val="tx1"/>
                          </a:solidFill>
                          <a:latin typeface="Cambria Math" panose="02040503050406030204" pitchFamily="18" charset="0"/>
                        </a:rPr>
                        <m:t>𝟒𝟗</m:t>
                      </m:r>
                    </m:oMath>
                  </m:oMathPara>
                </a14:m>
                <a:endParaRPr lang="es-CO" b="1">
                  <a:solidFill>
                    <a:schemeClr val="tx1"/>
                  </a:solidFill>
                </a:endParaRPr>
              </a:p>
            </p:txBody>
          </p:sp>
        </mc:Choice>
        <mc:Fallback xmlns="">
          <p:sp>
            <p:nvSpPr>
              <p:cNvPr id="24" name="Rectángulo 23"/>
              <p:cNvSpPr>
                <a:spLocks noRot="1" noChangeAspect="1" noMove="1" noResize="1" noEditPoints="1" noAdjustHandles="1" noChangeArrowheads="1" noChangeShapeType="1" noTextEdit="1"/>
              </p:cNvSpPr>
              <p:nvPr/>
            </p:nvSpPr>
            <p:spPr>
              <a:xfrm>
                <a:off x="7821130" y="6112100"/>
                <a:ext cx="2002471" cy="369332"/>
              </a:xfrm>
              <a:prstGeom prst="rect">
                <a:avLst/>
              </a:prstGeom>
              <a:blipFill>
                <a:blip r:embed="rId5"/>
                <a:stretch>
                  <a:fillRect/>
                </a:stretch>
              </a:blipFill>
            </p:spPr>
            <p:txBody>
              <a:bodyPr/>
              <a:lstStyle/>
              <a:p>
                <a:r>
                  <a:rPr lang="es-CO">
                    <a:noFill/>
                  </a:rPr>
                  <a:t> </a:t>
                </a:r>
              </a:p>
            </p:txBody>
          </p:sp>
        </mc:Fallback>
      </mc:AlternateContent>
      <p:sp>
        <p:nvSpPr>
          <p:cNvPr id="136" name="Rectángulo 135">
            <a:extLst>
              <a:ext uri="{FF2B5EF4-FFF2-40B4-BE49-F238E27FC236}">
                <a16:creationId xmlns:a16="http://schemas.microsoft.com/office/drawing/2014/main" id="{864E3335-16B3-4DC5-A85A-0F82B129CFDD}"/>
              </a:ext>
            </a:extLst>
          </p:cNvPr>
          <p:cNvSpPr/>
          <p:nvPr/>
        </p:nvSpPr>
        <p:spPr>
          <a:xfrm>
            <a:off x="581192" y="2026344"/>
            <a:ext cx="1399742" cy="400110"/>
          </a:xfrm>
          <a:prstGeom prst="rect">
            <a:avLst/>
          </a:prstGeom>
        </p:spPr>
        <p:txBody>
          <a:bodyPr wrap="none">
            <a:spAutoFit/>
          </a:bodyPr>
          <a:lstStyle/>
          <a:p>
            <a:r>
              <a:rPr lang="es-ES_tradnl" sz="2000" b="1">
                <a:solidFill>
                  <a:srgbClr val="C00000"/>
                </a:solidFill>
                <a:latin typeface="Century Gothic" panose="020B0502020202020204" pitchFamily="34" charset="0"/>
              </a:rPr>
              <a:t>Ejemplo 1</a:t>
            </a:r>
            <a:endParaRPr lang="es-CO" sz="2000" b="1">
              <a:solidFill>
                <a:srgbClr val="C00000"/>
              </a:solidFill>
              <a:latin typeface="Century Gothic" panose="020B0502020202020204" pitchFamily="34" charset="0"/>
            </a:endParaRPr>
          </a:p>
        </p:txBody>
      </p:sp>
      <p:sp>
        <p:nvSpPr>
          <p:cNvPr id="139" name="CuadroTexto 138">
            <a:extLst>
              <a:ext uri="{FF2B5EF4-FFF2-40B4-BE49-F238E27FC236}">
                <a16:creationId xmlns:a16="http://schemas.microsoft.com/office/drawing/2014/main" id="{7A3D9C11-932D-4340-891F-1C338F6264DC}"/>
              </a:ext>
            </a:extLst>
          </p:cNvPr>
          <p:cNvSpPr txBox="1"/>
          <p:nvPr/>
        </p:nvSpPr>
        <p:spPr>
          <a:xfrm>
            <a:off x="7981884" y="2820355"/>
            <a:ext cx="2793324" cy="1077218"/>
          </a:xfrm>
          <a:prstGeom prst="rect">
            <a:avLst/>
          </a:prstGeom>
          <a:noFill/>
        </p:spPr>
        <p:txBody>
          <a:bodyPr wrap="square" rtlCol="0">
            <a:spAutoFit/>
          </a:bodyPr>
          <a:lstStyle/>
          <a:p>
            <a:pPr algn="ctr"/>
            <a:r>
              <a:rPr lang="es-CO" sz="1600">
                <a:solidFill>
                  <a:schemeClr val="accent3">
                    <a:lumMod val="75000"/>
                  </a:schemeClr>
                </a:solidFill>
                <a:latin typeface="Century Gothic" panose="020B0502020202020204" pitchFamily="34" charset="0"/>
              </a:rPr>
              <a:t>Suponiendo que los flujos son anuales, ¿A cuánto equivaldrían esta serie de pagos en el año 12?</a:t>
            </a:r>
          </a:p>
        </p:txBody>
      </p:sp>
      <p:grpSp>
        <p:nvGrpSpPr>
          <p:cNvPr id="71" name="Grupo 70">
            <a:extLst>
              <a:ext uri="{FF2B5EF4-FFF2-40B4-BE49-F238E27FC236}">
                <a16:creationId xmlns:a16="http://schemas.microsoft.com/office/drawing/2014/main" id="{E4FC648E-209E-4E29-8DC9-E9CF6A406B25}"/>
              </a:ext>
            </a:extLst>
          </p:cNvPr>
          <p:cNvGrpSpPr/>
          <p:nvPr/>
        </p:nvGrpSpPr>
        <p:grpSpPr>
          <a:xfrm>
            <a:off x="1852200" y="3382677"/>
            <a:ext cx="5391476" cy="1265666"/>
            <a:chOff x="1491343" y="4202329"/>
            <a:chExt cx="7048165" cy="2099227"/>
          </a:xfrm>
        </p:grpSpPr>
        <p:cxnSp>
          <p:nvCxnSpPr>
            <p:cNvPr id="72" name="Straight Connector 12">
              <a:extLst>
                <a:ext uri="{FF2B5EF4-FFF2-40B4-BE49-F238E27FC236}">
                  <a16:creationId xmlns:a16="http://schemas.microsoft.com/office/drawing/2014/main" id="{1055F289-C8BB-43EA-BF22-3325968C6DDB}"/>
                </a:ext>
              </a:extLst>
            </p:cNvPr>
            <p:cNvCxnSpPr/>
            <p:nvPr/>
          </p:nvCxnSpPr>
          <p:spPr>
            <a:xfrm>
              <a:off x="1519511" y="4640650"/>
              <a:ext cx="6873849" cy="12241"/>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sp>
          <p:nvSpPr>
            <p:cNvPr id="73" name="Rectangle 23">
              <a:extLst>
                <a:ext uri="{FF2B5EF4-FFF2-40B4-BE49-F238E27FC236}">
                  <a16:creationId xmlns:a16="http://schemas.microsoft.com/office/drawing/2014/main" id="{ADDD6AB7-D160-4DF1-A2ED-8865138BAF24}"/>
                </a:ext>
              </a:extLst>
            </p:cNvPr>
            <p:cNvSpPr>
              <a:spLocks/>
            </p:cNvSpPr>
            <p:nvPr/>
          </p:nvSpPr>
          <p:spPr bwMode="auto">
            <a:xfrm flipH="1">
              <a:off x="1491343" y="4229942"/>
              <a:ext cx="131729" cy="40838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solidFill>
                    <a:schemeClr val="accent1"/>
                  </a:solidFill>
                  <a:latin typeface="Century Gothic" panose="020B0502020202020204" pitchFamily="34" charset="0"/>
                </a:rPr>
                <a:t>0</a:t>
              </a:r>
            </a:p>
          </p:txBody>
        </p:sp>
        <p:sp>
          <p:nvSpPr>
            <p:cNvPr id="74" name="Rectangle 11">
              <a:extLst>
                <a:ext uri="{FF2B5EF4-FFF2-40B4-BE49-F238E27FC236}">
                  <a16:creationId xmlns:a16="http://schemas.microsoft.com/office/drawing/2014/main" id="{E16E93A2-AF5B-45C2-A438-6D3BFD9FEB43}"/>
                </a:ext>
              </a:extLst>
            </p:cNvPr>
            <p:cNvSpPr>
              <a:spLocks/>
            </p:cNvSpPr>
            <p:nvPr/>
          </p:nvSpPr>
          <p:spPr bwMode="auto">
            <a:xfrm>
              <a:off x="1924079" y="4221453"/>
              <a:ext cx="337060" cy="40838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solidFill>
                    <a:schemeClr val="accent1"/>
                  </a:solidFill>
                  <a:latin typeface="Century Gothic" panose="020B0502020202020204" pitchFamily="34" charset="0"/>
                </a:rPr>
                <a:t>1</a:t>
              </a:r>
            </a:p>
          </p:txBody>
        </p:sp>
        <p:sp>
          <p:nvSpPr>
            <p:cNvPr id="75" name="Rectangle 14">
              <a:extLst>
                <a:ext uri="{FF2B5EF4-FFF2-40B4-BE49-F238E27FC236}">
                  <a16:creationId xmlns:a16="http://schemas.microsoft.com/office/drawing/2014/main" id="{D0790B5B-587E-4614-A7DA-AC55E466088D}"/>
                </a:ext>
              </a:extLst>
            </p:cNvPr>
            <p:cNvSpPr>
              <a:spLocks/>
            </p:cNvSpPr>
            <p:nvPr/>
          </p:nvSpPr>
          <p:spPr bwMode="auto">
            <a:xfrm>
              <a:off x="2484692" y="4221453"/>
              <a:ext cx="337060" cy="40838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solidFill>
                    <a:schemeClr val="accent1"/>
                  </a:solidFill>
                  <a:latin typeface="Century Gothic" panose="020B0502020202020204" pitchFamily="34" charset="0"/>
                </a:rPr>
                <a:t>2</a:t>
              </a:r>
            </a:p>
          </p:txBody>
        </p:sp>
        <p:sp>
          <p:nvSpPr>
            <p:cNvPr id="76" name="Rectangle 15">
              <a:extLst>
                <a:ext uri="{FF2B5EF4-FFF2-40B4-BE49-F238E27FC236}">
                  <a16:creationId xmlns:a16="http://schemas.microsoft.com/office/drawing/2014/main" id="{5DD9676E-29C2-4D24-8429-80236D08A35E}"/>
                </a:ext>
              </a:extLst>
            </p:cNvPr>
            <p:cNvSpPr>
              <a:spLocks/>
            </p:cNvSpPr>
            <p:nvPr/>
          </p:nvSpPr>
          <p:spPr bwMode="auto">
            <a:xfrm>
              <a:off x="3048549" y="4221453"/>
              <a:ext cx="337060" cy="40838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solidFill>
                    <a:schemeClr val="accent1"/>
                  </a:solidFill>
                  <a:latin typeface="Century Gothic" panose="020B0502020202020204" pitchFamily="34" charset="0"/>
                </a:rPr>
                <a:t>3</a:t>
              </a:r>
            </a:p>
          </p:txBody>
        </p:sp>
        <p:sp>
          <p:nvSpPr>
            <p:cNvPr id="77" name="Rectangle 16">
              <a:extLst>
                <a:ext uri="{FF2B5EF4-FFF2-40B4-BE49-F238E27FC236}">
                  <a16:creationId xmlns:a16="http://schemas.microsoft.com/office/drawing/2014/main" id="{228D7B25-CBCA-42BF-8D4A-61C799426D3A}"/>
                </a:ext>
              </a:extLst>
            </p:cNvPr>
            <p:cNvSpPr>
              <a:spLocks/>
            </p:cNvSpPr>
            <p:nvPr/>
          </p:nvSpPr>
          <p:spPr bwMode="auto">
            <a:xfrm>
              <a:off x="3655075" y="4221453"/>
              <a:ext cx="337060" cy="40838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solidFill>
                    <a:schemeClr val="accent1"/>
                  </a:solidFill>
                  <a:latin typeface="Century Gothic" panose="020B0502020202020204" pitchFamily="34" charset="0"/>
                </a:rPr>
                <a:t>4</a:t>
              </a:r>
            </a:p>
          </p:txBody>
        </p:sp>
        <p:sp>
          <p:nvSpPr>
            <p:cNvPr id="78" name="Rectangle 17">
              <a:extLst>
                <a:ext uri="{FF2B5EF4-FFF2-40B4-BE49-F238E27FC236}">
                  <a16:creationId xmlns:a16="http://schemas.microsoft.com/office/drawing/2014/main" id="{134DDA7D-9F08-4885-99D6-BF956B1984C2}"/>
                </a:ext>
              </a:extLst>
            </p:cNvPr>
            <p:cNvSpPr>
              <a:spLocks/>
            </p:cNvSpPr>
            <p:nvPr/>
          </p:nvSpPr>
          <p:spPr bwMode="auto">
            <a:xfrm>
              <a:off x="4258181" y="4202329"/>
              <a:ext cx="337060" cy="40838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solidFill>
                    <a:schemeClr val="accent1"/>
                  </a:solidFill>
                  <a:latin typeface="Century Gothic" panose="020B0502020202020204" pitchFamily="34" charset="0"/>
                </a:rPr>
                <a:t>5</a:t>
              </a:r>
            </a:p>
          </p:txBody>
        </p:sp>
        <p:sp>
          <p:nvSpPr>
            <p:cNvPr id="79" name="Rectangle 18">
              <a:extLst>
                <a:ext uri="{FF2B5EF4-FFF2-40B4-BE49-F238E27FC236}">
                  <a16:creationId xmlns:a16="http://schemas.microsoft.com/office/drawing/2014/main" id="{EA180BF5-455D-42D0-92D6-E128EEEBA6CD}"/>
                </a:ext>
              </a:extLst>
            </p:cNvPr>
            <p:cNvSpPr>
              <a:spLocks/>
            </p:cNvSpPr>
            <p:nvPr/>
          </p:nvSpPr>
          <p:spPr bwMode="auto">
            <a:xfrm>
              <a:off x="4777031" y="4221453"/>
              <a:ext cx="337060" cy="40838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solidFill>
                    <a:schemeClr val="accent1"/>
                  </a:solidFill>
                  <a:latin typeface="Century Gothic" panose="020B0502020202020204" pitchFamily="34" charset="0"/>
                </a:rPr>
                <a:t>6</a:t>
              </a:r>
            </a:p>
          </p:txBody>
        </p:sp>
        <p:sp>
          <p:nvSpPr>
            <p:cNvPr id="131" name="Rectangle 19">
              <a:extLst>
                <a:ext uri="{FF2B5EF4-FFF2-40B4-BE49-F238E27FC236}">
                  <a16:creationId xmlns:a16="http://schemas.microsoft.com/office/drawing/2014/main" id="{D2C4D7FF-E07A-4F1D-AF56-3C07787535FF}"/>
                </a:ext>
              </a:extLst>
            </p:cNvPr>
            <p:cNvSpPr>
              <a:spLocks/>
            </p:cNvSpPr>
            <p:nvPr/>
          </p:nvSpPr>
          <p:spPr bwMode="auto">
            <a:xfrm>
              <a:off x="5383554" y="4221453"/>
              <a:ext cx="337060" cy="40838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solidFill>
                    <a:schemeClr val="accent1"/>
                  </a:solidFill>
                  <a:latin typeface="Century Gothic" panose="020B0502020202020204" pitchFamily="34" charset="0"/>
                </a:rPr>
                <a:t>7</a:t>
              </a:r>
            </a:p>
          </p:txBody>
        </p:sp>
        <p:sp>
          <p:nvSpPr>
            <p:cNvPr id="132" name="Rectangle 28">
              <a:extLst>
                <a:ext uri="{FF2B5EF4-FFF2-40B4-BE49-F238E27FC236}">
                  <a16:creationId xmlns:a16="http://schemas.microsoft.com/office/drawing/2014/main" id="{FBECF070-77D6-4376-804B-01C277B46CDC}"/>
                </a:ext>
              </a:extLst>
            </p:cNvPr>
            <p:cNvSpPr>
              <a:spLocks/>
            </p:cNvSpPr>
            <p:nvPr/>
          </p:nvSpPr>
          <p:spPr bwMode="auto">
            <a:xfrm>
              <a:off x="5938227" y="4221453"/>
              <a:ext cx="337060" cy="40838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solidFill>
                    <a:schemeClr val="accent1"/>
                  </a:solidFill>
                  <a:latin typeface="Century Gothic" panose="020B0502020202020204" pitchFamily="34" charset="0"/>
                </a:rPr>
                <a:t>8</a:t>
              </a:r>
            </a:p>
          </p:txBody>
        </p:sp>
        <p:sp>
          <p:nvSpPr>
            <p:cNvPr id="133" name="Rectangle 29">
              <a:extLst>
                <a:ext uri="{FF2B5EF4-FFF2-40B4-BE49-F238E27FC236}">
                  <a16:creationId xmlns:a16="http://schemas.microsoft.com/office/drawing/2014/main" id="{217A638D-DA7B-49C5-8C9A-17DE149A3AD3}"/>
                </a:ext>
              </a:extLst>
            </p:cNvPr>
            <p:cNvSpPr>
              <a:spLocks/>
            </p:cNvSpPr>
            <p:nvPr/>
          </p:nvSpPr>
          <p:spPr bwMode="auto">
            <a:xfrm>
              <a:off x="6532383" y="4229941"/>
              <a:ext cx="337060" cy="40838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solidFill>
                    <a:schemeClr val="accent1"/>
                  </a:solidFill>
                  <a:latin typeface="Century Gothic" panose="020B0502020202020204" pitchFamily="34" charset="0"/>
                </a:rPr>
                <a:t>9</a:t>
              </a:r>
            </a:p>
          </p:txBody>
        </p:sp>
        <p:sp>
          <p:nvSpPr>
            <p:cNvPr id="134" name="Rectangle 30">
              <a:extLst>
                <a:ext uri="{FF2B5EF4-FFF2-40B4-BE49-F238E27FC236}">
                  <a16:creationId xmlns:a16="http://schemas.microsoft.com/office/drawing/2014/main" id="{237206ED-D871-440E-A7AF-C59CD39029F3}"/>
                </a:ext>
              </a:extLst>
            </p:cNvPr>
            <p:cNvSpPr>
              <a:spLocks/>
            </p:cNvSpPr>
            <p:nvPr/>
          </p:nvSpPr>
          <p:spPr bwMode="auto">
            <a:xfrm>
              <a:off x="7153602" y="4221453"/>
              <a:ext cx="337060" cy="40838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solidFill>
                    <a:schemeClr val="accent1"/>
                  </a:solidFill>
                  <a:latin typeface="Century Gothic" panose="020B0502020202020204" pitchFamily="34" charset="0"/>
                </a:rPr>
                <a:t>10</a:t>
              </a:r>
            </a:p>
          </p:txBody>
        </p:sp>
        <p:sp>
          <p:nvSpPr>
            <p:cNvPr id="135" name="Rectangle 31">
              <a:extLst>
                <a:ext uri="{FF2B5EF4-FFF2-40B4-BE49-F238E27FC236}">
                  <a16:creationId xmlns:a16="http://schemas.microsoft.com/office/drawing/2014/main" id="{0378A3C9-59F0-4081-B1D3-C22628A94280}"/>
                </a:ext>
              </a:extLst>
            </p:cNvPr>
            <p:cNvSpPr>
              <a:spLocks/>
            </p:cNvSpPr>
            <p:nvPr/>
          </p:nvSpPr>
          <p:spPr bwMode="auto">
            <a:xfrm>
              <a:off x="7656863" y="4221453"/>
              <a:ext cx="337060" cy="40838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solidFill>
                    <a:schemeClr val="accent1"/>
                  </a:solidFill>
                  <a:latin typeface="Century Gothic" panose="020B0502020202020204" pitchFamily="34" charset="0"/>
                </a:rPr>
                <a:t>11</a:t>
              </a:r>
            </a:p>
          </p:txBody>
        </p:sp>
        <p:sp>
          <p:nvSpPr>
            <p:cNvPr id="138" name="Rectangle 33">
              <a:extLst>
                <a:ext uri="{FF2B5EF4-FFF2-40B4-BE49-F238E27FC236}">
                  <a16:creationId xmlns:a16="http://schemas.microsoft.com/office/drawing/2014/main" id="{92B74ADD-D064-48B6-B05F-57AD502D2618}"/>
                </a:ext>
              </a:extLst>
            </p:cNvPr>
            <p:cNvSpPr>
              <a:spLocks/>
            </p:cNvSpPr>
            <p:nvPr/>
          </p:nvSpPr>
          <p:spPr bwMode="auto">
            <a:xfrm>
              <a:off x="8202448" y="4202329"/>
              <a:ext cx="337060" cy="40838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solidFill>
                    <a:schemeClr val="accent1"/>
                  </a:solidFill>
                  <a:latin typeface="Century Gothic" panose="020B0502020202020204" pitchFamily="34" charset="0"/>
                </a:rPr>
                <a:t>12</a:t>
              </a:r>
            </a:p>
          </p:txBody>
        </p:sp>
        <p:cxnSp>
          <p:nvCxnSpPr>
            <p:cNvPr id="144" name="Straight Arrow Connector 34">
              <a:extLst>
                <a:ext uri="{FF2B5EF4-FFF2-40B4-BE49-F238E27FC236}">
                  <a16:creationId xmlns:a16="http://schemas.microsoft.com/office/drawing/2014/main" id="{51F89A5B-E9E9-4AED-A4AB-C4C2429B328B}"/>
                </a:ext>
              </a:extLst>
            </p:cNvPr>
            <p:cNvCxnSpPr/>
            <p:nvPr/>
          </p:nvCxnSpPr>
          <p:spPr>
            <a:xfrm>
              <a:off x="1540640" y="4639623"/>
              <a:ext cx="0" cy="620901"/>
            </a:xfrm>
            <a:prstGeom prst="straightConnector1">
              <a:avLst/>
            </a:prstGeom>
            <a:ln w="38100">
              <a:solidFill>
                <a:srgbClr val="FF0000"/>
              </a:solidFill>
              <a:tailEnd type="arrow"/>
            </a:ln>
          </p:spPr>
          <p:style>
            <a:lnRef idx="2">
              <a:schemeClr val="accent1"/>
            </a:lnRef>
            <a:fillRef idx="0">
              <a:schemeClr val="accent1"/>
            </a:fillRef>
            <a:effectRef idx="1">
              <a:schemeClr val="accent1"/>
            </a:effectRef>
            <a:fontRef idx="minor">
              <a:schemeClr val="tx1"/>
            </a:fontRef>
          </p:style>
        </p:cxnSp>
        <p:cxnSp>
          <p:nvCxnSpPr>
            <p:cNvPr id="145" name="Straight Arrow Connector 35">
              <a:extLst>
                <a:ext uri="{FF2B5EF4-FFF2-40B4-BE49-F238E27FC236}">
                  <a16:creationId xmlns:a16="http://schemas.microsoft.com/office/drawing/2014/main" id="{A54AC4A6-5B87-4FBF-B588-59CE703B8D26}"/>
                </a:ext>
              </a:extLst>
            </p:cNvPr>
            <p:cNvCxnSpPr/>
            <p:nvPr/>
          </p:nvCxnSpPr>
          <p:spPr>
            <a:xfrm>
              <a:off x="8393360" y="4652891"/>
              <a:ext cx="0" cy="620901"/>
            </a:xfrm>
            <a:prstGeom prst="straightConnector1">
              <a:avLst/>
            </a:prstGeom>
            <a:ln w="38100">
              <a:solidFill>
                <a:srgbClr val="FF0000"/>
              </a:solidFill>
              <a:tailEnd type="arrow"/>
            </a:ln>
          </p:spPr>
          <p:style>
            <a:lnRef idx="2">
              <a:schemeClr val="accent1"/>
            </a:lnRef>
            <a:fillRef idx="0">
              <a:schemeClr val="accent1"/>
            </a:fillRef>
            <a:effectRef idx="1">
              <a:schemeClr val="accent1"/>
            </a:effectRef>
            <a:fontRef idx="minor">
              <a:schemeClr val="tx1"/>
            </a:fontRef>
          </p:style>
        </p:cxnSp>
        <p:cxnSp>
          <p:nvCxnSpPr>
            <p:cNvPr id="146" name="Straight Arrow Connector 36">
              <a:extLst>
                <a:ext uri="{FF2B5EF4-FFF2-40B4-BE49-F238E27FC236}">
                  <a16:creationId xmlns:a16="http://schemas.microsoft.com/office/drawing/2014/main" id="{84266F93-339F-4F56-BEA8-932FFEAAC844}"/>
                </a:ext>
              </a:extLst>
            </p:cNvPr>
            <p:cNvCxnSpPr/>
            <p:nvPr/>
          </p:nvCxnSpPr>
          <p:spPr>
            <a:xfrm>
              <a:off x="1540640" y="5260524"/>
              <a:ext cx="2905074" cy="13268"/>
            </a:xfrm>
            <a:prstGeom prst="straightConnector1">
              <a:avLst/>
            </a:prstGeom>
            <a:ln w="38100">
              <a:solidFill>
                <a:srgbClr val="FF0000"/>
              </a:solidFill>
              <a:headEnd type="none"/>
              <a:tailEnd type="none"/>
            </a:ln>
          </p:spPr>
          <p:style>
            <a:lnRef idx="2">
              <a:schemeClr val="accent1"/>
            </a:lnRef>
            <a:fillRef idx="0">
              <a:schemeClr val="accent1"/>
            </a:fillRef>
            <a:effectRef idx="1">
              <a:schemeClr val="accent1"/>
            </a:effectRef>
            <a:fontRef idx="minor">
              <a:schemeClr val="tx1"/>
            </a:fontRef>
          </p:style>
        </p:cxnSp>
        <p:sp>
          <p:nvSpPr>
            <p:cNvPr id="147" name="Rectangle 37">
              <a:extLst>
                <a:ext uri="{FF2B5EF4-FFF2-40B4-BE49-F238E27FC236}">
                  <a16:creationId xmlns:a16="http://schemas.microsoft.com/office/drawing/2014/main" id="{8E7B5A30-2E9E-4132-A501-135AC2F16963}"/>
                </a:ext>
              </a:extLst>
            </p:cNvPr>
            <p:cNvSpPr>
              <a:spLocks/>
            </p:cNvSpPr>
            <p:nvPr/>
          </p:nvSpPr>
          <p:spPr bwMode="auto">
            <a:xfrm>
              <a:off x="1924079" y="4829047"/>
              <a:ext cx="1887166" cy="40838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b="1">
                  <a:solidFill>
                    <a:srgbClr val="FF0000"/>
                  </a:solidFill>
                  <a:latin typeface="Century Gothic" panose="020B0502020202020204" pitchFamily="34" charset="0"/>
                </a:rPr>
                <a:t>A = 400</a:t>
              </a:r>
            </a:p>
          </p:txBody>
        </p:sp>
        <p:cxnSp>
          <p:nvCxnSpPr>
            <p:cNvPr id="148" name="Straight Arrow Connector 24">
              <a:extLst>
                <a:ext uri="{FF2B5EF4-FFF2-40B4-BE49-F238E27FC236}">
                  <a16:creationId xmlns:a16="http://schemas.microsoft.com/office/drawing/2014/main" id="{8ED710DA-0601-4D80-A28C-D2EC3CCE3DDF}"/>
                </a:ext>
              </a:extLst>
            </p:cNvPr>
            <p:cNvCxnSpPr/>
            <p:nvPr/>
          </p:nvCxnSpPr>
          <p:spPr>
            <a:xfrm>
              <a:off x="4445714" y="4652891"/>
              <a:ext cx="0" cy="620901"/>
            </a:xfrm>
            <a:prstGeom prst="straightConnector1">
              <a:avLst/>
            </a:prstGeom>
            <a:ln w="38100">
              <a:solidFill>
                <a:srgbClr val="FF0000"/>
              </a:solidFill>
              <a:tailEnd type="arrow"/>
            </a:ln>
          </p:spPr>
          <p:style>
            <a:lnRef idx="2">
              <a:schemeClr val="accent1"/>
            </a:lnRef>
            <a:fillRef idx="0">
              <a:schemeClr val="accent1"/>
            </a:fillRef>
            <a:effectRef idx="1">
              <a:schemeClr val="accent1"/>
            </a:effectRef>
            <a:fontRef idx="minor">
              <a:schemeClr val="tx1"/>
            </a:fontRef>
          </p:style>
        </p:cxnSp>
        <p:cxnSp>
          <p:nvCxnSpPr>
            <p:cNvPr id="149" name="Straight Arrow Connector 25">
              <a:extLst>
                <a:ext uri="{FF2B5EF4-FFF2-40B4-BE49-F238E27FC236}">
                  <a16:creationId xmlns:a16="http://schemas.microsoft.com/office/drawing/2014/main" id="{EE605F8D-0C43-40F2-868F-00BA7DDDC65B}"/>
                </a:ext>
              </a:extLst>
            </p:cNvPr>
            <p:cNvCxnSpPr/>
            <p:nvPr/>
          </p:nvCxnSpPr>
          <p:spPr>
            <a:xfrm>
              <a:off x="5550650" y="4652891"/>
              <a:ext cx="0" cy="620901"/>
            </a:xfrm>
            <a:prstGeom prst="straightConnector1">
              <a:avLst/>
            </a:prstGeom>
            <a:ln w="38100">
              <a:solidFill>
                <a:srgbClr val="FF0000"/>
              </a:solidFill>
              <a:tailEnd type="arrow"/>
            </a:ln>
          </p:spPr>
          <p:style>
            <a:lnRef idx="2">
              <a:schemeClr val="accent1"/>
            </a:lnRef>
            <a:fillRef idx="0">
              <a:schemeClr val="accent1"/>
            </a:fillRef>
            <a:effectRef idx="1">
              <a:schemeClr val="accent1"/>
            </a:effectRef>
            <a:fontRef idx="minor">
              <a:schemeClr val="tx1"/>
            </a:fontRef>
          </p:style>
        </p:cxnSp>
        <p:cxnSp>
          <p:nvCxnSpPr>
            <p:cNvPr id="150" name="Straight Arrow Connector 32">
              <a:extLst>
                <a:ext uri="{FF2B5EF4-FFF2-40B4-BE49-F238E27FC236}">
                  <a16:creationId xmlns:a16="http://schemas.microsoft.com/office/drawing/2014/main" id="{5B74514A-F507-4BAB-B0AA-389CB511AB9B}"/>
                </a:ext>
              </a:extLst>
            </p:cNvPr>
            <p:cNvCxnSpPr/>
            <p:nvPr/>
          </p:nvCxnSpPr>
          <p:spPr>
            <a:xfrm>
              <a:off x="5550650" y="5260524"/>
              <a:ext cx="2842710" cy="13268"/>
            </a:xfrm>
            <a:prstGeom prst="straightConnector1">
              <a:avLst/>
            </a:prstGeom>
            <a:ln w="38100">
              <a:solidFill>
                <a:srgbClr val="FF0000"/>
              </a:solidFill>
              <a:headEnd type="none"/>
              <a:tailEnd type="none"/>
            </a:ln>
          </p:spPr>
          <p:style>
            <a:lnRef idx="2">
              <a:schemeClr val="accent1"/>
            </a:lnRef>
            <a:fillRef idx="0">
              <a:schemeClr val="accent1"/>
            </a:fillRef>
            <a:effectRef idx="1">
              <a:schemeClr val="accent1"/>
            </a:effectRef>
            <a:fontRef idx="minor">
              <a:schemeClr val="tx1"/>
            </a:fontRef>
          </p:style>
        </p:cxnSp>
        <p:sp>
          <p:nvSpPr>
            <p:cNvPr id="151" name="Rectangle 38">
              <a:extLst>
                <a:ext uri="{FF2B5EF4-FFF2-40B4-BE49-F238E27FC236}">
                  <a16:creationId xmlns:a16="http://schemas.microsoft.com/office/drawing/2014/main" id="{82B178FE-FC37-4727-B36C-1153B6ADD12E}"/>
                </a:ext>
              </a:extLst>
            </p:cNvPr>
            <p:cNvSpPr>
              <a:spLocks/>
            </p:cNvSpPr>
            <p:nvPr/>
          </p:nvSpPr>
          <p:spPr bwMode="auto">
            <a:xfrm>
              <a:off x="6106757" y="4858335"/>
              <a:ext cx="1887166" cy="40838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b="1">
                  <a:solidFill>
                    <a:srgbClr val="FF0000"/>
                  </a:solidFill>
                  <a:latin typeface="Century Gothic" panose="020B0502020202020204" pitchFamily="34" charset="0"/>
                </a:rPr>
                <a:t>A = 400</a:t>
              </a:r>
            </a:p>
          </p:txBody>
        </p:sp>
        <p:cxnSp>
          <p:nvCxnSpPr>
            <p:cNvPr id="152" name="Straight Arrow Connector 39">
              <a:extLst>
                <a:ext uri="{FF2B5EF4-FFF2-40B4-BE49-F238E27FC236}">
                  <a16:creationId xmlns:a16="http://schemas.microsoft.com/office/drawing/2014/main" id="{E1003F3C-7E12-4CC2-8F96-88CFB4A58894}"/>
                </a:ext>
              </a:extLst>
            </p:cNvPr>
            <p:cNvCxnSpPr/>
            <p:nvPr/>
          </p:nvCxnSpPr>
          <p:spPr>
            <a:xfrm>
              <a:off x="4960661" y="4652891"/>
              <a:ext cx="0" cy="1289915"/>
            </a:xfrm>
            <a:prstGeom prst="straightConnector1">
              <a:avLst/>
            </a:prstGeom>
            <a:ln w="38100">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153" name="Rectangle 40">
              <a:extLst>
                <a:ext uri="{FF2B5EF4-FFF2-40B4-BE49-F238E27FC236}">
                  <a16:creationId xmlns:a16="http://schemas.microsoft.com/office/drawing/2014/main" id="{2372E846-6D84-4917-A187-74CF6B4FFDB5}"/>
                </a:ext>
              </a:extLst>
            </p:cNvPr>
            <p:cNvSpPr>
              <a:spLocks/>
            </p:cNvSpPr>
            <p:nvPr/>
          </p:nvSpPr>
          <p:spPr bwMode="auto">
            <a:xfrm>
              <a:off x="4017079" y="5893175"/>
              <a:ext cx="1887166" cy="40838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b="1">
                  <a:solidFill>
                    <a:srgbClr val="FF0000"/>
                  </a:solidFill>
                  <a:latin typeface="Century Gothic" panose="020B0502020202020204" pitchFamily="34" charset="0"/>
                </a:rPr>
                <a:t>600</a:t>
              </a:r>
            </a:p>
          </p:txBody>
        </p:sp>
      </p:grpSp>
      <p:sp>
        <p:nvSpPr>
          <p:cNvPr id="3" name="Rectángulo 2">
            <a:extLst>
              <a:ext uri="{FF2B5EF4-FFF2-40B4-BE49-F238E27FC236}">
                <a16:creationId xmlns:a16="http://schemas.microsoft.com/office/drawing/2014/main" id="{6DB8B954-C08D-F198-83EC-44C5AF92E2E2}"/>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sp>
        <p:nvSpPr>
          <p:cNvPr id="5" name="Rectángulo 4">
            <a:extLst>
              <a:ext uri="{FF2B5EF4-FFF2-40B4-BE49-F238E27FC236}">
                <a16:creationId xmlns:a16="http://schemas.microsoft.com/office/drawing/2014/main" id="{3E64666B-4A32-228F-2897-1FF18E497E50}"/>
              </a:ext>
            </a:extLst>
          </p:cNvPr>
          <p:cNvSpPr/>
          <p:nvPr/>
        </p:nvSpPr>
        <p:spPr>
          <a:xfrm>
            <a:off x="8795541" y="118110"/>
            <a:ext cx="29418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Profesora</a:t>
            </a:r>
            <a:r>
              <a:rPr lang="es-CO" sz="1100">
                <a:solidFill>
                  <a:schemeClr val="accent2">
                    <a:lumMod val="50000"/>
                  </a:schemeClr>
                </a:solidFill>
                <a:latin typeface="Century Gothic" panose="020B0502020202020204" pitchFamily="34" charset="0"/>
                <a:sym typeface="Gill Sans Light"/>
              </a:rPr>
              <a:t> Andrea Yohana Cortés Mojica</a:t>
            </a:r>
            <a:endParaRPr lang="es-CO" sz="1100">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37C2CE63-D6D7-4882-8E8B-4BDEC0691E9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9" name="Rectángulo 8">
            <a:extLst>
              <a:ext uri="{FF2B5EF4-FFF2-40B4-BE49-F238E27FC236}">
                <a16:creationId xmlns:a16="http://schemas.microsoft.com/office/drawing/2014/main" id="{3896F378-F8AE-FB6B-AD49-2A454F1E3A7A}"/>
              </a:ext>
            </a:extLst>
          </p:cNvPr>
          <p:cNvSpPr/>
          <p:nvPr/>
        </p:nvSpPr>
        <p:spPr>
          <a:xfrm>
            <a:off x="4858343" y="118107"/>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10" name="CuadroTexto 9">
            <a:extLst>
              <a:ext uri="{FF2B5EF4-FFF2-40B4-BE49-F238E27FC236}">
                <a16:creationId xmlns:a16="http://schemas.microsoft.com/office/drawing/2014/main" id="{9E0F3518-77ED-8BD8-9432-FC708E3AFCB3}"/>
              </a:ext>
            </a:extLst>
          </p:cNvPr>
          <p:cNvSpPr txBox="1"/>
          <p:nvPr/>
        </p:nvSpPr>
        <p:spPr>
          <a:xfrm>
            <a:off x="7265371" y="3429000"/>
            <a:ext cx="1357485" cy="307777"/>
          </a:xfrm>
          <a:prstGeom prst="rect">
            <a:avLst/>
          </a:prstGeom>
          <a:noFill/>
        </p:spPr>
        <p:txBody>
          <a:bodyPr wrap="square">
            <a:spAutoFit/>
          </a:bodyPr>
          <a:lstStyle/>
          <a:p>
            <a:r>
              <a:rPr lang="es-ES" sz="1400" b="1">
                <a:solidFill>
                  <a:srgbClr val="D7A700"/>
                </a:solidFill>
                <a:latin typeface="Century Gothic" panose="020B0502020202020204" pitchFamily="34" charset="0"/>
              </a:rPr>
              <a:t>Años</a:t>
            </a:r>
            <a:endParaRPr lang="es-CO" sz="1400" b="1">
              <a:solidFill>
                <a:srgbClr val="D7A700"/>
              </a:solidFill>
            </a:endParaRPr>
          </a:p>
        </p:txBody>
      </p:sp>
    </p:spTree>
    <p:extLst>
      <p:ext uri="{BB962C8B-B14F-4D97-AF65-F5344CB8AC3E}">
        <p14:creationId xmlns:p14="http://schemas.microsoft.com/office/powerpoint/2010/main" val="21485946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5"/>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6"/>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9"/>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2"/>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3"/>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animBg="1"/>
      <p:bldP spid="105" grpId="0" animBg="1"/>
      <p:bldP spid="19" grpId="0"/>
      <p:bldP spid="23" grpId="0"/>
      <p:bldP spid="24" grpId="0"/>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latin typeface="Century Gothic" panose="020B0502020202020204" pitchFamily="34" charset="0"/>
              </a:rPr>
              <a:t>COMBINACIONES DE </a:t>
            </a:r>
            <a:r>
              <a:rPr lang="es-ES_tradnl">
                <a:latin typeface="Century Gothic" panose="020B0502020202020204" pitchFamily="34" charset="0"/>
              </a:rPr>
              <a:t>Relaciones de Equivalencia </a:t>
            </a:r>
          </a:p>
        </p:txBody>
      </p:sp>
      <p:sp>
        <p:nvSpPr>
          <p:cNvPr id="133" name="Content Placeholder 2">
            <a:extLst>
              <a:ext uri="{FF2B5EF4-FFF2-40B4-BE49-F238E27FC236}">
                <a16:creationId xmlns:a16="http://schemas.microsoft.com/office/drawing/2014/main" id="{45BF9B57-D11D-4E23-9FE7-67534594394D}"/>
              </a:ext>
            </a:extLst>
          </p:cNvPr>
          <p:cNvSpPr>
            <a:spLocks noGrp="1"/>
          </p:cNvSpPr>
          <p:nvPr>
            <p:ph idx="1"/>
          </p:nvPr>
        </p:nvSpPr>
        <p:spPr>
          <a:xfrm>
            <a:off x="687071" y="2537019"/>
            <a:ext cx="5021260" cy="514090"/>
          </a:xfrm>
        </p:spPr>
        <p:txBody>
          <a:bodyPr>
            <a:normAutofit/>
          </a:bodyPr>
          <a:lstStyle/>
          <a:p>
            <a:pPr marL="0" indent="0" algn="just">
              <a:buNone/>
            </a:pPr>
            <a:r>
              <a:rPr lang="es-ES_tradnl" sz="1600">
                <a:latin typeface="Century Gothic" panose="020B0502020202020204" pitchFamily="34" charset="0"/>
              </a:rPr>
              <a:t>Si su costo de oportunidad es 8% E.A.</a:t>
            </a:r>
          </a:p>
        </p:txBody>
      </p:sp>
      <p:sp>
        <p:nvSpPr>
          <p:cNvPr id="4" name="Slide Number Placeholder 3"/>
          <p:cNvSpPr>
            <a:spLocks noGrp="1"/>
          </p:cNvSpPr>
          <p:nvPr>
            <p:ph type="sldNum" sz="quarter" idx="12"/>
          </p:nvPr>
        </p:nvSpPr>
        <p:spPr/>
        <p:txBody>
          <a:bodyPr/>
          <a:lstStyle/>
          <a:p>
            <a:fld id="{5E3E23BA-6E79-2442-BA73-D218A5E297C3}" type="slidenum">
              <a:rPr lang="en-US" sz="1800" smtClean="0"/>
              <a:t>85</a:t>
            </a:fld>
            <a:endParaRPr lang="en-US" sz="1800"/>
          </a:p>
        </p:txBody>
      </p:sp>
      <p:sp>
        <p:nvSpPr>
          <p:cNvPr id="6" name="CuadroTexto 5"/>
          <p:cNvSpPr txBox="1"/>
          <p:nvPr/>
        </p:nvSpPr>
        <p:spPr>
          <a:xfrm>
            <a:off x="1699835" y="4524545"/>
            <a:ext cx="1399742" cy="369332"/>
          </a:xfrm>
          <a:prstGeom prst="rect">
            <a:avLst/>
          </a:prstGeom>
          <a:noFill/>
        </p:spPr>
        <p:txBody>
          <a:bodyPr wrap="none" rtlCol="0">
            <a:spAutoFit/>
          </a:bodyPr>
          <a:lstStyle/>
          <a:p>
            <a:r>
              <a:rPr lang="es-CO" b="1">
                <a:solidFill>
                  <a:srgbClr val="D7A700"/>
                </a:solidFill>
                <a:latin typeface="Century Gothic" panose="020B0502020202020204" pitchFamily="34" charset="0"/>
              </a:rPr>
              <a:t>OPCIÓN 2)</a:t>
            </a:r>
          </a:p>
        </p:txBody>
      </p:sp>
      <p:grpSp>
        <p:nvGrpSpPr>
          <p:cNvPr id="80" name="Grupo 79"/>
          <p:cNvGrpSpPr/>
          <p:nvPr/>
        </p:nvGrpSpPr>
        <p:grpSpPr>
          <a:xfrm>
            <a:off x="2409443" y="5423715"/>
            <a:ext cx="3535405" cy="1057717"/>
            <a:chOff x="1491343" y="4227696"/>
            <a:chExt cx="7048165" cy="2048490"/>
          </a:xfrm>
        </p:grpSpPr>
        <p:cxnSp>
          <p:nvCxnSpPr>
            <p:cNvPr id="81" name="Straight Connector 12"/>
            <p:cNvCxnSpPr/>
            <p:nvPr/>
          </p:nvCxnSpPr>
          <p:spPr>
            <a:xfrm>
              <a:off x="1519511" y="4640650"/>
              <a:ext cx="6873849" cy="12241"/>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82" name="Rectangle 23"/>
            <p:cNvSpPr>
              <a:spLocks/>
            </p:cNvSpPr>
            <p:nvPr/>
          </p:nvSpPr>
          <p:spPr bwMode="auto">
            <a:xfrm flipH="1">
              <a:off x="1491343" y="4255308"/>
              <a:ext cx="131729" cy="35764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200">
                  <a:solidFill>
                    <a:schemeClr val="accent1"/>
                  </a:solidFill>
                  <a:latin typeface="Century Gothic" panose="020B0502020202020204" pitchFamily="34" charset="0"/>
                </a:rPr>
                <a:t>0</a:t>
              </a:r>
            </a:p>
          </p:txBody>
        </p:sp>
        <p:sp>
          <p:nvSpPr>
            <p:cNvPr id="83" name="Rectangle 11"/>
            <p:cNvSpPr>
              <a:spLocks/>
            </p:cNvSpPr>
            <p:nvPr/>
          </p:nvSpPr>
          <p:spPr bwMode="auto">
            <a:xfrm>
              <a:off x="1924077" y="4246819"/>
              <a:ext cx="337059" cy="35764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200">
                  <a:solidFill>
                    <a:schemeClr val="accent1"/>
                  </a:solidFill>
                  <a:latin typeface="Century Gothic" panose="020B0502020202020204" pitchFamily="34" charset="0"/>
                </a:rPr>
                <a:t>1</a:t>
              </a:r>
            </a:p>
          </p:txBody>
        </p:sp>
        <p:sp>
          <p:nvSpPr>
            <p:cNvPr id="84" name="Rectangle 14"/>
            <p:cNvSpPr>
              <a:spLocks/>
            </p:cNvSpPr>
            <p:nvPr/>
          </p:nvSpPr>
          <p:spPr bwMode="auto">
            <a:xfrm>
              <a:off x="2484691" y="4246821"/>
              <a:ext cx="337059" cy="35764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200">
                  <a:solidFill>
                    <a:schemeClr val="accent1"/>
                  </a:solidFill>
                  <a:latin typeface="Century Gothic" panose="020B0502020202020204" pitchFamily="34" charset="0"/>
                </a:rPr>
                <a:t>2</a:t>
              </a:r>
            </a:p>
          </p:txBody>
        </p:sp>
        <p:sp>
          <p:nvSpPr>
            <p:cNvPr id="85" name="Rectangle 15"/>
            <p:cNvSpPr>
              <a:spLocks/>
            </p:cNvSpPr>
            <p:nvPr/>
          </p:nvSpPr>
          <p:spPr bwMode="auto">
            <a:xfrm>
              <a:off x="3048550" y="4246821"/>
              <a:ext cx="337059" cy="35764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200">
                  <a:solidFill>
                    <a:schemeClr val="accent1"/>
                  </a:solidFill>
                  <a:latin typeface="Century Gothic" panose="020B0502020202020204" pitchFamily="34" charset="0"/>
                </a:rPr>
                <a:t>3</a:t>
              </a:r>
            </a:p>
          </p:txBody>
        </p:sp>
        <p:sp>
          <p:nvSpPr>
            <p:cNvPr id="86" name="Rectangle 16"/>
            <p:cNvSpPr>
              <a:spLocks/>
            </p:cNvSpPr>
            <p:nvPr/>
          </p:nvSpPr>
          <p:spPr bwMode="auto">
            <a:xfrm>
              <a:off x="3655073" y="4246821"/>
              <a:ext cx="337059" cy="35764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200">
                  <a:solidFill>
                    <a:schemeClr val="accent1"/>
                  </a:solidFill>
                  <a:latin typeface="Century Gothic" panose="020B0502020202020204" pitchFamily="34" charset="0"/>
                </a:rPr>
                <a:t>4</a:t>
              </a:r>
            </a:p>
          </p:txBody>
        </p:sp>
        <p:sp>
          <p:nvSpPr>
            <p:cNvPr id="87" name="Rectangle 17"/>
            <p:cNvSpPr>
              <a:spLocks/>
            </p:cNvSpPr>
            <p:nvPr/>
          </p:nvSpPr>
          <p:spPr bwMode="auto">
            <a:xfrm>
              <a:off x="4258181" y="4227696"/>
              <a:ext cx="337059" cy="35764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200">
                  <a:solidFill>
                    <a:schemeClr val="accent1"/>
                  </a:solidFill>
                  <a:latin typeface="Century Gothic" panose="020B0502020202020204" pitchFamily="34" charset="0"/>
                </a:rPr>
                <a:t>5</a:t>
              </a:r>
            </a:p>
          </p:txBody>
        </p:sp>
        <p:sp>
          <p:nvSpPr>
            <p:cNvPr id="88" name="Rectangle 18"/>
            <p:cNvSpPr>
              <a:spLocks/>
            </p:cNvSpPr>
            <p:nvPr/>
          </p:nvSpPr>
          <p:spPr bwMode="auto">
            <a:xfrm>
              <a:off x="4777032" y="4246821"/>
              <a:ext cx="337059" cy="35764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200">
                  <a:solidFill>
                    <a:schemeClr val="accent1"/>
                  </a:solidFill>
                  <a:latin typeface="Century Gothic" panose="020B0502020202020204" pitchFamily="34" charset="0"/>
                </a:rPr>
                <a:t>6</a:t>
              </a:r>
            </a:p>
          </p:txBody>
        </p:sp>
        <p:sp>
          <p:nvSpPr>
            <p:cNvPr id="89" name="Rectangle 19"/>
            <p:cNvSpPr>
              <a:spLocks/>
            </p:cNvSpPr>
            <p:nvPr/>
          </p:nvSpPr>
          <p:spPr bwMode="auto">
            <a:xfrm>
              <a:off x="5383556" y="4246821"/>
              <a:ext cx="337059" cy="35764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200">
                  <a:solidFill>
                    <a:schemeClr val="accent1"/>
                  </a:solidFill>
                  <a:latin typeface="Century Gothic" panose="020B0502020202020204" pitchFamily="34" charset="0"/>
                </a:rPr>
                <a:t>7</a:t>
              </a:r>
            </a:p>
          </p:txBody>
        </p:sp>
        <p:sp>
          <p:nvSpPr>
            <p:cNvPr id="90" name="Rectangle 28"/>
            <p:cNvSpPr>
              <a:spLocks/>
            </p:cNvSpPr>
            <p:nvPr/>
          </p:nvSpPr>
          <p:spPr bwMode="auto">
            <a:xfrm>
              <a:off x="5938226" y="4246821"/>
              <a:ext cx="337059" cy="35764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200">
                  <a:solidFill>
                    <a:schemeClr val="accent1"/>
                  </a:solidFill>
                  <a:latin typeface="Century Gothic" panose="020B0502020202020204" pitchFamily="34" charset="0"/>
                </a:rPr>
                <a:t>8</a:t>
              </a:r>
            </a:p>
          </p:txBody>
        </p:sp>
        <p:sp>
          <p:nvSpPr>
            <p:cNvPr id="91" name="Rectangle 29"/>
            <p:cNvSpPr>
              <a:spLocks/>
            </p:cNvSpPr>
            <p:nvPr/>
          </p:nvSpPr>
          <p:spPr bwMode="auto">
            <a:xfrm>
              <a:off x="6532383" y="4255308"/>
              <a:ext cx="337059" cy="35764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200">
                  <a:solidFill>
                    <a:schemeClr val="accent1"/>
                  </a:solidFill>
                  <a:latin typeface="Century Gothic" panose="020B0502020202020204" pitchFamily="34" charset="0"/>
                </a:rPr>
                <a:t>9</a:t>
              </a:r>
            </a:p>
          </p:txBody>
        </p:sp>
        <p:sp>
          <p:nvSpPr>
            <p:cNvPr id="92" name="Rectangle 30"/>
            <p:cNvSpPr>
              <a:spLocks/>
            </p:cNvSpPr>
            <p:nvPr/>
          </p:nvSpPr>
          <p:spPr bwMode="auto">
            <a:xfrm>
              <a:off x="7153601" y="4246821"/>
              <a:ext cx="337059" cy="35764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200">
                  <a:solidFill>
                    <a:schemeClr val="accent1"/>
                  </a:solidFill>
                  <a:latin typeface="Century Gothic" panose="020B0502020202020204" pitchFamily="34" charset="0"/>
                </a:rPr>
                <a:t>10</a:t>
              </a:r>
            </a:p>
          </p:txBody>
        </p:sp>
        <p:sp>
          <p:nvSpPr>
            <p:cNvPr id="93" name="Rectangle 31"/>
            <p:cNvSpPr>
              <a:spLocks/>
            </p:cNvSpPr>
            <p:nvPr/>
          </p:nvSpPr>
          <p:spPr bwMode="auto">
            <a:xfrm>
              <a:off x="7656864" y="4246821"/>
              <a:ext cx="337059" cy="35764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200">
                  <a:solidFill>
                    <a:schemeClr val="accent1"/>
                  </a:solidFill>
                  <a:latin typeface="Century Gothic" panose="020B0502020202020204" pitchFamily="34" charset="0"/>
                </a:rPr>
                <a:t>11</a:t>
              </a:r>
            </a:p>
          </p:txBody>
        </p:sp>
        <p:sp>
          <p:nvSpPr>
            <p:cNvPr id="94" name="Rectangle 33"/>
            <p:cNvSpPr>
              <a:spLocks/>
            </p:cNvSpPr>
            <p:nvPr/>
          </p:nvSpPr>
          <p:spPr bwMode="auto">
            <a:xfrm>
              <a:off x="8202449" y="4227696"/>
              <a:ext cx="337059" cy="35764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200">
                  <a:solidFill>
                    <a:schemeClr val="accent1"/>
                  </a:solidFill>
                  <a:latin typeface="Century Gothic" panose="020B0502020202020204" pitchFamily="34" charset="0"/>
                </a:rPr>
                <a:t>12</a:t>
              </a:r>
            </a:p>
          </p:txBody>
        </p:sp>
        <p:cxnSp>
          <p:nvCxnSpPr>
            <p:cNvPr id="95" name="Straight Arrow Connector 34"/>
            <p:cNvCxnSpPr/>
            <p:nvPr/>
          </p:nvCxnSpPr>
          <p:spPr>
            <a:xfrm>
              <a:off x="1540640" y="4639623"/>
              <a:ext cx="0" cy="62090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96" name="Straight Arrow Connector 35"/>
            <p:cNvCxnSpPr/>
            <p:nvPr/>
          </p:nvCxnSpPr>
          <p:spPr>
            <a:xfrm>
              <a:off x="8393360" y="4652891"/>
              <a:ext cx="0" cy="62090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97" name="Straight Arrow Connector 36"/>
            <p:cNvCxnSpPr/>
            <p:nvPr/>
          </p:nvCxnSpPr>
          <p:spPr>
            <a:xfrm>
              <a:off x="1540640" y="5260524"/>
              <a:ext cx="2905074" cy="13268"/>
            </a:xfrm>
            <a:prstGeom prst="straightConnector1">
              <a:avLst/>
            </a:prstGeom>
            <a:ln>
              <a:solidFill>
                <a:schemeClr val="accent2"/>
              </a:solidFill>
              <a:headEnd type="none"/>
              <a:tailEnd type="none"/>
            </a:ln>
          </p:spPr>
          <p:style>
            <a:lnRef idx="2">
              <a:schemeClr val="accent1"/>
            </a:lnRef>
            <a:fillRef idx="0">
              <a:schemeClr val="accent1"/>
            </a:fillRef>
            <a:effectRef idx="1">
              <a:schemeClr val="accent1"/>
            </a:effectRef>
            <a:fontRef idx="minor">
              <a:schemeClr val="tx1"/>
            </a:fontRef>
          </p:style>
        </p:cxnSp>
        <p:sp>
          <p:nvSpPr>
            <p:cNvPr id="98" name="Rectangle 37"/>
            <p:cNvSpPr>
              <a:spLocks/>
            </p:cNvSpPr>
            <p:nvPr/>
          </p:nvSpPr>
          <p:spPr bwMode="auto">
            <a:xfrm>
              <a:off x="1924077" y="4854415"/>
              <a:ext cx="1887167" cy="35764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200">
                  <a:solidFill>
                    <a:schemeClr val="accent1"/>
                  </a:solidFill>
                  <a:latin typeface="Century Gothic" panose="020B0502020202020204" pitchFamily="34" charset="0"/>
                </a:rPr>
                <a:t>A = 400</a:t>
              </a:r>
            </a:p>
          </p:txBody>
        </p:sp>
        <p:cxnSp>
          <p:nvCxnSpPr>
            <p:cNvPr id="99" name="Straight Arrow Connector 24"/>
            <p:cNvCxnSpPr/>
            <p:nvPr/>
          </p:nvCxnSpPr>
          <p:spPr>
            <a:xfrm>
              <a:off x="4445714" y="4652891"/>
              <a:ext cx="0" cy="62090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100" name="Straight Arrow Connector 25"/>
            <p:cNvCxnSpPr/>
            <p:nvPr/>
          </p:nvCxnSpPr>
          <p:spPr>
            <a:xfrm>
              <a:off x="5550650" y="4652891"/>
              <a:ext cx="0" cy="62090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101" name="Straight Arrow Connector 32"/>
            <p:cNvCxnSpPr/>
            <p:nvPr/>
          </p:nvCxnSpPr>
          <p:spPr>
            <a:xfrm>
              <a:off x="5550650" y="5260524"/>
              <a:ext cx="2842710" cy="13268"/>
            </a:xfrm>
            <a:prstGeom prst="straightConnector1">
              <a:avLst/>
            </a:prstGeom>
            <a:ln>
              <a:solidFill>
                <a:schemeClr val="accent2"/>
              </a:solidFill>
              <a:headEnd type="none"/>
              <a:tailEnd type="none"/>
            </a:ln>
          </p:spPr>
          <p:style>
            <a:lnRef idx="2">
              <a:schemeClr val="accent1"/>
            </a:lnRef>
            <a:fillRef idx="0">
              <a:schemeClr val="accent1"/>
            </a:fillRef>
            <a:effectRef idx="1">
              <a:schemeClr val="accent1"/>
            </a:effectRef>
            <a:fontRef idx="minor">
              <a:schemeClr val="tx1"/>
            </a:fontRef>
          </p:style>
        </p:cxnSp>
        <p:sp>
          <p:nvSpPr>
            <p:cNvPr id="102" name="Rectangle 38"/>
            <p:cNvSpPr>
              <a:spLocks/>
            </p:cNvSpPr>
            <p:nvPr/>
          </p:nvSpPr>
          <p:spPr bwMode="auto">
            <a:xfrm>
              <a:off x="6106756" y="4883704"/>
              <a:ext cx="1887167" cy="35764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200">
                  <a:solidFill>
                    <a:schemeClr val="accent1"/>
                  </a:solidFill>
                  <a:latin typeface="Century Gothic" panose="020B0502020202020204" pitchFamily="34" charset="0"/>
                </a:rPr>
                <a:t>A = 400</a:t>
              </a:r>
            </a:p>
          </p:txBody>
        </p:sp>
        <p:cxnSp>
          <p:nvCxnSpPr>
            <p:cNvPr id="103" name="Straight Arrow Connector 39"/>
            <p:cNvCxnSpPr/>
            <p:nvPr/>
          </p:nvCxnSpPr>
          <p:spPr>
            <a:xfrm>
              <a:off x="4960661" y="4652891"/>
              <a:ext cx="0" cy="1289915"/>
            </a:xfrm>
            <a:prstGeom prst="straightConnector1">
              <a:avLst/>
            </a:prstGeom>
            <a:ln>
              <a:solidFill>
                <a:srgbClr val="244A58"/>
              </a:solidFill>
              <a:tailEnd type="arrow"/>
            </a:ln>
          </p:spPr>
          <p:style>
            <a:lnRef idx="2">
              <a:schemeClr val="accent1"/>
            </a:lnRef>
            <a:fillRef idx="0">
              <a:schemeClr val="accent1"/>
            </a:fillRef>
            <a:effectRef idx="1">
              <a:schemeClr val="accent1"/>
            </a:effectRef>
            <a:fontRef idx="minor">
              <a:schemeClr val="tx1"/>
            </a:fontRef>
          </p:style>
        </p:cxnSp>
        <p:sp>
          <p:nvSpPr>
            <p:cNvPr id="104" name="Rectangle 40"/>
            <p:cNvSpPr>
              <a:spLocks/>
            </p:cNvSpPr>
            <p:nvPr/>
          </p:nvSpPr>
          <p:spPr bwMode="auto">
            <a:xfrm>
              <a:off x="4017078" y="5918542"/>
              <a:ext cx="1887167" cy="35764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200">
                  <a:solidFill>
                    <a:schemeClr val="accent1"/>
                  </a:solidFill>
                  <a:latin typeface="Century Gothic" panose="020B0502020202020204" pitchFamily="34" charset="0"/>
                </a:rPr>
                <a:t>600</a:t>
              </a:r>
            </a:p>
          </p:txBody>
        </p:sp>
      </p:grpSp>
      <p:sp>
        <p:nvSpPr>
          <p:cNvPr id="7" name="Cerrar llave 6"/>
          <p:cNvSpPr/>
          <p:nvPr/>
        </p:nvSpPr>
        <p:spPr>
          <a:xfrm rot="5400000">
            <a:off x="3036223" y="5653249"/>
            <a:ext cx="308649" cy="1090451"/>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s-CO">
              <a:solidFill>
                <a:schemeClr val="accent1"/>
              </a:solidFill>
            </a:endParaRPr>
          </a:p>
        </p:txBody>
      </p:sp>
      <p:sp>
        <p:nvSpPr>
          <p:cNvPr id="105" name="Cerrar llave 104"/>
          <p:cNvSpPr/>
          <p:nvPr/>
        </p:nvSpPr>
        <p:spPr>
          <a:xfrm rot="5400000">
            <a:off x="5030929" y="5653249"/>
            <a:ext cx="308649" cy="1090451"/>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s-CO">
              <a:solidFill>
                <a:schemeClr val="accent1"/>
              </a:solidFill>
            </a:endParaRPr>
          </a:p>
        </p:txBody>
      </p:sp>
      <mc:AlternateContent xmlns:mc="http://schemas.openxmlformats.org/markup-compatibility/2006" xmlns:a14="http://schemas.microsoft.com/office/drawing/2010/main">
        <mc:Choice Requires="a14">
          <p:sp>
            <p:nvSpPr>
              <p:cNvPr id="24" name="Rectángulo 23"/>
              <p:cNvSpPr/>
              <p:nvPr/>
            </p:nvSpPr>
            <p:spPr>
              <a:xfrm>
                <a:off x="7754246" y="5458594"/>
                <a:ext cx="2002471"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s-CO" b="1" i="0" smtClean="0">
                          <a:solidFill>
                            <a:schemeClr val="tx1"/>
                          </a:solidFill>
                          <a:latin typeface="Cambria Math" panose="02040503050406030204" pitchFamily="18" charset="0"/>
                        </a:rPr>
                        <m:t>𝐕</m:t>
                      </m:r>
                      <m:r>
                        <a:rPr lang="es-ES" b="1" i="0" smtClean="0">
                          <a:solidFill>
                            <a:schemeClr val="tx1"/>
                          </a:solidFill>
                          <a:latin typeface="Cambria Math" panose="02040503050406030204" pitchFamily="18" charset="0"/>
                        </a:rPr>
                        <m:t>𝐅</m:t>
                      </m:r>
                      <m:r>
                        <a:rPr lang="es-CO" b="1" i="0">
                          <a:solidFill>
                            <a:schemeClr val="tx1"/>
                          </a:solidFill>
                          <a:latin typeface="Cambria Math" panose="02040503050406030204" pitchFamily="18" charset="0"/>
                        </a:rPr>
                        <m:t>=−</m:t>
                      </m:r>
                      <m:r>
                        <a:rPr lang="es-CO" b="1" i="0">
                          <a:solidFill>
                            <a:schemeClr val="tx1"/>
                          </a:solidFill>
                          <a:latin typeface="Cambria Math" panose="02040503050406030204" pitchFamily="18" charset="0"/>
                        </a:rPr>
                        <m:t>𝟖</m:t>
                      </m:r>
                      <m:r>
                        <a:rPr lang="es-CO" b="1" i="0">
                          <a:solidFill>
                            <a:schemeClr val="tx1"/>
                          </a:solidFill>
                          <a:latin typeface="Cambria Math" panose="02040503050406030204" pitchFamily="18" charset="0"/>
                        </a:rPr>
                        <m:t>.</m:t>
                      </m:r>
                      <m:r>
                        <a:rPr lang="es-CO" b="1" i="0">
                          <a:solidFill>
                            <a:schemeClr val="tx1"/>
                          </a:solidFill>
                          <a:latin typeface="Cambria Math" panose="02040503050406030204" pitchFamily="18" charset="0"/>
                        </a:rPr>
                        <m:t>𝟗𝟏𝟓</m:t>
                      </m:r>
                      <m:r>
                        <a:rPr lang="es-CO" b="1" i="0">
                          <a:solidFill>
                            <a:schemeClr val="tx1"/>
                          </a:solidFill>
                          <a:latin typeface="Cambria Math" panose="02040503050406030204" pitchFamily="18" charset="0"/>
                        </a:rPr>
                        <m:t>,</m:t>
                      </m:r>
                      <m:r>
                        <a:rPr lang="es-CO" b="1" i="0">
                          <a:solidFill>
                            <a:schemeClr val="tx1"/>
                          </a:solidFill>
                          <a:latin typeface="Cambria Math" panose="02040503050406030204" pitchFamily="18" charset="0"/>
                        </a:rPr>
                        <m:t>𝟒𝟗</m:t>
                      </m:r>
                    </m:oMath>
                  </m:oMathPara>
                </a14:m>
                <a:endParaRPr lang="es-CO" b="1">
                  <a:solidFill>
                    <a:schemeClr val="tx1"/>
                  </a:solidFill>
                </a:endParaRPr>
              </a:p>
            </p:txBody>
          </p:sp>
        </mc:Choice>
        <mc:Fallback xmlns="">
          <p:sp>
            <p:nvSpPr>
              <p:cNvPr id="24" name="Rectángulo 23"/>
              <p:cNvSpPr>
                <a:spLocks noRot="1" noChangeAspect="1" noMove="1" noResize="1" noEditPoints="1" noAdjustHandles="1" noChangeArrowheads="1" noChangeShapeType="1" noTextEdit="1"/>
              </p:cNvSpPr>
              <p:nvPr/>
            </p:nvSpPr>
            <p:spPr>
              <a:xfrm>
                <a:off x="7754246" y="5458594"/>
                <a:ext cx="2002471" cy="369332"/>
              </a:xfrm>
              <a:prstGeom prst="rect">
                <a:avLst/>
              </a:prstGeom>
              <a:blipFill>
                <a:blip r:embed="rId3"/>
                <a:stretch>
                  <a:fillRect/>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5" name="Rectángulo 4"/>
              <p:cNvSpPr/>
              <p:nvPr/>
            </p:nvSpPr>
            <p:spPr>
              <a:xfrm>
                <a:off x="5227838" y="4789047"/>
                <a:ext cx="6542402" cy="580672"/>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s-CO" sz="1400" i="0" smtClean="0">
                          <a:solidFill>
                            <a:schemeClr val="accent1"/>
                          </a:solidFill>
                          <a:latin typeface="Cambria Math" panose="02040503050406030204" pitchFamily="18" charset="0"/>
                        </a:rPr>
                        <m:t>V</m:t>
                      </m:r>
                      <m:r>
                        <m:rPr>
                          <m:sty m:val="p"/>
                        </m:rPr>
                        <a:rPr lang="es-ES" sz="1400" b="0" i="0" smtClean="0">
                          <a:solidFill>
                            <a:schemeClr val="accent1"/>
                          </a:solidFill>
                          <a:latin typeface="Cambria Math" panose="02040503050406030204" pitchFamily="18" charset="0"/>
                        </a:rPr>
                        <m:t>F</m:t>
                      </m:r>
                      <m:r>
                        <a:rPr lang="es-CO" sz="1400" i="0">
                          <a:solidFill>
                            <a:schemeClr val="accent1"/>
                          </a:solidFill>
                          <a:latin typeface="Cambria Math" panose="02040503050406030204" pitchFamily="18" charset="0"/>
                        </a:rPr>
                        <m:t>=−400</m:t>
                      </m:r>
                      <m:d>
                        <m:dPr>
                          <m:ctrlPr>
                            <a:rPr lang="es-CO" sz="1400" i="1">
                              <a:solidFill>
                                <a:schemeClr val="accent1"/>
                              </a:solidFill>
                              <a:latin typeface="Cambria Math" panose="02040503050406030204" pitchFamily="18" charset="0"/>
                            </a:rPr>
                          </m:ctrlPr>
                        </m:dPr>
                        <m:e>
                          <m:f>
                            <m:fPr>
                              <m:ctrlPr>
                                <a:rPr lang="es-CO" sz="1400" i="1">
                                  <a:solidFill>
                                    <a:schemeClr val="accent1"/>
                                  </a:solidFill>
                                  <a:latin typeface="Cambria Math" panose="02040503050406030204" pitchFamily="18" charset="0"/>
                                </a:rPr>
                              </m:ctrlPr>
                            </m:fPr>
                            <m:num>
                              <m:sSup>
                                <m:sSupPr>
                                  <m:ctrlPr>
                                    <a:rPr lang="es-CO" sz="1400" i="1">
                                      <a:solidFill>
                                        <a:schemeClr val="accent1"/>
                                      </a:solidFill>
                                      <a:latin typeface="Cambria Math" panose="02040503050406030204" pitchFamily="18" charset="0"/>
                                    </a:rPr>
                                  </m:ctrlPr>
                                </m:sSupPr>
                                <m:e>
                                  <m:d>
                                    <m:dPr>
                                      <m:ctrlPr>
                                        <a:rPr lang="es-CO" sz="1400" i="1">
                                          <a:solidFill>
                                            <a:schemeClr val="accent1"/>
                                          </a:solidFill>
                                          <a:latin typeface="Cambria Math" panose="02040503050406030204" pitchFamily="18" charset="0"/>
                                        </a:rPr>
                                      </m:ctrlPr>
                                    </m:dPr>
                                    <m:e>
                                      <m:r>
                                        <a:rPr lang="es-CO" sz="1400" i="0">
                                          <a:solidFill>
                                            <a:schemeClr val="accent1"/>
                                          </a:solidFill>
                                          <a:latin typeface="Cambria Math" panose="02040503050406030204" pitchFamily="18" charset="0"/>
                                        </a:rPr>
                                        <m:t>1+8%</m:t>
                                      </m:r>
                                    </m:e>
                                  </m:d>
                                </m:e>
                                <m:sup>
                                  <m:r>
                                    <a:rPr lang="es-CO" sz="1400" i="0">
                                      <a:solidFill>
                                        <a:schemeClr val="accent1"/>
                                      </a:solidFill>
                                      <a:latin typeface="Cambria Math" panose="02040503050406030204" pitchFamily="18" charset="0"/>
                                    </a:rPr>
                                    <m:t>6</m:t>
                                  </m:r>
                                </m:sup>
                              </m:sSup>
                              <m:r>
                                <a:rPr lang="es-CO" sz="1400" i="0">
                                  <a:solidFill>
                                    <a:schemeClr val="accent1"/>
                                  </a:solidFill>
                                  <a:latin typeface="Cambria Math" panose="02040503050406030204" pitchFamily="18" charset="0"/>
                                </a:rPr>
                                <m:t>−1</m:t>
                              </m:r>
                            </m:num>
                            <m:den>
                              <m:r>
                                <a:rPr lang="es-CO" sz="1400" i="0">
                                  <a:solidFill>
                                    <a:schemeClr val="accent1"/>
                                  </a:solidFill>
                                  <a:latin typeface="Cambria Math" panose="02040503050406030204" pitchFamily="18" charset="0"/>
                                </a:rPr>
                                <m:t>8%</m:t>
                              </m:r>
                            </m:den>
                          </m:f>
                        </m:e>
                      </m:d>
                      <m:sSup>
                        <m:sSupPr>
                          <m:ctrlPr>
                            <a:rPr lang="es-CO" sz="1400" i="1">
                              <a:solidFill>
                                <a:schemeClr val="accent1"/>
                              </a:solidFill>
                              <a:latin typeface="Cambria Math" panose="02040503050406030204" pitchFamily="18" charset="0"/>
                            </a:rPr>
                          </m:ctrlPr>
                        </m:sSupPr>
                        <m:e>
                          <m:d>
                            <m:dPr>
                              <m:ctrlPr>
                                <a:rPr lang="es-CO" sz="1400" i="1">
                                  <a:solidFill>
                                    <a:schemeClr val="accent1"/>
                                  </a:solidFill>
                                  <a:latin typeface="Cambria Math" panose="02040503050406030204" pitchFamily="18" charset="0"/>
                                </a:rPr>
                              </m:ctrlPr>
                            </m:dPr>
                            <m:e>
                              <m:r>
                                <a:rPr lang="es-CO" sz="1400" i="0">
                                  <a:solidFill>
                                    <a:schemeClr val="accent1"/>
                                  </a:solidFill>
                                  <a:latin typeface="Cambria Math" panose="02040503050406030204" pitchFamily="18" charset="0"/>
                                </a:rPr>
                                <m:t>1+8%</m:t>
                              </m:r>
                            </m:e>
                          </m:d>
                        </m:e>
                        <m:sup>
                          <m:r>
                            <a:rPr lang="es-CO" sz="1400" i="0">
                              <a:solidFill>
                                <a:schemeClr val="accent1"/>
                              </a:solidFill>
                              <a:latin typeface="Cambria Math" panose="02040503050406030204" pitchFamily="18" charset="0"/>
                            </a:rPr>
                            <m:t>7</m:t>
                          </m:r>
                        </m:sup>
                      </m:sSup>
                      <m:r>
                        <a:rPr lang="es-CO" sz="1400" i="0">
                          <a:solidFill>
                            <a:schemeClr val="accent1"/>
                          </a:solidFill>
                          <a:latin typeface="Cambria Math" panose="02040503050406030204" pitchFamily="18" charset="0"/>
                        </a:rPr>
                        <m:t>−600</m:t>
                      </m:r>
                      <m:sSup>
                        <m:sSupPr>
                          <m:ctrlPr>
                            <a:rPr lang="es-CO" sz="1400" i="1">
                              <a:solidFill>
                                <a:schemeClr val="accent1"/>
                              </a:solidFill>
                              <a:latin typeface="Cambria Math" panose="02040503050406030204" pitchFamily="18" charset="0"/>
                            </a:rPr>
                          </m:ctrlPr>
                        </m:sSupPr>
                        <m:e>
                          <m:d>
                            <m:dPr>
                              <m:ctrlPr>
                                <a:rPr lang="es-CO" sz="1400" i="1">
                                  <a:solidFill>
                                    <a:schemeClr val="accent1"/>
                                  </a:solidFill>
                                  <a:latin typeface="Cambria Math" panose="02040503050406030204" pitchFamily="18" charset="0"/>
                                </a:rPr>
                              </m:ctrlPr>
                            </m:dPr>
                            <m:e>
                              <m:r>
                                <a:rPr lang="es-CO" sz="1400" i="0">
                                  <a:solidFill>
                                    <a:schemeClr val="accent1"/>
                                  </a:solidFill>
                                  <a:latin typeface="Cambria Math" panose="02040503050406030204" pitchFamily="18" charset="0"/>
                                </a:rPr>
                                <m:t>1+8%</m:t>
                              </m:r>
                            </m:e>
                          </m:d>
                        </m:e>
                        <m:sup>
                          <m:r>
                            <a:rPr lang="es-CO" sz="1400" i="0">
                              <a:solidFill>
                                <a:schemeClr val="accent1"/>
                              </a:solidFill>
                              <a:latin typeface="Cambria Math" panose="02040503050406030204" pitchFamily="18" charset="0"/>
                            </a:rPr>
                            <m:t>6</m:t>
                          </m:r>
                        </m:sup>
                      </m:sSup>
                      <m:r>
                        <a:rPr lang="es-CO" sz="1400" i="0">
                          <a:solidFill>
                            <a:schemeClr val="accent1"/>
                          </a:solidFill>
                          <a:latin typeface="Cambria Math" panose="02040503050406030204" pitchFamily="18" charset="0"/>
                        </a:rPr>
                        <m:t>−400</m:t>
                      </m:r>
                      <m:d>
                        <m:dPr>
                          <m:ctrlPr>
                            <a:rPr lang="es-CO" sz="1400" i="1">
                              <a:solidFill>
                                <a:schemeClr val="accent1"/>
                              </a:solidFill>
                              <a:latin typeface="Cambria Math" panose="02040503050406030204" pitchFamily="18" charset="0"/>
                            </a:rPr>
                          </m:ctrlPr>
                        </m:dPr>
                        <m:e>
                          <m:f>
                            <m:fPr>
                              <m:ctrlPr>
                                <a:rPr lang="es-CO" sz="1400" i="1">
                                  <a:solidFill>
                                    <a:schemeClr val="accent1"/>
                                  </a:solidFill>
                                  <a:latin typeface="Cambria Math" panose="02040503050406030204" pitchFamily="18" charset="0"/>
                                </a:rPr>
                              </m:ctrlPr>
                            </m:fPr>
                            <m:num>
                              <m:sSup>
                                <m:sSupPr>
                                  <m:ctrlPr>
                                    <a:rPr lang="es-CO" sz="1400" i="1">
                                      <a:solidFill>
                                        <a:schemeClr val="accent1"/>
                                      </a:solidFill>
                                      <a:latin typeface="Cambria Math" panose="02040503050406030204" pitchFamily="18" charset="0"/>
                                    </a:rPr>
                                  </m:ctrlPr>
                                </m:sSupPr>
                                <m:e>
                                  <m:d>
                                    <m:dPr>
                                      <m:ctrlPr>
                                        <a:rPr lang="es-CO" sz="1400" i="1">
                                          <a:solidFill>
                                            <a:schemeClr val="accent1"/>
                                          </a:solidFill>
                                          <a:latin typeface="Cambria Math" panose="02040503050406030204" pitchFamily="18" charset="0"/>
                                        </a:rPr>
                                      </m:ctrlPr>
                                    </m:dPr>
                                    <m:e>
                                      <m:r>
                                        <a:rPr lang="es-CO" sz="1400" i="0">
                                          <a:solidFill>
                                            <a:schemeClr val="accent1"/>
                                          </a:solidFill>
                                          <a:latin typeface="Cambria Math" panose="02040503050406030204" pitchFamily="18" charset="0"/>
                                        </a:rPr>
                                        <m:t>1+8%</m:t>
                                      </m:r>
                                    </m:e>
                                  </m:d>
                                </m:e>
                                <m:sup>
                                  <m:r>
                                    <a:rPr lang="es-CO" sz="1400" i="0">
                                      <a:solidFill>
                                        <a:schemeClr val="accent1"/>
                                      </a:solidFill>
                                      <a:latin typeface="Cambria Math" panose="02040503050406030204" pitchFamily="18" charset="0"/>
                                    </a:rPr>
                                    <m:t>6</m:t>
                                  </m:r>
                                </m:sup>
                              </m:sSup>
                              <m:r>
                                <a:rPr lang="es-CO" sz="1400" i="0">
                                  <a:solidFill>
                                    <a:schemeClr val="accent1"/>
                                  </a:solidFill>
                                  <a:latin typeface="Cambria Math" panose="02040503050406030204" pitchFamily="18" charset="0"/>
                                </a:rPr>
                                <m:t>−1</m:t>
                              </m:r>
                            </m:num>
                            <m:den>
                              <m:r>
                                <a:rPr lang="es-CO" sz="1400" i="0">
                                  <a:solidFill>
                                    <a:schemeClr val="accent1"/>
                                  </a:solidFill>
                                  <a:latin typeface="Cambria Math" panose="02040503050406030204" pitchFamily="18" charset="0"/>
                                </a:rPr>
                                <m:t>8%</m:t>
                              </m:r>
                            </m:den>
                          </m:f>
                        </m:e>
                      </m:d>
                      <m:r>
                        <a:rPr lang="es-CO" sz="1400" i="0">
                          <a:solidFill>
                            <a:schemeClr val="accent1"/>
                          </a:solidFill>
                          <a:latin typeface="Cambria Math" panose="02040503050406030204" pitchFamily="18" charset="0"/>
                        </a:rPr>
                        <m:t> </m:t>
                      </m:r>
                    </m:oMath>
                  </m:oMathPara>
                </a14:m>
                <a:endParaRPr lang="es-CO" sz="1400">
                  <a:solidFill>
                    <a:schemeClr val="accent1"/>
                  </a:solidFill>
                </a:endParaRPr>
              </a:p>
            </p:txBody>
          </p:sp>
        </mc:Choice>
        <mc:Fallback xmlns="">
          <p:sp>
            <p:nvSpPr>
              <p:cNvPr id="5" name="Rectángulo 4"/>
              <p:cNvSpPr>
                <a:spLocks noRot="1" noChangeAspect="1" noMove="1" noResize="1" noEditPoints="1" noAdjustHandles="1" noChangeArrowheads="1" noChangeShapeType="1" noTextEdit="1"/>
              </p:cNvSpPr>
              <p:nvPr/>
            </p:nvSpPr>
            <p:spPr>
              <a:xfrm>
                <a:off x="5227838" y="4789047"/>
                <a:ext cx="6542402" cy="580672"/>
              </a:xfrm>
              <a:prstGeom prst="rect">
                <a:avLst/>
              </a:prstGeom>
              <a:blipFill>
                <a:blip r:embed="rId4"/>
                <a:stretch>
                  <a:fillRect/>
                </a:stretch>
              </a:blipFill>
            </p:spPr>
            <p:txBody>
              <a:bodyPr/>
              <a:lstStyle/>
              <a:p>
                <a:r>
                  <a:rPr lang="es-CO">
                    <a:noFill/>
                  </a:rPr>
                  <a:t> </a:t>
                </a:r>
              </a:p>
            </p:txBody>
          </p:sp>
        </mc:Fallback>
      </mc:AlternateContent>
      <p:cxnSp>
        <p:nvCxnSpPr>
          <p:cNvPr id="9" name="Conector curvado 8"/>
          <p:cNvCxnSpPr>
            <a:stCxn id="7" idx="1"/>
            <a:endCxn id="94" idx="3"/>
          </p:cNvCxnSpPr>
          <p:nvPr/>
        </p:nvCxnSpPr>
        <p:spPr>
          <a:xfrm rot="5400000" flipH="1" flipV="1">
            <a:off x="4149322" y="4557274"/>
            <a:ext cx="836751" cy="2754301"/>
          </a:xfrm>
          <a:prstGeom prst="curvedConnector4">
            <a:avLst>
              <a:gd name="adj1" fmla="val 2681"/>
              <a:gd name="adj2" fmla="val 108300"/>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4" name="Conector curvado 13"/>
          <p:cNvCxnSpPr>
            <a:stCxn id="104" idx="0"/>
            <a:endCxn id="94" idx="3"/>
          </p:cNvCxnSpPr>
          <p:nvPr/>
        </p:nvCxnSpPr>
        <p:spPr>
          <a:xfrm rot="5400000" flipH="1" flipV="1">
            <a:off x="4656902" y="5008820"/>
            <a:ext cx="780718" cy="1795172"/>
          </a:xfrm>
          <a:prstGeom prst="curvedConnector4">
            <a:avLst>
              <a:gd name="adj1" fmla="val 44087"/>
              <a:gd name="adj2" fmla="val 112734"/>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8" name="Conector curvado 17"/>
          <p:cNvCxnSpPr>
            <a:stCxn id="105" idx="1"/>
            <a:endCxn id="94" idx="3"/>
          </p:cNvCxnSpPr>
          <p:nvPr/>
        </p:nvCxnSpPr>
        <p:spPr>
          <a:xfrm rot="5400000" flipH="1" flipV="1">
            <a:off x="5146675" y="5554627"/>
            <a:ext cx="836751" cy="759595"/>
          </a:xfrm>
          <a:prstGeom prst="curvedConnector4">
            <a:avLst>
              <a:gd name="adj1" fmla="val 2681"/>
              <a:gd name="adj2" fmla="val 130095"/>
            </a:avLst>
          </a:prstGeom>
          <a:ln>
            <a:tailEnd type="triangle"/>
          </a:ln>
        </p:spPr>
        <p:style>
          <a:lnRef idx="2">
            <a:schemeClr val="accent1"/>
          </a:lnRef>
          <a:fillRef idx="0">
            <a:schemeClr val="accent1"/>
          </a:fillRef>
          <a:effectRef idx="1">
            <a:schemeClr val="accent1"/>
          </a:effectRef>
          <a:fontRef idx="minor">
            <a:schemeClr val="tx1"/>
          </a:fontRef>
        </p:style>
      </p:cxnSp>
      <p:sp>
        <p:nvSpPr>
          <p:cNvPr id="132" name="Rectángulo 131">
            <a:extLst>
              <a:ext uri="{FF2B5EF4-FFF2-40B4-BE49-F238E27FC236}">
                <a16:creationId xmlns:a16="http://schemas.microsoft.com/office/drawing/2014/main" id="{40D25D1E-34C8-4381-9735-E5135A433CBE}"/>
              </a:ext>
            </a:extLst>
          </p:cNvPr>
          <p:cNvSpPr/>
          <p:nvPr/>
        </p:nvSpPr>
        <p:spPr>
          <a:xfrm>
            <a:off x="581192" y="2026344"/>
            <a:ext cx="1399742" cy="400110"/>
          </a:xfrm>
          <a:prstGeom prst="rect">
            <a:avLst/>
          </a:prstGeom>
        </p:spPr>
        <p:txBody>
          <a:bodyPr wrap="none">
            <a:spAutoFit/>
          </a:bodyPr>
          <a:lstStyle/>
          <a:p>
            <a:r>
              <a:rPr lang="es-ES_tradnl" sz="2000" b="1">
                <a:solidFill>
                  <a:srgbClr val="C00000"/>
                </a:solidFill>
                <a:latin typeface="Century Gothic" panose="020B0502020202020204" pitchFamily="34" charset="0"/>
              </a:rPr>
              <a:t>Ejemplo 1</a:t>
            </a:r>
            <a:endParaRPr lang="es-CO" sz="2000" b="1">
              <a:solidFill>
                <a:srgbClr val="C00000"/>
              </a:solidFill>
              <a:latin typeface="Century Gothic" panose="020B0502020202020204" pitchFamily="34" charset="0"/>
            </a:endParaRPr>
          </a:p>
        </p:txBody>
      </p:sp>
      <p:sp>
        <p:nvSpPr>
          <p:cNvPr id="134" name="CuadroTexto 133">
            <a:extLst>
              <a:ext uri="{FF2B5EF4-FFF2-40B4-BE49-F238E27FC236}">
                <a16:creationId xmlns:a16="http://schemas.microsoft.com/office/drawing/2014/main" id="{7576D094-F102-4C6B-9E9D-334718EE56FA}"/>
              </a:ext>
            </a:extLst>
          </p:cNvPr>
          <p:cNvSpPr txBox="1"/>
          <p:nvPr/>
        </p:nvSpPr>
        <p:spPr>
          <a:xfrm>
            <a:off x="7981884" y="2820355"/>
            <a:ext cx="2793324" cy="1077218"/>
          </a:xfrm>
          <a:prstGeom prst="rect">
            <a:avLst/>
          </a:prstGeom>
          <a:noFill/>
        </p:spPr>
        <p:txBody>
          <a:bodyPr wrap="square" rtlCol="0">
            <a:spAutoFit/>
          </a:bodyPr>
          <a:lstStyle/>
          <a:p>
            <a:pPr algn="ctr"/>
            <a:r>
              <a:rPr lang="es-CO" sz="1600">
                <a:solidFill>
                  <a:schemeClr val="accent3">
                    <a:lumMod val="75000"/>
                  </a:schemeClr>
                </a:solidFill>
                <a:latin typeface="Century Gothic" panose="020B0502020202020204" pitchFamily="34" charset="0"/>
              </a:rPr>
              <a:t>Suponiendo que los flujos son anuales, ¿A cuánto equivaldrían esta serie de pagos en el año 12?</a:t>
            </a:r>
          </a:p>
        </p:txBody>
      </p:sp>
      <p:grpSp>
        <p:nvGrpSpPr>
          <p:cNvPr id="69" name="Grupo 68">
            <a:extLst>
              <a:ext uri="{FF2B5EF4-FFF2-40B4-BE49-F238E27FC236}">
                <a16:creationId xmlns:a16="http://schemas.microsoft.com/office/drawing/2014/main" id="{1F724887-85F1-4856-BFE6-F36A3702DFEA}"/>
              </a:ext>
            </a:extLst>
          </p:cNvPr>
          <p:cNvGrpSpPr/>
          <p:nvPr/>
        </p:nvGrpSpPr>
        <p:grpSpPr>
          <a:xfrm>
            <a:off x="1852200" y="3382677"/>
            <a:ext cx="5391476" cy="1265666"/>
            <a:chOff x="1491343" y="4202329"/>
            <a:chExt cx="7048165" cy="2099227"/>
          </a:xfrm>
        </p:grpSpPr>
        <p:cxnSp>
          <p:nvCxnSpPr>
            <p:cNvPr id="70" name="Straight Connector 12">
              <a:extLst>
                <a:ext uri="{FF2B5EF4-FFF2-40B4-BE49-F238E27FC236}">
                  <a16:creationId xmlns:a16="http://schemas.microsoft.com/office/drawing/2014/main" id="{310A21C3-F14D-451F-8FF8-AC66B80D0F5E}"/>
                </a:ext>
              </a:extLst>
            </p:cNvPr>
            <p:cNvCxnSpPr/>
            <p:nvPr/>
          </p:nvCxnSpPr>
          <p:spPr>
            <a:xfrm>
              <a:off x="1519511" y="4640650"/>
              <a:ext cx="6873849" cy="12241"/>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sp>
          <p:nvSpPr>
            <p:cNvPr id="71" name="Rectangle 23">
              <a:extLst>
                <a:ext uri="{FF2B5EF4-FFF2-40B4-BE49-F238E27FC236}">
                  <a16:creationId xmlns:a16="http://schemas.microsoft.com/office/drawing/2014/main" id="{C018306E-979C-4A20-BDFC-5D7290852D15}"/>
                </a:ext>
              </a:extLst>
            </p:cNvPr>
            <p:cNvSpPr>
              <a:spLocks/>
            </p:cNvSpPr>
            <p:nvPr/>
          </p:nvSpPr>
          <p:spPr bwMode="auto">
            <a:xfrm flipH="1">
              <a:off x="1491343" y="4229942"/>
              <a:ext cx="131729" cy="40838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solidFill>
                    <a:schemeClr val="accent1"/>
                  </a:solidFill>
                  <a:latin typeface="Century Gothic" panose="020B0502020202020204" pitchFamily="34" charset="0"/>
                </a:rPr>
                <a:t>0</a:t>
              </a:r>
            </a:p>
          </p:txBody>
        </p:sp>
        <p:sp>
          <p:nvSpPr>
            <p:cNvPr id="72" name="Rectangle 11">
              <a:extLst>
                <a:ext uri="{FF2B5EF4-FFF2-40B4-BE49-F238E27FC236}">
                  <a16:creationId xmlns:a16="http://schemas.microsoft.com/office/drawing/2014/main" id="{63FAAF92-7EF0-4D58-BB4C-91E07938FE59}"/>
                </a:ext>
              </a:extLst>
            </p:cNvPr>
            <p:cNvSpPr>
              <a:spLocks/>
            </p:cNvSpPr>
            <p:nvPr/>
          </p:nvSpPr>
          <p:spPr bwMode="auto">
            <a:xfrm>
              <a:off x="1924079" y="4221453"/>
              <a:ext cx="337060" cy="40838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solidFill>
                    <a:schemeClr val="accent1"/>
                  </a:solidFill>
                  <a:latin typeface="Century Gothic" panose="020B0502020202020204" pitchFamily="34" charset="0"/>
                </a:rPr>
                <a:t>1</a:t>
              </a:r>
            </a:p>
          </p:txBody>
        </p:sp>
        <p:sp>
          <p:nvSpPr>
            <p:cNvPr id="73" name="Rectangle 14">
              <a:extLst>
                <a:ext uri="{FF2B5EF4-FFF2-40B4-BE49-F238E27FC236}">
                  <a16:creationId xmlns:a16="http://schemas.microsoft.com/office/drawing/2014/main" id="{5A8B1400-73B3-40BD-9C78-54E484CBC527}"/>
                </a:ext>
              </a:extLst>
            </p:cNvPr>
            <p:cNvSpPr>
              <a:spLocks/>
            </p:cNvSpPr>
            <p:nvPr/>
          </p:nvSpPr>
          <p:spPr bwMode="auto">
            <a:xfrm>
              <a:off x="2484692" y="4221453"/>
              <a:ext cx="337060" cy="40838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solidFill>
                    <a:schemeClr val="accent1"/>
                  </a:solidFill>
                  <a:latin typeface="Century Gothic" panose="020B0502020202020204" pitchFamily="34" charset="0"/>
                </a:rPr>
                <a:t>2</a:t>
              </a:r>
            </a:p>
          </p:txBody>
        </p:sp>
        <p:sp>
          <p:nvSpPr>
            <p:cNvPr id="74" name="Rectangle 15">
              <a:extLst>
                <a:ext uri="{FF2B5EF4-FFF2-40B4-BE49-F238E27FC236}">
                  <a16:creationId xmlns:a16="http://schemas.microsoft.com/office/drawing/2014/main" id="{131726E5-0970-4690-94EA-B74AD8DCBDA0}"/>
                </a:ext>
              </a:extLst>
            </p:cNvPr>
            <p:cNvSpPr>
              <a:spLocks/>
            </p:cNvSpPr>
            <p:nvPr/>
          </p:nvSpPr>
          <p:spPr bwMode="auto">
            <a:xfrm>
              <a:off x="3048549" y="4221453"/>
              <a:ext cx="337060" cy="40838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solidFill>
                    <a:schemeClr val="accent1"/>
                  </a:solidFill>
                  <a:latin typeface="Century Gothic" panose="020B0502020202020204" pitchFamily="34" charset="0"/>
                </a:rPr>
                <a:t>3</a:t>
              </a:r>
            </a:p>
          </p:txBody>
        </p:sp>
        <p:sp>
          <p:nvSpPr>
            <p:cNvPr id="75" name="Rectangle 16">
              <a:extLst>
                <a:ext uri="{FF2B5EF4-FFF2-40B4-BE49-F238E27FC236}">
                  <a16:creationId xmlns:a16="http://schemas.microsoft.com/office/drawing/2014/main" id="{D7AA8BF1-8F65-4554-9719-5D3346BAC54C}"/>
                </a:ext>
              </a:extLst>
            </p:cNvPr>
            <p:cNvSpPr>
              <a:spLocks/>
            </p:cNvSpPr>
            <p:nvPr/>
          </p:nvSpPr>
          <p:spPr bwMode="auto">
            <a:xfrm>
              <a:off x="3655075" y="4221453"/>
              <a:ext cx="337060" cy="40838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solidFill>
                    <a:schemeClr val="accent1"/>
                  </a:solidFill>
                  <a:latin typeface="Century Gothic" panose="020B0502020202020204" pitchFamily="34" charset="0"/>
                </a:rPr>
                <a:t>4</a:t>
              </a:r>
            </a:p>
          </p:txBody>
        </p:sp>
        <p:sp>
          <p:nvSpPr>
            <p:cNvPr id="76" name="Rectangle 17">
              <a:extLst>
                <a:ext uri="{FF2B5EF4-FFF2-40B4-BE49-F238E27FC236}">
                  <a16:creationId xmlns:a16="http://schemas.microsoft.com/office/drawing/2014/main" id="{FC572DE7-A7ED-4EC4-B284-7ED5D2AB82E0}"/>
                </a:ext>
              </a:extLst>
            </p:cNvPr>
            <p:cNvSpPr>
              <a:spLocks/>
            </p:cNvSpPr>
            <p:nvPr/>
          </p:nvSpPr>
          <p:spPr bwMode="auto">
            <a:xfrm>
              <a:off x="4258181" y="4202329"/>
              <a:ext cx="337060" cy="40838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solidFill>
                    <a:schemeClr val="accent1"/>
                  </a:solidFill>
                  <a:latin typeface="Century Gothic" panose="020B0502020202020204" pitchFamily="34" charset="0"/>
                </a:rPr>
                <a:t>5</a:t>
              </a:r>
            </a:p>
          </p:txBody>
        </p:sp>
        <p:sp>
          <p:nvSpPr>
            <p:cNvPr id="77" name="Rectangle 18">
              <a:extLst>
                <a:ext uri="{FF2B5EF4-FFF2-40B4-BE49-F238E27FC236}">
                  <a16:creationId xmlns:a16="http://schemas.microsoft.com/office/drawing/2014/main" id="{463C17C2-7EF2-4775-941D-83E2539E9A1B}"/>
                </a:ext>
              </a:extLst>
            </p:cNvPr>
            <p:cNvSpPr>
              <a:spLocks/>
            </p:cNvSpPr>
            <p:nvPr/>
          </p:nvSpPr>
          <p:spPr bwMode="auto">
            <a:xfrm>
              <a:off x="4777031" y="4221453"/>
              <a:ext cx="337060" cy="40838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solidFill>
                    <a:schemeClr val="accent1"/>
                  </a:solidFill>
                  <a:latin typeface="Century Gothic" panose="020B0502020202020204" pitchFamily="34" charset="0"/>
                </a:rPr>
                <a:t>6</a:t>
              </a:r>
            </a:p>
          </p:txBody>
        </p:sp>
        <p:sp>
          <p:nvSpPr>
            <p:cNvPr id="78" name="Rectangle 19">
              <a:extLst>
                <a:ext uri="{FF2B5EF4-FFF2-40B4-BE49-F238E27FC236}">
                  <a16:creationId xmlns:a16="http://schemas.microsoft.com/office/drawing/2014/main" id="{1059780C-9936-4036-8BA1-1A880917B78D}"/>
                </a:ext>
              </a:extLst>
            </p:cNvPr>
            <p:cNvSpPr>
              <a:spLocks/>
            </p:cNvSpPr>
            <p:nvPr/>
          </p:nvSpPr>
          <p:spPr bwMode="auto">
            <a:xfrm>
              <a:off x="5383554" y="4221453"/>
              <a:ext cx="337060" cy="40838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solidFill>
                    <a:schemeClr val="accent1"/>
                  </a:solidFill>
                  <a:latin typeface="Century Gothic" panose="020B0502020202020204" pitchFamily="34" charset="0"/>
                </a:rPr>
                <a:t>7</a:t>
              </a:r>
            </a:p>
          </p:txBody>
        </p:sp>
        <p:sp>
          <p:nvSpPr>
            <p:cNvPr id="79" name="Rectangle 28">
              <a:extLst>
                <a:ext uri="{FF2B5EF4-FFF2-40B4-BE49-F238E27FC236}">
                  <a16:creationId xmlns:a16="http://schemas.microsoft.com/office/drawing/2014/main" id="{8F955316-0807-4D95-8AD4-766FDC2F64A4}"/>
                </a:ext>
              </a:extLst>
            </p:cNvPr>
            <p:cNvSpPr>
              <a:spLocks/>
            </p:cNvSpPr>
            <p:nvPr/>
          </p:nvSpPr>
          <p:spPr bwMode="auto">
            <a:xfrm>
              <a:off x="5938227" y="4221453"/>
              <a:ext cx="337060" cy="40838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solidFill>
                    <a:schemeClr val="accent1"/>
                  </a:solidFill>
                  <a:latin typeface="Century Gothic" panose="020B0502020202020204" pitchFamily="34" charset="0"/>
                </a:rPr>
                <a:t>8</a:t>
              </a:r>
            </a:p>
          </p:txBody>
        </p:sp>
        <p:sp>
          <p:nvSpPr>
            <p:cNvPr id="131" name="Rectangle 29">
              <a:extLst>
                <a:ext uri="{FF2B5EF4-FFF2-40B4-BE49-F238E27FC236}">
                  <a16:creationId xmlns:a16="http://schemas.microsoft.com/office/drawing/2014/main" id="{4B21EA1E-0C9D-4E4E-86C0-A7A84FAAB5D1}"/>
                </a:ext>
              </a:extLst>
            </p:cNvPr>
            <p:cNvSpPr>
              <a:spLocks/>
            </p:cNvSpPr>
            <p:nvPr/>
          </p:nvSpPr>
          <p:spPr bwMode="auto">
            <a:xfrm>
              <a:off x="6532383" y="4229941"/>
              <a:ext cx="337060" cy="40838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solidFill>
                    <a:schemeClr val="accent1"/>
                  </a:solidFill>
                  <a:latin typeface="Century Gothic" panose="020B0502020202020204" pitchFamily="34" charset="0"/>
                </a:rPr>
                <a:t>9</a:t>
              </a:r>
            </a:p>
          </p:txBody>
        </p:sp>
        <p:sp>
          <p:nvSpPr>
            <p:cNvPr id="139" name="Rectangle 30">
              <a:extLst>
                <a:ext uri="{FF2B5EF4-FFF2-40B4-BE49-F238E27FC236}">
                  <a16:creationId xmlns:a16="http://schemas.microsoft.com/office/drawing/2014/main" id="{B5F301FD-9AD2-41D4-A04E-2C614BC5869C}"/>
                </a:ext>
              </a:extLst>
            </p:cNvPr>
            <p:cNvSpPr>
              <a:spLocks/>
            </p:cNvSpPr>
            <p:nvPr/>
          </p:nvSpPr>
          <p:spPr bwMode="auto">
            <a:xfrm>
              <a:off x="7153602" y="4221453"/>
              <a:ext cx="337060" cy="40838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solidFill>
                    <a:schemeClr val="accent1"/>
                  </a:solidFill>
                  <a:latin typeface="Century Gothic" panose="020B0502020202020204" pitchFamily="34" charset="0"/>
                </a:rPr>
                <a:t>10</a:t>
              </a:r>
            </a:p>
          </p:txBody>
        </p:sp>
        <p:sp>
          <p:nvSpPr>
            <p:cNvPr id="140" name="Rectangle 31">
              <a:extLst>
                <a:ext uri="{FF2B5EF4-FFF2-40B4-BE49-F238E27FC236}">
                  <a16:creationId xmlns:a16="http://schemas.microsoft.com/office/drawing/2014/main" id="{E8CC8002-BA09-4EE4-9EED-CE3B7C0346F8}"/>
                </a:ext>
              </a:extLst>
            </p:cNvPr>
            <p:cNvSpPr>
              <a:spLocks/>
            </p:cNvSpPr>
            <p:nvPr/>
          </p:nvSpPr>
          <p:spPr bwMode="auto">
            <a:xfrm>
              <a:off x="7656863" y="4221453"/>
              <a:ext cx="337060" cy="40838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solidFill>
                    <a:schemeClr val="accent1"/>
                  </a:solidFill>
                  <a:latin typeface="Century Gothic" panose="020B0502020202020204" pitchFamily="34" charset="0"/>
                </a:rPr>
                <a:t>11</a:t>
              </a:r>
            </a:p>
          </p:txBody>
        </p:sp>
        <p:sp>
          <p:nvSpPr>
            <p:cNvPr id="141" name="Rectangle 33">
              <a:extLst>
                <a:ext uri="{FF2B5EF4-FFF2-40B4-BE49-F238E27FC236}">
                  <a16:creationId xmlns:a16="http://schemas.microsoft.com/office/drawing/2014/main" id="{ECBDC3BB-49AA-4FA6-9B42-760A4B565824}"/>
                </a:ext>
              </a:extLst>
            </p:cNvPr>
            <p:cNvSpPr>
              <a:spLocks/>
            </p:cNvSpPr>
            <p:nvPr/>
          </p:nvSpPr>
          <p:spPr bwMode="auto">
            <a:xfrm>
              <a:off x="8202448" y="4202329"/>
              <a:ext cx="337060" cy="40838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solidFill>
                    <a:schemeClr val="accent1"/>
                  </a:solidFill>
                  <a:latin typeface="Century Gothic" panose="020B0502020202020204" pitchFamily="34" charset="0"/>
                </a:rPr>
                <a:t>12</a:t>
              </a:r>
            </a:p>
          </p:txBody>
        </p:sp>
        <p:cxnSp>
          <p:nvCxnSpPr>
            <p:cNvPr id="142" name="Straight Arrow Connector 34">
              <a:extLst>
                <a:ext uri="{FF2B5EF4-FFF2-40B4-BE49-F238E27FC236}">
                  <a16:creationId xmlns:a16="http://schemas.microsoft.com/office/drawing/2014/main" id="{32663DCE-38AC-468F-96CE-60A17335AB77}"/>
                </a:ext>
              </a:extLst>
            </p:cNvPr>
            <p:cNvCxnSpPr/>
            <p:nvPr/>
          </p:nvCxnSpPr>
          <p:spPr>
            <a:xfrm>
              <a:off x="1540640" y="4639623"/>
              <a:ext cx="0" cy="620901"/>
            </a:xfrm>
            <a:prstGeom prst="straightConnector1">
              <a:avLst/>
            </a:prstGeom>
            <a:ln w="38100">
              <a:solidFill>
                <a:srgbClr val="FF0000"/>
              </a:solidFill>
              <a:tailEnd type="arrow"/>
            </a:ln>
          </p:spPr>
          <p:style>
            <a:lnRef idx="2">
              <a:schemeClr val="accent1"/>
            </a:lnRef>
            <a:fillRef idx="0">
              <a:schemeClr val="accent1"/>
            </a:fillRef>
            <a:effectRef idx="1">
              <a:schemeClr val="accent1"/>
            </a:effectRef>
            <a:fontRef idx="minor">
              <a:schemeClr val="tx1"/>
            </a:fontRef>
          </p:style>
        </p:cxnSp>
        <p:cxnSp>
          <p:nvCxnSpPr>
            <p:cNvPr id="143" name="Straight Arrow Connector 35">
              <a:extLst>
                <a:ext uri="{FF2B5EF4-FFF2-40B4-BE49-F238E27FC236}">
                  <a16:creationId xmlns:a16="http://schemas.microsoft.com/office/drawing/2014/main" id="{D39CB411-D8B6-4573-986B-318A8CF517F7}"/>
                </a:ext>
              </a:extLst>
            </p:cNvPr>
            <p:cNvCxnSpPr/>
            <p:nvPr/>
          </p:nvCxnSpPr>
          <p:spPr>
            <a:xfrm>
              <a:off x="8393360" y="4652891"/>
              <a:ext cx="0" cy="620901"/>
            </a:xfrm>
            <a:prstGeom prst="straightConnector1">
              <a:avLst/>
            </a:prstGeom>
            <a:ln w="38100">
              <a:solidFill>
                <a:srgbClr val="FF0000"/>
              </a:solidFill>
              <a:tailEnd type="arrow"/>
            </a:ln>
          </p:spPr>
          <p:style>
            <a:lnRef idx="2">
              <a:schemeClr val="accent1"/>
            </a:lnRef>
            <a:fillRef idx="0">
              <a:schemeClr val="accent1"/>
            </a:fillRef>
            <a:effectRef idx="1">
              <a:schemeClr val="accent1"/>
            </a:effectRef>
            <a:fontRef idx="minor">
              <a:schemeClr val="tx1"/>
            </a:fontRef>
          </p:style>
        </p:cxnSp>
        <p:cxnSp>
          <p:nvCxnSpPr>
            <p:cNvPr id="144" name="Straight Arrow Connector 36">
              <a:extLst>
                <a:ext uri="{FF2B5EF4-FFF2-40B4-BE49-F238E27FC236}">
                  <a16:creationId xmlns:a16="http://schemas.microsoft.com/office/drawing/2014/main" id="{90AB6DAB-2EE3-4BD7-B3B6-7B46F403D669}"/>
                </a:ext>
              </a:extLst>
            </p:cNvPr>
            <p:cNvCxnSpPr/>
            <p:nvPr/>
          </p:nvCxnSpPr>
          <p:spPr>
            <a:xfrm>
              <a:off x="1540640" y="5260524"/>
              <a:ext cx="2905074" cy="13268"/>
            </a:xfrm>
            <a:prstGeom prst="straightConnector1">
              <a:avLst/>
            </a:prstGeom>
            <a:ln w="38100">
              <a:solidFill>
                <a:srgbClr val="FF0000"/>
              </a:solidFill>
              <a:headEnd type="none"/>
              <a:tailEnd type="none"/>
            </a:ln>
          </p:spPr>
          <p:style>
            <a:lnRef idx="2">
              <a:schemeClr val="accent1"/>
            </a:lnRef>
            <a:fillRef idx="0">
              <a:schemeClr val="accent1"/>
            </a:fillRef>
            <a:effectRef idx="1">
              <a:schemeClr val="accent1"/>
            </a:effectRef>
            <a:fontRef idx="minor">
              <a:schemeClr val="tx1"/>
            </a:fontRef>
          </p:style>
        </p:cxnSp>
        <p:sp>
          <p:nvSpPr>
            <p:cNvPr id="145" name="Rectangle 37">
              <a:extLst>
                <a:ext uri="{FF2B5EF4-FFF2-40B4-BE49-F238E27FC236}">
                  <a16:creationId xmlns:a16="http://schemas.microsoft.com/office/drawing/2014/main" id="{DE526D39-3A32-4C21-837E-560A4B64E8EC}"/>
                </a:ext>
              </a:extLst>
            </p:cNvPr>
            <p:cNvSpPr>
              <a:spLocks/>
            </p:cNvSpPr>
            <p:nvPr/>
          </p:nvSpPr>
          <p:spPr bwMode="auto">
            <a:xfrm>
              <a:off x="1924079" y="4829047"/>
              <a:ext cx="1887166" cy="40838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b="1">
                  <a:solidFill>
                    <a:srgbClr val="FF0000"/>
                  </a:solidFill>
                  <a:latin typeface="Century Gothic" panose="020B0502020202020204" pitchFamily="34" charset="0"/>
                </a:rPr>
                <a:t>A = 400</a:t>
              </a:r>
            </a:p>
          </p:txBody>
        </p:sp>
        <p:cxnSp>
          <p:nvCxnSpPr>
            <p:cNvPr id="146" name="Straight Arrow Connector 24">
              <a:extLst>
                <a:ext uri="{FF2B5EF4-FFF2-40B4-BE49-F238E27FC236}">
                  <a16:creationId xmlns:a16="http://schemas.microsoft.com/office/drawing/2014/main" id="{6D1EFC33-F161-447D-87F0-A40329E7223F}"/>
                </a:ext>
              </a:extLst>
            </p:cNvPr>
            <p:cNvCxnSpPr/>
            <p:nvPr/>
          </p:nvCxnSpPr>
          <p:spPr>
            <a:xfrm>
              <a:off x="4445714" y="4652891"/>
              <a:ext cx="0" cy="620901"/>
            </a:xfrm>
            <a:prstGeom prst="straightConnector1">
              <a:avLst/>
            </a:prstGeom>
            <a:ln w="38100">
              <a:solidFill>
                <a:srgbClr val="FF0000"/>
              </a:solidFill>
              <a:tailEnd type="arrow"/>
            </a:ln>
          </p:spPr>
          <p:style>
            <a:lnRef idx="2">
              <a:schemeClr val="accent1"/>
            </a:lnRef>
            <a:fillRef idx="0">
              <a:schemeClr val="accent1"/>
            </a:fillRef>
            <a:effectRef idx="1">
              <a:schemeClr val="accent1"/>
            </a:effectRef>
            <a:fontRef idx="minor">
              <a:schemeClr val="tx1"/>
            </a:fontRef>
          </p:style>
        </p:cxnSp>
        <p:cxnSp>
          <p:nvCxnSpPr>
            <p:cNvPr id="147" name="Straight Arrow Connector 25">
              <a:extLst>
                <a:ext uri="{FF2B5EF4-FFF2-40B4-BE49-F238E27FC236}">
                  <a16:creationId xmlns:a16="http://schemas.microsoft.com/office/drawing/2014/main" id="{A2D58D3E-E81A-4AD8-9F73-7A20690B6221}"/>
                </a:ext>
              </a:extLst>
            </p:cNvPr>
            <p:cNvCxnSpPr/>
            <p:nvPr/>
          </p:nvCxnSpPr>
          <p:spPr>
            <a:xfrm>
              <a:off x="5550650" y="4652891"/>
              <a:ext cx="0" cy="620901"/>
            </a:xfrm>
            <a:prstGeom prst="straightConnector1">
              <a:avLst/>
            </a:prstGeom>
            <a:ln w="38100">
              <a:solidFill>
                <a:srgbClr val="FF0000"/>
              </a:solidFill>
              <a:tailEnd type="arrow"/>
            </a:ln>
          </p:spPr>
          <p:style>
            <a:lnRef idx="2">
              <a:schemeClr val="accent1"/>
            </a:lnRef>
            <a:fillRef idx="0">
              <a:schemeClr val="accent1"/>
            </a:fillRef>
            <a:effectRef idx="1">
              <a:schemeClr val="accent1"/>
            </a:effectRef>
            <a:fontRef idx="minor">
              <a:schemeClr val="tx1"/>
            </a:fontRef>
          </p:style>
        </p:cxnSp>
        <p:cxnSp>
          <p:nvCxnSpPr>
            <p:cNvPr id="148" name="Straight Arrow Connector 32">
              <a:extLst>
                <a:ext uri="{FF2B5EF4-FFF2-40B4-BE49-F238E27FC236}">
                  <a16:creationId xmlns:a16="http://schemas.microsoft.com/office/drawing/2014/main" id="{628874FD-3A52-4257-BC8D-027016921727}"/>
                </a:ext>
              </a:extLst>
            </p:cNvPr>
            <p:cNvCxnSpPr/>
            <p:nvPr/>
          </p:nvCxnSpPr>
          <p:spPr>
            <a:xfrm>
              <a:off x="5550650" y="5260524"/>
              <a:ext cx="2842710" cy="13268"/>
            </a:xfrm>
            <a:prstGeom prst="straightConnector1">
              <a:avLst/>
            </a:prstGeom>
            <a:ln w="38100">
              <a:solidFill>
                <a:srgbClr val="FF0000"/>
              </a:solidFill>
              <a:headEnd type="none"/>
              <a:tailEnd type="none"/>
            </a:ln>
          </p:spPr>
          <p:style>
            <a:lnRef idx="2">
              <a:schemeClr val="accent1"/>
            </a:lnRef>
            <a:fillRef idx="0">
              <a:schemeClr val="accent1"/>
            </a:fillRef>
            <a:effectRef idx="1">
              <a:schemeClr val="accent1"/>
            </a:effectRef>
            <a:fontRef idx="minor">
              <a:schemeClr val="tx1"/>
            </a:fontRef>
          </p:style>
        </p:cxnSp>
        <p:sp>
          <p:nvSpPr>
            <p:cNvPr id="149" name="Rectangle 38">
              <a:extLst>
                <a:ext uri="{FF2B5EF4-FFF2-40B4-BE49-F238E27FC236}">
                  <a16:creationId xmlns:a16="http://schemas.microsoft.com/office/drawing/2014/main" id="{FF2790A1-DD28-4208-A73B-214EB2907667}"/>
                </a:ext>
              </a:extLst>
            </p:cNvPr>
            <p:cNvSpPr>
              <a:spLocks/>
            </p:cNvSpPr>
            <p:nvPr/>
          </p:nvSpPr>
          <p:spPr bwMode="auto">
            <a:xfrm>
              <a:off x="6106757" y="4858335"/>
              <a:ext cx="1887166" cy="40838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b="1">
                  <a:solidFill>
                    <a:srgbClr val="FF0000"/>
                  </a:solidFill>
                  <a:latin typeface="Century Gothic" panose="020B0502020202020204" pitchFamily="34" charset="0"/>
                </a:rPr>
                <a:t>A = 400</a:t>
              </a:r>
            </a:p>
          </p:txBody>
        </p:sp>
        <p:cxnSp>
          <p:nvCxnSpPr>
            <p:cNvPr id="150" name="Straight Arrow Connector 39">
              <a:extLst>
                <a:ext uri="{FF2B5EF4-FFF2-40B4-BE49-F238E27FC236}">
                  <a16:creationId xmlns:a16="http://schemas.microsoft.com/office/drawing/2014/main" id="{D071856B-5466-49E3-ACB0-28EC8E87A7D8}"/>
                </a:ext>
              </a:extLst>
            </p:cNvPr>
            <p:cNvCxnSpPr/>
            <p:nvPr/>
          </p:nvCxnSpPr>
          <p:spPr>
            <a:xfrm>
              <a:off x="4960661" y="4652891"/>
              <a:ext cx="0" cy="1289915"/>
            </a:xfrm>
            <a:prstGeom prst="straightConnector1">
              <a:avLst/>
            </a:prstGeom>
            <a:ln w="38100">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151" name="Rectangle 40">
              <a:extLst>
                <a:ext uri="{FF2B5EF4-FFF2-40B4-BE49-F238E27FC236}">
                  <a16:creationId xmlns:a16="http://schemas.microsoft.com/office/drawing/2014/main" id="{CF70543A-B090-49D3-9F0A-86ABE5C2FD95}"/>
                </a:ext>
              </a:extLst>
            </p:cNvPr>
            <p:cNvSpPr>
              <a:spLocks/>
            </p:cNvSpPr>
            <p:nvPr/>
          </p:nvSpPr>
          <p:spPr bwMode="auto">
            <a:xfrm>
              <a:off x="4017079" y="5893175"/>
              <a:ext cx="1887166" cy="40838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b="1">
                  <a:solidFill>
                    <a:srgbClr val="FF0000"/>
                  </a:solidFill>
                  <a:latin typeface="Century Gothic" panose="020B0502020202020204" pitchFamily="34" charset="0"/>
                </a:rPr>
                <a:t>600</a:t>
              </a:r>
            </a:p>
          </p:txBody>
        </p:sp>
      </p:grpSp>
      <p:sp>
        <p:nvSpPr>
          <p:cNvPr id="3" name="Rectángulo 2">
            <a:extLst>
              <a:ext uri="{FF2B5EF4-FFF2-40B4-BE49-F238E27FC236}">
                <a16:creationId xmlns:a16="http://schemas.microsoft.com/office/drawing/2014/main" id="{D0F5D95D-FFE5-FD17-ADCE-3E11964825C4}"/>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sp>
        <p:nvSpPr>
          <p:cNvPr id="8" name="Rectángulo 7">
            <a:extLst>
              <a:ext uri="{FF2B5EF4-FFF2-40B4-BE49-F238E27FC236}">
                <a16:creationId xmlns:a16="http://schemas.microsoft.com/office/drawing/2014/main" id="{07CB8C84-BCC1-10EB-0B94-04913F14BFDC}"/>
              </a:ext>
            </a:extLst>
          </p:cNvPr>
          <p:cNvSpPr/>
          <p:nvPr/>
        </p:nvSpPr>
        <p:spPr>
          <a:xfrm>
            <a:off x="8795541" y="118110"/>
            <a:ext cx="29418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Profesora</a:t>
            </a:r>
            <a:r>
              <a:rPr lang="es-CO" sz="1100">
                <a:solidFill>
                  <a:schemeClr val="accent2">
                    <a:lumMod val="50000"/>
                  </a:schemeClr>
                </a:solidFill>
                <a:latin typeface="Century Gothic" panose="020B0502020202020204" pitchFamily="34" charset="0"/>
                <a:sym typeface="Gill Sans Light"/>
              </a:rPr>
              <a:t> Andrea Yohana Cortés Mojica</a:t>
            </a:r>
            <a:endParaRPr lang="es-CO" sz="1100">
              <a:solidFill>
                <a:schemeClr val="accent2">
                  <a:lumMod val="50000"/>
                </a:schemeClr>
              </a:solidFill>
              <a:latin typeface="Century Gothic" panose="020B0502020202020204" pitchFamily="34" charset="0"/>
            </a:endParaRPr>
          </a:p>
        </p:txBody>
      </p:sp>
      <p:pic>
        <p:nvPicPr>
          <p:cNvPr id="10" name="Picture 2" descr="Clientes y aliados | Centro de Evaluación | Uniandes">
            <a:extLst>
              <a:ext uri="{FF2B5EF4-FFF2-40B4-BE49-F238E27FC236}">
                <a16:creationId xmlns:a16="http://schemas.microsoft.com/office/drawing/2014/main" id="{5FEC1869-248E-474D-A38F-5F1D8F9D8F8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1" name="Rectángulo 10">
            <a:extLst>
              <a:ext uri="{FF2B5EF4-FFF2-40B4-BE49-F238E27FC236}">
                <a16:creationId xmlns:a16="http://schemas.microsoft.com/office/drawing/2014/main" id="{A313E75A-F710-98E9-6F6A-F710E68D37FD}"/>
              </a:ext>
            </a:extLst>
          </p:cNvPr>
          <p:cNvSpPr/>
          <p:nvPr/>
        </p:nvSpPr>
        <p:spPr>
          <a:xfrm>
            <a:off x="4858343" y="118107"/>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12" name="CuadroTexto 11">
            <a:extLst>
              <a:ext uri="{FF2B5EF4-FFF2-40B4-BE49-F238E27FC236}">
                <a16:creationId xmlns:a16="http://schemas.microsoft.com/office/drawing/2014/main" id="{EB48C9E4-EDA9-C37E-C203-9BB3446FBCE7}"/>
              </a:ext>
            </a:extLst>
          </p:cNvPr>
          <p:cNvSpPr txBox="1"/>
          <p:nvPr/>
        </p:nvSpPr>
        <p:spPr>
          <a:xfrm>
            <a:off x="7265371" y="3429000"/>
            <a:ext cx="1357485" cy="307777"/>
          </a:xfrm>
          <a:prstGeom prst="rect">
            <a:avLst/>
          </a:prstGeom>
          <a:noFill/>
        </p:spPr>
        <p:txBody>
          <a:bodyPr wrap="square">
            <a:spAutoFit/>
          </a:bodyPr>
          <a:lstStyle/>
          <a:p>
            <a:r>
              <a:rPr lang="es-ES" sz="1400" b="1">
                <a:solidFill>
                  <a:srgbClr val="D7A700"/>
                </a:solidFill>
                <a:latin typeface="Century Gothic" panose="020B0502020202020204" pitchFamily="34" charset="0"/>
              </a:rPr>
              <a:t>Años</a:t>
            </a:r>
            <a:endParaRPr lang="es-CO" sz="1400" b="1">
              <a:solidFill>
                <a:srgbClr val="D7A700"/>
              </a:solidFill>
            </a:endParaRPr>
          </a:p>
        </p:txBody>
      </p:sp>
    </p:spTree>
    <p:extLst>
      <p:ext uri="{BB962C8B-B14F-4D97-AF65-F5344CB8AC3E}">
        <p14:creationId xmlns:p14="http://schemas.microsoft.com/office/powerpoint/2010/main" val="32481429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5"/>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8"/>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animBg="1"/>
      <p:bldP spid="105" grpId="0" animBg="1"/>
      <p:bldP spid="24" grpId="0"/>
      <p:bldP spid="5" grpId="0"/>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latin typeface="Century Gothic" panose="020B0502020202020204" pitchFamily="34" charset="0"/>
              </a:rPr>
              <a:t>COMBINACIONES DE </a:t>
            </a:r>
            <a:r>
              <a:rPr lang="es-ES_tradnl">
                <a:latin typeface="Century Gothic" panose="020B0502020202020204" pitchFamily="34" charset="0"/>
              </a:rPr>
              <a:t>Relaciones de Equivalencia </a:t>
            </a:r>
          </a:p>
        </p:txBody>
      </p:sp>
      <p:sp>
        <p:nvSpPr>
          <p:cNvPr id="132" name="Content Placeholder 2">
            <a:extLst>
              <a:ext uri="{FF2B5EF4-FFF2-40B4-BE49-F238E27FC236}">
                <a16:creationId xmlns:a16="http://schemas.microsoft.com/office/drawing/2014/main" id="{860A7C5B-B0F1-4916-BBEC-6FFFD00C3EDC}"/>
              </a:ext>
            </a:extLst>
          </p:cNvPr>
          <p:cNvSpPr>
            <a:spLocks noGrp="1"/>
          </p:cNvSpPr>
          <p:nvPr>
            <p:ph idx="1"/>
          </p:nvPr>
        </p:nvSpPr>
        <p:spPr>
          <a:xfrm>
            <a:off x="687071" y="2537019"/>
            <a:ext cx="5021260" cy="514090"/>
          </a:xfrm>
        </p:spPr>
        <p:txBody>
          <a:bodyPr>
            <a:normAutofit/>
          </a:bodyPr>
          <a:lstStyle/>
          <a:p>
            <a:pPr marL="0" indent="0" algn="just">
              <a:buNone/>
            </a:pPr>
            <a:r>
              <a:rPr lang="es-ES_tradnl" sz="1600">
                <a:latin typeface="Century Gothic" panose="020B0502020202020204" pitchFamily="34" charset="0"/>
              </a:rPr>
              <a:t>Si su costo de oportunidad es 8% E.A.</a:t>
            </a:r>
          </a:p>
        </p:txBody>
      </p:sp>
      <p:sp>
        <p:nvSpPr>
          <p:cNvPr id="4" name="Slide Number Placeholder 3"/>
          <p:cNvSpPr>
            <a:spLocks noGrp="1"/>
          </p:cNvSpPr>
          <p:nvPr>
            <p:ph type="sldNum" sz="quarter" idx="12"/>
          </p:nvPr>
        </p:nvSpPr>
        <p:spPr/>
        <p:txBody>
          <a:bodyPr/>
          <a:lstStyle/>
          <a:p>
            <a:fld id="{5E3E23BA-6E79-2442-BA73-D218A5E297C3}" type="slidenum">
              <a:rPr lang="en-US" sz="1800" smtClean="0"/>
              <a:t>86</a:t>
            </a:fld>
            <a:endParaRPr lang="en-US" sz="1800"/>
          </a:p>
        </p:txBody>
      </p:sp>
      <p:sp>
        <p:nvSpPr>
          <p:cNvPr id="6" name="CuadroTexto 5"/>
          <p:cNvSpPr txBox="1"/>
          <p:nvPr/>
        </p:nvSpPr>
        <p:spPr>
          <a:xfrm>
            <a:off x="1848888" y="4551928"/>
            <a:ext cx="1399742" cy="369332"/>
          </a:xfrm>
          <a:prstGeom prst="rect">
            <a:avLst/>
          </a:prstGeom>
          <a:noFill/>
        </p:spPr>
        <p:txBody>
          <a:bodyPr wrap="none" rtlCol="0">
            <a:spAutoFit/>
          </a:bodyPr>
          <a:lstStyle/>
          <a:p>
            <a:r>
              <a:rPr lang="es-CO" b="1">
                <a:solidFill>
                  <a:srgbClr val="D7A700"/>
                </a:solidFill>
                <a:latin typeface="Century Gothic" panose="020B0502020202020204" pitchFamily="34" charset="0"/>
              </a:rPr>
              <a:t>OPCIÓN 3)</a:t>
            </a:r>
          </a:p>
        </p:txBody>
      </p:sp>
      <mc:AlternateContent xmlns:mc="http://schemas.openxmlformats.org/markup-compatibility/2006" xmlns:a14="http://schemas.microsoft.com/office/drawing/2010/main">
        <mc:Choice Requires="a14">
          <p:sp>
            <p:nvSpPr>
              <p:cNvPr id="24" name="Rectángulo 23"/>
              <p:cNvSpPr/>
              <p:nvPr/>
            </p:nvSpPr>
            <p:spPr>
              <a:xfrm>
                <a:off x="7740140" y="5705860"/>
                <a:ext cx="2002471"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s-CO" b="1" i="0" smtClean="0">
                          <a:solidFill>
                            <a:schemeClr val="tx1"/>
                          </a:solidFill>
                          <a:latin typeface="Cambria Math" panose="02040503050406030204" pitchFamily="18" charset="0"/>
                        </a:rPr>
                        <m:t>𝐕</m:t>
                      </m:r>
                      <m:r>
                        <a:rPr lang="es-ES" b="1" i="0" smtClean="0">
                          <a:solidFill>
                            <a:schemeClr val="tx1"/>
                          </a:solidFill>
                          <a:latin typeface="Cambria Math" panose="02040503050406030204" pitchFamily="18" charset="0"/>
                        </a:rPr>
                        <m:t>𝐅</m:t>
                      </m:r>
                      <m:r>
                        <a:rPr lang="es-CO" b="1" i="0">
                          <a:solidFill>
                            <a:schemeClr val="tx1"/>
                          </a:solidFill>
                          <a:latin typeface="Cambria Math" panose="02040503050406030204" pitchFamily="18" charset="0"/>
                        </a:rPr>
                        <m:t>=−</m:t>
                      </m:r>
                      <m:r>
                        <a:rPr lang="es-CO" b="1" i="0">
                          <a:solidFill>
                            <a:schemeClr val="tx1"/>
                          </a:solidFill>
                          <a:latin typeface="Cambria Math" panose="02040503050406030204" pitchFamily="18" charset="0"/>
                        </a:rPr>
                        <m:t>𝟖</m:t>
                      </m:r>
                      <m:r>
                        <a:rPr lang="es-CO" b="1" i="0">
                          <a:solidFill>
                            <a:schemeClr val="tx1"/>
                          </a:solidFill>
                          <a:latin typeface="Cambria Math" panose="02040503050406030204" pitchFamily="18" charset="0"/>
                        </a:rPr>
                        <m:t>.</m:t>
                      </m:r>
                      <m:r>
                        <a:rPr lang="es-CO" b="1" i="0">
                          <a:solidFill>
                            <a:schemeClr val="tx1"/>
                          </a:solidFill>
                          <a:latin typeface="Cambria Math" panose="02040503050406030204" pitchFamily="18" charset="0"/>
                        </a:rPr>
                        <m:t>𝟗𝟏𝟓</m:t>
                      </m:r>
                      <m:r>
                        <a:rPr lang="es-CO" b="1" i="0">
                          <a:solidFill>
                            <a:schemeClr val="tx1"/>
                          </a:solidFill>
                          <a:latin typeface="Cambria Math" panose="02040503050406030204" pitchFamily="18" charset="0"/>
                        </a:rPr>
                        <m:t>,</m:t>
                      </m:r>
                      <m:r>
                        <a:rPr lang="es-CO" b="1" i="0">
                          <a:solidFill>
                            <a:schemeClr val="tx1"/>
                          </a:solidFill>
                          <a:latin typeface="Cambria Math" panose="02040503050406030204" pitchFamily="18" charset="0"/>
                        </a:rPr>
                        <m:t>𝟒𝟗</m:t>
                      </m:r>
                    </m:oMath>
                  </m:oMathPara>
                </a14:m>
                <a:endParaRPr lang="es-CO" b="1">
                  <a:solidFill>
                    <a:schemeClr val="tx1"/>
                  </a:solidFill>
                </a:endParaRPr>
              </a:p>
            </p:txBody>
          </p:sp>
        </mc:Choice>
        <mc:Fallback xmlns="">
          <p:sp>
            <p:nvSpPr>
              <p:cNvPr id="24" name="Rectángulo 23"/>
              <p:cNvSpPr>
                <a:spLocks noRot="1" noChangeAspect="1" noMove="1" noResize="1" noEditPoints="1" noAdjustHandles="1" noChangeArrowheads="1" noChangeShapeType="1" noTextEdit="1"/>
              </p:cNvSpPr>
              <p:nvPr/>
            </p:nvSpPr>
            <p:spPr>
              <a:xfrm>
                <a:off x="7740140" y="5705860"/>
                <a:ext cx="2002471" cy="369332"/>
              </a:xfrm>
              <a:prstGeom prst="rect">
                <a:avLst/>
              </a:prstGeom>
              <a:blipFill>
                <a:blip r:embed="rId3"/>
                <a:stretch>
                  <a:fillRect/>
                </a:stretch>
              </a:blipFill>
            </p:spPr>
            <p:txBody>
              <a:bodyPr/>
              <a:lstStyle/>
              <a:p>
                <a:r>
                  <a:rPr lang="es-CO">
                    <a:noFill/>
                  </a:rPr>
                  <a:t> </a:t>
                </a:r>
              </a:p>
            </p:txBody>
          </p:sp>
        </mc:Fallback>
      </mc:AlternateContent>
      <p:grpSp>
        <p:nvGrpSpPr>
          <p:cNvPr id="106" name="Grupo 105"/>
          <p:cNvGrpSpPr/>
          <p:nvPr/>
        </p:nvGrpSpPr>
        <p:grpSpPr>
          <a:xfrm>
            <a:off x="2560595" y="5247280"/>
            <a:ext cx="3535405" cy="1057717"/>
            <a:chOff x="1491343" y="4227696"/>
            <a:chExt cx="7048165" cy="2048490"/>
          </a:xfrm>
        </p:grpSpPr>
        <p:cxnSp>
          <p:nvCxnSpPr>
            <p:cNvPr id="107" name="Straight Connector 12"/>
            <p:cNvCxnSpPr/>
            <p:nvPr/>
          </p:nvCxnSpPr>
          <p:spPr>
            <a:xfrm>
              <a:off x="1519511" y="4640650"/>
              <a:ext cx="6873849" cy="12241"/>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108" name="Rectangle 23"/>
            <p:cNvSpPr>
              <a:spLocks/>
            </p:cNvSpPr>
            <p:nvPr/>
          </p:nvSpPr>
          <p:spPr bwMode="auto">
            <a:xfrm flipH="1">
              <a:off x="1491343" y="4255308"/>
              <a:ext cx="131729" cy="35764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200">
                  <a:solidFill>
                    <a:schemeClr val="accent1"/>
                  </a:solidFill>
                  <a:latin typeface="Century Gothic" panose="020B0502020202020204" pitchFamily="34" charset="0"/>
                </a:rPr>
                <a:t>0</a:t>
              </a:r>
            </a:p>
          </p:txBody>
        </p:sp>
        <p:sp>
          <p:nvSpPr>
            <p:cNvPr id="109" name="Rectangle 11"/>
            <p:cNvSpPr>
              <a:spLocks/>
            </p:cNvSpPr>
            <p:nvPr/>
          </p:nvSpPr>
          <p:spPr bwMode="auto">
            <a:xfrm>
              <a:off x="1924077" y="4246819"/>
              <a:ext cx="337059" cy="35764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200">
                  <a:solidFill>
                    <a:schemeClr val="accent1"/>
                  </a:solidFill>
                  <a:latin typeface="Century Gothic" panose="020B0502020202020204" pitchFamily="34" charset="0"/>
                </a:rPr>
                <a:t>1</a:t>
              </a:r>
            </a:p>
          </p:txBody>
        </p:sp>
        <p:sp>
          <p:nvSpPr>
            <p:cNvPr id="110" name="Rectangle 14"/>
            <p:cNvSpPr>
              <a:spLocks/>
            </p:cNvSpPr>
            <p:nvPr/>
          </p:nvSpPr>
          <p:spPr bwMode="auto">
            <a:xfrm>
              <a:off x="2484691" y="4246821"/>
              <a:ext cx="337059" cy="35764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200">
                  <a:solidFill>
                    <a:schemeClr val="accent1"/>
                  </a:solidFill>
                  <a:latin typeface="Century Gothic" panose="020B0502020202020204" pitchFamily="34" charset="0"/>
                </a:rPr>
                <a:t>2</a:t>
              </a:r>
            </a:p>
          </p:txBody>
        </p:sp>
        <p:sp>
          <p:nvSpPr>
            <p:cNvPr id="111" name="Rectangle 15"/>
            <p:cNvSpPr>
              <a:spLocks/>
            </p:cNvSpPr>
            <p:nvPr/>
          </p:nvSpPr>
          <p:spPr bwMode="auto">
            <a:xfrm>
              <a:off x="3048550" y="4246821"/>
              <a:ext cx="337059" cy="35764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200">
                  <a:solidFill>
                    <a:schemeClr val="accent1"/>
                  </a:solidFill>
                  <a:latin typeface="Century Gothic" panose="020B0502020202020204" pitchFamily="34" charset="0"/>
                </a:rPr>
                <a:t>3</a:t>
              </a:r>
            </a:p>
          </p:txBody>
        </p:sp>
        <p:sp>
          <p:nvSpPr>
            <p:cNvPr id="112" name="Rectangle 16"/>
            <p:cNvSpPr>
              <a:spLocks/>
            </p:cNvSpPr>
            <p:nvPr/>
          </p:nvSpPr>
          <p:spPr bwMode="auto">
            <a:xfrm>
              <a:off x="3655073" y="4246821"/>
              <a:ext cx="337059" cy="35764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200">
                  <a:solidFill>
                    <a:schemeClr val="accent1"/>
                  </a:solidFill>
                  <a:latin typeface="Century Gothic" panose="020B0502020202020204" pitchFamily="34" charset="0"/>
                </a:rPr>
                <a:t>4</a:t>
              </a:r>
            </a:p>
          </p:txBody>
        </p:sp>
        <p:sp>
          <p:nvSpPr>
            <p:cNvPr id="113" name="Rectangle 17"/>
            <p:cNvSpPr>
              <a:spLocks/>
            </p:cNvSpPr>
            <p:nvPr/>
          </p:nvSpPr>
          <p:spPr bwMode="auto">
            <a:xfrm>
              <a:off x="4258181" y="4227696"/>
              <a:ext cx="337059" cy="35764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200">
                  <a:solidFill>
                    <a:schemeClr val="accent1"/>
                  </a:solidFill>
                  <a:latin typeface="Century Gothic" panose="020B0502020202020204" pitchFamily="34" charset="0"/>
                </a:rPr>
                <a:t>5</a:t>
              </a:r>
            </a:p>
          </p:txBody>
        </p:sp>
        <p:sp>
          <p:nvSpPr>
            <p:cNvPr id="114" name="Rectangle 18"/>
            <p:cNvSpPr>
              <a:spLocks/>
            </p:cNvSpPr>
            <p:nvPr/>
          </p:nvSpPr>
          <p:spPr bwMode="auto">
            <a:xfrm>
              <a:off x="4777032" y="4246821"/>
              <a:ext cx="337059" cy="35764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200">
                  <a:solidFill>
                    <a:schemeClr val="accent1"/>
                  </a:solidFill>
                  <a:latin typeface="Century Gothic" panose="020B0502020202020204" pitchFamily="34" charset="0"/>
                </a:rPr>
                <a:t>6</a:t>
              </a:r>
            </a:p>
          </p:txBody>
        </p:sp>
        <p:sp>
          <p:nvSpPr>
            <p:cNvPr id="115" name="Rectangle 19"/>
            <p:cNvSpPr>
              <a:spLocks/>
            </p:cNvSpPr>
            <p:nvPr/>
          </p:nvSpPr>
          <p:spPr bwMode="auto">
            <a:xfrm>
              <a:off x="5383556" y="4246821"/>
              <a:ext cx="337059" cy="35764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200">
                  <a:solidFill>
                    <a:schemeClr val="accent1"/>
                  </a:solidFill>
                  <a:latin typeface="Century Gothic" panose="020B0502020202020204" pitchFamily="34" charset="0"/>
                </a:rPr>
                <a:t>7</a:t>
              </a:r>
            </a:p>
          </p:txBody>
        </p:sp>
        <p:sp>
          <p:nvSpPr>
            <p:cNvPr id="116" name="Rectangle 28"/>
            <p:cNvSpPr>
              <a:spLocks/>
            </p:cNvSpPr>
            <p:nvPr/>
          </p:nvSpPr>
          <p:spPr bwMode="auto">
            <a:xfrm>
              <a:off x="5938226" y="4246821"/>
              <a:ext cx="337059" cy="35764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200">
                  <a:solidFill>
                    <a:schemeClr val="accent1"/>
                  </a:solidFill>
                  <a:latin typeface="Century Gothic" panose="020B0502020202020204" pitchFamily="34" charset="0"/>
                </a:rPr>
                <a:t>8</a:t>
              </a:r>
            </a:p>
          </p:txBody>
        </p:sp>
        <p:sp>
          <p:nvSpPr>
            <p:cNvPr id="117" name="Rectangle 29"/>
            <p:cNvSpPr>
              <a:spLocks/>
            </p:cNvSpPr>
            <p:nvPr/>
          </p:nvSpPr>
          <p:spPr bwMode="auto">
            <a:xfrm>
              <a:off x="6532383" y="4255308"/>
              <a:ext cx="337059" cy="35764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200">
                  <a:solidFill>
                    <a:schemeClr val="accent1"/>
                  </a:solidFill>
                  <a:latin typeface="Century Gothic" panose="020B0502020202020204" pitchFamily="34" charset="0"/>
                </a:rPr>
                <a:t>9</a:t>
              </a:r>
            </a:p>
          </p:txBody>
        </p:sp>
        <p:sp>
          <p:nvSpPr>
            <p:cNvPr id="118" name="Rectangle 30"/>
            <p:cNvSpPr>
              <a:spLocks/>
            </p:cNvSpPr>
            <p:nvPr/>
          </p:nvSpPr>
          <p:spPr bwMode="auto">
            <a:xfrm>
              <a:off x="7153601" y="4246821"/>
              <a:ext cx="337059" cy="35764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200">
                  <a:solidFill>
                    <a:schemeClr val="accent1"/>
                  </a:solidFill>
                  <a:latin typeface="Century Gothic" panose="020B0502020202020204" pitchFamily="34" charset="0"/>
                </a:rPr>
                <a:t>10</a:t>
              </a:r>
            </a:p>
          </p:txBody>
        </p:sp>
        <p:sp>
          <p:nvSpPr>
            <p:cNvPr id="119" name="Rectangle 31"/>
            <p:cNvSpPr>
              <a:spLocks/>
            </p:cNvSpPr>
            <p:nvPr/>
          </p:nvSpPr>
          <p:spPr bwMode="auto">
            <a:xfrm>
              <a:off x="7656864" y="4246821"/>
              <a:ext cx="337059" cy="35764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200">
                  <a:solidFill>
                    <a:schemeClr val="accent1"/>
                  </a:solidFill>
                  <a:latin typeface="Century Gothic" panose="020B0502020202020204" pitchFamily="34" charset="0"/>
                </a:rPr>
                <a:t>11</a:t>
              </a:r>
            </a:p>
          </p:txBody>
        </p:sp>
        <p:sp>
          <p:nvSpPr>
            <p:cNvPr id="120" name="Rectangle 33"/>
            <p:cNvSpPr>
              <a:spLocks/>
            </p:cNvSpPr>
            <p:nvPr/>
          </p:nvSpPr>
          <p:spPr bwMode="auto">
            <a:xfrm>
              <a:off x="8202449" y="4227696"/>
              <a:ext cx="337059" cy="35764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200">
                  <a:solidFill>
                    <a:schemeClr val="accent1"/>
                  </a:solidFill>
                  <a:latin typeface="Century Gothic" panose="020B0502020202020204" pitchFamily="34" charset="0"/>
                </a:rPr>
                <a:t>12</a:t>
              </a:r>
            </a:p>
          </p:txBody>
        </p:sp>
        <p:cxnSp>
          <p:nvCxnSpPr>
            <p:cNvPr id="121" name="Straight Arrow Connector 34"/>
            <p:cNvCxnSpPr/>
            <p:nvPr/>
          </p:nvCxnSpPr>
          <p:spPr>
            <a:xfrm>
              <a:off x="1540640" y="4639623"/>
              <a:ext cx="0" cy="62090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122" name="Straight Arrow Connector 35"/>
            <p:cNvCxnSpPr/>
            <p:nvPr/>
          </p:nvCxnSpPr>
          <p:spPr>
            <a:xfrm>
              <a:off x="8393360" y="4652891"/>
              <a:ext cx="0" cy="620901"/>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123" name="Straight Arrow Connector 36"/>
            <p:cNvCxnSpPr/>
            <p:nvPr/>
          </p:nvCxnSpPr>
          <p:spPr>
            <a:xfrm>
              <a:off x="1540641" y="5260524"/>
              <a:ext cx="4010010" cy="0"/>
            </a:xfrm>
            <a:prstGeom prst="straightConnector1">
              <a:avLst/>
            </a:prstGeom>
            <a:ln>
              <a:solidFill>
                <a:schemeClr val="accent2"/>
              </a:solidFill>
              <a:headEnd type="none"/>
              <a:tailEnd type="none"/>
            </a:ln>
          </p:spPr>
          <p:style>
            <a:lnRef idx="2">
              <a:schemeClr val="accent1"/>
            </a:lnRef>
            <a:fillRef idx="0">
              <a:schemeClr val="accent1"/>
            </a:fillRef>
            <a:effectRef idx="1">
              <a:schemeClr val="accent1"/>
            </a:effectRef>
            <a:fontRef idx="minor">
              <a:schemeClr val="tx1"/>
            </a:fontRef>
          </p:style>
        </p:cxnSp>
        <p:cxnSp>
          <p:nvCxnSpPr>
            <p:cNvPr id="124" name="Straight Arrow Connector 32"/>
            <p:cNvCxnSpPr/>
            <p:nvPr/>
          </p:nvCxnSpPr>
          <p:spPr>
            <a:xfrm>
              <a:off x="5550650" y="5260524"/>
              <a:ext cx="2842710" cy="13268"/>
            </a:xfrm>
            <a:prstGeom prst="straightConnector1">
              <a:avLst/>
            </a:prstGeom>
            <a:ln>
              <a:solidFill>
                <a:schemeClr val="accent2"/>
              </a:solidFill>
              <a:headEnd type="none"/>
              <a:tailEnd type="none"/>
            </a:ln>
          </p:spPr>
          <p:style>
            <a:lnRef idx="2">
              <a:schemeClr val="accent1"/>
            </a:lnRef>
            <a:fillRef idx="0">
              <a:schemeClr val="accent1"/>
            </a:fillRef>
            <a:effectRef idx="1">
              <a:schemeClr val="accent1"/>
            </a:effectRef>
            <a:fontRef idx="minor">
              <a:schemeClr val="tx1"/>
            </a:fontRef>
          </p:style>
        </p:cxnSp>
        <p:sp>
          <p:nvSpPr>
            <p:cNvPr id="125" name="Rectangle 38"/>
            <p:cNvSpPr>
              <a:spLocks/>
            </p:cNvSpPr>
            <p:nvPr/>
          </p:nvSpPr>
          <p:spPr bwMode="auto">
            <a:xfrm>
              <a:off x="4016414" y="4775091"/>
              <a:ext cx="1887167" cy="35764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200">
                  <a:solidFill>
                    <a:schemeClr val="accent1"/>
                  </a:solidFill>
                  <a:latin typeface="Century Gothic" panose="020B0502020202020204" pitchFamily="34" charset="0"/>
                </a:rPr>
                <a:t>A = 400</a:t>
              </a:r>
            </a:p>
          </p:txBody>
        </p:sp>
        <p:cxnSp>
          <p:nvCxnSpPr>
            <p:cNvPr id="126" name="Straight Arrow Connector 39"/>
            <p:cNvCxnSpPr/>
            <p:nvPr/>
          </p:nvCxnSpPr>
          <p:spPr>
            <a:xfrm>
              <a:off x="4960660" y="5273792"/>
              <a:ext cx="0" cy="669015"/>
            </a:xfrm>
            <a:prstGeom prst="straightConnector1">
              <a:avLst/>
            </a:prstGeom>
            <a:ln>
              <a:solidFill>
                <a:srgbClr val="244A58"/>
              </a:solidFill>
              <a:tailEnd type="arrow"/>
            </a:ln>
          </p:spPr>
          <p:style>
            <a:lnRef idx="2">
              <a:schemeClr val="accent1"/>
            </a:lnRef>
            <a:fillRef idx="0">
              <a:schemeClr val="accent1"/>
            </a:fillRef>
            <a:effectRef idx="1">
              <a:schemeClr val="accent1"/>
            </a:effectRef>
            <a:fontRef idx="minor">
              <a:schemeClr val="tx1"/>
            </a:fontRef>
          </p:style>
        </p:cxnSp>
        <p:sp>
          <p:nvSpPr>
            <p:cNvPr id="127" name="Rectangle 40"/>
            <p:cNvSpPr>
              <a:spLocks/>
            </p:cNvSpPr>
            <p:nvPr/>
          </p:nvSpPr>
          <p:spPr bwMode="auto">
            <a:xfrm>
              <a:off x="4017078" y="5918542"/>
              <a:ext cx="1887167" cy="35764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200">
                  <a:solidFill>
                    <a:schemeClr val="accent1"/>
                  </a:solidFill>
                  <a:latin typeface="Century Gothic" panose="020B0502020202020204" pitchFamily="34" charset="0"/>
                </a:rPr>
                <a:t>200</a:t>
              </a:r>
            </a:p>
          </p:txBody>
        </p:sp>
      </p:grpSp>
      <mc:AlternateContent xmlns:mc="http://schemas.openxmlformats.org/markup-compatibility/2006" xmlns:a14="http://schemas.microsoft.com/office/drawing/2010/main">
        <mc:Choice Requires="a14">
          <p:sp>
            <p:nvSpPr>
              <p:cNvPr id="11" name="Rectángulo 10"/>
              <p:cNvSpPr/>
              <p:nvPr/>
            </p:nvSpPr>
            <p:spPr>
              <a:xfrm>
                <a:off x="6369671" y="4879302"/>
                <a:ext cx="4572000" cy="580672"/>
              </a:xfrm>
              <a:prstGeom prst="rect">
                <a:avLst/>
              </a:prstGeom>
            </p:spPr>
            <p:txBody>
              <a:bodyPr>
                <a:spAutoFit/>
              </a:bodyPr>
              <a:lstStyle/>
              <a:p>
                <a:pPr/>
                <a14:m>
                  <m:oMathPara xmlns:m="http://schemas.openxmlformats.org/officeDocument/2006/math">
                    <m:oMathParaPr>
                      <m:jc m:val="centerGroup"/>
                    </m:oMathParaPr>
                    <m:oMath xmlns:m="http://schemas.openxmlformats.org/officeDocument/2006/math">
                      <m:r>
                        <m:rPr>
                          <m:sty m:val="p"/>
                        </m:rPr>
                        <a:rPr lang="es-CO" sz="1400" i="0" smtClean="0">
                          <a:solidFill>
                            <a:schemeClr val="accent1"/>
                          </a:solidFill>
                          <a:latin typeface="Cambria Math" panose="02040503050406030204" pitchFamily="18" charset="0"/>
                        </a:rPr>
                        <m:t>V</m:t>
                      </m:r>
                      <m:r>
                        <m:rPr>
                          <m:sty m:val="p"/>
                        </m:rPr>
                        <a:rPr lang="es-ES" sz="1400" b="0" i="0" smtClean="0">
                          <a:solidFill>
                            <a:schemeClr val="accent1"/>
                          </a:solidFill>
                          <a:latin typeface="Cambria Math" panose="02040503050406030204" pitchFamily="18" charset="0"/>
                        </a:rPr>
                        <m:t>F</m:t>
                      </m:r>
                      <m:r>
                        <a:rPr lang="es-CO" sz="1400" i="0">
                          <a:solidFill>
                            <a:schemeClr val="accent1"/>
                          </a:solidFill>
                          <a:latin typeface="Cambria Math" panose="02040503050406030204" pitchFamily="18" charset="0"/>
                        </a:rPr>
                        <m:t>=−400</m:t>
                      </m:r>
                      <m:d>
                        <m:dPr>
                          <m:ctrlPr>
                            <a:rPr lang="es-CO" sz="1400" i="1">
                              <a:solidFill>
                                <a:schemeClr val="accent1"/>
                              </a:solidFill>
                              <a:latin typeface="Cambria Math" panose="02040503050406030204" pitchFamily="18" charset="0"/>
                            </a:rPr>
                          </m:ctrlPr>
                        </m:dPr>
                        <m:e>
                          <m:f>
                            <m:fPr>
                              <m:ctrlPr>
                                <a:rPr lang="es-CO" sz="1400" i="1">
                                  <a:solidFill>
                                    <a:schemeClr val="accent1"/>
                                  </a:solidFill>
                                  <a:latin typeface="Cambria Math" panose="02040503050406030204" pitchFamily="18" charset="0"/>
                                </a:rPr>
                              </m:ctrlPr>
                            </m:fPr>
                            <m:num>
                              <m:sSup>
                                <m:sSupPr>
                                  <m:ctrlPr>
                                    <a:rPr lang="es-CO" sz="1400" i="1">
                                      <a:solidFill>
                                        <a:schemeClr val="accent1"/>
                                      </a:solidFill>
                                      <a:latin typeface="Cambria Math" panose="02040503050406030204" pitchFamily="18" charset="0"/>
                                    </a:rPr>
                                  </m:ctrlPr>
                                </m:sSupPr>
                                <m:e>
                                  <m:d>
                                    <m:dPr>
                                      <m:ctrlPr>
                                        <a:rPr lang="es-CO" sz="1400" i="1">
                                          <a:solidFill>
                                            <a:schemeClr val="accent1"/>
                                          </a:solidFill>
                                          <a:latin typeface="Cambria Math" panose="02040503050406030204" pitchFamily="18" charset="0"/>
                                        </a:rPr>
                                      </m:ctrlPr>
                                    </m:dPr>
                                    <m:e>
                                      <m:r>
                                        <a:rPr lang="es-CO" sz="1400" i="0">
                                          <a:solidFill>
                                            <a:schemeClr val="accent1"/>
                                          </a:solidFill>
                                          <a:latin typeface="Cambria Math" panose="02040503050406030204" pitchFamily="18" charset="0"/>
                                        </a:rPr>
                                        <m:t>1+8%</m:t>
                                      </m:r>
                                    </m:e>
                                  </m:d>
                                </m:e>
                                <m:sup>
                                  <m:r>
                                    <a:rPr lang="es-CO" sz="1400" i="0">
                                      <a:solidFill>
                                        <a:schemeClr val="accent1"/>
                                      </a:solidFill>
                                      <a:latin typeface="Cambria Math" panose="02040503050406030204" pitchFamily="18" charset="0"/>
                                    </a:rPr>
                                    <m:t>13</m:t>
                                  </m:r>
                                </m:sup>
                              </m:sSup>
                              <m:r>
                                <a:rPr lang="es-CO" sz="1400" i="0">
                                  <a:solidFill>
                                    <a:schemeClr val="accent1"/>
                                  </a:solidFill>
                                  <a:latin typeface="Cambria Math" panose="02040503050406030204" pitchFamily="18" charset="0"/>
                                </a:rPr>
                                <m:t>−1</m:t>
                              </m:r>
                            </m:num>
                            <m:den>
                              <m:r>
                                <a:rPr lang="es-CO" sz="1400" i="0">
                                  <a:solidFill>
                                    <a:schemeClr val="accent1"/>
                                  </a:solidFill>
                                  <a:latin typeface="Cambria Math" panose="02040503050406030204" pitchFamily="18" charset="0"/>
                                </a:rPr>
                                <m:t>8%</m:t>
                              </m:r>
                            </m:den>
                          </m:f>
                        </m:e>
                      </m:d>
                      <m:r>
                        <a:rPr lang="es-CO" sz="1400" i="0">
                          <a:solidFill>
                            <a:schemeClr val="accent1"/>
                          </a:solidFill>
                          <a:latin typeface="Cambria Math" panose="02040503050406030204" pitchFamily="18" charset="0"/>
                        </a:rPr>
                        <m:t>−200</m:t>
                      </m:r>
                      <m:sSup>
                        <m:sSupPr>
                          <m:ctrlPr>
                            <a:rPr lang="es-CO" sz="1400" i="1">
                              <a:solidFill>
                                <a:schemeClr val="accent1"/>
                              </a:solidFill>
                              <a:latin typeface="Cambria Math" panose="02040503050406030204" pitchFamily="18" charset="0"/>
                            </a:rPr>
                          </m:ctrlPr>
                        </m:sSupPr>
                        <m:e>
                          <m:d>
                            <m:dPr>
                              <m:ctrlPr>
                                <a:rPr lang="es-CO" sz="1400" i="1">
                                  <a:solidFill>
                                    <a:schemeClr val="accent1"/>
                                  </a:solidFill>
                                  <a:latin typeface="Cambria Math" panose="02040503050406030204" pitchFamily="18" charset="0"/>
                                </a:rPr>
                              </m:ctrlPr>
                            </m:dPr>
                            <m:e>
                              <m:r>
                                <a:rPr lang="es-CO" sz="1400" i="0">
                                  <a:solidFill>
                                    <a:schemeClr val="accent1"/>
                                  </a:solidFill>
                                  <a:latin typeface="Cambria Math" panose="02040503050406030204" pitchFamily="18" charset="0"/>
                                </a:rPr>
                                <m:t>1+8%</m:t>
                              </m:r>
                            </m:e>
                          </m:d>
                        </m:e>
                        <m:sup>
                          <m:r>
                            <a:rPr lang="es-CO" sz="1400" i="0">
                              <a:solidFill>
                                <a:schemeClr val="accent1"/>
                              </a:solidFill>
                              <a:latin typeface="Cambria Math" panose="02040503050406030204" pitchFamily="18" charset="0"/>
                            </a:rPr>
                            <m:t>6</m:t>
                          </m:r>
                        </m:sup>
                      </m:sSup>
                      <m:r>
                        <a:rPr lang="es-CO" sz="1400" i="0">
                          <a:solidFill>
                            <a:schemeClr val="accent1"/>
                          </a:solidFill>
                          <a:latin typeface="Cambria Math" panose="02040503050406030204" pitchFamily="18" charset="0"/>
                        </a:rPr>
                        <m:t> </m:t>
                      </m:r>
                    </m:oMath>
                  </m:oMathPara>
                </a14:m>
                <a:endParaRPr lang="es-CO" sz="1400">
                  <a:solidFill>
                    <a:schemeClr val="accent1"/>
                  </a:solidFill>
                </a:endParaRPr>
              </a:p>
            </p:txBody>
          </p:sp>
        </mc:Choice>
        <mc:Fallback xmlns="">
          <p:sp>
            <p:nvSpPr>
              <p:cNvPr id="11" name="Rectángulo 10"/>
              <p:cNvSpPr>
                <a:spLocks noRot="1" noChangeAspect="1" noMove="1" noResize="1" noEditPoints="1" noAdjustHandles="1" noChangeArrowheads="1" noChangeShapeType="1" noTextEdit="1"/>
              </p:cNvSpPr>
              <p:nvPr/>
            </p:nvSpPr>
            <p:spPr>
              <a:xfrm>
                <a:off x="6369671" y="4879302"/>
                <a:ext cx="4572000" cy="580672"/>
              </a:xfrm>
              <a:prstGeom prst="rect">
                <a:avLst/>
              </a:prstGeom>
              <a:blipFill>
                <a:blip r:embed="rId4"/>
                <a:stretch>
                  <a:fillRect/>
                </a:stretch>
              </a:blipFill>
            </p:spPr>
            <p:txBody>
              <a:bodyPr/>
              <a:lstStyle/>
              <a:p>
                <a:r>
                  <a:rPr lang="es-CO">
                    <a:noFill/>
                  </a:rPr>
                  <a:t> </a:t>
                </a:r>
              </a:p>
            </p:txBody>
          </p:sp>
        </mc:Fallback>
      </mc:AlternateContent>
      <p:sp>
        <p:nvSpPr>
          <p:cNvPr id="131" name="Rectángulo 130">
            <a:extLst>
              <a:ext uri="{FF2B5EF4-FFF2-40B4-BE49-F238E27FC236}">
                <a16:creationId xmlns:a16="http://schemas.microsoft.com/office/drawing/2014/main" id="{84CF7F3C-7569-4C3D-B8B2-F1B263A3EBB7}"/>
              </a:ext>
            </a:extLst>
          </p:cNvPr>
          <p:cNvSpPr/>
          <p:nvPr/>
        </p:nvSpPr>
        <p:spPr>
          <a:xfrm>
            <a:off x="581192" y="2026344"/>
            <a:ext cx="1399742" cy="400110"/>
          </a:xfrm>
          <a:prstGeom prst="rect">
            <a:avLst/>
          </a:prstGeom>
        </p:spPr>
        <p:txBody>
          <a:bodyPr wrap="none">
            <a:spAutoFit/>
          </a:bodyPr>
          <a:lstStyle/>
          <a:p>
            <a:r>
              <a:rPr lang="es-ES_tradnl" sz="2000" b="1">
                <a:solidFill>
                  <a:srgbClr val="C00000"/>
                </a:solidFill>
                <a:latin typeface="Century Gothic" panose="020B0502020202020204" pitchFamily="34" charset="0"/>
              </a:rPr>
              <a:t>Ejemplo 1</a:t>
            </a:r>
            <a:endParaRPr lang="es-CO" sz="2000" b="1">
              <a:solidFill>
                <a:srgbClr val="C00000"/>
              </a:solidFill>
              <a:latin typeface="Century Gothic" panose="020B0502020202020204" pitchFamily="34" charset="0"/>
            </a:endParaRPr>
          </a:p>
        </p:txBody>
      </p:sp>
      <p:sp>
        <p:nvSpPr>
          <p:cNvPr id="133" name="CuadroTexto 132">
            <a:extLst>
              <a:ext uri="{FF2B5EF4-FFF2-40B4-BE49-F238E27FC236}">
                <a16:creationId xmlns:a16="http://schemas.microsoft.com/office/drawing/2014/main" id="{E37A4728-2616-40BB-897D-E182BC6182E5}"/>
              </a:ext>
            </a:extLst>
          </p:cNvPr>
          <p:cNvSpPr txBox="1"/>
          <p:nvPr/>
        </p:nvSpPr>
        <p:spPr>
          <a:xfrm>
            <a:off x="7981884" y="2820355"/>
            <a:ext cx="2793324" cy="1077218"/>
          </a:xfrm>
          <a:prstGeom prst="rect">
            <a:avLst/>
          </a:prstGeom>
          <a:noFill/>
        </p:spPr>
        <p:txBody>
          <a:bodyPr wrap="square" rtlCol="0">
            <a:spAutoFit/>
          </a:bodyPr>
          <a:lstStyle/>
          <a:p>
            <a:pPr algn="ctr"/>
            <a:r>
              <a:rPr lang="es-CO" sz="1600">
                <a:solidFill>
                  <a:schemeClr val="accent3">
                    <a:lumMod val="75000"/>
                  </a:schemeClr>
                </a:solidFill>
                <a:latin typeface="Century Gothic" panose="020B0502020202020204" pitchFamily="34" charset="0"/>
              </a:rPr>
              <a:t>Suponiendo que los flujos son anuales, ¿A cuánto equivaldrían esta serie de pagos en el año 12?</a:t>
            </a:r>
          </a:p>
        </p:txBody>
      </p:sp>
      <p:grpSp>
        <p:nvGrpSpPr>
          <p:cNvPr id="61" name="Grupo 60">
            <a:extLst>
              <a:ext uri="{FF2B5EF4-FFF2-40B4-BE49-F238E27FC236}">
                <a16:creationId xmlns:a16="http://schemas.microsoft.com/office/drawing/2014/main" id="{51428983-3C44-4356-841D-78C6D8183AF5}"/>
              </a:ext>
            </a:extLst>
          </p:cNvPr>
          <p:cNvGrpSpPr/>
          <p:nvPr/>
        </p:nvGrpSpPr>
        <p:grpSpPr>
          <a:xfrm>
            <a:off x="1852200" y="3382677"/>
            <a:ext cx="5391476" cy="1265666"/>
            <a:chOff x="1491343" y="4202329"/>
            <a:chExt cx="7048165" cy="2099227"/>
          </a:xfrm>
        </p:grpSpPr>
        <p:cxnSp>
          <p:nvCxnSpPr>
            <p:cNvPr id="62" name="Straight Connector 12">
              <a:extLst>
                <a:ext uri="{FF2B5EF4-FFF2-40B4-BE49-F238E27FC236}">
                  <a16:creationId xmlns:a16="http://schemas.microsoft.com/office/drawing/2014/main" id="{1159D15B-7DBE-4E50-A3B2-C741E599F641}"/>
                </a:ext>
              </a:extLst>
            </p:cNvPr>
            <p:cNvCxnSpPr/>
            <p:nvPr/>
          </p:nvCxnSpPr>
          <p:spPr>
            <a:xfrm>
              <a:off x="1519511" y="4640650"/>
              <a:ext cx="6873849" cy="12241"/>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sp>
          <p:nvSpPr>
            <p:cNvPr id="63" name="Rectangle 23">
              <a:extLst>
                <a:ext uri="{FF2B5EF4-FFF2-40B4-BE49-F238E27FC236}">
                  <a16:creationId xmlns:a16="http://schemas.microsoft.com/office/drawing/2014/main" id="{4439C1E2-479A-4AA5-83D1-B0DAB279FC0F}"/>
                </a:ext>
              </a:extLst>
            </p:cNvPr>
            <p:cNvSpPr>
              <a:spLocks/>
            </p:cNvSpPr>
            <p:nvPr/>
          </p:nvSpPr>
          <p:spPr bwMode="auto">
            <a:xfrm flipH="1">
              <a:off x="1491343" y="4229942"/>
              <a:ext cx="131729" cy="40838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solidFill>
                    <a:schemeClr val="accent1"/>
                  </a:solidFill>
                  <a:latin typeface="Century Gothic" panose="020B0502020202020204" pitchFamily="34" charset="0"/>
                </a:rPr>
                <a:t>0</a:t>
              </a:r>
            </a:p>
          </p:txBody>
        </p:sp>
        <p:sp>
          <p:nvSpPr>
            <p:cNvPr id="64" name="Rectangle 11">
              <a:extLst>
                <a:ext uri="{FF2B5EF4-FFF2-40B4-BE49-F238E27FC236}">
                  <a16:creationId xmlns:a16="http://schemas.microsoft.com/office/drawing/2014/main" id="{80A53727-C611-4F6E-BFCE-32649024A9C3}"/>
                </a:ext>
              </a:extLst>
            </p:cNvPr>
            <p:cNvSpPr>
              <a:spLocks/>
            </p:cNvSpPr>
            <p:nvPr/>
          </p:nvSpPr>
          <p:spPr bwMode="auto">
            <a:xfrm>
              <a:off x="1924079" y="4221453"/>
              <a:ext cx="337060" cy="40838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solidFill>
                    <a:schemeClr val="accent1"/>
                  </a:solidFill>
                  <a:latin typeface="Century Gothic" panose="020B0502020202020204" pitchFamily="34" charset="0"/>
                </a:rPr>
                <a:t>1</a:t>
              </a:r>
            </a:p>
          </p:txBody>
        </p:sp>
        <p:sp>
          <p:nvSpPr>
            <p:cNvPr id="65" name="Rectangle 14">
              <a:extLst>
                <a:ext uri="{FF2B5EF4-FFF2-40B4-BE49-F238E27FC236}">
                  <a16:creationId xmlns:a16="http://schemas.microsoft.com/office/drawing/2014/main" id="{FE9FEE22-3A65-4B38-A247-E07ED7DD95DB}"/>
                </a:ext>
              </a:extLst>
            </p:cNvPr>
            <p:cNvSpPr>
              <a:spLocks/>
            </p:cNvSpPr>
            <p:nvPr/>
          </p:nvSpPr>
          <p:spPr bwMode="auto">
            <a:xfrm>
              <a:off x="2484692" y="4221453"/>
              <a:ext cx="337060" cy="40838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solidFill>
                    <a:schemeClr val="accent1"/>
                  </a:solidFill>
                  <a:latin typeface="Century Gothic" panose="020B0502020202020204" pitchFamily="34" charset="0"/>
                </a:rPr>
                <a:t>2</a:t>
              </a:r>
            </a:p>
          </p:txBody>
        </p:sp>
        <p:sp>
          <p:nvSpPr>
            <p:cNvPr id="66" name="Rectangle 15">
              <a:extLst>
                <a:ext uri="{FF2B5EF4-FFF2-40B4-BE49-F238E27FC236}">
                  <a16:creationId xmlns:a16="http://schemas.microsoft.com/office/drawing/2014/main" id="{1CB8648A-E128-4C9D-9AE0-8EAD183EE6CD}"/>
                </a:ext>
              </a:extLst>
            </p:cNvPr>
            <p:cNvSpPr>
              <a:spLocks/>
            </p:cNvSpPr>
            <p:nvPr/>
          </p:nvSpPr>
          <p:spPr bwMode="auto">
            <a:xfrm>
              <a:off x="3048549" y="4221453"/>
              <a:ext cx="337060" cy="40838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solidFill>
                    <a:schemeClr val="accent1"/>
                  </a:solidFill>
                  <a:latin typeface="Century Gothic" panose="020B0502020202020204" pitchFamily="34" charset="0"/>
                </a:rPr>
                <a:t>3</a:t>
              </a:r>
            </a:p>
          </p:txBody>
        </p:sp>
        <p:sp>
          <p:nvSpPr>
            <p:cNvPr id="67" name="Rectangle 16">
              <a:extLst>
                <a:ext uri="{FF2B5EF4-FFF2-40B4-BE49-F238E27FC236}">
                  <a16:creationId xmlns:a16="http://schemas.microsoft.com/office/drawing/2014/main" id="{72E208C7-DA93-4EBC-91D6-E14FFB61E0C9}"/>
                </a:ext>
              </a:extLst>
            </p:cNvPr>
            <p:cNvSpPr>
              <a:spLocks/>
            </p:cNvSpPr>
            <p:nvPr/>
          </p:nvSpPr>
          <p:spPr bwMode="auto">
            <a:xfrm>
              <a:off x="3655075" y="4221453"/>
              <a:ext cx="337060" cy="40838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solidFill>
                    <a:schemeClr val="accent1"/>
                  </a:solidFill>
                  <a:latin typeface="Century Gothic" panose="020B0502020202020204" pitchFamily="34" charset="0"/>
                </a:rPr>
                <a:t>4</a:t>
              </a:r>
            </a:p>
          </p:txBody>
        </p:sp>
        <p:sp>
          <p:nvSpPr>
            <p:cNvPr id="68" name="Rectangle 17">
              <a:extLst>
                <a:ext uri="{FF2B5EF4-FFF2-40B4-BE49-F238E27FC236}">
                  <a16:creationId xmlns:a16="http://schemas.microsoft.com/office/drawing/2014/main" id="{A05DBAA4-2F10-4E6B-A8D4-C43DD42F7DC8}"/>
                </a:ext>
              </a:extLst>
            </p:cNvPr>
            <p:cNvSpPr>
              <a:spLocks/>
            </p:cNvSpPr>
            <p:nvPr/>
          </p:nvSpPr>
          <p:spPr bwMode="auto">
            <a:xfrm>
              <a:off x="4258181" y="4202329"/>
              <a:ext cx="337060" cy="40838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solidFill>
                    <a:schemeClr val="accent1"/>
                  </a:solidFill>
                  <a:latin typeface="Century Gothic" panose="020B0502020202020204" pitchFamily="34" charset="0"/>
                </a:rPr>
                <a:t>5</a:t>
              </a:r>
            </a:p>
          </p:txBody>
        </p:sp>
        <p:sp>
          <p:nvSpPr>
            <p:cNvPr id="69" name="Rectangle 18">
              <a:extLst>
                <a:ext uri="{FF2B5EF4-FFF2-40B4-BE49-F238E27FC236}">
                  <a16:creationId xmlns:a16="http://schemas.microsoft.com/office/drawing/2014/main" id="{CFB37C7F-DF96-402F-98A2-2AD67C693330}"/>
                </a:ext>
              </a:extLst>
            </p:cNvPr>
            <p:cNvSpPr>
              <a:spLocks/>
            </p:cNvSpPr>
            <p:nvPr/>
          </p:nvSpPr>
          <p:spPr bwMode="auto">
            <a:xfrm>
              <a:off x="4777031" y="4221453"/>
              <a:ext cx="337060" cy="40838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solidFill>
                    <a:schemeClr val="accent1"/>
                  </a:solidFill>
                  <a:latin typeface="Century Gothic" panose="020B0502020202020204" pitchFamily="34" charset="0"/>
                </a:rPr>
                <a:t>6</a:t>
              </a:r>
            </a:p>
          </p:txBody>
        </p:sp>
        <p:sp>
          <p:nvSpPr>
            <p:cNvPr id="70" name="Rectangle 19">
              <a:extLst>
                <a:ext uri="{FF2B5EF4-FFF2-40B4-BE49-F238E27FC236}">
                  <a16:creationId xmlns:a16="http://schemas.microsoft.com/office/drawing/2014/main" id="{533C9E55-D8D0-4218-B405-C8C343FF2296}"/>
                </a:ext>
              </a:extLst>
            </p:cNvPr>
            <p:cNvSpPr>
              <a:spLocks/>
            </p:cNvSpPr>
            <p:nvPr/>
          </p:nvSpPr>
          <p:spPr bwMode="auto">
            <a:xfrm>
              <a:off x="5383554" y="4221453"/>
              <a:ext cx="337060" cy="40838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solidFill>
                    <a:schemeClr val="accent1"/>
                  </a:solidFill>
                  <a:latin typeface="Century Gothic" panose="020B0502020202020204" pitchFamily="34" charset="0"/>
                </a:rPr>
                <a:t>7</a:t>
              </a:r>
            </a:p>
          </p:txBody>
        </p:sp>
        <p:sp>
          <p:nvSpPr>
            <p:cNvPr id="71" name="Rectangle 28">
              <a:extLst>
                <a:ext uri="{FF2B5EF4-FFF2-40B4-BE49-F238E27FC236}">
                  <a16:creationId xmlns:a16="http://schemas.microsoft.com/office/drawing/2014/main" id="{DD1D75B7-B8F4-486B-B21F-03B580956337}"/>
                </a:ext>
              </a:extLst>
            </p:cNvPr>
            <p:cNvSpPr>
              <a:spLocks/>
            </p:cNvSpPr>
            <p:nvPr/>
          </p:nvSpPr>
          <p:spPr bwMode="auto">
            <a:xfrm>
              <a:off x="5938227" y="4221453"/>
              <a:ext cx="337060" cy="40838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solidFill>
                    <a:schemeClr val="accent1"/>
                  </a:solidFill>
                  <a:latin typeface="Century Gothic" panose="020B0502020202020204" pitchFamily="34" charset="0"/>
                </a:rPr>
                <a:t>8</a:t>
              </a:r>
            </a:p>
          </p:txBody>
        </p:sp>
        <p:sp>
          <p:nvSpPr>
            <p:cNvPr id="72" name="Rectangle 29">
              <a:extLst>
                <a:ext uri="{FF2B5EF4-FFF2-40B4-BE49-F238E27FC236}">
                  <a16:creationId xmlns:a16="http://schemas.microsoft.com/office/drawing/2014/main" id="{4292D3AC-DE2B-4AC4-8884-0270847808AD}"/>
                </a:ext>
              </a:extLst>
            </p:cNvPr>
            <p:cNvSpPr>
              <a:spLocks/>
            </p:cNvSpPr>
            <p:nvPr/>
          </p:nvSpPr>
          <p:spPr bwMode="auto">
            <a:xfrm>
              <a:off x="6532383" y="4229941"/>
              <a:ext cx="337060" cy="40838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solidFill>
                    <a:schemeClr val="accent1"/>
                  </a:solidFill>
                  <a:latin typeface="Century Gothic" panose="020B0502020202020204" pitchFamily="34" charset="0"/>
                </a:rPr>
                <a:t>9</a:t>
              </a:r>
            </a:p>
          </p:txBody>
        </p:sp>
        <p:sp>
          <p:nvSpPr>
            <p:cNvPr id="73" name="Rectangle 30">
              <a:extLst>
                <a:ext uri="{FF2B5EF4-FFF2-40B4-BE49-F238E27FC236}">
                  <a16:creationId xmlns:a16="http://schemas.microsoft.com/office/drawing/2014/main" id="{8099B9FD-9842-4E59-8FE3-8BD711D7E7AC}"/>
                </a:ext>
              </a:extLst>
            </p:cNvPr>
            <p:cNvSpPr>
              <a:spLocks/>
            </p:cNvSpPr>
            <p:nvPr/>
          </p:nvSpPr>
          <p:spPr bwMode="auto">
            <a:xfrm>
              <a:off x="7153602" y="4221453"/>
              <a:ext cx="337060" cy="40838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solidFill>
                    <a:schemeClr val="accent1"/>
                  </a:solidFill>
                  <a:latin typeface="Century Gothic" panose="020B0502020202020204" pitchFamily="34" charset="0"/>
                </a:rPr>
                <a:t>10</a:t>
              </a:r>
            </a:p>
          </p:txBody>
        </p:sp>
        <p:sp>
          <p:nvSpPr>
            <p:cNvPr id="74" name="Rectangle 31">
              <a:extLst>
                <a:ext uri="{FF2B5EF4-FFF2-40B4-BE49-F238E27FC236}">
                  <a16:creationId xmlns:a16="http://schemas.microsoft.com/office/drawing/2014/main" id="{DBDF7C26-8F07-498E-A368-069B6B44209A}"/>
                </a:ext>
              </a:extLst>
            </p:cNvPr>
            <p:cNvSpPr>
              <a:spLocks/>
            </p:cNvSpPr>
            <p:nvPr/>
          </p:nvSpPr>
          <p:spPr bwMode="auto">
            <a:xfrm>
              <a:off x="7656863" y="4221453"/>
              <a:ext cx="337060" cy="40838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solidFill>
                    <a:schemeClr val="accent1"/>
                  </a:solidFill>
                  <a:latin typeface="Century Gothic" panose="020B0502020202020204" pitchFamily="34" charset="0"/>
                </a:rPr>
                <a:t>11</a:t>
              </a:r>
            </a:p>
          </p:txBody>
        </p:sp>
        <p:sp>
          <p:nvSpPr>
            <p:cNvPr id="75" name="Rectangle 33">
              <a:extLst>
                <a:ext uri="{FF2B5EF4-FFF2-40B4-BE49-F238E27FC236}">
                  <a16:creationId xmlns:a16="http://schemas.microsoft.com/office/drawing/2014/main" id="{C0E46240-96D1-426E-8FD6-6CDB386BE032}"/>
                </a:ext>
              </a:extLst>
            </p:cNvPr>
            <p:cNvSpPr>
              <a:spLocks/>
            </p:cNvSpPr>
            <p:nvPr/>
          </p:nvSpPr>
          <p:spPr bwMode="auto">
            <a:xfrm>
              <a:off x="8202448" y="4202329"/>
              <a:ext cx="337060" cy="40838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solidFill>
                    <a:schemeClr val="accent1"/>
                  </a:solidFill>
                  <a:latin typeface="Century Gothic" panose="020B0502020202020204" pitchFamily="34" charset="0"/>
                </a:rPr>
                <a:t>12</a:t>
              </a:r>
            </a:p>
          </p:txBody>
        </p:sp>
        <p:cxnSp>
          <p:nvCxnSpPr>
            <p:cNvPr id="76" name="Straight Arrow Connector 34">
              <a:extLst>
                <a:ext uri="{FF2B5EF4-FFF2-40B4-BE49-F238E27FC236}">
                  <a16:creationId xmlns:a16="http://schemas.microsoft.com/office/drawing/2014/main" id="{590DB801-9452-4EE7-A949-AA9F9ED5EAE5}"/>
                </a:ext>
              </a:extLst>
            </p:cNvPr>
            <p:cNvCxnSpPr/>
            <p:nvPr/>
          </p:nvCxnSpPr>
          <p:spPr>
            <a:xfrm>
              <a:off x="1540640" y="4639623"/>
              <a:ext cx="0" cy="620901"/>
            </a:xfrm>
            <a:prstGeom prst="straightConnector1">
              <a:avLst/>
            </a:prstGeom>
            <a:ln w="38100">
              <a:solidFill>
                <a:srgbClr val="FF0000"/>
              </a:solidFill>
              <a:tailEnd type="arrow"/>
            </a:ln>
          </p:spPr>
          <p:style>
            <a:lnRef idx="2">
              <a:schemeClr val="accent1"/>
            </a:lnRef>
            <a:fillRef idx="0">
              <a:schemeClr val="accent1"/>
            </a:fillRef>
            <a:effectRef idx="1">
              <a:schemeClr val="accent1"/>
            </a:effectRef>
            <a:fontRef idx="minor">
              <a:schemeClr val="tx1"/>
            </a:fontRef>
          </p:style>
        </p:cxnSp>
        <p:cxnSp>
          <p:nvCxnSpPr>
            <p:cNvPr id="77" name="Straight Arrow Connector 35">
              <a:extLst>
                <a:ext uri="{FF2B5EF4-FFF2-40B4-BE49-F238E27FC236}">
                  <a16:creationId xmlns:a16="http://schemas.microsoft.com/office/drawing/2014/main" id="{EA4BDF63-0212-4773-8997-F965F4C9D0FE}"/>
                </a:ext>
              </a:extLst>
            </p:cNvPr>
            <p:cNvCxnSpPr/>
            <p:nvPr/>
          </p:nvCxnSpPr>
          <p:spPr>
            <a:xfrm>
              <a:off x="8393360" y="4652891"/>
              <a:ext cx="0" cy="620901"/>
            </a:xfrm>
            <a:prstGeom prst="straightConnector1">
              <a:avLst/>
            </a:prstGeom>
            <a:ln w="38100">
              <a:solidFill>
                <a:srgbClr val="FF0000"/>
              </a:solidFill>
              <a:tailEnd type="arrow"/>
            </a:ln>
          </p:spPr>
          <p:style>
            <a:lnRef idx="2">
              <a:schemeClr val="accent1"/>
            </a:lnRef>
            <a:fillRef idx="0">
              <a:schemeClr val="accent1"/>
            </a:fillRef>
            <a:effectRef idx="1">
              <a:schemeClr val="accent1"/>
            </a:effectRef>
            <a:fontRef idx="minor">
              <a:schemeClr val="tx1"/>
            </a:fontRef>
          </p:style>
        </p:cxnSp>
        <p:cxnSp>
          <p:nvCxnSpPr>
            <p:cNvPr id="78" name="Straight Arrow Connector 36">
              <a:extLst>
                <a:ext uri="{FF2B5EF4-FFF2-40B4-BE49-F238E27FC236}">
                  <a16:creationId xmlns:a16="http://schemas.microsoft.com/office/drawing/2014/main" id="{5D60BBEE-2940-4C1B-BA2D-DDA0CD97E769}"/>
                </a:ext>
              </a:extLst>
            </p:cNvPr>
            <p:cNvCxnSpPr/>
            <p:nvPr/>
          </p:nvCxnSpPr>
          <p:spPr>
            <a:xfrm>
              <a:off x="1540640" y="5260524"/>
              <a:ext cx="2905074" cy="13268"/>
            </a:xfrm>
            <a:prstGeom prst="straightConnector1">
              <a:avLst/>
            </a:prstGeom>
            <a:ln w="38100">
              <a:solidFill>
                <a:srgbClr val="FF0000"/>
              </a:solidFill>
              <a:headEnd type="none"/>
              <a:tailEnd type="none"/>
            </a:ln>
          </p:spPr>
          <p:style>
            <a:lnRef idx="2">
              <a:schemeClr val="accent1"/>
            </a:lnRef>
            <a:fillRef idx="0">
              <a:schemeClr val="accent1"/>
            </a:fillRef>
            <a:effectRef idx="1">
              <a:schemeClr val="accent1"/>
            </a:effectRef>
            <a:fontRef idx="minor">
              <a:schemeClr val="tx1"/>
            </a:fontRef>
          </p:style>
        </p:cxnSp>
        <p:sp>
          <p:nvSpPr>
            <p:cNvPr id="79" name="Rectangle 37">
              <a:extLst>
                <a:ext uri="{FF2B5EF4-FFF2-40B4-BE49-F238E27FC236}">
                  <a16:creationId xmlns:a16="http://schemas.microsoft.com/office/drawing/2014/main" id="{3F1CA453-C1DC-49A0-8011-E13F672B51B1}"/>
                </a:ext>
              </a:extLst>
            </p:cNvPr>
            <p:cNvSpPr>
              <a:spLocks/>
            </p:cNvSpPr>
            <p:nvPr/>
          </p:nvSpPr>
          <p:spPr bwMode="auto">
            <a:xfrm>
              <a:off x="1924079" y="4829047"/>
              <a:ext cx="1887166" cy="40838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b="1">
                  <a:solidFill>
                    <a:srgbClr val="FF0000"/>
                  </a:solidFill>
                  <a:latin typeface="Century Gothic" panose="020B0502020202020204" pitchFamily="34" charset="0"/>
                </a:rPr>
                <a:t>A = 400</a:t>
              </a:r>
            </a:p>
          </p:txBody>
        </p:sp>
        <p:cxnSp>
          <p:nvCxnSpPr>
            <p:cNvPr id="80" name="Straight Arrow Connector 24">
              <a:extLst>
                <a:ext uri="{FF2B5EF4-FFF2-40B4-BE49-F238E27FC236}">
                  <a16:creationId xmlns:a16="http://schemas.microsoft.com/office/drawing/2014/main" id="{11C29049-2F59-4446-9615-6231EDAAEB2C}"/>
                </a:ext>
              </a:extLst>
            </p:cNvPr>
            <p:cNvCxnSpPr/>
            <p:nvPr/>
          </p:nvCxnSpPr>
          <p:spPr>
            <a:xfrm>
              <a:off x="4445714" y="4652891"/>
              <a:ext cx="0" cy="620901"/>
            </a:xfrm>
            <a:prstGeom prst="straightConnector1">
              <a:avLst/>
            </a:prstGeom>
            <a:ln w="38100">
              <a:solidFill>
                <a:srgbClr val="FF0000"/>
              </a:solidFill>
              <a:tailEnd type="arrow"/>
            </a:ln>
          </p:spPr>
          <p:style>
            <a:lnRef idx="2">
              <a:schemeClr val="accent1"/>
            </a:lnRef>
            <a:fillRef idx="0">
              <a:schemeClr val="accent1"/>
            </a:fillRef>
            <a:effectRef idx="1">
              <a:schemeClr val="accent1"/>
            </a:effectRef>
            <a:fontRef idx="minor">
              <a:schemeClr val="tx1"/>
            </a:fontRef>
          </p:style>
        </p:cxnSp>
        <p:cxnSp>
          <p:nvCxnSpPr>
            <p:cNvPr id="81" name="Straight Arrow Connector 25">
              <a:extLst>
                <a:ext uri="{FF2B5EF4-FFF2-40B4-BE49-F238E27FC236}">
                  <a16:creationId xmlns:a16="http://schemas.microsoft.com/office/drawing/2014/main" id="{BC8AFCE5-F83F-47AF-8B9D-5F7D05EFFB8E}"/>
                </a:ext>
              </a:extLst>
            </p:cNvPr>
            <p:cNvCxnSpPr/>
            <p:nvPr/>
          </p:nvCxnSpPr>
          <p:spPr>
            <a:xfrm>
              <a:off x="5550650" y="4652891"/>
              <a:ext cx="0" cy="620901"/>
            </a:xfrm>
            <a:prstGeom prst="straightConnector1">
              <a:avLst/>
            </a:prstGeom>
            <a:ln w="38100">
              <a:solidFill>
                <a:srgbClr val="FF0000"/>
              </a:solidFill>
              <a:tailEnd type="arrow"/>
            </a:ln>
          </p:spPr>
          <p:style>
            <a:lnRef idx="2">
              <a:schemeClr val="accent1"/>
            </a:lnRef>
            <a:fillRef idx="0">
              <a:schemeClr val="accent1"/>
            </a:fillRef>
            <a:effectRef idx="1">
              <a:schemeClr val="accent1"/>
            </a:effectRef>
            <a:fontRef idx="minor">
              <a:schemeClr val="tx1"/>
            </a:fontRef>
          </p:style>
        </p:cxnSp>
        <p:cxnSp>
          <p:nvCxnSpPr>
            <p:cNvPr id="82" name="Straight Arrow Connector 32">
              <a:extLst>
                <a:ext uri="{FF2B5EF4-FFF2-40B4-BE49-F238E27FC236}">
                  <a16:creationId xmlns:a16="http://schemas.microsoft.com/office/drawing/2014/main" id="{F5719F74-D2EC-422A-8408-62D0741C01D0}"/>
                </a:ext>
              </a:extLst>
            </p:cNvPr>
            <p:cNvCxnSpPr/>
            <p:nvPr/>
          </p:nvCxnSpPr>
          <p:spPr>
            <a:xfrm>
              <a:off x="5550650" y="5260524"/>
              <a:ext cx="2842710" cy="13268"/>
            </a:xfrm>
            <a:prstGeom prst="straightConnector1">
              <a:avLst/>
            </a:prstGeom>
            <a:ln w="38100">
              <a:solidFill>
                <a:srgbClr val="FF0000"/>
              </a:solidFill>
              <a:headEnd type="none"/>
              <a:tailEnd type="none"/>
            </a:ln>
          </p:spPr>
          <p:style>
            <a:lnRef idx="2">
              <a:schemeClr val="accent1"/>
            </a:lnRef>
            <a:fillRef idx="0">
              <a:schemeClr val="accent1"/>
            </a:fillRef>
            <a:effectRef idx="1">
              <a:schemeClr val="accent1"/>
            </a:effectRef>
            <a:fontRef idx="minor">
              <a:schemeClr val="tx1"/>
            </a:fontRef>
          </p:style>
        </p:cxnSp>
        <p:sp>
          <p:nvSpPr>
            <p:cNvPr id="130" name="Rectangle 38">
              <a:extLst>
                <a:ext uri="{FF2B5EF4-FFF2-40B4-BE49-F238E27FC236}">
                  <a16:creationId xmlns:a16="http://schemas.microsoft.com/office/drawing/2014/main" id="{1A3F5A69-E47D-44D3-9FD8-1955E244F8E3}"/>
                </a:ext>
              </a:extLst>
            </p:cNvPr>
            <p:cNvSpPr>
              <a:spLocks/>
            </p:cNvSpPr>
            <p:nvPr/>
          </p:nvSpPr>
          <p:spPr bwMode="auto">
            <a:xfrm>
              <a:off x="6106757" y="4858335"/>
              <a:ext cx="1887166" cy="40838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b="1">
                  <a:solidFill>
                    <a:srgbClr val="FF0000"/>
                  </a:solidFill>
                  <a:latin typeface="Century Gothic" panose="020B0502020202020204" pitchFamily="34" charset="0"/>
                </a:rPr>
                <a:t>A = 400</a:t>
              </a:r>
            </a:p>
          </p:txBody>
        </p:sp>
        <p:cxnSp>
          <p:nvCxnSpPr>
            <p:cNvPr id="138" name="Straight Arrow Connector 39">
              <a:extLst>
                <a:ext uri="{FF2B5EF4-FFF2-40B4-BE49-F238E27FC236}">
                  <a16:creationId xmlns:a16="http://schemas.microsoft.com/office/drawing/2014/main" id="{CEE60EA4-ED88-4143-91CB-63A130665813}"/>
                </a:ext>
              </a:extLst>
            </p:cNvPr>
            <p:cNvCxnSpPr/>
            <p:nvPr/>
          </p:nvCxnSpPr>
          <p:spPr>
            <a:xfrm>
              <a:off x="4960661" y="4652891"/>
              <a:ext cx="0" cy="1289915"/>
            </a:xfrm>
            <a:prstGeom prst="straightConnector1">
              <a:avLst/>
            </a:prstGeom>
            <a:ln w="38100">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139" name="Rectangle 40">
              <a:extLst>
                <a:ext uri="{FF2B5EF4-FFF2-40B4-BE49-F238E27FC236}">
                  <a16:creationId xmlns:a16="http://schemas.microsoft.com/office/drawing/2014/main" id="{FA0B4FE6-9E21-4D14-802B-93A7E11701D7}"/>
                </a:ext>
              </a:extLst>
            </p:cNvPr>
            <p:cNvSpPr>
              <a:spLocks/>
            </p:cNvSpPr>
            <p:nvPr/>
          </p:nvSpPr>
          <p:spPr bwMode="auto">
            <a:xfrm>
              <a:off x="4017079" y="5893175"/>
              <a:ext cx="1887166" cy="40838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b="1">
                  <a:solidFill>
                    <a:srgbClr val="FF0000"/>
                  </a:solidFill>
                  <a:latin typeface="Century Gothic" panose="020B0502020202020204" pitchFamily="34" charset="0"/>
                </a:rPr>
                <a:t>600</a:t>
              </a:r>
            </a:p>
          </p:txBody>
        </p:sp>
      </p:grpSp>
      <p:sp>
        <p:nvSpPr>
          <p:cNvPr id="3" name="Rectángulo 2">
            <a:extLst>
              <a:ext uri="{FF2B5EF4-FFF2-40B4-BE49-F238E27FC236}">
                <a16:creationId xmlns:a16="http://schemas.microsoft.com/office/drawing/2014/main" id="{39F36CF4-9DC8-4DDF-CB9D-4ED4F0FDC07B}"/>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sp>
        <p:nvSpPr>
          <p:cNvPr id="5" name="Rectángulo 4">
            <a:extLst>
              <a:ext uri="{FF2B5EF4-FFF2-40B4-BE49-F238E27FC236}">
                <a16:creationId xmlns:a16="http://schemas.microsoft.com/office/drawing/2014/main" id="{76B529A9-2D33-EA0B-44CF-C0B03A2AFBB9}"/>
              </a:ext>
            </a:extLst>
          </p:cNvPr>
          <p:cNvSpPr/>
          <p:nvPr/>
        </p:nvSpPr>
        <p:spPr>
          <a:xfrm>
            <a:off x="8795541" y="118110"/>
            <a:ext cx="29418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Profesora</a:t>
            </a:r>
            <a:r>
              <a:rPr lang="es-CO" sz="1100">
                <a:solidFill>
                  <a:schemeClr val="accent2">
                    <a:lumMod val="50000"/>
                  </a:schemeClr>
                </a:solidFill>
                <a:latin typeface="Century Gothic" panose="020B0502020202020204" pitchFamily="34" charset="0"/>
                <a:sym typeface="Gill Sans Light"/>
              </a:rPr>
              <a:t> Andrea Yohana Cortés Mojica</a:t>
            </a:r>
            <a:endParaRPr lang="es-CO" sz="1100">
              <a:solidFill>
                <a:schemeClr val="accent2">
                  <a:lumMod val="50000"/>
                </a:schemeClr>
              </a:solidFill>
              <a:latin typeface="Century Gothic" panose="020B0502020202020204" pitchFamily="34" charset="0"/>
            </a:endParaRPr>
          </a:p>
        </p:txBody>
      </p:sp>
      <p:pic>
        <p:nvPicPr>
          <p:cNvPr id="7" name="Picture 2" descr="Clientes y aliados | Centro de Evaluación | Uniandes">
            <a:extLst>
              <a:ext uri="{FF2B5EF4-FFF2-40B4-BE49-F238E27FC236}">
                <a16:creationId xmlns:a16="http://schemas.microsoft.com/office/drawing/2014/main" id="{3F395D74-E5C6-8611-D620-8F4A7722061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7">
            <a:extLst>
              <a:ext uri="{FF2B5EF4-FFF2-40B4-BE49-F238E27FC236}">
                <a16:creationId xmlns:a16="http://schemas.microsoft.com/office/drawing/2014/main" id="{0939C9BC-BFCB-9AC5-5C37-3028F3CCDF4E}"/>
              </a:ext>
            </a:extLst>
          </p:cNvPr>
          <p:cNvSpPr/>
          <p:nvPr/>
        </p:nvSpPr>
        <p:spPr>
          <a:xfrm>
            <a:off x="4858343" y="118107"/>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9" name="CuadroTexto 8">
            <a:extLst>
              <a:ext uri="{FF2B5EF4-FFF2-40B4-BE49-F238E27FC236}">
                <a16:creationId xmlns:a16="http://schemas.microsoft.com/office/drawing/2014/main" id="{F9D14299-5936-E9FD-90D6-E72A5155B2C5}"/>
              </a:ext>
            </a:extLst>
          </p:cNvPr>
          <p:cNvSpPr txBox="1"/>
          <p:nvPr/>
        </p:nvSpPr>
        <p:spPr>
          <a:xfrm>
            <a:off x="7265371" y="3429000"/>
            <a:ext cx="1357485" cy="307777"/>
          </a:xfrm>
          <a:prstGeom prst="rect">
            <a:avLst/>
          </a:prstGeom>
          <a:noFill/>
        </p:spPr>
        <p:txBody>
          <a:bodyPr wrap="square">
            <a:spAutoFit/>
          </a:bodyPr>
          <a:lstStyle/>
          <a:p>
            <a:r>
              <a:rPr lang="es-ES" sz="1400" b="1">
                <a:solidFill>
                  <a:srgbClr val="D7A700"/>
                </a:solidFill>
                <a:latin typeface="Century Gothic" panose="020B0502020202020204" pitchFamily="34" charset="0"/>
              </a:rPr>
              <a:t>Años</a:t>
            </a:r>
            <a:endParaRPr lang="es-CO" sz="1400" b="1">
              <a:solidFill>
                <a:srgbClr val="D7A700"/>
              </a:solidFill>
            </a:endParaRPr>
          </a:p>
        </p:txBody>
      </p:sp>
    </p:spTree>
    <p:extLst>
      <p:ext uri="{BB962C8B-B14F-4D97-AF65-F5344CB8AC3E}">
        <p14:creationId xmlns:p14="http://schemas.microsoft.com/office/powerpoint/2010/main" val="39816162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24" grpId="0"/>
      <p:bldP spid="11" grpId="0"/>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ES">
                <a:latin typeface="Century Gothic" panose="020B0502020202020204" pitchFamily="34" charset="0"/>
              </a:rPr>
              <a:t>COMBINACIONES DE Relaciones de Equivalencia </a:t>
            </a:r>
          </a:p>
        </p:txBody>
      </p:sp>
      <p:sp>
        <p:nvSpPr>
          <p:cNvPr id="4" name="Marcador de número de diapositiva 3"/>
          <p:cNvSpPr>
            <a:spLocks noGrp="1"/>
          </p:cNvSpPr>
          <p:nvPr>
            <p:ph type="sldNum" sz="quarter" idx="12"/>
          </p:nvPr>
        </p:nvSpPr>
        <p:spPr/>
        <p:txBody>
          <a:bodyPr/>
          <a:lstStyle/>
          <a:p>
            <a:fld id="{5E3E23BA-6E79-2442-BA73-D218A5E297C3}" type="slidenum">
              <a:rPr lang="en-US" sz="1800" smtClean="0"/>
              <a:t>87</a:t>
            </a:fld>
            <a:endParaRPr lang="en-US" sz="1800"/>
          </a:p>
        </p:txBody>
      </p:sp>
      <p:graphicFrame>
        <p:nvGraphicFramePr>
          <p:cNvPr id="6" name="Gráfico 5"/>
          <p:cNvGraphicFramePr>
            <a:graphicFrameLocks/>
          </p:cNvGraphicFramePr>
          <p:nvPr/>
        </p:nvGraphicFramePr>
        <p:xfrm>
          <a:off x="1570039" y="2506196"/>
          <a:ext cx="8867775" cy="3141406"/>
        </p:xfrm>
        <a:graphic>
          <a:graphicData uri="http://schemas.openxmlformats.org/drawingml/2006/chart">
            <c:chart xmlns:c="http://schemas.openxmlformats.org/drawingml/2006/chart" xmlns:r="http://schemas.openxmlformats.org/officeDocument/2006/relationships" r:id="rId2"/>
          </a:graphicData>
        </a:graphic>
      </p:graphicFrame>
      <p:sp>
        <p:nvSpPr>
          <p:cNvPr id="9" name="Abrir corchete 8"/>
          <p:cNvSpPr/>
          <p:nvPr/>
        </p:nvSpPr>
        <p:spPr>
          <a:xfrm rot="5400000">
            <a:off x="3238501" y="2790106"/>
            <a:ext cx="154857" cy="1179872"/>
          </a:xfrm>
          <a:prstGeom prst="leftBracket">
            <a:avLst/>
          </a:prstGeom>
          <a:ln/>
        </p:spPr>
        <p:style>
          <a:lnRef idx="2">
            <a:schemeClr val="accent5"/>
          </a:lnRef>
          <a:fillRef idx="0">
            <a:schemeClr val="accent5"/>
          </a:fillRef>
          <a:effectRef idx="1">
            <a:schemeClr val="accent5"/>
          </a:effectRef>
          <a:fontRef idx="minor">
            <a:schemeClr val="tx1"/>
          </a:fontRef>
        </p:style>
        <p:txBody>
          <a:bodyPr rtlCol="0" anchor="ctr"/>
          <a:lstStyle/>
          <a:p>
            <a:pPr algn="ctr"/>
            <a:endParaRPr lang="es-CO"/>
          </a:p>
        </p:txBody>
      </p:sp>
      <p:sp>
        <p:nvSpPr>
          <p:cNvPr id="10" name="CuadroTexto 9"/>
          <p:cNvSpPr txBox="1"/>
          <p:nvPr/>
        </p:nvSpPr>
        <p:spPr>
          <a:xfrm>
            <a:off x="2860339" y="2954059"/>
            <a:ext cx="1179873" cy="338554"/>
          </a:xfrm>
          <a:prstGeom prst="rect">
            <a:avLst/>
          </a:prstGeom>
          <a:noFill/>
        </p:spPr>
        <p:txBody>
          <a:bodyPr wrap="square" rtlCol="0">
            <a:spAutoFit/>
          </a:bodyPr>
          <a:lstStyle/>
          <a:p>
            <a:pPr algn="ctr"/>
            <a:r>
              <a:rPr lang="es-CO" sz="1600" b="1">
                <a:solidFill>
                  <a:schemeClr val="accent1"/>
                </a:solidFill>
                <a:latin typeface="Century Gothic" panose="020B0502020202020204" pitchFamily="34" charset="0"/>
              </a:rPr>
              <a:t>A= 200</a:t>
            </a:r>
          </a:p>
        </p:txBody>
      </p:sp>
      <p:cxnSp>
        <p:nvCxnSpPr>
          <p:cNvPr id="12" name="Conector recto de flecha 11"/>
          <p:cNvCxnSpPr/>
          <p:nvPr/>
        </p:nvCxnSpPr>
        <p:spPr>
          <a:xfrm flipV="1">
            <a:off x="4329882" y="2860159"/>
            <a:ext cx="1906229" cy="369330"/>
          </a:xfrm>
          <a:prstGeom prst="straightConnector1">
            <a:avLst/>
          </a:prstGeom>
          <a:ln>
            <a:solidFill>
              <a:schemeClr val="accent5"/>
            </a:solidFill>
            <a:tailEnd type="triangle"/>
          </a:ln>
        </p:spPr>
        <p:style>
          <a:lnRef idx="3">
            <a:schemeClr val="accent6"/>
          </a:lnRef>
          <a:fillRef idx="0">
            <a:schemeClr val="accent6"/>
          </a:fillRef>
          <a:effectRef idx="2">
            <a:schemeClr val="accent6"/>
          </a:effectRef>
          <a:fontRef idx="minor">
            <a:schemeClr val="tx1"/>
          </a:fontRef>
        </p:style>
      </p:cxnSp>
      <p:sp>
        <p:nvSpPr>
          <p:cNvPr id="14" name="CuadroTexto 13"/>
          <p:cNvSpPr txBox="1"/>
          <p:nvPr/>
        </p:nvSpPr>
        <p:spPr>
          <a:xfrm rot="20944793">
            <a:off x="4723604" y="2690880"/>
            <a:ext cx="1179873" cy="338554"/>
          </a:xfrm>
          <a:prstGeom prst="rect">
            <a:avLst/>
          </a:prstGeom>
          <a:noFill/>
        </p:spPr>
        <p:txBody>
          <a:bodyPr wrap="square" rtlCol="0">
            <a:spAutoFit/>
          </a:bodyPr>
          <a:lstStyle/>
          <a:p>
            <a:pPr algn="ctr"/>
            <a:r>
              <a:rPr lang="es-CO" sz="1600" b="1">
                <a:solidFill>
                  <a:schemeClr val="accent1"/>
                </a:solidFill>
                <a:latin typeface="Century Gothic" panose="020B0502020202020204" pitchFamily="34" charset="0"/>
              </a:rPr>
              <a:t>G = 10</a:t>
            </a:r>
          </a:p>
        </p:txBody>
      </p:sp>
      <p:cxnSp>
        <p:nvCxnSpPr>
          <p:cNvPr id="16" name="Conector recto de flecha 15"/>
          <p:cNvCxnSpPr/>
          <p:nvPr/>
        </p:nvCxnSpPr>
        <p:spPr>
          <a:xfrm>
            <a:off x="6612194" y="2860159"/>
            <a:ext cx="1622322" cy="152399"/>
          </a:xfrm>
          <a:prstGeom prst="straightConnector1">
            <a:avLst/>
          </a:prstGeom>
          <a:ln>
            <a:solidFill>
              <a:schemeClr val="accent5"/>
            </a:solidFill>
            <a:tailEnd type="triangle"/>
          </a:ln>
        </p:spPr>
        <p:style>
          <a:lnRef idx="3">
            <a:schemeClr val="accent6"/>
          </a:lnRef>
          <a:fillRef idx="0">
            <a:schemeClr val="accent6"/>
          </a:fillRef>
          <a:effectRef idx="2">
            <a:schemeClr val="accent6"/>
          </a:effectRef>
          <a:fontRef idx="minor">
            <a:schemeClr val="tx1"/>
          </a:fontRef>
        </p:style>
      </p:cxnSp>
      <p:sp>
        <p:nvSpPr>
          <p:cNvPr id="18" name="CuadroTexto 17"/>
          <p:cNvSpPr txBox="1"/>
          <p:nvPr/>
        </p:nvSpPr>
        <p:spPr>
          <a:xfrm rot="339363">
            <a:off x="7010070" y="2597005"/>
            <a:ext cx="1179873" cy="338554"/>
          </a:xfrm>
          <a:prstGeom prst="rect">
            <a:avLst/>
          </a:prstGeom>
          <a:noFill/>
        </p:spPr>
        <p:txBody>
          <a:bodyPr wrap="square" rtlCol="0">
            <a:spAutoFit/>
          </a:bodyPr>
          <a:lstStyle/>
          <a:p>
            <a:pPr algn="ctr"/>
            <a:r>
              <a:rPr lang="es-CO" sz="1600" b="1">
                <a:solidFill>
                  <a:schemeClr val="accent1"/>
                </a:solidFill>
                <a:latin typeface="Century Gothic" panose="020B0502020202020204" pitchFamily="34" charset="0"/>
              </a:rPr>
              <a:t>G = -5</a:t>
            </a:r>
          </a:p>
        </p:txBody>
      </p:sp>
      <p:sp>
        <p:nvSpPr>
          <p:cNvPr id="21" name="CuadroTexto 20"/>
          <p:cNvSpPr txBox="1"/>
          <p:nvPr/>
        </p:nvSpPr>
        <p:spPr>
          <a:xfrm rot="20760208">
            <a:off x="8844229" y="2445213"/>
            <a:ext cx="1179873" cy="338554"/>
          </a:xfrm>
          <a:prstGeom prst="rect">
            <a:avLst/>
          </a:prstGeom>
          <a:noFill/>
        </p:spPr>
        <p:txBody>
          <a:bodyPr wrap="square" rtlCol="0">
            <a:spAutoFit/>
          </a:bodyPr>
          <a:lstStyle/>
          <a:p>
            <a:pPr algn="ctr"/>
            <a:r>
              <a:rPr lang="es-CO" sz="1600" b="1">
                <a:solidFill>
                  <a:schemeClr val="accent1"/>
                </a:solidFill>
                <a:latin typeface="Century Gothic" panose="020B0502020202020204" pitchFamily="34" charset="0"/>
              </a:rPr>
              <a:t>g = 3%</a:t>
            </a:r>
          </a:p>
        </p:txBody>
      </p:sp>
      <p:sp>
        <p:nvSpPr>
          <p:cNvPr id="22" name="CuadroTexto 21"/>
          <p:cNvSpPr txBox="1"/>
          <p:nvPr/>
        </p:nvSpPr>
        <p:spPr>
          <a:xfrm>
            <a:off x="5694708" y="5811490"/>
            <a:ext cx="1622323" cy="369332"/>
          </a:xfrm>
          <a:prstGeom prst="rect">
            <a:avLst/>
          </a:prstGeom>
          <a:noFill/>
        </p:spPr>
        <p:txBody>
          <a:bodyPr wrap="square" rtlCol="0">
            <a:spAutoFit/>
          </a:bodyPr>
          <a:lstStyle/>
          <a:p>
            <a:pPr algn="ctr"/>
            <a:r>
              <a:rPr lang="es-CO" b="1">
                <a:solidFill>
                  <a:srgbClr val="D7A700"/>
                </a:solidFill>
                <a:latin typeface="Century Gothic" panose="020B0502020202020204" pitchFamily="34" charset="0"/>
              </a:rPr>
              <a:t>i : 10% MV</a:t>
            </a:r>
          </a:p>
        </p:txBody>
      </p:sp>
      <p:cxnSp>
        <p:nvCxnSpPr>
          <p:cNvPr id="15" name="Conector recto de flecha 14">
            <a:extLst>
              <a:ext uri="{FF2B5EF4-FFF2-40B4-BE49-F238E27FC236}">
                <a16:creationId xmlns:a16="http://schemas.microsoft.com/office/drawing/2014/main" id="{69E3ADBD-8ADB-467C-9FEC-E3DB8E5DB221}"/>
              </a:ext>
            </a:extLst>
          </p:cNvPr>
          <p:cNvCxnSpPr>
            <a:cxnSpLocks/>
          </p:cNvCxnSpPr>
          <p:nvPr/>
        </p:nvCxnSpPr>
        <p:spPr>
          <a:xfrm flipV="1">
            <a:off x="8543653" y="2671467"/>
            <a:ext cx="1555778" cy="341091"/>
          </a:xfrm>
          <a:prstGeom prst="straightConnector1">
            <a:avLst/>
          </a:prstGeom>
          <a:ln>
            <a:solidFill>
              <a:schemeClr val="accent5"/>
            </a:solidFill>
            <a:tailEnd type="triangle"/>
          </a:ln>
        </p:spPr>
        <p:style>
          <a:lnRef idx="3">
            <a:schemeClr val="accent6"/>
          </a:lnRef>
          <a:fillRef idx="0">
            <a:schemeClr val="accent6"/>
          </a:fillRef>
          <a:effectRef idx="2">
            <a:schemeClr val="accent6"/>
          </a:effectRef>
          <a:fontRef idx="minor">
            <a:schemeClr val="tx1"/>
          </a:fontRef>
        </p:style>
      </p:cxnSp>
      <p:sp>
        <p:nvSpPr>
          <p:cNvPr id="24" name="Rectángulo 23">
            <a:extLst>
              <a:ext uri="{FF2B5EF4-FFF2-40B4-BE49-F238E27FC236}">
                <a16:creationId xmlns:a16="http://schemas.microsoft.com/office/drawing/2014/main" id="{EDA0B306-EAED-40BC-A945-65A4CF8B15EF}"/>
              </a:ext>
            </a:extLst>
          </p:cNvPr>
          <p:cNvSpPr/>
          <p:nvPr/>
        </p:nvSpPr>
        <p:spPr>
          <a:xfrm>
            <a:off x="581192" y="2026344"/>
            <a:ext cx="1399742" cy="400110"/>
          </a:xfrm>
          <a:prstGeom prst="rect">
            <a:avLst/>
          </a:prstGeom>
        </p:spPr>
        <p:txBody>
          <a:bodyPr wrap="none">
            <a:spAutoFit/>
          </a:bodyPr>
          <a:lstStyle/>
          <a:p>
            <a:r>
              <a:rPr lang="es-ES_tradnl" sz="2000" b="1">
                <a:solidFill>
                  <a:srgbClr val="C00000"/>
                </a:solidFill>
                <a:latin typeface="Century Gothic" panose="020B0502020202020204" pitchFamily="34" charset="0"/>
              </a:rPr>
              <a:t>Ejemplo 2</a:t>
            </a:r>
            <a:endParaRPr lang="es-CO" sz="2000" b="1">
              <a:solidFill>
                <a:srgbClr val="C00000"/>
              </a:solidFill>
              <a:latin typeface="Century Gothic" panose="020B0502020202020204" pitchFamily="34" charset="0"/>
            </a:endParaRPr>
          </a:p>
        </p:txBody>
      </p:sp>
      <p:sp>
        <p:nvSpPr>
          <p:cNvPr id="25" name="CuadroTexto 24">
            <a:extLst>
              <a:ext uri="{FF2B5EF4-FFF2-40B4-BE49-F238E27FC236}">
                <a16:creationId xmlns:a16="http://schemas.microsoft.com/office/drawing/2014/main" id="{AB702086-542F-4556-96C8-D594F2902473}"/>
              </a:ext>
            </a:extLst>
          </p:cNvPr>
          <p:cNvSpPr txBox="1"/>
          <p:nvPr/>
        </p:nvSpPr>
        <p:spPr>
          <a:xfrm>
            <a:off x="10431567" y="4957379"/>
            <a:ext cx="1622323" cy="338554"/>
          </a:xfrm>
          <a:prstGeom prst="rect">
            <a:avLst/>
          </a:prstGeom>
          <a:noFill/>
        </p:spPr>
        <p:txBody>
          <a:bodyPr wrap="square" rtlCol="0">
            <a:spAutoFit/>
          </a:bodyPr>
          <a:lstStyle/>
          <a:p>
            <a:r>
              <a:rPr lang="es-CO" sz="1600" b="1">
                <a:solidFill>
                  <a:schemeClr val="accent5"/>
                </a:solidFill>
                <a:latin typeface="Century Gothic" panose="020B0502020202020204" pitchFamily="34" charset="0"/>
              </a:rPr>
              <a:t>Meses </a:t>
            </a:r>
          </a:p>
        </p:txBody>
      </p:sp>
      <p:sp>
        <p:nvSpPr>
          <p:cNvPr id="3" name="Rectángulo 2">
            <a:extLst>
              <a:ext uri="{FF2B5EF4-FFF2-40B4-BE49-F238E27FC236}">
                <a16:creationId xmlns:a16="http://schemas.microsoft.com/office/drawing/2014/main" id="{E0279F1E-D250-9F15-7982-DEFCFF3A84E1}"/>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sp>
        <p:nvSpPr>
          <p:cNvPr id="5" name="Rectángulo 4">
            <a:extLst>
              <a:ext uri="{FF2B5EF4-FFF2-40B4-BE49-F238E27FC236}">
                <a16:creationId xmlns:a16="http://schemas.microsoft.com/office/drawing/2014/main" id="{F8E3DF2B-B095-0F00-42F9-713EE4A02E36}"/>
              </a:ext>
            </a:extLst>
          </p:cNvPr>
          <p:cNvSpPr/>
          <p:nvPr/>
        </p:nvSpPr>
        <p:spPr>
          <a:xfrm>
            <a:off x="8795541" y="118110"/>
            <a:ext cx="29418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Profesora</a:t>
            </a:r>
            <a:r>
              <a:rPr lang="es-CO" sz="1100">
                <a:solidFill>
                  <a:schemeClr val="accent2">
                    <a:lumMod val="50000"/>
                  </a:schemeClr>
                </a:solidFill>
                <a:latin typeface="Century Gothic" panose="020B0502020202020204" pitchFamily="34" charset="0"/>
                <a:sym typeface="Gill Sans Light"/>
              </a:rPr>
              <a:t> Andrea Yohana Cortés Mojica</a:t>
            </a:r>
            <a:endParaRPr lang="es-CO" sz="1100">
              <a:solidFill>
                <a:schemeClr val="accent2">
                  <a:lumMod val="50000"/>
                </a:schemeClr>
              </a:solidFill>
              <a:latin typeface="Century Gothic" panose="020B0502020202020204" pitchFamily="34" charset="0"/>
            </a:endParaRPr>
          </a:p>
        </p:txBody>
      </p:sp>
      <p:pic>
        <p:nvPicPr>
          <p:cNvPr id="7" name="Picture 2" descr="Clientes y aliados | Centro de Evaluación | Uniandes">
            <a:extLst>
              <a:ext uri="{FF2B5EF4-FFF2-40B4-BE49-F238E27FC236}">
                <a16:creationId xmlns:a16="http://schemas.microsoft.com/office/drawing/2014/main" id="{23DEC82B-73C4-9947-315A-DCE9BFD108C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7">
            <a:extLst>
              <a:ext uri="{FF2B5EF4-FFF2-40B4-BE49-F238E27FC236}">
                <a16:creationId xmlns:a16="http://schemas.microsoft.com/office/drawing/2014/main" id="{3FA39A22-E11B-FB17-B3B3-AEA0ED64C639}"/>
              </a:ext>
            </a:extLst>
          </p:cNvPr>
          <p:cNvSpPr/>
          <p:nvPr/>
        </p:nvSpPr>
        <p:spPr>
          <a:xfrm>
            <a:off x="4858343" y="118107"/>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748436791"/>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ES">
                <a:latin typeface="Century Gothic" panose="020B0502020202020204" pitchFamily="34" charset="0"/>
              </a:rPr>
              <a:t>COMBINACIONES DE Relaciones de Equivalencia </a:t>
            </a:r>
          </a:p>
        </p:txBody>
      </p:sp>
      <p:sp>
        <p:nvSpPr>
          <p:cNvPr id="4" name="Marcador de número de diapositiva 3"/>
          <p:cNvSpPr>
            <a:spLocks noGrp="1"/>
          </p:cNvSpPr>
          <p:nvPr>
            <p:ph type="sldNum" sz="quarter" idx="12"/>
          </p:nvPr>
        </p:nvSpPr>
        <p:spPr/>
        <p:txBody>
          <a:bodyPr/>
          <a:lstStyle/>
          <a:p>
            <a:fld id="{5E3E23BA-6E79-2442-BA73-D218A5E297C3}" type="slidenum">
              <a:rPr lang="en-US" sz="1800" smtClean="0"/>
              <a:t>88</a:t>
            </a:fld>
            <a:endParaRPr lang="en-US" sz="1800"/>
          </a:p>
        </p:txBody>
      </p:sp>
      <mc:AlternateContent xmlns:mc="http://schemas.openxmlformats.org/markup-compatibility/2006" xmlns:a14="http://schemas.microsoft.com/office/drawing/2010/main">
        <mc:Choice Requires="a14">
          <p:sp>
            <p:nvSpPr>
              <p:cNvPr id="11" name="CuadroTexto 10"/>
              <p:cNvSpPr txBox="1"/>
              <p:nvPr/>
            </p:nvSpPr>
            <p:spPr>
              <a:xfrm>
                <a:off x="2071322" y="4991419"/>
                <a:ext cx="1898597" cy="29841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CO" i="1" smtClean="0">
                              <a:solidFill>
                                <a:schemeClr val="accent6"/>
                              </a:solidFill>
                              <a:latin typeface="Cambria Math" panose="02040503050406030204" pitchFamily="18" charset="0"/>
                            </a:rPr>
                          </m:ctrlPr>
                        </m:sSubPr>
                        <m:e>
                          <m:r>
                            <a:rPr lang="es-CO" i="1">
                              <a:solidFill>
                                <a:schemeClr val="accent6"/>
                              </a:solidFill>
                              <a:latin typeface="Cambria Math" panose="02040503050406030204" pitchFamily="18" charset="0"/>
                            </a:rPr>
                            <m:t>𝑉</m:t>
                          </m:r>
                        </m:e>
                        <m:sub>
                          <m:r>
                            <a:rPr lang="es-ES" b="0" i="1" smtClean="0">
                              <a:solidFill>
                                <a:schemeClr val="accent6"/>
                              </a:solidFill>
                              <a:latin typeface="Cambria Math" panose="02040503050406030204" pitchFamily="18" charset="0"/>
                            </a:rPr>
                            <m:t>𝑝</m:t>
                          </m:r>
                          <m:d>
                            <m:dPr>
                              <m:ctrlPr>
                                <a:rPr lang="es-CO" i="1">
                                  <a:solidFill>
                                    <a:schemeClr val="accent6"/>
                                  </a:solidFill>
                                  <a:latin typeface="Cambria Math" panose="02040503050406030204" pitchFamily="18" charset="0"/>
                                </a:rPr>
                              </m:ctrlPr>
                            </m:dPr>
                            <m:e>
                              <m:r>
                                <a:rPr lang="es-CO" i="1">
                                  <a:solidFill>
                                    <a:schemeClr val="accent6"/>
                                  </a:solidFill>
                                  <a:latin typeface="Cambria Math" panose="02040503050406030204" pitchFamily="18" charset="0"/>
                                </a:rPr>
                                <m:t>0</m:t>
                              </m:r>
                            </m:e>
                          </m:d>
                        </m:sub>
                      </m:sSub>
                      <m:r>
                        <a:rPr lang="es-CO" i="1">
                          <a:solidFill>
                            <a:schemeClr val="accent6"/>
                          </a:solidFill>
                          <a:latin typeface="Cambria Math" panose="02040503050406030204" pitchFamily="18" charset="0"/>
                        </a:rPr>
                        <m:t>(200;10%;3)</m:t>
                      </m:r>
                    </m:oMath>
                  </m:oMathPara>
                </a14:m>
                <a:endParaRPr lang="es-CO" dirty="0">
                  <a:solidFill>
                    <a:schemeClr val="accent6"/>
                  </a:solidFill>
                </a:endParaRPr>
              </a:p>
            </p:txBody>
          </p:sp>
        </mc:Choice>
        <mc:Fallback xmlns="">
          <p:sp>
            <p:nvSpPr>
              <p:cNvPr id="11" name="CuadroTexto 10"/>
              <p:cNvSpPr txBox="1">
                <a:spLocks noRot="1" noChangeAspect="1" noMove="1" noResize="1" noEditPoints="1" noAdjustHandles="1" noChangeArrowheads="1" noChangeShapeType="1" noTextEdit="1"/>
              </p:cNvSpPr>
              <p:nvPr/>
            </p:nvSpPr>
            <p:spPr>
              <a:xfrm>
                <a:off x="2071322" y="4991419"/>
                <a:ext cx="1898597" cy="298415"/>
              </a:xfrm>
              <a:prstGeom prst="rect">
                <a:avLst/>
              </a:prstGeom>
              <a:blipFill>
                <a:blip r:embed="rId3"/>
                <a:stretch>
                  <a:fillRect l="-2667" t="-4167" r="-4000" b="-25000"/>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23" name="CuadroTexto 22"/>
              <p:cNvSpPr txBox="1"/>
              <p:nvPr/>
            </p:nvSpPr>
            <p:spPr>
              <a:xfrm>
                <a:off x="4317343" y="4964241"/>
                <a:ext cx="2057486" cy="29841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CO" i="1" smtClean="0">
                              <a:solidFill>
                                <a:schemeClr val="accent3">
                                  <a:lumMod val="75000"/>
                                </a:schemeClr>
                              </a:solidFill>
                              <a:latin typeface="Cambria Math" panose="02040503050406030204" pitchFamily="18" charset="0"/>
                            </a:rPr>
                          </m:ctrlPr>
                        </m:sSubPr>
                        <m:e>
                          <m:r>
                            <a:rPr lang="es-CO" i="1">
                              <a:solidFill>
                                <a:schemeClr val="accent3">
                                  <a:lumMod val="75000"/>
                                </a:schemeClr>
                              </a:solidFill>
                              <a:latin typeface="Cambria Math" panose="02040503050406030204" pitchFamily="18" charset="0"/>
                            </a:rPr>
                            <m:t>𝑉</m:t>
                          </m:r>
                          <m:r>
                            <a:rPr lang="es-CO" i="1">
                              <a:solidFill>
                                <a:schemeClr val="accent3">
                                  <a:lumMod val="75000"/>
                                </a:schemeClr>
                              </a:solidFill>
                              <a:latin typeface="Cambria Math" panose="02040503050406030204" pitchFamily="18" charset="0"/>
                            </a:rPr>
                            <m:t>1</m:t>
                          </m:r>
                        </m:e>
                        <m:sub>
                          <m:r>
                            <a:rPr lang="es-ES" b="0" i="1" smtClean="0">
                              <a:solidFill>
                                <a:schemeClr val="accent3">
                                  <a:lumMod val="75000"/>
                                </a:schemeClr>
                              </a:solidFill>
                              <a:latin typeface="Cambria Math" panose="02040503050406030204" pitchFamily="18" charset="0"/>
                            </a:rPr>
                            <m:t>𝑝</m:t>
                          </m:r>
                          <m:d>
                            <m:dPr>
                              <m:ctrlPr>
                                <a:rPr lang="es-CO" i="1">
                                  <a:solidFill>
                                    <a:schemeClr val="accent3">
                                      <a:lumMod val="75000"/>
                                    </a:schemeClr>
                                  </a:solidFill>
                                  <a:latin typeface="Cambria Math" panose="02040503050406030204" pitchFamily="18" charset="0"/>
                                </a:rPr>
                              </m:ctrlPr>
                            </m:dPr>
                            <m:e>
                              <m:r>
                                <a:rPr lang="es-CO" i="1">
                                  <a:solidFill>
                                    <a:schemeClr val="accent3">
                                      <a:lumMod val="75000"/>
                                    </a:schemeClr>
                                  </a:solidFill>
                                  <a:latin typeface="Cambria Math" panose="02040503050406030204" pitchFamily="18" charset="0"/>
                                </a:rPr>
                                <m:t>3</m:t>
                              </m:r>
                            </m:e>
                          </m:d>
                        </m:sub>
                      </m:sSub>
                      <m:r>
                        <a:rPr lang="es-CO" i="1">
                          <a:solidFill>
                            <a:schemeClr val="accent3">
                              <a:lumMod val="75000"/>
                            </a:schemeClr>
                          </a:solidFill>
                          <a:latin typeface="Cambria Math" panose="02040503050406030204" pitchFamily="18" charset="0"/>
                        </a:rPr>
                        <m:t>(200;10%;7)</m:t>
                      </m:r>
                    </m:oMath>
                  </m:oMathPara>
                </a14:m>
                <a:endParaRPr lang="es-CO" dirty="0">
                  <a:solidFill>
                    <a:schemeClr val="accent3">
                      <a:lumMod val="75000"/>
                    </a:schemeClr>
                  </a:solidFill>
                </a:endParaRPr>
              </a:p>
            </p:txBody>
          </p:sp>
        </mc:Choice>
        <mc:Fallback xmlns="">
          <p:sp>
            <p:nvSpPr>
              <p:cNvPr id="23" name="CuadroTexto 22"/>
              <p:cNvSpPr txBox="1">
                <a:spLocks noRot="1" noChangeAspect="1" noMove="1" noResize="1" noEditPoints="1" noAdjustHandles="1" noChangeArrowheads="1" noChangeShapeType="1" noTextEdit="1"/>
              </p:cNvSpPr>
              <p:nvPr/>
            </p:nvSpPr>
            <p:spPr>
              <a:xfrm>
                <a:off x="4317343" y="4964241"/>
                <a:ext cx="2057486" cy="298415"/>
              </a:xfrm>
              <a:prstGeom prst="rect">
                <a:avLst/>
              </a:prstGeom>
              <a:blipFill>
                <a:blip r:embed="rId4"/>
                <a:stretch>
                  <a:fillRect l="-1829" r="-3049" b="-24000"/>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24" name="CuadroTexto 23"/>
              <p:cNvSpPr txBox="1"/>
              <p:nvPr/>
            </p:nvSpPr>
            <p:spPr>
              <a:xfrm>
                <a:off x="4317343" y="5695685"/>
                <a:ext cx="1929246" cy="29841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CO" i="1" smtClean="0">
                              <a:solidFill>
                                <a:schemeClr val="accent3">
                                  <a:lumMod val="75000"/>
                                </a:schemeClr>
                              </a:solidFill>
                              <a:latin typeface="Cambria Math" panose="02040503050406030204" pitchFamily="18" charset="0"/>
                            </a:rPr>
                          </m:ctrlPr>
                        </m:sSubPr>
                        <m:e>
                          <m:r>
                            <a:rPr lang="es-CO" i="1">
                              <a:solidFill>
                                <a:schemeClr val="accent3">
                                  <a:lumMod val="75000"/>
                                </a:schemeClr>
                              </a:solidFill>
                              <a:latin typeface="Cambria Math" panose="02040503050406030204" pitchFamily="18" charset="0"/>
                            </a:rPr>
                            <m:t>𝑉</m:t>
                          </m:r>
                          <m:r>
                            <a:rPr lang="es-CO" i="1">
                              <a:solidFill>
                                <a:schemeClr val="accent3">
                                  <a:lumMod val="75000"/>
                                </a:schemeClr>
                              </a:solidFill>
                              <a:latin typeface="Cambria Math" panose="02040503050406030204" pitchFamily="18" charset="0"/>
                            </a:rPr>
                            <m:t>2</m:t>
                          </m:r>
                        </m:e>
                        <m:sub>
                          <m:r>
                            <a:rPr lang="es-ES" b="0" i="1" smtClean="0">
                              <a:solidFill>
                                <a:schemeClr val="accent3">
                                  <a:lumMod val="75000"/>
                                </a:schemeClr>
                              </a:solidFill>
                              <a:latin typeface="Cambria Math" panose="02040503050406030204" pitchFamily="18" charset="0"/>
                            </a:rPr>
                            <m:t>𝑝</m:t>
                          </m:r>
                          <m:d>
                            <m:dPr>
                              <m:ctrlPr>
                                <a:rPr lang="es-CO" i="1">
                                  <a:solidFill>
                                    <a:schemeClr val="accent3">
                                      <a:lumMod val="75000"/>
                                    </a:schemeClr>
                                  </a:solidFill>
                                  <a:latin typeface="Cambria Math" panose="02040503050406030204" pitchFamily="18" charset="0"/>
                                </a:rPr>
                              </m:ctrlPr>
                            </m:dPr>
                            <m:e>
                              <m:r>
                                <a:rPr lang="es-CO" i="1">
                                  <a:solidFill>
                                    <a:schemeClr val="accent3">
                                      <a:lumMod val="75000"/>
                                    </a:schemeClr>
                                  </a:solidFill>
                                  <a:latin typeface="Cambria Math" panose="02040503050406030204" pitchFamily="18" charset="0"/>
                                </a:rPr>
                                <m:t>3</m:t>
                              </m:r>
                            </m:e>
                          </m:d>
                        </m:sub>
                      </m:sSub>
                      <m:r>
                        <a:rPr lang="es-CO" i="1">
                          <a:solidFill>
                            <a:schemeClr val="accent3">
                              <a:lumMod val="75000"/>
                            </a:schemeClr>
                          </a:solidFill>
                          <a:latin typeface="Cambria Math" panose="02040503050406030204" pitchFamily="18" charset="0"/>
                        </a:rPr>
                        <m:t>(10;10%;7)</m:t>
                      </m:r>
                    </m:oMath>
                  </m:oMathPara>
                </a14:m>
                <a:endParaRPr lang="es-CO" dirty="0">
                  <a:solidFill>
                    <a:schemeClr val="accent3">
                      <a:lumMod val="75000"/>
                    </a:schemeClr>
                  </a:solidFill>
                </a:endParaRPr>
              </a:p>
            </p:txBody>
          </p:sp>
        </mc:Choice>
        <mc:Fallback xmlns="">
          <p:sp>
            <p:nvSpPr>
              <p:cNvPr id="24" name="CuadroTexto 23"/>
              <p:cNvSpPr txBox="1">
                <a:spLocks noRot="1" noChangeAspect="1" noMove="1" noResize="1" noEditPoints="1" noAdjustHandles="1" noChangeArrowheads="1" noChangeShapeType="1" noTextEdit="1"/>
              </p:cNvSpPr>
              <p:nvPr/>
            </p:nvSpPr>
            <p:spPr>
              <a:xfrm>
                <a:off x="4317343" y="5695685"/>
                <a:ext cx="1929246" cy="298415"/>
              </a:xfrm>
              <a:prstGeom prst="rect">
                <a:avLst/>
              </a:prstGeom>
              <a:blipFill>
                <a:blip r:embed="rId5"/>
                <a:stretch>
                  <a:fillRect l="-1948" t="-4167" r="-3247" b="-29167"/>
                </a:stretch>
              </a:blipFill>
            </p:spPr>
            <p:txBody>
              <a:bodyPr/>
              <a:lstStyle/>
              <a:p>
                <a:r>
                  <a:rPr lang="es-CO">
                    <a:noFill/>
                  </a:rPr>
                  <a:t> </a:t>
                </a:r>
              </a:p>
            </p:txBody>
          </p:sp>
        </mc:Fallback>
      </mc:AlternateContent>
      <p:sp>
        <p:nvSpPr>
          <p:cNvPr id="15" name="CuadroTexto 14"/>
          <p:cNvSpPr txBox="1"/>
          <p:nvPr/>
        </p:nvSpPr>
        <p:spPr>
          <a:xfrm>
            <a:off x="2837296" y="4652803"/>
            <a:ext cx="1850946" cy="369332"/>
          </a:xfrm>
          <a:prstGeom prst="rect">
            <a:avLst/>
          </a:prstGeom>
          <a:noFill/>
        </p:spPr>
        <p:txBody>
          <a:bodyPr wrap="square" rtlCol="0">
            <a:spAutoFit/>
          </a:bodyPr>
          <a:lstStyle/>
          <a:p>
            <a:r>
              <a:rPr lang="es-CO" b="1">
                <a:solidFill>
                  <a:schemeClr val="accent6"/>
                </a:solidFill>
                <a:latin typeface="Century Gothic" panose="020B0502020202020204" pitchFamily="34" charset="0"/>
              </a:rPr>
              <a:t>A      i     n</a:t>
            </a:r>
          </a:p>
        </p:txBody>
      </p:sp>
      <p:sp>
        <p:nvSpPr>
          <p:cNvPr id="25" name="CuadroTexto 24"/>
          <p:cNvSpPr txBox="1"/>
          <p:nvPr/>
        </p:nvSpPr>
        <p:spPr>
          <a:xfrm>
            <a:off x="5054474" y="4673515"/>
            <a:ext cx="1850946" cy="369332"/>
          </a:xfrm>
          <a:prstGeom prst="rect">
            <a:avLst/>
          </a:prstGeom>
          <a:noFill/>
        </p:spPr>
        <p:txBody>
          <a:bodyPr wrap="square" rtlCol="0">
            <a:spAutoFit/>
          </a:bodyPr>
          <a:lstStyle/>
          <a:p>
            <a:r>
              <a:rPr lang="es-CO" b="1">
                <a:solidFill>
                  <a:schemeClr val="accent3">
                    <a:lumMod val="75000"/>
                  </a:schemeClr>
                </a:solidFill>
                <a:latin typeface="Century Gothic" panose="020B0502020202020204" pitchFamily="34" charset="0"/>
              </a:rPr>
              <a:t>A      i     n</a:t>
            </a:r>
          </a:p>
        </p:txBody>
      </p:sp>
      <p:sp>
        <p:nvSpPr>
          <p:cNvPr id="26" name="CuadroTexto 25"/>
          <p:cNvSpPr txBox="1"/>
          <p:nvPr/>
        </p:nvSpPr>
        <p:spPr>
          <a:xfrm>
            <a:off x="5024976" y="5363983"/>
            <a:ext cx="1850946" cy="369332"/>
          </a:xfrm>
          <a:prstGeom prst="rect">
            <a:avLst/>
          </a:prstGeom>
          <a:noFill/>
        </p:spPr>
        <p:txBody>
          <a:bodyPr wrap="square" rtlCol="0">
            <a:spAutoFit/>
          </a:bodyPr>
          <a:lstStyle/>
          <a:p>
            <a:r>
              <a:rPr lang="es-CO" b="1">
                <a:solidFill>
                  <a:schemeClr val="accent3">
                    <a:lumMod val="75000"/>
                  </a:schemeClr>
                </a:solidFill>
                <a:latin typeface="Century Gothic" panose="020B0502020202020204" pitchFamily="34" charset="0"/>
              </a:rPr>
              <a:t>G    i     n</a:t>
            </a:r>
          </a:p>
        </p:txBody>
      </p:sp>
      <mc:AlternateContent xmlns:mc="http://schemas.openxmlformats.org/markup-compatibility/2006" xmlns:a14="http://schemas.microsoft.com/office/drawing/2010/main">
        <mc:Choice Requires="a14">
          <p:sp>
            <p:nvSpPr>
              <p:cNvPr id="27" name="Rectángulo 26"/>
              <p:cNvSpPr/>
              <p:nvPr/>
            </p:nvSpPr>
            <p:spPr>
              <a:xfrm>
                <a:off x="4317345" y="6183381"/>
                <a:ext cx="2072170" cy="537519"/>
              </a:xfrm>
              <a:prstGeom prst="rect">
                <a:avLst/>
              </a:prstGeom>
            </p:spPr>
            <p:txBody>
              <a:bodyPr wrap="none">
                <a:spAutoFit/>
              </a:bodyPr>
              <a:lstStyle/>
              <a:p>
                <a14:m>
                  <m:oMath xmlns:m="http://schemas.openxmlformats.org/officeDocument/2006/math">
                    <m:sSub>
                      <m:sSubPr>
                        <m:ctrlPr>
                          <a:rPr lang="es-CO" i="1" smtClean="0">
                            <a:solidFill>
                              <a:schemeClr val="accent3">
                                <a:lumMod val="75000"/>
                              </a:schemeClr>
                            </a:solidFill>
                            <a:latin typeface="Cambria Math" panose="02040503050406030204" pitchFamily="18" charset="0"/>
                          </a:rPr>
                        </m:ctrlPr>
                      </m:sSubPr>
                      <m:e>
                        <m:r>
                          <a:rPr lang="es-CO" i="1">
                            <a:solidFill>
                              <a:schemeClr val="accent3">
                                <a:lumMod val="75000"/>
                              </a:schemeClr>
                            </a:solidFill>
                            <a:latin typeface="Cambria Math" panose="02040503050406030204" pitchFamily="18" charset="0"/>
                          </a:rPr>
                          <m:t>𝑉</m:t>
                        </m:r>
                      </m:e>
                      <m:sub>
                        <m:r>
                          <a:rPr lang="es-ES" b="0" i="1" smtClean="0">
                            <a:solidFill>
                              <a:schemeClr val="accent3">
                                <a:lumMod val="75000"/>
                              </a:schemeClr>
                            </a:solidFill>
                            <a:latin typeface="Cambria Math" panose="02040503050406030204" pitchFamily="18" charset="0"/>
                          </a:rPr>
                          <m:t>𝑝</m:t>
                        </m:r>
                        <m:d>
                          <m:dPr>
                            <m:ctrlPr>
                              <a:rPr lang="es-CO" i="1">
                                <a:solidFill>
                                  <a:schemeClr val="accent3">
                                    <a:lumMod val="75000"/>
                                  </a:schemeClr>
                                </a:solidFill>
                                <a:latin typeface="Cambria Math" panose="02040503050406030204" pitchFamily="18" charset="0"/>
                              </a:rPr>
                            </m:ctrlPr>
                          </m:dPr>
                          <m:e>
                            <m:r>
                              <a:rPr lang="es-CO" i="1">
                                <a:solidFill>
                                  <a:schemeClr val="accent3">
                                    <a:lumMod val="75000"/>
                                  </a:schemeClr>
                                </a:solidFill>
                                <a:latin typeface="Cambria Math" panose="02040503050406030204" pitchFamily="18" charset="0"/>
                              </a:rPr>
                              <m:t>0</m:t>
                            </m:r>
                          </m:e>
                        </m:d>
                      </m:sub>
                    </m:sSub>
                    <m:r>
                      <a:rPr lang="es-CO" i="1">
                        <a:solidFill>
                          <a:schemeClr val="accent3">
                            <a:lumMod val="75000"/>
                          </a:schemeClr>
                        </a:solidFill>
                        <a:latin typeface="Cambria Math" panose="02040503050406030204" pitchFamily="18" charset="0"/>
                      </a:rPr>
                      <m:t>=</m:t>
                    </m:r>
                  </m:oMath>
                </a14:m>
                <a:r>
                  <a:rPr lang="es-CO" dirty="0">
                    <a:solidFill>
                      <a:schemeClr val="accent3">
                        <a:lumMod val="75000"/>
                      </a:schemeClr>
                    </a:solidFill>
                  </a:rPr>
                  <a:t> </a:t>
                </a:r>
                <a14:m>
                  <m:oMath xmlns:m="http://schemas.openxmlformats.org/officeDocument/2006/math">
                    <m:f>
                      <m:fPr>
                        <m:ctrlPr>
                          <a:rPr lang="es-CO" i="1" dirty="0">
                            <a:solidFill>
                              <a:schemeClr val="accent3">
                                <a:lumMod val="75000"/>
                              </a:schemeClr>
                            </a:solidFill>
                            <a:latin typeface="Cambria Math" panose="02040503050406030204" pitchFamily="18" charset="0"/>
                          </a:rPr>
                        </m:ctrlPr>
                      </m:fPr>
                      <m:num>
                        <m:sSub>
                          <m:sSubPr>
                            <m:ctrlPr>
                              <a:rPr lang="es-CO" i="1">
                                <a:solidFill>
                                  <a:schemeClr val="accent3">
                                    <a:lumMod val="75000"/>
                                  </a:schemeClr>
                                </a:solidFill>
                                <a:latin typeface="Cambria Math" panose="02040503050406030204" pitchFamily="18" charset="0"/>
                              </a:rPr>
                            </m:ctrlPr>
                          </m:sSubPr>
                          <m:e>
                            <m:r>
                              <a:rPr lang="es-CO" i="1">
                                <a:solidFill>
                                  <a:schemeClr val="accent3">
                                    <a:lumMod val="75000"/>
                                  </a:schemeClr>
                                </a:solidFill>
                                <a:latin typeface="Cambria Math" panose="02040503050406030204" pitchFamily="18" charset="0"/>
                              </a:rPr>
                              <m:t>𝑉</m:t>
                            </m:r>
                            <m:r>
                              <a:rPr lang="es-CO" i="1">
                                <a:solidFill>
                                  <a:schemeClr val="accent3">
                                    <a:lumMod val="75000"/>
                                  </a:schemeClr>
                                </a:solidFill>
                                <a:latin typeface="Cambria Math" panose="02040503050406030204" pitchFamily="18" charset="0"/>
                              </a:rPr>
                              <m:t>1</m:t>
                            </m:r>
                          </m:e>
                          <m:sub>
                            <m:r>
                              <a:rPr lang="es-ES" b="0" i="1" smtClean="0">
                                <a:solidFill>
                                  <a:schemeClr val="accent3">
                                    <a:lumMod val="75000"/>
                                  </a:schemeClr>
                                </a:solidFill>
                                <a:latin typeface="Cambria Math" panose="02040503050406030204" pitchFamily="18" charset="0"/>
                              </a:rPr>
                              <m:t>𝑝</m:t>
                            </m:r>
                            <m:d>
                              <m:dPr>
                                <m:ctrlPr>
                                  <a:rPr lang="es-CO" i="1">
                                    <a:solidFill>
                                      <a:schemeClr val="accent3">
                                        <a:lumMod val="75000"/>
                                      </a:schemeClr>
                                    </a:solidFill>
                                    <a:latin typeface="Cambria Math" panose="02040503050406030204" pitchFamily="18" charset="0"/>
                                  </a:rPr>
                                </m:ctrlPr>
                              </m:dPr>
                              <m:e>
                                <m:r>
                                  <a:rPr lang="es-CO" i="1">
                                    <a:solidFill>
                                      <a:schemeClr val="accent3">
                                        <a:lumMod val="75000"/>
                                      </a:schemeClr>
                                    </a:solidFill>
                                    <a:latin typeface="Cambria Math" panose="02040503050406030204" pitchFamily="18" charset="0"/>
                                  </a:rPr>
                                  <m:t>3</m:t>
                                </m:r>
                              </m:e>
                            </m:d>
                            <m:r>
                              <a:rPr lang="es-CO" i="1">
                                <a:solidFill>
                                  <a:schemeClr val="accent3">
                                    <a:lumMod val="75000"/>
                                  </a:schemeClr>
                                </a:solidFill>
                                <a:latin typeface="Cambria Math" panose="02040503050406030204" pitchFamily="18" charset="0"/>
                              </a:rPr>
                              <m:t>+</m:t>
                            </m:r>
                          </m:sub>
                        </m:sSub>
                        <m:sSub>
                          <m:sSubPr>
                            <m:ctrlPr>
                              <a:rPr lang="es-CO" i="1">
                                <a:solidFill>
                                  <a:schemeClr val="accent3">
                                    <a:lumMod val="75000"/>
                                  </a:schemeClr>
                                </a:solidFill>
                                <a:latin typeface="Cambria Math" panose="02040503050406030204" pitchFamily="18" charset="0"/>
                              </a:rPr>
                            </m:ctrlPr>
                          </m:sSubPr>
                          <m:e>
                            <m:r>
                              <a:rPr lang="es-CO" i="1">
                                <a:solidFill>
                                  <a:schemeClr val="accent3">
                                    <a:lumMod val="75000"/>
                                  </a:schemeClr>
                                </a:solidFill>
                                <a:latin typeface="Cambria Math" panose="02040503050406030204" pitchFamily="18" charset="0"/>
                              </a:rPr>
                              <m:t>𝑉</m:t>
                            </m:r>
                            <m:r>
                              <a:rPr lang="es-CO" i="1">
                                <a:solidFill>
                                  <a:schemeClr val="accent3">
                                    <a:lumMod val="75000"/>
                                  </a:schemeClr>
                                </a:solidFill>
                                <a:latin typeface="Cambria Math" panose="02040503050406030204" pitchFamily="18" charset="0"/>
                              </a:rPr>
                              <m:t>2</m:t>
                            </m:r>
                          </m:e>
                          <m:sub>
                            <m:r>
                              <a:rPr lang="es-ES" b="0" i="1" smtClean="0">
                                <a:solidFill>
                                  <a:schemeClr val="accent3">
                                    <a:lumMod val="75000"/>
                                  </a:schemeClr>
                                </a:solidFill>
                                <a:latin typeface="Cambria Math" panose="02040503050406030204" pitchFamily="18" charset="0"/>
                              </a:rPr>
                              <m:t>𝑝</m:t>
                            </m:r>
                            <m:d>
                              <m:dPr>
                                <m:ctrlPr>
                                  <a:rPr lang="es-CO" i="1">
                                    <a:solidFill>
                                      <a:schemeClr val="accent3">
                                        <a:lumMod val="75000"/>
                                      </a:schemeClr>
                                    </a:solidFill>
                                    <a:latin typeface="Cambria Math" panose="02040503050406030204" pitchFamily="18" charset="0"/>
                                  </a:rPr>
                                </m:ctrlPr>
                              </m:dPr>
                              <m:e>
                                <m:r>
                                  <a:rPr lang="es-CO" i="1">
                                    <a:solidFill>
                                      <a:schemeClr val="accent3">
                                        <a:lumMod val="75000"/>
                                      </a:schemeClr>
                                    </a:solidFill>
                                    <a:latin typeface="Cambria Math" panose="02040503050406030204" pitchFamily="18" charset="0"/>
                                  </a:rPr>
                                  <m:t>3</m:t>
                                </m:r>
                              </m:e>
                            </m:d>
                          </m:sub>
                        </m:sSub>
                      </m:num>
                      <m:den>
                        <m:sSup>
                          <m:sSupPr>
                            <m:ctrlPr>
                              <a:rPr lang="es-CO" i="1" dirty="0">
                                <a:solidFill>
                                  <a:schemeClr val="accent3">
                                    <a:lumMod val="75000"/>
                                  </a:schemeClr>
                                </a:solidFill>
                                <a:latin typeface="Cambria Math" panose="02040503050406030204" pitchFamily="18" charset="0"/>
                              </a:rPr>
                            </m:ctrlPr>
                          </m:sSupPr>
                          <m:e>
                            <m:d>
                              <m:dPr>
                                <m:ctrlPr>
                                  <a:rPr lang="es-CO" i="1" dirty="0">
                                    <a:solidFill>
                                      <a:schemeClr val="accent3">
                                        <a:lumMod val="75000"/>
                                      </a:schemeClr>
                                    </a:solidFill>
                                    <a:latin typeface="Cambria Math" panose="02040503050406030204" pitchFamily="18" charset="0"/>
                                  </a:rPr>
                                </m:ctrlPr>
                              </m:dPr>
                              <m:e>
                                <m:r>
                                  <a:rPr lang="es-CO" i="1" dirty="0">
                                    <a:solidFill>
                                      <a:schemeClr val="accent3">
                                        <a:lumMod val="75000"/>
                                      </a:schemeClr>
                                    </a:solidFill>
                                    <a:latin typeface="Cambria Math" panose="02040503050406030204" pitchFamily="18" charset="0"/>
                                  </a:rPr>
                                  <m:t>1+10%</m:t>
                                </m:r>
                              </m:e>
                            </m:d>
                          </m:e>
                          <m:sup>
                            <m:r>
                              <a:rPr lang="es-CO" i="1" dirty="0">
                                <a:solidFill>
                                  <a:schemeClr val="accent3">
                                    <a:lumMod val="75000"/>
                                  </a:schemeClr>
                                </a:solidFill>
                                <a:latin typeface="Cambria Math" panose="02040503050406030204" pitchFamily="18" charset="0"/>
                              </a:rPr>
                              <m:t>3</m:t>
                            </m:r>
                          </m:sup>
                        </m:sSup>
                      </m:den>
                    </m:f>
                  </m:oMath>
                </a14:m>
                <a:endParaRPr lang="es-CO" dirty="0">
                  <a:solidFill>
                    <a:schemeClr val="accent3">
                      <a:lumMod val="75000"/>
                    </a:schemeClr>
                  </a:solidFill>
                </a:endParaRPr>
              </a:p>
            </p:txBody>
          </p:sp>
        </mc:Choice>
        <mc:Fallback xmlns="">
          <p:sp>
            <p:nvSpPr>
              <p:cNvPr id="27" name="Rectángulo 26"/>
              <p:cNvSpPr>
                <a:spLocks noRot="1" noChangeAspect="1" noMove="1" noResize="1" noEditPoints="1" noAdjustHandles="1" noChangeArrowheads="1" noChangeShapeType="1" noTextEdit="1"/>
              </p:cNvSpPr>
              <p:nvPr/>
            </p:nvSpPr>
            <p:spPr>
              <a:xfrm>
                <a:off x="4317345" y="6183381"/>
                <a:ext cx="2072170" cy="537519"/>
              </a:xfrm>
              <a:prstGeom prst="rect">
                <a:avLst/>
              </a:prstGeom>
              <a:blipFill>
                <a:blip r:embed="rId6"/>
                <a:stretch>
                  <a:fillRect/>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29" name="CuadroTexto 28"/>
              <p:cNvSpPr txBox="1"/>
              <p:nvPr/>
            </p:nvSpPr>
            <p:spPr>
              <a:xfrm>
                <a:off x="6666066" y="4952685"/>
                <a:ext cx="2155270" cy="29841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CO" i="1" smtClean="0">
                              <a:solidFill>
                                <a:schemeClr val="accent6">
                                  <a:lumMod val="50000"/>
                                </a:schemeClr>
                              </a:solidFill>
                              <a:latin typeface="Cambria Math" panose="02040503050406030204" pitchFamily="18" charset="0"/>
                            </a:rPr>
                          </m:ctrlPr>
                        </m:sSubPr>
                        <m:e>
                          <m:r>
                            <a:rPr lang="es-CO" i="1">
                              <a:solidFill>
                                <a:schemeClr val="accent6">
                                  <a:lumMod val="50000"/>
                                </a:schemeClr>
                              </a:solidFill>
                              <a:latin typeface="Cambria Math" panose="02040503050406030204" pitchFamily="18" charset="0"/>
                            </a:rPr>
                            <m:t>𝑉</m:t>
                          </m:r>
                          <m:r>
                            <a:rPr lang="es-CO" i="1">
                              <a:solidFill>
                                <a:schemeClr val="accent6">
                                  <a:lumMod val="50000"/>
                                </a:schemeClr>
                              </a:solidFill>
                              <a:latin typeface="Cambria Math" panose="02040503050406030204" pitchFamily="18" charset="0"/>
                            </a:rPr>
                            <m:t>1</m:t>
                          </m:r>
                        </m:e>
                        <m:sub>
                          <m:r>
                            <a:rPr lang="es-ES" b="0" i="1" smtClean="0">
                              <a:solidFill>
                                <a:schemeClr val="accent6">
                                  <a:lumMod val="50000"/>
                                </a:schemeClr>
                              </a:solidFill>
                              <a:latin typeface="Cambria Math" panose="02040503050406030204" pitchFamily="18" charset="0"/>
                            </a:rPr>
                            <m:t>𝑝</m:t>
                          </m:r>
                          <m:d>
                            <m:dPr>
                              <m:ctrlPr>
                                <a:rPr lang="es-CO" i="1">
                                  <a:solidFill>
                                    <a:schemeClr val="accent6">
                                      <a:lumMod val="50000"/>
                                    </a:schemeClr>
                                  </a:solidFill>
                                  <a:latin typeface="Cambria Math" panose="02040503050406030204" pitchFamily="18" charset="0"/>
                                </a:rPr>
                              </m:ctrlPr>
                            </m:dPr>
                            <m:e>
                              <m:r>
                                <a:rPr lang="es-CO" i="1">
                                  <a:solidFill>
                                    <a:schemeClr val="accent6">
                                      <a:lumMod val="50000"/>
                                    </a:schemeClr>
                                  </a:solidFill>
                                  <a:latin typeface="Cambria Math" panose="02040503050406030204" pitchFamily="18" charset="0"/>
                                </a:rPr>
                                <m:t>10</m:t>
                              </m:r>
                            </m:e>
                          </m:d>
                        </m:sub>
                      </m:sSub>
                      <m:r>
                        <a:rPr lang="es-CO" i="1">
                          <a:solidFill>
                            <a:schemeClr val="accent6">
                              <a:lumMod val="50000"/>
                            </a:schemeClr>
                          </a:solidFill>
                          <a:latin typeface="Cambria Math" panose="02040503050406030204" pitchFamily="18" charset="0"/>
                        </a:rPr>
                        <m:t>(255;10%;5)</m:t>
                      </m:r>
                    </m:oMath>
                  </m:oMathPara>
                </a14:m>
                <a:endParaRPr lang="es-CO" dirty="0">
                  <a:solidFill>
                    <a:schemeClr val="accent6">
                      <a:lumMod val="50000"/>
                    </a:schemeClr>
                  </a:solidFill>
                </a:endParaRPr>
              </a:p>
            </p:txBody>
          </p:sp>
        </mc:Choice>
        <mc:Fallback xmlns="">
          <p:sp>
            <p:nvSpPr>
              <p:cNvPr id="29" name="CuadroTexto 28"/>
              <p:cNvSpPr txBox="1">
                <a:spLocks noRot="1" noChangeAspect="1" noMove="1" noResize="1" noEditPoints="1" noAdjustHandles="1" noChangeArrowheads="1" noChangeShapeType="1" noTextEdit="1"/>
              </p:cNvSpPr>
              <p:nvPr/>
            </p:nvSpPr>
            <p:spPr>
              <a:xfrm>
                <a:off x="6666066" y="4952685"/>
                <a:ext cx="2155270" cy="298415"/>
              </a:xfrm>
              <a:prstGeom prst="rect">
                <a:avLst/>
              </a:prstGeom>
              <a:blipFill>
                <a:blip r:embed="rId7"/>
                <a:stretch>
                  <a:fillRect l="-2353" r="-2941" b="-24000"/>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30" name="CuadroTexto 29"/>
              <p:cNvSpPr txBox="1"/>
              <p:nvPr/>
            </p:nvSpPr>
            <p:spPr>
              <a:xfrm>
                <a:off x="6666066" y="5684129"/>
                <a:ext cx="1898790" cy="29841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CO" i="1" smtClean="0">
                              <a:solidFill>
                                <a:schemeClr val="accent6">
                                  <a:lumMod val="50000"/>
                                </a:schemeClr>
                              </a:solidFill>
                              <a:latin typeface="Cambria Math" panose="02040503050406030204" pitchFamily="18" charset="0"/>
                            </a:rPr>
                          </m:ctrlPr>
                        </m:sSubPr>
                        <m:e>
                          <m:r>
                            <a:rPr lang="es-CO" i="1">
                              <a:solidFill>
                                <a:schemeClr val="accent6">
                                  <a:lumMod val="50000"/>
                                </a:schemeClr>
                              </a:solidFill>
                              <a:latin typeface="Cambria Math" panose="02040503050406030204" pitchFamily="18" charset="0"/>
                            </a:rPr>
                            <m:t>𝑉</m:t>
                          </m:r>
                          <m:r>
                            <a:rPr lang="es-CO" i="1">
                              <a:solidFill>
                                <a:schemeClr val="accent6">
                                  <a:lumMod val="50000"/>
                                </a:schemeClr>
                              </a:solidFill>
                              <a:latin typeface="Cambria Math" panose="02040503050406030204" pitchFamily="18" charset="0"/>
                            </a:rPr>
                            <m:t>2</m:t>
                          </m:r>
                        </m:e>
                        <m:sub>
                          <m:r>
                            <a:rPr lang="es-ES" b="0" i="1" smtClean="0">
                              <a:solidFill>
                                <a:schemeClr val="accent6">
                                  <a:lumMod val="50000"/>
                                </a:schemeClr>
                              </a:solidFill>
                              <a:latin typeface="Cambria Math" panose="02040503050406030204" pitchFamily="18" charset="0"/>
                            </a:rPr>
                            <m:t>𝑝</m:t>
                          </m:r>
                          <m:d>
                            <m:dPr>
                              <m:ctrlPr>
                                <a:rPr lang="es-CO" i="1">
                                  <a:solidFill>
                                    <a:schemeClr val="accent6">
                                      <a:lumMod val="50000"/>
                                    </a:schemeClr>
                                  </a:solidFill>
                                  <a:latin typeface="Cambria Math" panose="02040503050406030204" pitchFamily="18" charset="0"/>
                                </a:rPr>
                              </m:ctrlPr>
                            </m:dPr>
                            <m:e>
                              <m:r>
                                <a:rPr lang="es-CO" i="1">
                                  <a:solidFill>
                                    <a:schemeClr val="accent6">
                                      <a:lumMod val="50000"/>
                                    </a:schemeClr>
                                  </a:solidFill>
                                  <a:latin typeface="Cambria Math" panose="02040503050406030204" pitchFamily="18" charset="0"/>
                                </a:rPr>
                                <m:t>10</m:t>
                              </m:r>
                            </m:e>
                          </m:d>
                        </m:sub>
                      </m:sSub>
                      <m:r>
                        <a:rPr lang="es-CO" i="1">
                          <a:solidFill>
                            <a:schemeClr val="accent6">
                              <a:lumMod val="50000"/>
                            </a:schemeClr>
                          </a:solidFill>
                          <a:latin typeface="Cambria Math" panose="02040503050406030204" pitchFamily="18" charset="0"/>
                        </a:rPr>
                        <m:t>(5;10%;5)</m:t>
                      </m:r>
                    </m:oMath>
                  </m:oMathPara>
                </a14:m>
                <a:endParaRPr lang="es-CO" dirty="0">
                  <a:solidFill>
                    <a:schemeClr val="accent6">
                      <a:lumMod val="50000"/>
                    </a:schemeClr>
                  </a:solidFill>
                </a:endParaRPr>
              </a:p>
            </p:txBody>
          </p:sp>
        </mc:Choice>
        <mc:Fallback xmlns="">
          <p:sp>
            <p:nvSpPr>
              <p:cNvPr id="30" name="CuadroTexto 29"/>
              <p:cNvSpPr txBox="1">
                <a:spLocks noRot="1" noChangeAspect="1" noMove="1" noResize="1" noEditPoints="1" noAdjustHandles="1" noChangeArrowheads="1" noChangeShapeType="1" noTextEdit="1"/>
              </p:cNvSpPr>
              <p:nvPr/>
            </p:nvSpPr>
            <p:spPr>
              <a:xfrm>
                <a:off x="6666066" y="5684129"/>
                <a:ext cx="1898790" cy="298415"/>
              </a:xfrm>
              <a:prstGeom prst="rect">
                <a:avLst/>
              </a:prstGeom>
              <a:blipFill>
                <a:blip r:embed="rId8"/>
                <a:stretch>
                  <a:fillRect l="-2667" t="-4167" r="-3333" b="-29167"/>
                </a:stretch>
              </a:blipFill>
            </p:spPr>
            <p:txBody>
              <a:bodyPr/>
              <a:lstStyle/>
              <a:p>
                <a:r>
                  <a:rPr lang="es-CO">
                    <a:noFill/>
                  </a:rPr>
                  <a:t> </a:t>
                </a:r>
              </a:p>
            </p:txBody>
          </p:sp>
        </mc:Fallback>
      </mc:AlternateContent>
      <p:sp>
        <p:nvSpPr>
          <p:cNvPr id="31" name="CuadroTexto 30"/>
          <p:cNvSpPr txBox="1"/>
          <p:nvPr/>
        </p:nvSpPr>
        <p:spPr>
          <a:xfrm>
            <a:off x="7491684" y="4676707"/>
            <a:ext cx="1850946" cy="369332"/>
          </a:xfrm>
          <a:prstGeom prst="rect">
            <a:avLst/>
          </a:prstGeom>
          <a:noFill/>
        </p:spPr>
        <p:txBody>
          <a:bodyPr wrap="square" rtlCol="0">
            <a:spAutoFit/>
          </a:bodyPr>
          <a:lstStyle/>
          <a:p>
            <a:r>
              <a:rPr lang="es-CO" b="1">
                <a:solidFill>
                  <a:schemeClr val="accent6">
                    <a:lumMod val="50000"/>
                  </a:schemeClr>
                </a:solidFill>
                <a:latin typeface="Century Gothic" panose="020B0502020202020204" pitchFamily="34" charset="0"/>
              </a:rPr>
              <a:t>A      i     n</a:t>
            </a:r>
          </a:p>
        </p:txBody>
      </p:sp>
      <p:sp>
        <p:nvSpPr>
          <p:cNvPr id="32" name="CuadroTexto 31"/>
          <p:cNvSpPr txBox="1"/>
          <p:nvPr/>
        </p:nvSpPr>
        <p:spPr>
          <a:xfrm>
            <a:off x="7358950" y="5352427"/>
            <a:ext cx="1850946" cy="369332"/>
          </a:xfrm>
          <a:prstGeom prst="rect">
            <a:avLst/>
          </a:prstGeom>
          <a:noFill/>
        </p:spPr>
        <p:txBody>
          <a:bodyPr wrap="square" rtlCol="0">
            <a:spAutoFit/>
          </a:bodyPr>
          <a:lstStyle/>
          <a:p>
            <a:r>
              <a:rPr lang="es-CO" b="1">
                <a:solidFill>
                  <a:schemeClr val="accent6">
                    <a:lumMod val="50000"/>
                  </a:schemeClr>
                </a:solidFill>
                <a:latin typeface="Century Gothic" panose="020B0502020202020204" pitchFamily="34" charset="0"/>
              </a:rPr>
              <a:t>G    i     n</a:t>
            </a:r>
          </a:p>
        </p:txBody>
      </p:sp>
      <mc:AlternateContent xmlns:mc="http://schemas.openxmlformats.org/markup-compatibility/2006" xmlns:a14="http://schemas.microsoft.com/office/drawing/2010/main">
        <mc:Choice Requires="a14">
          <p:sp>
            <p:nvSpPr>
              <p:cNvPr id="33" name="Rectángulo 32"/>
              <p:cNvSpPr/>
              <p:nvPr/>
            </p:nvSpPr>
            <p:spPr>
              <a:xfrm>
                <a:off x="6666067" y="6171825"/>
                <a:ext cx="2235677" cy="537519"/>
              </a:xfrm>
              <a:prstGeom prst="rect">
                <a:avLst/>
              </a:prstGeom>
            </p:spPr>
            <p:txBody>
              <a:bodyPr wrap="none">
                <a:spAutoFit/>
              </a:bodyPr>
              <a:lstStyle/>
              <a:p>
                <a14:m>
                  <m:oMath xmlns:m="http://schemas.openxmlformats.org/officeDocument/2006/math">
                    <m:sSub>
                      <m:sSubPr>
                        <m:ctrlPr>
                          <a:rPr lang="es-CO" i="1" smtClean="0">
                            <a:solidFill>
                              <a:schemeClr val="accent6">
                                <a:lumMod val="50000"/>
                              </a:schemeClr>
                            </a:solidFill>
                            <a:latin typeface="Cambria Math" panose="02040503050406030204" pitchFamily="18" charset="0"/>
                          </a:rPr>
                        </m:ctrlPr>
                      </m:sSubPr>
                      <m:e>
                        <m:r>
                          <a:rPr lang="es-CO" i="1">
                            <a:solidFill>
                              <a:schemeClr val="accent6">
                                <a:lumMod val="50000"/>
                              </a:schemeClr>
                            </a:solidFill>
                            <a:latin typeface="Cambria Math" panose="02040503050406030204" pitchFamily="18" charset="0"/>
                          </a:rPr>
                          <m:t>𝑉</m:t>
                        </m:r>
                      </m:e>
                      <m:sub>
                        <m:r>
                          <a:rPr lang="es-ES" b="0" i="1" smtClean="0">
                            <a:solidFill>
                              <a:schemeClr val="accent6">
                                <a:lumMod val="50000"/>
                              </a:schemeClr>
                            </a:solidFill>
                            <a:latin typeface="Cambria Math" panose="02040503050406030204" pitchFamily="18" charset="0"/>
                          </a:rPr>
                          <m:t>𝑝</m:t>
                        </m:r>
                        <m:d>
                          <m:dPr>
                            <m:ctrlPr>
                              <a:rPr lang="es-CO" i="1">
                                <a:solidFill>
                                  <a:schemeClr val="accent6">
                                    <a:lumMod val="50000"/>
                                  </a:schemeClr>
                                </a:solidFill>
                                <a:latin typeface="Cambria Math" panose="02040503050406030204" pitchFamily="18" charset="0"/>
                              </a:rPr>
                            </m:ctrlPr>
                          </m:dPr>
                          <m:e>
                            <m:r>
                              <a:rPr lang="es-CO" i="1">
                                <a:solidFill>
                                  <a:schemeClr val="accent6">
                                    <a:lumMod val="50000"/>
                                  </a:schemeClr>
                                </a:solidFill>
                                <a:latin typeface="Cambria Math" panose="02040503050406030204" pitchFamily="18" charset="0"/>
                              </a:rPr>
                              <m:t>0</m:t>
                            </m:r>
                          </m:e>
                        </m:d>
                      </m:sub>
                    </m:sSub>
                    <m:r>
                      <a:rPr lang="es-CO" i="1">
                        <a:solidFill>
                          <a:schemeClr val="accent6">
                            <a:lumMod val="50000"/>
                          </a:schemeClr>
                        </a:solidFill>
                        <a:latin typeface="Cambria Math" panose="02040503050406030204" pitchFamily="18" charset="0"/>
                      </a:rPr>
                      <m:t>=</m:t>
                    </m:r>
                  </m:oMath>
                </a14:m>
                <a:r>
                  <a:rPr lang="es-CO" dirty="0">
                    <a:solidFill>
                      <a:schemeClr val="accent6">
                        <a:lumMod val="50000"/>
                      </a:schemeClr>
                    </a:solidFill>
                  </a:rPr>
                  <a:t> </a:t>
                </a:r>
                <a14:m>
                  <m:oMath xmlns:m="http://schemas.openxmlformats.org/officeDocument/2006/math">
                    <m:f>
                      <m:fPr>
                        <m:ctrlPr>
                          <a:rPr lang="es-CO" i="1" dirty="0">
                            <a:solidFill>
                              <a:schemeClr val="accent6">
                                <a:lumMod val="50000"/>
                              </a:schemeClr>
                            </a:solidFill>
                            <a:latin typeface="Cambria Math" panose="02040503050406030204" pitchFamily="18" charset="0"/>
                          </a:rPr>
                        </m:ctrlPr>
                      </m:fPr>
                      <m:num>
                        <m:sSub>
                          <m:sSubPr>
                            <m:ctrlPr>
                              <a:rPr lang="es-CO" i="1">
                                <a:solidFill>
                                  <a:schemeClr val="accent6">
                                    <a:lumMod val="50000"/>
                                  </a:schemeClr>
                                </a:solidFill>
                                <a:latin typeface="Cambria Math" panose="02040503050406030204" pitchFamily="18" charset="0"/>
                              </a:rPr>
                            </m:ctrlPr>
                          </m:sSubPr>
                          <m:e>
                            <m:r>
                              <a:rPr lang="es-CO" i="1">
                                <a:solidFill>
                                  <a:schemeClr val="accent6">
                                    <a:lumMod val="50000"/>
                                  </a:schemeClr>
                                </a:solidFill>
                                <a:latin typeface="Cambria Math" panose="02040503050406030204" pitchFamily="18" charset="0"/>
                              </a:rPr>
                              <m:t>𝑉</m:t>
                            </m:r>
                            <m:r>
                              <a:rPr lang="es-CO" i="1">
                                <a:solidFill>
                                  <a:schemeClr val="accent6">
                                    <a:lumMod val="50000"/>
                                  </a:schemeClr>
                                </a:solidFill>
                                <a:latin typeface="Cambria Math" panose="02040503050406030204" pitchFamily="18" charset="0"/>
                              </a:rPr>
                              <m:t>1</m:t>
                            </m:r>
                          </m:e>
                          <m:sub>
                            <m:r>
                              <a:rPr lang="es-ES" b="0" i="1" smtClean="0">
                                <a:solidFill>
                                  <a:schemeClr val="accent6">
                                    <a:lumMod val="50000"/>
                                  </a:schemeClr>
                                </a:solidFill>
                                <a:latin typeface="Cambria Math" panose="02040503050406030204" pitchFamily="18" charset="0"/>
                              </a:rPr>
                              <m:t>𝑝</m:t>
                            </m:r>
                            <m:d>
                              <m:dPr>
                                <m:ctrlPr>
                                  <a:rPr lang="es-CO" i="1">
                                    <a:solidFill>
                                      <a:schemeClr val="accent6">
                                        <a:lumMod val="50000"/>
                                      </a:schemeClr>
                                    </a:solidFill>
                                    <a:latin typeface="Cambria Math" panose="02040503050406030204" pitchFamily="18" charset="0"/>
                                  </a:rPr>
                                </m:ctrlPr>
                              </m:dPr>
                              <m:e>
                                <m:r>
                                  <a:rPr lang="es-CO" i="1">
                                    <a:solidFill>
                                      <a:schemeClr val="accent6">
                                        <a:lumMod val="50000"/>
                                      </a:schemeClr>
                                    </a:solidFill>
                                    <a:latin typeface="Cambria Math" panose="02040503050406030204" pitchFamily="18" charset="0"/>
                                  </a:rPr>
                                  <m:t>10</m:t>
                                </m:r>
                              </m:e>
                            </m:d>
                            <m:r>
                              <a:rPr lang="es-CO" i="1">
                                <a:solidFill>
                                  <a:schemeClr val="accent6">
                                    <a:lumMod val="50000"/>
                                  </a:schemeClr>
                                </a:solidFill>
                                <a:latin typeface="Cambria Math" panose="02040503050406030204" pitchFamily="18" charset="0"/>
                              </a:rPr>
                              <m:t>−</m:t>
                            </m:r>
                          </m:sub>
                        </m:sSub>
                        <m:sSub>
                          <m:sSubPr>
                            <m:ctrlPr>
                              <a:rPr lang="es-CO" i="1">
                                <a:solidFill>
                                  <a:schemeClr val="accent6">
                                    <a:lumMod val="50000"/>
                                  </a:schemeClr>
                                </a:solidFill>
                                <a:latin typeface="Cambria Math" panose="02040503050406030204" pitchFamily="18" charset="0"/>
                              </a:rPr>
                            </m:ctrlPr>
                          </m:sSubPr>
                          <m:e>
                            <m:r>
                              <a:rPr lang="es-CO" i="1">
                                <a:solidFill>
                                  <a:schemeClr val="accent6">
                                    <a:lumMod val="50000"/>
                                  </a:schemeClr>
                                </a:solidFill>
                                <a:latin typeface="Cambria Math" panose="02040503050406030204" pitchFamily="18" charset="0"/>
                              </a:rPr>
                              <m:t>𝑉</m:t>
                            </m:r>
                            <m:r>
                              <a:rPr lang="es-CO" i="1">
                                <a:solidFill>
                                  <a:schemeClr val="accent6">
                                    <a:lumMod val="50000"/>
                                  </a:schemeClr>
                                </a:solidFill>
                                <a:latin typeface="Cambria Math" panose="02040503050406030204" pitchFamily="18" charset="0"/>
                              </a:rPr>
                              <m:t>2</m:t>
                            </m:r>
                          </m:e>
                          <m:sub>
                            <m:r>
                              <a:rPr lang="es-ES" b="0" i="1" smtClean="0">
                                <a:solidFill>
                                  <a:schemeClr val="accent6">
                                    <a:lumMod val="50000"/>
                                  </a:schemeClr>
                                </a:solidFill>
                                <a:latin typeface="Cambria Math" panose="02040503050406030204" pitchFamily="18" charset="0"/>
                              </a:rPr>
                              <m:t>𝑝</m:t>
                            </m:r>
                            <m:d>
                              <m:dPr>
                                <m:ctrlPr>
                                  <a:rPr lang="es-CO" i="1">
                                    <a:solidFill>
                                      <a:schemeClr val="accent6">
                                        <a:lumMod val="50000"/>
                                      </a:schemeClr>
                                    </a:solidFill>
                                    <a:latin typeface="Cambria Math" panose="02040503050406030204" pitchFamily="18" charset="0"/>
                                  </a:rPr>
                                </m:ctrlPr>
                              </m:dPr>
                              <m:e>
                                <m:r>
                                  <a:rPr lang="es-CO" i="1">
                                    <a:solidFill>
                                      <a:schemeClr val="accent6">
                                        <a:lumMod val="50000"/>
                                      </a:schemeClr>
                                    </a:solidFill>
                                    <a:latin typeface="Cambria Math" panose="02040503050406030204" pitchFamily="18" charset="0"/>
                                  </a:rPr>
                                  <m:t>10</m:t>
                                </m:r>
                              </m:e>
                            </m:d>
                          </m:sub>
                        </m:sSub>
                      </m:num>
                      <m:den>
                        <m:sSup>
                          <m:sSupPr>
                            <m:ctrlPr>
                              <a:rPr lang="es-CO" i="1" dirty="0">
                                <a:solidFill>
                                  <a:schemeClr val="accent6">
                                    <a:lumMod val="50000"/>
                                  </a:schemeClr>
                                </a:solidFill>
                                <a:latin typeface="Cambria Math" panose="02040503050406030204" pitchFamily="18" charset="0"/>
                              </a:rPr>
                            </m:ctrlPr>
                          </m:sSupPr>
                          <m:e>
                            <m:d>
                              <m:dPr>
                                <m:ctrlPr>
                                  <a:rPr lang="es-CO" i="1" dirty="0">
                                    <a:solidFill>
                                      <a:schemeClr val="accent6">
                                        <a:lumMod val="50000"/>
                                      </a:schemeClr>
                                    </a:solidFill>
                                    <a:latin typeface="Cambria Math" panose="02040503050406030204" pitchFamily="18" charset="0"/>
                                  </a:rPr>
                                </m:ctrlPr>
                              </m:dPr>
                              <m:e>
                                <m:r>
                                  <a:rPr lang="es-CO" i="1" dirty="0">
                                    <a:solidFill>
                                      <a:schemeClr val="accent6">
                                        <a:lumMod val="50000"/>
                                      </a:schemeClr>
                                    </a:solidFill>
                                    <a:latin typeface="Cambria Math" panose="02040503050406030204" pitchFamily="18" charset="0"/>
                                  </a:rPr>
                                  <m:t>1+10%</m:t>
                                </m:r>
                              </m:e>
                            </m:d>
                          </m:e>
                          <m:sup>
                            <m:r>
                              <a:rPr lang="es-CO" i="1" dirty="0">
                                <a:solidFill>
                                  <a:schemeClr val="accent6">
                                    <a:lumMod val="50000"/>
                                  </a:schemeClr>
                                </a:solidFill>
                                <a:latin typeface="Cambria Math" panose="02040503050406030204" pitchFamily="18" charset="0"/>
                              </a:rPr>
                              <m:t>10</m:t>
                            </m:r>
                          </m:sup>
                        </m:sSup>
                      </m:den>
                    </m:f>
                  </m:oMath>
                </a14:m>
                <a:endParaRPr lang="es-CO" dirty="0">
                  <a:solidFill>
                    <a:schemeClr val="accent6">
                      <a:lumMod val="50000"/>
                    </a:schemeClr>
                  </a:solidFill>
                </a:endParaRPr>
              </a:p>
            </p:txBody>
          </p:sp>
        </mc:Choice>
        <mc:Fallback xmlns="">
          <p:sp>
            <p:nvSpPr>
              <p:cNvPr id="33" name="Rectángulo 32"/>
              <p:cNvSpPr>
                <a:spLocks noRot="1" noChangeAspect="1" noMove="1" noResize="1" noEditPoints="1" noAdjustHandles="1" noChangeArrowheads="1" noChangeShapeType="1" noTextEdit="1"/>
              </p:cNvSpPr>
              <p:nvPr/>
            </p:nvSpPr>
            <p:spPr>
              <a:xfrm>
                <a:off x="6666067" y="6171825"/>
                <a:ext cx="2235677" cy="537519"/>
              </a:xfrm>
              <a:prstGeom prst="rect">
                <a:avLst/>
              </a:prstGeom>
              <a:blipFill>
                <a:blip r:embed="rId9"/>
                <a:stretch>
                  <a:fillRect/>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35" name="CuadroTexto 34"/>
              <p:cNvSpPr txBox="1"/>
              <p:nvPr/>
            </p:nvSpPr>
            <p:spPr>
              <a:xfrm>
                <a:off x="9112572" y="5033789"/>
                <a:ext cx="2412905" cy="29924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CO" i="1" smtClean="0">
                              <a:solidFill>
                                <a:schemeClr val="accent1"/>
                              </a:solidFill>
                              <a:latin typeface="Cambria Math" panose="02040503050406030204" pitchFamily="18" charset="0"/>
                            </a:rPr>
                          </m:ctrlPr>
                        </m:sSubPr>
                        <m:e>
                          <m:r>
                            <a:rPr lang="es-CO" i="1">
                              <a:solidFill>
                                <a:schemeClr val="accent1"/>
                              </a:solidFill>
                              <a:latin typeface="Cambria Math" panose="02040503050406030204" pitchFamily="18" charset="0"/>
                            </a:rPr>
                            <m:t>𝑉</m:t>
                          </m:r>
                        </m:e>
                        <m:sub>
                          <m:r>
                            <a:rPr lang="es-ES" b="0" i="1" smtClean="0">
                              <a:solidFill>
                                <a:schemeClr val="accent1"/>
                              </a:solidFill>
                              <a:latin typeface="Cambria Math" panose="02040503050406030204" pitchFamily="18" charset="0"/>
                            </a:rPr>
                            <m:t>𝑝</m:t>
                          </m:r>
                          <m:d>
                            <m:dPr>
                              <m:ctrlPr>
                                <a:rPr lang="es-CO" i="1">
                                  <a:solidFill>
                                    <a:schemeClr val="accent1"/>
                                  </a:solidFill>
                                  <a:latin typeface="Cambria Math" panose="02040503050406030204" pitchFamily="18" charset="0"/>
                                </a:rPr>
                              </m:ctrlPr>
                            </m:dPr>
                            <m:e>
                              <m:r>
                                <a:rPr lang="es-CO" i="1">
                                  <a:solidFill>
                                    <a:schemeClr val="accent1"/>
                                  </a:solidFill>
                                  <a:latin typeface="Cambria Math" panose="02040503050406030204" pitchFamily="18" charset="0"/>
                                </a:rPr>
                                <m:t>15</m:t>
                              </m:r>
                            </m:e>
                          </m:d>
                        </m:sub>
                      </m:sSub>
                      <m:r>
                        <a:rPr lang="es-CO" i="1">
                          <a:solidFill>
                            <a:schemeClr val="accent1"/>
                          </a:solidFill>
                          <a:latin typeface="Cambria Math" panose="02040503050406030204" pitchFamily="18" charset="0"/>
                        </a:rPr>
                        <m:t>(242;3%;10%;5)</m:t>
                      </m:r>
                    </m:oMath>
                  </m:oMathPara>
                </a14:m>
                <a:endParaRPr lang="es-CO" dirty="0">
                  <a:solidFill>
                    <a:schemeClr val="accent1"/>
                  </a:solidFill>
                </a:endParaRPr>
              </a:p>
            </p:txBody>
          </p:sp>
        </mc:Choice>
        <mc:Fallback xmlns="">
          <p:sp>
            <p:nvSpPr>
              <p:cNvPr id="35" name="CuadroTexto 34"/>
              <p:cNvSpPr txBox="1">
                <a:spLocks noRot="1" noChangeAspect="1" noMove="1" noResize="1" noEditPoints="1" noAdjustHandles="1" noChangeArrowheads="1" noChangeShapeType="1" noTextEdit="1"/>
              </p:cNvSpPr>
              <p:nvPr/>
            </p:nvSpPr>
            <p:spPr>
              <a:xfrm>
                <a:off x="9112572" y="5033789"/>
                <a:ext cx="2412905" cy="299249"/>
              </a:xfrm>
              <a:prstGeom prst="rect">
                <a:avLst/>
              </a:prstGeom>
              <a:blipFill>
                <a:blip r:embed="rId10"/>
                <a:stretch>
                  <a:fillRect l="-1571" r="-3141" b="-24000"/>
                </a:stretch>
              </a:blipFill>
            </p:spPr>
            <p:txBody>
              <a:bodyPr/>
              <a:lstStyle/>
              <a:p>
                <a:r>
                  <a:rPr lang="es-CO">
                    <a:noFill/>
                  </a:rPr>
                  <a:t> </a:t>
                </a:r>
              </a:p>
            </p:txBody>
          </p:sp>
        </mc:Fallback>
      </mc:AlternateContent>
      <p:sp>
        <p:nvSpPr>
          <p:cNvPr id="36" name="CuadroTexto 35"/>
          <p:cNvSpPr txBox="1"/>
          <p:nvPr/>
        </p:nvSpPr>
        <p:spPr>
          <a:xfrm>
            <a:off x="9759379" y="4707278"/>
            <a:ext cx="1850946" cy="369332"/>
          </a:xfrm>
          <a:prstGeom prst="rect">
            <a:avLst/>
          </a:prstGeom>
          <a:noFill/>
        </p:spPr>
        <p:txBody>
          <a:bodyPr wrap="square" rtlCol="0">
            <a:spAutoFit/>
          </a:bodyPr>
          <a:lstStyle/>
          <a:p>
            <a:r>
              <a:rPr lang="es-CO" b="1">
                <a:solidFill>
                  <a:schemeClr val="accent1"/>
                </a:solidFill>
                <a:latin typeface="Century Gothic" panose="020B0502020202020204" pitchFamily="34" charset="0"/>
              </a:rPr>
              <a:t>D1   g     i     n</a:t>
            </a:r>
          </a:p>
        </p:txBody>
      </p:sp>
      <mc:AlternateContent xmlns:mc="http://schemas.openxmlformats.org/markup-compatibility/2006" xmlns:a14="http://schemas.microsoft.com/office/drawing/2010/main">
        <mc:Choice Requires="a14">
          <p:sp>
            <p:nvSpPr>
              <p:cNvPr id="37" name="Rectángulo 36"/>
              <p:cNvSpPr/>
              <p:nvPr/>
            </p:nvSpPr>
            <p:spPr>
              <a:xfrm>
                <a:off x="9229035" y="6057978"/>
                <a:ext cx="1831014" cy="538032"/>
              </a:xfrm>
              <a:prstGeom prst="rect">
                <a:avLst/>
              </a:prstGeom>
            </p:spPr>
            <p:txBody>
              <a:bodyPr wrap="none">
                <a:spAutoFit/>
              </a:bodyPr>
              <a:lstStyle/>
              <a:p>
                <a14:m>
                  <m:oMath xmlns:m="http://schemas.openxmlformats.org/officeDocument/2006/math">
                    <m:sSub>
                      <m:sSubPr>
                        <m:ctrlPr>
                          <a:rPr lang="es-CO" i="1" smtClean="0">
                            <a:solidFill>
                              <a:schemeClr val="accent1"/>
                            </a:solidFill>
                            <a:latin typeface="Cambria Math" panose="02040503050406030204" pitchFamily="18" charset="0"/>
                          </a:rPr>
                        </m:ctrlPr>
                      </m:sSubPr>
                      <m:e>
                        <m:r>
                          <a:rPr lang="es-CO" i="1">
                            <a:solidFill>
                              <a:schemeClr val="accent1"/>
                            </a:solidFill>
                            <a:latin typeface="Cambria Math" panose="02040503050406030204" pitchFamily="18" charset="0"/>
                          </a:rPr>
                          <m:t>𝑉</m:t>
                        </m:r>
                      </m:e>
                      <m:sub>
                        <m:r>
                          <a:rPr lang="es-ES" b="0" i="1" smtClean="0">
                            <a:solidFill>
                              <a:schemeClr val="accent1"/>
                            </a:solidFill>
                            <a:latin typeface="Cambria Math" panose="02040503050406030204" pitchFamily="18" charset="0"/>
                          </a:rPr>
                          <m:t>𝑝</m:t>
                        </m:r>
                        <m:d>
                          <m:dPr>
                            <m:ctrlPr>
                              <a:rPr lang="es-CO" i="1">
                                <a:solidFill>
                                  <a:schemeClr val="accent1"/>
                                </a:solidFill>
                                <a:latin typeface="Cambria Math" panose="02040503050406030204" pitchFamily="18" charset="0"/>
                              </a:rPr>
                            </m:ctrlPr>
                          </m:dPr>
                          <m:e>
                            <m:r>
                              <a:rPr lang="es-CO" i="1">
                                <a:solidFill>
                                  <a:schemeClr val="accent1"/>
                                </a:solidFill>
                                <a:latin typeface="Cambria Math" panose="02040503050406030204" pitchFamily="18" charset="0"/>
                              </a:rPr>
                              <m:t>0</m:t>
                            </m:r>
                          </m:e>
                        </m:d>
                      </m:sub>
                    </m:sSub>
                    <m:r>
                      <a:rPr lang="es-CO" i="1">
                        <a:solidFill>
                          <a:schemeClr val="accent1"/>
                        </a:solidFill>
                        <a:latin typeface="Cambria Math" panose="02040503050406030204" pitchFamily="18" charset="0"/>
                      </a:rPr>
                      <m:t>=</m:t>
                    </m:r>
                  </m:oMath>
                </a14:m>
                <a:r>
                  <a:rPr lang="es-CO" dirty="0">
                    <a:solidFill>
                      <a:schemeClr val="accent1"/>
                    </a:solidFill>
                  </a:rPr>
                  <a:t> </a:t>
                </a:r>
                <a14:m>
                  <m:oMath xmlns:m="http://schemas.openxmlformats.org/officeDocument/2006/math">
                    <m:f>
                      <m:fPr>
                        <m:ctrlPr>
                          <a:rPr lang="es-CO" i="1" dirty="0">
                            <a:solidFill>
                              <a:schemeClr val="accent1"/>
                            </a:solidFill>
                            <a:latin typeface="Cambria Math" panose="02040503050406030204" pitchFamily="18" charset="0"/>
                          </a:rPr>
                        </m:ctrlPr>
                      </m:fPr>
                      <m:num>
                        <m:sSub>
                          <m:sSubPr>
                            <m:ctrlPr>
                              <a:rPr lang="es-CO" i="1">
                                <a:solidFill>
                                  <a:schemeClr val="accent1"/>
                                </a:solidFill>
                                <a:latin typeface="Cambria Math" panose="02040503050406030204" pitchFamily="18" charset="0"/>
                              </a:rPr>
                            </m:ctrlPr>
                          </m:sSubPr>
                          <m:e>
                            <m:r>
                              <a:rPr lang="es-CO" i="1">
                                <a:solidFill>
                                  <a:schemeClr val="accent1"/>
                                </a:solidFill>
                                <a:latin typeface="Cambria Math" panose="02040503050406030204" pitchFamily="18" charset="0"/>
                              </a:rPr>
                              <m:t>𝑉</m:t>
                            </m:r>
                          </m:e>
                          <m:sub>
                            <m:r>
                              <a:rPr lang="es-ES" b="0" i="1" smtClean="0">
                                <a:solidFill>
                                  <a:schemeClr val="accent1"/>
                                </a:solidFill>
                                <a:latin typeface="Cambria Math" panose="02040503050406030204" pitchFamily="18" charset="0"/>
                              </a:rPr>
                              <m:t>𝑝</m:t>
                            </m:r>
                            <m:d>
                              <m:dPr>
                                <m:ctrlPr>
                                  <a:rPr lang="es-CO" i="1">
                                    <a:solidFill>
                                      <a:schemeClr val="accent1"/>
                                    </a:solidFill>
                                    <a:latin typeface="Cambria Math" panose="02040503050406030204" pitchFamily="18" charset="0"/>
                                  </a:rPr>
                                </m:ctrlPr>
                              </m:dPr>
                              <m:e>
                                <m:r>
                                  <a:rPr lang="es-CO" i="1">
                                    <a:solidFill>
                                      <a:schemeClr val="accent1"/>
                                    </a:solidFill>
                                    <a:latin typeface="Cambria Math" panose="02040503050406030204" pitchFamily="18" charset="0"/>
                                  </a:rPr>
                                  <m:t>15</m:t>
                                </m:r>
                              </m:e>
                            </m:d>
                          </m:sub>
                        </m:sSub>
                      </m:num>
                      <m:den>
                        <m:sSup>
                          <m:sSupPr>
                            <m:ctrlPr>
                              <a:rPr lang="es-CO" i="1" dirty="0">
                                <a:solidFill>
                                  <a:schemeClr val="accent1"/>
                                </a:solidFill>
                                <a:latin typeface="Cambria Math" panose="02040503050406030204" pitchFamily="18" charset="0"/>
                              </a:rPr>
                            </m:ctrlPr>
                          </m:sSupPr>
                          <m:e>
                            <m:d>
                              <m:dPr>
                                <m:ctrlPr>
                                  <a:rPr lang="es-CO" i="1" dirty="0">
                                    <a:solidFill>
                                      <a:schemeClr val="accent1"/>
                                    </a:solidFill>
                                    <a:latin typeface="Cambria Math" panose="02040503050406030204" pitchFamily="18" charset="0"/>
                                  </a:rPr>
                                </m:ctrlPr>
                              </m:dPr>
                              <m:e>
                                <m:r>
                                  <a:rPr lang="es-CO" i="1" dirty="0">
                                    <a:solidFill>
                                      <a:schemeClr val="accent1"/>
                                    </a:solidFill>
                                    <a:latin typeface="Cambria Math" panose="02040503050406030204" pitchFamily="18" charset="0"/>
                                  </a:rPr>
                                  <m:t>1+10%</m:t>
                                </m:r>
                              </m:e>
                            </m:d>
                          </m:e>
                          <m:sup>
                            <m:r>
                              <a:rPr lang="es-CO" i="1" dirty="0">
                                <a:solidFill>
                                  <a:schemeClr val="accent1"/>
                                </a:solidFill>
                                <a:latin typeface="Cambria Math" panose="02040503050406030204" pitchFamily="18" charset="0"/>
                              </a:rPr>
                              <m:t>15</m:t>
                            </m:r>
                          </m:sup>
                        </m:sSup>
                      </m:den>
                    </m:f>
                  </m:oMath>
                </a14:m>
                <a:endParaRPr lang="es-CO" dirty="0">
                  <a:solidFill>
                    <a:schemeClr val="accent1"/>
                  </a:solidFill>
                </a:endParaRPr>
              </a:p>
            </p:txBody>
          </p:sp>
        </mc:Choice>
        <mc:Fallback xmlns="">
          <p:sp>
            <p:nvSpPr>
              <p:cNvPr id="37" name="Rectángulo 36"/>
              <p:cNvSpPr>
                <a:spLocks noRot="1" noChangeAspect="1" noMove="1" noResize="1" noEditPoints="1" noAdjustHandles="1" noChangeArrowheads="1" noChangeShapeType="1" noTextEdit="1"/>
              </p:cNvSpPr>
              <p:nvPr/>
            </p:nvSpPr>
            <p:spPr>
              <a:xfrm>
                <a:off x="9229035" y="6057978"/>
                <a:ext cx="1831014" cy="538032"/>
              </a:xfrm>
              <a:prstGeom prst="rect">
                <a:avLst/>
              </a:prstGeom>
              <a:blipFill>
                <a:blip r:embed="rId11"/>
                <a:stretch>
                  <a:fillRect/>
                </a:stretch>
              </a:blipFill>
            </p:spPr>
            <p:txBody>
              <a:bodyPr/>
              <a:lstStyle/>
              <a:p>
                <a:r>
                  <a:rPr lang="es-CO">
                    <a:noFill/>
                  </a:rPr>
                  <a:t> </a:t>
                </a:r>
              </a:p>
            </p:txBody>
          </p:sp>
        </mc:Fallback>
      </mc:AlternateContent>
      <p:sp>
        <p:nvSpPr>
          <p:cNvPr id="42" name="Rectángulo 41">
            <a:extLst>
              <a:ext uri="{FF2B5EF4-FFF2-40B4-BE49-F238E27FC236}">
                <a16:creationId xmlns:a16="http://schemas.microsoft.com/office/drawing/2014/main" id="{5D37E4AD-C22C-45B7-AE99-973AB084E6A8}"/>
              </a:ext>
            </a:extLst>
          </p:cNvPr>
          <p:cNvSpPr/>
          <p:nvPr/>
        </p:nvSpPr>
        <p:spPr>
          <a:xfrm>
            <a:off x="581192" y="2026344"/>
            <a:ext cx="1399742" cy="400110"/>
          </a:xfrm>
          <a:prstGeom prst="rect">
            <a:avLst/>
          </a:prstGeom>
        </p:spPr>
        <p:txBody>
          <a:bodyPr wrap="none">
            <a:spAutoFit/>
          </a:bodyPr>
          <a:lstStyle/>
          <a:p>
            <a:r>
              <a:rPr lang="es-ES_tradnl" sz="2000" b="1">
                <a:solidFill>
                  <a:srgbClr val="C00000"/>
                </a:solidFill>
                <a:latin typeface="Century Gothic" panose="020B0502020202020204" pitchFamily="34" charset="0"/>
              </a:rPr>
              <a:t>Ejemplo 2</a:t>
            </a:r>
            <a:endParaRPr lang="es-CO" sz="2000" b="1">
              <a:solidFill>
                <a:srgbClr val="C00000"/>
              </a:solidFill>
              <a:latin typeface="Century Gothic" panose="020B0502020202020204" pitchFamily="34" charset="0"/>
            </a:endParaRPr>
          </a:p>
        </p:txBody>
      </p:sp>
      <p:graphicFrame>
        <p:nvGraphicFramePr>
          <p:cNvPr id="43" name="Gráfico 42">
            <a:extLst>
              <a:ext uri="{FF2B5EF4-FFF2-40B4-BE49-F238E27FC236}">
                <a16:creationId xmlns:a16="http://schemas.microsoft.com/office/drawing/2014/main" id="{B24EC915-8E30-4C03-850B-F6EF05FC7BFF}"/>
              </a:ext>
            </a:extLst>
          </p:cNvPr>
          <p:cNvGraphicFramePr>
            <a:graphicFrameLocks/>
          </p:cNvGraphicFramePr>
          <p:nvPr/>
        </p:nvGraphicFramePr>
        <p:xfrm>
          <a:off x="1980934" y="2041839"/>
          <a:ext cx="9390072" cy="2227006"/>
        </p:xfrm>
        <a:graphic>
          <a:graphicData uri="http://schemas.openxmlformats.org/drawingml/2006/chart">
            <c:chart xmlns:c="http://schemas.openxmlformats.org/drawingml/2006/chart" xmlns:r="http://schemas.openxmlformats.org/officeDocument/2006/relationships" r:id="rId12"/>
          </a:graphicData>
        </a:graphic>
      </p:graphicFrame>
      <p:sp>
        <p:nvSpPr>
          <p:cNvPr id="45" name="Abrir llave 44">
            <a:extLst>
              <a:ext uri="{FF2B5EF4-FFF2-40B4-BE49-F238E27FC236}">
                <a16:creationId xmlns:a16="http://schemas.microsoft.com/office/drawing/2014/main" id="{F336C31B-6A49-4BD8-9267-CCCFD91B1C54}"/>
              </a:ext>
            </a:extLst>
          </p:cNvPr>
          <p:cNvSpPr/>
          <p:nvPr/>
        </p:nvSpPr>
        <p:spPr>
          <a:xfrm rot="16200000">
            <a:off x="5353285" y="3149367"/>
            <a:ext cx="516193" cy="2588077"/>
          </a:xfrm>
          <a:prstGeom prst="leftBrace">
            <a:avLst>
              <a:gd name="adj1" fmla="val 8333"/>
              <a:gd name="adj2" fmla="val 49163"/>
            </a:avLst>
          </a:prstGeom>
          <a:ln>
            <a:solidFill>
              <a:schemeClr val="accent3">
                <a:lumMod val="75000"/>
              </a:schemeClr>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s-CO">
              <a:solidFill>
                <a:schemeClr val="accent1"/>
              </a:solidFill>
            </a:endParaRPr>
          </a:p>
        </p:txBody>
      </p:sp>
      <p:sp>
        <p:nvSpPr>
          <p:cNvPr id="46" name="Abrir llave 45">
            <a:extLst>
              <a:ext uri="{FF2B5EF4-FFF2-40B4-BE49-F238E27FC236}">
                <a16:creationId xmlns:a16="http://schemas.microsoft.com/office/drawing/2014/main" id="{17AA207F-A6D5-41CA-8217-073E87C5CCBA}"/>
              </a:ext>
            </a:extLst>
          </p:cNvPr>
          <p:cNvSpPr/>
          <p:nvPr/>
        </p:nvSpPr>
        <p:spPr>
          <a:xfrm rot="16200000">
            <a:off x="7848295" y="3637082"/>
            <a:ext cx="516193" cy="1690616"/>
          </a:xfrm>
          <a:prstGeom prst="leftBrace">
            <a:avLst>
              <a:gd name="adj1" fmla="val 8333"/>
              <a:gd name="adj2" fmla="val 49163"/>
            </a:avLst>
          </a:prstGeom>
          <a:ln>
            <a:solidFill>
              <a:schemeClr val="accent5">
                <a:lumMod val="25000"/>
              </a:schemeClr>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s-CO">
              <a:solidFill>
                <a:schemeClr val="accent1"/>
              </a:solidFill>
            </a:endParaRPr>
          </a:p>
        </p:txBody>
      </p:sp>
      <p:sp>
        <p:nvSpPr>
          <p:cNvPr id="47" name="Abrir llave 46">
            <a:extLst>
              <a:ext uri="{FF2B5EF4-FFF2-40B4-BE49-F238E27FC236}">
                <a16:creationId xmlns:a16="http://schemas.microsoft.com/office/drawing/2014/main" id="{358C5809-EC18-4449-9264-4BB901C2E022}"/>
              </a:ext>
            </a:extLst>
          </p:cNvPr>
          <p:cNvSpPr/>
          <p:nvPr/>
        </p:nvSpPr>
        <p:spPr>
          <a:xfrm rot="16200000">
            <a:off x="9940360" y="3637081"/>
            <a:ext cx="516193" cy="1690616"/>
          </a:xfrm>
          <a:prstGeom prst="leftBrace">
            <a:avLst>
              <a:gd name="adj1" fmla="val 8333"/>
              <a:gd name="adj2" fmla="val 49163"/>
            </a:avLst>
          </a:prstGeom>
          <a:ln>
            <a:solidFill>
              <a:schemeClr val="accent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s-CO">
              <a:solidFill>
                <a:schemeClr val="accent1"/>
              </a:solidFill>
            </a:endParaRPr>
          </a:p>
        </p:txBody>
      </p:sp>
      <p:sp>
        <p:nvSpPr>
          <p:cNvPr id="48" name="CuadroTexto 47">
            <a:extLst>
              <a:ext uri="{FF2B5EF4-FFF2-40B4-BE49-F238E27FC236}">
                <a16:creationId xmlns:a16="http://schemas.microsoft.com/office/drawing/2014/main" id="{C890FBE7-68B3-4D78-8599-16CCCBAB0CED}"/>
              </a:ext>
            </a:extLst>
          </p:cNvPr>
          <p:cNvSpPr txBox="1"/>
          <p:nvPr/>
        </p:nvSpPr>
        <p:spPr>
          <a:xfrm>
            <a:off x="11098273" y="3681900"/>
            <a:ext cx="1622323" cy="307777"/>
          </a:xfrm>
          <a:prstGeom prst="rect">
            <a:avLst/>
          </a:prstGeom>
          <a:noFill/>
        </p:spPr>
        <p:txBody>
          <a:bodyPr wrap="square" rtlCol="0">
            <a:spAutoFit/>
          </a:bodyPr>
          <a:lstStyle/>
          <a:p>
            <a:r>
              <a:rPr lang="es-CO" sz="1400" b="1">
                <a:solidFill>
                  <a:srgbClr val="D7A700"/>
                </a:solidFill>
                <a:latin typeface="Century Gothic" panose="020B0502020202020204" pitchFamily="34" charset="0"/>
              </a:rPr>
              <a:t>Meses </a:t>
            </a:r>
          </a:p>
        </p:txBody>
      </p:sp>
      <p:sp>
        <p:nvSpPr>
          <p:cNvPr id="3" name="Rectángulo 2">
            <a:extLst>
              <a:ext uri="{FF2B5EF4-FFF2-40B4-BE49-F238E27FC236}">
                <a16:creationId xmlns:a16="http://schemas.microsoft.com/office/drawing/2014/main" id="{D9DC88D5-423B-B0D8-EDD4-631708BF2C1C}"/>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sp>
        <p:nvSpPr>
          <p:cNvPr id="5" name="Rectángulo 4">
            <a:extLst>
              <a:ext uri="{FF2B5EF4-FFF2-40B4-BE49-F238E27FC236}">
                <a16:creationId xmlns:a16="http://schemas.microsoft.com/office/drawing/2014/main" id="{4D841A94-2869-7525-7E63-F65F91FFC67C}"/>
              </a:ext>
            </a:extLst>
          </p:cNvPr>
          <p:cNvSpPr/>
          <p:nvPr/>
        </p:nvSpPr>
        <p:spPr>
          <a:xfrm>
            <a:off x="8795541" y="118110"/>
            <a:ext cx="29418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Profesora</a:t>
            </a:r>
            <a:r>
              <a:rPr lang="es-CO" sz="1100">
                <a:solidFill>
                  <a:schemeClr val="accent2">
                    <a:lumMod val="50000"/>
                  </a:schemeClr>
                </a:solidFill>
                <a:latin typeface="Century Gothic" panose="020B0502020202020204" pitchFamily="34" charset="0"/>
                <a:sym typeface="Gill Sans Light"/>
              </a:rPr>
              <a:t> Andrea Yohana Cortés Mojica</a:t>
            </a:r>
            <a:endParaRPr lang="es-CO" sz="1100">
              <a:solidFill>
                <a:schemeClr val="accent2">
                  <a:lumMod val="50000"/>
                </a:schemeClr>
              </a:solidFill>
              <a:latin typeface="Century Gothic" panose="020B0502020202020204" pitchFamily="34" charset="0"/>
            </a:endParaRPr>
          </a:p>
        </p:txBody>
      </p:sp>
      <p:pic>
        <p:nvPicPr>
          <p:cNvPr id="6" name="Picture 2" descr="Clientes y aliados | Centro de Evaluación | Uniandes">
            <a:extLst>
              <a:ext uri="{FF2B5EF4-FFF2-40B4-BE49-F238E27FC236}">
                <a16:creationId xmlns:a16="http://schemas.microsoft.com/office/drawing/2014/main" id="{4D4B96C7-BA18-BDAC-00DD-0367509C0E60}"/>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E68B8ED2-2437-3113-D8C9-E6E49A16DADF}"/>
              </a:ext>
            </a:extLst>
          </p:cNvPr>
          <p:cNvSpPr/>
          <p:nvPr/>
        </p:nvSpPr>
        <p:spPr>
          <a:xfrm>
            <a:off x="4858343" y="118107"/>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8" name="Abrir llave 7">
            <a:extLst>
              <a:ext uri="{FF2B5EF4-FFF2-40B4-BE49-F238E27FC236}">
                <a16:creationId xmlns:a16="http://schemas.microsoft.com/office/drawing/2014/main" id="{D605FA5C-502A-B2A6-6068-01B5167362EC}"/>
              </a:ext>
            </a:extLst>
          </p:cNvPr>
          <p:cNvSpPr/>
          <p:nvPr/>
        </p:nvSpPr>
        <p:spPr>
          <a:xfrm rot="16200000">
            <a:off x="3274034" y="3858502"/>
            <a:ext cx="477213" cy="1208792"/>
          </a:xfrm>
          <a:prstGeom prst="leftBrace">
            <a:avLst>
              <a:gd name="adj1" fmla="val 5939"/>
              <a:gd name="adj2" fmla="val 45314"/>
            </a:avLst>
          </a:prstGeom>
          <a:ln>
            <a:solidFill>
              <a:schemeClr val="accent6"/>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s-CO">
              <a:solidFill>
                <a:schemeClr val="accent6"/>
              </a:solidFill>
            </a:endParaRPr>
          </a:p>
        </p:txBody>
      </p:sp>
    </p:spTree>
    <p:extLst>
      <p:ext uri="{BB962C8B-B14F-4D97-AF65-F5344CB8AC3E}">
        <p14:creationId xmlns:p14="http://schemas.microsoft.com/office/powerpoint/2010/main" val="37304336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5"/>
                                        </p:tgtEl>
                                        <p:attrNameLst>
                                          <p:attrName>style.visibility</p:attrName>
                                        </p:attrNameLst>
                                      </p:cBhvr>
                                      <p:to>
                                        <p:strVal val="visible"/>
                                      </p:to>
                                    </p:set>
                                    <p:anim calcmode="lin" valueType="num">
                                      <p:cBhvr additive="base">
                                        <p:cTn id="11" dur="500" fill="hold"/>
                                        <p:tgtEl>
                                          <p:spTgt spid="15"/>
                                        </p:tgtEl>
                                        <p:attrNameLst>
                                          <p:attrName>ppt_x</p:attrName>
                                        </p:attrNameLst>
                                      </p:cBhvr>
                                      <p:tavLst>
                                        <p:tav tm="0">
                                          <p:val>
                                            <p:strVal val="#ppt_x"/>
                                          </p:val>
                                        </p:tav>
                                        <p:tav tm="100000">
                                          <p:val>
                                            <p:strVal val="#ppt_x"/>
                                          </p:val>
                                        </p:tav>
                                      </p:tavLst>
                                    </p:anim>
                                    <p:anim calcmode="lin" valueType="num">
                                      <p:cBhvr additive="base">
                                        <p:cTn id="12" dur="500" fill="hold"/>
                                        <p:tgtEl>
                                          <p:spTgt spid="15"/>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anim calcmode="lin" valueType="num">
                                      <p:cBhvr additive="base">
                                        <p:cTn id="15" dur="500" fill="hold"/>
                                        <p:tgtEl>
                                          <p:spTgt spid="11"/>
                                        </p:tgtEl>
                                        <p:attrNameLst>
                                          <p:attrName>ppt_x</p:attrName>
                                        </p:attrNameLst>
                                      </p:cBhvr>
                                      <p:tavLst>
                                        <p:tav tm="0">
                                          <p:val>
                                            <p:strVal val="#ppt_x"/>
                                          </p:val>
                                        </p:tav>
                                        <p:tav tm="100000">
                                          <p:val>
                                            <p:strVal val="#ppt_x"/>
                                          </p:val>
                                        </p:tav>
                                      </p:tavLst>
                                    </p:anim>
                                    <p:anim calcmode="lin" valueType="num">
                                      <p:cBhvr additive="base">
                                        <p:cTn id="16"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23"/>
                                        </p:tgtEl>
                                        <p:attrNameLst>
                                          <p:attrName>style.visibility</p:attrName>
                                        </p:attrNameLst>
                                      </p:cBhvr>
                                      <p:to>
                                        <p:strVal val="visible"/>
                                      </p:to>
                                    </p:set>
                                    <p:anim calcmode="lin" valueType="num">
                                      <p:cBhvr additive="base">
                                        <p:cTn id="21" dur="500" fill="hold"/>
                                        <p:tgtEl>
                                          <p:spTgt spid="23"/>
                                        </p:tgtEl>
                                        <p:attrNameLst>
                                          <p:attrName>ppt_x</p:attrName>
                                        </p:attrNameLst>
                                      </p:cBhvr>
                                      <p:tavLst>
                                        <p:tav tm="0">
                                          <p:val>
                                            <p:strVal val="#ppt_x"/>
                                          </p:val>
                                        </p:tav>
                                        <p:tav tm="100000">
                                          <p:val>
                                            <p:strVal val="#ppt_x"/>
                                          </p:val>
                                        </p:tav>
                                      </p:tavLst>
                                    </p:anim>
                                    <p:anim calcmode="lin" valueType="num">
                                      <p:cBhvr additive="base">
                                        <p:cTn id="22" dur="500" fill="hold"/>
                                        <p:tgtEl>
                                          <p:spTgt spid="23"/>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25"/>
                                        </p:tgtEl>
                                        <p:attrNameLst>
                                          <p:attrName>style.visibility</p:attrName>
                                        </p:attrNameLst>
                                      </p:cBhvr>
                                      <p:to>
                                        <p:strVal val="visible"/>
                                      </p:to>
                                    </p:set>
                                    <p:anim calcmode="lin" valueType="num">
                                      <p:cBhvr additive="base">
                                        <p:cTn id="25" dur="500" fill="hold"/>
                                        <p:tgtEl>
                                          <p:spTgt spid="25"/>
                                        </p:tgtEl>
                                        <p:attrNameLst>
                                          <p:attrName>ppt_x</p:attrName>
                                        </p:attrNameLst>
                                      </p:cBhvr>
                                      <p:tavLst>
                                        <p:tav tm="0">
                                          <p:val>
                                            <p:strVal val="#ppt_x"/>
                                          </p:val>
                                        </p:tav>
                                        <p:tav tm="100000">
                                          <p:val>
                                            <p:strVal val="#ppt_x"/>
                                          </p:val>
                                        </p:tav>
                                      </p:tavLst>
                                    </p:anim>
                                    <p:anim calcmode="lin" valueType="num">
                                      <p:cBhvr additive="base">
                                        <p:cTn id="26" dur="500" fill="hold"/>
                                        <p:tgtEl>
                                          <p:spTgt spid="25"/>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45"/>
                                        </p:tgtEl>
                                        <p:attrNameLst>
                                          <p:attrName>style.visibility</p:attrName>
                                        </p:attrNameLst>
                                      </p:cBhvr>
                                      <p:to>
                                        <p:strVal val="visible"/>
                                      </p:to>
                                    </p:set>
                                    <p:anim calcmode="lin" valueType="num">
                                      <p:cBhvr additive="base">
                                        <p:cTn id="29" dur="500" fill="hold"/>
                                        <p:tgtEl>
                                          <p:spTgt spid="45"/>
                                        </p:tgtEl>
                                        <p:attrNameLst>
                                          <p:attrName>ppt_x</p:attrName>
                                        </p:attrNameLst>
                                      </p:cBhvr>
                                      <p:tavLst>
                                        <p:tav tm="0">
                                          <p:val>
                                            <p:strVal val="#ppt_x"/>
                                          </p:val>
                                        </p:tav>
                                        <p:tav tm="100000">
                                          <p:val>
                                            <p:strVal val="#ppt_x"/>
                                          </p:val>
                                        </p:tav>
                                      </p:tavLst>
                                    </p:anim>
                                    <p:anim calcmode="lin" valueType="num">
                                      <p:cBhvr additive="base">
                                        <p:cTn id="30" dur="500" fill="hold"/>
                                        <p:tgtEl>
                                          <p:spTgt spid="45"/>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26"/>
                                        </p:tgtEl>
                                        <p:attrNameLst>
                                          <p:attrName>style.visibility</p:attrName>
                                        </p:attrNameLst>
                                      </p:cBhvr>
                                      <p:to>
                                        <p:strVal val="visible"/>
                                      </p:to>
                                    </p:set>
                                    <p:anim calcmode="lin" valueType="num">
                                      <p:cBhvr additive="base">
                                        <p:cTn id="35" dur="500" fill="hold"/>
                                        <p:tgtEl>
                                          <p:spTgt spid="26"/>
                                        </p:tgtEl>
                                        <p:attrNameLst>
                                          <p:attrName>ppt_x</p:attrName>
                                        </p:attrNameLst>
                                      </p:cBhvr>
                                      <p:tavLst>
                                        <p:tav tm="0">
                                          <p:val>
                                            <p:strVal val="#ppt_x"/>
                                          </p:val>
                                        </p:tav>
                                        <p:tav tm="100000">
                                          <p:val>
                                            <p:strVal val="#ppt_x"/>
                                          </p:val>
                                        </p:tav>
                                      </p:tavLst>
                                    </p:anim>
                                    <p:anim calcmode="lin" valueType="num">
                                      <p:cBhvr additive="base">
                                        <p:cTn id="36" dur="500" fill="hold"/>
                                        <p:tgtEl>
                                          <p:spTgt spid="26"/>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24"/>
                                        </p:tgtEl>
                                        <p:attrNameLst>
                                          <p:attrName>style.visibility</p:attrName>
                                        </p:attrNameLst>
                                      </p:cBhvr>
                                      <p:to>
                                        <p:strVal val="visible"/>
                                      </p:to>
                                    </p:set>
                                    <p:anim calcmode="lin" valueType="num">
                                      <p:cBhvr additive="base">
                                        <p:cTn id="39" dur="500" fill="hold"/>
                                        <p:tgtEl>
                                          <p:spTgt spid="24"/>
                                        </p:tgtEl>
                                        <p:attrNameLst>
                                          <p:attrName>ppt_x</p:attrName>
                                        </p:attrNameLst>
                                      </p:cBhvr>
                                      <p:tavLst>
                                        <p:tav tm="0">
                                          <p:val>
                                            <p:strVal val="#ppt_x"/>
                                          </p:val>
                                        </p:tav>
                                        <p:tav tm="100000">
                                          <p:val>
                                            <p:strVal val="#ppt_x"/>
                                          </p:val>
                                        </p:tav>
                                      </p:tavLst>
                                    </p:anim>
                                    <p:anim calcmode="lin" valueType="num">
                                      <p:cBhvr additive="base">
                                        <p:cTn id="40"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grpId="0" nodeType="clickEffect">
                                  <p:stCondLst>
                                    <p:cond delay="0"/>
                                  </p:stCondLst>
                                  <p:childTnLst>
                                    <p:set>
                                      <p:cBhvr>
                                        <p:cTn id="44" dur="1" fill="hold">
                                          <p:stCondLst>
                                            <p:cond delay="0"/>
                                          </p:stCondLst>
                                        </p:cTn>
                                        <p:tgtEl>
                                          <p:spTgt spid="27"/>
                                        </p:tgtEl>
                                        <p:attrNameLst>
                                          <p:attrName>style.visibility</p:attrName>
                                        </p:attrNameLst>
                                      </p:cBhvr>
                                      <p:to>
                                        <p:strVal val="visible"/>
                                      </p:to>
                                    </p:set>
                                    <p:anim calcmode="lin" valueType="num">
                                      <p:cBhvr additive="base">
                                        <p:cTn id="45" dur="500" fill="hold"/>
                                        <p:tgtEl>
                                          <p:spTgt spid="27"/>
                                        </p:tgtEl>
                                        <p:attrNameLst>
                                          <p:attrName>ppt_x</p:attrName>
                                        </p:attrNameLst>
                                      </p:cBhvr>
                                      <p:tavLst>
                                        <p:tav tm="0">
                                          <p:val>
                                            <p:strVal val="#ppt_x"/>
                                          </p:val>
                                        </p:tav>
                                        <p:tav tm="100000">
                                          <p:val>
                                            <p:strVal val="#ppt_x"/>
                                          </p:val>
                                        </p:tav>
                                      </p:tavLst>
                                    </p:anim>
                                    <p:anim calcmode="lin" valueType="num">
                                      <p:cBhvr additive="base">
                                        <p:cTn id="46" dur="500" fill="hold"/>
                                        <p:tgtEl>
                                          <p:spTgt spid="27"/>
                                        </p:tgtEl>
                                        <p:attrNameLst>
                                          <p:attrName>ppt_y</p:attrName>
                                        </p:attrNameLst>
                                      </p:cBhvr>
                                      <p:tavLst>
                                        <p:tav tm="0">
                                          <p:val>
                                            <p:strVal val="1+#ppt_h/2"/>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 presetClass="entr" presetSubtype="4" fill="hold" grpId="0" nodeType="clickEffect">
                                  <p:stCondLst>
                                    <p:cond delay="0"/>
                                  </p:stCondLst>
                                  <p:childTnLst>
                                    <p:set>
                                      <p:cBhvr>
                                        <p:cTn id="50" dur="1" fill="hold">
                                          <p:stCondLst>
                                            <p:cond delay="0"/>
                                          </p:stCondLst>
                                        </p:cTn>
                                        <p:tgtEl>
                                          <p:spTgt spid="46"/>
                                        </p:tgtEl>
                                        <p:attrNameLst>
                                          <p:attrName>style.visibility</p:attrName>
                                        </p:attrNameLst>
                                      </p:cBhvr>
                                      <p:to>
                                        <p:strVal val="visible"/>
                                      </p:to>
                                    </p:set>
                                    <p:anim calcmode="lin" valueType="num">
                                      <p:cBhvr additive="base">
                                        <p:cTn id="51" dur="500" fill="hold"/>
                                        <p:tgtEl>
                                          <p:spTgt spid="46"/>
                                        </p:tgtEl>
                                        <p:attrNameLst>
                                          <p:attrName>ppt_x</p:attrName>
                                        </p:attrNameLst>
                                      </p:cBhvr>
                                      <p:tavLst>
                                        <p:tav tm="0">
                                          <p:val>
                                            <p:strVal val="#ppt_x"/>
                                          </p:val>
                                        </p:tav>
                                        <p:tav tm="100000">
                                          <p:val>
                                            <p:strVal val="#ppt_x"/>
                                          </p:val>
                                        </p:tav>
                                      </p:tavLst>
                                    </p:anim>
                                    <p:anim calcmode="lin" valueType="num">
                                      <p:cBhvr additive="base">
                                        <p:cTn id="52" dur="500" fill="hold"/>
                                        <p:tgtEl>
                                          <p:spTgt spid="46"/>
                                        </p:tgtEl>
                                        <p:attrNameLst>
                                          <p:attrName>ppt_y</p:attrName>
                                        </p:attrNameLst>
                                      </p:cBhvr>
                                      <p:tavLst>
                                        <p:tav tm="0">
                                          <p:val>
                                            <p:strVal val="1+#ppt_h/2"/>
                                          </p:val>
                                        </p:tav>
                                        <p:tav tm="100000">
                                          <p:val>
                                            <p:strVal val="#ppt_y"/>
                                          </p:val>
                                        </p:tav>
                                      </p:tavLst>
                                    </p:anim>
                                  </p:childTnLst>
                                </p:cTn>
                              </p:par>
                              <p:par>
                                <p:cTn id="53" presetID="2" presetClass="entr" presetSubtype="4" fill="hold" grpId="0" nodeType="withEffect">
                                  <p:stCondLst>
                                    <p:cond delay="0"/>
                                  </p:stCondLst>
                                  <p:childTnLst>
                                    <p:set>
                                      <p:cBhvr>
                                        <p:cTn id="54" dur="1" fill="hold">
                                          <p:stCondLst>
                                            <p:cond delay="0"/>
                                          </p:stCondLst>
                                        </p:cTn>
                                        <p:tgtEl>
                                          <p:spTgt spid="29"/>
                                        </p:tgtEl>
                                        <p:attrNameLst>
                                          <p:attrName>style.visibility</p:attrName>
                                        </p:attrNameLst>
                                      </p:cBhvr>
                                      <p:to>
                                        <p:strVal val="visible"/>
                                      </p:to>
                                    </p:set>
                                    <p:anim calcmode="lin" valueType="num">
                                      <p:cBhvr additive="base">
                                        <p:cTn id="55" dur="500" fill="hold"/>
                                        <p:tgtEl>
                                          <p:spTgt spid="29"/>
                                        </p:tgtEl>
                                        <p:attrNameLst>
                                          <p:attrName>ppt_x</p:attrName>
                                        </p:attrNameLst>
                                      </p:cBhvr>
                                      <p:tavLst>
                                        <p:tav tm="0">
                                          <p:val>
                                            <p:strVal val="#ppt_x"/>
                                          </p:val>
                                        </p:tav>
                                        <p:tav tm="100000">
                                          <p:val>
                                            <p:strVal val="#ppt_x"/>
                                          </p:val>
                                        </p:tav>
                                      </p:tavLst>
                                    </p:anim>
                                    <p:anim calcmode="lin" valueType="num">
                                      <p:cBhvr additive="base">
                                        <p:cTn id="56" dur="500" fill="hold"/>
                                        <p:tgtEl>
                                          <p:spTgt spid="29"/>
                                        </p:tgtEl>
                                        <p:attrNameLst>
                                          <p:attrName>ppt_y</p:attrName>
                                        </p:attrNameLst>
                                      </p:cBhvr>
                                      <p:tavLst>
                                        <p:tav tm="0">
                                          <p:val>
                                            <p:strVal val="1+#ppt_h/2"/>
                                          </p:val>
                                        </p:tav>
                                        <p:tav tm="100000">
                                          <p:val>
                                            <p:strVal val="#ppt_y"/>
                                          </p:val>
                                        </p:tav>
                                      </p:tavLst>
                                    </p:anim>
                                  </p:childTnLst>
                                </p:cTn>
                              </p:par>
                              <p:par>
                                <p:cTn id="57" presetID="2" presetClass="entr" presetSubtype="4" fill="hold" grpId="0" nodeType="withEffect">
                                  <p:stCondLst>
                                    <p:cond delay="0"/>
                                  </p:stCondLst>
                                  <p:childTnLst>
                                    <p:set>
                                      <p:cBhvr>
                                        <p:cTn id="58" dur="1" fill="hold">
                                          <p:stCondLst>
                                            <p:cond delay="0"/>
                                          </p:stCondLst>
                                        </p:cTn>
                                        <p:tgtEl>
                                          <p:spTgt spid="31"/>
                                        </p:tgtEl>
                                        <p:attrNameLst>
                                          <p:attrName>style.visibility</p:attrName>
                                        </p:attrNameLst>
                                      </p:cBhvr>
                                      <p:to>
                                        <p:strVal val="visible"/>
                                      </p:to>
                                    </p:set>
                                    <p:anim calcmode="lin" valueType="num">
                                      <p:cBhvr additive="base">
                                        <p:cTn id="59" dur="500" fill="hold"/>
                                        <p:tgtEl>
                                          <p:spTgt spid="31"/>
                                        </p:tgtEl>
                                        <p:attrNameLst>
                                          <p:attrName>ppt_x</p:attrName>
                                        </p:attrNameLst>
                                      </p:cBhvr>
                                      <p:tavLst>
                                        <p:tav tm="0">
                                          <p:val>
                                            <p:strVal val="#ppt_x"/>
                                          </p:val>
                                        </p:tav>
                                        <p:tav tm="100000">
                                          <p:val>
                                            <p:strVal val="#ppt_x"/>
                                          </p:val>
                                        </p:tav>
                                      </p:tavLst>
                                    </p:anim>
                                    <p:anim calcmode="lin" valueType="num">
                                      <p:cBhvr additive="base">
                                        <p:cTn id="60" dur="500" fill="hold"/>
                                        <p:tgtEl>
                                          <p:spTgt spid="31"/>
                                        </p:tgtEl>
                                        <p:attrNameLst>
                                          <p:attrName>ppt_y</p:attrName>
                                        </p:attrNameLst>
                                      </p:cBhvr>
                                      <p:tavLst>
                                        <p:tav tm="0">
                                          <p:val>
                                            <p:strVal val="1+#ppt_h/2"/>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2" presetClass="entr" presetSubtype="4" fill="hold" grpId="0" nodeType="clickEffect">
                                  <p:stCondLst>
                                    <p:cond delay="0"/>
                                  </p:stCondLst>
                                  <p:childTnLst>
                                    <p:set>
                                      <p:cBhvr>
                                        <p:cTn id="64" dur="1" fill="hold">
                                          <p:stCondLst>
                                            <p:cond delay="0"/>
                                          </p:stCondLst>
                                        </p:cTn>
                                        <p:tgtEl>
                                          <p:spTgt spid="32"/>
                                        </p:tgtEl>
                                        <p:attrNameLst>
                                          <p:attrName>style.visibility</p:attrName>
                                        </p:attrNameLst>
                                      </p:cBhvr>
                                      <p:to>
                                        <p:strVal val="visible"/>
                                      </p:to>
                                    </p:set>
                                    <p:anim calcmode="lin" valueType="num">
                                      <p:cBhvr additive="base">
                                        <p:cTn id="65" dur="500" fill="hold"/>
                                        <p:tgtEl>
                                          <p:spTgt spid="32"/>
                                        </p:tgtEl>
                                        <p:attrNameLst>
                                          <p:attrName>ppt_x</p:attrName>
                                        </p:attrNameLst>
                                      </p:cBhvr>
                                      <p:tavLst>
                                        <p:tav tm="0">
                                          <p:val>
                                            <p:strVal val="#ppt_x"/>
                                          </p:val>
                                        </p:tav>
                                        <p:tav tm="100000">
                                          <p:val>
                                            <p:strVal val="#ppt_x"/>
                                          </p:val>
                                        </p:tav>
                                      </p:tavLst>
                                    </p:anim>
                                    <p:anim calcmode="lin" valueType="num">
                                      <p:cBhvr additive="base">
                                        <p:cTn id="66" dur="500" fill="hold"/>
                                        <p:tgtEl>
                                          <p:spTgt spid="32"/>
                                        </p:tgtEl>
                                        <p:attrNameLst>
                                          <p:attrName>ppt_y</p:attrName>
                                        </p:attrNameLst>
                                      </p:cBhvr>
                                      <p:tavLst>
                                        <p:tav tm="0">
                                          <p:val>
                                            <p:strVal val="1+#ppt_h/2"/>
                                          </p:val>
                                        </p:tav>
                                        <p:tav tm="100000">
                                          <p:val>
                                            <p:strVal val="#ppt_y"/>
                                          </p:val>
                                        </p:tav>
                                      </p:tavLst>
                                    </p:anim>
                                  </p:childTnLst>
                                </p:cTn>
                              </p:par>
                              <p:par>
                                <p:cTn id="67" presetID="2" presetClass="entr" presetSubtype="4" fill="hold" grpId="0" nodeType="withEffect">
                                  <p:stCondLst>
                                    <p:cond delay="0"/>
                                  </p:stCondLst>
                                  <p:childTnLst>
                                    <p:set>
                                      <p:cBhvr>
                                        <p:cTn id="68" dur="1" fill="hold">
                                          <p:stCondLst>
                                            <p:cond delay="0"/>
                                          </p:stCondLst>
                                        </p:cTn>
                                        <p:tgtEl>
                                          <p:spTgt spid="30"/>
                                        </p:tgtEl>
                                        <p:attrNameLst>
                                          <p:attrName>style.visibility</p:attrName>
                                        </p:attrNameLst>
                                      </p:cBhvr>
                                      <p:to>
                                        <p:strVal val="visible"/>
                                      </p:to>
                                    </p:set>
                                    <p:anim calcmode="lin" valueType="num">
                                      <p:cBhvr additive="base">
                                        <p:cTn id="69" dur="500" fill="hold"/>
                                        <p:tgtEl>
                                          <p:spTgt spid="30"/>
                                        </p:tgtEl>
                                        <p:attrNameLst>
                                          <p:attrName>ppt_x</p:attrName>
                                        </p:attrNameLst>
                                      </p:cBhvr>
                                      <p:tavLst>
                                        <p:tav tm="0">
                                          <p:val>
                                            <p:strVal val="#ppt_x"/>
                                          </p:val>
                                        </p:tav>
                                        <p:tav tm="100000">
                                          <p:val>
                                            <p:strVal val="#ppt_x"/>
                                          </p:val>
                                        </p:tav>
                                      </p:tavLst>
                                    </p:anim>
                                    <p:anim calcmode="lin" valueType="num">
                                      <p:cBhvr additive="base">
                                        <p:cTn id="70" dur="500" fill="hold"/>
                                        <p:tgtEl>
                                          <p:spTgt spid="30"/>
                                        </p:tgtEl>
                                        <p:attrNameLst>
                                          <p:attrName>ppt_y</p:attrName>
                                        </p:attrNameLst>
                                      </p:cBhvr>
                                      <p:tavLst>
                                        <p:tav tm="0">
                                          <p:val>
                                            <p:strVal val="1+#ppt_h/2"/>
                                          </p:val>
                                        </p:tav>
                                        <p:tav tm="100000">
                                          <p:val>
                                            <p:strVal val="#ppt_y"/>
                                          </p:val>
                                        </p:tav>
                                      </p:tavLst>
                                    </p:anim>
                                  </p:childTnLst>
                                </p:cTn>
                              </p:par>
                            </p:childTnLst>
                          </p:cTn>
                        </p:par>
                      </p:childTnLst>
                    </p:cTn>
                  </p:par>
                  <p:par>
                    <p:cTn id="71" fill="hold">
                      <p:stCondLst>
                        <p:cond delay="indefinite"/>
                      </p:stCondLst>
                      <p:childTnLst>
                        <p:par>
                          <p:cTn id="72" fill="hold">
                            <p:stCondLst>
                              <p:cond delay="0"/>
                            </p:stCondLst>
                            <p:childTnLst>
                              <p:par>
                                <p:cTn id="73" presetID="2" presetClass="entr" presetSubtype="4" fill="hold" grpId="0" nodeType="clickEffect">
                                  <p:stCondLst>
                                    <p:cond delay="0"/>
                                  </p:stCondLst>
                                  <p:childTnLst>
                                    <p:set>
                                      <p:cBhvr>
                                        <p:cTn id="74" dur="1" fill="hold">
                                          <p:stCondLst>
                                            <p:cond delay="0"/>
                                          </p:stCondLst>
                                        </p:cTn>
                                        <p:tgtEl>
                                          <p:spTgt spid="33"/>
                                        </p:tgtEl>
                                        <p:attrNameLst>
                                          <p:attrName>style.visibility</p:attrName>
                                        </p:attrNameLst>
                                      </p:cBhvr>
                                      <p:to>
                                        <p:strVal val="visible"/>
                                      </p:to>
                                    </p:set>
                                    <p:anim calcmode="lin" valueType="num">
                                      <p:cBhvr additive="base">
                                        <p:cTn id="75" dur="500" fill="hold"/>
                                        <p:tgtEl>
                                          <p:spTgt spid="33"/>
                                        </p:tgtEl>
                                        <p:attrNameLst>
                                          <p:attrName>ppt_x</p:attrName>
                                        </p:attrNameLst>
                                      </p:cBhvr>
                                      <p:tavLst>
                                        <p:tav tm="0">
                                          <p:val>
                                            <p:strVal val="#ppt_x"/>
                                          </p:val>
                                        </p:tav>
                                        <p:tav tm="100000">
                                          <p:val>
                                            <p:strVal val="#ppt_x"/>
                                          </p:val>
                                        </p:tav>
                                      </p:tavLst>
                                    </p:anim>
                                    <p:anim calcmode="lin" valueType="num">
                                      <p:cBhvr additive="base">
                                        <p:cTn id="76" dur="500" fill="hold"/>
                                        <p:tgtEl>
                                          <p:spTgt spid="33"/>
                                        </p:tgtEl>
                                        <p:attrNameLst>
                                          <p:attrName>ppt_y</p:attrName>
                                        </p:attrNameLst>
                                      </p:cBhvr>
                                      <p:tavLst>
                                        <p:tav tm="0">
                                          <p:val>
                                            <p:strVal val="1+#ppt_h/2"/>
                                          </p:val>
                                        </p:tav>
                                        <p:tav tm="100000">
                                          <p:val>
                                            <p:strVal val="#ppt_y"/>
                                          </p:val>
                                        </p:tav>
                                      </p:tavLst>
                                    </p:anim>
                                  </p:childTnLst>
                                </p:cTn>
                              </p:par>
                            </p:childTnLst>
                          </p:cTn>
                        </p:par>
                      </p:childTnLst>
                    </p:cTn>
                  </p:par>
                  <p:par>
                    <p:cTn id="77" fill="hold">
                      <p:stCondLst>
                        <p:cond delay="indefinite"/>
                      </p:stCondLst>
                      <p:childTnLst>
                        <p:par>
                          <p:cTn id="78" fill="hold">
                            <p:stCondLst>
                              <p:cond delay="0"/>
                            </p:stCondLst>
                            <p:childTnLst>
                              <p:par>
                                <p:cTn id="79" presetID="2" presetClass="entr" presetSubtype="4" fill="hold" grpId="0" nodeType="clickEffect">
                                  <p:stCondLst>
                                    <p:cond delay="0"/>
                                  </p:stCondLst>
                                  <p:childTnLst>
                                    <p:set>
                                      <p:cBhvr>
                                        <p:cTn id="80" dur="1" fill="hold">
                                          <p:stCondLst>
                                            <p:cond delay="0"/>
                                          </p:stCondLst>
                                        </p:cTn>
                                        <p:tgtEl>
                                          <p:spTgt spid="47"/>
                                        </p:tgtEl>
                                        <p:attrNameLst>
                                          <p:attrName>style.visibility</p:attrName>
                                        </p:attrNameLst>
                                      </p:cBhvr>
                                      <p:to>
                                        <p:strVal val="visible"/>
                                      </p:to>
                                    </p:set>
                                    <p:anim calcmode="lin" valueType="num">
                                      <p:cBhvr additive="base">
                                        <p:cTn id="81" dur="500" fill="hold"/>
                                        <p:tgtEl>
                                          <p:spTgt spid="47"/>
                                        </p:tgtEl>
                                        <p:attrNameLst>
                                          <p:attrName>ppt_x</p:attrName>
                                        </p:attrNameLst>
                                      </p:cBhvr>
                                      <p:tavLst>
                                        <p:tav tm="0">
                                          <p:val>
                                            <p:strVal val="#ppt_x"/>
                                          </p:val>
                                        </p:tav>
                                        <p:tav tm="100000">
                                          <p:val>
                                            <p:strVal val="#ppt_x"/>
                                          </p:val>
                                        </p:tav>
                                      </p:tavLst>
                                    </p:anim>
                                    <p:anim calcmode="lin" valueType="num">
                                      <p:cBhvr additive="base">
                                        <p:cTn id="82" dur="500" fill="hold"/>
                                        <p:tgtEl>
                                          <p:spTgt spid="47"/>
                                        </p:tgtEl>
                                        <p:attrNameLst>
                                          <p:attrName>ppt_y</p:attrName>
                                        </p:attrNameLst>
                                      </p:cBhvr>
                                      <p:tavLst>
                                        <p:tav tm="0">
                                          <p:val>
                                            <p:strVal val="1+#ppt_h/2"/>
                                          </p:val>
                                        </p:tav>
                                        <p:tav tm="100000">
                                          <p:val>
                                            <p:strVal val="#ppt_y"/>
                                          </p:val>
                                        </p:tav>
                                      </p:tavLst>
                                    </p:anim>
                                  </p:childTnLst>
                                </p:cTn>
                              </p:par>
                              <p:par>
                                <p:cTn id="83" presetID="2" presetClass="entr" presetSubtype="4" fill="hold" grpId="0" nodeType="withEffect">
                                  <p:stCondLst>
                                    <p:cond delay="0"/>
                                  </p:stCondLst>
                                  <p:childTnLst>
                                    <p:set>
                                      <p:cBhvr>
                                        <p:cTn id="84" dur="1" fill="hold">
                                          <p:stCondLst>
                                            <p:cond delay="0"/>
                                          </p:stCondLst>
                                        </p:cTn>
                                        <p:tgtEl>
                                          <p:spTgt spid="36"/>
                                        </p:tgtEl>
                                        <p:attrNameLst>
                                          <p:attrName>style.visibility</p:attrName>
                                        </p:attrNameLst>
                                      </p:cBhvr>
                                      <p:to>
                                        <p:strVal val="visible"/>
                                      </p:to>
                                    </p:set>
                                    <p:anim calcmode="lin" valueType="num">
                                      <p:cBhvr additive="base">
                                        <p:cTn id="85" dur="500" fill="hold"/>
                                        <p:tgtEl>
                                          <p:spTgt spid="36"/>
                                        </p:tgtEl>
                                        <p:attrNameLst>
                                          <p:attrName>ppt_x</p:attrName>
                                        </p:attrNameLst>
                                      </p:cBhvr>
                                      <p:tavLst>
                                        <p:tav tm="0">
                                          <p:val>
                                            <p:strVal val="#ppt_x"/>
                                          </p:val>
                                        </p:tav>
                                        <p:tav tm="100000">
                                          <p:val>
                                            <p:strVal val="#ppt_x"/>
                                          </p:val>
                                        </p:tav>
                                      </p:tavLst>
                                    </p:anim>
                                    <p:anim calcmode="lin" valueType="num">
                                      <p:cBhvr additive="base">
                                        <p:cTn id="86" dur="500" fill="hold"/>
                                        <p:tgtEl>
                                          <p:spTgt spid="36"/>
                                        </p:tgtEl>
                                        <p:attrNameLst>
                                          <p:attrName>ppt_y</p:attrName>
                                        </p:attrNameLst>
                                      </p:cBhvr>
                                      <p:tavLst>
                                        <p:tav tm="0">
                                          <p:val>
                                            <p:strVal val="1+#ppt_h/2"/>
                                          </p:val>
                                        </p:tav>
                                        <p:tav tm="100000">
                                          <p:val>
                                            <p:strVal val="#ppt_y"/>
                                          </p:val>
                                        </p:tav>
                                      </p:tavLst>
                                    </p:anim>
                                  </p:childTnLst>
                                </p:cTn>
                              </p:par>
                              <p:par>
                                <p:cTn id="87" presetID="2" presetClass="entr" presetSubtype="4" fill="hold" grpId="0" nodeType="withEffect">
                                  <p:stCondLst>
                                    <p:cond delay="0"/>
                                  </p:stCondLst>
                                  <p:childTnLst>
                                    <p:set>
                                      <p:cBhvr>
                                        <p:cTn id="88" dur="1" fill="hold">
                                          <p:stCondLst>
                                            <p:cond delay="0"/>
                                          </p:stCondLst>
                                        </p:cTn>
                                        <p:tgtEl>
                                          <p:spTgt spid="35"/>
                                        </p:tgtEl>
                                        <p:attrNameLst>
                                          <p:attrName>style.visibility</p:attrName>
                                        </p:attrNameLst>
                                      </p:cBhvr>
                                      <p:to>
                                        <p:strVal val="visible"/>
                                      </p:to>
                                    </p:set>
                                    <p:anim calcmode="lin" valueType="num">
                                      <p:cBhvr additive="base">
                                        <p:cTn id="89" dur="500" fill="hold"/>
                                        <p:tgtEl>
                                          <p:spTgt spid="35"/>
                                        </p:tgtEl>
                                        <p:attrNameLst>
                                          <p:attrName>ppt_x</p:attrName>
                                        </p:attrNameLst>
                                      </p:cBhvr>
                                      <p:tavLst>
                                        <p:tav tm="0">
                                          <p:val>
                                            <p:strVal val="#ppt_x"/>
                                          </p:val>
                                        </p:tav>
                                        <p:tav tm="100000">
                                          <p:val>
                                            <p:strVal val="#ppt_x"/>
                                          </p:val>
                                        </p:tav>
                                      </p:tavLst>
                                    </p:anim>
                                    <p:anim calcmode="lin" valueType="num">
                                      <p:cBhvr additive="base">
                                        <p:cTn id="90" dur="500" fill="hold"/>
                                        <p:tgtEl>
                                          <p:spTgt spid="35"/>
                                        </p:tgtEl>
                                        <p:attrNameLst>
                                          <p:attrName>ppt_y</p:attrName>
                                        </p:attrNameLst>
                                      </p:cBhvr>
                                      <p:tavLst>
                                        <p:tav tm="0">
                                          <p:val>
                                            <p:strVal val="1+#ppt_h/2"/>
                                          </p:val>
                                        </p:tav>
                                        <p:tav tm="100000">
                                          <p:val>
                                            <p:strVal val="#ppt_y"/>
                                          </p:val>
                                        </p:tav>
                                      </p:tavLst>
                                    </p:anim>
                                  </p:childTnLst>
                                </p:cTn>
                              </p:par>
                            </p:childTnLst>
                          </p:cTn>
                        </p:par>
                      </p:childTnLst>
                    </p:cTn>
                  </p:par>
                  <p:par>
                    <p:cTn id="91" fill="hold">
                      <p:stCondLst>
                        <p:cond delay="indefinite"/>
                      </p:stCondLst>
                      <p:childTnLst>
                        <p:par>
                          <p:cTn id="92" fill="hold">
                            <p:stCondLst>
                              <p:cond delay="0"/>
                            </p:stCondLst>
                            <p:childTnLst>
                              <p:par>
                                <p:cTn id="93" presetID="2" presetClass="entr" presetSubtype="4" fill="hold" grpId="0" nodeType="clickEffect">
                                  <p:stCondLst>
                                    <p:cond delay="0"/>
                                  </p:stCondLst>
                                  <p:childTnLst>
                                    <p:set>
                                      <p:cBhvr>
                                        <p:cTn id="94" dur="1" fill="hold">
                                          <p:stCondLst>
                                            <p:cond delay="0"/>
                                          </p:stCondLst>
                                        </p:cTn>
                                        <p:tgtEl>
                                          <p:spTgt spid="37"/>
                                        </p:tgtEl>
                                        <p:attrNameLst>
                                          <p:attrName>style.visibility</p:attrName>
                                        </p:attrNameLst>
                                      </p:cBhvr>
                                      <p:to>
                                        <p:strVal val="visible"/>
                                      </p:to>
                                    </p:set>
                                    <p:anim calcmode="lin" valueType="num">
                                      <p:cBhvr additive="base">
                                        <p:cTn id="95" dur="500" fill="hold"/>
                                        <p:tgtEl>
                                          <p:spTgt spid="37"/>
                                        </p:tgtEl>
                                        <p:attrNameLst>
                                          <p:attrName>ppt_x</p:attrName>
                                        </p:attrNameLst>
                                      </p:cBhvr>
                                      <p:tavLst>
                                        <p:tav tm="0">
                                          <p:val>
                                            <p:strVal val="#ppt_x"/>
                                          </p:val>
                                        </p:tav>
                                        <p:tav tm="100000">
                                          <p:val>
                                            <p:strVal val="#ppt_x"/>
                                          </p:val>
                                        </p:tav>
                                      </p:tavLst>
                                    </p:anim>
                                    <p:anim calcmode="lin" valueType="num">
                                      <p:cBhvr additive="base">
                                        <p:cTn id="96" dur="500" fill="hold"/>
                                        <p:tgtEl>
                                          <p:spTgt spid="3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23" grpId="0"/>
      <p:bldP spid="24" grpId="0"/>
      <p:bldP spid="15" grpId="0"/>
      <p:bldP spid="25" grpId="0"/>
      <p:bldP spid="26" grpId="0"/>
      <p:bldP spid="27" grpId="0"/>
      <p:bldP spid="29" grpId="0"/>
      <p:bldP spid="30" grpId="0"/>
      <p:bldP spid="31" grpId="0"/>
      <p:bldP spid="32" grpId="0"/>
      <p:bldP spid="33" grpId="0"/>
      <p:bldP spid="35" grpId="0"/>
      <p:bldP spid="36" grpId="0"/>
      <p:bldP spid="37" grpId="0"/>
      <p:bldP spid="45" grpId="0" animBg="1"/>
      <p:bldP spid="46" grpId="0" animBg="1"/>
      <p:bldP spid="47" grpId="0" animBg="1"/>
      <p:bldP spid="8" grpId="0" animBg="1"/>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ES">
                <a:latin typeface="Century Gothic" panose="020B0502020202020204" pitchFamily="34" charset="0"/>
              </a:rPr>
              <a:t>COMBINACIONES DE Relaciones de Equivalencia </a:t>
            </a:r>
          </a:p>
        </p:txBody>
      </p:sp>
      <p:sp>
        <p:nvSpPr>
          <p:cNvPr id="4" name="Marcador de número de diapositiva 3"/>
          <p:cNvSpPr>
            <a:spLocks noGrp="1"/>
          </p:cNvSpPr>
          <p:nvPr>
            <p:ph type="sldNum" sz="quarter" idx="12"/>
          </p:nvPr>
        </p:nvSpPr>
        <p:spPr/>
        <p:txBody>
          <a:bodyPr/>
          <a:lstStyle/>
          <a:p>
            <a:fld id="{5E3E23BA-6E79-2442-BA73-D218A5E297C3}" type="slidenum">
              <a:rPr lang="en-US" sz="1800" smtClean="0"/>
              <a:t>89</a:t>
            </a:fld>
            <a:endParaRPr lang="en-US" sz="1800"/>
          </a:p>
        </p:txBody>
      </p:sp>
      <mc:AlternateContent xmlns:mc="http://schemas.openxmlformats.org/markup-compatibility/2006" xmlns:a14="http://schemas.microsoft.com/office/drawing/2010/main">
        <mc:Choice Requires="a14">
          <p:sp>
            <p:nvSpPr>
              <p:cNvPr id="11" name="CuadroTexto 10"/>
              <p:cNvSpPr txBox="1"/>
              <p:nvPr/>
            </p:nvSpPr>
            <p:spPr>
              <a:xfrm>
                <a:off x="2526751" y="4988255"/>
                <a:ext cx="1898597" cy="29841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CO" i="1" smtClean="0">
                              <a:solidFill>
                                <a:schemeClr val="accent5">
                                  <a:lumMod val="50000"/>
                                </a:schemeClr>
                              </a:solidFill>
                              <a:latin typeface="Cambria Math" panose="02040503050406030204" pitchFamily="18" charset="0"/>
                            </a:rPr>
                          </m:ctrlPr>
                        </m:sSubPr>
                        <m:e>
                          <m:r>
                            <a:rPr lang="es-CO" i="1">
                              <a:solidFill>
                                <a:schemeClr val="accent5">
                                  <a:lumMod val="50000"/>
                                </a:schemeClr>
                              </a:solidFill>
                              <a:latin typeface="Cambria Math" panose="02040503050406030204" pitchFamily="18" charset="0"/>
                            </a:rPr>
                            <m:t>𝑉</m:t>
                          </m:r>
                        </m:e>
                        <m:sub>
                          <m:r>
                            <a:rPr lang="es-ES" b="0" i="1" smtClean="0">
                              <a:solidFill>
                                <a:schemeClr val="accent5">
                                  <a:lumMod val="50000"/>
                                </a:schemeClr>
                              </a:solidFill>
                              <a:latin typeface="Cambria Math" panose="02040503050406030204" pitchFamily="18" charset="0"/>
                            </a:rPr>
                            <m:t>𝑝</m:t>
                          </m:r>
                          <m:d>
                            <m:dPr>
                              <m:ctrlPr>
                                <a:rPr lang="es-CO" i="1">
                                  <a:solidFill>
                                    <a:schemeClr val="accent5">
                                      <a:lumMod val="50000"/>
                                    </a:schemeClr>
                                  </a:solidFill>
                                  <a:latin typeface="Cambria Math" panose="02040503050406030204" pitchFamily="18" charset="0"/>
                                </a:rPr>
                              </m:ctrlPr>
                            </m:dPr>
                            <m:e>
                              <m:r>
                                <a:rPr lang="es-CO" i="1">
                                  <a:solidFill>
                                    <a:schemeClr val="accent5">
                                      <a:lumMod val="50000"/>
                                    </a:schemeClr>
                                  </a:solidFill>
                                  <a:latin typeface="Cambria Math" panose="02040503050406030204" pitchFamily="18" charset="0"/>
                                </a:rPr>
                                <m:t>0</m:t>
                              </m:r>
                            </m:e>
                          </m:d>
                        </m:sub>
                      </m:sSub>
                      <m:r>
                        <a:rPr lang="es-CO" i="1">
                          <a:solidFill>
                            <a:schemeClr val="accent5">
                              <a:lumMod val="50000"/>
                            </a:schemeClr>
                          </a:solidFill>
                          <a:latin typeface="Cambria Math" panose="02040503050406030204" pitchFamily="18" charset="0"/>
                        </a:rPr>
                        <m:t>(200;10%;3)</m:t>
                      </m:r>
                    </m:oMath>
                  </m:oMathPara>
                </a14:m>
                <a:endParaRPr lang="es-CO" dirty="0">
                  <a:solidFill>
                    <a:schemeClr val="accent5">
                      <a:lumMod val="50000"/>
                    </a:schemeClr>
                  </a:solidFill>
                </a:endParaRPr>
              </a:p>
            </p:txBody>
          </p:sp>
        </mc:Choice>
        <mc:Fallback xmlns="">
          <p:sp>
            <p:nvSpPr>
              <p:cNvPr id="11" name="CuadroTexto 10"/>
              <p:cNvSpPr txBox="1">
                <a:spLocks noRot="1" noChangeAspect="1" noMove="1" noResize="1" noEditPoints="1" noAdjustHandles="1" noChangeArrowheads="1" noChangeShapeType="1" noTextEdit="1"/>
              </p:cNvSpPr>
              <p:nvPr/>
            </p:nvSpPr>
            <p:spPr>
              <a:xfrm>
                <a:off x="2526751" y="4988255"/>
                <a:ext cx="1898597" cy="298415"/>
              </a:xfrm>
              <a:prstGeom prst="rect">
                <a:avLst/>
              </a:prstGeom>
              <a:blipFill>
                <a:blip r:embed="rId3"/>
                <a:stretch>
                  <a:fillRect l="-1987" r="-3311" b="-24000"/>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27" name="Rectángulo 26"/>
              <p:cNvSpPr/>
              <p:nvPr/>
            </p:nvSpPr>
            <p:spPr>
              <a:xfrm>
                <a:off x="4561892" y="4862296"/>
                <a:ext cx="2072170" cy="537519"/>
              </a:xfrm>
              <a:prstGeom prst="rect">
                <a:avLst/>
              </a:prstGeom>
            </p:spPr>
            <p:txBody>
              <a:bodyPr wrap="none">
                <a:spAutoFit/>
              </a:bodyPr>
              <a:lstStyle/>
              <a:p>
                <a14:m>
                  <m:oMath xmlns:m="http://schemas.openxmlformats.org/officeDocument/2006/math">
                    <m:sSub>
                      <m:sSubPr>
                        <m:ctrlPr>
                          <a:rPr lang="es-CO" i="1" smtClean="0">
                            <a:solidFill>
                              <a:schemeClr val="accent3">
                                <a:lumMod val="75000"/>
                              </a:schemeClr>
                            </a:solidFill>
                            <a:latin typeface="Cambria Math" panose="02040503050406030204" pitchFamily="18" charset="0"/>
                          </a:rPr>
                        </m:ctrlPr>
                      </m:sSubPr>
                      <m:e>
                        <m:r>
                          <a:rPr lang="es-CO" i="1">
                            <a:solidFill>
                              <a:schemeClr val="accent3">
                                <a:lumMod val="75000"/>
                              </a:schemeClr>
                            </a:solidFill>
                            <a:latin typeface="Cambria Math" panose="02040503050406030204" pitchFamily="18" charset="0"/>
                          </a:rPr>
                          <m:t>𝑉</m:t>
                        </m:r>
                      </m:e>
                      <m:sub>
                        <m:r>
                          <a:rPr lang="es-ES" b="0" i="1" smtClean="0">
                            <a:solidFill>
                              <a:schemeClr val="accent3">
                                <a:lumMod val="75000"/>
                              </a:schemeClr>
                            </a:solidFill>
                            <a:latin typeface="Cambria Math" panose="02040503050406030204" pitchFamily="18" charset="0"/>
                          </a:rPr>
                          <m:t>𝑝</m:t>
                        </m:r>
                        <m:d>
                          <m:dPr>
                            <m:ctrlPr>
                              <a:rPr lang="es-CO" i="1">
                                <a:solidFill>
                                  <a:schemeClr val="accent3">
                                    <a:lumMod val="75000"/>
                                  </a:schemeClr>
                                </a:solidFill>
                                <a:latin typeface="Cambria Math" panose="02040503050406030204" pitchFamily="18" charset="0"/>
                              </a:rPr>
                            </m:ctrlPr>
                          </m:dPr>
                          <m:e>
                            <m:r>
                              <a:rPr lang="es-CO" i="1">
                                <a:solidFill>
                                  <a:schemeClr val="accent3">
                                    <a:lumMod val="75000"/>
                                  </a:schemeClr>
                                </a:solidFill>
                                <a:latin typeface="Cambria Math" panose="02040503050406030204" pitchFamily="18" charset="0"/>
                              </a:rPr>
                              <m:t>0</m:t>
                            </m:r>
                          </m:e>
                        </m:d>
                      </m:sub>
                    </m:sSub>
                    <m:r>
                      <a:rPr lang="es-CO" i="1">
                        <a:solidFill>
                          <a:schemeClr val="accent3">
                            <a:lumMod val="75000"/>
                          </a:schemeClr>
                        </a:solidFill>
                        <a:latin typeface="Cambria Math" panose="02040503050406030204" pitchFamily="18" charset="0"/>
                      </a:rPr>
                      <m:t>=</m:t>
                    </m:r>
                  </m:oMath>
                </a14:m>
                <a:r>
                  <a:rPr lang="es-CO" dirty="0">
                    <a:solidFill>
                      <a:schemeClr val="accent3">
                        <a:lumMod val="75000"/>
                      </a:schemeClr>
                    </a:solidFill>
                  </a:rPr>
                  <a:t> </a:t>
                </a:r>
                <a14:m>
                  <m:oMath xmlns:m="http://schemas.openxmlformats.org/officeDocument/2006/math">
                    <m:f>
                      <m:fPr>
                        <m:ctrlPr>
                          <a:rPr lang="es-CO" i="1" dirty="0">
                            <a:solidFill>
                              <a:schemeClr val="accent3">
                                <a:lumMod val="75000"/>
                              </a:schemeClr>
                            </a:solidFill>
                            <a:latin typeface="Cambria Math" panose="02040503050406030204" pitchFamily="18" charset="0"/>
                          </a:rPr>
                        </m:ctrlPr>
                      </m:fPr>
                      <m:num>
                        <m:sSub>
                          <m:sSubPr>
                            <m:ctrlPr>
                              <a:rPr lang="es-CO" i="1">
                                <a:solidFill>
                                  <a:schemeClr val="accent3">
                                    <a:lumMod val="75000"/>
                                  </a:schemeClr>
                                </a:solidFill>
                                <a:latin typeface="Cambria Math" panose="02040503050406030204" pitchFamily="18" charset="0"/>
                              </a:rPr>
                            </m:ctrlPr>
                          </m:sSubPr>
                          <m:e>
                            <m:r>
                              <a:rPr lang="es-CO" i="1">
                                <a:solidFill>
                                  <a:schemeClr val="accent3">
                                    <a:lumMod val="75000"/>
                                  </a:schemeClr>
                                </a:solidFill>
                                <a:latin typeface="Cambria Math" panose="02040503050406030204" pitchFamily="18" charset="0"/>
                              </a:rPr>
                              <m:t>𝑉</m:t>
                            </m:r>
                            <m:r>
                              <a:rPr lang="es-CO" i="1">
                                <a:solidFill>
                                  <a:schemeClr val="accent3">
                                    <a:lumMod val="75000"/>
                                  </a:schemeClr>
                                </a:solidFill>
                                <a:latin typeface="Cambria Math" panose="02040503050406030204" pitchFamily="18" charset="0"/>
                              </a:rPr>
                              <m:t>1</m:t>
                            </m:r>
                          </m:e>
                          <m:sub>
                            <m:r>
                              <a:rPr lang="es-ES" b="0" i="1" smtClean="0">
                                <a:solidFill>
                                  <a:schemeClr val="accent3">
                                    <a:lumMod val="75000"/>
                                  </a:schemeClr>
                                </a:solidFill>
                                <a:latin typeface="Cambria Math" panose="02040503050406030204" pitchFamily="18" charset="0"/>
                              </a:rPr>
                              <m:t>𝑝</m:t>
                            </m:r>
                            <m:d>
                              <m:dPr>
                                <m:ctrlPr>
                                  <a:rPr lang="es-CO" i="1">
                                    <a:solidFill>
                                      <a:schemeClr val="accent3">
                                        <a:lumMod val="75000"/>
                                      </a:schemeClr>
                                    </a:solidFill>
                                    <a:latin typeface="Cambria Math" panose="02040503050406030204" pitchFamily="18" charset="0"/>
                                  </a:rPr>
                                </m:ctrlPr>
                              </m:dPr>
                              <m:e>
                                <m:r>
                                  <a:rPr lang="es-CO" i="1">
                                    <a:solidFill>
                                      <a:schemeClr val="accent3">
                                        <a:lumMod val="75000"/>
                                      </a:schemeClr>
                                    </a:solidFill>
                                    <a:latin typeface="Cambria Math" panose="02040503050406030204" pitchFamily="18" charset="0"/>
                                  </a:rPr>
                                  <m:t>3</m:t>
                                </m:r>
                              </m:e>
                            </m:d>
                            <m:r>
                              <a:rPr lang="es-CO" i="1">
                                <a:solidFill>
                                  <a:schemeClr val="accent3">
                                    <a:lumMod val="75000"/>
                                  </a:schemeClr>
                                </a:solidFill>
                                <a:latin typeface="Cambria Math" panose="02040503050406030204" pitchFamily="18" charset="0"/>
                              </a:rPr>
                              <m:t>+</m:t>
                            </m:r>
                          </m:sub>
                        </m:sSub>
                        <m:sSub>
                          <m:sSubPr>
                            <m:ctrlPr>
                              <a:rPr lang="es-CO" i="1">
                                <a:solidFill>
                                  <a:schemeClr val="accent3">
                                    <a:lumMod val="75000"/>
                                  </a:schemeClr>
                                </a:solidFill>
                                <a:latin typeface="Cambria Math" panose="02040503050406030204" pitchFamily="18" charset="0"/>
                              </a:rPr>
                            </m:ctrlPr>
                          </m:sSubPr>
                          <m:e>
                            <m:r>
                              <a:rPr lang="es-CO" i="1">
                                <a:solidFill>
                                  <a:schemeClr val="accent3">
                                    <a:lumMod val="75000"/>
                                  </a:schemeClr>
                                </a:solidFill>
                                <a:latin typeface="Cambria Math" panose="02040503050406030204" pitchFamily="18" charset="0"/>
                              </a:rPr>
                              <m:t>𝑉</m:t>
                            </m:r>
                            <m:r>
                              <a:rPr lang="es-CO" i="1">
                                <a:solidFill>
                                  <a:schemeClr val="accent3">
                                    <a:lumMod val="75000"/>
                                  </a:schemeClr>
                                </a:solidFill>
                                <a:latin typeface="Cambria Math" panose="02040503050406030204" pitchFamily="18" charset="0"/>
                              </a:rPr>
                              <m:t>2</m:t>
                            </m:r>
                          </m:e>
                          <m:sub>
                            <m:r>
                              <a:rPr lang="es-ES" b="0" i="1" smtClean="0">
                                <a:solidFill>
                                  <a:schemeClr val="accent3">
                                    <a:lumMod val="75000"/>
                                  </a:schemeClr>
                                </a:solidFill>
                                <a:latin typeface="Cambria Math" panose="02040503050406030204" pitchFamily="18" charset="0"/>
                              </a:rPr>
                              <m:t>𝑝</m:t>
                            </m:r>
                            <m:d>
                              <m:dPr>
                                <m:ctrlPr>
                                  <a:rPr lang="es-CO" i="1">
                                    <a:solidFill>
                                      <a:schemeClr val="accent3">
                                        <a:lumMod val="75000"/>
                                      </a:schemeClr>
                                    </a:solidFill>
                                    <a:latin typeface="Cambria Math" panose="02040503050406030204" pitchFamily="18" charset="0"/>
                                  </a:rPr>
                                </m:ctrlPr>
                              </m:dPr>
                              <m:e>
                                <m:r>
                                  <a:rPr lang="es-CO" i="1">
                                    <a:solidFill>
                                      <a:schemeClr val="accent3">
                                        <a:lumMod val="75000"/>
                                      </a:schemeClr>
                                    </a:solidFill>
                                    <a:latin typeface="Cambria Math" panose="02040503050406030204" pitchFamily="18" charset="0"/>
                                  </a:rPr>
                                  <m:t>3</m:t>
                                </m:r>
                              </m:e>
                            </m:d>
                          </m:sub>
                        </m:sSub>
                      </m:num>
                      <m:den>
                        <m:sSup>
                          <m:sSupPr>
                            <m:ctrlPr>
                              <a:rPr lang="es-CO" i="1" dirty="0">
                                <a:solidFill>
                                  <a:schemeClr val="accent3">
                                    <a:lumMod val="75000"/>
                                  </a:schemeClr>
                                </a:solidFill>
                                <a:latin typeface="Cambria Math" panose="02040503050406030204" pitchFamily="18" charset="0"/>
                              </a:rPr>
                            </m:ctrlPr>
                          </m:sSupPr>
                          <m:e>
                            <m:d>
                              <m:dPr>
                                <m:ctrlPr>
                                  <a:rPr lang="es-CO" i="1" dirty="0">
                                    <a:solidFill>
                                      <a:schemeClr val="accent3">
                                        <a:lumMod val="75000"/>
                                      </a:schemeClr>
                                    </a:solidFill>
                                    <a:latin typeface="Cambria Math" panose="02040503050406030204" pitchFamily="18" charset="0"/>
                                  </a:rPr>
                                </m:ctrlPr>
                              </m:dPr>
                              <m:e>
                                <m:r>
                                  <a:rPr lang="es-CO" i="1" dirty="0">
                                    <a:solidFill>
                                      <a:schemeClr val="accent3">
                                        <a:lumMod val="75000"/>
                                      </a:schemeClr>
                                    </a:solidFill>
                                    <a:latin typeface="Cambria Math" panose="02040503050406030204" pitchFamily="18" charset="0"/>
                                  </a:rPr>
                                  <m:t>1+10%</m:t>
                                </m:r>
                              </m:e>
                            </m:d>
                          </m:e>
                          <m:sup>
                            <m:r>
                              <a:rPr lang="es-CO" i="1" dirty="0">
                                <a:solidFill>
                                  <a:schemeClr val="accent3">
                                    <a:lumMod val="75000"/>
                                  </a:schemeClr>
                                </a:solidFill>
                                <a:latin typeface="Cambria Math" panose="02040503050406030204" pitchFamily="18" charset="0"/>
                              </a:rPr>
                              <m:t>3</m:t>
                            </m:r>
                          </m:sup>
                        </m:sSup>
                      </m:den>
                    </m:f>
                  </m:oMath>
                </a14:m>
                <a:endParaRPr lang="es-CO" dirty="0">
                  <a:solidFill>
                    <a:schemeClr val="accent3">
                      <a:lumMod val="75000"/>
                    </a:schemeClr>
                  </a:solidFill>
                </a:endParaRPr>
              </a:p>
            </p:txBody>
          </p:sp>
        </mc:Choice>
        <mc:Fallback xmlns="">
          <p:sp>
            <p:nvSpPr>
              <p:cNvPr id="27" name="Rectángulo 26"/>
              <p:cNvSpPr>
                <a:spLocks noRot="1" noChangeAspect="1" noMove="1" noResize="1" noEditPoints="1" noAdjustHandles="1" noChangeArrowheads="1" noChangeShapeType="1" noTextEdit="1"/>
              </p:cNvSpPr>
              <p:nvPr/>
            </p:nvSpPr>
            <p:spPr>
              <a:xfrm>
                <a:off x="4561892" y="4862296"/>
                <a:ext cx="2072170" cy="537519"/>
              </a:xfrm>
              <a:prstGeom prst="rect">
                <a:avLst/>
              </a:prstGeom>
              <a:blipFill>
                <a:blip r:embed="rId4"/>
                <a:stretch>
                  <a:fillRect/>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33" name="Rectángulo 32"/>
              <p:cNvSpPr/>
              <p:nvPr/>
            </p:nvSpPr>
            <p:spPr>
              <a:xfrm>
                <a:off x="6910614" y="4868863"/>
                <a:ext cx="2219390" cy="537519"/>
              </a:xfrm>
              <a:prstGeom prst="rect">
                <a:avLst/>
              </a:prstGeom>
            </p:spPr>
            <p:txBody>
              <a:bodyPr wrap="none">
                <a:spAutoFit/>
              </a:bodyPr>
              <a:lstStyle/>
              <a:p>
                <a14:m>
                  <m:oMath xmlns:m="http://schemas.openxmlformats.org/officeDocument/2006/math">
                    <m:sSub>
                      <m:sSubPr>
                        <m:ctrlPr>
                          <a:rPr lang="es-CO" i="1" smtClean="0">
                            <a:solidFill>
                              <a:schemeClr val="accent6">
                                <a:lumMod val="50000"/>
                              </a:schemeClr>
                            </a:solidFill>
                            <a:latin typeface="Cambria Math" panose="02040503050406030204" pitchFamily="18" charset="0"/>
                          </a:rPr>
                        </m:ctrlPr>
                      </m:sSubPr>
                      <m:e>
                        <m:r>
                          <a:rPr lang="es-CO" i="1">
                            <a:solidFill>
                              <a:schemeClr val="accent6">
                                <a:lumMod val="50000"/>
                              </a:schemeClr>
                            </a:solidFill>
                            <a:latin typeface="Cambria Math" panose="02040503050406030204" pitchFamily="18" charset="0"/>
                          </a:rPr>
                          <m:t>𝑉</m:t>
                        </m:r>
                      </m:e>
                      <m:sub>
                        <m:r>
                          <a:rPr lang="es-CO" i="1">
                            <a:solidFill>
                              <a:schemeClr val="accent6">
                                <a:lumMod val="50000"/>
                              </a:schemeClr>
                            </a:solidFill>
                            <a:latin typeface="Cambria Math" panose="02040503050406030204" pitchFamily="18" charset="0"/>
                          </a:rPr>
                          <m:t>𝑓</m:t>
                        </m:r>
                        <m:d>
                          <m:dPr>
                            <m:ctrlPr>
                              <a:rPr lang="es-CO" i="1">
                                <a:solidFill>
                                  <a:schemeClr val="accent6">
                                    <a:lumMod val="50000"/>
                                  </a:schemeClr>
                                </a:solidFill>
                                <a:latin typeface="Cambria Math" panose="02040503050406030204" pitchFamily="18" charset="0"/>
                              </a:rPr>
                            </m:ctrlPr>
                          </m:dPr>
                          <m:e>
                            <m:r>
                              <a:rPr lang="es-CO" i="1">
                                <a:solidFill>
                                  <a:schemeClr val="accent6">
                                    <a:lumMod val="50000"/>
                                  </a:schemeClr>
                                </a:solidFill>
                                <a:latin typeface="Cambria Math" panose="02040503050406030204" pitchFamily="18" charset="0"/>
                              </a:rPr>
                              <m:t>0</m:t>
                            </m:r>
                          </m:e>
                        </m:d>
                      </m:sub>
                    </m:sSub>
                    <m:r>
                      <a:rPr lang="es-CO" i="1">
                        <a:solidFill>
                          <a:schemeClr val="accent6">
                            <a:lumMod val="50000"/>
                          </a:schemeClr>
                        </a:solidFill>
                        <a:latin typeface="Cambria Math" panose="02040503050406030204" pitchFamily="18" charset="0"/>
                      </a:rPr>
                      <m:t>=</m:t>
                    </m:r>
                  </m:oMath>
                </a14:m>
                <a:r>
                  <a:rPr lang="es-CO" dirty="0">
                    <a:solidFill>
                      <a:schemeClr val="accent6">
                        <a:lumMod val="50000"/>
                      </a:schemeClr>
                    </a:solidFill>
                  </a:rPr>
                  <a:t> </a:t>
                </a:r>
                <a14:m>
                  <m:oMath xmlns:m="http://schemas.openxmlformats.org/officeDocument/2006/math">
                    <m:f>
                      <m:fPr>
                        <m:ctrlPr>
                          <a:rPr lang="es-CO" i="1" dirty="0">
                            <a:solidFill>
                              <a:schemeClr val="accent6">
                                <a:lumMod val="50000"/>
                              </a:schemeClr>
                            </a:solidFill>
                            <a:latin typeface="Cambria Math" panose="02040503050406030204" pitchFamily="18" charset="0"/>
                          </a:rPr>
                        </m:ctrlPr>
                      </m:fPr>
                      <m:num>
                        <m:sSub>
                          <m:sSubPr>
                            <m:ctrlPr>
                              <a:rPr lang="es-CO" i="1">
                                <a:solidFill>
                                  <a:schemeClr val="accent6">
                                    <a:lumMod val="50000"/>
                                  </a:schemeClr>
                                </a:solidFill>
                                <a:latin typeface="Cambria Math" panose="02040503050406030204" pitchFamily="18" charset="0"/>
                              </a:rPr>
                            </m:ctrlPr>
                          </m:sSubPr>
                          <m:e>
                            <m:r>
                              <a:rPr lang="es-CO" i="1">
                                <a:solidFill>
                                  <a:schemeClr val="accent6">
                                    <a:lumMod val="50000"/>
                                  </a:schemeClr>
                                </a:solidFill>
                                <a:latin typeface="Cambria Math" panose="02040503050406030204" pitchFamily="18" charset="0"/>
                              </a:rPr>
                              <m:t>𝑉</m:t>
                            </m:r>
                            <m:r>
                              <a:rPr lang="es-CO" i="1">
                                <a:solidFill>
                                  <a:schemeClr val="accent6">
                                    <a:lumMod val="50000"/>
                                  </a:schemeClr>
                                </a:solidFill>
                                <a:latin typeface="Cambria Math" panose="02040503050406030204" pitchFamily="18" charset="0"/>
                              </a:rPr>
                              <m:t>1</m:t>
                            </m:r>
                          </m:e>
                          <m:sub>
                            <m:r>
                              <a:rPr lang="es-ES" b="0" i="1" smtClean="0">
                                <a:solidFill>
                                  <a:schemeClr val="accent6">
                                    <a:lumMod val="50000"/>
                                  </a:schemeClr>
                                </a:solidFill>
                                <a:latin typeface="Cambria Math" panose="02040503050406030204" pitchFamily="18" charset="0"/>
                              </a:rPr>
                              <m:t>𝑝</m:t>
                            </m:r>
                            <m:d>
                              <m:dPr>
                                <m:ctrlPr>
                                  <a:rPr lang="es-CO" i="1">
                                    <a:solidFill>
                                      <a:schemeClr val="accent6">
                                        <a:lumMod val="50000"/>
                                      </a:schemeClr>
                                    </a:solidFill>
                                    <a:latin typeface="Cambria Math" panose="02040503050406030204" pitchFamily="18" charset="0"/>
                                  </a:rPr>
                                </m:ctrlPr>
                              </m:dPr>
                              <m:e>
                                <m:r>
                                  <a:rPr lang="es-CO" i="1">
                                    <a:solidFill>
                                      <a:schemeClr val="accent6">
                                        <a:lumMod val="50000"/>
                                      </a:schemeClr>
                                    </a:solidFill>
                                    <a:latin typeface="Cambria Math" panose="02040503050406030204" pitchFamily="18" charset="0"/>
                                  </a:rPr>
                                  <m:t>10</m:t>
                                </m:r>
                              </m:e>
                            </m:d>
                            <m:r>
                              <a:rPr lang="es-CO" i="1">
                                <a:solidFill>
                                  <a:schemeClr val="accent6">
                                    <a:lumMod val="50000"/>
                                  </a:schemeClr>
                                </a:solidFill>
                                <a:latin typeface="Cambria Math" panose="02040503050406030204" pitchFamily="18" charset="0"/>
                              </a:rPr>
                              <m:t>−</m:t>
                            </m:r>
                          </m:sub>
                        </m:sSub>
                        <m:sSub>
                          <m:sSubPr>
                            <m:ctrlPr>
                              <a:rPr lang="es-CO" i="1">
                                <a:solidFill>
                                  <a:schemeClr val="accent6">
                                    <a:lumMod val="50000"/>
                                  </a:schemeClr>
                                </a:solidFill>
                                <a:latin typeface="Cambria Math" panose="02040503050406030204" pitchFamily="18" charset="0"/>
                              </a:rPr>
                            </m:ctrlPr>
                          </m:sSubPr>
                          <m:e>
                            <m:r>
                              <a:rPr lang="es-CO" i="1">
                                <a:solidFill>
                                  <a:schemeClr val="accent6">
                                    <a:lumMod val="50000"/>
                                  </a:schemeClr>
                                </a:solidFill>
                                <a:latin typeface="Cambria Math" panose="02040503050406030204" pitchFamily="18" charset="0"/>
                              </a:rPr>
                              <m:t>𝑉</m:t>
                            </m:r>
                            <m:r>
                              <a:rPr lang="es-CO" i="1">
                                <a:solidFill>
                                  <a:schemeClr val="accent6">
                                    <a:lumMod val="50000"/>
                                  </a:schemeClr>
                                </a:solidFill>
                                <a:latin typeface="Cambria Math" panose="02040503050406030204" pitchFamily="18" charset="0"/>
                              </a:rPr>
                              <m:t>2</m:t>
                            </m:r>
                          </m:e>
                          <m:sub>
                            <m:r>
                              <a:rPr lang="es-ES" b="0" i="1" smtClean="0">
                                <a:solidFill>
                                  <a:schemeClr val="accent6">
                                    <a:lumMod val="50000"/>
                                  </a:schemeClr>
                                </a:solidFill>
                                <a:latin typeface="Cambria Math" panose="02040503050406030204" pitchFamily="18" charset="0"/>
                              </a:rPr>
                              <m:t>𝑝</m:t>
                            </m:r>
                            <m:d>
                              <m:dPr>
                                <m:ctrlPr>
                                  <a:rPr lang="es-CO" i="1">
                                    <a:solidFill>
                                      <a:schemeClr val="accent6">
                                        <a:lumMod val="50000"/>
                                      </a:schemeClr>
                                    </a:solidFill>
                                    <a:latin typeface="Cambria Math" panose="02040503050406030204" pitchFamily="18" charset="0"/>
                                  </a:rPr>
                                </m:ctrlPr>
                              </m:dPr>
                              <m:e>
                                <m:r>
                                  <a:rPr lang="es-CO" i="1">
                                    <a:solidFill>
                                      <a:schemeClr val="accent6">
                                        <a:lumMod val="50000"/>
                                      </a:schemeClr>
                                    </a:solidFill>
                                    <a:latin typeface="Cambria Math" panose="02040503050406030204" pitchFamily="18" charset="0"/>
                                  </a:rPr>
                                  <m:t>10</m:t>
                                </m:r>
                              </m:e>
                            </m:d>
                          </m:sub>
                        </m:sSub>
                      </m:num>
                      <m:den>
                        <m:sSup>
                          <m:sSupPr>
                            <m:ctrlPr>
                              <a:rPr lang="es-CO" i="1" dirty="0">
                                <a:solidFill>
                                  <a:schemeClr val="accent6">
                                    <a:lumMod val="50000"/>
                                  </a:schemeClr>
                                </a:solidFill>
                                <a:latin typeface="Cambria Math" panose="02040503050406030204" pitchFamily="18" charset="0"/>
                              </a:rPr>
                            </m:ctrlPr>
                          </m:sSupPr>
                          <m:e>
                            <m:d>
                              <m:dPr>
                                <m:ctrlPr>
                                  <a:rPr lang="es-CO" i="1" dirty="0">
                                    <a:solidFill>
                                      <a:schemeClr val="accent6">
                                        <a:lumMod val="50000"/>
                                      </a:schemeClr>
                                    </a:solidFill>
                                    <a:latin typeface="Cambria Math" panose="02040503050406030204" pitchFamily="18" charset="0"/>
                                  </a:rPr>
                                </m:ctrlPr>
                              </m:dPr>
                              <m:e>
                                <m:r>
                                  <a:rPr lang="es-CO" i="1" dirty="0">
                                    <a:solidFill>
                                      <a:schemeClr val="accent6">
                                        <a:lumMod val="50000"/>
                                      </a:schemeClr>
                                    </a:solidFill>
                                    <a:latin typeface="Cambria Math" panose="02040503050406030204" pitchFamily="18" charset="0"/>
                                  </a:rPr>
                                  <m:t>1+10%</m:t>
                                </m:r>
                              </m:e>
                            </m:d>
                          </m:e>
                          <m:sup>
                            <m:r>
                              <a:rPr lang="es-CO" i="1" dirty="0">
                                <a:solidFill>
                                  <a:schemeClr val="accent6">
                                    <a:lumMod val="50000"/>
                                  </a:schemeClr>
                                </a:solidFill>
                                <a:latin typeface="Cambria Math" panose="02040503050406030204" pitchFamily="18" charset="0"/>
                              </a:rPr>
                              <m:t>10</m:t>
                            </m:r>
                          </m:sup>
                        </m:sSup>
                      </m:den>
                    </m:f>
                  </m:oMath>
                </a14:m>
                <a:endParaRPr lang="es-CO" dirty="0">
                  <a:solidFill>
                    <a:schemeClr val="accent6">
                      <a:lumMod val="50000"/>
                    </a:schemeClr>
                  </a:solidFill>
                </a:endParaRPr>
              </a:p>
            </p:txBody>
          </p:sp>
        </mc:Choice>
        <mc:Fallback xmlns="">
          <p:sp>
            <p:nvSpPr>
              <p:cNvPr id="33" name="Rectángulo 32"/>
              <p:cNvSpPr>
                <a:spLocks noRot="1" noChangeAspect="1" noMove="1" noResize="1" noEditPoints="1" noAdjustHandles="1" noChangeArrowheads="1" noChangeShapeType="1" noTextEdit="1"/>
              </p:cNvSpPr>
              <p:nvPr/>
            </p:nvSpPr>
            <p:spPr>
              <a:xfrm>
                <a:off x="6910614" y="4868863"/>
                <a:ext cx="2219390" cy="537519"/>
              </a:xfrm>
              <a:prstGeom prst="rect">
                <a:avLst/>
              </a:prstGeom>
              <a:blipFill>
                <a:blip r:embed="rId5"/>
                <a:stretch>
                  <a:fillRect/>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37" name="Rectángulo 36"/>
              <p:cNvSpPr/>
              <p:nvPr/>
            </p:nvSpPr>
            <p:spPr>
              <a:xfrm>
                <a:off x="9473582" y="4868059"/>
                <a:ext cx="1831014" cy="538032"/>
              </a:xfrm>
              <a:prstGeom prst="rect">
                <a:avLst/>
              </a:prstGeom>
            </p:spPr>
            <p:txBody>
              <a:bodyPr wrap="none">
                <a:spAutoFit/>
              </a:bodyPr>
              <a:lstStyle/>
              <a:p>
                <a14:m>
                  <m:oMath xmlns:m="http://schemas.openxmlformats.org/officeDocument/2006/math">
                    <m:sSub>
                      <m:sSubPr>
                        <m:ctrlPr>
                          <a:rPr lang="es-CO" i="1" smtClean="0">
                            <a:solidFill>
                              <a:schemeClr val="accent1"/>
                            </a:solidFill>
                            <a:latin typeface="Cambria Math" panose="02040503050406030204" pitchFamily="18" charset="0"/>
                          </a:rPr>
                        </m:ctrlPr>
                      </m:sSubPr>
                      <m:e>
                        <m:r>
                          <a:rPr lang="es-CO" i="1">
                            <a:solidFill>
                              <a:schemeClr val="accent1"/>
                            </a:solidFill>
                            <a:latin typeface="Cambria Math" panose="02040503050406030204" pitchFamily="18" charset="0"/>
                          </a:rPr>
                          <m:t>𝑉</m:t>
                        </m:r>
                      </m:e>
                      <m:sub>
                        <m:r>
                          <a:rPr lang="es-ES" b="0" i="1" smtClean="0">
                            <a:solidFill>
                              <a:schemeClr val="accent1"/>
                            </a:solidFill>
                            <a:latin typeface="Cambria Math" panose="02040503050406030204" pitchFamily="18" charset="0"/>
                          </a:rPr>
                          <m:t>𝑝</m:t>
                        </m:r>
                        <m:d>
                          <m:dPr>
                            <m:ctrlPr>
                              <a:rPr lang="es-CO" i="1">
                                <a:solidFill>
                                  <a:schemeClr val="accent1"/>
                                </a:solidFill>
                                <a:latin typeface="Cambria Math" panose="02040503050406030204" pitchFamily="18" charset="0"/>
                              </a:rPr>
                            </m:ctrlPr>
                          </m:dPr>
                          <m:e>
                            <m:r>
                              <a:rPr lang="es-CO" i="1">
                                <a:solidFill>
                                  <a:schemeClr val="accent1"/>
                                </a:solidFill>
                                <a:latin typeface="Cambria Math" panose="02040503050406030204" pitchFamily="18" charset="0"/>
                              </a:rPr>
                              <m:t>0</m:t>
                            </m:r>
                          </m:e>
                        </m:d>
                      </m:sub>
                    </m:sSub>
                    <m:r>
                      <a:rPr lang="es-CO" i="1">
                        <a:solidFill>
                          <a:schemeClr val="accent1"/>
                        </a:solidFill>
                        <a:latin typeface="Cambria Math" panose="02040503050406030204" pitchFamily="18" charset="0"/>
                      </a:rPr>
                      <m:t>=</m:t>
                    </m:r>
                  </m:oMath>
                </a14:m>
                <a:r>
                  <a:rPr lang="es-CO" dirty="0">
                    <a:solidFill>
                      <a:schemeClr val="accent1"/>
                    </a:solidFill>
                  </a:rPr>
                  <a:t> </a:t>
                </a:r>
                <a14:m>
                  <m:oMath xmlns:m="http://schemas.openxmlformats.org/officeDocument/2006/math">
                    <m:f>
                      <m:fPr>
                        <m:ctrlPr>
                          <a:rPr lang="es-CO" i="1" dirty="0">
                            <a:solidFill>
                              <a:schemeClr val="accent1"/>
                            </a:solidFill>
                            <a:latin typeface="Cambria Math" panose="02040503050406030204" pitchFamily="18" charset="0"/>
                          </a:rPr>
                        </m:ctrlPr>
                      </m:fPr>
                      <m:num>
                        <m:sSub>
                          <m:sSubPr>
                            <m:ctrlPr>
                              <a:rPr lang="es-CO" i="1">
                                <a:solidFill>
                                  <a:schemeClr val="accent1"/>
                                </a:solidFill>
                                <a:latin typeface="Cambria Math" panose="02040503050406030204" pitchFamily="18" charset="0"/>
                              </a:rPr>
                            </m:ctrlPr>
                          </m:sSubPr>
                          <m:e>
                            <m:r>
                              <a:rPr lang="es-CO" i="1">
                                <a:solidFill>
                                  <a:schemeClr val="accent1"/>
                                </a:solidFill>
                                <a:latin typeface="Cambria Math" panose="02040503050406030204" pitchFamily="18" charset="0"/>
                              </a:rPr>
                              <m:t>𝑉</m:t>
                            </m:r>
                          </m:e>
                          <m:sub>
                            <m:r>
                              <a:rPr lang="es-ES" b="0" i="1" smtClean="0">
                                <a:solidFill>
                                  <a:schemeClr val="accent1"/>
                                </a:solidFill>
                                <a:latin typeface="Cambria Math" panose="02040503050406030204" pitchFamily="18" charset="0"/>
                              </a:rPr>
                              <m:t>𝑝</m:t>
                            </m:r>
                            <m:d>
                              <m:dPr>
                                <m:ctrlPr>
                                  <a:rPr lang="es-CO" i="1">
                                    <a:solidFill>
                                      <a:schemeClr val="accent1"/>
                                    </a:solidFill>
                                    <a:latin typeface="Cambria Math" panose="02040503050406030204" pitchFamily="18" charset="0"/>
                                  </a:rPr>
                                </m:ctrlPr>
                              </m:dPr>
                              <m:e>
                                <m:r>
                                  <a:rPr lang="es-CO" i="1">
                                    <a:solidFill>
                                      <a:schemeClr val="accent1"/>
                                    </a:solidFill>
                                    <a:latin typeface="Cambria Math" panose="02040503050406030204" pitchFamily="18" charset="0"/>
                                  </a:rPr>
                                  <m:t>15</m:t>
                                </m:r>
                              </m:e>
                            </m:d>
                          </m:sub>
                        </m:sSub>
                      </m:num>
                      <m:den>
                        <m:sSup>
                          <m:sSupPr>
                            <m:ctrlPr>
                              <a:rPr lang="es-CO" i="1" dirty="0">
                                <a:solidFill>
                                  <a:schemeClr val="accent1"/>
                                </a:solidFill>
                                <a:latin typeface="Cambria Math" panose="02040503050406030204" pitchFamily="18" charset="0"/>
                              </a:rPr>
                            </m:ctrlPr>
                          </m:sSupPr>
                          <m:e>
                            <m:d>
                              <m:dPr>
                                <m:ctrlPr>
                                  <a:rPr lang="es-CO" i="1" dirty="0">
                                    <a:solidFill>
                                      <a:schemeClr val="accent1"/>
                                    </a:solidFill>
                                    <a:latin typeface="Cambria Math" panose="02040503050406030204" pitchFamily="18" charset="0"/>
                                  </a:rPr>
                                </m:ctrlPr>
                              </m:dPr>
                              <m:e>
                                <m:r>
                                  <a:rPr lang="es-CO" i="1" dirty="0">
                                    <a:solidFill>
                                      <a:schemeClr val="accent1"/>
                                    </a:solidFill>
                                    <a:latin typeface="Cambria Math" panose="02040503050406030204" pitchFamily="18" charset="0"/>
                                  </a:rPr>
                                  <m:t>1+10%</m:t>
                                </m:r>
                              </m:e>
                            </m:d>
                          </m:e>
                          <m:sup>
                            <m:r>
                              <a:rPr lang="es-CO" i="1" dirty="0">
                                <a:solidFill>
                                  <a:schemeClr val="accent1"/>
                                </a:solidFill>
                                <a:latin typeface="Cambria Math" panose="02040503050406030204" pitchFamily="18" charset="0"/>
                              </a:rPr>
                              <m:t>15</m:t>
                            </m:r>
                          </m:sup>
                        </m:sSup>
                      </m:den>
                    </m:f>
                  </m:oMath>
                </a14:m>
                <a:endParaRPr lang="es-CO" dirty="0">
                  <a:solidFill>
                    <a:schemeClr val="accent1"/>
                  </a:solidFill>
                </a:endParaRPr>
              </a:p>
            </p:txBody>
          </p:sp>
        </mc:Choice>
        <mc:Fallback xmlns="">
          <p:sp>
            <p:nvSpPr>
              <p:cNvPr id="37" name="Rectángulo 36"/>
              <p:cNvSpPr>
                <a:spLocks noRot="1" noChangeAspect="1" noMove="1" noResize="1" noEditPoints="1" noAdjustHandles="1" noChangeArrowheads="1" noChangeShapeType="1" noTextEdit="1"/>
              </p:cNvSpPr>
              <p:nvPr/>
            </p:nvSpPr>
            <p:spPr>
              <a:xfrm>
                <a:off x="9473582" y="4868059"/>
                <a:ext cx="1831014" cy="538032"/>
              </a:xfrm>
              <a:prstGeom prst="rect">
                <a:avLst/>
              </a:prstGeom>
              <a:blipFill>
                <a:blip r:embed="rId6"/>
                <a:stretch>
                  <a:fillRect/>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38" name="CuadroTexto 37"/>
              <p:cNvSpPr txBox="1"/>
              <p:nvPr/>
            </p:nvSpPr>
            <p:spPr>
              <a:xfrm>
                <a:off x="6267370" y="5729914"/>
                <a:ext cx="1841851"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CO" b="1" i="0" smtClean="0">
                          <a:solidFill>
                            <a:schemeClr val="tx1"/>
                          </a:solidFill>
                          <a:latin typeface="Cambria Math" panose="02040503050406030204" pitchFamily="18" charset="0"/>
                        </a:rPr>
                        <m:t>𝐕𝐏</m:t>
                      </m:r>
                      <m:r>
                        <a:rPr lang="es-CO" b="1" i="0" smtClean="0">
                          <a:solidFill>
                            <a:schemeClr val="tx1"/>
                          </a:solidFill>
                          <a:latin typeface="Cambria Math" panose="02040503050406030204" pitchFamily="18" charset="0"/>
                        </a:rPr>
                        <m:t>=$ </m:t>
                      </m:r>
                      <m:r>
                        <a:rPr lang="es-CO" b="1" i="0" smtClean="0">
                          <a:solidFill>
                            <a:schemeClr val="tx1"/>
                          </a:solidFill>
                          <a:latin typeface="Cambria Math" panose="02040503050406030204" pitchFamily="18" charset="0"/>
                        </a:rPr>
                        <m:t>𝟏</m:t>
                      </m:r>
                      <m:r>
                        <a:rPr lang="es-CO" b="1" i="0" smtClean="0">
                          <a:solidFill>
                            <a:schemeClr val="tx1"/>
                          </a:solidFill>
                          <a:latin typeface="Cambria Math" panose="02040503050406030204" pitchFamily="18" charset="0"/>
                        </a:rPr>
                        <m:t>.</m:t>
                      </m:r>
                      <m:r>
                        <a:rPr lang="es-CO" b="1" i="0" smtClean="0">
                          <a:solidFill>
                            <a:schemeClr val="tx1"/>
                          </a:solidFill>
                          <a:latin typeface="Cambria Math" panose="02040503050406030204" pitchFamily="18" charset="0"/>
                        </a:rPr>
                        <m:t>𝟗𝟏𝟔</m:t>
                      </m:r>
                      <m:r>
                        <a:rPr lang="es-CO" b="1" i="0" smtClean="0">
                          <a:solidFill>
                            <a:schemeClr val="tx1"/>
                          </a:solidFill>
                          <a:latin typeface="Cambria Math" panose="02040503050406030204" pitchFamily="18" charset="0"/>
                        </a:rPr>
                        <m:t>,</m:t>
                      </m:r>
                      <m:r>
                        <a:rPr lang="es-CO" b="1" i="0" smtClean="0">
                          <a:solidFill>
                            <a:schemeClr val="tx1"/>
                          </a:solidFill>
                          <a:latin typeface="Cambria Math" panose="02040503050406030204" pitchFamily="18" charset="0"/>
                        </a:rPr>
                        <m:t>𝟏𝟗</m:t>
                      </m:r>
                    </m:oMath>
                  </m:oMathPara>
                </a14:m>
                <a:endParaRPr lang="es-CO" b="1">
                  <a:solidFill>
                    <a:schemeClr val="tx1"/>
                  </a:solidFill>
                </a:endParaRPr>
              </a:p>
            </p:txBody>
          </p:sp>
        </mc:Choice>
        <mc:Fallback xmlns="">
          <p:sp>
            <p:nvSpPr>
              <p:cNvPr id="38" name="CuadroTexto 37"/>
              <p:cNvSpPr txBox="1">
                <a:spLocks noRot="1" noChangeAspect="1" noMove="1" noResize="1" noEditPoints="1" noAdjustHandles="1" noChangeArrowheads="1" noChangeShapeType="1" noTextEdit="1"/>
              </p:cNvSpPr>
              <p:nvPr/>
            </p:nvSpPr>
            <p:spPr>
              <a:xfrm>
                <a:off x="6267370" y="5729914"/>
                <a:ext cx="1841851" cy="276999"/>
              </a:xfrm>
              <a:prstGeom prst="rect">
                <a:avLst/>
              </a:prstGeom>
              <a:blipFill>
                <a:blip r:embed="rId7"/>
                <a:stretch>
                  <a:fillRect l="-1370" t="-9091" r="-2055" b="-40909"/>
                </a:stretch>
              </a:blipFill>
            </p:spPr>
            <p:txBody>
              <a:bodyPr/>
              <a:lstStyle/>
              <a:p>
                <a:r>
                  <a:rPr lang="es-CO">
                    <a:noFill/>
                  </a:rPr>
                  <a:t> </a:t>
                </a:r>
              </a:p>
            </p:txBody>
          </p:sp>
        </mc:Fallback>
      </mc:AlternateContent>
      <p:sp>
        <p:nvSpPr>
          <p:cNvPr id="18" name="Rectángulo 17">
            <a:extLst>
              <a:ext uri="{FF2B5EF4-FFF2-40B4-BE49-F238E27FC236}">
                <a16:creationId xmlns:a16="http://schemas.microsoft.com/office/drawing/2014/main" id="{4B19CDA7-0C86-462A-8B43-1594FE087363}"/>
              </a:ext>
            </a:extLst>
          </p:cNvPr>
          <p:cNvSpPr/>
          <p:nvPr/>
        </p:nvSpPr>
        <p:spPr>
          <a:xfrm>
            <a:off x="581192" y="2026344"/>
            <a:ext cx="1399742" cy="400110"/>
          </a:xfrm>
          <a:prstGeom prst="rect">
            <a:avLst/>
          </a:prstGeom>
        </p:spPr>
        <p:txBody>
          <a:bodyPr wrap="none">
            <a:spAutoFit/>
          </a:bodyPr>
          <a:lstStyle/>
          <a:p>
            <a:r>
              <a:rPr lang="es-ES_tradnl" sz="2000" b="1">
                <a:solidFill>
                  <a:srgbClr val="C00000"/>
                </a:solidFill>
                <a:latin typeface="Century Gothic" panose="020B0502020202020204" pitchFamily="34" charset="0"/>
              </a:rPr>
              <a:t>Ejemplo 2</a:t>
            </a:r>
            <a:endParaRPr lang="es-CO" sz="2000" b="1">
              <a:solidFill>
                <a:srgbClr val="C00000"/>
              </a:solidFill>
              <a:latin typeface="Century Gothic" panose="020B0502020202020204" pitchFamily="34" charset="0"/>
            </a:endParaRPr>
          </a:p>
        </p:txBody>
      </p:sp>
      <p:sp>
        <p:nvSpPr>
          <p:cNvPr id="19" name="CuadroTexto 18">
            <a:extLst>
              <a:ext uri="{FF2B5EF4-FFF2-40B4-BE49-F238E27FC236}">
                <a16:creationId xmlns:a16="http://schemas.microsoft.com/office/drawing/2014/main" id="{227913FA-4FE3-4210-9869-6E7B84961E1B}"/>
              </a:ext>
            </a:extLst>
          </p:cNvPr>
          <p:cNvSpPr txBox="1"/>
          <p:nvPr/>
        </p:nvSpPr>
        <p:spPr>
          <a:xfrm>
            <a:off x="11098273" y="3681900"/>
            <a:ext cx="1622323" cy="307777"/>
          </a:xfrm>
          <a:prstGeom prst="rect">
            <a:avLst/>
          </a:prstGeom>
          <a:noFill/>
        </p:spPr>
        <p:txBody>
          <a:bodyPr wrap="square" rtlCol="0">
            <a:spAutoFit/>
          </a:bodyPr>
          <a:lstStyle/>
          <a:p>
            <a:r>
              <a:rPr lang="es-CO" sz="1400" b="1">
                <a:solidFill>
                  <a:srgbClr val="D7A700"/>
                </a:solidFill>
                <a:latin typeface="Century Gothic" panose="020B0502020202020204" pitchFamily="34" charset="0"/>
              </a:rPr>
              <a:t>Meses </a:t>
            </a:r>
          </a:p>
        </p:txBody>
      </p:sp>
      <p:sp>
        <p:nvSpPr>
          <p:cNvPr id="3" name="Rectángulo 2">
            <a:extLst>
              <a:ext uri="{FF2B5EF4-FFF2-40B4-BE49-F238E27FC236}">
                <a16:creationId xmlns:a16="http://schemas.microsoft.com/office/drawing/2014/main" id="{A41642FF-6B2F-63D5-D0C8-8CC806AFA3D4}"/>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sp>
        <p:nvSpPr>
          <p:cNvPr id="5" name="Rectángulo 4">
            <a:extLst>
              <a:ext uri="{FF2B5EF4-FFF2-40B4-BE49-F238E27FC236}">
                <a16:creationId xmlns:a16="http://schemas.microsoft.com/office/drawing/2014/main" id="{330A941E-FF55-0BC3-9D8B-4C41B3E7483A}"/>
              </a:ext>
            </a:extLst>
          </p:cNvPr>
          <p:cNvSpPr/>
          <p:nvPr/>
        </p:nvSpPr>
        <p:spPr>
          <a:xfrm>
            <a:off x="8795541" y="118110"/>
            <a:ext cx="29418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Profesora</a:t>
            </a:r>
            <a:r>
              <a:rPr lang="es-CO" sz="1100">
                <a:solidFill>
                  <a:schemeClr val="accent2">
                    <a:lumMod val="50000"/>
                  </a:schemeClr>
                </a:solidFill>
                <a:latin typeface="Century Gothic" panose="020B0502020202020204" pitchFamily="34" charset="0"/>
                <a:sym typeface="Gill Sans Light"/>
              </a:rPr>
              <a:t> Andrea Yohana Cortés Mojica</a:t>
            </a:r>
            <a:endParaRPr lang="es-CO" sz="1100">
              <a:solidFill>
                <a:schemeClr val="accent2">
                  <a:lumMod val="50000"/>
                </a:schemeClr>
              </a:solidFill>
              <a:latin typeface="Century Gothic" panose="020B0502020202020204" pitchFamily="34" charset="0"/>
            </a:endParaRPr>
          </a:p>
        </p:txBody>
      </p:sp>
      <p:pic>
        <p:nvPicPr>
          <p:cNvPr id="7" name="Picture 2" descr="Clientes y aliados | Centro de Evaluación | Uniandes">
            <a:extLst>
              <a:ext uri="{FF2B5EF4-FFF2-40B4-BE49-F238E27FC236}">
                <a16:creationId xmlns:a16="http://schemas.microsoft.com/office/drawing/2014/main" id="{6D7117B0-243B-AC8A-FE2D-7BF77CF910F0}"/>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7">
            <a:extLst>
              <a:ext uri="{FF2B5EF4-FFF2-40B4-BE49-F238E27FC236}">
                <a16:creationId xmlns:a16="http://schemas.microsoft.com/office/drawing/2014/main" id="{4B1FA927-3F6C-912E-1E85-04296AC45E56}"/>
              </a:ext>
            </a:extLst>
          </p:cNvPr>
          <p:cNvSpPr/>
          <p:nvPr/>
        </p:nvSpPr>
        <p:spPr>
          <a:xfrm>
            <a:off x="4858343" y="118107"/>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graphicFrame>
        <p:nvGraphicFramePr>
          <p:cNvPr id="9" name="Gráfico 8">
            <a:extLst>
              <a:ext uri="{FF2B5EF4-FFF2-40B4-BE49-F238E27FC236}">
                <a16:creationId xmlns:a16="http://schemas.microsoft.com/office/drawing/2014/main" id="{A332677B-6D53-10FC-F0CF-866013EE9A15}"/>
              </a:ext>
            </a:extLst>
          </p:cNvPr>
          <p:cNvGraphicFramePr>
            <a:graphicFrameLocks/>
          </p:cNvGraphicFramePr>
          <p:nvPr/>
        </p:nvGraphicFramePr>
        <p:xfrm>
          <a:off x="1980934" y="2041839"/>
          <a:ext cx="9390072" cy="2227006"/>
        </p:xfrm>
        <a:graphic>
          <a:graphicData uri="http://schemas.openxmlformats.org/drawingml/2006/chart">
            <c:chart xmlns:c="http://schemas.openxmlformats.org/drawingml/2006/chart" xmlns:r="http://schemas.openxmlformats.org/officeDocument/2006/relationships" r:id="rId9"/>
          </a:graphicData>
        </a:graphic>
      </p:graphicFrame>
      <p:sp>
        <p:nvSpPr>
          <p:cNvPr id="10" name="Abrir llave 9">
            <a:extLst>
              <a:ext uri="{FF2B5EF4-FFF2-40B4-BE49-F238E27FC236}">
                <a16:creationId xmlns:a16="http://schemas.microsoft.com/office/drawing/2014/main" id="{6CD373C9-3CB9-AC5A-2E61-55D3B1FBE7B3}"/>
              </a:ext>
            </a:extLst>
          </p:cNvPr>
          <p:cNvSpPr/>
          <p:nvPr/>
        </p:nvSpPr>
        <p:spPr>
          <a:xfrm rot="16200000">
            <a:off x="5541781" y="3337864"/>
            <a:ext cx="516193" cy="2211085"/>
          </a:xfrm>
          <a:prstGeom prst="leftBrace">
            <a:avLst>
              <a:gd name="adj1" fmla="val 8333"/>
              <a:gd name="adj2" fmla="val 49163"/>
            </a:avLst>
          </a:prstGeom>
          <a:ln>
            <a:solidFill>
              <a:schemeClr val="accent3">
                <a:lumMod val="75000"/>
              </a:schemeClr>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s-CO">
              <a:solidFill>
                <a:schemeClr val="accent1"/>
              </a:solidFill>
            </a:endParaRPr>
          </a:p>
        </p:txBody>
      </p:sp>
      <p:sp>
        <p:nvSpPr>
          <p:cNvPr id="12" name="Abrir llave 11">
            <a:extLst>
              <a:ext uri="{FF2B5EF4-FFF2-40B4-BE49-F238E27FC236}">
                <a16:creationId xmlns:a16="http://schemas.microsoft.com/office/drawing/2014/main" id="{02448E85-FDC3-38AD-9E04-70EBA30A1B28}"/>
              </a:ext>
            </a:extLst>
          </p:cNvPr>
          <p:cNvSpPr/>
          <p:nvPr/>
        </p:nvSpPr>
        <p:spPr>
          <a:xfrm rot="16200000">
            <a:off x="7848295" y="3637082"/>
            <a:ext cx="516193" cy="1690616"/>
          </a:xfrm>
          <a:prstGeom prst="leftBrace">
            <a:avLst>
              <a:gd name="adj1" fmla="val 8333"/>
              <a:gd name="adj2" fmla="val 49163"/>
            </a:avLst>
          </a:prstGeom>
          <a:ln>
            <a:solidFill>
              <a:schemeClr val="accent5">
                <a:lumMod val="25000"/>
              </a:schemeClr>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s-CO">
              <a:solidFill>
                <a:schemeClr val="accent1"/>
              </a:solidFill>
            </a:endParaRPr>
          </a:p>
        </p:txBody>
      </p:sp>
      <p:sp>
        <p:nvSpPr>
          <p:cNvPr id="14" name="Abrir llave 13">
            <a:extLst>
              <a:ext uri="{FF2B5EF4-FFF2-40B4-BE49-F238E27FC236}">
                <a16:creationId xmlns:a16="http://schemas.microsoft.com/office/drawing/2014/main" id="{C6A94AF9-3CA1-5A5D-934E-46BC0A26E543}"/>
              </a:ext>
            </a:extLst>
          </p:cNvPr>
          <p:cNvSpPr/>
          <p:nvPr/>
        </p:nvSpPr>
        <p:spPr>
          <a:xfrm rot="16200000">
            <a:off x="9940360" y="3637081"/>
            <a:ext cx="516193" cy="1690616"/>
          </a:xfrm>
          <a:prstGeom prst="leftBrace">
            <a:avLst>
              <a:gd name="adj1" fmla="val 8333"/>
              <a:gd name="adj2" fmla="val 49163"/>
            </a:avLst>
          </a:prstGeom>
          <a:ln>
            <a:solidFill>
              <a:schemeClr val="accent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s-CO">
              <a:solidFill>
                <a:schemeClr val="accent1"/>
              </a:solidFill>
            </a:endParaRPr>
          </a:p>
        </p:txBody>
      </p:sp>
      <p:sp>
        <p:nvSpPr>
          <p:cNvPr id="15" name="Abrir llave 14">
            <a:extLst>
              <a:ext uri="{FF2B5EF4-FFF2-40B4-BE49-F238E27FC236}">
                <a16:creationId xmlns:a16="http://schemas.microsoft.com/office/drawing/2014/main" id="{868DA8D1-71D2-2879-F595-0D8E372BB59D}"/>
              </a:ext>
            </a:extLst>
          </p:cNvPr>
          <p:cNvSpPr/>
          <p:nvPr/>
        </p:nvSpPr>
        <p:spPr>
          <a:xfrm rot="16200000">
            <a:off x="3448205" y="3858502"/>
            <a:ext cx="477213" cy="1208792"/>
          </a:xfrm>
          <a:prstGeom prst="leftBrace">
            <a:avLst>
              <a:gd name="adj1" fmla="val 5939"/>
              <a:gd name="adj2" fmla="val 45314"/>
            </a:avLst>
          </a:prstGeom>
          <a:ln>
            <a:solidFill>
              <a:schemeClr val="accent6"/>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s-CO">
              <a:solidFill>
                <a:schemeClr val="accent6"/>
              </a:solidFill>
            </a:endParaRPr>
          </a:p>
        </p:txBody>
      </p:sp>
    </p:spTree>
    <p:extLst>
      <p:ext uri="{BB962C8B-B14F-4D97-AF65-F5344CB8AC3E}">
        <p14:creationId xmlns:p14="http://schemas.microsoft.com/office/powerpoint/2010/main" val="24264231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wipe(down)">
                                      <p:cBhvr>
                                        <p:cTn id="7" dur="580">
                                          <p:stCondLst>
                                            <p:cond delay="0"/>
                                          </p:stCondLst>
                                        </p:cTn>
                                        <p:tgtEl>
                                          <p:spTgt spid="38"/>
                                        </p:tgtEl>
                                      </p:cBhvr>
                                    </p:animEffect>
                                    <p:anim calcmode="lin" valueType="num">
                                      <p:cBhvr>
                                        <p:cTn id="8" dur="1822" tmFilter="0,0; 0.14,0.36; 0.43,0.73; 0.71,0.91; 1.0,1.0">
                                          <p:stCondLst>
                                            <p:cond delay="0"/>
                                          </p:stCondLst>
                                        </p:cTn>
                                        <p:tgtEl>
                                          <p:spTgt spid="38"/>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38"/>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38"/>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38"/>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38"/>
                                        </p:tgtEl>
                                        <p:attrNameLst>
                                          <p:attrName>ppt_y</p:attrName>
                                        </p:attrNameLst>
                                      </p:cBhvr>
                                      <p:tavLst>
                                        <p:tav tm="0" fmla="#ppt_y-sin(pi*$)/81">
                                          <p:val>
                                            <p:fltVal val="0"/>
                                          </p:val>
                                        </p:tav>
                                        <p:tav tm="100000">
                                          <p:val>
                                            <p:fltVal val="1"/>
                                          </p:val>
                                        </p:tav>
                                      </p:tavLst>
                                    </p:anim>
                                    <p:animScale>
                                      <p:cBhvr>
                                        <p:cTn id="13" dur="26">
                                          <p:stCondLst>
                                            <p:cond delay="650"/>
                                          </p:stCondLst>
                                        </p:cTn>
                                        <p:tgtEl>
                                          <p:spTgt spid="38"/>
                                        </p:tgtEl>
                                      </p:cBhvr>
                                      <p:to x="100000" y="60000"/>
                                    </p:animScale>
                                    <p:animScale>
                                      <p:cBhvr>
                                        <p:cTn id="14" dur="166" decel="50000">
                                          <p:stCondLst>
                                            <p:cond delay="676"/>
                                          </p:stCondLst>
                                        </p:cTn>
                                        <p:tgtEl>
                                          <p:spTgt spid="38"/>
                                        </p:tgtEl>
                                      </p:cBhvr>
                                      <p:to x="100000" y="100000"/>
                                    </p:animScale>
                                    <p:animScale>
                                      <p:cBhvr>
                                        <p:cTn id="15" dur="26">
                                          <p:stCondLst>
                                            <p:cond delay="1312"/>
                                          </p:stCondLst>
                                        </p:cTn>
                                        <p:tgtEl>
                                          <p:spTgt spid="38"/>
                                        </p:tgtEl>
                                      </p:cBhvr>
                                      <p:to x="100000" y="80000"/>
                                    </p:animScale>
                                    <p:animScale>
                                      <p:cBhvr>
                                        <p:cTn id="16" dur="166" decel="50000">
                                          <p:stCondLst>
                                            <p:cond delay="1338"/>
                                          </p:stCondLst>
                                        </p:cTn>
                                        <p:tgtEl>
                                          <p:spTgt spid="38"/>
                                        </p:tgtEl>
                                      </p:cBhvr>
                                      <p:to x="100000" y="100000"/>
                                    </p:animScale>
                                    <p:animScale>
                                      <p:cBhvr>
                                        <p:cTn id="17" dur="26">
                                          <p:stCondLst>
                                            <p:cond delay="1642"/>
                                          </p:stCondLst>
                                        </p:cTn>
                                        <p:tgtEl>
                                          <p:spTgt spid="38"/>
                                        </p:tgtEl>
                                      </p:cBhvr>
                                      <p:to x="100000" y="90000"/>
                                    </p:animScale>
                                    <p:animScale>
                                      <p:cBhvr>
                                        <p:cTn id="18" dur="166" decel="50000">
                                          <p:stCondLst>
                                            <p:cond delay="1668"/>
                                          </p:stCondLst>
                                        </p:cTn>
                                        <p:tgtEl>
                                          <p:spTgt spid="38"/>
                                        </p:tgtEl>
                                      </p:cBhvr>
                                      <p:to x="100000" y="100000"/>
                                    </p:animScale>
                                    <p:animScale>
                                      <p:cBhvr>
                                        <p:cTn id="19" dur="26">
                                          <p:stCondLst>
                                            <p:cond delay="1808"/>
                                          </p:stCondLst>
                                        </p:cTn>
                                        <p:tgtEl>
                                          <p:spTgt spid="38"/>
                                        </p:tgtEl>
                                      </p:cBhvr>
                                      <p:to x="100000" y="95000"/>
                                    </p:animScale>
                                    <p:animScale>
                                      <p:cBhvr>
                                        <p:cTn id="20" dur="166" decel="50000">
                                          <p:stCondLst>
                                            <p:cond delay="1834"/>
                                          </p:stCondLst>
                                        </p:cTn>
                                        <p:tgtEl>
                                          <p:spTgt spid="38"/>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5"/>
                                        </p:tgtEl>
                                        <p:attrNameLst>
                                          <p:attrName>style.visibility</p:attrName>
                                        </p:attrNameLst>
                                      </p:cBhvr>
                                      <p:to>
                                        <p:strVal val="visible"/>
                                      </p:to>
                                    </p:set>
                                    <p:anim calcmode="lin" valueType="num">
                                      <p:cBhvr additive="base">
                                        <p:cTn id="25" dur="500" fill="hold"/>
                                        <p:tgtEl>
                                          <p:spTgt spid="15"/>
                                        </p:tgtEl>
                                        <p:attrNameLst>
                                          <p:attrName>ppt_x</p:attrName>
                                        </p:attrNameLst>
                                      </p:cBhvr>
                                      <p:tavLst>
                                        <p:tav tm="0">
                                          <p:val>
                                            <p:strVal val="#ppt_x"/>
                                          </p:val>
                                        </p:tav>
                                        <p:tav tm="100000">
                                          <p:val>
                                            <p:strVal val="#ppt_x"/>
                                          </p:val>
                                        </p:tav>
                                      </p:tavLst>
                                    </p:anim>
                                    <p:anim calcmode="lin" valueType="num">
                                      <p:cBhvr additive="base">
                                        <p:cTn id="26" dur="500" fill="hold"/>
                                        <p:tgtEl>
                                          <p:spTgt spid="15"/>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10"/>
                                        </p:tgtEl>
                                        <p:attrNameLst>
                                          <p:attrName>style.visibility</p:attrName>
                                        </p:attrNameLst>
                                      </p:cBhvr>
                                      <p:to>
                                        <p:strVal val="visible"/>
                                      </p:to>
                                    </p:set>
                                    <p:anim calcmode="lin" valueType="num">
                                      <p:cBhvr additive="base">
                                        <p:cTn id="29" dur="500" fill="hold"/>
                                        <p:tgtEl>
                                          <p:spTgt spid="10"/>
                                        </p:tgtEl>
                                        <p:attrNameLst>
                                          <p:attrName>ppt_x</p:attrName>
                                        </p:attrNameLst>
                                      </p:cBhvr>
                                      <p:tavLst>
                                        <p:tav tm="0">
                                          <p:val>
                                            <p:strVal val="#ppt_x"/>
                                          </p:val>
                                        </p:tav>
                                        <p:tav tm="100000">
                                          <p:val>
                                            <p:strVal val="#ppt_x"/>
                                          </p:val>
                                        </p:tav>
                                      </p:tavLst>
                                    </p:anim>
                                    <p:anim calcmode="lin" valueType="num">
                                      <p:cBhvr additive="base">
                                        <p:cTn id="30"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12"/>
                                        </p:tgtEl>
                                        <p:attrNameLst>
                                          <p:attrName>style.visibility</p:attrName>
                                        </p:attrNameLst>
                                      </p:cBhvr>
                                      <p:to>
                                        <p:strVal val="visible"/>
                                      </p:to>
                                    </p:set>
                                    <p:anim calcmode="lin" valueType="num">
                                      <p:cBhvr additive="base">
                                        <p:cTn id="35" dur="500" fill="hold"/>
                                        <p:tgtEl>
                                          <p:spTgt spid="12"/>
                                        </p:tgtEl>
                                        <p:attrNameLst>
                                          <p:attrName>ppt_x</p:attrName>
                                        </p:attrNameLst>
                                      </p:cBhvr>
                                      <p:tavLst>
                                        <p:tav tm="0">
                                          <p:val>
                                            <p:strVal val="#ppt_x"/>
                                          </p:val>
                                        </p:tav>
                                        <p:tav tm="100000">
                                          <p:val>
                                            <p:strVal val="#ppt_x"/>
                                          </p:val>
                                        </p:tav>
                                      </p:tavLst>
                                    </p:anim>
                                    <p:anim calcmode="lin" valueType="num">
                                      <p:cBhvr additive="base">
                                        <p:cTn id="36"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grpId="0" nodeType="clickEffect">
                                  <p:stCondLst>
                                    <p:cond delay="0"/>
                                  </p:stCondLst>
                                  <p:childTnLst>
                                    <p:set>
                                      <p:cBhvr>
                                        <p:cTn id="40" dur="1" fill="hold">
                                          <p:stCondLst>
                                            <p:cond delay="0"/>
                                          </p:stCondLst>
                                        </p:cTn>
                                        <p:tgtEl>
                                          <p:spTgt spid="14"/>
                                        </p:tgtEl>
                                        <p:attrNameLst>
                                          <p:attrName>style.visibility</p:attrName>
                                        </p:attrNameLst>
                                      </p:cBhvr>
                                      <p:to>
                                        <p:strVal val="visible"/>
                                      </p:to>
                                    </p:set>
                                    <p:anim calcmode="lin" valueType="num">
                                      <p:cBhvr additive="base">
                                        <p:cTn id="41" dur="500" fill="hold"/>
                                        <p:tgtEl>
                                          <p:spTgt spid="14"/>
                                        </p:tgtEl>
                                        <p:attrNameLst>
                                          <p:attrName>ppt_x</p:attrName>
                                        </p:attrNameLst>
                                      </p:cBhvr>
                                      <p:tavLst>
                                        <p:tav tm="0">
                                          <p:val>
                                            <p:strVal val="#ppt_x"/>
                                          </p:val>
                                        </p:tav>
                                        <p:tav tm="100000">
                                          <p:val>
                                            <p:strVal val="#ppt_x"/>
                                          </p:val>
                                        </p:tav>
                                      </p:tavLst>
                                    </p:anim>
                                    <p:anim calcmode="lin" valueType="num">
                                      <p:cBhvr additive="base">
                                        <p:cTn id="42"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p:bldP spid="10" grpId="0" animBg="1"/>
      <p:bldP spid="12" grpId="0" animBg="1"/>
      <p:bldP spid="14" grpId="0" animBg="1"/>
      <p:bldP spid="15" grpId="0" animBg="1"/>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8A8FED-13B5-8989-BEE7-6F3AE3F9A182}"/>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8548C43B-D845-3A20-C7CA-91B5EE26A08C}"/>
              </a:ext>
            </a:extLst>
          </p:cNvPr>
          <p:cNvSpPr>
            <a:spLocks noGrp="1"/>
          </p:cNvSpPr>
          <p:nvPr>
            <p:ph type="ctrTitle"/>
          </p:nvPr>
        </p:nvSpPr>
        <p:spPr>
          <a:xfrm>
            <a:off x="470868" y="1814732"/>
            <a:ext cx="10359896" cy="826833"/>
          </a:xfrm>
        </p:spPr>
        <p:txBody>
          <a:bodyPr>
            <a:noAutofit/>
          </a:bodyPr>
          <a:lstStyle/>
          <a:p>
            <a:r>
              <a:rPr lang="es-CO" sz="4000" dirty="0"/>
              <a:t>Relaciones de equivalencia (</a:t>
            </a:r>
            <a:r>
              <a:rPr lang="es-CO" sz="4000" dirty="0">
                <a:solidFill>
                  <a:srgbClr val="D7A700"/>
                </a:solidFill>
              </a:rPr>
              <a:t>PARTE III</a:t>
            </a:r>
            <a:r>
              <a:rPr lang="es-CO" sz="4000" dirty="0"/>
              <a:t>)</a:t>
            </a:r>
          </a:p>
        </p:txBody>
      </p:sp>
      <p:sp>
        <p:nvSpPr>
          <p:cNvPr id="8" name="Rectángulo 7">
            <a:extLst>
              <a:ext uri="{FF2B5EF4-FFF2-40B4-BE49-F238E27FC236}">
                <a16:creationId xmlns:a16="http://schemas.microsoft.com/office/drawing/2014/main" id="{BB173D9B-6E1A-BA3A-CC13-AD61B863B7A8}"/>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026" name="Picture 2" descr="Clientes y aliados | Centro de Evaluación | Uniandes">
            <a:extLst>
              <a:ext uri="{FF2B5EF4-FFF2-40B4-BE49-F238E27FC236}">
                <a16:creationId xmlns:a16="http://schemas.microsoft.com/office/drawing/2014/main" id="{25F679DF-F757-DFC3-43A6-5CEDA5E9A9E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12" name="Gráfico 11" descr="Open book contorno">
            <a:extLst>
              <a:ext uri="{FF2B5EF4-FFF2-40B4-BE49-F238E27FC236}">
                <a16:creationId xmlns:a16="http://schemas.microsoft.com/office/drawing/2014/main" id="{04E5CEE3-B7B1-9037-BAA9-232AF5A5B420}"/>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134957" y="3342889"/>
            <a:ext cx="2695807" cy="2695807"/>
          </a:xfrm>
          <a:prstGeom prst="rect">
            <a:avLst/>
          </a:prstGeom>
        </p:spPr>
      </p:pic>
      <p:sp>
        <p:nvSpPr>
          <p:cNvPr id="3" name="Rectángulo 2">
            <a:extLst>
              <a:ext uri="{FF2B5EF4-FFF2-40B4-BE49-F238E27FC236}">
                <a16:creationId xmlns:a16="http://schemas.microsoft.com/office/drawing/2014/main" id="{A4A53A9F-1806-EA65-D9D3-0A2AD9FB5B32}"/>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5" name="CuadroTexto 4">
            <a:extLst>
              <a:ext uri="{FF2B5EF4-FFF2-40B4-BE49-F238E27FC236}">
                <a16:creationId xmlns:a16="http://schemas.microsoft.com/office/drawing/2014/main" id="{970B224D-4568-42A6-A69B-DBFEC909042A}"/>
              </a:ext>
            </a:extLst>
          </p:cNvPr>
          <p:cNvSpPr txBox="1"/>
          <p:nvPr/>
        </p:nvSpPr>
        <p:spPr>
          <a:xfrm>
            <a:off x="1045027" y="3342889"/>
            <a:ext cx="6349598" cy="2492990"/>
          </a:xfrm>
          <a:prstGeom prst="rect">
            <a:avLst/>
          </a:prstGeom>
          <a:noFill/>
        </p:spPr>
        <p:txBody>
          <a:bodyPr wrap="square" lIns="91440" tIns="45720" rIns="91440" bIns="45720" rtlCol="0" anchor="t">
            <a:spAutoFit/>
          </a:bodyPr>
          <a:lstStyle/>
          <a:p>
            <a:r>
              <a:rPr lang="es-CO" sz="1600" b="1" u="sng">
                <a:solidFill>
                  <a:schemeClr val="bg1"/>
                </a:solidFill>
              </a:rPr>
              <a:t>													</a:t>
            </a:r>
            <a:endParaRPr lang="es-CO" sz="2000" b="1" u="sng">
              <a:solidFill>
                <a:schemeClr val="bg1"/>
              </a:solidFill>
            </a:endParaRPr>
          </a:p>
          <a:p>
            <a:endParaRPr lang="es-CO" sz="1000" b="1">
              <a:solidFill>
                <a:schemeClr val="bg1"/>
              </a:solidFill>
            </a:endParaRPr>
          </a:p>
          <a:p>
            <a:r>
              <a:rPr lang="es-CO" sz="2000" b="1">
                <a:solidFill>
                  <a:schemeClr val="bg1"/>
                </a:solidFill>
              </a:rPr>
              <a:t>DEPARTAMENTO DE INGENIERÍA INDUSTRIAL</a:t>
            </a:r>
          </a:p>
          <a:p>
            <a:r>
              <a:rPr lang="es-CO" sz="2000" b="1">
                <a:solidFill>
                  <a:schemeClr val="bg1"/>
                </a:solidFill>
              </a:rPr>
              <a:t>FACULTAD DE INGENIERÍA</a:t>
            </a:r>
          </a:p>
          <a:p>
            <a:r>
              <a:rPr lang="es-CO" sz="1000" b="1" u="sng">
                <a:solidFill>
                  <a:schemeClr val="bg1"/>
                </a:solidFill>
              </a:rPr>
              <a:t>													</a:t>
            </a:r>
          </a:p>
          <a:p>
            <a:endParaRPr lang="es-CO" sz="2000" b="1">
              <a:solidFill>
                <a:schemeClr val="bg1"/>
              </a:solidFill>
            </a:endParaRPr>
          </a:p>
          <a:p>
            <a:r>
              <a:rPr lang="es-CO" sz="2000" b="1">
                <a:solidFill>
                  <a:schemeClr val="bg1"/>
                </a:solidFill>
              </a:rPr>
              <a:t>Curso       </a:t>
            </a:r>
            <a:r>
              <a:rPr lang="es-CO" sz="2000">
                <a:solidFill>
                  <a:schemeClr val="bg1"/>
                </a:solidFill>
              </a:rPr>
              <a:t>ANÁLISIS DE DECISIONES DE INVERSIÓN</a:t>
            </a:r>
          </a:p>
          <a:p>
            <a:r>
              <a:rPr lang="es-CO" sz="2000" b="1">
                <a:solidFill>
                  <a:schemeClr val="bg1"/>
                </a:solidFill>
              </a:rPr>
              <a:t>Correo     </a:t>
            </a:r>
            <a:r>
              <a:rPr lang="es-CO" sz="2000">
                <a:solidFill>
                  <a:schemeClr val="bg1"/>
                </a:solidFill>
              </a:rPr>
              <a:t>cursoanadec@uniandes.edu.co</a:t>
            </a:r>
          </a:p>
          <a:p>
            <a:endParaRPr lang="es-CO" sz="2000" b="1">
              <a:solidFill>
                <a:schemeClr val="bg1"/>
              </a:solidFill>
            </a:endParaRPr>
          </a:p>
        </p:txBody>
      </p:sp>
    </p:spTree>
    <p:extLst>
      <p:ext uri="{BB962C8B-B14F-4D97-AF65-F5344CB8AC3E}">
        <p14:creationId xmlns:p14="http://schemas.microsoft.com/office/powerpoint/2010/main" val="1559436318"/>
      </p:ext>
    </p:extLst>
  </p:cSld>
  <p:clrMapOvr>
    <a:masterClrMapping/>
  </p:clrMapOvr>
</p:sld>
</file>

<file path=ppt/theme/theme1.xml><?xml version="1.0" encoding="utf-8"?>
<a:theme xmlns:a="http://schemas.openxmlformats.org/drawingml/2006/main" name="Dividendo">
  <a:themeElements>
    <a:clrScheme name="Dividendo">
      <a:dk1>
        <a:sysClr val="windowText" lastClr="000000"/>
      </a:dk1>
      <a:lt1>
        <a:sysClr val="window" lastClr="FFFFFF"/>
      </a:lt1>
      <a:dk2>
        <a:srgbClr val="3D3D3D"/>
      </a:dk2>
      <a:lt2>
        <a:srgbClr val="EBEBEB"/>
      </a:lt2>
      <a:accent1>
        <a:srgbClr val="366658"/>
      </a:accent1>
      <a:accent2>
        <a:srgbClr val="8CB64A"/>
      </a:accent2>
      <a:accent3>
        <a:srgbClr val="88D5A9"/>
      </a:accent3>
      <a:accent4>
        <a:srgbClr val="969FA7"/>
      </a:accent4>
      <a:accent5>
        <a:srgbClr val="E8A844"/>
      </a:accent5>
      <a:accent6>
        <a:srgbClr val="A1561F"/>
      </a:accent6>
      <a:hlink>
        <a:srgbClr val="828282"/>
      </a:hlink>
      <a:folHlink>
        <a:srgbClr val="A5A5A5"/>
      </a:folHlink>
    </a:clrScheme>
    <a:fontScheme name="Dividendo">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o">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4BEC0EAF-CF86-4D49-B83B-56CC62D3CFF1}"/>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59c0f78d-6fc1-47c2-b059-fed23358a506}" enabled="1" method="Standard" siteId="{1b779eaf-dae5-4983-b600-0da6174a3c82}" removed="0"/>
  <clbl:label id="{fabd047c-ff48-492a-8bbb-8f98b9fb9cca}" enabled="0" method="" siteId="{fabd047c-ff48-492a-8bbb-8f98b9fb9cca}" removed="1"/>
</clbl:labelList>
</file>

<file path=docProps/app.xml><?xml version="1.0" encoding="utf-8"?>
<Properties xmlns="http://schemas.openxmlformats.org/officeDocument/2006/extended-properties" xmlns:vt="http://schemas.openxmlformats.org/officeDocument/2006/docPropsVTypes">
  <Template>{7D419497-B805-D64B-B6E0-457F12115DD4}tf10001123</Template>
  <TotalTime>486</TotalTime>
  <Words>5263</Words>
  <Application>Microsoft Macintosh PowerPoint</Application>
  <PresentationFormat>Widescreen</PresentationFormat>
  <Paragraphs>1365</Paragraphs>
  <Slides>90</Slides>
  <Notes>37</Notes>
  <HiddenSlides>14</HiddenSlides>
  <MMClips>0</MMClips>
  <ScaleCrop>false</ScaleCrop>
  <HeadingPairs>
    <vt:vector size="8" baseType="variant">
      <vt:variant>
        <vt:lpstr>Fonts Used</vt:lpstr>
      </vt:variant>
      <vt:variant>
        <vt:i4>13</vt:i4>
      </vt:variant>
      <vt:variant>
        <vt:lpstr>Theme</vt:lpstr>
      </vt:variant>
      <vt:variant>
        <vt:i4>1</vt:i4>
      </vt:variant>
      <vt:variant>
        <vt:lpstr>Embedded OLE Servers</vt:lpstr>
      </vt:variant>
      <vt:variant>
        <vt:i4>1</vt:i4>
      </vt:variant>
      <vt:variant>
        <vt:lpstr>Slide Titles</vt:lpstr>
      </vt:variant>
      <vt:variant>
        <vt:i4>90</vt:i4>
      </vt:variant>
    </vt:vector>
  </HeadingPairs>
  <TitlesOfParts>
    <vt:vector size="105" baseType="lpstr">
      <vt:lpstr>Arial</vt:lpstr>
      <vt:lpstr>Calibri</vt:lpstr>
      <vt:lpstr>Cambria Math</vt:lpstr>
      <vt:lpstr>Century Gothic</vt:lpstr>
      <vt:lpstr>Gill Sans MT</vt:lpstr>
      <vt:lpstr>Gill Sans MT (Cuerpo)</vt:lpstr>
      <vt:lpstr>Gill Sans MT (titulo)</vt:lpstr>
      <vt:lpstr>Gill Sans MT (Títulos)</vt:lpstr>
      <vt:lpstr>Times New Roman</vt:lpstr>
      <vt:lpstr>Verdana</vt:lpstr>
      <vt:lpstr>Wingdings</vt:lpstr>
      <vt:lpstr>Wingdings 2</vt:lpstr>
      <vt:lpstr>Zapf Dingbats</vt:lpstr>
      <vt:lpstr>Dividendo</vt:lpstr>
      <vt:lpstr>Document</vt:lpstr>
      <vt:lpstr>Series uniformes / anualidades</vt:lpstr>
      <vt:lpstr>Series uniformes / anualidades</vt:lpstr>
      <vt:lpstr>Series uniformes / anualidades</vt:lpstr>
      <vt:lpstr>VALOR PRESENTE Y VALOR FUTURO</vt:lpstr>
      <vt:lpstr>Series uniformes / anualidades</vt:lpstr>
      <vt:lpstr>repaso</vt:lpstr>
      <vt:lpstr>AGENDA PROPUESTA</vt:lpstr>
      <vt:lpstr>Gradientes aritméticos</vt:lpstr>
      <vt:lpstr>Gradientes aritméticos</vt:lpstr>
      <vt:lpstr>Gradientes aritméticos</vt:lpstr>
      <vt:lpstr>Gradientes aritméticos</vt:lpstr>
      <vt:lpstr>Gradientes aritméticos</vt:lpstr>
      <vt:lpstr>Gradientes aritméticos</vt:lpstr>
      <vt:lpstr>Gradientes aritméticos</vt:lpstr>
      <vt:lpstr>Gradientes aritméticos</vt:lpstr>
      <vt:lpstr>Gradientes aritméticos</vt:lpstr>
      <vt:lpstr>Gradientes aritméticos</vt:lpstr>
      <vt:lpstr>Gradientes aritméticos</vt:lpstr>
      <vt:lpstr>Gradientes aritméticos</vt:lpstr>
      <vt:lpstr>Gradientes aritméticos</vt:lpstr>
      <vt:lpstr>Gradientes aritméticos</vt:lpstr>
      <vt:lpstr>Gradientes aritméticos</vt:lpstr>
      <vt:lpstr>Gradientes aritméticos</vt:lpstr>
      <vt:lpstr>Gradientes aritméticos</vt:lpstr>
      <vt:lpstr>Gradientes aritméticos</vt:lpstr>
      <vt:lpstr>Gradientes aritméticos</vt:lpstr>
      <vt:lpstr>Gradientes aritméticos</vt:lpstr>
      <vt:lpstr>Gradientes aritméticos</vt:lpstr>
      <vt:lpstr>Gradientes aritméticos</vt:lpstr>
      <vt:lpstr>Gradientes aritméticos</vt:lpstr>
      <vt:lpstr>Gradientes aritméticos</vt:lpstr>
      <vt:lpstr>Gradientes aritméticos</vt:lpstr>
      <vt:lpstr>Gradientes aritméticos</vt:lpstr>
      <vt:lpstr>Gradientes aritméticos</vt:lpstr>
      <vt:lpstr>Gradientes aritméticos</vt:lpstr>
      <vt:lpstr>Gradientes aritméticos</vt:lpstr>
      <vt:lpstr>Gradientes aritméticos</vt:lpstr>
      <vt:lpstr>Gradientes aritméticos</vt:lpstr>
      <vt:lpstr>Gradientes aritméticos</vt:lpstr>
      <vt:lpstr>Gradientes aritméticos</vt:lpstr>
      <vt:lpstr>Gradientes aritméticos</vt:lpstr>
      <vt:lpstr>Gradientes aritméticos</vt:lpstr>
      <vt:lpstr>Gradientes aritméticos</vt:lpstr>
      <vt:lpstr>EJERCICIOS</vt:lpstr>
      <vt:lpstr>EJERCICIOS</vt:lpstr>
      <vt:lpstr>EJERCICIOS</vt:lpstr>
      <vt:lpstr>Relaciones de equivalencia (PARTE II)</vt:lpstr>
      <vt:lpstr>Relaciones de equivalencia (PARTE III)</vt:lpstr>
      <vt:lpstr>AGENDA PROPUESTA</vt:lpstr>
      <vt:lpstr>AGENDA PROPUESTA</vt:lpstr>
      <vt:lpstr>Gradientes geométricos</vt:lpstr>
      <vt:lpstr>Gradientes geométricos</vt:lpstr>
      <vt:lpstr>Gradientes geométricos</vt:lpstr>
      <vt:lpstr>Gradientes geométricos</vt:lpstr>
      <vt:lpstr>Gradientes geométricos</vt:lpstr>
      <vt:lpstr>Gradientes geométricos</vt:lpstr>
      <vt:lpstr>Gradientes geométricos</vt:lpstr>
      <vt:lpstr>Gradientes geométricos</vt:lpstr>
      <vt:lpstr>Gradientes geométricos</vt:lpstr>
      <vt:lpstr>Gradientes geométricos</vt:lpstr>
      <vt:lpstr>Gradientes geométricos</vt:lpstr>
      <vt:lpstr>Gradientes geométricos</vt:lpstr>
      <vt:lpstr>Gradientes geométricos</vt:lpstr>
      <vt:lpstr>Gradientes geométricos</vt:lpstr>
      <vt:lpstr>Gradientes geométricos</vt:lpstr>
      <vt:lpstr>Gradientes geométricos</vt:lpstr>
      <vt:lpstr>Gradientes geométricos</vt:lpstr>
      <vt:lpstr>Gradientes geométricos</vt:lpstr>
      <vt:lpstr>Gradientes geométricos</vt:lpstr>
      <vt:lpstr>PowerPoint Presentation</vt:lpstr>
      <vt:lpstr>Gradientes geométricos</vt:lpstr>
      <vt:lpstr>Gradientes geométricos</vt:lpstr>
      <vt:lpstr>Gradientes geométricos</vt:lpstr>
      <vt:lpstr>AGENDA PROPUESTA</vt:lpstr>
      <vt:lpstr>Relaciones de equivalencia con varios costos de oportunidad</vt:lpstr>
      <vt:lpstr>Relaciones de equivalencia con varios costos de oportunidad</vt:lpstr>
      <vt:lpstr>Relaciones de equivalencia con varios costos de oportunidad</vt:lpstr>
      <vt:lpstr>Relaciones de equivalencia con varios costos de oportunidad</vt:lpstr>
      <vt:lpstr>Relaciones de equivalencia con varios costos de oportunidad</vt:lpstr>
      <vt:lpstr>Relaciones de equivalencia con varios costos de oportunidad</vt:lpstr>
      <vt:lpstr>COMBINACIONES DE Relaciones de Equivalencia </vt:lpstr>
      <vt:lpstr>COMBINACIONES DE Relaciones de Equivalencia </vt:lpstr>
      <vt:lpstr> COMBINACIONES DE Relaciones de Equivalencia </vt:lpstr>
      <vt:lpstr>COMBINACIONES DE Relaciones de Equivalencia </vt:lpstr>
      <vt:lpstr>COMBINACIONES DE Relaciones de Equivalencia </vt:lpstr>
      <vt:lpstr>COMBINACIONES DE Relaciones de Equivalencia </vt:lpstr>
      <vt:lpstr>COMBINACIONES DE Relaciones de Equivalencia </vt:lpstr>
      <vt:lpstr>COMBINACIONES DE Relaciones de Equivalencia </vt:lpstr>
      <vt:lpstr>COMBINACIONES DE Relaciones de Equivalencia </vt:lpstr>
      <vt:lpstr>Relaciones de equivalencia (PARTE III)</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ANÁLISIS DESDE UNA ÓPTICA ECONOMÉTRICA DE LA PREVISIBILIDAD DE LAS VARIACIONES DEL TRÁFICO DEL CORREDOR BOGOTÁ – PUERTO GAITÁN TENIENDO EN CUENTA EL COMPORTAMIENTO HISTÓRICO DEL TRÁFICO Y DEL PRECIO DEL PETRÓLEO WTI</dc:title>
  <dc:creator>Sebastian Joseph Sanchez Oyola</dc:creator>
  <cp:lastModifiedBy>Brigitte Castañeda</cp:lastModifiedBy>
  <cp:revision>10</cp:revision>
  <dcterms:created xsi:type="dcterms:W3CDTF">2019-06-20T04:25:04Z</dcterms:created>
  <dcterms:modified xsi:type="dcterms:W3CDTF">2026-02-12T15:08:28Z</dcterms:modified>
</cp:coreProperties>
</file>