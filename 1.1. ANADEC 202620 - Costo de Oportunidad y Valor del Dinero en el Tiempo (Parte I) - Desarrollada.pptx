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92" r:id="rId1"/>
  </p:sldMasterIdLst>
  <p:notesMasterIdLst>
    <p:notesMasterId r:id="rId21"/>
  </p:notesMasterIdLst>
  <p:handoutMasterIdLst>
    <p:handoutMasterId r:id="rId22"/>
  </p:handoutMasterIdLst>
  <p:sldIdLst>
    <p:sldId id="398" r:id="rId2"/>
    <p:sldId id="354" r:id="rId3"/>
    <p:sldId id="431" r:id="rId4"/>
    <p:sldId id="258" r:id="rId5"/>
    <p:sldId id="259" r:id="rId6"/>
    <p:sldId id="421" r:id="rId7"/>
    <p:sldId id="429" r:id="rId8"/>
    <p:sldId id="430" r:id="rId9"/>
    <p:sldId id="423" r:id="rId10"/>
    <p:sldId id="427" r:id="rId11"/>
    <p:sldId id="297" r:id="rId12"/>
    <p:sldId id="438" r:id="rId13"/>
    <p:sldId id="454" r:id="rId14"/>
    <p:sldId id="455" r:id="rId15"/>
    <p:sldId id="456" r:id="rId16"/>
    <p:sldId id="425" r:id="rId17"/>
    <p:sldId id="265" r:id="rId18"/>
    <p:sldId id="302" r:id="rId19"/>
    <p:sldId id="42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FFF4E6"/>
    <a:srgbClr val="C00000"/>
    <a:srgbClr val="002F90"/>
    <a:srgbClr val="FF6600"/>
    <a:srgbClr val="48BE7A"/>
    <a:srgbClr val="FF8AD8"/>
    <a:srgbClr val="7A81FF"/>
    <a:srgbClr val="DFFFFF"/>
    <a:srgbClr val="88D5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7"/>
    <p:restoredTop sz="94612"/>
  </p:normalViewPr>
  <p:slideViewPr>
    <p:cSldViewPr snapToGrid="0">
      <p:cViewPr varScale="1">
        <p:scale>
          <a:sx n="194" d="100"/>
          <a:sy n="194" d="100"/>
        </p:scale>
        <p:origin x="240"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6/08/26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6/08/26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10</a:t>
            </a:fld>
            <a:endParaRPr lang="en-US"/>
          </a:p>
        </p:txBody>
      </p:sp>
    </p:spTree>
    <p:extLst>
      <p:ext uri="{BB962C8B-B14F-4D97-AF65-F5344CB8AC3E}">
        <p14:creationId xmlns:p14="http://schemas.microsoft.com/office/powerpoint/2010/main" val="858898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63390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789880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524377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8/6/26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38534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8308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8/6/26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3209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692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2769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90547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9466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8/6/26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37781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9591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747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8/6/26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56143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8/6/26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2190837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eptgu.eco.catedras.unc.edu.ar/unidad-1-2/que-es-un-proyecto/costo-de-oportunidad/"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image" Target="../media/image7.sv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7.svg"/><Relationship Id="rId5" Type="http://schemas.openxmlformats.org/officeDocument/2006/relationships/image" Target="../media/image16.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7.svg"/><Relationship Id="rId5" Type="http://schemas.openxmlformats.org/officeDocument/2006/relationships/image" Target="../media/image18.jpe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0.jpeg"/><Relationship Id="rId5" Type="http://schemas.openxmlformats.org/officeDocument/2006/relationships/image" Target="../media/image7.sv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4" name="Rectángulo 3">
            <a:extLst>
              <a:ext uri="{FF2B5EF4-FFF2-40B4-BE49-F238E27FC236}">
                <a16:creationId xmlns:a16="http://schemas.microsoft.com/office/drawing/2014/main" id="{B4713FC0-59F6-475F-C18A-6594C895A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743835"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D96E788-B85C-A920-13D8-0A899DD148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3AAA-18F5-D925-DA76-5B4AED58E7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677C02-9CF8-31BD-A57F-3F5097FF869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85F6FF7A-0603-E10A-2BAB-F8CA647534D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2CD6EE4F-7BED-9982-7B9D-A07C57D8426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CF2C850C-F4FB-527E-DE78-98462D43A13F}"/>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tx2">
                    <a:lumMod val="20000"/>
                    <a:lumOff val="80000"/>
                  </a:schemeClr>
                </a:solidFill>
                <a:latin typeface="Century Gothic"/>
                <a:cs typeface="Arial"/>
              </a:rPr>
              <a:t>Relación entre Costo de Oportunidad y Valor del Dinero en el Tiempo (VDT)</a:t>
            </a:r>
            <a:endParaRPr lang="es-CO">
              <a:solidFill>
                <a:schemeClr val="tx2">
                  <a:lumMod val="20000"/>
                  <a:lumOff val="80000"/>
                </a:schemeClr>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B555938-AE0D-B3AB-D153-17D0335254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399DF3D-CC99-31FE-199B-0623ABA3F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63D8673-23CC-A26D-A596-D8EE15FE8A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0310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76881" y="2269638"/>
            <a:ext cx="7412271" cy="3686499"/>
          </a:xfrm>
        </p:spPr>
        <p:txBody>
          <a:bodyPr>
            <a:normAutofit/>
          </a:bodyPr>
          <a:lstStyle/>
          <a:p>
            <a:pPr marL="0" indent="0" algn="just">
              <a:buNone/>
            </a:pPr>
            <a:r>
              <a:rPr lang="es-ES_tradnl">
                <a:latin typeface="Century Gothic" panose="020B0502020202020204" pitchFamily="34" charset="0"/>
              </a:rPr>
              <a:t>Cuando se utiliza el término Costo de Oportunidad, se hace alusión a dos (2) interpretaciones cuya relación es estrecha:</a:t>
            </a:r>
          </a:p>
          <a:p>
            <a:pPr algn="just"/>
            <a:endParaRPr lang="es-ES_tradnl">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a:t>
            </a:r>
            <a:r>
              <a:rPr lang="es-ES_tradnl" sz="1800" b="1">
                <a:solidFill>
                  <a:srgbClr val="D7A700"/>
                </a:solidFill>
                <a:latin typeface="Century Gothic" panose="020B0502020202020204" pitchFamily="34" charset="0"/>
              </a:rPr>
              <a:t>beneficio de la mejor alternativa rechazada </a:t>
            </a:r>
            <a:r>
              <a:rPr lang="es-ES_tradnl" sz="1800">
                <a:latin typeface="Century Gothic" panose="020B0502020202020204" pitchFamily="34" charset="0"/>
              </a:rPr>
              <a:t>y de la cual se pierde la oportunidad de obtener beneficios.</a:t>
            </a:r>
          </a:p>
          <a:p>
            <a:pPr marL="692150" lvl="1" indent="-342900" algn="just">
              <a:buFont typeface="+mj-lt"/>
              <a:buAutoNum type="arabicPeriod"/>
            </a:pPr>
            <a:endParaRPr lang="es-ES_tradnl" sz="1800">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costo de oportunidad como elemento fundamental del concepto de pérdida del </a:t>
            </a:r>
            <a:r>
              <a:rPr lang="es-ES_tradnl" sz="1800" b="1">
                <a:solidFill>
                  <a:srgbClr val="D7A700"/>
                </a:solidFill>
                <a:latin typeface="Century Gothic" panose="020B0502020202020204" pitchFamily="34" charset="0"/>
              </a:rPr>
              <a:t>Valor del Dinero en el Tiempo (VDT)</a:t>
            </a:r>
            <a:r>
              <a:rPr lang="es-ES_tradnl" sz="1800">
                <a:solidFill>
                  <a:srgbClr val="D7A700"/>
                </a:solidFill>
                <a:latin typeface="Century Gothic" panose="020B0502020202020204" pitchFamily="34" charset="0"/>
              </a:rPr>
              <a: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1DC79C84-9E20-4804-9C9F-48A2FC2FDA2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C1F56C2-EEA8-2D03-725B-2E76BD77F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C07419-7908-0D3B-55C7-D0DCAF474F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Cómo tomar decisiones importantes con seguridad? 4 modelos">
            <a:extLst>
              <a:ext uri="{FF2B5EF4-FFF2-40B4-BE49-F238E27FC236}">
                <a16:creationId xmlns:a16="http://schemas.microsoft.com/office/drawing/2014/main" id="{E4C5402D-7C3F-D37E-704C-C7432DC61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257" y="2903945"/>
            <a:ext cx="3115862" cy="190605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ECA02643-C906-11CA-D86E-DB7828D35B0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303343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fade">
                                      <p:cBhvr>
                                        <p:cTn id="12"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41966" y="1989939"/>
            <a:ext cx="7875734" cy="4438284"/>
          </a:xfrm>
        </p:spPr>
        <p:txBody>
          <a:bodyPr>
            <a:normAutofit/>
          </a:bodyPr>
          <a:lstStyle/>
          <a:p>
            <a:pPr marL="0" indent="0" algn="just">
              <a:buNone/>
            </a:pPr>
            <a:r>
              <a:rPr lang="es-ES_tradnl">
                <a:latin typeface="Century Gothic" panose="020B0502020202020204" pitchFamily="34" charset="0"/>
              </a:rPr>
              <a:t>Las dos anteriores interpretaciones pueden parecer distintas. No obstante, hacen referencia al mismo concepto bajo situaciones distintas.</a:t>
            </a:r>
          </a:p>
          <a:p>
            <a:pPr marL="0" indent="0" algn="ctr">
              <a:buNone/>
            </a:pPr>
            <a:endParaRPr lang="es-ES_tradnl">
              <a:latin typeface="Century Gothic" panose="020B0502020202020204" pitchFamily="34" charset="0"/>
            </a:endParaRPr>
          </a:p>
          <a:p>
            <a:pPr marL="0" indent="0" algn="ctr">
              <a:buNone/>
            </a:pPr>
            <a:r>
              <a:rPr lang="es-ES_tradnl">
                <a:latin typeface="Century Gothic" panose="020B0502020202020204" pitchFamily="34" charset="0"/>
              </a:rPr>
              <a:t>Veamos un </a:t>
            </a:r>
            <a:r>
              <a:rPr lang="es-ES_tradnl" b="1">
                <a:solidFill>
                  <a:schemeClr val="accent1">
                    <a:lumMod val="75000"/>
                  </a:schemeClr>
                </a:solidFill>
                <a:latin typeface="Century Gothic" panose="020B0502020202020204" pitchFamily="34" charset="0"/>
              </a:rPr>
              <a:t>en detalle</a:t>
            </a:r>
            <a:r>
              <a:rPr lang="es-ES_tradnl">
                <a:solidFill>
                  <a:schemeClr val="accent1">
                    <a:lumMod val="75000"/>
                  </a:schemeClr>
                </a:solidFill>
                <a:latin typeface="Century Gothic" panose="020B0502020202020204" pitchFamily="34" charset="0"/>
              </a:rPr>
              <a:t> </a:t>
            </a:r>
            <a:r>
              <a:rPr lang="es-ES_tradnl">
                <a:latin typeface="Century Gothic" panose="020B0502020202020204" pitchFamily="34" charset="0"/>
              </a:rPr>
              <a:t>la primera definición.</a:t>
            </a:r>
          </a:p>
          <a:p>
            <a:pPr marL="0" indent="0" algn="ctr">
              <a:buNone/>
            </a:pPr>
            <a:endParaRPr lang="es-ES_tradnl">
              <a:latin typeface="Century Gothic" panose="020B0502020202020204" pitchFamily="34" charset="0"/>
            </a:endParaRPr>
          </a:p>
          <a:p>
            <a:pPr marL="0" indent="0" algn="r">
              <a:buNone/>
            </a:pPr>
            <a:r>
              <a:rPr lang="es-ES_tradnl">
                <a:solidFill>
                  <a:srgbClr val="D7A700"/>
                </a:solidFill>
                <a:latin typeface="Century Gothic" panose="020B0502020202020204" pitchFamily="34" charset="0"/>
              </a:rPr>
              <a:t>El </a:t>
            </a:r>
            <a:r>
              <a:rPr lang="es-ES_tradnl" b="1">
                <a:solidFill>
                  <a:srgbClr val="D7A700"/>
                </a:solidFill>
                <a:latin typeface="Century Gothic" panose="020B0502020202020204" pitchFamily="34" charset="0"/>
              </a:rPr>
              <a:t>beneficio de la mejor alternativa rechazada </a:t>
            </a:r>
            <a:r>
              <a:rPr lang="es-ES_tradnl">
                <a:solidFill>
                  <a:srgbClr val="D7A700"/>
                </a:solidFill>
                <a:latin typeface="Century Gothic" panose="020B0502020202020204" pitchFamily="34" charset="0"/>
              </a:rPr>
              <a:t>y de la cual se pierde la oportunidad de obtener ventajas económicas.</a:t>
            </a:r>
          </a:p>
          <a:p>
            <a:pPr marL="0" indent="0" algn="ctr">
              <a:buNone/>
            </a:pPr>
            <a:endParaRPr lang="es-ES_tradnl">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8DAF76B8-B148-7DDF-C37C-304E803266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17A5AC8-B047-50DB-DE02-BBB86102B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C254344-7A4A-C649-3786-6B0BDDCC88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Qué es beneficio neto, beneficio bruto y ebitda">
            <a:extLst>
              <a:ext uri="{FF2B5EF4-FFF2-40B4-BE49-F238E27FC236}">
                <a16:creationId xmlns:a16="http://schemas.microsoft.com/office/drawing/2014/main" id="{91670C3E-A27F-32AA-BE3F-412BF27D0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928" y="3170479"/>
            <a:ext cx="2868106" cy="161331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29A16EAE-54C8-3AC7-E014-E945E750A50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210897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
        <p:nvSpPr>
          <p:cNvPr id="20" name="Rectángulo 19"/>
          <p:cNvSpPr/>
          <p:nvPr/>
        </p:nvSpPr>
        <p:spPr>
          <a:xfrm>
            <a:off x="3983276" y="2822966"/>
            <a:ext cx="7272553" cy="2585323"/>
          </a:xfrm>
          <a:prstGeom prst="rect">
            <a:avLst/>
          </a:prstGeom>
        </p:spPr>
        <p:txBody>
          <a:bodyPr wrap="square" lIns="91440" tIns="45720" rIns="91440" bIns="45720" anchor="t">
            <a:spAutoFit/>
          </a:bodyPr>
          <a:lstStyle/>
          <a:p>
            <a:pPr algn="just">
              <a:buClr>
                <a:schemeClr val="accent3">
                  <a:lumMod val="75000"/>
                </a:schemeClr>
              </a:buClr>
            </a:pPr>
            <a:r>
              <a:rPr lang="es-CO" b="1">
                <a:solidFill>
                  <a:srgbClr val="C00000"/>
                </a:solidFill>
                <a:latin typeface="Century Gothic" panose="020B0502020202020204" pitchFamily="34" charset="0"/>
              </a:rPr>
              <a:t>Elegir alguna cosa significa renunciar a otra</a:t>
            </a:r>
            <a:r>
              <a:rPr lang="es-CO">
                <a:solidFill>
                  <a:schemeClr val="accent1"/>
                </a:solidFill>
                <a:latin typeface="Century Gothic" panose="020B0502020202020204" pitchFamily="34" charset="0"/>
              </a:rPr>
              <a:t>.</a:t>
            </a:r>
          </a:p>
          <a:p>
            <a:pPr algn="just">
              <a:buClr>
                <a:schemeClr val="accent3">
                  <a:lumMod val="75000"/>
                </a:schemeClr>
              </a:buClr>
            </a:pPr>
            <a:endParaRPr lang="es-CO">
              <a:latin typeface="Century Gothic"/>
            </a:endParaRPr>
          </a:p>
          <a:p>
            <a:pPr algn="just">
              <a:buClr>
                <a:schemeClr val="accent3">
                  <a:lumMod val="75000"/>
                </a:schemeClr>
              </a:buClr>
            </a:pPr>
            <a:r>
              <a:rPr lang="es-CO">
                <a:latin typeface="Century Gothic"/>
              </a:rPr>
              <a:t>Bajo la </a:t>
            </a:r>
            <a:r>
              <a:rPr lang="es-CO" b="1">
                <a:solidFill>
                  <a:schemeClr val="accent1"/>
                </a:solidFill>
                <a:latin typeface="Century Gothic"/>
              </a:rPr>
              <a:t>primera interpretación</a:t>
            </a:r>
            <a:r>
              <a:rPr lang="es-CO">
                <a:latin typeface="Century Gothic"/>
              </a:rPr>
              <a:t>, e</a:t>
            </a:r>
            <a:r>
              <a:rPr lang="es-CO">
                <a:effectLst/>
                <a:latin typeface="Century Gothic"/>
              </a:rPr>
              <a:t>l </a:t>
            </a:r>
            <a:r>
              <a:rPr lang="es-CO" b="1" u="sng">
                <a:solidFill>
                  <a:srgbClr val="D7A700"/>
                </a:solidFill>
                <a:latin typeface="Century Gothic"/>
              </a:rPr>
              <a:t>C</a:t>
            </a:r>
            <a:r>
              <a:rPr lang="es-CO" b="1" u="sng">
                <a:solidFill>
                  <a:srgbClr val="D7A700"/>
                </a:solidFill>
                <a:effectLst/>
                <a:latin typeface="Century Gothic"/>
                <a:hlinkClick r:id="rId2">
                  <a:extLst>
                    <a:ext uri="{A12FA001-AC4F-418D-AE19-62706E023703}">
                      <ahyp:hlinkClr xmlns:ahyp="http://schemas.microsoft.com/office/drawing/2018/hyperlinkcolor" val="tx"/>
                    </a:ext>
                  </a:extLst>
                </a:hlinkClick>
              </a:rPr>
              <a:t>osto de Oportunidad</a:t>
            </a:r>
            <a:r>
              <a:rPr lang="es-CO">
                <a:solidFill>
                  <a:srgbClr val="D7A700"/>
                </a:solidFill>
                <a:effectLst/>
                <a:latin typeface="Century Gothic"/>
              </a:rPr>
              <a:t> </a:t>
            </a:r>
            <a:r>
              <a:rPr lang="es-CO">
                <a:effectLst/>
                <a:latin typeface="Century Gothic"/>
              </a:rPr>
              <a:t>se define como el rendimiento o los beneficios que se dejan de percibir por la mejor alternativa a la </a:t>
            </a:r>
            <a:r>
              <a:rPr lang="es-CO">
                <a:latin typeface="Century Gothic"/>
              </a:rPr>
              <a:t>decisión tomada.</a:t>
            </a:r>
            <a:endParaRPr lang="es-CO">
              <a:latin typeface="Century Gothic" panose="020B0502020202020204" pitchFamily="34" charset="0"/>
            </a:endParaRPr>
          </a:p>
          <a:p>
            <a:pPr algn="just"/>
            <a:endParaRPr lang="es-CO">
              <a:latin typeface="Century Gothic"/>
            </a:endParaRPr>
          </a:p>
          <a:p>
            <a:pPr algn="just"/>
            <a:r>
              <a:rPr lang="es-CO">
                <a:latin typeface="Century Gothic"/>
              </a:rPr>
              <a:t>Más </a:t>
            </a:r>
            <a:r>
              <a:rPr lang="es-CO">
                <a:effectLst/>
                <a:latin typeface="Century Gothic"/>
              </a:rPr>
              <a:t>que un costo </a:t>
            </a:r>
            <a:r>
              <a:rPr lang="es-CO">
                <a:latin typeface="Century Gothic"/>
              </a:rPr>
              <a:t>económico</a:t>
            </a:r>
            <a:r>
              <a:rPr lang="es-CO">
                <a:effectLst/>
                <a:latin typeface="Century Gothic"/>
              </a:rPr>
              <a:t>, se considera, como su nombre lo indica, el costo de hacer una </a:t>
            </a:r>
            <a:r>
              <a:rPr lang="es-CO">
                <a:latin typeface="Century Gothic"/>
              </a:rPr>
              <a:t>elección </a:t>
            </a:r>
            <a:r>
              <a:rPr lang="es-CO">
                <a:effectLst/>
                <a:latin typeface="Century Gothic"/>
              </a:rPr>
              <a:t>diferente a la que se </a:t>
            </a:r>
            <a:r>
              <a:rPr lang="es-CO">
                <a:latin typeface="Century Gothic"/>
              </a:rPr>
              <a:t>tomó </a:t>
            </a:r>
            <a:r>
              <a:rPr lang="es-CO">
                <a:effectLst/>
                <a:latin typeface="Century Gothic"/>
              </a:rPr>
              <a:t>entre varias alternativas. </a:t>
            </a: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2A37EA-1CD6-7682-7872-EC5C5AF09C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074" name="Picture 2" descr="Imágenes de Rechazado libres de derechos | Depositphotos">
            <a:extLst>
              <a:ext uri="{FF2B5EF4-FFF2-40B4-BE49-F238E27FC236}">
                <a16:creationId xmlns:a16="http://schemas.microsoft.com/office/drawing/2014/main" id="{4442F4B3-C881-1D65-05CD-2A6C0A0B2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47" y="2744942"/>
            <a:ext cx="3551129" cy="2663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90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dissolv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2DC08-4954-DF26-35DC-D0B6CCDC27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83DA24-B5C1-7EA0-FD09-B15417327F6F}"/>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5F20A189-8969-AE5C-D130-12994BDC3C4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354A7846-E6E3-AB98-945C-959322B3BD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5036376-A830-C1E6-C43C-95CB6A88A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8678CF7-8646-ADAD-65A1-2CD7C3408D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BD2D09AB-AE82-D51D-33C5-C98A6CC2CB0D}"/>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129FFCB5-C729-996B-54B0-D79E7EC070D7}"/>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98A7DFA2-3053-8F73-2934-ADD634F27F5A}"/>
              </a:ext>
            </a:extLst>
          </p:cNvPr>
          <p:cNvGraphicFramePr>
            <a:graphicFrameLocks noGrp="1"/>
          </p:cNvGraphicFramePr>
          <p:nvPr>
            <p:extLst>
              <p:ext uri="{D42A27DB-BD31-4B8C-83A1-F6EECF244321}">
                <p14:modId xmlns:p14="http://schemas.microsoft.com/office/powerpoint/2010/main" val="3377301483"/>
              </p:ext>
            </p:extLst>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483E2A75-A15B-F924-0306-6D64FFF9AC79}"/>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591D3153-9D80-2DDA-7EDF-C1C66B1B5B15}"/>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60 puntos</a:t>
            </a:r>
          </a:p>
        </p:txBody>
      </p:sp>
      <p:pic>
        <p:nvPicPr>
          <p:cNvPr id="12" name="Gráfico 8" descr="Badge Tick1 con relleno sólido">
            <a:extLst>
              <a:ext uri="{FF2B5EF4-FFF2-40B4-BE49-F238E27FC236}">
                <a16:creationId xmlns:a16="http://schemas.microsoft.com/office/drawing/2014/main" id="{5BB05868-C934-5812-901C-8064E528E3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095" y="6155844"/>
            <a:ext cx="372870" cy="372870"/>
          </a:xfrm>
          <a:prstGeom prst="rect">
            <a:avLst/>
          </a:prstGeom>
        </p:spPr>
      </p:pic>
    </p:spTree>
    <p:extLst>
      <p:ext uri="{BB962C8B-B14F-4D97-AF65-F5344CB8AC3E}">
        <p14:creationId xmlns:p14="http://schemas.microsoft.com/office/powerpoint/2010/main" val="197712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26B9-4C18-AC7D-E2D8-878D983A69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5300C2-FE1C-C0E1-6226-5F91113A0652}"/>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FF0957B2-1FB5-6CCF-1F4D-8D2DC35F42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3D91474-9485-A1FD-322E-40EB4D6166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17BDEC-5E5E-FFF2-8716-D8B783FBF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566BF0C-D213-3A05-7C23-EB8242E153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4ACD3831-9EB4-C42E-81BF-C2AF8F69CE37}"/>
              </a:ext>
            </a:extLst>
          </p:cNvPr>
          <p:cNvSpPr>
            <a:spLocks noGrp="1"/>
          </p:cNvSpPr>
          <p:nvPr>
            <p:ph idx="1"/>
          </p:nvPr>
        </p:nvSpPr>
        <p:spPr>
          <a:xfrm>
            <a:off x="641965" y="2582571"/>
            <a:ext cx="10908070" cy="2010029"/>
          </a:xfrm>
        </p:spPr>
        <p:txBody>
          <a:bodyPr>
            <a:noAutofit/>
          </a:bodyPr>
          <a:lstStyle/>
          <a:p>
            <a:pPr marL="0" indent="0" algn="just">
              <a:buNone/>
            </a:pPr>
            <a:r>
              <a:rPr lang="es-CO" sz="1600" dirty="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dirty="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dirty="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dirty="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79BD8F08-1002-B50C-7F6E-C975D00BE7BD}"/>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CE9E63BC-047A-BEDF-3C73-2D0626A5A743}"/>
              </a:ext>
            </a:extLst>
          </p:cNvPr>
          <p:cNvSpPr txBox="1"/>
          <p:nvPr/>
        </p:nvSpPr>
        <p:spPr>
          <a:xfrm>
            <a:off x="2710555" y="4860443"/>
            <a:ext cx="6506831" cy="338554"/>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a:t>
            </a:r>
          </a:p>
        </p:txBody>
      </p:sp>
      <p:sp>
        <p:nvSpPr>
          <p:cNvPr id="10" name="TextBox 9">
            <a:extLst>
              <a:ext uri="{FF2B5EF4-FFF2-40B4-BE49-F238E27FC236}">
                <a16:creationId xmlns:a16="http://schemas.microsoft.com/office/drawing/2014/main" id="{BB2AC4AF-89D6-3643-DAC3-6BAFE5D4D743}"/>
              </a:ext>
            </a:extLst>
          </p:cNvPr>
          <p:cNvSpPr txBox="1"/>
          <p:nvPr/>
        </p:nvSpPr>
        <p:spPr>
          <a:xfrm>
            <a:off x="2914177" y="5759528"/>
            <a:ext cx="6099586" cy="369332"/>
          </a:xfrm>
          <a:prstGeom prst="rect">
            <a:avLst/>
          </a:prstGeom>
          <a:noFill/>
        </p:spPr>
        <p:txBody>
          <a:bodyPr wrap="square">
            <a:spAutoFit/>
          </a:bodyPr>
          <a:lstStyle/>
          <a:p>
            <a:pPr marL="0" indent="0" algn="ctr">
              <a:buNone/>
            </a:pPr>
            <a:r>
              <a:rPr lang="es-ES_tradnl" sz="1800" b="1" dirty="0">
                <a:solidFill>
                  <a:schemeClr val="accent1"/>
                </a:solidFill>
                <a:latin typeface="Century Gothic" panose="020B0502020202020204" pitchFamily="34" charset="0"/>
              </a:rPr>
              <a:t>¿Cuál es el costo de oportunidad de irse en carro?</a:t>
            </a:r>
          </a:p>
        </p:txBody>
      </p:sp>
      <p:sp>
        <p:nvSpPr>
          <p:cNvPr id="13" name="TextBox 12">
            <a:extLst>
              <a:ext uri="{FF2B5EF4-FFF2-40B4-BE49-F238E27FC236}">
                <a16:creationId xmlns:a16="http://schemas.microsoft.com/office/drawing/2014/main" id="{B8119492-D8BB-93A5-F049-2956A2A3041F}"/>
              </a:ext>
            </a:extLst>
          </p:cNvPr>
          <p:cNvSpPr txBox="1"/>
          <p:nvPr/>
        </p:nvSpPr>
        <p:spPr>
          <a:xfrm>
            <a:off x="5522413" y="5294596"/>
            <a:ext cx="1147173" cy="338554"/>
          </a:xfrm>
          <a:prstGeom prst="rect">
            <a:avLst/>
          </a:prstGeom>
          <a:noFill/>
        </p:spPr>
        <p:txBody>
          <a:bodyPr wrap="square">
            <a:spAutoFit/>
          </a:bodyPr>
          <a:lstStyle/>
          <a:p>
            <a:pPr algn="ctr"/>
            <a:r>
              <a:rPr lang="es-CO" sz="1600" b="1" dirty="0">
                <a:solidFill>
                  <a:srgbClr val="D7A700"/>
                </a:solidFill>
                <a:latin typeface="Century Gothic" panose="020B0502020202020204" pitchFamily="34" charset="0"/>
              </a:rPr>
              <a:t>$10.000</a:t>
            </a:r>
            <a:endParaRPr lang="en-CO" sz="1600" b="1" dirty="0">
              <a:solidFill>
                <a:srgbClr val="D7A700"/>
              </a:solidFill>
            </a:endParaRPr>
          </a:p>
        </p:txBody>
      </p:sp>
      <p:sp>
        <p:nvSpPr>
          <p:cNvPr id="14" name="TextBox 13">
            <a:extLst>
              <a:ext uri="{FF2B5EF4-FFF2-40B4-BE49-F238E27FC236}">
                <a16:creationId xmlns:a16="http://schemas.microsoft.com/office/drawing/2014/main" id="{C3B2D10A-FF5C-4991-06BC-F9FA1FF8E693}"/>
              </a:ext>
            </a:extLst>
          </p:cNvPr>
          <p:cNvSpPr txBox="1"/>
          <p:nvPr/>
        </p:nvSpPr>
        <p:spPr>
          <a:xfrm>
            <a:off x="5522413" y="6187110"/>
            <a:ext cx="1147173" cy="338554"/>
          </a:xfrm>
          <a:prstGeom prst="rect">
            <a:avLst/>
          </a:prstGeom>
          <a:noFill/>
        </p:spPr>
        <p:txBody>
          <a:bodyPr wrap="square">
            <a:spAutoFit/>
          </a:bodyPr>
          <a:lstStyle/>
          <a:p>
            <a:pPr algn="ctr"/>
            <a:r>
              <a:rPr lang="es-CO" sz="1600" b="1" dirty="0">
                <a:solidFill>
                  <a:srgbClr val="D7A700"/>
                </a:solidFill>
                <a:latin typeface="Century Gothic" panose="020B0502020202020204" pitchFamily="34" charset="0"/>
              </a:rPr>
              <a:t>$7.000</a:t>
            </a:r>
            <a:endParaRPr lang="en-CO" sz="1600" b="1" dirty="0">
              <a:solidFill>
                <a:srgbClr val="D7A700"/>
              </a:solidFill>
            </a:endParaRPr>
          </a:p>
        </p:txBody>
      </p:sp>
    </p:spTree>
    <p:extLst>
      <p:ext uri="{BB962C8B-B14F-4D97-AF65-F5344CB8AC3E}">
        <p14:creationId xmlns:p14="http://schemas.microsoft.com/office/powerpoint/2010/main" val="218440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552BCBF7-82FF-D3F8-D63F-5B7A6CE98E7C}"/>
              </a:ext>
            </a:extLst>
          </p:cNvPr>
          <p:cNvSpPr/>
          <p:nvPr/>
        </p:nvSpPr>
        <p:spPr>
          <a:xfrm>
            <a:off x="393441" y="2331186"/>
            <a:ext cx="11405118" cy="4031873"/>
          </a:xfrm>
          <a:prstGeom prst="rect">
            <a:avLst/>
          </a:prstGeom>
        </p:spPr>
        <p:txBody>
          <a:bodyPr wrap="square" lIns="91440" tIns="45720" rIns="91440" bIns="45720" anchor="t">
            <a:spAutoFit/>
          </a:bodyPr>
          <a:lstStyle/>
          <a:p>
            <a:pPr marL="285750" indent="-285750" algn="just">
              <a:buClr>
                <a:schemeClr val="accent2"/>
              </a:buClr>
              <a:buFont typeface="Arial" panose="020B0604020202020204" pitchFamily="34" charset="0"/>
              <a:buChar char="•"/>
            </a:pPr>
            <a:r>
              <a:rPr lang="es-CO" sz="1600">
                <a:latin typeface="Century Gothic"/>
              </a:rPr>
              <a:t>Se debe asegurar la </a:t>
            </a:r>
            <a:r>
              <a:rPr lang="es-CO" sz="1600" b="1">
                <a:solidFill>
                  <a:schemeClr val="accent1"/>
                </a:solidFill>
                <a:latin typeface="Century Gothic"/>
              </a:rPr>
              <a:t>comparabilidad</a:t>
            </a:r>
            <a:r>
              <a:rPr lang="es-CO" sz="1600">
                <a:latin typeface="Century Gothic"/>
              </a:rPr>
              <a:t> de los beneficios obtenidos con cada alternativa.</a:t>
            </a:r>
          </a:p>
          <a:p>
            <a:pPr marL="285750" indent="-285750" algn="just">
              <a:buClr>
                <a:schemeClr val="accent2"/>
              </a:buClr>
              <a:buFont typeface="Arial" panose="020B0604020202020204" pitchFamily="34" charset="0"/>
              <a:buChar char="•"/>
            </a:pPr>
            <a:endParaRPr lang="es-CO" sz="1600">
              <a:latin typeface="Century Gothic"/>
            </a:endParaRPr>
          </a:p>
          <a:p>
            <a:pPr marL="285750" indent="-285750" algn="just">
              <a:buClr>
                <a:schemeClr val="accent2"/>
              </a:buClr>
              <a:buFont typeface="Arial" panose="020B0604020202020204" pitchFamily="34" charset="0"/>
              <a:buChar char="•"/>
            </a:pPr>
            <a:r>
              <a:rPr lang="es-CO" sz="1600">
                <a:latin typeface="Century Gothic"/>
              </a:rPr>
              <a:t>Su estimación se debe realizar en términos </a:t>
            </a:r>
            <a:r>
              <a:rPr lang="es-CO" sz="1600" b="1">
                <a:solidFill>
                  <a:schemeClr val="accent1"/>
                </a:solidFill>
                <a:latin typeface="Century Gothic"/>
              </a:rPr>
              <a:t>totales</a:t>
            </a:r>
            <a:r>
              <a:rPr lang="es-CO" sz="1600">
                <a:latin typeface="Century Gothic"/>
              </a:rPr>
              <a:t>,</a:t>
            </a:r>
            <a:r>
              <a:rPr lang="es-CO" sz="1600">
                <a:solidFill>
                  <a:srgbClr val="C00000"/>
                </a:solidFill>
                <a:latin typeface="Century Gothic"/>
              </a:rPr>
              <a:t> </a:t>
            </a:r>
            <a:r>
              <a:rPr lang="es-CO" sz="1600" b="1">
                <a:solidFill>
                  <a:schemeClr val="accent1"/>
                </a:solidFill>
                <a:latin typeface="Century Gothic"/>
              </a:rPr>
              <a:t>NO marginales</a:t>
            </a:r>
            <a:r>
              <a:rPr lang="es-CO" sz="1600">
                <a:latin typeface="Century Gothic"/>
              </a:rPr>
              <a:t>.</a:t>
            </a:r>
          </a:p>
          <a:p>
            <a:pPr marL="285750" indent="-285750" algn="just">
              <a:buClr>
                <a:schemeClr val="accent2"/>
              </a:buClr>
              <a:buFont typeface="Arial" panose="020B0604020202020204" pitchFamily="34" charset="0"/>
              <a:buChar char="•"/>
            </a:pPr>
            <a:endParaRPr lang="es-CO" sz="1600">
              <a:latin typeface="Century Gothic"/>
            </a:endParaRPr>
          </a:p>
          <a:p>
            <a:pPr marL="285750" indent="-285750" algn="just">
              <a:buClr>
                <a:schemeClr val="accent2"/>
              </a:buClr>
              <a:buFont typeface="Arial" panose="020B0604020202020204" pitchFamily="34" charset="0"/>
              <a:buChar char="•"/>
            </a:pPr>
            <a:r>
              <a:rPr lang="es-CO" sz="1600">
                <a:latin typeface="Century Gothic"/>
              </a:rPr>
              <a:t>Toda decisión trae consigo la incursión en un Costo de Oportunidad (</a:t>
            </a:r>
            <a:r>
              <a:rPr lang="es-CO" sz="1600" b="1">
                <a:solidFill>
                  <a:schemeClr val="accent1"/>
                </a:solidFill>
                <a:latin typeface="Century Gothic"/>
              </a:rPr>
              <a:t>no hay Costo de Oportunidad igual a 0</a:t>
            </a:r>
            <a:r>
              <a:rPr lang="es-CO" sz="1600">
                <a:latin typeface="Century Gothic"/>
              </a:rPr>
              <a:t>).</a:t>
            </a:r>
          </a:p>
          <a:p>
            <a:pPr marL="285750" indent="-285750" algn="just">
              <a:buClr>
                <a:schemeClr val="accent2"/>
              </a:buClr>
              <a:buFont typeface="Arial" panose="020B0604020202020204" pitchFamily="34" charset="0"/>
              <a:buChar char="•"/>
            </a:pPr>
            <a:endParaRPr lang="es-CO" sz="160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a:latin typeface="Century Gothic"/>
              </a:rPr>
              <a:t>En muchas ocasiones, el análisis supone la consideración de </a:t>
            </a:r>
            <a:r>
              <a:rPr lang="es-CO" sz="1600" b="1">
                <a:solidFill>
                  <a:schemeClr val="accent1"/>
                </a:solidFill>
                <a:latin typeface="Century Gothic"/>
              </a:rPr>
              <a:t>diversas variables</a:t>
            </a:r>
            <a:r>
              <a:rPr lang="es-CO" sz="1600">
                <a:solidFill>
                  <a:srgbClr val="002F90"/>
                </a:solidFill>
                <a:latin typeface="Century Gothic"/>
              </a:rPr>
              <a:t> </a:t>
            </a:r>
            <a:r>
              <a:rPr lang="es-CO" sz="1600">
                <a:latin typeface="Century Gothic"/>
              </a:rPr>
              <a:t>(análisis multivariado: </a:t>
            </a:r>
            <a:r>
              <a:rPr lang="es-CO" sz="1600" b="1">
                <a:solidFill>
                  <a:schemeClr val="accent1"/>
                </a:solidFill>
                <a:latin typeface="Century Gothic"/>
              </a:rPr>
              <a:t>funciones de utilidad</a:t>
            </a:r>
            <a:r>
              <a:rPr lang="es-CO" sz="1600">
                <a:latin typeface="Century Gothic"/>
              </a:rPr>
              <a:t>).</a:t>
            </a:r>
          </a:p>
          <a:p>
            <a:pPr marL="285750" indent="-285750" algn="just">
              <a:buClr>
                <a:schemeClr val="accent2"/>
              </a:buClr>
              <a:buFont typeface="Arial" panose="020B0604020202020204" pitchFamily="34" charset="0"/>
              <a:buChar char="•"/>
            </a:pPr>
            <a:endParaRPr lang="es-CO" sz="1600">
              <a:latin typeface="Century Gothic"/>
            </a:endParaRPr>
          </a:p>
          <a:p>
            <a:pPr marL="285750" indent="-285750" algn="just">
              <a:buClr>
                <a:schemeClr val="accent2"/>
              </a:buClr>
              <a:buFont typeface="Arial" panose="020B0604020202020204" pitchFamily="34" charset="0"/>
              <a:buChar char="•"/>
            </a:pPr>
            <a:r>
              <a:rPr lang="es-CO" sz="1600">
                <a:latin typeface="Century Gothic" panose="020B0502020202020204" pitchFamily="34" charset="0"/>
              </a:rPr>
              <a:t>A la hora de valorarlo, es muy importante tener presente cuál es la </a:t>
            </a:r>
            <a:r>
              <a:rPr lang="es-CO" sz="1600" b="1">
                <a:solidFill>
                  <a:schemeClr val="accent1"/>
                </a:solidFill>
                <a:latin typeface="Century Gothic" panose="020B0502020202020204" pitchFamily="34" charset="0"/>
              </a:rPr>
              <a:t>función objetivo</a:t>
            </a:r>
            <a:r>
              <a:rPr lang="es-CO" sz="1600">
                <a:latin typeface="Century Gothic" panose="020B0502020202020204" pitchFamily="34" charset="0"/>
              </a:rPr>
              <a:t>, y el </a:t>
            </a:r>
            <a:r>
              <a:rPr lang="es-CO" sz="1600" b="1">
                <a:solidFill>
                  <a:schemeClr val="accent1"/>
                </a:solidFill>
                <a:latin typeface="Century Gothic" panose="020B0502020202020204" pitchFamily="34" charset="0"/>
              </a:rPr>
              <a:t>valor</a:t>
            </a:r>
            <a:r>
              <a:rPr lang="es-CO" sz="1600">
                <a:latin typeface="Century Gothic" panose="020B0502020202020204" pitchFamily="34" charset="0"/>
              </a:rPr>
              <a:t> que tiene para el tomador de decisión aquello que se deja de ganar.</a:t>
            </a:r>
          </a:p>
          <a:p>
            <a:pPr marL="285750" indent="-285750" algn="just">
              <a:buClr>
                <a:schemeClr val="accent2"/>
              </a:buClr>
              <a:buFont typeface="Arial" panose="020B0604020202020204" pitchFamily="34" charset="0"/>
              <a:buChar char="•"/>
            </a:pPr>
            <a:endParaRPr lang="es-CO" sz="160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a:latin typeface="Century Gothic" panose="020B0502020202020204" pitchFamily="34" charset="0"/>
              </a:rPr>
              <a:t>El costo de oportunidad en muchas ocasiones es objetivo (la mayoría de las veces en el mundo empresarial), pero en otras muchas ocasiones está lleno de </a:t>
            </a:r>
            <a:r>
              <a:rPr lang="es-CO" sz="1600" b="1">
                <a:solidFill>
                  <a:schemeClr val="accent1"/>
                </a:solidFill>
                <a:latin typeface="Century Gothic" panose="020B0502020202020204" pitchFamily="34" charset="0"/>
              </a:rPr>
              <a:t>subjetividad</a:t>
            </a:r>
            <a:r>
              <a:rPr lang="es-CO" sz="1600">
                <a:latin typeface="Century Gothic" panose="020B0502020202020204" pitchFamily="34" charset="0"/>
              </a:rPr>
              <a:t>, como en el caso de la política económica y las decisiones personales, dependiendo de quién hace el análisis porque entramos en “juicios de valor”.</a:t>
            </a:r>
          </a:p>
          <a:p>
            <a:pPr marL="285750" indent="-285750" algn="just">
              <a:buClr>
                <a:schemeClr val="accent2"/>
              </a:buClr>
              <a:buFont typeface="Arial" panose="020B0604020202020204" pitchFamily="34" charset="0"/>
              <a:buChar char="•"/>
            </a:pPr>
            <a:endParaRPr lang="es-CO" sz="1600">
              <a:latin typeface="Century Gothic"/>
            </a:endParaRPr>
          </a:p>
        </p:txBody>
      </p:sp>
      <p:sp>
        <p:nvSpPr>
          <p:cNvPr id="10" name="Título 1">
            <a:extLst>
              <a:ext uri="{FF2B5EF4-FFF2-40B4-BE49-F238E27FC236}">
                <a16:creationId xmlns:a16="http://schemas.microsoft.com/office/drawing/2014/main" id="{DF4D758E-BB29-E682-0327-A54F2FD61400}"/>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16" name="CuadroTexto 15">
            <a:extLst>
              <a:ext uri="{FF2B5EF4-FFF2-40B4-BE49-F238E27FC236}">
                <a16:creationId xmlns:a16="http://schemas.microsoft.com/office/drawing/2014/main" id="{8F3273D9-57A4-9922-573F-4AED64B486B6}"/>
              </a:ext>
            </a:extLst>
          </p:cNvPr>
          <p:cNvSpPr txBox="1"/>
          <p:nvPr/>
        </p:nvSpPr>
        <p:spPr>
          <a:xfrm>
            <a:off x="393441" y="1890822"/>
            <a:ext cx="6097772" cy="369332"/>
          </a:xfrm>
          <a:prstGeom prst="rect">
            <a:avLst/>
          </a:prstGeom>
          <a:noFill/>
        </p:spPr>
        <p:txBody>
          <a:bodyPr wrap="square">
            <a:spAutoFit/>
          </a:bodyPr>
          <a:lstStyle/>
          <a:p>
            <a:r>
              <a:rPr lang="es-CO" b="1">
                <a:solidFill>
                  <a:srgbClr val="D7A700"/>
                </a:solidFill>
                <a:latin typeface="Century Gothic"/>
              </a:rPr>
              <a:t>Consideraciones:</a:t>
            </a:r>
            <a:endParaRPr lang="es-CO">
              <a:solidFill>
                <a:srgbClr val="D7A700"/>
              </a:solidFill>
            </a:endParaRPr>
          </a:p>
        </p:txBody>
      </p:sp>
      <p:sp>
        <p:nvSpPr>
          <p:cNvPr id="2" name="Rectángulo 1">
            <a:extLst>
              <a:ext uri="{FF2B5EF4-FFF2-40B4-BE49-F238E27FC236}">
                <a16:creationId xmlns:a16="http://schemas.microsoft.com/office/drawing/2014/main" id="{2F939A2B-D76D-30A9-ADC0-A3670F04C5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7" name="Picture 2" descr="Imágenes de Consideraciones libres de derechos | Depositphotos">
            <a:extLst>
              <a:ext uri="{FF2B5EF4-FFF2-40B4-BE49-F238E27FC236}">
                <a16:creationId xmlns:a16="http://schemas.microsoft.com/office/drawing/2014/main" id="{DF499D3D-EE33-CB3C-E886-49411865B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2473" y="1890822"/>
            <a:ext cx="1673819" cy="12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randombar(horizont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randombar(horizontal)">
                                      <p:cBhvr>
                                        <p:cTn id="22" dur="500"/>
                                        <p:tgtEl>
                                          <p:spTgt spid="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5">
                                            <p:txEl>
                                              <p:pRg st="8" end="8"/>
                                            </p:txEl>
                                          </p:spTgt>
                                        </p:tgtEl>
                                        <p:attrNameLst>
                                          <p:attrName>style.visibility</p:attrName>
                                        </p:attrNameLst>
                                      </p:cBhvr>
                                      <p:to>
                                        <p:strVal val="visible"/>
                                      </p:to>
                                    </p:set>
                                    <p:animEffect transition="in" filter="randombar(horizontal)">
                                      <p:cBhvr>
                                        <p:cTn id="27" dur="500"/>
                                        <p:tgtEl>
                                          <p:spTgt spid="1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5">
                                            <p:txEl>
                                              <p:pRg st="10" end="10"/>
                                            </p:txEl>
                                          </p:spTgt>
                                        </p:tgtEl>
                                        <p:attrNameLst>
                                          <p:attrName>style.visibility</p:attrName>
                                        </p:attrNameLst>
                                      </p:cBhvr>
                                      <p:to>
                                        <p:strVal val="visible"/>
                                      </p:to>
                                    </p:set>
                                    <p:animEffect transition="in" filter="randombar(horizontal)">
                                      <p:cBhvr>
                                        <p:cTn id="32"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p:cNvSpPr>
                <a:spLocks noGrp="1"/>
              </p:cNvSpPr>
              <p:nvPr>
                <p:ph idx="1"/>
              </p:nvPr>
            </p:nvSpPr>
            <p:spPr>
              <a:xfrm>
                <a:off x="678413" y="2543550"/>
                <a:ext cx="10835173" cy="1727826"/>
              </a:xfrm>
            </p:spPr>
            <p:txBody>
              <a:bodyPr>
                <a:noAutofit/>
              </a:bodyPr>
              <a:lstStyle/>
              <a:p>
                <a:pPr marL="0" indent="0" algn="just">
                  <a:buNone/>
                </a:pPr>
                <a:r>
                  <a:rPr lang="es-ES" dirty="0">
                    <a:latin typeface="Century Gothic" panose="020B0502020202020204" pitchFamily="34" charset="0"/>
                  </a:rPr>
                  <a:t>Una compañía ha encontrado que la rentabilidad para uno de sus procesos productivos depende de los parámetros de operación </a:t>
                </a:r>
                <a:r>
                  <a:rPr lang="es-ES" i="1" dirty="0">
                    <a:latin typeface="Century Gothic" panose="020B0502020202020204" pitchFamily="34" charset="0"/>
                  </a:rPr>
                  <a:t>a</a:t>
                </a:r>
                <a:r>
                  <a:rPr lang="es-ES" dirty="0">
                    <a:latin typeface="Century Gothic" panose="020B0502020202020204" pitchFamily="34" charset="0"/>
                  </a:rPr>
                  <a:t> y </a:t>
                </a:r>
                <a:r>
                  <a:rPr lang="es-ES" i="1" dirty="0">
                    <a:latin typeface="Century Gothic" panose="020B0502020202020204" pitchFamily="34" charset="0"/>
                  </a:rPr>
                  <a:t>b</a:t>
                </a:r>
                <a:r>
                  <a:rPr lang="es-ES" dirty="0">
                    <a:latin typeface="Century Gothic" panose="020B0502020202020204" pitchFamily="34" charset="0"/>
                  </a:rPr>
                  <a:t> y viene dada por la siguiente expresión:</a:t>
                </a:r>
              </a:p>
              <a:p>
                <a:pPr marL="0" indent="0" algn="just">
                  <a:buNone/>
                </a:pPr>
                <a:endParaRPr lang="es-CO" sz="800" dirty="0">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sz="2000" b="1" i="0" smtClean="0">
                          <a:solidFill>
                            <a:srgbClr val="D7A700"/>
                          </a:solidFill>
                          <a:latin typeface="Cambria Math" panose="02040503050406030204" pitchFamily="18" charset="0"/>
                        </a:rPr>
                        <m:t>𝐑𝐞𝐧𝐭𝐚𝐛𝐢𝐥𝐢𝐝𝐚𝐝</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𝐚</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𝐛</m:t>
                      </m:r>
                      <m:r>
                        <a:rPr lang="es-419" sz="2000" b="1" i="0" smtClean="0">
                          <a:solidFill>
                            <a:srgbClr val="D7A700"/>
                          </a:solidFill>
                          <a:latin typeface="Cambria Math" panose="02040503050406030204" pitchFamily="18" charset="0"/>
                        </a:rPr>
                        <m:t>)=</m:t>
                      </m:r>
                      <m:f>
                        <m:fPr>
                          <m:ctrlPr>
                            <a:rPr lang="es-419" sz="2000" b="1" i="1" smtClean="0">
                              <a:solidFill>
                                <a:srgbClr val="D7A700"/>
                              </a:solidFill>
                              <a:latin typeface="Cambria Math" panose="02040503050406030204" pitchFamily="18" charset="0"/>
                            </a:rPr>
                          </m:ctrlPr>
                        </m:fPr>
                        <m:num>
                          <m:r>
                            <a:rPr lang="es-419" sz="2000" b="1" i="0" smtClean="0">
                              <a:solidFill>
                                <a:srgbClr val="D7A700"/>
                              </a:solidFill>
                              <a:latin typeface="Cambria Math" panose="02040503050406030204" pitchFamily="18" charset="0"/>
                            </a:rPr>
                            <m:t>𝟏</m:t>
                          </m:r>
                        </m:num>
                        <m:den>
                          <m:r>
                            <a:rPr lang="es-419" sz="2000" b="1" i="0" smtClean="0">
                              <a:solidFill>
                                <a:srgbClr val="D7A700"/>
                              </a:solidFill>
                              <a:latin typeface="Cambria Math" panose="02040503050406030204" pitchFamily="18" charset="0"/>
                            </a:rPr>
                            <m:t>𝟓𝟎</m:t>
                          </m:r>
                        </m:den>
                      </m:f>
                      <m:d>
                        <m:dPr>
                          <m:ctrlPr>
                            <a:rPr lang="es-419" sz="2000" b="1" i="1" smtClean="0">
                              <a:solidFill>
                                <a:srgbClr val="D7A700"/>
                              </a:solidFill>
                              <a:latin typeface="Cambria Math" panose="02040503050406030204" pitchFamily="18" charset="0"/>
                            </a:rPr>
                          </m:ctrlPr>
                        </m:dPr>
                        <m:e>
                          <m:r>
                            <a:rPr lang="es-419" sz="2000" b="1" i="0" smtClean="0">
                              <a:solidFill>
                                <a:srgbClr val="D7A700"/>
                              </a:solidFill>
                              <a:latin typeface="Cambria Math" panose="02040503050406030204" pitchFamily="18" charset="0"/>
                            </a:rPr>
                            <m:t>𝐚𝐛</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𝐚</m:t>
                          </m:r>
                          <m:d>
                            <m:dPr>
                              <m:ctrlPr>
                                <a:rPr lang="es-419" sz="2000" b="1" i="1" smtClean="0">
                                  <a:solidFill>
                                    <a:srgbClr val="D7A700"/>
                                  </a:solidFill>
                                  <a:latin typeface="Cambria Math" panose="02040503050406030204" pitchFamily="18" charset="0"/>
                                </a:rPr>
                              </m:ctrlPr>
                            </m:dPr>
                            <m:e>
                              <m:r>
                                <a:rPr lang="es-419" sz="2000" b="1" i="0" smtClean="0">
                                  <a:solidFill>
                                    <a:srgbClr val="D7A700"/>
                                  </a:solidFill>
                                  <a:latin typeface="Cambria Math" panose="02040503050406030204" pitchFamily="18" charset="0"/>
                                </a:rPr>
                                <m:t>𝟒</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𝐚</m:t>
                              </m:r>
                            </m:e>
                          </m:d>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𝐛</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𝟐</m:t>
                          </m:r>
                          <m:r>
                            <a:rPr lang="es-419" sz="2000" b="1" i="0" smtClean="0">
                              <a:solidFill>
                                <a:srgbClr val="D7A700"/>
                              </a:solidFill>
                              <a:latin typeface="Cambria Math" panose="02040503050406030204" pitchFamily="18" charset="0"/>
                            </a:rPr>
                            <m:t>−</m:t>
                          </m:r>
                          <m:r>
                            <a:rPr lang="es-419" sz="2000" b="1" i="0" smtClean="0">
                              <a:solidFill>
                                <a:srgbClr val="D7A700"/>
                              </a:solidFill>
                              <a:latin typeface="Cambria Math" panose="02040503050406030204" pitchFamily="18" charset="0"/>
                            </a:rPr>
                            <m:t>𝐛</m:t>
                          </m:r>
                          <m:r>
                            <a:rPr lang="es-419" sz="2000" b="1" i="0" smtClean="0">
                              <a:solidFill>
                                <a:srgbClr val="D7A700"/>
                              </a:solidFill>
                              <a:latin typeface="Cambria Math" panose="02040503050406030204" pitchFamily="18" charset="0"/>
                            </a:rPr>
                            <m:t>)</m:t>
                          </m:r>
                        </m:e>
                      </m:d>
                    </m:oMath>
                  </m:oMathPara>
                </a14:m>
                <a:endParaRPr lang="es-CO" sz="1600" dirty="0">
                  <a:solidFill>
                    <a:srgbClr val="D7A700"/>
                  </a:solidFill>
                  <a:latin typeface="Century Gothic" panose="020B0502020202020204" pitchFamily="34" charset="0"/>
                </a:endParaRPr>
              </a:p>
            </p:txBody>
          </p:sp>
        </mc:Choice>
        <mc:Fallback xmlns="">
          <p:sp>
            <p:nvSpPr>
              <p:cNvPr id="10" name="Content Placeholder 6"/>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68" r="-468"/>
                </a:stretch>
              </a:blipFill>
            </p:spPr>
            <p:txBody>
              <a:bodyPr/>
              <a:lstStyle/>
              <a:p>
                <a:r>
                  <a:rPr lang="en-CO">
                    <a:noFill/>
                  </a:rPr>
                  <a:t> </a:t>
                </a:r>
              </a:p>
            </p:txBody>
          </p:sp>
        </mc:Fallback>
      </mc:AlternateContent>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10</a:t>
            </a:fld>
            <a:endParaRPr lang="en-US" sz="2000" b="1">
              <a:latin typeface="Century Gothic" panose="020B0502020202020204" pitchFamily="34" charset="0"/>
            </a:endParaRPr>
          </a:p>
        </p:txBody>
      </p:sp>
      <p:sp>
        <p:nvSpPr>
          <p:cNvPr id="12" name="Rectángulo 11"/>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9AE97B0C-705E-7778-5F15-BEE4396663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EE1786A-C920-80FA-5DA4-BB6F458DA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1A234206-6469-41F0-89B1-E1B5E7651DC8}"/>
              </a:ext>
            </a:extLst>
          </p:cNvPr>
          <p:cNvSpPr txBox="1"/>
          <p:nvPr/>
        </p:nvSpPr>
        <p:spPr>
          <a:xfrm>
            <a:off x="854001" y="4272515"/>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8948749C-6200-631B-E8DA-5278A1DFEF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0285EAAC-4138-6023-09BE-27C276F01C6A}"/>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A94A74F-7C5C-D94D-D83A-E4CA53A721C8}"/>
                  </a:ext>
                </a:extLst>
              </p:cNvPr>
              <p:cNvSpPr txBox="1"/>
              <p:nvPr/>
            </p:nvSpPr>
            <p:spPr>
              <a:xfrm>
                <a:off x="581192" y="5444855"/>
                <a:ext cx="2186945" cy="693844"/>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400" b="1" i="1" smtClean="0">
                          <a:solidFill>
                            <a:srgbClr val="D7A700"/>
                          </a:solidFill>
                          <a:latin typeface="Cambria Math" panose="02040503050406030204" pitchFamily="18" charset="0"/>
                        </a:rPr>
                        <m:t>𝒂</m:t>
                      </m:r>
                      <m:r>
                        <a:rPr lang="es-CO" sz="2400" b="1" i="1" smtClean="0">
                          <a:solidFill>
                            <a:srgbClr val="D7A700"/>
                          </a:solidFill>
                          <a:latin typeface="Cambria Math" panose="02040503050406030204" pitchFamily="18" charset="0"/>
                        </a:rPr>
                        <m:t>=</m:t>
                      </m:r>
                      <m:f>
                        <m:fPr>
                          <m:ctrlPr>
                            <a:rPr lang="es-CO" sz="2400" b="1" i="1" smtClean="0">
                              <a:solidFill>
                                <a:srgbClr val="D7A700"/>
                              </a:solidFill>
                              <a:latin typeface="Cambria Math" panose="02040503050406030204" pitchFamily="18" charset="0"/>
                            </a:rPr>
                          </m:ctrlPr>
                        </m:fPr>
                        <m:num>
                          <m:r>
                            <a:rPr lang="es-CO" sz="2400" b="1" i="1" smtClean="0">
                              <a:solidFill>
                                <a:srgbClr val="D7A700"/>
                              </a:solidFill>
                              <a:latin typeface="Cambria Math" panose="02040503050406030204" pitchFamily="18" charset="0"/>
                            </a:rPr>
                            <m:t>𝟏𝟎</m:t>
                          </m:r>
                        </m:num>
                        <m:den>
                          <m:r>
                            <a:rPr lang="es-CO" sz="2400" b="1" i="1" smtClean="0">
                              <a:solidFill>
                                <a:srgbClr val="D7A700"/>
                              </a:solidFill>
                              <a:latin typeface="Cambria Math" panose="02040503050406030204" pitchFamily="18" charset="0"/>
                            </a:rPr>
                            <m:t>𝟑</m:t>
                          </m:r>
                        </m:den>
                      </m:f>
                      <m:r>
                        <a:rPr lang="es-CO" sz="2400" b="1" i="1" smtClean="0">
                          <a:solidFill>
                            <a:srgbClr val="D7A700"/>
                          </a:solidFill>
                          <a:latin typeface="Cambria Math" panose="02040503050406030204" pitchFamily="18" charset="0"/>
                        </a:rPr>
                        <m:t> </m:t>
                      </m:r>
                      <m:r>
                        <a:rPr lang="es-CO" sz="2400" b="1" i="1" smtClean="0">
                          <a:solidFill>
                            <a:srgbClr val="D7A700"/>
                          </a:solidFill>
                          <a:latin typeface="Cambria Math" panose="02040503050406030204" pitchFamily="18" charset="0"/>
                        </a:rPr>
                        <m:t>𝒚</m:t>
                      </m:r>
                      <m:r>
                        <a:rPr lang="es-CO" sz="2400" b="1" i="1" smtClean="0">
                          <a:solidFill>
                            <a:srgbClr val="D7A700"/>
                          </a:solidFill>
                          <a:latin typeface="Cambria Math" panose="02040503050406030204" pitchFamily="18" charset="0"/>
                        </a:rPr>
                        <m:t> </m:t>
                      </m:r>
                      <m:r>
                        <a:rPr lang="es-CO" sz="2400" b="1" i="1" smtClean="0">
                          <a:solidFill>
                            <a:srgbClr val="D7A700"/>
                          </a:solidFill>
                          <a:latin typeface="Cambria Math" panose="02040503050406030204" pitchFamily="18" charset="0"/>
                        </a:rPr>
                        <m:t>𝒃</m:t>
                      </m:r>
                      <m:r>
                        <a:rPr lang="es-CO" sz="2400" b="1" i="1" smtClean="0">
                          <a:solidFill>
                            <a:srgbClr val="D7A700"/>
                          </a:solidFill>
                          <a:latin typeface="Cambria Math" panose="02040503050406030204" pitchFamily="18" charset="0"/>
                        </a:rPr>
                        <m:t>=</m:t>
                      </m:r>
                      <m:f>
                        <m:fPr>
                          <m:ctrlPr>
                            <a:rPr lang="es-CO" sz="2400" b="1" i="1" smtClean="0">
                              <a:solidFill>
                                <a:srgbClr val="D7A700"/>
                              </a:solidFill>
                              <a:latin typeface="Cambria Math" panose="02040503050406030204" pitchFamily="18" charset="0"/>
                            </a:rPr>
                          </m:ctrlPr>
                        </m:fPr>
                        <m:num>
                          <m:r>
                            <a:rPr lang="es-CO" sz="2400" b="1" i="1" smtClean="0">
                              <a:solidFill>
                                <a:srgbClr val="D7A700"/>
                              </a:solidFill>
                              <a:latin typeface="Cambria Math" panose="02040503050406030204" pitchFamily="18" charset="0"/>
                            </a:rPr>
                            <m:t>𝟖</m:t>
                          </m:r>
                        </m:num>
                        <m:den>
                          <m:r>
                            <a:rPr lang="es-CO" sz="2400" b="1" i="1" smtClean="0">
                              <a:solidFill>
                                <a:srgbClr val="D7A700"/>
                              </a:solidFill>
                              <a:latin typeface="Cambria Math" panose="02040503050406030204" pitchFamily="18" charset="0"/>
                            </a:rPr>
                            <m:t>𝟑</m:t>
                          </m:r>
                        </m:den>
                      </m:f>
                    </m:oMath>
                  </m:oMathPara>
                </a14:m>
                <a:endParaRPr lang="es-CO" sz="2400" b="1" dirty="0">
                  <a:solidFill>
                    <a:srgbClr val="D7A700"/>
                  </a:solidFill>
                </a:endParaRPr>
              </a:p>
            </p:txBody>
          </p:sp>
        </mc:Choice>
        <mc:Fallback xmlns="">
          <p:sp>
            <p:nvSpPr>
              <p:cNvPr id="3" name="CuadroTexto 2">
                <a:extLst>
                  <a:ext uri="{FF2B5EF4-FFF2-40B4-BE49-F238E27FC236}">
                    <a16:creationId xmlns:a16="http://schemas.microsoft.com/office/drawing/2014/main" id="{7A94A74F-7C5C-D94D-D83A-E4CA53A721C8}"/>
                  </a:ext>
                </a:extLst>
              </p:cNvPr>
              <p:cNvSpPr txBox="1">
                <a:spLocks noRot="1" noChangeAspect="1" noMove="1" noResize="1" noEditPoints="1" noAdjustHandles="1" noChangeArrowheads="1" noChangeShapeType="1" noTextEdit="1"/>
              </p:cNvSpPr>
              <p:nvPr/>
            </p:nvSpPr>
            <p:spPr>
              <a:xfrm>
                <a:off x="581192" y="5444855"/>
                <a:ext cx="2186945" cy="693844"/>
              </a:xfrm>
              <a:prstGeom prst="rect">
                <a:avLst/>
              </a:prstGeom>
              <a:blipFill>
                <a:blip r:embed="rId5"/>
                <a:stretch>
                  <a:fillRect l="-1156" r="-2890" b="-14286"/>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3A360E02-B1AA-3B17-DD99-97B1DEC948CB}"/>
                  </a:ext>
                </a:extLst>
              </p:cNvPr>
              <p:cNvSpPr txBox="1"/>
              <p:nvPr/>
            </p:nvSpPr>
            <p:spPr>
              <a:xfrm>
                <a:off x="3000143" y="5074750"/>
                <a:ext cx="8084411" cy="1545038"/>
              </a:xfrm>
              <a:prstGeom prst="rect">
                <a:avLst/>
              </a:prstGeom>
              <a:solidFill>
                <a:schemeClr val="accent3">
                  <a:lumMod val="20000"/>
                  <a:lumOff val="80000"/>
                </a:schemeClr>
              </a:solidFill>
            </p:spPr>
            <p:txBody>
              <a:bodyPr wrap="square">
                <a:spAutoFit/>
              </a:bodyPr>
              <a:lstStyle/>
              <a:p>
                <a:pPr algn="ctr"/>
                <a:r>
                  <a:rPr lang="es-CO" sz="1600" dirty="0">
                    <a:solidFill>
                      <a:schemeClr val="accent1"/>
                    </a:solidFill>
                    <a:latin typeface="Century Gothic" panose="020B0502020202020204" pitchFamily="34" charset="0"/>
                  </a:rPr>
                  <a:t>Reemplazando los parámetros en la función:</a:t>
                </a:r>
              </a:p>
              <a:p>
                <a:pPr algn="ctr"/>
                <a:endParaRPr lang="es-CO" sz="800" dirty="0">
                  <a:solidFill>
                    <a:schemeClr val="accent1"/>
                  </a:solidFill>
                  <a:latin typeface="Century Gothic" panose="020B0502020202020204" pitchFamily="34" charset="0"/>
                </a:endParaRPr>
              </a:p>
              <a:p>
                <a:pPr algn="ctr"/>
                <a14:m>
                  <m:oMathPara xmlns:m="http://schemas.openxmlformats.org/officeDocument/2006/math">
                    <m:oMathParaPr>
                      <m:jc m:val="centerGroup"/>
                    </m:oMathParaPr>
                    <m:oMath xmlns:m="http://schemas.openxmlformats.org/officeDocument/2006/math">
                      <m:r>
                        <a:rPr lang="es-CO" sz="1600" b="0" i="1" smtClean="0">
                          <a:solidFill>
                            <a:schemeClr val="accent1"/>
                          </a:solidFill>
                          <a:latin typeface="Cambria Math" panose="02040503050406030204" pitchFamily="18" charset="0"/>
                        </a:rPr>
                        <m:t>𝑅</m:t>
                      </m:r>
                      <m:d>
                        <m:dPr>
                          <m:ctrlPr>
                            <a:rPr lang="es-CO" sz="1600" b="0" i="1" smtClean="0">
                              <a:solidFill>
                                <a:schemeClr val="accent1"/>
                              </a:solidFill>
                              <a:latin typeface="Cambria Math" panose="02040503050406030204" pitchFamily="18" charset="0"/>
                            </a:rPr>
                          </m:ctrlPr>
                        </m:dPr>
                        <m:e>
                          <m:r>
                            <a:rPr lang="es-CO" sz="1600" b="0" i="1" smtClean="0">
                              <a:solidFill>
                                <a:schemeClr val="accent1"/>
                              </a:solidFill>
                              <a:latin typeface="Cambria Math" panose="02040503050406030204" pitchFamily="18" charset="0"/>
                            </a:rPr>
                            <m:t>1,2</m:t>
                          </m:r>
                        </m:e>
                      </m:d>
                      <m:r>
                        <a:rPr lang="es-CO" sz="1600" b="0" i="1" smtClean="0">
                          <a:solidFill>
                            <a:schemeClr val="accent1"/>
                          </a:solidFill>
                          <a:latin typeface="Cambria Math" panose="02040503050406030204" pitchFamily="18" charset="0"/>
                        </a:rPr>
                        <m:t>=</m:t>
                      </m:r>
                      <m:f>
                        <m:fPr>
                          <m:ctrlPr>
                            <a:rPr lang="es-MX" sz="1600" b="0" i="1" smtClean="0">
                              <a:solidFill>
                                <a:schemeClr val="accent1"/>
                              </a:solidFill>
                              <a:latin typeface="Cambria Math" panose="02040503050406030204" pitchFamily="18" charset="0"/>
                            </a:rPr>
                          </m:ctrlPr>
                        </m:fPr>
                        <m:num>
                          <m:r>
                            <a:rPr lang="es-MX" sz="1600" b="0" i="1" smtClean="0">
                              <a:solidFill>
                                <a:schemeClr val="accent1"/>
                              </a:solidFill>
                              <a:latin typeface="Cambria Math" panose="02040503050406030204" pitchFamily="18" charset="0"/>
                            </a:rPr>
                            <m:t>1</m:t>
                          </m:r>
                        </m:num>
                        <m:den>
                          <m:r>
                            <a:rPr lang="es-MX" sz="1600" b="0" i="1" smtClean="0">
                              <a:solidFill>
                                <a:schemeClr val="accent1"/>
                              </a:solidFill>
                              <a:latin typeface="Cambria Math" panose="02040503050406030204" pitchFamily="18" charset="0"/>
                            </a:rPr>
                            <m:t>10</m:t>
                          </m:r>
                        </m:den>
                      </m:f>
                      <m:r>
                        <a:rPr lang="es-MX" sz="1600" i="1">
                          <a:solidFill>
                            <a:schemeClr val="accent1"/>
                          </a:solidFill>
                          <a:latin typeface="Cambria Math" panose="02040503050406030204" pitchFamily="18" charset="0"/>
                          <a:ea typeface="Cambria Math" panose="02040503050406030204" pitchFamily="18" charset="0"/>
                        </a:rPr>
                        <m:t>≈</m:t>
                      </m:r>
                      <m:r>
                        <a:rPr lang="es-MX" sz="1600" b="0" i="1" smtClean="0">
                          <a:solidFill>
                            <a:schemeClr val="accent1"/>
                          </a:solidFill>
                          <a:latin typeface="Cambria Math" panose="02040503050406030204" pitchFamily="18" charset="0"/>
                        </a:rPr>
                        <m:t>10,00%</m:t>
                      </m:r>
                      <m:r>
                        <a:rPr lang="es-MX" sz="1600" b="0" i="0" smtClean="0">
                          <a:solidFill>
                            <a:schemeClr val="accent1"/>
                          </a:solidFill>
                          <a:latin typeface="Cambria Math" panose="02040503050406030204" pitchFamily="18" charset="0"/>
                        </a:rPr>
                        <m:t>                     </m:t>
                      </m:r>
                      <m:r>
                        <a:rPr lang="es-MX" sz="1600" b="0" i="1">
                          <a:solidFill>
                            <a:schemeClr val="accent1"/>
                          </a:solidFill>
                          <a:latin typeface="Cambria Math" panose="02040503050406030204" pitchFamily="18" charset="0"/>
                        </a:rPr>
                        <m:t>𝑅</m:t>
                      </m:r>
                      <m:d>
                        <m:dPr>
                          <m:ctrlPr>
                            <a:rPr lang="es-MX" sz="1600" b="0" i="1">
                              <a:solidFill>
                                <a:schemeClr val="accent1"/>
                              </a:solidFill>
                              <a:latin typeface="Cambria Math" panose="02040503050406030204" pitchFamily="18" charset="0"/>
                            </a:rPr>
                          </m:ctrlPr>
                        </m:dPr>
                        <m:e>
                          <m:f>
                            <m:fPr>
                              <m:ctrlPr>
                                <a:rPr lang="es-MX" sz="1600" b="0" i="1">
                                  <a:solidFill>
                                    <a:schemeClr val="accent1"/>
                                  </a:solidFill>
                                  <a:latin typeface="Cambria Math" panose="02040503050406030204" pitchFamily="18" charset="0"/>
                                </a:rPr>
                              </m:ctrlPr>
                            </m:fPr>
                            <m:num>
                              <m:r>
                                <a:rPr lang="es-MX" sz="1600" b="0" i="1">
                                  <a:solidFill>
                                    <a:schemeClr val="accent1"/>
                                  </a:solidFill>
                                  <a:latin typeface="Cambria Math" panose="02040503050406030204" pitchFamily="18" charset="0"/>
                                </a:rPr>
                                <m:t>10</m:t>
                              </m:r>
                            </m:num>
                            <m:den>
                              <m:r>
                                <a:rPr lang="es-MX" sz="1600" b="0" i="1">
                                  <a:solidFill>
                                    <a:schemeClr val="accent1"/>
                                  </a:solidFill>
                                  <a:latin typeface="Cambria Math" panose="02040503050406030204" pitchFamily="18" charset="0"/>
                                </a:rPr>
                                <m:t>3</m:t>
                              </m:r>
                            </m:den>
                          </m:f>
                          <m:r>
                            <a:rPr lang="es-MX" sz="1600" b="0" i="1">
                              <a:solidFill>
                                <a:schemeClr val="accent1"/>
                              </a:solidFill>
                              <a:latin typeface="Cambria Math" panose="02040503050406030204" pitchFamily="18" charset="0"/>
                            </a:rPr>
                            <m:t>,</m:t>
                          </m:r>
                          <m:f>
                            <m:fPr>
                              <m:ctrlPr>
                                <a:rPr lang="es-MX" sz="1600" b="0" i="1">
                                  <a:solidFill>
                                    <a:schemeClr val="accent1"/>
                                  </a:solidFill>
                                  <a:latin typeface="Cambria Math" panose="02040503050406030204" pitchFamily="18" charset="0"/>
                                </a:rPr>
                              </m:ctrlPr>
                            </m:fPr>
                            <m:num>
                              <m:r>
                                <a:rPr lang="es-MX" sz="1600" b="0" i="1">
                                  <a:solidFill>
                                    <a:schemeClr val="accent1"/>
                                  </a:solidFill>
                                  <a:latin typeface="Cambria Math" panose="02040503050406030204" pitchFamily="18" charset="0"/>
                                </a:rPr>
                                <m:t>8</m:t>
                              </m:r>
                            </m:num>
                            <m:den>
                              <m:r>
                                <a:rPr lang="es-MX" sz="1600" b="0" i="1">
                                  <a:solidFill>
                                    <a:schemeClr val="accent1"/>
                                  </a:solidFill>
                                  <a:latin typeface="Cambria Math" panose="02040503050406030204" pitchFamily="18" charset="0"/>
                                </a:rPr>
                                <m:t>3</m:t>
                              </m:r>
                            </m:den>
                          </m:f>
                        </m:e>
                      </m:d>
                      <m:r>
                        <a:rPr lang="es-MX" sz="1600" b="0" i="1">
                          <a:solidFill>
                            <a:schemeClr val="accent1"/>
                          </a:solidFill>
                          <a:latin typeface="Cambria Math" panose="02040503050406030204" pitchFamily="18" charset="0"/>
                        </a:rPr>
                        <m:t>=</m:t>
                      </m:r>
                      <m:f>
                        <m:fPr>
                          <m:ctrlPr>
                            <a:rPr lang="es-MX" sz="1600" b="0" i="1">
                              <a:solidFill>
                                <a:schemeClr val="accent1"/>
                              </a:solidFill>
                              <a:latin typeface="Cambria Math" panose="02040503050406030204" pitchFamily="18" charset="0"/>
                            </a:rPr>
                          </m:ctrlPr>
                        </m:fPr>
                        <m:num>
                          <m:r>
                            <a:rPr lang="es-MX" sz="1600" b="0" i="1">
                              <a:solidFill>
                                <a:schemeClr val="accent1"/>
                              </a:solidFill>
                              <a:latin typeface="Cambria Math" panose="02040503050406030204" pitchFamily="18" charset="0"/>
                            </a:rPr>
                            <m:t>14</m:t>
                          </m:r>
                        </m:num>
                        <m:den>
                          <m:r>
                            <a:rPr lang="es-MX" sz="1600" b="0" i="1">
                              <a:solidFill>
                                <a:schemeClr val="accent1"/>
                              </a:solidFill>
                              <a:latin typeface="Cambria Math" panose="02040503050406030204" pitchFamily="18" charset="0"/>
                            </a:rPr>
                            <m:t>75</m:t>
                          </m:r>
                        </m:den>
                      </m:f>
                      <m:r>
                        <a:rPr lang="es-MX" sz="1600" b="0" i="1">
                          <a:solidFill>
                            <a:schemeClr val="accent1"/>
                          </a:solidFill>
                          <a:latin typeface="Cambria Math" panose="02040503050406030204" pitchFamily="18" charset="0"/>
                          <a:ea typeface="Cambria Math" panose="02040503050406030204" pitchFamily="18" charset="0"/>
                        </a:rPr>
                        <m:t>≈</m:t>
                      </m:r>
                      <m:r>
                        <a:rPr lang="es-MX" sz="1600" b="1" i="1" smtClean="0">
                          <a:solidFill>
                            <a:srgbClr val="D7A700"/>
                          </a:solidFill>
                          <a:latin typeface="Cambria Math" panose="02040503050406030204" pitchFamily="18" charset="0"/>
                          <a:ea typeface="Cambria Math" panose="02040503050406030204" pitchFamily="18" charset="0"/>
                        </a:rPr>
                        <m:t>𝟏𝟖</m:t>
                      </m:r>
                      <m:r>
                        <a:rPr lang="es-MX" sz="1600" b="1" i="1" smtClean="0">
                          <a:solidFill>
                            <a:srgbClr val="D7A700"/>
                          </a:solidFill>
                          <a:latin typeface="Cambria Math" panose="02040503050406030204" pitchFamily="18" charset="0"/>
                          <a:ea typeface="Cambria Math" panose="02040503050406030204" pitchFamily="18" charset="0"/>
                        </a:rPr>
                        <m:t>,</m:t>
                      </m:r>
                      <m:r>
                        <a:rPr lang="es-MX" sz="1600" b="1" i="1" smtClean="0">
                          <a:solidFill>
                            <a:srgbClr val="D7A700"/>
                          </a:solidFill>
                          <a:latin typeface="Cambria Math" panose="02040503050406030204" pitchFamily="18" charset="0"/>
                          <a:ea typeface="Cambria Math" panose="02040503050406030204" pitchFamily="18" charset="0"/>
                        </a:rPr>
                        <m:t>𝟔𝟕</m:t>
                      </m:r>
                      <m:r>
                        <a:rPr lang="es-MX" sz="1600" b="1" i="1" smtClean="0">
                          <a:solidFill>
                            <a:srgbClr val="D7A700"/>
                          </a:solidFill>
                          <a:latin typeface="Cambria Math" panose="02040503050406030204" pitchFamily="18" charset="0"/>
                          <a:ea typeface="Cambria Math" panose="02040503050406030204" pitchFamily="18" charset="0"/>
                        </a:rPr>
                        <m:t>%</m:t>
                      </m:r>
                    </m:oMath>
                  </m:oMathPara>
                </a14:m>
                <a:endParaRPr lang="es-MX" sz="1600" b="1" dirty="0">
                  <a:solidFill>
                    <a:schemeClr val="accent1"/>
                  </a:solidFill>
                  <a:latin typeface="Century Gothic" panose="020B0502020202020204" pitchFamily="34" charset="0"/>
                  <a:ea typeface="Cambria Math" panose="02040503050406030204" pitchFamily="18" charset="0"/>
                </a:endParaRPr>
              </a:p>
              <a:p>
                <a:pPr algn="ctr"/>
                <a:endParaRPr lang="es-CO" sz="800" dirty="0">
                  <a:solidFill>
                    <a:schemeClr val="accent1"/>
                  </a:solidFill>
                  <a:latin typeface="Century Gothic" panose="020B0502020202020204" pitchFamily="34" charset="0"/>
                </a:endParaRPr>
              </a:p>
              <a:p>
                <a:pPr algn="ctr"/>
                <a:r>
                  <a:rPr lang="es-CO" sz="1600" dirty="0">
                    <a:solidFill>
                      <a:schemeClr val="accent1"/>
                    </a:solidFill>
                    <a:latin typeface="Century Gothic" panose="020B0502020202020204" pitchFamily="34" charset="0"/>
                  </a:rPr>
                  <a:t>Como en esta situación se quiere maximizar la rentabilidad, se define que el Costo de Oportunidad de la compañía es de 18,67%.</a:t>
                </a:r>
              </a:p>
            </p:txBody>
          </p:sp>
        </mc:Choice>
        <mc:Fallback xmlns="">
          <p:sp>
            <p:nvSpPr>
              <p:cNvPr id="5" name="CuadroTexto 4">
                <a:extLst>
                  <a:ext uri="{FF2B5EF4-FFF2-40B4-BE49-F238E27FC236}">
                    <a16:creationId xmlns:a16="http://schemas.microsoft.com/office/drawing/2014/main" id="{3A360E02-B1AA-3B17-DD99-97B1DEC948CB}"/>
                  </a:ext>
                </a:extLst>
              </p:cNvPr>
              <p:cNvSpPr txBox="1">
                <a:spLocks noRot="1" noChangeAspect="1" noMove="1" noResize="1" noEditPoints="1" noAdjustHandles="1" noChangeArrowheads="1" noChangeShapeType="1" noTextEdit="1"/>
              </p:cNvSpPr>
              <p:nvPr/>
            </p:nvSpPr>
            <p:spPr>
              <a:xfrm>
                <a:off x="3000143" y="5074750"/>
                <a:ext cx="8084411" cy="1545038"/>
              </a:xfrm>
              <a:prstGeom prst="rect">
                <a:avLst/>
              </a:prstGeom>
              <a:blipFill>
                <a:blip r:embed="rId6"/>
                <a:stretch>
                  <a:fillRect t="-813" b="-4878"/>
                </a:stretch>
              </a:blipFill>
            </p:spPr>
            <p:txBody>
              <a:bodyPr/>
              <a:lstStyle/>
              <a:p>
                <a:r>
                  <a:rPr lang="en-CO">
                    <a:noFill/>
                  </a:rPr>
                  <a:t> </a:t>
                </a:r>
              </a:p>
            </p:txBody>
          </p:sp>
        </mc:Fallback>
      </mc:AlternateContent>
    </p:spTree>
    <p:extLst>
      <p:ext uri="{BB962C8B-B14F-4D97-AF65-F5344CB8AC3E}">
        <p14:creationId xmlns:p14="http://schemas.microsoft.com/office/powerpoint/2010/main" val="429341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sz="3200">
                <a:latin typeface="Century Gothic" panose="020B0502020202020204" pitchFamily="34" charset="0"/>
              </a:rPr>
              <a:t>¿Qué es el costo de oportunidad?</a:t>
            </a:r>
          </a:p>
        </p:txBody>
      </p:sp>
      <p:sp>
        <p:nvSpPr>
          <p:cNvPr id="10" name="Content Placeholder 6"/>
          <p:cNvSpPr>
            <a:spLocks noGrp="1"/>
          </p:cNvSpPr>
          <p:nvPr>
            <p:ph idx="1"/>
          </p:nvPr>
        </p:nvSpPr>
        <p:spPr>
          <a:xfrm>
            <a:off x="2005044" y="2594129"/>
            <a:ext cx="5754294" cy="1450925"/>
          </a:xfrm>
        </p:spPr>
        <p:txBody>
          <a:bodyPr>
            <a:normAutofit/>
          </a:bodyPr>
          <a:lstStyle/>
          <a:p>
            <a:pPr marL="0" indent="0" algn="ctr">
              <a:buNone/>
            </a:pPr>
            <a:r>
              <a:rPr lang="es-ES_tradnl">
                <a:solidFill>
                  <a:schemeClr val="tx1"/>
                </a:solidFill>
                <a:latin typeface="Century Gothic" panose="020B0502020202020204" pitchFamily="34" charset="0"/>
              </a:rPr>
              <a:t>En conclusión, cualquier decisión que se tome siempre tiene relacionado un Costo de Oportunidad.</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11</a:t>
            </a:fld>
            <a:endParaRPr lang="en-US" sz="2000" b="1">
              <a:latin typeface="Century Gothic" panose="020B0502020202020204" pitchFamily="34" charset="0"/>
            </a:endParaRPr>
          </a:p>
        </p:txBody>
      </p:sp>
      <p:sp>
        <p:nvSpPr>
          <p:cNvPr id="2" name="Rectángulo 1"/>
          <p:cNvSpPr/>
          <p:nvPr/>
        </p:nvSpPr>
        <p:spPr>
          <a:xfrm>
            <a:off x="2558975" y="4583589"/>
            <a:ext cx="7074050" cy="923330"/>
          </a:xfrm>
          <a:prstGeom prst="rect">
            <a:avLst/>
          </a:prstGeom>
          <a:solidFill>
            <a:schemeClr val="accent3">
              <a:lumMod val="60000"/>
              <a:lumOff val="40000"/>
            </a:schemeClr>
          </a:solidFill>
        </p:spPr>
        <p:txBody>
          <a:bodyPr wrap="square">
            <a:spAutoFit/>
          </a:bodyPr>
          <a:lstStyle/>
          <a:p>
            <a:pPr algn="ctr"/>
            <a:r>
              <a:rPr lang="es-ES_tradnl" b="1">
                <a:solidFill>
                  <a:schemeClr val="accent1"/>
                </a:solidFill>
                <a:latin typeface="Century Gothic" panose="020B0502020202020204" pitchFamily="34" charset="0"/>
              </a:rPr>
              <a:t>Esto se debe a que, en un mundo con recursos limitados, seleccionar una alternativa por lo general implica sacrificar otra.</a:t>
            </a:r>
          </a:p>
        </p:txBody>
      </p:sp>
      <p:sp>
        <p:nvSpPr>
          <p:cNvPr id="3" name="Rectángulo 2">
            <a:extLst>
              <a:ext uri="{FF2B5EF4-FFF2-40B4-BE49-F238E27FC236}">
                <a16:creationId xmlns:a16="http://schemas.microsoft.com/office/drawing/2014/main" id="{9D7DE274-7430-681C-1FF9-6148C2300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764F226-4B21-0FF6-071B-2BF687897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ágenes de Decision - Descarga gratuita en Freepik">
            <a:extLst>
              <a:ext uri="{FF2B5EF4-FFF2-40B4-BE49-F238E27FC236}">
                <a16:creationId xmlns:a16="http://schemas.microsoft.com/office/drawing/2014/main" id="{8565570C-052F-ECD4-DF23-BD52B0075C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0" t="10238" r="10636" b="10238"/>
          <a:stretch/>
        </p:blipFill>
        <p:spPr bwMode="auto">
          <a:xfrm>
            <a:off x="8235230" y="2005694"/>
            <a:ext cx="2323070" cy="233127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4EC8264-CDA7-F9BD-6534-A56C5C0CC24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1407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A7D1A14-36C1-49D3-93E0-4578B847CFB5}"/>
              </a:ext>
            </a:extLst>
          </p:cNvPr>
          <p:cNvSpPr>
            <a:spLocks noGrp="1"/>
          </p:cNvSpPr>
          <p:nvPr>
            <p:ph type="title"/>
          </p:nvPr>
        </p:nvSpPr>
        <p:spPr/>
        <p:txBody>
          <a:bodyPr/>
          <a:lstStyle/>
          <a:p>
            <a:r>
              <a:rPr lang="es-CO">
                <a:latin typeface="Century Gothic" panose="020B0502020202020204" pitchFamily="34" charset="0"/>
              </a:rPr>
              <a:t>PREGUNTA 1 (4 MINUTOS)</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
        <p:nvSpPr>
          <p:cNvPr id="5" name="TPPolling"/>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030B7CF3-F66C-FA65-D904-51F663DA31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E83CBE2-9562-BE43-7256-191E4065B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1091580A-6AF1-26BC-CBE1-8BBFE7CBDA7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4" name="Picture 2" descr="Imágenes de Resolucion Problemas - Descarga gratuita en Freepik">
            <a:extLst>
              <a:ext uri="{FF2B5EF4-FFF2-40B4-BE49-F238E27FC236}">
                <a16:creationId xmlns:a16="http://schemas.microsoft.com/office/drawing/2014/main" id="{7EEFDCFB-0FF9-1D1A-5003-4B3206C007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9653" y="3429000"/>
            <a:ext cx="2235775" cy="1580149"/>
          </a:xfrm>
          <a:prstGeom prst="rect">
            <a:avLst/>
          </a:prstGeom>
          <a:noFill/>
          <a:extLst>
            <a:ext uri="{909E8E84-426E-40DD-AFC4-6F175D3DCCD1}">
              <a14:hiddenFill xmlns:a14="http://schemas.microsoft.com/office/drawing/2010/main">
                <a:solidFill>
                  <a:srgbClr val="FFFFFF"/>
                </a:solidFill>
              </a14:hiddenFill>
            </a:ext>
          </a:extLst>
        </p:spPr>
      </p:pic>
      <p:pic>
        <p:nvPicPr>
          <p:cNvPr id="6" name="Gráfico 5" descr="Badge Tick1 con relleno sólido">
            <a:extLst>
              <a:ext uri="{FF2B5EF4-FFF2-40B4-BE49-F238E27FC236}">
                <a16:creationId xmlns:a16="http://schemas.microsoft.com/office/drawing/2014/main" id="{960C4463-3222-CBC7-EB39-9BB0782CDB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4261" y="5715044"/>
            <a:ext cx="338973" cy="338973"/>
          </a:xfrm>
          <a:prstGeom prst="rect">
            <a:avLst/>
          </a:prstGeom>
        </p:spPr>
      </p:pic>
      <p:pic>
        <p:nvPicPr>
          <p:cNvPr id="9" name="Picture 8">
            <a:extLst>
              <a:ext uri="{FF2B5EF4-FFF2-40B4-BE49-F238E27FC236}">
                <a16:creationId xmlns:a16="http://schemas.microsoft.com/office/drawing/2014/main" id="{D2B85ADC-E2F0-8CDC-ACF0-C877885FFCCD}"/>
              </a:ext>
            </a:extLst>
          </p:cNvPr>
          <p:cNvPicPr>
            <a:picLocks noChangeAspect="1"/>
          </p:cNvPicPr>
          <p:nvPr/>
        </p:nvPicPr>
        <p:blipFill>
          <a:blip r:embed="rId6"/>
          <a:stretch>
            <a:fillRect/>
          </a:stretch>
        </p:blipFill>
        <p:spPr>
          <a:xfrm>
            <a:off x="1045026" y="1883970"/>
            <a:ext cx="7772400" cy="4670208"/>
          </a:xfrm>
          <a:prstGeom prst="rect">
            <a:avLst/>
          </a:prstGeom>
        </p:spPr>
      </p:pic>
    </p:spTree>
    <p:custDataLst>
      <p:tags r:id="rId1"/>
    </p:custDataLst>
    <p:extLst>
      <p:ext uri="{BB962C8B-B14F-4D97-AF65-F5344CB8AC3E}">
        <p14:creationId xmlns:p14="http://schemas.microsoft.com/office/powerpoint/2010/main" val="342418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C5E2-8C61-BBCC-18BE-D2F1F8A7C28C}"/>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285384F-DB32-61CE-686B-4DBF554FD96B}"/>
              </a:ext>
            </a:extLst>
          </p:cNvPr>
          <p:cNvSpPr>
            <a:spLocks noGrp="1"/>
          </p:cNvSpPr>
          <p:nvPr>
            <p:ph type="title"/>
          </p:nvPr>
        </p:nvSpPr>
        <p:spPr/>
        <p:txBody>
          <a:bodyPr/>
          <a:lstStyle/>
          <a:p>
            <a:r>
              <a:rPr lang="es-CO" dirty="0">
                <a:latin typeface="Century Gothic"/>
              </a:rPr>
              <a:t>PREGUNTA 2 (5 MINUTOS)</a:t>
            </a:r>
          </a:p>
        </p:txBody>
      </p:sp>
      <p:sp>
        <p:nvSpPr>
          <p:cNvPr id="4" name="Marcador de número de diapositiva 3">
            <a:extLst>
              <a:ext uri="{FF2B5EF4-FFF2-40B4-BE49-F238E27FC236}">
                <a16:creationId xmlns:a16="http://schemas.microsoft.com/office/drawing/2014/main" id="{D91C01EF-A0D5-D8BC-B7DF-DA0C73B9CF3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07EBCE0D-47CD-176A-2547-3A7092D834F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266187-2813-8A27-8476-2026F5A90B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857A56-50D7-1005-EDCE-4BF46E58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B3CFF034-4BCF-F732-3354-AA701DC98F11}"/>
              </a:ext>
            </a:extLst>
          </p:cNvPr>
          <p:cNvPicPr>
            <a:picLocks noChangeAspect="1"/>
          </p:cNvPicPr>
          <p:nvPr/>
        </p:nvPicPr>
        <p:blipFill>
          <a:blip r:embed="rId4"/>
          <a:stretch>
            <a:fillRect/>
          </a:stretch>
        </p:blipFill>
        <p:spPr>
          <a:xfrm>
            <a:off x="996618" y="1962360"/>
            <a:ext cx="7772400" cy="4777530"/>
          </a:xfrm>
          <a:prstGeom prst="rect">
            <a:avLst/>
          </a:prstGeom>
        </p:spPr>
      </p:pic>
      <p:sp>
        <p:nvSpPr>
          <p:cNvPr id="3" name="Rectángulo 2">
            <a:extLst>
              <a:ext uri="{FF2B5EF4-FFF2-40B4-BE49-F238E27FC236}">
                <a16:creationId xmlns:a16="http://schemas.microsoft.com/office/drawing/2014/main" id="{FC9BFF1C-8D6D-9DB3-9B84-51AA433ABB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4338" name="Picture 2" descr="Tendencias ineficaces a la hora de resolver problemas">
            <a:extLst>
              <a:ext uri="{FF2B5EF4-FFF2-40B4-BE49-F238E27FC236}">
                <a16:creationId xmlns:a16="http://schemas.microsoft.com/office/drawing/2014/main" id="{C8633A87-1E80-2602-9367-810C1CA853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6616" y="3429000"/>
            <a:ext cx="2594192" cy="1573901"/>
          </a:xfrm>
          <a:prstGeom prst="rect">
            <a:avLst/>
          </a:prstGeom>
          <a:noFill/>
          <a:extLst>
            <a:ext uri="{909E8E84-426E-40DD-AFC4-6F175D3DCCD1}">
              <a14:hiddenFill xmlns:a14="http://schemas.microsoft.com/office/drawing/2010/main">
                <a:solidFill>
                  <a:srgbClr val="FFFFFF"/>
                </a:solidFill>
              </a14:hiddenFill>
            </a:ext>
          </a:extLst>
        </p:spPr>
      </p:pic>
      <p:pic>
        <p:nvPicPr>
          <p:cNvPr id="6" name="Gráfico 5" descr="Badge Tick1 con relleno sólido">
            <a:extLst>
              <a:ext uri="{FF2B5EF4-FFF2-40B4-BE49-F238E27FC236}">
                <a16:creationId xmlns:a16="http://schemas.microsoft.com/office/drawing/2014/main" id="{BADD996F-8DEE-5C3E-DE75-0989A33D2F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8591" y="5386234"/>
            <a:ext cx="372870" cy="372870"/>
          </a:xfrm>
          <a:prstGeom prst="rect">
            <a:avLst/>
          </a:prstGeom>
        </p:spPr>
      </p:pic>
    </p:spTree>
    <p:custDataLst>
      <p:tags r:id="rId1"/>
    </p:custDataLst>
    <p:extLst>
      <p:ext uri="{BB962C8B-B14F-4D97-AF65-F5344CB8AC3E}">
        <p14:creationId xmlns:p14="http://schemas.microsoft.com/office/powerpoint/2010/main" val="7261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FED-50BC-AD9A-EF98-BB238E6F6266}"/>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E5ED9DF7-6BFF-2155-2BC0-82D65CEF7B87}"/>
              </a:ext>
            </a:extLst>
          </p:cNvPr>
          <p:cNvSpPr>
            <a:spLocks noGrp="1"/>
          </p:cNvSpPr>
          <p:nvPr>
            <p:ph type="title"/>
          </p:nvPr>
        </p:nvSpPr>
        <p:spPr/>
        <p:txBody>
          <a:bodyPr/>
          <a:lstStyle/>
          <a:p>
            <a:r>
              <a:rPr lang="es-CO" dirty="0">
                <a:latin typeface="Century Gothic"/>
              </a:rPr>
              <a:t>PREGUNTA 3 (4 MINUTOS)</a:t>
            </a:r>
          </a:p>
        </p:txBody>
      </p:sp>
      <p:sp>
        <p:nvSpPr>
          <p:cNvPr id="4" name="Marcador de número de diapositiva 3">
            <a:extLst>
              <a:ext uri="{FF2B5EF4-FFF2-40B4-BE49-F238E27FC236}">
                <a16:creationId xmlns:a16="http://schemas.microsoft.com/office/drawing/2014/main" id="{CB3E8B3D-5F88-D547-2B7A-B085CC66B40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378D9015-ECD7-6285-DC41-80D20B389D75}"/>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3AB8044-334E-DA63-2706-AF02747CAA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B4A512F-F0F4-742A-EF81-AEE2F33E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A09F5143-ABB7-AB0F-A272-C16B7F947B8D}"/>
              </a:ext>
            </a:extLst>
          </p:cNvPr>
          <p:cNvPicPr>
            <a:picLocks noChangeAspect="1"/>
          </p:cNvPicPr>
          <p:nvPr/>
        </p:nvPicPr>
        <p:blipFill>
          <a:blip r:embed="rId4"/>
          <a:stretch>
            <a:fillRect/>
          </a:stretch>
        </p:blipFill>
        <p:spPr>
          <a:xfrm>
            <a:off x="1415434" y="1922248"/>
            <a:ext cx="7020554" cy="4777877"/>
          </a:xfrm>
          <a:prstGeom prst="rect">
            <a:avLst/>
          </a:prstGeom>
        </p:spPr>
      </p:pic>
      <p:sp>
        <p:nvSpPr>
          <p:cNvPr id="7" name="Rectángulo 6">
            <a:extLst>
              <a:ext uri="{FF2B5EF4-FFF2-40B4-BE49-F238E27FC236}">
                <a16:creationId xmlns:a16="http://schemas.microsoft.com/office/drawing/2014/main" id="{DB169610-50DE-45ED-09EF-D50216217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5362" name="Picture 2" descr="Aprender a resolver problemas | PressCoaching">
            <a:extLst>
              <a:ext uri="{FF2B5EF4-FFF2-40B4-BE49-F238E27FC236}">
                <a16:creationId xmlns:a16="http://schemas.microsoft.com/office/drawing/2014/main" id="{311F784E-0A82-EEBA-69A2-92CAF2CA8F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9631" y="3106456"/>
            <a:ext cx="3207142" cy="1803748"/>
          </a:xfrm>
          <a:prstGeom prst="rect">
            <a:avLst/>
          </a:prstGeom>
          <a:noFill/>
          <a:extLst>
            <a:ext uri="{909E8E84-426E-40DD-AFC4-6F175D3DCCD1}">
              <a14:hiddenFill xmlns:a14="http://schemas.microsoft.com/office/drawing/2010/main">
                <a:solidFill>
                  <a:srgbClr val="FFFFFF"/>
                </a:solidFill>
              </a14:hiddenFill>
            </a:ext>
          </a:extLst>
        </p:spPr>
      </p:pic>
      <p:pic>
        <p:nvPicPr>
          <p:cNvPr id="3" name="Gráfico 2" descr="Badge Tick1 con relleno sólido">
            <a:extLst>
              <a:ext uri="{FF2B5EF4-FFF2-40B4-BE49-F238E27FC236}">
                <a16:creationId xmlns:a16="http://schemas.microsoft.com/office/drawing/2014/main" id="{C509F5C8-DCD6-C324-6BB3-9D12B7FAB5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2514" y="5738533"/>
            <a:ext cx="372870" cy="372870"/>
          </a:xfrm>
          <a:prstGeom prst="rect">
            <a:avLst/>
          </a:prstGeom>
        </p:spPr>
      </p:pic>
    </p:spTree>
    <p:custDataLst>
      <p:tags r:id="rId1"/>
    </p:custDataLst>
    <p:extLst>
      <p:ext uri="{BB962C8B-B14F-4D97-AF65-F5344CB8AC3E}">
        <p14:creationId xmlns:p14="http://schemas.microsoft.com/office/powerpoint/2010/main" val="36943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CFF1-48B5-0EEB-8C41-835BD158FD14}"/>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FFEF6672-9AAB-866C-2C01-0F9D0A2545F0}"/>
              </a:ext>
            </a:extLst>
          </p:cNvPr>
          <p:cNvSpPr>
            <a:spLocks noGrp="1"/>
          </p:cNvSpPr>
          <p:nvPr>
            <p:ph type="title"/>
          </p:nvPr>
        </p:nvSpPr>
        <p:spPr/>
        <p:txBody>
          <a:bodyPr/>
          <a:lstStyle/>
          <a:p>
            <a:r>
              <a:rPr lang="es-CO" dirty="0">
                <a:latin typeface="Century Gothic"/>
              </a:rPr>
              <a:t>PREGUNTA 4 (5 MINUTOS)</a:t>
            </a:r>
          </a:p>
        </p:txBody>
      </p:sp>
      <p:sp>
        <p:nvSpPr>
          <p:cNvPr id="4" name="Marcador de número de diapositiva 3">
            <a:extLst>
              <a:ext uri="{FF2B5EF4-FFF2-40B4-BE49-F238E27FC236}">
                <a16:creationId xmlns:a16="http://schemas.microsoft.com/office/drawing/2014/main" id="{0D976F3A-E9E2-7B18-6B81-DAB2FBD512C3}"/>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E177D15-0D52-23CC-0A9F-0BC2839CCE1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4AE3500-7BB8-5B5D-C43F-320362E8FB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18F553A-8073-A91A-3B5F-A65F5CB86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BBFF9A4-8FDF-AA43-D12E-CAEB9522D162}"/>
              </a:ext>
            </a:extLst>
          </p:cNvPr>
          <p:cNvPicPr>
            <a:picLocks noChangeAspect="1"/>
          </p:cNvPicPr>
          <p:nvPr/>
        </p:nvPicPr>
        <p:blipFill>
          <a:blip r:embed="rId4"/>
          <a:stretch>
            <a:fillRect/>
          </a:stretch>
        </p:blipFill>
        <p:spPr>
          <a:xfrm>
            <a:off x="1289264" y="1898082"/>
            <a:ext cx="7200531" cy="4640342"/>
          </a:xfrm>
          <a:prstGeom prst="rect">
            <a:avLst/>
          </a:prstGeom>
        </p:spPr>
      </p:pic>
      <p:pic>
        <p:nvPicPr>
          <p:cNvPr id="9" name="Gráfico 8" descr="Badge Tick1 con relleno sólido">
            <a:extLst>
              <a:ext uri="{FF2B5EF4-FFF2-40B4-BE49-F238E27FC236}">
                <a16:creationId xmlns:a16="http://schemas.microsoft.com/office/drawing/2014/main" id="{490A7347-D9A3-6FFA-FACC-76B8454E08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6066" y="5072335"/>
            <a:ext cx="372870" cy="372870"/>
          </a:xfrm>
          <a:prstGeom prst="rect">
            <a:avLst/>
          </a:prstGeom>
        </p:spPr>
      </p:pic>
      <p:sp>
        <p:nvSpPr>
          <p:cNvPr id="3" name="Rectángulo 2">
            <a:extLst>
              <a:ext uri="{FF2B5EF4-FFF2-40B4-BE49-F238E27FC236}">
                <a16:creationId xmlns:a16="http://schemas.microsoft.com/office/drawing/2014/main" id="{723DC319-944E-4D3A-517B-1986CAC9D5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6386" name="Picture 2" descr="Resolución de problemas. 10 consejos para evitar antes de encontrar una  solución - Cepymenews">
            <a:extLst>
              <a:ext uri="{FF2B5EF4-FFF2-40B4-BE49-F238E27FC236}">
                <a16:creationId xmlns:a16="http://schemas.microsoft.com/office/drawing/2014/main" id="{51048C60-4625-4445-B9C1-D5D3B2C615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3053" y="3429000"/>
            <a:ext cx="2887755" cy="153594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1222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0B350FC-AF73-8F25-8CA6-9E9B24E055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2" name="Picture 6" descr="Resultado de imagen para RELOJ VECTOR">
            <a:extLst>
              <a:ext uri="{FF2B5EF4-FFF2-40B4-BE49-F238E27FC236}">
                <a16:creationId xmlns:a16="http://schemas.microsoft.com/office/drawing/2014/main" id="{6F079B36-206B-AF08-63CC-CB2132E7BDD3}"/>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4E70C8E-6F4F-5AE8-A908-093FE580A90B}"/>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tx2">
                    <a:lumMod val="20000"/>
                    <a:lumOff val="80000"/>
                  </a:schemeClr>
                </a:solidFill>
                <a:latin typeface="Century Gothic"/>
                <a:cs typeface="Arial"/>
              </a:rPr>
              <a:t>¿Qué es el Costo de Oportunidad?</a:t>
            </a:r>
            <a:endParaRPr lang="es-ES">
              <a:solidFill>
                <a:schemeClr val="tx2">
                  <a:lumMod val="20000"/>
                  <a:lumOff val="80000"/>
                </a:schemeClr>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239495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1000"/>
                                        <p:tgtEl>
                                          <p:spTgt spid="13"/>
                                        </p:tgtEl>
                                      </p:cBhvr>
                                    </p:animEffect>
                                    <p:anim calcmode="lin" valueType="num">
                                      <p:cBhvr>
                                        <p:cTn id="10" dur="1000" fill="hold"/>
                                        <p:tgtEl>
                                          <p:spTgt spid="13"/>
                                        </p:tgtEl>
                                        <p:attrNameLst>
                                          <p:attrName>ppt_x</p:attrName>
                                        </p:attrNameLst>
                                      </p:cBhvr>
                                      <p:tavLst>
                                        <p:tav tm="0">
                                          <p:val>
                                            <p:strVal val="#ppt_x"/>
                                          </p:val>
                                        </p:tav>
                                        <p:tav tm="100000">
                                          <p:val>
                                            <p:strVal val="#ppt_x"/>
                                          </p:val>
                                        </p:tav>
                                      </p:tavLst>
                                    </p:anim>
                                    <p:anim calcmode="lin" valueType="num">
                                      <p:cBhvr>
                                        <p:cTn id="1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just"/>
            <a:r>
              <a:rPr lang="es-ES_tradnl">
                <a:latin typeface="Century Gothic" panose="020B0502020202020204" pitchFamily="34" charset="0"/>
              </a:rPr>
              <a:t>RELACIÓN ENTRE COSTO DE OPORTUNIDAD Y VALOR DEL DINERO EN EL TIEMPO</a:t>
            </a:r>
          </a:p>
        </p:txBody>
      </p:sp>
      <p:sp>
        <p:nvSpPr>
          <p:cNvPr id="10" name="Content Placeholder 6"/>
          <p:cNvSpPr>
            <a:spLocks noGrp="1"/>
          </p:cNvSpPr>
          <p:nvPr>
            <p:ph idx="1"/>
          </p:nvPr>
        </p:nvSpPr>
        <p:spPr>
          <a:xfrm>
            <a:off x="581193" y="2091712"/>
            <a:ext cx="7857254" cy="4046985"/>
          </a:xfrm>
        </p:spPr>
        <p:txBody>
          <a:bodyPr>
            <a:normAutofit/>
          </a:bodyPr>
          <a:lstStyle/>
          <a:p>
            <a:pPr marL="0" indent="0" algn="ctr">
              <a:buNone/>
            </a:pPr>
            <a:r>
              <a:rPr lang="es-ES_tradnl">
                <a:latin typeface="Century Gothic" panose="020B0502020202020204" pitchFamily="34" charset="0"/>
              </a:rPr>
              <a:t>Ahora, también es útil entender la segunda interpretación del Costo de Oportunidad y establecer su relación con el VDT.</a:t>
            </a:r>
          </a:p>
          <a:p>
            <a:pPr marL="0" indent="0" algn="ctr">
              <a:buNone/>
            </a:pPr>
            <a:endParaRPr lang="es-ES_tradnl">
              <a:latin typeface="Century Gothic" panose="020B0502020202020204" pitchFamily="34" charset="0"/>
            </a:endParaRPr>
          </a:p>
          <a:p>
            <a:pPr marL="0" indent="0" algn="r">
              <a:buNone/>
            </a:pPr>
            <a:r>
              <a:rPr lang="es-ES_tradnl" b="1">
                <a:solidFill>
                  <a:srgbClr val="D7A700"/>
                </a:solidFill>
                <a:latin typeface="Century Gothic" panose="020B0502020202020204" pitchFamily="34" charset="0"/>
              </a:rPr>
              <a:t>El Costo de Oportunidad como elemento fundamental del concepto de pérdida del valor del dinero en el tiempo (VDT).</a:t>
            </a:r>
          </a:p>
          <a:p>
            <a:pPr marL="0" indent="0" algn="ctr">
              <a:buNone/>
            </a:pPr>
            <a:endParaRPr lang="es-ES_tradnl">
              <a:latin typeface="Century Gothic" panose="020B0502020202020204" pitchFamily="34" charset="0"/>
            </a:endParaRPr>
          </a:p>
          <a:p>
            <a:pPr marL="0" indent="0" algn="ctr">
              <a:buNone/>
            </a:pPr>
            <a:r>
              <a:rPr lang="es-ES_tradnl" b="1">
                <a:solidFill>
                  <a:schemeClr val="accent1"/>
                </a:solidFill>
                <a:latin typeface="Century Gothic" panose="020B0502020202020204" pitchFamily="34" charset="0"/>
              </a:rPr>
              <a:t>¿Para todos los agentes es igual el VDT?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17</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7210D5D7-8AE0-7B74-7D02-08E91D7F8F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ADBBB33-F2D1-E32B-CDF4-2D5BA6C2B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34E48BC-414B-317F-04B1-F22CE3A06F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170" name="Picture 2" descr="El valor del dinero en el tiempo - GCH ACCOUNTING FIRM.">
            <a:extLst>
              <a:ext uri="{FF2B5EF4-FFF2-40B4-BE49-F238E27FC236}">
                <a16:creationId xmlns:a16="http://schemas.microsoft.com/office/drawing/2014/main" id="{BE76C320-756E-2700-A430-AEBB36099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9085" y="3134869"/>
            <a:ext cx="2880950" cy="1892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7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18</a:t>
            </a:fld>
            <a:endParaRPr lang="en-US" sz="2000" b="1">
              <a:latin typeface="Century Gothic" panose="020B0502020202020204" pitchFamily="34" charset="0"/>
            </a:endParaRPr>
          </a:p>
        </p:txBody>
      </p:sp>
      <p:sp>
        <p:nvSpPr>
          <p:cNvPr id="25" name="Rectángulo 24"/>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F13D0EAF-8190-4459-6E3B-EDF3575C5A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1FA4F54B-7EDB-FAB5-682A-5A9DD85CE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0127F71-123A-9118-058B-F2850DB57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B391F82B-1D81-9365-931C-899A9DC42F8C}"/>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71B0010B-2A92-8DCB-F512-A4972309703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1EAB02BB-C0F2-A1EA-3932-F812D737A142}"/>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031A2A67-FB32-2A28-4330-9C239BAB81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7C71DA01-0113-44A2-969E-BB1A30EC76D3}"/>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8AEDECF3-A7F8-8ABB-B734-78314E853342}"/>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687C136C-36BD-671E-7E39-272A83E42EA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DAEF592C-E7D3-000B-AFD1-2AB167EDF95D}"/>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D01AB1B1-A3FC-6D7C-8742-0FD6032B71F1}"/>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Tree>
    <p:extLst>
      <p:ext uri="{BB962C8B-B14F-4D97-AF65-F5344CB8AC3E}">
        <p14:creationId xmlns:p14="http://schemas.microsoft.com/office/powerpoint/2010/main" val="16375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02849334-50C1-23CB-251B-F07826B2CE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C995C794-1E12-7031-9346-1AE89CA8F72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258</TotalTime>
  <Words>1454</Words>
  <Application>Microsoft Macintosh PowerPoint</Application>
  <PresentationFormat>Widescreen</PresentationFormat>
  <Paragraphs>194</Paragraphs>
  <Slides>19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Cambria Math</vt:lpstr>
      <vt:lpstr>Century Gothic</vt:lpstr>
      <vt:lpstr>Courier New</vt:lpstr>
      <vt:lpstr>Gill Sans MT</vt:lpstr>
      <vt:lpstr>Wingdings 2</vt:lpstr>
      <vt:lpstr>Dividendo</vt:lpstr>
      <vt:lpstr>COSTO DE OPORTUNIDAD Y VALOR DEL DINERO EN EL TIEMPO (PARTE I)</vt:lpstr>
      <vt:lpstr>AGENDA PROPUESTA</vt:lpstr>
      <vt:lpstr>AGENDA PROPUESTA</vt:lpstr>
      <vt:lpstr>¿Qué es el costo de oportunidad?</vt:lpstr>
      <vt:lpstr>¿Qué es el costo de oportunidad?</vt:lpstr>
      <vt:lpstr>¿Qué es el costo de oportunidad?</vt:lpstr>
      <vt:lpstr>¿Qué es el costo de oportunidad?</vt:lpstr>
      <vt:lpstr>¿Qué es el costo de oportunidad?</vt:lpstr>
      <vt:lpstr>PowerPoint Presentation</vt:lpstr>
      <vt:lpstr>PowerPoint Presentation</vt:lpstr>
      <vt:lpstr>¿Qué es el costo de oportunidad?</vt:lpstr>
      <vt:lpstr>PREGUNTA 1 (4 MINUTOS)</vt:lpstr>
      <vt:lpstr>PREGUNTA 2 (5 MINUTOS)</vt:lpstr>
      <vt:lpstr>PREGUNTA 3 (4 MINUTOS)</vt:lpstr>
      <vt:lpstr>PREGUNTA 4 (5 MINUTOS)</vt:lpstr>
      <vt:lpstr>AGENDA PROPUESTA</vt:lpstr>
      <vt:lpstr>RELACIÓN ENTRE COSTO DE OPORTUNIDAD Y VALOR DEL DINERO EN EL TIEMPO</vt:lpstr>
      <vt:lpstr>RELACIÓN ENTRE COSTO DE OPORTUNIDAD Y VALOR DEL DINERO EN EL TIEMPO</vt:lpstr>
      <vt:lpstr>COSTO DE OPORTUNIDAD y valor del dinero en el tiempo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11</cp:revision>
  <dcterms:created xsi:type="dcterms:W3CDTF">2019-06-20T04:25:04Z</dcterms:created>
  <dcterms:modified xsi:type="dcterms:W3CDTF">2026-08-06T17:15:14Z</dcterms:modified>
</cp:coreProperties>
</file>