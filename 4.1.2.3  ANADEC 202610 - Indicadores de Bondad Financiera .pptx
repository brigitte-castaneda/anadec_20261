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3732" r:id="rId1"/>
  </p:sldMasterIdLst>
  <p:notesMasterIdLst>
    <p:notesMasterId r:id="rId39"/>
  </p:notesMasterIdLst>
  <p:handoutMasterIdLst>
    <p:handoutMasterId r:id="rId40"/>
  </p:handoutMasterIdLst>
  <p:sldIdLst>
    <p:sldId id="384" r:id="rId2"/>
    <p:sldId id="625" r:id="rId3"/>
    <p:sldId id="587" r:id="rId4"/>
    <p:sldId id="588" r:id="rId5"/>
    <p:sldId id="577" r:id="rId6"/>
    <p:sldId id="615" r:id="rId7"/>
    <p:sldId id="616" r:id="rId8"/>
    <p:sldId id="617" r:id="rId9"/>
    <p:sldId id="618" r:id="rId10"/>
    <p:sldId id="299" r:id="rId11"/>
    <p:sldId id="300" r:id="rId12"/>
    <p:sldId id="605" r:id="rId13"/>
    <p:sldId id="317" r:id="rId14"/>
    <p:sldId id="318" r:id="rId15"/>
    <p:sldId id="319" r:id="rId16"/>
    <p:sldId id="320" r:id="rId17"/>
    <p:sldId id="321" r:id="rId18"/>
    <p:sldId id="371" r:id="rId19"/>
    <p:sldId id="606" r:id="rId20"/>
    <p:sldId id="326" r:id="rId21"/>
    <p:sldId id="327" r:id="rId22"/>
    <p:sldId id="328" r:id="rId23"/>
    <p:sldId id="389" r:id="rId24"/>
    <p:sldId id="610" r:id="rId25"/>
    <p:sldId id="330" r:id="rId26"/>
    <p:sldId id="331" r:id="rId27"/>
    <p:sldId id="332" r:id="rId28"/>
    <p:sldId id="607" r:id="rId29"/>
    <p:sldId id="333" r:id="rId30"/>
    <p:sldId id="334" r:id="rId31"/>
    <p:sldId id="335" r:id="rId32"/>
    <p:sldId id="609" r:id="rId33"/>
    <p:sldId id="337" r:id="rId34"/>
    <p:sldId id="623" r:id="rId35"/>
    <p:sldId id="624" r:id="rId36"/>
    <p:sldId id="626" r:id="rId37"/>
    <p:sldId id="627" r:id="rId3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ebastian Joseph Sanchez Oyola" initials="SJSO" lastIdx="1" clrIdx="0">
    <p:extLst>
      <p:ext uri="{19B8F6BF-5375-455C-9EA6-DF929625EA0E}">
        <p15:presenceInfo xmlns:p15="http://schemas.microsoft.com/office/powerpoint/2012/main" userId="Sebastian Joseph Sanchez Oyola"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7A700"/>
    <a:srgbClr val="8CB64A"/>
    <a:srgbClr val="366658"/>
    <a:srgbClr val="969FA7"/>
    <a:srgbClr val="48BE7A"/>
    <a:srgbClr val="002F90"/>
    <a:srgbClr val="6666FF"/>
    <a:srgbClr val="FF6600"/>
    <a:srgbClr val="93FFFF"/>
    <a:srgbClr val="FFF4E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4BE8A58-28B5-0B44-A71F-975A5FE38795}" v="8" dt="2026-02-24T02:17:00.480"/>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CAF9ED-07DC-4A11-8D7F-57B35C25682E}" styleName="Estilo medio 1 - Énfasis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2833802-FEF1-4C79-8D5D-14CF1EAF98D9}" styleName="Estilo claro 2 - Acento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0660B408-B3CF-4A94-85FC-2B1E0A45F4A2}" styleName="Estilo oscuro 2 - Énfasis 1/Énfasis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5DA37D80-6434-44D0-A028-1B22A696006F}" styleName="Estilo claro 3 - Acento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Estilo medio 2 - Énfasis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Estilo medio 2 - Énfasis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5AB1C69-6EDB-4FF4-983F-18BD219EF322}" styleName="Estilo medio 2 - Énfasis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Estilo medio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Sin estilo, cuadrícula de la tabla">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492" autoAdjust="0"/>
    <p:restoredTop sz="93469" autoAdjust="0"/>
  </p:normalViewPr>
  <p:slideViewPr>
    <p:cSldViewPr snapToGrid="0">
      <p:cViewPr varScale="1">
        <p:scale>
          <a:sx n="104" d="100"/>
          <a:sy n="104" d="100"/>
        </p:scale>
        <p:origin x="208" y="4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handoutMaster" Target="handoutMasters/handoutMaster1.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commentAuthors" Target="commen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97909239-6EB4-4F64-9166-01BA8CB152A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s-CO"/>
              <a:t>Profesor Sebastián Joseph Sánchez Oyola</a:t>
            </a:r>
          </a:p>
        </p:txBody>
      </p:sp>
      <p:sp>
        <p:nvSpPr>
          <p:cNvPr id="3" name="Marcador de fecha 2">
            <a:extLst>
              <a:ext uri="{FF2B5EF4-FFF2-40B4-BE49-F238E27FC236}">
                <a16:creationId xmlns:a16="http://schemas.microsoft.com/office/drawing/2014/main" id="{C0D4A5E1-CC2B-4E68-93DE-1741C2D8FCC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1EBC9B1-33DC-462F-829C-1E37E99682B9}" type="datetimeFigureOut">
              <a:rPr lang="es-CO" smtClean="0"/>
              <a:t>24/02/26</a:t>
            </a:fld>
            <a:endParaRPr lang="es-CO"/>
          </a:p>
        </p:txBody>
      </p:sp>
      <p:sp>
        <p:nvSpPr>
          <p:cNvPr id="4" name="Marcador de pie de página 3">
            <a:extLst>
              <a:ext uri="{FF2B5EF4-FFF2-40B4-BE49-F238E27FC236}">
                <a16:creationId xmlns:a16="http://schemas.microsoft.com/office/drawing/2014/main" id="{36E42B93-8418-4C73-AFC5-AD8733D5618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5" name="Marcador de número de diapositiva 4">
            <a:extLst>
              <a:ext uri="{FF2B5EF4-FFF2-40B4-BE49-F238E27FC236}">
                <a16:creationId xmlns:a16="http://schemas.microsoft.com/office/drawing/2014/main" id="{2BF5AB0F-F981-4352-8DA3-CAD02A4EF5C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C9216A6-D02D-421D-81B5-58C62FCB13EF}" type="slidenum">
              <a:rPr lang="es-CO" smtClean="0"/>
              <a:t>‹#›</a:t>
            </a:fld>
            <a:endParaRPr lang="es-CO"/>
          </a:p>
        </p:txBody>
      </p:sp>
    </p:spTree>
    <p:extLst>
      <p:ext uri="{BB962C8B-B14F-4D97-AF65-F5344CB8AC3E}">
        <p14:creationId xmlns:p14="http://schemas.microsoft.com/office/powerpoint/2010/main" val="3094247631"/>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s-CO"/>
              <a:t>Profesor Sebastián Joseph Sánchez Oyola</a:t>
            </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2BED2E0-4743-4E03-93B8-12386FF60236}" type="datetimeFigureOut">
              <a:rPr lang="es-CO" smtClean="0"/>
              <a:t>24/02/26</a:t>
            </a:fld>
            <a:endParaRPr lang="es-CO"/>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O"/>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AB8670-524E-4520-AA44-FE672760293D}" type="slidenum">
              <a:rPr lang="es-CO" smtClean="0"/>
              <a:t>‹#›</a:t>
            </a:fld>
            <a:endParaRPr lang="es-CO"/>
          </a:p>
        </p:txBody>
      </p:sp>
    </p:spTree>
    <p:extLst>
      <p:ext uri="{BB962C8B-B14F-4D97-AF65-F5344CB8AC3E}">
        <p14:creationId xmlns:p14="http://schemas.microsoft.com/office/powerpoint/2010/main" val="3044258673"/>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Cuando</a:t>
            </a:r>
            <a:r>
              <a:rPr lang="en-US" dirty="0"/>
              <a:t> se </a:t>
            </a:r>
            <a:r>
              <a:rPr lang="en-US" dirty="0" err="1"/>
              <a:t>hable</a:t>
            </a:r>
            <a:r>
              <a:rPr lang="en-US" dirty="0"/>
              <a:t> del 41,16%, </a:t>
            </a:r>
            <a:r>
              <a:rPr lang="en-US" dirty="0" err="1"/>
              <a:t>es</a:t>
            </a:r>
            <a:r>
              <a:rPr lang="en-US" dirty="0"/>
              <a:t> </a:t>
            </a:r>
            <a:r>
              <a:rPr lang="en-US" dirty="0" err="1"/>
              <a:t>bueno</a:t>
            </a:r>
            <a:r>
              <a:rPr lang="en-US" baseline="0" dirty="0"/>
              <a:t> </a:t>
            </a:r>
            <a:r>
              <a:rPr lang="en-US" baseline="0" dirty="0" err="1"/>
              <a:t>preguntar</a:t>
            </a:r>
            <a:r>
              <a:rPr lang="en-US" baseline="0" dirty="0"/>
              <a:t> </a:t>
            </a:r>
            <a:r>
              <a:rPr lang="en-US" baseline="0" dirty="0" err="1"/>
              <a:t>que</a:t>
            </a:r>
            <a:r>
              <a:rPr lang="en-US" baseline="0" dirty="0"/>
              <a:t> </a:t>
            </a:r>
            <a:r>
              <a:rPr lang="en-US" baseline="0" dirty="0" err="1"/>
              <a:t>comparen</a:t>
            </a:r>
            <a:r>
              <a:rPr lang="en-US" baseline="0" dirty="0"/>
              <a:t> el 41% de 1.000 con el 9% de 1.000 </a:t>
            </a:r>
            <a:r>
              <a:rPr lang="en-US" baseline="0" dirty="0" err="1"/>
              <a:t>cuatro</a:t>
            </a:r>
            <a:r>
              <a:rPr lang="en-US" baseline="0" dirty="0"/>
              <a:t> </a:t>
            </a:r>
            <a:r>
              <a:rPr lang="en-US" baseline="0" dirty="0" err="1"/>
              <a:t>veces</a:t>
            </a:r>
            <a:r>
              <a:rPr lang="en-US" baseline="0" dirty="0"/>
              <a:t>.</a:t>
            </a:r>
            <a:endParaRPr lang="en-US" dirty="0"/>
          </a:p>
        </p:txBody>
      </p:sp>
      <p:sp>
        <p:nvSpPr>
          <p:cNvPr id="4" name="Slide Number Placeholder 3"/>
          <p:cNvSpPr>
            <a:spLocks noGrp="1"/>
          </p:cNvSpPr>
          <p:nvPr>
            <p:ph type="sldNum" sz="quarter" idx="10"/>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602C4E94-3DB4-C84A-925E-628A397D8BB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8441385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602C4E94-3DB4-C84A-925E-628A397D8BB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4183889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Cuando</a:t>
            </a:r>
            <a:r>
              <a:rPr lang="en-US" dirty="0"/>
              <a:t> se </a:t>
            </a:r>
            <a:r>
              <a:rPr lang="en-US" dirty="0" err="1"/>
              <a:t>hable</a:t>
            </a:r>
            <a:r>
              <a:rPr lang="en-US" dirty="0"/>
              <a:t> del 41,16%, </a:t>
            </a:r>
            <a:r>
              <a:rPr lang="en-US" dirty="0" err="1"/>
              <a:t>es</a:t>
            </a:r>
            <a:r>
              <a:rPr lang="en-US" dirty="0"/>
              <a:t> </a:t>
            </a:r>
            <a:r>
              <a:rPr lang="en-US" dirty="0" err="1"/>
              <a:t>bueno</a:t>
            </a:r>
            <a:r>
              <a:rPr lang="en-US" baseline="0" dirty="0"/>
              <a:t> </a:t>
            </a:r>
            <a:r>
              <a:rPr lang="en-US" baseline="0" dirty="0" err="1"/>
              <a:t>preguntar</a:t>
            </a:r>
            <a:r>
              <a:rPr lang="en-US" baseline="0" dirty="0"/>
              <a:t> </a:t>
            </a:r>
            <a:r>
              <a:rPr lang="en-US" baseline="0" dirty="0" err="1"/>
              <a:t>que</a:t>
            </a:r>
            <a:r>
              <a:rPr lang="en-US" baseline="0" dirty="0"/>
              <a:t> </a:t>
            </a:r>
            <a:r>
              <a:rPr lang="en-US" baseline="0" dirty="0" err="1"/>
              <a:t>comparen</a:t>
            </a:r>
            <a:r>
              <a:rPr lang="en-US" baseline="0" dirty="0"/>
              <a:t> el 41% de 1.000 con el 9% de 1.000 </a:t>
            </a:r>
            <a:r>
              <a:rPr lang="en-US" baseline="0" dirty="0" err="1"/>
              <a:t>cuatro</a:t>
            </a:r>
            <a:r>
              <a:rPr lang="en-US" baseline="0" dirty="0"/>
              <a:t> </a:t>
            </a:r>
            <a:r>
              <a:rPr lang="en-US" baseline="0" dirty="0" err="1"/>
              <a:t>veces</a:t>
            </a:r>
            <a:r>
              <a:rPr lang="en-US" baseline="0" dirty="0"/>
              <a:t>.</a:t>
            </a:r>
            <a:endParaRPr lang="en-US" dirty="0"/>
          </a:p>
        </p:txBody>
      </p:sp>
      <p:sp>
        <p:nvSpPr>
          <p:cNvPr id="4" name="Slide Number Placeholder 3"/>
          <p:cNvSpPr>
            <a:spLocks noGrp="1"/>
          </p:cNvSpPr>
          <p:nvPr>
            <p:ph type="sldNum" sz="quarter" idx="10"/>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602C4E94-3DB4-C84A-925E-628A397D8BB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0548426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602C4E94-3DB4-C84A-925E-628A397D8BB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2185897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185E5-1E15-8C25-0901-FEB224CF95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52ACEF-11EC-7CFC-3D88-DAF5C3945E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69D69E-B579-FAF5-1524-77CD86BE4AE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3306FBF-5410-BEA7-DD1E-218D3DC4B2E1}"/>
              </a:ext>
            </a:extLst>
          </p:cNvPr>
          <p:cNvSpPr>
            <a:spLocks noGrp="1"/>
          </p:cNvSpPr>
          <p:nvPr>
            <p:ph type="sldNum" sz="quarter" idx="10"/>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602C4E94-3DB4-C84A-925E-628A397D8BB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4791171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812BD0-1B24-C923-8BDD-E6F7DF39FC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359663-F467-90B6-4AFD-D6370FC15E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D58CE0-576C-366F-491C-530697C4588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D1B82A6-7149-84E1-207B-2D69F56D6294}"/>
              </a:ext>
            </a:extLst>
          </p:cNvPr>
          <p:cNvSpPr>
            <a:spLocks noGrp="1"/>
          </p:cNvSpPr>
          <p:nvPr>
            <p:ph type="sldNum" sz="quarter" idx="10"/>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602C4E94-3DB4-C84A-925E-628A397D8BB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3145630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3B4BE7-0BE5-17A8-CBDD-E61169D168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4F7A7B-193C-5E16-4AF8-F3908340A2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5BEC6A-A059-AA06-4ED5-75981996EB0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152E732-EB5E-AED6-BC5D-DA8C7E4A6B7E}"/>
              </a:ext>
            </a:extLst>
          </p:cNvPr>
          <p:cNvSpPr>
            <a:spLocks noGrp="1"/>
          </p:cNvSpPr>
          <p:nvPr>
            <p:ph type="sldNum" sz="quarter" idx="10"/>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602C4E94-3DB4-C84A-925E-628A397D8BB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896881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C4835A-5A17-0078-C78B-795CDB0F98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1A7EF7-3CA5-F4E3-604D-A3B2408A71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F20480-931E-C453-7179-61567BC913D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CED0D86-DA55-0469-D930-916515132300}"/>
              </a:ext>
            </a:extLst>
          </p:cNvPr>
          <p:cNvSpPr>
            <a:spLocks noGrp="1"/>
          </p:cNvSpPr>
          <p:nvPr>
            <p:ph type="sldNum" sz="quarter" idx="10"/>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602C4E94-3DB4-C84A-925E-628A397D8BB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0229568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602C4E94-3DB4-C84A-925E-628A397D8BB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7056650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602C4E94-3DB4-C84A-925E-628A397D8BB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276472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02C4E94-3DB4-C84A-925E-628A397D8BB4}" type="slidenum">
              <a:rPr lang="en-US" smtClean="0"/>
              <a:t>14</a:t>
            </a:fld>
            <a:endParaRPr lang="en-US"/>
          </a:p>
        </p:txBody>
      </p:sp>
    </p:spTree>
    <p:extLst>
      <p:ext uri="{BB962C8B-B14F-4D97-AF65-F5344CB8AC3E}">
        <p14:creationId xmlns:p14="http://schemas.microsoft.com/office/powerpoint/2010/main" val="395905450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dirty="0"/>
          </a:p>
        </p:txBody>
      </p:sp>
    </p:spTree>
    <p:extLst>
      <p:ext uri="{BB962C8B-B14F-4D97-AF65-F5344CB8AC3E}">
        <p14:creationId xmlns:p14="http://schemas.microsoft.com/office/powerpoint/2010/main" val="32745975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CO"/>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s-MX"/>
              <a:t>Haz clic para modificar el estilo de título del patrón</a:t>
            </a:r>
            <a:endParaRPr lang="en-US"/>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MX"/>
              <a:t>Haz clic para editar el estilo de subtítulo del patrón</a:t>
            </a:r>
            <a:endParaRPr lang="en-US"/>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9AFD365D-553E-437E-906F-693C2E6CE28D}" type="datetime1">
              <a:rPr lang="en-US" smtClean="0"/>
              <a:t>2/24/26</a:t>
            </a:fld>
            <a:endParaRPr lang="en-US"/>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a:p>
        </p:txBody>
      </p:sp>
    </p:spTree>
    <p:extLst>
      <p:ext uri="{BB962C8B-B14F-4D97-AF65-F5344CB8AC3E}">
        <p14:creationId xmlns:p14="http://schemas.microsoft.com/office/powerpoint/2010/main" val="42656461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sp>
        <p:nvSpPr>
          <p:cNvPr id="2" name="Title 1"/>
          <p:cNvSpPr>
            <a:spLocks noGrp="1"/>
          </p:cNvSpPr>
          <p:nvPr>
            <p:ph type="title"/>
          </p:nvPr>
        </p:nvSpPr>
        <p:spPr>
          <a:xfrm>
            <a:off x="581192" y="702156"/>
            <a:ext cx="11029616" cy="1013800"/>
          </a:xfrm>
        </p:spPr>
        <p:txBody>
          <a:bodyPr/>
          <a:lstStyle/>
          <a:p>
            <a:r>
              <a:rPr lang="es-MX"/>
              <a:t>Haz clic para modificar el estilo de título del patrón</a:t>
            </a:r>
            <a:endParaRPr lang="en-US"/>
          </a:p>
        </p:txBody>
      </p:sp>
      <p:sp>
        <p:nvSpPr>
          <p:cNvPr id="3" name="Content Placeholder 2"/>
          <p:cNvSpPr>
            <a:spLocks noGrp="1"/>
          </p:cNvSpPr>
          <p:nvPr>
            <p:ph idx="1"/>
          </p:nvPr>
        </p:nvSpPr>
        <p:spPr>
          <a:xfrm>
            <a:off x="581192" y="2180496"/>
            <a:ext cx="11029615" cy="3678303"/>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Date Placeholder 3"/>
          <p:cNvSpPr>
            <a:spLocks noGrp="1"/>
          </p:cNvSpPr>
          <p:nvPr>
            <p:ph type="dt" sz="half" idx="10"/>
          </p:nvPr>
        </p:nvSpPr>
        <p:spPr/>
        <p:txBody>
          <a:bodyPr/>
          <a:lstStyle/>
          <a:p>
            <a:fld id="{A523018D-1CC0-468E-BE3B-579A148A0691}" type="datetime1">
              <a:rPr lang="en-US" smtClean="0"/>
              <a:t>2/24/26</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32088987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s-MX"/>
              <a:t>Haz clic para modificar el estilo de título del patrón</a:t>
            </a:r>
            <a:endParaRPr lang="en-US"/>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MX"/>
              <a:t>Haga clic para modificar los estilos de texto del patrón</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CE7F702F-46BE-40AA-9A05-7C69E0403EE7}" type="datetime1">
              <a:rPr lang="en-US" smtClean="0"/>
              <a:t>2/24/26</a:t>
            </a:fld>
            <a:endParaRPr lang="en-US"/>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a:p>
        </p:txBody>
      </p:sp>
    </p:spTree>
    <p:extLst>
      <p:ext uri="{BB962C8B-B14F-4D97-AF65-F5344CB8AC3E}">
        <p14:creationId xmlns:p14="http://schemas.microsoft.com/office/powerpoint/2010/main" val="406295011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s-MX"/>
              <a:t>Haz clic para modificar el estilo de título del patrón</a:t>
            </a:r>
            <a:endParaRPr lang="en-US"/>
          </a:p>
        </p:txBody>
      </p:sp>
      <p:sp>
        <p:nvSpPr>
          <p:cNvPr id="3" name="Content Placeholder 2"/>
          <p:cNvSpPr>
            <a:spLocks noGrp="1"/>
          </p:cNvSpPr>
          <p:nvPr>
            <p:ph sz="half" idx="1"/>
          </p:nvPr>
        </p:nvSpPr>
        <p:spPr>
          <a:xfrm>
            <a:off x="581193" y="2228003"/>
            <a:ext cx="5422390" cy="3633047"/>
          </a:xfrm>
        </p:spPr>
        <p:txBody>
          <a:bodyPr>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5" name="Date Placeholder 4"/>
          <p:cNvSpPr>
            <a:spLocks noGrp="1"/>
          </p:cNvSpPr>
          <p:nvPr>
            <p:ph type="dt" sz="half" idx="10"/>
          </p:nvPr>
        </p:nvSpPr>
        <p:spPr/>
        <p:txBody>
          <a:bodyPr/>
          <a:lstStyle/>
          <a:p>
            <a:fld id="{C51F0D08-E4F7-43DB-810A-34BADF6468F7}" type="datetime1">
              <a:rPr lang="en-US" smtClean="0"/>
              <a:t>2/24/26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42330620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s-MX"/>
              <a:t>Haz clic para modificar el estilo de título del patrón</a:t>
            </a:r>
            <a:endParaRPr lang="en-US"/>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7" name="Date Placeholder 6"/>
          <p:cNvSpPr>
            <a:spLocks noGrp="1"/>
          </p:cNvSpPr>
          <p:nvPr>
            <p:ph type="dt" sz="half" idx="10"/>
          </p:nvPr>
        </p:nvSpPr>
        <p:spPr/>
        <p:txBody>
          <a:bodyPr/>
          <a:lstStyle/>
          <a:p>
            <a:fld id="{ADFE1DAC-EC09-4DEA-BBB4-788DDBA09515}" type="datetime1">
              <a:rPr lang="en-US" smtClean="0"/>
              <a:t>2/24/26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24396910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s-MX"/>
              <a:t>Haz clic para modificar el estilo de título del patrón</a:t>
            </a:r>
            <a:endParaRPr lang="en-US"/>
          </a:p>
        </p:txBody>
      </p:sp>
      <p:sp>
        <p:nvSpPr>
          <p:cNvPr id="3" name="Date Placeholder 2"/>
          <p:cNvSpPr>
            <a:spLocks noGrp="1"/>
          </p:cNvSpPr>
          <p:nvPr>
            <p:ph type="dt" sz="half" idx="10"/>
          </p:nvPr>
        </p:nvSpPr>
        <p:spPr/>
        <p:txBody>
          <a:bodyPr/>
          <a:lstStyle/>
          <a:p>
            <a:fld id="{A9BFF582-E74C-4A8A-87B2-214B0CF47F99}" type="datetime1">
              <a:rPr lang="en-US" smtClean="0"/>
              <a:t>2/24/26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21846102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3FC8AEA-E303-4B9D-B167-0A45CB59E0C2}" type="datetime1">
              <a:rPr lang="en-US" smtClean="0"/>
              <a:t>2/24/26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20952737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s-MX"/>
              <a:t>Haz clic para modificar el estilo de título del patrón</a:t>
            </a:r>
            <a:endParaRPr lang="en-US"/>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7EBE2AAB-C9FD-4A72-8C62-A7C81FA189B4}" type="datetime1">
              <a:rPr lang="en-US" smtClean="0"/>
              <a:t>2/24/26</a:t>
            </a:fld>
            <a:endParaRPr lang="en-US"/>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a:p>
        </p:txBody>
      </p:sp>
    </p:spTree>
    <p:extLst>
      <p:ext uri="{BB962C8B-B14F-4D97-AF65-F5344CB8AC3E}">
        <p14:creationId xmlns:p14="http://schemas.microsoft.com/office/powerpoint/2010/main" val="30296831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s-MX"/>
              <a:t>Haz clic para modificar el estilo de título del patrón</a:t>
            </a:r>
            <a:endParaRPr lang="en-US"/>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s-MX"/>
              <a:t>Haz clic en el icono para agregar una imagen</a:t>
            </a:r>
            <a:endParaRPr lang="en-US"/>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F4D9D4CC-5FC5-4711-9ACC-A7971700D612}" type="datetime1">
              <a:rPr lang="en-US" smtClean="0"/>
              <a:t>2/24/26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7794109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s-MX"/>
              <a:t>Haz clic para modificar el estilo de título del patrón</a:t>
            </a:r>
            <a:endParaRPr lang="en-US"/>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Tree>
    <p:extLst>
      <p:ext uri="{BB962C8B-B14F-4D97-AF65-F5344CB8AC3E}">
        <p14:creationId xmlns:p14="http://schemas.microsoft.com/office/powerpoint/2010/main" val="209963836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s-MX"/>
              <a:t>Haz clic para modificar el estilo de título del patrón</a:t>
            </a:r>
            <a:endParaRPr lang="en-US"/>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D119C4A7-5D51-4E42-9C0C-1785329211C5}" type="datetime1">
              <a:rPr lang="en-US" smtClean="0"/>
              <a:t>2/24/26</a:t>
            </a:fld>
            <a:endParaRPr lang="en-US"/>
          </a:p>
        </p:txBody>
      </p:sp>
      <p:sp>
        <p:nvSpPr>
          <p:cNvPr id="5" name="Footer Placeholder 4"/>
          <p:cNvSpPr>
            <a:spLocks noGrp="1"/>
          </p:cNvSpPr>
          <p:nvPr>
            <p:ph type="ftr" sz="quarter" idx="11"/>
          </p:nvPr>
        </p:nvSpPr>
        <p:spPr>
          <a:xfrm>
            <a:off x="774923" y="5951811"/>
            <a:ext cx="7896279" cy="365125"/>
          </a:xfrm>
        </p:spPr>
        <p:txBody>
          <a:bodyPr/>
          <a:lstStyle/>
          <a:p>
            <a:endParaRPr lang="en-US"/>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a:p>
        </p:txBody>
      </p:sp>
    </p:spTree>
    <p:extLst>
      <p:ext uri="{BB962C8B-B14F-4D97-AF65-F5344CB8AC3E}">
        <p14:creationId xmlns:p14="http://schemas.microsoft.com/office/powerpoint/2010/main" val="32378699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s-MX"/>
              <a:t>Haz clic para modificar el estilo de título del patrón</a:t>
            </a:r>
            <a:endParaRPr lang="en-US"/>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D8027E5A-4482-46C4-A2DC-45BEF00C1E0A}" type="datetime1">
              <a:rPr lang="en-US" smtClean="0"/>
              <a:t>2/24/26</a:t>
            </a:fld>
            <a:endParaRPr lang="en-US"/>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smtClean="0"/>
              <a:pPr/>
              <a:t>‹#›</a:t>
            </a:fld>
            <a:endParaRPr lang="en-US"/>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CO"/>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CO"/>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CO"/>
          </a:p>
        </p:txBody>
      </p:sp>
    </p:spTree>
    <p:extLst>
      <p:ext uri="{BB962C8B-B14F-4D97-AF65-F5344CB8AC3E}">
        <p14:creationId xmlns:p14="http://schemas.microsoft.com/office/powerpoint/2010/main" val="1686623261"/>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hf hdr="0" ftr="0" dt="0"/>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3.emf"/><Relationship Id="rId1" Type="http://schemas.openxmlformats.org/officeDocument/2006/relationships/slideLayout" Target="../slideLayouts/slideLayout2.xml"/><Relationship Id="rId6" Type="http://schemas.openxmlformats.org/officeDocument/2006/relationships/image" Target="../media/image1.png"/><Relationship Id="rId5" Type="http://schemas.openxmlformats.org/officeDocument/2006/relationships/image" Target="../media/image6.emf"/><Relationship Id="rId4" Type="http://schemas.openxmlformats.org/officeDocument/2006/relationships/image" Target="../media/image5.emf"/></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7.png"/><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image" Target="../media/image48.png"/></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2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7.emf"/><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image" Target="../media/image9.emf"/></Relationships>
</file>

<file path=ppt/slides/_rels/slide3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p:cNvSpPr>
            <a:spLocks noGrp="1"/>
          </p:cNvSpPr>
          <p:nvPr>
            <p:ph idx="1"/>
          </p:nvPr>
        </p:nvSpPr>
        <p:spPr>
          <a:xfrm>
            <a:off x="581191" y="1861457"/>
            <a:ext cx="11029615" cy="4094680"/>
          </a:xfrm>
        </p:spPr>
        <p:txBody>
          <a:bodyPr>
            <a:normAutofit/>
          </a:bodyPr>
          <a:lstStyle/>
          <a:p>
            <a:pPr marL="0" indent="0" algn="ctr">
              <a:buNone/>
            </a:pPr>
            <a:r>
              <a:rPr lang="es-CO" sz="4400" dirty="0">
                <a:solidFill>
                  <a:srgbClr val="C00000"/>
                </a:solidFill>
              </a:rPr>
              <a:t>¿Qué hacemos en estos casos?</a:t>
            </a:r>
          </a:p>
        </p:txBody>
      </p:sp>
      <p:sp>
        <p:nvSpPr>
          <p:cNvPr id="6" name="Rectángulo 5">
            <a:extLst>
              <a:ext uri="{FF2B5EF4-FFF2-40B4-BE49-F238E27FC236}">
                <a16:creationId xmlns:a16="http://schemas.microsoft.com/office/drawing/2014/main" id="{6070ECE1-5F74-2AA0-260B-626F631CB945}"/>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7" name="Picture 2" descr="Clientes y aliados | Centro de Evaluación | Uniandes">
            <a:extLst>
              <a:ext uri="{FF2B5EF4-FFF2-40B4-BE49-F238E27FC236}">
                <a16:creationId xmlns:a16="http://schemas.microsoft.com/office/drawing/2014/main" id="{E08027CA-742A-D678-EA2D-28456D1296A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8" name="Rectángulo 7">
            <a:extLst>
              <a:ext uri="{FF2B5EF4-FFF2-40B4-BE49-F238E27FC236}">
                <a16:creationId xmlns:a16="http://schemas.microsoft.com/office/drawing/2014/main" id="{52E5AEBF-22C9-2527-1FDF-93527146787B}"/>
              </a:ext>
            </a:extLst>
          </p:cNvPr>
          <p:cNvSpPr/>
          <p:nvPr/>
        </p:nvSpPr>
        <p:spPr>
          <a:xfrm>
            <a:off x="8399257" y="118110"/>
            <a:ext cx="3150778" cy="261610"/>
          </a:xfrm>
          <a:prstGeom prst="rect">
            <a:avLst/>
          </a:prstGeom>
        </p:spPr>
        <p:txBody>
          <a:bodyPr wrap="square">
            <a:spAutoFit/>
          </a:bodyPr>
          <a:lstStyle/>
          <a:p>
            <a:pPr algn="r"/>
            <a:r>
              <a:rPr lang="es-CO" sz="1100" b="1" dirty="0">
                <a:solidFill>
                  <a:schemeClr val="accent2">
                    <a:lumMod val="50000"/>
                  </a:schemeClr>
                </a:solidFill>
                <a:latin typeface="Century Gothic" panose="020B0502020202020204" pitchFamily="34" charset="0"/>
                <a:sym typeface="Gill Sans Light"/>
              </a:rPr>
              <a:t>Curso</a:t>
            </a:r>
            <a:r>
              <a:rPr lang="es-CO" sz="1100" dirty="0">
                <a:solidFill>
                  <a:schemeClr val="accent2">
                    <a:lumMod val="50000"/>
                  </a:schemeClr>
                </a:solidFill>
                <a:latin typeface="Century Gothic" panose="020B0502020202020204" pitchFamily="34" charset="0"/>
                <a:sym typeface="Gill Sans Light"/>
              </a:rPr>
              <a:t> Análisis de Decisiones de Inversión</a:t>
            </a:r>
            <a:endParaRPr lang="es-CO" sz="1100" dirty="0">
              <a:solidFill>
                <a:schemeClr val="accent2">
                  <a:lumMod val="50000"/>
                </a:schemeClr>
              </a:solidFill>
              <a:latin typeface="Century Gothic" panose="020B0502020202020204" pitchFamily="34" charset="0"/>
            </a:endParaRPr>
          </a:p>
        </p:txBody>
      </p:sp>
      <p:sp>
        <p:nvSpPr>
          <p:cNvPr id="9" name="Título 1">
            <a:extLst>
              <a:ext uri="{FF2B5EF4-FFF2-40B4-BE49-F238E27FC236}">
                <a16:creationId xmlns:a16="http://schemas.microsoft.com/office/drawing/2014/main" id="{025AC0B3-2228-6276-7E24-66FCBE774C7A}"/>
              </a:ext>
            </a:extLst>
          </p:cNvPr>
          <p:cNvSpPr>
            <a:spLocks noGrp="1"/>
          </p:cNvSpPr>
          <p:nvPr>
            <p:ph type="title"/>
          </p:nvPr>
        </p:nvSpPr>
        <p:spPr>
          <a:xfrm>
            <a:off x="581192" y="702156"/>
            <a:ext cx="11029616" cy="1013800"/>
          </a:xfrm>
        </p:spPr>
        <p:txBody>
          <a:bodyPr>
            <a:normAutofit/>
          </a:bodyPr>
          <a:lstStyle/>
          <a:p>
            <a:r>
              <a:rPr lang="es-CO" sz="3200" dirty="0">
                <a:latin typeface="Century Gothic" panose="020B0502020202020204" pitchFamily="34" charset="0"/>
              </a:rPr>
              <a:t>ACLARACIÓN DE LA TIR</a:t>
            </a:r>
          </a:p>
        </p:txBody>
      </p:sp>
      <p:sp>
        <p:nvSpPr>
          <p:cNvPr id="2" name="Marcador de número de diapositiva 3">
            <a:extLst>
              <a:ext uri="{FF2B5EF4-FFF2-40B4-BE49-F238E27FC236}">
                <a16:creationId xmlns:a16="http://schemas.microsoft.com/office/drawing/2014/main" id="{F8665161-1DD5-ECCC-B669-3053C8BBD314}"/>
              </a:ext>
            </a:extLst>
          </p:cNvPr>
          <p:cNvSpPr>
            <a:spLocks noGrp="1"/>
          </p:cNvSpPr>
          <p:nvPr>
            <p:ph type="sldNum" sz="quarter" idx="12"/>
          </p:nvPr>
        </p:nvSpPr>
        <p:spPr>
          <a:xfrm>
            <a:off x="10558300" y="5956137"/>
            <a:ext cx="1052508" cy="365125"/>
          </a:xfrm>
        </p:spPr>
        <p:txBody>
          <a:bodyPr/>
          <a:lstStyle/>
          <a:p>
            <a:fld id="{D57F1E4F-1CFF-5643-939E-217C01CDF565}" type="slidenum">
              <a:rPr lang="en-US" sz="2000" b="1" smtClean="0">
                <a:latin typeface="Century Gothic" panose="020B0502020202020204" pitchFamily="34" charset="0"/>
              </a:rPr>
              <a:pPr/>
              <a:t>1</a:t>
            </a:fld>
            <a:endParaRPr lang="en-US" sz="2000" b="1" dirty="0">
              <a:latin typeface="Century Gothic" panose="020B0502020202020204" pitchFamily="34" charset="0"/>
            </a:endParaRPr>
          </a:p>
        </p:txBody>
      </p:sp>
    </p:spTree>
    <p:extLst>
      <p:ext uri="{BB962C8B-B14F-4D97-AF65-F5344CB8AC3E}">
        <p14:creationId xmlns:p14="http://schemas.microsoft.com/office/powerpoint/2010/main" val="25185963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81192" y="1807030"/>
            <a:ext cx="11029616" cy="4149108"/>
          </a:xfrm>
        </p:spPr>
        <p:txBody>
          <a:bodyPr>
            <a:normAutofit/>
          </a:bodyPr>
          <a:lstStyle/>
          <a:p>
            <a:pPr marL="0" indent="0" algn="just">
              <a:buNone/>
            </a:pPr>
            <a:r>
              <a:rPr lang="es-ES_tradnl" sz="2400" dirty="0"/>
              <a:t>Los dos proyectos aunque cuentan con estructuras de flujos muy diferentes  cuentan con una misma rentabilidad (TIR).</a:t>
            </a:r>
          </a:p>
          <a:p>
            <a:pPr marL="0" indent="0" algn="just">
              <a:buNone/>
            </a:pPr>
            <a:endParaRPr lang="es-ES_tradnl" sz="2400" dirty="0"/>
          </a:p>
          <a:p>
            <a:pPr marL="0" indent="0" algn="just">
              <a:buNone/>
            </a:pPr>
            <a:r>
              <a:rPr lang="es-ES_tradnl" sz="2400" dirty="0"/>
              <a:t>Esto se debe a que la TIR es la rentabilidad de los recursos que</a:t>
            </a:r>
            <a:r>
              <a:rPr lang="es-ES_tradnl" sz="2400" b="1" dirty="0"/>
              <a:t> permanecen en el proyecto. </a:t>
            </a:r>
            <a:endParaRPr lang="es-ES_tradnl" sz="2400" dirty="0"/>
          </a:p>
          <a:p>
            <a:pPr marL="0" indent="0" algn="just">
              <a:buNone/>
            </a:pPr>
            <a:endParaRPr lang="es-ES_tradnl" sz="2400" dirty="0"/>
          </a:p>
          <a:p>
            <a:pPr marL="0" indent="0" algn="just">
              <a:buNone/>
            </a:pPr>
            <a:r>
              <a:rPr lang="es-ES_tradnl" sz="2400" dirty="0"/>
              <a:t>Veamos lo anterior en detalle.</a:t>
            </a:r>
          </a:p>
        </p:txBody>
      </p:sp>
      <p:sp>
        <p:nvSpPr>
          <p:cNvPr id="4" name="Slide Number Placeholder 3"/>
          <p:cNvSpPr>
            <a:spLocks noGrp="1"/>
          </p:cNvSpPr>
          <p:nvPr>
            <p:ph type="sldNum" sz="quarter" idx="12"/>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E3E23BA-6E79-2442-BA73-D218A5E297C3}" type="slidenum">
              <a:rPr kumimoji="0" lang="en-US" sz="9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a:t>
            </a:fld>
            <a:endParaRPr kumimoji="0" lang="en-US" sz="9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Rectángulo 5">
            <a:extLst>
              <a:ext uri="{FF2B5EF4-FFF2-40B4-BE49-F238E27FC236}">
                <a16:creationId xmlns:a16="http://schemas.microsoft.com/office/drawing/2014/main" id="{6CA2F824-25BE-B488-7683-C44300C511D1}"/>
              </a:ext>
            </a:extLst>
          </p:cNvPr>
          <p:cNvSpPr/>
          <p:nvPr/>
        </p:nvSpPr>
        <p:spPr>
          <a:xfrm>
            <a:off x="1415434" y="118110"/>
            <a:ext cx="2781532" cy="261610"/>
          </a:xfrm>
          <a:prstGeom prst="rect">
            <a:avLst/>
          </a:prstGeom>
        </p:spPr>
        <p:txBody>
          <a:bodyPr wrap="none">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s-CO" sz="1100" b="1" i="0" u="none" strike="noStrike" kern="1200" cap="none" spc="0" normalizeH="0" baseline="0" noProof="0">
                <a:ln>
                  <a:noFill/>
                </a:ln>
                <a:solidFill>
                  <a:srgbClr val="8CB64A">
                    <a:lumMod val="50000"/>
                  </a:srgbClr>
                </a:solidFill>
                <a:effectLst/>
                <a:uLnTx/>
                <a:uFillTx/>
                <a:latin typeface="Century Gothic" panose="020B0502020202020204" pitchFamily="34" charset="0"/>
                <a:ea typeface="+mn-ea"/>
                <a:cs typeface="+mn-cs"/>
                <a:sym typeface="Gill Sans Light"/>
              </a:rPr>
              <a:t>Departamento de Ingeniería Industrial</a:t>
            </a:r>
            <a:endParaRPr kumimoji="0" lang="es-CO" sz="1100" b="1" i="0" u="none" strike="noStrike" kern="1200" cap="none" spc="0" normalizeH="0" baseline="0" noProof="0">
              <a:ln>
                <a:noFill/>
              </a:ln>
              <a:solidFill>
                <a:srgbClr val="8CB64A">
                  <a:lumMod val="50000"/>
                </a:srgbClr>
              </a:solidFill>
              <a:effectLst/>
              <a:uLnTx/>
              <a:uFillTx/>
              <a:latin typeface="Century Gothic" panose="020B0502020202020204" pitchFamily="34" charset="0"/>
              <a:ea typeface="+mn-ea"/>
              <a:cs typeface="+mn-cs"/>
            </a:endParaRPr>
          </a:p>
        </p:txBody>
      </p:sp>
      <p:pic>
        <p:nvPicPr>
          <p:cNvPr id="7" name="Picture 2" descr="Clientes y aliados | Centro de Evaluación | Uniandes">
            <a:extLst>
              <a:ext uri="{FF2B5EF4-FFF2-40B4-BE49-F238E27FC236}">
                <a16:creationId xmlns:a16="http://schemas.microsoft.com/office/drawing/2014/main" id="{05C33AF6-AA43-4CB4-1C89-9E6804C1AB1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8" name="Rectángulo 7">
            <a:extLst>
              <a:ext uri="{FF2B5EF4-FFF2-40B4-BE49-F238E27FC236}">
                <a16:creationId xmlns:a16="http://schemas.microsoft.com/office/drawing/2014/main" id="{57A96DF7-5AA8-D7F7-2BAD-298A16FC9CE7}"/>
              </a:ext>
            </a:extLst>
          </p:cNvPr>
          <p:cNvSpPr/>
          <p:nvPr/>
        </p:nvSpPr>
        <p:spPr>
          <a:xfrm>
            <a:off x="8399257" y="118110"/>
            <a:ext cx="3150778" cy="261610"/>
          </a:xfrm>
          <a:prstGeom prst="rect">
            <a:avLst/>
          </a:prstGeom>
        </p:spPr>
        <p:txBody>
          <a:bodyPr wrap="square">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s-CO" sz="1100" b="1" i="0" u="none" strike="noStrike" kern="1200" cap="none" spc="0" normalizeH="0" baseline="0" noProof="0" dirty="0">
                <a:ln>
                  <a:noFill/>
                </a:ln>
                <a:solidFill>
                  <a:srgbClr val="8CB64A">
                    <a:lumMod val="50000"/>
                  </a:srgbClr>
                </a:solidFill>
                <a:effectLst/>
                <a:uLnTx/>
                <a:uFillTx/>
                <a:latin typeface="Century Gothic" panose="020B0502020202020204" pitchFamily="34" charset="0"/>
                <a:ea typeface="+mn-ea"/>
                <a:cs typeface="+mn-cs"/>
                <a:sym typeface="Gill Sans Light"/>
              </a:rPr>
              <a:t>Curso</a:t>
            </a:r>
            <a:r>
              <a:rPr kumimoji="0" lang="es-CO" sz="1100" b="0" i="0" u="none" strike="noStrike" kern="1200" cap="none" spc="0" normalizeH="0" baseline="0" noProof="0" dirty="0">
                <a:ln>
                  <a:noFill/>
                </a:ln>
                <a:solidFill>
                  <a:srgbClr val="8CB64A">
                    <a:lumMod val="50000"/>
                  </a:srgbClr>
                </a:solidFill>
                <a:effectLst/>
                <a:uLnTx/>
                <a:uFillTx/>
                <a:latin typeface="Century Gothic" panose="020B0502020202020204" pitchFamily="34" charset="0"/>
                <a:ea typeface="+mn-ea"/>
                <a:cs typeface="+mn-cs"/>
                <a:sym typeface="Gill Sans Light"/>
              </a:rPr>
              <a:t> Análisis de Decisiones de Inversión</a:t>
            </a:r>
            <a:endParaRPr kumimoji="0" lang="es-CO" sz="1100" b="0" i="0" u="none" strike="noStrike" kern="1200" cap="none" spc="0" normalizeH="0" baseline="0" noProof="0" dirty="0">
              <a:ln>
                <a:noFill/>
              </a:ln>
              <a:solidFill>
                <a:srgbClr val="8CB64A">
                  <a:lumMod val="50000"/>
                </a:srgbClr>
              </a:solidFill>
              <a:effectLst/>
              <a:uLnTx/>
              <a:uFillTx/>
              <a:latin typeface="Century Gothic" panose="020B0502020202020204" pitchFamily="34" charset="0"/>
              <a:ea typeface="+mn-ea"/>
              <a:cs typeface="+mn-cs"/>
            </a:endParaRPr>
          </a:p>
        </p:txBody>
      </p:sp>
      <p:sp>
        <p:nvSpPr>
          <p:cNvPr id="9" name="Título 1">
            <a:extLst>
              <a:ext uri="{FF2B5EF4-FFF2-40B4-BE49-F238E27FC236}">
                <a16:creationId xmlns:a16="http://schemas.microsoft.com/office/drawing/2014/main" id="{66FC5D49-042C-69A0-C98A-F510CA138337}"/>
              </a:ext>
            </a:extLst>
          </p:cNvPr>
          <p:cNvSpPr>
            <a:spLocks noGrp="1"/>
          </p:cNvSpPr>
          <p:nvPr>
            <p:ph type="title"/>
          </p:nvPr>
        </p:nvSpPr>
        <p:spPr>
          <a:xfrm>
            <a:off x="581192" y="702156"/>
            <a:ext cx="11029616" cy="1013800"/>
          </a:xfrm>
        </p:spPr>
        <p:txBody>
          <a:bodyPr>
            <a:normAutofit/>
          </a:bodyPr>
          <a:lstStyle/>
          <a:p>
            <a:r>
              <a:rPr lang="es-CO" sz="3200" dirty="0">
                <a:latin typeface="Century Gothic" panose="020B0502020202020204" pitchFamily="34" charset="0"/>
              </a:rPr>
              <a:t>TIR</a:t>
            </a:r>
          </a:p>
        </p:txBody>
      </p:sp>
    </p:spTree>
    <p:extLst>
      <p:ext uri="{BB962C8B-B14F-4D97-AF65-F5344CB8AC3E}">
        <p14:creationId xmlns:p14="http://schemas.microsoft.com/office/powerpoint/2010/main" val="4262195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E3E23BA-6E79-2442-BA73-D218A5E297C3}" type="slidenum">
              <a:rPr kumimoji="0" lang="en-US" sz="9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a:t>
            </a:fld>
            <a:endParaRPr kumimoji="0" lang="en-US" sz="9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5" name="Straight Connector 4"/>
          <p:cNvCxnSpPr/>
          <p:nvPr/>
        </p:nvCxnSpPr>
        <p:spPr>
          <a:xfrm>
            <a:off x="1279868" y="3194042"/>
            <a:ext cx="3835793" cy="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 name="Rectangle 9"/>
          <p:cNvSpPr>
            <a:spLocks/>
          </p:cNvSpPr>
          <p:nvPr/>
        </p:nvSpPr>
        <p:spPr bwMode="auto">
          <a:xfrm flipH="1">
            <a:off x="1194266" y="2820044"/>
            <a:ext cx="13172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0</a:t>
            </a:r>
          </a:p>
        </p:txBody>
      </p:sp>
      <p:sp>
        <p:nvSpPr>
          <p:cNvPr id="11" name="Rectangle 10"/>
          <p:cNvSpPr>
            <a:spLocks/>
          </p:cNvSpPr>
          <p:nvPr/>
        </p:nvSpPr>
        <p:spPr bwMode="auto">
          <a:xfrm>
            <a:off x="2771418" y="3286374"/>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2</a:t>
            </a:r>
          </a:p>
        </p:txBody>
      </p:sp>
      <p:sp>
        <p:nvSpPr>
          <p:cNvPr id="12" name="Rectangle 11"/>
          <p:cNvSpPr>
            <a:spLocks/>
          </p:cNvSpPr>
          <p:nvPr/>
        </p:nvSpPr>
        <p:spPr bwMode="auto">
          <a:xfrm>
            <a:off x="3859906" y="3286374"/>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3</a:t>
            </a:r>
          </a:p>
        </p:txBody>
      </p:sp>
      <p:sp>
        <p:nvSpPr>
          <p:cNvPr id="13" name="Rectangle 12"/>
          <p:cNvSpPr>
            <a:spLocks/>
          </p:cNvSpPr>
          <p:nvPr/>
        </p:nvSpPr>
        <p:spPr bwMode="auto">
          <a:xfrm>
            <a:off x="4919380" y="3300331"/>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4</a:t>
            </a:r>
          </a:p>
        </p:txBody>
      </p:sp>
      <p:sp>
        <p:nvSpPr>
          <p:cNvPr id="15" name="Rectangle 14"/>
          <p:cNvSpPr>
            <a:spLocks/>
          </p:cNvSpPr>
          <p:nvPr/>
        </p:nvSpPr>
        <p:spPr bwMode="auto">
          <a:xfrm>
            <a:off x="771743" y="4059373"/>
            <a:ext cx="15659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1.000.000</a:t>
            </a:r>
          </a:p>
        </p:txBody>
      </p:sp>
      <p:sp>
        <p:nvSpPr>
          <p:cNvPr id="16" name="Rectangle 15"/>
          <p:cNvSpPr>
            <a:spLocks/>
          </p:cNvSpPr>
          <p:nvPr/>
        </p:nvSpPr>
        <p:spPr bwMode="auto">
          <a:xfrm>
            <a:off x="1808701" y="3300331"/>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1</a:t>
            </a:r>
          </a:p>
        </p:txBody>
      </p:sp>
      <p:sp>
        <p:nvSpPr>
          <p:cNvPr id="19" name="Rectangle 18"/>
          <p:cNvSpPr>
            <a:spLocks/>
          </p:cNvSpPr>
          <p:nvPr/>
        </p:nvSpPr>
        <p:spPr bwMode="auto">
          <a:xfrm>
            <a:off x="2801004" y="2060623"/>
            <a:ext cx="15659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90.000</a:t>
            </a:r>
          </a:p>
        </p:txBody>
      </p:sp>
      <p:graphicFrame>
        <p:nvGraphicFramePr>
          <p:cNvPr id="17" name="Table 16"/>
          <p:cNvGraphicFramePr>
            <a:graphicFrameLocks noGrp="1"/>
          </p:cNvGraphicFramePr>
          <p:nvPr/>
        </p:nvGraphicFramePr>
        <p:xfrm>
          <a:off x="696000" y="4443703"/>
          <a:ext cx="10800000" cy="1854200"/>
        </p:xfrm>
        <a:graphic>
          <a:graphicData uri="http://schemas.openxmlformats.org/drawingml/2006/table">
            <a:tbl>
              <a:tblPr firstRow="1" bandRow="1">
                <a:tableStyleId>{AF606853-7671-496A-8E4F-DF71F8EC918B}</a:tableStyleId>
              </a:tblPr>
              <a:tblGrid>
                <a:gridCol w="1800000">
                  <a:extLst>
                    <a:ext uri="{9D8B030D-6E8A-4147-A177-3AD203B41FA5}">
                      <a16:colId xmlns:a16="http://schemas.microsoft.com/office/drawing/2014/main" val="20000"/>
                    </a:ext>
                  </a:extLst>
                </a:gridCol>
                <a:gridCol w="1800000">
                  <a:extLst>
                    <a:ext uri="{9D8B030D-6E8A-4147-A177-3AD203B41FA5}">
                      <a16:colId xmlns:a16="http://schemas.microsoft.com/office/drawing/2014/main" val="20001"/>
                    </a:ext>
                  </a:extLst>
                </a:gridCol>
                <a:gridCol w="1800000">
                  <a:extLst>
                    <a:ext uri="{9D8B030D-6E8A-4147-A177-3AD203B41FA5}">
                      <a16:colId xmlns:a16="http://schemas.microsoft.com/office/drawing/2014/main" val="20002"/>
                    </a:ext>
                  </a:extLst>
                </a:gridCol>
                <a:gridCol w="1800000">
                  <a:extLst>
                    <a:ext uri="{9D8B030D-6E8A-4147-A177-3AD203B41FA5}">
                      <a16:colId xmlns:a16="http://schemas.microsoft.com/office/drawing/2014/main" val="20003"/>
                    </a:ext>
                  </a:extLst>
                </a:gridCol>
                <a:gridCol w="1800000">
                  <a:extLst>
                    <a:ext uri="{9D8B030D-6E8A-4147-A177-3AD203B41FA5}">
                      <a16:colId xmlns:a16="http://schemas.microsoft.com/office/drawing/2014/main" val="20004"/>
                    </a:ext>
                  </a:extLst>
                </a:gridCol>
                <a:gridCol w="1800000">
                  <a:extLst>
                    <a:ext uri="{9D8B030D-6E8A-4147-A177-3AD203B41FA5}">
                      <a16:colId xmlns:a16="http://schemas.microsoft.com/office/drawing/2014/main" val="20005"/>
                    </a:ext>
                  </a:extLst>
                </a:gridCol>
              </a:tblGrid>
              <a:tr h="370840">
                <a:tc>
                  <a:txBody>
                    <a:bodyPr/>
                    <a:lstStyle/>
                    <a:p>
                      <a:pPr algn="ctr"/>
                      <a:endParaRPr lang="es-ES_tradnl" sz="1800"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tc>
                  <a:txBody>
                    <a:bodyPr/>
                    <a:lstStyle/>
                    <a:p>
                      <a:pPr algn="ctr"/>
                      <a:r>
                        <a:rPr lang="es-ES_tradnl" sz="1800" noProof="0"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tc>
                  <a:txBody>
                    <a:bodyPr/>
                    <a:lstStyle/>
                    <a:p>
                      <a:pPr algn="ctr"/>
                      <a:r>
                        <a:rPr lang="es-ES_tradnl" sz="1800" noProof="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tc>
                  <a:txBody>
                    <a:bodyPr/>
                    <a:lstStyle/>
                    <a:p>
                      <a:pPr algn="ctr"/>
                      <a:r>
                        <a:rPr lang="es-ES_tradnl" sz="1800" noProof="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tc>
                  <a:txBody>
                    <a:bodyPr/>
                    <a:lstStyle/>
                    <a:p>
                      <a:pPr algn="ctr"/>
                      <a:r>
                        <a:rPr lang="es-ES_tradnl" sz="1800" noProof="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tc>
                  <a:txBody>
                    <a:bodyPr/>
                    <a:lstStyle/>
                    <a:p>
                      <a:pPr algn="ctr"/>
                      <a:r>
                        <a:rPr lang="es-ES_tradnl" sz="1800" noProof="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extLst>
                  <a:ext uri="{0D108BD9-81ED-4DB2-BD59-A6C34878D82A}">
                    <a16:rowId xmlns:a16="http://schemas.microsoft.com/office/drawing/2014/main" val="10000"/>
                  </a:ext>
                </a:extLst>
              </a:tr>
              <a:tr h="370840">
                <a:tc>
                  <a:txBody>
                    <a:bodyPr/>
                    <a:lstStyle/>
                    <a:p>
                      <a:pPr algn="ctr"/>
                      <a:r>
                        <a:rPr lang="es-ES_tradnl" sz="1800" noProof="0" dirty="0">
                          <a:solidFill>
                            <a:schemeClr val="tx1"/>
                          </a:solidFill>
                        </a:rPr>
                        <a:t>Flujo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ES_tradnl" sz="1800" noProof="0" dirty="0">
                          <a:solidFill>
                            <a:schemeClr val="tx1"/>
                          </a:solidFill>
                        </a:rPr>
                        <a:t>-1.000.000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r>
                        <a:rPr lang="en-US" sz="1800" b="0" u="none" strike="noStrike" dirty="0">
                          <a:solidFill>
                            <a:schemeClr val="tx1"/>
                          </a:solidFill>
                          <a:effectLst/>
                        </a:rPr>
                        <a:t> 90.000 </a:t>
                      </a:r>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r>
                        <a:rPr lang="en-US" sz="1800" b="0" u="none" strike="noStrike" dirty="0">
                          <a:solidFill>
                            <a:schemeClr val="tx1"/>
                          </a:solidFill>
                          <a:effectLst/>
                        </a:rPr>
                        <a:t>90.000</a:t>
                      </a:r>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r>
                        <a:rPr lang="en-US" sz="1800" b="0" u="none" strike="noStrike" dirty="0">
                          <a:solidFill>
                            <a:schemeClr val="tx1"/>
                          </a:solidFill>
                          <a:effectLst/>
                        </a:rPr>
                        <a:t>90.000</a:t>
                      </a:r>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r>
                        <a:rPr lang="en-US" sz="1800" b="0" u="none" strike="noStrike" dirty="0">
                          <a:solidFill>
                            <a:schemeClr val="tx1"/>
                          </a:solidFill>
                          <a:effectLst/>
                        </a:rPr>
                        <a:t>1.090.000</a:t>
                      </a:r>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70840">
                <a:tc>
                  <a:txBody>
                    <a:bodyPr/>
                    <a:lstStyle/>
                    <a:p>
                      <a:pPr algn="ctr"/>
                      <a:r>
                        <a:rPr lang="es-ES_tradnl" sz="1800" noProof="0" dirty="0">
                          <a:solidFill>
                            <a:schemeClr val="tx1"/>
                          </a:solidFill>
                        </a:rPr>
                        <a:t>Retorno (9%)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a:r>
                        <a:rPr lang="es-ES_tradnl" sz="1800" noProof="0" dirty="0">
                          <a:solidFill>
                            <a:schemeClr val="tx1"/>
                          </a:solidFill>
                        </a:rPr>
                        <a:t>NA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r>
                        <a:rPr lang="en-US" sz="1800" b="0" u="none" strike="noStrike" dirty="0">
                          <a:solidFill>
                            <a:schemeClr val="tx1"/>
                          </a:solidFill>
                          <a:effectLst/>
                        </a:rPr>
                        <a:t> 90.000 </a:t>
                      </a:r>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marL="0" marR="0" lvl="0" indent="0" algn="ctr" defTabSz="685800" rtl="0" eaLnBrk="1" fontAlgn="b" latinLnBrk="0" hangingPunct="1">
                        <a:lnSpc>
                          <a:spcPct val="100000"/>
                        </a:lnSpc>
                        <a:spcBef>
                          <a:spcPts val="0"/>
                        </a:spcBef>
                        <a:spcAft>
                          <a:spcPts val="0"/>
                        </a:spcAft>
                        <a:buClrTx/>
                        <a:buSzTx/>
                        <a:buFontTx/>
                        <a:buNone/>
                        <a:tabLst/>
                        <a:defRPr/>
                      </a:pPr>
                      <a:r>
                        <a:rPr lang="en-US" sz="1800" b="0" u="none" strike="noStrike" dirty="0">
                          <a:solidFill>
                            <a:schemeClr val="tx1"/>
                          </a:solidFill>
                          <a:effectLst/>
                        </a:rPr>
                        <a:t> 90.000 </a:t>
                      </a:r>
                      <a:endParaRPr lang="en-US" sz="1800" b="0" i="0" u="none" strike="noStrike" dirty="0">
                        <a:solidFill>
                          <a:schemeClr val="tx1"/>
                        </a:solidFill>
                        <a:effectLst/>
                        <a:latin typeface="+mn-lt"/>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r>
                        <a:rPr lang="en-US" sz="1800" b="0" u="none" strike="noStrike" dirty="0">
                          <a:solidFill>
                            <a:schemeClr val="tx1"/>
                          </a:solidFill>
                          <a:effectLst/>
                        </a:rPr>
                        <a:t>90.000</a:t>
                      </a:r>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r>
                        <a:rPr lang="en-US" sz="1800" b="0" u="none" strike="noStrike" dirty="0">
                          <a:solidFill>
                            <a:schemeClr val="tx1"/>
                          </a:solidFill>
                          <a:effectLst/>
                        </a:rPr>
                        <a:t>90.000</a:t>
                      </a:r>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extLst>
                  <a:ext uri="{0D108BD9-81ED-4DB2-BD59-A6C34878D82A}">
                    <a16:rowId xmlns:a16="http://schemas.microsoft.com/office/drawing/2014/main" val="10002"/>
                  </a:ext>
                </a:extLst>
              </a:tr>
              <a:tr h="370840">
                <a:tc>
                  <a:txBody>
                    <a:bodyPr/>
                    <a:lstStyle/>
                    <a:p>
                      <a:pPr algn="ctr"/>
                      <a:r>
                        <a:rPr lang="es-ES_tradnl" sz="1800" noProof="0" dirty="0">
                          <a:solidFill>
                            <a:schemeClr val="tx1"/>
                          </a:solidFill>
                        </a:rPr>
                        <a:t>Capital Retirado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ES_tradnl" sz="1800" noProof="0" dirty="0">
                          <a:solidFill>
                            <a:schemeClr val="tx1"/>
                          </a:solidFill>
                        </a:rPr>
                        <a:t>NA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r>
                        <a:rPr lang="en-US" sz="1800" b="0" u="none" strike="noStrike" dirty="0">
                          <a:solidFill>
                            <a:schemeClr val="tx1"/>
                          </a:solidFill>
                          <a:effectLst/>
                        </a:rPr>
                        <a:t> 0 </a:t>
                      </a:r>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r>
                        <a:rPr lang="en-US" sz="1800" b="0" u="none" strike="noStrike" dirty="0">
                          <a:solidFill>
                            <a:schemeClr val="tx1"/>
                          </a:solidFill>
                          <a:effectLst/>
                        </a:rPr>
                        <a:t>0</a:t>
                      </a:r>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r>
                        <a:rPr lang="en-US" sz="1800" b="0" u="none" strike="noStrike" dirty="0">
                          <a:solidFill>
                            <a:schemeClr val="tx1"/>
                          </a:solidFill>
                          <a:effectLst/>
                        </a:rPr>
                        <a:t>0</a:t>
                      </a:r>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r>
                        <a:rPr lang="en-US" sz="1800" b="0" u="none" strike="noStrike" dirty="0">
                          <a:solidFill>
                            <a:schemeClr val="tx1"/>
                          </a:solidFill>
                          <a:effectLst/>
                        </a:rPr>
                        <a:t>1.000.000</a:t>
                      </a:r>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70840">
                <a:tc>
                  <a:txBody>
                    <a:bodyPr/>
                    <a:lstStyle/>
                    <a:p>
                      <a:pPr algn="ctr"/>
                      <a:r>
                        <a:rPr lang="es-ES_tradnl" sz="1800" noProof="0" dirty="0">
                          <a:solidFill>
                            <a:schemeClr val="tx1"/>
                          </a:solidFill>
                        </a:rPr>
                        <a:t>Saldo de Capital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a:r>
                        <a:rPr lang="es-ES_tradnl" sz="1800" noProof="0" dirty="0">
                          <a:solidFill>
                            <a:schemeClr val="tx1"/>
                          </a:solidFill>
                        </a:rPr>
                        <a:t>1.000.000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r>
                        <a:rPr lang="en-US" sz="1800" b="0" u="none" strike="noStrike" dirty="0">
                          <a:solidFill>
                            <a:schemeClr val="tx1"/>
                          </a:solidFill>
                          <a:effectLst/>
                        </a:rPr>
                        <a:t>1.000.000</a:t>
                      </a:r>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r>
                        <a:rPr lang="en-US" sz="1800" b="0" u="none" strike="noStrike" dirty="0">
                          <a:solidFill>
                            <a:schemeClr val="tx1"/>
                          </a:solidFill>
                          <a:effectLst/>
                        </a:rPr>
                        <a:t>1.000.000</a:t>
                      </a:r>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r>
                        <a:rPr lang="en-US" sz="1800" b="0" u="none" strike="noStrike" dirty="0">
                          <a:solidFill>
                            <a:schemeClr val="tx1"/>
                          </a:solidFill>
                          <a:effectLst/>
                        </a:rPr>
                        <a:t>1.000.000</a:t>
                      </a:r>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r>
                        <a:rPr lang="en-US" sz="1800" b="0" u="none" strike="noStrike" dirty="0">
                          <a:solidFill>
                            <a:schemeClr val="tx1"/>
                          </a:solidFill>
                          <a:effectLst/>
                        </a:rPr>
                        <a:t> 0 </a:t>
                      </a:r>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extLst>
                  <a:ext uri="{0D108BD9-81ED-4DB2-BD59-A6C34878D82A}">
                    <a16:rowId xmlns:a16="http://schemas.microsoft.com/office/drawing/2014/main" val="10004"/>
                  </a:ext>
                </a:extLst>
              </a:tr>
            </a:tbl>
          </a:graphicData>
        </a:graphic>
      </p:graphicFrame>
      <p:cxnSp>
        <p:nvCxnSpPr>
          <p:cNvPr id="53" name="Straight Connector 52">
            <a:extLst>
              <a:ext uri="{FF2B5EF4-FFF2-40B4-BE49-F238E27FC236}">
                <a16:creationId xmlns:a16="http://schemas.microsoft.com/office/drawing/2014/main" id="{EB990701-222C-4FB2-851C-F0613482C732}"/>
              </a:ext>
            </a:extLst>
          </p:cNvPr>
          <p:cNvCxnSpPr/>
          <p:nvPr/>
        </p:nvCxnSpPr>
        <p:spPr>
          <a:xfrm>
            <a:off x="1309308" y="3194042"/>
            <a:ext cx="3835793" cy="1"/>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909DE8AA-4CE3-4AE9-9F05-D17B7A2FDD66}"/>
              </a:ext>
            </a:extLst>
          </p:cNvPr>
          <p:cNvCxnSpPr/>
          <p:nvPr/>
        </p:nvCxnSpPr>
        <p:spPr>
          <a:xfrm>
            <a:off x="1309307" y="3194042"/>
            <a:ext cx="0" cy="843530"/>
          </a:xfrm>
          <a:prstGeom prst="straightConnector1">
            <a:avLst/>
          </a:prstGeom>
          <a:ln w="28575">
            <a:solidFill>
              <a:schemeClr val="accent3"/>
            </a:solidFill>
            <a:tailEnd type="arrow"/>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5F5B25C5-11D5-47B2-85FD-8F2F11584B41}"/>
              </a:ext>
            </a:extLst>
          </p:cNvPr>
          <p:cNvCxnSpPr/>
          <p:nvPr/>
        </p:nvCxnSpPr>
        <p:spPr>
          <a:xfrm flipV="1">
            <a:off x="2984447" y="2735315"/>
            <a:ext cx="0" cy="458726"/>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94FB218C-B370-4E36-9077-C82F0182233B}"/>
              </a:ext>
            </a:extLst>
          </p:cNvPr>
          <p:cNvCxnSpPr/>
          <p:nvPr/>
        </p:nvCxnSpPr>
        <p:spPr>
          <a:xfrm flipV="1">
            <a:off x="4057876" y="2735316"/>
            <a:ext cx="0" cy="458727"/>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58" name="Straight Arrow Connector 57">
            <a:extLst>
              <a:ext uri="{FF2B5EF4-FFF2-40B4-BE49-F238E27FC236}">
                <a16:creationId xmlns:a16="http://schemas.microsoft.com/office/drawing/2014/main" id="{7132BCFB-1B12-40E4-9563-25758905BB79}"/>
              </a:ext>
            </a:extLst>
          </p:cNvPr>
          <p:cNvCxnSpPr/>
          <p:nvPr/>
        </p:nvCxnSpPr>
        <p:spPr>
          <a:xfrm flipV="1">
            <a:off x="2006671" y="2735317"/>
            <a:ext cx="0" cy="458726"/>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59" name="Left Brace 58">
            <a:extLst>
              <a:ext uri="{FF2B5EF4-FFF2-40B4-BE49-F238E27FC236}">
                <a16:creationId xmlns:a16="http://schemas.microsoft.com/office/drawing/2014/main" id="{86592FDB-24C6-419C-A292-E8949BEDDD5F}"/>
              </a:ext>
            </a:extLst>
          </p:cNvPr>
          <p:cNvSpPr/>
          <p:nvPr/>
        </p:nvSpPr>
        <p:spPr>
          <a:xfrm rot="5400000">
            <a:off x="3302344" y="957713"/>
            <a:ext cx="519331" cy="3447739"/>
          </a:xfrm>
          <a:prstGeom prst="leftBrace">
            <a:avLst/>
          </a:prstGeom>
          <a:ln w="28575"/>
        </p:spPr>
        <p:style>
          <a:lnRef idx="2">
            <a:schemeClr val="accent1"/>
          </a:lnRef>
          <a:fillRef idx="0">
            <a:schemeClr val="accent1"/>
          </a:fillRef>
          <a:effectRef idx="1">
            <a:schemeClr val="accent1"/>
          </a:effectRef>
          <a:fontRef idx="minor">
            <a:schemeClr val="tx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60" name="Straight Arrow Connector 59">
            <a:extLst>
              <a:ext uri="{FF2B5EF4-FFF2-40B4-BE49-F238E27FC236}">
                <a16:creationId xmlns:a16="http://schemas.microsoft.com/office/drawing/2014/main" id="{C7A16934-F9E5-4554-BFF4-9443F1B2F36B}"/>
              </a:ext>
            </a:extLst>
          </p:cNvPr>
          <p:cNvCxnSpPr>
            <a:cxnSpLocks/>
          </p:cNvCxnSpPr>
          <p:nvPr/>
        </p:nvCxnSpPr>
        <p:spPr>
          <a:xfrm flipV="1">
            <a:off x="5087910" y="1815737"/>
            <a:ext cx="0" cy="858602"/>
          </a:xfrm>
          <a:prstGeom prst="straightConnector1">
            <a:avLst/>
          </a:prstGeom>
          <a:ln w="28575">
            <a:tailEnd type="arrow"/>
          </a:ln>
        </p:spPr>
        <p:style>
          <a:lnRef idx="3">
            <a:schemeClr val="accent2"/>
          </a:lnRef>
          <a:fillRef idx="0">
            <a:schemeClr val="accent2"/>
          </a:fillRef>
          <a:effectRef idx="2">
            <a:schemeClr val="accent2"/>
          </a:effectRef>
          <a:fontRef idx="minor">
            <a:schemeClr val="tx1"/>
          </a:fontRef>
        </p:style>
      </p:cxnSp>
      <p:sp>
        <p:nvSpPr>
          <p:cNvPr id="65" name="Rectangle 64">
            <a:extLst>
              <a:ext uri="{FF2B5EF4-FFF2-40B4-BE49-F238E27FC236}">
                <a16:creationId xmlns:a16="http://schemas.microsoft.com/office/drawing/2014/main" id="{FB3842AC-E26E-4625-87D7-9C935DC382E0}"/>
              </a:ext>
            </a:extLst>
          </p:cNvPr>
          <p:cNvSpPr>
            <a:spLocks/>
          </p:cNvSpPr>
          <p:nvPr/>
        </p:nvSpPr>
        <p:spPr bwMode="auto">
          <a:xfrm>
            <a:off x="4917388" y="1950225"/>
            <a:ext cx="15659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1.000.000</a:t>
            </a:r>
          </a:p>
        </p:txBody>
      </p:sp>
      <p:sp>
        <p:nvSpPr>
          <p:cNvPr id="3" name="Rectángulo 2">
            <a:extLst>
              <a:ext uri="{FF2B5EF4-FFF2-40B4-BE49-F238E27FC236}">
                <a16:creationId xmlns:a16="http://schemas.microsoft.com/office/drawing/2014/main" id="{CA19B3B0-0633-35AD-C58A-52EE8B902818}"/>
              </a:ext>
            </a:extLst>
          </p:cNvPr>
          <p:cNvSpPr/>
          <p:nvPr/>
        </p:nvSpPr>
        <p:spPr>
          <a:xfrm>
            <a:off x="1415434" y="118110"/>
            <a:ext cx="2781532" cy="261610"/>
          </a:xfrm>
          <a:prstGeom prst="rect">
            <a:avLst/>
          </a:prstGeom>
        </p:spPr>
        <p:txBody>
          <a:bodyPr wrap="none">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s-CO" sz="1100" b="1" i="0" u="none" strike="noStrike" kern="1200" cap="none" spc="0" normalizeH="0" baseline="0" noProof="0">
                <a:ln>
                  <a:noFill/>
                </a:ln>
                <a:solidFill>
                  <a:srgbClr val="8CB64A">
                    <a:lumMod val="50000"/>
                  </a:srgbClr>
                </a:solidFill>
                <a:effectLst/>
                <a:uLnTx/>
                <a:uFillTx/>
                <a:latin typeface="Century Gothic" panose="020B0502020202020204" pitchFamily="34" charset="0"/>
                <a:ea typeface="+mn-ea"/>
                <a:cs typeface="+mn-cs"/>
                <a:sym typeface="Gill Sans Light"/>
              </a:rPr>
              <a:t>Departamento de Ingeniería Industrial</a:t>
            </a:r>
            <a:endParaRPr kumimoji="0" lang="es-CO" sz="1100" b="1" i="0" u="none" strike="noStrike" kern="1200" cap="none" spc="0" normalizeH="0" baseline="0" noProof="0">
              <a:ln>
                <a:noFill/>
              </a:ln>
              <a:solidFill>
                <a:srgbClr val="8CB64A">
                  <a:lumMod val="50000"/>
                </a:srgbClr>
              </a:solidFill>
              <a:effectLst/>
              <a:uLnTx/>
              <a:uFillTx/>
              <a:latin typeface="Century Gothic" panose="020B0502020202020204" pitchFamily="34" charset="0"/>
              <a:ea typeface="+mn-ea"/>
              <a:cs typeface="+mn-cs"/>
            </a:endParaRPr>
          </a:p>
        </p:txBody>
      </p:sp>
      <p:pic>
        <p:nvPicPr>
          <p:cNvPr id="6" name="Picture 2" descr="Clientes y aliados | Centro de Evaluación | Uniandes">
            <a:extLst>
              <a:ext uri="{FF2B5EF4-FFF2-40B4-BE49-F238E27FC236}">
                <a16:creationId xmlns:a16="http://schemas.microsoft.com/office/drawing/2014/main" id="{C15005F6-A7E8-DAFB-8C60-30713E57B0B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CEC088C0-79C5-959F-0B57-BA0926B95C60}"/>
              </a:ext>
            </a:extLst>
          </p:cNvPr>
          <p:cNvSpPr/>
          <p:nvPr/>
        </p:nvSpPr>
        <p:spPr>
          <a:xfrm>
            <a:off x="8399257" y="118110"/>
            <a:ext cx="3150778" cy="261610"/>
          </a:xfrm>
          <a:prstGeom prst="rect">
            <a:avLst/>
          </a:prstGeom>
        </p:spPr>
        <p:txBody>
          <a:bodyPr wrap="square">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s-CO" sz="1100" b="1" i="0" u="none" strike="noStrike" kern="1200" cap="none" spc="0" normalizeH="0" baseline="0" noProof="0" dirty="0">
                <a:ln>
                  <a:noFill/>
                </a:ln>
                <a:solidFill>
                  <a:srgbClr val="8CB64A">
                    <a:lumMod val="50000"/>
                  </a:srgbClr>
                </a:solidFill>
                <a:effectLst/>
                <a:uLnTx/>
                <a:uFillTx/>
                <a:latin typeface="Century Gothic" panose="020B0502020202020204" pitchFamily="34" charset="0"/>
                <a:ea typeface="+mn-ea"/>
                <a:cs typeface="+mn-cs"/>
                <a:sym typeface="Gill Sans Light"/>
              </a:rPr>
              <a:t>Curso</a:t>
            </a:r>
            <a:r>
              <a:rPr kumimoji="0" lang="es-CO" sz="1100" b="0" i="0" u="none" strike="noStrike" kern="1200" cap="none" spc="0" normalizeH="0" baseline="0" noProof="0" dirty="0">
                <a:ln>
                  <a:noFill/>
                </a:ln>
                <a:solidFill>
                  <a:srgbClr val="8CB64A">
                    <a:lumMod val="50000"/>
                  </a:srgbClr>
                </a:solidFill>
                <a:effectLst/>
                <a:uLnTx/>
                <a:uFillTx/>
                <a:latin typeface="Century Gothic" panose="020B0502020202020204" pitchFamily="34" charset="0"/>
                <a:ea typeface="+mn-ea"/>
                <a:cs typeface="+mn-cs"/>
                <a:sym typeface="Gill Sans Light"/>
              </a:rPr>
              <a:t> Análisis de Decisiones de Inversión</a:t>
            </a:r>
            <a:endParaRPr kumimoji="0" lang="es-CO" sz="1100" b="0" i="0" u="none" strike="noStrike" kern="1200" cap="none" spc="0" normalizeH="0" baseline="0" noProof="0" dirty="0">
              <a:ln>
                <a:noFill/>
              </a:ln>
              <a:solidFill>
                <a:srgbClr val="8CB64A">
                  <a:lumMod val="50000"/>
                </a:srgbClr>
              </a:solidFill>
              <a:effectLst/>
              <a:uLnTx/>
              <a:uFillTx/>
              <a:latin typeface="Century Gothic" panose="020B0502020202020204" pitchFamily="34" charset="0"/>
              <a:ea typeface="+mn-ea"/>
              <a:cs typeface="+mn-cs"/>
            </a:endParaRPr>
          </a:p>
        </p:txBody>
      </p:sp>
      <p:sp>
        <p:nvSpPr>
          <p:cNvPr id="8" name="Título 1">
            <a:extLst>
              <a:ext uri="{FF2B5EF4-FFF2-40B4-BE49-F238E27FC236}">
                <a16:creationId xmlns:a16="http://schemas.microsoft.com/office/drawing/2014/main" id="{CFA551D0-91D3-9353-A3AA-32C5BBBECE1E}"/>
              </a:ext>
            </a:extLst>
          </p:cNvPr>
          <p:cNvSpPr>
            <a:spLocks noGrp="1"/>
          </p:cNvSpPr>
          <p:nvPr>
            <p:ph type="title"/>
          </p:nvPr>
        </p:nvSpPr>
        <p:spPr>
          <a:xfrm>
            <a:off x="581192" y="702156"/>
            <a:ext cx="11029616" cy="1013800"/>
          </a:xfrm>
        </p:spPr>
        <p:txBody>
          <a:bodyPr>
            <a:normAutofit/>
          </a:bodyPr>
          <a:lstStyle/>
          <a:p>
            <a:r>
              <a:rPr lang="es-CO" sz="3200" dirty="0">
                <a:latin typeface="Century Gothic" panose="020B0502020202020204" pitchFamily="34" charset="0"/>
              </a:rPr>
              <a:t>TIR</a:t>
            </a:r>
          </a:p>
        </p:txBody>
      </p:sp>
      <p:cxnSp>
        <p:nvCxnSpPr>
          <p:cNvPr id="14" name="Straight Arrow Connector 55">
            <a:extLst>
              <a:ext uri="{FF2B5EF4-FFF2-40B4-BE49-F238E27FC236}">
                <a16:creationId xmlns:a16="http://schemas.microsoft.com/office/drawing/2014/main" id="{64829254-737E-B1B9-70FF-CADB1B2D2F93}"/>
              </a:ext>
            </a:extLst>
          </p:cNvPr>
          <p:cNvCxnSpPr/>
          <p:nvPr/>
        </p:nvCxnSpPr>
        <p:spPr>
          <a:xfrm flipV="1">
            <a:off x="5104356" y="2725156"/>
            <a:ext cx="0" cy="458727"/>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405837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81192" y="1807029"/>
            <a:ext cx="11110065" cy="1621972"/>
          </a:xfrm>
        </p:spPr>
        <p:txBody>
          <a:bodyPr>
            <a:normAutofit/>
          </a:bodyPr>
          <a:lstStyle/>
          <a:p>
            <a:pPr marL="0" indent="0" algn="just">
              <a:buNone/>
            </a:pPr>
            <a:r>
              <a:rPr lang="es-ES_tradnl" sz="2600" dirty="0"/>
              <a:t>En el </a:t>
            </a:r>
            <a:r>
              <a:rPr lang="es-ES_tradnl" sz="2600" b="1" dirty="0"/>
              <a:t>Proyecto 1</a:t>
            </a:r>
            <a:r>
              <a:rPr lang="es-ES_tradnl" sz="2600" dirty="0"/>
              <a:t> es muy fácil ver que el retorno solo se da sobre el 1.000.000 que permanece en el proyecto, ahora veamos que pasa en el proyecto 2. </a:t>
            </a:r>
          </a:p>
        </p:txBody>
      </p:sp>
      <p:sp>
        <p:nvSpPr>
          <p:cNvPr id="4" name="Slide Number Placeholder 3"/>
          <p:cNvSpPr>
            <a:spLocks noGrp="1"/>
          </p:cNvSpPr>
          <p:nvPr>
            <p:ph type="sldNum" sz="quarter" idx="12"/>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E3E23BA-6E79-2442-BA73-D218A5E297C3}" type="slidenum">
              <a:rPr kumimoji="0" lang="en-US" sz="9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a:t>
            </a:fld>
            <a:endParaRPr kumimoji="0" lang="en-US" sz="9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Rectángulo 5">
            <a:extLst>
              <a:ext uri="{FF2B5EF4-FFF2-40B4-BE49-F238E27FC236}">
                <a16:creationId xmlns:a16="http://schemas.microsoft.com/office/drawing/2014/main" id="{64ECFD48-7DBC-EDD1-3D73-D20B5AA80464}"/>
              </a:ext>
            </a:extLst>
          </p:cNvPr>
          <p:cNvSpPr/>
          <p:nvPr/>
        </p:nvSpPr>
        <p:spPr>
          <a:xfrm>
            <a:off x="1415434" y="118110"/>
            <a:ext cx="2781532" cy="261610"/>
          </a:xfrm>
          <a:prstGeom prst="rect">
            <a:avLst/>
          </a:prstGeom>
        </p:spPr>
        <p:txBody>
          <a:bodyPr wrap="none">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s-CO" sz="1100" b="1" i="0" u="none" strike="noStrike" kern="1200" cap="none" spc="0" normalizeH="0" baseline="0" noProof="0">
                <a:ln>
                  <a:noFill/>
                </a:ln>
                <a:solidFill>
                  <a:srgbClr val="8CB64A">
                    <a:lumMod val="50000"/>
                  </a:srgbClr>
                </a:solidFill>
                <a:effectLst/>
                <a:uLnTx/>
                <a:uFillTx/>
                <a:latin typeface="Century Gothic" panose="020B0502020202020204" pitchFamily="34" charset="0"/>
                <a:ea typeface="+mn-ea"/>
                <a:cs typeface="+mn-cs"/>
                <a:sym typeface="Gill Sans Light"/>
              </a:rPr>
              <a:t>Departamento de Ingeniería Industrial</a:t>
            </a:r>
            <a:endParaRPr kumimoji="0" lang="es-CO" sz="1100" b="1" i="0" u="none" strike="noStrike" kern="1200" cap="none" spc="0" normalizeH="0" baseline="0" noProof="0">
              <a:ln>
                <a:noFill/>
              </a:ln>
              <a:solidFill>
                <a:srgbClr val="8CB64A">
                  <a:lumMod val="50000"/>
                </a:srgbClr>
              </a:solidFill>
              <a:effectLst/>
              <a:uLnTx/>
              <a:uFillTx/>
              <a:latin typeface="Century Gothic" panose="020B0502020202020204" pitchFamily="34" charset="0"/>
              <a:ea typeface="+mn-ea"/>
              <a:cs typeface="+mn-cs"/>
            </a:endParaRPr>
          </a:p>
        </p:txBody>
      </p:sp>
      <p:pic>
        <p:nvPicPr>
          <p:cNvPr id="7" name="Picture 2" descr="Clientes y aliados | Centro de Evaluación | Uniandes">
            <a:extLst>
              <a:ext uri="{FF2B5EF4-FFF2-40B4-BE49-F238E27FC236}">
                <a16:creationId xmlns:a16="http://schemas.microsoft.com/office/drawing/2014/main" id="{79B75A3E-69A7-2F28-4823-633E639ECC1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8" name="Rectángulo 7">
            <a:extLst>
              <a:ext uri="{FF2B5EF4-FFF2-40B4-BE49-F238E27FC236}">
                <a16:creationId xmlns:a16="http://schemas.microsoft.com/office/drawing/2014/main" id="{1E4776B0-6494-2B16-F916-CAD7084B28C0}"/>
              </a:ext>
            </a:extLst>
          </p:cNvPr>
          <p:cNvSpPr/>
          <p:nvPr/>
        </p:nvSpPr>
        <p:spPr>
          <a:xfrm>
            <a:off x="8399257" y="118110"/>
            <a:ext cx="3150778" cy="261610"/>
          </a:xfrm>
          <a:prstGeom prst="rect">
            <a:avLst/>
          </a:prstGeom>
        </p:spPr>
        <p:txBody>
          <a:bodyPr wrap="square">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s-CO" sz="1100" b="1" i="0" u="none" strike="noStrike" kern="1200" cap="none" spc="0" normalizeH="0" baseline="0" noProof="0" dirty="0">
                <a:ln>
                  <a:noFill/>
                </a:ln>
                <a:solidFill>
                  <a:srgbClr val="8CB64A">
                    <a:lumMod val="50000"/>
                  </a:srgbClr>
                </a:solidFill>
                <a:effectLst/>
                <a:uLnTx/>
                <a:uFillTx/>
                <a:latin typeface="Century Gothic" panose="020B0502020202020204" pitchFamily="34" charset="0"/>
                <a:ea typeface="+mn-ea"/>
                <a:cs typeface="+mn-cs"/>
                <a:sym typeface="Gill Sans Light"/>
              </a:rPr>
              <a:t>Curso</a:t>
            </a:r>
            <a:r>
              <a:rPr kumimoji="0" lang="es-CO" sz="1100" b="0" i="0" u="none" strike="noStrike" kern="1200" cap="none" spc="0" normalizeH="0" baseline="0" noProof="0" dirty="0">
                <a:ln>
                  <a:noFill/>
                </a:ln>
                <a:solidFill>
                  <a:srgbClr val="8CB64A">
                    <a:lumMod val="50000"/>
                  </a:srgbClr>
                </a:solidFill>
                <a:effectLst/>
                <a:uLnTx/>
                <a:uFillTx/>
                <a:latin typeface="Century Gothic" panose="020B0502020202020204" pitchFamily="34" charset="0"/>
                <a:ea typeface="+mn-ea"/>
                <a:cs typeface="+mn-cs"/>
                <a:sym typeface="Gill Sans Light"/>
              </a:rPr>
              <a:t> Análisis de Decisiones de Inversión</a:t>
            </a:r>
            <a:endParaRPr kumimoji="0" lang="es-CO" sz="1100" b="0" i="0" u="none" strike="noStrike" kern="1200" cap="none" spc="0" normalizeH="0" baseline="0" noProof="0" dirty="0">
              <a:ln>
                <a:noFill/>
              </a:ln>
              <a:solidFill>
                <a:srgbClr val="8CB64A">
                  <a:lumMod val="50000"/>
                </a:srgbClr>
              </a:solidFill>
              <a:effectLst/>
              <a:uLnTx/>
              <a:uFillTx/>
              <a:latin typeface="Century Gothic" panose="020B0502020202020204" pitchFamily="34" charset="0"/>
              <a:ea typeface="+mn-ea"/>
              <a:cs typeface="+mn-cs"/>
            </a:endParaRPr>
          </a:p>
        </p:txBody>
      </p:sp>
      <p:sp>
        <p:nvSpPr>
          <p:cNvPr id="9" name="Título 1">
            <a:extLst>
              <a:ext uri="{FF2B5EF4-FFF2-40B4-BE49-F238E27FC236}">
                <a16:creationId xmlns:a16="http://schemas.microsoft.com/office/drawing/2014/main" id="{DF845CB8-DA0D-907F-8853-2AB22EF933C6}"/>
              </a:ext>
            </a:extLst>
          </p:cNvPr>
          <p:cNvSpPr>
            <a:spLocks noGrp="1"/>
          </p:cNvSpPr>
          <p:nvPr>
            <p:ph type="title"/>
          </p:nvPr>
        </p:nvSpPr>
        <p:spPr>
          <a:xfrm>
            <a:off x="581192" y="702156"/>
            <a:ext cx="11029616" cy="1013800"/>
          </a:xfrm>
        </p:spPr>
        <p:txBody>
          <a:bodyPr>
            <a:normAutofit/>
          </a:bodyPr>
          <a:lstStyle/>
          <a:p>
            <a:r>
              <a:rPr lang="es-CO" sz="3200" dirty="0">
                <a:latin typeface="Century Gothic" panose="020B0502020202020204" pitchFamily="34" charset="0"/>
              </a:rPr>
              <a:t>TIR</a:t>
            </a:r>
          </a:p>
        </p:txBody>
      </p:sp>
    </p:spTree>
    <p:extLst>
      <p:ext uri="{BB962C8B-B14F-4D97-AF65-F5344CB8AC3E}">
        <p14:creationId xmlns:p14="http://schemas.microsoft.com/office/powerpoint/2010/main" val="36974904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E3E23BA-6E79-2442-BA73-D218A5E297C3}" type="slidenum">
              <a:rPr kumimoji="0" lang="en-US" sz="9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a:t>
            </a:fld>
            <a:endParaRPr kumimoji="0" lang="en-US" sz="9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5" name="Straight Connector 4"/>
          <p:cNvCxnSpPr/>
          <p:nvPr/>
        </p:nvCxnSpPr>
        <p:spPr>
          <a:xfrm>
            <a:off x="1089317" y="3111610"/>
            <a:ext cx="3835793" cy="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Arrow Connector 8"/>
          <p:cNvCxnSpPr/>
          <p:nvPr/>
        </p:nvCxnSpPr>
        <p:spPr>
          <a:xfrm flipV="1">
            <a:off x="4897359" y="2652883"/>
            <a:ext cx="0" cy="458728"/>
          </a:xfrm>
          <a:prstGeom prst="straightConnector1">
            <a:avLst/>
          </a:prstGeom>
          <a:ln>
            <a:tailEnd type="arrow"/>
          </a:ln>
        </p:spPr>
        <p:style>
          <a:lnRef idx="3">
            <a:schemeClr val="accent2"/>
          </a:lnRef>
          <a:fillRef idx="0">
            <a:schemeClr val="accent2"/>
          </a:fillRef>
          <a:effectRef idx="2">
            <a:schemeClr val="accent2"/>
          </a:effectRef>
          <a:fontRef idx="minor">
            <a:schemeClr val="tx1"/>
          </a:fontRef>
        </p:style>
      </p:cxnSp>
      <p:sp>
        <p:nvSpPr>
          <p:cNvPr id="10" name="Rectangle 9"/>
          <p:cNvSpPr>
            <a:spLocks/>
          </p:cNvSpPr>
          <p:nvPr/>
        </p:nvSpPr>
        <p:spPr bwMode="auto">
          <a:xfrm flipH="1">
            <a:off x="1003715" y="2737612"/>
            <a:ext cx="13172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0</a:t>
            </a:r>
          </a:p>
        </p:txBody>
      </p:sp>
      <p:sp>
        <p:nvSpPr>
          <p:cNvPr id="11" name="Rectangle 10"/>
          <p:cNvSpPr>
            <a:spLocks/>
          </p:cNvSpPr>
          <p:nvPr/>
        </p:nvSpPr>
        <p:spPr bwMode="auto">
          <a:xfrm>
            <a:off x="2580867" y="3203942"/>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2</a:t>
            </a:r>
          </a:p>
        </p:txBody>
      </p:sp>
      <p:sp>
        <p:nvSpPr>
          <p:cNvPr id="12" name="Rectangle 11"/>
          <p:cNvSpPr>
            <a:spLocks/>
          </p:cNvSpPr>
          <p:nvPr/>
        </p:nvSpPr>
        <p:spPr bwMode="auto">
          <a:xfrm>
            <a:off x="3669355" y="3203942"/>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3</a:t>
            </a:r>
          </a:p>
        </p:txBody>
      </p:sp>
      <p:sp>
        <p:nvSpPr>
          <p:cNvPr id="13" name="Rectangle 12"/>
          <p:cNvSpPr>
            <a:spLocks/>
          </p:cNvSpPr>
          <p:nvPr/>
        </p:nvSpPr>
        <p:spPr bwMode="auto">
          <a:xfrm>
            <a:off x="4728829" y="3217899"/>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4</a:t>
            </a:r>
          </a:p>
        </p:txBody>
      </p:sp>
      <p:sp>
        <p:nvSpPr>
          <p:cNvPr id="15" name="Rectangle 14"/>
          <p:cNvSpPr>
            <a:spLocks/>
          </p:cNvSpPr>
          <p:nvPr/>
        </p:nvSpPr>
        <p:spPr bwMode="auto">
          <a:xfrm>
            <a:off x="581192" y="3976941"/>
            <a:ext cx="15659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1.000.000</a:t>
            </a:r>
          </a:p>
        </p:txBody>
      </p:sp>
      <p:sp>
        <p:nvSpPr>
          <p:cNvPr id="16" name="Rectangle 15"/>
          <p:cNvSpPr>
            <a:spLocks/>
          </p:cNvSpPr>
          <p:nvPr/>
        </p:nvSpPr>
        <p:spPr bwMode="auto">
          <a:xfrm>
            <a:off x="1618150" y="3217899"/>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1</a:t>
            </a:r>
          </a:p>
        </p:txBody>
      </p:sp>
      <p:sp>
        <p:nvSpPr>
          <p:cNvPr id="19" name="Rectangle 18"/>
          <p:cNvSpPr>
            <a:spLocks/>
          </p:cNvSpPr>
          <p:nvPr/>
        </p:nvSpPr>
        <p:spPr bwMode="auto">
          <a:xfrm>
            <a:off x="2580867" y="1925420"/>
            <a:ext cx="15659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308.668,7</a:t>
            </a:r>
          </a:p>
        </p:txBody>
      </p:sp>
      <p:cxnSp>
        <p:nvCxnSpPr>
          <p:cNvPr id="53" name="Straight Connector 52">
            <a:extLst>
              <a:ext uri="{FF2B5EF4-FFF2-40B4-BE49-F238E27FC236}">
                <a16:creationId xmlns:a16="http://schemas.microsoft.com/office/drawing/2014/main" id="{EB990701-222C-4FB2-851C-F0613482C732}"/>
              </a:ext>
            </a:extLst>
          </p:cNvPr>
          <p:cNvCxnSpPr/>
          <p:nvPr/>
        </p:nvCxnSpPr>
        <p:spPr>
          <a:xfrm>
            <a:off x="1118757" y="3111610"/>
            <a:ext cx="3835793" cy="1"/>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909DE8AA-4CE3-4AE9-9F05-D17B7A2FDD66}"/>
              </a:ext>
            </a:extLst>
          </p:cNvPr>
          <p:cNvCxnSpPr/>
          <p:nvPr/>
        </p:nvCxnSpPr>
        <p:spPr>
          <a:xfrm>
            <a:off x="1088276" y="3111610"/>
            <a:ext cx="0" cy="843530"/>
          </a:xfrm>
          <a:prstGeom prst="straightConnector1">
            <a:avLst/>
          </a:prstGeom>
          <a:ln w="28575">
            <a:solidFill>
              <a:schemeClr val="accent3"/>
            </a:solidFill>
            <a:tailEnd type="arrow"/>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5F5B25C5-11D5-47B2-85FD-8F2F11584B41}"/>
              </a:ext>
            </a:extLst>
          </p:cNvPr>
          <p:cNvCxnSpPr/>
          <p:nvPr/>
        </p:nvCxnSpPr>
        <p:spPr>
          <a:xfrm flipV="1">
            <a:off x="2793896" y="2652883"/>
            <a:ext cx="0" cy="458726"/>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94FB218C-B370-4E36-9077-C82F0182233B}"/>
              </a:ext>
            </a:extLst>
          </p:cNvPr>
          <p:cNvCxnSpPr/>
          <p:nvPr/>
        </p:nvCxnSpPr>
        <p:spPr>
          <a:xfrm flipV="1">
            <a:off x="3867325" y="2652884"/>
            <a:ext cx="0" cy="458727"/>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46DF9E9D-BDF7-4D50-BA15-31B4DB0D9868}"/>
              </a:ext>
            </a:extLst>
          </p:cNvPr>
          <p:cNvCxnSpPr/>
          <p:nvPr/>
        </p:nvCxnSpPr>
        <p:spPr>
          <a:xfrm flipV="1">
            <a:off x="4899633" y="2637343"/>
            <a:ext cx="0" cy="458728"/>
          </a:xfrm>
          <a:prstGeom prst="straightConnector1">
            <a:avLst/>
          </a:prstGeom>
          <a:ln w="28575">
            <a:tailEnd type="arrow"/>
          </a:ln>
        </p:spPr>
        <p:style>
          <a:lnRef idx="3">
            <a:schemeClr val="accent2"/>
          </a:lnRef>
          <a:fillRef idx="0">
            <a:schemeClr val="accent2"/>
          </a:fillRef>
          <a:effectRef idx="2">
            <a:schemeClr val="accent2"/>
          </a:effectRef>
          <a:fontRef idx="minor">
            <a:schemeClr val="tx1"/>
          </a:fontRef>
        </p:style>
      </p:cxnSp>
      <p:cxnSp>
        <p:nvCxnSpPr>
          <p:cNvPr id="58" name="Straight Arrow Connector 57">
            <a:extLst>
              <a:ext uri="{FF2B5EF4-FFF2-40B4-BE49-F238E27FC236}">
                <a16:creationId xmlns:a16="http://schemas.microsoft.com/office/drawing/2014/main" id="{7132BCFB-1B12-40E4-9563-25758905BB79}"/>
              </a:ext>
            </a:extLst>
          </p:cNvPr>
          <p:cNvCxnSpPr/>
          <p:nvPr/>
        </p:nvCxnSpPr>
        <p:spPr>
          <a:xfrm flipV="1">
            <a:off x="1816120" y="2652885"/>
            <a:ext cx="0" cy="458726"/>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59" name="Left Brace 58">
            <a:extLst>
              <a:ext uri="{FF2B5EF4-FFF2-40B4-BE49-F238E27FC236}">
                <a16:creationId xmlns:a16="http://schemas.microsoft.com/office/drawing/2014/main" id="{86592FDB-24C6-419C-A292-E8949BEDDD5F}"/>
              </a:ext>
            </a:extLst>
          </p:cNvPr>
          <p:cNvSpPr/>
          <p:nvPr/>
        </p:nvSpPr>
        <p:spPr>
          <a:xfrm rot="5400000">
            <a:off x="3101633" y="875281"/>
            <a:ext cx="519331" cy="3447739"/>
          </a:xfrm>
          <a:prstGeom prst="leftBrace">
            <a:avLst/>
          </a:prstGeom>
          <a:ln w="28575"/>
        </p:spPr>
        <p:style>
          <a:lnRef idx="2">
            <a:schemeClr val="accent1"/>
          </a:lnRef>
          <a:fillRef idx="0">
            <a:schemeClr val="accent1"/>
          </a:fillRef>
          <a:effectRef idx="1">
            <a:schemeClr val="accent1"/>
          </a:effectRef>
          <a:fontRef idx="minor">
            <a:schemeClr val="tx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Rectángulo 2">
            <a:extLst>
              <a:ext uri="{FF2B5EF4-FFF2-40B4-BE49-F238E27FC236}">
                <a16:creationId xmlns:a16="http://schemas.microsoft.com/office/drawing/2014/main" id="{472FF93C-4321-A46C-B08A-E748089F86BC}"/>
              </a:ext>
            </a:extLst>
          </p:cNvPr>
          <p:cNvSpPr/>
          <p:nvPr/>
        </p:nvSpPr>
        <p:spPr>
          <a:xfrm>
            <a:off x="1415434" y="118110"/>
            <a:ext cx="2781532" cy="261610"/>
          </a:xfrm>
          <a:prstGeom prst="rect">
            <a:avLst/>
          </a:prstGeom>
        </p:spPr>
        <p:txBody>
          <a:bodyPr wrap="none">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s-CO" sz="1100" b="1" i="0" u="none" strike="noStrike" kern="1200" cap="none" spc="0" normalizeH="0" baseline="0" noProof="0">
                <a:ln>
                  <a:noFill/>
                </a:ln>
                <a:solidFill>
                  <a:srgbClr val="8CB64A">
                    <a:lumMod val="50000"/>
                  </a:srgbClr>
                </a:solidFill>
                <a:effectLst/>
                <a:uLnTx/>
                <a:uFillTx/>
                <a:latin typeface="Century Gothic" panose="020B0502020202020204" pitchFamily="34" charset="0"/>
                <a:ea typeface="+mn-ea"/>
                <a:cs typeface="+mn-cs"/>
                <a:sym typeface="Gill Sans Light"/>
              </a:rPr>
              <a:t>Departamento de Ingeniería Industrial</a:t>
            </a:r>
            <a:endParaRPr kumimoji="0" lang="es-CO" sz="1100" b="1" i="0" u="none" strike="noStrike" kern="1200" cap="none" spc="0" normalizeH="0" baseline="0" noProof="0">
              <a:ln>
                <a:noFill/>
              </a:ln>
              <a:solidFill>
                <a:srgbClr val="8CB64A">
                  <a:lumMod val="50000"/>
                </a:srgbClr>
              </a:solidFill>
              <a:effectLst/>
              <a:uLnTx/>
              <a:uFillTx/>
              <a:latin typeface="Century Gothic" panose="020B0502020202020204" pitchFamily="34" charset="0"/>
              <a:ea typeface="+mn-ea"/>
              <a:cs typeface="+mn-cs"/>
            </a:endParaRPr>
          </a:p>
        </p:txBody>
      </p:sp>
      <p:pic>
        <p:nvPicPr>
          <p:cNvPr id="6" name="Picture 2" descr="Clientes y aliados | Centro de Evaluación | Uniandes">
            <a:extLst>
              <a:ext uri="{FF2B5EF4-FFF2-40B4-BE49-F238E27FC236}">
                <a16:creationId xmlns:a16="http://schemas.microsoft.com/office/drawing/2014/main" id="{AD949628-2A98-0011-8016-AC57572FD25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6D831F89-2E74-A70E-CCB9-AEA5F88D6307}"/>
              </a:ext>
            </a:extLst>
          </p:cNvPr>
          <p:cNvSpPr/>
          <p:nvPr/>
        </p:nvSpPr>
        <p:spPr>
          <a:xfrm>
            <a:off x="8399257" y="118110"/>
            <a:ext cx="3150778" cy="261610"/>
          </a:xfrm>
          <a:prstGeom prst="rect">
            <a:avLst/>
          </a:prstGeom>
        </p:spPr>
        <p:txBody>
          <a:bodyPr wrap="square">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s-CO" sz="1100" b="1" i="0" u="none" strike="noStrike" kern="1200" cap="none" spc="0" normalizeH="0" baseline="0" noProof="0" dirty="0">
                <a:ln>
                  <a:noFill/>
                </a:ln>
                <a:solidFill>
                  <a:srgbClr val="8CB64A">
                    <a:lumMod val="50000"/>
                  </a:srgbClr>
                </a:solidFill>
                <a:effectLst/>
                <a:uLnTx/>
                <a:uFillTx/>
                <a:latin typeface="Century Gothic" panose="020B0502020202020204" pitchFamily="34" charset="0"/>
                <a:ea typeface="+mn-ea"/>
                <a:cs typeface="+mn-cs"/>
                <a:sym typeface="Gill Sans Light"/>
              </a:rPr>
              <a:t>Curso</a:t>
            </a:r>
            <a:r>
              <a:rPr kumimoji="0" lang="es-CO" sz="1100" b="0" i="0" u="none" strike="noStrike" kern="1200" cap="none" spc="0" normalizeH="0" baseline="0" noProof="0" dirty="0">
                <a:ln>
                  <a:noFill/>
                </a:ln>
                <a:solidFill>
                  <a:srgbClr val="8CB64A">
                    <a:lumMod val="50000"/>
                  </a:srgbClr>
                </a:solidFill>
                <a:effectLst/>
                <a:uLnTx/>
                <a:uFillTx/>
                <a:latin typeface="Century Gothic" panose="020B0502020202020204" pitchFamily="34" charset="0"/>
                <a:ea typeface="+mn-ea"/>
                <a:cs typeface="+mn-cs"/>
                <a:sym typeface="Gill Sans Light"/>
              </a:rPr>
              <a:t> Análisis de Decisiones de Inversión</a:t>
            </a:r>
            <a:endParaRPr kumimoji="0" lang="es-CO" sz="1100" b="0" i="0" u="none" strike="noStrike" kern="1200" cap="none" spc="0" normalizeH="0" baseline="0" noProof="0" dirty="0">
              <a:ln>
                <a:noFill/>
              </a:ln>
              <a:solidFill>
                <a:srgbClr val="8CB64A">
                  <a:lumMod val="50000"/>
                </a:srgbClr>
              </a:solidFill>
              <a:effectLst/>
              <a:uLnTx/>
              <a:uFillTx/>
              <a:latin typeface="Century Gothic" panose="020B0502020202020204" pitchFamily="34" charset="0"/>
              <a:ea typeface="+mn-ea"/>
              <a:cs typeface="+mn-cs"/>
            </a:endParaRPr>
          </a:p>
        </p:txBody>
      </p:sp>
      <p:sp>
        <p:nvSpPr>
          <p:cNvPr id="8" name="Título 1">
            <a:extLst>
              <a:ext uri="{FF2B5EF4-FFF2-40B4-BE49-F238E27FC236}">
                <a16:creationId xmlns:a16="http://schemas.microsoft.com/office/drawing/2014/main" id="{F2D0A8AA-6172-072E-AEC1-85066CA3C8EC}"/>
              </a:ext>
            </a:extLst>
          </p:cNvPr>
          <p:cNvSpPr>
            <a:spLocks noGrp="1"/>
          </p:cNvSpPr>
          <p:nvPr>
            <p:ph type="title"/>
          </p:nvPr>
        </p:nvSpPr>
        <p:spPr>
          <a:xfrm>
            <a:off x="581192" y="702156"/>
            <a:ext cx="11029616" cy="1013800"/>
          </a:xfrm>
        </p:spPr>
        <p:txBody>
          <a:bodyPr>
            <a:normAutofit/>
          </a:bodyPr>
          <a:lstStyle/>
          <a:p>
            <a:r>
              <a:rPr lang="es-CO" sz="3200" dirty="0">
                <a:latin typeface="Century Gothic" panose="020B0502020202020204" pitchFamily="34" charset="0"/>
              </a:rPr>
              <a:t>TIR</a:t>
            </a:r>
          </a:p>
        </p:txBody>
      </p:sp>
      <p:graphicFrame>
        <p:nvGraphicFramePr>
          <p:cNvPr id="14" name="Table 16">
            <a:extLst>
              <a:ext uri="{FF2B5EF4-FFF2-40B4-BE49-F238E27FC236}">
                <a16:creationId xmlns:a16="http://schemas.microsoft.com/office/drawing/2014/main" id="{87E8172E-09AE-DC8D-7483-9D32CBB8CF5A}"/>
              </a:ext>
            </a:extLst>
          </p:cNvPr>
          <p:cNvGraphicFramePr>
            <a:graphicFrameLocks noGrp="1"/>
          </p:cNvGraphicFramePr>
          <p:nvPr/>
        </p:nvGraphicFramePr>
        <p:xfrm>
          <a:off x="696000" y="4443703"/>
          <a:ext cx="10800000" cy="1854200"/>
        </p:xfrm>
        <a:graphic>
          <a:graphicData uri="http://schemas.openxmlformats.org/drawingml/2006/table">
            <a:tbl>
              <a:tblPr firstRow="1" bandRow="1">
                <a:tableStyleId>{AF606853-7671-496A-8E4F-DF71F8EC918B}</a:tableStyleId>
              </a:tblPr>
              <a:tblGrid>
                <a:gridCol w="1800000">
                  <a:extLst>
                    <a:ext uri="{9D8B030D-6E8A-4147-A177-3AD203B41FA5}">
                      <a16:colId xmlns:a16="http://schemas.microsoft.com/office/drawing/2014/main" val="20000"/>
                    </a:ext>
                  </a:extLst>
                </a:gridCol>
                <a:gridCol w="1800000">
                  <a:extLst>
                    <a:ext uri="{9D8B030D-6E8A-4147-A177-3AD203B41FA5}">
                      <a16:colId xmlns:a16="http://schemas.microsoft.com/office/drawing/2014/main" val="20001"/>
                    </a:ext>
                  </a:extLst>
                </a:gridCol>
                <a:gridCol w="1800000">
                  <a:extLst>
                    <a:ext uri="{9D8B030D-6E8A-4147-A177-3AD203B41FA5}">
                      <a16:colId xmlns:a16="http://schemas.microsoft.com/office/drawing/2014/main" val="20002"/>
                    </a:ext>
                  </a:extLst>
                </a:gridCol>
                <a:gridCol w="1800000">
                  <a:extLst>
                    <a:ext uri="{9D8B030D-6E8A-4147-A177-3AD203B41FA5}">
                      <a16:colId xmlns:a16="http://schemas.microsoft.com/office/drawing/2014/main" val="20003"/>
                    </a:ext>
                  </a:extLst>
                </a:gridCol>
                <a:gridCol w="1800000">
                  <a:extLst>
                    <a:ext uri="{9D8B030D-6E8A-4147-A177-3AD203B41FA5}">
                      <a16:colId xmlns:a16="http://schemas.microsoft.com/office/drawing/2014/main" val="20004"/>
                    </a:ext>
                  </a:extLst>
                </a:gridCol>
                <a:gridCol w="1800000">
                  <a:extLst>
                    <a:ext uri="{9D8B030D-6E8A-4147-A177-3AD203B41FA5}">
                      <a16:colId xmlns:a16="http://schemas.microsoft.com/office/drawing/2014/main" val="20005"/>
                    </a:ext>
                  </a:extLst>
                </a:gridCol>
              </a:tblGrid>
              <a:tr h="370840">
                <a:tc>
                  <a:txBody>
                    <a:bodyPr/>
                    <a:lstStyle/>
                    <a:p>
                      <a:pPr algn="ctr"/>
                      <a:endParaRPr lang="es-ES_tradnl" sz="1800"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tc>
                  <a:txBody>
                    <a:bodyPr/>
                    <a:lstStyle/>
                    <a:p>
                      <a:pPr algn="ctr"/>
                      <a:r>
                        <a:rPr lang="es-ES_tradnl" sz="1800" noProof="0"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tc>
                  <a:txBody>
                    <a:bodyPr/>
                    <a:lstStyle/>
                    <a:p>
                      <a:pPr algn="ctr"/>
                      <a:r>
                        <a:rPr lang="es-ES_tradnl" sz="1800" noProof="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tc>
                  <a:txBody>
                    <a:bodyPr/>
                    <a:lstStyle/>
                    <a:p>
                      <a:pPr algn="ctr"/>
                      <a:r>
                        <a:rPr lang="es-ES_tradnl" sz="1800" noProof="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tc>
                  <a:txBody>
                    <a:bodyPr/>
                    <a:lstStyle/>
                    <a:p>
                      <a:pPr algn="ctr"/>
                      <a:r>
                        <a:rPr lang="es-ES_tradnl" sz="1800" noProof="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tc>
                  <a:txBody>
                    <a:bodyPr/>
                    <a:lstStyle/>
                    <a:p>
                      <a:pPr algn="ctr"/>
                      <a:r>
                        <a:rPr lang="es-ES_tradnl" sz="1800" noProof="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extLst>
                  <a:ext uri="{0D108BD9-81ED-4DB2-BD59-A6C34878D82A}">
                    <a16:rowId xmlns:a16="http://schemas.microsoft.com/office/drawing/2014/main" val="10000"/>
                  </a:ext>
                </a:extLst>
              </a:tr>
              <a:tr h="370840">
                <a:tc>
                  <a:txBody>
                    <a:bodyPr/>
                    <a:lstStyle/>
                    <a:p>
                      <a:pPr algn="ctr"/>
                      <a:r>
                        <a:rPr lang="es-ES_tradnl" sz="1800" noProof="0" dirty="0">
                          <a:solidFill>
                            <a:schemeClr val="tx1"/>
                          </a:solidFill>
                        </a:rPr>
                        <a:t>Flujo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ES_tradnl" sz="1800" noProof="0" dirty="0">
                          <a:solidFill>
                            <a:schemeClr val="tx1"/>
                          </a:solidFill>
                        </a:rPr>
                        <a:t>-1.000.000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r>
                        <a:rPr lang="en-US" sz="1800" b="0" u="none" strike="noStrike" dirty="0">
                          <a:solidFill>
                            <a:schemeClr val="tx1"/>
                          </a:solidFill>
                          <a:effectLst/>
                        </a:rPr>
                        <a:t> 308.669 </a:t>
                      </a:r>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r>
                        <a:rPr lang="en-US" sz="1800" b="0" u="none" strike="noStrike" dirty="0">
                          <a:solidFill>
                            <a:schemeClr val="tx1"/>
                          </a:solidFill>
                          <a:effectLst/>
                        </a:rPr>
                        <a:t> 308.669 </a:t>
                      </a:r>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r>
                        <a:rPr lang="en-US" sz="1800" b="0" u="none" strike="noStrike" dirty="0">
                          <a:solidFill>
                            <a:schemeClr val="tx1"/>
                          </a:solidFill>
                          <a:effectLst/>
                        </a:rPr>
                        <a:t> 308.669 </a:t>
                      </a:r>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685800" rtl="0" eaLnBrk="1" fontAlgn="b" latinLnBrk="0" hangingPunct="1">
                        <a:lnSpc>
                          <a:spcPct val="100000"/>
                        </a:lnSpc>
                        <a:spcBef>
                          <a:spcPts val="0"/>
                        </a:spcBef>
                        <a:spcAft>
                          <a:spcPts val="0"/>
                        </a:spcAft>
                        <a:buClrTx/>
                        <a:buSzTx/>
                        <a:buFontTx/>
                        <a:buNone/>
                        <a:tabLst/>
                        <a:defRPr/>
                      </a:pPr>
                      <a:r>
                        <a:rPr lang="en-US" sz="1800" b="0" u="none" strike="noStrike" dirty="0">
                          <a:solidFill>
                            <a:schemeClr val="tx1"/>
                          </a:solidFill>
                          <a:effectLst/>
                        </a:rPr>
                        <a:t> 308.669 </a:t>
                      </a:r>
                      <a:endParaRPr lang="en-US" sz="1800" b="0" i="0" u="none" strike="noStrike" dirty="0">
                        <a:solidFill>
                          <a:schemeClr val="tx1"/>
                        </a:solidFill>
                        <a:effectLst/>
                        <a:latin typeface="+mn-lt"/>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70840">
                <a:tc>
                  <a:txBody>
                    <a:bodyPr/>
                    <a:lstStyle/>
                    <a:p>
                      <a:pPr algn="ctr"/>
                      <a:r>
                        <a:rPr lang="es-ES_tradnl" sz="1800" noProof="0" dirty="0">
                          <a:solidFill>
                            <a:schemeClr val="tx1"/>
                          </a:solidFill>
                        </a:rPr>
                        <a:t>Retorno (9%)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a:endParaRPr lang="es-ES_tradnl" sz="1800" noProof="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marL="0" marR="0" lvl="0" indent="0" algn="ctr" defTabSz="685800" rtl="0" eaLnBrk="1" fontAlgn="b" latinLnBrk="0" hangingPunct="1">
                        <a:lnSpc>
                          <a:spcPct val="100000"/>
                        </a:lnSpc>
                        <a:spcBef>
                          <a:spcPts val="0"/>
                        </a:spcBef>
                        <a:spcAft>
                          <a:spcPts val="0"/>
                        </a:spcAft>
                        <a:buClrTx/>
                        <a:buSzTx/>
                        <a:buFontTx/>
                        <a:buNone/>
                        <a:tabLst/>
                        <a:defRPr/>
                      </a:pPr>
                      <a:endParaRPr lang="en-US" sz="1800" b="0" i="0" u="none" strike="noStrike" dirty="0">
                        <a:solidFill>
                          <a:schemeClr val="tx1"/>
                        </a:solidFill>
                        <a:effectLst/>
                        <a:latin typeface="+mn-lt"/>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extLst>
                  <a:ext uri="{0D108BD9-81ED-4DB2-BD59-A6C34878D82A}">
                    <a16:rowId xmlns:a16="http://schemas.microsoft.com/office/drawing/2014/main" val="10002"/>
                  </a:ext>
                </a:extLst>
              </a:tr>
              <a:tr h="370840">
                <a:tc>
                  <a:txBody>
                    <a:bodyPr/>
                    <a:lstStyle/>
                    <a:p>
                      <a:pPr algn="ctr"/>
                      <a:r>
                        <a:rPr lang="es-ES_tradnl" sz="1800" noProof="0" dirty="0">
                          <a:solidFill>
                            <a:schemeClr val="tx1"/>
                          </a:solidFill>
                        </a:rPr>
                        <a:t>Capital Retirado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s-ES_tradnl" sz="1800" noProof="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70840">
                <a:tc>
                  <a:txBody>
                    <a:bodyPr/>
                    <a:lstStyle/>
                    <a:p>
                      <a:pPr algn="ctr"/>
                      <a:r>
                        <a:rPr lang="es-ES_tradnl" sz="1800" noProof="0" dirty="0">
                          <a:solidFill>
                            <a:schemeClr val="tx1"/>
                          </a:solidFill>
                        </a:rPr>
                        <a:t>Saldo de Capital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a:endParaRPr lang="es-ES_tradnl" sz="1800" noProof="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32904403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085570-E74F-D6D6-C4E0-B2C5BFC8AF32}"/>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2E2AE79-4D5E-F9B4-3B00-0CB1F68A31FC}"/>
              </a:ext>
            </a:extLst>
          </p:cNvPr>
          <p:cNvSpPr>
            <a:spLocks noGrp="1"/>
          </p:cNvSpPr>
          <p:nvPr>
            <p:ph type="sldNum" sz="quarter" idx="12"/>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E3E23BA-6E79-2442-BA73-D218A5E297C3}" type="slidenum">
              <a:rPr kumimoji="0" lang="en-US" sz="9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9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5" name="Straight Connector 4">
            <a:extLst>
              <a:ext uri="{FF2B5EF4-FFF2-40B4-BE49-F238E27FC236}">
                <a16:creationId xmlns:a16="http://schemas.microsoft.com/office/drawing/2014/main" id="{58F11F32-20B4-BD10-1497-4DFAA85645E6}"/>
              </a:ext>
            </a:extLst>
          </p:cNvPr>
          <p:cNvCxnSpPr/>
          <p:nvPr/>
        </p:nvCxnSpPr>
        <p:spPr>
          <a:xfrm>
            <a:off x="1089317" y="3111610"/>
            <a:ext cx="3835793" cy="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7FD0DF8B-75ED-5918-8054-B47195B37B90}"/>
              </a:ext>
            </a:extLst>
          </p:cNvPr>
          <p:cNvCxnSpPr/>
          <p:nvPr/>
        </p:nvCxnSpPr>
        <p:spPr>
          <a:xfrm flipV="1">
            <a:off x="4897359" y="2652883"/>
            <a:ext cx="0" cy="458728"/>
          </a:xfrm>
          <a:prstGeom prst="straightConnector1">
            <a:avLst/>
          </a:prstGeom>
          <a:ln>
            <a:tailEnd type="arrow"/>
          </a:ln>
        </p:spPr>
        <p:style>
          <a:lnRef idx="3">
            <a:schemeClr val="accent2"/>
          </a:lnRef>
          <a:fillRef idx="0">
            <a:schemeClr val="accent2"/>
          </a:fillRef>
          <a:effectRef idx="2">
            <a:schemeClr val="accent2"/>
          </a:effectRef>
          <a:fontRef idx="minor">
            <a:schemeClr val="tx1"/>
          </a:fontRef>
        </p:style>
      </p:cxnSp>
      <p:sp>
        <p:nvSpPr>
          <p:cNvPr id="10" name="Rectangle 9">
            <a:extLst>
              <a:ext uri="{FF2B5EF4-FFF2-40B4-BE49-F238E27FC236}">
                <a16:creationId xmlns:a16="http://schemas.microsoft.com/office/drawing/2014/main" id="{B4CC49F3-78BA-1C67-13E7-15160F2EB6AA}"/>
              </a:ext>
            </a:extLst>
          </p:cNvPr>
          <p:cNvSpPr>
            <a:spLocks/>
          </p:cNvSpPr>
          <p:nvPr/>
        </p:nvSpPr>
        <p:spPr bwMode="auto">
          <a:xfrm flipH="1">
            <a:off x="1003715" y="2737612"/>
            <a:ext cx="13172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0</a:t>
            </a:r>
          </a:p>
        </p:txBody>
      </p:sp>
      <p:sp>
        <p:nvSpPr>
          <p:cNvPr id="11" name="Rectangle 10">
            <a:extLst>
              <a:ext uri="{FF2B5EF4-FFF2-40B4-BE49-F238E27FC236}">
                <a16:creationId xmlns:a16="http://schemas.microsoft.com/office/drawing/2014/main" id="{1081E91E-F4E9-ACD4-18E9-DA847389F6CD}"/>
              </a:ext>
            </a:extLst>
          </p:cNvPr>
          <p:cNvSpPr>
            <a:spLocks/>
          </p:cNvSpPr>
          <p:nvPr/>
        </p:nvSpPr>
        <p:spPr bwMode="auto">
          <a:xfrm>
            <a:off x="2580867" y="3203942"/>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2</a:t>
            </a:r>
          </a:p>
        </p:txBody>
      </p:sp>
      <p:sp>
        <p:nvSpPr>
          <p:cNvPr id="12" name="Rectangle 11">
            <a:extLst>
              <a:ext uri="{FF2B5EF4-FFF2-40B4-BE49-F238E27FC236}">
                <a16:creationId xmlns:a16="http://schemas.microsoft.com/office/drawing/2014/main" id="{3530F3C9-7F64-6172-AF1A-D805C1134372}"/>
              </a:ext>
            </a:extLst>
          </p:cNvPr>
          <p:cNvSpPr>
            <a:spLocks/>
          </p:cNvSpPr>
          <p:nvPr/>
        </p:nvSpPr>
        <p:spPr bwMode="auto">
          <a:xfrm>
            <a:off x="3669355" y="3203942"/>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3</a:t>
            </a:r>
          </a:p>
        </p:txBody>
      </p:sp>
      <p:sp>
        <p:nvSpPr>
          <p:cNvPr id="13" name="Rectangle 12">
            <a:extLst>
              <a:ext uri="{FF2B5EF4-FFF2-40B4-BE49-F238E27FC236}">
                <a16:creationId xmlns:a16="http://schemas.microsoft.com/office/drawing/2014/main" id="{B0711626-E55E-0E0E-4532-D67B077E734C}"/>
              </a:ext>
            </a:extLst>
          </p:cNvPr>
          <p:cNvSpPr>
            <a:spLocks/>
          </p:cNvSpPr>
          <p:nvPr/>
        </p:nvSpPr>
        <p:spPr bwMode="auto">
          <a:xfrm>
            <a:off x="4728829" y="3217899"/>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4</a:t>
            </a:r>
          </a:p>
        </p:txBody>
      </p:sp>
      <p:sp>
        <p:nvSpPr>
          <p:cNvPr id="15" name="Rectangle 14">
            <a:extLst>
              <a:ext uri="{FF2B5EF4-FFF2-40B4-BE49-F238E27FC236}">
                <a16:creationId xmlns:a16="http://schemas.microsoft.com/office/drawing/2014/main" id="{94A11892-5E2F-6AED-86D3-85B9B3E6FD63}"/>
              </a:ext>
            </a:extLst>
          </p:cNvPr>
          <p:cNvSpPr>
            <a:spLocks/>
          </p:cNvSpPr>
          <p:nvPr/>
        </p:nvSpPr>
        <p:spPr bwMode="auto">
          <a:xfrm>
            <a:off x="581192" y="3976941"/>
            <a:ext cx="15659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1.000.000</a:t>
            </a:r>
          </a:p>
        </p:txBody>
      </p:sp>
      <p:sp>
        <p:nvSpPr>
          <p:cNvPr id="16" name="Rectangle 15">
            <a:extLst>
              <a:ext uri="{FF2B5EF4-FFF2-40B4-BE49-F238E27FC236}">
                <a16:creationId xmlns:a16="http://schemas.microsoft.com/office/drawing/2014/main" id="{217691A1-A791-9A7B-291E-91FB9D59F546}"/>
              </a:ext>
            </a:extLst>
          </p:cNvPr>
          <p:cNvSpPr>
            <a:spLocks/>
          </p:cNvSpPr>
          <p:nvPr/>
        </p:nvSpPr>
        <p:spPr bwMode="auto">
          <a:xfrm>
            <a:off x="1618150" y="3217899"/>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1</a:t>
            </a:r>
          </a:p>
        </p:txBody>
      </p:sp>
      <p:sp>
        <p:nvSpPr>
          <p:cNvPr id="19" name="Rectangle 18">
            <a:extLst>
              <a:ext uri="{FF2B5EF4-FFF2-40B4-BE49-F238E27FC236}">
                <a16:creationId xmlns:a16="http://schemas.microsoft.com/office/drawing/2014/main" id="{AA1143D7-3763-439B-3695-89E0E4FC49A7}"/>
              </a:ext>
            </a:extLst>
          </p:cNvPr>
          <p:cNvSpPr>
            <a:spLocks/>
          </p:cNvSpPr>
          <p:nvPr/>
        </p:nvSpPr>
        <p:spPr bwMode="auto">
          <a:xfrm>
            <a:off x="2580867" y="1925420"/>
            <a:ext cx="15659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308.668,7</a:t>
            </a:r>
          </a:p>
        </p:txBody>
      </p:sp>
      <p:cxnSp>
        <p:nvCxnSpPr>
          <p:cNvPr id="53" name="Straight Connector 52">
            <a:extLst>
              <a:ext uri="{FF2B5EF4-FFF2-40B4-BE49-F238E27FC236}">
                <a16:creationId xmlns:a16="http://schemas.microsoft.com/office/drawing/2014/main" id="{89B426E1-74AA-6E31-833D-30190D24C689}"/>
              </a:ext>
            </a:extLst>
          </p:cNvPr>
          <p:cNvCxnSpPr/>
          <p:nvPr/>
        </p:nvCxnSpPr>
        <p:spPr>
          <a:xfrm>
            <a:off x="1118757" y="3111610"/>
            <a:ext cx="3835793" cy="1"/>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F0943C03-C039-FE59-AD0E-8A7988D464D1}"/>
              </a:ext>
            </a:extLst>
          </p:cNvPr>
          <p:cNvCxnSpPr/>
          <p:nvPr/>
        </p:nvCxnSpPr>
        <p:spPr>
          <a:xfrm>
            <a:off x="1088276" y="3111610"/>
            <a:ext cx="0" cy="843530"/>
          </a:xfrm>
          <a:prstGeom prst="straightConnector1">
            <a:avLst/>
          </a:prstGeom>
          <a:ln w="28575">
            <a:solidFill>
              <a:schemeClr val="accent3"/>
            </a:solidFill>
            <a:tailEnd type="arrow"/>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044852EF-A265-A92A-FF4E-70FF7AA83768}"/>
              </a:ext>
            </a:extLst>
          </p:cNvPr>
          <p:cNvCxnSpPr/>
          <p:nvPr/>
        </p:nvCxnSpPr>
        <p:spPr>
          <a:xfrm flipV="1">
            <a:off x="2793896" y="2652883"/>
            <a:ext cx="0" cy="458726"/>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2DED702E-FA96-A93D-7EDD-798715A76984}"/>
              </a:ext>
            </a:extLst>
          </p:cNvPr>
          <p:cNvCxnSpPr/>
          <p:nvPr/>
        </p:nvCxnSpPr>
        <p:spPr>
          <a:xfrm flipV="1">
            <a:off x="3867325" y="2652884"/>
            <a:ext cx="0" cy="458727"/>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0E3B8A93-0114-4968-4E72-74B4969F0A5A}"/>
              </a:ext>
            </a:extLst>
          </p:cNvPr>
          <p:cNvCxnSpPr/>
          <p:nvPr/>
        </p:nvCxnSpPr>
        <p:spPr>
          <a:xfrm flipV="1">
            <a:off x="4899633" y="2637343"/>
            <a:ext cx="0" cy="458728"/>
          </a:xfrm>
          <a:prstGeom prst="straightConnector1">
            <a:avLst/>
          </a:prstGeom>
          <a:ln w="28575">
            <a:tailEnd type="arrow"/>
          </a:ln>
        </p:spPr>
        <p:style>
          <a:lnRef idx="3">
            <a:schemeClr val="accent2"/>
          </a:lnRef>
          <a:fillRef idx="0">
            <a:schemeClr val="accent2"/>
          </a:fillRef>
          <a:effectRef idx="2">
            <a:schemeClr val="accent2"/>
          </a:effectRef>
          <a:fontRef idx="minor">
            <a:schemeClr val="tx1"/>
          </a:fontRef>
        </p:style>
      </p:cxnSp>
      <p:cxnSp>
        <p:nvCxnSpPr>
          <p:cNvPr id="58" name="Straight Arrow Connector 57">
            <a:extLst>
              <a:ext uri="{FF2B5EF4-FFF2-40B4-BE49-F238E27FC236}">
                <a16:creationId xmlns:a16="http://schemas.microsoft.com/office/drawing/2014/main" id="{989355FB-40ED-A303-AD99-C7A5D8C8D8B2}"/>
              </a:ext>
            </a:extLst>
          </p:cNvPr>
          <p:cNvCxnSpPr/>
          <p:nvPr/>
        </p:nvCxnSpPr>
        <p:spPr>
          <a:xfrm flipV="1">
            <a:off x="1816120" y="2652885"/>
            <a:ext cx="0" cy="458726"/>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59" name="Left Brace 58">
            <a:extLst>
              <a:ext uri="{FF2B5EF4-FFF2-40B4-BE49-F238E27FC236}">
                <a16:creationId xmlns:a16="http://schemas.microsoft.com/office/drawing/2014/main" id="{ACDA055D-2567-BAC6-C43E-5489634B1C08}"/>
              </a:ext>
            </a:extLst>
          </p:cNvPr>
          <p:cNvSpPr/>
          <p:nvPr/>
        </p:nvSpPr>
        <p:spPr>
          <a:xfrm rot="5400000">
            <a:off x="3101633" y="875281"/>
            <a:ext cx="519331" cy="3447739"/>
          </a:xfrm>
          <a:prstGeom prst="leftBrace">
            <a:avLst/>
          </a:prstGeom>
          <a:ln w="28575"/>
        </p:spPr>
        <p:style>
          <a:lnRef idx="2">
            <a:schemeClr val="accent1"/>
          </a:lnRef>
          <a:fillRef idx="0">
            <a:schemeClr val="accent1"/>
          </a:fillRef>
          <a:effectRef idx="1">
            <a:schemeClr val="accent1"/>
          </a:effectRef>
          <a:fontRef idx="minor">
            <a:schemeClr val="tx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Rectángulo 2">
            <a:extLst>
              <a:ext uri="{FF2B5EF4-FFF2-40B4-BE49-F238E27FC236}">
                <a16:creationId xmlns:a16="http://schemas.microsoft.com/office/drawing/2014/main" id="{4980ED21-1D4B-4E6A-E0D3-E5C060EE1405}"/>
              </a:ext>
            </a:extLst>
          </p:cNvPr>
          <p:cNvSpPr/>
          <p:nvPr/>
        </p:nvSpPr>
        <p:spPr>
          <a:xfrm>
            <a:off x="1415434" y="118110"/>
            <a:ext cx="2781532" cy="261610"/>
          </a:xfrm>
          <a:prstGeom prst="rect">
            <a:avLst/>
          </a:prstGeom>
        </p:spPr>
        <p:txBody>
          <a:bodyPr wrap="none">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s-CO" sz="1100" b="1" i="0" u="none" strike="noStrike" kern="1200" cap="none" spc="0" normalizeH="0" baseline="0" noProof="0">
                <a:ln>
                  <a:noFill/>
                </a:ln>
                <a:solidFill>
                  <a:srgbClr val="8CB64A">
                    <a:lumMod val="50000"/>
                  </a:srgbClr>
                </a:solidFill>
                <a:effectLst/>
                <a:uLnTx/>
                <a:uFillTx/>
                <a:latin typeface="Century Gothic" panose="020B0502020202020204" pitchFamily="34" charset="0"/>
                <a:ea typeface="+mn-ea"/>
                <a:cs typeface="+mn-cs"/>
                <a:sym typeface="Gill Sans Light"/>
              </a:rPr>
              <a:t>Departamento de Ingeniería Industrial</a:t>
            </a:r>
            <a:endParaRPr kumimoji="0" lang="es-CO" sz="1100" b="1" i="0" u="none" strike="noStrike" kern="1200" cap="none" spc="0" normalizeH="0" baseline="0" noProof="0">
              <a:ln>
                <a:noFill/>
              </a:ln>
              <a:solidFill>
                <a:srgbClr val="8CB64A">
                  <a:lumMod val="50000"/>
                </a:srgbClr>
              </a:solidFill>
              <a:effectLst/>
              <a:uLnTx/>
              <a:uFillTx/>
              <a:latin typeface="Century Gothic" panose="020B0502020202020204" pitchFamily="34" charset="0"/>
              <a:ea typeface="+mn-ea"/>
              <a:cs typeface="+mn-cs"/>
            </a:endParaRPr>
          </a:p>
        </p:txBody>
      </p:sp>
      <p:pic>
        <p:nvPicPr>
          <p:cNvPr id="6" name="Picture 2" descr="Clientes y aliados | Centro de Evaluación | Uniandes">
            <a:extLst>
              <a:ext uri="{FF2B5EF4-FFF2-40B4-BE49-F238E27FC236}">
                <a16:creationId xmlns:a16="http://schemas.microsoft.com/office/drawing/2014/main" id="{53E2BAEC-5881-13C7-7058-86230F4645F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FD872A59-70AD-3A0C-9D5F-BB838B4E1AF0}"/>
              </a:ext>
            </a:extLst>
          </p:cNvPr>
          <p:cNvSpPr/>
          <p:nvPr/>
        </p:nvSpPr>
        <p:spPr>
          <a:xfrm>
            <a:off x="8399257" y="118110"/>
            <a:ext cx="3150778" cy="261610"/>
          </a:xfrm>
          <a:prstGeom prst="rect">
            <a:avLst/>
          </a:prstGeom>
        </p:spPr>
        <p:txBody>
          <a:bodyPr wrap="square">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s-CO" sz="1100" b="1" i="0" u="none" strike="noStrike" kern="1200" cap="none" spc="0" normalizeH="0" baseline="0" noProof="0" dirty="0">
                <a:ln>
                  <a:noFill/>
                </a:ln>
                <a:solidFill>
                  <a:srgbClr val="8CB64A">
                    <a:lumMod val="50000"/>
                  </a:srgbClr>
                </a:solidFill>
                <a:effectLst/>
                <a:uLnTx/>
                <a:uFillTx/>
                <a:latin typeface="Century Gothic" panose="020B0502020202020204" pitchFamily="34" charset="0"/>
                <a:ea typeface="+mn-ea"/>
                <a:cs typeface="+mn-cs"/>
                <a:sym typeface="Gill Sans Light"/>
              </a:rPr>
              <a:t>Curso</a:t>
            </a:r>
            <a:r>
              <a:rPr kumimoji="0" lang="es-CO" sz="1100" b="0" i="0" u="none" strike="noStrike" kern="1200" cap="none" spc="0" normalizeH="0" baseline="0" noProof="0" dirty="0">
                <a:ln>
                  <a:noFill/>
                </a:ln>
                <a:solidFill>
                  <a:srgbClr val="8CB64A">
                    <a:lumMod val="50000"/>
                  </a:srgbClr>
                </a:solidFill>
                <a:effectLst/>
                <a:uLnTx/>
                <a:uFillTx/>
                <a:latin typeface="Century Gothic" panose="020B0502020202020204" pitchFamily="34" charset="0"/>
                <a:ea typeface="+mn-ea"/>
                <a:cs typeface="+mn-cs"/>
                <a:sym typeface="Gill Sans Light"/>
              </a:rPr>
              <a:t> Análisis de Decisiones de Inversión</a:t>
            </a:r>
            <a:endParaRPr kumimoji="0" lang="es-CO" sz="1100" b="0" i="0" u="none" strike="noStrike" kern="1200" cap="none" spc="0" normalizeH="0" baseline="0" noProof="0" dirty="0">
              <a:ln>
                <a:noFill/>
              </a:ln>
              <a:solidFill>
                <a:srgbClr val="8CB64A">
                  <a:lumMod val="50000"/>
                </a:srgbClr>
              </a:solidFill>
              <a:effectLst/>
              <a:uLnTx/>
              <a:uFillTx/>
              <a:latin typeface="Century Gothic" panose="020B0502020202020204" pitchFamily="34" charset="0"/>
              <a:ea typeface="+mn-ea"/>
              <a:cs typeface="+mn-cs"/>
            </a:endParaRPr>
          </a:p>
        </p:txBody>
      </p:sp>
      <p:sp>
        <p:nvSpPr>
          <p:cNvPr id="8" name="Título 1">
            <a:extLst>
              <a:ext uri="{FF2B5EF4-FFF2-40B4-BE49-F238E27FC236}">
                <a16:creationId xmlns:a16="http://schemas.microsoft.com/office/drawing/2014/main" id="{990D88B8-0F13-5525-6742-56B184CF4D61}"/>
              </a:ext>
            </a:extLst>
          </p:cNvPr>
          <p:cNvSpPr>
            <a:spLocks noGrp="1"/>
          </p:cNvSpPr>
          <p:nvPr>
            <p:ph type="title"/>
          </p:nvPr>
        </p:nvSpPr>
        <p:spPr>
          <a:xfrm>
            <a:off x="581192" y="702156"/>
            <a:ext cx="11029616" cy="1013800"/>
          </a:xfrm>
        </p:spPr>
        <p:txBody>
          <a:bodyPr>
            <a:normAutofit/>
          </a:bodyPr>
          <a:lstStyle/>
          <a:p>
            <a:r>
              <a:rPr lang="es-CO" sz="3200" dirty="0">
                <a:latin typeface="Century Gothic" panose="020B0502020202020204" pitchFamily="34" charset="0"/>
              </a:rPr>
              <a:t>TIR</a:t>
            </a:r>
          </a:p>
        </p:txBody>
      </p:sp>
      <p:graphicFrame>
        <p:nvGraphicFramePr>
          <p:cNvPr id="14" name="Table 16">
            <a:extLst>
              <a:ext uri="{FF2B5EF4-FFF2-40B4-BE49-F238E27FC236}">
                <a16:creationId xmlns:a16="http://schemas.microsoft.com/office/drawing/2014/main" id="{E657069C-D08A-EC69-FB33-C208EC338477}"/>
              </a:ext>
            </a:extLst>
          </p:cNvPr>
          <p:cNvGraphicFramePr>
            <a:graphicFrameLocks noGrp="1"/>
          </p:cNvGraphicFramePr>
          <p:nvPr/>
        </p:nvGraphicFramePr>
        <p:xfrm>
          <a:off x="696000" y="4443703"/>
          <a:ext cx="10800000" cy="1854200"/>
        </p:xfrm>
        <a:graphic>
          <a:graphicData uri="http://schemas.openxmlformats.org/drawingml/2006/table">
            <a:tbl>
              <a:tblPr firstRow="1" bandRow="1">
                <a:tableStyleId>{AF606853-7671-496A-8E4F-DF71F8EC918B}</a:tableStyleId>
              </a:tblPr>
              <a:tblGrid>
                <a:gridCol w="1800000">
                  <a:extLst>
                    <a:ext uri="{9D8B030D-6E8A-4147-A177-3AD203B41FA5}">
                      <a16:colId xmlns:a16="http://schemas.microsoft.com/office/drawing/2014/main" val="20000"/>
                    </a:ext>
                  </a:extLst>
                </a:gridCol>
                <a:gridCol w="1800000">
                  <a:extLst>
                    <a:ext uri="{9D8B030D-6E8A-4147-A177-3AD203B41FA5}">
                      <a16:colId xmlns:a16="http://schemas.microsoft.com/office/drawing/2014/main" val="20001"/>
                    </a:ext>
                  </a:extLst>
                </a:gridCol>
                <a:gridCol w="1800000">
                  <a:extLst>
                    <a:ext uri="{9D8B030D-6E8A-4147-A177-3AD203B41FA5}">
                      <a16:colId xmlns:a16="http://schemas.microsoft.com/office/drawing/2014/main" val="20002"/>
                    </a:ext>
                  </a:extLst>
                </a:gridCol>
                <a:gridCol w="1800000">
                  <a:extLst>
                    <a:ext uri="{9D8B030D-6E8A-4147-A177-3AD203B41FA5}">
                      <a16:colId xmlns:a16="http://schemas.microsoft.com/office/drawing/2014/main" val="20003"/>
                    </a:ext>
                  </a:extLst>
                </a:gridCol>
                <a:gridCol w="1800000">
                  <a:extLst>
                    <a:ext uri="{9D8B030D-6E8A-4147-A177-3AD203B41FA5}">
                      <a16:colId xmlns:a16="http://schemas.microsoft.com/office/drawing/2014/main" val="20004"/>
                    </a:ext>
                  </a:extLst>
                </a:gridCol>
                <a:gridCol w="1800000">
                  <a:extLst>
                    <a:ext uri="{9D8B030D-6E8A-4147-A177-3AD203B41FA5}">
                      <a16:colId xmlns:a16="http://schemas.microsoft.com/office/drawing/2014/main" val="20005"/>
                    </a:ext>
                  </a:extLst>
                </a:gridCol>
              </a:tblGrid>
              <a:tr h="370840">
                <a:tc>
                  <a:txBody>
                    <a:bodyPr/>
                    <a:lstStyle/>
                    <a:p>
                      <a:pPr algn="ctr"/>
                      <a:endParaRPr lang="es-ES_tradnl" sz="1800"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tc>
                  <a:txBody>
                    <a:bodyPr/>
                    <a:lstStyle/>
                    <a:p>
                      <a:pPr algn="ctr"/>
                      <a:r>
                        <a:rPr lang="es-ES_tradnl" sz="1800" noProof="0"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tc>
                  <a:txBody>
                    <a:bodyPr/>
                    <a:lstStyle/>
                    <a:p>
                      <a:pPr algn="ctr"/>
                      <a:r>
                        <a:rPr lang="es-ES_tradnl" sz="1800" noProof="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tc>
                  <a:txBody>
                    <a:bodyPr/>
                    <a:lstStyle/>
                    <a:p>
                      <a:pPr algn="ctr"/>
                      <a:r>
                        <a:rPr lang="es-ES_tradnl" sz="1800" noProof="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tc>
                  <a:txBody>
                    <a:bodyPr/>
                    <a:lstStyle/>
                    <a:p>
                      <a:pPr algn="ctr"/>
                      <a:r>
                        <a:rPr lang="es-ES_tradnl" sz="1800" noProof="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tc>
                  <a:txBody>
                    <a:bodyPr/>
                    <a:lstStyle/>
                    <a:p>
                      <a:pPr algn="ctr"/>
                      <a:r>
                        <a:rPr lang="es-ES_tradnl" sz="1800" noProof="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extLst>
                  <a:ext uri="{0D108BD9-81ED-4DB2-BD59-A6C34878D82A}">
                    <a16:rowId xmlns:a16="http://schemas.microsoft.com/office/drawing/2014/main" val="10000"/>
                  </a:ext>
                </a:extLst>
              </a:tr>
              <a:tr h="370840">
                <a:tc>
                  <a:txBody>
                    <a:bodyPr/>
                    <a:lstStyle/>
                    <a:p>
                      <a:pPr algn="ctr"/>
                      <a:r>
                        <a:rPr lang="es-ES_tradnl" sz="1800" noProof="0" dirty="0">
                          <a:solidFill>
                            <a:schemeClr val="tx1"/>
                          </a:solidFill>
                        </a:rPr>
                        <a:t>Flujo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ES_tradnl" sz="1800" noProof="0" dirty="0">
                          <a:solidFill>
                            <a:schemeClr val="tx1"/>
                          </a:solidFill>
                        </a:rPr>
                        <a:t>-1.000.000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r>
                        <a:rPr lang="en-US" sz="1800" b="0" u="none" strike="noStrike" dirty="0">
                          <a:solidFill>
                            <a:schemeClr val="tx1"/>
                          </a:solidFill>
                          <a:effectLst/>
                        </a:rPr>
                        <a:t> 308.669 </a:t>
                      </a:r>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r>
                        <a:rPr lang="en-US" sz="1800" b="0" u="none" strike="noStrike" dirty="0">
                          <a:solidFill>
                            <a:schemeClr val="tx1"/>
                          </a:solidFill>
                          <a:effectLst/>
                        </a:rPr>
                        <a:t> 308.669 </a:t>
                      </a:r>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r>
                        <a:rPr lang="en-US" sz="1800" b="0" u="none" strike="noStrike" dirty="0">
                          <a:solidFill>
                            <a:schemeClr val="tx1"/>
                          </a:solidFill>
                          <a:effectLst/>
                        </a:rPr>
                        <a:t> 308.669 </a:t>
                      </a:r>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685800" rtl="0" eaLnBrk="1" fontAlgn="b" latinLnBrk="0" hangingPunct="1">
                        <a:lnSpc>
                          <a:spcPct val="100000"/>
                        </a:lnSpc>
                        <a:spcBef>
                          <a:spcPts val="0"/>
                        </a:spcBef>
                        <a:spcAft>
                          <a:spcPts val="0"/>
                        </a:spcAft>
                        <a:buClrTx/>
                        <a:buSzTx/>
                        <a:buFontTx/>
                        <a:buNone/>
                        <a:tabLst/>
                        <a:defRPr/>
                      </a:pPr>
                      <a:r>
                        <a:rPr lang="en-US" sz="1800" b="0" u="none" strike="noStrike" dirty="0">
                          <a:solidFill>
                            <a:schemeClr val="tx1"/>
                          </a:solidFill>
                          <a:effectLst/>
                        </a:rPr>
                        <a:t> 308.669 </a:t>
                      </a:r>
                      <a:endParaRPr lang="en-US" sz="1800" b="0" i="0" u="none" strike="noStrike" dirty="0">
                        <a:solidFill>
                          <a:schemeClr val="tx1"/>
                        </a:solidFill>
                        <a:effectLst/>
                        <a:latin typeface="+mn-lt"/>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70840">
                <a:tc>
                  <a:txBody>
                    <a:bodyPr/>
                    <a:lstStyle/>
                    <a:p>
                      <a:pPr algn="ctr"/>
                      <a:r>
                        <a:rPr lang="es-ES_tradnl" sz="1800" noProof="0" dirty="0">
                          <a:solidFill>
                            <a:schemeClr val="tx1"/>
                          </a:solidFill>
                        </a:rPr>
                        <a:t>Retorno (9%)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a:r>
                        <a:rPr lang="es-ES_tradnl" sz="1600" noProof="0" dirty="0">
                          <a:solidFill>
                            <a:schemeClr val="tx1"/>
                          </a:solidFill>
                        </a:rPr>
                        <a:t>NA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r>
                        <a:rPr lang="en-US" sz="1600" b="0" u="none" strike="noStrike" dirty="0">
                          <a:solidFill>
                            <a:schemeClr val="tx1"/>
                          </a:solidFill>
                          <a:effectLst/>
                        </a:rPr>
                        <a:t> 90.000 </a:t>
                      </a:r>
                      <a:endParaRPr lang="en-US" sz="16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marL="0" marR="0" lvl="0" indent="0" algn="ctr" defTabSz="685800" rtl="0" eaLnBrk="1" fontAlgn="b" latinLnBrk="0" hangingPunct="1">
                        <a:lnSpc>
                          <a:spcPct val="100000"/>
                        </a:lnSpc>
                        <a:spcBef>
                          <a:spcPts val="0"/>
                        </a:spcBef>
                        <a:spcAft>
                          <a:spcPts val="0"/>
                        </a:spcAft>
                        <a:buClrTx/>
                        <a:buSzTx/>
                        <a:buFontTx/>
                        <a:buNone/>
                        <a:tabLst/>
                        <a:defRPr/>
                      </a:pPr>
                      <a:endParaRPr lang="en-US" sz="1800" b="0" i="0" u="none" strike="noStrike" dirty="0">
                        <a:solidFill>
                          <a:schemeClr val="tx1"/>
                        </a:solidFill>
                        <a:effectLst/>
                        <a:latin typeface="+mn-lt"/>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extLst>
                  <a:ext uri="{0D108BD9-81ED-4DB2-BD59-A6C34878D82A}">
                    <a16:rowId xmlns:a16="http://schemas.microsoft.com/office/drawing/2014/main" val="10002"/>
                  </a:ext>
                </a:extLst>
              </a:tr>
              <a:tr h="370840">
                <a:tc>
                  <a:txBody>
                    <a:bodyPr/>
                    <a:lstStyle/>
                    <a:p>
                      <a:pPr algn="ctr"/>
                      <a:r>
                        <a:rPr lang="es-ES_tradnl" sz="1800" noProof="0" dirty="0">
                          <a:solidFill>
                            <a:schemeClr val="tx1"/>
                          </a:solidFill>
                        </a:rPr>
                        <a:t>Capital Retirado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ES_tradnl" sz="1600" noProof="0" dirty="0">
                          <a:solidFill>
                            <a:schemeClr val="tx1"/>
                          </a:solidFill>
                        </a:rPr>
                        <a:t>NA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r>
                        <a:rPr lang="en-US" sz="1600" b="0" u="none" strike="noStrike" dirty="0">
                          <a:solidFill>
                            <a:schemeClr val="tx1"/>
                          </a:solidFill>
                          <a:effectLst/>
                        </a:rPr>
                        <a:t> 218.669 </a:t>
                      </a:r>
                      <a:endParaRPr lang="en-US" sz="16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70840">
                <a:tc>
                  <a:txBody>
                    <a:bodyPr/>
                    <a:lstStyle/>
                    <a:p>
                      <a:pPr algn="ctr"/>
                      <a:r>
                        <a:rPr lang="es-ES_tradnl" sz="1800" noProof="0" dirty="0">
                          <a:solidFill>
                            <a:schemeClr val="tx1"/>
                          </a:solidFill>
                        </a:rPr>
                        <a:t>Saldo de Capital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a:r>
                        <a:rPr lang="es-ES_tradnl" sz="1600" noProof="0" dirty="0">
                          <a:solidFill>
                            <a:schemeClr val="tx1"/>
                          </a:solidFill>
                        </a:rPr>
                        <a:t>1.000.000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r>
                        <a:rPr lang="en-US" sz="1600" b="0" u="none" strike="noStrike" dirty="0">
                          <a:solidFill>
                            <a:schemeClr val="tx1"/>
                          </a:solidFill>
                          <a:effectLst/>
                        </a:rPr>
                        <a:t> 781.331 </a:t>
                      </a:r>
                      <a:endParaRPr lang="en-US" sz="16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extLst>
                  <a:ext uri="{0D108BD9-81ED-4DB2-BD59-A6C34878D82A}">
                    <a16:rowId xmlns:a16="http://schemas.microsoft.com/office/drawing/2014/main" val="10004"/>
                  </a:ext>
                </a:extLst>
              </a:tr>
            </a:tbl>
          </a:graphicData>
        </a:graphic>
      </p:graphicFrame>
      <p:cxnSp>
        <p:nvCxnSpPr>
          <p:cNvPr id="21" name="Straight Connector 20"/>
          <p:cNvCxnSpPr/>
          <p:nvPr/>
        </p:nvCxnSpPr>
        <p:spPr>
          <a:xfrm>
            <a:off x="7233983" y="3072845"/>
            <a:ext cx="3724993"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Arrow Connector 23"/>
          <p:cNvCxnSpPr/>
          <p:nvPr/>
        </p:nvCxnSpPr>
        <p:spPr>
          <a:xfrm>
            <a:off x="7233982" y="3072846"/>
            <a:ext cx="0" cy="843530"/>
          </a:xfrm>
          <a:prstGeom prst="straightConnector1">
            <a:avLst/>
          </a:prstGeom>
          <a:ln w="28575">
            <a:solidFill>
              <a:schemeClr val="accent3"/>
            </a:solidFill>
            <a:tailEnd type="arrow"/>
          </a:ln>
        </p:spPr>
        <p:style>
          <a:lnRef idx="2">
            <a:schemeClr val="accent1"/>
          </a:lnRef>
          <a:fillRef idx="0">
            <a:schemeClr val="accent1"/>
          </a:fillRef>
          <a:effectRef idx="1">
            <a:schemeClr val="accent1"/>
          </a:effectRef>
          <a:fontRef idx="minor">
            <a:schemeClr val="tx1"/>
          </a:fontRef>
        </p:style>
      </p:cxnSp>
      <p:sp>
        <p:nvSpPr>
          <p:cNvPr id="29" name="Rectangle 28"/>
          <p:cNvSpPr>
            <a:spLocks/>
          </p:cNvSpPr>
          <p:nvPr/>
        </p:nvSpPr>
        <p:spPr bwMode="auto">
          <a:xfrm>
            <a:off x="8725533" y="3165178"/>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2</a:t>
            </a:r>
          </a:p>
        </p:txBody>
      </p:sp>
      <p:sp>
        <p:nvSpPr>
          <p:cNvPr id="30" name="Rectangle 29"/>
          <p:cNvSpPr>
            <a:spLocks/>
          </p:cNvSpPr>
          <p:nvPr/>
        </p:nvSpPr>
        <p:spPr bwMode="auto">
          <a:xfrm>
            <a:off x="9814021" y="3165178"/>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3</a:t>
            </a:r>
          </a:p>
        </p:txBody>
      </p:sp>
      <p:sp>
        <p:nvSpPr>
          <p:cNvPr id="31" name="Rectangle 30"/>
          <p:cNvSpPr>
            <a:spLocks/>
          </p:cNvSpPr>
          <p:nvPr/>
        </p:nvSpPr>
        <p:spPr bwMode="auto">
          <a:xfrm>
            <a:off x="10736183" y="3179135"/>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4</a:t>
            </a:r>
          </a:p>
        </p:txBody>
      </p:sp>
      <p:sp>
        <p:nvSpPr>
          <p:cNvPr id="33" name="Rectangle 32"/>
          <p:cNvSpPr>
            <a:spLocks/>
          </p:cNvSpPr>
          <p:nvPr/>
        </p:nvSpPr>
        <p:spPr bwMode="auto">
          <a:xfrm>
            <a:off x="7762816" y="3179135"/>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1</a:t>
            </a:r>
          </a:p>
        </p:txBody>
      </p:sp>
      <p:sp>
        <p:nvSpPr>
          <p:cNvPr id="34" name="Rectangle 33"/>
          <p:cNvSpPr>
            <a:spLocks/>
          </p:cNvSpPr>
          <p:nvPr/>
        </p:nvSpPr>
        <p:spPr bwMode="auto">
          <a:xfrm>
            <a:off x="7621283" y="2766560"/>
            <a:ext cx="15659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90.000</a:t>
            </a:r>
          </a:p>
        </p:txBody>
      </p:sp>
      <p:cxnSp>
        <p:nvCxnSpPr>
          <p:cNvPr id="37" name="Straight Arrow Connector 36"/>
          <p:cNvCxnSpPr/>
          <p:nvPr/>
        </p:nvCxnSpPr>
        <p:spPr>
          <a:xfrm flipV="1">
            <a:off x="7945091" y="2236570"/>
            <a:ext cx="0" cy="524911"/>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47" name="Rectangle 46"/>
          <p:cNvSpPr>
            <a:spLocks/>
          </p:cNvSpPr>
          <p:nvPr/>
        </p:nvSpPr>
        <p:spPr bwMode="auto">
          <a:xfrm>
            <a:off x="7650547" y="2363348"/>
            <a:ext cx="15659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218.669</a:t>
            </a:r>
          </a:p>
        </p:txBody>
      </p:sp>
      <p:cxnSp>
        <p:nvCxnSpPr>
          <p:cNvPr id="61" name="Straight Arrow Connector 60">
            <a:extLst>
              <a:ext uri="{FF2B5EF4-FFF2-40B4-BE49-F238E27FC236}">
                <a16:creationId xmlns:a16="http://schemas.microsoft.com/office/drawing/2014/main" id="{04A271C1-F757-4613-8028-708E4A9E0322}"/>
              </a:ext>
            </a:extLst>
          </p:cNvPr>
          <p:cNvCxnSpPr/>
          <p:nvPr/>
        </p:nvCxnSpPr>
        <p:spPr>
          <a:xfrm flipV="1">
            <a:off x="7960786" y="2790763"/>
            <a:ext cx="0" cy="282084"/>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62" name="Straight Arrow Connector 61">
            <a:extLst>
              <a:ext uri="{FF2B5EF4-FFF2-40B4-BE49-F238E27FC236}">
                <a16:creationId xmlns:a16="http://schemas.microsoft.com/office/drawing/2014/main" id="{CA6CBECC-B5EB-4424-8F38-330A57296FC6}"/>
              </a:ext>
            </a:extLst>
          </p:cNvPr>
          <p:cNvCxnSpPr/>
          <p:nvPr/>
        </p:nvCxnSpPr>
        <p:spPr>
          <a:xfrm flipV="1">
            <a:off x="7949131" y="2236570"/>
            <a:ext cx="0" cy="524911"/>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32" name="Rectangle 31"/>
          <p:cNvSpPr>
            <a:spLocks/>
          </p:cNvSpPr>
          <p:nvPr/>
        </p:nvSpPr>
        <p:spPr bwMode="auto">
          <a:xfrm>
            <a:off x="6533944" y="4003217"/>
            <a:ext cx="156593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1.000.000</a:t>
            </a:r>
          </a:p>
        </p:txBody>
      </p:sp>
    </p:spTree>
    <p:extLst>
      <p:ext uri="{BB962C8B-B14F-4D97-AF65-F5344CB8AC3E}">
        <p14:creationId xmlns:p14="http://schemas.microsoft.com/office/powerpoint/2010/main" val="29968838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3896CD-9379-B406-402B-E305499E6584}"/>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5E03F7C-BB78-D1A5-7096-E80BDB914C78}"/>
              </a:ext>
            </a:extLst>
          </p:cNvPr>
          <p:cNvSpPr>
            <a:spLocks noGrp="1"/>
          </p:cNvSpPr>
          <p:nvPr>
            <p:ph type="sldNum" sz="quarter" idx="12"/>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E3E23BA-6E79-2442-BA73-D218A5E297C3}" type="slidenum">
              <a:rPr kumimoji="0" lang="en-US" sz="9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7</a:t>
            </a:fld>
            <a:endParaRPr kumimoji="0" lang="en-US" sz="9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5" name="Straight Connector 4">
            <a:extLst>
              <a:ext uri="{FF2B5EF4-FFF2-40B4-BE49-F238E27FC236}">
                <a16:creationId xmlns:a16="http://schemas.microsoft.com/office/drawing/2014/main" id="{D69A0E35-E4F5-BC1C-C842-9027102ABD6D}"/>
              </a:ext>
            </a:extLst>
          </p:cNvPr>
          <p:cNvCxnSpPr/>
          <p:nvPr/>
        </p:nvCxnSpPr>
        <p:spPr>
          <a:xfrm>
            <a:off x="1089317" y="3111610"/>
            <a:ext cx="3835793" cy="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EE374AFA-4201-895A-7215-72DEE772D8C5}"/>
              </a:ext>
            </a:extLst>
          </p:cNvPr>
          <p:cNvCxnSpPr/>
          <p:nvPr/>
        </p:nvCxnSpPr>
        <p:spPr>
          <a:xfrm flipV="1">
            <a:off x="4897359" y="2652883"/>
            <a:ext cx="0" cy="458728"/>
          </a:xfrm>
          <a:prstGeom prst="straightConnector1">
            <a:avLst/>
          </a:prstGeom>
          <a:ln>
            <a:tailEnd type="arrow"/>
          </a:ln>
        </p:spPr>
        <p:style>
          <a:lnRef idx="3">
            <a:schemeClr val="accent2"/>
          </a:lnRef>
          <a:fillRef idx="0">
            <a:schemeClr val="accent2"/>
          </a:fillRef>
          <a:effectRef idx="2">
            <a:schemeClr val="accent2"/>
          </a:effectRef>
          <a:fontRef idx="minor">
            <a:schemeClr val="tx1"/>
          </a:fontRef>
        </p:style>
      </p:cxnSp>
      <p:sp>
        <p:nvSpPr>
          <p:cNvPr id="10" name="Rectangle 9">
            <a:extLst>
              <a:ext uri="{FF2B5EF4-FFF2-40B4-BE49-F238E27FC236}">
                <a16:creationId xmlns:a16="http://schemas.microsoft.com/office/drawing/2014/main" id="{B5472E6C-4A4C-FA78-CD64-76F0FA3025E8}"/>
              </a:ext>
            </a:extLst>
          </p:cNvPr>
          <p:cNvSpPr>
            <a:spLocks/>
          </p:cNvSpPr>
          <p:nvPr/>
        </p:nvSpPr>
        <p:spPr bwMode="auto">
          <a:xfrm flipH="1">
            <a:off x="1003715" y="2737612"/>
            <a:ext cx="13172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0</a:t>
            </a:r>
          </a:p>
        </p:txBody>
      </p:sp>
      <p:sp>
        <p:nvSpPr>
          <p:cNvPr id="11" name="Rectangle 10">
            <a:extLst>
              <a:ext uri="{FF2B5EF4-FFF2-40B4-BE49-F238E27FC236}">
                <a16:creationId xmlns:a16="http://schemas.microsoft.com/office/drawing/2014/main" id="{40DBC0A7-7753-223D-D40C-FCC082F4F451}"/>
              </a:ext>
            </a:extLst>
          </p:cNvPr>
          <p:cNvSpPr>
            <a:spLocks/>
          </p:cNvSpPr>
          <p:nvPr/>
        </p:nvSpPr>
        <p:spPr bwMode="auto">
          <a:xfrm>
            <a:off x="2580867" y="3203942"/>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2</a:t>
            </a:r>
          </a:p>
        </p:txBody>
      </p:sp>
      <p:sp>
        <p:nvSpPr>
          <p:cNvPr id="12" name="Rectangle 11">
            <a:extLst>
              <a:ext uri="{FF2B5EF4-FFF2-40B4-BE49-F238E27FC236}">
                <a16:creationId xmlns:a16="http://schemas.microsoft.com/office/drawing/2014/main" id="{404586F3-10CF-6DBD-FFFE-27EDB1D79D61}"/>
              </a:ext>
            </a:extLst>
          </p:cNvPr>
          <p:cNvSpPr>
            <a:spLocks/>
          </p:cNvSpPr>
          <p:nvPr/>
        </p:nvSpPr>
        <p:spPr bwMode="auto">
          <a:xfrm>
            <a:off x="3669355" y="3203942"/>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3</a:t>
            </a:r>
          </a:p>
        </p:txBody>
      </p:sp>
      <p:sp>
        <p:nvSpPr>
          <p:cNvPr id="13" name="Rectangle 12">
            <a:extLst>
              <a:ext uri="{FF2B5EF4-FFF2-40B4-BE49-F238E27FC236}">
                <a16:creationId xmlns:a16="http://schemas.microsoft.com/office/drawing/2014/main" id="{BF6D7AC4-C82B-CEB3-8C65-A96077A62736}"/>
              </a:ext>
            </a:extLst>
          </p:cNvPr>
          <p:cNvSpPr>
            <a:spLocks/>
          </p:cNvSpPr>
          <p:nvPr/>
        </p:nvSpPr>
        <p:spPr bwMode="auto">
          <a:xfrm>
            <a:off x="4728829" y="3217899"/>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4</a:t>
            </a:r>
          </a:p>
        </p:txBody>
      </p:sp>
      <p:sp>
        <p:nvSpPr>
          <p:cNvPr id="15" name="Rectangle 14">
            <a:extLst>
              <a:ext uri="{FF2B5EF4-FFF2-40B4-BE49-F238E27FC236}">
                <a16:creationId xmlns:a16="http://schemas.microsoft.com/office/drawing/2014/main" id="{1910B922-D462-BEE3-7B6C-B53A02692A8A}"/>
              </a:ext>
            </a:extLst>
          </p:cNvPr>
          <p:cNvSpPr>
            <a:spLocks/>
          </p:cNvSpPr>
          <p:nvPr/>
        </p:nvSpPr>
        <p:spPr bwMode="auto">
          <a:xfrm>
            <a:off x="581192" y="3976941"/>
            <a:ext cx="15659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1.000.000</a:t>
            </a:r>
          </a:p>
        </p:txBody>
      </p:sp>
      <p:sp>
        <p:nvSpPr>
          <p:cNvPr id="16" name="Rectangle 15">
            <a:extLst>
              <a:ext uri="{FF2B5EF4-FFF2-40B4-BE49-F238E27FC236}">
                <a16:creationId xmlns:a16="http://schemas.microsoft.com/office/drawing/2014/main" id="{4B99AA82-8D38-4E2F-68DB-0F60DD272FF0}"/>
              </a:ext>
            </a:extLst>
          </p:cNvPr>
          <p:cNvSpPr>
            <a:spLocks/>
          </p:cNvSpPr>
          <p:nvPr/>
        </p:nvSpPr>
        <p:spPr bwMode="auto">
          <a:xfrm>
            <a:off x="1618150" y="3217899"/>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1</a:t>
            </a:r>
          </a:p>
        </p:txBody>
      </p:sp>
      <p:sp>
        <p:nvSpPr>
          <p:cNvPr id="19" name="Rectangle 18">
            <a:extLst>
              <a:ext uri="{FF2B5EF4-FFF2-40B4-BE49-F238E27FC236}">
                <a16:creationId xmlns:a16="http://schemas.microsoft.com/office/drawing/2014/main" id="{6D3E406D-0EF9-504A-796C-9CA0123B248D}"/>
              </a:ext>
            </a:extLst>
          </p:cNvPr>
          <p:cNvSpPr>
            <a:spLocks/>
          </p:cNvSpPr>
          <p:nvPr/>
        </p:nvSpPr>
        <p:spPr bwMode="auto">
          <a:xfrm>
            <a:off x="2580867" y="1925420"/>
            <a:ext cx="15659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308.668,7</a:t>
            </a:r>
          </a:p>
        </p:txBody>
      </p:sp>
      <p:cxnSp>
        <p:nvCxnSpPr>
          <p:cNvPr id="53" name="Straight Connector 52">
            <a:extLst>
              <a:ext uri="{FF2B5EF4-FFF2-40B4-BE49-F238E27FC236}">
                <a16:creationId xmlns:a16="http://schemas.microsoft.com/office/drawing/2014/main" id="{773A8F20-2E9A-12F0-F153-E0F98B8C227C}"/>
              </a:ext>
            </a:extLst>
          </p:cNvPr>
          <p:cNvCxnSpPr/>
          <p:nvPr/>
        </p:nvCxnSpPr>
        <p:spPr>
          <a:xfrm>
            <a:off x="1118757" y="3111610"/>
            <a:ext cx="3835793" cy="1"/>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068AD7D1-0F44-7856-BAF8-E380FEE5895D}"/>
              </a:ext>
            </a:extLst>
          </p:cNvPr>
          <p:cNvCxnSpPr/>
          <p:nvPr/>
        </p:nvCxnSpPr>
        <p:spPr>
          <a:xfrm>
            <a:off x="1088276" y="3111610"/>
            <a:ext cx="0" cy="843530"/>
          </a:xfrm>
          <a:prstGeom prst="straightConnector1">
            <a:avLst/>
          </a:prstGeom>
          <a:ln w="28575">
            <a:solidFill>
              <a:schemeClr val="accent3"/>
            </a:solidFill>
            <a:tailEnd type="arrow"/>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7668F25B-7665-0286-2C46-A845F44304E2}"/>
              </a:ext>
            </a:extLst>
          </p:cNvPr>
          <p:cNvCxnSpPr/>
          <p:nvPr/>
        </p:nvCxnSpPr>
        <p:spPr>
          <a:xfrm flipV="1">
            <a:off x="2793896" y="2652883"/>
            <a:ext cx="0" cy="458726"/>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CCD373C5-2ED3-AD0C-F130-F93CF6BA987B}"/>
              </a:ext>
            </a:extLst>
          </p:cNvPr>
          <p:cNvCxnSpPr/>
          <p:nvPr/>
        </p:nvCxnSpPr>
        <p:spPr>
          <a:xfrm flipV="1">
            <a:off x="3867325" y="2652884"/>
            <a:ext cx="0" cy="458727"/>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5BF5FD67-3B91-CF69-A601-2A2B5DA7873A}"/>
              </a:ext>
            </a:extLst>
          </p:cNvPr>
          <p:cNvCxnSpPr/>
          <p:nvPr/>
        </p:nvCxnSpPr>
        <p:spPr>
          <a:xfrm flipV="1">
            <a:off x="4899633" y="2637343"/>
            <a:ext cx="0" cy="458728"/>
          </a:xfrm>
          <a:prstGeom prst="straightConnector1">
            <a:avLst/>
          </a:prstGeom>
          <a:ln w="28575">
            <a:tailEnd type="arrow"/>
          </a:ln>
        </p:spPr>
        <p:style>
          <a:lnRef idx="3">
            <a:schemeClr val="accent2"/>
          </a:lnRef>
          <a:fillRef idx="0">
            <a:schemeClr val="accent2"/>
          </a:fillRef>
          <a:effectRef idx="2">
            <a:schemeClr val="accent2"/>
          </a:effectRef>
          <a:fontRef idx="minor">
            <a:schemeClr val="tx1"/>
          </a:fontRef>
        </p:style>
      </p:cxnSp>
      <p:cxnSp>
        <p:nvCxnSpPr>
          <p:cNvPr id="58" name="Straight Arrow Connector 57">
            <a:extLst>
              <a:ext uri="{FF2B5EF4-FFF2-40B4-BE49-F238E27FC236}">
                <a16:creationId xmlns:a16="http://schemas.microsoft.com/office/drawing/2014/main" id="{052BA03E-6E2A-72E7-33AA-9320464EBBC7}"/>
              </a:ext>
            </a:extLst>
          </p:cNvPr>
          <p:cNvCxnSpPr/>
          <p:nvPr/>
        </p:nvCxnSpPr>
        <p:spPr>
          <a:xfrm flipV="1">
            <a:off x="1816120" y="2652885"/>
            <a:ext cx="0" cy="458726"/>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59" name="Left Brace 58">
            <a:extLst>
              <a:ext uri="{FF2B5EF4-FFF2-40B4-BE49-F238E27FC236}">
                <a16:creationId xmlns:a16="http://schemas.microsoft.com/office/drawing/2014/main" id="{8BC40A9E-3889-57F8-FCBE-C93C78CB55CE}"/>
              </a:ext>
            </a:extLst>
          </p:cNvPr>
          <p:cNvSpPr/>
          <p:nvPr/>
        </p:nvSpPr>
        <p:spPr>
          <a:xfrm rot="5400000">
            <a:off x="3101633" y="875281"/>
            <a:ext cx="519331" cy="3447739"/>
          </a:xfrm>
          <a:prstGeom prst="leftBrace">
            <a:avLst/>
          </a:prstGeom>
          <a:ln w="28575"/>
        </p:spPr>
        <p:style>
          <a:lnRef idx="2">
            <a:schemeClr val="accent1"/>
          </a:lnRef>
          <a:fillRef idx="0">
            <a:schemeClr val="accent1"/>
          </a:fillRef>
          <a:effectRef idx="1">
            <a:schemeClr val="accent1"/>
          </a:effectRef>
          <a:fontRef idx="minor">
            <a:schemeClr val="tx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Rectángulo 2">
            <a:extLst>
              <a:ext uri="{FF2B5EF4-FFF2-40B4-BE49-F238E27FC236}">
                <a16:creationId xmlns:a16="http://schemas.microsoft.com/office/drawing/2014/main" id="{7141F7E1-0188-26EA-9FF2-F9D2C16F1DF2}"/>
              </a:ext>
            </a:extLst>
          </p:cNvPr>
          <p:cNvSpPr/>
          <p:nvPr/>
        </p:nvSpPr>
        <p:spPr>
          <a:xfrm>
            <a:off x="1415434" y="118110"/>
            <a:ext cx="2781532" cy="261610"/>
          </a:xfrm>
          <a:prstGeom prst="rect">
            <a:avLst/>
          </a:prstGeom>
        </p:spPr>
        <p:txBody>
          <a:bodyPr wrap="none">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s-CO" sz="1100" b="1" i="0" u="none" strike="noStrike" kern="1200" cap="none" spc="0" normalizeH="0" baseline="0" noProof="0">
                <a:ln>
                  <a:noFill/>
                </a:ln>
                <a:solidFill>
                  <a:srgbClr val="8CB64A">
                    <a:lumMod val="50000"/>
                  </a:srgbClr>
                </a:solidFill>
                <a:effectLst/>
                <a:uLnTx/>
                <a:uFillTx/>
                <a:latin typeface="Century Gothic" panose="020B0502020202020204" pitchFamily="34" charset="0"/>
                <a:ea typeface="+mn-ea"/>
                <a:cs typeface="+mn-cs"/>
                <a:sym typeface="Gill Sans Light"/>
              </a:rPr>
              <a:t>Departamento de Ingeniería Industrial</a:t>
            </a:r>
            <a:endParaRPr kumimoji="0" lang="es-CO" sz="1100" b="1" i="0" u="none" strike="noStrike" kern="1200" cap="none" spc="0" normalizeH="0" baseline="0" noProof="0">
              <a:ln>
                <a:noFill/>
              </a:ln>
              <a:solidFill>
                <a:srgbClr val="8CB64A">
                  <a:lumMod val="50000"/>
                </a:srgbClr>
              </a:solidFill>
              <a:effectLst/>
              <a:uLnTx/>
              <a:uFillTx/>
              <a:latin typeface="Century Gothic" panose="020B0502020202020204" pitchFamily="34" charset="0"/>
              <a:ea typeface="+mn-ea"/>
              <a:cs typeface="+mn-cs"/>
            </a:endParaRPr>
          </a:p>
        </p:txBody>
      </p:sp>
      <p:pic>
        <p:nvPicPr>
          <p:cNvPr id="6" name="Picture 2" descr="Clientes y aliados | Centro de Evaluación | Uniandes">
            <a:extLst>
              <a:ext uri="{FF2B5EF4-FFF2-40B4-BE49-F238E27FC236}">
                <a16:creationId xmlns:a16="http://schemas.microsoft.com/office/drawing/2014/main" id="{C7DA1517-37DE-E42C-AE1B-494960CC3C7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F32DCD43-8244-1FF4-C370-97239D256B61}"/>
              </a:ext>
            </a:extLst>
          </p:cNvPr>
          <p:cNvSpPr/>
          <p:nvPr/>
        </p:nvSpPr>
        <p:spPr>
          <a:xfrm>
            <a:off x="8399257" y="118110"/>
            <a:ext cx="3150778" cy="261610"/>
          </a:xfrm>
          <a:prstGeom prst="rect">
            <a:avLst/>
          </a:prstGeom>
        </p:spPr>
        <p:txBody>
          <a:bodyPr wrap="square">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s-CO" sz="1100" b="1" i="0" u="none" strike="noStrike" kern="1200" cap="none" spc="0" normalizeH="0" baseline="0" noProof="0" dirty="0">
                <a:ln>
                  <a:noFill/>
                </a:ln>
                <a:solidFill>
                  <a:srgbClr val="8CB64A">
                    <a:lumMod val="50000"/>
                  </a:srgbClr>
                </a:solidFill>
                <a:effectLst/>
                <a:uLnTx/>
                <a:uFillTx/>
                <a:latin typeface="Century Gothic" panose="020B0502020202020204" pitchFamily="34" charset="0"/>
                <a:ea typeface="+mn-ea"/>
                <a:cs typeface="+mn-cs"/>
                <a:sym typeface="Gill Sans Light"/>
              </a:rPr>
              <a:t>Curso</a:t>
            </a:r>
            <a:r>
              <a:rPr kumimoji="0" lang="es-CO" sz="1100" b="0" i="0" u="none" strike="noStrike" kern="1200" cap="none" spc="0" normalizeH="0" baseline="0" noProof="0" dirty="0">
                <a:ln>
                  <a:noFill/>
                </a:ln>
                <a:solidFill>
                  <a:srgbClr val="8CB64A">
                    <a:lumMod val="50000"/>
                  </a:srgbClr>
                </a:solidFill>
                <a:effectLst/>
                <a:uLnTx/>
                <a:uFillTx/>
                <a:latin typeface="Century Gothic" panose="020B0502020202020204" pitchFamily="34" charset="0"/>
                <a:ea typeface="+mn-ea"/>
                <a:cs typeface="+mn-cs"/>
                <a:sym typeface="Gill Sans Light"/>
              </a:rPr>
              <a:t> Análisis de Decisiones de Inversión</a:t>
            </a:r>
            <a:endParaRPr kumimoji="0" lang="es-CO" sz="1100" b="0" i="0" u="none" strike="noStrike" kern="1200" cap="none" spc="0" normalizeH="0" baseline="0" noProof="0" dirty="0">
              <a:ln>
                <a:noFill/>
              </a:ln>
              <a:solidFill>
                <a:srgbClr val="8CB64A">
                  <a:lumMod val="50000"/>
                </a:srgbClr>
              </a:solidFill>
              <a:effectLst/>
              <a:uLnTx/>
              <a:uFillTx/>
              <a:latin typeface="Century Gothic" panose="020B0502020202020204" pitchFamily="34" charset="0"/>
              <a:ea typeface="+mn-ea"/>
              <a:cs typeface="+mn-cs"/>
            </a:endParaRPr>
          </a:p>
        </p:txBody>
      </p:sp>
      <p:sp>
        <p:nvSpPr>
          <p:cNvPr id="8" name="Título 1">
            <a:extLst>
              <a:ext uri="{FF2B5EF4-FFF2-40B4-BE49-F238E27FC236}">
                <a16:creationId xmlns:a16="http://schemas.microsoft.com/office/drawing/2014/main" id="{E4C930A0-578F-0552-3F9B-C90E96E2F8E9}"/>
              </a:ext>
            </a:extLst>
          </p:cNvPr>
          <p:cNvSpPr>
            <a:spLocks noGrp="1"/>
          </p:cNvSpPr>
          <p:nvPr>
            <p:ph type="title"/>
          </p:nvPr>
        </p:nvSpPr>
        <p:spPr>
          <a:xfrm>
            <a:off x="581192" y="702156"/>
            <a:ext cx="11029616" cy="1013800"/>
          </a:xfrm>
        </p:spPr>
        <p:txBody>
          <a:bodyPr>
            <a:normAutofit/>
          </a:bodyPr>
          <a:lstStyle/>
          <a:p>
            <a:r>
              <a:rPr lang="es-CO" sz="3200" dirty="0">
                <a:latin typeface="Century Gothic" panose="020B0502020202020204" pitchFamily="34" charset="0"/>
              </a:rPr>
              <a:t>TIR</a:t>
            </a:r>
          </a:p>
        </p:txBody>
      </p:sp>
      <p:graphicFrame>
        <p:nvGraphicFramePr>
          <p:cNvPr id="14" name="Table 16">
            <a:extLst>
              <a:ext uri="{FF2B5EF4-FFF2-40B4-BE49-F238E27FC236}">
                <a16:creationId xmlns:a16="http://schemas.microsoft.com/office/drawing/2014/main" id="{B3911330-6061-23E6-90AC-47A058D2E0F5}"/>
              </a:ext>
            </a:extLst>
          </p:cNvPr>
          <p:cNvGraphicFramePr>
            <a:graphicFrameLocks noGrp="1"/>
          </p:cNvGraphicFramePr>
          <p:nvPr/>
        </p:nvGraphicFramePr>
        <p:xfrm>
          <a:off x="696000" y="4443703"/>
          <a:ext cx="10800000" cy="1854200"/>
        </p:xfrm>
        <a:graphic>
          <a:graphicData uri="http://schemas.openxmlformats.org/drawingml/2006/table">
            <a:tbl>
              <a:tblPr firstRow="1" bandRow="1">
                <a:tableStyleId>{AF606853-7671-496A-8E4F-DF71F8EC918B}</a:tableStyleId>
              </a:tblPr>
              <a:tblGrid>
                <a:gridCol w="1800000">
                  <a:extLst>
                    <a:ext uri="{9D8B030D-6E8A-4147-A177-3AD203B41FA5}">
                      <a16:colId xmlns:a16="http://schemas.microsoft.com/office/drawing/2014/main" val="20000"/>
                    </a:ext>
                  </a:extLst>
                </a:gridCol>
                <a:gridCol w="1800000">
                  <a:extLst>
                    <a:ext uri="{9D8B030D-6E8A-4147-A177-3AD203B41FA5}">
                      <a16:colId xmlns:a16="http://schemas.microsoft.com/office/drawing/2014/main" val="20001"/>
                    </a:ext>
                  </a:extLst>
                </a:gridCol>
                <a:gridCol w="1800000">
                  <a:extLst>
                    <a:ext uri="{9D8B030D-6E8A-4147-A177-3AD203B41FA5}">
                      <a16:colId xmlns:a16="http://schemas.microsoft.com/office/drawing/2014/main" val="20002"/>
                    </a:ext>
                  </a:extLst>
                </a:gridCol>
                <a:gridCol w="1800000">
                  <a:extLst>
                    <a:ext uri="{9D8B030D-6E8A-4147-A177-3AD203B41FA5}">
                      <a16:colId xmlns:a16="http://schemas.microsoft.com/office/drawing/2014/main" val="20003"/>
                    </a:ext>
                  </a:extLst>
                </a:gridCol>
                <a:gridCol w="1800000">
                  <a:extLst>
                    <a:ext uri="{9D8B030D-6E8A-4147-A177-3AD203B41FA5}">
                      <a16:colId xmlns:a16="http://schemas.microsoft.com/office/drawing/2014/main" val="20004"/>
                    </a:ext>
                  </a:extLst>
                </a:gridCol>
                <a:gridCol w="1800000">
                  <a:extLst>
                    <a:ext uri="{9D8B030D-6E8A-4147-A177-3AD203B41FA5}">
                      <a16:colId xmlns:a16="http://schemas.microsoft.com/office/drawing/2014/main" val="20005"/>
                    </a:ext>
                  </a:extLst>
                </a:gridCol>
              </a:tblGrid>
              <a:tr h="370840">
                <a:tc>
                  <a:txBody>
                    <a:bodyPr/>
                    <a:lstStyle/>
                    <a:p>
                      <a:pPr algn="ctr"/>
                      <a:endParaRPr lang="es-ES_tradnl" sz="1800"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tc>
                  <a:txBody>
                    <a:bodyPr/>
                    <a:lstStyle/>
                    <a:p>
                      <a:pPr algn="ctr"/>
                      <a:r>
                        <a:rPr lang="es-ES_tradnl" sz="1800" noProof="0"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tc>
                  <a:txBody>
                    <a:bodyPr/>
                    <a:lstStyle/>
                    <a:p>
                      <a:pPr algn="ctr"/>
                      <a:r>
                        <a:rPr lang="es-ES_tradnl" sz="1800" noProof="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tc>
                  <a:txBody>
                    <a:bodyPr/>
                    <a:lstStyle/>
                    <a:p>
                      <a:pPr algn="ctr"/>
                      <a:r>
                        <a:rPr lang="es-ES_tradnl" sz="1800" noProof="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tc>
                  <a:txBody>
                    <a:bodyPr/>
                    <a:lstStyle/>
                    <a:p>
                      <a:pPr algn="ctr"/>
                      <a:r>
                        <a:rPr lang="es-ES_tradnl" sz="1800" noProof="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tc>
                  <a:txBody>
                    <a:bodyPr/>
                    <a:lstStyle/>
                    <a:p>
                      <a:pPr algn="ctr"/>
                      <a:r>
                        <a:rPr lang="es-ES_tradnl" sz="1800" noProof="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extLst>
                  <a:ext uri="{0D108BD9-81ED-4DB2-BD59-A6C34878D82A}">
                    <a16:rowId xmlns:a16="http://schemas.microsoft.com/office/drawing/2014/main" val="10000"/>
                  </a:ext>
                </a:extLst>
              </a:tr>
              <a:tr h="370840">
                <a:tc>
                  <a:txBody>
                    <a:bodyPr/>
                    <a:lstStyle/>
                    <a:p>
                      <a:pPr algn="ctr"/>
                      <a:r>
                        <a:rPr lang="es-ES_tradnl" sz="1800" noProof="0" dirty="0">
                          <a:solidFill>
                            <a:schemeClr val="tx1"/>
                          </a:solidFill>
                        </a:rPr>
                        <a:t>Flujo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ES_tradnl" sz="1800" noProof="0" dirty="0">
                          <a:solidFill>
                            <a:schemeClr val="tx1"/>
                          </a:solidFill>
                        </a:rPr>
                        <a:t>-1.000.000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r>
                        <a:rPr lang="en-US" sz="1800" b="0" u="none" strike="noStrike" dirty="0">
                          <a:solidFill>
                            <a:schemeClr val="tx1"/>
                          </a:solidFill>
                          <a:effectLst/>
                        </a:rPr>
                        <a:t> 308.669 </a:t>
                      </a:r>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r>
                        <a:rPr lang="en-US" sz="1800" b="0" u="none" strike="noStrike" dirty="0">
                          <a:solidFill>
                            <a:schemeClr val="tx1"/>
                          </a:solidFill>
                          <a:effectLst/>
                        </a:rPr>
                        <a:t> 308.669 </a:t>
                      </a:r>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r>
                        <a:rPr lang="en-US" sz="1800" b="0" u="none" strike="noStrike" dirty="0">
                          <a:solidFill>
                            <a:schemeClr val="tx1"/>
                          </a:solidFill>
                          <a:effectLst/>
                        </a:rPr>
                        <a:t> 308.669 </a:t>
                      </a:r>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685800" rtl="0" eaLnBrk="1" fontAlgn="b" latinLnBrk="0" hangingPunct="1">
                        <a:lnSpc>
                          <a:spcPct val="100000"/>
                        </a:lnSpc>
                        <a:spcBef>
                          <a:spcPts val="0"/>
                        </a:spcBef>
                        <a:spcAft>
                          <a:spcPts val="0"/>
                        </a:spcAft>
                        <a:buClrTx/>
                        <a:buSzTx/>
                        <a:buFontTx/>
                        <a:buNone/>
                        <a:tabLst/>
                        <a:defRPr/>
                      </a:pPr>
                      <a:r>
                        <a:rPr lang="en-US" sz="1800" b="0" u="none" strike="noStrike" dirty="0">
                          <a:solidFill>
                            <a:schemeClr val="tx1"/>
                          </a:solidFill>
                          <a:effectLst/>
                        </a:rPr>
                        <a:t> 308.669 </a:t>
                      </a:r>
                      <a:endParaRPr lang="en-US" sz="1800" b="0" i="0" u="none" strike="noStrike" dirty="0">
                        <a:solidFill>
                          <a:schemeClr val="tx1"/>
                        </a:solidFill>
                        <a:effectLst/>
                        <a:latin typeface="+mn-lt"/>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70840">
                <a:tc>
                  <a:txBody>
                    <a:bodyPr/>
                    <a:lstStyle/>
                    <a:p>
                      <a:pPr algn="ctr"/>
                      <a:r>
                        <a:rPr lang="es-ES_tradnl" sz="1800" noProof="0" dirty="0">
                          <a:solidFill>
                            <a:schemeClr val="tx1"/>
                          </a:solidFill>
                        </a:rPr>
                        <a:t>Retorno (9%)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a:r>
                        <a:rPr lang="es-ES_tradnl" sz="1600" noProof="0" dirty="0">
                          <a:solidFill>
                            <a:schemeClr val="tx1"/>
                          </a:solidFill>
                        </a:rPr>
                        <a:t>NA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r>
                        <a:rPr lang="en-US" sz="1600" b="0" u="none" strike="noStrike" dirty="0">
                          <a:solidFill>
                            <a:schemeClr val="tx1"/>
                          </a:solidFill>
                          <a:effectLst/>
                        </a:rPr>
                        <a:t> 90.000 </a:t>
                      </a:r>
                      <a:endParaRPr lang="en-US" sz="16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r>
                        <a:rPr lang="en-US" sz="1600" b="0" u="none" strike="noStrike" dirty="0">
                          <a:solidFill>
                            <a:schemeClr val="tx1"/>
                          </a:solidFill>
                          <a:effectLst/>
                        </a:rPr>
                        <a:t> 70.320 </a:t>
                      </a:r>
                      <a:endParaRPr lang="en-US" sz="16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extLst>
                  <a:ext uri="{0D108BD9-81ED-4DB2-BD59-A6C34878D82A}">
                    <a16:rowId xmlns:a16="http://schemas.microsoft.com/office/drawing/2014/main" val="10002"/>
                  </a:ext>
                </a:extLst>
              </a:tr>
              <a:tr h="370840">
                <a:tc>
                  <a:txBody>
                    <a:bodyPr/>
                    <a:lstStyle/>
                    <a:p>
                      <a:pPr algn="ctr"/>
                      <a:r>
                        <a:rPr lang="es-ES_tradnl" sz="1800" noProof="0" dirty="0">
                          <a:solidFill>
                            <a:schemeClr val="tx1"/>
                          </a:solidFill>
                        </a:rPr>
                        <a:t>Capital Retirado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ES_tradnl" sz="1600" noProof="0" dirty="0">
                          <a:solidFill>
                            <a:schemeClr val="tx1"/>
                          </a:solidFill>
                        </a:rPr>
                        <a:t>NA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r>
                        <a:rPr lang="en-US" sz="1600" b="0" u="none" strike="noStrike" dirty="0">
                          <a:solidFill>
                            <a:schemeClr val="tx1"/>
                          </a:solidFill>
                          <a:effectLst/>
                        </a:rPr>
                        <a:t> 218.669 </a:t>
                      </a:r>
                      <a:endParaRPr lang="en-US" sz="16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r>
                        <a:rPr lang="en-US" sz="1600" b="0" u="none" strike="noStrike" dirty="0">
                          <a:solidFill>
                            <a:schemeClr val="tx1"/>
                          </a:solidFill>
                          <a:effectLst/>
                        </a:rPr>
                        <a:t> 238.349 </a:t>
                      </a:r>
                      <a:endParaRPr lang="en-US" sz="16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70840">
                <a:tc>
                  <a:txBody>
                    <a:bodyPr/>
                    <a:lstStyle/>
                    <a:p>
                      <a:pPr algn="ctr"/>
                      <a:r>
                        <a:rPr lang="es-ES_tradnl" sz="1800" noProof="0" dirty="0">
                          <a:solidFill>
                            <a:schemeClr val="tx1"/>
                          </a:solidFill>
                        </a:rPr>
                        <a:t>Saldo de Capital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a:r>
                        <a:rPr lang="es-ES_tradnl" sz="1600" noProof="0" dirty="0">
                          <a:solidFill>
                            <a:schemeClr val="tx1"/>
                          </a:solidFill>
                        </a:rPr>
                        <a:t>1.000.000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r>
                        <a:rPr lang="en-US" sz="1600" b="0" u="none" strike="noStrike" dirty="0">
                          <a:solidFill>
                            <a:schemeClr val="tx1"/>
                          </a:solidFill>
                          <a:effectLst/>
                        </a:rPr>
                        <a:t> 781.331 </a:t>
                      </a:r>
                      <a:endParaRPr lang="en-US" sz="16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r>
                        <a:rPr lang="en-US" sz="1600" b="0" u="none" strike="noStrike" dirty="0">
                          <a:solidFill>
                            <a:schemeClr val="tx1"/>
                          </a:solidFill>
                          <a:effectLst/>
                        </a:rPr>
                        <a:t> 542.983 </a:t>
                      </a:r>
                      <a:endParaRPr lang="en-US" sz="16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extLst>
                  <a:ext uri="{0D108BD9-81ED-4DB2-BD59-A6C34878D82A}">
                    <a16:rowId xmlns:a16="http://schemas.microsoft.com/office/drawing/2014/main" val="10004"/>
                  </a:ext>
                </a:extLst>
              </a:tr>
            </a:tbl>
          </a:graphicData>
        </a:graphic>
      </p:graphicFrame>
      <p:cxnSp>
        <p:nvCxnSpPr>
          <p:cNvPr id="21" name="Straight Connector 20">
            <a:extLst>
              <a:ext uri="{FF2B5EF4-FFF2-40B4-BE49-F238E27FC236}">
                <a16:creationId xmlns:a16="http://schemas.microsoft.com/office/drawing/2014/main" id="{E1A77068-A0A9-9AC0-86B9-CDDC6B03E21D}"/>
              </a:ext>
            </a:extLst>
          </p:cNvPr>
          <p:cNvCxnSpPr/>
          <p:nvPr/>
        </p:nvCxnSpPr>
        <p:spPr>
          <a:xfrm>
            <a:off x="7233983" y="3072845"/>
            <a:ext cx="3724993"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7F2D7386-8C71-940C-ABD0-7A33E3B9C5D7}"/>
              </a:ext>
            </a:extLst>
          </p:cNvPr>
          <p:cNvCxnSpPr/>
          <p:nvPr/>
        </p:nvCxnSpPr>
        <p:spPr>
          <a:xfrm>
            <a:off x="7233982" y="3072846"/>
            <a:ext cx="0" cy="843530"/>
          </a:xfrm>
          <a:prstGeom prst="straightConnector1">
            <a:avLst/>
          </a:prstGeom>
          <a:ln w="28575">
            <a:solidFill>
              <a:schemeClr val="accent3"/>
            </a:solidFill>
            <a:tailEnd type="arrow"/>
          </a:ln>
        </p:spPr>
        <p:style>
          <a:lnRef idx="2">
            <a:schemeClr val="accent1"/>
          </a:lnRef>
          <a:fillRef idx="0">
            <a:schemeClr val="accent1"/>
          </a:fillRef>
          <a:effectRef idx="1">
            <a:schemeClr val="accent1"/>
          </a:effectRef>
          <a:fontRef idx="minor">
            <a:schemeClr val="tx1"/>
          </a:fontRef>
        </p:style>
      </p:cxnSp>
      <p:sp>
        <p:nvSpPr>
          <p:cNvPr id="29" name="Rectangle 28">
            <a:extLst>
              <a:ext uri="{FF2B5EF4-FFF2-40B4-BE49-F238E27FC236}">
                <a16:creationId xmlns:a16="http://schemas.microsoft.com/office/drawing/2014/main" id="{475D93B4-43D8-CE5D-F5D2-A53B487A00D6}"/>
              </a:ext>
            </a:extLst>
          </p:cNvPr>
          <p:cNvSpPr>
            <a:spLocks/>
          </p:cNvSpPr>
          <p:nvPr/>
        </p:nvSpPr>
        <p:spPr bwMode="auto">
          <a:xfrm>
            <a:off x="8725533" y="3165178"/>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2</a:t>
            </a:r>
          </a:p>
        </p:txBody>
      </p:sp>
      <p:sp>
        <p:nvSpPr>
          <p:cNvPr id="30" name="Rectangle 29">
            <a:extLst>
              <a:ext uri="{FF2B5EF4-FFF2-40B4-BE49-F238E27FC236}">
                <a16:creationId xmlns:a16="http://schemas.microsoft.com/office/drawing/2014/main" id="{2792B039-D133-6EBE-1286-9099DD1E27ED}"/>
              </a:ext>
            </a:extLst>
          </p:cNvPr>
          <p:cNvSpPr>
            <a:spLocks/>
          </p:cNvSpPr>
          <p:nvPr/>
        </p:nvSpPr>
        <p:spPr bwMode="auto">
          <a:xfrm>
            <a:off x="9814021" y="3165178"/>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3</a:t>
            </a:r>
          </a:p>
        </p:txBody>
      </p:sp>
      <p:sp>
        <p:nvSpPr>
          <p:cNvPr id="31" name="Rectangle 30">
            <a:extLst>
              <a:ext uri="{FF2B5EF4-FFF2-40B4-BE49-F238E27FC236}">
                <a16:creationId xmlns:a16="http://schemas.microsoft.com/office/drawing/2014/main" id="{A9D5DC9D-3D90-FDB3-2ABA-7862A37CD7AA}"/>
              </a:ext>
            </a:extLst>
          </p:cNvPr>
          <p:cNvSpPr>
            <a:spLocks/>
          </p:cNvSpPr>
          <p:nvPr/>
        </p:nvSpPr>
        <p:spPr bwMode="auto">
          <a:xfrm>
            <a:off x="10736183" y="3179135"/>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4</a:t>
            </a:r>
          </a:p>
        </p:txBody>
      </p:sp>
      <p:sp>
        <p:nvSpPr>
          <p:cNvPr id="33" name="Rectangle 32">
            <a:extLst>
              <a:ext uri="{FF2B5EF4-FFF2-40B4-BE49-F238E27FC236}">
                <a16:creationId xmlns:a16="http://schemas.microsoft.com/office/drawing/2014/main" id="{5F14F927-8102-85A5-B7B2-FF211560013F}"/>
              </a:ext>
            </a:extLst>
          </p:cNvPr>
          <p:cNvSpPr>
            <a:spLocks/>
          </p:cNvSpPr>
          <p:nvPr/>
        </p:nvSpPr>
        <p:spPr bwMode="auto">
          <a:xfrm>
            <a:off x="7762816" y="3179135"/>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1</a:t>
            </a:r>
          </a:p>
        </p:txBody>
      </p:sp>
      <p:sp>
        <p:nvSpPr>
          <p:cNvPr id="34" name="Rectangle 33">
            <a:extLst>
              <a:ext uri="{FF2B5EF4-FFF2-40B4-BE49-F238E27FC236}">
                <a16:creationId xmlns:a16="http://schemas.microsoft.com/office/drawing/2014/main" id="{3671EF61-FE8D-EACF-D766-FEF89F55FBD8}"/>
              </a:ext>
            </a:extLst>
          </p:cNvPr>
          <p:cNvSpPr>
            <a:spLocks/>
          </p:cNvSpPr>
          <p:nvPr/>
        </p:nvSpPr>
        <p:spPr bwMode="auto">
          <a:xfrm>
            <a:off x="7621283" y="2766560"/>
            <a:ext cx="15659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90.000</a:t>
            </a:r>
          </a:p>
        </p:txBody>
      </p:sp>
      <p:cxnSp>
        <p:nvCxnSpPr>
          <p:cNvPr id="37" name="Straight Arrow Connector 36">
            <a:extLst>
              <a:ext uri="{FF2B5EF4-FFF2-40B4-BE49-F238E27FC236}">
                <a16:creationId xmlns:a16="http://schemas.microsoft.com/office/drawing/2014/main" id="{3DE3E496-6481-93DC-FFCE-B8D0CBC01974}"/>
              </a:ext>
            </a:extLst>
          </p:cNvPr>
          <p:cNvCxnSpPr/>
          <p:nvPr/>
        </p:nvCxnSpPr>
        <p:spPr>
          <a:xfrm flipV="1">
            <a:off x="7945091" y="2236570"/>
            <a:ext cx="0" cy="524911"/>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AC3001BE-0913-0D98-A373-DDCB8BBDC143}"/>
              </a:ext>
            </a:extLst>
          </p:cNvPr>
          <p:cNvSpPr>
            <a:spLocks/>
          </p:cNvSpPr>
          <p:nvPr/>
        </p:nvSpPr>
        <p:spPr bwMode="auto">
          <a:xfrm>
            <a:off x="7650547" y="2363348"/>
            <a:ext cx="15659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218.669</a:t>
            </a:r>
          </a:p>
        </p:txBody>
      </p:sp>
      <p:cxnSp>
        <p:nvCxnSpPr>
          <p:cNvPr id="61" name="Straight Arrow Connector 60">
            <a:extLst>
              <a:ext uri="{FF2B5EF4-FFF2-40B4-BE49-F238E27FC236}">
                <a16:creationId xmlns:a16="http://schemas.microsoft.com/office/drawing/2014/main" id="{B37A4C7E-8C31-1C34-1398-0B4DE53444BF}"/>
              </a:ext>
            </a:extLst>
          </p:cNvPr>
          <p:cNvCxnSpPr/>
          <p:nvPr/>
        </p:nvCxnSpPr>
        <p:spPr>
          <a:xfrm flipV="1">
            <a:off x="7960786" y="2790763"/>
            <a:ext cx="0" cy="282084"/>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62" name="Straight Arrow Connector 61">
            <a:extLst>
              <a:ext uri="{FF2B5EF4-FFF2-40B4-BE49-F238E27FC236}">
                <a16:creationId xmlns:a16="http://schemas.microsoft.com/office/drawing/2014/main" id="{E32F9897-1C92-E101-8D2B-B5FDC0F81982}"/>
              </a:ext>
            </a:extLst>
          </p:cNvPr>
          <p:cNvCxnSpPr/>
          <p:nvPr/>
        </p:nvCxnSpPr>
        <p:spPr>
          <a:xfrm flipV="1">
            <a:off x="7949131" y="2236570"/>
            <a:ext cx="0" cy="524911"/>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BFB8A3F3-8C6D-7911-4E60-9FDD414B505D}"/>
              </a:ext>
            </a:extLst>
          </p:cNvPr>
          <p:cNvSpPr>
            <a:spLocks/>
          </p:cNvSpPr>
          <p:nvPr/>
        </p:nvSpPr>
        <p:spPr bwMode="auto">
          <a:xfrm>
            <a:off x="6533944" y="4003217"/>
            <a:ext cx="156593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1.000.000</a:t>
            </a:r>
          </a:p>
        </p:txBody>
      </p:sp>
      <p:sp>
        <p:nvSpPr>
          <p:cNvPr id="2" name="Rectangle 44">
            <a:extLst>
              <a:ext uri="{FF2B5EF4-FFF2-40B4-BE49-F238E27FC236}">
                <a16:creationId xmlns:a16="http://schemas.microsoft.com/office/drawing/2014/main" id="{96BA8AF6-834C-9A29-A17F-07207EED6213}"/>
              </a:ext>
            </a:extLst>
          </p:cNvPr>
          <p:cNvSpPr>
            <a:spLocks/>
          </p:cNvSpPr>
          <p:nvPr/>
        </p:nvSpPr>
        <p:spPr bwMode="auto">
          <a:xfrm>
            <a:off x="8563247" y="2792604"/>
            <a:ext cx="156593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70.320</a:t>
            </a:r>
          </a:p>
        </p:txBody>
      </p:sp>
      <p:sp>
        <p:nvSpPr>
          <p:cNvPr id="17" name="Rectangle 47">
            <a:extLst>
              <a:ext uri="{FF2B5EF4-FFF2-40B4-BE49-F238E27FC236}">
                <a16:creationId xmlns:a16="http://schemas.microsoft.com/office/drawing/2014/main" id="{6C6C45FE-C77A-06B3-308C-1232A1B93D12}"/>
              </a:ext>
            </a:extLst>
          </p:cNvPr>
          <p:cNvSpPr>
            <a:spLocks/>
          </p:cNvSpPr>
          <p:nvPr/>
        </p:nvSpPr>
        <p:spPr bwMode="auto">
          <a:xfrm>
            <a:off x="8573920" y="2376822"/>
            <a:ext cx="156593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238.349</a:t>
            </a:r>
          </a:p>
        </p:txBody>
      </p:sp>
      <p:cxnSp>
        <p:nvCxnSpPr>
          <p:cNvPr id="18" name="Straight Arrow Connector 62">
            <a:extLst>
              <a:ext uri="{FF2B5EF4-FFF2-40B4-BE49-F238E27FC236}">
                <a16:creationId xmlns:a16="http://schemas.microsoft.com/office/drawing/2014/main" id="{DAEC074D-EB6D-5C83-3EA9-5B7667053093}"/>
              </a:ext>
            </a:extLst>
          </p:cNvPr>
          <p:cNvCxnSpPr/>
          <p:nvPr/>
        </p:nvCxnSpPr>
        <p:spPr>
          <a:xfrm flipV="1">
            <a:off x="8880324" y="2776148"/>
            <a:ext cx="0" cy="282084"/>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20" name="Straight Arrow Connector 63">
            <a:extLst>
              <a:ext uri="{FF2B5EF4-FFF2-40B4-BE49-F238E27FC236}">
                <a16:creationId xmlns:a16="http://schemas.microsoft.com/office/drawing/2014/main" id="{F38F1906-DB73-A546-09E9-F91D524C398F}"/>
              </a:ext>
            </a:extLst>
          </p:cNvPr>
          <p:cNvCxnSpPr/>
          <p:nvPr/>
        </p:nvCxnSpPr>
        <p:spPr>
          <a:xfrm flipV="1">
            <a:off x="8894069" y="2221955"/>
            <a:ext cx="0" cy="524911"/>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112138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F44F06-E4B6-6BD3-6CE7-63D89F26322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C2C35F4-9BDF-589E-3C49-EC9582F7055D}"/>
              </a:ext>
            </a:extLst>
          </p:cNvPr>
          <p:cNvSpPr>
            <a:spLocks noGrp="1"/>
          </p:cNvSpPr>
          <p:nvPr>
            <p:ph type="sldNum" sz="quarter" idx="12"/>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E3E23BA-6E79-2442-BA73-D218A5E297C3}" type="slidenum">
              <a:rPr kumimoji="0" lang="en-US" sz="9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8</a:t>
            </a:fld>
            <a:endParaRPr kumimoji="0" lang="en-US" sz="9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5" name="Straight Connector 4">
            <a:extLst>
              <a:ext uri="{FF2B5EF4-FFF2-40B4-BE49-F238E27FC236}">
                <a16:creationId xmlns:a16="http://schemas.microsoft.com/office/drawing/2014/main" id="{7EFA6ABF-3476-627D-938E-5BB97B52E71D}"/>
              </a:ext>
            </a:extLst>
          </p:cNvPr>
          <p:cNvCxnSpPr/>
          <p:nvPr/>
        </p:nvCxnSpPr>
        <p:spPr>
          <a:xfrm>
            <a:off x="1089317" y="3111610"/>
            <a:ext cx="3835793" cy="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B8A43D40-4AAF-C731-B510-6D1B72F7CC74}"/>
              </a:ext>
            </a:extLst>
          </p:cNvPr>
          <p:cNvCxnSpPr/>
          <p:nvPr/>
        </p:nvCxnSpPr>
        <p:spPr>
          <a:xfrm flipV="1">
            <a:off x="4897359" y="2652883"/>
            <a:ext cx="0" cy="458728"/>
          </a:xfrm>
          <a:prstGeom prst="straightConnector1">
            <a:avLst/>
          </a:prstGeom>
          <a:ln>
            <a:tailEnd type="arrow"/>
          </a:ln>
        </p:spPr>
        <p:style>
          <a:lnRef idx="3">
            <a:schemeClr val="accent2"/>
          </a:lnRef>
          <a:fillRef idx="0">
            <a:schemeClr val="accent2"/>
          </a:fillRef>
          <a:effectRef idx="2">
            <a:schemeClr val="accent2"/>
          </a:effectRef>
          <a:fontRef idx="minor">
            <a:schemeClr val="tx1"/>
          </a:fontRef>
        </p:style>
      </p:cxnSp>
      <p:sp>
        <p:nvSpPr>
          <p:cNvPr id="10" name="Rectangle 9">
            <a:extLst>
              <a:ext uri="{FF2B5EF4-FFF2-40B4-BE49-F238E27FC236}">
                <a16:creationId xmlns:a16="http://schemas.microsoft.com/office/drawing/2014/main" id="{1135BA8E-C496-6193-13E6-C2810D765196}"/>
              </a:ext>
            </a:extLst>
          </p:cNvPr>
          <p:cNvSpPr>
            <a:spLocks/>
          </p:cNvSpPr>
          <p:nvPr/>
        </p:nvSpPr>
        <p:spPr bwMode="auto">
          <a:xfrm flipH="1">
            <a:off x="1003715" y="2737612"/>
            <a:ext cx="13172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0</a:t>
            </a:r>
          </a:p>
        </p:txBody>
      </p:sp>
      <p:sp>
        <p:nvSpPr>
          <p:cNvPr id="11" name="Rectangle 10">
            <a:extLst>
              <a:ext uri="{FF2B5EF4-FFF2-40B4-BE49-F238E27FC236}">
                <a16:creationId xmlns:a16="http://schemas.microsoft.com/office/drawing/2014/main" id="{505E624E-3F13-EF4F-9FD5-5929CCB6EF57}"/>
              </a:ext>
            </a:extLst>
          </p:cNvPr>
          <p:cNvSpPr>
            <a:spLocks/>
          </p:cNvSpPr>
          <p:nvPr/>
        </p:nvSpPr>
        <p:spPr bwMode="auto">
          <a:xfrm>
            <a:off x="2580867" y="3203942"/>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2</a:t>
            </a:r>
          </a:p>
        </p:txBody>
      </p:sp>
      <p:sp>
        <p:nvSpPr>
          <p:cNvPr id="12" name="Rectangle 11">
            <a:extLst>
              <a:ext uri="{FF2B5EF4-FFF2-40B4-BE49-F238E27FC236}">
                <a16:creationId xmlns:a16="http://schemas.microsoft.com/office/drawing/2014/main" id="{6F9F2570-2318-BBCC-BAEF-838BF6710560}"/>
              </a:ext>
            </a:extLst>
          </p:cNvPr>
          <p:cNvSpPr>
            <a:spLocks/>
          </p:cNvSpPr>
          <p:nvPr/>
        </p:nvSpPr>
        <p:spPr bwMode="auto">
          <a:xfrm>
            <a:off x="3669355" y="3203942"/>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3</a:t>
            </a:r>
          </a:p>
        </p:txBody>
      </p:sp>
      <p:sp>
        <p:nvSpPr>
          <p:cNvPr id="13" name="Rectangle 12">
            <a:extLst>
              <a:ext uri="{FF2B5EF4-FFF2-40B4-BE49-F238E27FC236}">
                <a16:creationId xmlns:a16="http://schemas.microsoft.com/office/drawing/2014/main" id="{79A58F92-DB7A-7C7B-9A6F-3547208A40CC}"/>
              </a:ext>
            </a:extLst>
          </p:cNvPr>
          <p:cNvSpPr>
            <a:spLocks/>
          </p:cNvSpPr>
          <p:nvPr/>
        </p:nvSpPr>
        <p:spPr bwMode="auto">
          <a:xfrm>
            <a:off x="4728829" y="3217899"/>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4</a:t>
            </a:r>
          </a:p>
        </p:txBody>
      </p:sp>
      <p:sp>
        <p:nvSpPr>
          <p:cNvPr id="15" name="Rectangle 14">
            <a:extLst>
              <a:ext uri="{FF2B5EF4-FFF2-40B4-BE49-F238E27FC236}">
                <a16:creationId xmlns:a16="http://schemas.microsoft.com/office/drawing/2014/main" id="{21F664AD-748B-34CF-67FB-929E5700F75B}"/>
              </a:ext>
            </a:extLst>
          </p:cNvPr>
          <p:cNvSpPr>
            <a:spLocks/>
          </p:cNvSpPr>
          <p:nvPr/>
        </p:nvSpPr>
        <p:spPr bwMode="auto">
          <a:xfrm>
            <a:off x="581192" y="3976941"/>
            <a:ext cx="15659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1.000.000</a:t>
            </a:r>
          </a:p>
        </p:txBody>
      </p:sp>
      <p:sp>
        <p:nvSpPr>
          <p:cNvPr id="16" name="Rectangle 15">
            <a:extLst>
              <a:ext uri="{FF2B5EF4-FFF2-40B4-BE49-F238E27FC236}">
                <a16:creationId xmlns:a16="http://schemas.microsoft.com/office/drawing/2014/main" id="{5E03BB24-C414-491C-220B-103E64A26D2F}"/>
              </a:ext>
            </a:extLst>
          </p:cNvPr>
          <p:cNvSpPr>
            <a:spLocks/>
          </p:cNvSpPr>
          <p:nvPr/>
        </p:nvSpPr>
        <p:spPr bwMode="auto">
          <a:xfrm>
            <a:off x="1618150" y="3217899"/>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1</a:t>
            </a:r>
          </a:p>
        </p:txBody>
      </p:sp>
      <p:sp>
        <p:nvSpPr>
          <p:cNvPr id="19" name="Rectangle 18">
            <a:extLst>
              <a:ext uri="{FF2B5EF4-FFF2-40B4-BE49-F238E27FC236}">
                <a16:creationId xmlns:a16="http://schemas.microsoft.com/office/drawing/2014/main" id="{A9820EF2-CAAA-6725-3E1D-4CE6182BA6F0}"/>
              </a:ext>
            </a:extLst>
          </p:cNvPr>
          <p:cNvSpPr>
            <a:spLocks/>
          </p:cNvSpPr>
          <p:nvPr/>
        </p:nvSpPr>
        <p:spPr bwMode="auto">
          <a:xfrm>
            <a:off x="2580867" y="1925420"/>
            <a:ext cx="15659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308.668,7</a:t>
            </a:r>
          </a:p>
        </p:txBody>
      </p:sp>
      <p:cxnSp>
        <p:nvCxnSpPr>
          <p:cNvPr id="53" name="Straight Connector 52">
            <a:extLst>
              <a:ext uri="{FF2B5EF4-FFF2-40B4-BE49-F238E27FC236}">
                <a16:creationId xmlns:a16="http://schemas.microsoft.com/office/drawing/2014/main" id="{21C99621-E40D-F06D-847B-FC83202EE93A}"/>
              </a:ext>
            </a:extLst>
          </p:cNvPr>
          <p:cNvCxnSpPr/>
          <p:nvPr/>
        </p:nvCxnSpPr>
        <p:spPr>
          <a:xfrm>
            <a:off x="1118757" y="3111610"/>
            <a:ext cx="3835793" cy="1"/>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E8BADCB0-E413-9BEE-9A4D-6033DEFC6DB6}"/>
              </a:ext>
            </a:extLst>
          </p:cNvPr>
          <p:cNvCxnSpPr/>
          <p:nvPr/>
        </p:nvCxnSpPr>
        <p:spPr>
          <a:xfrm>
            <a:off x="1088276" y="3111610"/>
            <a:ext cx="0" cy="843530"/>
          </a:xfrm>
          <a:prstGeom prst="straightConnector1">
            <a:avLst/>
          </a:prstGeom>
          <a:ln w="28575">
            <a:solidFill>
              <a:schemeClr val="accent3"/>
            </a:solidFill>
            <a:tailEnd type="arrow"/>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E2FCDBB6-34BF-94DC-448A-FCD1F99B87F9}"/>
              </a:ext>
            </a:extLst>
          </p:cNvPr>
          <p:cNvCxnSpPr/>
          <p:nvPr/>
        </p:nvCxnSpPr>
        <p:spPr>
          <a:xfrm flipV="1">
            <a:off x="2793896" y="2652883"/>
            <a:ext cx="0" cy="458726"/>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BAC53373-9D34-BE23-A575-81BA30A3C294}"/>
              </a:ext>
            </a:extLst>
          </p:cNvPr>
          <p:cNvCxnSpPr/>
          <p:nvPr/>
        </p:nvCxnSpPr>
        <p:spPr>
          <a:xfrm flipV="1">
            <a:off x="3867325" y="2652884"/>
            <a:ext cx="0" cy="458727"/>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6034976B-9F93-9900-49AA-2BA77B663080}"/>
              </a:ext>
            </a:extLst>
          </p:cNvPr>
          <p:cNvCxnSpPr/>
          <p:nvPr/>
        </p:nvCxnSpPr>
        <p:spPr>
          <a:xfrm flipV="1">
            <a:off x="4899633" y="2637343"/>
            <a:ext cx="0" cy="458728"/>
          </a:xfrm>
          <a:prstGeom prst="straightConnector1">
            <a:avLst/>
          </a:prstGeom>
          <a:ln w="28575">
            <a:tailEnd type="arrow"/>
          </a:ln>
        </p:spPr>
        <p:style>
          <a:lnRef idx="3">
            <a:schemeClr val="accent2"/>
          </a:lnRef>
          <a:fillRef idx="0">
            <a:schemeClr val="accent2"/>
          </a:fillRef>
          <a:effectRef idx="2">
            <a:schemeClr val="accent2"/>
          </a:effectRef>
          <a:fontRef idx="minor">
            <a:schemeClr val="tx1"/>
          </a:fontRef>
        </p:style>
      </p:cxnSp>
      <p:cxnSp>
        <p:nvCxnSpPr>
          <p:cNvPr id="58" name="Straight Arrow Connector 57">
            <a:extLst>
              <a:ext uri="{FF2B5EF4-FFF2-40B4-BE49-F238E27FC236}">
                <a16:creationId xmlns:a16="http://schemas.microsoft.com/office/drawing/2014/main" id="{B7E83DEB-2EB7-4769-9575-09B8F8DCE495}"/>
              </a:ext>
            </a:extLst>
          </p:cNvPr>
          <p:cNvCxnSpPr/>
          <p:nvPr/>
        </p:nvCxnSpPr>
        <p:spPr>
          <a:xfrm flipV="1">
            <a:off x="1816120" y="2652885"/>
            <a:ext cx="0" cy="458726"/>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59" name="Left Brace 58">
            <a:extLst>
              <a:ext uri="{FF2B5EF4-FFF2-40B4-BE49-F238E27FC236}">
                <a16:creationId xmlns:a16="http://schemas.microsoft.com/office/drawing/2014/main" id="{16FED3A4-3AC3-D002-6936-DB5CF0586FB8}"/>
              </a:ext>
            </a:extLst>
          </p:cNvPr>
          <p:cNvSpPr/>
          <p:nvPr/>
        </p:nvSpPr>
        <p:spPr>
          <a:xfrm rot="5400000">
            <a:off x="3101633" y="875281"/>
            <a:ext cx="519331" cy="3447739"/>
          </a:xfrm>
          <a:prstGeom prst="leftBrace">
            <a:avLst/>
          </a:prstGeom>
          <a:ln w="28575"/>
        </p:spPr>
        <p:style>
          <a:lnRef idx="2">
            <a:schemeClr val="accent1"/>
          </a:lnRef>
          <a:fillRef idx="0">
            <a:schemeClr val="accent1"/>
          </a:fillRef>
          <a:effectRef idx="1">
            <a:schemeClr val="accent1"/>
          </a:effectRef>
          <a:fontRef idx="minor">
            <a:schemeClr val="tx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Rectángulo 2">
            <a:extLst>
              <a:ext uri="{FF2B5EF4-FFF2-40B4-BE49-F238E27FC236}">
                <a16:creationId xmlns:a16="http://schemas.microsoft.com/office/drawing/2014/main" id="{711C954F-4002-DFD0-4124-4D6E62A093D0}"/>
              </a:ext>
            </a:extLst>
          </p:cNvPr>
          <p:cNvSpPr/>
          <p:nvPr/>
        </p:nvSpPr>
        <p:spPr>
          <a:xfrm>
            <a:off x="1415434" y="118110"/>
            <a:ext cx="2781532" cy="261610"/>
          </a:xfrm>
          <a:prstGeom prst="rect">
            <a:avLst/>
          </a:prstGeom>
        </p:spPr>
        <p:txBody>
          <a:bodyPr wrap="none">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s-CO" sz="1100" b="1" i="0" u="none" strike="noStrike" kern="1200" cap="none" spc="0" normalizeH="0" baseline="0" noProof="0">
                <a:ln>
                  <a:noFill/>
                </a:ln>
                <a:solidFill>
                  <a:srgbClr val="8CB64A">
                    <a:lumMod val="50000"/>
                  </a:srgbClr>
                </a:solidFill>
                <a:effectLst/>
                <a:uLnTx/>
                <a:uFillTx/>
                <a:latin typeface="Century Gothic" panose="020B0502020202020204" pitchFamily="34" charset="0"/>
                <a:ea typeface="+mn-ea"/>
                <a:cs typeface="+mn-cs"/>
                <a:sym typeface="Gill Sans Light"/>
              </a:rPr>
              <a:t>Departamento de Ingeniería Industrial</a:t>
            </a:r>
            <a:endParaRPr kumimoji="0" lang="es-CO" sz="1100" b="1" i="0" u="none" strike="noStrike" kern="1200" cap="none" spc="0" normalizeH="0" baseline="0" noProof="0">
              <a:ln>
                <a:noFill/>
              </a:ln>
              <a:solidFill>
                <a:srgbClr val="8CB64A">
                  <a:lumMod val="50000"/>
                </a:srgbClr>
              </a:solidFill>
              <a:effectLst/>
              <a:uLnTx/>
              <a:uFillTx/>
              <a:latin typeface="Century Gothic" panose="020B0502020202020204" pitchFamily="34" charset="0"/>
              <a:ea typeface="+mn-ea"/>
              <a:cs typeface="+mn-cs"/>
            </a:endParaRPr>
          </a:p>
        </p:txBody>
      </p:sp>
      <p:pic>
        <p:nvPicPr>
          <p:cNvPr id="6" name="Picture 2" descr="Clientes y aliados | Centro de Evaluación | Uniandes">
            <a:extLst>
              <a:ext uri="{FF2B5EF4-FFF2-40B4-BE49-F238E27FC236}">
                <a16:creationId xmlns:a16="http://schemas.microsoft.com/office/drawing/2014/main" id="{8028569E-4C84-541F-7BDB-CF942E169F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B1C54B34-E221-F577-1D9A-8DEB3D260C02}"/>
              </a:ext>
            </a:extLst>
          </p:cNvPr>
          <p:cNvSpPr/>
          <p:nvPr/>
        </p:nvSpPr>
        <p:spPr>
          <a:xfrm>
            <a:off x="8399257" y="118110"/>
            <a:ext cx="3150778" cy="261610"/>
          </a:xfrm>
          <a:prstGeom prst="rect">
            <a:avLst/>
          </a:prstGeom>
        </p:spPr>
        <p:txBody>
          <a:bodyPr wrap="square">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s-CO" sz="1100" b="1" i="0" u="none" strike="noStrike" kern="1200" cap="none" spc="0" normalizeH="0" baseline="0" noProof="0" dirty="0">
                <a:ln>
                  <a:noFill/>
                </a:ln>
                <a:solidFill>
                  <a:srgbClr val="8CB64A">
                    <a:lumMod val="50000"/>
                  </a:srgbClr>
                </a:solidFill>
                <a:effectLst/>
                <a:uLnTx/>
                <a:uFillTx/>
                <a:latin typeface="Century Gothic" panose="020B0502020202020204" pitchFamily="34" charset="0"/>
                <a:ea typeface="+mn-ea"/>
                <a:cs typeface="+mn-cs"/>
                <a:sym typeface="Gill Sans Light"/>
              </a:rPr>
              <a:t>Curso</a:t>
            </a:r>
            <a:r>
              <a:rPr kumimoji="0" lang="es-CO" sz="1100" b="0" i="0" u="none" strike="noStrike" kern="1200" cap="none" spc="0" normalizeH="0" baseline="0" noProof="0" dirty="0">
                <a:ln>
                  <a:noFill/>
                </a:ln>
                <a:solidFill>
                  <a:srgbClr val="8CB64A">
                    <a:lumMod val="50000"/>
                  </a:srgbClr>
                </a:solidFill>
                <a:effectLst/>
                <a:uLnTx/>
                <a:uFillTx/>
                <a:latin typeface="Century Gothic" panose="020B0502020202020204" pitchFamily="34" charset="0"/>
                <a:ea typeface="+mn-ea"/>
                <a:cs typeface="+mn-cs"/>
                <a:sym typeface="Gill Sans Light"/>
              </a:rPr>
              <a:t> Análisis de Decisiones de Inversión</a:t>
            </a:r>
            <a:endParaRPr kumimoji="0" lang="es-CO" sz="1100" b="0" i="0" u="none" strike="noStrike" kern="1200" cap="none" spc="0" normalizeH="0" baseline="0" noProof="0" dirty="0">
              <a:ln>
                <a:noFill/>
              </a:ln>
              <a:solidFill>
                <a:srgbClr val="8CB64A">
                  <a:lumMod val="50000"/>
                </a:srgbClr>
              </a:solidFill>
              <a:effectLst/>
              <a:uLnTx/>
              <a:uFillTx/>
              <a:latin typeface="Century Gothic" panose="020B0502020202020204" pitchFamily="34" charset="0"/>
              <a:ea typeface="+mn-ea"/>
              <a:cs typeface="+mn-cs"/>
            </a:endParaRPr>
          </a:p>
        </p:txBody>
      </p:sp>
      <p:sp>
        <p:nvSpPr>
          <p:cNvPr id="8" name="Título 1">
            <a:extLst>
              <a:ext uri="{FF2B5EF4-FFF2-40B4-BE49-F238E27FC236}">
                <a16:creationId xmlns:a16="http://schemas.microsoft.com/office/drawing/2014/main" id="{EA9404F5-FE42-EC3E-CA1C-8156FFA5AA42}"/>
              </a:ext>
            </a:extLst>
          </p:cNvPr>
          <p:cNvSpPr>
            <a:spLocks noGrp="1"/>
          </p:cNvSpPr>
          <p:nvPr>
            <p:ph type="title"/>
          </p:nvPr>
        </p:nvSpPr>
        <p:spPr>
          <a:xfrm>
            <a:off x="581192" y="702156"/>
            <a:ext cx="11029616" cy="1013800"/>
          </a:xfrm>
        </p:spPr>
        <p:txBody>
          <a:bodyPr>
            <a:normAutofit/>
          </a:bodyPr>
          <a:lstStyle/>
          <a:p>
            <a:r>
              <a:rPr lang="es-CO" sz="3200" dirty="0">
                <a:latin typeface="Century Gothic" panose="020B0502020202020204" pitchFamily="34" charset="0"/>
              </a:rPr>
              <a:t>TIR</a:t>
            </a:r>
          </a:p>
        </p:txBody>
      </p:sp>
      <p:graphicFrame>
        <p:nvGraphicFramePr>
          <p:cNvPr id="14" name="Table 16">
            <a:extLst>
              <a:ext uri="{FF2B5EF4-FFF2-40B4-BE49-F238E27FC236}">
                <a16:creationId xmlns:a16="http://schemas.microsoft.com/office/drawing/2014/main" id="{208686F9-7BDE-852D-EA99-7821704FA859}"/>
              </a:ext>
            </a:extLst>
          </p:cNvPr>
          <p:cNvGraphicFramePr>
            <a:graphicFrameLocks noGrp="1"/>
          </p:cNvGraphicFramePr>
          <p:nvPr/>
        </p:nvGraphicFramePr>
        <p:xfrm>
          <a:off x="696000" y="4443703"/>
          <a:ext cx="10800000" cy="1854200"/>
        </p:xfrm>
        <a:graphic>
          <a:graphicData uri="http://schemas.openxmlformats.org/drawingml/2006/table">
            <a:tbl>
              <a:tblPr firstRow="1" bandRow="1">
                <a:tableStyleId>{AF606853-7671-496A-8E4F-DF71F8EC918B}</a:tableStyleId>
              </a:tblPr>
              <a:tblGrid>
                <a:gridCol w="1800000">
                  <a:extLst>
                    <a:ext uri="{9D8B030D-6E8A-4147-A177-3AD203B41FA5}">
                      <a16:colId xmlns:a16="http://schemas.microsoft.com/office/drawing/2014/main" val="20000"/>
                    </a:ext>
                  </a:extLst>
                </a:gridCol>
                <a:gridCol w="1800000">
                  <a:extLst>
                    <a:ext uri="{9D8B030D-6E8A-4147-A177-3AD203B41FA5}">
                      <a16:colId xmlns:a16="http://schemas.microsoft.com/office/drawing/2014/main" val="20001"/>
                    </a:ext>
                  </a:extLst>
                </a:gridCol>
                <a:gridCol w="1800000">
                  <a:extLst>
                    <a:ext uri="{9D8B030D-6E8A-4147-A177-3AD203B41FA5}">
                      <a16:colId xmlns:a16="http://schemas.microsoft.com/office/drawing/2014/main" val="20002"/>
                    </a:ext>
                  </a:extLst>
                </a:gridCol>
                <a:gridCol w="1800000">
                  <a:extLst>
                    <a:ext uri="{9D8B030D-6E8A-4147-A177-3AD203B41FA5}">
                      <a16:colId xmlns:a16="http://schemas.microsoft.com/office/drawing/2014/main" val="20003"/>
                    </a:ext>
                  </a:extLst>
                </a:gridCol>
                <a:gridCol w="1800000">
                  <a:extLst>
                    <a:ext uri="{9D8B030D-6E8A-4147-A177-3AD203B41FA5}">
                      <a16:colId xmlns:a16="http://schemas.microsoft.com/office/drawing/2014/main" val="20004"/>
                    </a:ext>
                  </a:extLst>
                </a:gridCol>
                <a:gridCol w="1800000">
                  <a:extLst>
                    <a:ext uri="{9D8B030D-6E8A-4147-A177-3AD203B41FA5}">
                      <a16:colId xmlns:a16="http://schemas.microsoft.com/office/drawing/2014/main" val="20005"/>
                    </a:ext>
                  </a:extLst>
                </a:gridCol>
              </a:tblGrid>
              <a:tr h="370840">
                <a:tc>
                  <a:txBody>
                    <a:bodyPr/>
                    <a:lstStyle/>
                    <a:p>
                      <a:pPr algn="ctr"/>
                      <a:endParaRPr lang="es-ES_tradnl" sz="1800"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tc>
                  <a:txBody>
                    <a:bodyPr/>
                    <a:lstStyle/>
                    <a:p>
                      <a:pPr algn="ctr"/>
                      <a:r>
                        <a:rPr lang="es-ES_tradnl" sz="1800" noProof="0"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tc>
                  <a:txBody>
                    <a:bodyPr/>
                    <a:lstStyle/>
                    <a:p>
                      <a:pPr algn="ctr"/>
                      <a:r>
                        <a:rPr lang="es-ES_tradnl" sz="1800" noProof="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tc>
                  <a:txBody>
                    <a:bodyPr/>
                    <a:lstStyle/>
                    <a:p>
                      <a:pPr algn="ctr"/>
                      <a:r>
                        <a:rPr lang="es-ES_tradnl" sz="1800" noProof="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tc>
                  <a:txBody>
                    <a:bodyPr/>
                    <a:lstStyle/>
                    <a:p>
                      <a:pPr algn="ctr"/>
                      <a:r>
                        <a:rPr lang="es-ES_tradnl" sz="1800" noProof="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tc>
                  <a:txBody>
                    <a:bodyPr/>
                    <a:lstStyle/>
                    <a:p>
                      <a:pPr algn="ctr"/>
                      <a:r>
                        <a:rPr lang="es-ES_tradnl" sz="1800" noProof="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extLst>
                  <a:ext uri="{0D108BD9-81ED-4DB2-BD59-A6C34878D82A}">
                    <a16:rowId xmlns:a16="http://schemas.microsoft.com/office/drawing/2014/main" val="10000"/>
                  </a:ext>
                </a:extLst>
              </a:tr>
              <a:tr h="370840">
                <a:tc>
                  <a:txBody>
                    <a:bodyPr/>
                    <a:lstStyle/>
                    <a:p>
                      <a:pPr algn="ctr"/>
                      <a:r>
                        <a:rPr lang="es-ES_tradnl" sz="1800" noProof="0" dirty="0">
                          <a:solidFill>
                            <a:schemeClr val="tx1"/>
                          </a:solidFill>
                        </a:rPr>
                        <a:t>Flujo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ES_tradnl" sz="1800" noProof="0" dirty="0">
                          <a:solidFill>
                            <a:schemeClr val="tx1"/>
                          </a:solidFill>
                        </a:rPr>
                        <a:t>-1.000.000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r>
                        <a:rPr lang="en-US" sz="1800" b="0" u="none" strike="noStrike" dirty="0">
                          <a:solidFill>
                            <a:schemeClr val="tx1"/>
                          </a:solidFill>
                          <a:effectLst/>
                        </a:rPr>
                        <a:t> 308.669 </a:t>
                      </a:r>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r>
                        <a:rPr lang="en-US" sz="1800" b="0" u="none" strike="noStrike" dirty="0">
                          <a:solidFill>
                            <a:schemeClr val="tx1"/>
                          </a:solidFill>
                          <a:effectLst/>
                        </a:rPr>
                        <a:t> 308.669 </a:t>
                      </a:r>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r>
                        <a:rPr lang="en-US" sz="1800" b="0" u="none" strike="noStrike" dirty="0">
                          <a:solidFill>
                            <a:schemeClr val="tx1"/>
                          </a:solidFill>
                          <a:effectLst/>
                        </a:rPr>
                        <a:t> 308.669 </a:t>
                      </a:r>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685800" rtl="0" eaLnBrk="1" fontAlgn="b" latinLnBrk="0" hangingPunct="1">
                        <a:lnSpc>
                          <a:spcPct val="100000"/>
                        </a:lnSpc>
                        <a:spcBef>
                          <a:spcPts val="0"/>
                        </a:spcBef>
                        <a:spcAft>
                          <a:spcPts val="0"/>
                        </a:spcAft>
                        <a:buClrTx/>
                        <a:buSzTx/>
                        <a:buFontTx/>
                        <a:buNone/>
                        <a:tabLst/>
                        <a:defRPr/>
                      </a:pPr>
                      <a:r>
                        <a:rPr lang="en-US" sz="1800" b="0" u="none" strike="noStrike" dirty="0">
                          <a:solidFill>
                            <a:schemeClr val="tx1"/>
                          </a:solidFill>
                          <a:effectLst/>
                        </a:rPr>
                        <a:t> 308.669 </a:t>
                      </a:r>
                      <a:endParaRPr lang="en-US" sz="1800" b="0" i="0" u="none" strike="noStrike" dirty="0">
                        <a:solidFill>
                          <a:schemeClr val="tx1"/>
                        </a:solidFill>
                        <a:effectLst/>
                        <a:latin typeface="+mn-lt"/>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70840">
                <a:tc>
                  <a:txBody>
                    <a:bodyPr/>
                    <a:lstStyle/>
                    <a:p>
                      <a:pPr algn="ctr"/>
                      <a:r>
                        <a:rPr lang="es-ES_tradnl" sz="1800" noProof="0" dirty="0">
                          <a:solidFill>
                            <a:schemeClr val="tx1"/>
                          </a:solidFill>
                        </a:rPr>
                        <a:t>Retorno (9%)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a:r>
                        <a:rPr lang="es-ES_tradnl" sz="1600" noProof="0" dirty="0">
                          <a:solidFill>
                            <a:schemeClr val="tx1"/>
                          </a:solidFill>
                        </a:rPr>
                        <a:t>NA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r>
                        <a:rPr lang="en-US" sz="1600" b="0" u="none" strike="noStrike" dirty="0">
                          <a:solidFill>
                            <a:schemeClr val="tx1"/>
                          </a:solidFill>
                          <a:effectLst/>
                        </a:rPr>
                        <a:t> 90.000 </a:t>
                      </a:r>
                      <a:endParaRPr lang="en-US" sz="16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r>
                        <a:rPr lang="en-US" sz="1600" b="0" u="none" strike="noStrike" dirty="0">
                          <a:solidFill>
                            <a:schemeClr val="tx1"/>
                          </a:solidFill>
                          <a:effectLst/>
                        </a:rPr>
                        <a:t> 70.320 </a:t>
                      </a:r>
                      <a:endParaRPr lang="en-US" sz="16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r>
                        <a:rPr lang="en-US" sz="1600" b="0" u="none" strike="noStrike" dirty="0">
                          <a:solidFill>
                            <a:schemeClr val="tx1"/>
                          </a:solidFill>
                          <a:effectLst/>
                        </a:rPr>
                        <a:t> 48.868 </a:t>
                      </a:r>
                      <a:endParaRPr lang="en-US" sz="16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extLst>
                  <a:ext uri="{0D108BD9-81ED-4DB2-BD59-A6C34878D82A}">
                    <a16:rowId xmlns:a16="http://schemas.microsoft.com/office/drawing/2014/main" val="10002"/>
                  </a:ext>
                </a:extLst>
              </a:tr>
              <a:tr h="370840">
                <a:tc>
                  <a:txBody>
                    <a:bodyPr/>
                    <a:lstStyle/>
                    <a:p>
                      <a:pPr algn="ctr"/>
                      <a:r>
                        <a:rPr lang="es-ES_tradnl" sz="1800" noProof="0" dirty="0">
                          <a:solidFill>
                            <a:schemeClr val="tx1"/>
                          </a:solidFill>
                        </a:rPr>
                        <a:t>Capital Retirado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ES_tradnl" sz="1600" noProof="0" dirty="0">
                          <a:solidFill>
                            <a:schemeClr val="tx1"/>
                          </a:solidFill>
                        </a:rPr>
                        <a:t>NA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r>
                        <a:rPr lang="en-US" sz="1600" b="0" u="none" strike="noStrike" dirty="0">
                          <a:solidFill>
                            <a:schemeClr val="tx1"/>
                          </a:solidFill>
                          <a:effectLst/>
                        </a:rPr>
                        <a:t> 218.669 </a:t>
                      </a:r>
                      <a:endParaRPr lang="en-US" sz="16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r>
                        <a:rPr lang="en-US" sz="1600" b="0" u="none" strike="noStrike" dirty="0">
                          <a:solidFill>
                            <a:schemeClr val="tx1"/>
                          </a:solidFill>
                          <a:effectLst/>
                        </a:rPr>
                        <a:t> 238.349 </a:t>
                      </a:r>
                      <a:endParaRPr lang="en-US" sz="16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r>
                        <a:rPr lang="en-US" sz="1600" b="0" u="none" strike="noStrike" dirty="0">
                          <a:solidFill>
                            <a:schemeClr val="tx1"/>
                          </a:solidFill>
                          <a:effectLst/>
                        </a:rPr>
                        <a:t> 259.800 </a:t>
                      </a:r>
                      <a:endParaRPr lang="en-US" sz="16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70840">
                <a:tc>
                  <a:txBody>
                    <a:bodyPr/>
                    <a:lstStyle/>
                    <a:p>
                      <a:pPr algn="ctr"/>
                      <a:r>
                        <a:rPr lang="es-ES_tradnl" sz="1800" noProof="0" dirty="0">
                          <a:solidFill>
                            <a:schemeClr val="tx1"/>
                          </a:solidFill>
                        </a:rPr>
                        <a:t>Saldo de Capital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a:r>
                        <a:rPr lang="es-ES_tradnl" sz="1600" noProof="0" dirty="0">
                          <a:solidFill>
                            <a:schemeClr val="tx1"/>
                          </a:solidFill>
                        </a:rPr>
                        <a:t>1.000.000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r>
                        <a:rPr lang="en-US" sz="1600" b="0" u="none" strike="noStrike" dirty="0">
                          <a:solidFill>
                            <a:schemeClr val="tx1"/>
                          </a:solidFill>
                          <a:effectLst/>
                        </a:rPr>
                        <a:t> 781.331 </a:t>
                      </a:r>
                      <a:endParaRPr lang="en-US" sz="16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r>
                        <a:rPr lang="en-US" sz="1600" b="0" u="none" strike="noStrike" dirty="0">
                          <a:solidFill>
                            <a:schemeClr val="tx1"/>
                          </a:solidFill>
                          <a:effectLst/>
                        </a:rPr>
                        <a:t> 542.983 </a:t>
                      </a:r>
                      <a:endParaRPr lang="en-US" sz="16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r>
                        <a:rPr lang="en-US" sz="1600" b="0" u="none" strike="noStrike" dirty="0">
                          <a:solidFill>
                            <a:schemeClr val="tx1"/>
                          </a:solidFill>
                          <a:effectLst/>
                        </a:rPr>
                        <a:t> 283.182 </a:t>
                      </a:r>
                      <a:endParaRPr lang="en-US" sz="16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extLst>
                  <a:ext uri="{0D108BD9-81ED-4DB2-BD59-A6C34878D82A}">
                    <a16:rowId xmlns:a16="http://schemas.microsoft.com/office/drawing/2014/main" val="10004"/>
                  </a:ext>
                </a:extLst>
              </a:tr>
            </a:tbl>
          </a:graphicData>
        </a:graphic>
      </p:graphicFrame>
      <p:cxnSp>
        <p:nvCxnSpPr>
          <p:cNvPr id="21" name="Straight Connector 20">
            <a:extLst>
              <a:ext uri="{FF2B5EF4-FFF2-40B4-BE49-F238E27FC236}">
                <a16:creationId xmlns:a16="http://schemas.microsoft.com/office/drawing/2014/main" id="{460AAD95-8793-15A8-7089-C99B97BACBB2}"/>
              </a:ext>
            </a:extLst>
          </p:cNvPr>
          <p:cNvCxnSpPr/>
          <p:nvPr/>
        </p:nvCxnSpPr>
        <p:spPr>
          <a:xfrm>
            <a:off x="7233983" y="3072845"/>
            <a:ext cx="3724993"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5BA682EA-51D4-5761-8F39-4B5767755BB5}"/>
              </a:ext>
            </a:extLst>
          </p:cNvPr>
          <p:cNvCxnSpPr/>
          <p:nvPr/>
        </p:nvCxnSpPr>
        <p:spPr>
          <a:xfrm>
            <a:off x="7233982" y="3072846"/>
            <a:ext cx="0" cy="843530"/>
          </a:xfrm>
          <a:prstGeom prst="straightConnector1">
            <a:avLst/>
          </a:prstGeom>
          <a:ln w="28575">
            <a:solidFill>
              <a:schemeClr val="accent3"/>
            </a:solidFill>
            <a:tailEnd type="arrow"/>
          </a:ln>
        </p:spPr>
        <p:style>
          <a:lnRef idx="2">
            <a:schemeClr val="accent1"/>
          </a:lnRef>
          <a:fillRef idx="0">
            <a:schemeClr val="accent1"/>
          </a:fillRef>
          <a:effectRef idx="1">
            <a:schemeClr val="accent1"/>
          </a:effectRef>
          <a:fontRef idx="minor">
            <a:schemeClr val="tx1"/>
          </a:fontRef>
        </p:style>
      </p:cxnSp>
      <p:sp>
        <p:nvSpPr>
          <p:cNvPr id="29" name="Rectangle 28">
            <a:extLst>
              <a:ext uri="{FF2B5EF4-FFF2-40B4-BE49-F238E27FC236}">
                <a16:creationId xmlns:a16="http://schemas.microsoft.com/office/drawing/2014/main" id="{B898610D-0508-4AA2-28C0-C3598C21DCE6}"/>
              </a:ext>
            </a:extLst>
          </p:cNvPr>
          <p:cNvSpPr>
            <a:spLocks/>
          </p:cNvSpPr>
          <p:nvPr/>
        </p:nvSpPr>
        <p:spPr bwMode="auto">
          <a:xfrm>
            <a:off x="8725533" y="3165178"/>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2</a:t>
            </a:r>
          </a:p>
        </p:txBody>
      </p:sp>
      <p:sp>
        <p:nvSpPr>
          <p:cNvPr id="30" name="Rectangle 29">
            <a:extLst>
              <a:ext uri="{FF2B5EF4-FFF2-40B4-BE49-F238E27FC236}">
                <a16:creationId xmlns:a16="http://schemas.microsoft.com/office/drawing/2014/main" id="{6025F474-F103-B484-DAF8-451992233347}"/>
              </a:ext>
            </a:extLst>
          </p:cNvPr>
          <p:cNvSpPr>
            <a:spLocks/>
          </p:cNvSpPr>
          <p:nvPr/>
        </p:nvSpPr>
        <p:spPr bwMode="auto">
          <a:xfrm>
            <a:off x="9814021" y="3165178"/>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3</a:t>
            </a:r>
          </a:p>
        </p:txBody>
      </p:sp>
      <p:sp>
        <p:nvSpPr>
          <p:cNvPr id="31" name="Rectangle 30">
            <a:extLst>
              <a:ext uri="{FF2B5EF4-FFF2-40B4-BE49-F238E27FC236}">
                <a16:creationId xmlns:a16="http://schemas.microsoft.com/office/drawing/2014/main" id="{F49B053A-A14D-6BB7-54F6-B904F36EF050}"/>
              </a:ext>
            </a:extLst>
          </p:cNvPr>
          <p:cNvSpPr>
            <a:spLocks/>
          </p:cNvSpPr>
          <p:nvPr/>
        </p:nvSpPr>
        <p:spPr bwMode="auto">
          <a:xfrm>
            <a:off x="10736183" y="3179135"/>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4</a:t>
            </a:r>
          </a:p>
        </p:txBody>
      </p:sp>
      <p:sp>
        <p:nvSpPr>
          <p:cNvPr id="33" name="Rectangle 32">
            <a:extLst>
              <a:ext uri="{FF2B5EF4-FFF2-40B4-BE49-F238E27FC236}">
                <a16:creationId xmlns:a16="http://schemas.microsoft.com/office/drawing/2014/main" id="{F2F9465A-4402-480F-55EA-086B01DE2A62}"/>
              </a:ext>
            </a:extLst>
          </p:cNvPr>
          <p:cNvSpPr>
            <a:spLocks/>
          </p:cNvSpPr>
          <p:nvPr/>
        </p:nvSpPr>
        <p:spPr bwMode="auto">
          <a:xfrm>
            <a:off x="7762816" y="3179135"/>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1</a:t>
            </a:r>
          </a:p>
        </p:txBody>
      </p:sp>
      <p:sp>
        <p:nvSpPr>
          <p:cNvPr id="34" name="Rectangle 33">
            <a:extLst>
              <a:ext uri="{FF2B5EF4-FFF2-40B4-BE49-F238E27FC236}">
                <a16:creationId xmlns:a16="http://schemas.microsoft.com/office/drawing/2014/main" id="{FB731434-B6EA-2C26-DA1E-0080B4A7B512}"/>
              </a:ext>
            </a:extLst>
          </p:cNvPr>
          <p:cNvSpPr>
            <a:spLocks/>
          </p:cNvSpPr>
          <p:nvPr/>
        </p:nvSpPr>
        <p:spPr bwMode="auto">
          <a:xfrm>
            <a:off x="7621283" y="2766560"/>
            <a:ext cx="15659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90.000</a:t>
            </a:r>
          </a:p>
        </p:txBody>
      </p:sp>
      <p:cxnSp>
        <p:nvCxnSpPr>
          <p:cNvPr id="37" name="Straight Arrow Connector 36">
            <a:extLst>
              <a:ext uri="{FF2B5EF4-FFF2-40B4-BE49-F238E27FC236}">
                <a16:creationId xmlns:a16="http://schemas.microsoft.com/office/drawing/2014/main" id="{A30400F6-D306-D400-A0AD-E224FA623CD0}"/>
              </a:ext>
            </a:extLst>
          </p:cNvPr>
          <p:cNvCxnSpPr/>
          <p:nvPr/>
        </p:nvCxnSpPr>
        <p:spPr>
          <a:xfrm flipV="1">
            <a:off x="7945091" y="2236570"/>
            <a:ext cx="0" cy="524911"/>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B1A05320-1A4E-9B4D-0E92-B7FB00CFDD5F}"/>
              </a:ext>
            </a:extLst>
          </p:cNvPr>
          <p:cNvSpPr>
            <a:spLocks/>
          </p:cNvSpPr>
          <p:nvPr/>
        </p:nvSpPr>
        <p:spPr bwMode="auto">
          <a:xfrm>
            <a:off x="7650547" y="2363348"/>
            <a:ext cx="15659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218.669</a:t>
            </a:r>
          </a:p>
        </p:txBody>
      </p:sp>
      <p:cxnSp>
        <p:nvCxnSpPr>
          <p:cNvPr id="61" name="Straight Arrow Connector 60">
            <a:extLst>
              <a:ext uri="{FF2B5EF4-FFF2-40B4-BE49-F238E27FC236}">
                <a16:creationId xmlns:a16="http://schemas.microsoft.com/office/drawing/2014/main" id="{E8A2AD94-B5FB-2622-9E9E-3F7367FFF726}"/>
              </a:ext>
            </a:extLst>
          </p:cNvPr>
          <p:cNvCxnSpPr/>
          <p:nvPr/>
        </p:nvCxnSpPr>
        <p:spPr>
          <a:xfrm flipV="1">
            <a:off x="7960786" y="2790763"/>
            <a:ext cx="0" cy="282084"/>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62" name="Straight Arrow Connector 61">
            <a:extLst>
              <a:ext uri="{FF2B5EF4-FFF2-40B4-BE49-F238E27FC236}">
                <a16:creationId xmlns:a16="http://schemas.microsoft.com/office/drawing/2014/main" id="{68BF058C-D39B-3B39-AF98-179596373199}"/>
              </a:ext>
            </a:extLst>
          </p:cNvPr>
          <p:cNvCxnSpPr/>
          <p:nvPr/>
        </p:nvCxnSpPr>
        <p:spPr>
          <a:xfrm flipV="1">
            <a:off x="7949131" y="2236570"/>
            <a:ext cx="0" cy="524911"/>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AC68EEE7-A935-4091-9FF6-4CD3B8E06D5A}"/>
              </a:ext>
            </a:extLst>
          </p:cNvPr>
          <p:cNvSpPr>
            <a:spLocks/>
          </p:cNvSpPr>
          <p:nvPr/>
        </p:nvSpPr>
        <p:spPr bwMode="auto">
          <a:xfrm>
            <a:off x="6533944" y="4003217"/>
            <a:ext cx="156593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1.000.000</a:t>
            </a:r>
          </a:p>
        </p:txBody>
      </p:sp>
      <p:sp>
        <p:nvSpPr>
          <p:cNvPr id="2" name="Rectangle 44">
            <a:extLst>
              <a:ext uri="{FF2B5EF4-FFF2-40B4-BE49-F238E27FC236}">
                <a16:creationId xmlns:a16="http://schemas.microsoft.com/office/drawing/2014/main" id="{7AE0A6FE-A696-C5E7-8F3F-A4204A2F7062}"/>
              </a:ext>
            </a:extLst>
          </p:cNvPr>
          <p:cNvSpPr>
            <a:spLocks/>
          </p:cNvSpPr>
          <p:nvPr/>
        </p:nvSpPr>
        <p:spPr bwMode="auto">
          <a:xfrm>
            <a:off x="8563247" y="2792604"/>
            <a:ext cx="156593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70.320</a:t>
            </a:r>
          </a:p>
        </p:txBody>
      </p:sp>
      <p:sp>
        <p:nvSpPr>
          <p:cNvPr id="17" name="Rectangle 47">
            <a:extLst>
              <a:ext uri="{FF2B5EF4-FFF2-40B4-BE49-F238E27FC236}">
                <a16:creationId xmlns:a16="http://schemas.microsoft.com/office/drawing/2014/main" id="{931F3B86-FA4B-04A9-95F1-0EF4E859D38F}"/>
              </a:ext>
            </a:extLst>
          </p:cNvPr>
          <p:cNvSpPr>
            <a:spLocks/>
          </p:cNvSpPr>
          <p:nvPr/>
        </p:nvSpPr>
        <p:spPr bwMode="auto">
          <a:xfrm>
            <a:off x="8573920" y="2376822"/>
            <a:ext cx="156593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238.349</a:t>
            </a:r>
          </a:p>
        </p:txBody>
      </p:sp>
      <p:cxnSp>
        <p:nvCxnSpPr>
          <p:cNvPr id="18" name="Straight Arrow Connector 62">
            <a:extLst>
              <a:ext uri="{FF2B5EF4-FFF2-40B4-BE49-F238E27FC236}">
                <a16:creationId xmlns:a16="http://schemas.microsoft.com/office/drawing/2014/main" id="{1BE67067-C948-E552-9937-A2827AF6A90E}"/>
              </a:ext>
            </a:extLst>
          </p:cNvPr>
          <p:cNvCxnSpPr/>
          <p:nvPr/>
        </p:nvCxnSpPr>
        <p:spPr>
          <a:xfrm flipV="1">
            <a:off x="8880324" y="2776148"/>
            <a:ext cx="0" cy="282084"/>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20" name="Straight Arrow Connector 63">
            <a:extLst>
              <a:ext uri="{FF2B5EF4-FFF2-40B4-BE49-F238E27FC236}">
                <a16:creationId xmlns:a16="http://schemas.microsoft.com/office/drawing/2014/main" id="{9D47F3B0-0F40-D921-FBCA-3E9721772A52}"/>
              </a:ext>
            </a:extLst>
          </p:cNvPr>
          <p:cNvCxnSpPr/>
          <p:nvPr/>
        </p:nvCxnSpPr>
        <p:spPr>
          <a:xfrm flipV="1">
            <a:off x="8894069" y="2221955"/>
            <a:ext cx="0" cy="524911"/>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22" name="Straight Arrow Connector 40">
            <a:extLst>
              <a:ext uri="{FF2B5EF4-FFF2-40B4-BE49-F238E27FC236}">
                <a16:creationId xmlns:a16="http://schemas.microsoft.com/office/drawing/2014/main" id="{F2EAA67F-4C5C-6CFA-C05E-F374074EE629}"/>
              </a:ext>
            </a:extLst>
          </p:cNvPr>
          <p:cNvCxnSpPr/>
          <p:nvPr/>
        </p:nvCxnSpPr>
        <p:spPr>
          <a:xfrm flipV="1">
            <a:off x="9964271" y="2748024"/>
            <a:ext cx="0" cy="282084"/>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23" name="Straight Arrow Connector 41">
            <a:extLst>
              <a:ext uri="{FF2B5EF4-FFF2-40B4-BE49-F238E27FC236}">
                <a16:creationId xmlns:a16="http://schemas.microsoft.com/office/drawing/2014/main" id="{9C7769B3-46E5-8AE3-0B7C-AE5669AE97CD}"/>
              </a:ext>
            </a:extLst>
          </p:cNvPr>
          <p:cNvCxnSpPr/>
          <p:nvPr/>
        </p:nvCxnSpPr>
        <p:spPr>
          <a:xfrm flipV="1">
            <a:off x="9978016" y="2193831"/>
            <a:ext cx="0" cy="524911"/>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25" name="Rectangle 45">
            <a:extLst>
              <a:ext uri="{FF2B5EF4-FFF2-40B4-BE49-F238E27FC236}">
                <a16:creationId xmlns:a16="http://schemas.microsoft.com/office/drawing/2014/main" id="{0B5FFC10-0A40-E85D-D671-B90217A740C6}"/>
              </a:ext>
            </a:extLst>
          </p:cNvPr>
          <p:cNvSpPr>
            <a:spLocks/>
          </p:cNvSpPr>
          <p:nvPr/>
        </p:nvSpPr>
        <p:spPr bwMode="auto">
          <a:xfrm>
            <a:off x="9578469" y="2800354"/>
            <a:ext cx="156593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48.868</a:t>
            </a:r>
          </a:p>
        </p:txBody>
      </p:sp>
      <p:sp>
        <p:nvSpPr>
          <p:cNvPr id="26" name="Rectangle 48">
            <a:extLst>
              <a:ext uri="{FF2B5EF4-FFF2-40B4-BE49-F238E27FC236}">
                <a16:creationId xmlns:a16="http://schemas.microsoft.com/office/drawing/2014/main" id="{7D090A38-122E-521C-431B-E38DB95B7607}"/>
              </a:ext>
            </a:extLst>
          </p:cNvPr>
          <p:cNvSpPr>
            <a:spLocks/>
          </p:cNvSpPr>
          <p:nvPr/>
        </p:nvSpPr>
        <p:spPr bwMode="auto">
          <a:xfrm>
            <a:off x="9610556" y="2371474"/>
            <a:ext cx="156593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259.800</a:t>
            </a:r>
          </a:p>
        </p:txBody>
      </p:sp>
    </p:spTree>
    <p:extLst>
      <p:ext uri="{BB962C8B-B14F-4D97-AF65-F5344CB8AC3E}">
        <p14:creationId xmlns:p14="http://schemas.microsoft.com/office/powerpoint/2010/main" val="16162141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488F3E-4BF9-847D-4DEC-5892250AA5A2}"/>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7521F31-06F7-2F5E-870B-E4C7B47D549A}"/>
              </a:ext>
            </a:extLst>
          </p:cNvPr>
          <p:cNvSpPr>
            <a:spLocks noGrp="1"/>
          </p:cNvSpPr>
          <p:nvPr>
            <p:ph type="sldNum" sz="quarter" idx="12"/>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E3E23BA-6E79-2442-BA73-D218A5E297C3}" type="slidenum">
              <a:rPr kumimoji="0" lang="en-US" sz="9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9</a:t>
            </a:fld>
            <a:endParaRPr kumimoji="0" lang="en-US" sz="9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5" name="Straight Connector 4">
            <a:extLst>
              <a:ext uri="{FF2B5EF4-FFF2-40B4-BE49-F238E27FC236}">
                <a16:creationId xmlns:a16="http://schemas.microsoft.com/office/drawing/2014/main" id="{990FF12B-7427-6A36-36E2-6801CC92193F}"/>
              </a:ext>
            </a:extLst>
          </p:cNvPr>
          <p:cNvCxnSpPr/>
          <p:nvPr/>
        </p:nvCxnSpPr>
        <p:spPr>
          <a:xfrm>
            <a:off x="1089317" y="3111610"/>
            <a:ext cx="3835793" cy="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8DD2FC29-1144-17BA-61EC-FDDD613741F9}"/>
              </a:ext>
            </a:extLst>
          </p:cNvPr>
          <p:cNvCxnSpPr/>
          <p:nvPr/>
        </p:nvCxnSpPr>
        <p:spPr>
          <a:xfrm flipV="1">
            <a:off x="4897359" y="2652883"/>
            <a:ext cx="0" cy="458728"/>
          </a:xfrm>
          <a:prstGeom prst="straightConnector1">
            <a:avLst/>
          </a:prstGeom>
          <a:ln>
            <a:tailEnd type="arrow"/>
          </a:ln>
        </p:spPr>
        <p:style>
          <a:lnRef idx="3">
            <a:schemeClr val="accent2"/>
          </a:lnRef>
          <a:fillRef idx="0">
            <a:schemeClr val="accent2"/>
          </a:fillRef>
          <a:effectRef idx="2">
            <a:schemeClr val="accent2"/>
          </a:effectRef>
          <a:fontRef idx="minor">
            <a:schemeClr val="tx1"/>
          </a:fontRef>
        </p:style>
      </p:cxnSp>
      <p:sp>
        <p:nvSpPr>
          <p:cNvPr id="10" name="Rectangle 9">
            <a:extLst>
              <a:ext uri="{FF2B5EF4-FFF2-40B4-BE49-F238E27FC236}">
                <a16:creationId xmlns:a16="http://schemas.microsoft.com/office/drawing/2014/main" id="{97C95EBA-EFEF-770D-8EE4-E3798A174191}"/>
              </a:ext>
            </a:extLst>
          </p:cNvPr>
          <p:cNvSpPr>
            <a:spLocks/>
          </p:cNvSpPr>
          <p:nvPr/>
        </p:nvSpPr>
        <p:spPr bwMode="auto">
          <a:xfrm flipH="1">
            <a:off x="1003715" y="2737612"/>
            <a:ext cx="13172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0</a:t>
            </a:r>
          </a:p>
        </p:txBody>
      </p:sp>
      <p:sp>
        <p:nvSpPr>
          <p:cNvPr id="11" name="Rectangle 10">
            <a:extLst>
              <a:ext uri="{FF2B5EF4-FFF2-40B4-BE49-F238E27FC236}">
                <a16:creationId xmlns:a16="http://schemas.microsoft.com/office/drawing/2014/main" id="{5217E1C4-A524-8756-3380-2D3A080334D1}"/>
              </a:ext>
            </a:extLst>
          </p:cNvPr>
          <p:cNvSpPr>
            <a:spLocks/>
          </p:cNvSpPr>
          <p:nvPr/>
        </p:nvSpPr>
        <p:spPr bwMode="auto">
          <a:xfrm>
            <a:off x="2580867" y="3203942"/>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2</a:t>
            </a:r>
          </a:p>
        </p:txBody>
      </p:sp>
      <p:sp>
        <p:nvSpPr>
          <p:cNvPr id="12" name="Rectangle 11">
            <a:extLst>
              <a:ext uri="{FF2B5EF4-FFF2-40B4-BE49-F238E27FC236}">
                <a16:creationId xmlns:a16="http://schemas.microsoft.com/office/drawing/2014/main" id="{C295BCC5-93C0-9649-D2E4-38D68E4E8E85}"/>
              </a:ext>
            </a:extLst>
          </p:cNvPr>
          <p:cNvSpPr>
            <a:spLocks/>
          </p:cNvSpPr>
          <p:nvPr/>
        </p:nvSpPr>
        <p:spPr bwMode="auto">
          <a:xfrm>
            <a:off x="3669355" y="3203942"/>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3</a:t>
            </a:r>
          </a:p>
        </p:txBody>
      </p:sp>
      <p:sp>
        <p:nvSpPr>
          <p:cNvPr id="13" name="Rectangle 12">
            <a:extLst>
              <a:ext uri="{FF2B5EF4-FFF2-40B4-BE49-F238E27FC236}">
                <a16:creationId xmlns:a16="http://schemas.microsoft.com/office/drawing/2014/main" id="{5DE88A39-9389-C033-97DA-AC8D72584BAE}"/>
              </a:ext>
            </a:extLst>
          </p:cNvPr>
          <p:cNvSpPr>
            <a:spLocks/>
          </p:cNvSpPr>
          <p:nvPr/>
        </p:nvSpPr>
        <p:spPr bwMode="auto">
          <a:xfrm>
            <a:off x="4728829" y="3217899"/>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4</a:t>
            </a:r>
          </a:p>
        </p:txBody>
      </p:sp>
      <p:sp>
        <p:nvSpPr>
          <p:cNvPr id="15" name="Rectangle 14">
            <a:extLst>
              <a:ext uri="{FF2B5EF4-FFF2-40B4-BE49-F238E27FC236}">
                <a16:creationId xmlns:a16="http://schemas.microsoft.com/office/drawing/2014/main" id="{CC1E17F3-6708-CC76-534E-2156752782F6}"/>
              </a:ext>
            </a:extLst>
          </p:cNvPr>
          <p:cNvSpPr>
            <a:spLocks/>
          </p:cNvSpPr>
          <p:nvPr/>
        </p:nvSpPr>
        <p:spPr bwMode="auto">
          <a:xfrm>
            <a:off x="581192" y="3976941"/>
            <a:ext cx="15659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1.000.000</a:t>
            </a:r>
          </a:p>
        </p:txBody>
      </p:sp>
      <p:sp>
        <p:nvSpPr>
          <p:cNvPr id="16" name="Rectangle 15">
            <a:extLst>
              <a:ext uri="{FF2B5EF4-FFF2-40B4-BE49-F238E27FC236}">
                <a16:creationId xmlns:a16="http://schemas.microsoft.com/office/drawing/2014/main" id="{80B2190D-1B3A-4B89-B470-8358C3279168}"/>
              </a:ext>
            </a:extLst>
          </p:cNvPr>
          <p:cNvSpPr>
            <a:spLocks/>
          </p:cNvSpPr>
          <p:nvPr/>
        </p:nvSpPr>
        <p:spPr bwMode="auto">
          <a:xfrm>
            <a:off x="1618150" y="3217899"/>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1</a:t>
            </a:r>
          </a:p>
        </p:txBody>
      </p:sp>
      <p:sp>
        <p:nvSpPr>
          <p:cNvPr id="19" name="Rectangle 18">
            <a:extLst>
              <a:ext uri="{FF2B5EF4-FFF2-40B4-BE49-F238E27FC236}">
                <a16:creationId xmlns:a16="http://schemas.microsoft.com/office/drawing/2014/main" id="{8F9B185A-1BB4-D33E-668C-CBB85EE0F1D9}"/>
              </a:ext>
            </a:extLst>
          </p:cNvPr>
          <p:cNvSpPr>
            <a:spLocks/>
          </p:cNvSpPr>
          <p:nvPr/>
        </p:nvSpPr>
        <p:spPr bwMode="auto">
          <a:xfrm>
            <a:off x="2580867" y="1925420"/>
            <a:ext cx="15659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308.668,7</a:t>
            </a:r>
          </a:p>
        </p:txBody>
      </p:sp>
      <p:cxnSp>
        <p:nvCxnSpPr>
          <p:cNvPr id="53" name="Straight Connector 52">
            <a:extLst>
              <a:ext uri="{FF2B5EF4-FFF2-40B4-BE49-F238E27FC236}">
                <a16:creationId xmlns:a16="http://schemas.microsoft.com/office/drawing/2014/main" id="{6A3DEC03-440C-628B-4654-CBF2C32DAD51}"/>
              </a:ext>
            </a:extLst>
          </p:cNvPr>
          <p:cNvCxnSpPr/>
          <p:nvPr/>
        </p:nvCxnSpPr>
        <p:spPr>
          <a:xfrm>
            <a:off x="1118757" y="3111610"/>
            <a:ext cx="3835793" cy="1"/>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7B46E015-FAED-6A3B-4DE3-C7AFE8483CAF}"/>
              </a:ext>
            </a:extLst>
          </p:cNvPr>
          <p:cNvCxnSpPr/>
          <p:nvPr/>
        </p:nvCxnSpPr>
        <p:spPr>
          <a:xfrm>
            <a:off x="1088276" y="3111610"/>
            <a:ext cx="0" cy="843530"/>
          </a:xfrm>
          <a:prstGeom prst="straightConnector1">
            <a:avLst/>
          </a:prstGeom>
          <a:ln w="28575">
            <a:solidFill>
              <a:schemeClr val="accent3"/>
            </a:solidFill>
            <a:tailEnd type="arrow"/>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7F82D276-911C-5B71-66B8-74E3BE9550CF}"/>
              </a:ext>
            </a:extLst>
          </p:cNvPr>
          <p:cNvCxnSpPr/>
          <p:nvPr/>
        </p:nvCxnSpPr>
        <p:spPr>
          <a:xfrm flipV="1">
            <a:off x="2793896" y="2652883"/>
            <a:ext cx="0" cy="458726"/>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534A5C1E-B85E-4D68-4DBD-69FC40836485}"/>
              </a:ext>
            </a:extLst>
          </p:cNvPr>
          <p:cNvCxnSpPr/>
          <p:nvPr/>
        </p:nvCxnSpPr>
        <p:spPr>
          <a:xfrm flipV="1">
            <a:off x="3867325" y="2652884"/>
            <a:ext cx="0" cy="458727"/>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58" name="Straight Arrow Connector 57">
            <a:extLst>
              <a:ext uri="{FF2B5EF4-FFF2-40B4-BE49-F238E27FC236}">
                <a16:creationId xmlns:a16="http://schemas.microsoft.com/office/drawing/2014/main" id="{695D22B5-89C0-0C8F-CDAF-37EB95F59D99}"/>
              </a:ext>
            </a:extLst>
          </p:cNvPr>
          <p:cNvCxnSpPr/>
          <p:nvPr/>
        </p:nvCxnSpPr>
        <p:spPr>
          <a:xfrm flipV="1">
            <a:off x="1816120" y="2652885"/>
            <a:ext cx="0" cy="458726"/>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59" name="Left Brace 58">
            <a:extLst>
              <a:ext uri="{FF2B5EF4-FFF2-40B4-BE49-F238E27FC236}">
                <a16:creationId xmlns:a16="http://schemas.microsoft.com/office/drawing/2014/main" id="{C5448F90-0AD6-DC6B-477D-74D3E0D3957E}"/>
              </a:ext>
            </a:extLst>
          </p:cNvPr>
          <p:cNvSpPr/>
          <p:nvPr/>
        </p:nvSpPr>
        <p:spPr>
          <a:xfrm rot="5400000">
            <a:off x="3101633" y="875281"/>
            <a:ext cx="519331" cy="3447739"/>
          </a:xfrm>
          <a:prstGeom prst="leftBrace">
            <a:avLst/>
          </a:prstGeom>
          <a:ln w="28575"/>
        </p:spPr>
        <p:style>
          <a:lnRef idx="2">
            <a:schemeClr val="accent1"/>
          </a:lnRef>
          <a:fillRef idx="0">
            <a:schemeClr val="accent1"/>
          </a:fillRef>
          <a:effectRef idx="1">
            <a:schemeClr val="accent1"/>
          </a:effectRef>
          <a:fontRef idx="minor">
            <a:schemeClr val="tx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Rectángulo 2">
            <a:extLst>
              <a:ext uri="{FF2B5EF4-FFF2-40B4-BE49-F238E27FC236}">
                <a16:creationId xmlns:a16="http://schemas.microsoft.com/office/drawing/2014/main" id="{53780489-100D-5318-C354-E09B4CBFEC7A}"/>
              </a:ext>
            </a:extLst>
          </p:cNvPr>
          <p:cNvSpPr/>
          <p:nvPr/>
        </p:nvSpPr>
        <p:spPr>
          <a:xfrm>
            <a:off x="1415434" y="118110"/>
            <a:ext cx="2781532" cy="261610"/>
          </a:xfrm>
          <a:prstGeom prst="rect">
            <a:avLst/>
          </a:prstGeom>
        </p:spPr>
        <p:txBody>
          <a:bodyPr wrap="none">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s-CO" sz="1100" b="1" i="0" u="none" strike="noStrike" kern="1200" cap="none" spc="0" normalizeH="0" baseline="0" noProof="0">
                <a:ln>
                  <a:noFill/>
                </a:ln>
                <a:solidFill>
                  <a:srgbClr val="8CB64A">
                    <a:lumMod val="50000"/>
                  </a:srgbClr>
                </a:solidFill>
                <a:effectLst/>
                <a:uLnTx/>
                <a:uFillTx/>
                <a:latin typeface="Century Gothic" panose="020B0502020202020204" pitchFamily="34" charset="0"/>
                <a:ea typeface="+mn-ea"/>
                <a:cs typeface="+mn-cs"/>
                <a:sym typeface="Gill Sans Light"/>
              </a:rPr>
              <a:t>Departamento de Ingeniería Industrial</a:t>
            </a:r>
            <a:endParaRPr kumimoji="0" lang="es-CO" sz="1100" b="1" i="0" u="none" strike="noStrike" kern="1200" cap="none" spc="0" normalizeH="0" baseline="0" noProof="0">
              <a:ln>
                <a:noFill/>
              </a:ln>
              <a:solidFill>
                <a:srgbClr val="8CB64A">
                  <a:lumMod val="50000"/>
                </a:srgbClr>
              </a:solidFill>
              <a:effectLst/>
              <a:uLnTx/>
              <a:uFillTx/>
              <a:latin typeface="Century Gothic" panose="020B0502020202020204" pitchFamily="34" charset="0"/>
              <a:ea typeface="+mn-ea"/>
              <a:cs typeface="+mn-cs"/>
            </a:endParaRPr>
          </a:p>
        </p:txBody>
      </p:sp>
      <p:pic>
        <p:nvPicPr>
          <p:cNvPr id="6" name="Picture 2" descr="Clientes y aliados | Centro de Evaluación | Uniandes">
            <a:extLst>
              <a:ext uri="{FF2B5EF4-FFF2-40B4-BE49-F238E27FC236}">
                <a16:creationId xmlns:a16="http://schemas.microsoft.com/office/drawing/2014/main" id="{EBF4F87D-D061-5A02-AB6B-20011A4D93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EECD3392-8754-ABB6-7563-D8709701FCE4}"/>
              </a:ext>
            </a:extLst>
          </p:cNvPr>
          <p:cNvSpPr/>
          <p:nvPr/>
        </p:nvSpPr>
        <p:spPr>
          <a:xfrm>
            <a:off x="8399257" y="118110"/>
            <a:ext cx="3150778" cy="261610"/>
          </a:xfrm>
          <a:prstGeom prst="rect">
            <a:avLst/>
          </a:prstGeom>
        </p:spPr>
        <p:txBody>
          <a:bodyPr wrap="square">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s-CO" sz="1100" b="1" i="0" u="none" strike="noStrike" kern="1200" cap="none" spc="0" normalizeH="0" baseline="0" noProof="0" dirty="0">
                <a:ln>
                  <a:noFill/>
                </a:ln>
                <a:solidFill>
                  <a:srgbClr val="8CB64A">
                    <a:lumMod val="50000"/>
                  </a:srgbClr>
                </a:solidFill>
                <a:effectLst/>
                <a:uLnTx/>
                <a:uFillTx/>
                <a:latin typeface="Century Gothic" panose="020B0502020202020204" pitchFamily="34" charset="0"/>
                <a:ea typeface="+mn-ea"/>
                <a:cs typeface="+mn-cs"/>
                <a:sym typeface="Gill Sans Light"/>
              </a:rPr>
              <a:t>Curso</a:t>
            </a:r>
            <a:r>
              <a:rPr kumimoji="0" lang="es-CO" sz="1100" b="0" i="0" u="none" strike="noStrike" kern="1200" cap="none" spc="0" normalizeH="0" baseline="0" noProof="0" dirty="0">
                <a:ln>
                  <a:noFill/>
                </a:ln>
                <a:solidFill>
                  <a:srgbClr val="8CB64A">
                    <a:lumMod val="50000"/>
                  </a:srgbClr>
                </a:solidFill>
                <a:effectLst/>
                <a:uLnTx/>
                <a:uFillTx/>
                <a:latin typeface="Century Gothic" panose="020B0502020202020204" pitchFamily="34" charset="0"/>
                <a:ea typeface="+mn-ea"/>
                <a:cs typeface="+mn-cs"/>
                <a:sym typeface="Gill Sans Light"/>
              </a:rPr>
              <a:t> Análisis de Decisiones de Inversión</a:t>
            </a:r>
            <a:endParaRPr kumimoji="0" lang="es-CO" sz="1100" b="0" i="0" u="none" strike="noStrike" kern="1200" cap="none" spc="0" normalizeH="0" baseline="0" noProof="0" dirty="0">
              <a:ln>
                <a:noFill/>
              </a:ln>
              <a:solidFill>
                <a:srgbClr val="8CB64A">
                  <a:lumMod val="50000"/>
                </a:srgbClr>
              </a:solidFill>
              <a:effectLst/>
              <a:uLnTx/>
              <a:uFillTx/>
              <a:latin typeface="Century Gothic" panose="020B0502020202020204" pitchFamily="34" charset="0"/>
              <a:ea typeface="+mn-ea"/>
              <a:cs typeface="+mn-cs"/>
            </a:endParaRPr>
          </a:p>
        </p:txBody>
      </p:sp>
      <p:sp>
        <p:nvSpPr>
          <p:cNvPr id="8" name="Título 1">
            <a:extLst>
              <a:ext uri="{FF2B5EF4-FFF2-40B4-BE49-F238E27FC236}">
                <a16:creationId xmlns:a16="http://schemas.microsoft.com/office/drawing/2014/main" id="{45C74932-23CC-FFC8-8DB0-AF7AFE4A2D4B}"/>
              </a:ext>
            </a:extLst>
          </p:cNvPr>
          <p:cNvSpPr>
            <a:spLocks noGrp="1"/>
          </p:cNvSpPr>
          <p:nvPr>
            <p:ph type="title"/>
          </p:nvPr>
        </p:nvSpPr>
        <p:spPr>
          <a:xfrm>
            <a:off x="581192" y="702156"/>
            <a:ext cx="11029616" cy="1013800"/>
          </a:xfrm>
        </p:spPr>
        <p:txBody>
          <a:bodyPr>
            <a:normAutofit/>
          </a:bodyPr>
          <a:lstStyle/>
          <a:p>
            <a:r>
              <a:rPr lang="es-CO" sz="3200" dirty="0">
                <a:latin typeface="Century Gothic" panose="020B0502020202020204" pitchFamily="34" charset="0"/>
              </a:rPr>
              <a:t>TIR</a:t>
            </a:r>
          </a:p>
        </p:txBody>
      </p:sp>
      <p:graphicFrame>
        <p:nvGraphicFramePr>
          <p:cNvPr id="14" name="Table 16">
            <a:extLst>
              <a:ext uri="{FF2B5EF4-FFF2-40B4-BE49-F238E27FC236}">
                <a16:creationId xmlns:a16="http://schemas.microsoft.com/office/drawing/2014/main" id="{0960FFA1-5023-2700-25AD-6D7AA379C3DA}"/>
              </a:ext>
            </a:extLst>
          </p:cNvPr>
          <p:cNvGraphicFramePr>
            <a:graphicFrameLocks noGrp="1"/>
          </p:cNvGraphicFramePr>
          <p:nvPr/>
        </p:nvGraphicFramePr>
        <p:xfrm>
          <a:off x="696000" y="4443703"/>
          <a:ext cx="10800000" cy="1854200"/>
        </p:xfrm>
        <a:graphic>
          <a:graphicData uri="http://schemas.openxmlformats.org/drawingml/2006/table">
            <a:tbl>
              <a:tblPr firstRow="1" bandRow="1">
                <a:tableStyleId>{AF606853-7671-496A-8E4F-DF71F8EC918B}</a:tableStyleId>
              </a:tblPr>
              <a:tblGrid>
                <a:gridCol w="1800000">
                  <a:extLst>
                    <a:ext uri="{9D8B030D-6E8A-4147-A177-3AD203B41FA5}">
                      <a16:colId xmlns:a16="http://schemas.microsoft.com/office/drawing/2014/main" val="20000"/>
                    </a:ext>
                  </a:extLst>
                </a:gridCol>
                <a:gridCol w="1800000">
                  <a:extLst>
                    <a:ext uri="{9D8B030D-6E8A-4147-A177-3AD203B41FA5}">
                      <a16:colId xmlns:a16="http://schemas.microsoft.com/office/drawing/2014/main" val="20001"/>
                    </a:ext>
                  </a:extLst>
                </a:gridCol>
                <a:gridCol w="1800000">
                  <a:extLst>
                    <a:ext uri="{9D8B030D-6E8A-4147-A177-3AD203B41FA5}">
                      <a16:colId xmlns:a16="http://schemas.microsoft.com/office/drawing/2014/main" val="20002"/>
                    </a:ext>
                  </a:extLst>
                </a:gridCol>
                <a:gridCol w="1800000">
                  <a:extLst>
                    <a:ext uri="{9D8B030D-6E8A-4147-A177-3AD203B41FA5}">
                      <a16:colId xmlns:a16="http://schemas.microsoft.com/office/drawing/2014/main" val="20003"/>
                    </a:ext>
                  </a:extLst>
                </a:gridCol>
                <a:gridCol w="1800000">
                  <a:extLst>
                    <a:ext uri="{9D8B030D-6E8A-4147-A177-3AD203B41FA5}">
                      <a16:colId xmlns:a16="http://schemas.microsoft.com/office/drawing/2014/main" val="20004"/>
                    </a:ext>
                  </a:extLst>
                </a:gridCol>
                <a:gridCol w="1800000">
                  <a:extLst>
                    <a:ext uri="{9D8B030D-6E8A-4147-A177-3AD203B41FA5}">
                      <a16:colId xmlns:a16="http://schemas.microsoft.com/office/drawing/2014/main" val="20005"/>
                    </a:ext>
                  </a:extLst>
                </a:gridCol>
              </a:tblGrid>
              <a:tr h="370840">
                <a:tc>
                  <a:txBody>
                    <a:bodyPr/>
                    <a:lstStyle/>
                    <a:p>
                      <a:pPr algn="ctr"/>
                      <a:endParaRPr lang="es-ES_tradnl" sz="1800"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tc>
                  <a:txBody>
                    <a:bodyPr/>
                    <a:lstStyle/>
                    <a:p>
                      <a:pPr algn="ctr"/>
                      <a:r>
                        <a:rPr lang="es-ES_tradnl" sz="1800" noProof="0"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tc>
                  <a:txBody>
                    <a:bodyPr/>
                    <a:lstStyle/>
                    <a:p>
                      <a:pPr algn="ctr"/>
                      <a:r>
                        <a:rPr lang="es-ES_tradnl" sz="1800" noProof="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tc>
                  <a:txBody>
                    <a:bodyPr/>
                    <a:lstStyle/>
                    <a:p>
                      <a:pPr algn="ctr"/>
                      <a:r>
                        <a:rPr lang="es-ES_tradnl" sz="1800" noProof="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tc>
                  <a:txBody>
                    <a:bodyPr/>
                    <a:lstStyle/>
                    <a:p>
                      <a:pPr algn="ctr"/>
                      <a:r>
                        <a:rPr lang="es-ES_tradnl" sz="1800" noProof="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tc>
                  <a:txBody>
                    <a:bodyPr/>
                    <a:lstStyle/>
                    <a:p>
                      <a:pPr algn="ctr"/>
                      <a:r>
                        <a:rPr lang="es-ES_tradnl" sz="1800" noProof="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extLst>
                  <a:ext uri="{0D108BD9-81ED-4DB2-BD59-A6C34878D82A}">
                    <a16:rowId xmlns:a16="http://schemas.microsoft.com/office/drawing/2014/main" val="10000"/>
                  </a:ext>
                </a:extLst>
              </a:tr>
              <a:tr h="370840">
                <a:tc>
                  <a:txBody>
                    <a:bodyPr/>
                    <a:lstStyle/>
                    <a:p>
                      <a:pPr algn="ctr"/>
                      <a:r>
                        <a:rPr lang="es-ES_tradnl" sz="1800" noProof="0" dirty="0">
                          <a:solidFill>
                            <a:schemeClr val="tx1"/>
                          </a:solidFill>
                        </a:rPr>
                        <a:t>Flujo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ES_tradnl" sz="1800" noProof="0" dirty="0">
                          <a:solidFill>
                            <a:schemeClr val="tx1"/>
                          </a:solidFill>
                        </a:rPr>
                        <a:t>-1.000.000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r>
                        <a:rPr lang="en-US" sz="1800" b="0" u="none" strike="noStrike" dirty="0">
                          <a:solidFill>
                            <a:schemeClr val="tx1"/>
                          </a:solidFill>
                          <a:effectLst/>
                        </a:rPr>
                        <a:t> 308.669 </a:t>
                      </a:r>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r>
                        <a:rPr lang="en-US" sz="1800" b="0" u="none" strike="noStrike" dirty="0">
                          <a:solidFill>
                            <a:schemeClr val="tx1"/>
                          </a:solidFill>
                          <a:effectLst/>
                        </a:rPr>
                        <a:t> 308.669 </a:t>
                      </a:r>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r>
                        <a:rPr lang="en-US" sz="1800" b="0" u="none" strike="noStrike" dirty="0">
                          <a:solidFill>
                            <a:schemeClr val="tx1"/>
                          </a:solidFill>
                          <a:effectLst/>
                        </a:rPr>
                        <a:t> 308.669 </a:t>
                      </a:r>
                      <a:endParaRPr lang="en-US" sz="18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685800" rtl="0" eaLnBrk="1" fontAlgn="b" latinLnBrk="0" hangingPunct="1">
                        <a:lnSpc>
                          <a:spcPct val="100000"/>
                        </a:lnSpc>
                        <a:spcBef>
                          <a:spcPts val="0"/>
                        </a:spcBef>
                        <a:spcAft>
                          <a:spcPts val="0"/>
                        </a:spcAft>
                        <a:buClrTx/>
                        <a:buSzTx/>
                        <a:buFontTx/>
                        <a:buNone/>
                        <a:tabLst/>
                        <a:defRPr/>
                      </a:pPr>
                      <a:r>
                        <a:rPr lang="en-US" sz="1800" b="0" u="none" strike="noStrike" dirty="0">
                          <a:solidFill>
                            <a:schemeClr val="tx1"/>
                          </a:solidFill>
                          <a:effectLst/>
                        </a:rPr>
                        <a:t> 308.669 </a:t>
                      </a:r>
                      <a:endParaRPr lang="en-US" sz="1800" b="0" i="0" u="none" strike="noStrike" dirty="0">
                        <a:solidFill>
                          <a:schemeClr val="tx1"/>
                        </a:solidFill>
                        <a:effectLst/>
                        <a:latin typeface="+mn-lt"/>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70840">
                <a:tc>
                  <a:txBody>
                    <a:bodyPr/>
                    <a:lstStyle/>
                    <a:p>
                      <a:pPr algn="ctr"/>
                      <a:r>
                        <a:rPr lang="es-ES_tradnl" sz="1800" noProof="0" dirty="0">
                          <a:solidFill>
                            <a:schemeClr val="tx1"/>
                          </a:solidFill>
                        </a:rPr>
                        <a:t>Retorno (9%)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a:r>
                        <a:rPr lang="es-ES_tradnl" sz="1600" noProof="0" dirty="0">
                          <a:solidFill>
                            <a:schemeClr val="tx1"/>
                          </a:solidFill>
                        </a:rPr>
                        <a:t>NA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r>
                        <a:rPr lang="en-US" sz="1600" b="0" u="none" strike="noStrike" dirty="0">
                          <a:solidFill>
                            <a:schemeClr val="tx1"/>
                          </a:solidFill>
                          <a:effectLst/>
                        </a:rPr>
                        <a:t> 90.000 </a:t>
                      </a:r>
                      <a:endParaRPr lang="en-US" sz="16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r>
                        <a:rPr lang="en-US" sz="1600" b="0" u="none" strike="noStrike" dirty="0">
                          <a:solidFill>
                            <a:schemeClr val="tx1"/>
                          </a:solidFill>
                          <a:effectLst/>
                        </a:rPr>
                        <a:t> 70.320 </a:t>
                      </a:r>
                      <a:endParaRPr lang="en-US" sz="16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r>
                        <a:rPr lang="en-US" sz="1600" b="0" u="none" strike="noStrike" dirty="0">
                          <a:solidFill>
                            <a:schemeClr val="tx1"/>
                          </a:solidFill>
                          <a:effectLst/>
                        </a:rPr>
                        <a:t> 48.868 </a:t>
                      </a:r>
                      <a:endParaRPr lang="en-US" sz="16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r>
                        <a:rPr lang="en-US" sz="1600" b="0" u="none" strike="noStrike" dirty="0">
                          <a:solidFill>
                            <a:schemeClr val="tx1"/>
                          </a:solidFill>
                          <a:effectLst/>
                        </a:rPr>
                        <a:t> 25.486 </a:t>
                      </a:r>
                      <a:endParaRPr lang="en-US" sz="16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extLst>
                  <a:ext uri="{0D108BD9-81ED-4DB2-BD59-A6C34878D82A}">
                    <a16:rowId xmlns:a16="http://schemas.microsoft.com/office/drawing/2014/main" val="10002"/>
                  </a:ext>
                </a:extLst>
              </a:tr>
              <a:tr h="370840">
                <a:tc>
                  <a:txBody>
                    <a:bodyPr/>
                    <a:lstStyle/>
                    <a:p>
                      <a:pPr algn="ctr"/>
                      <a:r>
                        <a:rPr lang="es-ES_tradnl" sz="1800" noProof="0" dirty="0">
                          <a:solidFill>
                            <a:schemeClr val="tx1"/>
                          </a:solidFill>
                        </a:rPr>
                        <a:t>Capital Retirado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ES_tradnl" sz="1600" noProof="0" dirty="0">
                          <a:solidFill>
                            <a:schemeClr val="tx1"/>
                          </a:solidFill>
                        </a:rPr>
                        <a:t>NA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r>
                        <a:rPr lang="en-US" sz="1600" b="0" u="none" strike="noStrike" dirty="0">
                          <a:solidFill>
                            <a:schemeClr val="tx1"/>
                          </a:solidFill>
                          <a:effectLst/>
                        </a:rPr>
                        <a:t> 218.669 </a:t>
                      </a:r>
                      <a:endParaRPr lang="en-US" sz="16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r>
                        <a:rPr lang="en-US" sz="1600" b="0" u="none" strike="noStrike" dirty="0">
                          <a:solidFill>
                            <a:schemeClr val="tx1"/>
                          </a:solidFill>
                          <a:effectLst/>
                        </a:rPr>
                        <a:t> 238.349 </a:t>
                      </a:r>
                      <a:endParaRPr lang="en-US" sz="16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r>
                        <a:rPr lang="en-US" sz="1600" b="0" u="none" strike="noStrike" dirty="0">
                          <a:solidFill>
                            <a:schemeClr val="tx1"/>
                          </a:solidFill>
                          <a:effectLst/>
                        </a:rPr>
                        <a:t> 259.800 </a:t>
                      </a:r>
                      <a:endParaRPr lang="en-US" sz="16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fontAlgn="b"/>
                      <a:r>
                        <a:rPr lang="en-US" sz="1600" b="0" u="none" strike="noStrike" dirty="0">
                          <a:solidFill>
                            <a:schemeClr val="tx1"/>
                          </a:solidFill>
                          <a:effectLst/>
                        </a:rPr>
                        <a:t> 283.182 </a:t>
                      </a:r>
                      <a:endParaRPr lang="en-US" sz="16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70840">
                <a:tc>
                  <a:txBody>
                    <a:bodyPr/>
                    <a:lstStyle/>
                    <a:p>
                      <a:pPr algn="ctr"/>
                      <a:r>
                        <a:rPr lang="es-ES_tradnl" sz="1800" noProof="0" dirty="0">
                          <a:solidFill>
                            <a:schemeClr val="tx1"/>
                          </a:solidFill>
                        </a:rPr>
                        <a:t>Saldo de Capital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a:r>
                        <a:rPr lang="es-ES_tradnl" sz="1600" noProof="0" dirty="0">
                          <a:solidFill>
                            <a:schemeClr val="tx1"/>
                          </a:solidFill>
                        </a:rPr>
                        <a:t>1.000.000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r>
                        <a:rPr lang="en-US" sz="1600" b="0" u="none" strike="noStrike" dirty="0">
                          <a:solidFill>
                            <a:schemeClr val="tx1"/>
                          </a:solidFill>
                          <a:effectLst/>
                        </a:rPr>
                        <a:t> 781.331 </a:t>
                      </a:r>
                      <a:endParaRPr lang="en-US" sz="16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r>
                        <a:rPr lang="en-US" sz="1600" b="0" u="none" strike="noStrike" dirty="0">
                          <a:solidFill>
                            <a:schemeClr val="tx1"/>
                          </a:solidFill>
                          <a:effectLst/>
                        </a:rPr>
                        <a:t> 542.983 </a:t>
                      </a:r>
                      <a:endParaRPr lang="en-US" sz="16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r>
                        <a:rPr lang="en-US" sz="1600" b="0" u="none" strike="noStrike" dirty="0">
                          <a:solidFill>
                            <a:schemeClr val="tx1"/>
                          </a:solidFill>
                          <a:effectLst/>
                        </a:rPr>
                        <a:t> 283.182 </a:t>
                      </a:r>
                      <a:endParaRPr lang="en-US" sz="16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fontAlgn="b"/>
                      <a:r>
                        <a:rPr lang="en-US" sz="1600" b="0" u="none" strike="noStrike" dirty="0">
                          <a:solidFill>
                            <a:schemeClr val="tx1"/>
                          </a:solidFill>
                          <a:effectLst/>
                        </a:rPr>
                        <a:t> 0 </a:t>
                      </a:r>
                      <a:endParaRPr lang="en-US" sz="1600" b="0" i="0" u="none" strike="noStrike" dirty="0">
                        <a:solidFill>
                          <a:schemeClr val="tx1"/>
                        </a:solidFill>
                        <a:effectLst/>
                        <a:latin typeface="Calibri"/>
                      </a:endParaRPr>
                    </a:p>
                  </a:txBody>
                  <a:tcPr marL="12700" marR="12700" marT="1270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extLst>
                  <a:ext uri="{0D108BD9-81ED-4DB2-BD59-A6C34878D82A}">
                    <a16:rowId xmlns:a16="http://schemas.microsoft.com/office/drawing/2014/main" val="10004"/>
                  </a:ext>
                </a:extLst>
              </a:tr>
            </a:tbl>
          </a:graphicData>
        </a:graphic>
      </p:graphicFrame>
      <p:cxnSp>
        <p:nvCxnSpPr>
          <p:cNvPr id="21" name="Straight Connector 20">
            <a:extLst>
              <a:ext uri="{FF2B5EF4-FFF2-40B4-BE49-F238E27FC236}">
                <a16:creationId xmlns:a16="http://schemas.microsoft.com/office/drawing/2014/main" id="{2B9368E9-4853-427D-9A8F-A1EE3FDC1A94}"/>
              </a:ext>
            </a:extLst>
          </p:cNvPr>
          <p:cNvCxnSpPr/>
          <p:nvPr/>
        </p:nvCxnSpPr>
        <p:spPr>
          <a:xfrm>
            <a:off x="7233983" y="3072845"/>
            <a:ext cx="3724993"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6C28105D-4C60-6EF1-7405-57269380DDE2}"/>
              </a:ext>
            </a:extLst>
          </p:cNvPr>
          <p:cNvCxnSpPr/>
          <p:nvPr/>
        </p:nvCxnSpPr>
        <p:spPr>
          <a:xfrm>
            <a:off x="7233982" y="3072846"/>
            <a:ext cx="0" cy="843530"/>
          </a:xfrm>
          <a:prstGeom prst="straightConnector1">
            <a:avLst/>
          </a:prstGeom>
          <a:ln w="28575">
            <a:solidFill>
              <a:schemeClr val="accent3"/>
            </a:solidFill>
            <a:tailEnd type="arrow"/>
          </a:ln>
        </p:spPr>
        <p:style>
          <a:lnRef idx="2">
            <a:schemeClr val="accent1"/>
          </a:lnRef>
          <a:fillRef idx="0">
            <a:schemeClr val="accent1"/>
          </a:fillRef>
          <a:effectRef idx="1">
            <a:schemeClr val="accent1"/>
          </a:effectRef>
          <a:fontRef idx="minor">
            <a:schemeClr val="tx1"/>
          </a:fontRef>
        </p:style>
      </p:cxnSp>
      <p:sp>
        <p:nvSpPr>
          <p:cNvPr id="29" name="Rectangle 28">
            <a:extLst>
              <a:ext uri="{FF2B5EF4-FFF2-40B4-BE49-F238E27FC236}">
                <a16:creationId xmlns:a16="http://schemas.microsoft.com/office/drawing/2014/main" id="{E630ACD4-4848-D68A-9BF5-1FBC6C20C4AE}"/>
              </a:ext>
            </a:extLst>
          </p:cNvPr>
          <p:cNvSpPr>
            <a:spLocks/>
          </p:cNvSpPr>
          <p:nvPr/>
        </p:nvSpPr>
        <p:spPr bwMode="auto">
          <a:xfrm>
            <a:off x="8725533" y="3165178"/>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2</a:t>
            </a:r>
          </a:p>
        </p:txBody>
      </p:sp>
      <p:sp>
        <p:nvSpPr>
          <p:cNvPr id="30" name="Rectangle 29">
            <a:extLst>
              <a:ext uri="{FF2B5EF4-FFF2-40B4-BE49-F238E27FC236}">
                <a16:creationId xmlns:a16="http://schemas.microsoft.com/office/drawing/2014/main" id="{6D68BF86-37E8-4E6C-01D4-8775AE35652F}"/>
              </a:ext>
            </a:extLst>
          </p:cNvPr>
          <p:cNvSpPr>
            <a:spLocks/>
          </p:cNvSpPr>
          <p:nvPr/>
        </p:nvSpPr>
        <p:spPr bwMode="auto">
          <a:xfrm>
            <a:off x="9814021" y="3165178"/>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3</a:t>
            </a:r>
          </a:p>
        </p:txBody>
      </p:sp>
      <p:sp>
        <p:nvSpPr>
          <p:cNvPr id="31" name="Rectangle 30">
            <a:extLst>
              <a:ext uri="{FF2B5EF4-FFF2-40B4-BE49-F238E27FC236}">
                <a16:creationId xmlns:a16="http://schemas.microsoft.com/office/drawing/2014/main" id="{8CE7529A-E57B-C1F5-FE46-D315C8515573}"/>
              </a:ext>
            </a:extLst>
          </p:cNvPr>
          <p:cNvSpPr>
            <a:spLocks/>
          </p:cNvSpPr>
          <p:nvPr/>
        </p:nvSpPr>
        <p:spPr bwMode="auto">
          <a:xfrm>
            <a:off x="10736183" y="3179135"/>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4</a:t>
            </a:r>
          </a:p>
        </p:txBody>
      </p:sp>
      <p:sp>
        <p:nvSpPr>
          <p:cNvPr id="33" name="Rectangle 32">
            <a:extLst>
              <a:ext uri="{FF2B5EF4-FFF2-40B4-BE49-F238E27FC236}">
                <a16:creationId xmlns:a16="http://schemas.microsoft.com/office/drawing/2014/main" id="{63106BC6-67B0-AA75-9826-529C0BA16BDB}"/>
              </a:ext>
            </a:extLst>
          </p:cNvPr>
          <p:cNvSpPr>
            <a:spLocks/>
          </p:cNvSpPr>
          <p:nvPr/>
        </p:nvSpPr>
        <p:spPr bwMode="auto">
          <a:xfrm>
            <a:off x="7762816" y="3179135"/>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1</a:t>
            </a:r>
          </a:p>
        </p:txBody>
      </p:sp>
      <p:sp>
        <p:nvSpPr>
          <p:cNvPr id="34" name="Rectangle 33">
            <a:extLst>
              <a:ext uri="{FF2B5EF4-FFF2-40B4-BE49-F238E27FC236}">
                <a16:creationId xmlns:a16="http://schemas.microsoft.com/office/drawing/2014/main" id="{8794254E-8C92-3442-609C-DF6DBA36B411}"/>
              </a:ext>
            </a:extLst>
          </p:cNvPr>
          <p:cNvSpPr>
            <a:spLocks/>
          </p:cNvSpPr>
          <p:nvPr/>
        </p:nvSpPr>
        <p:spPr bwMode="auto">
          <a:xfrm>
            <a:off x="7621283" y="2766560"/>
            <a:ext cx="15659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90.000</a:t>
            </a:r>
          </a:p>
        </p:txBody>
      </p:sp>
      <p:cxnSp>
        <p:nvCxnSpPr>
          <p:cNvPr id="37" name="Straight Arrow Connector 36">
            <a:extLst>
              <a:ext uri="{FF2B5EF4-FFF2-40B4-BE49-F238E27FC236}">
                <a16:creationId xmlns:a16="http://schemas.microsoft.com/office/drawing/2014/main" id="{D8F6B47F-F2AE-93CB-CEAF-6234F2261363}"/>
              </a:ext>
            </a:extLst>
          </p:cNvPr>
          <p:cNvCxnSpPr/>
          <p:nvPr/>
        </p:nvCxnSpPr>
        <p:spPr>
          <a:xfrm flipV="1">
            <a:off x="7945091" y="2236570"/>
            <a:ext cx="0" cy="524911"/>
          </a:xfrm>
          <a:prstGeom prst="straightConnector1">
            <a:avLst/>
          </a:prstGeom>
          <a:ln>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037987A9-F44F-8643-D472-0AEFA51EAC03}"/>
              </a:ext>
            </a:extLst>
          </p:cNvPr>
          <p:cNvSpPr>
            <a:spLocks/>
          </p:cNvSpPr>
          <p:nvPr/>
        </p:nvSpPr>
        <p:spPr bwMode="auto">
          <a:xfrm>
            <a:off x="7650547" y="2363348"/>
            <a:ext cx="15659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218.669</a:t>
            </a:r>
          </a:p>
        </p:txBody>
      </p:sp>
      <p:cxnSp>
        <p:nvCxnSpPr>
          <p:cNvPr id="61" name="Straight Arrow Connector 60">
            <a:extLst>
              <a:ext uri="{FF2B5EF4-FFF2-40B4-BE49-F238E27FC236}">
                <a16:creationId xmlns:a16="http://schemas.microsoft.com/office/drawing/2014/main" id="{5DFFE12A-563F-3848-274C-604D3AC47034}"/>
              </a:ext>
            </a:extLst>
          </p:cNvPr>
          <p:cNvCxnSpPr/>
          <p:nvPr/>
        </p:nvCxnSpPr>
        <p:spPr>
          <a:xfrm flipV="1">
            <a:off x="7960786" y="2790763"/>
            <a:ext cx="0" cy="282084"/>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62" name="Straight Arrow Connector 61">
            <a:extLst>
              <a:ext uri="{FF2B5EF4-FFF2-40B4-BE49-F238E27FC236}">
                <a16:creationId xmlns:a16="http://schemas.microsoft.com/office/drawing/2014/main" id="{5C236BB2-686B-832E-8CB7-2F53B2B5EA05}"/>
              </a:ext>
            </a:extLst>
          </p:cNvPr>
          <p:cNvCxnSpPr/>
          <p:nvPr/>
        </p:nvCxnSpPr>
        <p:spPr>
          <a:xfrm flipV="1">
            <a:off x="7949131" y="2236570"/>
            <a:ext cx="0" cy="524911"/>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2F025B96-8555-0BBC-7D60-7AF5A244A8C5}"/>
              </a:ext>
            </a:extLst>
          </p:cNvPr>
          <p:cNvSpPr>
            <a:spLocks/>
          </p:cNvSpPr>
          <p:nvPr/>
        </p:nvSpPr>
        <p:spPr bwMode="auto">
          <a:xfrm>
            <a:off x="6533944" y="4003217"/>
            <a:ext cx="156593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1.000.000</a:t>
            </a:r>
          </a:p>
        </p:txBody>
      </p:sp>
      <p:sp>
        <p:nvSpPr>
          <p:cNvPr id="2" name="Rectangle 44">
            <a:extLst>
              <a:ext uri="{FF2B5EF4-FFF2-40B4-BE49-F238E27FC236}">
                <a16:creationId xmlns:a16="http://schemas.microsoft.com/office/drawing/2014/main" id="{6B24B261-D207-7405-64F1-3E04FBF71E47}"/>
              </a:ext>
            </a:extLst>
          </p:cNvPr>
          <p:cNvSpPr>
            <a:spLocks/>
          </p:cNvSpPr>
          <p:nvPr/>
        </p:nvSpPr>
        <p:spPr bwMode="auto">
          <a:xfrm>
            <a:off x="8563247" y="2792604"/>
            <a:ext cx="156593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70.320</a:t>
            </a:r>
          </a:p>
        </p:txBody>
      </p:sp>
      <p:sp>
        <p:nvSpPr>
          <p:cNvPr id="17" name="Rectangle 47">
            <a:extLst>
              <a:ext uri="{FF2B5EF4-FFF2-40B4-BE49-F238E27FC236}">
                <a16:creationId xmlns:a16="http://schemas.microsoft.com/office/drawing/2014/main" id="{402681A5-1FC2-67F0-373D-894E04370337}"/>
              </a:ext>
            </a:extLst>
          </p:cNvPr>
          <p:cNvSpPr>
            <a:spLocks/>
          </p:cNvSpPr>
          <p:nvPr/>
        </p:nvSpPr>
        <p:spPr bwMode="auto">
          <a:xfrm>
            <a:off x="8573920" y="2376822"/>
            <a:ext cx="156593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238.349</a:t>
            </a:r>
          </a:p>
        </p:txBody>
      </p:sp>
      <p:cxnSp>
        <p:nvCxnSpPr>
          <p:cNvPr id="18" name="Straight Arrow Connector 62">
            <a:extLst>
              <a:ext uri="{FF2B5EF4-FFF2-40B4-BE49-F238E27FC236}">
                <a16:creationId xmlns:a16="http://schemas.microsoft.com/office/drawing/2014/main" id="{B4602B64-7DBF-5EAD-7B91-6AB197E2D6A0}"/>
              </a:ext>
            </a:extLst>
          </p:cNvPr>
          <p:cNvCxnSpPr/>
          <p:nvPr/>
        </p:nvCxnSpPr>
        <p:spPr>
          <a:xfrm flipV="1">
            <a:off x="8880324" y="2776148"/>
            <a:ext cx="0" cy="282084"/>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20" name="Straight Arrow Connector 63">
            <a:extLst>
              <a:ext uri="{FF2B5EF4-FFF2-40B4-BE49-F238E27FC236}">
                <a16:creationId xmlns:a16="http://schemas.microsoft.com/office/drawing/2014/main" id="{4629758F-CF58-2D2E-63E6-94E2DCACD398}"/>
              </a:ext>
            </a:extLst>
          </p:cNvPr>
          <p:cNvCxnSpPr/>
          <p:nvPr/>
        </p:nvCxnSpPr>
        <p:spPr>
          <a:xfrm flipV="1">
            <a:off x="8894069" y="2221955"/>
            <a:ext cx="0" cy="524911"/>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22" name="Straight Arrow Connector 40">
            <a:extLst>
              <a:ext uri="{FF2B5EF4-FFF2-40B4-BE49-F238E27FC236}">
                <a16:creationId xmlns:a16="http://schemas.microsoft.com/office/drawing/2014/main" id="{A29C5DDC-7DE5-8B38-2321-EE97AA5411AC}"/>
              </a:ext>
            </a:extLst>
          </p:cNvPr>
          <p:cNvCxnSpPr/>
          <p:nvPr/>
        </p:nvCxnSpPr>
        <p:spPr>
          <a:xfrm flipV="1">
            <a:off x="9964271" y="2748024"/>
            <a:ext cx="0" cy="282084"/>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23" name="Straight Arrow Connector 41">
            <a:extLst>
              <a:ext uri="{FF2B5EF4-FFF2-40B4-BE49-F238E27FC236}">
                <a16:creationId xmlns:a16="http://schemas.microsoft.com/office/drawing/2014/main" id="{D3FC12B5-8D3F-2E8D-643C-B1DD7D9E0743}"/>
              </a:ext>
            </a:extLst>
          </p:cNvPr>
          <p:cNvCxnSpPr/>
          <p:nvPr/>
        </p:nvCxnSpPr>
        <p:spPr>
          <a:xfrm flipV="1">
            <a:off x="9978016" y="2193831"/>
            <a:ext cx="0" cy="524911"/>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25" name="Rectangle 45">
            <a:extLst>
              <a:ext uri="{FF2B5EF4-FFF2-40B4-BE49-F238E27FC236}">
                <a16:creationId xmlns:a16="http://schemas.microsoft.com/office/drawing/2014/main" id="{ECDFE7C2-931A-B5C0-C8D8-8338D9AFE466}"/>
              </a:ext>
            </a:extLst>
          </p:cNvPr>
          <p:cNvSpPr>
            <a:spLocks/>
          </p:cNvSpPr>
          <p:nvPr/>
        </p:nvSpPr>
        <p:spPr bwMode="auto">
          <a:xfrm>
            <a:off x="9578469" y="2800354"/>
            <a:ext cx="156593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48.868</a:t>
            </a:r>
          </a:p>
        </p:txBody>
      </p:sp>
      <p:sp>
        <p:nvSpPr>
          <p:cNvPr id="26" name="Rectangle 48">
            <a:extLst>
              <a:ext uri="{FF2B5EF4-FFF2-40B4-BE49-F238E27FC236}">
                <a16:creationId xmlns:a16="http://schemas.microsoft.com/office/drawing/2014/main" id="{32F9ED47-4590-826F-BE05-CB519E4E1CA5}"/>
              </a:ext>
            </a:extLst>
          </p:cNvPr>
          <p:cNvSpPr>
            <a:spLocks/>
          </p:cNvSpPr>
          <p:nvPr/>
        </p:nvSpPr>
        <p:spPr bwMode="auto">
          <a:xfrm>
            <a:off x="9610556" y="2371474"/>
            <a:ext cx="156593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259.800</a:t>
            </a:r>
          </a:p>
        </p:txBody>
      </p:sp>
      <p:cxnSp>
        <p:nvCxnSpPr>
          <p:cNvPr id="27" name="Straight Arrow Connector 42">
            <a:extLst>
              <a:ext uri="{FF2B5EF4-FFF2-40B4-BE49-F238E27FC236}">
                <a16:creationId xmlns:a16="http://schemas.microsoft.com/office/drawing/2014/main" id="{13348FE3-1D60-3BAB-470D-7324DB97F6A9}"/>
              </a:ext>
            </a:extLst>
          </p:cNvPr>
          <p:cNvCxnSpPr/>
          <p:nvPr/>
        </p:nvCxnSpPr>
        <p:spPr>
          <a:xfrm flipV="1">
            <a:off x="10941005" y="2767030"/>
            <a:ext cx="0" cy="282084"/>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28" name="Straight Arrow Connector 43">
            <a:extLst>
              <a:ext uri="{FF2B5EF4-FFF2-40B4-BE49-F238E27FC236}">
                <a16:creationId xmlns:a16="http://schemas.microsoft.com/office/drawing/2014/main" id="{94EBB022-6D86-DA6A-D260-230EDE76CA98}"/>
              </a:ext>
            </a:extLst>
          </p:cNvPr>
          <p:cNvCxnSpPr/>
          <p:nvPr/>
        </p:nvCxnSpPr>
        <p:spPr>
          <a:xfrm flipV="1">
            <a:off x="10954750" y="2212837"/>
            <a:ext cx="0" cy="524911"/>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35" name="Rectangle 49">
            <a:extLst>
              <a:ext uri="{FF2B5EF4-FFF2-40B4-BE49-F238E27FC236}">
                <a16:creationId xmlns:a16="http://schemas.microsoft.com/office/drawing/2014/main" id="{59803875-FA94-5AEA-20C5-F63CC1E8F982}"/>
              </a:ext>
            </a:extLst>
          </p:cNvPr>
          <p:cNvSpPr>
            <a:spLocks/>
          </p:cNvSpPr>
          <p:nvPr/>
        </p:nvSpPr>
        <p:spPr bwMode="auto">
          <a:xfrm>
            <a:off x="10683885" y="2830769"/>
            <a:ext cx="129595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25.486</a:t>
            </a:r>
          </a:p>
        </p:txBody>
      </p:sp>
      <p:sp>
        <p:nvSpPr>
          <p:cNvPr id="36" name="Rectangle 50">
            <a:extLst>
              <a:ext uri="{FF2B5EF4-FFF2-40B4-BE49-F238E27FC236}">
                <a16:creationId xmlns:a16="http://schemas.microsoft.com/office/drawing/2014/main" id="{13763009-BC88-EA9C-7854-442632419689}"/>
              </a:ext>
            </a:extLst>
          </p:cNvPr>
          <p:cNvSpPr>
            <a:spLocks/>
          </p:cNvSpPr>
          <p:nvPr/>
        </p:nvSpPr>
        <p:spPr bwMode="auto">
          <a:xfrm>
            <a:off x="10735377" y="2391794"/>
            <a:ext cx="129595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283.182</a:t>
            </a:r>
          </a:p>
        </p:txBody>
      </p:sp>
    </p:spTree>
    <p:extLst>
      <p:ext uri="{BB962C8B-B14F-4D97-AF65-F5344CB8AC3E}">
        <p14:creationId xmlns:p14="http://schemas.microsoft.com/office/powerpoint/2010/main" val="42519108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81191" y="1813821"/>
            <a:ext cx="11029615" cy="3957059"/>
          </a:xfrm>
        </p:spPr>
        <p:txBody>
          <a:bodyPr>
            <a:noAutofit/>
          </a:bodyPr>
          <a:lstStyle/>
          <a:p>
            <a:pPr marL="0" indent="0" algn="just">
              <a:buNone/>
            </a:pPr>
            <a:endParaRPr lang="es-ES_tradnl" sz="2400" dirty="0"/>
          </a:p>
          <a:p>
            <a:pPr marL="0" indent="0" algn="just">
              <a:buNone/>
            </a:pPr>
            <a:r>
              <a:rPr lang="es-ES_tradnl" sz="2400" dirty="0"/>
              <a:t>Los anteriores ejemplos permiten obtener varias conclusiones interesantes:</a:t>
            </a:r>
          </a:p>
          <a:p>
            <a:pPr marL="0" indent="0" algn="just">
              <a:buNone/>
            </a:pPr>
            <a:endParaRPr lang="es-ES_tradnl" sz="2400" dirty="0"/>
          </a:p>
          <a:p>
            <a:pPr marL="457200" indent="-457200" algn="just">
              <a:buFont typeface="+mj-lt"/>
              <a:buAutoNum type="arabicPeriod"/>
            </a:pPr>
            <a:r>
              <a:rPr lang="es-ES_tradnl" sz="2400" dirty="0"/>
              <a:t>Los flujos que otorga el proyecto, por valor de 308.668,7, corresponden al retorno del 9% del capital invertido durante el periodo más un componente del capital que es “retirado” del proyecto.</a:t>
            </a:r>
          </a:p>
          <a:p>
            <a:pPr marL="457200" indent="-457200" algn="just">
              <a:buFont typeface="+mj-lt"/>
              <a:buAutoNum type="arabicPeriod"/>
            </a:pPr>
            <a:r>
              <a:rPr lang="es-ES_tradnl" sz="2400" dirty="0"/>
              <a:t>El valor de la cuota por periodo es entonces una mezcla entre el retorno efectivo del 9% sobre el saldo vigente más un “retiro” de un pedazo de los recursos invertidos.</a:t>
            </a:r>
          </a:p>
          <a:p>
            <a:pPr marL="457200" indent="-457200" algn="just">
              <a:buFont typeface="+mj-lt"/>
              <a:buAutoNum type="arabicPeriod"/>
            </a:pPr>
            <a:r>
              <a:rPr lang="es-ES_tradnl" sz="2400" dirty="0"/>
              <a:t>Entonces, el 9% es realmente la rentabilidad efectiva sobre la inversión (saldo de capital vigente) que no se ha retirado y que </a:t>
            </a:r>
            <a:r>
              <a:rPr lang="es-ES_tradnl" sz="2400" i="1" dirty="0">
                <a:solidFill>
                  <a:srgbClr val="800000"/>
                </a:solidFill>
              </a:rPr>
              <a:t>PERMANECE INVERTIDA</a:t>
            </a:r>
            <a:r>
              <a:rPr lang="es-ES_tradnl" sz="2400" dirty="0"/>
              <a:t> en el proyecto.</a:t>
            </a:r>
          </a:p>
        </p:txBody>
      </p:sp>
      <p:sp>
        <p:nvSpPr>
          <p:cNvPr id="4" name="Slide Number Placeholder 3"/>
          <p:cNvSpPr>
            <a:spLocks noGrp="1"/>
          </p:cNvSpPr>
          <p:nvPr>
            <p:ph type="sldNum" sz="quarter" idx="12"/>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E3E23BA-6E79-2442-BA73-D218A5E297C3}" type="slidenum">
              <a:rPr kumimoji="0" lang="en-US" sz="9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9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6" name="Rectángulo 5">
            <a:extLst>
              <a:ext uri="{FF2B5EF4-FFF2-40B4-BE49-F238E27FC236}">
                <a16:creationId xmlns:a16="http://schemas.microsoft.com/office/drawing/2014/main" id="{E8D4A1D8-E896-FC25-C082-14DD438C48C2}"/>
              </a:ext>
            </a:extLst>
          </p:cNvPr>
          <p:cNvSpPr/>
          <p:nvPr/>
        </p:nvSpPr>
        <p:spPr>
          <a:xfrm>
            <a:off x="1415434" y="118110"/>
            <a:ext cx="2781532" cy="261610"/>
          </a:xfrm>
          <a:prstGeom prst="rect">
            <a:avLst/>
          </a:prstGeom>
        </p:spPr>
        <p:txBody>
          <a:bodyPr wrap="none">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s-CO" sz="1100" b="1" i="0" u="none" strike="noStrike" kern="1200" cap="none" spc="0" normalizeH="0" baseline="0" noProof="0">
                <a:ln>
                  <a:noFill/>
                </a:ln>
                <a:solidFill>
                  <a:srgbClr val="8CB64A">
                    <a:lumMod val="50000"/>
                  </a:srgbClr>
                </a:solidFill>
                <a:effectLst/>
                <a:uLnTx/>
                <a:uFillTx/>
                <a:latin typeface="Century Gothic" panose="020B0502020202020204" pitchFamily="34" charset="0"/>
                <a:ea typeface="+mn-ea"/>
                <a:cs typeface="+mn-cs"/>
                <a:sym typeface="Gill Sans Light"/>
              </a:rPr>
              <a:t>Departamento de Ingeniería Industrial</a:t>
            </a:r>
            <a:endParaRPr kumimoji="0" lang="es-CO" sz="1100" b="1" i="0" u="none" strike="noStrike" kern="1200" cap="none" spc="0" normalizeH="0" baseline="0" noProof="0">
              <a:ln>
                <a:noFill/>
              </a:ln>
              <a:solidFill>
                <a:srgbClr val="8CB64A">
                  <a:lumMod val="50000"/>
                </a:srgbClr>
              </a:solidFill>
              <a:effectLst/>
              <a:uLnTx/>
              <a:uFillTx/>
              <a:latin typeface="Century Gothic" panose="020B0502020202020204" pitchFamily="34" charset="0"/>
              <a:ea typeface="+mn-ea"/>
              <a:cs typeface="+mn-cs"/>
            </a:endParaRPr>
          </a:p>
        </p:txBody>
      </p:sp>
      <p:pic>
        <p:nvPicPr>
          <p:cNvPr id="7" name="Picture 2" descr="Clientes y aliados | Centro de Evaluación | Uniandes">
            <a:extLst>
              <a:ext uri="{FF2B5EF4-FFF2-40B4-BE49-F238E27FC236}">
                <a16:creationId xmlns:a16="http://schemas.microsoft.com/office/drawing/2014/main" id="{C8E8AF18-1962-17D8-F610-6685411AFB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8" name="Rectángulo 7">
            <a:extLst>
              <a:ext uri="{FF2B5EF4-FFF2-40B4-BE49-F238E27FC236}">
                <a16:creationId xmlns:a16="http://schemas.microsoft.com/office/drawing/2014/main" id="{7A1D20D8-619A-9F25-70EB-5F93F11C22F9}"/>
              </a:ext>
            </a:extLst>
          </p:cNvPr>
          <p:cNvSpPr/>
          <p:nvPr/>
        </p:nvSpPr>
        <p:spPr>
          <a:xfrm>
            <a:off x="8399257" y="118110"/>
            <a:ext cx="3150778" cy="261610"/>
          </a:xfrm>
          <a:prstGeom prst="rect">
            <a:avLst/>
          </a:prstGeom>
        </p:spPr>
        <p:txBody>
          <a:bodyPr wrap="square">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s-CO" sz="1100" b="1" i="0" u="none" strike="noStrike" kern="1200" cap="none" spc="0" normalizeH="0" baseline="0" noProof="0" dirty="0">
                <a:ln>
                  <a:noFill/>
                </a:ln>
                <a:solidFill>
                  <a:srgbClr val="8CB64A">
                    <a:lumMod val="50000"/>
                  </a:srgbClr>
                </a:solidFill>
                <a:effectLst/>
                <a:uLnTx/>
                <a:uFillTx/>
                <a:latin typeface="Century Gothic" panose="020B0502020202020204" pitchFamily="34" charset="0"/>
                <a:ea typeface="+mn-ea"/>
                <a:cs typeface="+mn-cs"/>
                <a:sym typeface="Gill Sans Light"/>
              </a:rPr>
              <a:t>Curso</a:t>
            </a:r>
            <a:r>
              <a:rPr kumimoji="0" lang="es-CO" sz="1100" b="0" i="0" u="none" strike="noStrike" kern="1200" cap="none" spc="0" normalizeH="0" baseline="0" noProof="0" dirty="0">
                <a:ln>
                  <a:noFill/>
                </a:ln>
                <a:solidFill>
                  <a:srgbClr val="8CB64A">
                    <a:lumMod val="50000"/>
                  </a:srgbClr>
                </a:solidFill>
                <a:effectLst/>
                <a:uLnTx/>
                <a:uFillTx/>
                <a:latin typeface="Century Gothic" panose="020B0502020202020204" pitchFamily="34" charset="0"/>
                <a:ea typeface="+mn-ea"/>
                <a:cs typeface="+mn-cs"/>
                <a:sym typeface="Gill Sans Light"/>
              </a:rPr>
              <a:t> Análisis de Decisiones de Inversión</a:t>
            </a:r>
            <a:endParaRPr kumimoji="0" lang="es-CO" sz="1100" b="0" i="0" u="none" strike="noStrike" kern="1200" cap="none" spc="0" normalizeH="0" baseline="0" noProof="0" dirty="0">
              <a:ln>
                <a:noFill/>
              </a:ln>
              <a:solidFill>
                <a:srgbClr val="8CB64A">
                  <a:lumMod val="50000"/>
                </a:srgbClr>
              </a:solidFill>
              <a:effectLst/>
              <a:uLnTx/>
              <a:uFillTx/>
              <a:latin typeface="Century Gothic" panose="020B0502020202020204" pitchFamily="34" charset="0"/>
              <a:ea typeface="+mn-ea"/>
              <a:cs typeface="+mn-cs"/>
            </a:endParaRPr>
          </a:p>
        </p:txBody>
      </p:sp>
      <p:sp>
        <p:nvSpPr>
          <p:cNvPr id="9" name="Título 1">
            <a:extLst>
              <a:ext uri="{FF2B5EF4-FFF2-40B4-BE49-F238E27FC236}">
                <a16:creationId xmlns:a16="http://schemas.microsoft.com/office/drawing/2014/main" id="{730000AD-703B-E556-52F1-14132A59ECB7}"/>
              </a:ext>
            </a:extLst>
          </p:cNvPr>
          <p:cNvSpPr>
            <a:spLocks noGrp="1"/>
          </p:cNvSpPr>
          <p:nvPr>
            <p:ph type="title"/>
          </p:nvPr>
        </p:nvSpPr>
        <p:spPr>
          <a:xfrm>
            <a:off x="581192" y="702156"/>
            <a:ext cx="11029616" cy="1013800"/>
          </a:xfrm>
        </p:spPr>
        <p:txBody>
          <a:bodyPr>
            <a:normAutofit/>
          </a:bodyPr>
          <a:lstStyle/>
          <a:p>
            <a:r>
              <a:rPr lang="es-CO" sz="3200" dirty="0">
                <a:latin typeface="Century Gothic" panose="020B0502020202020204" pitchFamily="34" charset="0"/>
              </a:rPr>
              <a:t>TIR</a:t>
            </a:r>
          </a:p>
        </p:txBody>
      </p:sp>
    </p:spTree>
    <p:extLst>
      <p:ext uri="{BB962C8B-B14F-4D97-AF65-F5344CB8AC3E}">
        <p14:creationId xmlns:p14="http://schemas.microsoft.com/office/powerpoint/2010/main" val="389486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E3E23BA-6E79-2442-BA73-D218A5E297C3}" type="slidenum">
              <a:rPr kumimoji="0" lang="en-US" sz="9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11</a:t>
            </a:fld>
            <a:endParaRPr kumimoji="0" lang="en-US" sz="9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21" name="Straight Connector 20"/>
          <p:cNvCxnSpPr/>
          <p:nvPr/>
        </p:nvCxnSpPr>
        <p:spPr>
          <a:xfrm>
            <a:off x="3878703" y="3757726"/>
            <a:ext cx="3724993"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Arrow Connector 23"/>
          <p:cNvCxnSpPr/>
          <p:nvPr/>
        </p:nvCxnSpPr>
        <p:spPr>
          <a:xfrm>
            <a:off x="3878702" y="3757727"/>
            <a:ext cx="0" cy="843530"/>
          </a:xfrm>
          <a:prstGeom prst="straightConnector1">
            <a:avLst/>
          </a:prstGeom>
          <a:ln w="28575">
            <a:solidFill>
              <a:schemeClr val="accent3"/>
            </a:solidFill>
            <a:tailEnd type="arrow"/>
          </a:ln>
        </p:spPr>
        <p:style>
          <a:lnRef idx="2">
            <a:schemeClr val="accent1"/>
          </a:lnRef>
          <a:fillRef idx="0">
            <a:schemeClr val="accent1"/>
          </a:fillRef>
          <a:effectRef idx="1">
            <a:schemeClr val="accent1"/>
          </a:effectRef>
          <a:fontRef idx="minor">
            <a:schemeClr val="tx1"/>
          </a:fontRef>
        </p:style>
      </p:cxnSp>
      <p:sp>
        <p:nvSpPr>
          <p:cNvPr id="34" name="Rectangle 33"/>
          <p:cNvSpPr>
            <a:spLocks/>
          </p:cNvSpPr>
          <p:nvPr/>
        </p:nvSpPr>
        <p:spPr bwMode="auto">
          <a:xfrm>
            <a:off x="4194883" y="3451441"/>
            <a:ext cx="15659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90.000</a:t>
            </a:r>
          </a:p>
        </p:txBody>
      </p:sp>
      <p:cxnSp>
        <p:nvCxnSpPr>
          <p:cNvPr id="35" name="Straight Arrow Connector 34"/>
          <p:cNvCxnSpPr/>
          <p:nvPr/>
        </p:nvCxnSpPr>
        <p:spPr>
          <a:xfrm flipV="1">
            <a:off x="4576067" y="3177272"/>
            <a:ext cx="13745" cy="580457"/>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37" name="Straight Arrow Connector 36"/>
          <p:cNvCxnSpPr/>
          <p:nvPr/>
        </p:nvCxnSpPr>
        <p:spPr>
          <a:xfrm flipV="1">
            <a:off x="4576067" y="2456849"/>
            <a:ext cx="13745" cy="720422"/>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39" name="Straight Arrow Connector 38"/>
          <p:cNvCxnSpPr/>
          <p:nvPr/>
        </p:nvCxnSpPr>
        <p:spPr>
          <a:xfrm flipV="1">
            <a:off x="5535165" y="3273912"/>
            <a:ext cx="13745" cy="483817"/>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40" name="Straight Arrow Connector 39"/>
          <p:cNvCxnSpPr/>
          <p:nvPr/>
        </p:nvCxnSpPr>
        <p:spPr>
          <a:xfrm flipV="1">
            <a:off x="5535165" y="2456849"/>
            <a:ext cx="13745" cy="817062"/>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41" name="Straight Arrow Connector 40"/>
          <p:cNvCxnSpPr/>
          <p:nvPr/>
        </p:nvCxnSpPr>
        <p:spPr>
          <a:xfrm flipV="1">
            <a:off x="6626961" y="3273912"/>
            <a:ext cx="0" cy="422673"/>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42" name="Straight Arrow Connector 41"/>
          <p:cNvCxnSpPr/>
          <p:nvPr/>
        </p:nvCxnSpPr>
        <p:spPr>
          <a:xfrm flipV="1">
            <a:off x="6626962" y="2395705"/>
            <a:ext cx="13745" cy="878206"/>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43" name="Straight Arrow Connector 42"/>
          <p:cNvCxnSpPr/>
          <p:nvPr/>
        </p:nvCxnSpPr>
        <p:spPr>
          <a:xfrm flipV="1">
            <a:off x="7603695" y="3413186"/>
            <a:ext cx="0" cy="282084"/>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44" name="Straight Arrow Connector 43"/>
          <p:cNvCxnSpPr/>
          <p:nvPr/>
        </p:nvCxnSpPr>
        <p:spPr>
          <a:xfrm flipV="1">
            <a:off x="7603696" y="2394392"/>
            <a:ext cx="13745" cy="1018795"/>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45" name="Rectangle 44"/>
          <p:cNvSpPr>
            <a:spLocks/>
          </p:cNvSpPr>
          <p:nvPr/>
        </p:nvSpPr>
        <p:spPr bwMode="auto">
          <a:xfrm>
            <a:off x="5215777" y="3464011"/>
            <a:ext cx="15659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70.320</a:t>
            </a:r>
          </a:p>
        </p:txBody>
      </p:sp>
      <p:sp>
        <p:nvSpPr>
          <p:cNvPr id="46" name="Rectangle 45"/>
          <p:cNvSpPr>
            <a:spLocks/>
          </p:cNvSpPr>
          <p:nvPr/>
        </p:nvSpPr>
        <p:spPr bwMode="auto">
          <a:xfrm>
            <a:off x="6241159" y="3451441"/>
            <a:ext cx="15659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48.868</a:t>
            </a:r>
          </a:p>
        </p:txBody>
      </p:sp>
      <p:sp>
        <p:nvSpPr>
          <p:cNvPr id="47" name="Rectangle 46"/>
          <p:cNvSpPr>
            <a:spLocks/>
          </p:cNvSpPr>
          <p:nvPr/>
        </p:nvSpPr>
        <p:spPr bwMode="auto">
          <a:xfrm>
            <a:off x="4254627" y="2583627"/>
            <a:ext cx="15659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218.669</a:t>
            </a:r>
          </a:p>
        </p:txBody>
      </p:sp>
      <p:sp>
        <p:nvSpPr>
          <p:cNvPr id="48" name="Rectangle 47"/>
          <p:cNvSpPr>
            <a:spLocks/>
          </p:cNvSpPr>
          <p:nvPr/>
        </p:nvSpPr>
        <p:spPr bwMode="auto">
          <a:xfrm>
            <a:off x="5226450" y="2583627"/>
            <a:ext cx="15659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238.349</a:t>
            </a:r>
          </a:p>
        </p:txBody>
      </p:sp>
      <p:sp>
        <p:nvSpPr>
          <p:cNvPr id="49" name="Rectangle 48"/>
          <p:cNvSpPr>
            <a:spLocks/>
          </p:cNvSpPr>
          <p:nvPr/>
        </p:nvSpPr>
        <p:spPr bwMode="auto">
          <a:xfrm>
            <a:off x="6273246" y="2557959"/>
            <a:ext cx="15659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259.800</a:t>
            </a:r>
          </a:p>
        </p:txBody>
      </p:sp>
      <p:sp>
        <p:nvSpPr>
          <p:cNvPr id="50" name="Rectangle 49"/>
          <p:cNvSpPr>
            <a:spLocks/>
          </p:cNvSpPr>
          <p:nvPr/>
        </p:nvSpPr>
        <p:spPr bwMode="auto">
          <a:xfrm>
            <a:off x="7346575" y="3461536"/>
            <a:ext cx="129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25.486</a:t>
            </a:r>
          </a:p>
        </p:txBody>
      </p:sp>
      <p:sp>
        <p:nvSpPr>
          <p:cNvPr id="51" name="Rectangle 50"/>
          <p:cNvSpPr>
            <a:spLocks/>
          </p:cNvSpPr>
          <p:nvPr/>
        </p:nvSpPr>
        <p:spPr bwMode="auto">
          <a:xfrm>
            <a:off x="7398067" y="2557959"/>
            <a:ext cx="129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283.182</a:t>
            </a:r>
          </a:p>
        </p:txBody>
      </p:sp>
      <p:sp>
        <p:nvSpPr>
          <p:cNvPr id="52" name="Rectangle 51"/>
          <p:cNvSpPr>
            <a:spLocks/>
          </p:cNvSpPr>
          <p:nvPr/>
        </p:nvSpPr>
        <p:spPr bwMode="auto">
          <a:xfrm>
            <a:off x="3095735" y="4623058"/>
            <a:ext cx="15659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1.000.000</a:t>
            </a:r>
          </a:p>
        </p:txBody>
      </p:sp>
      <p:cxnSp>
        <p:nvCxnSpPr>
          <p:cNvPr id="27" name="Curved Connector 26"/>
          <p:cNvCxnSpPr/>
          <p:nvPr/>
        </p:nvCxnSpPr>
        <p:spPr>
          <a:xfrm rot="16200000" flipH="1">
            <a:off x="3720578" y="5058180"/>
            <a:ext cx="845082" cy="528834"/>
          </a:xfrm>
          <a:prstGeom prst="curvedConnector3">
            <a:avLst/>
          </a:prstGeom>
          <a:ln w="28575">
            <a:tailEnd type="arrow"/>
          </a:ln>
        </p:spPr>
        <p:style>
          <a:lnRef idx="2">
            <a:schemeClr val="accent1"/>
          </a:lnRef>
          <a:fillRef idx="0">
            <a:schemeClr val="accent1"/>
          </a:fillRef>
          <a:effectRef idx="1">
            <a:schemeClr val="accent1"/>
          </a:effectRef>
          <a:fontRef idx="minor">
            <a:schemeClr val="tx1"/>
          </a:fontRef>
        </p:style>
      </p:cxnSp>
      <p:sp>
        <p:nvSpPr>
          <p:cNvPr id="53" name="Rectangle 52"/>
          <p:cNvSpPr>
            <a:spLocks/>
          </p:cNvSpPr>
          <p:nvPr/>
        </p:nvSpPr>
        <p:spPr bwMode="auto">
          <a:xfrm>
            <a:off x="3450771" y="5806693"/>
            <a:ext cx="1748027" cy="6155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s-ES_tradnl" sz="2000" b="0" i="1" u="none" strike="noStrike" kern="1200" cap="none" spc="0" normalizeH="0" baseline="0" noProof="0" dirty="0">
                <a:ln>
                  <a:noFill/>
                </a:ln>
                <a:solidFill>
                  <a:srgbClr val="800000"/>
                </a:solidFill>
                <a:effectLst/>
                <a:uLnTx/>
                <a:uFillTx/>
                <a:latin typeface="Calibri" panose="020F0502020204030204"/>
                <a:ea typeface="+mn-ea"/>
                <a:cs typeface="+mn-cs"/>
              </a:rPr>
              <a:t>Capital Invertido</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s-ES_tradnl" sz="2000" b="0" i="1" u="none" strike="noStrike" kern="1200" cap="none" spc="0" normalizeH="0" baseline="0" noProof="0" dirty="0">
                <a:ln>
                  <a:noFill/>
                </a:ln>
                <a:solidFill>
                  <a:srgbClr val="800000"/>
                </a:solidFill>
                <a:effectLst/>
                <a:uLnTx/>
                <a:uFillTx/>
                <a:latin typeface="Calibri" panose="020F0502020204030204"/>
                <a:ea typeface="+mn-ea"/>
                <a:cs typeface="+mn-cs"/>
              </a:rPr>
              <a:t>Inicialmente</a:t>
            </a:r>
          </a:p>
        </p:txBody>
      </p:sp>
      <p:sp>
        <p:nvSpPr>
          <p:cNvPr id="54" name="Rectangle 53"/>
          <p:cNvSpPr>
            <a:spLocks/>
          </p:cNvSpPr>
          <p:nvPr/>
        </p:nvSpPr>
        <p:spPr bwMode="auto">
          <a:xfrm>
            <a:off x="3912440" y="4076233"/>
            <a:ext cx="15659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1" u="none" strike="noStrike" kern="1200" cap="none" spc="0" normalizeH="0" baseline="0" noProof="0" dirty="0">
                <a:ln>
                  <a:noFill/>
                </a:ln>
                <a:solidFill>
                  <a:srgbClr val="0000FF"/>
                </a:solidFill>
                <a:effectLst/>
                <a:uLnTx/>
                <a:uFillTx/>
                <a:latin typeface="Calibri" panose="020F0502020204030204"/>
                <a:ea typeface="+mn-ea"/>
                <a:cs typeface="+mn-cs"/>
              </a:rPr>
              <a:t>781.331</a:t>
            </a:r>
          </a:p>
        </p:txBody>
      </p:sp>
      <p:sp>
        <p:nvSpPr>
          <p:cNvPr id="55" name="Rectangle 54"/>
          <p:cNvSpPr>
            <a:spLocks/>
          </p:cNvSpPr>
          <p:nvPr/>
        </p:nvSpPr>
        <p:spPr bwMode="auto">
          <a:xfrm>
            <a:off x="4870268" y="4071642"/>
            <a:ext cx="15659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1" u="none" strike="noStrike" kern="1200" cap="none" spc="0" normalizeH="0" baseline="0" noProof="0" dirty="0">
                <a:ln>
                  <a:noFill/>
                </a:ln>
                <a:solidFill>
                  <a:srgbClr val="0000FF"/>
                </a:solidFill>
                <a:effectLst/>
                <a:uLnTx/>
                <a:uFillTx/>
                <a:latin typeface="Calibri" panose="020F0502020204030204"/>
                <a:ea typeface="+mn-ea"/>
                <a:cs typeface="+mn-cs"/>
              </a:rPr>
              <a:t>542.982</a:t>
            </a:r>
          </a:p>
        </p:txBody>
      </p:sp>
      <p:sp>
        <p:nvSpPr>
          <p:cNvPr id="56" name="Rectangle 55"/>
          <p:cNvSpPr>
            <a:spLocks/>
          </p:cNvSpPr>
          <p:nvPr/>
        </p:nvSpPr>
        <p:spPr bwMode="auto">
          <a:xfrm>
            <a:off x="5974482" y="4074838"/>
            <a:ext cx="15659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1" u="none" strike="noStrike" kern="1200" cap="none" spc="0" normalizeH="0" baseline="0" noProof="0" dirty="0">
                <a:ln>
                  <a:noFill/>
                </a:ln>
                <a:solidFill>
                  <a:srgbClr val="0000FF"/>
                </a:solidFill>
                <a:effectLst/>
                <a:uLnTx/>
                <a:uFillTx/>
                <a:latin typeface="Calibri" panose="020F0502020204030204"/>
                <a:ea typeface="+mn-ea"/>
                <a:cs typeface="+mn-cs"/>
              </a:rPr>
              <a:t>283.1182</a:t>
            </a:r>
          </a:p>
        </p:txBody>
      </p:sp>
      <p:cxnSp>
        <p:nvCxnSpPr>
          <p:cNvPr id="58" name="Curved Connector 57"/>
          <p:cNvCxnSpPr/>
          <p:nvPr/>
        </p:nvCxnSpPr>
        <p:spPr>
          <a:xfrm>
            <a:off x="8218336" y="4228727"/>
            <a:ext cx="507222" cy="1062783"/>
          </a:xfrm>
          <a:prstGeom prst="curvedConnector2">
            <a:avLst/>
          </a:prstGeom>
          <a:ln w="28575">
            <a:tailEnd type="arrow"/>
          </a:ln>
        </p:spPr>
        <p:style>
          <a:lnRef idx="2">
            <a:schemeClr val="accent1"/>
          </a:lnRef>
          <a:fillRef idx="0">
            <a:schemeClr val="accent1"/>
          </a:fillRef>
          <a:effectRef idx="1">
            <a:schemeClr val="accent1"/>
          </a:effectRef>
          <a:fontRef idx="minor">
            <a:schemeClr val="tx1"/>
          </a:fontRef>
        </p:style>
      </p:cxnSp>
      <p:sp>
        <p:nvSpPr>
          <p:cNvPr id="59" name="Rectangle 58"/>
          <p:cNvSpPr>
            <a:spLocks/>
          </p:cNvSpPr>
          <p:nvPr/>
        </p:nvSpPr>
        <p:spPr bwMode="auto">
          <a:xfrm>
            <a:off x="7617441" y="5343907"/>
            <a:ext cx="2001443"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s-ES_tradnl" sz="2000" b="0" i="1" u="none" strike="noStrike" kern="1200" cap="none" spc="0" normalizeH="0" baseline="0" noProof="0" dirty="0">
                <a:ln>
                  <a:noFill/>
                </a:ln>
                <a:solidFill>
                  <a:srgbClr val="800000"/>
                </a:solidFill>
                <a:effectLst/>
                <a:uLnTx/>
                <a:uFillTx/>
                <a:latin typeface="Calibri" panose="020F0502020204030204"/>
                <a:ea typeface="+mn-ea"/>
                <a:cs typeface="+mn-cs"/>
              </a:rPr>
              <a:t>Capital que permanece invertido</a:t>
            </a:r>
          </a:p>
        </p:txBody>
      </p:sp>
      <p:sp>
        <p:nvSpPr>
          <p:cNvPr id="60" name="Left Brace 59"/>
          <p:cNvSpPr/>
          <p:nvPr/>
        </p:nvSpPr>
        <p:spPr>
          <a:xfrm rot="10800000">
            <a:off x="7869985" y="3897968"/>
            <a:ext cx="365935" cy="640865"/>
          </a:xfrm>
          <a:prstGeom prst="leftBrace">
            <a:avLst/>
          </a:prstGeom>
          <a:ln w="28575">
            <a:solidFill>
              <a:srgbClr val="0000FF"/>
            </a:solidFill>
          </a:ln>
        </p:spPr>
        <p:style>
          <a:lnRef idx="2">
            <a:schemeClr val="accent1"/>
          </a:lnRef>
          <a:fillRef idx="0">
            <a:schemeClr val="accent1"/>
          </a:fillRef>
          <a:effectRef idx="1">
            <a:schemeClr val="accent1"/>
          </a:effectRef>
          <a:fontRef idx="minor">
            <a:schemeClr val="tx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srgbClr val="0000FF"/>
              </a:solidFill>
              <a:effectLst/>
              <a:uLnTx/>
              <a:uFillTx/>
              <a:latin typeface="Calibri" panose="020F0502020204030204"/>
              <a:ea typeface="+mn-ea"/>
              <a:cs typeface="+mn-cs"/>
            </a:endParaRPr>
          </a:p>
        </p:txBody>
      </p:sp>
      <p:cxnSp>
        <p:nvCxnSpPr>
          <p:cNvPr id="66" name="Curved Connector 65"/>
          <p:cNvCxnSpPr>
            <a:endCxn id="73" idx="0"/>
          </p:cNvCxnSpPr>
          <p:nvPr/>
        </p:nvCxnSpPr>
        <p:spPr>
          <a:xfrm>
            <a:off x="8328697" y="3562934"/>
            <a:ext cx="1845669" cy="529101"/>
          </a:xfrm>
          <a:prstGeom prst="curvedConnector2">
            <a:avLst/>
          </a:prstGeom>
          <a:ln w="28575">
            <a:tailEnd type="arrow"/>
          </a:ln>
        </p:spPr>
        <p:style>
          <a:lnRef idx="2">
            <a:schemeClr val="accent1"/>
          </a:lnRef>
          <a:fillRef idx="0">
            <a:schemeClr val="accent1"/>
          </a:fillRef>
          <a:effectRef idx="1">
            <a:schemeClr val="accent1"/>
          </a:effectRef>
          <a:fontRef idx="minor">
            <a:schemeClr val="tx1"/>
          </a:fontRef>
        </p:style>
      </p:cxnSp>
      <p:sp>
        <p:nvSpPr>
          <p:cNvPr id="73" name="Rectangle 72"/>
          <p:cNvSpPr>
            <a:spLocks/>
          </p:cNvSpPr>
          <p:nvPr/>
        </p:nvSpPr>
        <p:spPr bwMode="auto">
          <a:xfrm>
            <a:off x="8997518" y="4092035"/>
            <a:ext cx="2353696"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s-ES_tradnl" sz="2000" b="0" i="1" u="none" strike="noStrike" kern="1200" cap="none" spc="0" normalizeH="0" baseline="0" noProof="0" dirty="0">
                <a:ln>
                  <a:noFill/>
                </a:ln>
                <a:solidFill>
                  <a:srgbClr val="800000"/>
                </a:solidFill>
                <a:effectLst/>
                <a:uLnTx/>
                <a:uFillTx/>
                <a:latin typeface="Calibri" panose="020F0502020204030204"/>
                <a:ea typeface="+mn-ea"/>
                <a:cs typeface="+mn-cs"/>
              </a:rPr>
              <a:t>Retorno del 9% sobre el capital que permanece invertido</a:t>
            </a:r>
          </a:p>
        </p:txBody>
      </p:sp>
      <p:cxnSp>
        <p:nvCxnSpPr>
          <p:cNvPr id="75" name="Curved Connector 74"/>
          <p:cNvCxnSpPr/>
          <p:nvPr/>
        </p:nvCxnSpPr>
        <p:spPr>
          <a:xfrm rot="10800000" flipV="1">
            <a:off x="3095739" y="2775586"/>
            <a:ext cx="1480329" cy="637600"/>
          </a:xfrm>
          <a:prstGeom prst="curvedConnector3">
            <a:avLst>
              <a:gd name="adj1" fmla="val 50000"/>
            </a:avLst>
          </a:prstGeom>
          <a:ln w="28575">
            <a:tailEnd type="arrow"/>
          </a:ln>
        </p:spPr>
        <p:style>
          <a:lnRef idx="2">
            <a:schemeClr val="accent1"/>
          </a:lnRef>
          <a:fillRef idx="0">
            <a:schemeClr val="accent1"/>
          </a:fillRef>
          <a:effectRef idx="1">
            <a:schemeClr val="accent1"/>
          </a:effectRef>
          <a:fontRef idx="minor">
            <a:schemeClr val="tx1"/>
          </a:fontRef>
        </p:style>
      </p:cxnSp>
      <p:sp>
        <p:nvSpPr>
          <p:cNvPr id="81" name="Rectangle 80"/>
          <p:cNvSpPr>
            <a:spLocks/>
          </p:cNvSpPr>
          <p:nvPr/>
        </p:nvSpPr>
        <p:spPr bwMode="auto">
          <a:xfrm>
            <a:off x="2008240" y="3122144"/>
            <a:ext cx="945997" cy="6155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s-ES_tradnl" sz="2000" b="0" i="1" u="none" strike="noStrike" kern="1200" cap="none" spc="0" normalizeH="0" baseline="0" noProof="0" dirty="0">
                <a:ln>
                  <a:noFill/>
                </a:ln>
                <a:solidFill>
                  <a:srgbClr val="800000"/>
                </a:solidFill>
                <a:effectLst/>
                <a:uLnTx/>
                <a:uFillTx/>
                <a:latin typeface="Calibri" panose="020F0502020204030204"/>
                <a:ea typeface="+mn-ea"/>
                <a:cs typeface="+mn-cs"/>
              </a:rPr>
              <a:t>Capital retirado</a:t>
            </a:r>
          </a:p>
        </p:txBody>
      </p:sp>
      <p:sp>
        <p:nvSpPr>
          <p:cNvPr id="3" name="Rectángulo 2">
            <a:extLst>
              <a:ext uri="{FF2B5EF4-FFF2-40B4-BE49-F238E27FC236}">
                <a16:creationId xmlns:a16="http://schemas.microsoft.com/office/drawing/2014/main" id="{2ED85748-6D0B-17A2-DD42-C65F0AF7578C}"/>
              </a:ext>
            </a:extLst>
          </p:cNvPr>
          <p:cNvSpPr/>
          <p:nvPr/>
        </p:nvSpPr>
        <p:spPr>
          <a:xfrm>
            <a:off x="1415434" y="118110"/>
            <a:ext cx="2781532" cy="261610"/>
          </a:xfrm>
          <a:prstGeom prst="rect">
            <a:avLst/>
          </a:prstGeom>
        </p:spPr>
        <p:txBody>
          <a:bodyPr wrap="none">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s-CO" sz="1100" b="1" i="0" u="none" strike="noStrike" kern="1200" cap="none" spc="0" normalizeH="0" baseline="0" noProof="0">
                <a:ln>
                  <a:noFill/>
                </a:ln>
                <a:solidFill>
                  <a:srgbClr val="8CB64A">
                    <a:lumMod val="50000"/>
                  </a:srgbClr>
                </a:solidFill>
                <a:effectLst/>
                <a:uLnTx/>
                <a:uFillTx/>
                <a:latin typeface="Century Gothic" panose="020B0502020202020204" pitchFamily="34" charset="0"/>
                <a:ea typeface="+mn-ea"/>
                <a:cs typeface="+mn-cs"/>
                <a:sym typeface="Gill Sans Light"/>
              </a:rPr>
              <a:t>Departamento de Ingeniería Industrial</a:t>
            </a:r>
            <a:endParaRPr kumimoji="0" lang="es-CO" sz="1100" b="1" i="0" u="none" strike="noStrike" kern="1200" cap="none" spc="0" normalizeH="0" baseline="0" noProof="0">
              <a:ln>
                <a:noFill/>
              </a:ln>
              <a:solidFill>
                <a:srgbClr val="8CB64A">
                  <a:lumMod val="50000"/>
                </a:srgbClr>
              </a:solidFill>
              <a:effectLst/>
              <a:uLnTx/>
              <a:uFillTx/>
              <a:latin typeface="Century Gothic" panose="020B0502020202020204" pitchFamily="34" charset="0"/>
              <a:ea typeface="+mn-ea"/>
              <a:cs typeface="+mn-cs"/>
            </a:endParaRPr>
          </a:p>
        </p:txBody>
      </p:sp>
      <p:pic>
        <p:nvPicPr>
          <p:cNvPr id="5" name="Picture 2" descr="Clientes y aliados | Centro de Evaluación | Uniandes">
            <a:extLst>
              <a:ext uri="{FF2B5EF4-FFF2-40B4-BE49-F238E27FC236}">
                <a16:creationId xmlns:a16="http://schemas.microsoft.com/office/drawing/2014/main" id="{96D0E652-A3C0-EB42-DB4E-F300835A16E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EC128EF4-2BA5-132E-AB10-60DDA2ACEB35}"/>
              </a:ext>
            </a:extLst>
          </p:cNvPr>
          <p:cNvSpPr/>
          <p:nvPr/>
        </p:nvSpPr>
        <p:spPr>
          <a:xfrm>
            <a:off x="8399257" y="118110"/>
            <a:ext cx="3150778" cy="261610"/>
          </a:xfrm>
          <a:prstGeom prst="rect">
            <a:avLst/>
          </a:prstGeom>
        </p:spPr>
        <p:txBody>
          <a:bodyPr wrap="square">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s-CO" sz="1100" b="1" i="0" u="none" strike="noStrike" kern="1200" cap="none" spc="0" normalizeH="0" baseline="0" noProof="0" dirty="0">
                <a:ln>
                  <a:noFill/>
                </a:ln>
                <a:solidFill>
                  <a:srgbClr val="8CB64A">
                    <a:lumMod val="50000"/>
                  </a:srgbClr>
                </a:solidFill>
                <a:effectLst/>
                <a:uLnTx/>
                <a:uFillTx/>
                <a:latin typeface="Century Gothic" panose="020B0502020202020204" pitchFamily="34" charset="0"/>
                <a:ea typeface="+mn-ea"/>
                <a:cs typeface="+mn-cs"/>
                <a:sym typeface="Gill Sans Light"/>
              </a:rPr>
              <a:t>Curso</a:t>
            </a:r>
            <a:r>
              <a:rPr kumimoji="0" lang="es-CO" sz="1100" b="0" i="0" u="none" strike="noStrike" kern="1200" cap="none" spc="0" normalizeH="0" baseline="0" noProof="0" dirty="0">
                <a:ln>
                  <a:noFill/>
                </a:ln>
                <a:solidFill>
                  <a:srgbClr val="8CB64A">
                    <a:lumMod val="50000"/>
                  </a:srgbClr>
                </a:solidFill>
                <a:effectLst/>
                <a:uLnTx/>
                <a:uFillTx/>
                <a:latin typeface="Century Gothic" panose="020B0502020202020204" pitchFamily="34" charset="0"/>
                <a:ea typeface="+mn-ea"/>
                <a:cs typeface="+mn-cs"/>
                <a:sym typeface="Gill Sans Light"/>
              </a:rPr>
              <a:t> Análisis de Decisiones de Inversión</a:t>
            </a:r>
            <a:endParaRPr kumimoji="0" lang="es-CO" sz="1100" b="0" i="0" u="none" strike="noStrike" kern="1200" cap="none" spc="0" normalizeH="0" baseline="0" noProof="0" dirty="0">
              <a:ln>
                <a:noFill/>
              </a:ln>
              <a:solidFill>
                <a:srgbClr val="8CB64A">
                  <a:lumMod val="50000"/>
                </a:srgbClr>
              </a:solidFill>
              <a:effectLst/>
              <a:uLnTx/>
              <a:uFillTx/>
              <a:latin typeface="Century Gothic" panose="020B0502020202020204" pitchFamily="34" charset="0"/>
              <a:ea typeface="+mn-ea"/>
              <a:cs typeface="+mn-cs"/>
            </a:endParaRPr>
          </a:p>
        </p:txBody>
      </p:sp>
      <p:sp>
        <p:nvSpPr>
          <p:cNvPr id="7" name="Título 1">
            <a:extLst>
              <a:ext uri="{FF2B5EF4-FFF2-40B4-BE49-F238E27FC236}">
                <a16:creationId xmlns:a16="http://schemas.microsoft.com/office/drawing/2014/main" id="{F715A850-5502-4079-614E-56A307B6DFC8}"/>
              </a:ext>
            </a:extLst>
          </p:cNvPr>
          <p:cNvSpPr>
            <a:spLocks noGrp="1"/>
          </p:cNvSpPr>
          <p:nvPr>
            <p:ph type="title"/>
          </p:nvPr>
        </p:nvSpPr>
        <p:spPr>
          <a:xfrm>
            <a:off x="581192" y="702156"/>
            <a:ext cx="11029616" cy="1013800"/>
          </a:xfrm>
        </p:spPr>
        <p:txBody>
          <a:bodyPr>
            <a:normAutofit/>
          </a:bodyPr>
          <a:lstStyle/>
          <a:p>
            <a:r>
              <a:rPr lang="es-CO" sz="3200" dirty="0">
                <a:latin typeface="Century Gothic" panose="020B0502020202020204" pitchFamily="34" charset="0"/>
              </a:rPr>
              <a:t>TIR</a:t>
            </a:r>
          </a:p>
        </p:txBody>
      </p:sp>
    </p:spTree>
    <p:extLst>
      <p:ext uri="{BB962C8B-B14F-4D97-AF65-F5344CB8AC3E}">
        <p14:creationId xmlns:p14="http://schemas.microsoft.com/office/powerpoint/2010/main" val="30196047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17044-AD22-1F7F-DDE3-8B7174B704B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D767D568-CB00-E00C-2C81-0D6F1288F8BF}"/>
              </a:ext>
            </a:extLst>
          </p:cNvPr>
          <p:cNvSpPr>
            <a:spLocks noGrp="1"/>
          </p:cNvSpPr>
          <p:nvPr>
            <p:ph type="title"/>
          </p:nvPr>
        </p:nvSpPr>
        <p:spPr/>
        <p:txBody>
          <a:bodyPr>
            <a:normAutofit/>
          </a:bodyPr>
          <a:lstStyle/>
          <a:p>
            <a:r>
              <a:rPr lang="es-CO" sz="3200">
                <a:latin typeface="Century Gothic" panose="020B0502020202020204" pitchFamily="34" charset="0"/>
              </a:rPr>
              <a:t>AGENDA PROPUESTA</a:t>
            </a:r>
          </a:p>
        </p:txBody>
      </p:sp>
      <p:sp>
        <p:nvSpPr>
          <p:cNvPr id="4" name="Marcador de número de diapositiva 3">
            <a:extLst>
              <a:ext uri="{FF2B5EF4-FFF2-40B4-BE49-F238E27FC236}">
                <a16:creationId xmlns:a16="http://schemas.microsoft.com/office/drawing/2014/main" id="{94CC9A06-6C58-0649-AC5D-BBC62E3BF23C}"/>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12</a:t>
            </a:fld>
            <a:endParaRPr lang="en-US" sz="2000" b="1">
              <a:latin typeface="Century Gothic" panose="020B0502020202020204" pitchFamily="34" charset="0"/>
            </a:endParaRPr>
          </a:p>
        </p:txBody>
      </p:sp>
      <p:pic>
        <p:nvPicPr>
          <p:cNvPr id="6" name="Picture 6" descr="Resultado de imagen para RELOJ VECTOR">
            <a:extLst>
              <a:ext uri="{FF2B5EF4-FFF2-40B4-BE49-F238E27FC236}">
                <a16:creationId xmlns:a16="http://schemas.microsoft.com/office/drawing/2014/main" id="{90F77C52-D640-2EAE-5BC1-253332348933}"/>
              </a:ext>
            </a:extLst>
          </p:cNvPr>
          <p:cNvPicPr>
            <a:picLocks noChangeAspect="1" noChangeArrowheads="1"/>
          </p:cNvPicPr>
          <p:nvPr/>
        </p:nvPicPr>
        <p:blipFill rotWithShape="1">
          <a:blip r:embed="rId2" cstate="print">
            <a:clrChange>
              <a:clrFrom>
                <a:srgbClr val="F6F6F6"/>
              </a:clrFrom>
              <a:clrTo>
                <a:srgbClr val="F6F6F6">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l="24517" t="6285" r="24815" b="6503"/>
          <a:stretch/>
        </p:blipFill>
        <p:spPr bwMode="auto">
          <a:xfrm>
            <a:off x="1448088" y="2903629"/>
            <a:ext cx="1236705" cy="1246074"/>
          </a:xfrm>
          <a:prstGeom prst="rect">
            <a:avLst/>
          </a:prstGeom>
          <a:noFill/>
          <a:extLst>
            <a:ext uri="{909E8E84-426E-40DD-AFC4-6F175D3DCCD1}">
              <a14:hiddenFill xmlns:a14="http://schemas.microsoft.com/office/drawing/2010/main">
                <a:solidFill>
                  <a:srgbClr val="FFFFFF"/>
                </a:solidFill>
              </a14:hiddenFill>
            </a:ext>
          </a:extLst>
        </p:spPr>
      </p:pic>
      <p:sp>
        <p:nvSpPr>
          <p:cNvPr id="23" name="Rectángulo 22">
            <a:extLst>
              <a:ext uri="{FF2B5EF4-FFF2-40B4-BE49-F238E27FC236}">
                <a16:creationId xmlns:a16="http://schemas.microsoft.com/office/drawing/2014/main" id="{530B4015-CACF-C85B-5792-6E119D3599F5}"/>
              </a:ext>
            </a:extLst>
          </p:cNvPr>
          <p:cNvSpPr/>
          <p:nvPr/>
        </p:nvSpPr>
        <p:spPr>
          <a:xfrm>
            <a:off x="3173020" y="2318042"/>
            <a:ext cx="8540907" cy="2554545"/>
          </a:xfrm>
          <a:prstGeom prst="rect">
            <a:avLst/>
          </a:prstGeom>
        </p:spPr>
        <p:txBody>
          <a:bodyPr wrap="square" lIns="91440" tIns="45720" rIns="91440" bIns="45720" anchor="t">
            <a:spAutoFit/>
          </a:bodyPr>
          <a:lstStyle/>
          <a:p>
            <a:pPr>
              <a:buClr>
                <a:srgbClr val="48BE7A"/>
              </a:buClr>
            </a:pPr>
            <a:endParaRPr lang="es-CO" sz="2000" dirty="0">
              <a:solidFill>
                <a:schemeClr val="bg2">
                  <a:lumMod val="90000"/>
                </a:schemeClr>
              </a:solidFill>
              <a:latin typeface="Century Gothic" panose="020B0502020202020204" pitchFamily="34" charset="0"/>
              <a:cs typeface="Arial"/>
            </a:endParaRPr>
          </a:p>
          <a:p>
            <a:pPr marL="342900" indent="-342900">
              <a:buClr>
                <a:srgbClr val="48BE7A"/>
              </a:buClr>
              <a:buAutoNum type="arabicPeriod"/>
            </a:pPr>
            <a:r>
              <a:rPr lang="es-CO" sz="2000" dirty="0">
                <a:solidFill>
                  <a:schemeClr val="bg2">
                    <a:lumMod val="90000"/>
                  </a:schemeClr>
                </a:solidFill>
                <a:latin typeface="Century Gothic" panose="020B0502020202020204" pitchFamily="34" charset="0"/>
                <a:cs typeface="Arial"/>
              </a:rPr>
              <a:t>Tasa Verdadera de Rentabilidad (TVR)</a:t>
            </a:r>
          </a:p>
          <a:p>
            <a:pPr marL="342900" indent="-342900">
              <a:buClr>
                <a:srgbClr val="48BE7A"/>
              </a:buClr>
              <a:buAutoNum type="arabicPeriod"/>
            </a:pPr>
            <a:endParaRPr lang="es-CO" sz="2000" dirty="0">
              <a:solidFill>
                <a:schemeClr val="bg2">
                  <a:lumMod val="90000"/>
                </a:schemeClr>
              </a:solidFill>
              <a:latin typeface="Century Gothic" panose="020B0502020202020204" pitchFamily="34" charset="0"/>
              <a:cs typeface="Arial"/>
            </a:endParaRPr>
          </a:p>
          <a:p>
            <a:pPr marL="342900" indent="-342900">
              <a:buClr>
                <a:srgbClr val="48BE7A"/>
              </a:buClr>
              <a:buAutoNum type="arabicPeriod"/>
            </a:pPr>
            <a:r>
              <a:rPr lang="es-CO" sz="2000" dirty="0">
                <a:solidFill>
                  <a:schemeClr val="accent1"/>
                </a:solidFill>
                <a:latin typeface="Century Gothic"/>
                <a:cs typeface="Arial"/>
              </a:rPr>
              <a:t>Valor Anual Equivalente (VAE)</a:t>
            </a:r>
          </a:p>
          <a:p>
            <a:pPr marL="342900" indent="-342900">
              <a:buClr>
                <a:srgbClr val="48BE7A"/>
              </a:buClr>
              <a:buAutoNum type="arabicPeriod"/>
            </a:pPr>
            <a:endParaRPr lang="es-CO" sz="2000" dirty="0">
              <a:solidFill>
                <a:schemeClr val="bg2">
                  <a:lumMod val="90000"/>
                </a:schemeClr>
              </a:solidFill>
              <a:latin typeface="Century Gothic" panose="020B0502020202020204" pitchFamily="34" charset="0"/>
              <a:cs typeface="Arial"/>
            </a:endParaRPr>
          </a:p>
          <a:p>
            <a:pPr marL="342900" indent="-342900">
              <a:buClr>
                <a:srgbClr val="48BE7A"/>
              </a:buClr>
              <a:buAutoNum type="arabicPeriod"/>
            </a:pPr>
            <a:r>
              <a:rPr lang="es-CO" sz="2000" dirty="0">
                <a:solidFill>
                  <a:schemeClr val="bg2">
                    <a:lumMod val="90000"/>
                  </a:schemeClr>
                </a:solidFill>
                <a:latin typeface="Century Gothic" panose="020B0502020202020204" pitchFamily="34" charset="0"/>
                <a:cs typeface="Arial"/>
              </a:rPr>
              <a:t>Relación Beneficio/Costo (B/C)</a:t>
            </a:r>
          </a:p>
          <a:p>
            <a:pPr marL="342900" indent="-342900">
              <a:buClr>
                <a:srgbClr val="48BE7A"/>
              </a:buClr>
              <a:buAutoNum type="arabicPeriod"/>
            </a:pPr>
            <a:endParaRPr lang="es-CO" sz="2000" dirty="0">
              <a:solidFill>
                <a:schemeClr val="bg2">
                  <a:lumMod val="90000"/>
                </a:schemeClr>
              </a:solidFill>
              <a:latin typeface="Century Gothic" panose="020B0502020202020204" pitchFamily="34" charset="0"/>
              <a:cs typeface="Arial"/>
            </a:endParaRPr>
          </a:p>
          <a:p>
            <a:pPr marL="342900" indent="-342900">
              <a:buClr>
                <a:srgbClr val="48BE7A"/>
              </a:buClr>
              <a:buAutoNum type="arabicPeriod"/>
            </a:pPr>
            <a:r>
              <a:rPr lang="es-CO" sz="2000" dirty="0">
                <a:solidFill>
                  <a:schemeClr val="bg2">
                    <a:lumMod val="90000"/>
                  </a:schemeClr>
                </a:solidFill>
                <a:latin typeface="Century Gothic" panose="020B0502020202020204" pitchFamily="34" charset="0"/>
                <a:cs typeface="Arial"/>
              </a:rPr>
              <a:t>PayBack</a:t>
            </a:r>
          </a:p>
        </p:txBody>
      </p:sp>
      <p:sp>
        <p:nvSpPr>
          <p:cNvPr id="3" name="Rectángulo 2">
            <a:extLst>
              <a:ext uri="{FF2B5EF4-FFF2-40B4-BE49-F238E27FC236}">
                <a16:creationId xmlns:a16="http://schemas.microsoft.com/office/drawing/2014/main" id="{68212397-5334-13B4-07C0-A2D027AF1DE8}"/>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39E5CCF2-8521-1CC3-EEDD-91C5F76C95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A9337DA5-08F1-BE8B-FB90-7C77B18FE5E4}"/>
              </a:ext>
            </a:extLst>
          </p:cNvPr>
          <p:cNvSpPr/>
          <p:nvPr/>
        </p:nvSpPr>
        <p:spPr>
          <a:xfrm>
            <a:off x="8399257" y="118110"/>
            <a:ext cx="3150778" cy="261610"/>
          </a:xfrm>
          <a:prstGeom prst="rect">
            <a:avLst/>
          </a:prstGeom>
        </p:spPr>
        <p:txBody>
          <a:bodyPr wrap="square">
            <a:spAutoFit/>
          </a:bodyPr>
          <a:lstStyle/>
          <a:p>
            <a:pPr algn="r"/>
            <a:r>
              <a:rPr lang="es-CO" sz="1100" b="1" dirty="0">
                <a:solidFill>
                  <a:schemeClr val="accent2">
                    <a:lumMod val="50000"/>
                  </a:schemeClr>
                </a:solidFill>
                <a:latin typeface="Century Gothic" panose="020B0502020202020204" pitchFamily="34" charset="0"/>
                <a:sym typeface="Gill Sans Light"/>
              </a:rPr>
              <a:t>Curso</a:t>
            </a:r>
            <a:r>
              <a:rPr lang="es-CO" sz="1100" dirty="0">
                <a:solidFill>
                  <a:schemeClr val="accent2">
                    <a:lumMod val="50000"/>
                  </a:schemeClr>
                </a:solidFill>
                <a:latin typeface="Century Gothic" panose="020B0502020202020204" pitchFamily="34" charset="0"/>
                <a:sym typeface="Gill Sans Light"/>
              </a:rPr>
              <a:t> Análisis de Decisiones de Inversión</a:t>
            </a:r>
            <a:endParaRPr lang="es-CO" sz="1100" dirty="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37132464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animEffect transition="in" filter="fade">
                                      <p:cBhvr>
                                        <p:cTn id="9" dur="1000"/>
                                        <p:tgtEl>
                                          <p:spTgt spid="23"/>
                                        </p:tgtEl>
                                      </p:cBhvr>
                                    </p:animEffect>
                                    <p:anim calcmode="lin" valueType="num">
                                      <p:cBhvr>
                                        <p:cTn id="10" dur="1000" fill="hold"/>
                                        <p:tgtEl>
                                          <p:spTgt spid="23"/>
                                        </p:tgtEl>
                                        <p:attrNameLst>
                                          <p:attrName>ppt_x</p:attrName>
                                        </p:attrNameLst>
                                      </p:cBhvr>
                                      <p:tavLst>
                                        <p:tav tm="0">
                                          <p:val>
                                            <p:strVal val="#ppt_x"/>
                                          </p:val>
                                        </p:tav>
                                        <p:tav tm="100000">
                                          <p:val>
                                            <p:strVal val="#ppt_x"/>
                                          </p:val>
                                        </p:tav>
                                      </p:tavLst>
                                    </p:anim>
                                    <p:anim calcmode="lin" valueType="num">
                                      <p:cBhvr>
                                        <p:cTn id="11"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2"/>
          <p:cNvSpPr>
            <a:spLocks noGrp="1"/>
          </p:cNvSpPr>
          <p:nvPr>
            <p:ph idx="1"/>
          </p:nvPr>
        </p:nvSpPr>
        <p:spPr>
          <a:xfrm>
            <a:off x="1524000" y="2948158"/>
            <a:ext cx="9144000" cy="2076492"/>
          </a:xfrm>
        </p:spPr>
        <p:txBody>
          <a:bodyPr>
            <a:normAutofit/>
          </a:bodyPr>
          <a:lstStyle/>
          <a:p>
            <a:pPr marL="0" indent="0" algn="ctr">
              <a:buNone/>
            </a:pPr>
            <a:r>
              <a:rPr lang="es-ES_tradnl" sz="2800" b="1" dirty="0">
                <a:solidFill>
                  <a:srgbClr val="800000"/>
                </a:solidFill>
              </a:rPr>
              <a:t>VAE</a:t>
            </a:r>
          </a:p>
          <a:p>
            <a:pPr marL="0" indent="0" algn="ctr">
              <a:buNone/>
            </a:pPr>
            <a:r>
              <a:rPr lang="es-ES_tradnl" sz="2800" b="1" dirty="0">
                <a:solidFill>
                  <a:srgbClr val="800000"/>
                </a:solidFill>
              </a:rPr>
              <a:t>(Valor Anual Equivalente)</a:t>
            </a:r>
          </a:p>
        </p:txBody>
      </p:sp>
      <p:sp>
        <p:nvSpPr>
          <p:cNvPr id="4" name="Slide Number Placeholder 3"/>
          <p:cNvSpPr>
            <a:spLocks noGrp="1"/>
          </p:cNvSpPr>
          <p:nvPr>
            <p:ph type="sldNum" sz="quarter" idx="12"/>
          </p:nvPr>
        </p:nvSpPr>
        <p:spPr/>
        <p:txBody>
          <a:bodyPr/>
          <a:lstStyle/>
          <a:p>
            <a:fld id="{5E3E23BA-6E79-2442-BA73-D218A5E297C3}" type="slidenum">
              <a:rPr lang="en-US" smtClean="0"/>
              <a:t>13</a:t>
            </a:fld>
            <a:endParaRPr lang="en-US"/>
          </a:p>
        </p:txBody>
      </p:sp>
      <p:sp>
        <p:nvSpPr>
          <p:cNvPr id="3" name="Rectángulo 2">
            <a:extLst>
              <a:ext uri="{FF2B5EF4-FFF2-40B4-BE49-F238E27FC236}">
                <a16:creationId xmlns:a16="http://schemas.microsoft.com/office/drawing/2014/main" id="{855A590E-0615-7A68-BEF5-D2BAD9196771}"/>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5" name="Picture 2" descr="Clientes y aliados | Centro de Evaluación | Uniandes">
            <a:extLst>
              <a:ext uri="{FF2B5EF4-FFF2-40B4-BE49-F238E27FC236}">
                <a16:creationId xmlns:a16="http://schemas.microsoft.com/office/drawing/2014/main" id="{1B2C1B5F-BD96-77DD-9351-99960CAB1E7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B9F0BCDF-CFBC-F541-965C-6812A5F717BE}"/>
              </a:ext>
            </a:extLst>
          </p:cNvPr>
          <p:cNvSpPr/>
          <p:nvPr/>
        </p:nvSpPr>
        <p:spPr>
          <a:xfrm>
            <a:off x="8399257" y="118110"/>
            <a:ext cx="3150778" cy="261610"/>
          </a:xfrm>
          <a:prstGeom prst="rect">
            <a:avLst/>
          </a:prstGeom>
        </p:spPr>
        <p:txBody>
          <a:bodyPr wrap="square">
            <a:spAutoFit/>
          </a:bodyPr>
          <a:lstStyle/>
          <a:p>
            <a:pPr algn="r"/>
            <a:r>
              <a:rPr lang="es-CO" sz="1100" b="1" dirty="0">
                <a:solidFill>
                  <a:schemeClr val="accent2">
                    <a:lumMod val="50000"/>
                  </a:schemeClr>
                </a:solidFill>
                <a:latin typeface="Century Gothic" panose="020B0502020202020204" pitchFamily="34" charset="0"/>
                <a:sym typeface="Gill Sans Light"/>
              </a:rPr>
              <a:t>Curso</a:t>
            </a:r>
            <a:r>
              <a:rPr lang="es-CO" sz="1100" dirty="0">
                <a:solidFill>
                  <a:schemeClr val="accent2">
                    <a:lumMod val="50000"/>
                  </a:schemeClr>
                </a:solidFill>
                <a:latin typeface="Century Gothic" panose="020B0502020202020204" pitchFamily="34" charset="0"/>
                <a:sym typeface="Gill Sans Light"/>
              </a:rPr>
              <a:t> Análisis de Decisiones de Inversión</a:t>
            </a:r>
            <a:endParaRPr lang="es-CO" sz="1100" dirty="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36127868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81192" y="1820676"/>
            <a:ext cx="11029615" cy="4500586"/>
          </a:xfrm>
        </p:spPr>
        <p:txBody>
          <a:bodyPr>
            <a:noAutofit/>
          </a:bodyPr>
          <a:lstStyle/>
          <a:p>
            <a:pPr algn="just"/>
            <a:r>
              <a:rPr lang="es-ES" sz="2400" dirty="0"/>
              <a:t>El VAE o Valor Anual Equivalente, es un indicador de creación de valor que guarda una estrecha relación con el VPN.</a:t>
            </a:r>
          </a:p>
          <a:p>
            <a:pPr algn="just"/>
            <a:r>
              <a:rPr lang="es-ES" sz="2400" dirty="0"/>
              <a:t>El VAE es un indicador utilizado para evaluar la suma equivalente periódico (como serie uniforme) de los flujos generados por un proyecto de inversión.</a:t>
            </a:r>
          </a:p>
          <a:p>
            <a:pPr algn="just"/>
            <a:endParaRPr lang="es-ES" sz="2400" dirty="0"/>
          </a:p>
          <a:p>
            <a:pPr marL="0" indent="0" algn="ctr">
              <a:buNone/>
            </a:pPr>
            <a:r>
              <a:rPr lang="es-ES" sz="2400" dirty="0">
                <a:solidFill>
                  <a:srgbClr val="800000"/>
                </a:solidFill>
              </a:rPr>
              <a:t>¿Alguna idea de cómo calcular dicho indicador con lo visto hasta el momento?</a:t>
            </a:r>
          </a:p>
          <a:p>
            <a:pPr marL="0" indent="0" algn="ctr">
              <a:buNone/>
            </a:pPr>
            <a:endParaRPr lang="es-ES" sz="2400" dirty="0"/>
          </a:p>
          <a:p>
            <a:pPr algn="just"/>
            <a:r>
              <a:rPr lang="es-ES" sz="2400" dirty="0"/>
              <a:t>Cuando se está evaluando </a:t>
            </a:r>
            <a:r>
              <a:rPr lang="es-ES" sz="2400" i="1" dirty="0">
                <a:solidFill>
                  <a:schemeClr val="accent6"/>
                </a:solidFill>
              </a:rPr>
              <a:t>un único proyecto</a:t>
            </a:r>
            <a:r>
              <a:rPr lang="es-ES" sz="2400" dirty="0"/>
              <a:t>, el resultado del VAE es consistente con el VPN; sin embargo, como veremos más adelante, el VAE muestra algunas desventajas a la hora de comparar varias alternativas de inversión.</a:t>
            </a:r>
            <a:endParaRPr lang="es-ES_tradnl" sz="2400" i="1" dirty="0">
              <a:solidFill>
                <a:srgbClr val="800000"/>
              </a:solidFill>
            </a:endParaRPr>
          </a:p>
        </p:txBody>
      </p:sp>
      <p:sp>
        <p:nvSpPr>
          <p:cNvPr id="4" name="Slide Number Placeholder 3"/>
          <p:cNvSpPr>
            <a:spLocks noGrp="1"/>
          </p:cNvSpPr>
          <p:nvPr>
            <p:ph type="sldNum" sz="quarter" idx="12"/>
          </p:nvPr>
        </p:nvSpPr>
        <p:spPr/>
        <p:txBody>
          <a:bodyPr/>
          <a:lstStyle/>
          <a:p>
            <a:fld id="{5E3E23BA-6E79-2442-BA73-D218A5E297C3}" type="slidenum">
              <a:rPr lang="en-US" smtClean="0"/>
              <a:t>14</a:t>
            </a:fld>
            <a:endParaRPr lang="en-US"/>
          </a:p>
        </p:txBody>
      </p:sp>
      <p:sp>
        <p:nvSpPr>
          <p:cNvPr id="8" name="Rectángulo 7">
            <a:extLst>
              <a:ext uri="{FF2B5EF4-FFF2-40B4-BE49-F238E27FC236}">
                <a16:creationId xmlns:a16="http://schemas.microsoft.com/office/drawing/2014/main" id="{1F12B3C5-05E8-0D21-15DE-5A184CE459E0}"/>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9" name="Picture 2" descr="Clientes y aliados | Centro de Evaluación | Uniandes">
            <a:extLst>
              <a:ext uri="{FF2B5EF4-FFF2-40B4-BE49-F238E27FC236}">
                <a16:creationId xmlns:a16="http://schemas.microsoft.com/office/drawing/2014/main" id="{5D7A6BED-9E9E-10A9-D8B3-51DC39BD1E5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10" name="Rectángulo 9">
            <a:extLst>
              <a:ext uri="{FF2B5EF4-FFF2-40B4-BE49-F238E27FC236}">
                <a16:creationId xmlns:a16="http://schemas.microsoft.com/office/drawing/2014/main" id="{FA2A306A-7B53-5288-96E7-A4799F59AD93}"/>
              </a:ext>
            </a:extLst>
          </p:cNvPr>
          <p:cNvSpPr/>
          <p:nvPr/>
        </p:nvSpPr>
        <p:spPr>
          <a:xfrm>
            <a:off x="8399257" y="118110"/>
            <a:ext cx="3150778" cy="261610"/>
          </a:xfrm>
          <a:prstGeom prst="rect">
            <a:avLst/>
          </a:prstGeom>
        </p:spPr>
        <p:txBody>
          <a:bodyPr wrap="square">
            <a:spAutoFit/>
          </a:bodyPr>
          <a:lstStyle/>
          <a:p>
            <a:pPr algn="r"/>
            <a:r>
              <a:rPr lang="es-CO" sz="1100" b="1" dirty="0">
                <a:solidFill>
                  <a:schemeClr val="accent2">
                    <a:lumMod val="50000"/>
                  </a:schemeClr>
                </a:solidFill>
                <a:latin typeface="Century Gothic" panose="020B0502020202020204" pitchFamily="34" charset="0"/>
                <a:sym typeface="Gill Sans Light"/>
              </a:rPr>
              <a:t>Curso</a:t>
            </a:r>
            <a:r>
              <a:rPr lang="es-CO" sz="1100" dirty="0">
                <a:solidFill>
                  <a:schemeClr val="accent2">
                    <a:lumMod val="50000"/>
                  </a:schemeClr>
                </a:solidFill>
                <a:latin typeface="Century Gothic" panose="020B0502020202020204" pitchFamily="34" charset="0"/>
                <a:sym typeface="Gill Sans Light"/>
              </a:rPr>
              <a:t> Análisis de Decisiones de Inversión</a:t>
            </a:r>
            <a:endParaRPr lang="es-CO" sz="1100" dirty="0">
              <a:solidFill>
                <a:schemeClr val="accent2">
                  <a:lumMod val="50000"/>
                </a:schemeClr>
              </a:solidFill>
              <a:latin typeface="Century Gothic" panose="020B0502020202020204" pitchFamily="34" charset="0"/>
            </a:endParaRPr>
          </a:p>
        </p:txBody>
      </p:sp>
      <p:sp>
        <p:nvSpPr>
          <p:cNvPr id="11" name="Título 1">
            <a:extLst>
              <a:ext uri="{FF2B5EF4-FFF2-40B4-BE49-F238E27FC236}">
                <a16:creationId xmlns:a16="http://schemas.microsoft.com/office/drawing/2014/main" id="{69CC1292-A5B4-2A3B-713E-5C1BA2787912}"/>
              </a:ext>
            </a:extLst>
          </p:cNvPr>
          <p:cNvSpPr>
            <a:spLocks noGrp="1"/>
          </p:cNvSpPr>
          <p:nvPr>
            <p:ph type="title"/>
          </p:nvPr>
        </p:nvSpPr>
        <p:spPr>
          <a:xfrm>
            <a:off x="581192" y="702156"/>
            <a:ext cx="11029616" cy="1013800"/>
          </a:xfrm>
        </p:spPr>
        <p:txBody>
          <a:bodyPr>
            <a:normAutofit/>
          </a:bodyPr>
          <a:lstStyle/>
          <a:p>
            <a:r>
              <a:rPr lang="es-ES" sz="3200" dirty="0">
                <a:latin typeface="Century Gothic" panose="020B0502020202020204" pitchFamily="34" charset="0"/>
              </a:rPr>
              <a:t>V</a:t>
            </a:r>
            <a:r>
              <a:rPr lang="es-CO" sz="3200" dirty="0">
                <a:latin typeface="Century Gothic" panose="020B0502020202020204" pitchFamily="34" charset="0"/>
              </a:rPr>
              <a:t>AE</a:t>
            </a:r>
          </a:p>
        </p:txBody>
      </p:sp>
    </p:spTree>
    <p:extLst>
      <p:ext uri="{BB962C8B-B14F-4D97-AF65-F5344CB8AC3E}">
        <p14:creationId xmlns:p14="http://schemas.microsoft.com/office/powerpoint/2010/main" val="11625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3" end="3"/>
                                            </p:txEl>
                                          </p:spTgt>
                                        </p:tgtEl>
                                        <p:attrNameLst>
                                          <p:attrName>style.visibility</p:attrName>
                                        </p:attrNameLst>
                                      </p:cBhvr>
                                      <p:to>
                                        <p:strVal val="visible"/>
                                      </p:to>
                                    </p:set>
                                    <p:animEffect transition="in" filter="fade">
                                      <p:cBhvr>
                                        <p:cTn id="12" dur="500"/>
                                        <p:tgtEl>
                                          <p:spTgt spid="3">
                                            <p:txEl>
                                              <p:pRg st="3" end="3"/>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animEffect transition="in" filter="fade">
                                      <p:cBhvr>
                                        <p:cTn id="17"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p:cNvSpPr>
            <a:spLocks noGrp="1"/>
          </p:cNvSpPr>
          <p:nvPr>
            <p:ph idx="1"/>
          </p:nvPr>
        </p:nvSpPr>
        <p:spPr>
          <a:xfrm>
            <a:off x="581191" y="1814090"/>
            <a:ext cx="11029611" cy="582946"/>
          </a:xfrm>
        </p:spPr>
        <p:txBody>
          <a:bodyPr>
            <a:normAutofit/>
          </a:bodyPr>
          <a:lstStyle/>
          <a:p>
            <a:pPr marL="0" indent="0">
              <a:buNone/>
            </a:pPr>
            <a:r>
              <a:rPr lang="es-ES" sz="2400" dirty="0"/>
              <a:t>Gráficamente, el objetivo del VAE es el siguiente:</a:t>
            </a:r>
          </a:p>
        </p:txBody>
      </p:sp>
      <p:sp>
        <p:nvSpPr>
          <p:cNvPr id="4" name="Marcador de número de diapositiva 3"/>
          <p:cNvSpPr>
            <a:spLocks noGrp="1"/>
          </p:cNvSpPr>
          <p:nvPr>
            <p:ph type="sldNum" sz="quarter" idx="12"/>
          </p:nvPr>
        </p:nvSpPr>
        <p:spPr/>
        <p:txBody>
          <a:bodyPr/>
          <a:lstStyle/>
          <a:p>
            <a:fld id="{5E3E23BA-6E79-2442-BA73-D218A5E297C3}" type="slidenum">
              <a:rPr lang="en-US" smtClean="0"/>
              <a:t>15</a:t>
            </a:fld>
            <a:endParaRPr lang="en-US"/>
          </a:p>
        </p:txBody>
      </p:sp>
      <p:cxnSp>
        <p:nvCxnSpPr>
          <p:cNvPr id="5" name="Straight Connector 17"/>
          <p:cNvCxnSpPr/>
          <p:nvPr/>
        </p:nvCxnSpPr>
        <p:spPr>
          <a:xfrm>
            <a:off x="1438170" y="3472165"/>
            <a:ext cx="2632079"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Arrow Connector 18"/>
          <p:cNvCxnSpPr/>
          <p:nvPr/>
        </p:nvCxnSpPr>
        <p:spPr>
          <a:xfrm>
            <a:off x="1450998" y="3484994"/>
            <a:ext cx="0" cy="843530"/>
          </a:xfrm>
          <a:prstGeom prst="straightConnector1">
            <a:avLst/>
          </a:prstGeom>
          <a:ln w="28575">
            <a:solidFill>
              <a:schemeClr val="accent3"/>
            </a:solidFill>
            <a:tailEnd type="arrow"/>
          </a:ln>
        </p:spPr>
        <p:style>
          <a:lnRef idx="2">
            <a:schemeClr val="accent1"/>
          </a:lnRef>
          <a:fillRef idx="0">
            <a:schemeClr val="accent1"/>
          </a:fillRef>
          <a:effectRef idx="1">
            <a:schemeClr val="accent1"/>
          </a:effectRef>
          <a:fontRef idx="minor">
            <a:schemeClr val="tx1"/>
          </a:fontRef>
        </p:style>
      </p:cxnSp>
      <p:cxnSp>
        <p:nvCxnSpPr>
          <p:cNvPr id="7" name="Straight Arrow Connector 19"/>
          <p:cNvCxnSpPr/>
          <p:nvPr/>
        </p:nvCxnSpPr>
        <p:spPr>
          <a:xfrm flipV="1">
            <a:off x="1993319" y="3026267"/>
            <a:ext cx="0" cy="458726"/>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8" name="Straight Arrow Connector 20"/>
          <p:cNvCxnSpPr/>
          <p:nvPr/>
        </p:nvCxnSpPr>
        <p:spPr>
          <a:xfrm>
            <a:off x="2589085" y="3484996"/>
            <a:ext cx="0" cy="525014"/>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9" name="Straight Arrow Connector 21"/>
          <p:cNvCxnSpPr/>
          <p:nvPr/>
        </p:nvCxnSpPr>
        <p:spPr>
          <a:xfrm flipV="1">
            <a:off x="3275821" y="3026268"/>
            <a:ext cx="0" cy="458728"/>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10" name="Rectangle 22"/>
          <p:cNvSpPr>
            <a:spLocks/>
          </p:cNvSpPr>
          <p:nvPr/>
        </p:nvSpPr>
        <p:spPr bwMode="auto">
          <a:xfrm flipH="1">
            <a:off x="1438170" y="3195167"/>
            <a:ext cx="13172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0</a:t>
            </a:r>
          </a:p>
        </p:txBody>
      </p:sp>
      <p:sp>
        <p:nvSpPr>
          <p:cNvPr id="11" name="Rectangle 23"/>
          <p:cNvSpPr>
            <a:spLocks/>
          </p:cNvSpPr>
          <p:nvPr/>
        </p:nvSpPr>
        <p:spPr bwMode="auto">
          <a:xfrm>
            <a:off x="1824789" y="3483498"/>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1</a:t>
            </a:r>
          </a:p>
        </p:txBody>
      </p:sp>
      <p:sp>
        <p:nvSpPr>
          <p:cNvPr id="12" name="Rectangle 24"/>
          <p:cNvSpPr>
            <a:spLocks/>
          </p:cNvSpPr>
          <p:nvPr/>
        </p:nvSpPr>
        <p:spPr bwMode="auto">
          <a:xfrm>
            <a:off x="2420555" y="3195167"/>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2</a:t>
            </a:r>
          </a:p>
        </p:txBody>
      </p:sp>
      <p:sp>
        <p:nvSpPr>
          <p:cNvPr id="13" name="Rectangle 25"/>
          <p:cNvSpPr>
            <a:spLocks/>
          </p:cNvSpPr>
          <p:nvPr/>
        </p:nvSpPr>
        <p:spPr bwMode="auto">
          <a:xfrm>
            <a:off x="3072963" y="3488069"/>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3</a:t>
            </a:r>
          </a:p>
        </p:txBody>
      </p:sp>
      <p:sp>
        <p:nvSpPr>
          <p:cNvPr id="17" name="Rectangle 31"/>
          <p:cNvSpPr>
            <a:spLocks/>
          </p:cNvSpPr>
          <p:nvPr/>
        </p:nvSpPr>
        <p:spPr bwMode="auto">
          <a:xfrm>
            <a:off x="3897383" y="3483498"/>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4</a:t>
            </a:r>
          </a:p>
        </p:txBody>
      </p:sp>
      <p:cxnSp>
        <p:nvCxnSpPr>
          <p:cNvPr id="18" name="Straight Arrow Connector 32"/>
          <p:cNvCxnSpPr/>
          <p:nvPr/>
        </p:nvCxnSpPr>
        <p:spPr>
          <a:xfrm flipV="1">
            <a:off x="4065913" y="2827134"/>
            <a:ext cx="0" cy="691713"/>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22" name="Straight Connector 17"/>
          <p:cNvCxnSpPr/>
          <p:nvPr/>
        </p:nvCxnSpPr>
        <p:spPr>
          <a:xfrm>
            <a:off x="7684131" y="5799771"/>
            <a:ext cx="2632079"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Arrow Connector 19"/>
          <p:cNvCxnSpPr/>
          <p:nvPr/>
        </p:nvCxnSpPr>
        <p:spPr>
          <a:xfrm flipV="1">
            <a:off x="8239280" y="5353873"/>
            <a:ext cx="0" cy="458726"/>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25" name="Straight Arrow Connector 20"/>
          <p:cNvCxnSpPr/>
          <p:nvPr/>
        </p:nvCxnSpPr>
        <p:spPr>
          <a:xfrm flipV="1">
            <a:off x="8835046" y="5353874"/>
            <a:ext cx="0" cy="458728"/>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26" name="Straight Arrow Connector 21"/>
          <p:cNvCxnSpPr/>
          <p:nvPr/>
        </p:nvCxnSpPr>
        <p:spPr>
          <a:xfrm flipV="1">
            <a:off x="9521782" y="5353874"/>
            <a:ext cx="0" cy="458728"/>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27" name="Rectangle 22"/>
          <p:cNvSpPr>
            <a:spLocks/>
          </p:cNvSpPr>
          <p:nvPr/>
        </p:nvSpPr>
        <p:spPr bwMode="auto">
          <a:xfrm flipH="1">
            <a:off x="7684131" y="5798276"/>
            <a:ext cx="13172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0</a:t>
            </a:r>
          </a:p>
        </p:txBody>
      </p:sp>
      <p:sp>
        <p:nvSpPr>
          <p:cNvPr id="28" name="Rectangle 23"/>
          <p:cNvSpPr>
            <a:spLocks/>
          </p:cNvSpPr>
          <p:nvPr/>
        </p:nvSpPr>
        <p:spPr bwMode="auto">
          <a:xfrm>
            <a:off x="8070750" y="5811104"/>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1</a:t>
            </a:r>
          </a:p>
        </p:txBody>
      </p:sp>
      <p:sp>
        <p:nvSpPr>
          <p:cNvPr id="29" name="Rectangle 24"/>
          <p:cNvSpPr>
            <a:spLocks/>
          </p:cNvSpPr>
          <p:nvPr/>
        </p:nvSpPr>
        <p:spPr bwMode="auto">
          <a:xfrm>
            <a:off x="8666516" y="5811104"/>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2</a:t>
            </a:r>
          </a:p>
        </p:txBody>
      </p:sp>
      <p:sp>
        <p:nvSpPr>
          <p:cNvPr id="30" name="Rectangle 25"/>
          <p:cNvSpPr>
            <a:spLocks/>
          </p:cNvSpPr>
          <p:nvPr/>
        </p:nvSpPr>
        <p:spPr bwMode="auto">
          <a:xfrm>
            <a:off x="9318924" y="5815675"/>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3</a:t>
            </a:r>
          </a:p>
        </p:txBody>
      </p:sp>
      <p:sp>
        <p:nvSpPr>
          <p:cNvPr id="31" name="Rectangle 31"/>
          <p:cNvSpPr>
            <a:spLocks/>
          </p:cNvSpPr>
          <p:nvPr/>
        </p:nvSpPr>
        <p:spPr bwMode="auto">
          <a:xfrm>
            <a:off x="10143344" y="5811104"/>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4</a:t>
            </a:r>
          </a:p>
        </p:txBody>
      </p:sp>
      <p:cxnSp>
        <p:nvCxnSpPr>
          <p:cNvPr id="32" name="Straight Arrow Connector 32"/>
          <p:cNvCxnSpPr/>
          <p:nvPr/>
        </p:nvCxnSpPr>
        <p:spPr>
          <a:xfrm flipH="1" flipV="1">
            <a:off x="10311704" y="5353874"/>
            <a:ext cx="17335" cy="461362"/>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35" name="Flecha abajo 34"/>
          <p:cNvSpPr/>
          <p:nvPr/>
        </p:nvSpPr>
        <p:spPr>
          <a:xfrm>
            <a:off x="8739421" y="4462355"/>
            <a:ext cx="465734" cy="456580"/>
          </a:xfrm>
          <a:prstGeom prst="downArrow">
            <a:avLst>
              <a:gd name="adj1" fmla="val 33258"/>
              <a:gd name="adj2" fmla="val 23476"/>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 sz="2400"/>
          </a:p>
        </p:txBody>
      </p:sp>
      <p:sp>
        <p:nvSpPr>
          <p:cNvPr id="36" name="Abrir llave 35"/>
          <p:cNvSpPr/>
          <p:nvPr/>
        </p:nvSpPr>
        <p:spPr>
          <a:xfrm rot="16200000">
            <a:off x="8702290" y="2547118"/>
            <a:ext cx="461849" cy="3028075"/>
          </a:xfrm>
          <a:prstGeom prst="leftBrace">
            <a:avLst/>
          </a:prstGeom>
          <a:ln w="28575"/>
        </p:spPr>
        <p:style>
          <a:lnRef idx="2">
            <a:schemeClr val="accent1"/>
          </a:lnRef>
          <a:fillRef idx="0">
            <a:schemeClr val="accent1"/>
          </a:fillRef>
          <a:effectRef idx="1">
            <a:schemeClr val="accent1"/>
          </a:effectRef>
          <a:fontRef idx="minor">
            <a:schemeClr val="tx1"/>
          </a:fontRef>
        </p:style>
        <p:txBody>
          <a:bodyPr rtlCol="0" anchor="ctr"/>
          <a:lstStyle/>
          <a:p>
            <a:pPr algn="ctr"/>
            <a:endParaRPr lang="es-ES" sz="2400"/>
          </a:p>
        </p:txBody>
      </p:sp>
      <p:cxnSp>
        <p:nvCxnSpPr>
          <p:cNvPr id="33" name="Straight Connector 17"/>
          <p:cNvCxnSpPr/>
          <p:nvPr/>
        </p:nvCxnSpPr>
        <p:spPr>
          <a:xfrm>
            <a:off x="7652843" y="3433396"/>
            <a:ext cx="2632079"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4" name="Straight Arrow Connector 18"/>
          <p:cNvCxnSpPr/>
          <p:nvPr/>
        </p:nvCxnSpPr>
        <p:spPr>
          <a:xfrm flipV="1">
            <a:off x="7665671" y="2987499"/>
            <a:ext cx="0" cy="458726"/>
          </a:xfrm>
          <a:prstGeom prst="straightConnector1">
            <a:avLst/>
          </a:prstGeom>
          <a:ln w="28575">
            <a:solidFill>
              <a:schemeClr val="accent3"/>
            </a:solidFill>
            <a:tailEnd type="arrow"/>
          </a:ln>
        </p:spPr>
        <p:style>
          <a:lnRef idx="2">
            <a:schemeClr val="accent1"/>
          </a:lnRef>
          <a:fillRef idx="0">
            <a:schemeClr val="accent1"/>
          </a:fillRef>
          <a:effectRef idx="1">
            <a:schemeClr val="accent1"/>
          </a:effectRef>
          <a:fontRef idx="minor">
            <a:schemeClr val="tx1"/>
          </a:fontRef>
        </p:style>
      </p:cxnSp>
      <p:sp>
        <p:nvSpPr>
          <p:cNvPr id="40" name="Rectangle 22"/>
          <p:cNvSpPr>
            <a:spLocks/>
          </p:cNvSpPr>
          <p:nvPr/>
        </p:nvSpPr>
        <p:spPr bwMode="auto">
          <a:xfrm flipH="1">
            <a:off x="7599807" y="3470436"/>
            <a:ext cx="13172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0</a:t>
            </a:r>
          </a:p>
        </p:txBody>
      </p:sp>
      <p:sp>
        <p:nvSpPr>
          <p:cNvPr id="41" name="Rectangle 23"/>
          <p:cNvSpPr>
            <a:spLocks/>
          </p:cNvSpPr>
          <p:nvPr/>
        </p:nvSpPr>
        <p:spPr bwMode="auto">
          <a:xfrm>
            <a:off x="8039462" y="3444729"/>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1</a:t>
            </a:r>
          </a:p>
        </p:txBody>
      </p:sp>
      <p:sp>
        <p:nvSpPr>
          <p:cNvPr id="42" name="Rectangle 24"/>
          <p:cNvSpPr>
            <a:spLocks/>
          </p:cNvSpPr>
          <p:nvPr/>
        </p:nvSpPr>
        <p:spPr bwMode="auto">
          <a:xfrm>
            <a:off x="8635228" y="3469989"/>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2</a:t>
            </a:r>
          </a:p>
        </p:txBody>
      </p:sp>
      <p:sp>
        <p:nvSpPr>
          <p:cNvPr id="43" name="Rectangle 25"/>
          <p:cNvSpPr>
            <a:spLocks/>
          </p:cNvSpPr>
          <p:nvPr/>
        </p:nvSpPr>
        <p:spPr bwMode="auto">
          <a:xfrm>
            <a:off x="9287636" y="3449300"/>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3</a:t>
            </a:r>
          </a:p>
        </p:txBody>
      </p:sp>
      <p:sp>
        <p:nvSpPr>
          <p:cNvPr id="44" name="Rectangle 31"/>
          <p:cNvSpPr>
            <a:spLocks/>
          </p:cNvSpPr>
          <p:nvPr/>
        </p:nvSpPr>
        <p:spPr bwMode="auto">
          <a:xfrm>
            <a:off x="10112056" y="3444729"/>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4</a:t>
            </a:r>
          </a:p>
        </p:txBody>
      </p:sp>
      <p:sp>
        <p:nvSpPr>
          <p:cNvPr id="46" name="Rectangle 22"/>
          <p:cNvSpPr>
            <a:spLocks/>
          </p:cNvSpPr>
          <p:nvPr/>
        </p:nvSpPr>
        <p:spPr bwMode="auto">
          <a:xfrm flipH="1">
            <a:off x="7423732" y="2646133"/>
            <a:ext cx="48387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VPN</a:t>
            </a:r>
          </a:p>
        </p:txBody>
      </p:sp>
      <p:sp>
        <p:nvSpPr>
          <p:cNvPr id="15" name="14 Flecha derecha"/>
          <p:cNvSpPr/>
          <p:nvPr/>
        </p:nvSpPr>
        <p:spPr>
          <a:xfrm>
            <a:off x="5564642" y="3275481"/>
            <a:ext cx="1062716" cy="243359"/>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s-CO" sz="2400"/>
          </a:p>
        </p:txBody>
      </p:sp>
      <p:sp>
        <p:nvSpPr>
          <p:cNvPr id="14" name="Título 1">
            <a:extLst>
              <a:ext uri="{FF2B5EF4-FFF2-40B4-BE49-F238E27FC236}">
                <a16:creationId xmlns:a16="http://schemas.microsoft.com/office/drawing/2014/main" id="{FDEE3519-44A7-5F95-3A3D-ADDA2D78020C}"/>
              </a:ext>
            </a:extLst>
          </p:cNvPr>
          <p:cNvSpPr>
            <a:spLocks noGrp="1"/>
          </p:cNvSpPr>
          <p:nvPr>
            <p:ph type="title"/>
          </p:nvPr>
        </p:nvSpPr>
        <p:spPr>
          <a:xfrm>
            <a:off x="581192" y="702156"/>
            <a:ext cx="11029616" cy="1013800"/>
          </a:xfrm>
        </p:spPr>
        <p:txBody>
          <a:bodyPr>
            <a:normAutofit/>
          </a:bodyPr>
          <a:lstStyle/>
          <a:p>
            <a:r>
              <a:rPr lang="es-ES" sz="3200" dirty="0">
                <a:latin typeface="Century Gothic" panose="020B0502020202020204" pitchFamily="34" charset="0"/>
              </a:rPr>
              <a:t>V</a:t>
            </a:r>
            <a:r>
              <a:rPr lang="es-CO" sz="3200" dirty="0">
                <a:latin typeface="Century Gothic" panose="020B0502020202020204" pitchFamily="34" charset="0"/>
              </a:rPr>
              <a:t>AE</a:t>
            </a:r>
          </a:p>
        </p:txBody>
      </p:sp>
      <p:sp>
        <p:nvSpPr>
          <p:cNvPr id="16" name="Rectangle 22">
            <a:extLst>
              <a:ext uri="{FF2B5EF4-FFF2-40B4-BE49-F238E27FC236}">
                <a16:creationId xmlns:a16="http://schemas.microsoft.com/office/drawing/2014/main" id="{707D10F6-87EE-DF9E-078B-9C010B44422B}"/>
              </a:ext>
            </a:extLst>
          </p:cNvPr>
          <p:cNvSpPr>
            <a:spLocks/>
          </p:cNvSpPr>
          <p:nvPr/>
        </p:nvSpPr>
        <p:spPr bwMode="auto">
          <a:xfrm flipH="1">
            <a:off x="6953517" y="5353873"/>
            <a:ext cx="48387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VAE</a:t>
            </a:r>
          </a:p>
        </p:txBody>
      </p:sp>
    </p:spTree>
    <p:extLst>
      <p:ext uri="{BB962C8B-B14F-4D97-AF65-F5344CB8AC3E}">
        <p14:creationId xmlns:p14="http://schemas.microsoft.com/office/powerpoint/2010/main" val="3078180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4"/>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3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P spid="28" grpId="0"/>
      <p:bldP spid="29" grpId="0"/>
      <p:bldP spid="30" grpId="0"/>
      <p:bldP spid="31" grpId="0"/>
      <p:bldP spid="35" grpId="0" animBg="1"/>
      <p:bldP spid="36" grpId="0" animBg="1"/>
      <p:bldP spid="40" grpId="0"/>
      <p:bldP spid="41" grpId="0"/>
      <p:bldP spid="42" grpId="0"/>
      <p:bldP spid="43" grpId="0"/>
      <p:bldP spid="44" grpId="0"/>
      <p:bldP spid="46" grpId="0"/>
      <p:bldP spid="15" grpId="0" animBg="1"/>
      <p:bldP spid="16"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p:cNvSpPr>
            <a:spLocks noGrp="1"/>
          </p:cNvSpPr>
          <p:nvPr>
            <p:ph idx="1"/>
          </p:nvPr>
        </p:nvSpPr>
        <p:spPr>
          <a:xfrm>
            <a:off x="581191" y="1828799"/>
            <a:ext cx="11029615" cy="1230086"/>
          </a:xfrm>
        </p:spPr>
        <p:txBody>
          <a:bodyPr>
            <a:normAutofit/>
          </a:bodyPr>
          <a:lstStyle/>
          <a:p>
            <a:pPr marL="0" indent="0" algn="just">
              <a:buNone/>
            </a:pPr>
            <a:r>
              <a:rPr lang="es-ES" sz="2400" dirty="0"/>
              <a:t>Dado el objetivo mostrado en la gráfica anterior, existen diversas formas de hacerlo. Sin embargo, lo más conveniente es </a:t>
            </a:r>
            <a:r>
              <a:rPr lang="es-ES" sz="2400" b="1" dirty="0"/>
              <a:t>anualizar el valor presente</a:t>
            </a:r>
            <a:r>
              <a:rPr lang="es-ES" sz="2400" dirty="0"/>
              <a:t>. Para ello basta con utilizar la relación de equivalencia “serie uniforme equivalente a un valor presente”.</a:t>
            </a:r>
          </a:p>
        </p:txBody>
      </p:sp>
      <p:sp>
        <p:nvSpPr>
          <p:cNvPr id="4" name="Marcador de número de diapositiva 3"/>
          <p:cNvSpPr>
            <a:spLocks noGrp="1"/>
          </p:cNvSpPr>
          <p:nvPr>
            <p:ph type="sldNum" sz="quarter" idx="12"/>
          </p:nvPr>
        </p:nvSpPr>
        <p:spPr/>
        <p:txBody>
          <a:bodyPr/>
          <a:lstStyle/>
          <a:p>
            <a:fld id="{5E3E23BA-6E79-2442-BA73-D218A5E297C3}" type="slidenum">
              <a:rPr lang="en-US" smtClean="0"/>
              <a:t>16</a:t>
            </a:fld>
            <a:endParaRPr lang="en-US"/>
          </a:p>
        </p:txBody>
      </p:sp>
      <p:pic>
        <p:nvPicPr>
          <p:cNvPr id="5" name="Picture 2" descr="latex-image-1.pdf"/>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18170" y="3945301"/>
            <a:ext cx="3478195" cy="895275"/>
          </a:xfrm>
          <a:prstGeom prst="rect">
            <a:avLst/>
          </a:prstGeom>
        </p:spPr>
      </p:pic>
      <p:pic>
        <p:nvPicPr>
          <p:cNvPr id="6" name="Imagen 5" descr="latex-image-1.pdf"/>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70683" y="5064037"/>
            <a:ext cx="2728848" cy="408253"/>
          </a:xfrm>
          <a:prstGeom prst="rect">
            <a:avLst/>
          </a:prstGeom>
        </p:spPr>
      </p:pic>
      <p:sp>
        <p:nvSpPr>
          <p:cNvPr id="7" name="Flecha derecha 6"/>
          <p:cNvSpPr/>
          <p:nvPr/>
        </p:nvSpPr>
        <p:spPr>
          <a:xfrm>
            <a:off x="5837318" y="4607724"/>
            <a:ext cx="517363" cy="295156"/>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
          </a:p>
        </p:txBody>
      </p:sp>
      <p:pic>
        <p:nvPicPr>
          <p:cNvPr id="8" name="Imagen 7" descr="latex-image-1.pdf"/>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108225" y="3951063"/>
            <a:ext cx="4132125" cy="804239"/>
          </a:xfrm>
          <a:prstGeom prst="rect">
            <a:avLst/>
          </a:prstGeom>
        </p:spPr>
      </p:pic>
      <p:pic>
        <p:nvPicPr>
          <p:cNvPr id="9" name="Imagen 8" descr="latex-image-1.pdf"/>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254303" y="5090005"/>
            <a:ext cx="3719527" cy="382285"/>
          </a:xfrm>
          <a:prstGeom prst="rect">
            <a:avLst/>
          </a:prstGeom>
        </p:spPr>
      </p:pic>
      <p:sp>
        <p:nvSpPr>
          <p:cNvPr id="11" name="Rectángulo 10">
            <a:extLst>
              <a:ext uri="{FF2B5EF4-FFF2-40B4-BE49-F238E27FC236}">
                <a16:creationId xmlns:a16="http://schemas.microsoft.com/office/drawing/2014/main" id="{BD80D735-627E-9357-C75F-20BD49BE9DA3}"/>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2" name="Picture 2" descr="Clientes y aliados | Centro de Evaluación | Uniandes">
            <a:extLst>
              <a:ext uri="{FF2B5EF4-FFF2-40B4-BE49-F238E27FC236}">
                <a16:creationId xmlns:a16="http://schemas.microsoft.com/office/drawing/2014/main" id="{75A3681B-A607-D95C-33DE-76D54DD358BF}"/>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13" name="Rectángulo 12">
            <a:extLst>
              <a:ext uri="{FF2B5EF4-FFF2-40B4-BE49-F238E27FC236}">
                <a16:creationId xmlns:a16="http://schemas.microsoft.com/office/drawing/2014/main" id="{7510C27B-A7F2-88B0-3A97-48A9580AEC8E}"/>
              </a:ext>
            </a:extLst>
          </p:cNvPr>
          <p:cNvSpPr/>
          <p:nvPr/>
        </p:nvSpPr>
        <p:spPr>
          <a:xfrm>
            <a:off x="8399257" y="118110"/>
            <a:ext cx="3150778" cy="261610"/>
          </a:xfrm>
          <a:prstGeom prst="rect">
            <a:avLst/>
          </a:prstGeom>
        </p:spPr>
        <p:txBody>
          <a:bodyPr wrap="square">
            <a:spAutoFit/>
          </a:bodyPr>
          <a:lstStyle/>
          <a:p>
            <a:pPr algn="r"/>
            <a:r>
              <a:rPr lang="es-CO" sz="1100" b="1" dirty="0">
                <a:solidFill>
                  <a:schemeClr val="accent2">
                    <a:lumMod val="50000"/>
                  </a:schemeClr>
                </a:solidFill>
                <a:latin typeface="Century Gothic" panose="020B0502020202020204" pitchFamily="34" charset="0"/>
                <a:sym typeface="Gill Sans Light"/>
              </a:rPr>
              <a:t>Curso</a:t>
            </a:r>
            <a:r>
              <a:rPr lang="es-CO" sz="1100" dirty="0">
                <a:solidFill>
                  <a:schemeClr val="accent2">
                    <a:lumMod val="50000"/>
                  </a:schemeClr>
                </a:solidFill>
                <a:latin typeface="Century Gothic" panose="020B0502020202020204" pitchFamily="34" charset="0"/>
                <a:sym typeface="Gill Sans Light"/>
              </a:rPr>
              <a:t> Análisis de Decisiones de Inversión</a:t>
            </a:r>
            <a:endParaRPr lang="es-CO" sz="1100" dirty="0">
              <a:solidFill>
                <a:schemeClr val="accent2">
                  <a:lumMod val="50000"/>
                </a:schemeClr>
              </a:solidFill>
              <a:latin typeface="Century Gothic" panose="020B0502020202020204" pitchFamily="34" charset="0"/>
            </a:endParaRPr>
          </a:p>
        </p:txBody>
      </p:sp>
      <p:sp>
        <p:nvSpPr>
          <p:cNvPr id="17" name="Título 1">
            <a:extLst>
              <a:ext uri="{FF2B5EF4-FFF2-40B4-BE49-F238E27FC236}">
                <a16:creationId xmlns:a16="http://schemas.microsoft.com/office/drawing/2014/main" id="{C421107C-C6E3-4548-6A9E-A5252A43C202}"/>
              </a:ext>
            </a:extLst>
          </p:cNvPr>
          <p:cNvSpPr>
            <a:spLocks noGrp="1"/>
          </p:cNvSpPr>
          <p:nvPr>
            <p:ph type="title"/>
          </p:nvPr>
        </p:nvSpPr>
        <p:spPr>
          <a:xfrm>
            <a:off x="581192" y="702156"/>
            <a:ext cx="11029616" cy="1013800"/>
          </a:xfrm>
        </p:spPr>
        <p:txBody>
          <a:bodyPr>
            <a:normAutofit/>
          </a:bodyPr>
          <a:lstStyle/>
          <a:p>
            <a:r>
              <a:rPr lang="es-ES" sz="3200" dirty="0">
                <a:latin typeface="Century Gothic" panose="020B0502020202020204" pitchFamily="34" charset="0"/>
              </a:rPr>
              <a:t>V</a:t>
            </a:r>
            <a:r>
              <a:rPr lang="es-CO" sz="3200" dirty="0">
                <a:latin typeface="Century Gothic" panose="020B0502020202020204" pitchFamily="34" charset="0"/>
              </a:rPr>
              <a:t>AE</a:t>
            </a:r>
          </a:p>
        </p:txBody>
      </p:sp>
    </p:spTree>
    <p:extLst>
      <p:ext uri="{BB962C8B-B14F-4D97-AF65-F5344CB8AC3E}">
        <p14:creationId xmlns:p14="http://schemas.microsoft.com/office/powerpoint/2010/main" val="55803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p:cNvSpPr>
            <a:spLocks noGrp="1"/>
          </p:cNvSpPr>
          <p:nvPr>
            <p:ph idx="1"/>
          </p:nvPr>
        </p:nvSpPr>
        <p:spPr>
          <a:xfrm>
            <a:off x="581192" y="1844041"/>
            <a:ext cx="10968843" cy="3670767"/>
          </a:xfrm>
        </p:spPr>
        <p:txBody>
          <a:bodyPr>
            <a:normAutofit/>
          </a:bodyPr>
          <a:lstStyle/>
          <a:p>
            <a:pPr marL="0" indent="0" algn="just">
              <a:buNone/>
            </a:pPr>
            <a:r>
              <a:rPr lang="es-ES" sz="2400" dirty="0"/>
              <a:t>Al VAE depende directamente del VPN, la interpretación de éste es bastante sencilla. </a:t>
            </a:r>
          </a:p>
          <a:p>
            <a:pPr marL="0" indent="0" algn="just">
              <a:buNone/>
            </a:pPr>
            <a:endParaRPr lang="es-ES" sz="2400" dirty="0"/>
          </a:p>
          <a:p>
            <a:pPr marL="0" indent="0" algn="just">
              <a:buNone/>
            </a:pPr>
            <a:r>
              <a:rPr lang="es-ES" sz="2400" dirty="0"/>
              <a:t>Si el VPN del proyecto resulta ser negativo, el VAE es también negativo; caso en el cual se conoce como CAE (</a:t>
            </a:r>
            <a:r>
              <a:rPr lang="es-ES" sz="2400" b="1" dirty="0"/>
              <a:t>costo anual equivalente</a:t>
            </a:r>
            <a:r>
              <a:rPr lang="es-ES" sz="2400" dirty="0"/>
              <a:t>). </a:t>
            </a:r>
          </a:p>
          <a:p>
            <a:pPr marL="0" indent="0" algn="just">
              <a:buNone/>
            </a:pPr>
            <a:endParaRPr lang="es-ES" sz="2400" dirty="0"/>
          </a:p>
          <a:p>
            <a:pPr marL="0" indent="0" algn="just">
              <a:buNone/>
            </a:pPr>
            <a:r>
              <a:rPr lang="es-ES" sz="2400" dirty="0"/>
              <a:t>Por el contrario, si el VPN es positivo el VAE es positivo.</a:t>
            </a:r>
          </a:p>
        </p:txBody>
      </p:sp>
      <p:sp>
        <p:nvSpPr>
          <p:cNvPr id="4" name="Marcador de número de diapositiva 3"/>
          <p:cNvSpPr>
            <a:spLocks noGrp="1"/>
          </p:cNvSpPr>
          <p:nvPr>
            <p:ph type="sldNum" sz="quarter" idx="12"/>
          </p:nvPr>
        </p:nvSpPr>
        <p:spPr/>
        <p:txBody>
          <a:bodyPr/>
          <a:lstStyle/>
          <a:p>
            <a:fld id="{5E3E23BA-6E79-2442-BA73-D218A5E297C3}" type="slidenum">
              <a:rPr lang="en-US" smtClean="0"/>
              <a:t>17</a:t>
            </a:fld>
            <a:endParaRPr lang="en-US"/>
          </a:p>
        </p:txBody>
      </p:sp>
      <p:sp>
        <p:nvSpPr>
          <p:cNvPr id="6" name="Rectángulo 5">
            <a:extLst>
              <a:ext uri="{FF2B5EF4-FFF2-40B4-BE49-F238E27FC236}">
                <a16:creationId xmlns:a16="http://schemas.microsoft.com/office/drawing/2014/main" id="{66A8CE90-D0E8-8050-235F-833EAD52807C}"/>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7" name="Picture 2" descr="Clientes y aliados | Centro de Evaluación | Uniandes">
            <a:extLst>
              <a:ext uri="{FF2B5EF4-FFF2-40B4-BE49-F238E27FC236}">
                <a16:creationId xmlns:a16="http://schemas.microsoft.com/office/drawing/2014/main" id="{BCF533BB-1618-95EF-FB24-ACFFAAF6533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8" name="Rectángulo 7">
            <a:extLst>
              <a:ext uri="{FF2B5EF4-FFF2-40B4-BE49-F238E27FC236}">
                <a16:creationId xmlns:a16="http://schemas.microsoft.com/office/drawing/2014/main" id="{238B7EF6-40CD-7FCD-11A3-52684A7815B4}"/>
              </a:ext>
            </a:extLst>
          </p:cNvPr>
          <p:cNvSpPr/>
          <p:nvPr/>
        </p:nvSpPr>
        <p:spPr>
          <a:xfrm>
            <a:off x="8399257" y="118110"/>
            <a:ext cx="3150778" cy="261610"/>
          </a:xfrm>
          <a:prstGeom prst="rect">
            <a:avLst/>
          </a:prstGeom>
        </p:spPr>
        <p:txBody>
          <a:bodyPr wrap="square">
            <a:spAutoFit/>
          </a:bodyPr>
          <a:lstStyle/>
          <a:p>
            <a:pPr algn="r"/>
            <a:r>
              <a:rPr lang="es-CO" sz="1100" b="1" dirty="0">
                <a:solidFill>
                  <a:schemeClr val="accent2">
                    <a:lumMod val="50000"/>
                  </a:schemeClr>
                </a:solidFill>
                <a:latin typeface="Century Gothic" panose="020B0502020202020204" pitchFamily="34" charset="0"/>
                <a:sym typeface="Gill Sans Light"/>
              </a:rPr>
              <a:t>Curso</a:t>
            </a:r>
            <a:r>
              <a:rPr lang="es-CO" sz="1100" dirty="0">
                <a:solidFill>
                  <a:schemeClr val="accent2">
                    <a:lumMod val="50000"/>
                  </a:schemeClr>
                </a:solidFill>
                <a:latin typeface="Century Gothic" panose="020B0502020202020204" pitchFamily="34" charset="0"/>
                <a:sym typeface="Gill Sans Light"/>
              </a:rPr>
              <a:t> Análisis de Decisiones de Inversión</a:t>
            </a:r>
            <a:endParaRPr lang="es-CO" sz="1100" dirty="0">
              <a:solidFill>
                <a:schemeClr val="accent2">
                  <a:lumMod val="50000"/>
                </a:schemeClr>
              </a:solidFill>
              <a:latin typeface="Century Gothic" panose="020B0502020202020204" pitchFamily="34" charset="0"/>
            </a:endParaRPr>
          </a:p>
        </p:txBody>
      </p:sp>
      <p:sp>
        <p:nvSpPr>
          <p:cNvPr id="9" name="Título 1">
            <a:extLst>
              <a:ext uri="{FF2B5EF4-FFF2-40B4-BE49-F238E27FC236}">
                <a16:creationId xmlns:a16="http://schemas.microsoft.com/office/drawing/2014/main" id="{9942697C-88A7-8E10-6904-7BB05FAAEA88}"/>
              </a:ext>
            </a:extLst>
          </p:cNvPr>
          <p:cNvSpPr>
            <a:spLocks noGrp="1"/>
          </p:cNvSpPr>
          <p:nvPr>
            <p:ph type="title"/>
          </p:nvPr>
        </p:nvSpPr>
        <p:spPr>
          <a:xfrm>
            <a:off x="581192" y="702156"/>
            <a:ext cx="11029616" cy="1013800"/>
          </a:xfrm>
        </p:spPr>
        <p:txBody>
          <a:bodyPr>
            <a:normAutofit/>
          </a:bodyPr>
          <a:lstStyle/>
          <a:p>
            <a:r>
              <a:rPr lang="es-ES" sz="3200" dirty="0">
                <a:latin typeface="Century Gothic" panose="020B0502020202020204" pitchFamily="34" charset="0"/>
              </a:rPr>
              <a:t>V</a:t>
            </a:r>
            <a:r>
              <a:rPr lang="es-CO" sz="3200" dirty="0">
                <a:latin typeface="Century Gothic" panose="020B0502020202020204" pitchFamily="34" charset="0"/>
              </a:rPr>
              <a:t>AE</a:t>
            </a:r>
          </a:p>
        </p:txBody>
      </p:sp>
    </p:spTree>
    <p:extLst>
      <p:ext uri="{BB962C8B-B14F-4D97-AF65-F5344CB8AC3E}">
        <p14:creationId xmlns:p14="http://schemas.microsoft.com/office/powerpoint/2010/main" val="18012269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p:cNvSpPr>
            <a:spLocks noGrp="1"/>
          </p:cNvSpPr>
          <p:nvPr>
            <p:ph idx="1"/>
          </p:nvPr>
        </p:nvSpPr>
        <p:spPr>
          <a:xfrm>
            <a:off x="581192" y="1918368"/>
            <a:ext cx="11029616" cy="582946"/>
          </a:xfrm>
        </p:spPr>
        <p:txBody>
          <a:bodyPr>
            <a:normAutofit/>
          </a:bodyPr>
          <a:lstStyle/>
          <a:p>
            <a:pPr marL="0" indent="0" algn="ctr">
              <a:buNone/>
            </a:pPr>
            <a:r>
              <a:rPr lang="es-ES" sz="2400" dirty="0"/>
              <a:t>Haciendo una comparación con el VPN y la TIR podemos concluir lo siguiente:</a:t>
            </a:r>
          </a:p>
        </p:txBody>
      </p:sp>
      <p:sp>
        <p:nvSpPr>
          <p:cNvPr id="4" name="Marcador de número de diapositiva 3"/>
          <p:cNvSpPr>
            <a:spLocks noGrp="1"/>
          </p:cNvSpPr>
          <p:nvPr>
            <p:ph type="sldNum" sz="quarter" idx="12"/>
          </p:nvPr>
        </p:nvSpPr>
        <p:spPr/>
        <p:txBody>
          <a:bodyPr/>
          <a:lstStyle/>
          <a:p>
            <a:fld id="{5E3E23BA-6E79-2442-BA73-D218A5E297C3}" type="slidenum">
              <a:rPr lang="en-US" smtClean="0"/>
              <a:t>18</a:t>
            </a:fld>
            <a:endParaRPr lang="en-US"/>
          </a:p>
        </p:txBody>
      </p:sp>
      <p:graphicFrame>
        <p:nvGraphicFramePr>
          <p:cNvPr id="5" name="Table 4"/>
          <p:cNvGraphicFramePr>
            <a:graphicFrameLocks noGrp="1"/>
          </p:cNvGraphicFramePr>
          <p:nvPr/>
        </p:nvGraphicFramePr>
        <p:xfrm>
          <a:off x="695999" y="2996400"/>
          <a:ext cx="10800001" cy="2546398"/>
        </p:xfrm>
        <a:graphic>
          <a:graphicData uri="http://schemas.openxmlformats.org/drawingml/2006/table">
            <a:tbl>
              <a:tblPr firstRow="1" bandRow="1">
                <a:tableStyleId>{AF606853-7671-496A-8E4F-DF71F8EC918B}</a:tableStyleId>
              </a:tblPr>
              <a:tblGrid>
                <a:gridCol w="2160000">
                  <a:extLst>
                    <a:ext uri="{9D8B030D-6E8A-4147-A177-3AD203B41FA5}">
                      <a16:colId xmlns:a16="http://schemas.microsoft.com/office/drawing/2014/main" val="20000"/>
                    </a:ext>
                  </a:extLst>
                </a:gridCol>
                <a:gridCol w="2160000">
                  <a:extLst>
                    <a:ext uri="{9D8B030D-6E8A-4147-A177-3AD203B41FA5}">
                      <a16:colId xmlns:a16="http://schemas.microsoft.com/office/drawing/2014/main" val="20001"/>
                    </a:ext>
                  </a:extLst>
                </a:gridCol>
                <a:gridCol w="1831002">
                  <a:extLst>
                    <a:ext uri="{9D8B030D-6E8A-4147-A177-3AD203B41FA5}">
                      <a16:colId xmlns:a16="http://schemas.microsoft.com/office/drawing/2014/main" val="20002"/>
                    </a:ext>
                  </a:extLst>
                </a:gridCol>
                <a:gridCol w="2175619">
                  <a:extLst>
                    <a:ext uri="{9D8B030D-6E8A-4147-A177-3AD203B41FA5}">
                      <a16:colId xmlns:a16="http://schemas.microsoft.com/office/drawing/2014/main" val="20003"/>
                    </a:ext>
                  </a:extLst>
                </a:gridCol>
                <a:gridCol w="2473380">
                  <a:extLst>
                    <a:ext uri="{9D8B030D-6E8A-4147-A177-3AD203B41FA5}">
                      <a16:colId xmlns:a16="http://schemas.microsoft.com/office/drawing/2014/main" val="20004"/>
                    </a:ext>
                  </a:extLst>
                </a:gridCol>
              </a:tblGrid>
              <a:tr h="443278">
                <a:tc>
                  <a:txBody>
                    <a:bodyPr/>
                    <a:lstStyle/>
                    <a:p>
                      <a:pPr algn="ctr"/>
                      <a:r>
                        <a:rPr lang="es-ES_tradnl" sz="2000" noProof="0" dirty="0"/>
                        <a:t>VAE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tc>
                  <a:txBody>
                    <a:bodyPr/>
                    <a:lstStyle/>
                    <a:p>
                      <a:pPr algn="ctr"/>
                      <a:r>
                        <a:rPr lang="es-ES_tradnl" sz="2000" noProof="0" dirty="0"/>
                        <a:t>VPN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tc>
                  <a:txBody>
                    <a:bodyPr/>
                    <a:lstStyle/>
                    <a:p>
                      <a:pPr algn="ctr"/>
                      <a:r>
                        <a:rPr lang="es-ES_tradnl" sz="2000" noProof="0" dirty="0"/>
                        <a:t>TIR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tc>
                  <a:txBody>
                    <a:bodyPr/>
                    <a:lstStyle/>
                    <a:p>
                      <a:pPr algn="ctr"/>
                      <a:r>
                        <a:rPr lang="es-ES_tradnl" sz="2000" noProof="0"/>
                        <a:t>Decisión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tc>
                  <a:txBody>
                    <a:bodyPr/>
                    <a:lstStyle/>
                    <a:p>
                      <a:pPr algn="ctr"/>
                      <a:r>
                        <a:rPr lang="es-ES_tradnl" sz="2000" noProof="0" dirty="0"/>
                        <a:t>Creación de Valor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extLst>
                  <a:ext uri="{0D108BD9-81ED-4DB2-BD59-A6C34878D82A}">
                    <a16:rowId xmlns:a16="http://schemas.microsoft.com/office/drawing/2014/main" val="10000"/>
                  </a:ext>
                </a:extLst>
              </a:tr>
              <a:tr h="692241">
                <a:tc>
                  <a:txBody>
                    <a:bodyPr/>
                    <a:lstStyle/>
                    <a:p>
                      <a:pPr algn="ctr"/>
                      <a:r>
                        <a:rPr lang="es-ES_tradnl" sz="2000" noProof="0" dirty="0">
                          <a:solidFill>
                            <a:sysClr val="windowText" lastClr="000000"/>
                          </a:solidFill>
                        </a:rPr>
                        <a:t>VAE&lt;</a:t>
                      </a:r>
                      <a:r>
                        <a:rPr lang="es-ES_tradnl" sz="2000" baseline="0" noProof="0" dirty="0">
                          <a:solidFill>
                            <a:sysClr val="windowText" lastClr="000000"/>
                          </a:solidFill>
                        </a:rPr>
                        <a:t> 0</a:t>
                      </a:r>
                      <a:endParaRPr lang="es-ES_tradnl" sz="2000" noProof="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ES_tradnl" sz="2000" noProof="0" dirty="0">
                          <a:solidFill>
                            <a:sysClr val="windowText" lastClr="000000"/>
                          </a:solidFill>
                        </a:rPr>
                        <a:t>VPN&lt;</a:t>
                      </a:r>
                      <a:r>
                        <a:rPr lang="es-ES_tradnl" sz="2000" baseline="0" noProof="0" dirty="0">
                          <a:solidFill>
                            <a:sysClr val="windowText" lastClr="000000"/>
                          </a:solidFill>
                        </a:rPr>
                        <a:t> 0</a:t>
                      </a:r>
                      <a:endParaRPr lang="es-ES_tradnl" sz="2000" noProof="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ES_tradnl" sz="2000" noProof="0" dirty="0">
                          <a:solidFill>
                            <a:sysClr val="windowText" lastClr="000000"/>
                          </a:solidFill>
                        </a:rPr>
                        <a:t>TIR &lt;</a:t>
                      </a:r>
                      <a:r>
                        <a:rPr lang="es-ES_tradnl" sz="2000" baseline="0" noProof="0" dirty="0">
                          <a:solidFill>
                            <a:sysClr val="windowText" lastClr="000000"/>
                          </a:solidFill>
                        </a:rPr>
                        <a:t> C.O.</a:t>
                      </a:r>
                      <a:endParaRPr lang="es-ES_tradnl" sz="2000" noProof="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ES_tradnl" sz="2000" noProof="0" dirty="0">
                          <a:solidFill>
                            <a:sysClr val="windowText" lastClr="000000"/>
                          </a:solidFill>
                        </a:rPr>
                        <a:t>Proyecto No Conveniente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ES_tradnl" sz="2000" noProof="0" dirty="0">
                          <a:solidFill>
                            <a:sysClr val="windowText" lastClr="000000"/>
                          </a:solidFill>
                        </a:rPr>
                        <a:t>Proyecto Destruye Valor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92241">
                <a:tc>
                  <a:txBody>
                    <a:bodyPr/>
                    <a:lstStyle/>
                    <a:p>
                      <a:pPr algn="ctr"/>
                      <a:r>
                        <a:rPr lang="es-ES_tradnl" sz="2000" noProof="0" dirty="0">
                          <a:solidFill>
                            <a:sysClr val="windowText" lastClr="000000"/>
                          </a:solidFill>
                        </a:rPr>
                        <a:t>VAE&gt;0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a:r>
                        <a:rPr lang="es-ES_tradnl" sz="2000" noProof="0" dirty="0">
                          <a:solidFill>
                            <a:sysClr val="windowText" lastClr="000000"/>
                          </a:solidFill>
                        </a:rPr>
                        <a:t>VPN &gt;0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a:r>
                        <a:rPr lang="es-ES_tradnl" sz="2000" noProof="0" dirty="0">
                          <a:solidFill>
                            <a:sysClr val="windowText" lastClr="000000"/>
                          </a:solidFill>
                        </a:rPr>
                        <a:t>TIR &gt; 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a:r>
                        <a:rPr lang="es-ES_tradnl" sz="2000" noProof="0" dirty="0">
                          <a:solidFill>
                            <a:sysClr val="windowText" lastClr="000000"/>
                          </a:solidFill>
                        </a:rPr>
                        <a:t>Proyecto Conveniente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a:r>
                        <a:rPr lang="es-ES_tradnl" sz="2000" noProof="0" dirty="0">
                          <a:solidFill>
                            <a:sysClr val="windowText" lastClr="000000"/>
                          </a:solidFill>
                        </a:rPr>
                        <a:t>Proyecto Genera Valor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extLst>
                  <a:ext uri="{0D108BD9-81ED-4DB2-BD59-A6C34878D82A}">
                    <a16:rowId xmlns:a16="http://schemas.microsoft.com/office/drawing/2014/main" val="10002"/>
                  </a:ext>
                </a:extLst>
              </a:tr>
              <a:tr h="692241">
                <a:tc>
                  <a:txBody>
                    <a:bodyPr/>
                    <a:lstStyle/>
                    <a:p>
                      <a:pPr algn="ctr"/>
                      <a:r>
                        <a:rPr lang="es-ES_tradnl" sz="2000" noProof="0" dirty="0">
                          <a:solidFill>
                            <a:sysClr val="windowText" lastClr="000000"/>
                          </a:solidFill>
                        </a:rPr>
                        <a:t>VAE=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ES_tradnl" sz="2000" noProof="0" dirty="0">
                          <a:solidFill>
                            <a:sysClr val="windowText" lastClr="000000"/>
                          </a:solidFill>
                        </a:rPr>
                        <a:t>VPN =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ES_tradnl" sz="2000" noProof="0" dirty="0">
                          <a:solidFill>
                            <a:sysClr val="windowText" lastClr="000000"/>
                          </a:solidFill>
                        </a:rPr>
                        <a:t>TIR = 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ES_tradnl" sz="2000" noProof="0" dirty="0">
                          <a:solidFill>
                            <a:sysClr val="windowText" lastClr="000000"/>
                          </a:solidFill>
                        </a:rPr>
                        <a:t>Indiferente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ES_tradnl" sz="2000" noProof="0" dirty="0">
                          <a:solidFill>
                            <a:sysClr val="windowText" lastClr="000000"/>
                          </a:solidFill>
                        </a:rPr>
                        <a:t>No hay</a:t>
                      </a:r>
                      <a:r>
                        <a:rPr lang="es-ES_tradnl" sz="2000" baseline="0" noProof="0" dirty="0">
                          <a:solidFill>
                            <a:sysClr val="windowText" lastClr="000000"/>
                          </a:solidFill>
                        </a:rPr>
                        <a:t> efecto sobre el valor</a:t>
                      </a:r>
                      <a:endParaRPr lang="es-ES_tradnl" sz="2000" noProof="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7" name="Rectángulo 6">
            <a:extLst>
              <a:ext uri="{FF2B5EF4-FFF2-40B4-BE49-F238E27FC236}">
                <a16:creationId xmlns:a16="http://schemas.microsoft.com/office/drawing/2014/main" id="{234340A3-A069-2DFE-D058-B4B5E5E29CAC}"/>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2F90FB66-4D84-CBDE-DD86-5D01C7E0770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9" name="Rectángulo 8">
            <a:extLst>
              <a:ext uri="{FF2B5EF4-FFF2-40B4-BE49-F238E27FC236}">
                <a16:creationId xmlns:a16="http://schemas.microsoft.com/office/drawing/2014/main" id="{889D35A7-DCE8-1B43-D4AA-17C01FA3CAE2}"/>
              </a:ext>
            </a:extLst>
          </p:cNvPr>
          <p:cNvSpPr/>
          <p:nvPr/>
        </p:nvSpPr>
        <p:spPr>
          <a:xfrm>
            <a:off x="8399257" y="118110"/>
            <a:ext cx="3150778" cy="261610"/>
          </a:xfrm>
          <a:prstGeom prst="rect">
            <a:avLst/>
          </a:prstGeom>
        </p:spPr>
        <p:txBody>
          <a:bodyPr wrap="square">
            <a:spAutoFit/>
          </a:bodyPr>
          <a:lstStyle/>
          <a:p>
            <a:pPr algn="r"/>
            <a:r>
              <a:rPr lang="es-CO" sz="1100" b="1" dirty="0">
                <a:solidFill>
                  <a:schemeClr val="accent2">
                    <a:lumMod val="50000"/>
                  </a:schemeClr>
                </a:solidFill>
                <a:latin typeface="Century Gothic" panose="020B0502020202020204" pitchFamily="34" charset="0"/>
                <a:sym typeface="Gill Sans Light"/>
              </a:rPr>
              <a:t>Curso</a:t>
            </a:r>
            <a:r>
              <a:rPr lang="es-CO" sz="1100" dirty="0">
                <a:solidFill>
                  <a:schemeClr val="accent2">
                    <a:lumMod val="50000"/>
                  </a:schemeClr>
                </a:solidFill>
                <a:latin typeface="Century Gothic" panose="020B0502020202020204" pitchFamily="34" charset="0"/>
                <a:sym typeface="Gill Sans Light"/>
              </a:rPr>
              <a:t> Análisis de Decisiones de Inversión</a:t>
            </a:r>
            <a:endParaRPr lang="es-CO" sz="1100" dirty="0">
              <a:solidFill>
                <a:schemeClr val="accent2">
                  <a:lumMod val="50000"/>
                </a:schemeClr>
              </a:solidFill>
              <a:latin typeface="Century Gothic" panose="020B0502020202020204" pitchFamily="34" charset="0"/>
            </a:endParaRPr>
          </a:p>
        </p:txBody>
      </p:sp>
      <p:sp>
        <p:nvSpPr>
          <p:cNvPr id="10" name="Título 1">
            <a:extLst>
              <a:ext uri="{FF2B5EF4-FFF2-40B4-BE49-F238E27FC236}">
                <a16:creationId xmlns:a16="http://schemas.microsoft.com/office/drawing/2014/main" id="{30F1B630-B8A4-3AA7-A9C3-0A91E58C85F8}"/>
              </a:ext>
            </a:extLst>
          </p:cNvPr>
          <p:cNvSpPr>
            <a:spLocks noGrp="1"/>
          </p:cNvSpPr>
          <p:nvPr>
            <p:ph type="title"/>
          </p:nvPr>
        </p:nvSpPr>
        <p:spPr>
          <a:xfrm>
            <a:off x="581192" y="702156"/>
            <a:ext cx="11029616" cy="1013800"/>
          </a:xfrm>
        </p:spPr>
        <p:txBody>
          <a:bodyPr>
            <a:normAutofit/>
          </a:bodyPr>
          <a:lstStyle/>
          <a:p>
            <a:r>
              <a:rPr lang="es-ES" sz="3200" dirty="0">
                <a:latin typeface="Century Gothic" panose="020B0502020202020204" pitchFamily="34" charset="0"/>
              </a:rPr>
              <a:t>V</a:t>
            </a:r>
            <a:r>
              <a:rPr lang="es-CO" sz="3200" dirty="0">
                <a:latin typeface="Century Gothic" panose="020B0502020202020204" pitchFamily="34" charset="0"/>
              </a:rPr>
              <a:t>AE</a:t>
            </a:r>
          </a:p>
        </p:txBody>
      </p:sp>
    </p:spTree>
    <p:extLst>
      <p:ext uri="{BB962C8B-B14F-4D97-AF65-F5344CB8AC3E}">
        <p14:creationId xmlns:p14="http://schemas.microsoft.com/office/powerpoint/2010/main" val="799879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725319-1558-E5E1-E48C-FAF8844FCA2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ECDE33B-5C5C-30CC-70DA-352CC431506E}"/>
              </a:ext>
            </a:extLst>
          </p:cNvPr>
          <p:cNvSpPr>
            <a:spLocks noGrp="1"/>
          </p:cNvSpPr>
          <p:nvPr>
            <p:ph type="title"/>
          </p:nvPr>
        </p:nvSpPr>
        <p:spPr/>
        <p:txBody>
          <a:bodyPr>
            <a:normAutofit/>
          </a:bodyPr>
          <a:lstStyle/>
          <a:p>
            <a:r>
              <a:rPr lang="es-CO" sz="3200">
                <a:latin typeface="Century Gothic" panose="020B0502020202020204" pitchFamily="34" charset="0"/>
              </a:rPr>
              <a:t>AGENDA PROPUESTA</a:t>
            </a:r>
          </a:p>
        </p:txBody>
      </p:sp>
      <p:sp>
        <p:nvSpPr>
          <p:cNvPr id="4" name="Marcador de número de diapositiva 3">
            <a:extLst>
              <a:ext uri="{FF2B5EF4-FFF2-40B4-BE49-F238E27FC236}">
                <a16:creationId xmlns:a16="http://schemas.microsoft.com/office/drawing/2014/main" id="{FCC3C606-7ACE-4D9B-9595-3F3E78184664}"/>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19</a:t>
            </a:fld>
            <a:endParaRPr lang="en-US" sz="2000" b="1">
              <a:latin typeface="Century Gothic" panose="020B0502020202020204" pitchFamily="34" charset="0"/>
            </a:endParaRPr>
          </a:p>
        </p:txBody>
      </p:sp>
      <p:pic>
        <p:nvPicPr>
          <p:cNvPr id="6" name="Picture 6" descr="Resultado de imagen para RELOJ VECTOR">
            <a:extLst>
              <a:ext uri="{FF2B5EF4-FFF2-40B4-BE49-F238E27FC236}">
                <a16:creationId xmlns:a16="http://schemas.microsoft.com/office/drawing/2014/main" id="{5AC6CDCC-C21F-24FF-C70B-2EF25B28D857}"/>
              </a:ext>
            </a:extLst>
          </p:cNvPr>
          <p:cNvPicPr>
            <a:picLocks noChangeAspect="1" noChangeArrowheads="1"/>
          </p:cNvPicPr>
          <p:nvPr/>
        </p:nvPicPr>
        <p:blipFill rotWithShape="1">
          <a:blip r:embed="rId2" cstate="print">
            <a:clrChange>
              <a:clrFrom>
                <a:srgbClr val="F6F6F6"/>
              </a:clrFrom>
              <a:clrTo>
                <a:srgbClr val="F6F6F6">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l="24517" t="6285" r="24815" b="6503"/>
          <a:stretch/>
        </p:blipFill>
        <p:spPr bwMode="auto">
          <a:xfrm>
            <a:off x="1448088" y="2903629"/>
            <a:ext cx="1236705" cy="1246074"/>
          </a:xfrm>
          <a:prstGeom prst="rect">
            <a:avLst/>
          </a:prstGeom>
          <a:noFill/>
          <a:extLst>
            <a:ext uri="{909E8E84-426E-40DD-AFC4-6F175D3DCCD1}">
              <a14:hiddenFill xmlns:a14="http://schemas.microsoft.com/office/drawing/2010/main">
                <a:solidFill>
                  <a:srgbClr val="FFFFFF"/>
                </a:solidFill>
              </a14:hiddenFill>
            </a:ext>
          </a:extLst>
        </p:spPr>
      </p:pic>
      <p:sp>
        <p:nvSpPr>
          <p:cNvPr id="23" name="Rectángulo 22">
            <a:extLst>
              <a:ext uri="{FF2B5EF4-FFF2-40B4-BE49-F238E27FC236}">
                <a16:creationId xmlns:a16="http://schemas.microsoft.com/office/drawing/2014/main" id="{8CAC653F-A819-4E65-3965-2954A78FF3AA}"/>
              </a:ext>
            </a:extLst>
          </p:cNvPr>
          <p:cNvSpPr/>
          <p:nvPr/>
        </p:nvSpPr>
        <p:spPr>
          <a:xfrm>
            <a:off x="3173020" y="2318042"/>
            <a:ext cx="8540907" cy="2554545"/>
          </a:xfrm>
          <a:prstGeom prst="rect">
            <a:avLst/>
          </a:prstGeom>
        </p:spPr>
        <p:txBody>
          <a:bodyPr wrap="square" lIns="91440" tIns="45720" rIns="91440" bIns="45720" anchor="t">
            <a:spAutoFit/>
          </a:bodyPr>
          <a:lstStyle/>
          <a:p>
            <a:pPr marL="342900" indent="-342900">
              <a:buClr>
                <a:srgbClr val="48BE7A"/>
              </a:buClr>
              <a:buAutoNum type="arabicPeriod"/>
            </a:pPr>
            <a:endParaRPr lang="es-CO" sz="2000" dirty="0">
              <a:solidFill>
                <a:schemeClr val="bg2">
                  <a:lumMod val="90000"/>
                </a:schemeClr>
              </a:solidFill>
              <a:latin typeface="Century Gothic" panose="020B0502020202020204" pitchFamily="34" charset="0"/>
              <a:cs typeface="Arial"/>
            </a:endParaRPr>
          </a:p>
          <a:p>
            <a:pPr marL="342900" indent="-342900">
              <a:buClr>
                <a:srgbClr val="48BE7A"/>
              </a:buClr>
              <a:buAutoNum type="arabicPeriod"/>
            </a:pPr>
            <a:r>
              <a:rPr lang="es-CO" sz="2000" dirty="0">
                <a:solidFill>
                  <a:schemeClr val="bg2">
                    <a:lumMod val="90000"/>
                  </a:schemeClr>
                </a:solidFill>
                <a:latin typeface="Century Gothic" panose="020B0502020202020204" pitchFamily="34" charset="0"/>
                <a:cs typeface="Arial"/>
              </a:rPr>
              <a:t>Tasa Verdadera de Rentabilidad (TVR)</a:t>
            </a:r>
          </a:p>
          <a:p>
            <a:pPr marL="342900" indent="-342900">
              <a:buClr>
                <a:srgbClr val="48BE7A"/>
              </a:buClr>
              <a:buAutoNum type="arabicPeriod"/>
            </a:pPr>
            <a:endParaRPr lang="es-CO" sz="2000" dirty="0">
              <a:solidFill>
                <a:schemeClr val="bg2">
                  <a:lumMod val="90000"/>
                </a:schemeClr>
              </a:solidFill>
              <a:latin typeface="Century Gothic" panose="020B0502020202020204" pitchFamily="34" charset="0"/>
              <a:cs typeface="Arial"/>
            </a:endParaRPr>
          </a:p>
          <a:p>
            <a:pPr marL="342900" indent="-342900">
              <a:buClr>
                <a:srgbClr val="48BE7A"/>
              </a:buClr>
              <a:buAutoNum type="arabicPeriod"/>
            </a:pPr>
            <a:r>
              <a:rPr lang="es-CO" sz="2000" dirty="0">
                <a:solidFill>
                  <a:schemeClr val="bg2">
                    <a:lumMod val="90000"/>
                  </a:schemeClr>
                </a:solidFill>
                <a:latin typeface="Century Gothic" panose="020B0502020202020204" pitchFamily="34" charset="0"/>
                <a:cs typeface="Arial"/>
              </a:rPr>
              <a:t>Valor Anual Equivalente (VAE)</a:t>
            </a:r>
          </a:p>
          <a:p>
            <a:pPr marL="342900" indent="-342900">
              <a:buClr>
                <a:srgbClr val="48BE7A"/>
              </a:buClr>
              <a:buAutoNum type="arabicPeriod"/>
            </a:pPr>
            <a:endParaRPr lang="es-CO" sz="2000" dirty="0">
              <a:solidFill>
                <a:schemeClr val="bg2">
                  <a:lumMod val="90000"/>
                </a:schemeClr>
              </a:solidFill>
              <a:latin typeface="Century Gothic" panose="020B0502020202020204" pitchFamily="34" charset="0"/>
              <a:cs typeface="Arial"/>
            </a:endParaRPr>
          </a:p>
          <a:p>
            <a:pPr marL="342900" indent="-342900">
              <a:buClr>
                <a:srgbClr val="48BE7A"/>
              </a:buClr>
              <a:buAutoNum type="arabicPeriod"/>
            </a:pPr>
            <a:r>
              <a:rPr lang="es-CO" sz="2000" dirty="0">
                <a:solidFill>
                  <a:schemeClr val="accent1"/>
                </a:solidFill>
                <a:latin typeface="Century Gothic"/>
                <a:cs typeface="Arial"/>
              </a:rPr>
              <a:t>Relación Beneficio/Costo (B/C)</a:t>
            </a:r>
          </a:p>
          <a:p>
            <a:pPr marL="342900" indent="-342900">
              <a:buClr>
                <a:srgbClr val="48BE7A"/>
              </a:buClr>
              <a:buAutoNum type="arabicPeriod"/>
            </a:pPr>
            <a:endParaRPr lang="es-CO" sz="2000" dirty="0">
              <a:solidFill>
                <a:schemeClr val="bg2">
                  <a:lumMod val="90000"/>
                </a:schemeClr>
              </a:solidFill>
              <a:latin typeface="Century Gothic" panose="020B0502020202020204" pitchFamily="34" charset="0"/>
              <a:cs typeface="Arial"/>
            </a:endParaRPr>
          </a:p>
          <a:p>
            <a:pPr marL="342900" indent="-342900">
              <a:buClr>
                <a:srgbClr val="48BE7A"/>
              </a:buClr>
              <a:buAutoNum type="arabicPeriod"/>
            </a:pPr>
            <a:r>
              <a:rPr lang="es-CO" sz="2000" dirty="0">
                <a:solidFill>
                  <a:schemeClr val="bg2">
                    <a:lumMod val="90000"/>
                  </a:schemeClr>
                </a:solidFill>
                <a:latin typeface="Century Gothic" panose="020B0502020202020204" pitchFamily="34" charset="0"/>
                <a:cs typeface="Arial"/>
              </a:rPr>
              <a:t>PayBack</a:t>
            </a:r>
          </a:p>
        </p:txBody>
      </p:sp>
      <p:sp>
        <p:nvSpPr>
          <p:cNvPr id="3" name="Rectángulo 2">
            <a:extLst>
              <a:ext uri="{FF2B5EF4-FFF2-40B4-BE49-F238E27FC236}">
                <a16:creationId xmlns:a16="http://schemas.microsoft.com/office/drawing/2014/main" id="{62799435-1346-2A1D-B552-5DDDC0E9FC3D}"/>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EFE58CB5-568B-225F-FF0A-E7173A8B820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9F233301-7FAE-6801-8923-7C22BBBF8423}"/>
              </a:ext>
            </a:extLst>
          </p:cNvPr>
          <p:cNvSpPr/>
          <p:nvPr/>
        </p:nvSpPr>
        <p:spPr>
          <a:xfrm>
            <a:off x="8399257" y="118110"/>
            <a:ext cx="3150778" cy="261610"/>
          </a:xfrm>
          <a:prstGeom prst="rect">
            <a:avLst/>
          </a:prstGeom>
        </p:spPr>
        <p:txBody>
          <a:bodyPr wrap="square">
            <a:spAutoFit/>
          </a:bodyPr>
          <a:lstStyle/>
          <a:p>
            <a:pPr algn="r"/>
            <a:r>
              <a:rPr lang="es-CO" sz="1100" b="1" dirty="0">
                <a:solidFill>
                  <a:schemeClr val="accent2">
                    <a:lumMod val="50000"/>
                  </a:schemeClr>
                </a:solidFill>
                <a:latin typeface="Century Gothic" panose="020B0502020202020204" pitchFamily="34" charset="0"/>
                <a:sym typeface="Gill Sans Light"/>
              </a:rPr>
              <a:t>Curso</a:t>
            </a:r>
            <a:r>
              <a:rPr lang="es-CO" sz="1100" dirty="0">
                <a:solidFill>
                  <a:schemeClr val="accent2">
                    <a:lumMod val="50000"/>
                  </a:schemeClr>
                </a:solidFill>
                <a:latin typeface="Century Gothic" panose="020B0502020202020204" pitchFamily="34" charset="0"/>
                <a:sym typeface="Gill Sans Light"/>
              </a:rPr>
              <a:t> Análisis de Decisiones de Inversión</a:t>
            </a:r>
            <a:endParaRPr lang="es-CO" sz="1100" dirty="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4006037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animEffect transition="in" filter="fade">
                                      <p:cBhvr>
                                        <p:cTn id="9" dur="1000"/>
                                        <p:tgtEl>
                                          <p:spTgt spid="23"/>
                                        </p:tgtEl>
                                      </p:cBhvr>
                                    </p:animEffect>
                                    <p:anim calcmode="lin" valueType="num">
                                      <p:cBhvr>
                                        <p:cTn id="10" dur="1000" fill="hold"/>
                                        <p:tgtEl>
                                          <p:spTgt spid="23"/>
                                        </p:tgtEl>
                                        <p:attrNameLst>
                                          <p:attrName>ppt_x</p:attrName>
                                        </p:attrNameLst>
                                      </p:cBhvr>
                                      <p:tavLst>
                                        <p:tav tm="0">
                                          <p:val>
                                            <p:strVal val="#ppt_x"/>
                                          </p:val>
                                        </p:tav>
                                        <p:tav tm="100000">
                                          <p:val>
                                            <p:strVal val="#ppt_x"/>
                                          </p:val>
                                        </p:tav>
                                      </p:tavLst>
                                    </p:anim>
                                    <p:anim calcmode="lin" valueType="num">
                                      <p:cBhvr>
                                        <p:cTn id="11"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2"/>
          <p:cNvSpPr>
            <a:spLocks noGrp="1"/>
          </p:cNvSpPr>
          <p:nvPr>
            <p:ph idx="1"/>
          </p:nvPr>
        </p:nvSpPr>
        <p:spPr>
          <a:xfrm>
            <a:off x="1487488" y="2863098"/>
            <a:ext cx="9144000" cy="1219804"/>
          </a:xfrm>
        </p:spPr>
        <p:txBody>
          <a:bodyPr>
            <a:normAutofit lnSpcReduction="10000"/>
          </a:bodyPr>
          <a:lstStyle/>
          <a:p>
            <a:pPr marL="0" indent="0" algn="ctr">
              <a:buNone/>
            </a:pPr>
            <a:r>
              <a:rPr lang="es-ES_tradnl" sz="3200" b="1" dirty="0">
                <a:solidFill>
                  <a:srgbClr val="800000"/>
                </a:solidFill>
              </a:rPr>
              <a:t>B/C </a:t>
            </a:r>
          </a:p>
          <a:p>
            <a:pPr marL="0" indent="0" algn="ctr">
              <a:buNone/>
            </a:pPr>
            <a:r>
              <a:rPr lang="es-ES_tradnl" sz="2800" b="1" dirty="0">
                <a:solidFill>
                  <a:srgbClr val="800000"/>
                </a:solidFill>
              </a:rPr>
              <a:t>(Relación </a:t>
            </a:r>
            <a:r>
              <a:rPr lang="es-ES_tradnl" sz="3200" b="1" dirty="0">
                <a:solidFill>
                  <a:srgbClr val="800000"/>
                </a:solidFill>
              </a:rPr>
              <a:t>Beneficio</a:t>
            </a:r>
            <a:r>
              <a:rPr lang="es-ES_tradnl" sz="2800" b="1" dirty="0">
                <a:solidFill>
                  <a:srgbClr val="800000"/>
                </a:solidFill>
              </a:rPr>
              <a:t> Costo)</a:t>
            </a:r>
          </a:p>
        </p:txBody>
      </p:sp>
      <p:sp>
        <p:nvSpPr>
          <p:cNvPr id="4" name="Slide Number Placeholder 3"/>
          <p:cNvSpPr>
            <a:spLocks noGrp="1"/>
          </p:cNvSpPr>
          <p:nvPr>
            <p:ph type="sldNum" sz="quarter" idx="12"/>
          </p:nvPr>
        </p:nvSpPr>
        <p:spPr/>
        <p:txBody>
          <a:bodyPr/>
          <a:lstStyle/>
          <a:p>
            <a:fld id="{5E3E23BA-6E79-2442-BA73-D218A5E297C3}" type="slidenum">
              <a:rPr lang="en-US" smtClean="0"/>
              <a:t>20</a:t>
            </a:fld>
            <a:endParaRPr lang="en-US"/>
          </a:p>
        </p:txBody>
      </p:sp>
      <p:sp>
        <p:nvSpPr>
          <p:cNvPr id="3" name="Rectángulo 2">
            <a:extLst>
              <a:ext uri="{FF2B5EF4-FFF2-40B4-BE49-F238E27FC236}">
                <a16:creationId xmlns:a16="http://schemas.microsoft.com/office/drawing/2014/main" id="{A8070C99-FD92-9E96-88BA-B4155B380134}"/>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5" name="Picture 2" descr="Clientes y aliados | Centro de Evaluación | Uniandes">
            <a:extLst>
              <a:ext uri="{FF2B5EF4-FFF2-40B4-BE49-F238E27FC236}">
                <a16:creationId xmlns:a16="http://schemas.microsoft.com/office/drawing/2014/main" id="{3F6ED338-8848-8C5E-DD39-36E27AB90E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B8397D05-77F2-0DDD-7795-4453D0C2573C}"/>
              </a:ext>
            </a:extLst>
          </p:cNvPr>
          <p:cNvSpPr/>
          <p:nvPr/>
        </p:nvSpPr>
        <p:spPr>
          <a:xfrm>
            <a:off x="8399257" y="118110"/>
            <a:ext cx="3150778" cy="261610"/>
          </a:xfrm>
          <a:prstGeom prst="rect">
            <a:avLst/>
          </a:prstGeom>
        </p:spPr>
        <p:txBody>
          <a:bodyPr wrap="square">
            <a:spAutoFit/>
          </a:bodyPr>
          <a:lstStyle/>
          <a:p>
            <a:pPr algn="r"/>
            <a:r>
              <a:rPr lang="es-CO" sz="1100" b="1" dirty="0">
                <a:solidFill>
                  <a:schemeClr val="accent2">
                    <a:lumMod val="50000"/>
                  </a:schemeClr>
                </a:solidFill>
                <a:latin typeface="Century Gothic" panose="020B0502020202020204" pitchFamily="34" charset="0"/>
                <a:sym typeface="Gill Sans Light"/>
              </a:rPr>
              <a:t>Curso</a:t>
            </a:r>
            <a:r>
              <a:rPr lang="es-CO" sz="1100" dirty="0">
                <a:solidFill>
                  <a:schemeClr val="accent2">
                    <a:lumMod val="50000"/>
                  </a:schemeClr>
                </a:solidFill>
                <a:latin typeface="Century Gothic" panose="020B0502020202020204" pitchFamily="34" charset="0"/>
                <a:sym typeface="Gill Sans Light"/>
              </a:rPr>
              <a:t> Análisis de Decisiones de Inversión</a:t>
            </a:r>
            <a:endParaRPr lang="es-CO" sz="1100" dirty="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24991502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p:cNvSpPr>
            <a:spLocks noGrp="1"/>
          </p:cNvSpPr>
          <p:nvPr>
            <p:ph idx="1"/>
          </p:nvPr>
        </p:nvSpPr>
        <p:spPr>
          <a:xfrm>
            <a:off x="581192" y="1813563"/>
            <a:ext cx="11029616" cy="1529869"/>
          </a:xfrm>
        </p:spPr>
        <p:txBody>
          <a:bodyPr>
            <a:noAutofit/>
          </a:bodyPr>
          <a:lstStyle/>
          <a:p>
            <a:pPr marL="0" indent="0" algn="just">
              <a:buNone/>
            </a:pPr>
            <a:r>
              <a:rPr lang="es-ES" sz="2400" dirty="0"/>
              <a:t>La relación B/C no es más que la relación entre el valor presente de los flujos de caja positivos y el valor presente de los flujos de caja negativos descontados al costo de oportunidad.</a:t>
            </a:r>
          </a:p>
        </p:txBody>
      </p:sp>
      <p:sp>
        <p:nvSpPr>
          <p:cNvPr id="4" name="Marcador de número de diapositiva 3"/>
          <p:cNvSpPr>
            <a:spLocks noGrp="1"/>
          </p:cNvSpPr>
          <p:nvPr>
            <p:ph type="sldNum" sz="quarter" idx="12"/>
          </p:nvPr>
        </p:nvSpPr>
        <p:spPr/>
        <p:txBody>
          <a:bodyPr/>
          <a:lstStyle/>
          <a:p>
            <a:fld id="{5E3E23BA-6E79-2442-BA73-D218A5E297C3}" type="slidenum">
              <a:rPr lang="en-US" smtClean="0"/>
              <a:t>21</a:t>
            </a:fld>
            <a:endParaRPr lang="en-US"/>
          </a:p>
        </p:txBody>
      </p:sp>
      <p:sp>
        <p:nvSpPr>
          <p:cNvPr id="9" name="Rectángulo 8">
            <a:extLst>
              <a:ext uri="{FF2B5EF4-FFF2-40B4-BE49-F238E27FC236}">
                <a16:creationId xmlns:a16="http://schemas.microsoft.com/office/drawing/2014/main" id="{A50DD1F5-AF18-1EA5-E875-AFF1FA99C354}"/>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0" name="Picture 2" descr="Clientes y aliados | Centro de Evaluación | Uniandes">
            <a:extLst>
              <a:ext uri="{FF2B5EF4-FFF2-40B4-BE49-F238E27FC236}">
                <a16:creationId xmlns:a16="http://schemas.microsoft.com/office/drawing/2014/main" id="{41451ED2-B337-0DEC-7050-03020F76D9E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11" name="Rectángulo 10">
            <a:extLst>
              <a:ext uri="{FF2B5EF4-FFF2-40B4-BE49-F238E27FC236}">
                <a16:creationId xmlns:a16="http://schemas.microsoft.com/office/drawing/2014/main" id="{BA27C2A6-4363-9358-0260-30A528BD998C}"/>
              </a:ext>
            </a:extLst>
          </p:cNvPr>
          <p:cNvSpPr/>
          <p:nvPr/>
        </p:nvSpPr>
        <p:spPr>
          <a:xfrm>
            <a:off x="8399257" y="118110"/>
            <a:ext cx="3150778" cy="261610"/>
          </a:xfrm>
          <a:prstGeom prst="rect">
            <a:avLst/>
          </a:prstGeom>
        </p:spPr>
        <p:txBody>
          <a:bodyPr wrap="square">
            <a:spAutoFit/>
          </a:bodyPr>
          <a:lstStyle/>
          <a:p>
            <a:pPr algn="r"/>
            <a:r>
              <a:rPr lang="es-CO" sz="1100" b="1" dirty="0">
                <a:solidFill>
                  <a:schemeClr val="accent2">
                    <a:lumMod val="50000"/>
                  </a:schemeClr>
                </a:solidFill>
                <a:latin typeface="Century Gothic" panose="020B0502020202020204" pitchFamily="34" charset="0"/>
                <a:sym typeface="Gill Sans Light"/>
              </a:rPr>
              <a:t>Curso</a:t>
            </a:r>
            <a:r>
              <a:rPr lang="es-CO" sz="1100" dirty="0">
                <a:solidFill>
                  <a:schemeClr val="accent2">
                    <a:lumMod val="50000"/>
                  </a:schemeClr>
                </a:solidFill>
                <a:latin typeface="Century Gothic" panose="020B0502020202020204" pitchFamily="34" charset="0"/>
                <a:sym typeface="Gill Sans Light"/>
              </a:rPr>
              <a:t> Análisis de Decisiones de Inversión</a:t>
            </a:r>
            <a:endParaRPr lang="es-CO" sz="1100" dirty="0">
              <a:solidFill>
                <a:schemeClr val="accent2">
                  <a:lumMod val="50000"/>
                </a:schemeClr>
              </a:solidFill>
              <a:latin typeface="Century Gothic" panose="020B0502020202020204" pitchFamily="34" charset="0"/>
            </a:endParaRPr>
          </a:p>
        </p:txBody>
      </p:sp>
      <p:sp>
        <p:nvSpPr>
          <p:cNvPr id="12" name="Título 1">
            <a:extLst>
              <a:ext uri="{FF2B5EF4-FFF2-40B4-BE49-F238E27FC236}">
                <a16:creationId xmlns:a16="http://schemas.microsoft.com/office/drawing/2014/main" id="{AC2E0C70-018D-9695-4FC6-8CAE7A9CD997}"/>
              </a:ext>
            </a:extLst>
          </p:cNvPr>
          <p:cNvSpPr>
            <a:spLocks noGrp="1"/>
          </p:cNvSpPr>
          <p:nvPr>
            <p:ph type="title"/>
          </p:nvPr>
        </p:nvSpPr>
        <p:spPr>
          <a:xfrm>
            <a:off x="581192" y="702156"/>
            <a:ext cx="11029616" cy="1013800"/>
          </a:xfrm>
        </p:spPr>
        <p:txBody>
          <a:bodyPr>
            <a:normAutofit/>
          </a:bodyPr>
          <a:lstStyle/>
          <a:p>
            <a:r>
              <a:rPr lang="es-ES" sz="3200" dirty="0">
                <a:latin typeface="Century Gothic" panose="020B0502020202020204" pitchFamily="34" charset="0"/>
              </a:rPr>
              <a:t>b/c</a:t>
            </a:r>
            <a:endParaRPr lang="es-CO" sz="3200" dirty="0">
              <a:latin typeface="Century Gothic" panose="020B0502020202020204" pitchFamily="34" charset="0"/>
            </a:endParaRPr>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6F4C774C-16EF-D3A1-C9F7-C345E436F456}"/>
                  </a:ext>
                </a:extLst>
              </p:cNvPr>
              <p:cNvSpPr txBox="1"/>
              <p:nvPr/>
            </p:nvSpPr>
            <p:spPr>
              <a:xfrm>
                <a:off x="3939384" y="4240391"/>
                <a:ext cx="4313232" cy="120949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s-ES" sz="3600" b="0" i="1" smtClean="0">
                              <a:latin typeface="Cambria Math" panose="02040503050406030204" pitchFamily="18" charset="0"/>
                            </a:rPr>
                          </m:ctrlPr>
                        </m:fPr>
                        <m:num>
                          <m:r>
                            <a:rPr lang="es-ES" sz="3600" b="0" i="1" smtClean="0">
                              <a:latin typeface="Cambria Math" panose="02040503050406030204" pitchFamily="18" charset="0"/>
                            </a:rPr>
                            <m:t>𝐵</m:t>
                          </m:r>
                        </m:num>
                        <m:den>
                          <m:r>
                            <a:rPr lang="es-ES" sz="3600" b="0" i="1" smtClean="0">
                              <a:latin typeface="Cambria Math" panose="02040503050406030204" pitchFamily="18" charset="0"/>
                            </a:rPr>
                            <m:t>𝐶</m:t>
                          </m:r>
                        </m:den>
                      </m:f>
                      <m:r>
                        <a:rPr lang="es-ES" sz="3600" b="0" i="1" smtClean="0">
                          <a:latin typeface="Cambria Math" panose="02040503050406030204" pitchFamily="18" charset="0"/>
                        </a:rPr>
                        <m:t>=</m:t>
                      </m:r>
                      <m:f>
                        <m:fPr>
                          <m:ctrlPr>
                            <a:rPr lang="es-ES" sz="3600" b="0" i="1" smtClean="0">
                              <a:latin typeface="Cambria Math" panose="02040503050406030204" pitchFamily="18" charset="0"/>
                            </a:rPr>
                          </m:ctrlPr>
                        </m:fPr>
                        <m:num>
                          <m:r>
                            <a:rPr lang="es-ES" sz="3600" b="0" i="1" smtClean="0">
                              <a:latin typeface="Cambria Math" panose="02040503050406030204" pitchFamily="18" charset="0"/>
                            </a:rPr>
                            <m:t>𝑉</m:t>
                          </m:r>
                          <m:sSub>
                            <m:sSubPr>
                              <m:ctrlPr>
                                <a:rPr lang="es-ES" sz="3600" b="0" i="1" smtClean="0">
                                  <a:latin typeface="Cambria Math" panose="02040503050406030204" pitchFamily="18" charset="0"/>
                                </a:rPr>
                              </m:ctrlPr>
                            </m:sSubPr>
                            <m:e>
                              <m:r>
                                <a:rPr lang="es-ES" sz="3600" b="0" i="1" smtClean="0">
                                  <a:latin typeface="Cambria Math" panose="02040503050406030204" pitchFamily="18" charset="0"/>
                                </a:rPr>
                                <m:t>𝑃</m:t>
                              </m:r>
                            </m:e>
                            <m:sub>
                              <m:r>
                                <a:rPr lang="es-ES" sz="3600" b="0" i="1" smtClean="0">
                                  <a:latin typeface="Cambria Math" panose="02040503050406030204" pitchFamily="18" charset="0"/>
                                </a:rPr>
                                <m:t>𝐹𝑙𝑢𝑗𝑜𝑠</m:t>
                              </m:r>
                              <m:r>
                                <a:rPr lang="es-ES" sz="3600" b="0" i="1" smtClean="0">
                                  <a:latin typeface="Cambria Math" panose="02040503050406030204" pitchFamily="18" charset="0"/>
                                </a:rPr>
                                <m:t> </m:t>
                              </m:r>
                              <m:r>
                                <a:rPr lang="es-ES" sz="3600" b="0" i="1" smtClean="0">
                                  <a:latin typeface="Cambria Math" panose="02040503050406030204" pitchFamily="18" charset="0"/>
                                </a:rPr>
                                <m:t>𝑑𝑒</m:t>
                              </m:r>
                              <m:r>
                                <a:rPr lang="es-ES" sz="3600" b="0" i="1" smtClean="0">
                                  <a:latin typeface="Cambria Math" panose="02040503050406030204" pitchFamily="18" charset="0"/>
                                </a:rPr>
                                <m:t> </m:t>
                              </m:r>
                              <m:r>
                                <a:rPr lang="es-ES" sz="3600" b="0" i="1" smtClean="0">
                                  <a:latin typeface="Cambria Math" panose="02040503050406030204" pitchFamily="18" charset="0"/>
                                </a:rPr>
                                <m:t>𝑐𝑎𝑗𝑎</m:t>
                              </m:r>
                              <m:r>
                                <a:rPr lang="es-ES" sz="3600" b="0" i="1" smtClean="0">
                                  <a:latin typeface="Cambria Math" panose="02040503050406030204" pitchFamily="18" charset="0"/>
                                </a:rPr>
                                <m:t>+</m:t>
                              </m:r>
                            </m:sub>
                          </m:sSub>
                        </m:num>
                        <m:den>
                          <m:r>
                            <a:rPr lang="es-ES" sz="3600" b="0" i="1" smtClean="0">
                              <a:latin typeface="Cambria Math" panose="02040503050406030204" pitchFamily="18" charset="0"/>
                            </a:rPr>
                            <m:t>𝑉</m:t>
                          </m:r>
                          <m:sSub>
                            <m:sSubPr>
                              <m:ctrlPr>
                                <a:rPr lang="es-ES" sz="3600" b="0" i="1" smtClean="0">
                                  <a:latin typeface="Cambria Math" panose="02040503050406030204" pitchFamily="18" charset="0"/>
                                </a:rPr>
                              </m:ctrlPr>
                            </m:sSubPr>
                            <m:e>
                              <m:r>
                                <a:rPr lang="es-ES" sz="3600" b="0" i="1" smtClean="0">
                                  <a:latin typeface="Cambria Math" panose="02040503050406030204" pitchFamily="18" charset="0"/>
                                </a:rPr>
                                <m:t>𝑃</m:t>
                              </m:r>
                            </m:e>
                            <m:sub>
                              <m:r>
                                <a:rPr lang="es-ES" sz="3600" b="0" i="1" smtClean="0">
                                  <a:latin typeface="Cambria Math" panose="02040503050406030204" pitchFamily="18" charset="0"/>
                                </a:rPr>
                                <m:t>𝐹𝑙𝑢𝑗𝑜𝑠</m:t>
                              </m:r>
                              <m:r>
                                <a:rPr lang="es-ES" sz="3600" b="0" i="1" smtClean="0">
                                  <a:latin typeface="Cambria Math" panose="02040503050406030204" pitchFamily="18" charset="0"/>
                                </a:rPr>
                                <m:t> </m:t>
                              </m:r>
                              <m:r>
                                <a:rPr lang="es-ES" sz="3600" b="0" i="1" smtClean="0">
                                  <a:latin typeface="Cambria Math" panose="02040503050406030204" pitchFamily="18" charset="0"/>
                                </a:rPr>
                                <m:t>𝑑𝑒</m:t>
                              </m:r>
                              <m:r>
                                <a:rPr lang="es-ES" sz="3600" b="0" i="1" smtClean="0">
                                  <a:latin typeface="Cambria Math" panose="02040503050406030204" pitchFamily="18" charset="0"/>
                                </a:rPr>
                                <m:t> </m:t>
                              </m:r>
                              <m:r>
                                <a:rPr lang="es-ES" sz="3600" b="0" i="1" smtClean="0">
                                  <a:latin typeface="Cambria Math" panose="02040503050406030204" pitchFamily="18" charset="0"/>
                                </a:rPr>
                                <m:t>𝑐𝑎𝑗𝑎</m:t>
                              </m:r>
                              <m:r>
                                <a:rPr lang="es-ES" sz="3600" b="0" i="1" smtClean="0">
                                  <a:latin typeface="Cambria Math" panose="02040503050406030204" pitchFamily="18" charset="0"/>
                                </a:rPr>
                                <m:t> −</m:t>
                              </m:r>
                            </m:sub>
                          </m:sSub>
                        </m:den>
                      </m:f>
                    </m:oMath>
                  </m:oMathPara>
                </a14:m>
                <a:endParaRPr lang="es-CO" sz="3600" dirty="0"/>
              </a:p>
            </p:txBody>
          </p:sp>
        </mc:Choice>
        <mc:Fallback xmlns="">
          <p:sp>
            <p:nvSpPr>
              <p:cNvPr id="2" name="CuadroTexto 1">
                <a:extLst>
                  <a:ext uri="{FF2B5EF4-FFF2-40B4-BE49-F238E27FC236}">
                    <a16:creationId xmlns:a16="http://schemas.microsoft.com/office/drawing/2014/main" id="{6F4C774C-16EF-D3A1-C9F7-C345E436F456}"/>
                  </a:ext>
                </a:extLst>
              </p:cNvPr>
              <p:cNvSpPr txBox="1">
                <a:spLocks noRot="1" noChangeAspect="1" noMove="1" noResize="1" noEditPoints="1" noAdjustHandles="1" noChangeArrowheads="1" noChangeShapeType="1" noTextEdit="1"/>
              </p:cNvSpPr>
              <p:nvPr/>
            </p:nvSpPr>
            <p:spPr>
              <a:xfrm>
                <a:off x="3939384" y="4240391"/>
                <a:ext cx="4313232" cy="1209498"/>
              </a:xfrm>
              <a:prstGeom prst="rect">
                <a:avLst/>
              </a:prstGeom>
              <a:blipFill>
                <a:blip r:embed="rId3"/>
                <a:stretch>
                  <a:fillRect/>
                </a:stretch>
              </a:blipFill>
            </p:spPr>
            <p:txBody>
              <a:bodyPr/>
              <a:lstStyle/>
              <a:p>
                <a:r>
                  <a:rPr lang="es-CO">
                    <a:noFill/>
                  </a:rPr>
                  <a:t> </a:t>
                </a:r>
              </a:p>
            </p:txBody>
          </p:sp>
        </mc:Fallback>
      </mc:AlternateContent>
    </p:spTree>
    <p:extLst>
      <p:ext uri="{BB962C8B-B14F-4D97-AF65-F5344CB8AC3E}">
        <p14:creationId xmlns:p14="http://schemas.microsoft.com/office/powerpoint/2010/main" val="23035263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p:cNvSpPr>
            <a:spLocks noGrp="1"/>
          </p:cNvSpPr>
          <p:nvPr>
            <p:ph idx="1"/>
          </p:nvPr>
        </p:nvSpPr>
        <p:spPr>
          <a:xfrm>
            <a:off x="581191" y="1820819"/>
            <a:ext cx="11029615" cy="4351338"/>
          </a:xfrm>
        </p:spPr>
        <p:txBody>
          <a:bodyPr>
            <a:normAutofit/>
          </a:bodyPr>
          <a:lstStyle/>
          <a:p>
            <a:pPr algn="just"/>
            <a:r>
              <a:rPr lang="es-ES" sz="2400" dirty="0"/>
              <a:t>Cuando se está evaluando </a:t>
            </a:r>
            <a:r>
              <a:rPr lang="es-ES" sz="2400" i="1" dirty="0">
                <a:solidFill>
                  <a:schemeClr val="accent6"/>
                </a:solidFill>
              </a:rPr>
              <a:t>un único proyecto, existe total consistencia con los demás indicadores vistos</a:t>
            </a:r>
            <a:r>
              <a:rPr lang="es-ES" sz="2400" b="1" dirty="0"/>
              <a:t>. </a:t>
            </a:r>
            <a:r>
              <a:rPr lang="es-ES" sz="2400" dirty="0"/>
              <a:t>En este orden, por ejemplo, si el VP de los flujos de caja positivos es superior al VP de los flujos de caja negativos se tendrá un VPN&gt;0 y un B/C &gt;1 </a:t>
            </a:r>
          </a:p>
          <a:p>
            <a:pPr algn="just"/>
            <a:endParaRPr lang="es-ES" sz="2400" dirty="0"/>
          </a:p>
          <a:p>
            <a:pPr algn="just"/>
            <a:r>
              <a:rPr lang="es-ES" sz="2400" dirty="0"/>
              <a:t>Recuerden que para el cálculo del VP los flujos deben ser neteados. Después de realizado lo anterior, el flujo neto del periodo es llevado a VP como un flujo positivo si este es mayor a 0 y viceversa.</a:t>
            </a:r>
          </a:p>
        </p:txBody>
      </p:sp>
      <p:sp>
        <p:nvSpPr>
          <p:cNvPr id="4" name="Marcador de número de diapositiva 3"/>
          <p:cNvSpPr>
            <a:spLocks noGrp="1"/>
          </p:cNvSpPr>
          <p:nvPr>
            <p:ph type="sldNum" sz="quarter" idx="12"/>
          </p:nvPr>
        </p:nvSpPr>
        <p:spPr/>
        <p:txBody>
          <a:bodyPr/>
          <a:lstStyle/>
          <a:p>
            <a:fld id="{5E3E23BA-6E79-2442-BA73-D218A5E297C3}" type="slidenum">
              <a:rPr lang="en-US" smtClean="0"/>
              <a:t>22</a:t>
            </a:fld>
            <a:endParaRPr lang="en-US"/>
          </a:p>
        </p:txBody>
      </p:sp>
      <p:sp>
        <p:nvSpPr>
          <p:cNvPr id="6" name="Rectángulo 5">
            <a:extLst>
              <a:ext uri="{FF2B5EF4-FFF2-40B4-BE49-F238E27FC236}">
                <a16:creationId xmlns:a16="http://schemas.microsoft.com/office/drawing/2014/main" id="{7958D708-9DAF-A5A1-7CC3-406AB5B3D1C8}"/>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7" name="Picture 2" descr="Clientes y aliados | Centro de Evaluación | Uniandes">
            <a:extLst>
              <a:ext uri="{FF2B5EF4-FFF2-40B4-BE49-F238E27FC236}">
                <a16:creationId xmlns:a16="http://schemas.microsoft.com/office/drawing/2014/main" id="{38999227-6CAE-4969-6416-23008F92A8E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8" name="Rectángulo 7">
            <a:extLst>
              <a:ext uri="{FF2B5EF4-FFF2-40B4-BE49-F238E27FC236}">
                <a16:creationId xmlns:a16="http://schemas.microsoft.com/office/drawing/2014/main" id="{E6979598-BF19-9256-D13C-42992EEBDC1C}"/>
              </a:ext>
            </a:extLst>
          </p:cNvPr>
          <p:cNvSpPr/>
          <p:nvPr/>
        </p:nvSpPr>
        <p:spPr>
          <a:xfrm>
            <a:off x="8399257" y="118110"/>
            <a:ext cx="3150778" cy="261610"/>
          </a:xfrm>
          <a:prstGeom prst="rect">
            <a:avLst/>
          </a:prstGeom>
        </p:spPr>
        <p:txBody>
          <a:bodyPr wrap="square">
            <a:spAutoFit/>
          </a:bodyPr>
          <a:lstStyle/>
          <a:p>
            <a:pPr algn="r"/>
            <a:r>
              <a:rPr lang="es-CO" sz="1100" b="1" dirty="0">
                <a:solidFill>
                  <a:schemeClr val="accent2">
                    <a:lumMod val="50000"/>
                  </a:schemeClr>
                </a:solidFill>
                <a:latin typeface="Century Gothic" panose="020B0502020202020204" pitchFamily="34" charset="0"/>
                <a:sym typeface="Gill Sans Light"/>
              </a:rPr>
              <a:t>Curso</a:t>
            </a:r>
            <a:r>
              <a:rPr lang="es-CO" sz="1100" dirty="0">
                <a:solidFill>
                  <a:schemeClr val="accent2">
                    <a:lumMod val="50000"/>
                  </a:schemeClr>
                </a:solidFill>
                <a:latin typeface="Century Gothic" panose="020B0502020202020204" pitchFamily="34" charset="0"/>
                <a:sym typeface="Gill Sans Light"/>
              </a:rPr>
              <a:t> Análisis de Decisiones de Inversión</a:t>
            </a:r>
            <a:endParaRPr lang="es-CO" sz="1100" dirty="0">
              <a:solidFill>
                <a:schemeClr val="accent2">
                  <a:lumMod val="50000"/>
                </a:schemeClr>
              </a:solidFill>
              <a:latin typeface="Century Gothic" panose="020B0502020202020204" pitchFamily="34" charset="0"/>
            </a:endParaRPr>
          </a:p>
        </p:txBody>
      </p:sp>
      <p:sp>
        <p:nvSpPr>
          <p:cNvPr id="9" name="Título 1">
            <a:extLst>
              <a:ext uri="{FF2B5EF4-FFF2-40B4-BE49-F238E27FC236}">
                <a16:creationId xmlns:a16="http://schemas.microsoft.com/office/drawing/2014/main" id="{7F8F7DAE-F1BB-FFAD-804C-CAD4B1F78E10}"/>
              </a:ext>
            </a:extLst>
          </p:cNvPr>
          <p:cNvSpPr>
            <a:spLocks noGrp="1"/>
          </p:cNvSpPr>
          <p:nvPr>
            <p:ph type="title"/>
          </p:nvPr>
        </p:nvSpPr>
        <p:spPr>
          <a:xfrm>
            <a:off x="581192" y="702156"/>
            <a:ext cx="11029616" cy="1013800"/>
          </a:xfrm>
        </p:spPr>
        <p:txBody>
          <a:bodyPr>
            <a:normAutofit/>
          </a:bodyPr>
          <a:lstStyle/>
          <a:p>
            <a:r>
              <a:rPr lang="es-ES" sz="3200" dirty="0">
                <a:latin typeface="Century Gothic" panose="020B0502020202020204" pitchFamily="34" charset="0"/>
              </a:rPr>
              <a:t>b/c</a:t>
            </a:r>
            <a:endParaRPr lang="es-CO" sz="3200" dirty="0">
              <a:latin typeface="Century Gothic" panose="020B0502020202020204" pitchFamily="34" charset="0"/>
            </a:endParaRPr>
          </a:p>
        </p:txBody>
      </p:sp>
    </p:spTree>
    <p:extLst>
      <p:ext uri="{BB962C8B-B14F-4D97-AF65-F5344CB8AC3E}">
        <p14:creationId xmlns:p14="http://schemas.microsoft.com/office/powerpoint/2010/main" val="2161596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p:cNvSpPr>
            <a:spLocks noGrp="1"/>
          </p:cNvSpPr>
          <p:nvPr>
            <p:ph idx="1"/>
          </p:nvPr>
        </p:nvSpPr>
        <p:spPr>
          <a:xfrm>
            <a:off x="581191" y="1822369"/>
            <a:ext cx="11029605" cy="538470"/>
          </a:xfrm>
        </p:spPr>
        <p:txBody>
          <a:bodyPr>
            <a:normAutofit/>
          </a:bodyPr>
          <a:lstStyle/>
          <a:p>
            <a:pPr marL="0" indent="0" algn="just">
              <a:buNone/>
            </a:pPr>
            <a:r>
              <a:rPr lang="es-ES" sz="2400" dirty="0"/>
              <a:t>Supongamos el siguiente ejemplo con un CO del 10%</a:t>
            </a:r>
          </a:p>
        </p:txBody>
      </p:sp>
      <p:sp>
        <p:nvSpPr>
          <p:cNvPr id="4" name="Marcador de número de diapositiva 3"/>
          <p:cNvSpPr>
            <a:spLocks noGrp="1"/>
          </p:cNvSpPr>
          <p:nvPr>
            <p:ph type="sldNum" sz="quarter" idx="12"/>
          </p:nvPr>
        </p:nvSpPr>
        <p:spPr/>
        <p:txBody>
          <a:bodyPr/>
          <a:lstStyle/>
          <a:p>
            <a:fld id="{5E3E23BA-6E79-2442-BA73-D218A5E297C3}" type="slidenum">
              <a:rPr lang="en-US" smtClean="0"/>
              <a:t>23</a:t>
            </a:fld>
            <a:endParaRPr lang="en-US"/>
          </a:p>
        </p:txBody>
      </p:sp>
      <p:cxnSp>
        <p:nvCxnSpPr>
          <p:cNvPr id="5" name="Straight Connector 17">
            <a:extLst>
              <a:ext uri="{FF2B5EF4-FFF2-40B4-BE49-F238E27FC236}">
                <a16:creationId xmlns:a16="http://schemas.microsoft.com/office/drawing/2014/main" id="{5D97D45F-986B-4F12-B32E-2FF788DEBC4E}"/>
              </a:ext>
            </a:extLst>
          </p:cNvPr>
          <p:cNvCxnSpPr/>
          <p:nvPr/>
        </p:nvCxnSpPr>
        <p:spPr>
          <a:xfrm>
            <a:off x="1633674" y="3514530"/>
            <a:ext cx="2632079"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Arrow Connector 18">
            <a:extLst>
              <a:ext uri="{FF2B5EF4-FFF2-40B4-BE49-F238E27FC236}">
                <a16:creationId xmlns:a16="http://schemas.microsoft.com/office/drawing/2014/main" id="{1ED55832-BDFE-4EAA-89FA-673DA28E1D4E}"/>
              </a:ext>
            </a:extLst>
          </p:cNvPr>
          <p:cNvCxnSpPr/>
          <p:nvPr/>
        </p:nvCxnSpPr>
        <p:spPr>
          <a:xfrm>
            <a:off x="1646502" y="3527359"/>
            <a:ext cx="0" cy="843530"/>
          </a:xfrm>
          <a:prstGeom prst="straightConnector1">
            <a:avLst/>
          </a:prstGeom>
          <a:ln w="28575">
            <a:solidFill>
              <a:schemeClr val="accent3"/>
            </a:solidFill>
            <a:tailEnd type="arrow"/>
          </a:ln>
        </p:spPr>
        <p:style>
          <a:lnRef idx="2">
            <a:schemeClr val="accent1"/>
          </a:lnRef>
          <a:fillRef idx="0">
            <a:schemeClr val="accent1"/>
          </a:fillRef>
          <a:effectRef idx="1">
            <a:schemeClr val="accent1"/>
          </a:effectRef>
          <a:fontRef idx="minor">
            <a:schemeClr val="tx1"/>
          </a:fontRef>
        </p:style>
      </p:cxnSp>
      <p:cxnSp>
        <p:nvCxnSpPr>
          <p:cNvPr id="7" name="Straight Arrow Connector 19">
            <a:extLst>
              <a:ext uri="{FF2B5EF4-FFF2-40B4-BE49-F238E27FC236}">
                <a16:creationId xmlns:a16="http://schemas.microsoft.com/office/drawing/2014/main" id="{EE015A24-5579-428E-8B9A-54B1120961A3}"/>
              </a:ext>
            </a:extLst>
          </p:cNvPr>
          <p:cNvCxnSpPr/>
          <p:nvPr/>
        </p:nvCxnSpPr>
        <p:spPr>
          <a:xfrm flipV="1">
            <a:off x="2188823" y="3068632"/>
            <a:ext cx="0" cy="458726"/>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8" name="Straight Arrow Connector 20">
            <a:extLst>
              <a:ext uri="{FF2B5EF4-FFF2-40B4-BE49-F238E27FC236}">
                <a16:creationId xmlns:a16="http://schemas.microsoft.com/office/drawing/2014/main" id="{032F1B8F-B2F2-4839-B88F-AD3A6F8D7540}"/>
              </a:ext>
            </a:extLst>
          </p:cNvPr>
          <p:cNvCxnSpPr/>
          <p:nvPr/>
        </p:nvCxnSpPr>
        <p:spPr>
          <a:xfrm>
            <a:off x="2784589" y="3527361"/>
            <a:ext cx="0" cy="525014"/>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9" name="Straight Arrow Connector 21">
            <a:extLst>
              <a:ext uri="{FF2B5EF4-FFF2-40B4-BE49-F238E27FC236}">
                <a16:creationId xmlns:a16="http://schemas.microsoft.com/office/drawing/2014/main" id="{8580E507-6731-427D-ADA5-B4F4BB21CEC8}"/>
              </a:ext>
            </a:extLst>
          </p:cNvPr>
          <p:cNvCxnSpPr/>
          <p:nvPr/>
        </p:nvCxnSpPr>
        <p:spPr>
          <a:xfrm flipV="1">
            <a:off x="3471325" y="3068633"/>
            <a:ext cx="0" cy="458728"/>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10" name="Rectangle 22">
            <a:extLst>
              <a:ext uri="{FF2B5EF4-FFF2-40B4-BE49-F238E27FC236}">
                <a16:creationId xmlns:a16="http://schemas.microsoft.com/office/drawing/2014/main" id="{FD415B6A-38B3-4C62-97BE-AC5B165C7D14}"/>
              </a:ext>
            </a:extLst>
          </p:cNvPr>
          <p:cNvSpPr>
            <a:spLocks/>
          </p:cNvSpPr>
          <p:nvPr/>
        </p:nvSpPr>
        <p:spPr bwMode="auto">
          <a:xfrm flipH="1">
            <a:off x="1633674" y="3237532"/>
            <a:ext cx="13172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0</a:t>
            </a:r>
          </a:p>
        </p:txBody>
      </p:sp>
      <p:sp>
        <p:nvSpPr>
          <p:cNvPr id="11" name="Rectangle 23">
            <a:extLst>
              <a:ext uri="{FF2B5EF4-FFF2-40B4-BE49-F238E27FC236}">
                <a16:creationId xmlns:a16="http://schemas.microsoft.com/office/drawing/2014/main" id="{8FACDF7C-0D23-4CDA-86B8-2BCCF5679D79}"/>
              </a:ext>
            </a:extLst>
          </p:cNvPr>
          <p:cNvSpPr>
            <a:spLocks/>
          </p:cNvSpPr>
          <p:nvPr/>
        </p:nvSpPr>
        <p:spPr bwMode="auto">
          <a:xfrm>
            <a:off x="2020293" y="3525863"/>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1</a:t>
            </a:r>
          </a:p>
        </p:txBody>
      </p:sp>
      <p:sp>
        <p:nvSpPr>
          <p:cNvPr id="12" name="Rectangle 24">
            <a:extLst>
              <a:ext uri="{FF2B5EF4-FFF2-40B4-BE49-F238E27FC236}">
                <a16:creationId xmlns:a16="http://schemas.microsoft.com/office/drawing/2014/main" id="{2CE19B71-C0A8-4B6B-9A0E-78105CBE4ABF}"/>
              </a:ext>
            </a:extLst>
          </p:cNvPr>
          <p:cNvSpPr>
            <a:spLocks/>
          </p:cNvSpPr>
          <p:nvPr/>
        </p:nvSpPr>
        <p:spPr bwMode="auto">
          <a:xfrm>
            <a:off x="2707029" y="3501270"/>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2</a:t>
            </a:r>
          </a:p>
        </p:txBody>
      </p:sp>
      <p:sp>
        <p:nvSpPr>
          <p:cNvPr id="13" name="Rectangle 25">
            <a:extLst>
              <a:ext uri="{FF2B5EF4-FFF2-40B4-BE49-F238E27FC236}">
                <a16:creationId xmlns:a16="http://schemas.microsoft.com/office/drawing/2014/main" id="{47497F06-FEDD-4C3D-BCE9-CA681F2E67FD}"/>
              </a:ext>
            </a:extLst>
          </p:cNvPr>
          <p:cNvSpPr>
            <a:spLocks/>
          </p:cNvSpPr>
          <p:nvPr/>
        </p:nvSpPr>
        <p:spPr bwMode="auto">
          <a:xfrm>
            <a:off x="3268467" y="3530434"/>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3</a:t>
            </a:r>
          </a:p>
        </p:txBody>
      </p:sp>
      <p:sp>
        <p:nvSpPr>
          <p:cNvPr id="14" name="Rectangle 31">
            <a:extLst>
              <a:ext uri="{FF2B5EF4-FFF2-40B4-BE49-F238E27FC236}">
                <a16:creationId xmlns:a16="http://schemas.microsoft.com/office/drawing/2014/main" id="{EF9FC7C0-01E9-48CC-9D74-5865D8BC4C8A}"/>
              </a:ext>
            </a:extLst>
          </p:cNvPr>
          <p:cNvSpPr>
            <a:spLocks/>
          </p:cNvSpPr>
          <p:nvPr/>
        </p:nvSpPr>
        <p:spPr bwMode="auto">
          <a:xfrm>
            <a:off x="4092887" y="3525863"/>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4</a:t>
            </a:r>
          </a:p>
        </p:txBody>
      </p:sp>
      <p:cxnSp>
        <p:nvCxnSpPr>
          <p:cNvPr id="15" name="Straight Arrow Connector 32">
            <a:extLst>
              <a:ext uri="{FF2B5EF4-FFF2-40B4-BE49-F238E27FC236}">
                <a16:creationId xmlns:a16="http://schemas.microsoft.com/office/drawing/2014/main" id="{D5926038-4EED-46BF-A909-FBA367B21BF7}"/>
              </a:ext>
            </a:extLst>
          </p:cNvPr>
          <p:cNvCxnSpPr/>
          <p:nvPr/>
        </p:nvCxnSpPr>
        <p:spPr>
          <a:xfrm flipV="1">
            <a:off x="4261417" y="2869499"/>
            <a:ext cx="0" cy="691713"/>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16" name="Straight Arrow Connector 19">
            <a:extLst>
              <a:ext uri="{FF2B5EF4-FFF2-40B4-BE49-F238E27FC236}">
                <a16:creationId xmlns:a16="http://schemas.microsoft.com/office/drawing/2014/main" id="{287E5494-5132-4ECB-97D2-4E54FEF036B8}"/>
              </a:ext>
            </a:extLst>
          </p:cNvPr>
          <p:cNvCxnSpPr/>
          <p:nvPr/>
        </p:nvCxnSpPr>
        <p:spPr>
          <a:xfrm flipV="1">
            <a:off x="2784589" y="3068635"/>
            <a:ext cx="0" cy="458726"/>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17" name="Rectangle 18">
            <a:extLst>
              <a:ext uri="{FF2B5EF4-FFF2-40B4-BE49-F238E27FC236}">
                <a16:creationId xmlns:a16="http://schemas.microsoft.com/office/drawing/2014/main" id="{3900D6A7-6319-4F75-BE38-112832B7DD7E}"/>
              </a:ext>
            </a:extLst>
          </p:cNvPr>
          <p:cNvSpPr>
            <a:spLocks/>
          </p:cNvSpPr>
          <p:nvPr/>
        </p:nvSpPr>
        <p:spPr bwMode="auto">
          <a:xfrm>
            <a:off x="1507137" y="2762352"/>
            <a:ext cx="127745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5.000</a:t>
            </a:r>
          </a:p>
        </p:txBody>
      </p:sp>
      <p:sp>
        <p:nvSpPr>
          <p:cNvPr id="18" name="Rectangle 18">
            <a:extLst>
              <a:ext uri="{FF2B5EF4-FFF2-40B4-BE49-F238E27FC236}">
                <a16:creationId xmlns:a16="http://schemas.microsoft.com/office/drawing/2014/main" id="{F48C04C4-9DE4-443F-82F0-ACF2545D076E}"/>
              </a:ext>
            </a:extLst>
          </p:cNvPr>
          <p:cNvSpPr>
            <a:spLocks/>
          </p:cNvSpPr>
          <p:nvPr/>
        </p:nvSpPr>
        <p:spPr bwMode="auto">
          <a:xfrm>
            <a:off x="3627026" y="2590372"/>
            <a:ext cx="127745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10.000</a:t>
            </a:r>
          </a:p>
        </p:txBody>
      </p:sp>
      <p:sp>
        <p:nvSpPr>
          <p:cNvPr id="19" name="Rectangle 18">
            <a:extLst>
              <a:ext uri="{FF2B5EF4-FFF2-40B4-BE49-F238E27FC236}">
                <a16:creationId xmlns:a16="http://schemas.microsoft.com/office/drawing/2014/main" id="{2689A458-AC08-40DE-8895-BC1B11AE8641}"/>
              </a:ext>
            </a:extLst>
          </p:cNvPr>
          <p:cNvSpPr>
            <a:spLocks/>
          </p:cNvSpPr>
          <p:nvPr/>
        </p:nvSpPr>
        <p:spPr bwMode="auto">
          <a:xfrm>
            <a:off x="2200413" y="2763934"/>
            <a:ext cx="127745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5.000</a:t>
            </a:r>
          </a:p>
        </p:txBody>
      </p:sp>
      <p:sp>
        <p:nvSpPr>
          <p:cNvPr id="20" name="Rectangle 18">
            <a:extLst>
              <a:ext uri="{FF2B5EF4-FFF2-40B4-BE49-F238E27FC236}">
                <a16:creationId xmlns:a16="http://schemas.microsoft.com/office/drawing/2014/main" id="{71206DA2-A613-49F3-B9F2-050F4790D0F4}"/>
              </a:ext>
            </a:extLst>
          </p:cNvPr>
          <p:cNvSpPr>
            <a:spLocks/>
          </p:cNvSpPr>
          <p:nvPr/>
        </p:nvSpPr>
        <p:spPr bwMode="auto">
          <a:xfrm>
            <a:off x="2825482" y="2785722"/>
            <a:ext cx="127745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5.000</a:t>
            </a:r>
          </a:p>
        </p:txBody>
      </p:sp>
      <p:sp>
        <p:nvSpPr>
          <p:cNvPr id="21" name="Rectangle 18">
            <a:extLst>
              <a:ext uri="{FF2B5EF4-FFF2-40B4-BE49-F238E27FC236}">
                <a16:creationId xmlns:a16="http://schemas.microsoft.com/office/drawing/2014/main" id="{AAD0ED06-A375-4B26-96B1-7CB6E3A3D728}"/>
              </a:ext>
            </a:extLst>
          </p:cNvPr>
          <p:cNvSpPr>
            <a:spLocks/>
          </p:cNvSpPr>
          <p:nvPr/>
        </p:nvSpPr>
        <p:spPr bwMode="auto">
          <a:xfrm>
            <a:off x="2202171" y="4005675"/>
            <a:ext cx="127745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8.000</a:t>
            </a:r>
          </a:p>
        </p:txBody>
      </p:sp>
      <p:sp>
        <p:nvSpPr>
          <p:cNvPr id="22" name="Rectangle 18">
            <a:extLst>
              <a:ext uri="{FF2B5EF4-FFF2-40B4-BE49-F238E27FC236}">
                <a16:creationId xmlns:a16="http://schemas.microsoft.com/office/drawing/2014/main" id="{3A17D5EF-10A5-4249-95B2-98B6A61CC401}"/>
              </a:ext>
            </a:extLst>
          </p:cNvPr>
          <p:cNvSpPr>
            <a:spLocks/>
          </p:cNvSpPr>
          <p:nvPr/>
        </p:nvSpPr>
        <p:spPr bwMode="auto">
          <a:xfrm>
            <a:off x="994947" y="4369394"/>
            <a:ext cx="127745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15.000</a:t>
            </a:r>
          </a:p>
        </p:txBody>
      </p:sp>
      <p:cxnSp>
        <p:nvCxnSpPr>
          <p:cNvPr id="23" name="Straight Connector 17">
            <a:extLst>
              <a:ext uri="{FF2B5EF4-FFF2-40B4-BE49-F238E27FC236}">
                <a16:creationId xmlns:a16="http://schemas.microsoft.com/office/drawing/2014/main" id="{3E832321-975B-4337-A031-5B895E2D3082}"/>
              </a:ext>
            </a:extLst>
          </p:cNvPr>
          <p:cNvCxnSpPr/>
          <p:nvPr/>
        </p:nvCxnSpPr>
        <p:spPr>
          <a:xfrm>
            <a:off x="7848282" y="3501880"/>
            <a:ext cx="2632079"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Arrow Connector 18">
            <a:extLst>
              <a:ext uri="{FF2B5EF4-FFF2-40B4-BE49-F238E27FC236}">
                <a16:creationId xmlns:a16="http://schemas.microsoft.com/office/drawing/2014/main" id="{C7BD7A87-91C9-40E8-B095-F32C2CB80B64}"/>
              </a:ext>
            </a:extLst>
          </p:cNvPr>
          <p:cNvCxnSpPr/>
          <p:nvPr/>
        </p:nvCxnSpPr>
        <p:spPr>
          <a:xfrm>
            <a:off x="7861110" y="3514709"/>
            <a:ext cx="0" cy="843530"/>
          </a:xfrm>
          <a:prstGeom prst="straightConnector1">
            <a:avLst/>
          </a:prstGeom>
          <a:ln w="28575">
            <a:solidFill>
              <a:schemeClr val="accent3"/>
            </a:solidFill>
            <a:tailEnd type="arrow"/>
          </a:ln>
        </p:spPr>
        <p:style>
          <a:lnRef idx="2">
            <a:schemeClr val="accent1"/>
          </a:lnRef>
          <a:fillRef idx="0">
            <a:schemeClr val="accent1"/>
          </a:fillRef>
          <a:effectRef idx="1">
            <a:schemeClr val="accent1"/>
          </a:effectRef>
          <a:fontRef idx="minor">
            <a:schemeClr val="tx1"/>
          </a:fontRef>
        </p:style>
      </p:cxnSp>
      <p:cxnSp>
        <p:nvCxnSpPr>
          <p:cNvPr id="25" name="Straight Arrow Connector 19">
            <a:extLst>
              <a:ext uri="{FF2B5EF4-FFF2-40B4-BE49-F238E27FC236}">
                <a16:creationId xmlns:a16="http://schemas.microsoft.com/office/drawing/2014/main" id="{5684EFD7-8965-466E-83B7-63FA01BD934F}"/>
              </a:ext>
            </a:extLst>
          </p:cNvPr>
          <p:cNvCxnSpPr/>
          <p:nvPr/>
        </p:nvCxnSpPr>
        <p:spPr>
          <a:xfrm flipV="1">
            <a:off x="8403431" y="3055982"/>
            <a:ext cx="0" cy="458726"/>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26" name="Straight Arrow Connector 20">
            <a:extLst>
              <a:ext uri="{FF2B5EF4-FFF2-40B4-BE49-F238E27FC236}">
                <a16:creationId xmlns:a16="http://schemas.microsoft.com/office/drawing/2014/main" id="{D5B082C0-4A4B-4BE3-BCBD-B8F5204352F6}"/>
              </a:ext>
            </a:extLst>
          </p:cNvPr>
          <p:cNvCxnSpPr>
            <a:cxnSpLocks/>
          </p:cNvCxnSpPr>
          <p:nvPr/>
        </p:nvCxnSpPr>
        <p:spPr>
          <a:xfrm>
            <a:off x="8999197" y="3514711"/>
            <a:ext cx="0" cy="360000"/>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27" name="Straight Arrow Connector 21">
            <a:extLst>
              <a:ext uri="{FF2B5EF4-FFF2-40B4-BE49-F238E27FC236}">
                <a16:creationId xmlns:a16="http://schemas.microsoft.com/office/drawing/2014/main" id="{4B172F8C-9A4D-4055-BB75-144BE62336F4}"/>
              </a:ext>
            </a:extLst>
          </p:cNvPr>
          <p:cNvCxnSpPr/>
          <p:nvPr/>
        </p:nvCxnSpPr>
        <p:spPr>
          <a:xfrm flipV="1">
            <a:off x="9685933" y="3055983"/>
            <a:ext cx="0" cy="458728"/>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28" name="Rectangle 22">
            <a:extLst>
              <a:ext uri="{FF2B5EF4-FFF2-40B4-BE49-F238E27FC236}">
                <a16:creationId xmlns:a16="http://schemas.microsoft.com/office/drawing/2014/main" id="{0DBC607A-09E8-4172-9159-ED701622D1A9}"/>
              </a:ext>
            </a:extLst>
          </p:cNvPr>
          <p:cNvSpPr>
            <a:spLocks/>
          </p:cNvSpPr>
          <p:nvPr/>
        </p:nvSpPr>
        <p:spPr bwMode="auto">
          <a:xfrm flipH="1">
            <a:off x="7848282" y="3224882"/>
            <a:ext cx="131729" cy="307777"/>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Lst>
        </p:spPr>
        <p:txBody>
          <a:bodyPr wrap="square" lIns="0" tIns="0" rIns="0" bIns="0" anchor="ctr">
            <a:spAutoFit/>
          </a:bodyPr>
          <a:lstStyle/>
          <a:p>
            <a:pPr algn="ctr"/>
            <a:r>
              <a:rPr lang="en-US" sz="2000" dirty="0"/>
              <a:t>0</a:t>
            </a:r>
          </a:p>
        </p:txBody>
      </p:sp>
      <p:sp>
        <p:nvSpPr>
          <p:cNvPr id="29" name="Rectangle 23">
            <a:extLst>
              <a:ext uri="{FF2B5EF4-FFF2-40B4-BE49-F238E27FC236}">
                <a16:creationId xmlns:a16="http://schemas.microsoft.com/office/drawing/2014/main" id="{39D08D1B-DEBE-489E-939C-4A429574EE4D}"/>
              </a:ext>
            </a:extLst>
          </p:cNvPr>
          <p:cNvSpPr>
            <a:spLocks/>
          </p:cNvSpPr>
          <p:nvPr/>
        </p:nvSpPr>
        <p:spPr bwMode="auto">
          <a:xfrm>
            <a:off x="8234901" y="3513213"/>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1</a:t>
            </a:r>
          </a:p>
        </p:txBody>
      </p:sp>
      <p:sp>
        <p:nvSpPr>
          <p:cNvPr id="30" name="Rectangle 24">
            <a:extLst>
              <a:ext uri="{FF2B5EF4-FFF2-40B4-BE49-F238E27FC236}">
                <a16:creationId xmlns:a16="http://schemas.microsoft.com/office/drawing/2014/main" id="{BE88D575-2A00-47CF-8167-8F7768B61B6E}"/>
              </a:ext>
            </a:extLst>
          </p:cNvPr>
          <p:cNvSpPr>
            <a:spLocks/>
          </p:cNvSpPr>
          <p:nvPr/>
        </p:nvSpPr>
        <p:spPr bwMode="auto">
          <a:xfrm>
            <a:off x="8921637" y="3466848"/>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2</a:t>
            </a:r>
          </a:p>
        </p:txBody>
      </p:sp>
      <p:sp>
        <p:nvSpPr>
          <p:cNvPr id="31" name="Rectangle 25">
            <a:extLst>
              <a:ext uri="{FF2B5EF4-FFF2-40B4-BE49-F238E27FC236}">
                <a16:creationId xmlns:a16="http://schemas.microsoft.com/office/drawing/2014/main" id="{98D15F81-AB64-476B-AE87-77668526CA2A}"/>
              </a:ext>
            </a:extLst>
          </p:cNvPr>
          <p:cNvSpPr>
            <a:spLocks/>
          </p:cNvSpPr>
          <p:nvPr/>
        </p:nvSpPr>
        <p:spPr bwMode="auto">
          <a:xfrm>
            <a:off x="9483075" y="3517784"/>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3</a:t>
            </a:r>
          </a:p>
        </p:txBody>
      </p:sp>
      <p:sp>
        <p:nvSpPr>
          <p:cNvPr id="32" name="Rectangle 31">
            <a:extLst>
              <a:ext uri="{FF2B5EF4-FFF2-40B4-BE49-F238E27FC236}">
                <a16:creationId xmlns:a16="http://schemas.microsoft.com/office/drawing/2014/main" id="{8881DB07-4845-4861-8283-76D3038F7A7A}"/>
              </a:ext>
            </a:extLst>
          </p:cNvPr>
          <p:cNvSpPr>
            <a:spLocks/>
          </p:cNvSpPr>
          <p:nvPr/>
        </p:nvSpPr>
        <p:spPr bwMode="auto">
          <a:xfrm>
            <a:off x="10307495" y="3513213"/>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4</a:t>
            </a:r>
          </a:p>
        </p:txBody>
      </p:sp>
      <p:cxnSp>
        <p:nvCxnSpPr>
          <p:cNvPr id="33" name="Straight Arrow Connector 32">
            <a:extLst>
              <a:ext uri="{FF2B5EF4-FFF2-40B4-BE49-F238E27FC236}">
                <a16:creationId xmlns:a16="http://schemas.microsoft.com/office/drawing/2014/main" id="{9DB45386-7782-4ECE-ACFA-B13D7DCC7FB2}"/>
              </a:ext>
            </a:extLst>
          </p:cNvPr>
          <p:cNvCxnSpPr/>
          <p:nvPr/>
        </p:nvCxnSpPr>
        <p:spPr>
          <a:xfrm flipV="1">
            <a:off x="10476025" y="2856849"/>
            <a:ext cx="0" cy="691713"/>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35" name="Rectangle 18">
            <a:extLst>
              <a:ext uri="{FF2B5EF4-FFF2-40B4-BE49-F238E27FC236}">
                <a16:creationId xmlns:a16="http://schemas.microsoft.com/office/drawing/2014/main" id="{B09D9AEE-3033-4770-B9C7-0C177603DBAB}"/>
              </a:ext>
            </a:extLst>
          </p:cNvPr>
          <p:cNvSpPr>
            <a:spLocks/>
          </p:cNvSpPr>
          <p:nvPr/>
        </p:nvSpPr>
        <p:spPr bwMode="auto">
          <a:xfrm>
            <a:off x="7721745" y="2749702"/>
            <a:ext cx="127745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5.000</a:t>
            </a:r>
          </a:p>
        </p:txBody>
      </p:sp>
      <p:sp>
        <p:nvSpPr>
          <p:cNvPr id="36" name="Rectangle 18">
            <a:extLst>
              <a:ext uri="{FF2B5EF4-FFF2-40B4-BE49-F238E27FC236}">
                <a16:creationId xmlns:a16="http://schemas.microsoft.com/office/drawing/2014/main" id="{C3950895-E13D-4BB1-B00E-C26488FA9D97}"/>
              </a:ext>
            </a:extLst>
          </p:cNvPr>
          <p:cNvSpPr>
            <a:spLocks/>
          </p:cNvSpPr>
          <p:nvPr/>
        </p:nvSpPr>
        <p:spPr bwMode="auto">
          <a:xfrm>
            <a:off x="9841634" y="2577722"/>
            <a:ext cx="127745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10.000</a:t>
            </a:r>
          </a:p>
        </p:txBody>
      </p:sp>
      <p:sp>
        <p:nvSpPr>
          <p:cNvPr id="38" name="Rectangle 18">
            <a:extLst>
              <a:ext uri="{FF2B5EF4-FFF2-40B4-BE49-F238E27FC236}">
                <a16:creationId xmlns:a16="http://schemas.microsoft.com/office/drawing/2014/main" id="{41107D47-8199-429B-80A6-E0F0CCB04E46}"/>
              </a:ext>
            </a:extLst>
          </p:cNvPr>
          <p:cNvSpPr>
            <a:spLocks/>
          </p:cNvSpPr>
          <p:nvPr/>
        </p:nvSpPr>
        <p:spPr bwMode="auto">
          <a:xfrm>
            <a:off x="9040090" y="2773072"/>
            <a:ext cx="127745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5.000</a:t>
            </a:r>
          </a:p>
        </p:txBody>
      </p:sp>
      <p:sp>
        <p:nvSpPr>
          <p:cNvPr id="39" name="Rectangle 18">
            <a:extLst>
              <a:ext uri="{FF2B5EF4-FFF2-40B4-BE49-F238E27FC236}">
                <a16:creationId xmlns:a16="http://schemas.microsoft.com/office/drawing/2014/main" id="{44C5D209-06ED-4304-82CF-C183692BC655}"/>
              </a:ext>
            </a:extLst>
          </p:cNvPr>
          <p:cNvSpPr>
            <a:spLocks/>
          </p:cNvSpPr>
          <p:nvPr/>
        </p:nvSpPr>
        <p:spPr bwMode="auto">
          <a:xfrm>
            <a:off x="8397941" y="3818553"/>
            <a:ext cx="127745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3.000</a:t>
            </a:r>
          </a:p>
        </p:txBody>
      </p:sp>
      <p:sp>
        <p:nvSpPr>
          <p:cNvPr id="40" name="Rectangle 18">
            <a:extLst>
              <a:ext uri="{FF2B5EF4-FFF2-40B4-BE49-F238E27FC236}">
                <a16:creationId xmlns:a16="http://schemas.microsoft.com/office/drawing/2014/main" id="{2EADA295-64E2-476B-B9CC-67E4A2782F98}"/>
              </a:ext>
            </a:extLst>
          </p:cNvPr>
          <p:cNvSpPr>
            <a:spLocks/>
          </p:cNvSpPr>
          <p:nvPr/>
        </p:nvSpPr>
        <p:spPr bwMode="auto">
          <a:xfrm>
            <a:off x="7209555" y="4326932"/>
            <a:ext cx="127745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15.000</a:t>
            </a:r>
          </a:p>
        </p:txBody>
      </p:sp>
      <p:cxnSp>
        <p:nvCxnSpPr>
          <p:cNvPr id="44" name="Conector recto 43">
            <a:extLst>
              <a:ext uri="{FF2B5EF4-FFF2-40B4-BE49-F238E27FC236}">
                <a16:creationId xmlns:a16="http://schemas.microsoft.com/office/drawing/2014/main" id="{57B8A31A-12CE-4059-980E-F6E808B1029D}"/>
              </a:ext>
            </a:extLst>
          </p:cNvPr>
          <p:cNvCxnSpPr>
            <a:cxnSpLocks/>
            <a:stCxn id="3" idx="2"/>
          </p:cNvCxnSpPr>
          <p:nvPr/>
        </p:nvCxnSpPr>
        <p:spPr>
          <a:xfrm>
            <a:off x="6095994" y="2360839"/>
            <a:ext cx="6" cy="4172041"/>
          </a:xfrm>
          <a:prstGeom prst="line">
            <a:avLst/>
          </a:prstGeom>
          <a:ln w="57150"/>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47" name="CuadroTexto 46">
                <a:extLst>
                  <a:ext uri="{FF2B5EF4-FFF2-40B4-BE49-F238E27FC236}">
                    <a16:creationId xmlns:a16="http://schemas.microsoft.com/office/drawing/2014/main" id="{74525E41-0C14-48C6-8B99-6F7C1AD10294}"/>
                  </a:ext>
                </a:extLst>
              </p:cNvPr>
              <p:cNvSpPr txBox="1"/>
              <p:nvPr/>
            </p:nvSpPr>
            <p:spPr>
              <a:xfrm>
                <a:off x="1419885" y="5243702"/>
                <a:ext cx="3697167" cy="631263"/>
              </a:xfrm>
              <a:prstGeom prst="rect">
                <a:avLst/>
              </a:prstGeom>
              <a:noFill/>
            </p:spPr>
            <p:txBody>
              <a:bodyPr wrap="none" lIns="0" tIns="0" rIns="0" bIns="0" rtlCol="0">
                <a:spAutoFit/>
              </a:bodyPr>
              <a:lstStyle/>
              <a:p>
                <a:pPr algn="ctr"/>
                <a14:m>
                  <m:oMath xmlns:m="http://schemas.openxmlformats.org/officeDocument/2006/math">
                    <m:f>
                      <m:fPr>
                        <m:ctrlPr>
                          <a:rPr lang="es-CO" sz="2400" i="1">
                            <a:latin typeface="Cambria Math" panose="02040503050406030204" pitchFamily="18" charset="0"/>
                            <a:ea typeface="Cambria Math" panose="02040503050406030204" pitchFamily="18" charset="0"/>
                          </a:rPr>
                        </m:ctrlPr>
                      </m:fPr>
                      <m:num>
                        <m:r>
                          <a:rPr lang="es-CO" sz="2400" i="1">
                            <a:latin typeface="Cambria Math" panose="02040503050406030204" pitchFamily="18" charset="0"/>
                            <a:ea typeface="Cambria Math" panose="02040503050406030204" pitchFamily="18" charset="0"/>
                          </a:rPr>
                          <m:t>𝐵</m:t>
                        </m:r>
                      </m:num>
                      <m:den>
                        <m:r>
                          <a:rPr lang="es-CO" sz="2400" i="1">
                            <a:latin typeface="Cambria Math" panose="02040503050406030204" pitchFamily="18" charset="0"/>
                            <a:ea typeface="Cambria Math" panose="02040503050406030204" pitchFamily="18" charset="0"/>
                          </a:rPr>
                          <m:t>𝐶</m:t>
                        </m:r>
                      </m:den>
                    </m:f>
                    <m:r>
                      <a:rPr lang="es-CO" sz="2400" i="1">
                        <a:latin typeface="Cambria Math" panose="02040503050406030204" pitchFamily="18" charset="0"/>
                        <a:ea typeface="Cambria Math" panose="02040503050406030204" pitchFamily="18" charset="0"/>
                      </a:rPr>
                      <m:t>=</m:t>
                    </m:r>
                    <m:f>
                      <m:fPr>
                        <m:ctrlPr>
                          <a:rPr lang="es-CO" sz="2400" i="1">
                            <a:latin typeface="Cambria Math" panose="02040503050406030204" pitchFamily="18" charset="0"/>
                            <a:ea typeface="Cambria Math" panose="02040503050406030204" pitchFamily="18" charset="0"/>
                          </a:rPr>
                        </m:ctrlPr>
                      </m:fPr>
                      <m:num>
                        <m:r>
                          <a:rPr lang="es-CO" sz="2400" i="1">
                            <a:latin typeface="Cambria Math" panose="02040503050406030204" pitchFamily="18" charset="0"/>
                            <a:ea typeface="Cambria Math" panose="02040503050406030204" pitchFamily="18" charset="0"/>
                          </a:rPr>
                          <m:t>𝑉</m:t>
                        </m:r>
                        <m:sSub>
                          <m:sSubPr>
                            <m:ctrlPr>
                              <a:rPr lang="es-CO" sz="2400" i="1">
                                <a:latin typeface="Cambria Math" panose="02040503050406030204" pitchFamily="18" charset="0"/>
                                <a:ea typeface="Cambria Math" panose="02040503050406030204" pitchFamily="18" charset="0"/>
                              </a:rPr>
                            </m:ctrlPr>
                          </m:sSubPr>
                          <m:e>
                            <m:r>
                              <a:rPr lang="es-CO" sz="2400" i="1">
                                <a:latin typeface="Cambria Math" panose="02040503050406030204" pitchFamily="18" charset="0"/>
                                <a:ea typeface="Cambria Math" panose="02040503050406030204" pitchFamily="18" charset="0"/>
                              </a:rPr>
                              <m:t>𝑃</m:t>
                            </m:r>
                          </m:e>
                          <m:sub>
                            <m:r>
                              <a:rPr lang="es-CO" sz="2400" i="1">
                                <a:latin typeface="Cambria Math" panose="02040503050406030204" pitchFamily="18" charset="0"/>
                                <a:ea typeface="Cambria Math" panose="02040503050406030204" pitchFamily="18" charset="0"/>
                              </a:rPr>
                              <m:t>𝐼𝑛𝑔𝑟𝑒𝑠𝑜𝑠</m:t>
                            </m:r>
                          </m:sub>
                        </m:sSub>
                      </m:num>
                      <m:den>
                        <m:r>
                          <a:rPr lang="es-CO" sz="2400" i="1">
                            <a:latin typeface="Cambria Math" panose="02040503050406030204" pitchFamily="18" charset="0"/>
                            <a:ea typeface="Cambria Math" panose="02040503050406030204" pitchFamily="18" charset="0"/>
                          </a:rPr>
                          <m:t>𝑉</m:t>
                        </m:r>
                        <m:sSub>
                          <m:sSubPr>
                            <m:ctrlPr>
                              <a:rPr lang="es-CO" sz="2400" i="1">
                                <a:latin typeface="Cambria Math" panose="02040503050406030204" pitchFamily="18" charset="0"/>
                                <a:ea typeface="Cambria Math" panose="02040503050406030204" pitchFamily="18" charset="0"/>
                              </a:rPr>
                            </m:ctrlPr>
                          </m:sSubPr>
                          <m:e>
                            <m:r>
                              <a:rPr lang="es-CO" sz="2400" i="1">
                                <a:latin typeface="Cambria Math" panose="02040503050406030204" pitchFamily="18" charset="0"/>
                                <a:ea typeface="Cambria Math" panose="02040503050406030204" pitchFamily="18" charset="0"/>
                              </a:rPr>
                              <m:t>𝑃</m:t>
                            </m:r>
                          </m:e>
                          <m:sub>
                            <m:r>
                              <a:rPr lang="es-CO" sz="2400" i="1">
                                <a:latin typeface="Cambria Math" panose="02040503050406030204" pitchFamily="18" charset="0"/>
                                <a:ea typeface="Cambria Math" panose="02040503050406030204" pitchFamily="18" charset="0"/>
                              </a:rPr>
                              <m:t>𝑒𝑔𝑟𝑒𝑠𝑜𝑠</m:t>
                            </m:r>
                          </m:sub>
                        </m:sSub>
                      </m:den>
                    </m:f>
                    <m:r>
                      <a:rPr lang="es-CO" sz="2400" i="1">
                        <a:latin typeface="Cambria Math" panose="02040503050406030204" pitchFamily="18" charset="0"/>
                        <a:ea typeface="Cambria Math" panose="02040503050406030204" pitchFamily="18" charset="0"/>
                      </a:rPr>
                      <m:t>=</m:t>
                    </m:r>
                    <m:f>
                      <m:fPr>
                        <m:ctrlPr>
                          <a:rPr lang="es-CO" sz="2400" i="1">
                            <a:latin typeface="Cambria Math" panose="02040503050406030204" pitchFamily="18" charset="0"/>
                            <a:ea typeface="Cambria Math" panose="02040503050406030204" pitchFamily="18" charset="0"/>
                          </a:rPr>
                        </m:ctrlPr>
                      </m:fPr>
                      <m:num>
                        <m:r>
                          <a:rPr lang="es-CO" sz="2400" i="1">
                            <a:latin typeface="Cambria Math" panose="02040503050406030204" pitchFamily="18" charset="0"/>
                            <a:ea typeface="Cambria Math" panose="02040503050406030204" pitchFamily="18" charset="0"/>
                          </a:rPr>
                          <m:t>19.264</m:t>
                        </m:r>
                      </m:num>
                      <m:den>
                        <m:r>
                          <a:rPr lang="es-CO" sz="2400" i="1">
                            <a:latin typeface="Cambria Math" panose="02040503050406030204" pitchFamily="18" charset="0"/>
                            <a:ea typeface="Cambria Math" panose="02040503050406030204" pitchFamily="18" charset="0"/>
                          </a:rPr>
                          <m:t>21.611</m:t>
                        </m:r>
                      </m:den>
                    </m:f>
                    <m:r>
                      <a:rPr lang="es-CO" sz="2400" i="1">
                        <a:latin typeface="Cambria Math" panose="02040503050406030204" pitchFamily="18" charset="0"/>
                        <a:ea typeface="Cambria Math" panose="02040503050406030204" pitchFamily="18" charset="0"/>
                      </a:rPr>
                      <m:t>=</m:t>
                    </m:r>
                  </m:oMath>
                </a14:m>
                <a:r>
                  <a:rPr lang="es-CO" sz="2400" dirty="0">
                    <a:latin typeface="Cambria Math" panose="02040503050406030204" pitchFamily="18" charset="0"/>
                    <a:ea typeface="Cambria Math" panose="02040503050406030204" pitchFamily="18" charset="0"/>
                  </a:rPr>
                  <a:t>0,89</a:t>
                </a:r>
              </a:p>
            </p:txBody>
          </p:sp>
        </mc:Choice>
        <mc:Fallback xmlns="">
          <p:sp>
            <p:nvSpPr>
              <p:cNvPr id="47" name="CuadroTexto 46">
                <a:extLst>
                  <a:ext uri="{FF2B5EF4-FFF2-40B4-BE49-F238E27FC236}">
                    <a16:creationId xmlns:a16="http://schemas.microsoft.com/office/drawing/2014/main" id="{74525E41-0C14-48C6-8B99-6F7C1AD10294}"/>
                  </a:ext>
                </a:extLst>
              </p:cNvPr>
              <p:cNvSpPr txBox="1">
                <a:spLocks noRot="1" noChangeAspect="1" noMove="1" noResize="1" noEditPoints="1" noAdjustHandles="1" noChangeArrowheads="1" noChangeShapeType="1" noTextEdit="1"/>
              </p:cNvSpPr>
              <p:nvPr/>
            </p:nvSpPr>
            <p:spPr>
              <a:xfrm>
                <a:off x="1419885" y="5243702"/>
                <a:ext cx="3697167" cy="631263"/>
              </a:xfrm>
              <a:prstGeom prst="rect">
                <a:avLst/>
              </a:prstGeom>
              <a:blipFill>
                <a:blip r:embed="rId3"/>
                <a:stretch>
                  <a:fillRect r="-4785" b="-1923"/>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48" name="CuadroTexto 47">
                <a:extLst>
                  <a:ext uri="{FF2B5EF4-FFF2-40B4-BE49-F238E27FC236}">
                    <a16:creationId xmlns:a16="http://schemas.microsoft.com/office/drawing/2014/main" id="{083EB93F-9BC4-4749-A031-9A16A763A993}"/>
                  </a:ext>
                </a:extLst>
              </p:cNvPr>
              <p:cNvSpPr txBox="1"/>
              <p:nvPr/>
            </p:nvSpPr>
            <p:spPr>
              <a:xfrm>
                <a:off x="7519258" y="5172879"/>
                <a:ext cx="3611310" cy="6724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s-CO" sz="2000" i="1">
                              <a:latin typeface="Cambria Math" panose="02040503050406030204" pitchFamily="18" charset="0"/>
                            </a:rPr>
                          </m:ctrlPr>
                        </m:fPr>
                        <m:num>
                          <m:r>
                            <a:rPr lang="es-CO" sz="2000" i="1">
                              <a:latin typeface="Cambria Math" panose="02040503050406030204" pitchFamily="18" charset="0"/>
                            </a:rPr>
                            <m:t>𝐵</m:t>
                          </m:r>
                        </m:num>
                        <m:den>
                          <m:r>
                            <a:rPr lang="es-CO" sz="2000" i="1">
                              <a:latin typeface="Cambria Math" panose="02040503050406030204" pitchFamily="18" charset="0"/>
                            </a:rPr>
                            <m:t>𝐶</m:t>
                          </m:r>
                        </m:den>
                      </m:f>
                      <m:r>
                        <a:rPr lang="es-CO" sz="2000" i="1">
                          <a:latin typeface="Cambria Math" panose="02040503050406030204" pitchFamily="18" charset="0"/>
                        </a:rPr>
                        <m:t>=</m:t>
                      </m:r>
                      <m:f>
                        <m:fPr>
                          <m:ctrlPr>
                            <a:rPr lang="es-CO" sz="2000" i="1">
                              <a:latin typeface="Cambria Math" panose="02040503050406030204" pitchFamily="18" charset="0"/>
                            </a:rPr>
                          </m:ctrlPr>
                        </m:fPr>
                        <m:num>
                          <m:r>
                            <a:rPr lang="es-CO" sz="2000" i="1">
                              <a:latin typeface="Cambria Math" panose="02040503050406030204" pitchFamily="18" charset="0"/>
                            </a:rPr>
                            <m:t>𝑉</m:t>
                          </m:r>
                          <m:sSub>
                            <m:sSubPr>
                              <m:ctrlPr>
                                <a:rPr lang="es-CO" sz="2000" i="1">
                                  <a:latin typeface="Cambria Math" panose="02040503050406030204" pitchFamily="18" charset="0"/>
                                </a:rPr>
                              </m:ctrlPr>
                            </m:sSubPr>
                            <m:e>
                              <m:r>
                                <a:rPr lang="es-CO" sz="2000" i="1">
                                  <a:latin typeface="Cambria Math" panose="02040503050406030204" pitchFamily="18" charset="0"/>
                                </a:rPr>
                                <m:t>𝑃</m:t>
                              </m:r>
                            </m:e>
                            <m:sub>
                              <m:r>
                                <a:rPr lang="es-CO" sz="2000" i="1">
                                  <a:latin typeface="Cambria Math" panose="02040503050406030204" pitchFamily="18" charset="0"/>
                                </a:rPr>
                                <m:t>𝐼𝑛𝑔𝑟𝑒𝑠𝑜𝑠</m:t>
                              </m:r>
                            </m:sub>
                          </m:sSub>
                        </m:num>
                        <m:den>
                          <m:r>
                            <a:rPr lang="es-CO" sz="2000" i="1">
                              <a:latin typeface="Cambria Math" panose="02040503050406030204" pitchFamily="18" charset="0"/>
                            </a:rPr>
                            <m:t>𝑉</m:t>
                          </m:r>
                          <m:sSub>
                            <m:sSubPr>
                              <m:ctrlPr>
                                <a:rPr lang="es-CO" sz="2000" i="1">
                                  <a:latin typeface="Cambria Math" panose="02040503050406030204" pitchFamily="18" charset="0"/>
                                </a:rPr>
                              </m:ctrlPr>
                            </m:sSubPr>
                            <m:e>
                              <m:r>
                                <a:rPr lang="es-CO" sz="2000" i="1">
                                  <a:latin typeface="Cambria Math" panose="02040503050406030204" pitchFamily="18" charset="0"/>
                                </a:rPr>
                                <m:t>𝑃</m:t>
                              </m:r>
                            </m:e>
                            <m:sub>
                              <m:r>
                                <a:rPr lang="es-CO" sz="2000" i="1">
                                  <a:latin typeface="Cambria Math" panose="02040503050406030204" pitchFamily="18" charset="0"/>
                                </a:rPr>
                                <m:t>𝑒𝑔𝑟𝑒𝑠𝑜𝑠</m:t>
                              </m:r>
                            </m:sub>
                          </m:sSub>
                        </m:den>
                      </m:f>
                      <m:r>
                        <a:rPr lang="es-CO" sz="2000" i="1">
                          <a:latin typeface="Cambria Math" panose="02040503050406030204" pitchFamily="18" charset="0"/>
                        </a:rPr>
                        <m:t>=</m:t>
                      </m:r>
                      <m:f>
                        <m:fPr>
                          <m:ctrlPr>
                            <a:rPr lang="es-CO" sz="2000" i="1">
                              <a:latin typeface="Cambria Math" panose="02040503050406030204" pitchFamily="18" charset="0"/>
                            </a:rPr>
                          </m:ctrlPr>
                        </m:fPr>
                        <m:num>
                          <m:r>
                            <a:rPr lang="es-CO" sz="2000" i="1">
                              <a:latin typeface="Cambria Math" panose="02040503050406030204" pitchFamily="18" charset="0"/>
                            </a:rPr>
                            <m:t>15.132</m:t>
                          </m:r>
                        </m:num>
                        <m:den>
                          <m:r>
                            <a:rPr lang="es-CO" sz="2000" i="1">
                              <a:latin typeface="Cambria Math" panose="02040503050406030204" pitchFamily="18" charset="0"/>
                            </a:rPr>
                            <m:t>17.479</m:t>
                          </m:r>
                        </m:den>
                      </m:f>
                      <m:r>
                        <a:rPr lang="es-CO" sz="2000" i="1">
                          <a:latin typeface="Cambria Math" panose="02040503050406030204" pitchFamily="18" charset="0"/>
                        </a:rPr>
                        <m:t>=0,87</m:t>
                      </m:r>
                    </m:oMath>
                  </m:oMathPara>
                </a14:m>
                <a:endParaRPr lang="es-CO" sz="2000" dirty="0"/>
              </a:p>
            </p:txBody>
          </p:sp>
        </mc:Choice>
        <mc:Fallback xmlns="">
          <p:sp>
            <p:nvSpPr>
              <p:cNvPr id="48" name="CuadroTexto 47">
                <a:extLst>
                  <a:ext uri="{FF2B5EF4-FFF2-40B4-BE49-F238E27FC236}">
                    <a16:creationId xmlns:a16="http://schemas.microsoft.com/office/drawing/2014/main" id="{083EB93F-9BC4-4749-A031-9A16A763A993}"/>
                  </a:ext>
                </a:extLst>
              </p:cNvPr>
              <p:cNvSpPr txBox="1">
                <a:spLocks noRot="1" noChangeAspect="1" noMove="1" noResize="1" noEditPoints="1" noAdjustHandles="1" noChangeArrowheads="1" noChangeShapeType="1" noTextEdit="1"/>
              </p:cNvSpPr>
              <p:nvPr/>
            </p:nvSpPr>
            <p:spPr>
              <a:xfrm>
                <a:off x="7519258" y="5172879"/>
                <a:ext cx="3611310" cy="672428"/>
              </a:xfrm>
              <a:prstGeom prst="rect">
                <a:avLst/>
              </a:prstGeom>
              <a:blipFill>
                <a:blip r:embed="rId4"/>
                <a:stretch>
                  <a:fillRect/>
                </a:stretch>
              </a:blipFill>
            </p:spPr>
            <p:txBody>
              <a:bodyPr/>
              <a:lstStyle/>
              <a:p>
                <a:r>
                  <a:rPr lang="es-CO">
                    <a:noFill/>
                  </a:rPr>
                  <a:t> </a:t>
                </a:r>
              </a:p>
            </p:txBody>
          </p:sp>
        </mc:Fallback>
      </mc:AlternateContent>
      <p:sp>
        <p:nvSpPr>
          <p:cNvPr id="34" name="Rectángulo 33">
            <a:extLst>
              <a:ext uri="{FF2B5EF4-FFF2-40B4-BE49-F238E27FC236}">
                <a16:creationId xmlns:a16="http://schemas.microsoft.com/office/drawing/2014/main" id="{2DA8B73D-01A4-53A3-95CF-16577B90CB3E}"/>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37" name="Picture 2" descr="Clientes y aliados | Centro de Evaluación | Uniandes">
            <a:extLst>
              <a:ext uri="{FF2B5EF4-FFF2-40B4-BE49-F238E27FC236}">
                <a16:creationId xmlns:a16="http://schemas.microsoft.com/office/drawing/2014/main" id="{0235CC89-86DA-E05E-C897-1AE5F7CCBE6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42" name="Rectángulo 41">
            <a:extLst>
              <a:ext uri="{FF2B5EF4-FFF2-40B4-BE49-F238E27FC236}">
                <a16:creationId xmlns:a16="http://schemas.microsoft.com/office/drawing/2014/main" id="{E96CE54A-9754-2108-30D9-AAE2E0B9DDB2}"/>
              </a:ext>
            </a:extLst>
          </p:cNvPr>
          <p:cNvSpPr/>
          <p:nvPr/>
        </p:nvSpPr>
        <p:spPr>
          <a:xfrm>
            <a:off x="8399257" y="118110"/>
            <a:ext cx="3150778" cy="261610"/>
          </a:xfrm>
          <a:prstGeom prst="rect">
            <a:avLst/>
          </a:prstGeom>
        </p:spPr>
        <p:txBody>
          <a:bodyPr wrap="square">
            <a:spAutoFit/>
          </a:bodyPr>
          <a:lstStyle/>
          <a:p>
            <a:pPr algn="r"/>
            <a:r>
              <a:rPr lang="es-CO" sz="1100" b="1" dirty="0">
                <a:solidFill>
                  <a:schemeClr val="accent2">
                    <a:lumMod val="50000"/>
                  </a:schemeClr>
                </a:solidFill>
                <a:latin typeface="Century Gothic" panose="020B0502020202020204" pitchFamily="34" charset="0"/>
                <a:sym typeface="Gill Sans Light"/>
              </a:rPr>
              <a:t>Curso</a:t>
            </a:r>
            <a:r>
              <a:rPr lang="es-CO" sz="1100" dirty="0">
                <a:solidFill>
                  <a:schemeClr val="accent2">
                    <a:lumMod val="50000"/>
                  </a:schemeClr>
                </a:solidFill>
                <a:latin typeface="Century Gothic" panose="020B0502020202020204" pitchFamily="34" charset="0"/>
                <a:sym typeface="Gill Sans Light"/>
              </a:rPr>
              <a:t> Análisis de Decisiones de Inversión</a:t>
            </a:r>
            <a:endParaRPr lang="es-CO" sz="1100" dirty="0">
              <a:solidFill>
                <a:schemeClr val="accent2">
                  <a:lumMod val="50000"/>
                </a:schemeClr>
              </a:solidFill>
              <a:latin typeface="Century Gothic" panose="020B0502020202020204" pitchFamily="34" charset="0"/>
            </a:endParaRPr>
          </a:p>
        </p:txBody>
      </p:sp>
      <p:sp>
        <p:nvSpPr>
          <p:cNvPr id="43" name="Título 1">
            <a:extLst>
              <a:ext uri="{FF2B5EF4-FFF2-40B4-BE49-F238E27FC236}">
                <a16:creationId xmlns:a16="http://schemas.microsoft.com/office/drawing/2014/main" id="{9617CB4B-BCEA-7E31-4B55-D264D513E9F0}"/>
              </a:ext>
            </a:extLst>
          </p:cNvPr>
          <p:cNvSpPr>
            <a:spLocks noGrp="1"/>
          </p:cNvSpPr>
          <p:nvPr>
            <p:ph type="title"/>
          </p:nvPr>
        </p:nvSpPr>
        <p:spPr>
          <a:xfrm>
            <a:off x="581192" y="702156"/>
            <a:ext cx="11029616" cy="1013800"/>
          </a:xfrm>
        </p:spPr>
        <p:txBody>
          <a:bodyPr>
            <a:normAutofit/>
          </a:bodyPr>
          <a:lstStyle/>
          <a:p>
            <a:r>
              <a:rPr lang="es-ES" sz="3200" dirty="0">
                <a:latin typeface="Century Gothic" panose="020B0502020202020204" pitchFamily="34" charset="0"/>
              </a:rPr>
              <a:t>b/c</a:t>
            </a:r>
            <a:endParaRPr lang="es-CO" sz="3200" dirty="0">
              <a:latin typeface="Century Gothic" panose="020B0502020202020204" pitchFamily="34" charset="0"/>
            </a:endParaRPr>
          </a:p>
        </p:txBody>
      </p:sp>
      <p:sp>
        <p:nvSpPr>
          <p:cNvPr id="46" name="Marcador de contenido 2">
            <a:extLst>
              <a:ext uri="{FF2B5EF4-FFF2-40B4-BE49-F238E27FC236}">
                <a16:creationId xmlns:a16="http://schemas.microsoft.com/office/drawing/2014/main" id="{EEE4EBDF-CCEB-A255-101C-4F57DD78263A}"/>
              </a:ext>
            </a:extLst>
          </p:cNvPr>
          <p:cNvSpPr txBox="1">
            <a:spLocks/>
          </p:cNvSpPr>
          <p:nvPr/>
        </p:nvSpPr>
        <p:spPr>
          <a:xfrm>
            <a:off x="6096001" y="5978158"/>
            <a:ext cx="6095994" cy="81063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algn="ctr">
              <a:buFont typeface="Wingdings" panose="05000000000000000000" pitchFamily="2" charset="2"/>
              <a:buChar char="ü"/>
            </a:pPr>
            <a:r>
              <a:rPr lang="es-ES" sz="2400" dirty="0"/>
              <a:t>Enfoque adoptado en el curso</a:t>
            </a:r>
          </a:p>
        </p:txBody>
      </p:sp>
    </p:spTree>
    <p:extLst>
      <p:ext uri="{BB962C8B-B14F-4D97-AF65-F5344CB8AC3E}">
        <p14:creationId xmlns:p14="http://schemas.microsoft.com/office/powerpoint/2010/main" val="216763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47"/>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23"/>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4"/>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25"/>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26"/>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28"/>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29"/>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0"/>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2"/>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33"/>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35"/>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36"/>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38"/>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39"/>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0"/>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0" nodeType="clickEffect">
                                  <p:stCondLst>
                                    <p:cond delay="0"/>
                                  </p:stCondLst>
                                  <p:childTnLst>
                                    <p:set>
                                      <p:cBhvr>
                                        <p:cTn id="86" dur="1" fill="hold">
                                          <p:stCondLst>
                                            <p:cond delay="0"/>
                                          </p:stCondLst>
                                        </p:cTn>
                                        <p:tgtEl>
                                          <p:spTgt spid="48"/>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nodeType="clickEffect">
                                  <p:stCondLst>
                                    <p:cond delay="0"/>
                                  </p:stCondLst>
                                  <p:childTnLst>
                                    <p:set>
                                      <p:cBhvr>
                                        <p:cTn id="90"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10" grpId="0"/>
      <p:bldP spid="11" grpId="0"/>
      <p:bldP spid="12" grpId="0"/>
      <p:bldP spid="13" grpId="0"/>
      <p:bldP spid="14" grpId="0"/>
      <p:bldP spid="17" grpId="0"/>
      <p:bldP spid="18" grpId="0"/>
      <p:bldP spid="19" grpId="0"/>
      <p:bldP spid="20" grpId="0"/>
      <p:bldP spid="21" grpId="0"/>
      <p:bldP spid="22" grpId="0"/>
      <p:bldP spid="28" grpId="0"/>
      <p:bldP spid="29" grpId="0"/>
      <p:bldP spid="30" grpId="0"/>
      <p:bldP spid="31" grpId="0"/>
      <p:bldP spid="32" grpId="0"/>
      <p:bldP spid="35" grpId="0"/>
      <p:bldP spid="36" grpId="0"/>
      <p:bldP spid="38" grpId="0"/>
      <p:bldP spid="39" grpId="0"/>
      <p:bldP spid="40" grpId="0"/>
      <p:bldP spid="47" grpId="0"/>
      <p:bldP spid="48"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02D57-55E4-2556-EA4D-0407CCB4EA2C}"/>
            </a:ext>
          </a:extLst>
        </p:cNvPr>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5A18CFDB-0E93-EDDA-A6BC-BE1DCCFB53D2}"/>
              </a:ext>
            </a:extLst>
          </p:cNvPr>
          <p:cNvSpPr>
            <a:spLocks noGrp="1"/>
          </p:cNvSpPr>
          <p:nvPr>
            <p:ph idx="1"/>
          </p:nvPr>
        </p:nvSpPr>
        <p:spPr>
          <a:xfrm>
            <a:off x="581191" y="1828145"/>
            <a:ext cx="11029615" cy="777763"/>
          </a:xfrm>
        </p:spPr>
        <p:txBody>
          <a:bodyPr>
            <a:normAutofit/>
          </a:bodyPr>
          <a:lstStyle/>
          <a:p>
            <a:pPr marL="0" indent="0" algn="ctr">
              <a:buNone/>
            </a:pPr>
            <a:r>
              <a:rPr lang="es-ES" sz="2400" dirty="0"/>
              <a:t>Haciendo una comparación con el VAE, VPN y la TIR podemos concluir lo siguiente:</a:t>
            </a:r>
          </a:p>
        </p:txBody>
      </p:sp>
      <p:sp>
        <p:nvSpPr>
          <p:cNvPr id="4" name="Marcador de número de diapositiva 3">
            <a:extLst>
              <a:ext uri="{FF2B5EF4-FFF2-40B4-BE49-F238E27FC236}">
                <a16:creationId xmlns:a16="http://schemas.microsoft.com/office/drawing/2014/main" id="{A2BD1CC6-64B3-E410-F446-ED83A62D8FB4}"/>
              </a:ext>
            </a:extLst>
          </p:cNvPr>
          <p:cNvSpPr>
            <a:spLocks noGrp="1"/>
          </p:cNvSpPr>
          <p:nvPr>
            <p:ph type="sldNum" sz="quarter" idx="12"/>
          </p:nvPr>
        </p:nvSpPr>
        <p:spPr/>
        <p:txBody>
          <a:bodyPr/>
          <a:lstStyle/>
          <a:p>
            <a:fld id="{5E3E23BA-6E79-2442-BA73-D218A5E297C3}" type="slidenum">
              <a:rPr lang="en-US" smtClean="0"/>
              <a:t>24</a:t>
            </a:fld>
            <a:endParaRPr lang="en-US"/>
          </a:p>
        </p:txBody>
      </p:sp>
      <p:sp>
        <p:nvSpPr>
          <p:cNvPr id="7" name="Rectángulo 6">
            <a:extLst>
              <a:ext uri="{FF2B5EF4-FFF2-40B4-BE49-F238E27FC236}">
                <a16:creationId xmlns:a16="http://schemas.microsoft.com/office/drawing/2014/main" id="{C85D188C-23FE-B845-0AED-019C2D54A4BE}"/>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9408B1D7-E9E4-C95F-75EA-BF6533A3C2B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9" name="Rectángulo 8">
            <a:extLst>
              <a:ext uri="{FF2B5EF4-FFF2-40B4-BE49-F238E27FC236}">
                <a16:creationId xmlns:a16="http://schemas.microsoft.com/office/drawing/2014/main" id="{2C6D58F9-FAE2-27E6-0339-7A80F5FBA531}"/>
              </a:ext>
            </a:extLst>
          </p:cNvPr>
          <p:cNvSpPr/>
          <p:nvPr/>
        </p:nvSpPr>
        <p:spPr>
          <a:xfrm>
            <a:off x="8399257" y="118110"/>
            <a:ext cx="3150778" cy="261610"/>
          </a:xfrm>
          <a:prstGeom prst="rect">
            <a:avLst/>
          </a:prstGeom>
        </p:spPr>
        <p:txBody>
          <a:bodyPr wrap="square">
            <a:spAutoFit/>
          </a:bodyPr>
          <a:lstStyle/>
          <a:p>
            <a:pPr algn="r"/>
            <a:r>
              <a:rPr lang="es-CO" sz="1100" b="1" dirty="0">
                <a:solidFill>
                  <a:schemeClr val="accent2">
                    <a:lumMod val="50000"/>
                  </a:schemeClr>
                </a:solidFill>
                <a:latin typeface="Century Gothic" panose="020B0502020202020204" pitchFamily="34" charset="0"/>
                <a:sym typeface="Gill Sans Light"/>
              </a:rPr>
              <a:t>Curso</a:t>
            </a:r>
            <a:r>
              <a:rPr lang="es-CO" sz="1100" dirty="0">
                <a:solidFill>
                  <a:schemeClr val="accent2">
                    <a:lumMod val="50000"/>
                  </a:schemeClr>
                </a:solidFill>
                <a:latin typeface="Century Gothic" panose="020B0502020202020204" pitchFamily="34" charset="0"/>
                <a:sym typeface="Gill Sans Light"/>
              </a:rPr>
              <a:t> Análisis de Decisiones de Inversión</a:t>
            </a:r>
            <a:endParaRPr lang="es-CO" sz="1100" dirty="0">
              <a:solidFill>
                <a:schemeClr val="accent2">
                  <a:lumMod val="50000"/>
                </a:schemeClr>
              </a:solidFill>
              <a:latin typeface="Century Gothic" panose="020B0502020202020204" pitchFamily="34" charset="0"/>
            </a:endParaRPr>
          </a:p>
        </p:txBody>
      </p:sp>
      <p:sp>
        <p:nvSpPr>
          <p:cNvPr id="10" name="Título 1">
            <a:extLst>
              <a:ext uri="{FF2B5EF4-FFF2-40B4-BE49-F238E27FC236}">
                <a16:creationId xmlns:a16="http://schemas.microsoft.com/office/drawing/2014/main" id="{69E95B91-5845-FC52-3B0C-50FFE7CF9B71}"/>
              </a:ext>
            </a:extLst>
          </p:cNvPr>
          <p:cNvSpPr>
            <a:spLocks noGrp="1"/>
          </p:cNvSpPr>
          <p:nvPr>
            <p:ph type="title"/>
          </p:nvPr>
        </p:nvSpPr>
        <p:spPr>
          <a:xfrm>
            <a:off x="581192" y="702156"/>
            <a:ext cx="11029616" cy="1013800"/>
          </a:xfrm>
        </p:spPr>
        <p:txBody>
          <a:bodyPr>
            <a:normAutofit/>
          </a:bodyPr>
          <a:lstStyle/>
          <a:p>
            <a:r>
              <a:rPr lang="es-ES" sz="3200" dirty="0">
                <a:latin typeface="Century Gothic" panose="020B0502020202020204" pitchFamily="34" charset="0"/>
              </a:rPr>
              <a:t>b/c</a:t>
            </a:r>
            <a:endParaRPr lang="es-CO" sz="3200" dirty="0">
              <a:latin typeface="Century Gothic" panose="020B0502020202020204" pitchFamily="34" charset="0"/>
            </a:endParaRPr>
          </a:p>
        </p:txBody>
      </p:sp>
      <p:graphicFrame>
        <p:nvGraphicFramePr>
          <p:cNvPr id="12" name="Table 4">
            <a:extLst>
              <a:ext uri="{FF2B5EF4-FFF2-40B4-BE49-F238E27FC236}">
                <a16:creationId xmlns:a16="http://schemas.microsoft.com/office/drawing/2014/main" id="{765C16F3-FD38-C9DA-56A4-8B53E6D5DBFC}"/>
              </a:ext>
            </a:extLst>
          </p:cNvPr>
          <p:cNvGraphicFramePr>
            <a:graphicFrameLocks noGrp="1"/>
          </p:cNvGraphicFramePr>
          <p:nvPr/>
        </p:nvGraphicFramePr>
        <p:xfrm>
          <a:off x="695999" y="2996400"/>
          <a:ext cx="10800001" cy="2520001"/>
        </p:xfrm>
        <a:graphic>
          <a:graphicData uri="http://schemas.openxmlformats.org/drawingml/2006/table">
            <a:tbl>
              <a:tblPr firstRow="1" bandRow="1">
                <a:tableStyleId>{AF606853-7671-496A-8E4F-DF71F8EC918B}</a:tableStyleId>
              </a:tblPr>
              <a:tblGrid>
                <a:gridCol w="2160000">
                  <a:extLst>
                    <a:ext uri="{9D8B030D-6E8A-4147-A177-3AD203B41FA5}">
                      <a16:colId xmlns:a16="http://schemas.microsoft.com/office/drawing/2014/main" val="20000"/>
                    </a:ext>
                  </a:extLst>
                </a:gridCol>
                <a:gridCol w="2160000">
                  <a:extLst>
                    <a:ext uri="{9D8B030D-6E8A-4147-A177-3AD203B41FA5}">
                      <a16:colId xmlns:a16="http://schemas.microsoft.com/office/drawing/2014/main" val="20001"/>
                    </a:ext>
                  </a:extLst>
                </a:gridCol>
                <a:gridCol w="1831002">
                  <a:extLst>
                    <a:ext uri="{9D8B030D-6E8A-4147-A177-3AD203B41FA5}">
                      <a16:colId xmlns:a16="http://schemas.microsoft.com/office/drawing/2014/main" val="20002"/>
                    </a:ext>
                  </a:extLst>
                </a:gridCol>
                <a:gridCol w="2175619">
                  <a:extLst>
                    <a:ext uri="{9D8B030D-6E8A-4147-A177-3AD203B41FA5}">
                      <a16:colId xmlns:a16="http://schemas.microsoft.com/office/drawing/2014/main" val="20003"/>
                    </a:ext>
                  </a:extLst>
                </a:gridCol>
                <a:gridCol w="2473380">
                  <a:extLst>
                    <a:ext uri="{9D8B030D-6E8A-4147-A177-3AD203B41FA5}">
                      <a16:colId xmlns:a16="http://schemas.microsoft.com/office/drawing/2014/main" val="20004"/>
                    </a:ext>
                  </a:extLst>
                </a:gridCol>
              </a:tblGrid>
              <a:tr h="443278">
                <a:tc>
                  <a:txBody>
                    <a:bodyPr/>
                    <a:lstStyle/>
                    <a:p>
                      <a:pPr algn="ctr"/>
                      <a:r>
                        <a:rPr lang="es-ES_tradnl" sz="2000" noProof="0" dirty="0"/>
                        <a:t>B/C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tc>
                  <a:txBody>
                    <a:bodyPr/>
                    <a:lstStyle/>
                    <a:p>
                      <a:pPr algn="ctr"/>
                      <a:r>
                        <a:rPr lang="es-ES_tradnl" sz="2000" noProof="0" dirty="0"/>
                        <a:t>VAE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tc>
                  <a:txBody>
                    <a:bodyPr/>
                    <a:lstStyle/>
                    <a:p>
                      <a:pPr algn="ctr"/>
                      <a:r>
                        <a:rPr lang="es-ES_tradnl" sz="2000" noProof="0" dirty="0"/>
                        <a:t>VPN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tc>
                  <a:txBody>
                    <a:bodyPr/>
                    <a:lstStyle/>
                    <a:p>
                      <a:pPr algn="ctr"/>
                      <a:r>
                        <a:rPr lang="es-ES_tradnl" sz="2000" noProof="0" dirty="0"/>
                        <a:t>TIR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tc>
                  <a:txBody>
                    <a:bodyPr/>
                    <a:lstStyle/>
                    <a:p>
                      <a:pPr algn="ctr"/>
                      <a:r>
                        <a:rPr lang="es-ES_tradnl" sz="2000" noProof="0" dirty="0"/>
                        <a:t>Decisión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366658"/>
                    </a:solidFill>
                  </a:tcPr>
                </a:tc>
                <a:extLst>
                  <a:ext uri="{0D108BD9-81ED-4DB2-BD59-A6C34878D82A}">
                    <a16:rowId xmlns:a16="http://schemas.microsoft.com/office/drawing/2014/main" val="10000"/>
                  </a:ext>
                </a:extLst>
              </a:tr>
              <a:tr h="692241">
                <a:tc>
                  <a:txBody>
                    <a:bodyPr/>
                    <a:lstStyle/>
                    <a:p>
                      <a:pPr algn="ctr"/>
                      <a:r>
                        <a:rPr lang="es-ES_tradnl" sz="2000" noProof="0" dirty="0">
                          <a:solidFill>
                            <a:sysClr val="windowText" lastClr="000000"/>
                          </a:solidFill>
                        </a:rPr>
                        <a:t>B/C&lt;</a:t>
                      </a:r>
                      <a:r>
                        <a:rPr lang="es-ES_tradnl" sz="2000" baseline="0" noProof="0" dirty="0">
                          <a:solidFill>
                            <a:sysClr val="windowText" lastClr="000000"/>
                          </a:solidFill>
                        </a:rPr>
                        <a:t> 1</a:t>
                      </a:r>
                      <a:endParaRPr lang="es-ES_tradnl" sz="2000" noProof="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ES_tradnl" sz="1800" noProof="0" dirty="0">
                          <a:solidFill>
                            <a:schemeClr val="tx1"/>
                          </a:solidFill>
                        </a:rPr>
                        <a:t>VAE&lt;</a:t>
                      </a:r>
                      <a:r>
                        <a:rPr lang="es-ES_tradnl" sz="1800" baseline="0" noProof="0" dirty="0">
                          <a:solidFill>
                            <a:schemeClr val="tx1"/>
                          </a:solidFill>
                        </a:rPr>
                        <a:t> 0</a:t>
                      </a:r>
                      <a:endParaRPr lang="es-ES_tradnl" sz="1800" noProof="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ES_tradnl" sz="1800" noProof="0" dirty="0">
                          <a:solidFill>
                            <a:schemeClr val="tx1"/>
                          </a:solidFill>
                        </a:rPr>
                        <a:t>VPN&lt;</a:t>
                      </a:r>
                      <a:r>
                        <a:rPr lang="es-ES_tradnl" sz="1800" baseline="0" noProof="0" dirty="0">
                          <a:solidFill>
                            <a:schemeClr val="tx1"/>
                          </a:solidFill>
                        </a:rPr>
                        <a:t> 0</a:t>
                      </a:r>
                      <a:endParaRPr lang="es-ES_tradnl" sz="1800" noProof="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ES_tradnl" sz="1800" noProof="0" dirty="0">
                          <a:solidFill>
                            <a:schemeClr val="tx1"/>
                          </a:solidFill>
                        </a:rPr>
                        <a:t>TIR &lt;</a:t>
                      </a:r>
                      <a:r>
                        <a:rPr lang="es-ES_tradnl" sz="1800" baseline="0" noProof="0" dirty="0">
                          <a:solidFill>
                            <a:schemeClr val="tx1"/>
                          </a:solidFill>
                        </a:rPr>
                        <a:t> C.O.</a:t>
                      </a:r>
                      <a:endParaRPr lang="es-ES_tradnl" sz="1800" noProof="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ES_tradnl" sz="1800" noProof="0" dirty="0">
                          <a:solidFill>
                            <a:schemeClr val="tx1"/>
                          </a:solidFill>
                        </a:rPr>
                        <a:t>Proyecto No Conveniente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92241">
                <a:tc>
                  <a:txBody>
                    <a:bodyPr/>
                    <a:lstStyle/>
                    <a:p>
                      <a:pPr algn="ctr"/>
                      <a:r>
                        <a:rPr lang="es-ES_tradnl" sz="2000" noProof="0" dirty="0">
                          <a:solidFill>
                            <a:sysClr val="windowText" lastClr="000000"/>
                          </a:solidFill>
                        </a:rPr>
                        <a:t>B/C&gt;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a:r>
                        <a:rPr lang="es-ES_tradnl" sz="1800" noProof="0" dirty="0">
                          <a:solidFill>
                            <a:schemeClr val="tx1"/>
                          </a:solidFill>
                        </a:rPr>
                        <a:t>VAE&gt;0.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a:r>
                        <a:rPr lang="es-ES_tradnl" sz="1800" noProof="0" dirty="0">
                          <a:solidFill>
                            <a:schemeClr val="tx1"/>
                          </a:solidFill>
                        </a:rPr>
                        <a:t>VPN &gt;0.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a:r>
                        <a:rPr lang="es-ES_tradnl" sz="1800" noProof="0" dirty="0">
                          <a:solidFill>
                            <a:schemeClr val="tx1"/>
                          </a:solidFill>
                        </a:rPr>
                        <a:t>TIR &gt; 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tc>
                  <a:txBody>
                    <a:bodyPr/>
                    <a:lstStyle/>
                    <a:p>
                      <a:pPr algn="ctr"/>
                      <a:r>
                        <a:rPr lang="es-ES_tradnl" sz="1800" noProof="0" dirty="0">
                          <a:solidFill>
                            <a:schemeClr val="tx1"/>
                          </a:solidFill>
                        </a:rPr>
                        <a:t>Proyecto Conveniente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8CB64A"/>
                    </a:solidFill>
                  </a:tcPr>
                </a:tc>
                <a:extLst>
                  <a:ext uri="{0D108BD9-81ED-4DB2-BD59-A6C34878D82A}">
                    <a16:rowId xmlns:a16="http://schemas.microsoft.com/office/drawing/2014/main" val="10002"/>
                  </a:ext>
                </a:extLst>
              </a:tr>
              <a:tr h="692241">
                <a:tc>
                  <a:txBody>
                    <a:bodyPr/>
                    <a:lstStyle/>
                    <a:p>
                      <a:pPr algn="ctr"/>
                      <a:r>
                        <a:rPr lang="es-ES_tradnl" sz="2000" noProof="0" dirty="0">
                          <a:solidFill>
                            <a:sysClr val="windowText" lastClr="000000"/>
                          </a:solidFill>
                        </a:rPr>
                        <a:t>B/C=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ES_tradnl" sz="1800" noProof="0" dirty="0">
                          <a:solidFill>
                            <a:schemeClr val="tx1"/>
                          </a:solidFill>
                        </a:rPr>
                        <a:t>VAE=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ES_tradnl" sz="1800" noProof="0" dirty="0">
                          <a:solidFill>
                            <a:schemeClr val="tx1"/>
                          </a:solidFill>
                        </a:rPr>
                        <a:t>VPN =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ES_tradnl" sz="1800" noProof="0" dirty="0">
                          <a:solidFill>
                            <a:schemeClr val="tx1"/>
                          </a:solidFill>
                        </a:rPr>
                        <a:t>TIR = 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ES_tradnl" sz="1800" noProof="0" dirty="0">
                          <a:solidFill>
                            <a:schemeClr val="tx1"/>
                          </a:solidFill>
                        </a:rPr>
                        <a:t>Indiferente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5" name="CuadroTexto 4">
            <a:extLst>
              <a:ext uri="{FF2B5EF4-FFF2-40B4-BE49-F238E27FC236}">
                <a16:creationId xmlns:a16="http://schemas.microsoft.com/office/drawing/2014/main" id="{B49F81A1-CA4C-89E8-9DA7-2E633227FA44}"/>
              </a:ext>
            </a:extLst>
          </p:cNvPr>
          <p:cNvSpPr txBox="1"/>
          <p:nvPr/>
        </p:nvSpPr>
        <p:spPr>
          <a:xfrm>
            <a:off x="581190" y="5677034"/>
            <a:ext cx="11029615" cy="830997"/>
          </a:xfrm>
          <a:prstGeom prst="rect">
            <a:avLst/>
          </a:prstGeom>
          <a:noFill/>
        </p:spPr>
        <p:txBody>
          <a:bodyPr wrap="square">
            <a:spAutoFit/>
          </a:bodyPr>
          <a:lstStyle/>
          <a:p>
            <a:pPr marL="0" indent="0" algn="just">
              <a:buNone/>
            </a:pPr>
            <a:r>
              <a:rPr lang="es-ES" sz="2400" dirty="0"/>
              <a:t>Al igual que el VPN y la TIR, es necesario entender adecuadamente la relación B/C, para no hacer interpretaciones erradas. </a:t>
            </a:r>
          </a:p>
        </p:txBody>
      </p:sp>
    </p:spTree>
    <p:extLst>
      <p:ext uri="{BB962C8B-B14F-4D97-AF65-F5344CB8AC3E}">
        <p14:creationId xmlns:p14="http://schemas.microsoft.com/office/powerpoint/2010/main" val="278915231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p:cNvSpPr>
            <a:spLocks noGrp="1"/>
          </p:cNvSpPr>
          <p:nvPr>
            <p:ph idx="1"/>
          </p:nvPr>
        </p:nvSpPr>
        <p:spPr>
          <a:xfrm>
            <a:off x="581192" y="2365394"/>
            <a:ext cx="11029616" cy="2497433"/>
          </a:xfrm>
        </p:spPr>
        <p:txBody>
          <a:bodyPr>
            <a:normAutofit/>
          </a:bodyPr>
          <a:lstStyle/>
          <a:p>
            <a:pPr marL="0" indent="0" algn="ctr">
              <a:buNone/>
            </a:pPr>
            <a:r>
              <a:rPr lang="es-ES" sz="2800" dirty="0">
                <a:solidFill>
                  <a:srgbClr val="800000"/>
                </a:solidFill>
              </a:rPr>
              <a:t>¿Como interpretamos los resultados?</a:t>
            </a:r>
          </a:p>
          <a:p>
            <a:pPr marL="0" indent="0" algn="ctr">
              <a:buNone/>
            </a:pPr>
            <a:endParaRPr lang="es-ES" sz="2400" dirty="0">
              <a:solidFill>
                <a:srgbClr val="800000"/>
              </a:solidFill>
            </a:endParaRPr>
          </a:p>
          <a:p>
            <a:pPr marL="0" indent="0" algn="ctr">
              <a:buNone/>
            </a:pPr>
            <a:r>
              <a:rPr lang="es-ES" sz="2400" dirty="0"/>
              <a:t>Supongamos que la relación B/C arrojó un resultado de 2,5 </a:t>
            </a:r>
          </a:p>
        </p:txBody>
      </p:sp>
      <p:sp>
        <p:nvSpPr>
          <p:cNvPr id="4" name="Marcador de número de diapositiva 3"/>
          <p:cNvSpPr>
            <a:spLocks noGrp="1"/>
          </p:cNvSpPr>
          <p:nvPr>
            <p:ph type="sldNum" sz="quarter" idx="12"/>
          </p:nvPr>
        </p:nvSpPr>
        <p:spPr/>
        <p:txBody>
          <a:bodyPr/>
          <a:lstStyle/>
          <a:p>
            <a:fld id="{5E3E23BA-6E79-2442-BA73-D218A5E297C3}" type="slidenum">
              <a:rPr lang="en-US" smtClean="0"/>
              <a:t>25</a:t>
            </a:fld>
            <a:endParaRPr lang="en-US"/>
          </a:p>
        </p:txBody>
      </p:sp>
      <p:sp>
        <p:nvSpPr>
          <p:cNvPr id="6" name="Rectángulo 5">
            <a:extLst>
              <a:ext uri="{FF2B5EF4-FFF2-40B4-BE49-F238E27FC236}">
                <a16:creationId xmlns:a16="http://schemas.microsoft.com/office/drawing/2014/main" id="{4C5B5313-4E56-2C5B-6A43-11E3029DA55C}"/>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7" name="Picture 2" descr="Clientes y aliados | Centro de Evaluación | Uniandes">
            <a:extLst>
              <a:ext uri="{FF2B5EF4-FFF2-40B4-BE49-F238E27FC236}">
                <a16:creationId xmlns:a16="http://schemas.microsoft.com/office/drawing/2014/main" id="{8ABC8AD0-E420-97F6-1F8B-2379312CBB1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8" name="Rectángulo 7">
            <a:extLst>
              <a:ext uri="{FF2B5EF4-FFF2-40B4-BE49-F238E27FC236}">
                <a16:creationId xmlns:a16="http://schemas.microsoft.com/office/drawing/2014/main" id="{41B72F96-7EF5-E968-9308-2DA921601B34}"/>
              </a:ext>
            </a:extLst>
          </p:cNvPr>
          <p:cNvSpPr/>
          <p:nvPr/>
        </p:nvSpPr>
        <p:spPr>
          <a:xfrm>
            <a:off x="8399257" y="118110"/>
            <a:ext cx="3150778" cy="261610"/>
          </a:xfrm>
          <a:prstGeom prst="rect">
            <a:avLst/>
          </a:prstGeom>
        </p:spPr>
        <p:txBody>
          <a:bodyPr wrap="square">
            <a:spAutoFit/>
          </a:bodyPr>
          <a:lstStyle/>
          <a:p>
            <a:pPr algn="r"/>
            <a:r>
              <a:rPr lang="es-CO" sz="1100" b="1" dirty="0">
                <a:solidFill>
                  <a:schemeClr val="accent2">
                    <a:lumMod val="50000"/>
                  </a:schemeClr>
                </a:solidFill>
                <a:latin typeface="Century Gothic" panose="020B0502020202020204" pitchFamily="34" charset="0"/>
                <a:sym typeface="Gill Sans Light"/>
              </a:rPr>
              <a:t>Curso</a:t>
            </a:r>
            <a:r>
              <a:rPr lang="es-CO" sz="1100" dirty="0">
                <a:solidFill>
                  <a:schemeClr val="accent2">
                    <a:lumMod val="50000"/>
                  </a:schemeClr>
                </a:solidFill>
                <a:latin typeface="Century Gothic" panose="020B0502020202020204" pitchFamily="34" charset="0"/>
                <a:sym typeface="Gill Sans Light"/>
              </a:rPr>
              <a:t> Análisis de Decisiones de Inversión</a:t>
            </a:r>
            <a:endParaRPr lang="es-CO" sz="1100" dirty="0">
              <a:solidFill>
                <a:schemeClr val="accent2">
                  <a:lumMod val="50000"/>
                </a:schemeClr>
              </a:solidFill>
              <a:latin typeface="Century Gothic" panose="020B0502020202020204" pitchFamily="34" charset="0"/>
            </a:endParaRPr>
          </a:p>
        </p:txBody>
      </p:sp>
      <p:sp>
        <p:nvSpPr>
          <p:cNvPr id="9" name="Título 1">
            <a:extLst>
              <a:ext uri="{FF2B5EF4-FFF2-40B4-BE49-F238E27FC236}">
                <a16:creationId xmlns:a16="http://schemas.microsoft.com/office/drawing/2014/main" id="{5FE5FD68-E0A2-92AC-D539-542FD1754B0B}"/>
              </a:ext>
            </a:extLst>
          </p:cNvPr>
          <p:cNvSpPr>
            <a:spLocks noGrp="1"/>
          </p:cNvSpPr>
          <p:nvPr>
            <p:ph type="title"/>
          </p:nvPr>
        </p:nvSpPr>
        <p:spPr>
          <a:xfrm>
            <a:off x="581192" y="702156"/>
            <a:ext cx="11029616" cy="1013800"/>
          </a:xfrm>
        </p:spPr>
        <p:txBody>
          <a:bodyPr>
            <a:normAutofit/>
          </a:bodyPr>
          <a:lstStyle/>
          <a:p>
            <a:r>
              <a:rPr lang="es-ES" sz="3200" dirty="0">
                <a:latin typeface="Century Gothic" panose="020B0502020202020204" pitchFamily="34" charset="0"/>
              </a:rPr>
              <a:t>b/c</a:t>
            </a:r>
            <a:endParaRPr lang="es-CO" sz="3200" dirty="0">
              <a:latin typeface="Century Gothic" panose="020B0502020202020204" pitchFamily="34" charset="0"/>
            </a:endParaRPr>
          </a:p>
        </p:txBody>
      </p:sp>
    </p:spTree>
    <p:extLst>
      <p:ext uri="{BB962C8B-B14F-4D97-AF65-F5344CB8AC3E}">
        <p14:creationId xmlns:p14="http://schemas.microsoft.com/office/powerpoint/2010/main" val="26712732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Marcador de contenido 2"/>
              <p:cNvSpPr>
                <a:spLocks noGrp="1"/>
              </p:cNvSpPr>
              <p:nvPr>
                <p:ph idx="1"/>
              </p:nvPr>
            </p:nvSpPr>
            <p:spPr>
              <a:xfrm>
                <a:off x="2028621" y="3035698"/>
                <a:ext cx="8134758" cy="737184"/>
              </a:xfrm>
            </p:spPr>
            <p:txBody>
              <a:bodyPr>
                <a:noAutofit/>
              </a:bodyPr>
              <a:lstStyle/>
              <a:p>
                <a:pPr marL="0" indent="0">
                  <a:buNone/>
                </a:pPr>
                <a14:m>
                  <m:oMathPara xmlns:m="http://schemas.openxmlformats.org/officeDocument/2006/math">
                    <m:oMathParaPr>
                      <m:jc m:val="centerGroup"/>
                    </m:oMathParaPr>
                    <m:oMath xmlns:m="http://schemas.openxmlformats.org/officeDocument/2006/math">
                      <m:r>
                        <m:rPr>
                          <m:nor/>
                        </m:rPr>
                        <a:rPr lang="es-ES" sz="2400" dirty="0" smtClean="0"/>
                        <m:t>Al</m:t>
                      </m:r>
                      <m:r>
                        <m:rPr>
                          <m:nor/>
                        </m:rPr>
                        <a:rPr lang="es-ES" sz="2400" dirty="0" smtClean="0"/>
                        <m:t> </m:t>
                      </m:r>
                      <m:r>
                        <m:rPr>
                          <m:nor/>
                        </m:rPr>
                        <a:rPr lang="es-ES" sz="2400" dirty="0" smtClean="0"/>
                        <m:t>multiplicar</m:t>
                      </m:r>
                      <m:r>
                        <m:rPr>
                          <m:nor/>
                        </m:rPr>
                        <a:rPr lang="es-ES" sz="2400" dirty="0" smtClean="0"/>
                        <m:t> </m:t>
                      </m:r>
                      <m:r>
                        <m:rPr>
                          <m:nor/>
                        </m:rPr>
                        <a:rPr lang="es-ES" sz="2400" dirty="0" smtClean="0"/>
                        <m:t>a</m:t>
                      </m:r>
                      <m:r>
                        <m:rPr>
                          <m:nor/>
                        </m:rPr>
                        <a:rPr lang="es-ES" sz="2400" dirty="0" smtClean="0"/>
                        <m:t> </m:t>
                      </m:r>
                      <m:r>
                        <m:rPr>
                          <m:nor/>
                        </m:rPr>
                        <a:rPr lang="es-ES" sz="2400" dirty="0" smtClean="0"/>
                        <m:t>ambos</m:t>
                      </m:r>
                      <m:r>
                        <m:rPr>
                          <m:nor/>
                        </m:rPr>
                        <a:rPr lang="es-ES" sz="2400" dirty="0" smtClean="0"/>
                        <m:t> </m:t>
                      </m:r>
                      <m:r>
                        <m:rPr>
                          <m:nor/>
                        </m:rPr>
                        <a:rPr lang="es-ES" sz="2400" dirty="0" smtClean="0"/>
                        <m:t>lados</m:t>
                      </m:r>
                      <m:r>
                        <m:rPr>
                          <m:nor/>
                        </m:rPr>
                        <a:rPr lang="es-ES" sz="2400" dirty="0" smtClean="0"/>
                        <m:t> </m:t>
                      </m:r>
                      <m:r>
                        <m:rPr>
                          <m:nor/>
                        </m:rPr>
                        <a:rPr lang="es-ES" sz="2400" dirty="0" smtClean="0"/>
                        <m:t>de</m:t>
                      </m:r>
                      <m:r>
                        <m:rPr>
                          <m:nor/>
                        </m:rPr>
                        <a:rPr lang="es-ES" sz="2400" dirty="0" smtClean="0"/>
                        <m:t> </m:t>
                      </m:r>
                      <m:r>
                        <m:rPr>
                          <m:nor/>
                        </m:rPr>
                        <a:rPr lang="es-ES" sz="2400" dirty="0" smtClean="0"/>
                        <m:t>la</m:t>
                      </m:r>
                      <m:r>
                        <m:rPr>
                          <m:nor/>
                        </m:rPr>
                        <a:rPr lang="es-ES" sz="2400" dirty="0" smtClean="0"/>
                        <m:t> </m:t>
                      </m:r>
                      <m:r>
                        <m:rPr>
                          <m:nor/>
                        </m:rPr>
                        <a:rPr lang="es-ES" sz="2400" dirty="0" smtClean="0"/>
                        <m:t>ecuaci</m:t>
                      </m:r>
                      <m:r>
                        <m:rPr>
                          <m:nor/>
                        </m:rPr>
                        <a:rPr lang="es-ES" sz="2400" dirty="0" smtClean="0"/>
                        <m:t>ó</m:t>
                      </m:r>
                      <m:r>
                        <m:rPr>
                          <m:nor/>
                        </m:rPr>
                        <a:rPr lang="es-ES" sz="2400" dirty="0" smtClean="0"/>
                        <m:t>n</m:t>
                      </m:r>
                      <m:r>
                        <m:rPr>
                          <m:nor/>
                        </m:rPr>
                        <a:rPr lang="es-ES" sz="2400" dirty="0" smtClean="0"/>
                        <m:t> </m:t>
                      </m:r>
                      <m:r>
                        <m:rPr>
                          <m:nor/>
                        </m:rPr>
                        <a:rPr lang="es-ES" sz="2400" dirty="0" smtClean="0"/>
                        <m:t>por</m:t>
                      </m:r>
                      <m:r>
                        <a:rPr lang="es-ES" sz="2400" b="0" i="1" dirty="0" smtClean="0">
                          <a:latin typeface="Cambria Math" panose="02040503050406030204" pitchFamily="18" charset="0"/>
                        </a:rPr>
                        <m:t> </m:t>
                      </m:r>
                      <m:f>
                        <m:fPr>
                          <m:ctrlPr>
                            <a:rPr lang="es-ES" sz="2400" b="0" i="1" smtClean="0">
                              <a:latin typeface="Cambria Math" panose="02040503050406030204" pitchFamily="18" charset="0"/>
                            </a:rPr>
                          </m:ctrlPr>
                        </m:fPr>
                        <m:num>
                          <m:r>
                            <a:rPr lang="es-ES" sz="2400" b="0" i="1" smtClean="0">
                              <a:latin typeface="Cambria Math" panose="02040503050406030204" pitchFamily="18" charset="0"/>
                            </a:rPr>
                            <m:t>1</m:t>
                          </m:r>
                        </m:num>
                        <m:den>
                          <m:r>
                            <a:rPr lang="es-ES" sz="2400" b="0" i="1" smtClean="0">
                              <a:latin typeface="Cambria Math" panose="02040503050406030204" pitchFamily="18" charset="0"/>
                            </a:rPr>
                            <m:t>𝑉</m:t>
                          </m:r>
                          <m:sSub>
                            <m:sSubPr>
                              <m:ctrlPr>
                                <a:rPr lang="es-ES" sz="2400" b="0" i="1" smtClean="0">
                                  <a:latin typeface="Cambria Math" panose="02040503050406030204" pitchFamily="18" charset="0"/>
                                </a:rPr>
                              </m:ctrlPr>
                            </m:sSubPr>
                            <m:e>
                              <m:r>
                                <a:rPr lang="es-ES" sz="2400" b="0" i="1" smtClean="0">
                                  <a:latin typeface="Cambria Math" panose="02040503050406030204" pitchFamily="18" charset="0"/>
                                </a:rPr>
                                <m:t>𝑃</m:t>
                              </m:r>
                            </m:e>
                            <m:sub>
                              <m:r>
                                <a:rPr lang="es-ES" sz="2400" b="0" i="1" smtClean="0">
                                  <a:latin typeface="Cambria Math" panose="02040503050406030204" pitchFamily="18" charset="0"/>
                                </a:rPr>
                                <m:t>𝐹𝑙𝑢𝑗𝑜𝑠</m:t>
                              </m:r>
                              <m:r>
                                <a:rPr lang="es-ES" sz="2400" b="0" i="1" smtClean="0">
                                  <a:latin typeface="Cambria Math" panose="02040503050406030204" pitchFamily="18" charset="0"/>
                                </a:rPr>
                                <m:t>−</m:t>
                              </m:r>
                            </m:sub>
                          </m:sSub>
                        </m:den>
                      </m:f>
                    </m:oMath>
                  </m:oMathPara>
                </a14:m>
                <a:endParaRPr lang="es-ES" dirty="0"/>
              </a:p>
            </p:txBody>
          </p:sp>
        </mc:Choice>
        <mc:Fallback xmlns="">
          <p:sp>
            <p:nvSpPr>
              <p:cNvPr id="3" name="Marcador de contenido 2"/>
              <p:cNvSpPr>
                <a:spLocks noGrp="1" noRot="1" noChangeAspect="1" noMove="1" noResize="1" noEditPoints="1" noAdjustHandles="1" noChangeArrowheads="1" noChangeShapeType="1" noTextEdit="1"/>
              </p:cNvSpPr>
              <p:nvPr>
                <p:ph idx="1"/>
              </p:nvPr>
            </p:nvSpPr>
            <p:spPr>
              <a:xfrm>
                <a:off x="2028621" y="3035698"/>
                <a:ext cx="8134758" cy="737184"/>
              </a:xfrm>
              <a:blipFill>
                <a:blip r:embed="rId2"/>
                <a:stretch>
                  <a:fillRect t="-3306"/>
                </a:stretch>
              </a:blipFill>
            </p:spPr>
            <p:txBody>
              <a:bodyPr/>
              <a:lstStyle/>
              <a:p>
                <a:r>
                  <a:rPr lang="es-CO">
                    <a:noFill/>
                  </a:rPr>
                  <a:t> </a:t>
                </a:r>
              </a:p>
            </p:txBody>
          </p:sp>
        </mc:Fallback>
      </mc:AlternateContent>
      <p:sp>
        <p:nvSpPr>
          <p:cNvPr id="4" name="Marcador de número de diapositiva 3"/>
          <p:cNvSpPr>
            <a:spLocks noGrp="1"/>
          </p:cNvSpPr>
          <p:nvPr>
            <p:ph type="sldNum" sz="quarter" idx="12"/>
          </p:nvPr>
        </p:nvSpPr>
        <p:spPr/>
        <p:txBody>
          <a:bodyPr/>
          <a:lstStyle/>
          <a:p>
            <a:fld id="{5E3E23BA-6E79-2442-BA73-D218A5E297C3}" type="slidenum">
              <a:rPr lang="en-US" smtClean="0"/>
              <a:t>26</a:t>
            </a:fld>
            <a:endParaRPr lang="en-US"/>
          </a:p>
        </p:txBody>
      </p:sp>
      <p:sp>
        <p:nvSpPr>
          <p:cNvPr id="5" name="Rectángulo 4">
            <a:extLst>
              <a:ext uri="{FF2B5EF4-FFF2-40B4-BE49-F238E27FC236}">
                <a16:creationId xmlns:a16="http://schemas.microsoft.com/office/drawing/2014/main" id="{C29EDDF1-E6AE-5963-F9CE-A565834EAACE}"/>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7" name="Picture 2" descr="Clientes y aliados | Centro de Evaluación | Uniandes">
            <a:extLst>
              <a:ext uri="{FF2B5EF4-FFF2-40B4-BE49-F238E27FC236}">
                <a16:creationId xmlns:a16="http://schemas.microsoft.com/office/drawing/2014/main" id="{F8676BF9-E3BD-1BFD-3DEB-E14EAC4E995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11" name="Rectángulo 10">
            <a:extLst>
              <a:ext uri="{FF2B5EF4-FFF2-40B4-BE49-F238E27FC236}">
                <a16:creationId xmlns:a16="http://schemas.microsoft.com/office/drawing/2014/main" id="{879A36B8-898D-0A0E-1F1D-B5E92CF0E27B}"/>
              </a:ext>
            </a:extLst>
          </p:cNvPr>
          <p:cNvSpPr/>
          <p:nvPr/>
        </p:nvSpPr>
        <p:spPr>
          <a:xfrm>
            <a:off x="8399257" y="118110"/>
            <a:ext cx="3150778" cy="261610"/>
          </a:xfrm>
          <a:prstGeom prst="rect">
            <a:avLst/>
          </a:prstGeom>
        </p:spPr>
        <p:txBody>
          <a:bodyPr wrap="square">
            <a:spAutoFit/>
          </a:bodyPr>
          <a:lstStyle/>
          <a:p>
            <a:pPr algn="r"/>
            <a:r>
              <a:rPr lang="es-CO" sz="1100" b="1" dirty="0">
                <a:solidFill>
                  <a:schemeClr val="accent2">
                    <a:lumMod val="50000"/>
                  </a:schemeClr>
                </a:solidFill>
                <a:latin typeface="Century Gothic" panose="020B0502020202020204" pitchFamily="34" charset="0"/>
                <a:sym typeface="Gill Sans Light"/>
              </a:rPr>
              <a:t>Curso</a:t>
            </a:r>
            <a:r>
              <a:rPr lang="es-CO" sz="1100" dirty="0">
                <a:solidFill>
                  <a:schemeClr val="accent2">
                    <a:lumMod val="50000"/>
                  </a:schemeClr>
                </a:solidFill>
                <a:latin typeface="Century Gothic" panose="020B0502020202020204" pitchFamily="34" charset="0"/>
                <a:sym typeface="Gill Sans Light"/>
              </a:rPr>
              <a:t> Análisis de Decisiones de Inversión</a:t>
            </a:r>
            <a:endParaRPr lang="es-CO" sz="1100" dirty="0">
              <a:solidFill>
                <a:schemeClr val="accent2">
                  <a:lumMod val="50000"/>
                </a:schemeClr>
              </a:solidFill>
              <a:latin typeface="Century Gothic" panose="020B0502020202020204" pitchFamily="34" charset="0"/>
            </a:endParaRPr>
          </a:p>
        </p:txBody>
      </p:sp>
      <p:sp>
        <p:nvSpPr>
          <p:cNvPr id="12" name="Título 1">
            <a:extLst>
              <a:ext uri="{FF2B5EF4-FFF2-40B4-BE49-F238E27FC236}">
                <a16:creationId xmlns:a16="http://schemas.microsoft.com/office/drawing/2014/main" id="{C37E0C5C-925E-F094-7D63-FC5187B7EA94}"/>
              </a:ext>
            </a:extLst>
          </p:cNvPr>
          <p:cNvSpPr>
            <a:spLocks noGrp="1"/>
          </p:cNvSpPr>
          <p:nvPr>
            <p:ph type="title"/>
          </p:nvPr>
        </p:nvSpPr>
        <p:spPr>
          <a:xfrm>
            <a:off x="581192" y="702156"/>
            <a:ext cx="11029616" cy="1013800"/>
          </a:xfrm>
        </p:spPr>
        <p:txBody>
          <a:bodyPr>
            <a:normAutofit/>
          </a:bodyPr>
          <a:lstStyle/>
          <a:p>
            <a:r>
              <a:rPr lang="es-ES" sz="3200" dirty="0">
                <a:latin typeface="Century Gothic" panose="020B0502020202020204" pitchFamily="34" charset="0"/>
              </a:rPr>
              <a:t>b/c</a:t>
            </a:r>
            <a:endParaRPr lang="es-CO" sz="3200" dirty="0">
              <a:latin typeface="Century Gothic" panose="020B0502020202020204" pitchFamily="34" charset="0"/>
            </a:endParaRPr>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0DE36FAD-8BD6-620A-9537-697103E74EF4}"/>
                  </a:ext>
                </a:extLst>
              </p:cNvPr>
              <p:cNvSpPr txBox="1"/>
              <p:nvPr/>
            </p:nvSpPr>
            <p:spPr>
              <a:xfrm>
                <a:off x="581192" y="2070936"/>
                <a:ext cx="11029616" cy="60644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s-ES" sz="3600" b="0" i="1" smtClean="0">
                          <a:latin typeface="Cambria Math" panose="02040503050406030204" pitchFamily="18" charset="0"/>
                          <a:ea typeface="Cambria Math" panose="02040503050406030204" pitchFamily="18" charset="0"/>
                        </a:rPr>
                        <m:t>𝑉𝑃𝑁</m:t>
                      </m:r>
                      <m:r>
                        <a:rPr lang="es-ES" sz="3600" b="0" i="1" smtClean="0">
                          <a:latin typeface="Cambria Math" panose="02040503050406030204" pitchFamily="18" charset="0"/>
                          <a:ea typeface="Cambria Math" panose="02040503050406030204" pitchFamily="18" charset="0"/>
                        </a:rPr>
                        <m:t>=</m:t>
                      </m:r>
                      <m:r>
                        <m:rPr>
                          <m:nor/>
                        </m:rPr>
                        <a:rPr lang="es-ES" sz="3600" b="0" i="0" smtClean="0">
                          <a:latin typeface="Cambria Math" panose="02040503050406030204" pitchFamily="18" charset="0"/>
                          <a:ea typeface="Cambria Math" panose="02040503050406030204" pitchFamily="18" charset="0"/>
                        </a:rPr>
                        <m:t>"</m:t>
                      </m:r>
                      <m:r>
                        <m:rPr>
                          <m:nor/>
                        </m:rPr>
                        <a:rPr lang="es-ES" sz="3600" b="0" i="0" smtClean="0">
                          <a:latin typeface="Cambria Math" panose="02040503050406030204" pitchFamily="18" charset="0"/>
                          <a:ea typeface="Cambria Math" panose="02040503050406030204" pitchFamily="18" charset="0"/>
                        </a:rPr>
                        <m:t>Spread</m:t>
                      </m:r>
                      <m:r>
                        <m:rPr>
                          <m:nor/>
                        </m:rPr>
                        <a:rPr lang="es-ES" sz="3600" b="0" i="0" smtClean="0">
                          <a:latin typeface="Cambria Math" panose="02040503050406030204" pitchFamily="18" charset="0"/>
                          <a:ea typeface="Cambria Math" panose="02040503050406030204" pitchFamily="18" charset="0"/>
                        </a:rPr>
                        <m:t>"</m:t>
                      </m:r>
                      <m:r>
                        <a:rPr lang="es-ES" sz="3600" b="0" i="1" smtClean="0">
                          <a:latin typeface="Cambria Math" panose="02040503050406030204" pitchFamily="18" charset="0"/>
                          <a:ea typeface="Cambria Math" panose="02040503050406030204" pitchFamily="18" charset="0"/>
                        </a:rPr>
                        <m:t>=</m:t>
                      </m:r>
                      <m:r>
                        <a:rPr lang="es-ES" sz="3600" b="0" i="1" smtClean="0">
                          <a:latin typeface="Cambria Math" panose="02040503050406030204" pitchFamily="18" charset="0"/>
                          <a:ea typeface="Cambria Math" panose="02040503050406030204" pitchFamily="18" charset="0"/>
                        </a:rPr>
                        <m:t>𝑉</m:t>
                      </m:r>
                      <m:sSub>
                        <m:sSubPr>
                          <m:ctrlPr>
                            <a:rPr lang="es-ES" sz="3600" b="0" i="1" smtClean="0">
                              <a:latin typeface="Cambria Math" panose="02040503050406030204" pitchFamily="18" charset="0"/>
                              <a:ea typeface="Cambria Math" panose="02040503050406030204" pitchFamily="18" charset="0"/>
                            </a:rPr>
                          </m:ctrlPr>
                        </m:sSubPr>
                        <m:e>
                          <m:r>
                            <a:rPr lang="es-ES" sz="3600" b="0" i="1" smtClean="0">
                              <a:latin typeface="Cambria Math" panose="02040503050406030204" pitchFamily="18" charset="0"/>
                              <a:ea typeface="Cambria Math" panose="02040503050406030204" pitchFamily="18" charset="0"/>
                            </a:rPr>
                            <m:t>𝑃</m:t>
                          </m:r>
                        </m:e>
                        <m:sub>
                          <m:r>
                            <a:rPr lang="es-ES" sz="3600" b="0" i="1" smtClean="0">
                              <a:latin typeface="Cambria Math" panose="02040503050406030204" pitchFamily="18" charset="0"/>
                              <a:ea typeface="Cambria Math" panose="02040503050406030204" pitchFamily="18" charset="0"/>
                            </a:rPr>
                            <m:t>𝐹𝑙𝑢𝑗𝑜𝑠</m:t>
                          </m:r>
                          <m:r>
                            <a:rPr lang="es-ES" sz="3600" b="0" i="1" smtClean="0">
                              <a:latin typeface="Cambria Math" panose="02040503050406030204" pitchFamily="18" charset="0"/>
                              <a:ea typeface="Cambria Math" panose="02040503050406030204" pitchFamily="18" charset="0"/>
                            </a:rPr>
                            <m:t>+</m:t>
                          </m:r>
                        </m:sub>
                      </m:sSub>
                      <m:r>
                        <a:rPr lang="es-ES" sz="3600" b="0" i="0" smtClean="0">
                          <a:latin typeface="Cambria Math" panose="02040503050406030204" pitchFamily="18" charset="0"/>
                          <a:ea typeface="Cambria Math" panose="02040503050406030204" pitchFamily="18" charset="0"/>
                        </a:rPr>
                        <m:t>−</m:t>
                      </m:r>
                      <m:sSub>
                        <m:sSubPr>
                          <m:ctrlPr>
                            <a:rPr lang="es-ES" sz="3600" b="0" i="1" smtClean="0">
                              <a:latin typeface="Cambria Math" panose="02040503050406030204" pitchFamily="18" charset="0"/>
                              <a:ea typeface="Cambria Math" panose="02040503050406030204" pitchFamily="18" charset="0"/>
                            </a:rPr>
                          </m:ctrlPr>
                        </m:sSubPr>
                        <m:e>
                          <m:r>
                            <m:rPr>
                              <m:sty m:val="p"/>
                            </m:rPr>
                            <a:rPr lang="es-ES" sz="3600" b="0" i="0" smtClean="0">
                              <a:latin typeface="Cambria Math" panose="02040503050406030204" pitchFamily="18" charset="0"/>
                              <a:ea typeface="Cambria Math" panose="02040503050406030204" pitchFamily="18" charset="0"/>
                            </a:rPr>
                            <m:t>VP</m:t>
                          </m:r>
                        </m:e>
                        <m:sub>
                          <m:r>
                            <a:rPr lang="es-ES" sz="3600" b="0" i="1" smtClean="0">
                              <a:latin typeface="Cambria Math" panose="02040503050406030204" pitchFamily="18" charset="0"/>
                              <a:ea typeface="Cambria Math" panose="02040503050406030204" pitchFamily="18" charset="0"/>
                            </a:rPr>
                            <m:t>𝐹𝑙𝑢𝑗𝑜𝑠</m:t>
                          </m:r>
                          <m:r>
                            <a:rPr lang="es-ES" sz="3600" b="0" i="1" smtClean="0">
                              <a:latin typeface="Cambria Math" panose="02040503050406030204" pitchFamily="18" charset="0"/>
                              <a:ea typeface="Cambria Math" panose="02040503050406030204" pitchFamily="18" charset="0"/>
                            </a:rPr>
                            <m:t>−</m:t>
                          </m:r>
                        </m:sub>
                      </m:sSub>
                    </m:oMath>
                  </m:oMathPara>
                </a14:m>
                <a:endParaRPr lang="es-CO" sz="3600" dirty="0">
                  <a:latin typeface="Cambria Math" panose="02040503050406030204" pitchFamily="18" charset="0"/>
                  <a:ea typeface="Cambria Math" panose="02040503050406030204" pitchFamily="18" charset="0"/>
                </a:endParaRPr>
              </a:p>
            </p:txBody>
          </p:sp>
        </mc:Choice>
        <mc:Fallback xmlns="">
          <p:sp>
            <p:nvSpPr>
              <p:cNvPr id="2" name="CuadroTexto 1">
                <a:extLst>
                  <a:ext uri="{FF2B5EF4-FFF2-40B4-BE49-F238E27FC236}">
                    <a16:creationId xmlns:a16="http://schemas.microsoft.com/office/drawing/2014/main" id="{0DE36FAD-8BD6-620A-9537-697103E74EF4}"/>
                  </a:ext>
                </a:extLst>
              </p:cNvPr>
              <p:cNvSpPr txBox="1">
                <a:spLocks noRot="1" noChangeAspect="1" noMove="1" noResize="1" noEditPoints="1" noAdjustHandles="1" noChangeArrowheads="1" noChangeShapeType="1" noTextEdit="1"/>
              </p:cNvSpPr>
              <p:nvPr/>
            </p:nvSpPr>
            <p:spPr>
              <a:xfrm>
                <a:off x="581192" y="2070936"/>
                <a:ext cx="11029616" cy="606448"/>
              </a:xfrm>
              <a:prstGeom prst="rect">
                <a:avLst/>
              </a:prstGeom>
              <a:blipFill>
                <a:blip r:embed="rId4"/>
                <a:stretch>
                  <a:fillRect/>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id="{6AC1E631-D29C-59D1-3369-228D470A9C89}"/>
                  </a:ext>
                </a:extLst>
              </p:cNvPr>
              <p:cNvSpPr txBox="1"/>
              <p:nvPr/>
            </p:nvSpPr>
            <p:spPr>
              <a:xfrm>
                <a:off x="2923368" y="3892774"/>
                <a:ext cx="6345263" cy="107503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s-ES" sz="3200" b="0" i="1" smtClean="0">
                              <a:latin typeface="Cambria Math" panose="02040503050406030204" pitchFamily="18" charset="0"/>
                            </a:rPr>
                          </m:ctrlPr>
                        </m:fPr>
                        <m:num>
                          <m:r>
                            <a:rPr lang="es-ES" sz="3200" b="0" i="1" smtClean="0">
                              <a:latin typeface="Cambria Math" panose="02040503050406030204" pitchFamily="18" charset="0"/>
                            </a:rPr>
                            <m:t>"</m:t>
                          </m:r>
                          <m:r>
                            <a:rPr lang="es-ES" sz="3200" b="0" i="1" smtClean="0">
                              <a:latin typeface="Cambria Math" panose="02040503050406030204" pitchFamily="18" charset="0"/>
                            </a:rPr>
                            <m:t>𝑆𝑝𝑟𝑒𝑎𝑑</m:t>
                          </m:r>
                          <m:r>
                            <a:rPr lang="es-ES" sz="3200" b="0" i="1" smtClean="0">
                              <a:latin typeface="Cambria Math" panose="02040503050406030204" pitchFamily="18" charset="0"/>
                            </a:rPr>
                            <m:t>"</m:t>
                          </m:r>
                        </m:num>
                        <m:den>
                          <m:r>
                            <a:rPr lang="es-ES" sz="3200" b="0" i="1" smtClean="0">
                              <a:latin typeface="Cambria Math" panose="02040503050406030204" pitchFamily="18" charset="0"/>
                            </a:rPr>
                            <m:t>𝑉</m:t>
                          </m:r>
                          <m:sSub>
                            <m:sSubPr>
                              <m:ctrlPr>
                                <a:rPr lang="es-ES" sz="3200" b="0" i="1" smtClean="0">
                                  <a:latin typeface="Cambria Math" panose="02040503050406030204" pitchFamily="18" charset="0"/>
                                </a:rPr>
                              </m:ctrlPr>
                            </m:sSubPr>
                            <m:e>
                              <m:r>
                                <a:rPr lang="es-ES" sz="3200" b="0" i="1" smtClean="0">
                                  <a:latin typeface="Cambria Math" panose="02040503050406030204" pitchFamily="18" charset="0"/>
                                </a:rPr>
                                <m:t>𝑃</m:t>
                              </m:r>
                            </m:e>
                            <m:sub>
                              <m:r>
                                <a:rPr lang="es-ES" sz="3200" b="0" i="1" smtClean="0">
                                  <a:latin typeface="Cambria Math" panose="02040503050406030204" pitchFamily="18" charset="0"/>
                                </a:rPr>
                                <m:t>𝐹𝑙𝑢𝑗𝑜𝑠</m:t>
                              </m:r>
                              <m:r>
                                <a:rPr lang="es-ES" sz="3200" b="0" i="1" smtClean="0">
                                  <a:latin typeface="Cambria Math" panose="02040503050406030204" pitchFamily="18" charset="0"/>
                                </a:rPr>
                                <m:t> −</m:t>
                              </m:r>
                            </m:sub>
                          </m:sSub>
                        </m:den>
                      </m:f>
                      <m:r>
                        <a:rPr lang="es-ES" sz="3200" b="0" i="1" smtClean="0">
                          <a:latin typeface="Cambria Math" panose="02040503050406030204" pitchFamily="18" charset="0"/>
                        </a:rPr>
                        <m:t>=</m:t>
                      </m:r>
                      <m:f>
                        <m:fPr>
                          <m:ctrlPr>
                            <a:rPr lang="es-ES" sz="3200" b="0" i="1" smtClean="0">
                              <a:latin typeface="Cambria Math" panose="02040503050406030204" pitchFamily="18" charset="0"/>
                            </a:rPr>
                          </m:ctrlPr>
                        </m:fPr>
                        <m:num>
                          <m:r>
                            <a:rPr lang="es-ES" sz="3200" i="1">
                              <a:latin typeface="Cambria Math" panose="02040503050406030204" pitchFamily="18" charset="0"/>
                            </a:rPr>
                            <m:t>𝑉</m:t>
                          </m:r>
                          <m:sSub>
                            <m:sSubPr>
                              <m:ctrlPr>
                                <a:rPr lang="es-ES" sz="3200" i="1">
                                  <a:latin typeface="Cambria Math" panose="02040503050406030204" pitchFamily="18" charset="0"/>
                                </a:rPr>
                              </m:ctrlPr>
                            </m:sSubPr>
                            <m:e>
                              <m:r>
                                <a:rPr lang="es-ES" sz="3200" i="1">
                                  <a:latin typeface="Cambria Math" panose="02040503050406030204" pitchFamily="18" charset="0"/>
                                </a:rPr>
                                <m:t>𝑃</m:t>
                              </m:r>
                            </m:e>
                            <m:sub>
                              <m:r>
                                <a:rPr lang="es-ES" sz="3200" i="1">
                                  <a:latin typeface="Cambria Math" panose="02040503050406030204" pitchFamily="18" charset="0"/>
                                </a:rPr>
                                <m:t>𝐹𝑙𝑢𝑗𝑜𝑠</m:t>
                              </m:r>
                              <m:r>
                                <a:rPr lang="es-ES" sz="3200" b="0" i="1" smtClean="0">
                                  <a:latin typeface="Cambria Math" panose="02040503050406030204" pitchFamily="18" charset="0"/>
                                </a:rPr>
                                <m:t>+</m:t>
                              </m:r>
                            </m:sub>
                          </m:sSub>
                        </m:num>
                        <m:den>
                          <m:r>
                            <a:rPr lang="es-ES" sz="3200" i="1">
                              <a:latin typeface="Cambria Math" panose="02040503050406030204" pitchFamily="18" charset="0"/>
                            </a:rPr>
                            <m:t>𝑉</m:t>
                          </m:r>
                          <m:sSub>
                            <m:sSubPr>
                              <m:ctrlPr>
                                <a:rPr lang="es-ES" sz="3200" i="1">
                                  <a:latin typeface="Cambria Math" panose="02040503050406030204" pitchFamily="18" charset="0"/>
                                </a:rPr>
                              </m:ctrlPr>
                            </m:sSubPr>
                            <m:e>
                              <m:r>
                                <a:rPr lang="es-ES" sz="3200" i="1">
                                  <a:latin typeface="Cambria Math" panose="02040503050406030204" pitchFamily="18" charset="0"/>
                                </a:rPr>
                                <m:t>𝑃</m:t>
                              </m:r>
                            </m:e>
                            <m:sub>
                              <m:r>
                                <a:rPr lang="es-ES" sz="3200" i="1">
                                  <a:latin typeface="Cambria Math" panose="02040503050406030204" pitchFamily="18" charset="0"/>
                                </a:rPr>
                                <m:t>𝐹𝑙𝑢𝑗𝑜𝑠</m:t>
                              </m:r>
                              <m:r>
                                <a:rPr lang="es-ES" sz="3200" i="1">
                                  <a:latin typeface="Cambria Math" panose="02040503050406030204" pitchFamily="18" charset="0"/>
                                </a:rPr>
                                <m:t> −</m:t>
                              </m:r>
                            </m:sub>
                          </m:sSub>
                        </m:den>
                      </m:f>
                      <m:r>
                        <a:rPr lang="es-ES" sz="3200" b="0" i="1" smtClean="0">
                          <a:latin typeface="Cambria Math" panose="02040503050406030204" pitchFamily="18" charset="0"/>
                        </a:rPr>
                        <m:t>−</m:t>
                      </m:r>
                      <m:f>
                        <m:fPr>
                          <m:ctrlPr>
                            <a:rPr lang="es-ES" sz="3200" b="0" i="1" smtClean="0">
                              <a:latin typeface="Cambria Math" panose="02040503050406030204" pitchFamily="18" charset="0"/>
                            </a:rPr>
                          </m:ctrlPr>
                        </m:fPr>
                        <m:num>
                          <m:r>
                            <a:rPr lang="es-ES" sz="3200" i="1">
                              <a:latin typeface="Cambria Math" panose="02040503050406030204" pitchFamily="18" charset="0"/>
                            </a:rPr>
                            <m:t>𝑉</m:t>
                          </m:r>
                          <m:sSub>
                            <m:sSubPr>
                              <m:ctrlPr>
                                <a:rPr lang="es-ES" sz="3200" i="1">
                                  <a:latin typeface="Cambria Math" panose="02040503050406030204" pitchFamily="18" charset="0"/>
                                </a:rPr>
                              </m:ctrlPr>
                            </m:sSubPr>
                            <m:e>
                              <m:r>
                                <a:rPr lang="es-ES" sz="3200" i="1">
                                  <a:latin typeface="Cambria Math" panose="02040503050406030204" pitchFamily="18" charset="0"/>
                                </a:rPr>
                                <m:t>𝑃</m:t>
                              </m:r>
                            </m:e>
                            <m:sub>
                              <m:r>
                                <a:rPr lang="es-ES" sz="3200" i="1">
                                  <a:latin typeface="Cambria Math" panose="02040503050406030204" pitchFamily="18" charset="0"/>
                                </a:rPr>
                                <m:t>𝐹𝑙𝑢𝑗𝑜𝑠</m:t>
                              </m:r>
                              <m:r>
                                <a:rPr lang="es-ES" sz="3200" i="1">
                                  <a:latin typeface="Cambria Math" panose="02040503050406030204" pitchFamily="18" charset="0"/>
                                </a:rPr>
                                <m:t> −</m:t>
                              </m:r>
                            </m:sub>
                          </m:sSub>
                        </m:num>
                        <m:den>
                          <m:r>
                            <a:rPr lang="es-ES" sz="3200" i="1">
                              <a:latin typeface="Cambria Math" panose="02040503050406030204" pitchFamily="18" charset="0"/>
                            </a:rPr>
                            <m:t>𝑉</m:t>
                          </m:r>
                          <m:sSub>
                            <m:sSubPr>
                              <m:ctrlPr>
                                <a:rPr lang="es-ES" sz="3200" i="1">
                                  <a:latin typeface="Cambria Math" panose="02040503050406030204" pitchFamily="18" charset="0"/>
                                </a:rPr>
                              </m:ctrlPr>
                            </m:sSubPr>
                            <m:e>
                              <m:r>
                                <a:rPr lang="es-ES" sz="3200" i="1">
                                  <a:latin typeface="Cambria Math" panose="02040503050406030204" pitchFamily="18" charset="0"/>
                                </a:rPr>
                                <m:t>𝑃</m:t>
                              </m:r>
                            </m:e>
                            <m:sub>
                              <m:r>
                                <a:rPr lang="es-ES" sz="3200" i="1">
                                  <a:latin typeface="Cambria Math" panose="02040503050406030204" pitchFamily="18" charset="0"/>
                                </a:rPr>
                                <m:t>𝐹𝑙𝑢𝑗𝑜𝑠</m:t>
                              </m:r>
                              <m:r>
                                <a:rPr lang="es-ES" sz="3200" i="1">
                                  <a:latin typeface="Cambria Math" panose="02040503050406030204" pitchFamily="18" charset="0"/>
                                </a:rPr>
                                <m:t> −</m:t>
                              </m:r>
                            </m:sub>
                          </m:sSub>
                        </m:den>
                      </m:f>
                    </m:oMath>
                  </m:oMathPara>
                </a14:m>
                <a:endParaRPr lang="es-CO" sz="3200" dirty="0"/>
              </a:p>
            </p:txBody>
          </p:sp>
        </mc:Choice>
        <mc:Fallback xmlns="">
          <p:sp>
            <p:nvSpPr>
              <p:cNvPr id="6" name="CuadroTexto 5">
                <a:extLst>
                  <a:ext uri="{FF2B5EF4-FFF2-40B4-BE49-F238E27FC236}">
                    <a16:creationId xmlns:a16="http://schemas.microsoft.com/office/drawing/2014/main" id="{6AC1E631-D29C-59D1-3369-228D470A9C89}"/>
                  </a:ext>
                </a:extLst>
              </p:cNvPr>
              <p:cNvSpPr txBox="1">
                <a:spLocks noRot="1" noChangeAspect="1" noMove="1" noResize="1" noEditPoints="1" noAdjustHandles="1" noChangeArrowheads="1" noChangeShapeType="1" noTextEdit="1"/>
              </p:cNvSpPr>
              <p:nvPr/>
            </p:nvSpPr>
            <p:spPr>
              <a:xfrm>
                <a:off x="2923368" y="3892774"/>
                <a:ext cx="6345263" cy="1075038"/>
              </a:xfrm>
              <a:prstGeom prst="rect">
                <a:avLst/>
              </a:prstGeom>
              <a:blipFill>
                <a:blip r:embed="rId5"/>
                <a:stretch>
                  <a:fillRect/>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7A92684F-F8CC-5D0F-E08E-804828C7792E}"/>
                  </a:ext>
                </a:extLst>
              </p:cNvPr>
              <p:cNvSpPr txBox="1"/>
              <p:nvPr/>
            </p:nvSpPr>
            <p:spPr>
              <a:xfrm>
                <a:off x="4405632" y="5297178"/>
                <a:ext cx="3380734" cy="10740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s-ES" sz="3200" b="0" i="1" smtClean="0">
                              <a:latin typeface="Cambria Math" panose="02040503050406030204" pitchFamily="18" charset="0"/>
                            </a:rPr>
                          </m:ctrlPr>
                        </m:fPr>
                        <m:num>
                          <m:r>
                            <a:rPr lang="es-ES" sz="3200" b="0" i="1" smtClean="0">
                              <a:latin typeface="Cambria Math" panose="02040503050406030204" pitchFamily="18" charset="0"/>
                            </a:rPr>
                            <m:t>"</m:t>
                          </m:r>
                          <m:r>
                            <a:rPr lang="es-ES" sz="3200" b="0" i="1" smtClean="0">
                              <a:latin typeface="Cambria Math" panose="02040503050406030204" pitchFamily="18" charset="0"/>
                            </a:rPr>
                            <m:t>𝑆𝑝𝑟𝑒𝑎𝑑</m:t>
                          </m:r>
                          <m:r>
                            <a:rPr lang="es-ES" sz="3200" b="0" i="1" smtClean="0">
                              <a:latin typeface="Cambria Math" panose="02040503050406030204" pitchFamily="18" charset="0"/>
                            </a:rPr>
                            <m:t>"</m:t>
                          </m:r>
                        </m:num>
                        <m:den>
                          <m:r>
                            <a:rPr lang="es-ES" sz="3200" b="0" i="1" smtClean="0">
                              <a:latin typeface="Cambria Math" panose="02040503050406030204" pitchFamily="18" charset="0"/>
                            </a:rPr>
                            <m:t>𝑉</m:t>
                          </m:r>
                          <m:sSub>
                            <m:sSubPr>
                              <m:ctrlPr>
                                <a:rPr lang="es-ES" sz="3200" b="0" i="1" smtClean="0">
                                  <a:latin typeface="Cambria Math" panose="02040503050406030204" pitchFamily="18" charset="0"/>
                                </a:rPr>
                              </m:ctrlPr>
                            </m:sSubPr>
                            <m:e>
                              <m:r>
                                <a:rPr lang="es-ES" sz="3200" b="0" i="1" smtClean="0">
                                  <a:latin typeface="Cambria Math" panose="02040503050406030204" pitchFamily="18" charset="0"/>
                                </a:rPr>
                                <m:t>𝑃</m:t>
                              </m:r>
                            </m:e>
                            <m:sub>
                              <m:r>
                                <a:rPr lang="es-ES" sz="3200" b="0" i="1" smtClean="0">
                                  <a:latin typeface="Cambria Math" panose="02040503050406030204" pitchFamily="18" charset="0"/>
                                </a:rPr>
                                <m:t>𝐹𝑙𝑢𝑗𝑜𝑠</m:t>
                              </m:r>
                              <m:r>
                                <a:rPr lang="es-ES" sz="3200" b="0" i="1" smtClean="0">
                                  <a:latin typeface="Cambria Math" panose="02040503050406030204" pitchFamily="18" charset="0"/>
                                </a:rPr>
                                <m:t> −</m:t>
                              </m:r>
                            </m:sub>
                          </m:sSub>
                        </m:den>
                      </m:f>
                      <m:r>
                        <a:rPr lang="es-ES" sz="3200" b="0" i="1" smtClean="0">
                          <a:latin typeface="Cambria Math" panose="02040503050406030204" pitchFamily="18" charset="0"/>
                        </a:rPr>
                        <m:t>=</m:t>
                      </m:r>
                      <m:f>
                        <m:fPr>
                          <m:ctrlPr>
                            <a:rPr lang="es-ES" sz="3200" b="0" i="1" smtClean="0">
                              <a:latin typeface="Cambria Math" panose="02040503050406030204" pitchFamily="18" charset="0"/>
                            </a:rPr>
                          </m:ctrlPr>
                        </m:fPr>
                        <m:num>
                          <m:r>
                            <a:rPr lang="es-ES" sz="3200" b="0" i="1" smtClean="0">
                              <a:latin typeface="Cambria Math" panose="02040503050406030204" pitchFamily="18" charset="0"/>
                            </a:rPr>
                            <m:t>𝐵</m:t>
                          </m:r>
                        </m:num>
                        <m:den>
                          <m:r>
                            <a:rPr lang="es-ES" sz="3200" b="0" i="1" smtClean="0">
                              <a:latin typeface="Cambria Math" panose="02040503050406030204" pitchFamily="18" charset="0"/>
                            </a:rPr>
                            <m:t>𝐶</m:t>
                          </m:r>
                        </m:den>
                      </m:f>
                      <m:r>
                        <a:rPr lang="es-ES" sz="3200" b="0" i="1" smtClean="0">
                          <a:latin typeface="Cambria Math" panose="02040503050406030204" pitchFamily="18" charset="0"/>
                        </a:rPr>
                        <m:t>−1</m:t>
                      </m:r>
                    </m:oMath>
                  </m:oMathPara>
                </a14:m>
                <a:endParaRPr lang="es-CO" sz="3200" dirty="0"/>
              </a:p>
            </p:txBody>
          </p:sp>
        </mc:Choice>
        <mc:Fallback xmlns="">
          <p:sp>
            <p:nvSpPr>
              <p:cNvPr id="8" name="CuadroTexto 7">
                <a:extLst>
                  <a:ext uri="{FF2B5EF4-FFF2-40B4-BE49-F238E27FC236}">
                    <a16:creationId xmlns:a16="http://schemas.microsoft.com/office/drawing/2014/main" id="{7A92684F-F8CC-5D0F-E08E-804828C7792E}"/>
                  </a:ext>
                </a:extLst>
              </p:cNvPr>
              <p:cNvSpPr txBox="1">
                <a:spLocks noRot="1" noChangeAspect="1" noMove="1" noResize="1" noEditPoints="1" noAdjustHandles="1" noChangeArrowheads="1" noChangeShapeType="1" noTextEdit="1"/>
              </p:cNvSpPr>
              <p:nvPr/>
            </p:nvSpPr>
            <p:spPr>
              <a:xfrm>
                <a:off x="4405632" y="5297178"/>
                <a:ext cx="3380734" cy="1074077"/>
              </a:xfrm>
              <a:prstGeom prst="rect">
                <a:avLst/>
              </a:prstGeom>
              <a:blipFill>
                <a:blip r:embed="rId6"/>
                <a:stretch>
                  <a:fillRect/>
                </a:stretch>
              </a:blipFill>
            </p:spPr>
            <p:txBody>
              <a:bodyPr/>
              <a:lstStyle/>
              <a:p>
                <a:r>
                  <a:rPr lang="es-CO">
                    <a:noFill/>
                  </a:rPr>
                  <a:t> </a:t>
                </a:r>
              </a:p>
            </p:txBody>
          </p:sp>
        </mc:Fallback>
      </mc:AlternateContent>
    </p:spTree>
    <p:extLst>
      <p:ext uri="{BB962C8B-B14F-4D97-AF65-F5344CB8AC3E}">
        <p14:creationId xmlns:p14="http://schemas.microsoft.com/office/powerpoint/2010/main" val="3653605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p:cNvSpPr>
            <a:spLocks noGrp="1"/>
          </p:cNvSpPr>
          <p:nvPr>
            <p:ph idx="1"/>
          </p:nvPr>
        </p:nvSpPr>
        <p:spPr>
          <a:xfrm>
            <a:off x="581191" y="1825093"/>
            <a:ext cx="11029615" cy="1865166"/>
          </a:xfrm>
        </p:spPr>
        <p:txBody>
          <a:bodyPr>
            <a:normAutofit/>
          </a:bodyPr>
          <a:lstStyle/>
          <a:p>
            <a:pPr marL="0" indent="0" algn="just">
              <a:buNone/>
            </a:pPr>
            <a:r>
              <a:rPr lang="es-ES" sz="2400" dirty="0"/>
              <a:t>Así que, si la relación B/C arroja un resultado de 2,5 según nuestro ejemplo, es correcto afirmar que por cada peso invertido en valor presente, el proyecto está generando 1,5 pesos adicionales (spread) por encima de lo que hubiesen generado inversiones que rentan al costo de oportunidad.</a:t>
            </a:r>
          </a:p>
        </p:txBody>
      </p:sp>
      <p:sp>
        <p:nvSpPr>
          <p:cNvPr id="4" name="Marcador de número de diapositiva 3"/>
          <p:cNvSpPr>
            <a:spLocks noGrp="1"/>
          </p:cNvSpPr>
          <p:nvPr>
            <p:ph type="sldNum" sz="quarter" idx="12"/>
          </p:nvPr>
        </p:nvSpPr>
        <p:spPr/>
        <p:txBody>
          <a:bodyPr/>
          <a:lstStyle/>
          <a:p>
            <a:fld id="{5E3E23BA-6E79-2442-BA73-D218A5E297C3}" type="slidenum">
              <a:rPr lang="en-US" smtClean="0"/>
              <a:t>27</a:t>
            </a:fld>
            <a:endParaRPr lang="en-US"/>
          </a:p>
        </p:txBody>
      </p:sp>
      <p:sp>
        <p:nvSpPr>
          <p:cNvPr id="9" name="Rectángulo 8">
            <a:extLst>
              <a:ext uri="{FF2B5EF4-FFF2-40B4-BE49-F238E27FC236}">
                <a16:creationId xmlns:a16="http://schemas.microsoft.com/office/drawing/2014/main" id="{9AEB8D2D-4A41-A2C3-E7EB-895FA60D29DF}"/>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0" name="Picture 2" descr="Clientes y aliados | Centro de Evaluación | Uniandes">
            <a:extLst>
              <a:ext uri="{FF2B5EF4-FFF2-40B4-BE49-F238E27FC236}">
                <a16:creationId xmlns:a16="http://schemas.microsoft.com/office/drawing/2014/main" id="{1423630F-1956-ED90-CAD9-E30BCDBC144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11" name="Rectángulo 10">
            <a:extLst>
              <a:ext uri="{FF2B5EF4-FFF2-40B4-BE49-F238E27FC236}">
                <a16:creationId xmlns:a16="http://schemas.microsoft.com/office/drawing/2014/main" id="{E6AE6B15-5C04-A537-E709-23DB6CDB37F9}"/>
              </a:ext>
            </a:extLst>
          </p:cNvPr>
          <p:cNvSpPr/>
          <p:nvPr/>
        </p:nvSpPr>
        <p:spPr>
          <a:xfrm>
            <a:off x="8399257" y="118110"/>
            <a:ext cx="3150778" cy="261610"/>
          </a:xfrm>
          <a:prstGeom prst="rect">
            <a:avLst/>
          </a:prstGeom>
        </p:spPr>
        <p:txBody>
          <a:bodyPr wrap="square">
            <a:spAutoFit/>
          </a:bodyPr>
          <a:lstStyle/>
          <a:p>
            <a:pPr algn="r"/>
            <a:r>
              <a:rPr lang="es-CO" sz="1100" b="1" dirty="0">
                <a:solidFill>
                  <a:schemeClr val="accent2">
                    <a:lumMod val="50000"/>
                  </a:schemeClr>
                </a:solidFill>
                <a:latin typeface="Century Gothic" panose="020B0502020202020204" pitchFamily="34" charset="0"/>
                <a:sym typeface="Gill Sans Light"/>
              </a:rPr>
              <a:t>Curso</a:t>
            </a:r>
            <a:r>
              <a:rPr lang="es-CO" sz="1100" dirty="0">
                <a:solidFill>
                  <a:schemeClr val="accent2">
                    <a:lumMod val="50000"/>
                  </a:schemeClr>
                </a:solidFill>
                <a:latin typeface="Century Gothic" panose="020B0502020202020204" pitchFamily="34" charset="0"/>
                <a:sym typeface="Gill Sans Light"/>
              </a:rPr>
              <a:t> Análisis de Decisiones de Inversión</a:t>
            </a:r>
            <a:endParaRPr lang="es-CO" sz="1100" dirty="0">
              <a:solidFill>
                <a:schemeClr val="accent2">
                  <a:lumMod val="50000"/>
                </a:schemeClr>
              </a:solidFill>
              <a:latin typeface="Century Gothic" panose="020B0502020202020204" pitchFamily="34" charset="0"/>
            </a:endParaRPr>
          </a:p>
        </p:txBody>
      </p:sp>
      <p:sp>
        <p:nvSpPr>
          <p:cNvPr id="12" name="Título 1">
            <a:extLst>
              <a:ext uri="{FF2B5EF4-FFF2-40B4-BE49-F238E27FC236}">
                <a16:creationId xmlns:a16="http://schemas.microsoft.com/office/drawing/2014/main" id="{049232B4-7A4E-D8EC-F5D5-C2678CECFBC7}"/>
              </a:ext>
            </a:extLst>
          </p:cNvPr>
          <p:cNvSpPr>
            <a:spLocks noGrp="1"/>
          </p:cNvSpPr>
          <p:nvPr>
            <p:ph type="title"/>
          </p:nvPr>
        </p:nvSpPr>
        <p:spPr>
          <a:xfrm>
            <a:off x="581192" y="702156"/>
            <a:ext cx="11029616" cy="1013800"/>
          </a:xfrm>
        </p:spPr>
        <p:txBody>
          <a:bodyPr>
            <a:normAutofit/>
          </a:bodyPr>
          <a:lstStyle/>
          <a:p>
            <a:r>
              <a:rPr lang="es-ES" sz="3200" dirty="0">
                <a:latin typeface="Century Gothic" panose="020B0502020202020204" pitchFamily="34" charset="0"/>
              </a:rPr>
              <a:t>b/c</a:t>
            </a:r>
            <a:endParaRPr lang="es-CO" sz="3200" dirty="0">
              <a:latin typeface="Century Gothic" panose="020B0502020202020204" pitchFamily="34" charset="0"/>
            </a:endParaRPr>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5F53C758-289A-D6C2-1945-D3FB6CCFE68B}"/>
                  </a:ext>
                </a:extLst>
              </p:cNvPr>
              <p:cNvSpPr txBox="1"/>
              <p:nvPr/>
            </p:nvSpPr>
            <p:spPr>
              <a:xfrm>
                <a:off x="4828471" y="3690259"/>
                <a:ext cx="2535053" cy="80560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s-ES" sz="2400" b="0" i="1" smtClean="0">
                              <a:latin typeface="Cambria Math" panose="02040503050406030204" pitchFamily="18" charset="0"/>
                            </a:rPr>
                          </m:ctrlPr>
                        </m:fPr>
                        <m:num>
                          <m:r>
                            <a:rPr lang="es-ES" sz="2400" b="0" i="1" smtClean="0">
                              <a:latin typeface="Cambria Math" panose="02040503050406030204" pitchFamily="18" charset="0"/>
                            </a:rPr>
                            <m:t>"</m:t>
                          </m:r>
                          <m:r>
                            <a:rPr lang="es-ES" sz="2400" b="0" i="1" smtClean="0">
                              <a:latin typeface="Cambria Math" panose="02040503050406030204" pitchFamily="18" charset="0"/>
                            </a:rPr>
                            <m:t>𝑆𝑝𝑟𝑒𝑎𝑑</m:t>
                          </m:r>
                          <m:r>
                            <a:rPr lang="es-ES" sz="2400" b="0" i="1" smtClean="0">
                              <a:latin typeface="Cambria Math" panose="02040503050406030204" pitchFamily="18" charset="0"/>
                            </a:rPr>
                            <m:t>"</m:t>
                          </m:r>
                        </m:num>
                        <m:den>
                          <m:r>
                            <a:rPr lang="es-ES" sz="2400" b="0" i="1" smtClean="0">
                              <a:latin typeface="Cambria Math" panose="02040503050406030204" pitchFamily="18" charset="0"/>
                            </a:rPr>
                            <m:t>𝑉</m:t>
                          </m:r>
                          <m:sSub>
                            <m:sSubPr>
                              <m:ctrlPr>
                                <a:rPr lang="es-ES" sz="2400" b="0" i="1" smtClean="0">
                                  <a:latin typeface="Cambria Math" panose="02040503050406030204" pitchFamily="18" charset="0"/>
                                </a:rPr>
                              </m:ctrlPr>
                            </m:sSubPr>
                            <m:e>
                              <m:r>
                                <a:rPr lang="es-ES" sz="2400" b="0" i="1" smtClean="0">
                                  <a:latin typeface="Cambria Math" panose="02040503050406030204" pitchFamily="18" charset="0"/>
                                </a:rPr>
                                <m:t>𝑃</m:t>
                              </m:r>
                            </m:e>
                            <m:sub>
                              <m:r>
                                <a:rPr lang="es-ES" sz="2400" b="0" i="1" smtClean="0">
                                  <a:latin typeface="Cambria Math" panose="02040503050406030204" pitchFamily="18" charset="0"/>
                                </a:rPr>
                                <m:t>𝐹𝑙𝑢𝑗𝑜𝑠</m:t>
                              </m:r>
                              <m:r>
                                <a:rPr lang="es-ES" sz="2400" b="0" i="1" smtClean="0">
                                  <a:latin typeface="Cambria Math" panose="02040503050406030204" pitchFamily="18" charset="0"/>
                                </a:rPr>
                                <m:t> −</m:t>
                              </m:r>
                            </m:sub>
                          </m:sSub>
                        </m:den>
                      </m:f>
                      <m:r>
                        <a:rPr lang="es-ES" sz="2400" b="0" i="1" smtClean="0">
                          <a:latin typeface="Cambria Math" panose="02040503050406030204" pitchFamily="18" charset="0"/>
                        </a:rPr>
                        <m:t>=</m:t>
                      </m:r>
                      <m:f>
                        <m:fPr>
                          <m:ctrlPr>
                            <a:rPr lang="es-ES" sz="2400" b="0" i="1" smtClean="0">
                              <a:latin typeface="Cambria Math" panose="02040503050406030204" pitchFamily="18" charset="0"/>
                            </a:rPr>
                          </m:ctrlPr>
                        </m:fPr>
                        <m:num>
                          <m:r>
                            <a:rPr lang="es-ES" sz="2400" b="0" i="1" smtClean="0">
                              <a:latin typeface="Cambria Math" panose="02040503050406030204" pitchFamily="18" charset="0"/>
                            </a:rPr>
                            <m:t>𝐵</m:t>
                          </m:r>
                        </m:num>
                        <m:den>
                          <m:r>
                            <a:rPr lang="es-ES" sz="2400" b="0" i="1" smtClean="0">
                              <a:latin typeface="Cambria Math" panose="02040503050406030204" pitchFamily="18" charset="0"/>
                            </a:rPr>
                            <m:t>𝐶</m:t>
                          </m:r>
                        </m:den>
                      </m:f>
                      <m:r>
                        <a:rPr lang="es-ES" sz="2400" b="0" i="1" smtClean="0">
                          <a:latin typeface="Cambria Math" panose="02040503050406030204" pitchFamily="18" charset="0"/>
                        </a:rPr>
                        <m:t>−1</m:t>
                      </m:r>
                    </m:oMath>
                  </m:oMathPara>
                </a14:m>
                <a:endParaRPr lang="es-CO" sz="2400" dirty="0"/>
              </a:p>
            </p:txBody>
          </p:sp>
        </mc:Choice>
        <mc:Fallback xmlns="">
          <p:sp>
            <p:nvSpPr>
              <p:cNvPr id="2" name="CuadroTexto 1">
                <a:extLst>
                  <a:ext uri="{FF2B5EF4-FFF2-40B4-BE49-F238E27FC236}">
                    <a16:creationId xmlns:a16="http://schemas.microsoft.com/office/drawing/2014/main" id="{5F53C758-289A-D6C2-1945-D3FB6CCFE68B}"/>
                  </a:ext>
                </a:extLst>
              </p:cNvPr>
              <p:cNvSpPr txBox="1">
                <a:spLocks noRot="1" noChangeAspect="1" noMove="1" noResize="1" noEditPoints="1" noAdjustHandles="1" noChangeArrowheads="1" noChangeShapeType="1" noTextEdit="1"/>
              </p:cNvSpPr>
              <p:nvPr/>
            </p:nvSpPr>
            <p:spPr>
              <a:xfrm>
                <a:off x="4828471" y="3690259"/>
                <a:ext cx="2535053" cy="805605"/>
              </a:xfrm>
              <a:prstGeom prst="rect">
                <a:avLst/>
              </a:prstGeom>
              <a:blipFill>
                <a:blip r:embed="rId3"/>
                <a:stretch>
                  <a:fillRect/>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83892B2F-8E7D-CED9-3B3B-28D6FBD4DA58}"/>
                  </a:ext>
                </a:extLst>
              </p:cNvPr>
              <p:cNvSpPr txBox="1"/>
              <p:nvPr/>
            </p:nvSpPr>
            <p:spPr>
              <a:xfrm>
                <a:off x="4828470" y="4712000"/>
                <a:ext cx="2727157" cy="80560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s-ES" sz="2400" b="0" i="1" smtClean="0">
                              <a:latin typeface="Cambria Math" panose="02040503050406030204" pitchFamily="18" charset="0"/>
                            </a:rPr>
                          </m:ctrlPr>
                        </m:fPr>
                        <m:num>
                          <m:r>
                            <a:rPr lang="es-ES" sz="2400" b="0" i="1" smtClean="0">
                              <a:latin typeface="Cambria Math" panose="02040503050406030204" pitchFamily="18" charset="0"/>
                            </a:rPr>
                            <m:t>"</m:t>
                          </m:r>
                          <m:r>
                            <a:rPr lang="es-ES" sz="2400" b="0" i="1" smtClean="0">
                              <a:latin typeface="Cambria Math" panose="02040503050406030204" pitchFamily="18" charset="0"/>
                            </a:rPr>
                            <m:t>𝑆𝑝𝑟𝑒𝑎𝑑</m:t>
                          </m:r>
                          <m:r>
                            <a:rPr lang="es-ES" sz="2400" b="0" i="1" smtClean="0">
                              <a:latin typeface="Cambria Math" panose="02040503050406030204" pitchFamily="18" charset="0"/>
                            </a:rPr>
                            <m:t>"</m:t>
                          </m:r>
                        </m:num>
                        <m:den>
                          <m:r>
                            <a:rPr lang="es-ES" sz="2400" b="0" i="1" smtClean="0">
                              <a:latin typeface="Cambria Math" panose="02040503050406030204" pitchFamily="18" charset="0"/>
                            </a:rPr>
                            <m:t>𝑉</m:t>
                          </m:r>
                          <m:sSub>
                            <m:sSubPr>
                              <m:ctrlPr>
                                <a:rPr lang="es-ES" sz="2400" b="0" i="1" smtClean="0">
                                  <a:latin typeface="Cambria Math" panose="02040503050406030204" pitchFamily="18" charset="0"/>
                                </a:rPr>
                              </m:ctrlPr>
                            </m:sSubPr>
                            <m:e>
                              <m:r>
                                <a:rPr lang="es-ES" sz="2400" b="0" i="1" smtClean="0">
                                  <a:latin typeface="Cambria Math" panose="02040503050406030204" pitchFamily="18" charset="0"/>
                                </a:rPr>
                                <m:t>𝑃</m:t>
                              </m:r>
                            </m:e>
                            <m:sub>
                              <m:r>
                                <a:rPr lang="es-ES" sz="2400" b="0" i="1" smtClean="0">
                                  <a:latin typeface="Cambria Math" panose="02040503050406030204" pitchFamily="18" charset="0"/>
                                </a:rPr>
                                <m:t>𝐹𝑙𝑢𝑗𝑜𝑠</m:t>
                              </m:r>
                              <m:r>
                                <a:rPr lang="es-ES" sz="2400" b="0" i="1" smtClean="0">
                                  <a:latin typeface="Cambria Math" panose="02040503050406030204" pitchFamily="18" charset="0"/>
                                </a:rPr>
                                <m:t> −</m:t>
                              </m:r>
                            </m:sub>
                          </m:sSub>
                        </m:den>
                      </m:f>
                      <m:r>
                        <a:rPr lang="es-ES" sz="2400" b="0" i="1" smtClean="0">
                          <a:latin typeface="Cambria Math" panose="02040503050406030204" pitchFamily="18" charset="0"/>
                        </a:rPr>
                        <m:t>=2,5−1</m:t>
                      </m:r>
                    </m:oMath>
                  </m:oMathPara>
                </a14:m>
                <a:endParaRPr lang="es-CO" sz="2400" dirty="0"/>
              </a:p>
            </p:txBody>
          </p:sp>
        </mc:Choice>
        <mc:Fallback xmlns="">
          <p:sp>
            <p:nvSpPr>
              <p:cNvPr id="8" name="CuadroTexto 7">
                <a:extLst>
                  <a:ext uri="{FF2B5EF4-FFF2-40B4-BE49-F238E27FC236}">
                    <a16:creationId xmlns:a16="http://schemas.microsoft.com/office/drawing/2014/main" id="{83892B2F-8E7D-CED9-3B3B-28D6FBD4DA58}"/>
                  </a:ext>
                </a:extLst>
              </p:cNvPr>
              <p:cNvSpPr txBox="1">
                <a:spLocks noRot="1" noChangeAspect="1" noMove="1" noResize="1" noEditPoints="1" noAdjustHandles="1" noChangeArrowheads="1" noChangeShapeType="1" noTextEdit="1"/>
              </p:cNvSpPr>
              <p:nvPr/>
            </p:nvSpPr>
            <p:spPr>
              <a:xfrm>
                <a:off x="4828470" y="4712000"/>
                <a:ext cx="2727157" cy="805605"/>
              </a:xfrm>
              <a:prstGeom prst="rect">
                <a:avLst/>
              </a:prstGeom>
              <a:blipFill>
                <a:blip r:embed="rId4"/>
                <a:stretch>
                  <a:fillRect/>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FC5D5D28-CE5B-460B-3B09-EED79F7E600E}"/>
                  </a:ext>
                </a:extLst>
              </p:cNvPr>
              <p:cNvSpPr txBox="1"/>
              <p:nvPr/>
            </p:nvSpPr>
            <p:spPr>
              <a:xfrm>
                <a:off x="5000412" y="5733741"/>
                <a:ext cx="2191176" cy="80560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s-ES" sz="2400" b="0" i="1" smtClean="0">
                              <a:latin typeface="Cambria Math" panose="02040503050406030204" pitchFamily="18" charset="0"/>
                            </a:rPr>
                          </m:ctrlPr>
                        </m:fPr>
                        <m:num>
                          <m:r>
                            <a:rPr lang="es-ES" sz="2400" b="0" i="1" smtClean="0">
                              <a:latin typeface="Cambria Math" panose="02040503050406030204" pitchFamily="18" charset="0"/>
                            </a:rPr>
                            <m:t>"</m:t>
                          </m:r>
                          <m:r>
                            <a:rPr lang="es-ES" sz="2400" b="0" i="1" smtClean="0">
                              <a:latin typeface="Cambria Math" panose="02040503050406030204" pitchFamily="18" charset="0"/>
                            </a:rPr>
                            <m:t>𝑆𝑝𝑟𝑒𝑎𝑑</m:t>
                          </m:r>
                          <m:r>
                            <a:rPr lang="es-ES" sz="2400" b="0" i="1" smtClean="0">
                              <a:latin typeface="Cambria Math" panose="02040503050406030204" pitchFamily="18" charset="0"/>
                            </a:rPr>
                            <m:t>"</m:t>
                          </m:r>
                        </m:num>
                        <m:den>
                          <m:r>
                            <a:rPr lang="es-ES" sz="2400" b="0" i="1" smtClean="0">
                              <a:latin typeface="Cambria Math" panose="02040503050406030204" pitchFamily="18" charset="0"/>
                            </a:rPr>
                            <m:t>𝑉</m:t>
                          </m:r>
                          <m:sSub>
                            <m:sSubPr>
                              <m:ctrlPr>
                                <a:rPr lang="es-ES" sz="2400" b="0" i="1" smtClean="0">
                                  <a:latin typeface="Cambria Math" panose="02040503050406030204" pitchFamily="18" charset="0"/>
                                </a:rPr>
                              </m:ctrlPr>
                            </m:sSubPr>
                            <m:e>
                              <m:r>
                                <a:rPr lang="es-ES" sz="2400" b="0" i="1" smtClean="0">
                                  <a:latin typeface="Cambria Math" panose="02040503050406030204" pitchFamily="18" charset="0"/>
                                </a:rPr>
                                <m:t>𝑃</m:t>
                              </m:r>
                            </m:e>
                            <m:sub>
                              <m:r>
                                <a:rPr lang="es-ES" sz="2400" b="0" i="1" smtClean="0">
                                  <a:latin typeface="Cambria Math" panose="02040503050406030204" pitchFamily="18" charset="0"/>
                                </a:rPr>
                                <m:t>𝐹𝑙𝑢𝑗𝑜𝑠</m:t>
                              </m:r>
                              <m:r>
                                <a:rPr lang="es-ES" sz="2400" b="0" i="1" smtClean="0">
                                  <a:latin typeface="Cambria Math" panose="02040503050406030204" pitchFamily="18" charset="0"/>
                                </a:rPr>
                                <m:t> −</m:t>
                              </m:r>
                            </m:sub>
                          </m:sSub>
                        </m:den>
                      </m:f>
                      <m:r>
                        <a:rPr lang="es-ES" sz="2400" b="0" i="1" smtClean="0">
                          <a:latin typeface="Cambria Math" panose="02040503050406030204" pitchFamily="18" charset="0"/>
                        </a:rPr>
                        <m:t>=1,5</m:t>
                      </m:r>
                    </m:oMath>
                  </m:oMathPara>
                </a14:m>
                <a:endParaRPr lang="es-CO" sz="2400" dirty="0"/>
              </a:p>
            </p:txBody>
          </p:sp>
        </mc:Choice>
        <mc:Fallback xmlns="">
          <p:sp>
            <p:nvSpPr>
              <p:cNvPr id="13" name="CuadroTexto 12">
                <a:extLst>
                  <a:ext uri="{FF2B5EF4-FFF2-40B4-BE49-F238E27FC236}">
                    <a16:creationId xmlns:a16="http://schemas.microsoft.com/office/drawing/2014/main" id="{FC5D5D28-CE5B-460B-3B09-EED79F7E600E}"/>
                  </a:ext>
                </a:extLst>
              </p:cNvPr>
              <p:cNvSpPr txBox="1">
                <a:spLocks noRot="1" noChangeAspect="1" noMove="1" noResize="1" noEditPoints="1" noAdjustHandles="1" noChangeArrowheads="1" noChangeShapeType="1" noTextEdit="1"/>
              </p:cNvSpPr>
              <p:nvPr/>
            </p:nvSpPr>
            <p:spPr>
              <a:xfrm>
                <a:off x="5000412" y="5733741"/>
                <a:ext cx="2191176" cy="805605"/>
              </a:xfrm>
              <a:prstGeom prst="rect">
                <a:avLst/>
              </a:prstGeom>
              <a:blipFill>
                <a:blip r:embed="rId5"/>
                <a:stretch>
                  <a:fillRect/>
                </a:stretch>
              </a:blipFill>
            </p:spPr>
            <p:txBody>
              <a:bodyPr/>
              <a:lstStyle/>
              <a:p>
                <a:r>
                  <a:rPr lang="es-CO">
                    <a:noFill/>
                  </a:rPr>
                  <a:t> </a:t>
                </a:r>
              </a:p>
            </p:txBody>
          </p:sp>
        </mc:Fallback>
      </mc:AlternateContent>
    </p:spTree>
    <p:extLst>
      <p:ext uri="{BB962C8B-B14F-4D97-AF65-F5344CB8AC3E}">
        <p14:creationId xmlns:p14="http://schemas.microsoft.com/office/powerpoint/2010/main" val="1471595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3D4F74-6D41-F79E-0810-F2C774CCC5D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9A0531B-20E2-FA86-BB4F-DCC9635B9DE0}"/>
              </a:ext>
            </a:extLst>
          </p:cNvPr>
          <p:cNvSpPr>
            <a:spLocks noGrp="1"/>
          </p:cNvSpPr>
          <p:nvPr>
            <p:ph type="title"/>
          </p:nvPr>
        </p:nvSpPr>
        <p:spPr/>
        <p:txBody>
          <a:bodyPr>
            <a:normAutofit/>
          </a:bodyPr>
          <a:lstStyle/>
          <a:p>
            <a:r>
              <a:rPr lang="es-CO" sz="3200">
                <a:latin typeface="Century Gothic" panose="020B0502020202020204" pitchFamily="34" charset="0"/>
              </a:rPr>
              <a:t>AGENDA PROPUESTA</a:t>
            </a:r>
          </a:p>
        </p:txBody>
      </p:sp>
      <p:sp>
        <p:nvSpPr>
          <p:cNvPr id="4" name="Marcador de número de diapositiva 3">
            <a:extLst>
              <a:ext uri="{FF2B5EF4-FFF2-40B4-BE49-F238E27FC236}">
                <a16:creationId xmlns:a16="http://schemas.microsoft.com/office/drawing/2014/main" id="{0DB2AE80-E7D6-C089-950D-641688CEC0E5}"/>
              </a:ext>
            </a:extLst>
          </p:cNvPr>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28</a:t>
            </a:fld>
            <a:endParaRPr lang="en-US" sz="2000" b="1">
              <a:latin typeface="Century Gothic" panose="020B0502020202020204" pitchFamily="34" charset="0"/>
            </a:endParaRPr>
          </a:p>
        </p:txBody>
      </p:sp>
      <p:pic>
        <p:nvPicPr>
          <p:cNvPr id="6" name="Picture 6" descr="Resultado de imagen para RELOJ VECTOR">
            <a:extLst>
              <a:ext uri="{FF2B5EF4-FFF2-40B4-BE49-F238E27FC236}">
                <a16:creationId xmlns:a16="http://schemas.microsoft.com/office/drawing/2014/main" id="{7E8DCE5A-86D2-6DCA-BF93-5B1F979DF482}"/>
              </a:ext>
            </a:extLst>
          </p:cNvPr>
          <p:cNvPicPr>
            <a:picLocks noChangeAspect="1" noChangeArrowheads="1"/>
          </p:cNvPicPr>
          <p:nvPr/>
        </p:nvPicPr>
        <p:blipFill rotWithShape="1">
          <a:blip r:embed="rId2" cstate="print">
            <a:clrChange>
              <a:clrFrom>
                <a:srgbClr val="F6F6F6"/>
              </a:clrFrom>
              <a:clrTo>
                <a:srgbClr val="F6F6F6">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l="24517" t="6285" r="24815" b="6503"/>
          <a:stretch/>
        </p:blipFill>
        <p:spPr bwMode="auto">
          <a:xfrm>
            <a:off x="1448088" y="2903629"/>
            <a:ext cx="1236705" cy="1246074"/>
          </a:xfrm>
          <a:prstGeom prst="rect">
            <a:avLst/>
          </a:prstGeom>
          <a:noFill/>
          <a:extLst>
            <a:ext uri="{909E8E84-426E-40DD-AFC4-6F175D3DCCD1}">
              <a14:hiddenFill xmlns:a14="http://schemas.microsoft.com/office/drawing/2010/main">
                <a:solidFill>
                  <a:srgbClr val="FFFFFF"/>
                </a:solidFill>
              </a14:hiddenFill>
            </a:ext>
          </a:extLst>
        </p:spPr>
      </p:pic>
      <p:sp>
        <p:nvSpPr>
          <p:cNvPr id="23" name="Rectángulo 22">
            <a:extLst>
              <a:ext uri="{FF2B5EF4-FFF2-40B4-BE49-F238E27FC236}">
                <a16:creationId xmlns:a16="http://schemas.microsoft.com/office/drawing/2014/main" id="{7D20593F-9A46-6CD3-0B6C-1027F4C2EB6F}"/>
              </a:ext>
            </a:extLst>
          </p:cNvPr>
          <p:cNvSpPr/>
          <p:nvPr/>
        </p:nvSpPr>
        <p:spPr>
          <a:xfrm>
            <a:off x="3173020" y="2318042"/>
            <a:ext cx="8540907" cy="2554545"/>
          </a:xfrm>
          <a:prstGeom prst="rect">
            <a:avLst/>
          </a:prstGeom>
        </p:spPr>
        <p:txBody>
          <a:bodyPr wrap="square" lIns="91440" tIns="45720" rIns="91440" bIns="45720" anchor="t">
            <a:spAutoFit/>
          </a:bodyPr>
          <a:lstStyle/>
          <a:p>
            <a:pPr>
              <a:buClr>
                <a:srgbClr val="48BE7A"/>
              </a:buClr>
            </a:pPr>
            <a:endParaRPr lang="es-CO" sz="2000" dirty="0">
              <a:solidFill>
                <a:schemeClr val="bg2">
                  <a:lumMod val="90000"/>
                </a:schemeClr>
              </a:solidFill>
              <a:latin typeface="Century Gothic" panose="020B0502020202020204" pitchFamily="34" charset="0"/>
              <a:cs typeface="Arial"/>
            </a:endParaRPr>
          </a:p>
          <a:p>
            <a:pPr marL="342900" indent="-342900">
              <a:buClr>
                <a:srgbClr val="48BE7A"/>
              </a:buClr>
              <a:buAutoNum type="arabicPeriod"/>
            </a:pPr>
            <a:r>
              <a:rPr lang="es-CO" sz="2000" dirty="0">
                <a:solidFill>
                  <a:schemeClr val="bg2">
                    <a:lumMod val="90000"/>
                  </a:schemeClr>
                </a:solidFill>
                <a:latin typeface="Century Gothic" panose="020B0502020202020204" pitchFamily="34" charset="0"/>
                <a:cs typeface="Arial"/>
              </a:rPr>
              <a:t>Tasa Verdadera de Rentabilidad (TVR)</a:t>
            </a:r>
          </a:p>
          <a:p>
            <a:pPr marL="342900" indent="-342900">
              <a:buClr>
                <a:srgbClr val="48BE7A"/>
              </a:buClr>
              <a:buAutoNum type="arabicPeriod"/>
            </a:pPr>
            <a:endParaRPr lang="es-CO" sz="2000" dirty="0">
              <a:solidFill>
                <a:schemeClr val="bg2">
                  <a:lumMod val="90000"/>
                </a:schemeClr>
              </a:solidFill>
              <a:latin typeface="Century Gothic" panose="020B0502020202020204" pitchFamily="34" charset="0"/>
              <a:cs typeface="Arial"/>
            </a:endParaRPr>
          </a:p>
          <a:p>
            <a:pPr marL="342900" indent="-342900">
              <a:buClr>
                <a:srgbClr val="48BE7A"/>
              </a:buClr>
              <a:buAutoNum type="arabicPeriod"/>
            </a:pPr>
            <a:r>
              <a:rPr lang="es-CO" sz="2000" dirty="0">
                <a:solidFill>
                  <a:schemeClr val="bg2">
                    <a:lumMod val="90000"/>
                  </a:schemeClr>
                </a:solidFill>
                <a:latin typeface="Century Gothic" panose="020B0502020202020204" pitchFamily="34" charset="0"/>
                <a:cs typeface="Arial"/>
              </a:rPr>
              <a:t>Valor Anual Equivalente (VAE)</a:t>
            </a:r>
          </a:p>
          <a:p>
            <a:pPr marL="342900" indent="-342900">
              <a:buClr>
                <a:srgbClr val="48BE7A"/>
              </a:buClr>
              <a:buAutoNum type="arabicPeriod"/>
            </a:pPr>
            <a:endParaRPr lang="es-CO" sz="2000" dirty="0">
              <a:solidFill>
                <a:schemeClr val="bg2">
                  <a:lumMod val="90000"/>
                </a:schemeClr>
              </a:solidFill>
              <a:latin typeface="Century Gothic" panose="020B0502020202020204" pitchFamily="34" charset="0"/>
              <a:cs typeface="Arial"/>
            </a:endParaRPr>
          </a:p>
          <a:p>
            <a:pPr marL="342900" indent="-342900">
              <a:buClr>
                <a:srgbClr val="48BE7A"/>
              </a:buClr>
              <a:buAutoNum type="arabicPeriod"/>
            </a:pPr>
            <a:r>
              <a:rPr lang="es-CO" sz="2000" dirty="0">
                <a:solidFill>
                  <a:schemeClr val="bg2">
                    <a:lumMod val="90000"/>
                  </a:schemeClr>
                </a:solidFill>
                <a:latin typeface="Century Gothic" panose="020B0502020202020204" pitchFamily="34" charset="0"/>
                <a:cs typeface="Arial"/>
              </a:rPr>
              <a:t>Relación Beneficio/Costo (B/C)</a:t>
            </a:r>
          </a:p>
          <a:p>
            <a:pPr marL="342900" indent="-342900">
              <a:buClr>
                <a:srgbClr val="48BE7A"/>
              </a:buClr>
              <a:buAutoNum type="arabicPeriod"/>
            </a:pPr>
            <a:endParaRPr lang="es-CO" sz="2000" dirty="0">
              <a:solidFill>
                <a:schemeClr val="bg2">
                  <a:lumMod val="90000"/>
                </a:schemeClr>
              </a:solidFill>
              <a:latin typeface="Century Gothic" panose="020B0502020202020204" pitchFamily="34" charset="0"/>
              <a:cs typeface="Arial"/>
            </a:endParaRPr>
          </a:p>
          <a:p>
            <a:pPr marL="342900" indent="-342900">
              <a:buClr>
                <a:srgbClr val="48BE7A"/>
              </a:buClr>
              <a:buAutoNum type="arabicPeriod"/>
            </a:pPr>
            <a:r>
              <a:rPr lang="es-CO" sz="2000" dirty="0">
                <a:solidFill>
                  <a:schemeClr val="accent1"/>
                </a:solidFill>
                <a:latin typeface="Century Gothic"/>
                <a:cs typeface="Arial"/>
              </a:rPr>
              <a:t>PayBack</a:t>
            </a:r>
          </a:p>
        </p:txBody>
      </p:sp>
      <p:sp>
        <p:nvSpPr>
          <p:cNvPr id="3" name="Rectángulo 2">
            <a:extLst>
              <a:ext uri="{FF2B5EF4-FFF2-40B4-BE49-F238E27FC236}">
                <a16:creationId xmlns:a16="http://schemas.microsoft.com/office/drawing/2014/main" id="{045DBFBB-CD8E-F467-BD10-AAC574FD2366}"/>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B9862892-2DDB-0B34-FB88-E0BAD923E56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AC3A5CA0-5CB2-2FF4-8C5A-B2A5752AC3D6}"/>
              </a:ext>
            </a:extLst>
          </p:cNvPr>
          <p:cNvSpPr/>
          <p:nvPr/>
        </p:nvSpPr>
        <p:spPr>
          <a:xfrm>
            <a:off x="8399257" y="118110"/>
            <a:ext cx="3150778" cy="261610"/>
          </a:xfrm>
          <a:prstGeom prst="rect">
            <a:avLst/>
          </a:prstGeom>
        </p:spPr>
        <p:txBody>
          <a:bodyPr wrap="square">
            <a:spAutoFit/>
          </a:bodyPr>
          <a:lstStyle/>
          <a:p>
            <a:pPr algn="r"/>
            <a:r>
              <a:rPr lang="es-CO" sz="1100" b="1" dirty="0">
                <a:solidFill>
                  <a:schemeClr val="accent2">
                    <a:lumMod val="50000"/>
                  </a:schemeClr>
                </a:solidFill>
                <a:latin typeface="Century Gothic" panose="020B0502020202020204" pitchFamily="34" charset="0"/>
                <a:sym typeface="Gill Sans Light"/>
              </a:rPr>
              <a:t>Curso</a:t>
            </a:r>
            <a:r>
              <a:rPr lang="es-CO" sz="1100" dirty="0">
                <a:solidFill>
                  <a:schemeClr val="accent2">
                    <a:lumMod val="50000"/>
                  </a:schemeClr>
                </a:solidFill>
                <a:latin typeface="Century Gothic" panose="020B0502020202020204" pitchFamily="34" charset="0"/>
                <a:sym typeface="Gill Sans Light"/>
              </a:rPr>
              <a:t> Análisis de Decisiones de Inversión</a:t>
            </a:r>
            <a:endParaRPr lang="es-CO" sz="1100" dirty="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11018034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animEffect transition="in" filter="fade">
                                      <p:cBhvr>
                                        <p:cTn id="9" dur="1000"/>
                                        <p:tgtEl>
                                          <p:spTgt spid="23"/>
                                        </p:tgtEl>
                                      </p:cBhvr>
                                    </p:animEffect>
                                    <p:anim calcmode="lin" valueType="num">
                                      <p:cBhvr>
                                        <p:cTn id="10" dur="1000" fill="hold"/>
                                        <p:tgtEl>
                                          <p:spTgt spid="23"/>
                                        </p:tgtEl>
                                        <p:attrNameLst>
                                          <p:attrName>ppt_x</p:attrName>
                                        </p:attrNameLst>
                                      </p:cBhvr>
                                      <p:tavLst>
                                        <p:tav tm="0">
                                          <p:val>
                                            <p:strVal val="#ppt_x"/>
                                          </p:val>
                                        </p:tav>
                                        <p:tav tm="100000">
                                          <p:val>
                                            <p:strVal val="#ppt_x"/>
                                          </p:val>
                                        </p:tav>
                                      </p:tavLst>
                                    </p:anim>
                                    <p:anim calcmode="lin" valueType="num">
                                      <p:cBhvr>
                                        <p:cTn id="11"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2"/>
          <p:cNvSpPr>
            <a:spLocks noGrp="1"/>
          </p:cNvSpPr>
          <p:nvPr>
            <p:ph idx="1"/>
          </p:nvPr>
        </p:nvSpPr>
        <p:spPr>
          <a:xfrm>
            <a:off x="1524000" y="2873730"/>
            <a:ext cx="9144000" cy="2076492"/>
          </a:xfrm>
        </p:spPr>
        <p:txBody>
          <a:bodyPr>
            <a:normAutofit/>
          </a:bodyPr>
          <a:lstStyle/>
          <a:p>
            <a:pPr marL="0" indent="0" algn="ctr">
              <a:buNone/>
            </a:pPr>
            <a:r>
              <a:rPr lang="es-ES_tradnl" sz="3200" b="1" dirty="0">
                <a:solidFill>
                  <a:srgbClr val="800000"/>
                </a:solidFill>
              </a:rPr>
              <a:t>PayBack</a:t>
            </a:r>
          </a:p>
          <a:p>
            <a:pPr marL="0" indent="0" algn="ctr">
              <a:buNone/>
            </a:pPr>
            <a:r>
              <a:rPr lang="es-ES_tradnl" sz="3200" b="1" dirty="0">
                <a:solidFill>
                  <a:srgbClr val="800000"/>
                </a:solidFill>
              </a:rPr>
              <a:t>(Periodo de recuperación)</a:t>
            </a:r>
          </a:p>
        </p:txBody>
      </p:sp>
      <p:sp>
        <p:nvSpPr>
          <p:cNvPr id="4" name="Slide Number Placeholder 3"/>
          <p:cNvSpPr>
            <a:spLocks noGrp="1"/>
          </p:cNvSpPr>
          <p:nvPr>
            <p:ph type="sldNum" sz="quarter" idx="12"/>
          </p:nvPr>
        </p:nvSpPr>
        <p:spPr/>
        <p:txBody>
          <a:bodyPr/>
          <a:lstStyle/>
          <a:p>
            <a:fld id="{5E3E23BA-6E79-2442-BA73-D218A5E297C3}" type="slidenum">
              <a:rPr lang="en-US" smtClean="0"/>
              <a:t>29</a:t>
            </a:fld>
            <a:endParaRPr lang="en-US"/>
          </a:p>
        </p:txBody>
      </p:sp>
      <p:sp>
        <p:nvSpPr>
          <p:cNvPr id="3" name="Rectángulo 2">
            <a:extLst>
              <a:ext uri="{FF2B5EF4-FFF2-40B4-BE49-F238E27FC236}">
                <a16:creationId xmlns:a16="http://schemas.microsoft.com/office/drawing/2014/main" id="{B35D7191-4C2B-04BB-FE7E-4A231CF55C52}"/>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5" name="Picture 2" descr="Clientes y aliados | Centro de Evaluación | Uniandes">
            <a:extLst>
              <a:ext uri="{FF2B5EF4-FFF2-40B4-BE49-F238E27FC236}">
                <a16:creationId xmlns:a16="http://schemas.microsoft.com/office/drawing/2014/main" id="{C7F94364-CBEF-1DAC-6AF0-C87F785B207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17156532-8252-AB88-6468-A1D7232ED691}"/>
              </a:ext>
            </a:extLst>
          </p:cNvPr>
          <p:cNvSpPr/>
          <p:nvPr/>
        </p:nvSpPr>
        <p:spPr>
          <a:xfrm>
            <a:off x="8399257" y="118110"/>
            <a:ext cx="3150778" cy="261610"/>
          </a:xfrm>
          <a:prstGeom prst="rect">
            <a:avLst/>
          </a:prstGeom>
        </p:spPr>
        <p:txBody>
          <a:bodyPr wrap="square">
            <a:spAutoFit/>
          </a:bodyPr>
          <a:lstStyle/>
          <a:p>
            <a:pPr algn="r"/>
            <a:r>
              <a:rPr lang="es-CO" sz="1100" b="1" dirty="0">
                <a:solidFill>
                  <a:schemeClr val="accent2">
                    <a:lumMod val="50000"/>
                  </a:schemeClr>
                </a:solidFill>
                <a:latin typeface="Century Gothic" panose="020B0502020202020204" pitchFamily="34" charset="0"/>
                <a:sym typeface="Gill Sans Light"/>
              </a:rPr>
              <a:t>Curso</a:t>
            </a:r>
            <a:r>
              <a:rPr lang="es-CO" sz="1100" dirty="0">
                <a:solidFill>
                  <a:schemeClr val="accent2">
                    <a:lumMod val="50000"/>
                  </a:schemeClr>
                </a:solidFill>
                <a:latin typeface="Century Gothic" panose="020B0502020202020204" pitchFamily="34" charset="0"/>
                <a:sym typeface="Gill Sans Light"/>
              </a:rPr>
              <a:t> Análisis de Decisiones de Inversión</a:t>
            </a:r>
            <a:endParaRPr lang="es-CO" sz="1100" dirty="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18572583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p:cNvSpPr>
            <a:spLocks noGrp="1"/>
          </p:cNvSpPr>
          <p:nvPr>
            <p:ph idx="1"/>
          </p:nvPr>
        </p:nvSpPr>
        <p:spPr>
          <a:xfrm>
            <a:off x="581192" y="1817914"/>
            <a:ext cx="11029615" cy="4149109"/>
          </a:xfrm>
        </p:spPr>
        <p:txBody>
          <a:bodyPr>
            <a:noAutofit/>
          </a:bodyPr>
          <a:lstStyle/>
          <a:p>
            <a:pPr algn="just">
              <a:buFont typeface="Arial" panose="020B0604020202020204" pitchFamily="34" charset="0"/>
              <a:buChar char="•"/>
            </a:pPr>
            <a:r>
              <a:rPr lang="es-ES" sz="2400" dirty="0"/>
              <a:t>El periodo de recuperación, conocido también como </a:t>
            </a:r>
            <a:r>
              <a:rPr lang="es-ES" sz="2400" dirty="0" err="1"/>
              <a:t>Payback</a:t>
            </a:r>
            <a:r>
              <a:rPr lang="es-ES" sz="2400" dirty="0"/>
              <a:t>, es un indicador de amplia utilización en la vida real. </a:t>
            </a:r>
          </a:p>
          <a:p>
            <a:pPr algn="just">
              <a:buFont typeface="Arial" panose="020B0604020202020204" pitchFamily="34" charset="0"/>
              <a:buChar char="•"/>
            </a:pPr>
            <a:r>
              <a:rPr lang="es-ES" sz="2400" b="1" dirty="0"/>
              <a:t>Consiste en determinar el número de periodos requeridos para recuperar la inversión inicial. </a:t>
            </a:r>
            <a:r>
              <a:rPr lang="es-ES" sz="2400" dirty="0"/>
              <a:t>Sin embargo, la forma en que comúnmente se usa tiene fuertes errores conceptuales ya que no considera el valor del dinero en el tiempo, pues suele utilizarse sumando de manera simple los ingresos/egresos periodo a periodo.</a:t>
            </a:r>
          </a:p>
          <a:p>
            <a:pPr algn="just">
              <a:buFont typeface="Arial" panose="020B0604020202020204" pitchFamily="34" charset="0"/>
              <a:buChar char="•"/>
            </a:pPr>
            <a:r>
              <a:rPr lang="es-ES" sz="2400" dirty="0"/>
              <a:t>Pese a lo anterior, este indicador puede utilizarse siempre y cuando se incluya en el análisis el valor del dinero en el tiempo; esto es, descontar al costo de oportunidad cada flujo generado por el proyecto y sumarlos en valor presente hasta que dicha suma sea superior a la inversión inicial.</a:t>
            </a:r>
          </a:p>
        </p:txBody>
      </p:sp>
      <p:sp>
        <p:nvSpPr>
          <p:cNvPr id="4" name="Marcador de número de diapositiva 3"/>
          <p:cNvSpPr>
            <a:spLocks noGrp="1"/>
          </p:cNvSpPr>
          <p:nvPr>
            <p:ph type="sldNum" sz="quarter" idx="12"/>
          </p:nvPr>
        </p:nvSpPr>
        <p:spPr/>
        <p:txBody>
          <a:bodyPr/>
          <a:lstStyle/>
          <a:p>
            <a:fld id="{5E3E23BA-6E79-2442-BA73-D218A5E297C3}" type="slidenum">
              <a:rPr lang="en-US" smtClean="0"/>
              <a:t>30</a:t>
            </a:fld>
            <a:endParaRPr lang="en-US"/>
          </a:p>
        </p:txBody>
      </p:sp>
      <p:sp>
        <p:nvSpPr>
          <p:cNvPr id="8" name="Rectángulo 7">
            <a:extLst>
              <a:ext uri="{FF2B5EF4-FFF2-40B4-BE49-F238E27FC236}">
                <a16:creationId xmlns:a16="http://schemas.microsoft.com/office/drawing/2014/main" id="{48CBA7C3-3EE8-53E0-1FC9-469E1C0965E1}"/>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9" name="Picture 2" descr="Clientes y aliados | Centro de Evaluación | Uniandes">
            <a:extLst>
              <a:ext uri="{FF2B5EF4-FFF2-40B4-BE49-F238E27FC236}">
                <a16:creationId xmlns:a16="http://schemas.microsoft.com/office/drawing/2014/main" id="{BA0A5453-51E4-AEA0-9DE8-5FD3B291776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10" name="Rectángulo 9">
            <a:extLst>
              <a:ext uri="{FF2B5EF4-FFF2-40B4-BE49-F238E27FC236}">
                <a16:creationId xmlns:a16="http://schemas.microsoft.com/office/drawing/2014/main" id="{D04A86F6-C569-5D30-5E82-7EAB6EB52F0A}"/>
              </a:ext>
            </a:extLst>
          </p:cNvPr>
          <p:cNvSpPr/>
          <p:nvPr/>
        </p:nvSpPr>
        <p:spPr>
          <a:xfrm>
            <a:off x="8399257" y="118110"/>
            <a:ext cx="3150778" cy="261610"/>
          </a:xfrm>
          <a:prstGeom prst="rect">
            <a:avLst/>
          </a:prstGeom>
        </p:spPr>
        <p:txBody>
          <a:bodyPr wrap="square">
            <a:spAutoFit/>
          </a:bodyPr>
          <a:lstStyle/>
          <a:p>
            <a:pPr algn="r"/>
            <a:r>
              <a:rPr lang="es-CO" sz="1100" b="1" dirty="0">
                <a:solidFill>
                  <a:schemeClr val="accent2">
                    <a:lumMod val="50000"/>
                  </a:schemeClr>
                </a:solidFill>
                <a:latin typeface="Century Gothic" panose="020B0502020202020204" pitchFamily="34" charset="0"/>
                <a:sym typeface="Gill Sans Light"/>
              </a:rPr>
              <a:t>Curso</a:t>
            </a:r>
            <a:r>
              <a:rPr lang="es-CO" sz="1100" dirty="0">
                <a:solidFill>
                  <a:schemeClr val="accent2">
                    <a:lumMod val="50000"/>
                  </a:schemeClr>
                </a:solidFill>
                <a:latin typeface="Century Gothic" panose="020B0502020202020204" pitchFamily="34" charset="0"/>
                <a:sym typeface="Gill Sans Light"/>
              </a:rPr>
              <a:t> Análisis de Decisiones de Inversión</a:t>
            </a:r>
            <a:endParaRPr lang="es-CO" sz="1100" dirty="0">
              <a:solidFill>
                <a:schemeClr val="accent2">
                  <a:lumMod val="50000"/>
                </a:schemeClr>
              </a:solidFill>
              <a:latin typeface="Century Gothic" panose="020B0502020202020204" pitchFamily="34" charset="0"/>
            </a:endParaRPr>
          </a:p>
        </p:txBody>
      </p:sp>
      <p:sp>
        <p:nvSpPr>
          <p:cNvPr id="11" name="Título 1">
            <a:extLst>
              <a:ext uri="{FF2B5EF4-FFF2-40B4-BE49-F238E27FC236}">
                <a16:creationId xmlns:a16="http://schemas.microsoft.com/office/drawing/2014/main" id="{B09E8B95-FF44-11F9-9B4E-3791BFB0E7E8}"/>
              </a:ext>
            </a:extLst>
          </p:cNvPr>
          <p:cNvSpPr>
            <a:spLocks noGrp="1"/>
          </p:cNvSpPr>
          <p:nvPr>
            <p:ph type="title"/>
          </p:nvPr>
        </p:nvSpPr>
        <p:spPr>
          <a:xfrm>
            <a:off x="581192" y="702156"/>
            <a:ext cx="11029616" cy="1013800"/>
          </a:xfrm>
        </p:spPr>
        <p:txBody>
          <a:bodyPr>
            <a:normAutofit/>
          </a:bodyPr>
          <a:lstStyle/>
          <a:p>
            <a:r>
              <a:rPr lang="es-ES" sz="3200" dirty="0">
                <a:latin typeface="Century Gothic" panose="020B0502020202020204" pitchFamily="34" charset="0"/>
              </a:rPr>
              <a:t>PayBack</a:t>
            </a:r>
            <a:endParaRPr lang="es-CO" sz="3200" dirty="0">
              <a:latin typeface="Century Gothic" panose="020B0502020202020204" pitchFamily="34" charset="0"/>
            </a:endParaRPr>
          </a:p>
        </p:txBody>
      </p:sp>
    </p:spTree>
    <p:extLst>
      <p:ext uri="{BB962C8B-B14F-4D97-AF65-F5344CB8AC3E}">
        <p14:creationId xmlns:p14="http://schemas.microsoft.com/office/powerpoint/2010/main" val="34532673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p:cNvSpPr>
            <a:spLocks noGrp="1"/>
          </p:cNvSpPr>
          <p:nvPr>
            <p:ph idx="1"/>
          </p:nvPr>
        </p:nvSpPr>
        <p:spPr>
          <a:xfrm>
            <a:off x="581191" y="1817915"/>
            <a:ext cx="11029615" cy="1069150"/>
          </a:xfrm>
        </p:spPr>
        <p:txBody>
          <a:bodyPr>
            <a:noAutofit/>
          </a:bodyPr>
          <a:lstStyle/>
          <a:p>
            <a:pPr marL="0" indent="0" algn="just">
              <a:buNone/>
            </a:pPr>
            <a:r>
              <a:rPr lang="es-ES" sz="2400" b="1" dirty="0"/>
              <a:t>Ejemplo 1:</a:t>
            </a:r>
          </a:p>
          <a:p>
            <a:pPr marL="0" indent="0" algn="just">
              <a:buNone/>
            </a:pPr>
            <a:r>
              <a:rPr lang="es-ES" sz="2400" dirty="0"/>
              <a:t>Suponga los siguientes flujos:</a:t>
            </a:r>
          </a:p>
        </p:txBody>
      </p:sp>
      <p:sp>
        <p:nvSpPr>
          <p:cNvPr id="4" name="Marcador de número de diapositiva 3"/>
          <p:cNvSpPr>
            <a:spLocks noGrp="1"/>
          </p:cNvSpPr>
          <p:nvPr>
            <p:ph type="sldNum" sz="quarter" idx="12"/>
          </p:nvPr>
        </p:nvSpPr>
        <p:spPr/>
        <p:txBody>
          <a:bodyPr/>
          <a:lstStyle/>
          <a:p>
            <a:fld id="{5E3E23BA-6E79-2442-BA73-D218A5E297C3}" type="slidenum">
              <a:rPr lang="en-US" smtClean="0"/>
              <a:t>31</a:t>
            </a:fld>
            <a:endParaRPr lang="en-US"/>
          </a:p>
        </p:txBody>
      </p:sp>
      <p:cxnSp>
        <p:nvCxnSpPr>
          <p:cNvPr id="5" name="Straight Connector 17"/>
          <p:cNvCxnSpPr/>
          <p:nvPr/>
        </p:nvCxnSpPr>
        <p:spPr>
          <a:xfrm>
            <a:off x="4888166" y="3650248"/>
            <a:ext cx="2632079"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Arrow Connector 19"/>
          <p:cNvCxnSpPr/>
          <p:nvPr/>
        </p:nvCxnSpPr>
        <p:spPr>
          <a:xfrm flipV="1">
            <a:off x="5443315" y="3204350"/>
            <a:ext cx="0" cy="458726"/>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7" name="Straight Arrow Connector 20"/>
          <p:cNvCxnSpPr/>
          <p:nvPr/>
        </p:nvCxnSpPr>
        <p:spPr>
          <a:xfrm flipV="1">
            <a:off x="6090397" y="3204351"/>
            <a:ext cx="0" cy="458728"/>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8" name="Straight Arrow Connector 21"/>
          <p:cNvCxnSpPr/>
          <p:nvPr/>
        </p:nvCxnSpPr>
        <p:spPr>
          <a:xfrm flipV="1">
            <a:off x="6777133" y="3204351"/>
            <a:ext cx="0" cy="458728"/>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9" name="Rectangle 22"/>
          <p:cNvSpPr>
            <a:spLocks/>
          </p:cNvSpPr>
          <p:nvPr/>
        </p:nvSpPr>
        <p:spPr bwMode="auto">
          <a:xfrm flipH="1">
            <a:off x="4713993" y="3637867"/>
            <a:ext cx="13172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0</a:t>
            </a:r>
          </a:p>
        </p:txBody>
      </p:sp>
      <p:sp>
        <p:nvSpPr>
          <p:cNvPr id="10" name="Rectangle 23"/>
          <p:cNvSpPr>
            <a:spLocks/>
          </p:cNvSpPr>
          <p:nvPr/>
        </p:nvSpPr>
        <p:spPr bwMode="auto">
          <a:xfrm>
            <a:off x="5274785" y="3661581"/>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1</a:t>
            </a:r>
          </a:p>
        </p:txBody>
      </p:sp>
      <p:sp>
        <p:nvSpPr>
          <p:cNvPr id="11" name="Rectangle 24"/>
          <p:cNvSpPr>
            <a:spLocks/>
          </p:cNvSpPr>
          <p:nvPr/>
        </p:nvSpPr>
        <p:spPr bwMode="auto">
          <a:xfrm>
            <a:off x="5934696" y="3661581"/>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2</a:t>
            </a:r>
          </a:p>
        </p:txBody>
      </p:sp>
      <p:sp>
        <p:nvSpPr>
          <p:cNvPr id="12" name="Rectangle 25"/>
          <p:cNvSpPr>
            <a:spLocks/>
          </p:cNvSpPr>
          <p:nvPr/>
        </p:nvSpPr>
        <p:spPr bwMode="auto">
          <a:xfrm>
            <a:off x="6587104" y="3666152"/>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3</a:t>
            </a:r>
          </a:p>
        </p:txBody>
      </p:sp>
      <p:sp>
        <p:nvSpPr>
          <p:cNvPr id="13" name="Rectangle 31"/>
          <p:cNvSpPr>
            <a:spLocks/>
          </p:cNvSpPr>
          <p:nvPr/>
        </p:nvSpPr>
        <p:spPr bwMode="auto">
          <a:xfrm>
            <a:off x="7347379" y="3661581"/>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4</a:t>
            </a:r>
          </a:p>
        </p:txBody>
      </p:sp>
      <p:cxnSp>
        <p:nvCxnSpPr>
          <p:cNvPr id="14" name="Straight Arrow Connector 32"/>
          <p:cNvCxnSpPr/>
          <p:nvPr/>
        </p:nvCxnSpPr>
        <p:spPr>
          <a:xfrm flipH="1" flipV="1">
            <a:off x="7515739" y="3204351"/>
            <a:ext cx="17335" cy="461362"/>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15" name="Straight Arrow Connector 19"/>
          <p:cNvCxnSpPr/>
          <p:nvPr/>
        </p:nvCxnSpPr>
        <p:spPr>
          <a:xfrm>
            <a:off x="4893014" y="3650248"/>
            <a:ext cx="0" cy="767120"/>
          </a:xfrm>
          <a:prstGeom prst="straightConnector1">
            <a:avLst/>
          </a:prstGeom>
          <a:ln w="28575">
            <a:solidFill>
              <a:schemeClr val="accent4">
                <a:lumMod val="75000"/>
              </a:schemeClr>
            </a:solidFill>
            <a:tailEnd type="arrow"/>
          </a:ln>
        </p:spPr>
        <p:style>
          <a:lnRef idx="2">
            <a:schemeClr val="accent1"/>
          </a:lnRef>
          <a:fillRef idx="0">
            <a:schemeClr val="accent1"/>
          </a:fillRef>
          <a:effectRef idx="1">
            <a:schemeClr val="accent1"/>
          </a:effectRef>
          <a:fontRef idx="minor">
            <a:schemeClr val="tx1"/>
          </a:fontRef>
        </p:style>
      </p:cxnSp>
      <p:sp>
        <p:nvSpPr>
          <p:cNvPr id="19" name="Rectangle 23"/>
          <p:cNvSpPr>
            <a:spLocks/>
          </p:cNvSpPr>
          <p:nvPr/>
        </p:nvSpPr>
        <p:spPr bwMode="auto">
          <a:xfrm>
            <a:off x="4470487" y="4386591"/>
            <a:ext cx="71449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1.000</a:t>
            </a:r>
          </a:p>
        </p:txBody>
      </p:sp>
      <p:sp>
        <p:nvSpPr>
          <p:cNvPr id="20" name="Rectangle 23"/>
          <p:cNvSpPr>
            <a:spLocks/>
          </p:cNvSpPr>
          <p:nvPr/>
        </p:nvSpPr>
        <p:spPr bwMode="auto">
          <a:xfrm>
            <a:off x="5179051" y="2922610"/>
            <a:ext cx="52852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500</a:t>
            </a:r>
          </a:p>
        </p:txBody>
      </p:sp>
      <p:sp>
        <p:nvSpPr>
          <p:cNvPr id="21" name="Rectangle 23"/>
          <p:cNvSpPr>
            <a:spLocks/>
          </p:cNvSpPr>
          <p:nvPr/>
        </p:nvSpPr>
        <p:spPr bwMode="auto">
          <a:xfrm>
            <a:off x="5774817" y="2927353"/>
            <a:ext cx="52852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500</a:t>
            </a:r>
          </a:p>
        </p:txBody>
      </p:sp>
      <p:sp>
        <p:nvSpPr>
          <p:cNvPr id="22" name="Rectangle 23"/>
          <p:cNvSpPr>
            <a:spLocks/>
          </p:cNvSpPr>
          <p:nvPr/>
        </p:nvSpPr>
        <p:spPr bwMode="auto">
          <a:xfrm>
            <a:off x="6461553" y="2912901"/>
            <a:ext cx="52852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500</a:t>
            </a:r>
          </a:p>
        </p:txBody>
      </p:sp>
      <p:sp>
        <p:nvSpPr>
          <p:cNvPr id="23" name="Rectangle 23"/>
          <p:cNvSpPr>
            <a:spLocks/>
          </p:cNvSpPr>
          <p:nvPr/>
        </p:nvSpPr>
        <p:spPr bwMode="auto">
          <a:xfrm>
            <a:off x="7251474" y="2911277"/>
            <a:ext cx="52852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500</a:t>
            </a:r>
          </a:p>
        </p:txBody>
      </p:sp>
      <p:sp>
        <p:nvSpPr>
          <p:cNvPr id="16" name="Rectángulo 15">
            <a:extLst>
              <a:ext uri="{FF2B5EF4-FFF2-40B4-BE49-F238E27FC236}">
                <a16:creationId xmlns:a16="http://schemas.microsoft.com/office/drawing/2014/main" id="{07938327-5899-D6AA-C8B8-9650E2ED9127}"/>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7" name="Picture 2" descr="Clientes y aliados | Centro de Evaluación | Uniandes">
            <a:extLst>
              <a:ext uri="{FF2B5EF4-FFF2-40B4-BE49-F238E27FC236}">
                <a16:creationId xmlns:a16="http://schemas.microsoft.com/office/drawing/2014/main" id="{6E0C389B-C206-A0AA-52C3-D124E4428D8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18" name="Rectángulo 17">
            <a:extLst>
              <a:ext uri="{FF2B5EF4-FFF2-40B4-BE49-F238E27FC236}">
                <a16:creationId xmlns:a16="http://schemas.microsoft.com/office/drawing/2014/main" id="{DE989A7D-BFB5-B240-BCAE-87E3A1E92CE5}"/>
              </a:ext>
            </a:extLst>
          </p:cNvPr>
          <p:cNvSpPr/>
          <p:nvPr/>
        </p:nvSpPr>
        <p:spPr>
          <a:xfrm>
            <a:off x="8399257" y="118110"/>
            <a:ext cx="3150778" cy="261610"/>
          </a:xfrm>
          <a:prstGeom prst="rect">
            <a:avLst/>
          </a:prstGeom>
        </p:spPr>
        <p:txBody>
          <a:bodyPr wrap="square">
            <a:spAutoFit/>
          </a:bodyPr>
          <a:lstStyle/>
          <a:p>
            <a:pPr algn="r"/>
            <a:r>
              <a:rPr lang="es-CO" sz="1100" b="1" dirty="0">
                <a:solidFill>
                  <a:schemeClr val="accent2">
                    <a:lumMod val="50000"/>
                  </a:schemeClr>
                </a:solidFill>
                <a:latin typeface="Century Gothic" panose="020B0502020202020204" pitchFamily="34" charset="0"/>
                <a:sym typeface="Gill Sans Light"/>
              </a:rPr>
              <a:t>Curso</a:t>
            </a:r>
            <a:r>
              <a:rPr lang="es-CO" sz="1100" dirty="0">
                <a:solidFill>
                  <a:schemeClr val="accent2">
                    <a:lumMod val="50000"/>
                  </a:schemeClr>
                </a:solidFill>
                <a:latin typeface="Century Gothic" panose="020B0502020202020204" pitchFamily="34" charset="0"/>
                <a:sym typeface="Gill Sans Light"/>
              </a:rPr>
              <a:t> Análisis de Decisiones de Inversión</a:t>
            </a:r>
            <a:endParaRPr lang="es-CO" sz="1100" dirty="0">
              <a:solidFill>
                <a:schemeClr val="accent2">
                  <a:lumMod val="50000"/>
                </a:schemeClr>
              </a:solidFill>
              <a:latin typeface="Century Gothic" panose="020B0502020202020204" pitchFamily="34" charset="0"/>
            </a:endParaRPr>
          </a:p>
        </p:txBody>
      </p:sp>
      <p:sp>
        <p:nvSpPr>
          <p:cNvPr id="25" name="Título 1">
            <a:extLst>
              <a:ext uri="{FF2B5EF4-FFF2-40B4-BE49-F238E27FC236}">
                <a16:creationId xmlns:a16="http://schemas.microsoft.com/office/drawing/2014/main" id="{4843B27D-AE27-E6E6-FF30-B98DA2D1418C}"/>
              </a:ext>
            </a:extLst>
          </p:cNvPr>
          <p:cNvSpPr>
            <a:spLocks noGrp="1"/>
          </p:cNvSpPr>
          <p:nvPr>
            <p:ph type="title"/>
          </p:nvPr>
        </p:nvSpPr>
        <p:spPr>
          <a:xfrm>
            <a:off x="581192" y="702156"/>
            <a:ext cx="11029616" cy="1013800"/>
          </a:xfrm>
        </p:spPr>
        <p:txBody>
          <a:bodyPr>
            <a:normAutofit/>
          </a:bodyPr>
          <a:lstStyle/>
          <a:p>
            <a:r>
              <a:rPr lang="es-ES" sz="3200" dirty="0">
                <a:latin typeface="Century Gothic" panose="020B0502020202020204" pitchFamily="34" charset="0"/>
              </a:rPr>
              <a:t>pAyback</a:t>
            </a:r>
            <a:endParaRPr lang="es-CO" sz="3200" dirty="0">
              <a:latin typeface="Century Gothic" panose="020B0502020202020204" pitchFamily="34" charset="0"/>
            </a:endParaRPr>
          </a:p>
        </p:txBody>
      </p:sp>
      <p:sp>
        <p:nvSpPr>
          <p:cNvPr id="27" name="CuadroTexto 26">
            <a:extLst>
              <a:ext uri="{FF2B5EF4-FFF2-40B4-BE49-F238E27FC236}">
                <a16:creationId xmlns:a16="http://schemas.microsoft.com/office/drawing/2014/main" id="{1EA45E38-5876-D649-E626-264F41CA17DE}"/>
              </a:ext>
            </a:extLst>
          </p:cNvPr>
          <p:cNvSpPr txBox="1"/>
          <p:nvPr/>
        </p:nvSpPr>
        <p:spPr>
          <a:xfrm>
            <a:off x="581191" y="4529582"/>
            <a:ext cx="11029613" cy="1569660"/>
          </a:xfrm>
          <a:prstGeom prst="rect">
            <a:avLst/>
          </a:prstGeom>
          <a:noFill/>
        </p:spPr>
        <p:txBody>
          <a:bodyPr wrap="square">
            <a:spAutoFit/>
          </a:bodyPr>
          <a:lstStyle/>
          <a:p>
            <a:pPr algn="just"/>
            <a:endParaRPr lang="es-ES" sz="2400" dirty="0"/>
          </a:p>
          <a:p>
            <a:pPr marL="0" indent="0" algn="just">
              <a:buNone/>
            </a:pPr>
            <a:r>
              <a:rPr lang="es-ES" sz="2400" dirty="0"/>
              <a:t>Comúnmente (equivocadamente) y sin considerar el valor del dinero en el tiempo se diría que el </a:t>
            </a:r>
            <a:r>
              <a:rPr lang="es-ES" sz="2400" b="1" dirty="0"/>
              <a:t>periodo de recuperación </a:t>
            </a:r>
            <a:r>
              <a:rPr lang="es-ES" sz="2400" dirty="0"/>
              <a:t>de este proyecto es de </a:t>
            </a:r>
            <a:r>
              <a:rPr lang="es-ES" sz="2400" b="1" dirty="0"/>
              <a:t>2</a:t>
            </a:r>
            <a:r>
              <a:rPr lang="es-ES" sz="2400" dirty="0"/>
              <a:t>. Sin embargo, al tener en cuenta un costo de oportunidad el resultado es diferente.</a:t>
            </a:r>
          </a:p>
        </p:txBody>
      </p:sp>
    </p:spTree>
    <p:extLst>
      <p:ext uri="{BB962C8B-B14F-4D97-AF65-F5344CB8AC3E}">
        <p14:creationId xmlns:p14="http://schemas.microsoft.com/office/powerpoint/2010/main" val="44607109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DBCBF5-1A02-2E42-ABAF-D5E2A132F237}"/>
            </a:ext>
          </a:extLst>
        </p:cNvPr>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88A22937-5180-CF27-6B7E-29367B8FBE85}"/>
              </a:ext>
            </a:extLst>
          </p:cNvPr>
          <p:cNvSpPr>
            <a:spLocks noGrp="1"/>
          </p:cNvSpPr>
          <p:nvPr>
            <p:ph idx="1"/>
          </p:nvPr>
        </p:nvSpPr>
        <p:spPr>
          <a:xfrm>
            <a:off x="581191" y="1817915"/>
            <a:ext cx="11029615" cy="1069150"/>
          </a:xfrm>
        </p:spPr>
        <p:txBody>
          <a:bodyPr>
            <a:noAutofit/>
          </a:bodyPr>
          <a:lstStyle/>
          <a:p>
            <a:pPr marL="0" indent="0" algn="just">
              <a:buNone/>
            </a:pPr>
            <a:r>
              <a:rPr lang="es-ES" sz="2400" b="1" dirty="0"/>
              <a:t>Ejemplo 1:</a:t>
            </a:r>
          </a:p>
          <a:p>
            <a:pPr marL="0" indent="0" algn="just">
              <a:buNone/>
            </a:pPr>
            <a:r>
              <a:rPr lang="es-ES" sz="2400" dirty="0"/>
              <a:t>Suponga los siguientes flujos:</a:t>
            </a:r>
          </a:p>
        </p:txBody>
      </p:sp>
      <p:sp>
        <p:nvSpPr>
          <p:cNvPr id="4" name="Marcador de número de diapositiva 3">
            <a:extLst>
              <a:ext uri="{FF2B5EF4-FFF2-40B4-BE49-F238E27FC236}">
                <a16:creationId xmlns:a16="http://schemas.microsoft.com/office/drawing/2014/main" id="{4C910905-C282-5A62-41BB-C3FFABACFB4C}"/>
              </a:ext>
            </a:extLst>
          </p:cNvPr>
          <p:cNvSpPr>
            <a:spLocks noGrp="1"/>
          </p:cNvSpPr>
          <p:nvPr>
            <p:ph type="sldNum" sz="quarter" idx="12"/>
          </p:nvPr>
        </p:nvSpPr>
        <p:spPr/>
        <p:txBody>
          <a:bodyPr/>
          <a:lstStyle/>
          <a:p>
            <a:fld id="{5E3E23BA-6E79-2442-BA73-D218A5E297C3}" type="slidenum">
              <a:rPr lang="en-US" smtClean="0"/>
              <a:t>32</a:t>
            </a:fld>
            <a:endParaRPr lang="en-US"/>
          </a:p>
        </p:txBody>
      </p:sp>
      <p:cxnSp>
        <p:nvCxnSpPr>
          <p:cNvPr id="5" name="Straight Connector 17">
            <a:extLst>
              <a:ext uri="{FF2B5EF4-FFF2-40B4-BE49-F238E27FC236}">
                <a16:creationId xmlns:a16="http://schemas.microsoft.com/office/drawing/2014/main" id="{3D1B5D09-03B1-6419-E7AF-DC11D04E0C44}"/>
              </a:ext>
            </a:extLst>
          </p:cNvPr>
          <p:cNvCxnSpPr/>
          <p:nvPr/>
        </p:nvCxnSpPr>
        <p:spPr>
          <a:xfrm>
            <a:off x="4888166" y="3650248"/>
            <a:ext cx="2632079"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Arrow Connector 19">
            <a:extLst>
              <a:ext uri="{FF2B5EF4-FFF2-40B4-BE49-F238E27FC236}">
                <a16:creationId xmlns:a16="http://schemas.microsoft.com/office/drawing/2014/main" id="{DA7D9E7C-5E9A-D277-4C70-5429F3231DE0}"/>
              </a:ext>
            </a:extLst>
          </p:cNvPr>
          <p:cNvCxnSpPr/>
          <p:nvPr/>
        </p:nvCxnSpPr>
        <p:spPr>
          <a:xfrm flipV="1">
            <a:off x="5443315" y="3204350"/>
            <a:ext cx="0" cy="458726"/>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7" name="Straight Arrow Connector 20">
            <a:extLst>
              <a:ext uri="{FF2B5EF4-FFF2-40B4-BE49-F238E27FC236}">
                <a16:creationId xmlns:a16="http://schemas.microsoft.com/office/drawing/2014/main" id="{8F83B75D-3694-3682-6D8A-EA935A6EA970}"/>
              </a:ext>
            </a:extLst>
          </p:cNvPr>
          <p:cNvCxnSpPr/>
          <p:nvPr/>
        </p:nvCxnSpPr>
        <p:spPr>
          <a:xfrm flipV="1">
            <a:off x="6090397" y="3204351"/>
            <a:ext cx="0" cy="458728"/>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8" name="Straight Arrow Connector 21">
            <a:extLst>
              <a:ext uri="{FF2B5EF4-FFF2-40B4-BE49-F238E27FC236}">
                <a16:creationId xmlns:a16="http://schemas.microsoft.com/office/drawing/2014/main" id="{792391B0-051D-DC15-80F2-E536FEBE2DBB}"/>
              </a:ext>
            </a:extLst>
          </p:cNvPr>
          <p:cNvCxnSpPr/>
          <p:nvPr/>
        </p:nvCxnSpPr>
        <p:spPr>
          <a:xfrm flipV="1">
            <a:off x="6777133" y="3204351"/>
            <a:ext cx="0" cy="458728"/>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9" name="Rectangle 22">
            <a:extLst>
              <a:ext uri="{FF2B5EF4-FFF2-40B4-BE49-F238E27FC236}">
                <a16:creationId xmlns:a16="http://schemas.microsoft.com/office/drawing/2014/main" id="{3ABD550A-886C-832E-2C7A-8F80CBD66983}"/>
              </a:ext>
            </a:extLst>
          </p:cNvPr>
          <p:cNvSpPr>
            <a:spLocks/>
          </p:cNvSpPr>
          <p:nvPr/>
        </p:nvSpPr>
        <p:spPr bwMode="auto">
          <a:xfrm flipH="1">
            <a:off x="4713993" y="3637867"/>
            <a:ext cx="13172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0</a:t>
            </a:r>
          </a:p>
        </p:txBody>
      </p:sp>
      <p:sp>
        <p:nvSpPr>
          <p:cNvPr id="10" name="Rectangle 23">
            <a:extLst>
              <a:ext uri="{FF2B5EF4-FFF2-40B4-BE49-F238E27FC236}">
                <a16:creationId xmlns:a16="http://schemas.microsoft.com/office/drawing/2014/main" id="{4A9FF337-837E-9C76-BC3B-FF72FAB33523}"/>
              </a:ext>
            </a:extLst>
          </p:cNvPr>
          <p:cNvSpPr>
            <a:spLocks/>
          </p:cNvSpPr>
          <p:nvPr/>
        </p:nvSpPr>
        <p:spPr bwMode="auto">
          <a:xfrm>
            <a:off x="5274785" y="3661581"/>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1</a:t>
            </a:r>
          </a:p>
        </p:txBody>
      </p:sp>
      <p:sp>
        <p:nvSpPr>
          <p:cNvPr id="11" name="Rectangle 24">
            <a:extLst>
              <a:ext uri="{FF2B5EF4-FFF2-40B4-BE49-F238E27FC236}">
                <a16:creationId xmlns:a16="http://schemas.microsoft.com/office/drawing/2014/main" id="{29E3D85C-B393-4666-0566-287EA14FD4C2}"/>
              </a:ext>
            </a:extLst>
          </p:cNvPr>
          <p:cNvSpPr>
            <a:spLocks/>
          </p:cNvSpPr>
          <p:nvPr/>
        </p:nvSpPr>
        <p:spPr bwMode="auto">
          <a:xfrm>
            <a:off x="5934696" y="3661581"/>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2</a:t>
            </a:r>
          </a:p>
        </p:txBody>
      </p:sp>
      <p:sp>
        <p:nvSpPr>
          <p:cNvPr id="12" name="Rectangle 25">
            <a:extLst>
              <a:ext uri="{FF2B5EF4-FFF2-40B4-BE49-F238E27FC236}">
                <a16:creationId xmlns:a16="http://schemas.microsoft.com/office/drawing/2014/main" id="{BF8CCCBB-2F19-1E37-7F56-06D27339EE47}"/>
              </a:ext>
            </a:extLst>
          </p:cNvPr>
          <p:cNvSpPr>
            <a:spLocks/>
          </p:cNvSpPr>
          <p:nvPr/>
        </p:nvSpPr>
        <p:spPr bwMode="auto">
          <a:xfrm>
            <a:off x="6587104" y="3666152"/>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3</a:t>
            </a:r>
          </a:p>
        </p:txBody>
      </p:sp>
      <p:sp>
        <p:nvSpPr>
          <p:cNvPr id="13" name="Rectangle 31">
            <a:extLst>
              <a:ext uri="{FF2B5EF4-FFF2-40B4-BE49-F238E27FC236}">
                <a16:creationId xmlns:a16="http://schemas.microsoft.com/office/drawing/2014/main" id="{5B1B9470-570E-9743-12FF-16A27D8E4376}"/>
              </a:ext>
            </a:extLst>
          </p:cNvPr>
          <p:cNvSpPr>
            <a:spLocks/>
          </p:cNvSpPr>
          <p:nvPr/>
        </p:nvSpPr>
        <p:spPr bwMode="auto">
          <a:xfrm>
            <a:off x="7347379" y="3661581"/>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4</a:t>
            </a:r>
          </a:p>
        </p:txBody>
      </p:sp>
      <p:cxnSp>
        <p:nvCxnSpPr>
          <p:cNvPr id="14" name="Straight Arrow Connector 32">
            <a:extLst>
              <a:ext uri="{FF2B5EF4-FFF2-40B4-BE49-F238E27FC236}">
                <a16:creationId xmlns:a16="http://schemas.microsoft.com/office/drawing/2014/main" id="{BDA77367-3F8A-77E9-102C-5D3BB91BA610}"/>
              </a:ext>
            </a:extLst>
          </p:cNvPr>
          <p:cNvCxnSpPr/>
          <p:nvPr/>
        </p:nvCxnSpPr>
        <p:spPr>
          <a:xfrm flipH="1" flipV="1">
            <a:off x="7515739" y="3204351"/>
            <a:ext cx="17335" cy="461362"/>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15" name="Straight Arrow Connector 19">
            <a:extLst>
              <a:ext uri="{FF2B5EF4-FFF2-40B4-BE49-F238E27FC236}">
                <a16:creationId xmlns:a16="http://schemas.microsoft.com/office/drawing/2014/main" id="{6160B10F-1071-93EF-8072-EDA07426BFF7}"/>
              </a:ext>
            </a:extLst>
          </p:cNvPr>
          <p:cNvCxnSpPr/>
          <p:nvPr/>
        </p:nvCxnSpPr>
        <p:spPr>
          <a:xfrm>
            <a:off x="4893014" y="3650248"/>
            <a:ext cx="0" cy="767120"/>
          </a:xfrm>
          <a:prstGeom prst="straightConnector1">
            <a:avLst/>
          </a:prstGeom>
          <a:ln w="28575">
            <a:solidFill>
              <a:schemeClr val="accent4">
                <a:lumMod val="75000"/>
              </a:schemeClr>
            </a:solidFill>
            <a:tailEnd type="arrow"/>
          </a:ln>
        </p:spPr>
        <p:style>
          <a:lnRef idx="2">
            <a:schemeClr val="accent1"/>
          </a:lnRef>
          <a:fillRef idx="0">
            <a:schemeClr val="accent1"/>
          </a:fillRef>
          <a:effectRef idx="1">
            <a:schemeClr val="accent1"/>
          </a:effectRef>
          <a:fontRef idx="minor">
            <a:schemeClr val="tx1"/>
          </a:fontRef>
        </p:style>
      </p:cxnSp>
      <p:sp>
        <p:nvSpPr>
          <p:cNvPr id="19" name="Rectangle 23">
            <a:extLst>
              <a:ext uri="{FF2B5EF4-FFF2-40B4-BE49-F238E27FC236}">
                <a16:creationId xmlns:a16="http://schemas.microsoft.com/office/drawing/2014/main" id="{488D1284-6D06-9CED-5C04-5AB75B59A5B0}"/>
              </a:ext>
            </a:extLst>
          </p:cNvPr>
          <p:cNvSpPr>
            <a:spLocks/>
          </p:cNvSpPr>
          <p:nvPr/>
        </p:nvSpPr>
        <p:spPr bwMode="auto">
          <a:xfrm>
            <a:off x="4470487" y="4386591"/>
            <a:ext cx="71449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1.000</a:t>
            </a:r>
          </a:p>
        </p:txBody>
      </p:sp>
      <p:sp>
        <p:nvSpPr>
          <p:cNvPr id="20" name="Rectangle 23">
            <a:extLst>
              <a:ext uri="{FF2B5EF4-FFF2-40B4-BE49-F238E27FC236}">
                <a16:creationId xmlns:a16="http://schemas.microsoft.com/office/drawing/2014/main" id="{AFA6A6E8-7F0F-9D1D-7681-AF915EC15702}"/>
              </a:ext>
            </a:extLst>
          </p:cNvPr>
          <p:cNvSpPr>
            <a:spLocks/>
          </p:cNvSpPr>
          <p:nvPr/>
        </p:nvSpPr>
        <p:spPr bwMode="auto">
          <a:xfrm>
            <a:off x="5179051" y="2922610"/>
            <a:ext cx="52852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500</a:t>
            </a:r>
          </a:p>
        </p:txBody>
      </p:sp>
      <p:sp>
        <p:nvSpPr>
          <p:cNvPr id="21" name="Rectangle 23">
            <a:extLst>
              <a:ext uri="{FF2B5EF4-FFF2-40B4-BE49-F238E27FC236}">
                <a16:creationId xmlns:a16="http://schemas.microsoft.com/office/drawing/2014/main" id="{CE23771C-491C-EE2F-0F4D-D301F0995F0C}"/>
              </a:ext>
            </a:extLst>
          </p:cNvPr>
          <p:cNvSpPr>
            <a:spLocks/>
          </p:cNvSpPr>
          <p:nvPr/>
        </p:nvSpPr>
        <p:spPr bwMode="auto">
          <a:xfrm>
            <a:off x="5774817" y="2927353"/>
            <a:ext cx="52852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500</a:t>
            </a:r>
          </a:p>
        </p:txBody>
      </p:sp>
      <p:sp>
        <p:nvSpPr>
          <p:cNvPr id="22" name="Rectangle 23">
            <a:extLst>
              <a:ext uri="{FF2B5EF4-FFF2-40B4-BE49-F238E27FC236}">
                <a16:creationId xmlns:a16="http://schemas.microsoft.com/office/drawing/2014/main" id="{EF5BA3F9-2E93-6028-3045-0240766BE250}"/>
              </a:ext>
            </a:extLst>
          </p:cNvPr>
          <p:cNvSpPr>
            <a:spLocks/>
          </p:cNvSpPr>
          <p:nvPr/>
        </p:nvSpPr>
        <p:spPr bwMode="auto">
          <a:xfrm>
            <a:off x="6461553" y="2912901"/>
            <a:ext cx="52852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500</a:t>
            </a:r>
          </a:p>
        </p:txBody>
      </p:sp>
      <p:sp>
        <p:nvSpPr>
          <p:cNvPr id="23" name="Rectangle 23">
            <a:extLst>
              <a:ext uri="{FF2B5EF4-FFF2-40B4-BE49-F238E27FC236}">
                <a16:creationId xmlns:a16="http://schemas.microsoft.com/office/drawing/2014/main" id="{236C70B4-2B40-7E54-7AD3-7640FA42DEAC}"/>
              </a:ext>
            </a:extLst>
          </p:cNvPr>
          <p:cNvSpPr>
            <a:spLocks/>
          </p:cNvSpPr>
          <p:nvPr/>
        </p:nvSpPr>
        <p:spPr bwMode="auto">
          <a:xfrm>
            <a:off x="7251474" y="2911277"/>
            <a:ext cx="52852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500</a:t>
            </a:r>
          </a:p>
        </p:txBody>
      </p:sp>
      <p:sp>
        <p:nvSpPr>
          <p:cNvPr id="16" name="Rectángulo 15">
            <a:extLst>
              <a:ext uri="{FF2B5EF4-FFF2-40B4-BE49-F238E27FC236}">
                <a16:creationId xmlns:a16="http://schemas.microsoft.com/office/drawing/2014/main" id="{6F08F7C4-8DA6-5C0A-F3CD-FF3DCF7FEEEA}"/>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7" name="Picture 2" descr="Clientes y aliados | Centro de Evaluación | Uniandes">
            <a:extLst>
              <a:ext uri="{FF2B5EF4-FFF2-40B4-BE49-F238E27FC236}">
                <a16:creationId xmlns:a16="http://schemas.microsoft.com/office/drawing/2014/main" id="{F46DF016-F514-E313-CC92-B1C5AD1D5C1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18" name="Rectángulo 17">
            <a:extLst>
              <a:ext uri="{FF2B5EF4-FFF2-40B4-BE49-F238E27FC236}">
                <a16:creationId xmlns:a16="http://schemas.microsoft.com/office/drawing/2014/main" id="{C62A4C48-42CF-8ABC-294F-672D613C590B}"/>
              </a:ext>
            </a:extLst>
          </p:cNvPr>
          <p:cNvSpPr/>
          <p:nvPr/>
        </p:nvSpPr>
        <p:spPr>
          <a:xfrm>
            <a:off x="8399257" y="118110"/>
            <a:ext cx="3150778" cy="261610"/>
          </a:xfrm>
          <a:prstGeom prst="rect">
            <a:avLst/>
          </a:prstGeom>
        </p:spPr>
        <p:txBody>
          <a:bodyPr wrap="square">
            <a:spAutoFit/>
          </a:bodyPr>
          <a:lstStyle/>
          <a:p>
            <a:pPr algn="r"/>
            <a:r>
              <a:rPr lang="es-CO" sz="1100" b="1" dirty="0">
                <a:solidFill>
                  <a:schemeClr val="accent2">
                    <a:lumMod val="50000"/>
                  </a:schemeClr>
                </a:solidFill>
                <a:latin typeface="Century Gothic" panose="020B0502020202020204" pitchFamily="34" charset="0"/>
                <a:sym typeface="Gill Sans Light"/>
              </a:rPr>
              <a:t>Curso</a:t>
            </a:r>
            <a:r>
              <a:rPr lang="es-CO" sz="1100" dirty="0">
                <a:solidFill>
                  <a:schemeClr val="accent2">
                    <a:lumMod val="50000"/>
                  </a:schemeClr>
                </a:solidFill>
                <a:latin typeface="Century Gothic" panose="020B0502020202020204" pitchFamily="34" charset="0"/>
                <a:sym typeface="Gill Sans Light"/>
              </a:rPr>
              <a:t> Análisis de Decisiones de Inversión</a:t>
            </a:r>
            <a:endParaRPr lang="es-CO" sz="1100" dirty="0">
              <a:solidFill>
                <a:schemeClr val="accent2">
                  <a:lumMod val="50000"/>
                </a:schemeClr>
              </a:solidFill>
              <a:latin typeface="Century Gothic" panose="020B0502020202020204" pitchFamily="34" charset="0"/>
            </a:endParaRPr>
          </a:p>
        </p:txBody>
      </p:sp>
      <p:sp>
        <p:nvSpPr>
          <p:cNvPr id="25" name="Título 1">
            <a:extLst>
              <a:ext uri="{FF2B5EF4-FFF2-40B4-BE49-F238E27FC236}">
                <a16:creationId xmlns:a16="http://schemas.microsoft.com/office/drawing/2014/main" id="{51DC5746-59D6-3F94-1FFE-321FD1D546DA}"/>
              </a:ext>
            </a:extLst>
          </p:cNvPr>
          <p:cNvSpPr>
            <a:spLocks noGrp="1"/>
          </p:cNvSpPr>
          <p:nvPr>
            <p:ph type="title"/>
          </p:nvPr>
        </p:nvSpPr>
        <p:spPr>
          <a:xfrm>
            <a:off x="581192" y="702156"/>
            <a:ext cx="11029616" cy="1013800"/>
          </a:xfrm>
        </p:spPr>
        <p:txBody>
          <a:bodyPr>
            <a:normAutofit/>
          </a:bodyPr>
          <a:lstStyle/>
          <a:p>
            <a:r>
              <a:rPr lang="es-ES" sz="3200" dirty="0">
                <a:latin typeface="Century Gothic" panose="020B0502020202020204" pitchFamily="34" charset="0"/>
              </a:rPr>
              <a:t>pAyback</a:t>
            </a:r>
            <a:endParaRPr lang="es-CO" sz="3200" dirty="0">
              <a:latin typeface="Century Gothic" panose="020B0502020202020204" pitchFamily="34" charset="0"/>
            </a:endParaRPr>
          </a:p>
        </p:txBody>
      </p:sp>
      <p:sp>
        <p:nvSpPr>
          <p:cNvPr id="27" name="CuadroTexto 26">
            <a:extLst>
              <a:ext uri="{FF2B5EF4-FFF2-40B4-BE49-F238E27FC236}">
                <a16:creationId xmlns:a16="http://schemas.microsoft.com/office/drawing/2014/main" id="{6DE12170-2F9F-655A-AC94-70A700094BCC}"/>
              </a:ext>
            </a:extLst>
          </p:cNvPr>
          <p:cNvSpPr txBox="1"/>
          <p:nvPr/>
        </p:nvSpPr>
        <p:spPr>
          <a:xfrm>
            <a:off x="581191" y="4812611"/>
            <a:ext cx="11029613" cy="1200329"/>
          </a:xfrm>
          <a:prstGeom prst="rect">
            <a:avLst/>
          </a:prstGeom>
          <a:noFill/>
        </p:spPr>
        <p:txBody>
          <a:bodyPr wrap="square">
            <a:spAutoFit/>
          </a:bodyPr>
          <a:lstStyle/>
          <a:p>
            <a:pPr algn="just"/>
            <a:endParaRPr lang="es-ES" sz="2400" dirty="0"/>
          </a:p>
          <a:p>
            <a:pPr algn="ctr"/>
            <a:r>
              <a:rPr lang="es-ES" sz="2400" dirty="0"/>
              <a:t>Si el costo de oportunidad fuese por ejemplo 10%, el periodo de recuperación sería diferente.</a:t>
            </a:r>
          </a:p>
        </p:txBody>
      </p:sp>
    </p:spTree>
    <p:extLst>
      <p:ext uri="{BB962C8B-B14F-4D97-AF65-F5344CB8AC3E}">
        <p14:creationId xmlns:p14="http://schemas.microsoft.com/office/powerpoint/2010/main" val="13881726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p:cNvSpPr>
            <a:spLocks noGrp="1"/>
          </p:cNvSpPr>
          <p:nvPr>
            <p:ph idx="1"/>
          </p:nvPr>
        </p:nvSpPr>
        <p:spPr>
          <a:xfrm>
            <a:off x="581191" y="1823245"/>
            <a:ext cx="11029615" cy="511144"/>
          </a:xfrm>
        </p:spPr>
        <p:txBody>
          <a:bodyPr>
            <a:normAutofit/>
          </a:bodyPr>
          <a:lstStyle/>
          <a:p>
            <a:pPr marL="0" indent="0">
              <a:buNone/>
            </a:pPr>
            <a:r>
              <a:rPr lang="es-ES" sz="2400" dirty="0"/>
              <a:t>¿Cuándo recupero la inversión?</a:t>
            </a:r>
          </a:p>
        </p:txBody>
      </p:sp>
      <p:sp>
        <p:nvSpPr>
          <p:cNvPr id="4" name="Marcador de número de diapositiva 3"/>
          <p:cNvSpPr>
            <a:spLocks noGrp="1"/>
          </p:cNvSpPr>
          <p:nvPr>
            <p:ph type="sldNum" sz="quarter" idx="12"/>
          </p:nvPr>
        </p:nvSpPr>
        <p:spPr/>
        <p:txBody>
          <a:bodyPr/>
          <a:lstStyle/>
          <a:p>
            <a:fld id="{5E3E23BA-6E79-2442-BA73-D218A5E297C3}" type="slidenum">
              <a:rPr lang="en-US" smtClean="0"/>
              <a:t>33</a:t>
            </a:fld>
            <a:endParaRPr lang="en-US"/>
          </a:p>
        </p:txBody>
      </p:sp>
      <p:pic>
        <p:nvPicPr>
          <p:cNvPr id="8" name="Imagen 7"/>
          <p:cNvPicPr>
            <a:picLocks noChangeAspect="1"/>
          </p:cNvPicPr>
          <p:nvPr/>
        </p:nvPicPr>
        <p:blipFill>
          <a:blip r:embed="rId2"/>
          <a:stretch>
            <a:fillRect/>
          </a:stretch>
        </p:blipFill>
        <p:spPr>
          <a:xfrm>
            <a:off x="3376155" y="2536726"/>
            <a:ext cx="3761236" cy="643675"/>
          </a:xfrm>
          <a:prstGeom prst="rect">
            <a:avLst/>
          </a:prstGeom>
        </p:spPr>
      </p:pic>
      <p:pic>
        <p:nvPicPr>
          <p:cNvPr id="9" name="Imagen 8"/>
          <p:cNvPicPr>
            <a:picLocks noChangeAspect="1"/>
          </p:cNvPicPr>
          <p:nvPr/>
        </p:nvPicPr>
        <p:blipFill>
          <a:blip r:embed="rId3"/>
          <a:stretch>
            <a:fillRect/>
          </a:stretch>
        </p:blipFill>
        <p:spPr>
          <a:xfrm>
            <a:off x="3388984" y="3611704"/>
            <a:ext cx="5399152" cy="632059"/>
          </a:xfrm>
          <a:prstGeom prst="rect">
            <a:avLst/>
          </a:prstGeom>
        </p:spPr>
      </p:pic>
      <p:pic>
        <p:nvPicPr>
          <p:cNvPr id="10" name="Imagen 9"/>
          <p:cNvPicPr>
            <a:picLocks noChangeAspect="1"/>
          </p:cNvPicPr>
          <p:nvPr/>
        </p:nvPicPr>
        <p:blipFill>
          <a:blip r:embed="rId4"/>
          <a:stretch>
            <a:fillRect/>
          </a:stretch>
        </p:blipFill>
        <p:spPr>
          <a:xfrm>
            <a:off x="3341338" y="4781128"/>
            <a:ext cx="7192920" cy="658954"/>
          </a:xfrm>
          <a:prstGeom prst="rect">
            <a:avLst/>
          </a:prstGeom>
        </p:spPr>
      </p:pic>
      <p:sp>
        <p:nvSpPr>
          <p:cNvPr id="11" name="CuadroTexto 10"/>
          <p:cNvSpPr txBox="1"/>
          <p:nvPr/>
        </p:nvSpPr>
        <p:spPr>
          <a:xfrm>
            <a:off x="1642108" y="2648235"/>
            <a:ext cx="2039840" cy="461665"/>
          </a:xfrm>
          <a:prstGeom prst="rect">
            <a:avLst/>
          </a:prstGeom>
          <a:noFill/>
        </p:spPr>
        <p:txBody>
          <a:bodyPr wrap="square" rtlCol="0">
            <a:spAutoFit/>
          </a:bodyPr>
          <a:lstStyle/>
          <a:p>
            <a:r>
              <a:rPr lang="es-ES" sz="2400" b="1" dirty="0">
                <a:solidFill>
                  <a:srgbClr val="800000"/>
                </a:solidFill>
              </a:rPr>
              <a:t>1 periodo:</a:t>
            </a:r>
          </a:p>
        </p:txBody>
      </p:sp>
      <p:sp>
        <p:nvSpPr>
          <p:cNvPr id="12" name="CuadroTexto 11"/>
          <p:cNvSpPr txBox="1"/>
          <p:nvPr/>
        </p:nvSpPr>
        <p:spPr>
          <a:xfrm>
            <a:off x="1642108" y="3693206"/>
            <a:ext cx="2039840" cy="461665"/>
          </a:xfrm>
          <a:prstGeom prst="rect">
            <a:avLst/>
          </a:prstGeom>
          <a:noFill/>
        </p:spPr>
        <p:txBody>
          <a:bodyPr wrap="square" rtlCol="0">
            <a:spAutoFit/>
          </a:bodyPr>
          <a:lstStyle/>
          <a:p>
            <a:r>
              <a:rPr lang="es-ES" sz="2400" b="1" dirty="0">
                <a:solidFill>
                  <a:srgbClr val="800000"/>
                </a:solidFill>
              </a:rPr>
              <a:t>2 periodos:</a:t>
            </a:r>
          </a:p>
        </p:txBody>
      </p:sp>
      <p:sp>
        <p:nvSpPr>
          <p:cNvPr id="13" name="CuadroTexto 12"/>
          <p:cNvSpPr txBox="1"/>
          <p:nvPr/>
        </p:nvSpPr>
        <p:spPr>
          <a:xfrm>
            <a:off x="1594462" y="4852331"/>
            <a:ext cx="2039840" cy="461665"/>
          </a:xfrm>
          <a:prstGeom prst="rect">
            <a:avLst/>
          </a:prstGeom>
          <a:noFill/>
        </p:spPr>
        <p:txBody>
          <a:bodyPr wrap="square" rtlCol="0">
            <a:spAutoFit/>
          </a:bodyPr>
          <a:lstStyle/>
          <a:p>
            <a:r>
              <a:rPr lang="es-ES" sz="2400" b="1" dirty="0">
                <a:solidFill>
                  <a:srgbClr val="800000"/>
                </a:solidFill>
              </a:rPr>
              <a:t>3 periodos:</a:t>
            </a:r>
          </a:p>
        </p:txBody>
      </p:sp>
      <p:sp>
        <p:nvSpPr>
          <p:cNvPr id="14" name="CuadroTexto 13"/>
          <p:cNvSpPr txBox="1"/>
          <p:nvPr/>
        </p:nvSpPr>
        <p:spPr>
          <a:xfrm>
            <a:off x="7478487" y="2566573"/>
            <a:ext cx="1112990" cy="461665"/>
          </a:xfrm>
          <a:prstGeom prst="rect">
            <a:avLst/>
          </a:prstGeom>
          <a:noFill/>
        </p:spPr>
        <p:txBody>
          <a:bodyPr wrap="square" rtlCol="0">
            <a:spAutoFit/>
          </a:bodyPr>
          <a:lstStyle/>
          <a:p>
            <a:pPr algn="ctr"/>
            <a:r>
              <a:rPr lang="es-ES" sz="1200" b="1" dirty="0">
                <a:solidFill>
                  <a:srgbClr val="800000"/>
                </a:solidFill>
              </a:rPr>
              <a:t>No se ha recuperado</a:t>
            </a:r>
          </a:p>
        </p:txBody>
      </p:sp>
      <p:sp>
        <p:nvSpPr>
          <p:cNvPr id="15" name="CuadroTexto 14"/>
          <p:cNvSpPr txBox="1"/>
          <p:nvPr/>
        </p:nvSpPr>
        <p:spPr>
          <a:xfrm>
            <a:off x="9170389" y="3655157"/>
            <a:ext cx="1112990" cy="461665"/>
          </a:xfrm>
          <a:prstGeom prst="rect">
            <a:avLst/>
          </a:prstGeom>
          <a:noFill/>
        </p:spPr>
        <p:txBody>
          <a:bodyPr wrap="square" rtlCol="0">
            <a:spAutoFit/>
          </a:bodyPr>
          <a:lstStyle/>
          <a:p>
            <a:pPr algn="ctr"/>
            <a:r>
              <a:rPr lang="es-ES" sz="1200" b="1" dirty="0">
                <a:solidFill>
                  <a:srgbClr val="800000"/>
                </a:solidFill>
              </a:rPr>
              <a:t>No se ha recuperado</a:t>
            </a:r>
          </a:p>
        </p:txBody>
      </p:sp>
      <p:sp>
        <p:nvSpPr>
          <p:cNvPr id="16" name="CuadroTexto 15"/>
          <p:cNvSpPr txBox="1"/>
          <p:nvPr/>
        </p:nvSpPr>
        <p:spPr>
          <a:xfrm>
            <a:off x="10499441" y="4779222"/>
            <a:ext cx="699796" cy="584776"/>
          </a:xfrm>
          <a:prstGeom prst="rect">
            <a:avLst/>
          </a:prstGeom>
          <a:noFill/>
        </p:spPr>
        <p:txBody>
          <a:bodyPr wrap="square" rtlCol="0">
            <a:spAutoFit/>
          </a:bodyPr>
          <a:lstStyle/>
          <a:p>
            <a:r>
              <a:rPr lang="es-ES" sz="3200" dirty="0">
                <a:solidFill>
                  <a:schemeClr val="accent5">
                    <a:lumMod val="75000"/>
                  </a:schemeClr>
                </a:solidFill>
                <a:latin typeface="Zapf Dingbats"/>
                <a:ea typeface="Zapf Dingbats"/>
                <a:cs typeface="Zapf Dingbats"/>
                <a:sym typeface="Zapf Dingbats"/>
              </a:rPr>
              <a:t>✓</a:t>
            </a:r>
            <a:endParaRPr lang="es-ES" sz="3200" dirty="0">
              <a:solidFill>
                <a:schemeClr val="accent5">
                  <a:lumMod val="75000"/>
                </a:schemeClr>
              </a:solidFill>
            </a:endParaRPr>
          </a:p>
        </p:txBody>
      </p:sp>
      <p:sp>
        <p:nvSpPr>
          <p:cNvPr id="19" name="TextBox 18">
            <a:extLst>
              <a:ext uri="{FF2B5EF4-FFF2-40B4-BE49-F238E27FC236}">
                <a16:creationId xmlns:a16="http://schemas.microsoft.com/office/drawing/2014/main" id="{70220847-A17F-444F-A5A9-57989E35284B}"/>
              </a:ext>
            </a:extLst>
          </p:cNvPr>
          <p:cNvSpPr txBox="1"/>
          <p:nvPr/>
        </p:nvSpPr>
        <p:spPr>
          <a:xfrm>
            <a:off x="581190" y="5935707"/>
            <a:ext cx="11029615" cy="461665"/>
          </a:xfrm>
          <a:prstGeom prst="rect">
            <a:avLst/>
          </a:prstGeom>
          <a:noFill/>
        </p:spPr>
        <p:txBody>
          <a:bodyPr wrap="square">
            <a:spAutoFit/>
          </a:bodyPr>
          <a:lstStyle/>
          <a:p>
            <a:pPr algn="ctr"/>
            <a:r>
              <a:rPr lang="es-ES" sz="2400" dirty="0"/>
              <a:t>La Inversión se recupera en 3 periodos</a:t>
            </a:r>
          </a:p>
        </p:txBody>
      </p:sp>
      <p:sp>
        <p:nvSpPr>
          <p:cNvPr id="5" name="Rectángulo 4">
            <a:extLst>
              <a:ext uri="{FF2B5EF4-FFF2-40B4-BE49-F238E27FC236}">
                <a16:creationId xmlns:a16="http://schemas.microsoft.com/office/drawing/2014/main" id="{049934C3-3D58-0686-E6D9-78412395E09C}"/>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6" name="Picture 2" descr="Clientes y aliados | Centro de Evaluación | Uniandes">
            <a:extLst>
              <a:ext uri="{FF2B5EF4-FFF2-40B4-BE49-F238E27FC236}">
                <a16:creationId xmlns:a16="http://schemas.microsoft.com/office/drawing/2014/main" id="{3D740BEA-EE08-8A50-2774-CA676C47B68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6467DF90-A30D-1F12-9E7D-9DCA8DA1B6B0}"/>
              </a:ext>
            </a:extLst>
          </p:cNvPr>
          <p:cNvSpPr/>
          <p:nvPr/>
        </p:nvSpPr>
        <p:spPr>
          <a:xfrm>
            <a:off x="8399257" y="118110"/>
            <a:ext cx="3150778" cy="261610"/>
          </a:xfrm>
          <a:prstGeom prst="rect">
            <a:avLst/>
          </a:prstGeom>
        </p:spPr>
        <p:txBody>
          <a:bodyPr wrap="square">
            <a:spAutoFit/>
          </a:bodyPr>
          <a:lstStyle/>
          <a:p>
            <a:pPr algn="r"/>
            <a:r>
              <a:rPr lang="es-CO" sz="1100" b="1" dirty="0">
                <a:solidFill>
                  <a:schemeClr val="accent2">
                    <a:lumMod val="50000"/>
                  </a:schemeClr>
                </a:solidFill>
                <a:latin typeface="Century Gothic" panose="020B0502020202020204" pitchFamily="34" charset="0"/>
                <a:sym typeface="Gill Sans Light"/>
              </a:rPr>
              <a:t>Curso</a:t>
            </a:r>
            <a:r>
              <a:rPr lang="es-CO" sz="1100" dirty="0">
                <a:solidFill>
                  <a:schemeClr val="accent2">
                    <a:lumMod val="50000"/>
                  </a:schemeClr>
                </a:solidFill>
                <a:latin typeface="Century Gothic" panose="020B0502020202020204" pitchFamily="34" charset="0"/>
                <a:sym typeface="Gill Sans Light"/>
              </a:rPr>
              <a:t> Análisis de Decisiones de Inversión</a:t>
            </a:r>
            <a:endParaRPr lang="es-CO" sz="1100" dirty="0">
              <a:solidFill>
                <a:schemeClr val="accent2">
                  <a:lumMod val="50000"/>
                </a:schemeClr>
              </a:solidFill>
              <a:latin typeface="Century Gothic" panose="020B0502020202020204" pitchFamily="34" charset="0"/>
            </a:endParaRPr>
          </a:p>
        </p:txBody>
      </p:sp>
      <p:sp>
        <p:nvSpPr>
          <p:cNvPr id="18" name="Título 1">
            <a:extLst>
              <a:ext uri="{FF2B5EF4-FFF2-40B4-BE49-F238E27FC236}">
                <a16:creationId xmlns:a16="http://schemas.microsoft.com/office/drawing/2014/main" id="{681BD2C8-076C-FC4F-E4A9-82542F52D382}"/>
              </a:ext>
            </a:extLst>
          </p:cNvPr>
          <p:cNvSpPr>
            <a:spLocks noGrp="1"/>
          </p:cNvSpPr>
          <p:nvPr>
            <p:ph type="title"/>
          </p:nvPr>
        </p:nvSpPr>
        <p:spPr>
          <a:xfrm>
            <a:off x="581192" y="702156"/>
            <a:ext cx="11029616" cy="1013800"/>
          </a:xfrm>
        </p:spPr>
        <p:txBody>
          <a:bodyPr>
            <a:normAutofit/>
          </a:bodyPr>
          <a:lstStyle/>
          <a:p>
            <a:r>
              <a:rPr lang="es-ES" sz="3200" dirty="0">
                <a:latin typeface="Century Gothic" panose="020B0502020202020204" pitchFamily="34" charset="0"/>
              </a:rPr>
              <a:t>pAyback</a:t>
            </a:r>
            <a:endParaRPr lang="es-CO" sz="3200" dirty="0">
              <a:latin typeface="Century Gothic" panose="020B0502020202020204" pitchFamily="34" charset="0"/>
            </a:endParaRPr>
          </a:p>
        </p:txBody>
      </p:sp>
    </p:spTree>
    <p:extLst>
      <p:ext uri="{BB962C8B-B14F-4D97-AF65-F5344CB8AC3E}">
        <p14:creationId xmlns:p14="http://schemas.microsoft.com/office/powerpoint/2010/main" val="24325984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500"/>
                                        <p:tgtEl>
                                          <p:spTgt spid="14"/>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500"/>
                                        <p:tgtEl>
                                          <p:spTgt spid="12"/>
                                        </p:tgtEl>
                                      </p:cBhvr>
                                    </p:animEffect>
                                  </p:childTnLst>
                                </p:cTn>
                              </p:par>
                              <p:par>
                                <p:cTn id="20" presetID="10" presetClass="entr" presetSubtype="0" fill="hold"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par>
                          <p:cTn id="23" fill="hold">
                            <p:stCondLst>
                              <p:cond delay="500"/>
                            </p:stCondLst>
                            <p:childTnLst>
                              <p:par>
                                <p:cTn id="24" presetID="10" presetClass="entr" presetSubtype="0" fill="hold" grpId="0" nodeType="after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500"/>
                                        <p:tgtEl>
                                          <p:spTgt spid="1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childTnLst>
                                </p:cTn>
                              </p:par>
                              <p:par>
                                <p:cTn id="32" presetID="10" presetClass="entr" presetSubtype="0" fill="hold" nodeType="with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00"/>
                                        <p:tgtEl>
                                          <p:spTgt spid="10"/>
                                        </p:tgtEl>
                                      </p:cBhvr>
                                    </p:animEffect>
                                  </p:childTnLst>
                                </p:cTn>
                              </p:par>
                            </p:childTnLst>
                          </p:cTn>
                        </p:par>
                        <p:par>
                          <p:cTn id="35" fill="hold">
                            <p:stCondLst>
                              <p:cond delay="500"/>
                            </p:stCondLst>
                            <p:childTnLst>
                              <p:par>
                                <p:cTn id="36" presetID="10" presetClass="entr" presetSubtype="0" fill="hold" grpId="0" nodeType="afterEffect">
                                  <p:stCondLst>
                                    <p:cond delay="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500"/>
                                        <p:tgtEl>
                                          <p:spTgt spid="16"/>
                                        </p:tgtEl>
                                      </p:cBhvr>
                                    </p:animEffec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P spid="15" grpId="0"/>
      <p:bldP spid="16" grpId="0"/>
      <p:bldP spid="19"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5C79E-5409-29B7-A6D6-42EBA44975F9}"/>
            </a:ext>
          </a:extLst>
        </p:cNvPr>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F88C459B-DADF-6F7E-988A-3C094A931645}"/>
              </a:ext>
            </a:extLst>
          </p:cNvPr>
          <p:cNvSpPr>
            <a:spLocks noGrp="1"/>
          </p:cNvSpPr>
          <p:nvPr>
            <p:ph idx="1"/>
          </p:nvPr>
        </p:nvSpPr>
        <p:spPr>
          <a:xfrm>
            <a:off x="581191" y="1817915"/>
            <a:ext cx="11029615" cy="1069150"/>
          </a:xfrm>
        </p:spPr>
        <p:txBody>
          <a:bodyPr>
            <a:noAutofit/>
          </a:bodyPr>
          <a:lstStyle/>
          <a:p>
            <a:pPr marL="0" indent="0" algn="just">
              <a:buNone/>
            </a:pPr>
            <a:r>
              <a:rPr lang="es-ES" sz="2400" b="1" dirty="0"/>
              <a:t>Ejemplo 2:</a:t>
            </a:r>
          </a:p>
          <a:p>
            <a:pPr marL="0" indent="0" algn="just">
              <a:buNone/>
            </a:pPr>
            <a:r>
              <a:rPr lang="es-ES" sz="2400" dirty="0"/>
              <a:t>Suponga los siguientes flujos:</a:t>
            </a:r>
          </a:p>
        </p:txBody>
      </p:sp>
      <p:sp>
        <p:nvSpPr>
          <p:cNvPr id="4" name="Marcador de número de diapositiva 3">
            <a:extLst>
              <a:ext uri="{FF2B5EF4-FFF2-40B4-BE49-F238E27FC236}">
                <a16:creationId xmlns:a16="http://schemas.microsoft.com/office/drawing/2014/main" id="{F998F1FC-80DD-62C9-AA74-48C9562ED569}"/>
              </a:ext>
            </a:extLst>
          </p:cNvPr>
          <p:cNvSpPr>
            <a:spLocks noGrp="1"/>
          </p:cNvSpPr>
          <p:nvPr>
            <p:ph type="sldNum" sz="quarter" idx="12"/>
          </p:nvPr>
        </p:nvSpPr>
        <p:spPr/>
        <p:txBody>
          <a:bodyPr/>
          <a:lstStyle/>
          <a:p>
            <a:fld id="{5E3E23BA-6E79-2442-BA73-D218A5E297C3}" type="slidenum">
              <a:rPr lang="en-US" smtClean="0"/>
              <a:t>34</a:t>
            </a:fld>
            <a:endParaRPr lang="en-US"/>
          </a:p>
        </p:txBody>
      </p:sp>
      <p:cxnSp>
        <p:nvCxnSpPr>
          <p:cNvPr id="5" name="Straight Connector 17">
            <a:extLst>
              <a:ext uri="{FF2B5EF4-FFF2-40B4-BE49-F238E27FC236}">
                <a16:creationId xmlns:a16="http://schemas.microsoft.com/office/drawing/2014/main" id="{E676C41F-2992-B6AE-7ABD-774164F99CF0}"/>
              </a:ext>
            </a:extLst>
          </p:cNvPr>
          <p:cNvCxnSpPr/>
          <p:nvPr/>
        </p:nvCxnSpPr>
        <p:spPr>
          <a:xfrm>
            <a:off x="4888166" y="3650248"/>
            <a:ext cx="2632079"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Arrow Connector 19">
            <a:extLst>
              <a:ext uri="{FF2B5EF4-FFF2-40B4-BE49-F238E27FC236}">
                <a16:creationId xmlns:a16="http://schemas.microsoft.com/office/drawing/2014/main" id="{AE04B9D8-7280-DCE6-945D-FA000E5AA5E7}"/>
              </a:ext>
            </a:extLst>
          </p:cNvPr>
          <p:cNvCxnSpPr/>
          <p:nvPr/>
        </p:nvCxnSpPr>
        <p:spPr>
          <a:xfrm flipV="1">
            <a:off x="5443315" y="3204350"/>
            <a:ext cx="0" cy="458726"/>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7" name="Straight Arrow Connector 20">
            <a:extLst>
              <a:ext uri="{FF2B5EF4-FFF2-40B4-BE49-F238E27FC236}">
                <a16:creationId xmlns:a16="http://schemas.microsoft.com/office/drawing/2014/main" id="{6F9D5555-0D5B-4D1B-4157-7C34C76C0DBD}"/>
              </a:ext>
            </a:extLst>
          </p:cNvPr>
          <p:cNvCxnSpPr>
            <a:cxnSpLocks/>
          </p:cNvCxnSpPr>
          <p:nvPr/>
        </p:nvCxnSpPr>
        <p:spPr>
          <a:xfrm>
            <a:off x="6736080" y="3657600"/>
            <a:ext cx="14223" cy="475919"/>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8" name="Straight Arrow Connector 21">
            <a:extLst>
              <a:ext uri="{FF2B5EF4-FFF2-40B4-BE49-F238E27FC236}">
                <a16:creationId xmlns:a16="http://schemas.microsoft.com/office/drawing/2014/main" id="{30B328CC-8CB8-7C87-52A5-7CDD5AEAB09B}"/>
              </a:ext>
            </a:extLst>
          </p:cNvPr>
          <p:cNvCxnSpPr/>
          <p:nvPr/>
        </p:nvCxnSpPr>
        <p:spPr>
          <a:xfrm flipV="1">
            <a:off x="6106573" y="3204351"/>
            <a:ext cx="0" cy="458728"/>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sp>
        <p:nvSpPr>
          <p:cNvPr id="9" name="Rectangle 22">
            <a:extLst>
              <a:ext uri="{FF2B5EF4-FFF2-40B4-BE49-F238E27FC236}">
                <a16:creationId xmlns:a16="http://schemas.microsoft.com/office/drawing/2014/main" id="{34D3519D-3D27-A8AC-CAF8-AC0A41BA8E97}"/>
              </a:ext>
            </a:extLst>
          </p:cNvPr>
          <p:cNvSpPr>
            <a:spLocks/>
          </p:cNvSpPr>
          <p:nvPr/>
        </p:nvSpPr>
        <p:spPr bwMode="auto">
          <a:xfrm flipH="1">
            <a:off x="4713993" y="3637867"/>
            <a:ext cx="13172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0</a:t>
            </a:r>
          </a:p>
        </p:txBody>
      </p:sp>
      <p:sp>
        <p:nvSpPr>
          <p:cNvPr id="10" name="Rectangle 23">
            <a:extLst>
              <a:ext uri="{FF2B5EF4-FFF2-40B4-BE49-F238E27FC236}">
                <a16:creationId xmlns:a16="http://schemas.microsoft.com/office/drawing/2014/main" id="{D1756758-48CF-EB56-96D6-B4B184CEBF7C}"/>
              </a:ext>
            </a:extLst>
          </p:cNvPr>
          <p:cNvSpPr>
            <a:spLocks/>
          </p:cNvSpPr>
          <p:nvPr/>
        </p:nvSpPr>
        <p:spPr bwMode="auto">
          <a:xfrm>
            <a:off x="5274785" y="3661581"/>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1</a:t>
            </a:r>
          </a:p>
        </p:txBody>
      </p:sp>
      <p:sp>
        <p:nvSpPr>
          <p:cNvPr id="11" name="Rectangle 24">
            <a:extLst>
              <a:ext uri="{FF2B5EF4-FFF2-40B4-BE49-F238E27FC236}">
                <a16:creationId xmlns:a16="http://schemas.microsoft.com/office/drawing/2014/main" id="{120CF352-D36E-EF01-003C-5D9B2D673C5C}"/>
              </a:ext>
            </a:extLst>
          </p:cNvPr>
          <p:cNvSpPr>
            <a:spLocks/>
          </p:cNvSpPr>
          <p:nvPr/>
        </p:nvSpPr>
        <p:spPr bwMode="auto">
          <a:xfrm>
            <a:off x="5934696" y="3661581"/>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2</a:t>
            </a:r>
          </a:p>
        </p:txBody>
      </p:sp>
      <p:sp>
        <p:nvSpPr>
          <p:cNvPr id="12" name="Rectangle 25">
            <a:extLst>
              <a:ext uri="{FF2B5EF4-FFF2-40B4-BE49-F238E27FC236}">
                <a16:creationId xmlns:a16="http://schemas.microsoft.com/office/drawing/2014/main" id="{B7C05768-32D8-178F-0CBC-449C59C9DE3D}"/>
              </a:ext>
            </a:extLst>
          </p:cNvPr>
          <p:cNvSpPr>
            <a:spLocks/>
          </p:cNvSpPr>
          <p:nvPr/>
        </p:nvSpPr>
        <p:spPr bwMode="auto">
          <a:xfrm>
            <a:off x="6658224" y="3635672"/>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3</a:t>
            </a:r>
          </a:p>
        </p:txBody>
      </p:sp>
      <p:sp>
        <p:nvSpPr>
          <p:cNvPr id="13" name="Rectangle 31">
            <a:extLst>
              <a:ext uri="{FF2B5EF4-FFF2-40B4-BE49-F238E27FC236}">
                <a16:creationId xmlns:a16="http://schemas.microsoft.com/office/drawing/2014/main" id="{7A37BC45-F7D6-2582-0286-065F413FC4B7}"/>
              </a:ext>
            </a:extLst>
          </p:cNvPr>
          <p:cNvSpPr>
            <a:spLocks/>
          </p:cNvSpPr>
          <p:nvPr/>
        </p:nvSpPr>
        <p:spPr bwMode="auto">
          <a:xfrm>
            <a:off x="7347379" y="3661581"/>
            <a:ext cx="33706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4</a:t>
            </a:r>
          </a:p>
        </p:txBody>
      </p:sp>
      <p:cxnSp>
        <p:nvCxnSpPr>
          <p:cNvPr id="14" name="Straight Arrow Connector 32">
            <a:extLst>
              <a:ext uri="{FF2B5EF4-FFF2-40B4-BE49-F238E27FC236}">
                <a16:creationId xmlns:a16="http://schemas.microsoft.com/office/drawing/2014/main" id="{5A8F9004-C54B-9713-411B-46C9DCD84152}"/>
              </a:ext>
            </a:extLst>
          </p:cNvPr>
          <p:cNvCxnSpPr/>
          <p:nvPr/>
        </p:nvCxnSpPr>
        <p:spPr>
          <a:xfrm flipH="1" flipV="1">
            <a:off x="7515739" y="3204351"/>
            <a:ext cx="17335" cy="461362"/>
          </a:xfrm>
          <a:prstGeom prst="straightConnector1">
            <a:avLst/>
          </a:prstGeom>
          <a:ln w="28575">
            <a:solidFill>
              <a:schemeClr val="accent2"/>
            </a:solidFill>
            <a:tailEnd type="arrow"/>
          </a:ln>
        </p:spPr>
        <p:style>
          <a:lnRef idx="2">
            <a:schemeClr val="accent1"/>
          </a:lnRef>
          <a:fillRef idx="0">
            <a:schemeClr val="accent1"/>
          </a:fillRef>
          <a:effectRef idx="1">
            <a:schemeClr val="accent1"/>
          </a:effectRef>
          <a:fontRef idx="minor">
            <a:schemeClr val="tx1"/>
          </a:fontRef>
        </p:style>
      </p:cxnSp>
      <p:cxnSp>
        <p:nvCxnSpPr>
          <p:cNvPr id="15" name="Straight Arrow Connector 19">
            <a:extLst>
              <a:ext uri="{FF2B5EF4-FFF2-40B4-BE49-F238E27FC236}">
                <a16:creationId xmlns:a16="http://schemas.microsoft.com/office/drawing/2014/main" id="{CB0AB7DE-FCFA-1802-15DA-907A69AE7436}"/>
              </a:ext>
            </a:extLst>
          </p:cNvPr>
          <p:cNvCxnSpPr/>
          <p:nvPr/>
        </p:nvCxnSpPr>
        <p:spPr>
          <a:xfrm>
            <a:off x="4893014" y="3650248"/>
            <a:ext cx="0" cy="767120"/>
          </a:xfrm>
          <a:prstGeom prst="straightConnector1">
            <a:avLst/>
          </a:prstGeom>
          <a:ln w="28575">
            <a:solidFill>
              <a:schemeClr val="accent4">
                <a:lumMod val="75000"/>
              </a:schemeClr>
            </a:solidFill>
            <a:tailEnd type="arrow"/>
          </a:ln>
        </p:spPr>
        <p:style>
          <a:lnRef idx="2">
            <a:schemeClr val="accent1"/>
          </a:lnRef>
          <a:fillRef idx="0">
            <a:schemeClr val="accent1"/>
          </a:fillRef>
          <a:effectRef idx="1">
            <a:schemeClr val="accent1"/>
          </a:effectRef>
          <a:fontRef idx="minor">
            <a:schemeClr val="tx1"/>
          </a:fontRef>
        </p:style>
      </p:cxnSp>
      <p:sp>
        <p:nvSpPr>
          <p:cNvPr id="19" name="Rectangle 23">
            <a:extLst>
              <a:ext uri="{FF2B5EF4-FFF2-40B4-BE49-F238E27FC236}">
                <a16:creationId xmlns:a16="http://schemas.microsoft.com/office/drawing/2014/main" id="{DF470AD0-D0E8-6B3E-FBE5-1D2AB712BB1A}"/>
              </a:ext>
            </a:extLst>
          </p:cNvPr>
          <p:cNvSpPr>
            <a:spLocks/>
          </p:cNvSpPr>
          <p:nvPr/>
        </p:nvSpPr>
        <p:spPr bwMode="auto">
          <a:xfrm>
            <a:off x="4470487" y="4386591"/>
            <a:ext cx="71449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1.000</a:t>
            </a:r>
          </a:p>
        </p:txBody>
      </p:sp>
      <p:sp>
        <p:nvSpPr>
          <p:cNvPr id="20" name="Rectangle 23">
            <a:extLst>
              <a:ext uri="{FF2B5EF4-FFF2-40B4-BE49-F238E27FC236}">
                <a16:creationId xmlns:a16="http://schemas.microsoft.com/office/drawing/2014/main" id="{0BBDE73E-9F8B-CE88-77D6-C8961685CC59}"/>
              </a:ext>
            </a:extLst>
          </p:cNvPr>
          <p:cNvSpPr>
            <a:spLocks/>
          </p:cNvSpPr>
          <p:nvPr/>
        </p:nvSpPr>
        <p:spPr bwMode="auto">
          <a:xfrm>
            <a:off x="5179051" y="2922610"/>
            <a:ext cx="52852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600</a:t>
            </a:r>
          </a:p>
        </p:txBody>
      </p:sp>
      <p:sp>
        <p:nvSpPr>
          <p:cNvPr id="21" name="Rectangle 23">
            <a:extLst>
              <a:ext uri="{FF2B5EF4-FFF2-40B4-BE49-F238E27FC236}">
                <a16:creationId xmlns:a16="http://schemas.microsoft.com/office/drawing/2014/main" id="{5BB5E5ED-1F0A-D124-F7B9-6D0850778AA0}"/>
              </a:ext>
            </a:extLst>
          </p:cNvPr>
          <p:cNvSpPr>
            <a:spLocks/>
          </p:cNvSpPr>
          <p:nvPr/>
        </p:nvSpPr>
        <p:spPr bwMode="auto">
          <a:xfrm>
            <a:off x="6504912" y="4251762"/>
            <a:ext cx="52852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300</a:t>
            </a:r>
          </a:p>
        </p:txBody>
      </p:sp>
      <p:sp>
        <p:nvSpPr>
          <p:cNvPr id="22" name="Rectangle 23">
            <a:extLst>
              <a:ext uri="{FF2B5EF4-FFF2-40B4-BE49-F238E27FC236}">
                <a16:creationId xmlns:a16="http://schemas.microsoft.com/office/drawing/2014/main" id="{D069933F-E30F-7BF4-7D53-30C30E93D228}"/>
              </a:ext>
            </a:extLst>
          </p:cNvPr>
          <p:cNvSpPr>
            <a:spLocks/>
          </p:cNvSpPr>
          <p:nvPr/>
        </p:nvSpPr>
        <p:spPr bwMode="auto">
          <a:xfrm>
            <a:off x="5895625" y="2928196"/>
            <a:ext cx="52852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600</a:t>
            </a:r>
          </a:p>
        </p:txBody>
      </p:sp>
      <p:sp>
        <p:nvSpPr>
          <p:cNvPr id="23" name="Rectangle 23">
            <a:extLst>
              <a:ext uri="{FF2B5EF4-FFF2-40B4-BE49-F238E27FC236}">
                <a16:creationId xmlns:a16="http://schemas.microsoft.com/office/drawing/2014/main" id="{DCB0C9B4-332D-7084-105E-2CEEF47878A0}"/>
              </a:ext>
            </a:extLst>
          </p:cNvPr>
          <p:cNvSpPr>
            <a:spLocks/>
          </p:cNvSpPr>
          <p:nvPr/>
        </p:nvSpPr>
        <p:spPr bwMode="auto">
          <a:xfrm>
            <a:off x="7251474" y="2911277"/>
            <a:ext cx="52852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2000" dirty="0"/>
              <a:t>600</a:t>
            </a:r>
          </a:p>
        </p:txBody>
      </p:sp>
      <p:sp>
        <p:nvSpPr>
          <p:cNvPr id="16" name="Rectángulo 15">
            <a:extLst>
              <a:ext uri="{FF2B5EF4-FFF2-40B4-BE49-F238E27FC236}">
                <a16:creationId xmlns:a16="http://schemas.microsoft.com/office/drawing/2014/main" id="{E305F984-0939-0DEB-6386-7DCAA3DB2729}"/>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7" name="Picture 2" descr="Clientes y aliados | Centro de Evaluación | Uniandes">
            <a:extLst>
              <a:ext uri="{FF2B5EF4-FFF2-40B4-BE49-F238E27FC236}">
                <a16:creationId xmlns:a16="http://schemas.microsoft.com/office/drawing/2014/main" id="{3CE89093-7906-76AA-8074-7978BEA3E47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18" name="Rectángulo 17">
            <a:extLst>
              <a:ext uri="{FF2B5EF4-FFF2-40B4-BE49-F238E27FC236}">
                <a16:creationId xmlns:a16="http://schemas.microsoft.com/office/drawing/2014/main" id="{9C403173-6E49-2DF3-3E85-20ABB9EEAE8C}"/>
              </a:ext>
            </a:extLst>
          </p:cNvPr>
          <p:cNvSpPr/>
          <p:nvPr/>
        </p:nvSpPr>
        <p:spPr>
          <a:xfrm>
            <a:off x="8399257" y="118110"/>
            <a:ext cx="3150778" cy="261610"/>
          </a:xfrm>
          <a:prstGeom prst="rect">
            <a:avLst/>
          </a:prstGeom>
        </p:spPr>
        <p:txBody>
          <a:bodyPr wrap="square">
            <a:spAutoFit/>
          </a:bodyPr>
          <a:lstStyle/>
          <a:p>
            <a:pPr algn="r"/>
            <a:r>
              <a:rPr lang="es-CO" sz="1100" b="1" dirty="0">
                <a:solidFill>
                  <a:schemeClr val="accent2">
                    <a:lumMod val="50000"/>
                  </a:schemeClr>
                </a:solidFill>
                <a:latin typeface="Century Gothic" panose="020B0502020202020204" pitchFamily="34" charset="0"/>
                <a:sym typeface="Gill Sans Light"/>
              </a:rPr>
              <a:t>Curso</a:t>
            </a:r>
            <a:r>
              <a:rPr lang="es-CO" sz="1100" dirty="0">
                <a:solidFill>
                  <a:schemeClr val="accent2">
                    <a:lumMod val="50000"/>
                  </a:schemeClr>
                </a:solidFill>
                <a:latin typeface="Century Gothic" panose="020B0502020202020204" pitchFamily="34" charset="0"/>
                <a:sym typeface="Gill Sans Light"/>
              </a:rPr>
              <a:t> Análisis de Decisiones de Inversión</a:t>
            </a:r>
            <a:endParaRPr lang="es-CO" sz="1100" dirty="0">
              <a:solidFill>
                <a:schemeClr val="accent2">
                  <a:lumMod val="50000"/>
                </a:schemeClr>
              </a:solidFill>
              <a:latin typeface="Century Gothic" panose="020B0502020202020204" pitchFamily="34" charset="0"/>
            </a:endParaRPr>
          </a:p>
        </p:txBody>
      </p:sp>
      <p:sp>
        <p:nvSpPr>
          <p:cNvPr id="25" name="Título 1">
            <a:extLst>
              <a:ext uri="{FF2B5EF4-FFF2-40B4-BE49-F238E27FC236}">
                <a16:creationId xmlns:a16="http://schemas.microsoft.com/office/drawing/2014/main" id="{6F2BF28D-B2E5-44EC-84AA-6318382AAE16}"/>
              </a:ext>
            </a:extLst>
          </p:cNvPr>
          <p:cNvSpPr>
            <a:spLocks noGrp="1"/>
          </p:cNvSpPr>
          <p:nvPr>
            <p:ph type="title"/>
          </p:nvPr>
        </p:nvSpPr>
        <p:spPr>
          <a:xfrm>
            <a:off x="581192" y="702156"/>
            <a:ext cx="11029616" cy="1013800"/>
          </a:xfrm>
        </p:spPr>
        <p:txBody>
          <a:bodyPr>
            <a:normAutofit/>
          </a:bodyPr>
          <a:lstStyle/>
          <a:p>
            <a:r>
              <a:rPr lang="es-ES" sz="3200" dirty="0">
                <a:latin typeface="Century Gothic" panose="020B0502020202020204" pitchFamily="34" charset="0"/>
              </a:rPr>
              <a:t>pAyback</a:t>
            </a:r>
            <a:endParaRPr lang="es-CO" sz="3200" dirty="0">
              <a:latin typeface="Century Gothic" panose="020B0502020202020204" pitchFamily="34" charset="0"/>
            </a:endParaRPr>
          </a:p>
        </p:txBody>
      </p:sp>
      <p:sp>
        <p:nvSpPr>
          <p:cNvPr id="27" name="CuadroTexto 26">
            <a:extLst>
              <a:ext uri="{FF2B5EF4-FFF2-40B4-BE49-F238E27FC236}">
                <a16:creationId xmlns:a16="http://schemas.microsoft.com/office/drawing/2014/main" id="{64C1AC60-64D4-4C81-73EC-93574E68EA77}"/>
              </a:ext>
            </a:extLst>
          </p:cNvPr>
          <p:cNvSpPr txBox="1"/>
          <p:nvPr/>
        </p:nvSpPr>
        <p:spPr>
          <a:xfrm>
            <a:off x="581191" y="4812611"/>
            <a:ext cx="11029613" cy="1569660"/>
          </a:xfrm>
          <a:prstGeom prst="rect">
            <a:avLst/>
          </a:prstGeom>
          <a:noFill/>
        </p:spPr>
        <p:txBody>
          <a:bodyPr wrap="square">
            <a:spAutoFit/>
          </a:bodyPr>
          <a:lstStyle/>
          <a:p>
            <a:pPr algn="just"/>
            <a:endParaRPr lang="es-ES" sz="2400" dirty="0"/>
          </a:p>
          <a:p>
            <a:pPr algn="ctr"/>
            <a:r>
              <a:rPr lang="es-ES" sz="2400" dirty="0"/>
              <a:t>Si el costo de oportunidad fuese por ejemplo 10%, aplicando la metodología anterior tendríamos que se logra PayBack en el periodo 2, pero en el periodo 3 no. Luego en el periodo 4 se vuelve a recuperar la inversión.</a:t>
            </a:r>
          </a:p>
        </p:txBody>
      </p:sp>
    </p:spTree>
    <p:extLst>
      <p:ext uri="{BB962C8B-B14F-4D97-AF65-F5344CB8AC3E}">
        <p14:creationId xmlns:p14="http://schemas.microsoft.com/office/powerpoint/2010/main" val="341028219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8B6F17-6FEF-78F4-1CDD-8CD7624DDD87}"/>
            </a:ext>
          </a:extLst>
        </p:cNvPr>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C7CC311D-1C93-800F-3FD4-B824C5DA9252}"/>
              </a:ext>
            </a:extLst>
          </p:cNvPr>
          <p:cNvSpPr>
            <a:spLocks noGrp="1"/>
          </p:cNvSpPr>
          <p:nvPr>
            <p:ph idx="1"/>
          </p:nvPr>
        </p:nvSpPr>
        <p:spPr>
          <a:xfrm>
            <a:off x="581192" y="1994725"/>
            <a:ext cx="11029615" cy="2963990"/>
          </a:xfrm>
        </p:spPr>
        <p:txBody>
          <a:bodyPr>
            <a:noAutofit/>
          </a:bodyPr>
          <a:lstStyle/>
          <a:p>
            <a:pPr marL="0" indent="0" algn="just">
              <a:buNone/>
            </a:pPr>
            <a:r>
              <a:rPr lang="es-ES" sz="2400" dirty="0"/>
              <a:t>Casos como el anterior se pueden abordar con diferentes enfoques como:</a:t>
            </a:r>
          </a:p>
          <a:p>
            <a:pPr algn="just">
              <a:buFont typeface="Wingdings" panose="05000000000000000000" pitchFamily="2" charset="2"/>
              <a:buChar char="ü"/>
            </a:pPr>
            <a:r>
              <a:rPr lang="es-ES" sz="2400" dirty="0"/>
              <a:t>Llevar todos los flujos de caja negativos al periodo 0 y luego aplicar la metodología que vimos en el ejemplo 1. </a:t>
            </a:r>
          </a:p>
          <a:p>
            <a:pPr algn="just">
              <a:buFont typeface="Wingdings" panose="05000000000000000000" pitchFamily="2" charset="2"/>
              <a:buChar char="ü"/>
            </a:pPr>
            <a:r>
              <a:rPr lang="es-ES" sz="2400" dirty="0"/>
              <a:t>Al igual que con la TIR, si hay mas de un cambio en el signo de los flujos de caja puede que haya mas de un PayBack. Por lo tanto, no sería apropiado evaluar el proyecto con este indicador.</a:t>
            </a:r>
          </a:p>
        </p:txBody>
      </p:sp>
      <p:sp>
        <p:nvSpPr>
          <p:cNvPr id="4" name="Marcador de número de diapositiva 3">
            <a:extLst>
              <a:ext uri="{FF2B5EF4-FFF2-40B4-BE49-F238E27FC236}">
                <a16:creationId xmlns:a16="http://schemas.microsoft.com/office/drawing/2014/main" id="{F8F20941-0802-814F-86CC-11A0EFE9934D}"/>
              </a:ext>
            </a:extLst>
          </p:cNvPr>
          <p:cNvSpPr>
            <a:spLocks noGrp="1"/>
          </p:cNvSpPr>
          <p:nvPr>
            <p:ph type="sldNum" sz="quarter" idx="12"/>
          </p:nvPr>
        </p:nvSpPr>
        <p:spPr/>
        <p:txBody>
          <a:bodyPr/>
          <a:lstStyle/>
          <a:p>
            <a:fld id="{5E3E23BA-6E79-2442-BA73-D218A5E297C3}" type="slidenum">
              <a:rPr lang="en-US" smtClean="0"/>
              <a:t>35</a:t>
            </a:fld>
            <a:endParaRPr lang="en-US"/>
          </a:p>
        </p:txBody>
      </p:sp>
      <p:sp>
        <p:nvSpPr>
          <p:cNvPr id="16" name="Rectángulo 15">
            <a:extLst>
              <a:ext uri="{FF2B5EF4-FFF2-40B4-BE49-F238E27FC236}">
                <a16:creationId xmlns:a16="http://schemas.microsoft.com/office/drawing/2014/main" id="{AA967C03-04F7-FCAA-5312-804D90BDC6AA}"/>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7" name="Picture 2" descr="Clientes y aliados | Centro de Evaluación | Uniandes">
            <a:extLst>
              <a:ext uri="{FF2B5EF4-FFF2-40B4-BE49-F238E27FC236}">
                <a16:creationId xmlns:a16="http://schemas.microsoft.com/office/drawing/2014/main" id="{F2DDF29D-1DDA-1606-67B1-227C3731A62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18" name="Rectángulo 17">
            <a:extLst>
              <a:ext uri="{FF2B5EF4-FFF2-40B4-BE49-F238E27FC236}">
                <a16:creationId xmlns:a16="http://schemas.microsoft.com/office/drawing/2014/main" id="{7841AEF7-ED6F-B38E-077A-3534C313B791}"/>
              </a:ext>
            </a:extLst>
          </p:cNvPr>
          <p:cNvSpPr/>
          <p:nvPr/>
        </p:nvSpPr>
        <p:spPr>
          <a:xfrm>
            <a:off x="8399257" y="118110"/>
            <a:ext cx="3150778" cy="261610"/>
          </a:xfrm>
          <a:prstGeom prst="rect">
            <a:avLst/>
          </a:prstGeom>
        </p:spPr>
        <p:txBody>
          <a:bodyPr wrap="square">
            <a:spAutoFit/>
          </a:bodyPr>
          <a:lstStyle/>
          <a:p>
            <a:pPr algn="r"/>
            <a:r>
              <a:rPr lang="es-CO" sz="1100" b="1" dirty="0">
                <a:solidFill>
                  <a:schemeClr val="accent2">
                    <a:lumMod val="50000"/>
                  </a:schemeClr>
                </a:solidFill>
                <a:latin typeface="Century Gothic" panose="020B0502020202020204" pitchFamily="34" charset="0"/>
                <a:sym typeface="Gill Sans Light"/>
              </a:rPr>
              <a:t>Curso</a:t>
            </a:r>
            <a:r>
              <a:rPr lang="es-CO" sz="1100" dirty="0">
                <a:solidFill>
                  <a:schemeClr val="accent2">
                    <a:lumMod val="50000"/>
                  </a:schemeClr>
                </a:solidFill>
                <a:latin typeface="Century Gothic" panose="020B0502020202020204" pitchFamily="34" charset="0"/>
                <a:sym typeface="Gill Sans Light"/>
              </a:rPr>
              <a:t> Análisis de Decisiones de Inversión</a:t>
            </a:r>
            <a:endParaRPr lang="es-CO" sz="1100" dirty="0">
              <a:solidFill>
                <a:schemeClr val="accent2">
                  <a:lumMod val="50000"/>
                </a:schemeClr>
              </a:solidFill>
              <a:latin typeface="Century Gothic" panose="020B0502020202020204" pitchFamily="34" charset="0"/>
            </a:endParaRPr>
          </a:p>
        </p:txBody>
      </p:sp>
      <p:sp>
        <p:nvSpPr>
          <p:cNvPr id="25" name="Título 1">
            <a:extLst>
              <a:ext uri="{FF2B5EF4-FFF2-40B4-BE49-F238E27FC236}">
                <a16:creationId xmlns:a16="http://schemas.microsoft.com/office/drawing/2014/main" id="{655DEC04-8D86-5A0C-EA4F-B08400A88D0B}"/>
              </a:ext>
            </a:extLst>
          </p:cNvPr>
          <p:cNvSpPr>
            <a:spLocks noGrp="1"/>
          </p:cNvSpPr>
          <p:nvPr>
            <p:ph type="title"/>
          </p:nvPr>
        </p:nvSpPr>
        <p:spPr>
          <a:xfrm>
            <a:off x="581192" y="702156"/>
            <a:ext cx="11029616" cy="1013800"/>
          </a:xfrm>
        </p:spPr>
        <p:txBody>
          <a:bodyPr>
            <a:normAutofit/>
          </a:bodyPr>
          <a:lstStyle/>
          <a:p>
            <a:r>
              <a:rPr lang="es-ES" sz="3200" dirty="0">
                <a:latin typeface="Century Gothic" panose="020B0502020202020204" pitchFamily="34" charset="0"/>
              </a:rPr>
              <a:t>pAyback</a:t>
            </a:r>
            <a:endParaRPr lang="es-CO" sz="3200" dirty="0">
              <a:latin typeface="Century Gothic" panose="020B0502020202020204" pitchFamily="34" charset="0"/>
            </a:endParaRPr>
          </a:p>
        </p:txBody>
      </p:sp>
    </p:spTree>
    <p:extLst>
      <p:ext uri="{BB962C8B-B14F-4D97-AF65-F5344CB8AC3E}">
        <p14:creationId xmlns:p14="http://schemas.microsoft.com/office/powerpoint/2010/main" val="287648418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0AD52-241C-439E-6421-FEEDA6138F11}"/>
              </a:ext>
            </a:extLst>
          </p:cNvPr>
          <p:cNvSpPr>
            <a:spLocks noGrp="1"/>
          </p:cNvSpPr>
          <p:nvPr>
            <p:ph type="title"/>
          </p:nvPr>
        </p:nvSpPr>
        <p:spPr/>
        <p:txBody>
          <a:bodyPr/>
          <a:lstStyle/>
          <a:p>
            <a:r>
              <a:rPr lang="es-ES_tradnl" dirty="0"/>
              <a:t>¿CUÁLES USAR PARA SELECCIONAR ALTERNATIVAS?</a:t>
            </a:r>
          </a:p>
        </p:txBody>
      </p:sp>
      <p:graphicFrame>
        <p:nvGraphicFramePr>
          <p:cNvPr id="5" name="Content Placeholder 4">
            <a:extLst>
              <a:ext uri="{FF2B5EF4-FFF2-40B4-BE49-F238E27FC236}">
                <a16:creationId xmlns:a16="http://schemas.microsoft.com/office/drawing/2014/main" id="{45282827-2DE9-F093-ADA4-321F2517B98D}"/>
              </a:ext>
            </a:extLst>
          </p:cNvPr>
          <p:cNvGraphicFramePr>
            <a:graphicFrameLocks noGrp="1"/>
          </p:cNvGraphicFramePr>
          <p:nvPr>
            <p:ph idx="1"/>
            <p:extLst>
              <p:ext uri="{D42A27DB-BD31-4B8C-83A1-F6EECF244321}">
                <p14:modId xmlns:p14="http://schemas.microsoft.com/office/powerpoint/2010/main" val="1954577424"/>
              </p:ext>
            </p:extLst>
          </p:nvPr>
        </p:nvGraphicFramePr>
        <p:xfrm>
          <a:off x="581025" y="2181225"/>
          <a:ext cx="11029948" cy="2661920"/>
        </p:xfrm>
        <a:graphic>
          <a:graphicData uri="http://schemas.openxmlformats.org/drawingml/2006/table">
            <a:tbl>
              <a:tblPr firstRow="1" bandRow="1">
                <a:tableStyleId>{5C22544A-7EE6-4342-B048-85BDC9FD1C3A}</a:tableStyleId>
              </a:tblPr>
              <a:tblGrid>
                <a:gridCol w="1647825">
                  <a:extLst>
                    <a:ext uri="{9D8B030D-6E8A-4147-A177-3AD203B41FA5}">
                      <a16:colId xmlns:a16="http://schemas.microsoft.com/office/drawing/2014/main" val="3221532531"/>
                    </a:ext>
                  </a:extLst>
                </a:gridCol>
                <a:gridCol w="2076450">
                  <a:extLst>
                    <a:ext uri="{9D8B030D-6E8A-4147-A177-3AD203B41FA5}">
                      <a16:colId xmlns:a16="http://schemas.microsoft.com/office/drawing/2014/main" val="4039866031"/>
                    </a:ext>
                  </a:extLst>
                </a:gridCol>
                <a:gridCol w="2000250">
                  <a:extLst>
                    <a:ext uri="{9D8B030D-6E8A-4147-A177-3AD203B41FA5}">
                      <a16:colId xmlns:a16="http://schemas.microsoft.com/office/drawing/2014/main" val="277530999"/>
                    </a:ext>
                  </a:extLst>
                </a:gridCol>
                <a:gridCol w="5305423">
                  <a:extLst>
                    <a:ext uri="{9D8B030D-6E8A-4147-A177-3AD203B41FA5}">
                      <a16:colId xmlns:a16="http://schemas.microsoft.com/office/drawing/2014/main" val="517703575"/>
                    </a:ext>
                  </a:extLst>
                </a:gridCol>
              </a:tblGrid>
              <a:tr h="370840">
                <a:tc>
                  <a:txBody>
                    <a:bodyPr/>
                    <a:lstStyle/>
                    <a:p>
                      <a:r>
                        <a:rPr lang="es-ES_tradnl" dirty="0"/>
                        <a:t>Método</a:t>
                      </a:r>
                    </a:p>
                  </a:txBody>
                  <a:tcPr/>
                </a:tc>
                <a:tc>
                  <a:txBody>
                    <a:bodyPr/>
                    <a:lstStyle/>
                    <a:p>
                      <a:r>
                        <a:rPr lang="es-ES_tradnl" dirty="0"/>
                        <a:t>Justificación de una inversión</a:t>
                      </a:r>
                    </a:p>
                  </a:txBody>
                  <a:tcPr/>
                </a:tc>
                <a:tc>
                  <a:txBody>
                    <a:bodyPr/>
                    <a:lstStyle/>
                    <a:p>
                      <a:r>
                        <a:rPr lang="es-ES_tradnl" dirty="0"/>
                        <a:t>Ordenamiento de Alternativas</a:t>
                      </a:r>
                    </a:p>
                  </a:txBody>
                  <a:tcPr/>
                </a:tc>
                <a:tc>
                  <a:txBody>
                    <a:bodyPr/>
                    <a:lstStyle/>
                    <a:p>
                      <a:r>
                        <a:rPr lang="es-ES_tradnl" dirty="0"/>
                        <a:t>Observaciones</a:t>
                      </a:r>
                    </a:p>
                  </a:txBody>
                  <a:tcPr/>
                </a:tc>
                <a:extLst>
                  <a:ext uri="{0D108BD9-81ED-4DB2-BD59-A6C34878D82A}">
                    <a16:rowId xmlns:a16="http://schemas.microsoft.com/office/drawing/2014/main" val="849244024"/>
                  </a:ext>
                </a:extLst>
              </a:tr>
              <a:tr h="370840">
                <a:tc>
                  <a:txBody>
                    <a:bodyPr/>
                    <a:lstStyle/>
                    <a:p>
                      <a:r>
                        <a:rPr lang="es-ES_tradnl" dirty="0"/>
                        <a:t>VPN</a:t>
                      </a:r>
                    </a:p>
                  </a:txBody>
                  <a:tcPr/>
                </a:tc>
                <a:tc>
                  <a:txBody>
                    <a:bodyPr/>
                    <a:lstStyle/>
                    <a:p>
                      <a:r>
                        <a:rPr lang="es-ES_tradnl" dirty="0"/>
                        <a:t>Adecuado</a:t>
                      </a:r>
                    </a:p>
                  </a:txBody>
                  <a:tcPr/>
                </a:tc>
                <a:tc>
                  <a:txBody>
                    <a:bodyPr/>
                    <a:lstStyle/>
                    <a:p>
                      <a:r>
                        <a:rPr lang="es-ES_tradnl" dirty="0"/>
                        <a:t>Adecuado </a:t>
                      </a:r>
                    </a:p>
                  </a:txBody>
                  <a:tcPr/>
                </a:tc>
                <a:tc>
                  <a:txBody>
                    <a:bodyPr/>
                    <a:lstStyle/>
                    <a:p>
                      <a:r>
                        <a:rPr lang="es-ES_tradnl" dirty="0"/>
                        <a:t>Indicador de valor, fiable.</a:t>
                      </a:r>
                    </a:p>
                  </a:txBody>
                  <a:tcPr/>
                </a:tc>
                <a:extLst>
                  <a:ext uri="{0D108BD9-81ED-4DB2-BD59-A6C34878D82A}">
                    <a16:rowId xmlns:a16="http://schemas.microsoft.com/office/drawing/2014/main" val="371857513"/>
                  </a:ext>
                </a:extLst>
              </a:tr>
              <a:tr h="370840">
                <a:tc>
                  <a:txBody>
                    <a:bodyPr/>
                    <a:lstStyle/>
                    <a:p>
                      <a:r>
                        <a:rPr lang="es-ES_tradnl" dirty="0"/>
                        <a:t>TIR</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_tradnl" dirty="0"/>
                        <a:t>Adecuado, con limitaciones</a:t>
                      </a:r>
                    </a:p>
                  </a:txBody>
                  <a:tcPr/>
                </a:tc>
                <a:tc>
                  <a:txBody>
                    <a:bodyPr/>
                    <a:lstStyle/>
                    <a:p>
                      <a:r>
                        <a:rPr lang="es-ES_tradnl" dirty="0"/>
                        <a:t>Inadecuado</a:t>
                      </a:r>
                    </a:p>
                  </a:txBody>
                  <a:tcPr/>
                </a:tc>
                <a:tc>
                  <a:txBody>
                    <a:bodyPr/>
                    <a:lstStyle/>
                    <a:p>
                      <a:r>
                        <a:rPr lang="es-ES_tradnl" dirty="0"/>
                        <a:t>Supuesto de reinversión, tasas múltiples.</a:t>
                      </a:r>
                      <a:br>
                        <a:rPr lang="es-ES_tradnl" dirty="0"/>
                      </a:br>
                      <a:r>
                        <a:rPr lang="es-ES_tradnl" dirty="0"/>
                        <a:t>No es un indicador de valor.</a:t>
                      </a:r>
                    </a:p>
                  </a:txBody>
                  <a:tcPr/>
                </a:tc>
                <a:extLst>
                  <a:ext uri="{0D108BD9-81ED-4DB2-BD59-A6C34878D82A}">
                    <a16:rowId xmlns:a16="http://schemas.microsoft.com/office/drawing/2014/main" val="3897598086"/>
                  </a:ext>
                </a:extLst>
              </a:tr>
              <a:tr h="370840">
                <a:tc>
                  <a:txBody>
                    <a:bodyPr/>
                    <a:lstStyle/>
                    <a:p>
                      <a:r>
                        <a:rPr lang="es-ES_tradnl" dirty="0"/>
                        <a:t>B/C</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_tradnl" dirty="0"/>
                        <a:t>Adecuado</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_tradnl" dirty="0"/>
                        <a:t>Inadecuado</a:t>
                      </a:r>
                    </a:p>
                  </a:txBody>
                  <a:tcPr/>
                </a:tc>
                <a:tc>
                  <a:txBody>
                    <a:bodyPr/>
                    <a:lstStyle/>
                    <a:p>
                      <a:r>
                        <a:rPr lang="es-ES_tradnl" dirty="0"/>
                        <a:t>No captura las diferencias en el monto de inversión.</a:t>
                      </a:r>
                    </a:p>
                  </a:txBody>
                  <a:tcPr/>
                </a:tc>
                <a:extLst>
                  <a:ext uri="{0D108BD9-81ED-4DB2-BD59-A6C34878D82A}">
                    <a16:rowId xmlns:a16="http://schemas.microsoft.com/office/drawing/2014/main" val="626570852"/>
                  </a:ext>
                </a:extLst>
              </a:tr>
              <a:tr h="370840">
                <a:tc>
                  <a:txBody>
                    <a:bodyPr/>
                    <a:lstStyle/>
                    <a:p>
                      <a:r>
                        <a:rPr lang="es-ES_tradnl" dirty="0"/>
                        <a:t>TVR/TIRM</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_tradnl" dirty="0"/>
                        <a:t>Adecuado</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_tradnl" dirty="0"/>
                        <a:t>Adecuado</a:t>
                      </a:r>
                    </a:p>
                  </a:txBody>
                  <a:tcPr/>
                </a:tc>
                <a:tc>
                  <a:txBody>
                    <a:bodyPr/>
                    <a:lstStyle/>
                    <a:p>
                      <a:r>
                        <a:rPr lang="es-ES_tradnl" dirty="0"/>
                        <a:t>Es consistente 100% con el VPN, pero no indica valor.</a:t>
                      </a:r>
                    </a:p>
                    <a:p>
                      <a:r>
                        <a:rPr lang="es-ES_tradnl" dirty="0"/>
                        <a:t>Solamente </a:t>
                      </a:r>
                      <a:r>
                        <a:rPr lang="es-ES_tradnl"/>
                        <a:t>es válido </a:t>
                      </a:r>
                      <a:r>
                        <a:rPr lang="es-ES_tradnl" dirty="0"/>
                        <a:t>para montos iguales.. </a:t>
                      </a:r>
                    </a:p>
                  </a:txBody>
                  <a:tcPr/>
                </a:tc>
                <a:extLst>
                  <a:ext uri="{0D108BD9-81ED-4DB2-BD59-A6C34878D82A}">
                    <a16:rowId xmlns:a16="http://schemas.microsoft.com/office/drawing/2014/main" val="2322003997"/>
                  </a:ext>
                </a:extLst>
              </a:tr>
            </a:tbl>
          </a:graphicData>
        </a:graphic>
      </p:graphicFrame>
      <p:sp>
        <p:nvSpPr>
          <p:cNvPr id="4" name="Slide Number Placeholder 3">
            <a:extLst>
              <a:ext uri="{FF2B5EF4-FFF2-40B4-BE49-F238E27FC236}">
                <a16:creationId xmlns:a16="http://schemas.microsoft.com/office/drawing/2014/main" id="{96638403-A056-6CAA-C37B-3DEE59D40667}"/>
              </a:ext>
            </a:extLst>
          </p:cNvPr>
          <p:cNvSpPr>
            <a:spLocks noGrp="1"/>
          </p:cNvSpPr>
          <p:nvPr>
            <p:ph type="sldNum" sz="quarter" idx="12"/>
          </p:nvPr>
        </p:nvSpPr>
        <p:spPr/>
        <p:txBody>
          <a:bodyPr/>
          <a:lstStyle/>
          <a:p>
            <a:fld id="{D57F1E4F-1CFF-5643-939E-217C01CDF565}" type="slidenum">
              <a:rPr lang="en-US" smtClean="0"/>
              <a:pPr/>
              <a:t>36</a:t>
            </a:fld>
            <a:endParaRPr lang="en-US"/>
          </a:p>
        </p:txBody>
      </p:sp>
    </p:spTree>
    <p:extLst>
      <p:ext uri="{BB962C8B-B14F-4D97-AF65-F5344CB8AC3E}">
        <p14:creationId xmlns:p14="http://schemas.microsoft.com/office/powerpoint/2010/main" val="21213594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E6C3F-C243-2DBF-7E3E-A08A8394E43A}"/>
              </a:ext>
            </a:extLst>
          </p:cNvPr>
          <p:cNvSpPr>
            <a:spLocks noGrp="1"/>
          </p:cNvSpPr>
          <p:nvPr>
            <p:ph type="title"/>
          </p:nvPr>
        </p:nvSpPr>
        <p:spPr/>
        <p:txBody>
          <a:bodyPr/>
          <a:lstStyle/>
          <a:p>
            <a:r>
              <a:rPr lang="es-ES_tradnl" dirty="0"/>
              <a:t>QUIZ</a:t>
            </a:r>
          </a:p>
        </p:txBody>
      </p:sp>
      <p:pic>
        <p:nvPicPr>
          <p:cNvPr id="6" name="Content Placeholder 5" descr="A qr code with a black and white background&#10;&#10;Description automatically generated">
            <a:extLst>
              <a:ext uri="{FF2B5EF4-FFF2-40B4-BE49-F238E27FC236}">
                <a16:creationId xmlns:a16="http://schemas.microsoft.com/office/drawing/2014/main" id="{AED267A4-9113-4B9A-98E3-35BE7EC99C7E}"/>
              </a:ext>
            </a:extLst>
          </p:cNvPr>
          <p:cNvPicPr>
            <a:picLocks noGrp="1" noChangeAspect="1"/>
          </p:cNvPicPr>
          <p:nvPr>
            <p:ph idx="1"/>
          </p:nvPr>
        </p:nvPicPr>
        <p:blipFill>
          <a:blip r:embed="rId3"/>
          <a:stretch>
            <a:fillRect/>
          </a:stretch>
        </p:blipFill>
        <p:spPr>
          <a:xfrm>
            <a:off x="4256881" y="2181225"/>
            <a:ext cx="3678238" cy="3678238"/>
          </a:xfrm>
        </p:spPr>
      </p:pic>
      <p:sp>
        <p:nvSpPr>
          <p:cNvPr id="4" name="Slide Number Placeholder 3">
            <a:extLst>
              <a:ext uri="{FF2B5EF4-FFF2-40B4-BE49-F238E27FC236}">
                <a16:creationId xmlns:a16="http://schemas.microsoft.com/office/drawing/2014/main" id="{20EE253C-82C9-BDC6-AC20-0D285B52DF6D}"/>
              </a:ext>
            </a:extLst>
          </p:cNvPr>
          <p:cNvSpPr>
            <a:spLocks noGrp="1"/>
          </p:cNvSpPr>
          <p:nvPr>
            <p:ph type="sldNum" sz="quarter" idx="12"/>
          </p:nvPr>
        </p:nvSpPr>
        <p:spPr/>
        <p:txBody>
          <a:bodyPr/>
          <a:lstStyle/>
          <a:p>
            <a:fld id="{D57F1E4F-1CFF-5643-939E-217C01CDF565}" type="slidenum">
              <a:rPr lang="en-US" smtClean="0"/>
              <a:pPr/>
              <a:t>37</a:t>
            </a:fld>
            <a:endParaRPr lang="en-US"/>
          </a:p>
        </p:txBody>
      </p:sp>
    </p:spTree>
    <p:extLst>
      <p:ext uri="{BB962C8B-B14F-4D97-AF65-F5344CB8AC3E}">
        <p14:creationId xmlns:p14="http://schemas.microsoft.com/office/powerpoint/2010/main" val="2793128295"/>
      </p:ext>
    </p:extLst>
  </p:cSld>
  <p:clrMapOvr>
    <a:masterClrMapping/>
  </p:clrMapOvr>
</p:sld>
</file>

<file path=ppt/theme/theme1.xml><?xml version="1.0" encoding="utf-8"?>
<a:theme xmlns:a="http://schemas.openxmlformats.org/drawingml/2006/main" name="Dividendo">
  <a:themeElements>
    <a:clrScheme name="Dividendo">
      <a:dk1>
        <a:sysClr val="windowText" lastClr="000000"/>
      </a:dk1>
      <a:lt1>
        <a:sysClr val="window" lastClr="FFFFFF"/>
      </a:lt1>
      <a:dk2>
        <a:srgbClr val="3D3D3D"/>
      </a:dk2>
      <a:lt2>
        <a:srgbClr val="EBEBEB"/>
      </a:lt2>
      <a:accent1>
        <a:srgbClr val="366658"/>
      </a:accent1>
      <a:accent2>
        <a:srgbClr val="8CB64A"/>
      </a:accent2>
      <a:accent3>
        <a:srgbClr val="88D5A9"/>
      </a:accent3>
      <a:accent4>
        <a:srgbClr val="969FA7"/>
      </a:accent4>
      <a:accent5>
        <a:srgbClr val="E8A844"/>
      </a:accent5>
      <a:accent6>
        <a:srgbClr val="A1561F"/>
      </a:accent6>
      <a:hlink>
        <a:srgbClr val="828282"/>
      </a:hlink>
      <a:folHlink>
        <a:srgbClr val="A5A5A5"/>
      </a:folHlink>
    </a:clrScheme>
    <a:fontScheme name="Dividendo">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o">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4BEC0EAF-CF86-4D49-B83B-56CC62D3CFF1}"/>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fabd047c-ff48-492a-8bbb-8f98b9fb9cca}" enabled="0" method="" siteId="{fabd047c-ff48-492a-8bbb-8f98b9fb9cca}" removed="1"/>
</clbl:labelList>
</file>

<file path=docProps/app.xml><?xml version="1.0" encoding="utf-8"?>
<Properties xmlns="http://schemas.openxmlformats.org/officeDocument/2006/extended-properties" xmlns:vt="http://schemas.openxmlformats.org/officeDocument/2006/docPropsVTypes">
  <Template>{7D419497-B805-D64B-B6E0-457F12115DD4}tf10001123</Template>
  <TotalTime>2852</TotalTime>
  <Words>2334</Words>
  <Application>Microsoft Macintosh PowerPoint</Application>
  <PresentationFormat>Widescreen</PresentationFormat>
  <Paragraphs>627</Paragraphs>
  <Slides>37</Slides>
  <Notes>12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37</vt:i4>
      </vt:variant>
    </vt:vector>
  </HeadingPairs>
  <TitlesOfParts>
    <vt:vector size="46" baseType="lpstr">
      <vt:lpstr>Arial</vt:lpstr>
      <vt:lpstr>Calibri</vt:lpstr>
      <vt:lpstr>Cambria Math</vt:lpstr>
      <vt:lpstr>Century Gothic</vt:lpstr>
      <vt:lpstr>Gill Sans MT</vt:lpstr>
      <vt:lpstr>Wingdings</vt:lpstr>
      <vt:lpstr>Wingdings 2</vt:lpstr>
      <vt:lpstr>Zapf Dingbats</vt:lpstr>
      <vt:lpstr>Dividendo</vt:lpstr>
      <vt:lpstr>ACLARACIÓN DE LA TIR</vt:lpstr>
      <vt:lpstr>TIR</vt:lpstr>
      <vt:lpstr>TIR</vt:lpstr>
      <vt:lpstr>TIR</vt:lpstr>
      <vt:lpstr>TIR</vt:lpstr>
      <vt:lpstr>TIR</vt:lpstr>
      <vt:lpstr>TIR</vt:lpstr>
      <vt:lpstr>TIR</vt:lpstr>
      <vt:lpstr>TIR</vt:lpstr>
      <vt:lpstr>TIR</vt:lpstr>
      <vt:lpstr>TIR</vt:lpstr>
      <vt:lpstr>AGENDA PROPUESTA</vt:lpstr>
      <vt:lpstr>PowerPoint Presentation</vt:lpstr>
      <vt:lpstr>VAE</vt:lpstr>
      <vt:lpstr>VAE</vt:lpstr>
      <vt:lpstr>VAE</vt:lpstr>
      <vt:lpstr>VAE</vt:lpstr>
      <vt:lpstr>VAE</vt:lpstr>
      <vt:lpstr>AGENDA PROPUESTA</vt:lpstr>
      <vt:lpstr>PowerPoint Presentation</vt:lpstr>
      <vt:lpstr>b/c</vt:lpstr>
      <vt:lpstr>b/c</vt:lpstr>
      <vt:lpstr>b/c</vt:lpstr>
      <vt:lpstr>b/c</vt:lpstr>
      <vt:lpstr>b/c</vt:lpstr>
      <vt:lpstr>b/c</vt:lpstr>
      <vt:lpstr>b/c</vt:lpstr>
      <vt:lpstr>AGENDA PROPUESTA</vt:lpstr>
      <vt:lpstr>PowerPoint Presentation</vt:lpstr>
      <vt:lpstr>PayBack</vt:lpstr>
      <vt:lpstr>pAyback</vt:lpstr>
      <vt:lpstr>pAyback</vt:lpstr>
      <vt:lpstr>pAyback</vt:lpstr>
      <vt:lpstr>pAyback</vt:lpstr>
      <vt:lpstr>pAyback</vt:lpstr>
      <vt:lpstr>¿CUÁLES USAR PARA SELECCIONAR ALTERNATIVAS?</vt:lpstr>
      <vt:lpstr>QUIZ</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ANÁLISIS DESDE UNA ÓPTICA ECONOMÉTRICA DE LA PREVISIBILIDAD DE LAS VARIACIONES DEL TRÁFICO DEL CORREDOR BOGOTÁ – PUERTO GAITÁN TENIENDO EN CUENTA EL COMPORTAMIENTO HISTÓRICO DEL TRÁFICO Y DEL PRECIO DEL PETRÓLEO WTI</dc:title>
  <dc:creator>Sebastian Joseph Sanchez Oyola</dc:creator>
  <cp:lastModifiedBy>Brigitte Castañeda Rodriguez</cp:lastModifiedBy>
  <cp:revision>26</cp:revision>
  <dcterms:created xsi:type="dcterms:W3CDTF">2019-06-20T04:25:04Z</dcterms:created>
  <dcterms:modified xsi:type="dcterms:W3CDTF">2026-02-24T15:47:43Z</dcterms:modified>
</cp:coreProperties>
</file>